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slideLayouts/slideLayout24.xml" ContentType="application/vnd.openxmlformats-officedocument.presentationml.slideLayout+xml"/>
  <Override PartName="/ppt/theme/theme4.xml" ContentType="application/vnd.openxmlformats-officedocument.theme+xml"/>
  <Override PartName="/ppt/tags/tag6.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8.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notesSlides/notesSlide14.xml" ContentType="application/vnd.openxmlformats-officedocument.presentationml.notesSlide+xml"/>
  <Override PartName="/ppt/tags/tag21.xml" ContentType="application/vnd.openxmlformats-officedocument.presentationml.tags+xml"/>
  <Override PartName="/ppt/notesSlides/notesSlide15.xml" ContentType="application/vnd.openxmlformats-officedocument.presentationml.notesSlide+xml"/>
  <Override PartName="/ppt/tags/tag22.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84" r:id="rId4"/>
    <p:sldMasterId id="2147484076" r:id="rId5"/>
    <p:sldMasterId id="2147484162" r:id="rId6"/>
    <p:sldMasterId id="2147484171" r:id="rId7"/>
  </p:sldMasterIdLst>
  <p:notesMasterIdLst>
    <p:notesMasterId r:id="rId42"/>
  </p:notesMasterIdLst>
  <p:handoutMasterIdLst>
    <p:handoutMasterId r:id="rId43"/>
  </p:handoutMasterIdLst>
  <p:sldIdLst>
    <p:sldId id="2147483621" r:id="rId8"/>
    <p:sldId id="2134807387" r:id="rId9"/>
    <p:sldId id="257" r:id="rId10"/>
    <p:sldId id="2147483624" r:id="rId11"/>
    <p:sldId id="2147483548" r:id="rId12"/>
    <p:sldId id="2147483484" r:id="rId13"/>
    <p:sldId id="2147483560" r:id="rId14"/>
    <p:sldId id="270" r:id="rId15"/>
    <p:sldId id="2147483518" r:id="rId16"/>
    <p:sldId id="260" r:id="rId17"/>
    <p:sldId id="2147483544" r:id="rId18"/>
    <p:sldId id="2147483589" r:id="rId19"/>
    <p:sldId id="271" r:id="rId20"/>
    <p:sldId id="274" r:id="rId21"/>
    <p:sldId id="2147483625" r:id="rId22"/>
    <p:sldId id="2147483457" r:id="rId23"/>
    <p:sldId id="2147483454" r:id="rId24"/>
    <p:sldId id="2147483466" r:id="rId25"/>
    <p:sldId id="261" r:id="rId26"/>
    <p:sldId id="2147483447" r:id="rId27"/>
    <p:sldId id="272" r:id="rId28"/>
    <p:sldId id="2147483428" r:id="rId29"/>
    <p:sldId id="2134807388" r:id="rId30"/>
    <p:sldId id="2147483646" r:id="rId31"/>
    <p:sldId id="2147483647" r:id="rId32"/>
    <p:sldId id="259" r:id="rId33"/>
    <p:sldId id="2147483645" r:id="rId34"/>
    <p:sldId id="2147483643" r:id="rId35"/>
    <p:sldId id="2147483644" r:id="rId36"/>
    <p:sldId id="258" r:id="rId37"/>
    <p:sldId id="2147483583" r:id="rId38"/>
    <p:sldId id="263" r:id="rId39"/>
    <p:sldId id="2147483629" r:id="rId40"/>
    <p:sldId id="265" r:id="rId41"/>
  </p:sldIdLst>
  <p:sldSz cx="12192000" cy="6858000"/>
  <p:notesSz cx="7315200" cy="9601200"/>
  <p:custDataLst>
    <p:tags r:id="rId4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CC96FD5-536E-43EB-9DCF-1A083087C79E}">
          <p14:sldIdLst>
            <p14:sldId id="2147483621"/>
            <p14:sldId id="2134807387"/>
            <p14:sldId id="257"/>
          </p14:sldIdLst>
        </p14:section>
        <p14:section name="Why EY" id="{F9951A56-2D80-424A-9F51-F137FEFC5461}">
          <p14:sldIdLst>
            <p14:sldId id="2147483624"/>
            <p14:sldId id="2147483548"/>
            <p14:sldId id="2147483484"/>
            <p14:sldId id="2147483560"/>
            <p14:sldId id="270"/>
            <p14:sldId id="2147483518"/>
            <p14:sldId id="260"/>
            <p14:sldId id="2147483544"/>
            <p14:sldId id="2147483589"/>
            <p14:sldId id="271"/>
            <p14:sldId id="274"/>
          </p14:sldIdLst>
        </p14:section>
        <p14:section name="Our Experiences" id="{72576D8A-5DD3-448D-AC40-A80210FF199D}">
          <p14:sldIdLst>
            <p14:sldId id="2147483625"/>
            <p14:sldId id="2147483457"/>
            <p14:sldId id="2147483454"/>
            <p14:sldId id="2147483466"/>
          </p14:sldIdLst>
        </p14:section>
        <p14:section name="Our Team" id="{4648A955-2E16-4299-9202-A85124D818CF}">
          <p14:sldIdLst>
            <p14:sldId id="261"/>
            <p14:sldId id="2147483447"/>
            <p14:sldId id="272"/>
            <p14:sldId id="2147483428"/>
            <p14:sldId id="2134807388"/>
            <p14:sldId id="2147483646"/>
            <p14:sldId id="2147483647"/>
            <p14:sldId id="259"/>
            <p14:sldId id="2147483645"/>
          </p14:sldIdLst>
        </p14:section>
        <p14:section name="Methodology" id="{1AB49A21-A344-4EED-9541-EA6A6A38CCAA}">
          <p14:sldIdLst>
            <p14:sldId id="2147483643"/>
            <p14:sldId id="2147483644"/>
            <p14:sldId id="258"/>
            <p14:sldId id="2147483583"/>
            <p14:sldId id="263"/>
          </p14:sldIdLst>
        </p14:section>
        <p14:section name="Financial" id="{ADAE3EFE-27AC-4417-B52B-3982BA00E77D}">
          <p14:sldIdLst>
            <p14:sldId id="2147483629"/>
            <p14:sldId id="265"/>
          </p14:sldIdLst>
        </p14:section>
      </p14:sectionLst>
    </p:ext>
    <p:ext uri="{EFAFB233-063F-42B5-8137-9DF3F51BA10A}">
      <p15:sldGuideLst xmlns:p15="http://schemas.microsoft.com/office/powerpoint/2012/main">
        <p15:guide id="9" orient="horz" pos="1638" userDrawn="1">
          <p15:clr>
            <a:srgbClr val="A4A3A4"/>
          </p15:clr>
        </p15:guide>
        <p15:guide id="10" orient="horz" pos="3984" userDrawn="1">
          <p15:clr>
            <a:srgbClr val="A4A3A4"/>
          </p15:clr>
        </p15:guide>
        <p15:guide id="12" pos="11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0806F0C-81C0-D6F2-D1E6-6EE65A0BFB03}" name="Mohamad El Bachir" initials="ME" userId="S::Mohamad.ElBachir@sa.ey.com::df270d4b-48c1-473c-87f6-5645910ac0aa" providerId="AD"/>
  <p188:author id="{35432014-ABA4-EEAF-ACF9-25374CA5E5FA}" name="Muhsin Muhammad Asharaf" initials="" userId="S::Muhsin.Muhammad.Asharaf@gds.ey.com::fd26c7c1-28e5-4208-a6be-f40c49c9d785" providerId="AD"/>
  <p188:author id="{011C3B1B-5CF8-AE6F-B6DB-228399663500}" name="Alanoud Alfawaz" initials="AA" userId="S::Alanoud.Alfawaz@sa.ey.com::3d0333e6-8bd1-4752-9fe9-8a13ea657b1e" providerId="AD"/>
  <p188:author id="{D3BF1E49-D4F9-0832-087D-DC696F544E8D}" name="Anjana Ramkumar" initials="" userId="S::Anjana.Ramkumar@gds.ey.com::3f9ce961-279c-46aa-a6d8-246ee14a62c9" providerId="AD"/>
  <p188:author id="{A1DDEF54-71DD-2E0A-3B07-A4B03F1A698B}" name="Ghassan Hariri" initials="GH" userId="S::Ghassan.Hariri@parthenon.ey.com::b31aac6d-e9be-4929-aeb5-a1bcdf5f820d" providerId="AD"/>
  <p188:author id="{BC92F457-F861-9B5B-F3E3-14102CB428F0}" name="Chessin Zwinkels" initials="CZ" userId="S::Chessin.Zwinkels@parthenon.ey.com::01f63345-36bb-404f-baa2-e1b06bf5b6cb" providerId="AD"/>
  <p188:author id="{FA20E17E-D1D1-7FC6-3560-CF12A43D2628}" name="Lama A Alsalem" initials="" userId="S::Lama.A.Alsalem@parthenon.ey.com::9c3f31ef-6888-46c7-b09f-c9cdf691f11f" providerId="AD"/>
  <p188:author id="{AFF79E82-0B5B-A61C-D344-1D71379A08D9}" name="Nigel J Blackbeard" initials="NB" userId="S::Nigel.J.Blackbeard@qa.ey.com::70211213-00c6-4794-92b9-deacab9ba1f3" providerId="AD"/>
  <p188:author id="{A9A6F087-8DC9-CC64-9BF8-A4E1E477E17E}" name="Soumya Kumar" initials="" userId="S::Soumya.Kumar@ae.ey.com::87f5b00d-0d63-421f-b1f7-2efff470e3aa" providerId="AD"/>
  <p188:author id="{08727889-9E58-653E-EA2D-2CA793004EE2}" name="Zeina Bsaibes" initials="ZB" userId="S::Zeina.Bsaibes@lb.ey.com::89c9a59b-a0ae-459d-8e28-91d102388224" providerId="AD"/>
  <p188:author id="{6D2BA489-5584-D5C2-691D-0FE7F4955551}" name="Varsha V Gopal" initials="" userId="S::Varsha.V@gds.ey.com::c1f0c93c-9a96-4db2-8649-4bd442d0aa6e" providerId="AD"/>
  <p188:author id="{8EAAC495-BE60-5B5F-718A-0D5E2DB8710F}" name="Ghassan Hariri" initials="" userId="S::Ghassan.Hariri@ae.ey.com::b31aac6d-e9be-4929-aeb5-a1bcdf5f820d" providerId="AD"/>
  <p188:author id="{0586ED9B-E8AC-6591-FB8B-E911E899FF82}" name="Ruben Meca Piernas" initials="RM" userId="S::Ruben.Meca.Piernas1@qa.ey.com::87632452-8d57-4925-a8f7-0931e2bf463c" providerId="AD"/>
  <p188:author id="{202C009C-E1FA-8A86-D311-51EA1216496C}" name="Sameera Z Albitar" initials="SA" userId="S::Sameera.Albitar@parthenon.ey.com::6f16229d-aee6-4d8b-a26b-8c3607dac40b" providerId="AD"/>
  <p188:author id="{9282249C-DB57-69D7-BC33-17E39AA0E723}" name="Marcell Orosz" initials="MO" userId="S::Marcell.Orosz1@parthenon.ey.com::77965813-4a0a-4d08-a65b-dbfaa6cc3d90" providerId="AD"/>
  <p188:author id="{B2F4FD9E-906B-9722-887B-7898D986C1A6}" name="May Badran" initials="MB" userId="S::May.Badran@jo.ey.com::c5ffc9c5-faec-4e2b-a7e7-29c171aefbab" providerId="AD"/>
  <p188:author id="{26FD15B4-9C9F-0606-87D2-8F8177AE10C5}" name="Harpreet S Kang" initials="HK" userId="S::Harpreet.S.Kang@qa.ey.com::61cb23b0-fd98-441b-aec0-cafb6b7c57ae" providerId="AD"/>
  <p188:author id="{75FA26B8-4A18-1BA0-9E19-67A11C807FB0}" name="Haris Ali" initials="HA" userId="S::Haris.Ali1@sa.ey.com::621a3448-14f8-4dc5-a7c8-2754f92146d0" providerId="AD"/>
  <p188:author id="{473EC9C3-7A9C-AB87-560A-8AA8C3C19BBD}" name="Daria Sidorenko" initials="DS" userId="S::Daria.Sidorenko@ae.ey.com::7706fe08-a032-4a7b-983d-93e3ffca564b" providerId="AD"/>
  <p188:author id="{0E4A26D1-4BFD-0454-CA3E-047FDF9AB6CE}" name="Chessin Zwinkels" initials="CZ" userId="S::Chessin.Zwinkels@qa.ey.com::01f63345-36bb-404f-baa2-e1b06bf5b6cb" providerId="AD"/>
  <p188:author id="{96B94FD7-4367-21A9-1BF9-B051168B0867}" name="Harpreet S Kang" initials="HK" userId="S::harpreet.s.kang@qa.ey.com::61cb23b0-fd98-441b-aec0-cafb6b7c57ae" providerId="AD"/>
  <p188:author id="{C6F163DE-855E-23A1-066F-FE3FDB24AD66}" name="Bharathchand J B" initials="BJ" userId="S::Bharathchand.J.B@gds.ey.com::7a03d293-7fa7-43c5-9c98-494610fedbff" providerId="AD"/>
  <p188:author id="{34B9C7E0-833C-E038-3243-84F969BC3D99}" name="Mira Yassine" initials="MY" userId="S::Mira.Yassine@lb.ey.com::a7efbd19-b745-491f-ae46-834bc87e5391" providerId="AD"/>
  <p188:author id="{8D51CDEA-672F-1466-851F-2950308CAAE7}" name="Sameera Z Albitar" initials="SA" userId="S::Sameera.Albitar@bh.ey.com::6f16229d-aee6-4d8b-a26b-8c3607dac40b" providerId="AD"/>
  <p188:author id="{E8D497F1-5843-5CF9-1E2B-EA0A99BBD08F}" name="Harpreet S Kang" initials="HK" userId="S::Harpreet.S.Kang@parthenon.ey.com::61cb23b0-fd98-441b-aec0-cafb6b7c57ae" providerId="AD"/>
  <p188:author id="{D1A23CFA-A352-6D55-31D0-CA51100FF2EE}" name="Toga A Azaizeh" initials="TA" userId="S::Toga.Ali.Azaizeh@jo.ey.com::33b1c765-3fff-4d50-832a-283a862ea99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elissa Saoudy" initials="MS" lastIdx="2" clrIdx="0">
    <p:extLst>
      <p:ext uri="{19B8F6BF-5375-455C-9EA6-DF929625EA0E}">
        <p15:presenceInfo xmlns:p15="http://schemas.microsoft.com/office/powerpoint/2012/main" userId="S::Melissa.Saoudy@ae.ey.com::91f80283-903a-47c6-8c3e-df76dbf771a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B43"/>
    <a:srgbClr val="1A9AFA"/>
    <a:srgbClr val="D1EBFE"/>
    <a:srgbClr val="D2D2DA"/>
    <a:srgbClr val="1D9BFA"/>
    <a:srgbClr val="35A4E8"/>
    <a:srgbClr val="FFFFFF"/>
    <a:srgbClr val="C4C4CD"/>
    <a:srgbClr val="F5F5FA"/>
    <a:srgbClr val="2E2E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D3BE84-3956-6284-C203-6850BB93AAE8}" v="120" dt="2026-02-25T05:41:19.035"/>
    <p1510:client id="{80AB1ADC-36F3-431A-BEBE-A48355C50271}" v="37" dt="2026-02-24T07:43:41.0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84" y="340"/>
      </p:cViewPr>
      <p:guideLst>
        <p:guide orient="horz" pos="1638"/>
        <p:guide orient="horz" pos="3984"/>
        <p:guide pos="112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notesMaster" Target="notesMasters/notesMaster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ags" Target="tags/tag1.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handoutMaster" Target="handoutMasters/handoutMaster1.xml"/><Relationship Id="rId48" Type="http://schemas.openxmlformats.org/officeDocument/2006/relationships/theme" Target="theme/theme1.xml"/><Relationship Id="rId8" Type="http://schemas.openxmlformats.org/officeDocument/2006/relationships/slide" Target="slides/slide1.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presProps" Target="presProps.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 Alexis" userId="8270d516-1485-4c36-8dcf-4b38df743cf0" providerId="ADAL" clId="{0E55714B-D89C-47EB-A073-6F5FC46238B6}"/>
    <pc:docChg chg="undo redo custSel modSld modMainMaster">
      <pc:chgData name="Anna Alexis" userId="8270d516-1485-4c36-8dcf-4b38df743cf0" providerId="ADAL" clId="{0E55714B-D89C-47EB-A073-6F5FC46238B6}" dt="2026-02-24T07:43:41.029" v="163" actId="478"/>
      <pc:docMkLst>
        <pc:docMk/>
      </pc:docMkLst>
      <pc:sldChg chg="modSp">
        <pc:chgData name="Anna Alexis" userId="8270d516-1485-4c36-8dcf-4b38df743cf0" providerId="ADAL" clId="{0E55714B-D89C-47EB-A073-6F5FC46238B6}" dt="2026-02-24T06:59:44.915" v="47"/>
        <pc:sldMkLst>
          <pc:docMk/>
          <pc:sldMk cId="152449697" sldId="258"/>
        </pc:sldMkLst>
        <pc:spChg chg="mod">
          <ac:chgData name="Anna Alexis" userId="8270d516-1485-4c36-8dcf-4b38df743cf0" providerId="ADAL" clId="{0E55714B-D89C-47EB-A073-6F5FC46238B6}" dt="2026-02-24T06:59:44.915" v="47"/>
          <ac:spMkLst>
            <pc:docMk/>
            <pc:sldMk cId="152449697" sldId="258"/>
            <ac:spMk id="8" creationId="{A61F5AE3-81ED-2D07-6EEE-9B875ED560C8}"/>
          </ac:spMkLst>
        </pc:spChg>
        <pc:spChg chg="mod">
          <ac:chgData name="Anna Alexis" userId="8270d516-1485-4c36-8dcf-4b38df743cf0" providerId="ADAL" clId="{0E55714B-D89C-47EB-A073-6F5FC46238B6}" dt="2026-02-24T06:59:44.915" v="47"/>
          <ac:spMkLst>
            <pc:docMk/>
            <pc:sldMk cId="152449697" sldId="258"/>
            <ac:spMk id="24" creationId="{84C952EF-0D0A-D4F6-B2DB-B7C65163149D}"/>
          </ac:spMkLst>
        </pc:spChg>
      </pc:sldChg>
      <pc:sldChg chg="modSp">
        <pc:chgData name="Anna Alexis" userId="8270d516-1485-4c36-8dcf-4b38df743cf0" providerId="ADAL" clId="{0E55714B-D89C-47EB-A073-6F5FC46238B6}" dt="2026-02-24T07:31:47.714" v="71"/>
        <pc:sldMkLst>
          <pc:docMk/>
          <pc:sldMk cId="1890534397" sldId="259"/>
        </pc:sldMkLst>
        <pc:spChg chg="mod">
          <ac:chgData name="Anna Alexis" userId="8270d516-1485-4c36-8dcf-4b38df743cf0" providerId="ADAL" clId="{0E55714B-D89C-47EB-A073-6F5FC46238B6}" dt="2026-02-24T07:31:47.714" v="71"/>
          <ac:spMkLst>
            <pc:docMk/>
            <pc:sldMk cId="1890534397" sldId="259"/>
            <ac:spMk id="2" creationId="{F0F5C79E-276F-7011-5A2B-3B8F65B6DA0A}"/>
          </ac:spMkLst>
        </pc:spChg>
        <pc:spChg chg="mod">
          <ac:chgData name="Anna Alexis" userId="8270d516-1485-4c36-8dcf-4b38df743cf0" providerId="ADAL" clId="{0E55714B-D89C-47EB-A073-6F5FC46238B6}" dt="2026-02-24T07:31:47.714" v="71"/>
          <ac:spMkLst>
            <pc:docMk/>
            <pc:sldMk cId="1890534397" sldId="259"/>
            <ac:spMk id="6" creationId="{DB7202A7-6926-9ADE-F3AC-E87511C4B8AA}"/>
          </ac:spMkLst>
        </pc:spChg>
        <pc:spChg chg="mod">
          <ac:chgData name="Anna Alexis" userId="8270d516-1485-4c36-8dcf-4b38df743cf0" providerId="ADAL" clId="{0E55714B-D89C-47EB-A073-6F5FC46238B6}" dt="2026-02-24T07:31:47.714" v="71"/>
          <ac:spMkLst>
            <pc:docMk/>
            <pc:sldMk cId="1890534397" sldId="259"/>
            <ac:spMk id="25" creationId="{D883B49B-F5F5-6B76-D776-2D11E72E3699}"/>
          </ac:spMkLst>
        </pc:spChg>
      </pc:sldChg>
      <pc:sldChg chg="modSp">
        <pc:chgData name="Anna Alexis" userId="8270d516-1485-4c36-8dcf-4b38df743cf0" providerId="ADAL" clId="{0E55714B-D89C-47EB-A073-6F5FC46238B6}" dt="2026-02-24T07:32:00.090" v="72"/>
        <pc:sldMkLst>
          <pc:docMk/>
          <pc:sldMk cId="578273678" sldId="260"/>
        </pc:sldMkLst>
        <pc:spChg chg="mod">
          <ac:chgData name="Anna Alexis" userId="8270d516-1485-4c36-8dcf-4b38df743cf0" providerId="ADAL" clId="{0E55714B-D89C-47EB-A073-6F5FC46238B6}" dt="2026-02-24T07:32:00.090" v="72"/>
          <ac:spMkLst>
            <pc:docMk/>
            <pc:sldMk cId="578273678" sldId="260"/>
            <ac:spMk id="5" creationId="{39D779A0-4935-A0F2-326D-03C84B6FDF02}"/>
          </ac:spMkLst>
        </pc:spChg>
      </pc:sldChg>
      <pc:sldChg chg="modSp">
        <pc:chgData name="Anna Alexis" userId="8270d516-1485-4c36-8dcf-4b38df743cf0" providerId="ADAL" clId="{0E55714B-D89C-47EB-A073-6F5FC46238B6}" dt="2026-02-24T06:59:44.915" v="47"/>
        <pc:sldMkLst>
          <pc:docMk/>
          <pc:sldMk cId="785139974" sldId="263"/>
        </pc:sldMkLst>
        <pc:spChg chg="mod">
          <ac:chgData name="Anna Alexis" userId="8270d516-1485-4c36-8dcf-4b38df743cf0" providerId="ADAL" clId="{0E55714B-D89C-47EB-A073-6F5FC46238B6}" dt="2026-02-24T06:59:44.915" v="47"/>
          <ac:spMkLst>
            <pc:docMk/>
            <pc:sldMk cId="785139974" sldId="263"/>
            <ac:spMk id="2" creationId="{99D1FE94-8E06-012E-E972-06895856F4CA}"/>
          </ac:spMkLst>
        </pc:spChg>
      </pc:sldChg>
      <pc:sldChg chg="modSp">
        <pc:chgData name="Anna Alexis" userId="8270d516-1485-4c36-8dcf-4b38df743cf0" providerId="ADAL" clId="{0E55714B-D89C-47EB-A073-6F5FC46238B6}" dt="2026-02-24T06:59:44.915" v="47"/>
        <pc:sldMkLst>
          <pc:docMk/>
          <pc:sldMk cId="2933661076" sldId="265"/>
        </pc:sldMkLst>
        <pc:graphicFrameChg chg="mod">
          <ac:chgData name="Anna Alexis" userId="8270d516-1485-4c36-8dcf-4b38df743cf0" providerId="ADAL" clId="{0E55714B-D89C-47EB-A073-6F5FC46238B6}" dt="2026-02-24T06:59:44.915" v="47"/>
          <ac:graphicFrameMkLst>
            <pc:docMk/>
            <pc:sldMk cId="2933661076" sldId="265"/>
            <ac:graphicFrameMk id="2" creationId="{8B8C6706-D790-B079-CB8C-51AE4562FD05}"/>
          </ac:graphicFrameMkLst>
        </pc:graphicFrameChg>
      </pc:sldChg>
      <pc:sldChg chg="delSp mod">
        <pc:chgData name="Anna Alexis" userId="8270d516-1485-4c36-8dcf-4b38df743cf0" providerId="ADAL" clId="{0E55714B-D89C-47EB-A073-6F5FC46238B6}" dt="2026-02-24T07:33:56.846" v="128" actId="478"/>
        <pc:sldMkLst>
          <pc:docMk/>
          <pc:sldMk cId="3530166122" sldId="270"/>
        </pc:sldMkLst>
        <pc:grpChg chg="del">
          <ac:chgData name="Anna Alexis" userId="8270d516-1485-4c36-8dcf-4b38df743cf0" providerId="ADAL" clId="{0E55714B-D89C-47EB-A073-6F5FC46238B6}" dt="2026-02-24T07:33:47.155" v="123" actId="478"/>
          <ac:grpSpMkLst>
            <pc:docMk/>
            <pc:sldMk cId="3530166122" sldId="270"/>
            <ac:grpSpMk id="1232" creationId="{7FDBA326-83B3-1BEB-CE37-4FCEC2B48BCF}"/>
          </ac:grpSpMkLst>
        </pc:grpChg>
        <pc:grpChg chg="del">
          <ac:chgData name="Anna Alexis" userId="8270d516-1485-4c36-8dcf-4b38df743cf0" providerId="ADAL" clId="{0E55714B-D89C-47EB-A073-6F5FC46238B6}" dt="2026-02-24T07:33:54.899" v="127" actId="478"/>
          <ac:grpSpMkLst>
            <pc:docMk/>
            <pc:sldMk cId="3530166122" sldId="270"/>
            <ac:grpSpMk id="1236" creationId="{BEA9BA42-0184-F3E1-DFF0-D812EE024D6E}"/>
          </ac:grpSpMkLst>
        </pc:grpChg>
        <pc:picChg chg="del">
          <ac:chgData name="Anna Alexis" userId="8270d516-1485-4c36-8dcf-4b38df743cf0" providerId="ADAL" clId="{0E55714B-D89C-47EB-A073-6F5FC46238B6}" dt="2026-02-24T07:33:45.258" v="122" actId="478"/>
          <ac:picMkLst>
            <pc:docMk/>
            <pc:sldMk cId="3530166122" sldId="270"/>
            <ac:picMk id="1222" creationId="{CE13604B-D338-F4E6-CBEC-6F34C4BEDC1C}"/>
          </ac:picMkLst>
        </pc:picChg>
        <pc:picChg chg="del">
          <ac:chgData name="Anna Alexis" userId="8270d516-1485-4c36-8dcf-4b38df743cf0" providerId="ADAL" clId="{0E55714B-D89C-47EB-A073-6F5FC46238B6}" dt="2026-02-24T07:33:49.274" v="124" actId="478"/>
          <ac:picMkLst>
            <pc:docMk/>
            <pc:sldMk cId="3530166122" sldId="270"/>
            <ac:picMk id="1223" creationId="{56AD348B-19DB-075B-7F3D-496DBEA3728C}"/>
          </ac:picMkLst>
        </pc:picChg>
        <pc:picChg chg="del">
          <ac:chgData name="Anna Alexis" userId="8270d516-1485-4c36-8dcf-4b38df743cf0" providerId="ADAL" clId="{0E55714B-D89C-47EB-A073-6F5FC46238B6}" dt="2026-02-24T07:33:51.215" v="125" actId="478"/>
          <ac:picMkLst>
            <pc:docMk/>
            <pc:sldMk cId="3530166122" sldId="270"/>
            <ac:picMk id="1224" creationId="{59D57BFC-8A2A-4543-D7DF-8DF6D32D8F4C}"/>
          </ac:picMkLst>
        </pc:picChg>
        <pc:picChg chg="del">
          <ac:chgData name="Anna Alexis" userId="8270d516-1485-4c36-8dcf-4b38df743cf0" providerId="ADAL" clId="{0E55714B-D89C-47EB-A073-6F5FC46238B6}" dt="2026-02-24T07:33:56.846" v="128" actId="478"/>
          <ac:picMkLst>
            <pc:docMk/>
            <pc:sldMk cId="3530166122" sldId="270"/>
            <ac:picMk id="1225" creationId="{28228165-4BD4-A8F8-6E1D-23E9DBA8F2CE}"/>
          </ac:picMkLst>
        </pc:picChg>
        <pc:picChg chg="del">
          <ac:chgData name="Anna Alexis" userId="8270d516-1485-4c36-8dcf-4b38df743cf0" providerId="ADAL" clId="{0E55714B-D89C-47EB-A073-6F5FC46238B6}" dt="2026-02-24T07:33:43.332" v="121" actId="478"/>
          <ac:picMkLst>
            <pc:docMk/>
            <pc:sldMk cId="3530166122" sldId="270"/>
            <ac:picMk id="1227" creationId="{470DCB56-D43D-EEA7-C5C0-471AF87A8AE8}"/>
          </ac:picMkLst>
        </pc:picChg>
        <pc:picChg chg="del">
          <ac:chgData name="Anna Alexis" userId="8270d516-1485-4c36-8dcf-4b38df743cf0" providerId="ADAL" clId="{0E55714B-D89C-47EB-A073-6F5FC46238B6}" dt="2026-02-24T07:33:41.584" v="120" actId="478"/>
          <ac:picMkLst>
            <pc:docMk/>
            <pc:sldMk cId="3530166122" sldId="270"/>
            <ac:picMk id="1228" creationId="{09E8AF47-C12F-A345-77E4-7070885556B8}"/>
          </ac:picMkLst>
        </pc:picChg>
        <pc:picChg chg="del">
          <ac:chgData name="Anna Alexis" userId="8270d516-1485-4c36-8dcf-4b38df743cf0" providerId="ADAL" clId="{0E55714B-D89C-47EB-A073-6F5FC46238B6}" dt="2026-02-24T07:33:53.027" v="126" actId="478"/>
          <ac:picMkLst>
            <pc:docMk/>
            <pc:sldMk cId="3530166122" sldId="270"/>
            <ac:picMk id="1235" creationId="{9A5D4A1A-D170-806E-44D5-4A11DB4FDE3D}"/>
          </ac:picMkLst>
        </pc:picChg>
      </pc:sldChg>
      <pc:sldChg chg="modSp">
        <pc:chgData name="Anna Alexis" userId="8270d516-1485-4c36-8dcf-4b38df743cf0" providerId="ADAL" clId="{0E55714B-D89C-47EB-A073-6F5FC46238B6}" dt="2026-02-24T06:59:44.915" v="47"/>
        <pc:sldMkLst>
          <pc:docMk/>
          <pc:sldMk cId="1047802197" sldId="271"/>
        </pc:sldMkLst>
        <pc:spChg chg="mod">
          <ac:chgData name="Anna Alexis" userId="8270d516-1485-4c36-8dcf-4b38df743cf0" providerId="ADAL" clId="{0E55714B-D89C-47EB-A073-6F5FC46238B6}" dt="2026-02-24T06:59:44.915" v="47"/>
          <ac:spMkLst>
            <pc:docMk/>
            <pc:sldMk cId="1047802197" sldId="271"/>
            <ac:spMk id="69" creationId="{F21517E4-18ED-278F-238C-E9088BCC1D46}"/>
          </ac:spMkLst>
        </pc:spChg>
        <pc:spChg chg="mod">
          <ac:chgData name="Anna Alexis" userId="8270d516-1485-4c36-8dcf-4b38df743cf0" providerId="ADAL" clId="{0E55714B-D89C-47EB-A073-6F5FC46238B6}" dt="2026-02-24T06:59:44.915" v="47"/>
          <ac:spMkLst>
            <pc:docMk/>
            <pc:sldMk cId="1047802197" sldId="271"/>
            <ac:spMk id="75" creationId="{6DE6300B-889A-323A-9FB3-180168A1E8D7}"/>
          </ac:spMkLst>
        </pc:spChg>
      </pc:sldChg>
      <pc:sldChg chg="modSp mod">
        <pc:chgData name="Anna Alexis" userId="8270d516-1485-4c36-8dcf-4b38df743cf0" providerId="ADAL" clId="{0E55714B-D89C-47EB-A073-6F5FC46238B6}" dt="2026-02-24T07:31:47.714" v="71"/>
        <pc:sldMkLst>
          <pc:docMk/>
          <pc:sldMk cId="1989810551" sldId="2134807387"/>
        </pc:sldMkLst>
        <pc:spChg chg="mod">
          <ac:chgData name="Anna Alexis" userId="8270d516-1485-4c36-8dcf-4b38df743cf0" providerId="ADAL" clId="{0E55714B-D89C-47EB-A073-6F5FC46238B6}" dt="2026-02-24T06:38:52.474" v="13" actId="20577"/>
          <ac:spMkLst>
            <pc:docMk/>
            <pc:sldMk cId="1989810551" sldId="2134807387"/>
            <ac:spMk id="2" creationId="{AD8B43C1-BF9C-40C9-CD84-753564E3A5FF}"/>
          </ac:spMkLst>
        </pc:spChg>
        <pc:spChg chg="mod">
          <ac:chgData name="Anna Alexis" userId="8270d516-1485-4c36-8dcf-4b38df743cf0" providerId="ADAL" clId="{0E55714B-D89C-47EB-A073-6F5FC46238B6}" dt="2026-02-24T07:31:47.714" v="71"/>
          <ac:spMkLst>
            <pc:docMk/>
            <pc:sldMk cId="1989810551" sldId="2134807387"/>
            <ac:spMk id="6" creationId="{7DD1E6BE-4700-B4D3-C3FD-953B2D7DEC19}"/>
          </ac:spMkLst>
        </pc:spChg>
        <pc:spChg chg="mod">
          <ac:chgData name="Anna Alexis" userId="8270d516-1485-4c36-8dcf-4b38df743cf0" providerId="ADAL" clId="{0E55714B-D89C-47EB-A073-6F5FC46238B6}" dt="2026-02-24T06:38:45.503" v="6" actId="20577"/>
          <ac:spMkLst>
            <pc:docMk/>
            <pc:sldMk cId="1989810551" sldId="2134807387"/>
            <ac:spMk id="15" creationId="{3CB041B0-ADBA-00E9-FF11-7BB48336BF6E}"/>
          </ac:spMkLst>
        </pc:spChg>
        <pc:spChg chg="mod">
          <ac:chgData name="Anna Alexis" userId="8270d516-1485-4c36-8dcf-4b38df743cf0" providerId="ADAL" clId="{0E55714B-D89C-47EB-A073-6F5FC46238B6}" dt="2026-02-24T07:03:31.896" v="69" actId="20577"/>
          <ac:spMkLst>
            <pc:docMk/>
            <pc:sldMk cId="1989810551" sldId="2134807387"/>
            <ac:spMk id="19" creationId="{3C27091B-AA1B-81E5-D32C-F59C46158083}"/>
          </ac:spMkLst>
        </pc:spChg>
        <pc:spChg chg="mod">
          <ac:chgData name="Anna Alexis" userId="8270d516-1485-4c36-8dcf-4b38df743cf0" providerId="ADAL" clId="{0E55714B-D89C-47EB-A073-6F5FC46238B6}" dt="2026-02-24T06:42:29.801" v="36" actId="20577"/>
          <ac:spMkLst>
            <pc:docMk/>
            <pc:sldMk cId="1989810551" sldId="2134807387"/>
            <ac:spMk id="20" creationId="{AFBA5BB3-F5D1-6247-1D8D-D054C56CEE18}"/>
          </ac:spMkLst>
        </pc:spChg>
      </pc:sldChg>
      <pc:sldChg chg="delSp mod">
        <pc:chgData name="Anna Alexis" userId="8270d516-1485-4c36-8dcf-4b38df743cf0" providerId="ADAL" clId="{0E55714B-D89C-47EB-A073-6F5FC46238B6}" dt="2026-02-24T07:42:55.083" v="147" actId="478"/>
        <pc:sldMkLst>
          <pc:docMk/>
          <pc:sldMk cId="12463280" sldId="2147483454"/>
        </pc:sldMkLst>
        <pc:picChg chg="del">
          <ac:chgData name="Anna Alexis" userId="8270d516-1485-4c36-8dcf-4b38df743cf0" providerId="ADAL" clId="{0E55714B-D89C-47EB-A073-6F5FC46238B6}" dt="2026-02-24T07:42:55.083" v="147" actId="478"/>
          <ac:picMkLst>
            <pc:docMk/>
            <pc:sldMk cId="12463280" sldId="2147483454"/>
            <ac:picMk id="5" creationId="{B13F587B-AA8A-E0FC-FEBC-4AFFA6B917C4}"/>
          </ac:picMkLst>
        </pc:picChg>
        <pc:picChg chg="del">
          <ac:chgData name="Anna Alexis" userId="8270d516-1485-4c36-8dcf-4b38df743cf0" providerId="ADAL" clId="{0E55714B-D89C-47EB-A073-6F5FC46238B6}" dt="2026-02-24T07:42:49.916" v="145" actId="478"/>
          <ac:picMkLst>
            <pc:docMk/>
            <pc:sldMk cId="12463280" sldId="2147483454"/>
            <ac:picMk id="6" creationId="{EA373E8A-2FCD-B0AF-F463-A6978A911F6B}"/>
          </ac:picMkLst>
        </pc:picChg>
        <pc:picChg chg="del">
          <ac:chgData name="Anna Alexis" userId="8270d516-1485-4c36-8dcf-4b38df743cf0" providerId="ADAL" clId="{0E55714B-D89C-47EB-A073-6F5FC46238B6}" dt="2026-02-24T07:42:52.070" v="146" actId="478"/>
          <ac:picMkLst>
            <pc:docMk/>
            <pc:sldMk cId="12463280" sldId="2147483454"/>
            <ac:picMk id="19" creationId="{E17DBE95-378F-B291-4D49-4D3B50085602}"/>
          </ac:picMkLst>
        </pc:picChg>
        <pc:picChg chg="del">
          <ac:chgData name="Anna Alexis" userId="8270d516-1485-4c36-8dcf-4b38df743cf0" providerId="ADAL" clId="{0E55714B-D89C-47EB-A073-6F5FC46238B6}" dt="2026-02-24T07:42:45.894" v="144" actId="478"/>
          <ac:picMkLst>
            <pc:docMk/>
            <pc:sldMk cId="12463280" sldId="2147483454"/>
            <ac:picMk id="20" creationId="{E9901A2D-AA48-B272-FFC0-402C7ECAE995}"/>
          </ac:picMkLst>
        </pc:picChg>
      </pc:sldChg>
      <pc:sldChg chg="delSp">
        <pc:chgData name="Anna Alexis" userId="8270d516-1485-4c36-8dcf-4b38df743cf0" providerId="ADAL" clId="{0E55714B-D89C-47EB-A073-6F5FC46238B6}" dt="2026-02-24T07:42:41.910" v="143" actId="478"/>
        <pc:sldMkLst>
          <pc:docMk/>
          <pc:sldMk cId="3627759820" sldId="2147483457"/>
        </pc:sldMkLst>
        <pc:picChg chg="del">
          <ac:chgData name="Anna Alexis" userId="8270d516-1485-4c36-8dcf-4b38df743cf0" providerId="ADAL" clId="{0E55714B-D89C-47EB-A073-6F5FC46238B6}" dt="2026-02-24T07:42:33.733" v="140" actId="478"/>
          <ac:picMkLst>
            <pc:docMk/>
            <pc:sldMk cId="3627759820" sldId="2147483457"/>
            <ac:picMk id="2" creationId="{C84F0181-3001-D7FE-CFB9-1C3464BB6595}"/>
          </ac:picMkLst>
        </pc:picChg>
        <pc:picChg chg="del">
          <ac:chgData name="Anna Alexis" userId="8270d516-1485-4c36-8dcf-4b38df743cf0" providerId="ADAL" clId="{0E55714B-D89C-47EB-A073-6F5FC46238B6}" dt="2026-02-24T07:42:41.910" v="143" actId="478"/>
          <ac:picMkLst>
            <pc:docMk/>
            <pc:sldMk cId="3627759820" sldId="2147483457"/>
            <ac:picMk id="16" creationId="{565141BF-32F6-5D39-836A-56F1DE72520A}"/>
          </ac:picMkLst>
        </pc:picChg>
        <pc:picChg chg="del">
          <ac:chgData name="Anna Alexis" userId="8270d516-1485-4c36-8dcf-4b38df743cf0" providerId="ADAL" clId="{0E55714B-D89C-47EB-A073-6F5FC46238B6}" dt="2026-02-24T07:42:39.358" v="142" actId="478"/>
          <ac:picMkLst>
            <pc:docMk/>
            <pc:sldMk cId="3627759820" sldId="2147483457"/>
            <ac:picMk id="18" creationId="{B49FBDA3-A8EA-39BA-CB61-9159FFBB587F}"/>
          </ac:picMkLst>
        </pc:picChg>
        <pc:picChg chg="del">
          <ac:chgData name="Anna Alexis" userId="8270d516-1485-4c36-8dcf-4b38df743cf0" providerId="ADAL" clId="{0E55714B-D89C-47EB-A073-6F5FC46238B6}" dt="2026-02-24T07:42:36.564" v="141" actId="478"/>
          <ac:picMkLst>
            <pc:docMk/>
            <pc:sldMk cId="3627759820" sldId="2147483457"/>
            <ac:picMk id="21" creationId="{FF402B36-0235-788A-C245-4E3534E86980}"/>
          </ac:picMkLst>
        </pc:picChg>
      </pc:sldChg>
      <pc:sldChg chg="delSp modSp mod">
        <pc:chgData name="Anna Alexis" userId="8270d516-1485-4c36-8dcf-4b38df743cf0" providerId="ADAL" clId="{0E55714B-D89C-47EB-A073-6F5FC46238B6}" dt="2026-02-24T07:43:41.029" v="163" actId="478"/>
        <pc:sldMkLst>
          <pc:docMk/>
          <pc:sldMk cId="1887468918" sldId="2147483466"/>
        </pc:sldMkLst>
        <pc:spChg chg="mod">
          <ac:chgData name="Anna Alexis" userId="8270d516-1485-4c36-8dcf-4b38df743cf0" providerId="ADAL" clId="{0E55714B-D89C-47EB-A073-6F5FC46238B6}" dt="2026-02-24T07:31:47.714" v="71"/>
          <ac:spMkLst>
            <pc:docMk/>
            <pc:sldMk cId="1887468918" sldId="2147483466"/>
            <ac:spMk id="26" creationId="{BE7D6678-C8BD-6488-DD1E-FA529E7D4C34}"/>
          </ac:spMkLst>
        </pc:spChg>
        <pc:picChg chg="del">
          <ac:chgData name="Anna Alexis" userId="8270d516-1485-4c36-8dcf-4b38df743cf0" providerId="ADAL" clId="{0E55714B-D89C-47EB-A073-6F5FC46238B6}" dt="2026-02-24T07:43:06.469" v="148" actId="478"/>
          <ac:picMkLst>
            <pc:docMk/>
            <pc:sldMk cId="1887468918" sldId="2147483466"/>
            <ac:picMk id="16" creationId="{4CF73FF2-B07E-45C4-B53C-C50E4744C32F}"/>
          </ac:picMkLst>
        </pc:picChg>
        <pc:picChg chg="del">
          <ac:chgData name="Anna Alexis" userId="8270d516-1485-4c36-8dcf-4b38df743cf0" providerId="ADAL" clId="{0E55714B-D89C-47EB-A073-6F5FC46238B6}" dt="2026-02-24T07:43:09.139" v="149" actId="478"/>
          <ac:picMkLst>
            <pc:docMk/>
            <pc:sldMk cId="1887468918" sldId="2147483466"/>
            <ac:picMk id="45" creationId="{6BEA4F99-BB78-D112-C1C8-F3337B343F93}"/>
          </ac:picMkLst>
        </pc:picChg>
        <pc:picChg chg="del">
          <ac:chgData name="Anna Alexis" userId="8270d516-1485-4c36-8dcf-4b38df743cf0" providerId="ADAL" clId="{0E55714B-D89C-47EB-A073-6F5FC46238B6}" dt="2026-02-24T07:43:13.358" v="151" actId="478"/>
          <ac:picMkLst>
            <pc:docMk/>
            <pc:sldMk cId="1887468918" sldId="2147483466"/>
            <ac:picMk id="46" creationId="{7558DC9E-F3C1-07F2-65C9-B3EBA28373EB}"/>
          </ac:picMkLst>
        </pc:picChg>
        <pc:picChg chg="del">
          <ac:chgData name="Anna Alexis" userId="8270d516-1485-4c36-8dcf-4b38df743cf0" providerId="ADAL" clId="{0E55714B-D89C-47EB-A073-6F5FC46238B6}" dt="2026-02-24T07:43:25.118" v="155" actId="478"/>
          <ac:picMkLst>
            <pc:docMk/>
            <pc:sldMk cId="1887468918" sldId="2147483466"/>
            <ac:picMk id="49" creationId="{3259E875-E8D2-5A0A-3465-30810C30E143}"/>
          </ac:picMkLst>
        </pc:picChg>
        <pc:picChg chg="del">
          <ac:chgData name="Anna Alexis" userId="8270d516-1485-4c36-8dcf-4b38df743cf0" providerId="ADAL" clId="{0E55714B-D89C-47EB-A073-6F5FC46238B6}" dt="2026-02-24T07:43:38.279" v="162" actId="478"/>
          <ac:picMkLst>
            <pc:docMk/>
            <pc:sldMk cId="1887468918" sldId="2147483466"/>
            <ac:picMk id="50" creationId="{A9757C5C-AB4F-48D7-083C-714E46323A0B}"/>
          </ac:picMkLst>
        </pc:picChg>
        <pc:picChg chg="del">
          <ac:chgData name="Anna Alexis" userId="8270d516-1485-4c36-8dcf-4b38df743cf0" providerId="ADAL" clId="{0E55714B-D89C-47EB-A073-6F5FC46238B6}" dt="2026-02-24T07:43:34.355" v="160" actId="478"/>
          <ac:picMkLst>
            <pc:docMk/>
            <pc:sldMk cId="1887468918" sldId="2147483466"/>
            <ac:picMk id="52" creationId="{B266E4EF-9010-69C6-F8BE-CB8558694EF7}"/>
          </ac:picMkLst>
        </pc:picChg>
        <pc:picChg chg="del">
          <ac:chgData name="Anna Alexis" userId="8270d516-1485-4c36-8dcf-4b38df743cf0" providerId="ADAL" clId="{0E55714B-D89C-47EB-A073-6F5FC46238B6}" dt="2026-02-24T07:43:30.491" v="158" actId="478"/>
          <ac:picMkLst>
            <pc:docMk/>
            <pc:sldMk cId="1887468918" sldId="2147483466"/>
            <ac:picMk id="53" creationId="{FF9EF6E7-F739-D88E-EDAC-357BE9699995}"/>
          </ac:picMkLst>
        </pc:picChg>
        <pc:picChg chg="del">
          <ac:chgData name="Anna Alexis" userId="8270d516-1485-4c36-8dcf-4b38df743cf0" providerId="ADAL" clId="{0E55714B-D89C-47EB-A073-6F5FC46238B6}" dt="2026-02-24T07:43:27.145" v="156" actId="478"/>
          <ac:picMkLst>
            <pc:docMk/>
            <pc:sldMk cId="1887468918" sldId="2147483466"/>
            <ac:picMk id="54" creationId="{D9549C2B-0322-944A-E11E-999D015DE63F}"/>
          </ac:picMkLst>
        </pc:picChg>
        <pc:picChg chg="del">
          <ac:chgData name="Anna Alexis" userId="8270d516-1485-4c36-8dcf-4b38df743cf0" providerId="ADAL" clId="{0E55714B-D89C-47EB-A073-6F5FC46238B6}" dt="2026-02-24T07:43:21.914" v="154" actId="478"/>
          <ac:picMkLst>
            <pc:docMk/>
            <pc:sldMk cId="1887468918" sldId="2147483466"/>
            <ac:picMk id="56" creationId="{648652D0-FAA6-1090-7F9B-600D71ADB9F8}"/>
          </ac:picMkLst>
        </pc:picChg>
        <pc:picChg chg="del">
          <ac:chgData name="Anna Alexis" userId="8270d516-1485-4c36-8dcf-4b38df743cf0" providerId="ADAL" clId="{0E55714B-D89C-47EB-A073-6F5FC46238B6}" dt="2026-02-24T07:43:36.333" v="161" actId="478"/>
          <ac:picMkLst>
            <pc:docMk/>
            <pc:sldMk cId="1887468918" sldId="2147483466"/>
            <ac:picMk id="57" creationId="{E879C256-FDA9-9ADE-8698-1ED26F11EF70}"/>
          </ac:picMkLst>
        </pc:picChg>
        <pc:picChg chg="del">
          <ac:chgData name="Anna Alexis" userId="8270d516-1485-4c36-8dcf-4b38df743cf0" providerId="ADAL" clId="{0E55714B-D89C-47EB-A073-6F5FC46238B6}" dt="2026-02-24T07:43:16.458" v="152" actId="478"/>
          <ac:picMkLst>
            <pc:docMk/>
            <pc:sldMk cId="1887468918" sldId="2147483466"/>
            <ac:picMk id="59" creationId="{6C2387AB-9FDB-49E4-9D77-F8ED9CF51433}"/>
          </ac:picMkLst>
        </pc:picChg>
        <pc:picChg chg="del">
          <ac:chgData name="Anna Alexis" userId="8270d516-1485-4c36-8dcf-4b38df743cf0" providerId="ADAL" clId="{0E55714B-D89C-47EB-A073-6F5FC46238B6}" dt="2026-02-24T07:43:19.959" v="153" actId="478"/>
          <ac:picMkLst>
            <pc:docMk/>
            <pc:sldMk cId="1887468918" sldId="2147483466"/>
            <ac:picMk id="60" creationId="{9113C1AE-CFA2-4314-B528-CDD46DA9B2E8}"/>
          </ac:picMkLst>
        </pc:picChg>
        <pc:picChg chg="del">
          <ac:chgData name="Anna Alexis" userId="8270d516-1485-4c36-8dcf-4b38df743cf0" providerId="ADAL" clId="{0E55714B-D89C-47EB-A073-6F5FC46238B6}" dt="2026-02-24T07:43:11.161" v="150" actId="478"/>
          <ac:picMkLst>
            <pc:docMk/>
            <pc:sldMk cId="1887468918" sldId="2147483466"/>
            <ac:picMk id="1026" creationId="{CD73D7F1-A23F-41ED-8E33-393785088D48}"/>
          </ac:picMkLst>
        </pc:picChg>
        <pc:picChg chg="del">
          <ac:chgData name="Anna Alexis" userId="8270d516-1485-4c36-8dcf-4b38df743cf0" providerId="ADAL" clId="{0E55714B-D89C-47EB-A073-6F5FC46238B6}" dt="2026-02-24T07:43:41.029" v="163" actId="478"/>
          <ac:picMkLst>
            <pc:docMk/>
            <pc:sldMk cId="1887468918" sldId="2147483466"/>
            <ac:picMk id="3078" creationId="{529BDC5B-E83F-ADB4-C264-575F876A9091}"/>
          </ac:picMkLst>
        </pc:picChg>
        <pc:picChg chg="del">
          <ac:chgData name="Anna Alexis" userId="8270d516-1485-4c36-8dcf-4b38df743cf0" providerId="ADAL" clId="{0E55714B-D89C-47EB-A073-6F5FC46238B6}" dt="2026-02-24T07:43:28.712" v="157" actId="478"/>
          <ac:picMkLst>
            <pc:docMk/>
            <pc:sldMk cId="1887468918" sldId="2147483466"/>
            <ac:picMk id="3080" creationId="{8F0E81F7-15C0-BD20-C6D8-7FDC06DC7878}"/>
          </ac:picMkLst>
        </pc:picChg>
        <pc:picChg chg="del">
          <ac:chgData name="Anna Alexis" userId="8270d516-1485-4c36-8dcf-4b38df743cf0" providerId="ADAL" clId="{0E55714B-D89C-47EB-A073-6F5FC46238B6}" dt="2026-02-24T07:43:32.201" v="159" actId="478"/>
          <ac:picMkLst>
            <pc:docMk/>
            <pc:sldMk cId="1887468918" sldId="2147483466"/>
            <ac:picMk id="3082" creationId="{28F495C8-90E2-3D0E-25CF-78FACA30A91D}"/>
          </ac:picMkLst>
        </pc:picChg>
      </pc:sldChg>
      <pc:sldChg chg="delSp modSp mod">
        <pc:chgData name="Anna Alexis" userId="8270d516-1485-4c36-8dcf-4b38df743cf0" providerId="ADAL" clId="{0E55714B-D89C-47EB-A073-6F5FC46238B6}" dt="2026-02-24T07:32:25.392" v="79" actId="478"/>
        <pc:sldMkLst>
          <pc:docMk/>
          <pc:sldMk cId="2899729769" sldId="2147483484"/>
        </pc:sldMkLst>
        <pc:spChg chg="mod">
          <ac:chgData name="Anna Alexis" userId="8270d516-1485-4c36-8dcf-4b38df743cf0" providerId="ADAL" clId="{0E55714B-D89C-47EB-A073-6F5FC46238B6}" dt="2026-02-24T07:32:25.392" v="79" actId="478"/>
          <ac:spMkLst>
            <pc:docMk/>
            <pc:sldMk cId="2899729769" sldId="2147483484"/>
            <ac:spMk id="66" creationId="{FE445E99-2E96-4A12-3F3D-0993E8A46157}"/>
          </ac:spMkLst>
        </pc:spChg>
        <pc:spChg chg="mod">
          <ac:chgData name="Anna Alexis" userId="8270d516-1485-4c36-8dcf-4b38df743cf0" providerId="ADAL" clId="{0E55714B-D89C-47EB-A073-6F5FC46238B6}" dt="2026-02-24T06:59:27.370" v="46"/>
          <ac:spMkLst>
            <pc:docMk/>
            <pc:sldMk cId="2899729769" sldId="2147483484"/>
            <ac:spMk id="79" creationId="{43A24E59-847D-EFAC-384E-2AE482E9E4E5}"/>
          </ac:spMkLst>
        </pc:spChg>
        <pc:spChg chg="mod">
          <ac:chgData name="Anna Alexis" userId="8270d516-1485-4c36-8dcf-4b38df743cf0" providerId="ADAL" clId="{0E55714B-D89C-47EB-A073-6F5FC46238B6}" dt="2026-02-24T06:59:27.370" v="46"/>
          <ac:spMkLst>
            <pc:docMk/>
            <pc:sldMk cId="2899729769" sldId="2147483484"/>
            <ac:spMk id="96" creationId="{D7259269-EA5B-077D-9F82-AA279EF5C22A}"/>
          </ac:spMkLst>
        </pc:spChg>
        <pc:spChg chg="mod">
          <ac:chgData name="Anna Alexis" userId="8270d516-1485-4c36-8dcf-4b38df743cf0" providerId="ADAL" clId="{0E55714B-D89C-47EB-A073-6F5FC46238B6}" dt="2026-02-24T07:32:25.392" v="79" actId="478"/>
          <ac:spMkLst>
            <pc:docMk/>
            <pc:sldMk cId="2899729769" sldId="2147483484"/>
            <ac:spMk id="114" creationId="{B163A82F-342C-FDA4-E4CE-F85F70287F83}"/>
          </ac:spMkLst>
        </pc:spChg>
        <pc:spChg chg="mod">
          <ac:chgData name="Anna Alexis" userId="8270d516-1485-4c36-8dcf-4b38df743cf0" providerId="ADAL" clId="{0E55714B-D89C-47EB-A073-6F5FC46238B6}" dt="2026-02-24T07:32:25.392" v="79" actId="478"/>
          <ac:spMkLst>
            <pc:docMk/>
            <pc:sldMk cId="2899729769" sldId="2147483484"/>
            <ac:spMk id="115" creationId="{197DF2E3-56E9-4647-140D-908BF25C07AF}"/>
          </ac:spMkLst>
        </pc:spChg>
        <pc:spChg chg="mod">
          <ac:chgData name="Anna Alexis" userId="8270d516-1485-4c36-8dcf-4b38df743cf0" providerId="ADAL" clId="{0E55714B-D89C-47EB-A073-6F5FC46238B6}" dt="2026-02-24T07:32:25.392" v="79" actId="478"/>
          <ac:spMkLst>
            <pc:docMk/>
            <pc:sldMk cId="2899729769" sldId="2147483484"/>
            <ac:spMk id="116" creationId="{CBAB937A-D586-969C-BCBD-CC87AA4D453F}"/>
          </ac:spMkLst>
        </pc:spChg>
        <pc:spChg chg="mod">
          <ac:chgData name="Anna Alexis" userId="8270d516-1485-4c36-8dcf-4b38df743cf0" providerId="ADAL" clId="{0E55714B-D89C-47EB-A073-6F5FC46238B6}" dt="2026-02-24T07:32:25.392" v="79" actId="478"/>
          <ac:spMkLst>
            <pc:docMk/>
            <pc:sldMk cId="2899729769" sldId="2147483484"/>
            <ac:spMk id="127" creationId="{99573B63-9637-FBE7-5468-28EBDDE1EEE7}"/>
          </ac:spMkLst>
        </pc:spChg>
        <pc:spChg chg="mod">
          <ac:chgData name="Anna Alexis" userId="8270d516-1485-4c36-8dcf-4b38df743cf0" providerId="ADAL" clId="{0E55714B-D89C-47EB-A073-6F5FC46238B6}" dt="2026-02-24T07:32:25.392" v="79" actId="478"/>
          <ac:spMkLst>
            <pc:docMk/>
            <pc:sldMk cId="2899729769" sldId="2147483484"/>
            <ac:spMk id="131" creationId="{55B71B49-9D0A-CA5E-C859-EDFFC78C1A4D}"/>
          </ac:spMkLst>
        </pc:spChg>
        <pc:spChg chg="mod">
          <ac:chgData name="Anna Alexis" userId="8270d516-1485-4c36-8dcf-4b38df743cf0" providerId="ADAL" clId="{0E55714B-D89C-47EB-A073-6F5FC46238B6}" dt="2026-02-24T07:32:25.392" v="79" actId="478"/>
          <ac:spMkLst>
            <pc:docMk/>
            <pc:sldMk cId="2899729769" sldId="2147483484"/>
            <ac:spMk id="133" creationId="{F075246A-15EA-815D-E82D-A9205F420558}"/>
          </ac:spMkLst>
        </pc:spChg>
        <pc:spChg chg="mod">
          <ac:chgData name="Anna Alexis" userId="8270d516-1485-4c36-8dcf-4b38df743cf0" providerId="ADAL" clId="{0E55714B-D89C-47EB-A073-6F5FC46238B6}" dt="2026-02-24T07:32:25.392" v="79" actId="478"/>
          <ac:spMkLst>
            <pc:docMk/>
            <pc:sldMk cId="2899729769" sldId="2147483484"/>
            <ac:spMk id="134" creationId="{D2501142-1A10-6D59-BE35-EE424E195557}"/>
          </ac:spMkLst>
        </pc:spChg>
        <pc:spChg chg="mod">
          <ac:chgData name="Anna Alexis" userId="8270d516-1485-4c36-8dcf-4b38df743cf0" providerId="ADAL" clId="{0E55714B-D89C-47EB-A073-6F5FC46238B6}" dt="2026-02-24T07:32:25.392" v="79" actId="478"/>
          <ac:spMkLst>
            <pc:docMk/>
            <pc:sldMk cId="2899729769" sldId="2147483484"/>
            <ac:spMk id="135" creationId="{679A75C1-1A33-3FCF-9557-B6F9EE2E5257}"/>
          </ac:spMkLst>
        </pc:spChg>
        <pc:grpChg chg="del">
          <ac:chgData name="Anna Alexis" userId="8270d516-1485-4c36-8dcf-4b38df743cf0" providerId="ADAL" clId="{0E55714B-D89C-47EB-A073-6F5FC46238B6}" dt="2026-02-24T07:32:09.562" v="74" actId="478"/>
          <ac:grpSpMkLst>
            <pc:docMk/>
            <pc:sldMk cId="2899729769" sldId="2147483484"/>
            <ac:grpSpMk id="6" creationId="{DE918B64-65CF-8639-E940-1353AA1F0BFC}"/>
          </ac:grpSpMkLst>
        </pc:grpChg>
        <pc:grpChg chg="del">
          <ac:chgData name="Anna Alexis" userId="8270d516-1485-4c36-8dcf-4b38df743cf0" providerId="ADAL" clId="{0E55714B-D89C-47EB-A073-6F5FC46238B6}" dt="2026-02-24T07:32:21.997" v="78" actId="478"/>
          <ac:grpSpMkLst>
            <pc:docMk/>
            <pc:sldMk cId="2899729769" sldId="2147483484"/>
            <ac:grpSpMk id="212" creationId="{ADC8D398-B2A7-BB3C-1467-7EB7E73FB2B5}"/>
          </ac:grpSpMkLst>
        </pc:grpChg>
        <pc:grpChg chg="del">
          <ac:chgData name="Anna Alexis" userId="8270d516-1485-4c36-8dcf-4b38df743cf0" providerId="ADAL" clId="{0E55714B-D89C-47EB-A073-6F5FC46238B6}" dt="2026-02-24T07:32:15.896" v="76" actId="478"/>
          <ac:grpSpMkLst>
            <pc:docMk/>
            <pc:sldMk cId="2899729769" sldId="2147483484"/>
            <ac:grpSpMk id="213" creationId="{0822D1D3-35EE-3961-B8B3-1FA37D46090E}"/>
          </ac:grpSpMkLst>
        </pc:grpChg>
        <pc:picChg chg="mod">
          <ac:chgData name="Anna Alexis" userId="8270d516-1485-4c36-8dcf-4b38df743cf0" providerId="ADAL" clId="{0E55714B-D89C-47EB-A073-6F5FC46238B6}" dt="2026-02-24T07:32:25.392" v="79" actId="478"/>
          <ac:picMkLst>
            <pc:docMk/>
            <pc:sldMk cId="2899729769" sldId="2147483484"/>
            <ac:picMk id="183" creationId="{59255681-D679-B228-6CC1-E157DDFFF1AE}"/>
          </ac:picMkLst>
        </pc:picChg>
        <pc:picChg chg="del mod">
          <ac:chgData name="Anna Alexis" userId="8270d516-1485-4c36-8dcf-4b38df743cf0" providerId="ADAL" clId="{0E55714B-D89C-47EB-A073-6F5FC46238B6}" dt="2026-02-24T07:32:21.997" v="78" actId="478"/>
          <ac:picMkLst>
            <pc:docMk/>
            <pc:sldMk cId="2899729769" sldId="2147483484"/>
            <ac:picMk id="207" creationId="{42EB6552-11DE-B4F6-19B2-A062D275F7AE}"/>
          </ac:picMkLst>
        </pc:picChg>
        <pc:picChg chg="del">
          <ac:chgData name="Anna Alexis" userId="8270d516-1485-4c36-8dcf-4b38df743cf0" providerId="ADAL" clId="{0E55714B-D89C-47EB-A073-6F5FC46238B6}" dt="2026-02-24T07:32:15.896" v="76" actId="478"/>
          <ac:picMkLst>
            <pc:docMk/>
            <pc:sldMk cId="2899729769" sldId="2147483484"/>
            <ac:picMk id="208" creationId="{009B51EA-F8EE-9F0C-1376-5B0E9C31C675}"/>
          </ac:picMkLst>
        </pc:picChg>
      </pc:sldChg>
      <pc:sldChg chg="delSp mod">
        <pc:chgData name="Anna Alexis" userId="8270d516-1485-4c36-8dcf-4b38df743cf0" providerId="ADAL" clId="{0E55714B-D89C-47EB-A073-6F5FC46238B6}" dt="2026-02-24T07:42:04.461" v="139" actId="478"/>
        <pc:sldMkLst>
          <pc:docMk/>
          <pc:sldMk cId="1260572041" sldId="2147483518"/>
        </pc:sldMkLst>
        <pc:picChg chg="del">
          <ac:chgData name="Anna Alexis" userId="8270d516-1485-4c36-8dcf-4b38df743cf0" providerId="ADAL" clId="{0E55714B-D89C-47EB-A073-6F5FC46238B6}" dt="2026-02-24T07:34:13.008" v="130" actId="478"/>
          <ac:picMkLst>
            <pc:docMk/>
            <pc:sldMk cId="1260572041" sldId="2147483518"/>
            <ac:picMk id="4" creationId="{E66BE211-0DF7-6F50-BAC8-5B1007910803}"/>
          </ac:picMkLst>
        </pc:picChg>
        <pc:picChg chg="del">
          <ac:chgData name="Anna Alexis" userId="8270d516-1485-4c36-8dcf-4b38df743cf0" providerId="ADAL" clId="{0E55714B-D89C-47EB-A073-6F5FC46238B6}" dt="2026-02-24T07:42:02.454" v="138" actId="478"/>
          <ac:picMkLst>
            <pc:docMk/>
            <pc:sldMk cId="1260572041" sldId="2147483518"/>
            <ac:picMk id="5" creationId="{6A475BA3-2818-15E8-E686-816D2425B16C}"/>
          </ac:picMkLst>
        </pc:picChg>
        <pc:picChg chg="del">
          <ac:chgData name="Anna Alexis" userId="8270d516-1485-4c36-8dcf-4b38df743cf0" providerId="ADAL" clId="{0E55714B-D89C-47EB-A073-6F5FC46238B6}" dt="2026-02-24T07:42:04.461" v="139" actId="478"/>
          <ac:picMkLst>
            <pc:docMk/>
            <pc:sldMk cId="1260572041" sldId="2147483518"/>
            <ac:picMk id="7" creationId="{2E1B096A-EBBA-8964-053E-C131392BE42F}"/>
          </ac:picMkLst>
        </pc:picChg>
        <pc:picChg chg="del">
          <ac:chgData name="Anna Alexis" userId="8270d516-1485-4c36-8dcf-4b38df743cf0" providerId="ADAL" clId="{0E55714B-D89C-47EB-A073-6F5FC46238B6}" dt="2026-02-24T07:41:52.305" v="135" actId="478"/>
          <ac:picMkLst>
            <pc:docMk/>
            <pc:sldMk cId="1260572041" sldId="2147483518"/>
            <ac:picMk id="8" creationId="{85F71987-5446-06D9-ACFC-C723CFB431F9}"/>
          </ac:picMkLst>
        </pc:picChg>
        <pc:picChg chg="del">
          <ac:chgData name="Anna Alexis" userId="8270d516-1485-4c36-8dcf-4b38df743cf0" providerId="ADAL" clId="{0E55714B-D89C-47EB-A073-6F5FC46238B6}" dt="2026-02-24T07:34:13.008" v="130" actId="478"/>
          <ac:picMkLst>
            <pc:docMk/>
            <pc:sldMk cId="1260572041" sldId="2147483518"/>
            <ac:picMk id="11" creationId="{8D602FC1-5EE0-B46F-2AF6-FB2658674CD2}"/>
          </ac:picMkLst>
        </pc:picChg>
        <pc:picChg chg="del">
          <ac:chgData name="Anna Alexis" userId="8270d516-1485-4c36-8dcf-4b38df743cf0" providerId="ADAL" clId="{0E55714B-D89C-47EB-A073-6F5FC46238B6}" dt="2026-02-24T07:34:13.008" v="130" actId="478"/>
          <ac:picMkLst>
            <pc:docMk/>
            <pc:sldMk cId="1260572041" sldId="2147483518"/>
            <ac:picMk id="12" creationId="{B78F72B9-AD25-7604-92C0-376351E395C4}"/>
          </ac:picMkLst>
        </pc:picChg>
        <pc:picChg chg="del">
          <ac:chgData name="Anna Alexis" userId="8270d516-1485-4c36-8dcf-4b38df743cf0" providerId="ADAL" clId="{0E55714B-D89C-47EB-A073-6F5FC46238B6}" dt="2026-02-24T07:34:19.019" v="131" actId="478"/>
          <ac:picMkLst>
            <pc:docMk/>
            <pc:sldMk cId="1260572041" sldId="2147483518"/>
            <ac:picMk id="27" creationId="{7E00EC21-6868-F212-F476-E61519F75275}"/>
          </ac:picMkLst>
        </pc:picChg>
        <pc:picChg chg="del">
          <ac:chgData name="Anna Alexis" userId="8270d516-1485-4c36-8dcf-4b38df743cf0" providerId="ADAL" clId="{0E55714B-D89C-47EB-A073-6F5FC46238B6}" dt="2026-02-24T07:34:13.008" v="130" actId="478"/>
          <ac:picMkLst>
            <pc:docMk/>
            <pc:sldMk cId="1260572041" sldId="2147483518"/>
            <ac:picMk id="33" creationId="{42EF92DF-A6F9-3A6C-91B8-BB188DC17C9C}"/>
          </ac:picMkLst>
        </pc:picChg>
        <pc:picChg chg="del">
          <ac:chgData name="Anna Alexis" userId="8270d516-1485-4c36-8dcf-4b38df743cf0" providerId="ADAL" clId="{0E55714B-D89C-47EB-A073-6F5FC46238B6}" dt="2026-02-24T07:34:13.008" v="130" actId="478"/>
          <ac:picMkLst>
            <pc:docMk/>
            <pc:sldMk cId="1260572041" sldId="2147483518"/>
            <ac:picMk id="37" creationId="{BB43CDD4-0079-EF1D-752D-3128FC2E70F4}"/>
          </ac:picMkLst>
        </pc:picChg>
        <pc:picChg chg="del">
          <ac:chgData name="Anna Alexis" userId="8270d516-1485-4c36-8dcf-4b38df743cf0" providerId="ADAL" clId="{0E55714B-D89C-47EB-A073-6F5FC46238B6}" dt="2026-02-24T07:34:13.008" v="130" actId="478"/>
          <ac:picMkLst>
            <pc:docMk/>
            <pc:sldMk cId="1260572041" sldId="2147483518"/>
            <ac:picMk id="38" creationId="{6D809C44-9BCC-7C0E-4A58-5F096D3484C9}"/>
          </ac:picMkLst>
        </pc:picChg>
        <pc:picChg chg="del">
          <ac:chgData name="Anna Alexis" userId="8270d516-1485-4c36-8dcf-4b38df743cf0" providerId="ADAL" clId="{0E55714B-D89C-47EB-A073-6F5FC46238B6}" dt="2026-02-24T07:41:49.494" v="134" actId="478"/>
          <ac:picMkLst>
            <pc:docMk/>
            <pc:sldMk cId="1260572041" sldId="2147483518"/>
            <ac:picMk id="41" creationId="{806EA103-05C4-551E-708A-0A53333CFAF0}"/>
          </ac:picMkLst>
        </pc:picChg>
        <pc:picChg chg="del">
          <ac:chgData name="Anna Alexis" userId="8270d516-1485-4c36-8dcf-4b38df743cf0" providerId="ADAL" clId="{0E55714B-D89C-47EB-A073-6F5FC46238B6}" dt="2026-02-24T07:34:13.008" v="130" actId="478"/>
          <ac:picMkLst>
            <pc:docMk/>
            <pc:sldMk cId="1260572041" sldId="2147483518"/>
            <ac:picMk id="42" creationId="{ED232676-515B-833A-01C7-060A698F912A}"/>
          </ac:picMkLst>
        </pc:picChg>
        <pc:picChg chg="del">
          <ac:chgData name="Anna Alexis" userId="8270d516-1485-4c36-8dcf-4b38df743cf0" providerId="ADAL" clId="{0E55714B-D89C-47EB-A073-6F5FC46238B6}" dt="2026-02-24T07:34:02.243" v="129" actId="478"/>
          <ac:picMkLst>
            <pc:docMk/>
            <pc:sldMk cId="1260572041" sldId="2147483518"/>
            <ac:picMk id="43" creationId="{0E0FB4AC-8E13-D24C-3071-FDDC0A0636C1}"/>
          </ac:picMkLst>
        </pc:picChg>
        <pc:picChg chg="del">
          <ac:chgData name="Anna Alexis" userId="8270d516-1485-4c36-8dcf-4b38df743cf0" providerId="ADAL" clId="{0E55714B-D89C-47EB-A073-6F5FC46238B6}" dt="2026-02-24T07:34:21.811" v="132" actId="478"/>
          <ac:picMkLst>
            <pc:docMk/>
            <pc:sldMk cId="1260572041" sldId="2147483518"/>
            <ac:picMk id="44" creationId="{4D60176D-F3AA-D81A-94ED-9F99D6BB7F44}"/>
          </ac:picMkLst>
        </pc:picChg>
        <pc:picChg chg="del">
          <ac:chgData name="Anna Alexis" userId="8270d516-1485-4c36-8dcf-4b38df743cf0" providerId="ADAL" clId="{0E55714B-D89C-47EB-A073-6F5FC46238B6}" dt="2026-02-24T07:42:00.788" v="137" actId="478"/>
          <ac:picMkLst>
            <pc:docMk/>
            <pc:sldMk cId="1260572041" sldId="2147483518"/>
            <ac:picMk id="45" creationId="{17E9B28C-EC75-828E-D748-1B5C2E8AC6F5}"/>
          </ac:picMkLst>
        </pc:picChg>
        <pc:picChg chg="del">
          <ac:chgData name="Anna Alexis" userId="8270d516-1485-4c36-8dcf-4b38df743cf0" providerId="ADAL" clId="{0E55714B-D89C-47EB-A073-6F5FC46238B6}" dt="2026-02-24T07:41:54.507" v="136" actId="478"/>
          <ac:picMkLst>
            <pc:docMk/>
            <pc:sldMk cId="1260572041" sldId="2147483518"/>
            <ac:picMk id="46" creationId="{5C873010-74EA-A2AC-89BF-C100B382B389}"/>
          </ac:picMkLst>
        </pc:picChg>
        <pc:picChg chg="del">
          <ac:chgData name="Anna Alexis" userId="8270d516-1485-4c36-8dcf-4b38df743cf0" providerId="ADAL" clId="{0E55714B-D89C-47EB-A073-6F5FC46238B6}" dt="2026-02-24T07:41:47.127" v="133" actId="478"/>
          <ac:picMkLst>
            <pc:docMk/>
            <pc:sldMk cId="1260572041" sldId="2147483518"/>
            <ac:picMk id="47" creationId="{84A3F29D-1F1A-4D4C-53BE-099E937E0B09}"/>
          </ac:picMkLst>
        </pc:picChg>
        <pc:picChg chg="del">
          <ac:chgData name="Anna Alexis" userId="8270d516-1485-4c36-8dcf-4b38df743cf0" providerId="ADAL" clId="{0E55714B-D89C-47EB-A073-6F5FC46238B6}" dt="2026-02-24T07:34:13.008" v="130" actId="478"/>
          <ac:picMkLst>
            <pc:docMk/>
            <pc:sldMk cId="1260572041" sldId="2147483518"/>
            <ac:picMk id="48" creationId="{8A921C4B-2D2C-6530-1E4E-21CEF8560060}"/>
          </ac:picMkLst>
        </pc:picChg>
        <pc:picChg chg="del">
          <ac:chgData name="Anna Alexis" userId="8270d516-1485-4c36-8dcf-4b38df743cf0" providerId="ADAL" clId="{0E55714B-D89C-47EB-A073-6F5FC46238B6}" dt="2026-02-24T07:34:13.008" v="130" actId="478"/>
          <ac:picMkLst>
            <pc:docMk/>
            <pc:sldMk cId="1260572041" sldId="2147483518"/>
            <ac:picMk id="49" creationId="{8714D55F-0E44-209E-2848-28DBAAB8D785}"/>
          </ac:picMkLst>
        </pc:picChg>
        <pc:picChg chg="del">
          <ac:chgData name="Anna Alexis" userId="8270d516-1485-4c36-8dcf-4b38df743cf0" providerId="ADAL" clId="{0E55714B-D89C-47EB-A073-6F5FC46238B6}" dt="2026-02-24T07:34:13.008" v="130" actId="478"/>
          <ac:picMkLst>
            <pc:docMk/>
            <pc:sldMk cId="1260572041" sldId="2147483518"/>
            <ac:picMk id="50" creationId="{06822619-17F3-9860-A288-AE97A062D018}"/>
          </ac:picMkLst>
        </pc:picChg>
      </pc:sldChg>
      <pc:sldChg chg="modSp">
        <pc:chgData name="Anna Alexis" userId="8270d516-1485-4c36-8dcf-4b38df743cf0" providerId="ADAL" clId="{0E55714B-D89C-47EB-A073-6F5FC46238B6}" dt="2026-02-24T06:59:44.915" v="47"/>
        <pc:sldMkLst>
          <pc:docMk/>
          <pc:sldMk cId="2861614088" sldId="2147483544"/>
        </pc:sldMkLst>
        <pc:spChg chg="mod">
          <ac:chgData name="Anna Alexis" userId="8270d516-1485-4c36-8dcf-4b38df743cf0" providerId="ADAL" clId="{0E55714B-D89C-47EB-A073-6F5FC46238B6}" dt="2026-02-24T06:59:27.370" v="46"/>
          <ac:spMkLst>
            <pc:docMk/>
            <pc:sldMk cId="2861614088" sldId="2147483544"/>
            <ac:spMk id="2" creationId="{E22A0FC1-B733-FAB5-9D23-3098BC817DD9}"/>
          </ac:spMkLst>
        </pc:spChg>
        <pc:spChg chg="mod">
          <ac:chgData name="Anna Alexis" userId="8270d516-1485-4c36-8dcf-4b38df743cf0" providerId="ADAL" clId="{0E55714B-D89C-47EB-A073-6F5FC46238B6}" dt="2026-02-24T06:59:44.915" v="47"/>
          <ac:spMkLst>
            <pc:docMk/>
            <pc:sldMk cId="2861614088" sldId="2147483544"/>
            <ac:spMk id="4" creationId="{256BFD03-444A-0E7F-99EE-205B8DBE7738}"/>
          </ac:spMkLst>
        </pc:spChg>
      </pc:sldChg>
      <pc:sldChg chg="delSp modSp mod">
        <pc:chgData name="Anna Alexis" userId="8270d516-1485-4c36-8dcf-4b38df743cf0" providerId="ADAL" clId="{0E55714B-D89C-47EB-A073-6F5FC46238B6}" dt="2026-02-24T07:32:04.252" v="73" actId="478"/>
        <pc:sldMkLst>
          <pc:docMk/>
          <pc:sldMk cId="3036448212" sldId="2147483548"/>
        </pc:sldMkLst>
        <pc:spChg chg="mod">
          <ac:chgData name="Anna Alexis" userId="8270d516-1485-4c36-8dcf-4b38df743cf0" providerId="ADAL" clId="{0E55714B-D89C-47EB-A073-6F5FC46238B6}" dt="2026-02-24T07:31:47.714" v="71"/>
          <ac:spMkLst>
            <pc:docMk/>
            <pc:sldMk cId="3036448212" sldId="2147483548"/>
            <ac:spMk id="2" creationId="{FC1EF7DA-8AA5-355E-1F07-57D790DFE0CA}"/>
          </ac:spMkLst>
        </pc:spChg>
        <pc:spChg chg="mod">
          <ac:chgData name="Anna Alexis" userId="8270d516-1485-4c36-8dcf-4b38df743cf0" providerId="ADAL" clId="{0E55714B-D89C-47EB-A073-6F5FC46238B6}" dt="2026-02-24T07:32:00.090" v="72"/>
          <ac:spMkLst>
            <pc:docMk/>
            <pc:sldMk cId="3036448212" sldId="2147483548"/>
            <ac:spMk id="52" creationId="{9A57BEDA-69DB-85A2-C0E3-DEAA70EDC2F4}"/>
          </ac:spMkLst>
        </pc:spChg>
        <pc:picChg chg="del">
          <ac:chgData name="Anna Alexis" userId="8270d516-1485-4c36-8dcf-4b38df743cf0" providerId="ADAL" clId="{0E55714B-D89C-47EB-A073-6F5FC46238B6}" dt="2026-02-24T07:32:04.252" v="73" actId="478"/>
          <ac:picMkLst>
            <pc:docMk/>
            <pc:sldMk cId="3036448212" sldId="2147483548"/>
            <ac:picMk id="44" creationId="{8547E062-BCEA-65B8-9EED-703C54735AF8}"/>
          </ac:picMkLst>
        </pc:picChg>
      </pc:sldChg>
      <pc:sldChg chg="delSp modSp mod">
        <pc:chgData name="Anna Alexis" userId="8270d516-1485-4c36-8dcf-4b38df743cf0" providerId="ADAL" clId="{0E55714B-D89C-47EB-A073-6F5FC46238B6}" dt="2026-02-24T07:33:21.223" v="119" actId="478"/>
        <pc:sldMkLst>
          <pc:docMk/>
          <pc:sldMk cId="2799000809" sldId="2147483560"/>
        </pc:sldMkLst>
        <pc:spChg chg="mod">
          <ac:chgData name="Anna Alexis" userId="8270d516-1485-4c36-8dcf-4b38df743cf0" providerId="ADAL" clId="{0E55714B-D89C-47EB-A073-6F5FC46238B6}" dt="2026-02-24T06:59:27.370" v="46"/>
          <ac:spMkLst>
            <pc:docMk/>
            <pc:sldMk cId="2799000809" sldId="2147483560"/>
            <ac:spMk id="8" creationId="{43AE52C3-232C-2044-F0BD-C2AA2A13347E}"/>
          </ac:spMkLst>
        </pc:spChg>
        <pc:spChg chg="mod">
          <ac:chgData name="Anna Alexis" userId="8270d516-1485-4c36-8dcf-4b38df743cf0" providerId="ADAL" clId="{0E55714B-D89C-47EB-A073-6F5FC46238B6}" dt="2026-02-24T06:59:27.370" v="46"/>
          <ac:spMkLst>
            <pc:docMk/>
            <pc:sldMk cId="2799000809" sldId="2147483560"/>
            <ac:spMk id="9" creationId="{7D3F2E51-AA8C-B027-6B43-9717E1F84A9C}"/>
          </ac:spMkLst>
        </pc:spChg>
        <pc:spChg chg="mod">
          <ac:chgData name="Anna Alexis" userId="8270d516-1485-4c36-8dcf-4b38df743cf0" providerId="ADAL" clId="{0E55714B-D89C-47EB-A073-6F5FC46238B6}" dt="2026-02-24T07:32:56.955" v="114" actId="20577"/>
          <ac:spMkLst>
            <pc:docMk/>
            <pc:sldMk cId="2799000809" sldId="2147483560"/>
            <ac:spMk id="11" creationId="{EAC9465C-5EE3-570C-4507-113CAA24004D}"/>
          </ac:spMkLst>
        </pc:spChg>
        <pc:spChg chg="mod">
          <ac:chgData name="Anna Alexis" userId="8270d516-1485-4c36-8dcf-4b38df743cf0" providerId="ADAL" clId="{0E55714B-D89C-47EB-A073-6F5FC46238B6}" dt="2026-02-24T07:33:07.920" v="115"/>
          <ac:spMkLst>
            <pc:docMk/>
            <pc:sldMk cId="2799000809" sldId="2147483560"/>
            <ac:spMk id="12" creationId="{8153A9F9-F77E-A1CB-9340-8889D5FE1109}"/>
          </ac:spMkLst>
        </pc:spChg>
        <pc:spChg chg="mod">
          <ac:chgData name="Anna Alexis" userId="8270d516-1485-4c36-8dcf-4b38df743cf0" providerId="ADAL" clId="{0E55714B-D89C-47EB-A073-6F5FC46238B6}" dt="2026-02-24T06:59:44.915" v="47"/>
          <ac:spMkLst>
            <pc:docMk/>
            <pc:sldMk cId="2799000809" sldId="2147483560"/>
            <ac:spMk id="16" creationId="{DD0DEB3B-806E-1EE4-3A03-A7B96C5D3366}"/>
          </ac:spMkLst>
        </pc:spChg>
        <pc:spChg chg="mod">
          <ac:chgData name="Anna Alexis" userId="8270d516-1485-4c36-8dcf-4b38df743cf0" providerId="ADAL" clId="{0E55714B-D89C-47EB-A073-6F5FC46238B6}" dt="2026-02-24T06:59:44.915" v="47"/>
          <ac:spMkLst>
            <pc:docMk/>
            <pc:sldMk cId="2799000809" sldId="2147483560"/>
            <ac:spMk id="17" creationId="{134A2947-4A39-5368-1BDA-667A148D3EE1}"/>
          </ac:spMkLst>
        </pc:spChg>
        <pc:spChg chg="mod">
          <ac:chgData name="Anna Alexis" userId="8270d516-1485-4c36-8dcf-4b38df743cf0" providerId="ADAL" clId="{0E55714B-D89C-47EB-A073-6F5FC46238B6}" dt="2026-02-24T06:59:44.915" v="47"/>
          <ac:spMkLst>
            <pc:docMk/>
            <pc:sldMk cId="2799000809" sldId="2147483560"/>
            <ac:spMk id="20" creationId="{218B1C73-9C77-4D9E-D37B-6E90D862D674}"/>
          </ac:spMkLst>
        </pc:spChg>
        <pc:spChg chg="mod">
          <ac:chgData name="Anna Alexis" userId="8270d516-1485-4c36-8dcf-4b38df743cf0" providerId="ADAL" clId="{0E55714B-D89C-47EB-A073-6F5FC46238B6}" dt="2026-02-24T06:59:44.915" v="47"/>
          <ac:spMkLst>
            <pc:docMk/>
            <pc:sldMk cId="2799000809" sldId="2147483560"/>
            <ac:spMk id="21" creationId="{988D32D8-5A1A-C0AD-A18E-87AC24DBF331}"/>
          </ac:spMkLst>
        </pc:spChg>
        <pc:spChg chg="mod">
          <ac:chgData name="Anna Alexis" userId="8270d516-1485-4c36-8dcf-4b38df743cf0" providerId="ADAL" clId="{0E55714B-D89C-47EB-A073-6F5FC46238B6}" dt="2026-02-24T06:59:44.915" v="47"/>
          <ac:spMkLst>
            <pc:docMk/>
            <pc:sldMk cId="2799000809" sldId="2147483560"/>
            <ac:spMk id="27" creationId="{44F5EBB2-E199-18F2-CC7C-75015348771C}"/>
          </ac:spMkLst>
        </pc:spChg>
        <pc:picChg chg="del">
          <ac:chgData name="Anna Alexis" userId="8270d516-1485-4c36-8dcf-4b38df743cf0" providerId="ADAL" clId="{0E55714B-D89C-47EB-A073-6F5FC46238B6}" dt="2026-02-24T07:33:10.518" v="116" actId="478"/>
          <ac:picMkLst>
            <pc:docMk/>
            <pc:sldMk cId="2799000809" sldId="2147483560"/>
            <ac:picMk id="30" creationId="{74D20C55-C8C7-7CFC-F802-A595C0FE69F8}"/>
          </ac:picMkLst>
        </pc:picChg>
        <pc:picChg chg="del">
          <ac:chgData name="Anna Alexis" userId="8270d516-1485-4c36-8dcf-4b38df743cf0" providerId="ADAL" clId="{0E55714B-D89C-47EB-A073-6F5FC46238B6}" dt="2026-02-24T07:33:15.030" v="117" actId="478"/>
          <ac:picMkLst>
            <pc:docMk/>
            <pc:sldMk cId="2799000809" sldId="2147483560"/>
            <ac:picMk id="31" creationId="{060B9AC3-4577-5420-02ED-3A08F7D1A50A}"/>
          </ac:picMkLst>
        </pc:picChg>
        <pc:picChg chg="del">
          <ac:chgData name="Anna Alexis" userId="8270d516-1485-4c36-8dcf-4b38df743cf0" providerId="ADAL" clId="{0E55714B-D89C-47EB-A073-6F5FC46238B6}" dt="2026-02-24T07:33:19.179" v="118" actId="478"/>
          <ac:picMkLst>
            <pc:docMk/>
            <pc:sldMk cId="2799000809" sldId="2147483560"/>
            <ac:picMk id="33" creationId="{9C0256D9-508A-E744-07CD-0ACAE9BD7276}"/>
          </ac:picMkLst>
        </pc:picChg>
        <pc:picChg chg="del">
          <ac:chgData name="Anna Alexis" userId="8270d516-1485-4c36-8dcf-4b38df743cf0" providerId="ADAL" clId="{0E55714B-D89C-47EB-A073-6F5FC46238B6}" dt="2026-02-24T07:33:21.223" v="119" actId="478"/>
          <ac:picMkLst>
            <pc:docMk/>
            <pc:sldMk cId="2799000809" sldId="2147483560"/>
            <ac:picMk id="34" creationId="{51621161-76FC-3761-C814-06A9146FA4B6}"/>
          </ac:picMkLst>
        </pc:picChg>
      </pc:sldChg>
      <pc:sldChg chg="modSp">
        <pc:chgData name="Anna Alexis" userId="8270d516-1485-4c36-8dcf-4b38df743cf0" providerId="ADAL" clId="{0E55714B-D89C-47EB-A073-6F5FC46238B6}" dt="2026-02-24T06:59:44.915" v="47"/>
        <pc:sldMkLst>
          <pc:docMk/>
          <pc:sldMk cId="3722442193" sldId="2147483583"/>
        </pc:sldMkLst>
        <pc:spChg chg="mod">
          <ac:chgData name="Anna Alexis" userId="8270d516-1485-4c36-8dcf-4b38df743cf0" providerId="ADAL" clId="{0E55714B-D89C-47EB-A073-6F5FC46238B6}" dt="2026-02-24T06:59:44.915" v="47"/>
          <ac:spMkLst>
            <pc:docMk/>
            <pc:sldMk cId="3722442193" sldId="2147483583"/>
            <ac:spMk id="8" creationId="{DD189A35-D771-976E-2935-327C151BFB56}"/>
          </ac:spMkLst>
        </pc:spChg>
        <pc:spChg chg="mod">
          <ac:chgData name="Anna Alexis" userId="8270d516-1485-4c36-8dcf-4b38df743cf0" providerId="ADAL" clId="{0E55714B-D89C-47EB-A073-6F5FC46238B6}" dt="2026-02-24T06:59:44.915" v="47"/>
          <ac:spMkLst>
            <pc:docMk/>
            <pc:sldMk cId="3722442193" sldId="2147483583"/>
            <ac:spMk id="45" creationId="{598A8AF6-4D88-F432-707B-DCB89AEAFD51}"/>
          </ac:spMkLst>
        </pc:spChg>
      </pc:sldChg>
      <pc:sldChg chg="modSp">
        <pc:chgData name="Anna Alexis" userId="8270d516-1485-4c36-8dcf-4b38df743cf0" providerId="ADAL" clId="{0E55714B-D89C-47EB-A073-6F5FC46238B6}" dt="2026-02-24T06:59:44.915" v="47"/>
        <pc:sldMkLst>
          <pc:docMk/>
          <pc:sldMk cId="2364321017" sldId="2147483621"/>
        </pc:sldMkLst>
        <pc:spChg chg="mod">
          <ac:chgData name="Anna Alexis" userId="8270d516-1485-4c36-8dcf-4b38df743cf0" providerId="ADAL" clId="{0E55714B-D89C-47EB-A073-6F5FC46238B6}" dt="2026-02-24T06:59:44.915" v="47"/>
          <ac:spMkLst>
            <pc:docMk/>
            <pc:sldMk cId="2364321017" sldId="2147483621"/>
            <ac:spMk id="10" creationId="{F50EBF28-B09B-586A-CFC0-1DBB122255CD}"/>
          </ac:spMkLst>
        </pc:spChg>
      </pc:sldChg>
      <pc:sldChg chg="modSp">
        <pc:chgData name="Anna Alexis" userId="8270d516-1485-4c36-8dcf-4b38df743cf0" providerId="ADAL" clId="{0E55714B-D89C-47EB-A073-6F5FC46238B6}" dt="2026-02-24T07:31:47.714" v="71"/>
        <pc:sldMkLst>
          <pc:docMk/>
          <pc:sldMk cId="2080844543" sldId="2147483645"/>
        </pc:sldMkLst>
        <pc:spChg chg="mod">
          <ac:chgData name="Anna Alexis" userId="8270d516-1485-4c36-8dcf-4b38df743cf0" providerId="ADAL" clId="{0E55714B-D89C-47EB-A073-6F5FC46238B6}" dt="2026-02-24T07:31:47.714" v="71"/>
          <ac:spMkLst>
            <pc:docMk/>
            <pc:sldMk cId="2080844543" sldId="2147483645"/>
            <ac:spMk id="42" creationId="{BFE7D80E-58EB-FB7A-20CD-7D9DBADB9E61}"/>
          </ac:spMkLst>
        </pc:spChg>
        <pc:spChg chg="mod">
          <ac:chgData name="Anna Alexis" userId="8270d516-1485-4c36-8dcf-4b38df743cf0" providerId="ADAL" clId="{0E55714B-D89C-47EB-A073-6F5FC46238B6}" dt="2026-02-24T07:31:47.714" v="71"/>
          <ac:spMkLst>
            <pc:docMk/>
            <pc:sldMk cId="2080844543" sldId="2147483645"/>
            <ac:spMk id="45" creationId="{4F72AED2-D5A4-188B-62AB-BD187F44974B}"/>
          </ac:spMkLst>
        </pc:spChg>
        <pc:spChg chg="mod">
          <ac:chgData name="Anna Alexis" userId="8270d516-1485-4c36-8dcf-4b38df743cf0" providerId="ADAL" clId="{0E55714B-D89C-47EB-A073-6F5FC46238B6}" dt="2026-02-24T07:31:47.714" v="71"/>
          <ac:spMkLst>
            <pc:docMk/>
            <pc:sldMk cId="2080844543" sldId="2147483645"/>
            <ac:spMk id="58" creationId="{CBD13052-AD7A-46EF-EE2C-8ADC3354F9DE}"/>
          </ac:spMkLst>
        </pc:spChg>
      </pc:sldChg>
      <pc:sldMasterChg chg="delSp modSp mod">
        <pc:chgData name="Anna Alexis" userId="8270d516-1485-4c36-8dcf-4b38df743cf0" providerId="ADAL" clId="{0E55714B-D89C-47EB-A073-6F5FC46238B6}" dt="2026-02-24T07:25:00.727" v="70" actId="478"/>
        <pc:sldMasterMkLst>
          <pc:docMk/>
          <pc:sldMasterMk cId="3301409648" sldId="2147483784"/>
        </pc:sldMasterMkLst>
        <pc:spChg chg="del">
          <ac:chgData name="Anna Alexis" userId="8270d516-1485-4c36-8dcf-4b38df743cf0" providerId="ADAL" clId="{0E55714B-D89C-47EB-A073-6F5FC46238B6}" dt="2026-02-24T07:25:00.727" v="70" actId="478"/>
          <ac:spMkLst>
            <pc:docMk/>
            <pc:sldMasterMk cId="3301409648" sldId="2147483784"/>
            <ac:spMk id="1047" creationId="{233FF085-9016-0EDB-2DA7-7A3BB4DECD9F}"/>
          </ac:spMkLst>
        </pc:spChg>
        <pc:spChg chg="mod">
          <ac:chgData name="Anna Alexis" userId="8270d516-1485-4c36-8dcf-4b38df743cf0" providerId="ADAL" clId="{0E55714B-D89C-47EB-A073-6F5FC46238B6}" dt="2026-02-24T06:59:27.370" v="46"/>
          <ac:spMkLst>
            <pc:docMk/>
            <pc:sldMasterMk cId="3301409648" sldId="2147483784"/>
            <ac:spMk id="1050" creationId="{C5CFCA6E-0A66-661B-2060-C698D3287C28}"/>
          </ac:spMkLst>
        </pc:spChg>
      </pc:sldMasterChg>
      <pc:sldMasterChg chg="modSldLayout">
        <pc:chgData name="Anna Alexis" userId="8270d516-1485-4c36-8dcf-4b38df743cf0" providerId="ADAL" clId="{0E55714B-D89C-47EB-A073-6F5FC46238B6}" dt="2026-02-24T07:02:48.604" v="55" actId="478"/>
        <pc:sldMasterMkLst>
          <pc:docMk/>
          <pc:sldMasterMk cId="1164978766" sldId="2147484076"/>
        </pc:sldMasterMkLst>
        <pc:sldLayoutChg chg="delSp mod">
          <pc:chgData name="Anna Alexis" userId="8270d516-1485-4c36-8dcf-4b38df743cf0" providerId="ADAL" clId="{0E55714B-D89C-47EB-A073-6F5FC46238B6}" dt="2026-02-24T07:02:25.965" v="51" actId="478"/>
          <pc:sldLayoutMkLst>
            <pc:docMk/>
            <pc:sldMasterMk cId="1164978766" sldId="2147484076"/>
            <pc:sldLayoutMk cId="4043356951" sldId="2147484126"/>
          </pc:sldLayoutMkLst>
          <pc:picChg chg="del">
            <ac:chgData name="Anna Alexis" userId="8270d516-1485-4c36-8dcf-4b38df743cf0" providerId="ADAL" clId="{0E55714B-D89C-47EB-A073-6F5FC46238B6}" dt="2026-02-24T07:02:25.965" v="51" actId="478"/>
            <ac:picMkLst>
              <pc:docMk/>
              <pc:sldMasterMk cId="1164978766" sldId="2147484076"/>
              <pc:sldLayoutMk cId="4043356951" sldId="2147484126"/>
              <ac:picMk id="11" creationId="{CC49A20A-4848-04BF-21B3-3C365A0E59E6}"/>
            </ac:picMkLst>
          </pc:picChg>
        </pc:sldLayoutChg>
        <pc:sldLayoutChg chg="delSp mod">
          <pc:chgData name="Anna Alexis" userId="8270d516-1485-4c36-8dcf-4b38df743cf0" providerId="ADAL" clId="{0E55714B-D89C-47EB-A073-6F5FC46238B6}" dt="2026-02-24T07:02:32.267" v="53" actId="478"/>
          <pc:sldLayoutMkLst>
            <pc:docMk/>
            <pc:sldMasterMk cId="1164978766" sldId="2147484076"/>
            <pc:sldLayoutMk cId="294410479" sldId="2147484155"/>
          </pc:sldLayoutMkLst>
          <pc:picChg chg="del">
            <ac:chgData name="Anna Alexis" userId="8270d516-1485-4c36-8dcf-4b38df743cf0" providerId="ADAL" clId="{0E55714B-D89C-47EB-A073-6F5FC46238B6}" dt="2026-02-24T07:02:30.149" v="52" actId="478"/>
            <ac:picMkLst>
              <pc:docMk/>
              <pc:sldMasterMk cId="1164978766" sldId="2147484076"/>
              <pc:sldLayoutMk cId="294410479" sldId="2147484155"/>
              <ac:picMk id="14" creationId="{67FF10B9-98AA-EB30-EB91-7D49921F224A}"/>
            </ac:picMkLst>
          </pc:picChg>
          <pc:picChg chg="del">
            <ac:chgData name="Anna Alexis" userId="8270d516-1485-4c36-8dcf-4b38df743cf0" providerId="ADAL" clId="{0E55714B-D89C-47EB-A073-6F5FC46238B6}" dt="2026-02-24T07:02:32.267" v="53" actId="478"/>
            <ac:picMkLst>
              <pc:docMk/>
              <pc:sldMasterMk cId="1164978766" sldId="2147484076"/>
              <pc:sldLayoutMk cId="294410479" sldId="2147484155"/>
              <ac:picMk id="16" creationId="{01D95FF7-6BDD-C030-3812-CB4AE1C90206}"/>
            </ac:picMkLst>
          </pc:picChg>
        </pc:sldLayoutChg>
        <pc:sldLayoutChg chg="delSp modSp mod">
          <pc:chgData name="Anna Alexis" userId="8270d516-1485-4c36-8dcf-4b38df743cf0" providerId="ADAL" clId="{0E55714B-D89C-47EB-A073-6F5FC46238B6}" dt="2026-02-24T07:02:16.992" v="50" actId="478"/>
          <pc:sldLayoutMkLst>
            <pc:docMk/>
            <pc:sldMasterMk cId="1164978766" sldId="2147484076"/>
            <pc:sldLayoutMk cId="1733909154" sldId="2147484160"/>
          </pc:sldLayoutMkLst>
          <pc:grpChg chg="topLvl">
            <ac:chgData name="Anna Alexis" userId="8270d516-1485-4c36-8dcf-4b38df743cf0" providerId="ADAL" clId="{0E55714B-D89C-47EB-A073-6F5FC46238B6}" dt="2026-02-24T07:02:16.992" v="50" actId="478"/>
            <ac:grpSpMkLst>
              <pc:docMk/>
              <pc:sldMasterMk cId="1164978766" sldId="2147484076"/>
              <pc:sldLayoutMk cId="1733909154" sldId="2147484160"/>
              <ac:grpSpMk id="2" creationId="{257D3A8D-1491-2EB9-66B1-22B23BD56E18}"/>
            </ac:grpSpMkLst>
          </pc:grpChg>
          <pc:grpChg chg="del mod">
            <ac:chgData name="Anna Alexis" userId="8270d516-1485-4c36-8dcf-4b38df743cf0" providerId="ADAL" clId="{0E55714B-D89C-47EB-A073-6F5FC46238B6}" dt="2026-02-24T07:02:16.992" v="50" actId="478"/>
            <ac:grpSpMkLst>
              <pc:docMk/>
              <pc:sldMasterMk cId="1164978766" sldId="2147484076"/>
              <pc:sldLayoutMk cId="1733909154" sldId="2147484160"/>
              <ac:grpSpMk id="15" creationId="{2F9C2D2B-7D0C-6284-5E68-3F4F988F2698}"/>
            </ac:grpSpMkLst>
          </pc:grpChg>
          <pc:picChg chg="del topLvl">
            <ac:chgData name="Anna Alexis" userId="8270d516-1485-4c36-8dcf-4b38df743cf0" providerId="ADAL" clId="{0E55714B-D89C-47EB-A073-6F5FC46238B6}" dt="2026-02-24T07:02:16.992" v="50" actId="478"/>
            <ac:picMkLst>
              <pc:docMk/>
              <pc:sldMasterMk cId="1164978766" sldId="2147484076"/>
              <pc:sldLayoutMk cId="1733909154" sldId="2147484160"/>
              <ac:picMk id="11" creationId="{CC49A20A-4848-04BF-21B3-3C365A0E59E6}"/>
            </ac:picMkLst>
          </pc:picChg>
        </pc:sldLayoutChg>
        <pc:sldLayoutChg chg="delSp mod">
          <pc:chgData name="Anna Alexis" userId="8270d516-1485-4c36-8dcf-4b38df743cf0" providerId="ADAL" clId="{0E55714B-D89C-47EB-A073-6F5FC46238B6}" dt="2026-02-24T07:02:48.604" v="55" actId="478"/>
          <pc:sldLayoutMkLst>
            <pc:docMk/>
            <pc:sldMasterMk cId="1164978766" sldId="2147484076"/>
            <pc:sldLayoutMk cId="1845830931" sldId="2147484161"/>
          </pc:sldLayoutMkLst>
          <pc:picChg chg="del">
            <ac:chgData name="Anna Alexis" userId="8270d516-1485-4c36-8dcf-4b38df743cf0" providerId="ADAL" clId="{0E55714B-D89C-47EB-A073-6F5FC46238B6}" dt="2026-02-24T07:02:46.456" v="54" actId="478"/>
            <ac:picMkLst>
              <pc:docMk/>
              <pc:sldMasterMk cId="1164978766" sldId="2147484076"/>
              <pc:sldLayoutMk cId="1845830931" sldId="2147484161"/>
              <ac:picMk id="11" creationId="{CC49A20A-4848-04BF-21B3-3C365A0E59E6}"/>
            </ac:picMkLst>
          </pc:picChg>
          <pc:picChg chg="del">
            <ac:chgData name="Anna Alexis" userId="8270d516-1485-4c36-8dcf-4b38df743cf0" providerId="ADAL" clId="{0E55714B-D89C-47EB-A073-6F5FC46238B6}" dt="2026-02-24T07:02:48.604" v="55" actId="478"/>
            <ac:picMkLst>
              <pc:docMk/>
              <pc:sldMasterMk cId="1164978766" sldId="2147484076"/>
              <pc:sldLayoutMk cId="1845830931" sldId="2147484161"/>
              <ac:picMk id="12" creationId="{A05ADFA3-BFAF-D923-3BB8-C992898C2871}"/>
            </ac:picMkLst>
          </pc:picChg>
        </pc:sldLayoutChg>
      </pc:sldMasterChg>
    </pc:docChg>
  </pc:docChgLst>
  <pc:docChgLst>
    <pc:chgData name="Sreehari J" userId="S::sreehari.j@gds.ey.com::4e89c3e3-db23-4441-b0ac-591b04d9c610" providerId="AD" clId="Web-{5AD3BE84-3956-6284-C203-6850BB93AAE8}"/>
    <pc:docChg chg="modSld">
      <pc:chgData name="Sreehari J" userId="S::sreehari.j@gds.ey.com::4e89c3e3-db23-4441-b0ac-591b04d9c610" providerId="AD" clId="Web-{5AD3BE84-3956-6284-C203-6850BB93AAE8}" dt="2026-02-25T05:41:19.035" v="117"/>
      <pc:docMkLst>
        <pc:docMk/>
      </pc:docMkLst>
      <pc:sldChg chg="modSp">
        <pc:chgData name="Sreehari J" userId="S::sreehari.j@gds.ey.com::4e89c3e3-db23-4441-b0ac-591b04d9c610" providerId="AD" clId="Web-{5AD3BE84-3956-6284-C203-6850BB93AAE8}" dt="2026-02-25T05:41:19.035" v="117"/>
        <pc:sldMkLst>
          <pc:docMk/>
          <pc:sldMk cId="2933661076" sldId="265"/>
        </pc:sldMkLst>
        <pc:graphicFrameChg chg="mod modGraphic">
          <ac:chgData name="Sreehari J" userId="S::sreehari.j@gds.ey.com::4e89c3e3-db23-4441-b0ac-591b04d9c610" providerId="AD" clId="Web-{5AD3BE84-3956-6284-C203-6850BB93AAE8}" dt="2026-02-25T05:41:19.035" v="117"/>
          <ac:graphicFrameMkLst>
            <pc:docMk/>
            <pc:sldMk cId="2933661076" sldId="265"/>
            <ac:graphicFrameMk id="2" creationId="{8B8C6706-D790-B079-CB8C-51AE4562FD05}"/>
          </ac:graphicFrameMkLst>
        </pc:graphicFrameChg>
      </pc:sldChg>
      <pc:sldChg chg="modSp">
        <pc:chgData name="Sreehari J" userId="S::sreehari.j@gds.ey.com::4e89c3e3-db23-4441-b0ac-591b04d9c610" providerId="AD" clId="Web-{5AD3BE84-3956-6284-C203-6850BB93AAE8}" dt="2026-02-25T05:26:13.957" v="41" actId="20577"/>
        <pc:sldMkLst>
          <pc:docMk/>
          <pc:sldMk cId="12463280" sldId="2147483454"/>
        </pc:sldMkLst>
        <pc:spChg chg="mod">
          <ac:chgData name="Sreehari J" userId="S::sreehari.j@gds.ey.com::4e89c3e3-db23-4441-b0ac-591b04d9c610" providerId="AD" clId="Web-{5AD3BE84-3956-6284-C203-6850BB93AAE8}" dt="2026-02-25T05:26:02.160" v="36" actId="20577"/>
          <ac:spMkLst>
            <pc:docMk/>
            <pc:sldMk cId="12463280" sldId="2147483454"/>
            <ac:spMk id="13" creationId="{579E0715-81B1-FD95-1C86-8DF0D592DBA6}"/>
          </ac:spMkLst>
        </pc:spChg>
        <pc:spChg chg="mod">
          <ac:chgData name="Sreehari J" userId="S::sreehari.j@gds.ey.com::4e89c3e3-db23-4441-b0ac-591b04d9c610" providerId="AD" clId="Web-{5AD3BE84-3956-6284-C203-6850BB93AAE8}" dt="2026-02-25T05:26:13.957" v="41" actId="20577"/>
          <ac:spMkLst>
            <pc:docMk/>
            <pc:sldMk cId="12463280" sldId="2147483454"/>
            <ac:spMk id="34" creationId="{DB188EEB-775D-6577-8A46-AAD21C48823C}"/>
          </ac:spMkLst>
        </pc:spChg>
      </pc:sldChg>
      <pc:sldChg chg="modSp">
        <pc:chgData name="Sreehari J" userId="S::sreehari.j@gds.ey.com::4e89c3e3-db23-4441-b0ac-591b04d9c610" providerId="AD" clId="Web-{5AD3BE84-3956-6284-C203-6850BB93AAE8}" dt="2026-02-25T05:22:58.457" v="25" actId="20577"/>
        <pc:sldMkLst>
          <pc:docMk/>
          <pc:sldMk cId="3627759820" sldId="2147483457"/>
        </pc:sldMkLst>
        <pc:spChg chg="mod">
          <ac:chgData name="Sreehari J" userId="S::sreehari.j@gds.ey.com::4e89c3e3-db23-4441-b0ac-591b04d9c610" providerId="AD" clId="Web-{5AD3BE84-3956-6284-C203-6850BB93AAE8}" dt="2026-02-25T05:22:58.457" v="25" actId="20577"/>
          <ac:spMkLst>
            <pc:docMk/>
            <pc:sldMk cId="3627759820" sldId="2147483457"/>
            <ac:spMk id="32" creationId="{9CB9D9C2-3584-FFB2-0EBA-3DFF052076A0}"/>
          </ac:spMkLst>
        </pc:spChg>
      </pc:sldChg>
      <pc:sldChg chg="modSp">
        <pc:chgData name="Sreehari J" userId="S::sreehari.j@gds.ey.com::4e89c3e3-db23-4441-b0ac-591b04d9c610" providerId="AD" clId="Web-{5AD3BE84-3956-6284-C203-6850BB93AAE8}" dt="2026-02-25T05:39:41.184" v="67" actId="20577"/>
        <pc:sldMkLst>
          <pc:docMk/>
          <pc:sldMk cId="1887468918" sldId="2147483466"/>
        </pc:sldMkLst>
        <pc:spChg chg="mod">
          <ac:chgData name="Sreehari J" userId="S::sreehari.j@gds.ey.com::4e89c3e3-db23-4441-b0ac-591b04d9c610" providerId="AD" clId="Web-{5AD3BE84-3956-6284-C203-6850BB93AAE8}" dt="2026-02-25T05:26:28.911" v="43" actId="20577"/>
          <ac:spMkLst>
            <pc:docMk/>
            <pc:sldMk cId="1887468918" sldId="2147483466"/>
            <ac:spMk id="58" creationId="{1A93A72C-1395-965B-9585-E7E61DB7028D}"/>
          </ac:spMkLst>
        </pc:spChg>
        <pc:spChg chg="mod">
          <ac:chgData name="Sreehari J" userId="S::sreehari.j@gds.ey.com::4e89c3e3-db23-4441-b0ac-591b04d9c610" providerId="AD" clId="Web-{5AD3BE84-3956-6284-C203-6850BB93AAE8}" dt="2026-02-25T05:26:34.255" v="45" actId="20577"/>
          <ac:spMkLst>
            <pc:docMk/>
            <pc:sldMk cId="1887468918" sldId="2147483466"/>
            <ac:spMk id="67" creationId="{23AEF51C-DF07-CDF6-DBA8-E220F28DFEE8}"/>
          </ac:spMkLst>
        </pc:spChg>
        <pc:spChg chg="mod">
          <ac:chgData name="Sreehari J" userId="S::sreehari.j@gds.ey.com::4e89c3e3-db23-4441-b0ac-591b04d9c610" providerId="AD" clId="Web-{5AD3BE84-3956-6284-C203-6850BB93AAE8}" dt="2026-02-25T05:38:53.043" v="47" actId="20577"/>
          <ac:spMkLst>
            <pc:docMk/>
            <pc:sldMk cId="1887468918" sldId="2147483466"/>
            <ac:spMk id="68" creationId="{535B309D-07C1-64A4-07E9-929F727FD058}"/>
          </ac:spMkLst>
        </pc:spChg>
        <pc:spChg chg="mod">
          <ac:chgData name="Sreehari J" userId="S::sreehari.j@gds.ey.com::4e89c3e3-db23-4441-b0ac-591b04d9c610" providerId="AD" clId="Web-{5AD3BE84-3956-6284-C203-6850BB93AAE8}" dt="2026-02-25T05:38:59.371" v="51" actId="20577"/>
          <ac:spMkLst>
            <pc:docMk/>
            <pc:sldMk cId="1887468918" sldId="2147483466"/>
            <ac:spMk id="70" creationId="{2F00AD91-A7F0-A663-49BA-CC08226A9BD7}"/>
          </ac:spMkLst>
        </pc:spChg>
        <pc:spChg chg="mod">
          <ac:chgData name="Sreehari J" userId="S::sreehari.j@gds.ey.com::4e89c3e3-db23-4441-b0ac-591b04d9c610" providerId="AD" clId="Web-{5AD3BE84-3956-6284-C203-6850BB93AAE8}" dt="2026-02-25T05:39:19.949" v="57" actId="20577"/>
          <ac:spMkLst>
            <pc:docMk/>
            <pc:sldMk cId="1887468918" sldId="2147483466"/>
            <ac:spMk id="71" creationId="{13F7BAEF-0990-0409-C8D0-2E451E0CA7B7}"/>
          </ac:spMkLst>
        </pc:spChg>
        <pc:spChg chg="mod">
          <ac:chgData name="Sreehari J" userId="S::sreehari.j@gds.ey.com::4e89c3e3-db23-4441-b0ac-591b04d9c610" providerId="AD" clId="Web-{5AD3BE84-3956-6284-C203-6850BB93AAE8}" dt="2026-02-25T05:39:33.887" v="63" actId="20577"/>
          <ac:spMkLst>
            <pc:docMk/>
            <pc:sldMk cId="1887468918" sldId="2147483466"/>
            <ac:spMk id="72" creationId="{432D8D37-382E-7E1B-4F2D-2E007044BF56}"/>
          </ac:spMkLst>
        </pc:spChg>
        <pc:spChg chg="mod">
          <ac:chgData name="Sreehari J" userId="S::sreehari.j@gds.ey.com::4e89c3e3-db23-4441-b0ac-591b04d9c610" providerId="AD" clId="Web-{5AD3BE84-3956-6284-C203-6850BB93AAE8}" dt="2026-02-25T05:39:41.184" v="67" actId="20577"/>
          <ac:spMkLst>
            <pc:docMk/>
            <pc:sldMk cId="1887468918" sldId="2147483466"/>
            <ac:spMk id="73" creationId="{7346DD34-C5CF-8A82-D9F0-3371FC2D21B0}"/>
          </ac:spMkLst>
        </pc:spChg>
      </pc:sldChg>
      <pc:sldChg chg="addSp delSp modSp">
        <pc:chgData name="Sreehari J" userId="S::sreehari.j@gds.ey.com::4e89c3e3-db23-4441-b0ac-591b04d9c610" providerId="AD" clId="Web-{5AD3BE84-3956-6284-C203-6850BB93AAE8}" dt="2026-02-25T05:00:17.754" v="17"/>
        <pc:sldMkLst>
          <pc:docMk/>
          <pc:sldMk cId="2899729769" sldId="2147483484"/>
        </pc:sldMkLst>
        <pc:spChg chg="del mod">
          <ac:chgData name="Sreehari J" userId="S::sreehari.j@gds.ey.com::4e89c3e3-db23-4441-b0ac-591b04d9c610" providerId="AD" clId="Web-{5AD3BE84-3956-6284-C203-6850BB93AAE8}" dt="2026-02-25T05:00:17.754" v="17"/>
          <ac:spMkLst>
            <pc:docMk/>
            <pc:sldMk cId="2899729769" sldId="2147483484"/>
            <ac:spMk id="193" creationId="{8BB0224A-DCD5-FA6B-709A-7CA79865B067}"/>
          </ac:spMkLst>
        </pc:spChg>
        <pc:spChg chg="add del mod">
          <ac:chgData name="Sreehari J" userId="S::sreehari.j@gds.ey.com::4e89c3e3-db23-4441-b0ac-591b04d9c610" providerId="AD" clId="Web-{5AD3BE84-3956-6284-C203-6850BB93AAE8}" dt="2026-02-25T05:00:14.582" v="16"/>
          <ac:spMkLst>
            <pc:docMk/>
            <pc:sldMk cId="2899729769" sldId="2147483484"/>
            <ac:spMk id="194" creationId="{CFE9E416-B08E-9827-9EC5-AC41858F7278}"/>
          </ac:spMkLst>
        </pc:spChg>
        <pc:grpChg chg="add del">
          <ac:chgData name="Sreehari J" userId="S::sreehari.j@gds.ey.com::4e89c3e3-db23-4441-b0ac-591b04d9c610" providerId="AD" clId="Web-{5AD3BE84-3956-6284-C203-6850BB93AAE8}" dt="2026-02-25T04:59:58.456" v="10"/>
          <ac:grpSpMkLst>
            <pc:docMk/>
            <pc:sldMk cId="2899729769" sldId="2147483484"/>
            <ac:grpSpMk id="2" creationId="{09791DDA-2411-220A-A595-FA332309A988}"/>
          </ac:grpSpMkLst>
        </pc:grpChg>
        <pc:grpChg chg="add del">
          <ac:chgData name="Sreehari J" userId="S::sreehari.j@gds.ey.com::4e89c3e3-db23-4441-b0ac-591b04d9c610" providerId="AD" clId="Web-{5AD3BE84-3956-6284-C203-6850BB93AAE8}" dt="2026-02-25T04:59:42.456" v="2"/>
          <ac:grpSpMkLst>
            <pc:docMk/>
            <pc:sldMk cId="2899729769" sldId="2147483484"/>
            <ac:grpSpMk id="9" creationId="{81484299-93B6-4662-3BF6-D1190002C3D8}"/>
          </ac:grpSpMkLst>
        </pc:grpChg>
        <pc:grpChg chg="add del">
          <ac:chgData name="Sreehari J" userId="S::sreehari.j@gds.ey.com::4e89c3e3-db23-4441-b0ac-591b04d9c610" providerId="AD" clId="Web-{5AD3BE84-3956-6284-C203-6850BB93AAE8}" dt="2026-02-25T05:00:14.582" v="16"/>
          <ac:grpSpMkLst>
            <pc:docMk/>
            <pc:sldMk cId="2899729769" sldId="2147483484"/>
            <ac:grpSpMk id="192" creationId="{195AF0D6-F3BE-3F84-498D-45AC9C37DB76}"/>
          </ac:grpSpMkLst>
        </pc:grpChg>
        <pc:picChg chg="add del">
          <ac:chgData name="Sreehari J" userId="S::sreehari.j@gds.ey.com::4e89c3e3-db23-4441-b0ac-591b04d9c610" providerId="AD" clId="Web-{5AD3BE84-3956-6284-C203-6850BB93AAE8}" dt="2026-02-25T05:00:01.191" v="13"/>
          <ac:picMkLst>
            <pc:docMk/>
            <pc:sldMk cId="2899729769" sldId="2147483484"/>
            <ac:picMk id="11" creationId="{FB1C5940-BF5F-5FC2-4987-9C3EC7AD5690}"/>
          </ac:picMkLst>
        </pc:picChg>
        <pc:picChg chg="add del">
          <ac:chgData name="Sreehari J" userId="S::sreehari.j@gds.ey.com::4e89c3e3-db23-4441-b0ac-591b04d9c610" providerId="AD" clId="Web-{5AD3BE84-3956-6284-C203-6850BB93AAE8}" dt="2026-02-25T05:00:10.504" v="15"/>
          <ac:picMkLst>
            <pc:docMk/>
            <pc:sldMk cId="2899729769" sldId="2147483484"/>
            <ac:picMk id="30" creationId="{43E87804-1F68-BA3F-4FA5-55535A20A7EC}"/>
          </ac:picMkLst>
        </pc:picChg>
        <pc:picChg chg="add del">
          <ac:chgData name="Sreehari J" userId="S::sreehari.j@gds.ey.com::4e89c3e3-db23-4441-b0ac-591b04d9c610" providerId="AD" clId="Web-{5AD3BE84-3956-6284-C203-6850BB93AAE8}" dt="2026-02-25T05:00:05.019" v="14"/>
          <ac:picMkLst>
            <pc:docMk/>
            <pc:sldMk cId="2899729769" sldId="2147483484"/>
            <ac:picMk id="183" creationId="{59255681-D679-B228-6CC1-E157DDFFF1A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8249F25-C6EB-46D4-A43C-99FABE6BCCBE}"/>
              </a:ext>
            </a:extLst>
          </p:cNvPr>
          <p:cNvSpPr>
            <a:spLocks noGrp="1"/>
          </p:cNvSpPr>
          <p:nvPr>
            <p:ph type="hdr" sz="quarter"/>
          </p:nvPr>
        </p:nvSpPr>
        <p:spPr>
          <a:xfrm>
            <a:off x="0" y="0"/>
            <a:ext cx="3170583" cy="48202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0150F0-9339-40DA-B944-9A3B9568D35B}"/>
              </a:ext>
            </a:extLst>
          </p:cNvPr>
          <p:cNvSpPr>
            <a:spLocks noGrp="1"/>
          </p:cNvSpPr>
          <p:nvPr>
            <p:ph type="dt" sz="quarter" idx="1"/>
          </p:nvPr>
        </p:nvSpPr>
        <p:spPr>
          <a:xfrm>
            <a:off x="4142963" y="0"/>
            <a:ext cx="3170583" cy="482028"/>
          </a:xfrm>
          <a:prstGeom prst="rect">
            <a:avLst/>
          </a:prstGeom>
        </p:spPr>
        <p:txBody>
          <a:bodyPr vert="horz" lIns="91440" tIns="45720" rIns="91440" bIns="45720" rtlCol="0"/>
          <a:lstStyle>
            <a:lvl1pPr algn="r">
              <a:defRPr sz="1200"/>
            </a:lvl1pPr>
          </a:lstStyle>
          <a:p>
            <a:fld id="{0FC163FB-735E-46AB-8079-144329C130A7}" type="datetimeFigureOut">
              <a:rPr lang="en-US" smtClean="0"/>
              <a:t>3/20/2026</a:t>
            </a:fld>
            <a:endParaRPr lang="en-US"/>
          </a:p>
        </p:txBody>
      </p:sp>
      <p:sp>
        <p:nvSpPr>
          <p:cNvPr id="4" name="Footer Placeholder 3">
            <a:extLst>
              <a:ext uri="{FF2B5EF4-FFF2-40B4-BE49-F238E27FC236}">
                <a16:creationId xmlns:a16="http://schemas.microsoft.com/office/drawing/2014/main" id="{33D1C62A-DAFD-451A-93BE-78C860BA6D25}"/>
              </a:ext>
            </a:extLst>
          </p:cNvPr>
          <p:cNvSpPr>
            <a:spLocks noGrp="1"/>
          </p:cNvSpPr>
          <p:nvPr>
            <p:ph type="ftr" sz="quarter" idx="2"/>
          </p:nvPr>
        </p:nvSpPr>
        <p:spPr>
          <a:xfrm>
            <a:off x="0" y="9119173"/>
            <a:ext cx="3170583" cy="48202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41951AA-8782-43DD-9A8B-A1CDD1D98360}"/>
              </a:ext>
            </a:extLst>
          </p:cNvPr>
          <p:cNvSpPr>
            <a:spLocks noGrp="1"/>
          </p:cNvSpPr>
          <p:nvPr>
            <p:ph type="sldNum" sz="quarter" idx="3"/>
          </p:nvPr>
        </p:nvSpPr>
        <p:spPr>
          <a:xfrm>
            <a:off x="4142963" y="9119173"/>
            <a:ext cx="3170583" cy="482028"/>
          </a:xfrm>
          <a:prstGeom prst="rect">
            <a:avLst/>
          </a:prstGeom>
        </p:spPr>
        <p:txBody>
          <a:bodyPr vert="horz" lIns="91440" tIns="45720" rIns="91440" bIns="45720" rtlCol="0" anchor="b"/>
          <a:lstStyle>
            <a:lvl1pPr algn="r">
              <a:defRPr sz="1200"/>
            </a:lvl1pPr>
          </a:lstStyle>
          <a:p>
            <a:fld id="{E7A3D89E-E139-4E48-883A-E1D4BC22897C}" type="slidenum">
              <a:rPr lang="en-US" smtClean="0"/>
              <a:t>‹#›</a:t>
            </a:fld>
            <a:endParaRPr lang="en-US"/>
          </a:p>
        </p:txBody>
      </p:sp>
    </p:spTree>
    <p:extLst>
      <p:ext uri="{BB962C8B-B14F-4D97-AF65-F5344CB8AC3E}">
        <p14:creationId xmlns:p14="http://schemas.microsoft.com/office/powerpoint/2010/main" val="189110277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024" userDrawn="1">
          <p15:clr>
            <a:srgbClr val="F26B43"/>
          </p15:clr>
        </p15:guide>
        <p15:guide id="2" pos="230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4143588" y="0"/>
            <a:ext cx="3169920" cy="481727"/>
          </a:xfrm>
          <a:prstGeom prst="rect">
            <a:avLst/>
          </a:prstGeom>
        </p:spPr>
        <p:txBody>
          <a:bodyPr vert="horz" lIns="93177" tIns="46589" rIns="93177" bIns="46589" rtlCol="0"/>
          <a:lstStyle>
            <a:lvl1pPr algn="r">
              <a:defRPr sz="1200"/>
            </a:lvl1pPr>
          </a:lstStyle>
          <a:p>
            <a:fld id="{82EDFACD-D3B9-AF43-A6C3-414C42007925}" type="datetimeFigureOut">
              <a:rPr lang="en-US" smtClean="0"/>
              <a:t>3/20/2026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31521" y="4620578"/>
            <a:ext cx="5852160" cy="3780473"/>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4143588" y="9119475"/>
            <a:ext cx="3169920" cy="481726"/>
          </a:xfrm>
          <a:prstGeom prst="rect">
            <a:avLst/>
          </a:prstGeom>
        </p:spPr>
        <p:txBody>
          <a:bodyPr vert="horz" lIns="93177" tIns="46589" rIns="93177" bIns="46589" rtlCol="0" anchor="b"/>
          <a:lstStyle>
            <a:lvl1pPr algn="r">
              <a:defRPr sz="1200"/>
            </a:lvl1pPr>
          </a:lstStyle>
          <a:p>
            <a:fld id="{5428682E-12DD-4643-A735-ABDE7BE4CCB2}" type="slidenum">
              <a:rPr lang="en-US" smtClean="0"/>
              <a:t>‹#›</a:t>
            </a:fld>
            <a:endParaRPr lang="en-US"/>
          </a:p>
        </p:txBody>
      </p:sp>
    </p:spTree>
    <p:extLst>
      <p:ext uri="{BB962C8B-B14F-4D97-AF65-F5344CB8AC3E}">
        <p14:creationId xmlns:p14="http://schemas.microsoft.com/office/powerpoint/2010/main" val="435409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28682E-12DD-4643-A735-ABDE7BE4CCB2}" type="slidenum">
              <a:rPr lang="en-US" smtClean="0"/>
              <a:t>2</a:t>
            </a:fld>
            <a:endParaRPr lang="en-US"/>
          </a:p>
        </p:txBody>
      </p:sp>
    </p:spTree>
    <p:extLst>
      <p:ext uri="{BB962C8B-B14F-4D97-AF65-F5344CB8AC3E}">
        <p14:creationId xmlns:p14="http://schemas.microsoft.com/office/powerpoint/2010/main" val="3140619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1F3F5-7AFF-4D4D-C0E6-5EB2AB9EC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7E7928-041C-91E6-7D96-E942EF7531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62FB6-2713-C4C0-663E-9C9564962C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4B5B65-703E-AC5A-70DA-BCC65B3832D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28682E-12DD-4643-A735-ABDE7BE4CC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015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F6F57-6545-39EC-2ADB-48F24E0BF3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856ED-4F51-A0DB-5446-854510A48C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46E528-1FE6-5574-DAC6-87FEDB564F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9370F77-C94A-9286-26BB-407879A8344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28682E-12DD-4643-A735-ABDE7BE4CC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1258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A9202-668C-F975-526C-BE9CDD052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772E0-CCB7-1A0D-8580-97D541C17E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1F3B1F-B544-9ED5-780C-8221457403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D58EBB-3C24-287F-2FDB-DD802581C5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A6E0D6-704D-4FCF-8443-8A1A001FE09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80404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E6140-A14A-FAA3-CB25-D467E5460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C0E2B0-0F8A-A764-7BA0-29FE5F273E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305D56-DAB3-282C-FF09-FBD5A86E127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F7BDEA8-1955-FFC8-20F0-DD8741D7F1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A6E0D6-704D-4FCF-8443-8A1A001FE09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11931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B9BAE-CCDE-25DD-E08B-DB9D735DE5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3CBF47-2CBC-2522-4CFE-EEC0E52084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C38761-701B-0268-4EFC-9CA7FB6D8E6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F20590-CF7F-7244-0560-12F194F714B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A6E0D6-704D-4FCF-8443-8A1A001FE09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31097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CCF53-91BA-7583-5497-6E5C10AF1E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8A19C-9212-C39C-28C6-0924D78957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7E4A35-E551-8EA7-7201-07CE79E0E9D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732578-0117-1B25-C8FD-A03D6C7F1E8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28682E-12DD-4643-A735-ABDE7BE4CC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8762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23EAB-2ED2-F0CC-7B95-74F2B35D74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0DEC13-3A4E-4092-1F60-6416404700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20E7C0-12D3-713E-4B09-04295A967EF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DE9018-05E0-16B6-EE30-78EBA343FFD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28682E-12DD-4643-A735-ABDE7BE4CC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0179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5E8FC-29D6-E14E-1A90-D1A2E30D31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D7C459-04CD-286F-4D5B-0D8F8C2A3E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7AC566-7BA6-81BF-E597-1789F94EE0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8C7E97-AE40-B45C-9E17-5A16B8D9D09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28682E-12DD-4643-A735-ABDE7BE4CC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55164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B8D65-CC28-6707-E458-F465A5B346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599F77-0283-8BD9-BEC2-7FC64B1AF6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08751D-C878-2E3D-EEF6-C4DFD1B9F9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DFE9F4-CE84-5037-0148-BBCE4336C1F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28682E-12DD-4643-A735-ABDE7BE4CC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90310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32E1C-0CFF-F009-62B5-75DD98B3A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462FB-B4F7-1FB2-83EE-16E5BA239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6D8725-BB06-CDD5-7855-501BB1ED72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49DD41-9F25-DDC0-FF8C-B2933E553BF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28682E-12DD-4643-A735-ABDE7BE4CC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55140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9A638-05FF-9763-BC75-3CABF0C6A4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C8CAC-A9F9-2700-B567-3D4D85022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740931-4272-6EAA-81FE-115BE2BD69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236297-BACC-04F8-A3D2-35F6DE6059C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28682E-12DD-4643-A735-ABDE7BE4CC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0715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5E035-C9FE-48EF-941C-197B9779A1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BBAC4E-B8C3-D636-8470-B2FCE4E4F0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2FB850-BB13-FB15-EA19-709C138A2F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8BF329-6EC7-CDA1-73CF-858EC273E15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28682E-12DD-4643-A735-ABDE7BE4CCB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1441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001F1-9903-0968-EBAD-E7D682916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C542E-1972-2E44-233E-C5A419F6F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A7406F-1B6F-F8C9-2AAF-CAD18DEB42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7F00F5-7D03-8F08-1E6B-BA7F8D773265}"/>
              </a:ext>
            </a:extLst>
          </p:cNvPr>
          <p:cNvSpPr>
            <a:spLocks noGrp="1"/>
          </p:cNvSpPr>
          <p:nvPr>
            <p:ph type="sldNum" sz="quarter" idx="5"/>
          </p:nvPr>
        </p:nvSpPr>
        <p:spPr/>
        <p:txBody>
          <a:bodyPr/>
          <a:lstStyle/>
          <a:p>
            <a:fld id="{5428682E-12DD-4643-A735-ABDE7BE4CCB2}" type="slidenum">
              <a:rPr lang="en-US" smtClean="0"/>
              <a:t>30</a:t>
            </a:fld>
            <a:endParaRPr lang="en-US"/>
          </a:p>
        </p:txBody>
      </p:sp>
    </p:spTree>
    <p:extLst>
      <p:ext uri="{BB962C8B-B14F-4D97-AF65-F5344CB8AC3E}">
        <p14:creationId xmlns:p14="http://schemas.microsoft.com/office/powerpoint/2010/main" val="3665613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BE170-F1E0-FD62-CC1B-42C077BFE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C2E311-A86A-A8E0-619B-C2FBDEB51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050A31-D62F-699C-344F-4821C566743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5447E7-68BA-6F67-E083-DFBA48B53459}"/>
              </a:ext>
            </a:extLst>
          </p:cNvPr>
          <p:cNvSpPr>
            <a:spLocks noGrp="1"/>
          </p:cNvSpPr>
          <p:nvPr>
            <p:ph type="sldNum" sz="quarter" idx="5"/>
          </p:nvPr>
        </p:nvSpPr>
        <p:spPr/>
        <p:txBody>
          <a:bodyPr/>
          <a:lstStyle/>
          <a:p>
            <a:fld id="{5428682E-12DD-4643-A735-ABDE7BE4CCB2}" type="slidenum">
              <a:rPr lang="en-US" smtClean="0"/>
              <a:t>31</a:t>
            </a:fld>
            <a:endParaRPr lang="en-US"/>
          </a:p>
        </p:txBody>
      </p:sp>
    </p:spTree>
    <p:extLst>
      <p:ext uri="{BB962C8B-B14F-4D97-AF65-F5344CB8AC3E}">
        <p14:creationId xmlns:p14="http://schemas.microsoft.com/office/powerpoint/2010/main" val="34820054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ctr" latinLnBrk="0" hangingPunct="1"/>
            <a:r>
              <a:rPr lang="en-US" sz="1200" b="0" i="0" u="none" strike="noStrike" kern="1200">
                <a:solidFill>
                  <a:schemeClr val="tx1"/>
                </a:solidFill>
                <a:effectLst/>
                <a:latin typeface="+mn-lt"/>
                <a:ea typeface="+mn-ea"/>
                <a:cs typeface="+mn-cs"/>
              </a:rPr>
              <a:t>323,610 </a:t>
            </a:r>
          </a:p>
          <a:p>
            <a:pPr rtl="0" eaLnBrk="1" fontAlgn="ctr" latinLnBrk="0" hangingPunct="1"/>
            <a:r>
              <a:rPr lang="en-US" sz="1200" b="0" i="0" u="none" strike="noStrike" kern="1200">
                <a:solidFill>
                  <a:schemeClr val="tx1"/>
                </a:solidFill>
                <a:effectLst/>
                <a:latin typeface="+mn-lt"/>
                <a:ea typeface="+mn-ea"/>
                <a:cs typeface="+mn-cs"/>
              </a:rPr>
              <a:t>2,912,490</a:t>
            </a:r>
          </a:p>
          <a:p>
            <a:pPr rtl="0" eaLnBrk="1" fontAlgn="ctr" latinLnBrk="0" hangingPunct="1"/>
            <a:r>
              <a:rPr lang="en-US" sz="1200" b="0" i="0" u="none" strike="noStrike" kern="1200">
                <a:solidFill>
                  <a:schemeClr val="tx1"/>
                </a:solidFill>
                <a:effectLst/>
                <a:latin typeface="+mn-lt"/>
                <a:ea typeface="+mn-ea"/>
                <a:cs typeface="+mn-cs"/>
              </a:rPr>
              <a:t>776,664 </a:t>
            </a:r>
          </a:p>
          <a:p>
            <a:endParaRPr lang="en-US"/>
          </a:p>
        </p:txBody>
      </p:sp>
      <p:sp>
        <p:nvSpPr>
          <p:cNvPr id="4" name="Slide Number Placeholder 3"/>
          <p:cNvSpPr>
            <a:spLocks noGrp="1"/>
          </p:cNvSpPr>
          <p:nvPr>
            <p:ph type="sldNum" sz="quarter" idx="5"/>
          </p:nvPr>
        </p:nvSpPr>
        <p:spPr/>
        <p:txBody>
          <a:bodyPr/>
          <a:lstStyle/>
          <a:p>
            <a:fld id="{5428682E-12DD-4643-A735-ABDE7BE4CCB2}" type="slidenum">
              <a:rPr lang="en-US" smtClean="0"/>
              <a:t>33</a:t>
            </a:fld>
            <a:endParaRPr lang="en-US"/>
          </a:p>
        </p:txBody>
      </p:sp>
    </p:spTree>
    <p:extLst>
      <p:ext uri="{BB962C8B-B14F-4D97-AF65-F5344CB8AC3E}">
        <p14:creationId xmlns:p14="http://schemas.microsoft.com/office/powerpoint/2010/main" val="18084729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28682E-12DD-4643-A735-ABDE7BE4CCB2}" type="slidenum">
              <a:rPr lang="en-US" smtClean="0"/>
              <a:t>34</a:t>
            </a:fld>
            <a:endParaRPr lang="en-US"/>
          </a:p>
        </p:txBody>
      </p:sp>
    </p:spTree>
    <p:extLst>
      <p:ext uri="{BB962C8B-B14F-4D97-AF65-F5344CB8AC3E}">
        <p14:creationId xmlns:p14="http://schemas.microsoft.com/office/powerpoint/2010/main" val="591602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xml"/><Relationship Id="rId5" Type="http://schemas.openxmlformats.org/officeDocument/2006/relationships/image" Target="../media/image7.png"/><Relationship Id="rId4" Type="http://schemas.openxmlformats.org/officeDocument/2006/relationships/image" Target="../media/image6.emf"/></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EFA5771D-D013-458A-87B2-67897D4F1121}"/>
              </a:ext>
            </a:extLst>
          </p:cNvPr>
          <p:cNvSpPr>
            <a:spLocks noGrp="1"/>
          </p:cNvSpPr>
          <p:nvPr>
            <p:ph type="body" sz="quarter" idx="10"/>
          </p:nvPr>
        </p:nvSpPr>
        <p:spPr>
          <a:xfrm>
            <a:off x="698651" y="2883051"/>
            <a:ext cx="5325226" cy="3420931"/>
          </a:xfrm>
        </p:spPr>
        <p:txBody>
          <a:bodyPr/>
          <a:lstStyle>
            <a:lvl1pPr>
              <a:spcAft>
                <a:spcPts val="300"/>
              </a:spcAft>
              <a:defRPr sz="999"/>
            </a:lvl1pPr>
            <a:lvl2pPr>
              <a:spcAft>
                <a:spcPts val="300"/>
              </a:spcAft>
              <a:defRPr sz="1399"/>
            </a:lvl2pPr>
            <a:lvl3pPr>
              <a:spcAft>
                <a:spcPts val="300"/>
              </a:spcAft>
              <a:defRPr lang="en-US" sz="1199" b="1" baseline="0" dirty="0">
                <a:solidFill>
                  <a:srgbClr val="747480"/>
                </a:solidFill>
                <a:latin typeface="EYInterstate Light" panose="02000506000000020004" pitchFamily="2" charset="0"/>
                <a:cs typeface="+mn-cs"/>
              </a:defRPr>
            </a:lvl3pPr>
            <a:lvl4pPr marL="190337" indent="-185579">
              <a:spcAft>
                <a:spcPts val="300"/>
              </a:spcAft>
              <a:buClr>
                <a:schemeClr val="tx1"/>
              </a:buClr>
              <a:buSzPct val="100000"/>
              <a:buFont typeface="EYInterstate" pitchFamily="2" charset="0"/>
              <a:buChar char="•"/>
              <a:defRPr sz="999"/>
            </a:lvl4pPr>
            <a:lvl5pPr marL="352125" indent="-160201">
              <a:spcAft>
                <a:spcPts val="300"/>
              </a:spcAft>
              <a:buClr>
                <a:schemeClr val="tx1"/>
              </a:buClr>
              <a:buSzPct val="100000"/>
              <a:buFont typeface="EYInterstate" pitchFamily="2" charset="0"/>
              <a:buChar char="•"/>
              <a:defRPr sz="999"/>
            </a:lvl5pPr>
          </a:lstStyle>
          <a:p>
            <a:pPr lvl="0"/>
            <a:r>
              <a:rPr lang="en-US"/>
              <a:t>Click to edit Master text styles</a:t>
            </a:r>
          </a:p>
          <a:p>
            <a:pPr lvl="1"/>
            <a:r>
              <a:rPr lang="en-US"/>
              <a:t>Second level</a:t>
            </a:r>
          </a:p>
          <a:p>
            <a:pPr marL="2879" lvl="2"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pPr>
            <a:r>
              <a:rPr lang="en-US"/>
              <a:t>Third level</a:t>
            </a:r>
          </a:p>
          <a:p>
            <a:pPr lvl="3"/>
            <a:r>
              <a:rPr lang="en-US"/>
              <a:t>Fourth level</a:t>
            </a:r>
          </a:p>
          <a:p>
            <a:pPr lvl="4"/>
            <a:r>
              <a:rPr lang="en-US"/>
              <a:t>Fifth level</a:t>
            </a:r>
          </a:p>
        </p:txBody>
      </p:sp>
      <p:sp>
        <p:nvSpPr>
          <p:cNvPr id="27" name="Text Placeholder 6">
            <a:extLst>
              <a:ext uri="{FF2B5EF4-FFF2-40B4-BE49-F238E27FC236}">
                <a16:creationId xmlns:a16="http://schemas.microsoft.com/office/drawing/2014/main" id="{D0FC522E-E17D-4566-BAEA-EBD564EBCF88}"/>
              </a:ext>
            </a:extLst>
          </p:cNvPr>
          <p:cNvSpPr>
            <a:spLocks noGrp="1"/>
          </p:cNvSpPr>
          <p:nvPr>
            <p:ph type="body" sz="quarter" idx="11"/>
          </p:nvPr>
        </p:nvSpPr>
        <p:spPr>
          <a:xfrm>
            <a:off x="6162693" y="2883015"/>
            <a:ext cx="5325226" cy="3421124"/>
          </a:xfrm>
        </p:spPr>
        <p:txBody>
          <a:bodyPr/>
          <a:lstStyle>
            <a:lvl1pPr>
              <a:spcAft>
                <a:spcPts val="300"/>
              </a:spcAft>
              <a:defRPr sz="999"/>
            </a:lvl1pPr>
            <a:lvl2pPr>
              <a:spcAft>
                <a:spcPts val="300"/>
              </a:spcAft>
              <a:defRPr sz="1399"/>
            </a:lvl2pPr>
            <a:lvl3pPr>
              <a:spcAft>
                <a:spcPts val="300"/>
              </a:spcAft>
              <a:defRPr lang="en-US" sz="1199" b="1" baseline="0" dirty="0">
                <a:solidFill>
                  <a:srgbClr val="747480"/>
                </a:solidFill>
                <a:latin typeface="EYInterstate Light" panose="02000506000000020004" pitchFamily="2" charset="0"/>
                <a:cs typeface="+mn-cs"/>
              </a:defRPr>
            </a:lvl3pPr>
            <a:lvl4pPr marL="190337" indent="-185579">
              <a:spcAft>
                <a:spcPts val="300"/>
              </a:spcAft>
              <a:buClr>
                <a:schemeClr val="tx1"/>
              </a:buClr>
              <a:buSzPct val="100000"/>
              <a:buFont typeface="EYInterstate" pitchFamily="2" charset="0"/>
              <a:buChar char="•"/>
              <a:defRPr sz="999"/>
            </a:lvl4pPr>
            <a:lvl5pPr marL="352125" indent="-160201">
              <a:spcAft>
                <a:spcPts val="300"/>
              </a:spcAft>
              <a:buClr>
                <a:schemeClr val="tx1"/>
              </a:buClr>
              <a:buSzPct val="100000"/>
              <a:buFont typeface="EYInterstate" pitchFamily="2" charset="0"/>
              <a:buChar char="•"/>
              <a:defRPr sz="999"/>
            </a:lvl5pPr>
          </a:lstStyle>
          <a:p>
            <a:pPr lvl="0"/>
            <a:r>
              <a:rPr lang="en-US"/>
              <a:t>Click to edit Master text styles</a:t>
            </a:r>
          </a:p>
          <a:p>
            <a:pPr lvl="1"/>
            <a:r>
              <a:rPr lang="en-US"/>
              <a:t>Second level</a:t>
            </a:r>
          </a:p>
          <a:p>
            <a:pPr marL="2879" lvl="2"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pPr>
            <a:r>
              <a:rPr lang="en-US"/>
              <a:t>Third level</a:t>
            </a:r>
          </a:p>
          <a:p>
            <a:pPr lvl="3"/>
            <a:r>
              <a:rPr lang="en-US"/>
              <a:t>Fourth level</a:t>
            </a:r>
          </a:p>
          <a:p>
            <a:pPr lvl="4"/>
            <a:r>
              <a:rPr lang="en-US"/>
              <a:t>Fifth level</a:t>
            </a:r>
          </a:p>
        </p:txBody>
      </p:sp>
      <p:sp>
        <p:nvSpPr>
          <p:cNvPr id="28" name="Text Placeholder 7">
            <a:extLst>
              <a:ext uri="{FF2B5EF4-FFF2-40B4-BE49-F238E27FC236}">
                <a16:creationId xmlns:a16="http://schemas.microsoft.com/office/drawing/2014/main" id="{AC9EF3C9-2B1C-4BE4-9BC9-1242B7C9D8ED}"/>
              </a:ext>
            </a:extLst>
          </p:cNvPr>
          <p:cNvSpPr>
            <a:spLocks noGrp="1"/>
          </p:cNvSpPr>
          <p:nvPr>
            <p:ph type="body" sz="quarter" idx="13" hasCustomPrompt="1"/>
          </p:nvPr>
        </p:nvSpPr>
        <p:spPr>
          <a:xfrm>
            <a:off x="698651" y="1706155"/>
            <a:ext cx="4647355" cy="1008000"/>
          </a:xfrm>
        </p:spPr>
        <p:txBody>
          <a:bodyPr/>
          <a:lstStyle>
            <a:lvl1pPr>
              <a:defRPr sz="1199" b="1" baseline="0">
                <a:solidFill>
                  <a:schemeClr val="tx1"/>
                </a:solidFill>
              </a:defRPr>
            </a:lvl1pPr>
            <a:lvl2pPr>
              <a:spcBef>
                <a:spcPts val="200"/>
              </a:spcBef>
              <a:spcAft>
                <a:spcPts val="200"/>
              </a:spcAft>
              <a:defRPr sz="900" b="0">
                <a:solidFill>
                  <a:schemeClr val="tx1"/>
                </a:solidFill>
              </a:defRPr>
            </a:lvl2pPr>
            <a:lvl3pPr marL="3173" marR="0" indent="0" algn="l" defTabSz="994514" rtl="0" eaLnBrk="1" fontAlgn="base" latinLnBrk="0" hangingPunct="1">
              <a:lnSpc>
                <a:spcPct val="100000"/>
              </a:lnSpc>
              <a:spcBef>
                <a:spcPct val="0"/>
              </a:spcBef>
              <a:spcAft>
                <a:spcPct val="40000"/>
              </a:spcAft>
              <a:buClr>
                <a:srgbClr val="FFD200"/>
              </a:buClr>
              <a:buSzPct val="75000"/>
              <a:buFont typeface="Arial Unicode MS" pitchFamily="34" charset="-128"/>
              <a:buNone/>
              <a:tabLst>
                <a:tab pos="1613111" algn="l"/>
                <a:tab pos="3226223" algn="l"/>
                <a:tab pos="4661685" algn="r"/>
              </a:tabLst>
              <a:defRPr kumimoji="0" lang="en-US" sz="1299" b="1" i="0" u="none" strike="noStrike" kern="0" cap="none" spc="0" normalizeH="0" baseline="0" noProof="0">
                <a:ln>
                  <a:noFill/>
                </a:ln>
                <a:solidFill>
                  <a:srgbClr val="7F7E82"/>
                </a:solidFill>
                <a:effectLst/>
                <a:uLnTx/>
                <a:uFillTx/>
              </a:defRPr>
            </a:lvl3pPr>
            <a:lvl4pPr marL="0" indent="4759">
              <a:buNone/>
              <a:defRPr sz="999"/>
            </a:lvl4pPr>
            <a:lvl5pPr>
              <a:defRPr sz="999"/>
            </a:lvl5pPr>
          </a:lstStyle>
          <a:p>
            <a:pPr lvl="0"/>
            <a:r>
              <a:rPr lang="en-US"/>
              <a:t>Private and confidential</a:t>
            </a:r>
          </a:p>
          <a:p>
            <a:pPr lvl="1"/>
            <a:r>
              <a:rPr lang="en-US"/>
              <a:t>XXXXXXXXXXXXX</a:t>
            </a:r>
          </a:p>
          <a:p>
            <a:pPr lvl="1"/>
            <a:r>
              <a:rPr lang="en-US"/>
              <a:t>XXXXXXXXXXX,</a:t>
            </a:r>
          </a:p>
          <a:p>
            <a:pPr lvl="1"/>
            <a:r>
              <a:rPr lang="en-US"/>
              <a:t>XXXXXXX</a:t>
            </a:r>
          </a:p>
        </p:txBody>
      </p:sp>
      <p:sp>
        <p:nvSpPr>
          <p:cNvPr id="29" name="Text Placeholder 11">
            <a:extLst>
              <a:ext uri="{FF2B5EF4-FFF2-40B4-BE49-F238E27FC236}">
                <a16:creationId xmlns:a16="http://schemas.microsoft.com/office/drawing/2014/main" id="{B8023327-946F-465C-B6F4-D60BA1024E61}"/>
              </a:ext>
            </a:extLst>
          </p:cNvPr>
          <p:cNvSpPr>
            <a:spLocks noGrp="1"/>
          </p:cNvSpPr>
          <p:nvPr>
            <p:ph type="body" sz="quarter" idx="12" hasCustomPrompt="1"/>
          </p:nvPr>
        </p:nvSpPr>
        <p:spPr>
          <a:xfrm>
            <a:off x="10040874" y="338373"/>
            <a:ext cx="1447046" cy="887412"/>
          </a:xfrm>
        </p:spPr>
        <p:txBody>
          <a:bodyPr/>
          <a:lstStyle>
            <a:lvl1pPr algn="l" defTabSz="994514">
              <a:spcAft>
                <a:spcPts val="0"/>
              </a:spcAft>
              <a:defRPr sz="700">
                <a:solidFill>
                  <a:srgbClr val="747480"/>
                </a:solidFill>
              </a:defRPr>
            </a:lvl1pPr>
            <a:lvl2pPr>
              <a:defRPr sz="700"/>
            </a:lvl2pPr>
            <a:lvl3pPr>
              <a:defRPr sz="700"/>
            </a:lvl3pPr>
            <a:lvl4pPr>
              <a:defRPr sz="700"/>
            </a:lvl4pPr>
            <a:lvl5pPr>
              <a:defRPr sz="700"/>
            </a:lvl5pPr>
          </a:lstStyle>
          <a:p>
            <a:pPr lvl="0"/>
            <a:r>
              <a:rPr lang="en-US"/>
              <a:t>Ernst &amp; Young LLP</a:t>
            </a:r>
          </a:p>
          <a:p>
            <a:pPr lvl="0"/>
            <a:r>
              <a:rPr lang="en-US"/>
              <a:t>1 More London Place</a:t>
            </a:r>
          </a:p>
          <a:p>
            <a:pPr lvl="0"/>
            <a:r>
              <a:rPr lang="en-US"/>
              <a:t>London SE1 2AF</a:t>
            </a:r>
          </a:p>
          <a:p>
            <a:pPr lvl="0"/>
            <a:endParaRPr lang="en-US"/>
          </a:p>
          <a:p>
            <a:pPr lvl="0"/>
            <a:r>
              <a:rPr lang="en-US"/>
              <a:t>Tel: 020 7951 2000</a:t>
            </a:r>
          </a:p>
          <a:p>
            <a:pPr lvl="0"/>
            <a:r>
              <a:rPr lang="en-US"/>
              <a:t>Fax: 020 7951 1345</a:t>
            </a:r>
          </a:p>
          <a:p>
            <a:pPr lvl="0"/>
            <a:r>
              <a:rPr lang="en-US"/>
              <a:t>www.ey.com/uk</a:t>
            </a:r>
          </a:p>
        </p:txBody>
      </p:sp>
    </p:spTree>
    <p:extLst>
      <p:ext uri="{BB962C8B-B14F-4D97-AF65-F5344CB8AC3E}">
        <p14:creationId xmlns:p14="http://schemas.microsoft.com/office/powerpoint/2010/main" val="3781356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EFA5771D-D013-458A-87B2-67897D4F1121}"/>
              </a:ext>
            </a:extLst>
          </p:cNvPr>
          <p:cNvSpPr>
            <a:spLocks noGrp="1"/>
          </p:cNvSpPr>
          <p:nvPr>
            <p:ph type="body" sz="quarter" idx="10"/>
          </p:nvPr>
        </p:nvSpPr>
        <p:spPr>
          <a:xfrm>
            <a:off x="698650" y="2883051"/>
            <a:ext cx="7966379" cy="3420931"/>
          </a:xfrm>
        </p:spPr>
        <p:txBody>
          <a:bodyPr/>
          <a:lstStyle>
            <a:lvl1pPr>
              <a:spcAft>
                <a:spcPts val="300"/>
              </a:spcAft>
              <a:defRPr sz="999"/>
            </a:lvl1pPr>
            <a:lvl2pPr>
              <a:spcAft>
                <a:spcPts val="300"/>
              </a:spcAft>
              <a:defRPr sz="1399"/>
            </a:lvl2pPr>
            <a:lvl3pPr>
              <a:spcAft>
                <a:spcPts val="300"/>
              </a:spcAft>
              <a:defRPr lang="en-US" sz="1199" b="1" baseline="0" dirty="0">
                <a:solidFill>
                  <a:srgbClr val="747480"/>
                </a:solidFill>
                <a:latin typeface="EYInterstate Light" panose="02000506000000020004" pitchFamily="2" charset="0"/>
                <a:cs typeface="+mn-cs"/>
              </a:defRPr>
            </a:lvl3pPr>
            <a:lvl4pPr marL="190337" indent="-185579">
              <a:spcAft>
                <a:spcPts val="300"/>
              </a:spcAft>
              <a:buClr>
                <a:schemeClr val="tx1"/>
              </a:buClr>
              <a:buSzPct val="100000"/>
              <a:buFont typeface="EYInterstate" pitchFamily="2" charset="0"/>
              <a:buChar char="•"/>
              <a:defRPr sz="999"/>
            </a:lvl4pPr>
            <a:lvl5pPr marL="352125" indent="-160201">
              <a:spcAft>
                <a:spcPts val="300"/>
              </a:spcAft>
              <a:buClr>
                <a:schemeClr val="tx1"/>
              </a:buClr>
              <a:buSzPct val="100000"/>
              <a:buFont typeface="EYInterstate" pitchFamily="2" charset="0"/>
              <a:buChar char="•"/>
              <a:defRPr sz="999"/>
            </a:lvl5pPr>
          </a:lstStyle>
          <a:p>
            <a:pPr lvl="0"/>
            <a:r>
              <a:rPr lang="en-US"/>
              <a:t>Click to edit Master text styles</a:t>
            </a:r>
          </a:p>
          <a:p>
            <a:pPr lvl="1"/>
            <a:r>
              <a:rPr lang="en-US"/>
              <a:t>Second level</a:t>
            </a:r>
          </a:p>
          <a:p>
            <a:pPr marL="2879" lvl="2"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pPr>
            <a:r>
              <a:rPr lang="en-US"/>
              <a:t>Third level</a:t>
            </a:r>
          </a:p>
          <a:p>
            <a:pPr lvl="3"/>
            <a:r>
              <a:rPr lang="en-US"/>
              <a:t>Fourth level</a:t>
            </a:r>
          </a:p>
          <a:p>
            <a:pPr lvl="4"/>
            <a:r>
              <a:rPr lang="en-US"/>
              <a:t>Fifth level</a:t>
            </a:r>
          </a:p>
        </p:txBody>
      </p:sp>
      <p:sp>
        <p:nvSpPr>
          <p:cNvPr id="28" name="Text Placeholder 7">
            <a:extLst>
              <a:ext uri="{FF2B5EF4-FFF2-40B4-BE49-F238E27FC236}">
                <a16:creationId xmlns:a16="http://schemas.microsoft.com/office/drawing/2014/main" id="{AC9EF3C9-2B1C-4BE4-9BC9-1242B7C9D8ED}"/>
              </a:ext>
            </a:extLst>
          </p:cNvPr>
          <p:cNvSpPr>
            <a:spLocks noGrp="1"/>
          </p:cNvSpPr>
          <p:nvPr>
            <p:ph type="body" sz="quarter" idx="13" hasCustomPrompt="1"/>
          </p:nvPr>
        </p:nvSpPr>
        <p:spPr>
          <a:xfrm>
            <a:off x="698650" y="1706155"/>
            <a:ext cx="7966379" cy="1008000"/>
          </a:xfrm>
        </p:spPr>
        <p:txBody>
          <a:bodyPr/>
          <a:lstStyle>
            <a:lvl1pPr>
              <a:defRPr sz="1199" b="1" baseline="0">
                <a:solidFill>
                  <a:schemeClr val="tx1"/>
                </a:solidFill>
              </a:defRPr>
            </a:lvl1pPr>
            <a:lvl2pPr>
              <a:spcBef>
                <a:spcPts val="200"/>
              </a:spcBef>
              <a:spcAft>
                <a:spcPts val="200"/>
              </a:spcAft>
              <a:defRPr sz="900" b="0">
                <a:solidFill>
                  <a:schemeClr val="tx1"/>
                </a:solidFill>
              </a:defRPr>
            </a:lvl2pPr>
            <a:lvl3pPr marL="3173" marR="0" indent="0" algn="l" defTabSz="994514" rtl="0" eaLnBrk="1" fontAlgn="base" latinLnBrk="0" hangingPunct="1">
              <a:lnSpc>
                <a:spcPct val="100000"/>
              </a:lnSpc>
              <a:spcBef>
                <a:spcPct val="0"/>
              </a:spcBef>
              <a:spcAft>
                <a:spcPct val="40000"/>
              </a:spcAft>
              <a:buClr>
                <a:srgbClr val="FFD200"/>
              </a:buClr>
              <a:buSzPct val="75000"/>
              <a:buFont typeface="Arial Unicode MS" pitchFamily="34" charset="-128"/>
              <a:buNone/>
              <a:tabLst>
                <a:tab pos="1613111" algn="l"/>
                <a:tab pos="3226223" algn="l"/>
                <a:tab pos="4661685" algn="r"/>
              </a:tabLst>
              <a:defRPr kumimoji="0" lang="en-US" sz="1299" b="1" i="0" u="none" strike="noStrike" kern="0" cap="none" spc="0" normalizeH="0" baseline="0" noProof="0">
                <a:ln>
                  <a:noFill/>
                </a:ln>
                <a:solidFill>
                  <a:srgbClr val="7F7E82"/>
                </a:solidFill>
                <a:effectLst/>
                <a:uLnTx/>
                <a:uFillTx/>
              </a:defRPr>
            </a:lvl3pPr>
            <a:lvl4pPr marL="0" indent="4759">
              <a:buNone/>
              <a:defRPr sz="999"/>
            </a:lvl4pPr>
            <a:lvl5pPr>
              <a:defRPr sz="999"/>
            </a:lvl5pPr>
          </a:lstStyle>
          <a:p>
            <a:pPr lvl="0"/>
            <a:r>
              <a:rPr lang="en-US"/>
              <a:t>Private and confidential</a:t>
            </a:r>
          </a:p>
          <a:p>
            <a:pPr lvl="1"/>
            <a:r>
              <a:rPr lang="en-US"/>
              <a:t>XXXXXXXXXXXXX</a:t>
            </a:r>
          </a:p>
          <a:p>
            <a:pPr lvl="1"/>
            <a:r>
              <a:rPr lang="en-US"/>
              <a:t>XXXXXXXXXXX,</a:t>
            </a:r>
          </a:p>
          <a:p>
            <a:pPr lvl="1"/>
            <a:r>
              <a:rPr lang="en-US"/>
              <a:t>XXXXXXX</a:t>
            </a:r>
          </a:p>
        </p:txBody>
      </p:sp>
      <p:sp>
        <p:nvSpPr>
          <p:cNvPr id="29" name="Text Placeholder 11">
            <a:extLst>
              <a:ext uri="{FF2B5EF4-FFF2-40B4-BE49-F238E27FC236}">
                <a16:creationId xmlns:a16="http://schemas.microsoft.com/office/drawing/2014/main" id="{B8023327-946F-465C-B6F4-D60BA1024E61}"/>
              </a:ext>
            </a:extLst>
          </p:cNvPr>
          <p:cNvSpPr>
            <a:spLocks noGrp="1"/>
          </p:cNvSpPr>
          <p:nvPr>
            <p:ph type="body" sz="quarter" idx="12" hasCustomPrompt="1"/>
          </p:nvPr>
        </p:nvSpPr>
        <p:spPr>
          <a:xfrm>
            <a:off x="7217983" y="338373"/>
            <a:ext cx="1447046" cy="887412"/>
          </a:xfrm>
        </p:spPr>
        <p:txBody>
          <a:bodyPr/>
          <a:lstStyle>
            <a:lvl1pPr algn="l" defTabSz="994514">
              <a:spcAft>
                <a:spcPts val="0"/>
              </a:spcAft>
              <a:defRPr sz="700">
                <a:solidFill>
                  <a:srgbClr val="747480"/>
                </a:solidFill>
              </a:defRPr>
            </a:lvl1pPr>
            <a:lvl2pPr>
              <a:defRPr sz="700"/>
            </a:lvl2pPr>
            <a:lvl3pPr>
              <a:defRPr sz="700"/>
            </a:lvl3pPr>
            <a:lvl4pPr>
              <a:defRPr sz="700"/>
            </a:lvl4pPr>
            <a:lvl5pPr>
              <a:defRPr sz="700"/>
            </a:lvl5pPr>
          </a:lstStyle>
          <a:p>
            <a:pPr lvl="0"/>
            <a:r>
              <a:rPr lang="en-US"/>
              <a:t>Ernst &amp; Young LLP</a:t>
            </a:r>
          </a:p>
          <a:p>
            <a:pPr lvl="0"/>
            <a:r>
              <a:rPr lang="en-US"/>
              <a:t>1 More London Place</a:t>
            </a:r>
          </a:p>
          <a:p>
            <a:pPr lvl="0"/>
            <a:r>
              <a:rPr lang="en-US"/>
              <a:t>London SE1 2AF</a:t>
            </a:r>
          </a:p>
          <a:p>
            <a:pPr lvl="0"/>
            <a:endParaRPr lang="en-US"/>
          </a:p>
          <a:p>
            <a:pPr lvl="0"/>
            <a:r>
              <a:rPr lang="en-US"/>
              <a:t>Tel: 020 7951 2000</a:t>
            </a:r>
          </a:p>
          <a:p>
            <a:pPr lvl="0"/>
            <a:r>
              <a:rPr lang="en-US"/>
              <a:t>Fax: 020 7951 1345</a:t>
            </a:r>
          </a:p>
          <a:p>
            <a:pPr lvl="0"/>
            <a:r>
              <a:rPr lang="en-US"/>
              <a:t>www.ey.com/uk</a:t>
            </a:r>
          </a:p>
        </p:txBody>
      </p:sp>
      <p:sp>
        <p:nvSpPr>
          <p:cNvPr id="3" name="Rectangle 2">
            <a:extLst>
              <a:ext uri="{FF2B5EF4-FFF2-40B4-BE49-F238E27FC236}">
                <a16:creationId xmlns:a16="http://schemas.microsoft.com/office/drawing/2014/main" id="{4C362BA1-9CF9-EC28-7766-D489FDFF019C}"/>
              </a:ext>
            </a:extLst>
          </p:cNvPr>
          <p:cNvSpPr/>
          <p:nvPr userDrawn="1"/>
        </p:nvSpPr>
        <p:spPr bwMode="auto">
          <a:xfrm>
            <a:off x="8889850" y="1706155"/>
            <a:ext cx="2603499" cy="4564470"/>
          </a:xfrm>
          <a:prstGeom prst="rect">
            <a:avLst/>
          </a:prstGeom>
          <a:solidFill>
            <a:srgbClr val="F2F2F2"/>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sp>
        <p:nvSpPr>
          <p:cNvPr id="5" name="TextBox 4">
            <a:extLst>
              <a:ext uri="{FF2B5EF4-FFF2-40B4-BE49-F238E27FC236}">
                <a16:creationId xmlns:a16="http://schemas.microsoft.com/office/drawing/2014/main" id="{86AC490D-078A-7693-C5C0-00FD013E52B5}"/>
              </a:ext>
            </a:extLst>
          </p:cNvPr>
          <p:cNvSpPr txBox="1"/>
          <p:nvPr userDrawn="1"/>
        </p:nvSpPr>
        <p:spPr>
          <a:xfrm>
            <a:off x="8889850" y="1858154"/>
            <a:ext cx="2619525" cy="276999"/>
          </a:xfrm>
          <a:prstGeom prst="rect">
            <a:avLst/>
          </a:prstGeom>
          <a:noFill/>
        </p:spPr>
        <p:txBody>
          <a:bodyPr wrap="square">
            <a:spAutoFit/>
          </a:bodyPr>
          <a:lstStyle/>
          <a:p>
            <a:pPr marL="0" marR="0" lvl="0" indent="0" algn="l" defTabSz="902010" rtl="0" eaLnBrk="1" fontAlgn="base" latinLnBrk="0" hangingPunct="1">
              <a:lnSpc>
                <a:spcPct val="100000"/>
              </a:lnSpc>
              <a:spcBef>
                <a:spcPct val="0"/>
              </a:spcBef>
              <a:spcAft>
                <a:spcPct val="40000"/>
              </a:spcAft>
              <a:buClr>
                <a:srgbClr val="FFD200"/>
              </a:buClr>
              <a:buSzPct val="75000"/>
              <a:buFont typeface="Arial Unicode MS" pitchFamily="34" charset="-128"/>
              <a:buNone/>
              <a:tabLst>
                <a:tab pos="1463068" algn="l"/>
                <a:tab pos="2926135" algn="l"/>
                <a:tab pos="4228080" algn="r"/>
              </a:tabLst>
              <a:defRPr/>
            </a:pPr>
            <a:r>
              <a:rPr kumimoji="0" lang="en-US" sz="1200" b="1" i="0" u="none" strike="noStrike" kern="0" cap="none" spc="0" normalizeH="0" baseline="0" noProof="0">
                <a:ln>
                  <a:noFill/>
                </a:ln>
                <a:solidFill>
                  <a:srgbClr val="000000"/>
                </a:solidFill>
                <a:effectLst/>
                <a:uLnTx/>
                <a:uFillTx/>
                <a:latin typeface="EYInterstate Light" panose="02000506000000020004" pitchFamily="2" charset="0"/>
                <a:ea typeface="+mn-ea"/>
                <a:cs typeface="Arial"/>
              </a:rPr>
              <a:t>Contacts</a:t>
            </a:r>
          </a:p>
        </p:txBody>
      </p:sp>
      <p:sp>
        <p:nvSpPr>
          <p:cNvPr id="7" name="Text Placeholder 4">
            <a:extLst>
              <a:ext uri="{FF2B5EF4-FFF2-40B4-BE49-F238E27FC236}">
                <a16:creationId xmlns:a16="http://schemas.microsoft.com/office/drawing/2014/main" id="{553EA9E2-12F1-F137-3A43-0351E6534045}"/>
              </a:ext>
            </a:extLst>
          </p:cNvPr>
          <p:cNvSpPr>
            <a:spLocks noGrp="1"/>
          </p:cNvSpPr>
          <p:nvPr>
            <p:ph type="body" sz="quarter" idx="14"/>
          </p:nvPr>
        </p:nvSpPr>
        <p:spPr>
          <a:xfrm>
            <a:off x="8984267" y="2277924"/>
            <a:ext cx="2414664" cy="3883390"/>
          </a:xfrm>
        </p:spPr>
        <p:txBody>
          <a:bodyPr/>
          <a:lstStyle>
            <a:lvl1pPr>
              <a:spcAft>
                <a:spcPts val="300"/>
              </a:spcAft>
              <a:defRPr sz="999"/>
            </a:lvl1pPr>
            <a:lvl2pPr>
              <a:spcAft>
                <a:spcPts val="300"/>
              </a:spcAft>
              <a:defRPr sz="1399"/>
            </a:lvl2pPr>
            <a:lvl3pPr>
              <a:spcAft>
                <a:spcPts val="300"/>
              </a:spcAft>
              <a:defRPr lang="en-US" sz="1199" b="1" baseline="0" dirty="0">
                <a:solidFill>
                  <a:srgbClr val="747480"/>
                </a:solidFill>
                <a:latin typeface="EYInterstate Light" panose="02000506000000020004" pitchFamily="2" charset="0"/>
                <a:cs typeface="+mn-cs"/>
              </a:defRPr>
            </a:lvl3pPr>
            <a:lvl4pPr marL="190337" indent="-185579">
              <a:spcAft>
                <a:spcPts val="300"/>
              </a:spcAft>
              <a:buClr>
                <a:schemeClr val="tx1"/>
              </a:buClr>
              <a:buSzPct val="100000"/>
              <a:buFont typeface="EYInterstate" pitchFamily="2" charset="0"/>
              <a:buChar char="•"/>
              <a:defRPr sz="999"/>
            </a:lvl4pPr>
            <a:lvl5pPr marL="352125" indent="-160201">
              <a:spcAft>
                <a:spcPts val="300"/>
              </a:spcAft>
              <a:buClr>
                <a:schemeClr val="tx1"/>
              </a:buClr>
              <a:buSzPct val="100000"/>
              <a:buFont typeface="EYInterstate" pitchFamily="2" charset="0"/>
              <a:buChar char="•"/>
              <a:defRPr sz="999"/>
            </a:lvl5pPr>
          </a:lstStyle>
          <a:p>
            <a:pPr lvl="0"/>
            <a:r>
              <a:rPr lang="en-US"/>
              <a:t>Click to edit Master text styles</a:t>
            </a:r>
          </a:p>
          <a:p>
            <a:pPr lvl="1"/>
            <a:r>
              <a:rPr lang="en-US"/>
              <a:t>Second level</a:t>
            </a:r>
          </a:p>
          <a:p>
            <a:pPr marL="2879" lvl="2"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pPr>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1887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userDrawn="1">
            <p:ph type="title"/>
          </p:nvPr>
        </p:nvSpPr>
        <p:spPr>
          <a:xfrm>
            <a:off x="701366" y="273717"/>
            <a:ext cx="10789269" cy="792000"/>
          </a:xfrm>
        </p:spPr>
        <p:txBody>
          <a:bodyPr lIns="0" anchor="b"/>
          <a:lstStyle>
            <a:lvl1pPr>
              <a:defRPr>
                <a:solidFill>
                  <a:schemeClr val="tx1"/>
                </a:solidFill>
              </a:defRPr>
            </a:lvl1pPr>
          </a:lstStyle>
          <a:p>
            <a:r>
              <a:rPr lang="en-US"/>
              <a:t>Click to edit Master title style</a:t>
            </a:r>
          </a:p>
        </p:txBody>
      </p:sp>
      <p:sp>
        <p:nvSpPr>
          <p:cNvPr id="3" name="Content Placeholder 2"/>
          <p:cNvSpPr>
            <a:spLocks noGrp="1"/>
          </p:cNvSpPr>
          <p:nvPr>
            <p:ph idx="1"/>
          </p:nvPr>
        </p:nvSpPr>
        <p:spPr>
          <a:xfrm>
            <a:off x="701366" y="1291281"/>
            <a:ext cx="10789269" cy="4968000"/>
          </a:xfrm>
        </p:spPr>
        <p:txBody>
          <a:bodyPr/>
          <a:lstStyle>
            <a:lvl1pPr>
              <a:defRPr sz="999"/>
            </a:lvl1pPr>
            <a:lvl2pPr>
              <a:defRPr/>
            </a:lvl2pPr>
            <a:lvl3pPr>
              <a:defRPr baseline="0">
                <a:solidFill>
                  <a:srgbClr val="747480"/>
                </a:solidFill>
              </a:defRPr>
            </a:lvl3pPr>
            <a:lvl4pPr marL="172632" indent="-168317">
              <a:buClr>
                <a:schemeClr val="tx1"/>
              </a:buClr>
              <a:buSzPct val="100000"/>
              <a:buFont typeface="EYInterstate" pitchFamily="2" charset="0"/>
              <a:buChar char="•"/>
              <a:defRPr sz="999"/>
            </a:lvl4pPr>
            <a:lvl5pPr marL="319372" indent="-145299">
              <a:buClr>
                <a:schemeClr val="tx1"/>
              </a:buClr>
              <a:buSzPct val="100000"/>
              <a:buFont typeface="EYInterstate" pitchFamily="2" charset="0"/>
              <a:buChar char="•"/>
              <a:defRPr sz="9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martArt Placeholder 11">
            <a:extLst>
              <a:ext uri="{FF2B5EF4-FFF2-40B4-BE49-F238E27FC236}">
                <a16:creationId xmlns:a16="http://schemas.microsoft.com/office/drawing/2014/main" id="{0C7A7658-2FAE-47B9-1658-1E4FBE231FE4}"/>
              </a:ext>
              <a:ext uri="{C183D7F6-B498-43B3-948B-1728B52AA6E4}">
                <adec:decorative xmlns:adec="http://schemas.microsoft.com/office/drawing/2017/decorative" val="1"/>
              </a:ext>
            </a:extLst>
          </p:cNvPr>
          <p:cNvSpPr txBox="1">
            <a:spLocks/>
          </p:cNvSpPr>
          <p:nvPr userDrawn="1"/>
        </p:nvSpPr>
        <p:spPr>
          <a:xfrm>
            <a:off x="701366" y="1093193"/>
            <a:ext cx="10789920" cy="36000"/>
          </a:xfrm>
          <a:prstGeom prst="rect">
            <a:avLst/>
          </a:prstGeom>
          <a:solidFill>
            <a:srgbClr val="1A9AFA"/>
          </a:solidFill>
        </p:spPr>
        <p:txBody>
          <a:bodyPr vert="horz" lIns="0" tIns="0" rIns="0" bIns="0" rtlCol="0" anchor="t" anchorCtr="0">
            <a:noAutofit/>
          </a:bodyPr>
          <a:lstStyle>
            <a:lvl1pPr marL="0" indent="0" algn="l" defTabSz="914400" rtl="0" eaLnBrk="1" latinLnBrk="0" hangingPunct="1">
              <a:spcBef>
                <a:spcPts val="400"/>
              </a:spcBef>
              <a:spcAft>
                <a:spcPts val="400"/>
              </a:spcAft>
              <a:buClr>
                <a:schemeClr val="tx2"/>
              </a:buClr>
              <a:buSzPct val="100000"/>
              <a:buFont typeface="Wingdings" pitchFamily="2" charset="2"/>
              <a:buNone/>
              <a:defRPr lang="en-US" sz="800" kern="1200" dirty="0">
                <a:solidFill>
                  <a:schemeClr val="tx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tx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tx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tx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tx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tx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tx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tx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400"/>
              </a:spcBef>
              <a:spcAft>
                <a:spcPts val="400"/>
              </a:spcAft>
              <a:buClr>
                <a:srgbClr val="1A9AFA"/>
              </a:buClr>
              <a:buSzPct val="100000"/>
              <a:buFont typeface="Wingdings" pitchFamily="2" charset="2"/>
              <a:buNone/>
              <a:tabLst/>
              <a:defRPr/>
            </a:pPr>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spTree>
    <p:extLst>
      <p:ext uri="{BB962C8B-B14F-4D97-AF65-F5344CB8AC3E}">
        <p14:creationId xmlns:p14="http://schemas.microsoft.com/office/powerpoint/2010/main" val="4178375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EB740D5-6D07-AE77-5A2E-4C7187264B24}"/>
              </a:ext>
            </a:extLst>
          </p:cNvPr>
          <p:cNvSpPr/>
          <p:nvPr userDrawn="1"/>
        </p:nvSpPr>
        <p:spPr bwMode="auto">
          <a:xfrm>
            <a:off x="262890" y="5897880"/>
            <a:ext cx="11772900" cy="868680"/>
          </a:xfrm>
          <a:prstGeom prst="rect">
            <a:avLst/>
          </a:prstGeom>
          <a:solidFill>
            <a:srgbClr val="FFFFFF"/>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IN" b="1"/>
          </a:p>
        </p:txBody>
      </p:sp>
    </p:spTree>
    <p:extLst>
      <p:ext uri="{BB962C8B-B14F-4D97-AF65-F5344CB8AC3E}">
        <p14:creationId xmlns:p14="http://schemas.microsoft.com/office/powerpoint/2010/main" val="4228899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1/3 column layout">
    <p:spTree>
      <p:nvGrpSpPr>
        <p:cNvPr id="1" name=""/>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id="{9AD17B03-94B7-7D42-CB91-CCFC8036B668}"/>
              </a:ext>
            </a:extLst>
          </p:cNvPr>
          <p:cNvSpPr/>
          <p:nvPr userDrawn="1"/>
        </p:nvSpPr>
        <p:spPr bwMode="auto">
          <a:xfrm>
            <a:off x="6211387" y="3867195"/>
            <a:ext cx="5323475" cy="2116440"/>
          </a:xfrm>
          <a:prstGeom prst="roundRect">
            <a:avLst>
              <a:gd name="adj" fmla="val 7609"/>
            </a:avLst>
          </a:prstGeom>
          <a:noFill/>
          <a:ln w="9525">
            <a:gradFill>
              <a:gsLst>
                <a:gs pos="31000">
                  <a:srgbClr val="188CE5">
                    <a:lumMod val="99000"/>
                    <a:alpha val="42000"/>
                  </a:srgbClr>
                </a:gs>
                <a:gs pos="83000">
                  <a:schemeClr val="bg1">
                    <a:alpha val="42000"/>
                  </a:schemeClr>
                </a:gs>
                <a:gs pos="0">
                  <a:srgbClr val="188CE5"/>
                </a:gs>
              </a:gsLst>
              <a:lin ang="5400000" scaled="1"/>
            </a:gradFill>
            <a:miter lim="800000"/>
            <a:headEnd/>
            <a:tailEnd/>
          </a:ln>
          <a:effectLst/>
        </p:spPr>
        <p:txBody>
          <a:bodyPr vert="horz" wrap="square" lIns="72000" tIns="0" rIns="0" bIns="0" numCol="1" anchor="t" anchorCtr="0" compatLnSpc="1">
            <a:prstTxWarp prst="textNoShape">
              <a:avLst/>
            </a:prstTxWarp>
            <a:noAutofit/>
          </a:bodyPr>
          <a:lstStyle/>
          <a:p>
            <a:pPr marL="180000" lvl="0" indent="-180000" defTabSz="902010" fontAlgn="base">
              <a:lnSpc>
                <a:spcPct val="95000"/>
              </a:lnSpc>
              <a:spcBef>
                <a:spcPts val="50"/>
              </a:spcBef>
              <a:spcAft>
                <a:spcPts val="0"/>
              </a:spcAft>
              <a:buClr>
                <a:schemeClr val="accent1"/>
              </a:buClr>
              <a:buSzPct val="100000"/>
              <a:buFont typeface="EYInterstate Light" panose="02000506000000020004" pitchFamily="2" charset="0"/>
              <a:buChar char="•"/>
              <a:tabLst>
                <a:tab pos="1463068" algn="l"/>
                <a:tab pos="2926135" algn="l"/>
                <a:tab pos="4228080" algn="r"/>
              </a:tabLst>
            </a:pPr>
            <a:endParaRPr lang="en-US" sz="1100" baseline="0">
              <a:latin typeface="EYInterstate Light" panose="02000506000000020004" pitchFamily="2" charset="0"/>
            </a:endParaRPr>
          </a:p>
        </p:txBody>
      </p:sp>
      <p:sp>
        <p:nvSpPr>
          <p:cNvPr id="43" name="Rectangle: Rounded Corners 42">
            <a:extLst>
              <a:ext uri="{FF2B5EF4-FFF2-40B4-BE49-F238E27FC236}">
                <a16:creationId xmlns:a16="http://schemas.microsoft.com/office/drawing/2014/main" id="{5F170419-0404-8416-6CC6-4E8CFCDB11F4}"/>
              </a:ext>
            </a:extLst>
          </p:cNvPr>
          <p:cNvSpPr/>
          <p:nvPr userDrawn="1"/>
        </p:nvSpPr>
        <p:spPr bwMode="auto">
          <a:xfrm>
            <a:off x="6211387" y="1583121"/>
            <a:ext cx="5323478" cy="2095886"/>
          </a:xfrm>
          <a:prstGeom prst="roundRect">
            <a:avLst>
              <a:gd name="adj" fmla="val 7609"/>
            </a:avLst>
          </a:prstGeom>
          <a:noFill/>
          <a:ln w="9525">
            <a:gradFill>
              <a:gsLst>
                <a:gs pos="56000">
                  <a:srgbClr val="FCF07D">
                    <a:lumMod val="99000"/>
                    <a:alpha val="54000"/>
                  </a:srgbClr>
                </a:gs>
                <a:gs pos="100000">
                  <a:schemeClr val="bg1"/>
                </a:gs>
                <a:gs pos="0">
                  <a:srgbClr val="FFE600"/>
                </a:gs>
              </a:gsLst>
              <a:lin ang="5400000" scaled="1"/>
            </a:gradFill>
            <a:miter lim="800000"/>
            <a:headEnd/>
            <a:tailEnd/>
          </a:ln>
          <a:effectLst/>
        </p:spPr>
        <p:txBody>
          <a:bodyPr vert="horz" wrap="square" lIns="72000" tIns="0" rIns="0" bIns="0" numCol="1" anchor="t" anchorCtr="0" compatLnSpc="1">
            <a:prstTxWarp prst="textNoShape">
              <a:avLst/>
            </a:prstTxWarp>
            <a:noAutofit/>
          </a:bodyPr>
          <a:lstStyle/>
          <a:p>
            <a:pPr marL="180000" lvl="0" indent="-180000" defTabSz="902010" fontAlgn="base">
              <a:lnSpc>
                <a:spcPct val="95000"/>
              </a:lnSpc>
              <a:spcBef>
                <a:spcPts val="50"/>
              </a:spcBef>
              <a:spcAft>
                <a:spcPts val="0"/>
              </a:spcAft>
              <a:buClr>
                <a:schemeClr val="accent1"/>
              </a:buClr>
              <a:buSzPct val="100000"/>
              <a:buFont typeface="EYInterstate Light" panose="02000506000000020004" pitchFamily="2" charset="0"/>
              <a:buChar char="•"/>
              <a:tabLst>
                <a:tab pos="1463068" algn="l"/>
                <a:tab pos="2926135" algn="l"/>
                <a:tab pos="4228080" algn="r"/>
              </a:tabLst>
            </a:pPr>
            <a:endParaRPr lang="en-US" sz="1100" baseline="0">
              <a:latin typeface="EYInterstate Light" panose="02000506000000020004" pitchFamily="2" charset="0"/>
            </a:endParaRPr>
          </a:p>
        </p:txBody>
      </p:sp>
      <p:sp>
        <p:nvSpPr>
          <p:cNvPr id="41" name="Rectangle: Rounded Corners 40">
            <a:extLst>
              <a:ext uri="{FF2B5EF4-FFF2-40B4-BE49-F238E27FC236}">
                <a16:creationId xmlns:a16="http://schemas.microsoft.com/office/drawing/2014/main" id="{E6838832-F56B-ABF0-59AA-3D53DEFF5CCE}"/>
              </a:ext>
            </a:extLst>
          </p:cNvPr>
          <p:cNvSpPr/>
          <p:nvPr userDrawn="1"/>
        </p:nvSpPr>
        <p:spPr bwMode="auto">
          <a:xfrm>
            <a:off x="702137" y="3867195"/>
            <a:ext cx="5323475" cy="2116440"/>
          </a:xfrm>
          <a:prstGeom prst="roundRect">
            <a:avLst>
              <a:gd name="adj" fmla="val 7609"/>
            </a:avLst>
          </a:prstGeom>
          <a:noFill/>
          <a:ln w="9525">
            <a:gradFill>
              <a:gsLst>
                <a:gs pos="31000">
                  <a:srgbClr val="188CE5">
                    <a:lumMod val="99000"/>
                    <a:alpha val="42000"/>
                  </a:srgbClr>
                </a:gs>
                <a:gs pos="83000">
                  <a:schemeClr val="bg1">
                    <a:alpha val="42000"/>
                  </a:schemeClr>
                </a:gs>
                <a:gs pos="0">
                  <a:srgbClr val="188CE5"/>
                </a:gs>
              </a:gsLst>
              <a:lin ang="5400000" scaled="1"/>
            </a:gradFill>
            <a:miter lim="800000"/>
            <a:headEnd/>
            <a:tailEnd/>
          </a:ln>
          <a:effectLst/>
        </p:spPr>
        <p:txBody>
          <a:bodyPr vert="horz" wrap="square" lIns="72000" tIns="0" rIns="0" bIns="0" numCol="1" anchor="t" anchorCtr="0" compatLnSpc="1">
            <a:prstTxWarp prst="textNoShape">
              <a:avLst/>
            </a:prstTxWarp>
            <a:noAutofit/>
          </a:bodyPr>
          <a:lstStyle/>
          <a:p>
            <a:pPr marL="180000" lvl="0" indent="-180000" defTabSz="902010" fontAlgn="base">
              <a:lnSpc>
                <a:spcPct val="95000"/>
              </a:lnSpc>
              <a:spcBef>
                <a:spcPts val="50"/>
              </a:spcBef>
              <a:spcAft>
                <a:spcPts val="0"/>
              </a:spcAft>
              <a:buClr>
                <a:schemeClr val="accent1"/>
              </a:buClr>
              <a:buSzPct val="100000"/>
              <a:buFont typeface="EYInterstate Light" panose="02000506000000020004" pitchFamily="2" charset="0"/>
              <a:buChar char="•"/>
              <a:tabLst>
                <a:tab pos="1463068" algn="l"/>
                <a:tab pos="2926135" algn="l"/>
                <a:tab pos="4228080" algn="r"/>
              </a:tabLst>
            </a:pPr>
            <a:endParaRPr lang="en-US" sz="1100" baseline="0">
              <a:latin typeface="EYInterstate Light" panose="02000506000000020004" pitchFamily="2" charset="0"/>
            </a:endParaRPr>
          </a:p>
        </p:txBody>
      </p:sp>
      <p:sp>
        <p:nvSpPr>
          <p:cNvPr id="40" name="Rectangle: Rounded Corners 39">
            <a:extLst>
              <a:ext uri="{FF2B5EF4-FFF2-40B4-BE49-F238E27FC236}">
                <a16:creationId xmlns:a16="http://schemas.microsoft.com/office/drawing/2014/main" id="{CA7BDE75-13EC-DAAC-AAFB-2CF8442CAB1C}"/>
              </a:ext>
            </a:extLst>
          </p:cNvPr>
          <p:cNvSpPr/>
          <p:nvPr userDrawn="1"/>
        </p:nvSpPr>
        <p:spPr bwMode="auto">
          <a:xfrm>
            <a:off x="696710" y="1583121"/>
            <a:ext cx="5323478" cy="2095886"/>
          </a:xfrm>
          <a:prstGeom prst="roundRect">
            <a:avLst>
              <a:gd name="adj" fmla="val 7609"/>
            </a:avLst>
          </a:prstGeom>
          <a:noFill/>
          <a:ln w="9525">
            <a:gradFill>
              <a:gsLst>
                <a:gs pos="56000">
                  <a:srgbClr val="FCF07D">
                    <a:lumMod val="99000"/>
                    <a:alpha val="54000"/>
                  </a:srgbClr>
                </a:gs>
                <a:gs pos="100000">
                  <a:schemeClr val="bg1"/>
                </a:gs>
                <a:gs pos="0">
                  <a:srgbClr val="FFE600"/>
                </a:gs>
              </a:gsLst>
              <a:lin ang="5400000" scaled="1"/>
            </a:gradFill>
            <a:miter lim="800000"/>
            <a:headEnd/>
            <a:tailEnd/>
          </a:ln>
          <a:effectLst/>
        </p:spPr>
        <p:txBody>
          <a:bodyPr vert="horz" wrap="square" lIns="72000" tIns="0" rIns="0" bIns="0" numCol="1" anchor="t" anchorCtr="0" compatLnSpc="1">
            <a:prstTxWarp prst="textNoShape">
              <a:avLst/>
            </a:prstTxWarp>
            <a:noAutofit/>
          </a:bodyPr>
          <a:lstStyle/>
          <a:p>
            <a:pPr marL="180000" lvl="0" indent="-180000" defTabSz="902010" fontAlgn="base">
              <a:lnSpc>
                <a:spcPct val="95000"/>
              </a:lnSpc>
              <a:spcBef>
                <a:spcPts val="50"/>
              </a:spcBef>
              <a:spcAft>
                <a:spcPts val="0"/>
              </a:spcAft>
              <a:buClr>
                <a:schemeClr val="accent1"/>
              </a:buClr>
              <a:buSzPct val="100000"/>
              <a:buFont typeface="EYInterstate Light" panose="02000506000000020004" pitchFamily="2" charset="0"/>
              <a:buChar char="•"/>
              <a:tabLst>
                <a:tab pos="1463068" algn="l"/>
                <a:tab pos="2926135" algn="l"/>
                <a:tab pos="4228080" algn="r"/>
              </a:tabLst>
            </a:pPr>
            <a:endParaRPr lang="en-US" sz="1100" baseline="0">
              <a:latin typeface="EYInterstate Light" panose="02000506000000020004" pitchFamily="2" charset="0"/>
            </a:endParaRPr>
          </a:p>
        </p:txBody>
      </p:sp>
      <p:sp>
        <p:nvSpPr>
          <p:cNvPr id="2" name="Rectangle 1">
            <a:extLst>
              <a:ext uri="{FF2B5EF4-FFF2-40B4-BE49-F238E27FC236}">
                <a16:creationId xmlns:a16="http://schemas.microsoft.com/office/drawing/2014/main" id="{A447AC6D-D54F-E17C-34F6-FD8E7E057E00}"/>
              </a:ext>
            </a:extLst>
          </p:cNvPr>
          <p:cNvSpPr/>
          <p:nvPr userDrawn="1"/>
        </p:nvSpPr>
        <p:spPr bwMode="auto">
          <a:xfrm>
            <a:off x="0" y="0"/>
            <a:ext cx="12192000" cy="1375836"/>
          </a:xfrm>
          <a:prstGeom prst="rect">
            <a:avLst/>
          </a:prstGeom>
          <a:solidFill>
            <a:schemeClr val="accent3">
              <a:lumMod val="95000"/>
            </a:schemeClr>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EYInterstate Light"/>
              <a:ea typeface="+mn-ea"/>
              <a:cs typeface="Calibri Light"/>
            </a:endParaRPr>
          </a:p>
        </p:txBody>
      </p:sp>
      <p:cxnSp>
        <p:nvCxnSpPr>
          <p:cNvPr id="3" name="Straight Connector 2">
            <a:extLst>
              <a:ext uri="{FF2B5EF4-FFF2-40B4-BE49-F238E27FC236}">
                <a16:creationId xmlns:a16="http://schemas.microsoft.com/office/drawing/2014/main" id="{A165FD14-773B-C78D-2FCF-CCF7BEF6E805}"/>
              </a:ext>
            </a:extLst>
          </p:cNvPr>
          <p:cNvCxnSpPr>
            <a:cxnSpLocks/>
          </p:cNvCxnSpPr>
          <p:nvPr userDrawn="1"/>
        </p:nvCxnSpPr>
        <p:spPr bwMode="auto">
          <a:xfrm>
            <a:off x="6096000" y="1731131"/>
            <a:ext cx="0" cy="4539494"/>
          </a:xfrm>
          <a:prstGeom prst="line">
            <a:avLst/>
          </a:prstGeom>
          <a:solidFill>
            <a:schemeClr val="accent1"/>
          </a:solidFill>
          <a:ln w="3175" cap="flat" cmpd="sng" algn="ctr">
            <a:solidFill>
              <a:schemeClr val="tx2"/>
            </a:solidFill>
            <a:prstDash val="solid"/>
            <a:round/>
            <a:headEnd type="none" w="med" len="med"/>
            <a:tailEnd type="none" w="med" len="med"/>
          </a:ln>
          <a:effectLst/>
        </p:spPr>
      </p:cxnSp>
      <p:sp>
        <p:nvSpPr>
          <p:cNvPr id="4" name="Picture Placeholder 3">
            <a:extLst>
              <a:ext uri="{FF2B5EF4-FFF2-40B4-BE49-F238E27FC236}">
                <a16:creationId xmlns:a16="http://schemas.microsoft.com/office/drawing/2014/main" id="{F405CCED-35DB-435B-9253-F9A243073D87}"/>
              </a:ext>
            </a:extLst>
          </p:cNvPr>
          <p:cNvSpPr>
            <a:spLocks noGrp="1"/>
          </p:cNvSpPr>
          <p:nvPr>
            <p:ph type="pic" sz="quarter" idx="14"/>
          </p:nvPr>
        </p:nvSpPr>
        <p:spPr>
          <a:xfrm>
            <a:off x="690563" y="185870"/>
            <a:ext cx="1100530" cy="1101825"/>
          </a:xfrm>
          <a:prstGeom prst="ellipse">
            <a:avLst/>
          </a:prstGeom>
          <a:noFill/>
          <a:ln w="19050">
            <a:gradFill flip="none" rotWithShape="1">
              <a:gsLst>
                <a:gs pos="0">
                  <a:srgbClr val="00C864"/>
                </a:gs>
                <a:gs pos="100000">
                  <a:srgbClr val="4398F7"/>
                </a:gs>
              </a:gsLst>
              <a:lin ang="8100000" scaled="1"/>
              <a:tileRect/>
            </a:gradFill>
            <a:round/>
            <a:headEnd/>
            <a:tailEnd/>
          </a:ln>
          <a:effectLst/>
        </p:spPr>
        <p:txBody>
          <a:bodyPr wrap="none" anchor="ctr"/>
          <a:lstStyle>
            <a:lvl1pPr>
              <a:defRPr lang="en-US" sz="1798" kern="1200">
                <a:solidFill>
                  <a:schemeClr val="bg1"/>
                </a:solidFill>
              </a:defRPr>
            </a:lvl1pPr>
          </a:lstStyle>
          <a:p>
            <a:pPr marL="0" lvl="0" defTabSz="914400" latinLnBrk="0"/>
            <a:endParaRPr lang="en-US"/>
          </a:p>
        </p:txBody>
      </p:sp>
      <p:sp>
        <p:nvSpPr>
          <p:cNvPr id="5" name="Content Placeholder 10">
            <a:extLst>
              <a:ext uri="{FF2B5EF4-FFF2-40B4-BE49-F238E27FC236}">
                <a16:creationId xmlns:a16="http://schemas.microsoft.com/office/drawing/2014/main" id="{A6E21B3F-4390-AC7D-91DE-92FC432449F2}"/>
              </a:ext>
            </a:extLst>
          </p:cNvPr>
          <p:cNvSpPr>
            <a:spLocks noGrp="1"/>
          </p:cNvSpPr>
          <p:nvPr>
            <p:ph sz="quarter" idx="12" hasCustomPrompt="1"/>
          </p:nvPr>
        </p:nvSpPr>
        <p:spPr>
          <a:xfrm>
            <a:off x="690561" y="1731131"/>
            <a:ext cx="5308793" cy="1865098"/>
          </a:xfrm>
          <a:prstGeom prst="rect">
            <a:avLst/>
          </a:prstGeom>
        </p:spPr>
        <p:txBody>
          <a:bodyPr lIns="54864" tIns="54864" rIns="54864" bIns="54864"/>
          <a:lstStyle>
            <a:lvl2pPr>
              <a:defRPr sz="1200">
                <a:solidFill>
                  <a:schemeClr val="tx1"/>
                </a:solidFill>
                <a:latin typeface="+mn-lt"/>
              </a:defRPr>
            </a:lvl2pPr>
            <a:lvl4pPr marL="172722" indent="-16840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4pPr>
            <a:lvl5pPr marL="319537" indent="-14537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5pPr>
          </a:lstStyle>
          <a:p>
            <a:pPr lvl="3"/>
            <a:r>
              <a:rPr lang="en-US"/>
              <a:t>Fourth level</a:t>
            </a:r>
          </a:p>
          <a:p>
            <a:pPr lvl="4"/>
            <a:r>
              <a:rPr lang="en-US"/>
              <a:t>Fifth level</a:t>
            </a:r>
          </a:p>
        </p:txBody>
      </p:sp>
      <p:sp>
        <p:nvSpPr>
          <p:cNvPr id="6" name="Content Placeholder 10">
            <a:extLst>
              <a:ext uri="{FF2B5EF4-FFF2-40B4-BE49-F238E27FC236}">
                <a16:creationId xmlns:a16="http://schemas.microsoft.com/office/drawing/2014/main" id="{2CF7388C-2761-318B-A83D-A9C0F75C90EF}"/>
              </a:ext>
            </a:extLst>
          </p:cNvPr>
          <p:cNvSpPr>
            <a:spLocks noGrp="1"/>
          </p:cNvSpPr>
          <p:nvPr>
            <p:ph sz="quarter" idx="15" hasCustomPrompt="1"/>
          </p:nvPr>
        </p:nvSpPr>
        <p:spPr>
          <a:xfrm>
            <a:off x="690562" y="3949126"/>
            <a:ext cx="5308792" cy="2313991"/>
          </a:xfrm>
          <a:prstGeom prst="rect">
            <a:avLst/>
          </a:prstGeom>
        </p:spPr>
        <p:txBody>
          <a:bodyPr lIns="54864" tIns="54864" rIns="54864" bIns="54864"/>
          <a:lstStyle>
            <a:lvl2pPr>
              <a:defRPr sz="1200">
                <a:solidFill>
                  <a:schemeClr val="tx1"/>
                </a:solidFill>
                <a:latin typeface="+mn-lt"/>
              </a:defRPr>
            </a:lvl2pPr>
            <a:lvl4pPr marL="172722" indent="-16840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4pPr>
            <a:lvl5pPr marL="319537" indent="-14537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5pPr>
          </a:lstStyle>
          <a:p>
            <a:pPr lvl="3"/>
            <a:r>
              <a:rPr lang="en-US"/>
              <a:t>Fourth level</a:t>
            </a:r>
          </a:p>
          <a:p>
            <a:pPr lvl="4"/>
            <a:r>
              <a:rPr lang="en-US"/>
              <a:t>Fifth level</a:t>
            </a:r>
          </a:p>
        </p:txBody>
      </p:sp>
      <p:sp>
        <p:nvSpPr>
          <p:cNvPr id="12" name="Text Placeholder 654">
            <a:extLst>
              <a:ext uri="{FF2B5EF4-FFF2-40B4-BE49-F238E27FC236}">
                <a16:creationId xmlns:a16="http://schemas.microsoft.com/office/drawing/2014/main" id="{DEDBB4D8-192F-B0B1-8D32-305ADC2E7889}"/>
              </a:ext>
            </a:extLst>
          </p:cNvPr>
          <p:cNvSpPr>
            <a:spLocks noGrp="1"/>
          </p:cNvSpPr>
          <p:nvPr>
            <p:ph type="body" sz="quarter" idx="22" hasCustomPrompt="1"/>
          </p:nvPr>
        </p:nvSpPr>
        <p:spPr>
          <a:xfrm>
            <a:off x="1944829" y="327051"/>
            <a:ext cx="3966107" cy="247236"/>
          </a:xfrm>
        </p:spPr>
        <p:txBody>
          <a:bodyPr/>
          <a:lstStyle>
            <a:lvl1pPr>
              <a:defRPr>
                <a:solidFill>
                  <a:srgbClr val="881739"/>
                </a:solidFill>
              </a:defRPr>
            </a:lvl1pPr>
            <a:lvl2pPr>
              <a:defRPr sz="1200" b="1">
                <a:solidFill>
                  <a:schemeClr val="tx1"/>
                </a:solidFill>
                <a:latin typeface="+mn-lt"/>
              </a:defRPr>
            </a:lvl2pPr>
            <a:lvl3pPr>
              <a:defRPr b="1">
                <a:solidFill>
                  <a:schemeClr val="tx1"/>
                </a:solidFill>
                <a:latin typeface="+mn-lt"/>
              </a:defRPr>
            </a:lvl3pPr>
            <a:lvl4pPr>
              <a:defRPr>
                <a:solidFill>
                  <a:srgbClr val="881739"/>
                </a:solidFill>
              </a:defRPr>
            </a:lvl4pPr>
            <a:lvl5pPr>
              <a:defRPr>
                <a:solidFill>
                  <a:srgbClr val="881739"/>
                </a:solidFill>
              </a:defRPr>
            </a:lvl5pPr>
          </a:lstStyle>
          <a:p>
            <a:pPr lvl="1"/>
            <a:r>
              <a:rPr lang="en-US"/>
              <a:t>Name</a:t>
            </a:r>
          </a:p>
        </p:txBody>
      </p:sp>
      <p:sp>
        <p:nvSpPr>
          <p:cNvPr id="13" name="Text Placeholder 656">
            <a:extLst>
              <a:ext uri="{FF2B5EF4-FFF2-40B4-BE49-F238E27FC236}">
                <a16:creationId xmlns:a16="http://schemas.microsoft.com/office/drawing/2014/main" id="{5C1AC5DD-FC48-439C-3361-9BEE4D85D22F}"/>
              </a:ext>
            </a:extLst>
          </p:cNvPr>
          <p:cNvSpPr>
            <a:spLocks noGrp="1"/>
          </p:cNvSpPr>
          <p:nvPr>
            <p:ph type="body" sz="quarter" idx="23"/>
          </p:nvPr>
        </p:nvSpPr>
        <p:spPr>
          <a:xfrm>
            <a:off x="1944830" y="575224"/>
            <a:ext cx="3966109" cy="710651"/>
          </a:xfrm>
        </p:spPr>
        <p:txBody>
          <a:bodyPr/>
          <a:lstStyle>
            <a:lvl2pPr>
              <a:defRPr sz="1050">
                <a:solidFill>
                  <a:schemeClr val="tx1"/>
                </a:solidFill>
                <a:latin typeface="+mn-lt"/>
              </a:defRPr>
            </a:lvl2pPr>
          </a:lstStyle>
          <a:p>
            <a:pPr lvl="1"/>
            <a:endParaRPr lang="en-US"/>
          </a:p>
        </p:txBody>
      </p:sp>
      <p:sp>
        <p:nvSpPr>
          <p:cNvPr id="21" name="Rectangle: Rounded Corners 20">
            <a:extLst>
              <a:ext uri="{FF2B5EF4-FFF2-40B4-BE49-F238E27FC236}">
                <a16:creationId xmlns:a16="http://schemas.microsoft.com/office/drawing/2014/main" id="{6506CBFC-BADC-C0B6-4E8F-D144CF7F90CA}"/>
              </a:ext>
            </a:extLst>
          </p:cNvPr>
          <p:cNvSpPr/>
          <p:nvPr userDrawn="1"/>
        </p:nvSpPr>
        <p:spPr bwMode="auto">
          <a:xfrm>
            <a:off x="701366" y="1443900"/>
            <a:ext cx="2381991" cy="291250"/>
          </a:xfrm>
          <a:prstGeom prst="roundRect">
            <a:avLst>
              <a:gd name="adj" fmla="val 50000"/>
            </a:avLst>
          </a:prstGeom>
          <a:solidFill>
            <a:srgbClr val="1A9AFA"/>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050" b="0" kern="0">
                <a:solidFill>
                  <a:schemeClr val="bg1"/>
                </a:solidFill>
                <a:latin typeface="EYInterstate Light"/>
                <a:cs typeface="Arial"/>
              </a:rPr>
              <a:t>Background</a:t>
            </a:r>
          </a:p>
        </p:txBody>
      </p:sp>
      <p:sp>
        <p:nvSpPr>
          <p:cNvPr id="23" name="Rectangle: Rounded Corners 22">
            <a:extLst>
              <a:ext uri="{FF2B5EF4-FFF2-40B4-BE49-F238E27FC236}">
                <a16:creationId xmlns:a16="http://schemas.microsoft.com/office/drawing/2014/main" id="{2F8A9BFF-939E-AF73-5FB2-92ADF5080739}"/>
              </a:ext>
            </a:extLst>
          </p:cNvPr>
          <p:cNvSpPr/>
          <p:nvPr userDrawn="1"/>
        </p:nvSpPr>
        <p:spPr bwMode="auto">
          <a:xfrm>
            <a:off x="701366" y="3659353"/>
            <a:ext cx="2381991" cy="291250"/>
          </a:xfrm>
          <a:prstGeom prst="roundRect">
            <a:avLst>
              <a:gd name="adj" fmla="val 50000"/>
            </a:avLst>
          </a:prstGeom>
          <a:solidFill>
            <a:srgbClr val="74748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050" b="0" kern="0">
                <a:solidFill>
                  <a:srgbClr val="FFFFFF"/>
                </a:solidFill>
                <a:latin typeface="EYInterstate Light"/>
                <a:cs typeface="Arial"/>
              </a:rPr>
              <a:t>Professional experience</a:t>
            </a:r>
          </a:p>
        </p:txBody>
      </p:sp>
      <p:sp>
        <p:nvSpPr>
          <p:cNvPr id="33" name="Picture Placeholder 3">
            <a:extLst>
              <a:ext uri="{FF2B5EF4-FFF2-40B4-BE49-F238E27FC236}">
                <a16:creationId xmlns:a16="http://schemas.microsoft.com/office/drawing/2014/main" id="{BB50A76B-E220-54B5-96B9-4E80600C6B69}"/>
              </a:ext>
            </a:extLst>
          </p:cNvPr>
          <p:cNvSpPr>
            <a:spLocks noGrp="1"/>
          </p:cNvSpPr>
          <p:nvPr>
            <p:ph type="pic" sz="quarter" idx="24"/>
          </p:nvPr>
        </p:nvSpPr>
        <p:spPr>
          <a:xfrm>
            <a:off x="6200584" y="185870"/>
            <a:ext cx="1100530" cy="1101825"/>
          </a:xfrm>
          <a:prstGeom prst="ellipse">
            <a:avLst/>
          </a:prstGeom>
          <a:noFill/>
          <a:ln w="19050">
            <a:gradFill flip="none" rotWithShape="1">
              <a:gsLst>
                <a:gs pos="0">
                  <a:srgbClr val="00C864"/>
                </a:gs>
                <a:gs pos="100000">
                  <a:srgbClr val="4398F7"/>
                </a:gs>
              </a:gsLst>
              <a:lin ang="8100000" scaled="1"/>
              <a:tileRect/>
            </a:gradFill>
            <a:round/>
            <a:headEnd/>
            <a:tailEnd/>
          </a:ln>
          <a:effectLst/>
        </p:spPr>
        <p:txBody>
          <a:bodyPr vert="horz" wrap="none" lIns="0" tIns="0" rIns="71975" bIns="0" numCol="1" anchor="ctr" anchorCtr="0" compatLnSpc="1">
            <a:prstTxWarp prst="textNoShape">
              <a:avLst/>
            </a:prstTxWarp>
          </a:bodyPr>
          <a:lstStyle>
            <a:lvl1pPr>
              <a:defRPr lang="en-US" sz="1798" kern="1200">
                <a:solidFill>
                  <a:schemeClr val="bg1"/>
                </a:solidFill>
              </a:defRPr>
            </a:lvl1pPr>
          </a:lstStyle>
          <a:p>
            <a:pPr marL="0" lvl="0" defTabSz="914400" latinLnBrk="0"/>
            <a:endParaRPr lang="en-US"/>
          </a:p>
        </p:txBody>
      </p:sp>
      <p:sp>
        <p:nvSpPr>
          <p:cNvPr id="34" name="Content Placeholder 10">
            <a:extLst>
              <a:ext uri="{FF2B5EF4-FFF2-40B4-BE49-F238E27FC236}">
                <a16:creationId xmlns:a16="http://schemas.microsoft.com/office/drawing/2014/main" id="{77E42B6C-2AEA-4E04-FDA8-31224A12E5A4}"/>
              </a:ext>
            </a:extLst>
          </p:cNvPr>
          <p:cNvSpPr>
            <a:spLocks noGrp="1"/>
          </p:cNvSpPr>
          <p:nvPr>
            <p:ph sz="quarter" idx="25" hasCustomPrompt="1"/>
          </p:nvPr>
        </p:nvSpPr>
        <p:spPr>
          <a:xfrm>
            <a:off x="6200582" y="1731131"/>
            <a:ext cx="5308793" cy="1865098"/>
          </a:xfrm>
          <a:prstGeom prst="rect">
            <a:avLst/>
          </a:prstGeom>
        </p:spPr>
        <p:txBody>
          <a:bodyPr lIns="54864" tIns="54864" rIns="54864" bIns="54864"/>
          <a:lstStyle>
            <a:lvl2pPr>
              <a:defRPr sz="1200">
                <a:solidFill>
                  <a:schemeClr val="tx1"/>
                </a:solidFill>
                <a:latin typeface="+mn-lt"/>
              </a:defRPr>
            </a:lvl2pPr>
            <a:lvl4pPr marL="172722" indent="-16840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4pPr>
            <a:lvl5pPr marL="319537" indent="-14537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5pPr>
          </a:lstStyle>
          <a:p>
            <a:pPr lvl="3"/>
            <a:r>
              <a:rPr lang="en-US"/>
              <a:t>Fourth level</a:t>
            </a:r>
          </a:p>
          <a:p>
            <a:pPr lvl="4"/>
            <a:r>
              <a:rPr lang="en-US"/>
              <a:t>Fifth level</a:t>
            </a:r>
          </a:p>
        </p:txBody>
      </p:sp>
      <p:sp>
        <p:nvSpPr>
          <p:cNvPr id="35" name="Content Placeholder 10">
            <a:extLst>
              <a:ext uri="{FF2B5EF4-FFF2-40B4-BE49-F238E27FC236}">
                <a16:creationId xmlns:a16="http://schemas.microsoft.com/office/drawing/2014/main" id="{CDBFEF4F-F947-8643-4840-E4FBAB9DD8DB}"/>
              </a:ext>
            </a:extLst>
          </p:cNvPr>
          <p:cNvSpPr>
            <a:spLocks noGrp="1"/>
          </p:cNvSpPr>
          <p:nvPr>
            <p:ph sz="quarter" idx="26" hasCustomPrompt="1"/>
          </p:nvPr>
        </p:nvSpPr>
        <p:spPr>
          <a:xfrm>
            <a:off x="6200583" y="3949126"/>
            <a:ext cx="5308792" cy="2313991"/>
          </a:xfrm>
          <a:prstGeom prst="rect">
            <a:avLst/>
          </a:prstGeom>
        </p:spPr>
        <p:txBody>
          <a:bodyPr lIns="54864" tIns="54864" rIns="54864" bIns="54864"/>
          <a:lstStyle>
            <a:lvl2pPr>
              <a:defRPr sz="1200">
                <a:solidFill>
                  <a:schemeClr val="tx1"/>
                </a:solidFill>
                <a:latin typeface="+mn-lt"/>
              </a:defRPr>
            </a:lvl2pPr>
            <a:lvl4pPr marL="172722" indent="-16840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4pPr>
            <a:lvl5pPr marL="319537" indent="-14537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5pPr>
          </a:lstStyle>
          <a:p>
            <a:pPr lvl="3"/>
            <a:r>
              <a:rPr lang="en-US"/>
              <a:t>Fourth level</a:t>
            </a:r>
          </a:p>
          <a:p>
            <a:pPr lvl="4"/>
            <a:r>
              <a:rPr lang="en-US"/>
              <a:t>Fifth level</a:t>
            </a:r>
          </a:p>
        </p:txBody>
      </p:sp>
      <p:sp>
        <p:nvSpPr>
          <p:cNvPr id="36" name="Text Placeholder 654">
            <a:extLst>
              <a:ext uri="{FF2B5EF4-FFF2-40B4-BE49-F238E27FC236}">
                <a16:creationId xmlns:a16="http://schemas.microsoft.com/office/drawing/2014/main" id="{72E5315F-E67C-24AB-920F-8DD2D77DC343}"/>
              </a:ext>
            </a:extLst>
          </p:cNvPr>
          <p:cNvSpPr>
            <a:spLocks noGrp="1"/>
          </p:cNvSpPr>
          <p:nvPr>
            <p:ph type="body" sz="quarter" idx="27" hasCustomPrompt="1"/>
          </p:nvPr>
        </p:nvSpPr>
        <p:spPr>
          <a:xfrm>
            <a:off x="7454850" y="327051"/>
            <a:ext cx="3966107" cy="247236"/>
          </a:xfrm>
        </p:spPr>
        <p:txBody>
          <a:bodyPr/>
          <a:lstStyle>
            <a:lvl1pPr>
              <a:defRPr>
                <a:solidFill>
                  <a:srgbClr val="881739"/>
                </a:solidFill>
              </a:defRPr>
            </a:lvl1pPr>
            <a:lvl2pPr>
              <a:defRPr sz="1200" b="1">
                <a:solidFill>
                  <a:schemeClr val="tx1"/>
                </a:solidFill>
                <a:latin typeface="+mn-lt"/>
              </a:defRPr>
            </a:lvl2pPr>
            <a:lvl3pPr>
              <a:defRPr b="1">
                <a:solidFill>
                  <a:schemeClr val="tx1"/>
                </a:solidFill>
                <a:latin typeface="+mn-lt"/>
              </a:defRPr>
            </a:lvl3pPr>
            <a:lvl4pPr>
              <a:defRPr>
                <a:solidFill>
                  <a:srgbClr val="881739"/>
                </a:solidFill>
              </a:defRPr>
            </a:lvl4pPr>
            <a:lvl5pPr>
              <a:defRPr>
                <a:solidFill>
                  <a:srgbClr val="881739"/>
                </a:solidFill>
              </a:defRPr>
            </a:lvl5pPr>
          </a:lstStyle>
          <a:p>
            <a:pPr lvl="1"/>
            <a:r>
              <a:rPr lang="en-US"/>
              <a:t>Name</a:t>
            </a:r>
          </a:p>
        </p:txBody>
      </p:sp>
      <p:sp>
        <p:nvSpPr>
          <p:cNvPr id="37" name="Text Placeholder 656">
            <a:extLst>
              <a:ext uri="{FF2B5EF4-FFF2-40B4-BE49-F238E27FC236}">
                <a16:creationId xmlns:a16="http://schemas.microsoft.com/office/drawing/2014/main" id="{03F77AA6-BDFB-4230-4C2E-2A8B2BC1372D}"/>
              </a:ext>
            </a:extLst>
          </p:cNvPr>
          <p:cNvSpPr>
            <a:spLocks noGrp="1"/>
          </p:cNvSpPr>
          <p:nvPr>
            <p:ph type="body" sz="quarter" idx="28"/>
          </p:nvPr>
        </p:nvSpPr>
        <p:spPr>
          <a:xfrm>
            <a:off x="7454851" y="575224"/>
            <a:ext cx="3966109" cy="710651"/>
          </a:xfrm>
        </p:spPr>
        <p:txBody>
          <a:bodyPr/>
          <a:lstStyle>
            <a:lvl2pPr>
              <a:defRPr sz="1050">
                <a:solidFill>
                  <a:schemeClr val="tx1"/>
                </a:solidFill>
                <a:latin typeface="+mn-lt"/>
              </a:defRPr>
            </a:lvl2pPr>
          </a:lstStyle>
          <a:p>
            <a:pPr lvl="1"/>
            <a:endParaRPr lang="en-US"/>
          </a:p>
        </p:txBody>
      </p:sp>
      <p:sp>
        <p:nvSpPr>
          <p:cNvPr id="38" name="Rectangle: Rounded Corners 37">
            <a:extLst>
              <a:ext uri="{FF2B5EF4-FFF2-40B4-BE49-F238E27FC236}">
                <a16:creationId xmlns:a16="http://schemas.microsoft.com/office/drawing/2014/main" id="{2974A702-E76E-F5D0-8124-2D34E30E96A9}"/>
              </a:ext>
            </a:extLst>
          </p:cNvPr>
          <p:cNvSpPr/>
          <p:nvPr userDrawn="1"/>
        </p:nvSpPr>
        <p:spPr bwMode="auto">
          <a:xfrm>
            <a:off x="6211387" y="1443900"/>
            <a:ext cx="2381991" cy="291250"/>
          </a:xfrm>
          <a:prstGeom prst="roundRect">
            <a:avLst>
              <a:gd name="adj" fmla="val 50000"/>
            </a:avLst>
          </a:prstGeom>
          <a:solidFill>
            <a:srgbClr val="1A9AFA"/>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050" b="0" kern="0">
                <a:solidFill>
                  <a:schemeClr val="bg1"/>
                </a:solidFill>
                <a:latin typeface="EYInterstate Light"/>
                <a:cs typeface="Arial"/>
              </a:rPr>
              <a:t>Background</a:t>
            </a:r>
          </a:p>
        </p:txBody>
      </p:sp>
      <p:sp>
        <p:nvSpPr>
          <p:cNvPr id="39" name="Rectangle: Rounded Corners 38">
            <a:extLst>
              <a:ext uri="{FF2B5EF4-FFF2-40B4-BE49-F238E27FC236}">
                <a16:creationId xmlns:a16="http://schemas.microsoft.com/office/drawing/2014/main" id="{9491C100-990C-F720-48F4-27F6C2D18254}"/>
              </a:ext>
            </a:extLst>
          </p:cNvPr>
          <p:cNvSpPr/>
          <p:nvPr userDrawn="1"/>
        </p:nvSpPr>
        <p:spPr bwMode="auto">
          <a:xfrm>
            <a:off x="6211387" y="3659353"/>
            <a:ext cx="2381991" cy="291250"/>
          </a:xfrm>
          <a:prstGeom prst="roundRect">
            <a:avLst>
              <a:gd name="adj" fmla="val 50000"/>
            </a:avLst>
          </a:prstGeom>
          <a:solidFill>
            <a:srgbClr val="74748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050" b="0" kern="0">
                <a:solidFill>
                  <a:srgbClr val="FFFFFF"/>
                </a:solidFill>
                <a:latin typeface="EYInterstate Light"/>
                <a:cs typeface="Arial"/>
              </a:rPr>
              <a:t>Professional experience</a:t>
            </a:r>
          </a:p>
        </p:txBody>
      </p:sp>
      <p:sp>
        <p:nvSpPr>
          <p:cNvPr id="8" name="SmartArt Placeholder 11">
            <a:extLst>
              <a:ext uri="{FF2B5EF4-FFF2-40B4-BE49-F238E27FC236}">
                <a16:creationId xmlns:a16="http://schemas.microsoft.com/office/drawing/2014/main" id="{404E1437-A2A4-1A2E-CCB2-618462F10270}"/>
              </a:ext>
              <a:ext uri="{C183D7F6-B498-43B3-948B-1728B52AA6E4}">
                <adec:decorative xmlns:adec="http://schemas.microsoft.com/office/drawing/2017/decorative" val="1"/>
              </a:ext>
            </a:extLst>
          </p:cNvPr>
          <p:cNvSpPr txBox="1">
            <a:spLocks/>
          </p:cNvSpPr>
          <p:nvPr userDrawn="1"/>
        </p:nvSpPr>
        <p:spPr>
          <a:xfrm>
            <a:off x="0" y="1336849"/>
            <a:ext cx="12192000" cy="45719"/>
          </a:xfrm>
          <a:prstGeom prst="rect">
            <a:avLst/>
          </a:prstGeom>
          <a:solidFill>
            <a:srgbClr val="1A9AFA"/>
          </a:solidFill>
        </p:spPr>
        <p:txBody>
          <a:bodyPr vert="horz" lIns="0" tIns="0" rIns="0" bIns="0" rtlCol="0" anchor="t" anchorCtr="0">
            <a:noAutofit/>
          </a:bodyPr>
          <a:lstStyle>
            <a:lvl1pPr marL="0" indent="0" algn="l" defTabSz="914400" rtl="0" eaLnBrk="1" latinLnBrk="0" hangingPunct="1">
              <a:spcBef>
                <a:spcPts val="400"/>
              </a:spcBef>
              <a:spcAft>
                <a:spcPts val="400"/>
              </a:spcAft>
              <a:buClr>
                <a:schemeClr val="tx2"/>
              </a:buClr>
              <a:buSzPct val="100000"/>
              <a:buFont typeface="Wingdings" pitchFamily="2" charset="2"/>
              <a:buNone/>
              <a:defRPr lang="en-US" sz="800" kern="1200" dirty="0">
                <a:solidFill>
                  <a:schemeClr val="tx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tx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tx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tx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tx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tx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tx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tx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400"/>
              </a:spcBef>
              <a:spcAft>
                <a:spcPts val="400"/>
              </a:spcAft>
              <a:buClr>
                <a:srgbClr val="1A9AFA"/>
              </a:buClr>
              <a:buSzPct val="100000"/>
              <a:buFont typeface="Wingdings" pitchFamily="2" charset="2"/>
              <a:buNone/>
              <a:tabLst/>
              <a:defRPr/>
            </a:pPr>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spTree>
    <p:extLst>
      <p:ext uri="{BB962C8B-B14F-4D97-AF65-F5344CB8AC3E}">
        <p14:creationId xmlns:p14="http://schemas.microsoft.com/office/powerpoint/2010/main" val="1539465320"/>
      </p:ext>
    </p:extLst>
  </p:cSld>
  <p:clrMapOvr>
    <a:masterClrMapping/>
  </p:clrMapOvr>
  <p:extLst>
    <p:ext uri="{DCECCB84-F9BA-43D5-87BE-67443E8EF086}">
      <p15:sldGuideLst xmlns:p15="http://schemas.microsoft.com/office/powerpoint/2012/main">
        <p15:guide id="1" orient="horz" pos="242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CV layout">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2EB7836A-93B6-419C-85DC-89CBA86CD18D}"/>
              </a:ext>
            </a:extLst>
          </p:cNvPr>
          <p:cNvSpPr>
            <a:spLocks noGrp="1"/>
          </p:cNvSpPr>
          <p:nvPr>
            <p:ph type="title"/>
          </p:nvPr>
        </p:nvSpPr>
        <p:spPr>
          <a:xfrm>
            <a:off x="701366" y="273717"/>
            <a:ext cx="10789269" cy="792000"/>
          </a:xfrm>
        </p:spPr>
        <p:txBody>
          <a:bodyPr lIns="0"/>
          <a:lstStyle>
            <a:lvl1pPr>
              <a:defRPr>
                <a:solidFill>
                  <a:schemeClr val="tx1"/>
                </a:solidFill>
              </a:defRPr>
            </a:lvl1pPr>
          </a:lstStyle>
          <a:p>
            <a:r>
              <a:rPr lang="en-US"/>
              <a:t>Click to edit Master title style</a:t>
            </a:r>
          </a:p>
        </p:txBody>
      </p:sp>
      <p:sp>
        <p:nvSpPr>
          <p:cNvPr id="4" name="Rectangle: Rounded Corners 3">
            <a:extLst>
              <a:ext uri="{FF2B5EF4-FFF2-40B4-BE49-F238E27FC236}">
                <a16:creationId xmlns:a16="http://schemas.microsoft.com/office/drawing/2014/main" id="{AD15B116-E8C2-C409-9B8F-2FAC7D2A8D91}"/>
              </a:ext>
            </a:extLst>
          </p:cNvPr>
          <p:cNvSpPr/>
          <p:nvPr userDrawn="1"/>
        </p:nvSpPr>
        <p:spPr bwMode="auto">
          <a:xfrm>
            <a:off x="3545121" y="1285874"/>
            <a:ext cx="2381991" cy="291250"/>
          </a:xfrm>
          <a:prstGeom prst="roundRect">
            <a:avLst>
              <a:gd name="adj" fmla="val 50000"/>
            </a:avLst>
          </a:prstGeom>
          <a:solidFill>
            <a:srgbClr val="1A9AFA"/>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200" b="0" kern="0">
                <a:solidFill>
                  <a:schemeClr val="bg1"/>
                </a:solidFill>
                <a:latin typeface="EYInterstate Light"/>
                <a:cs typeface="Arial"/>
              </a:rPr>
              <a:t>Background</a:t>
            </a:r>
          </a:p>
        </p:txBody>
      </p:sp>
      <p:sp>
        <p:nvSpPr>
          <p:cNvPr id="5" name="Content Placeholder 10">
            <a:extLst>
              <a:ext uri="{FF2B5EF4-FFF2-40B4-BE49-F238E27FC236}">
                <a16:creationId xmlns:a16="http://schemas.microsoft.com/office/drawing/2014/main" id="{8BE108F9-5D60-6616-851B-47A6F1CC34A1}"/>
              </a:ext>
            </a:extLst>
          </p:cNvPr>
          <p:cNvSpPr>
            <a:spLocks noGrp="1"/>
          </p:cNvSpPr>
          <p:nvPr>
            <p:ph sz="quarter" idx="12"/>
          </p:nvPr>
        </p:nvSpPr>
        <p:spPr>
          <a:xfrm>
            <a:off x="3545122" y="1651635"/>
            <a:ext cx="7964253" cy="982131"/>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77A4695B-2575-450F-0B18-83C85E4B8CA8}"/>
              </a:ext>
            </a:extLst>
          </p:cNvPr>
          <p:cNvSpPr/>
          <p:nvPr userDrawn="1"/>
        </p:nvSpPr>
        <p:spPr bwMode="auto">
          <a:xfrm>
            <a:off x="690562" y="1285874"/>
            <a:ext cx="2603499" cy="4984751"/>
          </a:xfrm>
          <a:prstGeom prst="rect">
            <a:avLst/>
          </a:prstGeom>
          <a:solidFill>
            <a:srgbClr val="F2F2F2"/>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sp>
        <p:nvSpPr>
          <p:cNvPr id="7" name="Rectangle: Rounded Corners 6">
            <a:extLst>
              <a:ext uri="{FF2B5EF4-FFF2-40B4-BE49-F238E27FC236}">
                <a16:creationId xmlns:a16="http://schemas.microsoft.com/office/drawing/2014/main" id="{C682ED12-298F-33D0-0DBE-25034AABC306}"/>
              </a:ext>
            </a:extLst>
          </p:cNvPr>
          <p:cNvSpPr/>
          <p:nvPr userDrawn="1"/>
        </p:nvSpPr>
        <p:spPr bwMode="auto">
          <a:xfrm>
            <a:off x="3545121" y="2991654"/>
            <a:ext cx="2381991" cy="291250"/>
          </a:xfrm>
          <a:prstGeom prst="roundRect">
            <a:avLst>
              <a:gd name="adj" fmla="val 50000"/>
            </a:avLst>
          </a:prstGeom>
          <a:solidFill>
            <a:srgbClr val="74748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200" b="0" kern="0">
                <a:solidFill>
                  <a:srgbClr val="FFFFFF"/>
                </a:solidFill>
                <a:latin typeface="EYInterstate Light"/>
                <a:cs typeface="Arial"/>
              </a:rPr>
              <a:t>Approach</a:t>
            </a:r>
          </a:p>
        </p:txBody>
      </p:sp>
      <p:sp>
        <p:nvSpPr>
          <p:cNvPr id="8" name="Content Placeholder 10">
            <a:extLst>
              <a:ext uri="{FF2B5EF4-FFF2-40B4-BE49-F238E27FC236}">
                <a16:creationId xmlns:a16="http://schemas.microsoft.com/office/drawing/2014/main" id="{6EBC5B35-E426-5D9F-E3F8-44158E278E56}"/>
              </a:ext>
            </a:extLst>
          </p:cNvPr>
          <p:cNvSpPr>
            <a:spLocks noGrp="1"/>
          </p:cNvSpPr>
          <p:nvPr>
            <p:ph sz="quarter" idx="13"/>
          </p:nvPr>
        </p:nvSpPr>
        <p:spPr>
          <a:xfrm>
            <a:off x="3545122" y="3357416"/>
            <a:ext cx="3797171" cy="2913210"/>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Rounded Corners 8">
            <a:extLst>
              <a:ext uri="{FF2B5EF4-FFF2-40B4-BE49-F238E27FC236}">
                <a16:creationId xmlns:a16="http://schemas.microsoft.com/office/drawing/2014/main" id="{5C726504-4239-3433-D7DF-03E317F15E04}"/>
              </a:ext>
            </a:extLst>
          </p:cNvPr>
          <p:cNvSpPr/>
          <p:nvPr userDrawn="1"/>
        </p:nvSpPr>
        <p:spPr bwMode="auto">
          <a:xfrm>
            <a:off x="7712203" y="2991654"/>
            <a:ext cx="2381991" cy="291250"/>
          </a:xfrm>
          <a:prstGeom prst="roundRect">
            <a:avLst>
              <a:gd name="adj" fmla="val 50000"/>
            </a:avLst>
          </a:prstGeom>
          <a:solidFill>
            <a:srgbClr val="2E2E38"/>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200" b="0" kern="0">
                <a:solidFill>
                  <a:srgbClr val="FFFFFF"/>
                </a:solidFill>
                <a:latin typeface="EYInterstate Light"/>
                <a:cs typeface="Arial"/>
              </a:rPr>
              <a:t>Results</a:t>
            </a:r>
          </a:p>
        </p:txBody>
      </p:sp>
      <p:sp>
        <p:nvSpPr>
          <p:cNvPr id="10" name="Content Placeholder 10">
            <a:extLst>
              <a:ext uri="{FF2B5EF4-FFF2-40B4-BE49-F238E27FC236}">
                <a16:creationId xmlns:a16="http://schemas.microsoft.com/office/drawing/2014/main" id="{4401F698-5E28-8E6A-E62F-D043565845BE}"/>
              </a:ext>
            </a:extLst>
          </p:cNvPr>
          <p:cNvSpPr>
            <a:spLocks noGrp="1"/>
          </p:cNvSpPr>
          <p:nvPr>
            <p:ph sz="quarter" idx="14"/>
          </p:nvPr>
        </p:nvSpPr>
        <p:spPr>
          <a:xfrm>
            <a:off x="7712204" y="3357416"/>
            <a:ext cx="3797171" cy="2913210"/>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martArt Placeholder 11">
            <a:extLst>
              <a:ext uri="{FF2B5EF4-FFF2-40B4-BE49-F238E27FC236}">
                <a16:creationId xmlns:a16="http://schemas.microsoft.com/office/drawing/2014/main" id="{FDD31081-CF04-CAE5-44F4-741ADD368448}"/>
              </a:ext>
              <a:ext uri="{C183D7F6-B498-43B3-948B-1728B52AA6E4}">
                <adec:decorative xmlns:adec="http://schemas.microsoft.com/office/drawing/2017/decorative" val="1"/>
              </a:ext>
            </a:extLst>
          </p:cNvPr>
          <p:cNvSpPr txBox="1">
            <a:spLocks/>
          </p:cNvSpPr>
          <p:nvPr userDrawn="1"/>
        </p:nvSpPr>
        <p:spPr>
          <a:xfrm>
            <a:off x="701366" y="1093193"/>
            <a:ext cx="10789920" cy="36000"/>
          </a:xfrm>
          <a:prstGeom prst="rect">
            <a:avLst/>
          </a:prstGeom>
          <a:solidFill>
            <a:srgbClr val="1A9AFA"/>
          </a:solidFill>
        </p:spPr>
        <p:txBody>
          <a:bodyPr vert="horz" lIns="0" tIns="0" rIns="0" bIns="0" rtlCol="0" anchor="t" anchorCtr="0">
            <a:noAutofit/>
          </a:bodyPr>
          <a:lstStyle>
            <a:lvl1pPr marL="0" indent="0" algn="l" defTabSz="914400" rtl="0" eaLnBrk="1" latinLnBrk="0" hangingPunct="1">
              <a:spcBef>
                <a:spcPts val="400"/>
              </a:spcBef>
              <a:spcAft>
                <a:spcPts val="400"/>
              </a:spcAft>
              <a:buClr>
                <a:schemeClr val="tx2"/>
              </a:buClr>
              <a:buSzPct val="100000"/>
              <a:buFont typeface="Wingdings" pitchFamily="2" charset="2"/>
              <a:buNone/>
              <a:defRPr lang="en-US" sz="800" kern="1200" dirty="0">
                <a:solidFill>
                  <a:schemeClr val="tx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tx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tx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tx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tx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tx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tx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tx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400"/>
              </a:spcBef>
              <a:spcAft>
                <a:spcPts val="400"/>
              </a:spcAft>
              <a:buClr>
                <a:srgbClr val="1A9AFA"/>
              </a:buClr>
              <a:buSzPct val="100000"/>
              <a:buFont typeface="Wingdings" pitchFamily="2" charset="2"/>
              <a:buNone/>
              <a:tabLst/>
              <a:defRPr/>
            </a:pPr>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spTree>
    <p:extLst>
      <p:ext uri="{BB962C8B-B14F-4D97-AF65-F5344CB8AC3E}">
        <p14:creationId xmlns:p14="http://schemas.microsoft.com/office/powerpoint/2010/main" val="639791896"/>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V layout">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2EB7836A-93B6-419C-85DC-89CBA86CD18D}"/>
              </a:ext>
            </a:extLst>
          </p:cNvPr>
          <p:cNvSpPr>
            <a:spLocks noGrp="1"/>
          </p:cNvSpPr>
          <p:nvPr>
            <p:ph type="title"/>
          </p:nvPr>
        </p:nvSpPr>
        <p:spPr>
          <a:xfrm>
            <a:off x="701366" y="273717"/>
            <a:ext cx="10789269" cy="792000"/>
          </a:xfrm>
        </p:spPr>
        <p:txBody>
          <a:bodyPr lIns="0"/>
          <a:lstStyle>
            <a:lvl1pPr>
              <a:defRPr>
                <a:solidFill>
                  <a:schemeClr val="tx1"/>
                </a:solidFill>
              </a:defRPr>
            </a:lvl1pPr>
          </a:lstStyle>
          <a:p>
            <a:r>
              <a:rPr lang="en-US"/>
              <a:t>Click to edit Master title style</a:t>
            </a:r>
          </a:p>
        </p:txBody>
      </p:sp>
      <p:sp>
        <p:nvSpPr>
          <p:cNvPr id="4" name="Rectangle: Rounded Corners 3">
            <a:extLst>
              <a:ext uri="{FF2B5EF4-FFF2-40B4-BE49-F238E27FC236}">
                <a16:creationId xmlns:a16="http://schemas.microsoft.com/office/drawing/2014/main" id="{AD15B116-E8C2-C409-9B8F-2FAC7D2A8D91}"/>
              </a:ext>
            </a:extLst>
          </p:cNvPr>
          <p:cNvSpPr/>
          <p:nvPr userDrawn="1"/>
        </p:nvSpPr>
        <p:spPr bwMode="auto">
          <a:xfrm>
            <a:off x="701366" y="1285873"/>
            <a:ext cx="2615408" cy="500401"/>
          </a:xfrm>
          <a:prstGeom prst="roundRect">
            <a:avLst>
              <a:gd name="adj" fmla="val 29814"/>
            </a:avLst>
          </a:prstGeom>
          <a:solidFill>
            <a:srgbClr val="1A9AFA"/>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endParaRPr lang="en-US" sz="1200" b="0" kern="0">
              <a:solidFill>
                <a:schemeClr val="tx1"/>
              </a:solidFill>
              <a:latin typeface="EYInterstate Light"/>
              <a:cs typeface="Arial"/>
            </a:endParaRPr>
          </a:p>
        </p:txBody>
      </p:sp>
      <p:sp>
        <p:nvSpPr>
          <p:cNvPr id="5" name="Content Placeholder 10">
            <a:extLst>
              <a:ext uri="{FF2B5EF4-FFF2-40B4-BE49-F238E27FC236}">
                <a16:creationId xmlns:a16="http://schemas.microsoft.com/office/drawing/2014/main" id="{8BE108F9-5D60-6616-851B-47A6F1CC34A1}"/>
              </a:ext>
            </a:extLst>
          </p:cNvPr>
          <p:cNvSpPr>
            <a:spLocks noGrp="1"/>
          </p:cNvSpPr>
          <p:nvPr>
            <p:ph sz="quarter" idx="12"/>
          </p:nvPr>
        </p:nvSpPr>
        <p:spPr>
          <a:xfrm>
            <a:off x="701367" y="1844749"/>
            <a:ext cx="2615408" cy="3927401"/>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C4D429CA-0C6A-5683-BF2A-BC3D4236C53F}"/>
              </a:ext>
            </a:extLst>
          </p:cNvPr>
          <p:cNvSpPr/>
          <p:nvPr userDrawn="1"/>
        </p:nvSpPr>
        <p:spPr bwMode="auto">
          <a:xfrm>
            <a:off x="8875225" y="5809361"/>
            <a:ext cx="2634148" cy="500400"/>
          </a:xfrm>
          <a:prstGeom prst="rect">
            <a:avLst/>
          </a:prstGeom>
          <a:solidFill>
            <a:schemeClr val="accent3">
              <a:lumMod val="95000"/>
            </a:schemeClr>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R="0" lvl="0" indent="0" algn="ctr" defTabSz="995363" fontAlgn="auto">
              <a:lnSpc>
                <a:spcPct val="100000"/>
              </a:lnSpc>
              <a:spcBef>
                <a:spcPts val="0"/>
              </a:spcBef>
              <a:spcAft>
                <a:spcPts val="0"/>
              </a:spcAft>
              <a:buClrTx/>
              <a:buSzTx/>
              <a:buFontTx/>
              <a:buNone/>
              <a:tabLst/>
            </a:pPr>
            <a:endParaRPr kumimoji="0" lang="en-US" b="1" i="0" u="none" strike="noStrike" cap="none" spc="0" normalizeH="0" baseline="0">
              <a:ln>
                <a:noFill/>
              </a:ln>
              <a:solidFill>
                <a:srgbClr val="000000"/>
              </a:solidFill>
              <a:effectLst/>
              <a:uLnTx/>
              <a:uFillTx/>
              <a:latin typeface="EYInterstate Light"/>
              <a:cs typeface="Calibri Light"/>
            </a:endParaRPr>
          </a:p>
        </p:txBody>
      </p:sp>
      <p:sp>
        <p:nvSpPr>
          <p:cNvPr id="13" name="Content Placeholder 10">
            <a:extLst>
              <a:ext uri="{FF2B5EF4-FFF2-40B4-BE49-F238E27FC236}">
                <a16:creationId xmlns:a16="http://schemas.microsoft.com/office/drawing/2014/main" id="{09EF1EED-1F1A-497B-643B-08B717C8E483}"/>
              </a:ext>
            </a:extLst>
          </p:cNvPr>
          <p:cNvSpPr>
            <a:spLocks noGrp="1"/>
          </p:cNvSpPr>
          <p:nvPr userDrawn="1">
            <p:ph sz="quarter" idx="13"/>
          </p:nvPr>
        </p:nvSpPr>
        <p:spPr>
          <a:xfrm>
            <a:off x="3432233" y="1844749"/>
            <a:ext cx="2615408" cy="3927401"/>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0">
            <a:extLst>
              <a:ext uri="{FF2B5EF4-FFF2-40B4-BE49-F238E27FC236}">
                <a16:creationId xmlns:a16="http://schemas.microsoft.com/office/drawing/2014/main" id="{8732BA7D-E368-34AB-60B0-842A51037EFA}"/>
              </a:ext>
            </a:extLst>
          </p:cNvPr>
          <p:cNvSpPr>
            <a:spLocks noGrp="1"/>
          </p:cNvSpPr>
          <p:nvPr userDrawn="1">
            <p:ph sz="quarter" idx="14"/>
          </p:nvPr>
        </p:nvSpPr>
        <p:spPr>
          <a:xfrm>
            <a:off x="6163099" y="1844749"/>
            <a:ext cx="2615408" cy="3927401"/>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10">
            <a:extLst>
              <a:ext uri="{FF2B5EF4-FFF2-40B4-BE49-F238E27FC236}">
                <a16:creationId xmlns:a16="http://schemas.microsoft.com/office/drawing/2014/main" id="{796FAD0B-5E65-4107-52A6-0CE97C41EBA4}"/>
              </a:ext>
            </a:extLst>
          </p:cNvPr>
          <p:cNvSpPr>
            <a:spLocks noGrp="1"/>
          </p:cNvSpPr>
          <p:nvPr userDrawn="1">
            <p:ph sz="quarter" idx="15"/>
          </p:nvPr>
        </p:nvSpPr>
        <p:spPr>
          <a:xfrm>
            <a:off x="8875225" y="1844749"/>
            <a:ext cx="2615408" cy="3927401"/>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Rectangle 16">
            <a:extLst>
              <a:ext uri="{FF2B5EF4-FFF2-40B4-BE49-F238E27FC236}">
                <a16:creationId xmlns:a16="http://schemas.microsoft.com/office/drawing/2014/main" id="{FACCAF4A-DD54-4A87-5178-3C9403D0676F}"/>
              </a:ext>
            </a:extLst>
          </p:cNvPr>
          <p:cNvSpPr/>
          <p:nvPr userDrawn="1"/>
        </p:nvSpPr>
        <p:spPr bwMode="auto">
          <a:xfrm>
            <a:off x="6163099" y="5809361"/>
            <a:ext cx="2634148" cy="500400"/>
          </a:xfrm>
          <a:prstGeom prst="rect">
            <a:avLst/>
          </a:prstGeom>
          <a:solidFill>
            <a:schemeClr val="accent3">
              <a:lumMod val="95000"/>
            </a:schemeClr>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R="0" lvl="0" indent="0" algn="ctr" defTabSz="995363" fontAlgn="auto">
              <a:lnSpc>
                <a:spcPct val="100000"/>
              </a:lnSpc>
              <a:spcBef>
                <a:spcPts val="0"/>
              </a:spcBef>
              <a:spcAft>
                <a:spcPts val="0"/>
              </a:spcAft>
              <a:buClrTx/>
              <a:buSzTx/>
              <a:buFontTx/>
              <a:buNone/>
              <a:tabLst/>
            </a:pPr>
            <a:endParaRPr kumimoji="0" lang="en-US" b="1" i="0" u="none" strike="noStrike" cap="none" spc="0" normalizeH="0" baseline="0">
              <a:ln>
                <a:noFill/>
              </a:ln>
              <a:solidFill>
                <a:srgbClr val="000000"/>
              </a:solidFill>
              <a:effectLst/>
              <a:uLnTx/>
              <a:uFillTx/>
              <a:latin typeface="EYInterstate Light"/>
              <a:cs typeface="Calibri Light"/>
            </a:endParaRPr>
          </a:p>
        </p:txBody>
      </p:sp>
      <p:sp>
        <p:nvSpPr>
          <p:cNvPr id="19" name="Rectangle 18">
            <a:extLst>
              <a:ext uri="{FF2B5EF4-FFF2-40B4-BE49-F238E27FC236}">
                <a16:creationId xmlns:a16="http://schemas.microsoft.com/office/drawing/2014/main" id="{A14B3AD4-0FE1-2C83-CB90-BC70960D7BC7}"/>
              </a:ext>
            </a:extLst>
          </p:cNvPr>
          <p:cNvSpPr/>
          <p:nvPr userDrawn="1"/>
        </p:nvSpPr>
        <p:spPr bwMode="auto">
          <a:xfrm>
            <a:off x="3432233" y="5809361"/>
            <a:ext cx="2634148" cy="500400"/>
          </a:xfrm>
          <a:prstGeom prst="rect">
            <a:avLst/>
          </a:prstGeom>
          <a:solidFill>
            <a:schemeClr val="accent3">
              <a:lumMod val="95000"/>
            </a:schemeClr>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R="0" lvl="0" indent="0" algn="ctr" defTabSz="995363" fontAlgn="auto">
              <a:lnSpc>
                <a:spcPct val="100000"/>
              </a:lnSpc>
              <a:spcBef>
                <a:spcPts val="0"/>
              </a:spcBef>
              <a:spcAft>
                <a:spcPts val="0"/>
              </a:spcAft>
              <a:buClrTx/>
              <a:buSzTx/>
              <a:buFontTx/>
              <a:buNone/>
              <a:tabLst/>
            </a:pPr>
            <a:endParaRPr kumimoji="0" lang="en-US" b="1" i="0" u="none" strike="noStrike" cap="none" spc="0" normalizeH="0" baseline="0">
              <a:ln>
                <a:noFill/>
              </a:ln>
              <a:solidFill>
                <a:srgbClr val="000000"/>
              </a:solidFill>
              <a:effectLst/>
              <a:uLnTx/>
              <a:uFillTx/>
              <a:latin typeface="EYInterstate Light"/>
              <a:cs typeface="Calibri Light"/>
            </a:endParaRPr>
          </a:p>
        </p:txBody>
      </p:sp>
      <p:sp>
        <p:nvSpPr>
          <p:cNvPr id="20" name="Rectangle 19">
            <a:extLst>
              <a:ext uri="{FF2B5EF4-FFF2-40B4-BE49-F238E27FC236}">
                <a16:creationId xmlns:a16="http://schemas.microsoft.com/office/drawing/2014/main" id="{6CE4C0A8-07D1-6B8D-994A-FC3181E77E6D}"/>
              </a:ext>
            </a:extLst>
          </p:cNvPr>
          <p:cNvSpPr/>
          <p:nvPr userDrawn="1"/>
        </p:nvSpPr>
        <p:spPr bwMode="auto">
          <a:xfrm>
            <a:off x="701367" y="5809361"/>
            <a:ext cx="2634148" cy="500400"/>
          </a:xfrm>
          <a:prstGeom prst="rect">
            <a:avLst/>
          </a:prstGeom>
          <a:solidFill>
            <a:schemeClr val="accent3">
              <a:lumMod val="95000"/>
            </a:schemeClr>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R="0" lvl="0" indent="0" algn="ctr" defTabSz="995363" fontAlgn="auto">
              <a:lnSpc>
                <a:spcPct val="100000"/>
              </a:lnSpc>
              <a:spcBef>
                <a:spcPts val="0"/>
              </a:spcBef>
              <a:spcAft>
                <a:spcPts val="0"/>
              </a:spcAft>
              <a:buClrTx/>
              <a:buSzTx/>
              <a:buFontTx/>
              <a:buNone/>
              <a:tabLst/>
            </a:pPr>
            <a:endParaRPr kumimoji="0" lang="en-US" b="1" i="0" u="none" strike="noStrike" cap="none" spc="0" normalizeH="0" baseline="0">
              <a:ln>
                <a:noFill/>
              </a:ln>
              <a:solidFill>
                <a:srgbClr val="000000"/>
              </a:solidFill>
              <a:effectLst/>
              <a:uLnTx/>
              <a:uFillTx/>
              <a:latin typeface="EYInterstate Light"/>
              <a:cs typeface="Calibri Light"/>
            </a:endParaRPr>
          </a:p>
        </p:txBody>
      </p:sp>
      <p:sp>
        <p:nvSpPr>
          <p:cNvPr id="21" name="Rectangle: Rounded Corners 20">
            <a:extLst>
              <a:ext uri="{FF2B5EF4-FFF2-40B4-BE49-F238E27FC236}">
                <a16:creationId xmlns:a16="http://schemas.microsoft.com/office/drawing/2014/main" id="{7BB00E6F-EFE4-ED9E-2CD4-2CDDF6179EE2}"/>
              </a:ext>
            </a:extLst>
          </p:cNvPr>
          <p:cNvSpPr/>
          <p:nvPr userDrawn="1"/>
        </p:nvSpPr>
        <p:spPr bwMode="auto">
          <a:xfrm>
            <a:off x="3432233" y="1285873"/>
            <a:ext cx="2615408" cy="500401"/>
          </a:xfrm>
          <a:prstGeom prst="roundRect">
            <a:avLst>
              <a:gd name="adj" fmla="val 29814"/>
            </a:avLst>
          </a:prstGeom>
          <a:solidFill>
            <a:srgbClr val="1A9AFA"/>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endParaRPr lang="en-US" sz="1200" b="0" kern="0">
              <a:solidFill>
                <a:schemeClr val="tx1"/>
              </a:solidFill>
              <a:latin typeface="EYInterstate Light"/>
              <a:cs typeface="Arial"/>
            </a:endParaRPr>
          </a:p>
        </p:txBody>
      </p:sp>
      <p:sp>
        <p:nvSpPr>
          <p:cNvPr id="22" name="Rectangle: Rounded Corners 21">
            <a:extLst>
              <a:ext uri="{FF2B5EF4-FFF2-40B4-BE49-F238E27FC236}">
                <a16:creationId xmlns:a16="http://schemas.microsoft.com/office/drawing/2014/main" id="{9AA2A2DA-DD74-970B-87D7-286555FFCF01}"/>
              </a:ext>
            </a:extLst>
          </p:cNvPr>
          <p:cNvSpPr/>
          <p:nvPr userDrawn="1"/>
        </p:nvSpPr>
        <p:spPr bwMode="auto">
          <a:xfrm>
            <a:off x="6163099" y="1285873"/>
            <a:ext cx="2615408" cy="500401"/>
          </a:xfrm>
          <a:prstGeom prst="roundRect">
            <a:avLst>
              <a:gd name="adj" fmla="val 29814"/>
            </a:avLst>
          </a:prstGeom>
          <a:solidFill>
            <a:srgbClr val="1A9AFA"/>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endParaRPr lang="en-US" sz="1200" b="0" kern="0">
              <a:solidFill>
                <a:schemeClr val="tx1"/>
              </a:solidFill>
              <a:latin typeface="EYInterstate Light"/>
              <a:cs typeface="Arial"/>
            </a:endParaRPr>
          </a:p>
        </p:txBody>
      </p:sp>
      <p:sp>
        <p:nvSpPr>
          <p:cNvPr id="23" name="Rectangle: Rounded Corners 22">
            <a:extLst>
              <a:ext uri="{FF2B5EF4-FFF2-40B4-BE49-F238E27FC236}">
                <a16:creationId xmlns:a16="http://schemas.microsoft.com/office/drawing/2014/main" id="{D05503D5-B6D3-EDF1-199D-F5B7C9B4166F}"/>
              </a:ext>
            </a:extLst>
          </p:cNvPr>
          <p:cNvSpPr/>
          <p:nvPr userDrawn="1"/>
        </p:nvSpPr>
        <p:spPr bwMode="auto">
          <a:xfrm>
            <a:off x="8875225" y="1285873"/>
            <a:ext cx="2615408" cy="500401"/>
          </a:xfrm>
          <a:prstGeom prst="roundRect">
            <a:avLst>
              <a:gd name="adj" fmla="val 29814"/>
            </a:avLst>
          </a:prstGeom>
          <a:solidFill>
            <a:srgbClr val="1A9AFA"/>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endParaRPr lang="en-US" sz="1200" b="0" kern="0">
              <a:solidFill>
                <a:schemeClr val="tx1"/>
              </a:solidFill>
              <a:latin typeface="EYInterstate Light"/>
              <a:cs typeface="Arial"/>
            </a:endParaRPr>
          </a:p>
        </p:txBody>
      </p:sp>
      <p:sp>
        <p:nvSpPr>
          <p:cNvPr id="2" name="SmartArt Placeholder 11">
            <a:extLst>
              <a:ext uri="{FF2B5EF4-FFF2-40B4-BE49-F238E27FC236}">
                <a16:creationId xmlns:a16="http://schemas.microsoft.com/office/drawing/2014/main" id="{0F91EC6E-6B3C-5F2E-686C-8AD3276C5837}"/>
              </a:ext>
              <a:ext uri="{C183D7F6-B498-43B3-948B-1728B52AA6E4}">
                <adec:decorative xmlns:adec="http://schemas.microsoft.com/office/drawing/2017/decorative" val="1"/>
              </a:ext>
            </a:extLst>
          </p:cNvPr>
          <p:cNvSpPr txBox="1">
            <a:spLocks/>
          </p:cNvSpPr>
          <p:nvPr userDrawn="1"/>
        </p:nvSpPr>
        <p:spPr>
          <a:xfrm>
            <a:off x="701366" y="1093193"/>
            <a:ext cx="10789920" cy="36000"/>
          </a:xfrm>
          <a:prstGeom prst="rect">
            <a:avLst/>
          </a:prstGeom>
          <a:solidFill>
            <a:srgbClr val="1A9AFA"/>
          </a:solidFill>
        </p:spPr>
        <p:txBody>
          <a:bodyPr vert="horz" lIns="0" tIns="0" rIns="0" bIns="0" rtlCol="0" anchor="t" anchorCtr="0">
            <a:noAutofit/>
          </a:bodyPr>
          <a:lstStyle>
            <a:lvl1pPr marL="0" indent="0" algn="l" defTabSz="914400" rtl="0" eaLnBrk="1" latinLnBrk="0" hangingPunct="1">
              <a:spcBef>
                <a:spcPts val="400"/>
              </a:spcBef>
              <a:spcAft>
                <a:spcPts val="400"/>
              </a:spcAft>
              <a:buClr>
                <a:schemeClr val="tx2"/>
              </a:buClr>
              <a:buSzPct val="100000"/>
              <a:buFont typeface="Wingdings" pitchFamily="2" charset="2"/>
              <a:buNone/>
              <a:defRPr lang="en-US" sz="800" kern="1200" dirty="0">
                <a:solidFill>
                  <a:schemeClr val="tx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tx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tx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tx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tx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tx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tx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tx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400"/>
              </a:spcBef>
              <a:spcAft>
                <a:spcPts val="400"/>
              </a:spcAft>
              <a:buClr>
                <a:srgbClr val="1A9AFA"/>
              </a:buClr>
              <a:buSzPct val="100000"/>
              <a:buFont typeface="Wingdings" pitchFamily="2" charset="2"/>
              <a:buNone/>
              <a:tabLst/>
              <a:defRPr/>
            </a:pPr>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spTree>
    <p:extLst>
      <p:ext uri="{BB962C8B-B14F-4D97-AF65-F5344CB8AC3E}">
        <p14:creationId xmlns:p14="http://schemas.microsoft.com/office/powerpoint/2010/main" val="3498778687"/>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Boilerplate">
    <p:spTree>
      <p:nvGrpSpPr>
        <p:cNvPr id="1" name=""/>
        <p:cNvGrpSpPr/>
        <p:nvPr/>
      </p:nvGrpSpPr>
      <p:grpSpPr>
        <a:xfrm>
          <a:off x="0" y="0"/>
          <a:ext cx="0" cy="0"/>
          <a:chOff x="0" y="0"/>
          <a:chExt cx="0" cy="0"/>
        </a:xfrm>
      </p:grpSpPr>
      <p:pic>
        <p:nvPicPr>
          <p:cNvPr id="12" name="Content Placeholder 3">
            <a:extLst>
              <a:ext uri="{FF2B5EF4-FFF2-40B4-BE49-F238E27FC236}">
                <a16:creationId xmlns:a16="http://schemas.microsoft.com/office/drawing/2014/main" id="{C399FDFE-B722-4788-9846-6D0513D1A9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19355"/>
            <a:ext cx="12195204" cy="6898511"/>
          </a:xfrm>
          <a:prstGeom prst="rect">
            <a:avLst/>
          </a:prstGeom>
        </p:spPr>
      </p:pic>
      <p:sp>
        <p:nvSpPr>
          <p:cNvPr id="2" name="Rectangle 1">
            <a:extLst>
              <a:ext uri="{FF2B5EF4-FFF2-40B4-BE49-F238E27FC236}">
                <a16:creationId xmlns:a16="http://schemas.microsoft.com/office/drawing/2014/main" id="{5D7333A3-945C-496C-A261-B5F3C7EE89B8}"/>
              </a:ext>
            </a:extLst>
          </p:cNvPr>
          <p:cNvSpPr/>
          <p:nvPr userDrawn="1"/>
        </p:nvSpPr>
        <p:spPr bwMode="auto">
          <a:xfrm>
            <a:off x="1" y="-19355"/>
            <a:ext cx="12191998" cy="6877355"/>
          </a:xfrm>
          <a:prstGeom prst="rect">
            <a:avLst/>
          </a:prstGeom>
          <a:gradFill flip="none" rotWithShape="1">
            <a:gsLst>
              <a:gs pos="0">
                <a:schemeClr val="tx2">
                  <a:alpha val="0"/>
                </a:schemeClr>
              </a:gs>
              <a:gs pos="89000">
                <a:schemeClr val="tx2"/>
              </a:gs>
            </a:gsLst>
            <a:lin ang="10800000" scaled="1"/>
            <a:tileRect/>
          </a:gra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sp>
        <p:nvSpPr>
          <p:cNvPr id="4" name="Text Box 5">
            <a:extLst>
              <a:ext uri="{FF2B5EF4-FFF2-40B4-BE49-F238E27FC236}">
                <a16:creationId xmlns:a16="http://schemas.microsoft.com/office/drawing/2014/main" id="{27355EC7-E889-9C7C-5FA8-0A8B1DAF66BC}"/>
              </a:ext>
            </a:extLst>
          </p:cNvPr>
          <p:cNvSpPr txBox="1">
            <a:spLocks noChangeArrowheads="1"/>
          </p:cNvSpPr>
          <p:nvPr userDrawn="1"/>
        </p:nvSpPr>
        <p:spPr bwMode="auto">
          <a:xfrm>
            <a:off x="685800" y="672703"/>
            <a:ext cx="4293962" cy="5512593"/>
          </a:xfrm>
          <a:prstGeom prst="rect">
            <a:avLst/>
          </a:prstGeom>
          <a:noFill/>
          <a:ln>
            <a:noFill/>
          </a:ln>
        </p:spPr>
        <p:txBody>
          <a:bodyPr vert="horz" wrap="square" lIns="0" tIns="0" rIns="0" bIns="0" numCol="1" anchor="t" anchorCtr="0" compatLnSpc="1">
            <a:prstTxWarp prst="textNoShape">
              <a:avLst/>
            </a:prstTxWarp>
          </a:bodyPr>
          <a:lstStyle/>
          <a:p>
            <a:pPr defTabSz="914400" fontAlgn="base">
              <a:spcBef>
                <a:spcPct val="0"/>
              </a:spcBef>
              <a:spcAft>
                <a:spcPts val="1200"/>
              </a:spcAft>
            </a:pPr>
            <a:r>
              <a:rPr lang="en-US" sz="1000" dirty="0">
                <a:solidFill>
                  <a:schemeClr val="bg1"/>
                </a:solidFill>
                <a:ea typeface="Calibri" panose="020F0502020204030204" pitchFamily="34" charset="0"/>
                <a:cs typeface="Arial" panose="020B0604020202020204" pitchFamily="34" charset="0"/>
              </a:rPr>
              <a:t>  |   Building a better working world</a:t>
            </a:r>
          </a:p>
          <a:p>
            <a:pPr defTabSz="914400" fontAlgn="base">
              <a:spcBef>
                <a:spcPct val="0"/>
              </a:spcBef>
              <a:spcAft>
                <a:spcPts val="1200"/>
              </a:spcAft>
            </a:pPr>
            <a:r>
              <a:rPr lang="en-US" sz="800" dirty="0">
                <a:solidFill>
                  <a:schemeClr val="bg1"/>
                </a:solidFill>
                <a:ea typeface="Calibri" panose="020F0502020204030204" pitchFamily="34" charset="0"/>
                <a:cs typeface="Arial" panose="020B0604020202020204" pitchFamily="34" charset="0"/>
              </a:rPr>
              <a:t> is building a better working world by creating new value for clients, people, society and the planet, while building trust in capital markets.</a:t>
            </a:r>
          </a:p>
          <a:p>
            <a:pPr defTabSz="914400" fontAlgn="base">
              <a:spcBef>
                <a:spcPct val="0"/>
              </a:spcBef>
              <a:spcAft>
                <a:spcPts val="1200"/>
              </a:spcAft>
            </a:pPr>
            <a:r>
              <a:rPr lang="en-US" sz="800" dirty="0">
                <a:solidFill>
                  <a:schemeClr val="bg1"/>
                </a:solidFill>
                <a:ea typeface="Calibri" panose="020F0502020204030204" pitchFamily="34" charset="0"/>
                <a:cs typeface="Arial" panose="020B0604020202020204" pitchFamily="34" charset="0"/>
              </a:rPr>
              <a:t>Enabled by data, AI and advanced technology,  teams help clients shape the future with confidence and develop answers for the most pressing issues of today and tomorrow. </a:t>
            </a:r>
          </a:p>
          <a:p>
            <a:pPr defTabSz="914400" fontAlgn="base">
              <a:spcBef>
                <a:spcPct val="0"/>
              </a:spcBef>
              <a:spcAft>
                <a:spcPts val="1200"/>
              </a:spcAft>
            </a:pPr>
            <a:r>
              <a:rPr lang="en-US" sz="800" dirty="0">
                <a:solidFill>
                  <a:schemeClr val="bg1"/>
                </a:solidFill>
                <a:ea typeface="Calibri" panose="020F0502020204030204" pitchFamily="34" charset="0"/>
                <a:cs typeface="Arial" panose="020B0604020202020204" pitchFamily="34" charset="0"/>
              </a:rPr>
              <a:t> teams work across a full spectrum of services in assurance, consulting, tax, strategy and transactions. </a:t>
            </a:r>
            <a:r>
              <a:rPr lang="en-US" sz="800" dirty="0" err="1">
                <a:solidFill>
                  <a:schemeClr val="bg1"/>
                </a:solidFill>
                <a:ea typeface="Calibri" panose="020F0502020204030204" pitchFamily="34" charset="0"/>
                <a:cs typeface="Arial" panose="020B0604020202020204" pitchFamily="34" charset="0"/>
              </a:rPr>
              <a:t>Fuelled</a:t>
            </a:r>
            <a:r>
              <a:rPr lang="en-US" sz="800" dirty="0">
                <a:solidFill>
                  <a:schemeClr val="bg1"/>
                </a:solidFill>
                <a:ea typeface="Calibri" panose="020F0502020204030204" pitchFamily="34" charset="0"/>
                <a:cs typeface="Arial" panose="020B0604020202020204" pitchFamily="34" charset="0"/>
              </a:rPr>
              <a:t> by sector insights, a globally connected, multi-disciplinary network and diverse ecosystem partners,  teams can provide services in more than 150 countries and territories.</a:t>
            </a:r>
          </a:p>
          <a:p>
            <a:pPr defTabSz="914400" fontAlgn="base">
              <a:spcBef>
                <a:spcPct val="0"/>
              </a:spcBef>
              <a:spcAft>
                <a:spcPts val="1200"/>
              </a:spcAft>
            </a:pPr>
            <a:r>
              <a:rPr lang="en-US" sz="800" dirty="0">
                <a:solidFill>
                  <a:schemeClr val="bg1"/>
                </a:solidFill>
                <a:ea typeface="Calibri" panose="020F0502020204030204" pitchFamily="34" charset="0"/>
                <a:cs typeface="Arial" panose="020B0604020202020204" pitchFamily="34" charset="0"/>
              </a:rPr>
              <a:t>All in to shape the future with confidence. </a:t>
            </a:r>
          </a:p>
          <a:p>
            <a:pPr defTabSz="914400" fontAlgn="base">
              <a:spcBef>
                <a:spcPct val="0"/>
              </a:spcBef>
              <a:spcAft>
                <a:spcPts val="1200"/>
              </a:spcAft>
            </a:pPr>
            <a:r>
              <a:rPr lang="en-US" sz="800" dirty="0">
                <a:solidFill>
                  <a:schemeClr val="bg1"/>
                </a:solidFill>
                <a:ea typeface="Calibri" panose="020F0502020204030204" pitchFamily="34" charset="0"/>
                <a:cs typeface="Arial" panose="020B0604020202020204" pitchFamily="34" charset="0"/>
              </a:rPr>
              <a:t> refers to the global organization, and may refer to one or more, of the member firms of  Global Limited, each of which is a separate legal entity.  Global Limited, a UK company limited by guarantee, does not provide services to clients. Information about how  collects and uses personal data and a description of the rights individuals have under data protection legislation are available via /privacy.  member firms do not practice law where prohibited by local laws. For more information about our organization, please visit .</a:t>
            </a:r>
          </a:p>
          <a:p>
            <a:pPr defTabSz="914400" fontAlgn="base">
              <a:spcBef>
                <a:spcPct val="0"/>
              </a:spcBef>
              <a:spcAft>
                <a:spcPts val="1200"/>
              </a:spcAft>
            </a:pPr>
            <a:r>
              <a:rPr lang="en-US" sz="800" dirty="0">
                <a:solidFill>
                  <a:schemeClr val="bg1"/>
                </a:solidFill>
                <a:ea typeface="Calibri" panose="020F0502020204030204" pitchFamily="34" charset="0"/>
                <a:cs typeface="Arial" panose="020B0604020202020204" pitchFamily="34" charset="0"/>
              </a:rPr>
              <a:t>The MENA practice of  has been operating in the region since 1923. Over the past 100 years, we have grown to over 8,500 people united across 26 offices and 15 countries, sharing the same values and an unwavering commitment to quality. As an organization, we continue to develop outstanding leaders who deliver exceptional services to our clients and who contribute to our communities. We are proud of our accomplishments over the years, reaffirming our position as the largest and most established professional services organization in the region.</a:t>
            </a:r>
          </a:p>
          <a:p>
            <a:pPr defTabSz="914400" fontAlgn="base">
              <a:spcBef>
                <a:spcPct val="0"/>
              </a:spcBef>
              <a:spcAft>
                <a:spcPts val="1200"/>
              </a:spcAft>
            </a:pPr>
            <a:r>
              <a:rPr lang="en-US" sz="800" dirty="0">
                <a:solidFill>
                  <a:schemeClr val="bg1"/>
                </a:solidFill>
                <a:ea typeface="Calibri" panose="020F0502020204030204" pitchFamily="34" charset="0"/>
                <a:cs typeface="Arial" panose="020B0604020202020204" pitchFamily="34" charset="0"/>
              </a:rPr>
              <a:t>© 2025 GM Limited.</a:t>
            </a:r>
          </a:p>
          <a:p>
            <a:pPr defTabSz="914400" fontAlgn="base">
              <a:spcBef>
                <a:spcPct val="0"/>
              </a:spcBef>
              <a:spcAft>
                <a:spcPts val="1200"/>
              </a:spcAft>
            </a:pPr>
            <a:r>
              <a:rPr lang="en-US" sz="800" dirty="0">
                <a:solidFill>
                  <a:schemeClr val="bg1"/>
                </a:solidFill>
                <a:ea typeface="Calibri" panose="020F0502020204030204" pitchFamily="34" charset="0"/>
                <a:cs typeface="Arial" panose="020B0604020202020204" pitchFamily="34" charset="0"/>
              </a:rPr>
              <a:t>All Rights Reserved.</a:t>
            </a:r>
          </a:p>
          <a:p>
            <a:pPr defTabSz="914400" fontAlgn="base">
              <a:spcBef>
                <a:spcPct val="0"/>
              </a:spcBef>
              <a:spcAft>
                <a:spcPts val="1200"/>
              </a:spcAft>
            </a:pPr>
            <a:r>
              <a:rPr lang="en-US" sz="800" dirty="0">
                <a:solidFill>
                  <a:schemeClr val="bg1"/>
                </a:solidFill>
                <a:ea typeface="Calibri" panose="020F0502020204030204" pitchFamily="34" charset="0"/>
                <a:cs typeface="Arial" panose="020B0604020202020204" pitchFamily="34" charset="0"/>
              </a:rPr>
              <a:t>ED None</a:t>
            </a:r>
          </a:p>
          <a:p>
            <a:pPr defTabSz="914400" fontAlgn="base">
              <a:spcBef>
                <a:spcPct val="0"/>
              </a:spcBef>
              <a:spcAft>
                <a:spcPts val="1200"/>
              </a:spcAft>
            </a:pPr>
            <a:r>
              <a:rPr lang="en-US" sz="800" dirty="0">
                <a:solidFill>
                  <a:schemeClr val="bg1"/>
                </a:solidFill>
                <a:ea typeface="Calibri" panose="020F0502020204030204" pitchFamily="34" charset="0"/>
                <a:cs typeface="Arial" panose="020B0604020202020204" pitchFamily="34" charset="0"/>
              </a:rPr>
              <a:t>This material has been prepared for general informational purposes only and is not intended to be relied upon as accounting, tax, legal or other professional advice. Please refer to your advisors for specific advice.</a:t>
            </a:r>
          </a:p>
          <a:p>
            <a:pPr defTabSz="914400" fontAlgn="base">
              <a:spcBef>
                <a:spcPct val="0"/>
              </a:spcBef>
              <a:spcAft>
                <a:spcPts val="1200"/>
              </a:spcAft>
            </a:pPr>
            <a:endParaRPr lang="en-US" sz="800" dirty="0">
              <a:solidFill>
                <a:schemeClr val="bg1"/>
              </a:solidFill>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800776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CV layout">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2EB7836A-93B6-419C-85DC-89CBA86CD18D}"/>
              </a:ext>
            </a:extLst>
          </p:cNvPr>
          <p:cNvSpPr>
            <a:spLocks noGrp="1"/>
          </p:cNvSpPr>
          <p:nvPr>
            <p:ph type="title"/>
          </p:nvPr>
        </p:nvSpPr>
        <p:spPr>
          <a:xfrm>
            <a:off x="701366" y="273717"/>
            <a:ext cx="10789269" cy="792000"/>
          </a:xfrm>
        </p:spPr>
        <p:txBody>
          <a:bodyPr lIns="0"/>
          <a:lstStyle>
            <a:lvl1pPr>
              <a:defRPr>
                <a:solidFill>
                  <a:schemeClr val="tx1"/>
                </a:solidFill>
              </a:defRPr>
            </a:lvl1pPr>
          </a:lstStyle>
          <a:p>
            <a:r>
              <a:rPr lang="en-US"/>
              <a:t>Click to edit Master title style</a:t>
            </a:r>
          </a:p>
        </p:txBody>
      </p:sp>
      <p:sp>
        <p:nvSpPr>
          <p:cNvPr id="5" name="Content Placeholder 10">
            <a:extLst>
              <a:ext uri="{FF2B5EF4-FFF2-40B4-BE49-F238E27FC236}">
                <a16:creationId xmlns:a16="http://schemas.microsoft.com/office/drawing/2014/main" id="{8BE108F9-5D60-6616-851B-47A6F1CC34A1}"/>
              </a:ext>
            </a:extLst>
          </p:cNvPr>
          <p:cNvSpPr>
            <a:spLocks noGrp="1"/>
          </p:cNvSpPr>
          <p:nvPr>
            <p:ph sz="quarter" idx="12"/>
          </p:nvPr>
        </p:nvSpPr>
        <p:spPr>
          <a:xfrm>
            <a:off x="701367" y="2041598"/>
            <a:ext cx="2615408" cy="814924"/>
          </a:xfrm>
          <a:prstGeom prst="rect">
            <a:avLst/>
          </a:prstGeom>
          <a:solidFill>
            <a:srgbClr val="EEF3F7"/>
          </a:solidFill>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0">
            <a:extLst>
              <a:ext uri="{FF2B5EF4-FFF2-40B4-BE49-F238E27FC236}">
                <a16:creationId xmlns:a16="http://schemas.microsoft.com/office/drawing/2014/main" id="{09EF1EED-1F1A-497B-643B-08B717C8E483}"/>
              </a:ext>
            </a:extLst>
          </p:cNvPr>
          <p:cNvSpPr>
            <a:spLocks noGrp="1"/>
          </p:cNvSpPr>
          <p:nvPr>
            <p:ph sz="quarter" idx="13"/>
          </p:nvPr>
        </p:nvSpPr>
        <p:spPr>
          <a:xfrm>
            <a:off x="3432233" y="2041598"/>
            <a:ext cx="2615408" cy="814924"/>
          </a:xfrm>
          <a:prstGeom prst="rect">
            <a:avLst/>
          </a:prstGeom>
          <a:solidFill>
            <a:srgbClr val="EEF3F7"/>
          </a:solidFill>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0">
            <a:extLst>
              <a:ext uri="{FF2B5EF4-FFF2-40B4-BE49-F238E27FC236}">
                <a16:creationId xmlns:a16="http://schemas.microsoft.com/office/drawing/2014/main" id="{8732BA7D-E368-34AB-60B0-842A51037EFA}"/>
              </a:ext>
            </a:extLst>
          </p:cNvPr>
          <p:cNvSpPr>
            <a:spLocks noGrp="1"/>
          </p:cNvSpPr>
          <p:nvPr>
            <p:ph sz="quarter" idx="14"/>
          </p:nvPr>
        </p:nvSpPr>
        <p:spPr>
          <a:xfrm>
            <a:off x="6163099" y="2041598"/>
            <a:ext cx="2615408" cy="814924"/>
          </a:xfrm>
          <a:prstGeom prst="rect">
            <a:avLst/>
          </a:prstGeom>
          <a:solidFill>
            <a:srgbClr val="EEF3F7"/>
          </a:solidFill>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10">
            <a:extLst>
              <a:ext uri="{FF2B5EF4-FFF2-40B4-BE49-F238E27FC236}">
                <a16:creationId xmlns:a16="http://schemas.microsoft.com/office/drawing/2014/main" id="{796FAD0B-5E65-4107-52A6-0CE97C41EBA4}"/>
              </a:ext>
            </a:extLst>
          </p:cNvPr>
          <p:cNvSpPr>
            <a:spLocks noGrp="1"/>
          </p:cNvSpPr>
          <p:nvPr>
            <p:ph sz="quarter" idx="15"/>
          </p:nvPr>
        </p:nvSpPr>
        <p:spPr>
          <a:xfrm>
            <a:off x="8875225" y="2041598"/>
            <a:ext cx="2615408" cy="814924"/>
          </a:xfrm>
          <a:prstGeom prst="rect">
            <a:avLst/>
          </a:prstGeom>
          <a:solidFill>
            <a:srgbClr val="EEF3F7"/>
          </a:solidFill>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0">
            <a:extLst>
              <a:ext uri="{FF2B5EF4-FFF2-40B4-BE49-F238E27FC236}">
                <a16:creationId xmlns:a16="http://schemas.microsoft.com/office/drawing/2014/main" id="{16CA8B78-9E89-5D7F-8DEA-ED31E467E767}"/>
              </a:ext>
            </a:extLst>
          </p:cNvPr>
          <p:cNvSpPr>
            <a:spLocks noGrp="1"/>
          </p:cNvSpPr>
          <p:nvPr>
            <p:ph sz="quarter" idx="16"/>
          </p:nvPr>
        </p:nvSpPr>
        <p:spPr>
          <a:xfrm>
            <a:off x="701367" y="3191608"/>
            <a:ext cx="2615408" cy="2549769"/>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10">
            <a:extLst>
              <a:ext uri="{FF2B5EF4-FFF2-40B4-BE49-F238E27FC236}">
                <a16:creationId xmlns:a16="http://schemas.microsoft.com/office/drawing/2014/main" id="{300C9772-1912-A319-D6C1-B5CE0BDB3C1F}"/>
              </a:ext>
            </a:extLst>
          </p:cNvPr>
          <p:cNvSpPr>
            <a:spLocks noGrp="1"/>
          </p:cNvSpPr>
          <p:nvPr>
            <p:ph sz="quarter" idx="17"/>
          </p:nvPr>
        </p:nvSpPr>
        <p:spPr>
          <a:xfrm>
            <a:off x="3432233" y="3191608"/>
            <a:ext cx="2615408" cy="2549769"/>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0">
            <a:extLst>
              <a:ext uri="{FF2B5EF4-FFF2-40B4-BE49-F238E27FC236}">
                <a16:creationId xmlns:a16="http://schemas.microsoft.com/office/drawing/2014/main" id="{B0536E05-4A9E-7E07-2967-83DC153A2419}"/>
              </a:ext>
            </a:extLst>
          </p:cNvPr>
          <p:cNvSpPr>
            <a:spLocks noGrp="1"/>
          </p:cNvSpPr>
          <p:nvPr>
            <p:ph sz="quarter" idx="18"/>
          </p:nvPr>
        </p:nvSpPr>
        <p:spPr>
          <a:xfrm>
            <a:off x="6163099" y="3191608"/>
            <a:ext cx="2615408" cy="2549769"/>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10">
            <a:extLst>
              <a:ext uri="{FF2B5EF4-FFF2-40B4-BE49-F238E27FC236}">
                <a16:creationId xmlns:a16="http://schemas.microsoft.com/office/drawing/2014/main" id="{3DEA5AF3-CDE6-36FF-BAB6-4BADCCD4DB19}"/>
              </a:ext>
            </a:extLst>
          </p:cNvPr>
          <p:cNvSpPr>
            <a:spLocks noGrp="1"/>
          </p:cNvSpPr>
          <p:nvPr>
            <p:ph sz="quarter" idx="19"/>
          </p:nvPr>
        </p:nvSpPr>
        <p:spPr>
          <a:xfrm>
            <a:off x="8875225" y="3191608"/>
            <a:ext cx="2615408" cy="2549769"/>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martArt Placeholder 11">
            <a:extLst>
              <a:ext uri="{FF2B5EF4-FFF2-40B4-BE49-F238E27FC236}">
                <a16:creationId xmlns:a16="http://schemas.microsoft.com/office/drawing/2014/main" id="{22136DDA-F25B-A9FD-11CB-CCCEB478123A}"/>
              </a:ext>
              <a:ext uri="{C183D7F6-B498-43B3-948B-1728B52AA6E4}">
                <adec:decorative xmlns:adec="http://schemas.microsoft.com/office/drawing/2017/decorative" val="1"/>
              </a:ext>
            </a:extLst>
          </p:cNvPr>
          <p:cNvSpPr txBox="1">
            <a:spLocks/>
          </p:cNvSpPr>
          <p:nvPr userDrawn="1"/>
        </p:nvSpPr>
        <p:spPr>
          <a:xfrm>
            <a:off x="701366" y="1093193"/>
            <a:ext cx="10789920" cy="36000"/>
          </a:xfrm>
          <a:prstGeom prst="rect">
            <a:avLst/>
          </a:prstGeom>
          <a:solidFill>
            <a:srgbClr val="1A9AFA"/>
          </a:solidFill>
        </p:spPr>
        <p:txBody>
          <a:bodyPr vert="horz" lIns="0" tIns="0" rIns="0" bIns="0" rtlCol="0" anchor="t" anchorCtr="0">
            <a:noAutofit/>
          </a:bodyPr>
          <a:lstStyle>
            <a:lvl1pPr marL="0" indent="0" algn="l" defTabSz="914400" rtl="0" eaLnBrk="1" latinLnBrk="0" hangingPunct="1">
              <a:spcBef>
                <a:spcPts val="400"/>
              </a:spcBef>
              <a:spcAft>
                <a:spcPts val="400"/>
              </a:spcAft>
              <a:buClr>
                <a:schemeClr val="tx2"/>
              </a:buClr>
              <a:buSzPct val="100000"/>
              <a:buFont typeface="Wingdings" pitchFamily="2" charset="2"/>
              <a:buNone/>
              <a:defRPr lang="en-US" sz="800" kern="1200" dirty="0">
                <a:solidFill>
                  <a:schemeClr val="tx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tx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tx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tx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tx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tx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tx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tx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400"/>
              </a:spcBef>
              <a:spcAft>
                <a:spcPts val="400"/>
              </a:spcAft>
              <a:buClr>
                <a:srgbClr val="1A9AFA"/>
              </a:buClr>
              <a:buSzPct val="100000"/>
              <a:buFont typeface="Wingdings" pitchFamily="2" charset="2"/>
              <a:buNone/>
              <a:tabLst/>
              <a:defRPr/>
            </a:pPr>
            <a:endParaRPr kumimoji="0" lang="en-US" sz="800" b="0" i="0" u="none" strike="noStrike" kern="1200" cap="none" spc="0" normalizeH="0" baseline="0" noProof="0">
              <a:ln>
                <a:noFill/>
              </a:ln>
              <a:solidFill>
                <a:srgbClr val="1A1A24"/>
              </a:solidFill>
              <a:effectLst/>
              <a:uLnTx/>
              <a:uFillTx/>
              <a:latin typeface="EYInterstate Light"/>
              <a:ea typeface="+mn-ea"/>
              <a:cs typeface="+mn-cs"/>
            </a:endParaRPr>
          </a:p>
        </p:txBody>
      </p:sp>
    </p:spTree>
    <p:extLst>
      <p:ext uri="{BB962C8B-B14F-4D97-AF65-F5344CB8AC3E}">
        <p14:creationId xmlns:p14="http://schemas.microsoft.com/office/powerpoint/2010/main" val="22825798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1F9006F9-A724-2EAA-686D-891B294E35F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0094" cy="6856928"/>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US"/>
              <a:t>Click to edit Master title style</a:t>
            </a:r>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mj-lt"/>
                <a:ea typeface="+mj-ea"/>
                <a:cs typeface="Arial" pitchFamily="34" charset="0"/>
              </a:defRPr>
            </a:lvl1pPr>
          </a:lstStyle>
          <a:p>
            <a:pPr lvl="0"/>
            <a:r>
              <a:rPr lang="en-GB"/>
              <a:t>Chapter 00</a:t>
            </a:r>
            <a:endParaRPr lang="en-US"/>
          </a:p>
        </p:txBody>
      </p:sp>
      <p:sp>
        <p:nvSpPr>
          <p:cNvPr id="16" name="Date Placeholder 15">
            <a:extLst>
              <a:ext uri="{FF2B5EF4-FFF2-40B4-BE49-F238E27FC236}">
                <a16:creationId xmlns:a16="http://schemas.microsoft.com/office/drawing/2014/main" id="{DB4372B3-E211-F19D-CBD9-6CEDF871BD0C}"/>
              </a:ext>
            </a:extLst>
          </p:cNvPr>
          <p:cNvSpPr>
            <a:spLocks noGrp="1"/>
          </p:cNvSpPr>
          <p:nvPr>
            <p:ph type="dt" sz="half" idx="14"/>
          </p:nvPr>
        </p:nvSpPr>
        <p:spPr/>
        <p:txBody>
          <a:bodyPr/>
          <a:lstStyle/>
          <a:p>
            <a:endParaRPr lang="en-US"/>
          </a:p>
        </p:txBody>
      </p:sp>
      <p:sp>
        <p:nvSpPr>
          <p:cNvPr id="17" name="Footer Placeholder 16">
            <a:extLst>
              <a:ext uri="{FF2B5EF4-FFF2-40B4-BE49-F238E27FC236}">
                <a16:creationId xmlns:a16="http://schemas.microsoft.com/office/drawing/2014/main" id="{53173B02-1E93-D358-4602-350A7447C76C}"/>
              </a:ext>
            </a:extLst>
          </p:cNvPr>
          <p:cNvSpPr>
            <a:spLocks noGrp="1"/>
          </p:cNvSpPr>
          <p:nvPr>
            <p:ph type="ftr" sz="quarter" idx="15"/>
          </p:nvPr>
        </p:nvSpPr>
        <p:spPr/>
        <p:txBody>
          <a:bodyPr/>
          <a:lstStyle/>
          <a:p>
            <a:r>
              <a:rPr lang="en-US"/>
              <a:t>a</a:t>
            </a:r>
          </a:p>
        </p:txBody>
      </p:sp>
      <p:sp>
        <p:nvSpPr>
          <p:cNvPr id="18" name="Slide Number Placeholder 17">
            <a:extLst>
              <a:ext uri="{FF2B5EF4-FFF2-40B4-BE49-F238E27FC236}">
                <a16:creationId xmlns:a16="http://schemas.microsoft.com/office/drawing/2014/main" id="{A5E3423F-0FF8-8E54-CEB8-1F15261AFD0E}"/>
              </a:ext>
            </a:extLst>
          </p:cNvPr>
          <p:cNvSpPr>
            <a:spLocks noGrp="1"/>
          </p:cNvSpPr>
          <p:nvPr>
            <p:ph type="sldNum" sz="quarter" idx="16"/>
          </p:nvPr>
        </p:nvSpPr>
        <p:spPr/>
        <p:txBody>
          <a:bodyPr/>
          <a:lstStyle/>
          <a:p>
            <a:fld id="{F1BC30E3-FFE5-4B91-AA19-87A149EBB9EE}" type="slidenum">
              <a:rPr lang="en-GB" smtClean="0"/>
              <a:pPr/>
              <a:t>‹#›</a:t>
            </a:fld>
            <a:endParaRPr lang="en-GB"/>
          </a:p>
        </p:txBody>
      </p:sp>
      <p:grpSp>
        <p:nvGrpSpPr>
          <p:cNvPr id="7" name="Graphic 4">
            <a:extLst>
              <a:ext uri="{FF2B5EF4-FFF2-40B4-BE49-F238E27FC236}">
                <a16:creationId xmlns:a16="http://schemas.microsoft.com/office/drawing/2014/main" id="{5CF86EC5-8FC4-F13F-FD31-86AE75E3789D}"/>
              </a:ext>
            </a:extLst>
          </p:cNvPr>
          <p:cNvGrpSpPr>
            <a:grpSpLocks noChangeAspect="1"/>
          </p:cNvGrpSpPr>
          <p:nvPr userDrawn="1"/>
        </p:nvGrpSpPr>
        <p:grpSpPr bwMode="invGray">
          <a:xfrm>
            <a:off x="10864485" y="6275796"/>
            <a:ext cx="1105573" cy="356400"/>
            <a:chOff x="9673094" y="5359719"/>
            <a:chExt cx="4313872" cy="1390649"/>
          </a:xfrm>
        </p:grpSpPr>
        <p:grpSp>
          <p:nvGrpSpPr>
            <p:cNvPr id="9" name="Graphic 4">
              <a:extLst>
                <a:ext uri="{FF2B5EF4-FFF2-40B4-BE49-F238E27FC236}">
                  <a16:creationId xmlns:a16="http://schemas.microsoft.com/office/drawing/2014/main" id="{7B9239FB-6C10-7151-4867-2C0D0C646FD6}"/>
                </a:ext>
              </a:extLst>
            </p:cNvPr>
            <p:cNvGrpSpPr/>
            <p:nvPr/>
          </p:nvGrpSpPr>
          <p:grpSpPr bwMode="invGray">
            <a:xfrm>
              <a:off x="11025644" y="6244592"/>
              <a:ext cx="2961322" cy="505777"/>
              <a:chOff x="11025644" y="6244592"/>
              <a:chExt cx="2961322" cy="505777"/>
            </a:xfrm>
            <a:solidFill>
              <a:srgbClr val="1A9AFA"/>
            </a:solidFill>
          </p:grpSpPr>
          <p:sp>
            <p:nvSpPr>
              <p:cNvPr id="14" name="Freeform 13">
                <a:extLst>
                  <a:ext uri="{FF2B5EF4-FFF2-40B4-BE49-F238E27FC236}">
                    <a16:creationId xmlns:a16="http://schemas.microsoft.com/office/drawing/2014/main" id="{035CA6A6-12AF-7F3B-0FAE-AB7FC1AE98AF}"/>
                  </a:ext>
                </a:extLst>
              </p:cNvPr>
              <p:cNvSpPr/>
              <p:nvPr/>
            </p:nvSpPr>
            <p:spPr bwMode="invGray">
              <a:xfrm>
                <a:off x="11025644" y="6264594"/>
                <a:ext cx="352425" cy="477202"/>
              </a:xfrm>
              <a:custGeom>
                <a:avLst/>
                <a:gdLst>
                  <a:gd name="connsiteX0" fmla="*/ 280035 w 352425"/>
                  <a:gd name="connsiteY0" fmla="*/ 149542 h 477202"/>
                  <a:gd name="connsiteX1" fmla="*/ 274320 w 352425"/>
                  <a:gd name="connsiteY1" fmla="*/ 114300 h 477202"/>
                  <a:gd name="connsiteX2" fmla="*/ 258128 w 352425"/>
                  <a:gd name="connsiteY2" fmla="*/ 88583 h 477202"/>
                  <a:gd name="connsiteX3" fmla="*/ 232410 w 352425"/>
                  <a:gd name="connsiteY3" fmla="*/ 72390 h 477202"/>
                  <a:gd name="connsiteX4" fmla="*/ 199072 w 352425"/>
                  <a:gd name="connsiteY4" fmla="*/ 66675 h 477202"/>
                  <a:gd name="connsiteX5" fmla="*/ 70485 w 352425"/>
                  <a:gd name="connsiteY5" fmla="*/ 66675 h 477202"/>
                  <a:gd name="connsiteX6" fmla="*/ 70485 w 352425"/>
                  <a:gd name="connsiteY6" fmla="*/ 231458 h 477202"/>
                  <a:gd name="connsiteX7" fmla="*/ 199072 w 352425"/>
                  <a:gd name="connsiteY7" fmla="*/ 231458 h 477202"/>
                  <a:gd name="connsiteX8" fmla="*/ 260985 w 352425"/>
                  <a:gd name="connsiteY8" fmla="*/ 209550 h 477202"/>
                  <a:gd name="connsiteX9" fmla="*/ 280035 w 352425"/>
                  <a:gd name="connsiteY9" fmla="*/ 149542 h 477202"/>
                  <a:gd name="connsiteX10" fmla="*/ 352425 w 352425"/>
                  <a:gd name="connsiteY10" fmla="*/ 149542 h 477202"/>
                  <a:gd name="connsiteX11" fmla="*/ 340995 w 352425"/>
                  <a:gd name="connsiteY11" fmla="*/ 214313 h 477202"/>
                  <a:gd name="connsiteX12" fmla="*/ 308610 w 352425"/>
                  <a:gd name="connsiteY12" fmla="*/ 260985 h 477202"/>
                  <a:gd name="connsiteX13" fmla="*/ 259080 w 352425"/>
                  <a:gd name="connsiteY13" fmla="*/ 289560 h 477202"/>
                  <a:gd name="connsiteX14" fmla="*/ 195263 w 352425"/>
                  <a:gd name="connsiteY14" fmla="*/ 299085 h 477202"/>
                  <a:gd name="connsiteX15" fmla="*/ 70485 w 352425"/>
                  <a:gd name="connsiteY15" fmla="*/ 299085 h 477202"/>
                  <a:gd name="connsiteX16" fmla="*/ 70485 w 352425"/>
                  <a:gd name="connsiteY16" fmla="*/ 477203 h 477202"/>
                  <a:gd name="connsiteX17" fmla="*/ 0 w 352425"/>
                  <a:gd name="connsiteY17" fmla="*/ 477203 h 477202"/>
                  <a:gd name="connsiteX18" fmla="*/ 0 w 352425"/>
                  <a:gd name="connsiteY18" fmla="*/ 0 h 477202"/>
                  <a:gd name="connsiteX19" fmla="*/ 200025 w 352425"/>
                  <a:gd name="connsiteY19" fmla="*/ 0 h 477202"/>
                  <a:gd name="connsiteX20" fmla="*/ 260985 w 352425"/>
                  <a:gd name="connsiteY20" fmla="*/ 9525 h 477202"/>
                  <a:gd name="connsiteX21" fmla="*/ 309563 w 352425"/>
                  <a:gd name="connsiteY21" fmla="*/ 38100 h 477202"/>
                  <a:gd name="connsiteX22" fmla="*/ 341947 w 352425"/>
                  <a:gd name="connsiteY22" fmla="*/ 84773 h 477202"/>
                  <a:gd name="connsiteX23" fmla="*/ 352425 w 352425"/>
                  <a:gd name="connsiteY23" fmla="*/ 149542 h 47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2425" h="477202">
                    <a:moveTo>
                      <a:pt x="280035" y="149542"/>
                    </a:moveTo>
                    <a:cubicBezTo>
                      <a:pt x="280035" y="136208"/>
                      <a:pt x="278130" y="124778"/>
                      <a:pt x="274320" y="114300"/>
                    </a:cubicBezTo>
                    <a:cubicBezTo>
                      <a:pt x="270510" y="103823"/>
                      <a:pt x="264795" y="95250"/>
                      <a:pt x="258128" y="88583"/>
                    </a:cubicBezTo>
                    <a:cubicBezTo>
                      <a:pt x="251460" y="81915"/>
                      <a:pt x="242888" y="76200"/>
                      <a:pt x="232410" y="72390"/>
                    </a:cubicBezTo>
                    <a:cubicBezTo>
                      <a:pt x="221932" y="68580"/>
                      <a:pt x="211455" y="66675"/>
                      <a:pt x="199072" y="66675"/>
                    </a:cubicBezTo>
                    <a:lnTo>
                      <a:pt x="70485" y="66675"/>
                    </a:lnTo>
                    <a:lnTo>
                      <a:pt x="70485" y="231458"/>
                    </a:lnTo>
                    <a:lnTo>
                      <a:pt x="199072" y="231458"/>
                    </a:lnTo>
                    <a:cubicBezTo>
                      <a:pt x="226695" y="231458"/>
                      <a:pt x="246697" y="223838"/>
                      <a:pt x="260985" y="209550"/>
                    </a:cubicBezTo>
                    <a:cubicBezTo>
                      <a:pt x="272415" y="196215"/>
                      <a:pt x="280035" y="175260"/>
                      <a:pt x="280035" y="149542"/>
                    </a:cubicBezTo>
                    <a:moveTo>
                      <a:pt x="352425" y="149542"/>
                    </a:moveTo>
                    <a:cubicBezTo>
                      <a:pt x="352425" y="174308"/>
                      <a:pt x="348615" y="196215"/>
                      <a:pt x="340995" y="214313"/>
                    </a:cubicBezTo>
                    <a:cubicBezTo>
                      <a:pt x="333375" y="233363"/>
                      <a:pt x="321945" y="248603"/>
                      <a:pt x="308610" y="260985"/>
                    </a:cubicBezTo>
                    <a:cubicBezTo>
                      <a:pt x="294322" y="273367"/>
                      <a:pt x="278130" y="282892"/>
                      <a:pt x="259080" y="289560"/>
                    </a:cubicBezTo>
                    <a:cubicBezTo>
                      <a:pt x="240030" y="296228"/>
                      <a:pt x="218122" y="299085"/>
                      <a:pt x="195263" y="299085"/>
                    </a:cubicBezTo>
                    <a:lnTo>
                      <a:pt x="70485" y="299085"/>
                    </a:lnTo>
                    <a:lnTo>
                      <a:pt x="70485" y="477203"/>
                    </a:lnTo>
                    <a:lnTo>
                      <a:pt x="0" y="477203"/>
                    </a:lnTo>
                    <a:lnTo>
                      <a:pt x="0" y="0"/>
                    </a:lnTo>
                    <a:lnTo>
                      <a:pt x="200025" y="0"/>
                    </a:lnTo>
                    <a:cubicBezTo>
                      <a:pt x="221932" y="0"/>
                      <a:pt x="241935" y="2858"/>
                      <a:pt x="260985" y="9525"/>
                    </a:cubicBezTo>
                    <a:cubicBezTo>
                      <a:pt x="280035" y="16192"/>
                      <a:pt x="296228" y="24765"/>
                      <a:pt x="309563" y="38100"/>
                    </a:cubicBezTo>
                    <a:cubicBezTo>
                      <a:pt x="322897" y="50483"/>
                      <a:pt x="334328" y="65723"/>
                      <a:pt x="341947" y="84773"/>
                    </a:cubicBezTo>
                    <a:cubicBezTo>
                      <a:pt x="348615" y="103823"/>
                      <a:pt x="352425" y="125730"/>
                      <a:pt x="352425" y="149542"/>
                    </a:cubicBezTo>
                  </a:path>
                </a:pathLst>
              </a:custGeom>
              <a:solidFill>
                <a:srgbClr val="1A9AFA"/>
              </a:solidFill>
              <a:ln w="952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9B484212-4F6A-6162-0848-C34642327EA4}"/>
                  </a:ext>
                </a:extLst>
              </p:cNvPr>
              <p:cNvSpPr/>
              <p:nvPr/>
            </p:nvSpPr>
            <p:spPr bwMode="invGray">
              <a:xfrm>
                <a:off x="11399976" y="6377942"/>
                <a:ext cx="292417" cy="372427"/>
              </a:xfrm>
              <a:custGeom>
                <a:avLst/>
                <a:gdLst>
                  <a:gd name="connsiteX0" fmla="*/ 223838 w 292417"/>
                  <a:gd name="connsiteY0" fmla="*/ 211455 h 372427"/>
                  <a:gd name="connsiteX1" fmla="*/ 205740 w 292417"/>
                  <a:gd name="connsiteY1" fmla="*/ 203835 h 372427"/>
                  <a:gd name="connsiteX2" fmla="*/ 189548 w 292417"/>
                  <a:gd name="connsiteY2" fmla="*/ 199072 h 372427"/>
                  <a:gd name="connsiteX3" fmla="*/ 168593 w 292417"/>
                  <a:gd name="connsiteY3" fmla="*/ 196215 h 372427"/>
                  <a:gd name="connsiteX4" fmla="*/ 141923 w 292417"/>
                  <a:gd name="connsiteY4" fmla="*/ 195263 h 372427"/>
                  <a:gd name="connsiteX5" fmla="*/ 88583 w 292417"/>
                  <a:gd name="connsiteY5" fmla="*/ 209550 h 372427"/>
                  <a:gd name="connsiteX6" fmla="*/ 68580 w 292417"/>
                  <a:gd name="connsiteY6" fmla="*/ 248602 h 372427"/>
                  <a:gd name="connsiteX7" fmla="*/ 74295 w 292417"/>
                  <a:gd name="connsiteY7" fmla="*/ 275272 h 372427"/>
                  <a:gd name="connsiteX8" fmla="*/ 88583 w 292417"/>
                  <a:gd name="connsiteY8" fmla="*/ 293370 h 372427"/>
                  <a:gd name="connsiteX9" fmla="*/ 108585 w 292417"/>
                  <a:gd name="connsiteY9" fmla="*/ 303847 h 372427"/>
                  <a:gd name="connsiteX10" fmla="*/ 137160 w 292417"/>
                  <a:gd name="connsiteY10" fmla="*/ 307657 h 372427"/>
                  <a:gd name="connsiteX11" fmla="*/ 163830 w 292417"/>
                  <a:gd name="connsiteY11" fmla="*/ 303847 h 372427"/>
                  <a:gd name="connsiteX12" fmla="*/ 188595 w 292417"/>
                  <a:gd name="connsiteY12" fmla="*/ 293370 h 372427"/>
                  <a:gd name="connsiteX13" fmla="*/ 208598 w 292417"/>
                  <a:gd name="connsiteY13" fmla="*/ 279082 h 372427"/>
                  <a:gd name="connsiteX14" fmla="*/ 223838 w 292417"/>
                  <a:gd name="connsiteY14" fmla="*/ 262890 h 372427"/>
                  <a:gd name="connsiteX15" fmla="*/ 223838 w 292417"/>
                  <a:gd name="connsiteY15" fmla="*/ 211455 h 372427"/>
                  <a:gd name="connsiteX16" fmla="*/ 223838 w 292417"/>
                  <a:gd name="connsiteY16" fmla="*/ 364807 h 372427"/>
                  <a:gd name="connsiteX17" fmla="*/ 223838 w 292417"/>
                  <a:gd name="connsiteY17" fmla="*/ 329565 h 372427"/>
                  <a:gd name="connsiteX18" fmla="*/ 200978 w 292417"/>
                  <a:gd name="connsiteY18" fmla="*/ 347663 h 372427"/>
                  <a:gd name="connsiteX19" fmla="*/ 181928 w 292417"/>
                  <a:gd name="connsiteY19" fmla="*/ 359092 h 372427"/>
                  <a:gd name="connsiteX20" fmla="*/ 157163 w 292417"/>
                  <a:gd name="connsiteY20" fmla="*/ 368617 h 372427"/>
                  <a:gd name="connsiteX21" fmla="*/ 124778 w 292417"/>
                  <a:gd name="connsiteY21" fmla="*/ 372427 h 372427"/>
                  <a:gd name="connsiteX22" fmla="*/ 80963 w 292417"/>
                  <a:gd name="connsiteY22" fmla="*/ 365760 h 372427"/>
                  <a:gd name="connsiteX23" fmla="*/ 40958 w 292417"/>
                  <a:gd name="connsiteY23" fmla="*/ 344805 h 372427"/>
                  <a:gd name="connsiteX24" fmla="*/ 11430 w 292417"/>
                  <a:gd name="connsiteY24" fmla="*/ 307657 h 372427"/>
                  <a:gd name="connsiteX25" fmla="*/ 0 w 292417"/>
                  <a:gd name="connsiteY25" fmla="*/ 251460 h 372427"/>
                  <a:gd name="connsiteX26" fmla="*/ 10478 w 292417"/>
                  <a:gd name="connsiteY26" fmla="*/ 200025 h 372427"/>
                  <a:gd name="connsiteX27" fmla="*/ 40005 w 292417"/>
                  <a:gd name="connsiteY27" fmla="*/ 163830 h 372427"/>
                  <a:gd name="connsiteX28" fmla="*/ 85725 w 292417"/>
                  <a:gd name="connsiteY28" fmla="*/ 142875 h 372427"/>
                  <a:gd name="connsiteX29" fmla="*/ 141923 w 292417"/>
                  <a:gd name="connsiteY29" fmla="*/ 136207 h 372427"/>
                  <a:gd name="connsiteX30" fmla="*/ 189548 w 292417"/>
                  <a:gd name="connsiteY30" fmla="*/ 140017 h 372427"/>
                  <a:gd name="connsiteX31" fmla="*/ 221933 w 292417"/>
                  <a:gd name="connsiteY31" fmla="*/ 149542 h 372427"/>
                  <a:gd name="connsiteX32" fmla="*/ 221933 w 292417"/>
                  <a:gd name="connsiteY32" fmla="*/ 122872 h 372427"/>
                  <a:gd name="connsiteX33" fmla="*/ 204788 w 292417"/>
                  <a:gd name="connsiteY33" fmla="*/ 78105 h 372427"/>
                  <a:gd name="connsiteX34" fmla="*/ 154305 w 292417"/>
                  <a:gd name="connsiteY34" fmla="*/ 62865 h 372427"/>
                  <a:gd name="connsiteX35" fmla="*/ 104775 w 292417"/>
                  <a:gd name="connsiteY35" fmla="*/ 68580 h 372427"/>
                  <a:gd name="connsiteX36" fmla="*/ 61913 w 292417"/>
                  <a:gd name="connsiteY36" fmla="*/ 85725 h 372427"/>
                  <a:gd name="connsiteX37" fmla="*/ 34290 w 292417"/>
                  <a:gd name="connsiteY37" fmla="*/ 32385 h 372427"/>
                  <a:gd name="connsiteX38" fmla="*/ 89535 w 292417"/>
                  <a:gd name="connsiteY38" fmla="*/ 8572 h 372427"/>
                  <a:gd name="connsiteX39" fmla="*/ 157163 w 292417"/>
                  <a:gd name="connsiteY39" fmla="*/ 0 h 372427"/>
                  <a:gd name="connsiteX40" fmla="*/ 212408 w 292417"/>
                  <a:gd name="connsiteY40" fmla="*/ 7620 h 372427"/>
                  <a:gd name="connsiteX41" fmla="*/ 255270 w 292417"/>
                  <a:gd name="connsiteY41" fmla="*/ 29527 h 372427"/>
                  <a:gd name="connsiteX42" fmla="*/ 282893 w 292417"/>
                  <a:gd name="connsiteY42" fmla="*/ 67627 h 372427"/>
                  <a:gd name="connsiteX43" fmla="*/ 292418 w 292417"/>
                  <a:gd name="connsiteY43" fmla="*/ 120967 h 372427"/>
                  <a:gd name="connsiteX44" fmla="*/ 292418 w 292417"/>
                  <a:gd name="connsiteY44" fmla="*/ 366713 h 372427"/>
                  <a:gd name="connsiteX45" fmla="*/ 223838 w 292417"/>
                  <a:gd name="connsiteY45" fmla="*/ 366713 h 372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92417" h="372427">
                    <a:moveTo>
                      <a:pt x="223838" y="211455"/>
                    </a:moveTo>
                    <a:cubicBezTo>
                      <a:pt x="217170" y="208597"/>
                      <a:pt x="211455" y="205740"/>
                      <a:pt x="205740" y="203835"/>
                    </a:cubicBezTo>
                    <a:cubicBezTo>
                      <a:pt x="200025" y="201930"/>
                      <a:pt x="195263" y="200977"/>
                      <a:pt x="189548" y="199072"/>
                    </a:cubicBezTo>
                    <a:cubicBezTo>
                      <a:pt x="183833" y="198120"/>
                      <a:pt x="177165" y="197167"/>
                      <a:pt x="168593" y="196215"/>
                    </a:cubicBezTo>
                    <a:cubicBezTo>
                      <a:pt x="160020" y="195263"/>
                      <a:pt x="151448" y="195263"/>
                      <a:pt x="141923" y="195263"/>
                    </a:cubicBezTo>
                    <a:cubicBezTo>
                      <a:pt x="119063" y="195263"/>
                      <a:pt x="100965" y="200025"/>
                      <a:pt x="88583" y="209550"/>
                    </a:cubicBezTo>
                    <a:cubicBezTo>
                      <a:pt x="75248" y="219075"/>
                      <a:pt x="68580" y="232410"/>
                      <a:pt x="68580" y="248602"/>
                    </a:cubicBezTo>
                    <a:cubicBezTo>
                      <a:pt x="68580" y="259080"/>
                      <a:pt x="70485" y="268605"/>
                      <a:pt x="74295" y="275272"/>
                    </a:cubicBezTo>
                    <a:cubicBezTo>
                      <a:pt x="78105" y="282892"/>
                      <a:pt x="82868" y="288607"/>
                      <a:pt x="88583" y="293370"/>
                    </a:cubicBezTo>
                    <a:cubicBezTo>
                      <a:pt x="94298" y="298132"/>
                      <a:pt x="100965" y="301942"/>
                      <a:pt x="108585" y="303847"/>
                    </a:cubicBezTo>
                    <a:cubicBezTo>
                      <a:pt x="116205" y="305752"/>
                      <a:pt x="125730" y="307657"/>
                      <a:pt x="137160" y="307657"/>
                    </a:cubicBezTo>
                    <a:cubicBezTo>
                      <a:pt x="146685" y="307657"/>
                      <a:pt x="155258" y="306705"/>
                      <a:pt x="163830" y="303847"/>
                    </a:cubicBezTo>
                    <a:cubicBezTo>
                      <a:pt x="172403" y="300990"/>
                      <a:pt x="180975" y="298132"/>
                      <a:pt x="188595" y="293370"/>
                    </a:cubicBezTo>
                    <a:cubicBezTo>
                      <a:pt x="196215" y="288607"/>
                      <a:pt x="202883" y="283845"/>
                      <a:pt x="208598" y="279082"/>
                    </a:cubicBezTo>
                    <a:cubicBezTo>
                      <a:pt x="214313" y="273367"/>
                      <a:pt x="220028" y="268605"/>
                      <a:pt x="223838" y="262890"/>
                    </a:cubicBezTo>
                    <a:lnTo>
                      <a:pt x="223838" y="211455"/>
                    </a:lnTo>
                    <a:close/>
                    <a:moveTo>
                      <a:pt x="223838" y="364807"/>
                    </a:moveTo>
                    <a:lnTo>
                      <a:pt x="223838" y="329565"/>
                    </a:lnTo>
                    <a:cubicBezTo>
                      <a:pt x="214313" y="338138"/>
                      <a:pt x="207645" y="343852"/>
                      <a:pt x="200978" y="347663"/>
                    </a:cubicBezTo>
                    <a:cubicBezTo>
                      <a:pt x="195263" y="351472"/>
                      <a:pt x="188595" y="355282"/>
                      <a:pt x="181928" y="359092"/>
                    </a:cubicBezTo>
                    <a:cubicBezTo>
                      <a:pt x="175260" y="362902"/>
                      <a:pt x="167640" y="365760"/>
                      <a:pt x="157163" y="368617"/>
                    </a:cubicBezTo>
                    <a:cubicBezTo>
                      <a:pt x="147638" y="371475"/>
                      <a:pt x="136208" y="372427"/>
                      <a:pt x="124778" y="372427"/>
                    </a:cubicBezTo>
                    <a:cubicBezTo>
                      <a:pt x="110490" y="372427"/>
                      <a:pt x="96203" y="370522"/>
                      <a:pt x="80963" y="365760"/>
                    </a:cubicBezTo>
                    <a:cubicBezTo>
                      <a:pt x="65723" y="360997"/>
                      <a:pt x="53340" y="354330"/>
                      <a:pt x="40958" y="344805"/>
                    </a:cubicBezTo>
                    <a:cubicBezTo>
                      <a:pt x="29528" y="335280"/>
                      <a:pt x="19050" y="322897"/>
                      <a:pt x="11430" y="307657"/>
                    </a:cubicBezTo>
                    <a:cubicBezTo>
                      <a:pt x="3810" y="292417"/>
                      <a:pt x="0" y="273367"/>
                      <a:pt x="0" y="251460"/>
                    </a:cubicBezTo>
                    <a:cubicBezTo>
                      <a:pt x="0" y="231457"/>
                      <a:pt x="3810" y="214313"/>
                      <a:pt x="10478" y="200025"/>
                    </a:cubicBezTo>
                    <a:cubicBezTo>
                      <a:pt x="18098" y="185738"/>
                      <a:pt x="27623" y="173355"/>
                      <a:pt x="40005" y="163830"/>
                    </a:cubicBezTo>
                    <a:cubicBezTo>
                      <a:pt x="52388" y="154305"/>
                      <a:pt x="67628" y="147638"/>
                      <a:pt x="85725" y="142875"/>
                    </a:cubicBezTo>
                    <a:cubicBezTo>
                      <a:pt x="102870" y="138113"/>
                      <a:pt x="121920" y="136207"/>
                      <a:pt x="141923" y="136207"/>
                    </a:cubicBezTo>
                    <a:cubicBezTo>
                      <a:pt x="160973" y="136207"/>
                      <a:pt x="176213" y="137160"/>
                      <a:pt x="189548" y="140017"/>
                    </a:cubicBezTo>
                    <a:cubicBezTo>
                      <a:pt x="202883" y="142875"/>
                      <a:pt x="213360" y="145732"/>
                      <a:pt x="221933" y="149542"/>
                    </a:cubicBezTo>
                    <a:lnTo>
                      <a:pt x="221933" y="122872"/>
                    </a:lnTo>
                    <a:cubicBezTo>
                      <a:pt x="221933" y="102870"/>
                      <a:pt x="216218" y="88582"/>
                      <a:pt x="204788" y="78105"/>
                    </a:cubicBezTo>
                    <a:cubicBezTo>
                      <a:pt x="193358" y="67627"/>
                      <a:pt x="176213" y="62865"/>
                      <a:pt x="154305" y="62865"/>
                    </a:cubicBezTo>
                    <a:cubicBezTo>
                      <a:pt x="136208" y="62865"/>
                      <a:pt x="119063" y="64770"/>
                      <a:pt x="104775" y="68580"/>
                    </a:cubicBezTo>
                    <a:cubicBezTo>
                      <a:pt x="89535" y="72390"/>
                      <a:pt x="75248" y="78105"/>
                      <a:pt x="61913" y="85725"/>
                    </a:cubicBezTo>
                    <a:lnTo>
                      <a:pt x="34290" y="32385"/>
                    </a:lnTo>
                    <a:cubicBezTo>
                      <a:pt x="51435" y="21907"/>
                      <a:pt x="69533" y="13335"/>
                      <a:pt x="89535" y="8572"/>
                    </a:cubicBezTo>
                    <a:cubicBezTo>
                      <a:pt x="109538" y="2857"/>
                      <a:pt x="131445" y="0"/>
                      <a:pt x="157163" y="0"/>
                    </a:cubicBezTo>
                    <a:cubicBezTo>
                      <a:pt x="177165" y="0"/>
                      <a:pt x="195263" y="2857"/>
                      <a:pt x="212408" y="7620"/>
                    </a:cubicBezTo>
                    <a:cubicBezTo>
                      <a:pt x="228600" y="12382"/>
                      <a:pt x="242888" y="20002"/>
                      <a:pt x="255270" y="29527"/>
                    </a:cubicBezTo>
                    <a:cubicBezTo>
                      <a:pt x="266700" y="39052"/>
                      <a:pt x="276225" y="52388"/>
                      <a:pt x="282893" y="67627"/>
                    </a:cubicBezTo>
                    <a:cubicBezTo>
                      <a:pt x="289560" y="82867"/>
                      <a:pt x="292418" y="100013"/>
                      <a:pt x="292418" y="120967"/>
                    </a:cubicBezTo>
                    <a:lnTo>
                      <a:pt x="292418" y="366713"/>
                    </a:lnTo>
                    <a:lnTo>
                      <a:pt x="223838" y="366713"/>
                    </a:lnTo>
                    <a:close/>
                  </a:path>
                </a:pathLst>
              </a:custGeom>
              <a:solidFill>
                <a:srgbClr val="1A9AFA"/>
              </a:solidFill>
              <a:ln w="952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074C81FC-576E-2BB1-C72C-78B589A84F25}"/>
                  </a:ext>
                </a:extLst>
              </p:cNvPr>
              <p:cNvSpPr/>
              <p:nvPr/>
            </p:nvSpPr>
            <p:spPr bwMode="invGray">
              <a:xfrm>
                <a:off x="11760974" y="6378894"/>
                <a:ext cx="213359" cy="364807"/>
              </a:xfrm>
              <a:custGeom>
                <a:avLst/>
                <a:gdLst>
                  <a:gd name="connsiteX0" fmla="*/ 194310 w 213359"/>
                  <a:gd name="connsiteY0" fmla="*/ 80010 h 364807"/>
                  <a:gd name="connsiteX1" fmla="*/ 170497 w 213359"/>
                  <a:gd name="connsiteY1" fmla="*/ 70485 h 364807"/>
                  <a:gd name="connsiteX2" fmla="*/ 140970 w 213359"/>
                  <a:gd name="connsiteY2" fmla="*/ 67628 h 364807"/>
                  <a:gd name="connsiteX3" fmla="*/ 88582 w 213359"/>
                  <a:gd name="connsiteY3" fmla="*/ 90488 h 364807"/>
                  <a:gd name="connsiteX4" fmla="*/ 70485 w 213359"/>
                  <a:gd name="connsiteY4" fmla="*/ 160020 h 364807"/>
                  <a:gd name="connsiteX5" fmla="*/ 70485 w 213359"/>
                  <a:gd name="connsiteY5" fmla="*/ 364808 h 364807"/>
                  <a:gd name="connsiteX6" fmla="*/ 0 w 213359"/>
                  <a:gd name="connsiteY6" fmla="*/ 364808 h 364807"/>
                  <a:gd name="connsiteX7" fmla="*/ 0 w 213359"/>
                  <a:gd name="connsiteY7" fmla="*/ 6667 h 364807"/>
                  <a:gd name="connsiteX8" fmla="*/ 70485 w 213359"/>
                  <a:gd name="connsiteY8" fmla="*/ 6667 h 364807"/>
                  <a:gd name="connsiteX9" fmla="*/ 70485 w 213359"/>
                  <a:gd name="connsiteY9" fmla="*/ 40958 h 364807"/>
                  <a:gd name="connsiteX10" fmla="*/ 84772 w 213359"/>
                  <a:gd name="connsiteY10" fmla="*/ 24765 h 364807"/>
                  <a:gd name="connsiteX11" fmla="*/ 103822 w 213359"/>
                  <a:gd name="connsiteY11" fmla="*/ 11430 h 364807"/>
                  <a:gd name="connsiteX12" fmla="*/ 126682 w 213359"/>
                  <a:gd name="connsiteY12" fmla="*/ 2858 h 364807"/>
                  <a:gd name="connsiteX13" fmla="*/ 152400 w 213359"/>
                  <a:gd name="connsiteY13" fmla="*/ 0 h 364807"/>
                  <a:gd name="connsiteX14" fmla="*/ 188595 w 213359"/>
                  <a:gd name="connsiteY14" fmla="*/ 3810 h 364807"/>
                  <a:gd name="connsiteX15" fmla="*/ 213360 w 213359"/>
                  <a:gd name="connsiteY15" fmla="*/ 15240 h 364807"/>
                  <a:gd name="connsiteX16" fmla="*/ 194310 w 213359"/>
                  <a:gd name="connsiteY16" fmla="*/ 80010 h 364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3359" h="364807">
                    <a:moveTo>
                      <a:pt x="194310" y="80010"/>
                    </a:moveTo>
                    <a:cubicBezTo>
                      <a:pt x="186690" y="76200"/>
                      <a:pt x="179070" y="72390"/>
                      <a:pt x="170497" y="70485"/>
                    </a:cubicBezTo>
                    <a:cubicBezTo>
                      <a:pt x="161925" y="68580"/>
                      <a:pt x="152400" y="67628"/>
                      <a:pt x="140970" y="67628"/>
                    </a:cubicBezTo>
                    <a:cubicBezTo>
                      <a:pt x="118110" y="67628"/>
                      <a:pt x="100965" y="75248"/>
                      <a:pt x="88582" y="90488"/>
                    </a:cubicBezTo>
                    <a:cubicBezTo>
                      <a:pt x="76200" y="105728"/>
                      <a:pt x="70485" y="128588"/>
                      <a:pt x="70485" y="160020"/>
                    </a:cubicBezTo>
                    <a:lnTo>
                      <a:pt x="70485" y="364808"/>
                    </a:lnTo>
                    <a:lnTo>
                      <a:pt x="0" y="364808"/>
                    </a:lnTo>
                    <a:lnTo>
                      <a:pt x="0" y="6667"/>
                    </a:lnTo>
                    <a:lnTo>
                      <a:pt x="70485" y="6667"/>
                    </a:lnTo>
                    <a:lnTo>
                      <a:pt x="70485" y="40958"/>
                    </a:lnTo>
                    <a:cubicBezTo>
                      <a:pt x="74295" y="35242"/>
                      <a:pt x="79057" y="29528"/>
                      <a:pt x="84772" y="24765"/>
                    </a:cubicBezTo>
                    <a:cubicBezTo>
                      <a:pt x="90488" y="20003"/>
                      <a:pt x="97155" y="15240"/>
                      <a:pt x="103822" y="11430"/>
                    </a:cubicBezTo>
                    <a:cubicBezTo>
                      <a:pt x="110490" y="7620"/>
                      <a:pt x="118110" y="4763"/>
                      <a:pt x="126682" y="2858"/>
                    </a:cubicBezTo>
                    <a:cubicBezTo>
                      <a:pt x="134302" y="953"/>
                      <a:pt x="142875" y="0"/>
                      <a:pt x="152400" y="0"/>
                    </a:cubicBezTo>
                    <a:cubicBezTo>
                      <a:pt x="166688" y="0"/>
                      <a:pt x="179070" y="953"/>
                      <a:pt x="188595" y="3810"/>
                    </a:cubicBezTo>
                    <a:cubicBezTo>
                      <a:pt x="198120" y="6667"/>
                      <a:pt x="206692" y="10478"/>
                      <a:pt x="213360" y="15240"/>
                    </a:cubicBezTo>
                    <a:lnTo>
                      <a:pt x="194310" y="80010"/>
                    </a:lnTo>
                    <a:close/>
                  </a:path>
                </a:pathLst>
              </a:custGeom>
              <a:solidFill>
                <a:srgbClr val="1A9AFA"/>
              </a:solidFill>
              <a:ln w="952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7C132D1F-65E0-3A78-063E-F0670F983E6A}"/>
                  </a:ext>
                </a:extLst>
              </p:cNvPr>
              <p:cNvSpPr/>
              <p:nvPr/>
            </p:nvSpPr>
            <p:spPr bwMode="invGray">
              <a:xfrm>
                <a:off x="12015291" y="6245544"/>
                <a:ext cx="208597" cy="504825"/>
              </a:xfrm>
              <a:custGeom>
                <a:avLst/>
                <a:gdLst>
                  <a:gd name="connsiteX0" fmla="*/ 200025 w 208597"/>
                  <a:gd name="connsiteY0" fmla="*/ 487680 h 504825"/>
                  <a:gd name="connsiteX1" fmla="*/ 169545 w 208597"/>
                  <a:gd name="connsiteY1" fmla="*/ 500063 h 504825"/>
                  <a:gd name="connsiteX2" fmla="*/ 131445 w 208597"/>
                  <a:gd name="connsiteY2" fmla="*/ 504825 h 504825"/>
                  <a:gd name="connsiteX3" fmla="*/ 99060 w 208597"/>
                  <a:gd name="connsiteY3" fmla="*/ 500063 h 504825"/>
                  <a:gd name="connsiteX4" fmla="*/ 74295 w 208597"/>
                  <a:gd name="connsiteY4" fmla="*/ 483870 h 504825"/>
                  <a:gd name="connsiteX5" fmla="*/ 57150 w 208597"/>
                  <a:gd name="connsiteY5" fmla="*/ 454342 h 504825"/>
                  <a:gd name="connsiteX6" fmla="*/ 51435 w 208597"/>
                  <a:gd name="connsiteY6" fmla="*/ 410528 h 504825"/>
                  <a:gd name="connsiteX7" fmla="*/ 51435 w 208597"/>
                  <a:gd name="connsiteY7" fmla="*/ 202883 h 504825"/>
                  <a:gd name="connsiteX8" fmla="*/ 0 w 208597"/>
                  <a:gd name="connsiteY8" fmla="*/ 202883 h 504825"/>
                  <a:gd name="connsiteX9" fmla="*/ 0 w 208597"/>
                  <a:gd name="connsiteY9" fmla="*/ 139065 h 504825"/>
                  <a:gd name="connsiteX10" fmla="*/ 51435 w 208597"/>
                  <a:gd name="connsiteY10" fmla="*/ 139065 h 504825"/>
                  <a:gd name="connsiteX11" fmla="*/ 51435 w 208597"/>
                  <a:gd name="connsiteY11" fmla="*/ 37148 h 504825"/>
                  <a:gd name="connsiteX12" fmla="*/ 120015 w 208597"/>
                  <a:gd name="connsiteY12" fmla="*/ 0 h 504825"/>
                  <a:gd name="connsiteX13" fmla="*/ 120015 w 208597"/>
                  <a:gd name="connsiteY13" fmla="*/ 139065 h 504825"/>
                  <a:gd name="connsiteX14" fmla="*/ 208597 w 208597"/>
                  <a:gd name="connsiteY14" fmla="*/ 139065 h 504825"/>
                  <a:gd name="connsiteX15" fmla="*/ 208597 w 208597"/>
                  <a:gd name="connsiteY15" fmla="*/ 202883 h 504825"/>
                  <a:gd name="connsiteX16" fmla="*/ 120015 w 208597"/>
                  <a:gd name="connsiteY16" fmla="*/ 202883 h 504825"/>
                  <a:gd name="connsiteX17" fmla="*/ 120015 w 208597"/>
                  <a:gd name="connsiteY17" fmla="*/ 397192 h 504825"/>
                  <a:gd name="connsiteX18" fmla="*/ 121920 w 208597"/>
                  <a:gd name="connsiteY18" fmla="*/ 418148 h 504825"/>
                  <a:gd name="connsiteX19" fmla="*/ 128588 w 208597"/>
                  <a:gd name="connsiteY19" fmla="*/ 431483 h 504825"/>
                  <a:gd name="connsiteX20" fmla="*/ 140018 w 208597"/>
                  <a:gd name="connsiteY20" fmla="*/ 438150 h 504825"/>
                  <a:gd name="connsiteX21" fmla="*/ 156210 w 208597"/>
                  <a:gd name="connsiteY21" fmla="*/ 440055 h 504825"/>
                  <a:gd name="connsiteX22" fmla="*/ 183833 w 208597"/>
                  <a:gd name="connsiteY22" fmla="*/ 435292 h 504825"/>
                  <a:gd name="connsiteX23" fmla="*/ 207645 w 208597"/>
                  <a:gd name="connsiteY23" fmla="*/ 425767 h 504825"/>
                  <a:gd name="connsiteX24" fmla="*/ 200025 w 208597"/>
                  <a:gd name="connsiteY24" fmla="*/ 48768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8597" h="504825">
                    <a:moveTo>
                      <a:pt x="200025" y="487680"/>
                    </a:moveTo>
                    <a:cubicBezTo>
                      <a:pt x="191453" y="492442"/>
                      <a:pt x="180975" y="496253"/>
                      <a:pt x="169545" y="500063"/>
                    </a:cubicBezTo>
                    <a:cubicBezTo>
                      <a:pt x="158115" y="502920"/>
                      <a:pt x="144780" y="504825"/>
                      <a:pt x="131445" y="504825"/>
                    </a:cubicBezTo>
                    <a:cubicBezTo>
                      <a:pt x="119063" y="504825"/>
                      <a:pt x="108585" y="502920"/>
                      <a:pt x="99060" y="500063"/>
                    </a:cubicBezTo>
                    <a:cubicBezTo>
                      <a:pt x="89535" y="496253"/>
                      <a:pt x="81915" y="491490"/>
                      <a:pt x="74295" y="483870"/>
                    </a:cubicBezTo>
                    <a:cubicBezTo>
                      <a:pt x="66675" y="476250"/>
                      <a:pt x="60960" y="466725"/>
                      <a:pt x="57150" y="454342"/>
                    </a:cubicBezTo>
                    <a:cubicBezTo>
                      <a:pt x="53340" y="441960"/>
                      <a:pt x="51435" y="427673"/>
                      <a:pt x="51435" y="410528"/>
                    </a:cubicBezTo>
                    <a:lnTo>
                      <a:pt x="51435" y="202883"/>
                    </a:lnTo>
                    <a:lnTo>
                      <a:pt x="0" y="202883"/>
                    </a:lnTo>
                    <a:lnTo>
                      <a:pt x="0" y="139065"/>
                    </a:lnTo>
                    <a:lnTo>
                      <a:pt x="51435" y="139065"/>
                    </a:lnTo>
                    <a:lnTo>
                      <a:pt x="51435" y="37148"/>
                    </a:lnTo>
                    <a:lnTo>
                      <a:pt x="120015" y="0"/>
                    </a:lnTo>
                    <a:lnTo>
                      <a:pt x="120015" y="139065"/>
                    </a:lnTo>
                    <a:lnTo>
                      <a:pt x="208597" y="139065"/>
                    </a:lnTo>
                    <a:lnTo>
                      <a:pt x="208597" y="202883"/>
                    </a:lnTo>
                    <a:lnTo>
                      <a:pt x="120015" y="202883"/>
                    </a:lnTo>
                    <a:lnTo>
                      <a:pt x="120015" y="397192"/>
                    </a:lnTo>
                    <a:cubicBezTo>
                      <a:pt x="120015" y="405765"/>
                      <a:pt x="120968" y="412433"/>
                      <a:pt x="121920" y="418148"/>
                    </a:cubicBezTo>
                    <a:cubicBezTo>
                      <a:pt x="123825" y="423863"/>
                      <a:pt x="125730" y="427673"/>
                      <a:pt x="128588" y="431483"/>
                    </a:cubicBezTo>
                    <a:cubicBezTo>
                      <a:pt x="131445" y="434340"/>
                      <a:pt x="135255" y="437198"/>
                      <a:pt x="140018" y="438150"/>
                    </a:cubicBezTo>
                    <a:cubicBezTo>
                      <a:pt x="144780" y="439103"/>
                      <a:pt x="150495" y="440055"/>
                      <a:pt x="156210" y="440055"/>
                    </a:cubicBezTo>
                    <a:cubicBezTo>
                      <a:pt x="165735" y="440055"/>
                      <a:pt x="174308" y="438150"/>
                      <a:pt x="183833" y="435292"/>
                    </a:cubicBezTo>
                    <a:cubicBezTo>
                      <a:pt x="193358" y="432435"/>
                      <a:pt x="200978" y="428625"/>
                      <a:pt x="207645" y="425767"/>
                    </a:cubicBezTo>
                    <a:lnTo>
                      <a:pt x="200025" y="487680"/>
                    </a:lnTo>
                    <a:close/>
                  </a:path>
                </a:pathLst>
              </a:custGeom>
              <a:solidFill>
                <a:srgbClr val="1A9AFA"/>
              </a:solidFill>
              <a:ln w="952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9C2EAE92-9AF6-8407-AA31-8818A4873A4B}"/>
                  </a:ext>
                </a:extLst>
              </p:cNvPr>
              <p:cNvSpPr/>
              <p:nvPr/>
            </p:nvSpPr>
            <p:spPr bwMode="invGray">
              <a:xfrm>
                <a:off x="12286754" y="6244592"/>
                <a:ext cx="287655" cy="498157"/>
              </a:xfrm>
              <a:custGeom>
                <a:avLst/>
                <a:gdLst>
                  <a:gd name="connsiteX0" fmla="*/ 219075 w 287655"/>
                  <a:gd name="connsiteY0" fmla="*/ 498157 h 498157"/>
                  <a:gd name="connsiteX1" fmla="*/ 219075 w 287655"/>
                  <a:gd name="connsiteY1" fmla="*/ 295275 h 498157"/>
                  <a:gd name="connsiteX2" fmla="*/ 200978 w 287655"/>
                  <a:gd name="connsiteY2" fmla="*/ 220980 h 498157"/>
                  <a:gd name="connsiteX3" fmla="*/ 144780 w 287655"/>
                  <a:gd name="connsiteY3" fmla="*/ 196215 h 498157"/>
                  <a:gd name="connsiteX4" fmla="*/ 114300 w 287655"/>
                  <a:gd name="connsiteY4" fmla="*/ 201930 h 498157"/>
                  <a:gd name="connsiteX5" fmla="*/ 90488 w 287655"/>
                  <a:gd name="connsiteY5" fmla="*/ 220027 h 498157"/>
                  <a:gd name="connsiteX6" fmla="*/ 75247 w 287655"/>
                  <a:gd name="connsiteY6" fmla="*/ 248602 h 498157"/>
                  <a:gd name="connsiteX7" fmla="*/ 70485 w 287655"/>
                  <a:gd name="connsiteY7" fmla="*/ 287655 h 498157"/>
                  <a:gd name="connsiteX8" fmla="*/ 70485 w 287655"/>
                  <a:gd name="connsiteY8" fmla="*/ 497205 h 498157"/>
                  <a:gd name="connsiteX9" fmla="*/ 0 w 287655"/>
                  <a:gd name="connsiteY9" fmla="*/ 497205 h 498157"/>
                  <a:gd name="connsiteX10" fmla="*/ 0 w 287655"/>
                  <a:gd name="connsiteY10" fmla="*/ 37147 h 498157"/>
                  <a:gd name="connsiteX11" fmla="*/ 70485 w 287655"/>
                  <a:gd name="connsiteY11" fmla="*/ 0 h 498157"/>
                  <a:gd name="connsiteX12" fmla="*/ 70485 w 287655"/>
                  <a:gd name="connsiteY12" fmla="*/ 173355 h 498157"/>
                  <a:gd name="connsiteX13" fmla="*/ 86678 w 287655"/>
                  <a:gd name="connsiteY13" fmla="*/ 156210 h 498157"/>
                  <a:gd name="connsiteX14" fmla="*/ 107633 w 287655"/>
                  <a:gd name="connsiteY14" fmla="*/ 142875 h 498157"/>
                  <a:gd name="connsiteX15" fmla="*/ 132397 w 287655"/>
                  <a:gd name="connsiteY15" fmla="*/ 134302 h 498157"/>
                  <a:gd name="connsiteX16" fmla="*/ 160020 w 287655"/>
                  <a:gd name="connsiteY16" fmla="*/ 131445 h 498157"/>
                  <a:gd name="connsiteX17" fmla="*/ 216218 w 287655"/>
                  <a:gd name="connsiteY17" fmla="*/ 141922 h 498157"/>
                  <a:gd name="connsiteX18" fmla="*/ 256222 w 287655"/>
                  <a:gd name="connsiteY18" fmla="*/ 172402 h 498157"/>
                  <a:gd name="connsiteX19" fmla="*/ 280035 w 287655"/>
                  <a:gd name="connsiteY19" fmla="*/ 223838 h 498157"/>
                  <a:gd name="connsiteX20" fmla="*/ 287655 w 287655"/>
                  <a:gd name="connsiteY20" fmla="*/ 292417 h 498157"/>
                  <a:gd name="connsiteX21" fmla="*/ 287655 w 287655"/>
                  <a:gd name="connsiteY21" fmla="*/ 497205 h 498157"/>
                  <a:gd name="connsiteX22" fmla="*/ 219075 w 287655"/>
                  <a:gd name="connsiteY22" fmla="*/ 497205 h 49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655" h="498157">
                    <a:moveTo>
                      <a:pt x="219075" y="498157"/>
                    </a:moveTo>
                    <a:lnTo>
                      <a:pt x="219075" y="295275"/>
                    </a:lnTo>
                    <a:cubicBezTo>
                      <a:pt x="219075" y="261938"/>
                      <a:pt x="213360" y="237172"/>
                      <a:pt x="200978" y="220980"/>
                    </a:cubicBezTo>
                    <a:cubicBezTo>
                      <a:pt x="189547" y="204788"/>
                      <a:pt x="170497" y="196215"/>
                      <a:pt x="144780" y="196215"/>
                    </a:cubicBezTo>
                    <a:cubicBezTo>
                      <a:pt x="134303" y="196215"/>
                      <a:pt x="123825" y="198120"/>
                      <a:pt x="114300" y="201930"/>
                    </a:cubicBezTo>
                    <a:cubicBezTo>
                      <a:pt x="104775" y="205740"/>
                      <a:pt x="97155" y="211455"/>
                      <a:pt x="90488" y="220027"/>
                    </a:cubicBezTo>
                    <a:cubicBezTo>
                      <a:pt x="83820" y="228600"/>
                      <a:pt x="79058" y="238125"/>
                      <a:pt x="75247" y="248602"/>
                    </a:cubicBezTo>
                    <a:cubicBezTo>
                      <a:pt x="72390" y="260032"/>
                      <a:pt x="70485" y="272415"/>
                      <a:pt x="70485" y="287655"/>
                    </a:cubicBezTo>
                    <a:lnTo>
                      <a:pt x="70485" y="497205"/>
                    </a:lnTo>
                    <a:lnTo>
                      <a:pt x="0" y="497205"/>
                    </a:lnTo>
                    <a:lnTo>
                      <a:pt x="0" y="37147"/>
                    </a:lnTo>
                    <a:lnTo>
                      <a:pt x="70485" y="0"/>
                    </a:lnTo>
                    <a:lnTo>
                      <a:pt x="70485" y="173355"/>
                    </a:lnTo>
                    <a:cubicBezTo>
                      <a:pt x="75247" y="166688"/>
                      <a:pt x="80010" y="160972"/>
                      <a:pt x="86678" y="156210"/>
                    </a:cubicBezTo>
                    <a:cubicBezTo>
                      <a:pt x="93345" y="151447"/>
                      <a:pt x="100013" y="146685"/>
                      <a:pt x="107633" y="142875"/>
                    </a:cubicBezTo>
                    <a:cubicBezTo>
                      <a:pt x="115253" y="139065"/>
                      <a:pt x="123825" y="136207"/>
                      <a:pt x="132397" y="134302"/>
                    </a:cubicBezTo>
                    <a:cubicBezTo>
                      <a:pt x="140970" y="132397"/>
                      <a:pt x="150495" y="131445"/>
                      <a:pt x="160020" y="131445"/>
                    </a:cubicBezTo>
                    <a:cubicBezTo>
                      <a:pt x="181928" y="131445"/>
                      <a:pt x="200025" y="135255"/>
                      <a:pt x="216218" y="141922"/>
                    </a:cubicBezTo>
                    <a:cubicBezTo>
                      <a:pt x="232410" y="148590"/>
                      <a:pt x="244793" y="159067"/>
                      <a:pt x="256222" y="172402"/>
                    </a:cubicBezTo>
                    <a:cubicBezTo>
                      <a:pt x="266700" y="185738"/>
                      <a:pt x="275272" y="202882"/>
                      <a:pt x="280035" y="223838"/>
                    </a:cubicBezTo>
                    <a:cubicBezTo>
                      <a:pt x="284797" y="244792"/>
                      <a:pt x="287655" y="267652"/>
                      <a:pt x="287655" y="292417"/>
                    </a:cubicBezTo>
                    <a:lnTo>
                      <a:pt x="287655" y="497205"/>
                    </a:lnTo>
                    <a:lnTo>
                      <a:pt x="219075" y="497205"/>
                    </a:lnTo>
                    <a:close/>
                  </a:path>
                </a:pathLst>
              </a:custGeom>
              <a:solidFill>
                <a:srgbClr val="1A9AFA"/>
              </a:solidFill>
              <a:ln w="952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66E6D31-8031-F7EB-3990-AD90DEDBE920}"/>
                  </a:ext>
                </a:extLst>
              </p:cNvPr>
              <p:cNvSpPr/>
              <p:nvPr/>
            </p:nvSpPr>
            <p:spPr bwMode="invGray">
              <a:xfrm>
                <a:off x="12627749" y="6376036"/>
                <a:ext cx="308609" cy="374332"/>
              </a:xfrm>
              <a:custGeom>
                <a:avLst/>
                <a:gdLst>
                  <a:gd name="connsiteX0" fmla="*/ 237172 w 308609"/>
                  <a:gd name="connsiteY0" fmla="*/ 154305 h 374332"/>
                  <a:gd name="connsiteX1" fmla="*/ 230505 w 308609"/>
                  <a:gd name="connsiteY1" fmla="*/ 120015 h 374332"/>
                  <a:gd name="connsiteX2" fmla="*/ 215265 w 308609"/>
                  <a:gd name="connsiteY2" fmla="*/ 91440 h 374332"/>
                  <a:gd name="connsiteX3" fmla="*/ 189547 w 308609"/>
                  <a:gd name="connsiteY3" fmla="*/ 72390 h 374332"/>
                  <a:gd name="connsiteX4" fmla="*/ 152400 w 308609"/>
                  <a:gd name="connsiteY4" fmla="*/ 64770 h 374332"/>
                  <a:gd name="connsiteX5" fmla="*/ 120015 w 308609"/>
                  <a:gd name="connsiteY5" fmla="*/ 70485 h 374332"/>
                  <a:gd name="connsiteX6" fmla="*/ 96202 w 308609"/>
                  <a:gd name="connsiteY6" fmla="*/ 87630 h 374332"/>
                  <a:gd name="connsiteX7" fmla="*/ 80010 w 308609"/>
                  <a:gd name="connsiteY7" fmla="*/ 115253 h 374332"/>
                  <a:gd name="connsiteX8" fmla="*/ 71438 w 308609"/>
                  <a:gd name="connsiteY8" fmla="*/ 153353 h 374332"/>
                  <a:gd name="connsiteX9" fmla="*/ 237172 w 308609"/>
                  <a:gd name="connsiteY9" fmla="*/ 153353 h 374332"/>
                  <a:gd name="connsiteX10" fmla="*/ 308610 w 308609"/>
                  <a:gd name="connsiteY10" fmla="*/ 180023 h 374332"/>
                  <a:gd name="connsiteX11" fmla="*/ 307657 w 308609"/>
                  <a:gd name="connsiteY11" fmla="*/ 198120 h 374332"/>
                  <a:gd name="connsiteX12" fmla="*/ 306705 w 308609"/>
                  <a:gd name="connsiteY12" fmla="*/ 212408 h 374332"/>
                  <a:gd name="connsiteX13" fmla="*/ 69532 w 308609"/>
                  <a:gd name="connsiteY13" fmla="*/ 212408 h 374332"/>
                  <a:gd name="connsiteX14" fmla="*/ 80963 w 308609"/>
                  <a:gd name="connsiteY14" fmla="*/ 257175 h 374332"/>
                  <a:gd name="connsiteX15" fmla="*/ 100965 w 308609"/>
                  <a:gd name="connsiteY15" fmla="*/ 287655 h 374332"/>
                  <a:gd name="connsiteX16" fmla="*/ 128588 w 308609"/>
                  <a:gd name="connsiteY16" fmla="*/ 305753 h 374332"/>
                  <a:gd name="connsiteX17" fmla="*/ 160020 w 308609"/>
                  <a:gd name="connsiteY17" fmla="*/ 311468 h 374332"/>
                  <a:gd name="connsiteX18" fmla="*/ 181927 w 308609"/>
                  <a:gd name="connsiteY18" fmla="*/ 309563 h 374332"/>
                  <a:gd name="connsiteX19" fmla="*/ 201930 w 308609"/>
                  <a:gd name="connsiteY19" fmla="*/ 303848 h 374332"/>
                  <a:gd name="connsiteX20" fmla="*/ 219075 w 308609"/>
                  <a:gd name="connsiteY20" fmla="*/ 295275 h 374332"/>
                  <a:gd name="connsiteX21" fmla="*/ 238125 w 308609"/>
                  <a:gd name="connsiteY21" fmla="*/ 282893 h 374332"/>
                  <a:gd name="connsiteX22" fmla="*/ 280035 w 308609"/>
                  <a:gd name="connsiteY22" fmla="*/ 327660 h 374332"/>
                  <a:gd name="connsiteX23" fmla="*/ 254317 w 308609"/>
                  <a:gd name="connsiteY23" fmla="*/ 347663 h 374332"/>
                  <a:gd name="connsiteX24" fmla="*/ 227647 w 308609"/>
                  <a:gd name="connsiteY24" fmla="*/ 361950 h 374332"/>
                  <a:gd name="connsiteX25" fmla="*/ 195263 w 308609"/>
                  <a:gd name="connsiteY25" fmla="*/ 371475 h 374332"/>
                  <a:gd name="connsiteX26" fmla="*/ 155257 w 308609"/>
                  <a:gd name="connsiteY26" fmla="*/ 374333 h 374332"/>
                  <a:gd name="connsiteX27" fmla="*/ 111442 w 308609"/>
                  <a:gd name="connsiteY27" fmla="*/ 367665 h 374332"/>
                  <a:gd name="connsiteX28" fmla="*/ 75247 w 308609"/>
                  <a:gd name="connsiteY28" fmla="*/ 350520 h 374332"/>
                  <a:gd name="connsiteX29" fmla="*/ 46672 w 308609"/>
                  <a:gd name="connsiteY29" fmla="*/ 326708 h 374332"/>
                  <a:gd name="connsiteX30" fmla="*/ 22860 w 308609"/>
                  <a:gd name="connsiteY30" fmla="*/ 292418 h 374332"/>
                  <a:gd name="connsiteX31" fmla="*/ 5715 w 308609"/>
                  <a:gd name="connsiteY31" fmla="*/ 244793 h 374332"/>
                  <a:gd name="connsiteX32" fmla="*/ 0 w 308609"/>
                  <a:gd name="connsiteY32" fmla="*/ 187643 h 374332"/>
                  <a:gd name="connsiteX33" fmla="*/ 11430 w 308609"/>
                  <a:gd name="connsiteY33" fmla="*/ 107633 h 374332"/>
                  <a:gd name="connsiteX34" fmla="*/ 43815 w 308609"/>
                  <a:gd name="connsiteY34" fmla="*/ 48578 h 374332"/>
                  <a:gd name="connsiteX35" fmla="*/ 93345 w 308609"/>
                  <a:gd name="connsiteY35" fmla="*/ 12383 h 374332"/>
                  <a:gd name="connsiteX36" fmla="*/ 157163 w 308609"/>
                  <a:gd name="connsiteY36" fmla="*/ 0 h 374332"/>
                  <a:gd name="connsiteX37" fmla="*/ 223838 w 308609"/>
                  <a:gd name="connsiteY37" fmla="*/ 14288 h 374332"/>
                  <a:gd name="connsiteX38" fmla="*/ 270510 w 308609"/>
                  <a:gd name="connsiteY38" fmla="*/ 53340 h 374332"/>
                  <a:gd name="connsiteX39" fmla="*/ 298132 w 308609"/>
                  <a:gd name="connsiteY39" fmla="*/ 110490 h 374332"/>
                  <a:gd name="connsiteX40" fmla="*/ 308610 w 308609"/>
                  <a:gd name="connsiteY40" fmla="*/ 180023 h 37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08609" h="374332">
                    <a:moveTo>
                      <a:pt x="237172" y="154305"/>
                    </a:moveTo>
                    <a:cubicBezTo>
                      <a:pt x="236220" y="141923"/>
                      <a:pt x="234315" y="130493"/>
                      <a:pt x="230505" y="120015"/>
                    </a:cubicBezTo>
                    <a:cubicBezTo>
                      <a:pt x="226695" y="109538"/>
                      <a:pt x="221932" y="100013"/>
                      <a:pt x="215265" y="91440"/>
                    </a:cubicBezTo>
                    <a:cubicBezTo>
                      <a:pt x="208597" y="82868"/>
                      <a:pt x="200025" y="77153"/>
                      <a:pt x="189547" y="72390"/>
                    </a:cubicBezTo>
                    <a:cubicBezTo>
                      <a:pt x="179070" y="67628"/>
                      <a:pt x="166688" y="64770"/>
                      <a:pt x="152400" y="64770"/>
                    </a:cubicBezTo>
                    <a:cubicBezTo>
                      <a:pt x="140017" y="64770"/>
                      <a:pt x="129540" y="66675"/>
                      <a:pt x="120015" y="70485"/>
                    </a:cubicBezTo>
                    <a:cubicBezTo>
                      <a:pt x="110490" y="74295"/>
                      <a:pt x="102870" y="80010"/>
                      <a:pt x="96202" y="87630"/>
                    </a:cubicBezTo>
                    <a:cubicBezTo>
                      <a:pt x="89535" y="95250"/>
                      <a:pt x="83820" y="104775"/>
                      <a:pt x="80010" y="115253"/>
                    </a:cubicBezTo>
                    <a:cubicBezTo>
                      <a:pt x="75247" y="126683"/>
                      <a:pt x="72390" y="139065"/>
                      <a:pt x="71438" y="153353"/>
                    </a:cubicBezTo>
                    <a:lnTo>
                      <a:pt x="237172" y="153353"/>
                    </a:lnTo>
                    <a:close/>
                    <a:moveTo>
                      <a:pt x="308610" y="180023"/>
                    </a:moveTo>
                    <a:cubicBezTo>
                      <a:pt x="308610" y="186690"/>
                      <a:pt x="308610" y="192405"/>
                      <a:pt x="307657" y="198120"/>
                    </a:cubicBezTo>
                    <a:cubicBezTo>
                      <a:pt x="307657" y="203835"/>
                      <a:pt x="306705" y="208598"/>
                      <a:pt x="306705" y="212408"/>
                    </a:cubicBezTo>
                    <a:lnTo>
                      <a:pt x="69532" y="212408"/>
                    </a:lnTo>
                    <a:cubicBezTo>
                      <a:pt x="71438" y="229553"/>
                      <a:pt x="75247" y="244793"/>
                      <a:pt x="80963" y="257175"/>
                    </a:cubicBezTo>
                    <a:cubicBezTo>
                      <a:pt x="86677" y="269558"/>
                      <a:pt x="93345" y="280035"/>
                      <a:pt x="100965" y="287655"/>
                    </a:cubicBezTo>
                    <a:cubicBezTo>
                      <a:pt x="108585" y="295275"/>
                      <a:pt x="118110" y="301943"/>
                      <a:pt x="128588" y="305753"/>
                    </a:cubicBezTo>
                    <a:cubicBezTo>
                      <a:pt x="139065" y="309563"/>
                      <a:pt x="149542" y="311468"/>
                      <a:pt x="160020" y="311468"/>
                    </a:cubicBezTo>
                    <a:cubicBezTo>
                      <a:pt x="167640" y="311468"/>
                      <a:pt x="175260" y="310515"/>
                      <a:pt x="181927" y="309563"/>
                    </a:cubicBezTo>
                    <a:cubicBezTo>
                      <a:pt x="188595" y="308610"/>
                      <a:pt x="195263" y="306705"/>
                      <a:pt x="201930" y="303848"/>
                    </a:cubicBezTo>
                    <a:cubicBezTo>
                      <a:pt x="208597" y="300990"/>
                      <a:pt x="214313" y="298133"/>
                      <a:pt x="219075" y="295275"/>
                    </a:cubicBezTo>
                    <a:cubicBezTo>
                      <a:pt x="223838" y="292418"/>
                      <a:pt x="230505" y="288608"/>
                      <a:pt x="238125" y="282893"/>
                    </a:cubicBezTo>
                    <a:lnTo>
                      <a:pt x="280035" y="327660"/>
                    </a:lnTo>
                    <a:cubicBezTo>
                      <a:pt x="271463" y="336233"/>
                      <a:pt x="262890" y="342900"/>
                      <a:pt x="254317" y="347663"/>
                    </a:cubicBezTo>
                    <a:cubicBezTo>
                      <a:pt x="245745" y="352425"/>
                      <a:pt x="237172" y="357188"/>
                      <a:pt x="227647" y="361950"/>
                    </a:cubicBezTo>
                    <a:cubicBezTo>
                      <a:pt x="218122" y="365760"/>
                      <a:pt x="207645" y="369570"/>
                      <a:pt x="195263" y="371475"/>
                    </a:cubicBezTo>
                    <a:cubicBezTo>
                      <a:pt x="182880" y="373380"/>
                      <a:pt x="170497" y="374333"/>
                      <a:pt x="155257" y="374333"/>
                    </a:cubicBezTo>
                    <a:cubicBezTo>
                      <a:pt x="140017" y="374333"/>
                      <a:pt x="124777" y="372428"/>
                      <a:pt x="111442" y="367665"/>
                    </a:cubicBezTo>
                    <a:cubicBezTo>
                      <a:pt x="98107" y="362903"/>
                      <a:pt x="85725" y="358140"/>
                      <a:pt x="75247" y="350520"/>
                    </a:cubicBezTo>
                    <a:cubicBezTo>
                      <a:pt x="64770" y="343853"/>
                      <a:pt x="55245" y="335280"/>
                      <a:pt x="46672" y="326708"/>
                    </a:cubicBezTo>
                    <a:cubicBezTo>
                      <a:pt x="38100" y="318135"/>
                      <a:pt x="30480" y="305753"/>
                      <a:pt x="22860" y="292418"/>
                    </a:cubicBezTo>
                    <a:cubicBezTo>
                      <a:pt x="15240" y="278130"/>
                      <a:pt x="9525" y="262890"/>
                      <a:pt x="5715" y="244793"/>
                    </a:cubicBezTo>
                    <a:cubicBezTo>
                      <a:pt x="1905" y="227648"/>
                      <a:pt x="0" y="208598"/>
                      <a:pt x="0" y="187643"/>
                    </a:cubicBezTo>
                    <a:cubicBezTo>
                      <a:pt x="0" y="157163"/>
                      <a:pt x="3810" y="130493"/>
                      <a:pt x="11430" y="107633"/>
                    </a:cubicBezTo>
                    <a:cubicBezTo>
                      <a:pt x="19050" y="84773"/>
                      <a:pt x="29527" y="64770"/>
                      <a:pt x="43815" y="48578"/>
                    </a:cubicBezTo>
                    <a:cubicBezTo>
                      <a:pt x="57150" y="32385"/>
                      <a:pt x="74295" y="20955"/>
                      <a:pt x="93345" y="12383"/>
                    </a:cubicBezTo>
                    <a:cubicBezTo>
                      <a:pt x="112395" y="3810"/>
                      <a:pt x="134302" y="0"/>
                      <a:pt x="157163" y="0"/>
                    </a:cubicBezTo>
                    <a:cubicBezTo>
                      <a:pt x="182880" y="0"/>
                      <a:pt x="204788" y="4763"/>
                      <a:pt x="223838" y="14288"/>
                    </a:cubicBezTo>
                    <a:cubicBezTo>
                      <a:pt x="242888" y="23813"/>
                      <a:pt x="258127" y="37148"/>
                      <a:pt x="270510" y="53340"/>
                    </a:cubicBezTo>
                    <a:cubicBezTo>
                      <a:pt x="282892" y="69533"/>
                      <a:pt x="292417" y="88583"/>
                      <a:pt x="298132" y="110490"/>
                    </a:cubicBezTo>
                    <a:cubicBezTo>
                      <a:pt x="304800" y="133350"/>
                      <a:pt x="308610" y="156210"/>
                      <a:pt x="308610" y="180023"/>
                    </a:cubicBezTo>
                  </a:path>
                </a:pathLst>
              </a:custGeom>
              <a:solidFill>
                <a:srgbClr val="1A9AFA"/>
              </a:solidFill>
              <a:ln w="952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ED7F00B5-1A4B-0A47-9A86-FD812223ACA9}"/>
                  </a:ext>
                </a:extLst>
              </p:cNvPr>
              <p:cNvSpPr/>
              <p:nvPr/>
            </p:nvSpPr>
            <p:spPr bwMode="invGray">
              <a:xfrm>
                <a:off x="12987794" y="6376989"/>
                <a:ext cx="287655" cy="365759"/>
              </a:xfrm>
              <a:custGeom>
                <a:avLst/>
                <a:gdLst>
                  <a:gd name="connsiteX0" fmla="*/ 218122 w 287655"/>
                  <a:gd name="connsiteY0" fmla="*/ 365760 h 365759"/>
                  <a:gd name="connsiteX1" fmla="*/ 218122 w 287655"/>
                  <a:gd name="connsiteY1" fmla="*/ 162878 h 365759"/>
                  <a:gd name="connsiteX2" fmla="*/ 200978 w 287655"/>
                  <a:gd name="connsiteY2" fmla="*/ 89535 h 365759"/>
                  <a:gd name="connsiteX3" fmla="*/ 144780 w 287655"/>
                  <a:gd name="connsiteY3" fmla="*/ 64770 h 365759"/>
                  <a:gd name="connsiteX4" fmla="*/ 113347 w 287655"/>
                  <a:gd name="connsiteY4" fmla="*/ 70485 h 365759"/>
                  <a:gd name="connsiteX5" fmla="*/ 89535 w 287655"/>
                  <a:gd name="connsiteY5" fmla="*/ 89535 h 365759"/>
                  <a:gd name="connsiteX6" fmla="*/ 75247 w 287655"/>
                  <a:gd name="connsiteY6" fmla="*/ 119063 h 365759"/>
                  <a:gd name="connsiteX7" fmla="*/ 70485 w 287655"/>
                  <a:gd name="connsiteY7" fmla="*/ 156210 h 365759"/>
                  <a:gd name="connsiteX8" fmla="*/ 70485 w 287655"/>
                  <a:gd name="connsiteY8" fmla="*/ 365760 h 365759"/>
                  <a:gd name="connsiteX9" fmla="*/ 0 w 287655"/>
                  <a:gd name="connsiteY9" fmla="*/ 365760 h 365759"/>
                  <a:gd name="connsiteX10" fmla="*/ 0 w 287655"/>
                  <a:gd name="connsiteY10" fmla="*/ 7620 h 365759"/>
                  <a:gd name="connsiteX11" fmla="*/ 70485 w 287655"/>
                  <a:gd name="connsiteY11" fmla="*/ 7620 h 365759"/>
                  <a:gd name="connsiteX12" fmla="*/ 70485 w 287655"/>
                  <a:gd name="connsiteY12" fmla="*/ 41910 h 365759"/>
                  <a:gd name="connsiteX13" fmla="*/ 86678 w 287655"/>
                  <a:gd name="connsiteY13" fmla="*/ 24765 h 365759"/>
                  <a:gd name="connsiteX14" fmla="*/ 107632 w 287655"/>
                  <a:gd name="connsiteY14" fmla="*/ 11430 h 365759"/>
                  <a:gd name="connsiteX15" fmla="*/ 132397 w 287655"/>
                  <a:gd name="connsiteY15" fmla="*/ 2858 h 365759"/>
                  <a:gd name="connsiteX16" fmla="*/ 160020 w 287655"/>
                  <a:gd name="connsiteY16" fmla="*/ 0 h 365759"/>
                  <a:gd name="connsiteX17" fmla="*/ 216218 w 287655"/>
                  <a:gd name="connsiteY17" fmla="*/ 10478 h 365759"/>
                  <a:gd name="connsiteX18" fmla="*/ 256222 w 287655"/>
                  <a:gd name="connsiteY18" fmla="*/ 40958 h 365759"/>
                  <a:gd name="connsiteX19" fmla="*/ 280035 w 287655"/>
                  <a:gd name="connsiteY19" fmla="*/ 90488 h 365759"/>
                  <a:gd name="connsiteX20" fmla="*/ 287655 w 287655"/>
                  <a:gd name="connsiteY20" fmla="*/ 160972 h 365759"/>
                  <a:gd name="connsiteX21" fmla="*/ 287655 w 287655"/>
                  <a:gd name="connsiteY21" fmla="*/ 365760 h 365759"/>
                  <a:gd name="connsiteX22" fmla="*/ 218122 w 287655"/>
                  <a:gd name="connsiteY22" fmla="*/ 365760 h 36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655" h="365759">
                    <a:moveTo>
                      <a:pt x="218122" y="365760"/>
                    </a:moveTo>
                    <a:lnTo>
                      <a:pt x="218122" y="162878"/>
                    </a:lnTo>
                    <a:cubicBezTo>
                      <a:pt x="218122" y="130492"/>
                      <a:pt x="212407" y="105728"/>
                      <a:pt x="200978" y="89535"/>
                    </a:cubicBezTo>
                    <a:cubicBezTo>
                      <a:pt x="189547" y="73342"/>
                      <a:pt x="170497" y="64770"/>
                      <a:pt x="144780" y="64770"/>
                    </a:cubicBezTo>
                    <a:cubicBezTo>
                      <a:pt x="133350" y="64770"/>
                      <a:pt x="122872" y="66675"/>
                      <a:pt x="113347" y="70485"/>
                    </a:cubicBezTo>
                    <a:cubicBezTo>
                      <a:pt x="103822" y="74295"/>
                      <a:pt x="96203" y="80963"/>
                      <a:pt x="89535" y="89535"/>
                    </a:cubicBezTo>
                    <a:cubicBezTo>
                      <a:pt x="82868" y="98108"/>
                      <a:pt x="78105" y="107633"/>
                      <a:pt x="75247" y="119063"/>
                    </a:cubicBezTo>
                    <a:cubicBezTo>
                      <a:pt x="72390" y="130492"/>
                      <a:pt x="70485" y="142875"/>
                      <a:pt x="70485" y="156210"/>
                    </a:cubicBezTo>
                    <a:lnTo>
                      <a:pt x="70485" y="365760"/>
                    </a:lnTo>
                    <a:lnTo>
                      <a:pt x="0" y="365760"/>
                    </a:lnTo>
                    <a:lnTo>
                      <a:pt x="0" y="7620"/>
                    </a:lnTo>
                    <a:lnTo>
                      <a:pt x="70485" y="7620"/>
                    </a:lnTo>
                    <a:lnTo>
                      <a:pt x="70485" y="41910"/>
                    </a:lnTo>
                    <a:cubicBezTo>
                      <a:pt x="75247" y="35242"/>
                      <a:pt x="80010" y="29528"/>
                      <a:pt x="86678" y="24765"/>
                    </a:cubicBezTo>
                    <a:cubicBezTo>
                      <a:pt x="93345" y="20003"/>
                      <a:pt x="100013" y="15240"/>
                      <a:pt x="107632" y="11430"/>
                    </a:cubicBezTo>
                    <a:cubicBezTo>
                      <a:pt x="115253" y="7620"/>
                      <a:pt x="123825" y="4763"/>
                      <a:pt x="132397" y="2858"/>
                    </a:cubicBezTo>
                    <a:cubicBezTo>
                      <a:pt x="140970" y="953"/>
                      <a:pt x="150495" y="0"/>
                      <a:pt x="160020" y="0"/>
                    </a:cubicBezTo>
                    <a:cubicBezTo>
                      <a:pt x="181928" y="0"/>
                      <a:pt x="200025" y="3810"/>
                      <a:pt x="216218" y="10478"/>
                    </a:cubicBezTo>
                    <a:cubicBezTo>
                      <a:pt x="232410" y="17145"/>
                      <a:pt x="245745" y="27622"/>
                      <a:pt x="256222" y="40958"/>
                    </a:cubicBezTo>
                    <a:cubicBezTo>
                      <a:pt x="266700" y="54292"/>
                      <a:pt x="274320" y="70485"/>
                      <a:pt x="280035" y="90488"/>
                    </a:cubicBezTo>
                    <a:cubicBezTo>
                      <a:pt x="285750" y="110490"/>
                      <a:pt x="287655" y="134303"/>
                      <a:pt x="287655" y="160972"/>
                    </a:cubicBezTo>
                    <a:lnTo>
                      <a:pt x="287655" y="365760"/>
                    </a:lnTo>
                    <a:lnTo>
                      <a:pt x="218122" y="365760"/>
                    </a:lnTo>
                    <a:close/>
                  </a:path>
                </a:pathLst>
              </a:custGeom>
              <a:solidFill>
                <a:srgbClr val="1A9AFA"/>
              </a:solidFill>
              <a:ln w="952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3AD27FE2-4BCF-D8FF-0D9C-21FC583E424D}"/>
                  </a:ext>
                </a:extLst>
              </p:cNvPr>
              <p:cNvSpPr/>
              <p:nvPr/>
            </p:nvSpPr>
            <p:spPr bwMode="invGray">
              <a:xfrm>
                <a:off x="13327837" y="6376036"/>
                <a:ext cx="320039" cy="374332"/>
              </a:xfrm>
              <a:custGeom>
                <a:avLst/>
                <a:gdLst>
                  <a:gd name="connsiteX0" fmla="*/ 248602 w 320039"/>
                  <a:gd name="connsiteY0" fmla="*/ 187643 h 374332"/>
                  <a:gd name="connsiteX1" fmla="*/ 241935 w 320039"/>
                  <a:gd name="connsiteY1" fmla="*/ 138113 h 374332"/>
                  <a:gd name="connsiteX2" fmla="*/ 223838 w 320039"/>
                  <a:gd name="connsiteY2" fmla="*/ 100013 h 374332"/>
                  <a:gd name="connsiteX3" fmla="*/ 195263 w 320039"/>
                  <a:gd name="connsiteY3" fmla="*/ 76200 h 374332"/>
                  <a:gd name="connsiteX4" fmla="*/ 157163 w 320039"/>
                  <a:gd name="connsiteY4" fmla="*/ 67628 h 374332"/>
                  <a:gd name="connsiteX5" fmla="*/ 120967 w 320039"/>
                  <a:gd name="connsiteY5" fmla="*/ 76200 h 374332"/>
                  <a:gd name="connsiteX6" fmla="*/ 94297 w 320039"/>
                  <a:gd name="connsiteY6" fmla="*/ 100013 h 374332"/>
                  <a:gd name="connsiteX7" fmla="*/ 77152 w 320039"/>
                  <a:gd name="connsiteY7" fmla="*/ 137160 h 374332"/>
                  <a:gd name="connsiteX8" fmla="*/ 71438 w 320039"/>
                  <a:gd name="connsiteY8" fmla="*/ 185738 h 374332"/>
                  <a:gd name="connsiteX9" fmla="*/ 78105 w 320039"/>
                  <a:gd name="connsiteY9" fmla="*/ 238125 h 374332"/>
                  <a:gd name="connsiteX10" fmla="*/ 96202 w 320039"/>
                  <a:gd name="connsiteY10" fmla="*/ 276225 h 374332"/>
                  <a:gd name="connsiteX11" fmla="*/ 124777 w 320039"/>
                  <a:gd name="connsiteY11" fmla="*/ 299085 h 374332"/>
                  <a:gd name="connsiteX12" fmla="*/ 160972 w 320039"/>
                  <a:gd name="connsiteY12" fmla="*/ 306705 h 374332"/>
                  <a:gd name="connsiteX13" fmla="*/ 197167 w 320039"/>
                  <a:gd name="connsiteY13" fmla="*/ 297180 h 374332"/>
                  <a:gd name="connsiteX14" fmla="*/ 224790 w 320039"/>
                  <a:gd name="connsiteY14" fmla="*/ 271463 h 374332"/>
                  <a:gd name="connsiteX15" fmla="*/ 242888 w 320039"/>
                  <a:gd name="connsiteY15" fmla="*/ 233363 h 374332"/>
                  <a:gd name="connsiteX16" fmla="*/ 248602 w 320039"/>
                  <a:gd name="connsiteY16" fmla="*/ 187643 h 374332"/>
                  <a:gd name="connsiteX17" fmla="*/ 320040 w 320039"/>
                  <a:gd name="connsiteY17" fmla="*/ 185738 h 374332"/>
                  <a:gd name="connsiteX18" fmla="*/ 307657 w 320039"/>
                  <a:gd name="connsiteY18" fmla="*/ 265748 h 374332"/>
                  <a:gd name="connsiteX19" fmla="*/ 273367 w 320039"/>
                  <a:gd name="connsiteY19" fmla="*/ 324803 h 374332"/>
                  <a:gd name="connsiteX20" fmla="*/ 221932 w 320039"/>
                  <a:gd name="connsiteY20" fmla="*/ 361950 h 374332"/>
                  <a:gd name="connsiteX21" fmla="*/ 158115 w 320039"/>
                  <a:gd name="connsiteY21" fmla="*/ 374333 h 374332"/>
                  <a:gd name="connsiteX22" fmla="*/ 95250 w 320039"/>
                  <a:gd name="connsiteY22" fmla="*/ 360998 h 374332"/>
                  <a:gd name="connsiteX23" fmla="*/ 45720 w 320039"/>
                  <a:gd name="connsiteY23" fmla="*/ 322898 h 374332"/>
                  <a:gd name="connsiteX24" fmla="*/ 12382 w 320039"/>
                  <a:gd name="connsiteY24" fmla="*/ 263843 h 374332"/>
                  <a:gd name="connsiteX25" fmla="*/ 0 w 320039"/>
                  <a:gd name="connsiteY25" fmla="*/ 187643 h 374332"/>
                  <a:gd name="connsiteX26" fmla="*/ 12382 w 320039"/>
                  <a:gd name="connsiteY26" fmla="*/ 108585 h 374332"/>
                  <a:gd name="connsiteX27" fmla="*/ 45720 w 320039"/>
                  <a:gd name="connsiteY27" fmla="*/ 49530 h 374332"/>
                  <a:gd name="connsiteX28" fmla="*/ 96202 w 320039"/>
                  <a:gd name="connsiteY28" fmla="*/ 12383 h 374332"/>
                  <a:gd name="connsiteX29" fmla="*/ 159067 w 320039"/>
                  <a:gd name="connsiteY29" fmla="*/ 0 h 374332"/>
                  <a:gd name="connsiteX30" fmla="*/ 222885 w 320039"/>
                  <a:gd name="connsiteY30" fmla="*/ 13335 h 374332"/>
                  <a:gd name="connsiteX31" fmla="*/ 273367 w 320039"/>
                  <a:gd name="connsiteY31" fmla="*/ 50483 h 374332"/>
                  <a:gd name="connsiteX32" fmla="*/ 306705 w 320039"/>
                  <a:gd name="connsiteY32" fmla="*/ 108585 h 374332"/>
                  <a:gd name="connsiteX33" fmla="*/ 320040 w 320039"/>
                  <a:gd name="connsiteY33" fmla="*/ 185738 h 37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0039" h="374332">
                    <a:moveTo>
                      <a:pt x="248602" y="187643"/>
                    </a:moveTo>
                    <a:cubicBezTo>
                      <a:pt x="248602" y="169545"/>
                      <a:pt x="246697" y="153353"/>
                      <a:pt x="241935" y="138113"/>
                    </a:cubicBezTo>
                    <a:cubicBezTo>
                      <a:pt x="238125" y="123825"/>
                      <a:pt x="231457" y="110490"/>
                      <a:pt x="223838" y="100013"/>
                    </a:cubicBezTo>
                    <a:cubicBezTo>
                      <a:pt x="216217" y="89535"/>
                      <a:pt x="206692" y="81915"/>
                      <a:pt x="195263" y="76200"/>
                    </a:cubicBezTo>
                    <a:cubicBezTo>
                      <a:pt x="183832" y="70485"/>
                      <a:pt x="171450" y="67628"/>
                      <a:pt x="157163" y="67628"/>
                    </a:cubicBezTo>
                    <a:cubicBezTo>
                      <a:pt x="143827" y="67628"/>
                      <a:pt x="131445" y="70485"/>
                      <a:pt x="120967" y="76200"/>
                    </a:cubicBezTo>
                    <a:cubicBezTo>
                      <a:pt x="110490" y="81915"/>
                      <a:pt x="100965" y="89535"/>
                      <a:pt x="94297" y="100013"/>
                    </a:cubicBezTo>
                    <a:cubicBezTo>
                      <a:pt x="86677" y="110490"/>
                      <a:pt x="80963" y="122873"/>
                      <a:pt x="77152" y="137160"/>
                    </a:cubicBezTo>
                    <a:cubicBezTo>
                      <a:pt x="73342" y="151448"/>
                      <a:pt x="71438" y="167640"/>
                      <a:pt x="71438" y="185738"/>
                    </a:cubicBezTo>
                    <a:cubicBezTo>
                      <a:pt x="71438" y="205740"/>
                      <a:pt x="73342" y="222885"/>
                      <a:pt x="78105" y="238125"/>
                    </a:cubicBezTo>
                    <a:cubicBezTo>
                      <a:pt x="82867" y="253365"/>
                      <a:pt x="88582" y="265748"/>
                      <a:pt x="96202" y="276225"/>
                    </a:cubicBezTo>
                    <a:cubicBezTo>
                      <a:pt x="103822" y="286703"/>
                      <a:pt x="113347" y="294323"/>
                      <a:pt x="124777" y="299085"/>
                    </a:cubicBezTo>
                    <a:cubicBezTo>
                      <a:pt x="136207" y="304800"/>
                      <a:pt x="147638" y="306705"/>
                      <a:pt x="160972" y="306705"/>
                    </a:cubicBezTo>
                    <a:cubicBezTo>
                      <a:pt x="174307" y="306705"/>
                      <a:pt x="186690" y="303848"/>
                      <a:pt x="197167" y="297180"/>
                    </a:cubicBezTo>
                    <a:cubicBezTo>
                      <a:pt x="207645" y="290513"/>
                      <a:pt x="217170" y="281940"/>
                      <a:pt x="224790" y="271463"/>
                    </a:cubicBezTo>
                    <a:cubicBezTo>
                      <a:pt x="232410" y="260985"/>
                      <a:pt x="238125" y="247650"/>
                      <a:pt x="242888" y="233363"/>
                    </a:cubicBezTo>
                    <a:cubicBezTo>
                      <a:pt x="246697" y="220028"/>
                      <a:pt x="248602" y="203835"/>
                      <a:pt x="248602" y="187643"/>
                    </a:cubicBezTo>
                    <a:moveTo>
                      <a:pt x="320040" y="185738"/>
                    </a:moveTo>
                    <a:cubicBezTo>
                      <a:pt x="320040" y="215265"/>
                      <a:pt x="316230" y="241935"/>
                      <a:pt x="307657" y="265748"/>
                    </a:cubicBezTo>
                    <a:cubicBezTo>
                      <a:pt x="299085" y="288608"/>
                      <a:pt x="287655" y="308610"/>
                      <a:pt x="273367" y="324803"/>
                    </a:cubicBezTo>
                    <a:cubicBezTo>
                      <a:pt x="259080" y="340995"/>
                      <a:pt x="241935" y="353378"/>
                      <a:pt x="221932" y="361950"/>
                    </a:cubicBezTo>
                    <a:cubicBezTo>
                      <a:pt x="201930" y="370523"/>
                      <a:pt x="180975" y="374333"/>
                      <a:pt x="158115" y="374333"/>
                    </a:cubicBezTo>
                    <a:cubicBezTo>
                      <a:pt x="135255" y="374333"/>
                      <a:pt x="114300" y="369570"/>
                      <a:pt x="95250" y="360998"/>
                    </a:cubicBezTo>
                    <a:cubicBezTo>
                      <a:pt x="76200" y="352425"/>
                      <a:pt x="59055" y="339090"/>
                      <a:pt x="45720" y="322898"/>
                    </a:cubicBezTo>
                    <a:cubicBezTo>
                      <a:pt x="31432" y="306705"/>
                      <a:pt x="20955" y="286703"/>
                      <a:pt x="12382" y="263843"/>
                    </a:cubicBezTo>
                    <a:cubicBezTo>
                      <a:pt x="4763" y="240983"/>
                      <a:pt x="0" y="215265"/>
                      <a:pt x="0" y="187643"/>
                    </a:cubicBezTo>
                    <a:cubicBezTo>
                      <a:pt x="0" y="158115"/>
                      <a:pt x="3810" y="132398"/>
                      <a:pt x="12382" y="108585"/>
                    </a:cubicBezTo>
                    <a:cubicBezTo>
                      <a:pt x="20955" y="85725"/>
                      <a:pt x="31432" y="65723"/>
                      <a:pt x="45720" y="49530"/>
                    </a:cubicBezTo>
                    <a:cubicBezTo>
                      <a:pt x="60007" y="33338"/>
                      <a:pt x="77152" y="20955"/>
                      <a:pt x="96202" y="12383"/>
                    </a:cubicBezTo>
                    <a:cubicBezTo>
                      <a:pt x="115252" y="3810"/>
                      <a:pt x="136207" y="0"/>
                      <a:pt x="159067" y="0"/>
                    </a:cubicBezTo>
                    <a:cubicBezTo>
                      <a:pt x="181927" y="0"/>
                      <a:pt x="202882" y="4763"/>
                      <a:pt x="222885" y="13335"/>
                    </a:cubicBezTo>
                    <a:cubicBezTo>
                      <a:pt x="241935" y="21908"/>
                      <a:pt x="259080" y="34290"/>
                      <a:pt x="273367" y="50483"/>
                    </a:cubicBezTo>
                    <a:cubicBezTo>
                      <a:pt x="287655" y="66675"/>
                      <a:pt x="299085" y="85725"/>
                      <a:pt x="306705" y="108585"/>
                    </a:cubicBezTo>
                    <a:cubicBezTo>
                      <a:pt x="315277" y="132398"/>
                      <a:pt x="320040" y="158115"/>
                      <a:pt x="320040" y="185738"/>
                    </a:cubicBezTo>
                  </a:path>
                </a:pathLst>
              </a:custGeom>
              <a:solidFill>
                <a:srgbClr val="1A9AFA"/>
              </a:solidFill>
              <a:ln w="952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4180D2B1-03AF-D4DD-6665-129191BD3EE0}"/>
                  </a:ext>
                </a:extLst>
              </p:cNvPr>
              <p:cNvSpPr/>
              <p:nvPr/>
            </p:nvSpPr>
            <p:spPr bwMode="invGray">
              <a:xfrm>
                <a:off x="13699312" y="6376989"/>
                <a:ext cx="287655" cy="365759"/>
              </a:xfrm>
              <a:custGeom>
                <a:avLst/>
                <a:gdLst>
                  <a:gd name="connsiteX0" fmla="*/ 218122 w 287655"/>
                  <a:gd name="connsiteY0" fmla="*/ 365760 h 365759"/>
                  <a:gd name="connsiteX1" fmla="*/ 218122 w 287655"/>
                  <a:gd name="connsiteY1" fmla="*/ 162878 h 365759"/>
                  <a:gd name="connsiteX2" fmla="*/ 200977 w 287655"/>
                  <a:gd name="connsiteY2" fmla="*/ 89535 h 365759"/>
                  <a:gd name="connsiteX3" fmla="*/ 144780 w 287655"/>
                  <a:gd name="connsiteY3" fmla="*/ 64770 h 365759"/>
                  <a:gd name="connsiteX4" fmla="*/ 113347 w 287655"/>
                  <a:gd name="connsiteY4" fmla="*/ 70485 h 365759"/>
                  <a:gd name="connsiteX5" fmla="*/ 89535 w 287655"/>
                  <a:gd name="connsiteY5" fmla="*/ 89535 h 365759"/>
                  <a:gd name="connsiteX6" fmla="*/ 75247 w 287655"/>
                  <a:gd name="connsiteY6" fmla="*/ 119063 h 365759"/>
                  <a:gd name="connsiteX7" fmla="*/ 70485 w 287655"/>
                  <a:gd name="connsiteY7" fmla="*/ 156210 h 365759"/>
                  <a:gd name="connsiteX8" fmla="*/ 70485 w 287655"/>
                  <a:gd name="connsiteY8" fmla="*/ 365760 h 365759"/>
                  <a:gd name="connsiteX9" fmla="*/ 0 w 287655"/>
                  <a:gd name="connsiteY9" fmla="*/ 365760 h 365759"/>
                  <a:gd name="connsiteX10" fmla="*/ 0 w 287655"/>
                  <a:gd name="connsiteY10" fmla="*/ 7620 h 365759"/>
                  <a:gd name="connsiteX11" fmla="*/ 70485 w 287655"/>
                  <a:gd name="connsiteY11" fmla="*/ 7620 h 365759"/>
                  <a:gd name="connsiteX12" fmla="*/ 70485 w 287655"/>
                  <a:gd name="connsiteY12" fmla="*/ 41910 h 365759"/>
                  <a:gd name="connsiteX13" fmla="*/ 86677 w 287655"/>
                  <a:gd name="connsiteY13" fmla="*/ 24765 h 365759"/>
                  <a:gd name="connsiteX14" fmla="*/ 107632 w 287655"/>
                  <a:gd name="connsiteY14" fmla="*/ 11430 h 365759"/>
                  <a:gd name="connsiteX15" fmla="*/ 132397 w 287655"/>
                  <a:gd name="connsiteY15" fmla="*/ 2858 h 365759"/>
                  <a:gd name="connsiteX16" fmla="*/ 160020 w 287655"/>
                  <a:gd name="connsiteY16" fmla="*/ 0 h 365759"/>
                  <a:gd name="connsiteX17" fmla="*/ 216218 w 287655"/>
                  <a:gd name="connsiteY17" fmla="*/ 10478 h 365759"/>
                  <a:gd name="connsiteX18" fmla="*/ 256222 w 287655"/>
                  <a:gd name="connsiteY18" fmla="*/ 40958 h 365759"/>
                  <a:gd name="connsiteX19" fmla="*/ 280035 w 287655"/>
                  <a:gd name="connsiteY19" fmla="*/ 90488 h 365759"/>
                  <a:gd name="connsiteX20" fmla="*/ 287655 w 287655"/>
                  <a:gd name="connsiteY20" fmla="*/ 160972 h 365759"/>
                  <a:gd name="connsiteX21" fmla="*/ 287655 w 287655"/>
                  <a:gd name="connsiteY21" fmla="*/ 365760 h 365759"/>
                  <a:gd name="connsiteX22" fmla="*/ 218122 w 287655"/>
                  <a:gd name="connsiteY22" fmla="*/ 365760 h 36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655" h="365759">
                    <a:moveTo>
                      <a:pt x="218122" y="365760"/>
                    </a:moveTo>
                    <a:lnTo>
                      <a:pt x="218122" y="162878"/>
                    </a:lnTo>
                    <a:cubicBezTo>
                      <a:pt x="218122" y="130492"/>
                      <a:pt x="212407" y="105728"/>
                      <a:pt x="200977" y="89535"/>
                    </a:cubicBezTo>
                    <a:cubicBezTo>
                      <a:pt x="189547" y="73342"/>
                      <a:pt x="170497" y="64770"/>
                      <a:pt x="144780" y="64770"/>
                    </a:cubicBezTo>
                    <a:cubicBezTo>
                      <a:pt x="133350" y="64770"/>
                      <a:pt x="122872" y="66675"/>
                      <a:pt x="113347" y="70485"/>
                    </a:cubicBezTo>
                    <a:cubicBezTo>
                      <a:pt x="103822" y="74295"/>
                      <a:pt x="96202" y="80963"/>
                      <a:pt x="89535" y="89535"/>
                    </a:cubicBezTo>
                    <a:cubicBezTo>
                      <a:pt x="82868" y="98108"/>
                      <a:pt x="78105" y="107633"/>
                      <a:pt x="75247" y="119063"/>
                    </a:cubicBezTo>
                    <a:cubicBezTo>
                      <a:pt x="72390" y="130492"/>
                      <a:pt x="70485" y="142875"/>
                      <a:pt x="70485" y="156210"/>
                    </a:cubicBezTo>
                    <a:lnTo>
                      <a:pt x="70485" y="365760"/>
                    </a:lnTo>
                    <a:lnTo>
                      <a:pt x="0" y="365760"/>
                    </a:lnTo>
                    <a:lnTo>
                      <a:pt x="0" y="7620"/>
                    </a:lnTo>
                    <a:lnTo>
                      <a:pt x="70485" y="7620"/>
                    </a:lnTo>
                    <a:lnTo>
                      <a:pt x="70485" y="41910"/>
                    </a:lnTo>
                    <a:cubicBezTo>
                      <a:pt x="75247" y="35242"/>
                      <a:pt x="80010" y="29528"/>
                      <a:pt x="86677" y="24765"/>
                    </a:cubicBezTo>
                    <a:cubicBezTo>
                      <a:pt x="93345" y="20003"/>
                      <a:pt x="100013" y="15240"/>
                      <a:pt x="107632" y="11430"/>
                    </a:cubicBezTo>
                    <a:cubicBezTo>
                      <a:pt x="115252" y="7620"/>
                      <a:pt x="123825" y="4763"/>
                      <a:pt x="132397" y="2858"/>
                    </a:cubicBezTo>
                    <a:cubicBezTo>
                      <a:pt x="140970" y="953"/>
                      <a:pt x="150495" y="0"/>
                      <a:pt x="160020" y="0"/>
                    </a:cubicBezTo>
                    <a:cubicBezTo>
                      <a:pt x="181927" y="0"/>
                      <a:pt x="200025" y="3810"/>
                      <a:pt x="216218" y="10478"/>
                    </a:cubicBezTo>
                    <a:cubicBezTo>
                      <a:pt x="232410" y="17145"/>
                      <a:pt x="245745" y="27622"/>
                      <a:pt x="256222" y="40958"/>
                    </a:cubicBezTo>
                    <a:cubicBezTo>
                      <a:pt x="266700" y="54292"/>
                      <a:pt x="274320" y="70485"/>
                      <a:pt x="280035" y="90488"/>
                    </a:cubicBezTo>
                    <a:cubicBezTo>
                      <a:pt x="285750" y="110490"/>
                      <a:pt x="287655" y="134303"/>
                      <a:pt x="287655" y="160972"/>
                    </a:cubicBezTo>
                    <a:lnTo>
                      <a:pt x="287655" y="365760"/>
                    </a:lnTo>
                    <a:lnTo>
                      <a:pt x="218122" y="365760"/>
                    </a:lnTo>
                    <a:close/>
                  </a:path>
                </a:pathLst>
              </a:custGeom>
              <a:solidFill>
                <a:srgbClr val="1A9AFA"/>
              </a:solidFill>
              <a:ln w="9525" cap="flat">
                <a:noFill/>
                <a:prstDash val="solid"/>
                <a:miter/>
              </a:ln>
            </p:spPr>
            <p:txBody>
              <a:bodyPr rtlCol="0" anchor="ctr"/>
              <a:lstStyle/>
              <a:p>
                <a:endParaRPr lang="en-US"/>
              </a:p>
            </p:txBody>
          </p:sp>
        </p:grpSp>
        <p:grpSp>
          <p:nvGrpSpPr>
            <p:cNvPr id="10" name="Graphic 4">
              <a:extLst>
                <a:ext uri="{FF2B5EF4-FFF2-40B4-BE49-F238E27FC236}">
                  <a16:creationId xmlns:a16="http://schemas.microsoft.com/office/drawing/2014/main" id="{E637F3DB-1DB0-413C-6744-656C1433B755}"/>
                </a:ext>
              </a:extLst>
            </p:cNvPr>
            <p:cNvGrpSpPr/>
            <p:nvPr/>
          </p:nvGrpSpPr>
          <p:grpSpPr bwMode="invGray">
            <a:xfrm>
              <a:off x="9673094" y="5359719"/>
              <a:ext cx="1351597" cy="1383029"/>
              <a:chOff x="9673094" y="5359719"/>
              <a:chExt cx="1351597" cy="1383029"/>
            </a:xfrm>
          </p:grpSpPr>
          <p:sp>
            <p:nvSpPr>
              <p:cNvPr id="11" name="Freeform 10">
                <a:extLst>
                  <a:ext uri="{FF2B5EF4-FFF2-40B4-BE49-F238E27FC236}">
                    <a16:creationId xmlns:a16="http://schemas.microsoft.com/office/drawing/2014/main" id="{D4E89D2F-4E98-0306-A678-550340B09E37}"/>
                  </a:ext>
                </a:extLst>
              </p:cNvPr>
              <p:cNvSpPr/>
              <p:nvPr/>
            </p:nvSpPr>
            <p:spPr bwMode="invGray">
              <a:xfrm>
                <a:off x="9673094" y="5359719"/>
                <a:ext cx="1351597" cy="493394"/>
              </a:xfrm>
              <a:custGeom>
                <a:avLst/>
                <a:gdLst>
                  <a:gd name="connsiteX0" fmla="*/ 1351598 w 1351597"/>
                  <a:gd name="connsiteY0" fmla="*/ 0 h 493394"/>
                  <a:gd name="connsiteX1" fmla="*/ 0 w 1351597"/>
                  <a:gd name="connsiteY1" fmla="*/ 493395 h 493394"/>
                  <a:gd name="connsiteX2" fmla="*/ 1351598 w 1351597"/>
                  <a:gd name="connsiteY2" fmla="*/ 255270 h 493394"/>
                  <a:gd name="connsiteX3" fmla="*/ 1351598 w 1351597"/>
                  <a:gd name="connsiteY3" fmla="*/ 0 h 493394"/>
                </a:gdLst>
                <a:ahLst/>
                <a:cxnLst>
                  <a:cxn ang="0">
                    <a:pos x="connsiteX0" y="connsiteY0"/>
                  </a:cxn>
                  <a:cxn ang="0">
                    <a:pos x="connsiteX1" y="connsiteY1"/>
                  </a:cxn>
                  <a:cxn ang="0">
                    <a:pos x="connsiteX2" y="connsiteY2"/>
                  </a:cxn>
                  <a:cxn ang="0">
                    <a:pos x="connsiteX3" y="connsiteY3"/>
                  </a:cxn>
                </a:cxnLst>
                <a:rect l="l" t="t" r="r" b="b"/>
                <a:pathLst>
                  <a:path w="1351597" h="493394">
                    <a:moveTo>
                      <a:pt x="1351598" y="0"/>
                    </a:moveTo>
                    <a:lnTo>
                      <a:pt x="0" y="493395"/>
                    </a:lnTo>
                    <a:lnTo>
                      <a:pt x="1351598" y="255270"/>
                    </a:lnTo>
                    <a:lnTo>
                      <a:pt x="1351598" y="0"/>
                    </a:lnTo>
                    <a:close/>
                  </a:path>
                </a:pathLst>
              </a:custGeom>
              <a:solidFill>
                <a:srgbClr val="FFE600"/>
              </a:solidFill>
              <a:ln w="952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E64C10FA-FF58-1B0A-109F-C6B002D1033B}"/>
                  </a:ext>
                </a:extLst>
              </p:cNvPr>
              <p:cNvSpPr/>
              <p:nvPr/>
            </p:nvSpPr>
            <p:spPr bwMode="invGray">
              <a:xfrm>
                <a:off x="9684524" y="6058854"/>
                <a:ext cx="1135379" cy="683894"/>
              </a:xfrm>
              <a:custGeom>
                <a:avLst/>
                <a:gdLst>
                  <a:gd name="connsiteX0" fmla="*/ 911543 w 1135379"/>
                  <a:gd name="connsiteY0" fmla="*/ 0 h 683894"/>
                  <a:gd name="connsiteX1" fmla="*/ 795338 w 1135379"/>
                  <a:gd name="connsiteY1" fmla="*/ 222885 h 683894"/>
                  <a:gd name="connsiteX2" fmla="*/ 679133 w 1135379"/>
                  <a:gd name="connsiteY2" fmla="*/ 0 h 683894"/>
                  <a:gd name="connsiteX3" fmla="*/ 452438 w 1135379"/>
                  <a:gd name="connsiteY3" fmla="*/ 0 h 683894"/>
                  <a:gd name="connsiteX4" fmla="*/ 691515 w 1135379"/>
                  <a:gd name="connsiteY4" fmla="*/ 413385 h 683894"/>
                  <a:gd name="connsiteX5" fmla="*/ 691515 w 1135379"/>
                  <a:gd name="connsiteY5" fmla="*/ 683895 h 683894"/>
                  <a:gd name="connsiteX6" fmla="*/ 896303 w 1135379"/>
                  <a:gd name="connsiteY6" fmla="*/ 683895 h 683894"/>
                  <a:gd name="connsiteX7" fmla="*/ 896303 w 1135379"/>
                  <a:gd name="connsiteY7" fmla="*/ 413385 h 683894"/>
                  <a:gd name="connsiteX8" fmla="*/ 1135380 w 1135379"/>
                  <a:gd name="connsiteY8" fmla="*/ 0 h 683894"/>
                  <a:gd name="connsiteX9" fmla="*/ 911543 w 1135379"/>
                  <a:gd name="connsiteY9" fmla="*/ 0 h 683894"/>
                  <a:gd name="connsiteX10" fmla="*/ 0 w 1135379"/>
                  <a:gd name="connsiteY10" fmla="*/ 0 h 683894"/>
                  <a:gd name="connsiteX11" fmla="*/ 0 w 1135379"/>
                  <a:gd name="connsiteY11" fmla="*/ 683895 h 683894"/>
                  <a:gd name="connsiteX12" fmla="*/ 546735 w 1135379"/>
                  <a:gd name="connsiteY12" fmla="*/ 683895 h 683894"/>
                  <a:gd name="connsiteX13" fmla="*/ 546735 w 1135379"/>
                  <a:gd name="connsiteY13" fmla="*/ 526732 h 683894"/>
                  <a:gd name="connsiteX14" fmla="*/ 204788 w 1135379"/>
                  <a:gd name="connsiteY14" fmla="*/ 526732 h 683894"/>
                  <a:gd name="connsiteX15" fmla="*/ 204788 w 1135379"/>
                  <a:gd name="connsiteY15" fmla="*/ 414338 h 683894"/>
                  <a:gd name="connsiteX16" fmla="*/ 452438 w 1135379"/>
                  <a:gd name="connsiteY16" fmla="*/ 414338 h 683894"/>
                  <a:gd name="connsiteX17" fmla="*/ 452438 w 1135379"/>
                  <a:gd name="connsiteY17" fmla="*/ 270510 h 683894"/>
                  <a:gd name="connsiteX18" fmla="*/ 204788 w 1135379"/>
                  <a:gd name="connsiteY18" fmla="*/ 270510 h 683894"/>
                  <a:gd name="connsiteX19" fmla="*/ 204788 w 1135379"/>
                  <a:gd name="connsiteY19" fmla="*/ 157163 h 683894"/>
                  <a:gd name="connsiteX20" fmla="*/ 479108 w 1135379"/>
                  <a:gd name="connsiteY20" fmla="*/ 157163 h 683894"/>
                  <a:gd name="connsiteX21" fmla="*/ 388620 w 1135379"/>
                  <a:gd name="connsiteY21" fmla="*/ 0 h 683894"/>
                  <a:gd name="connsiteX22" fmla="*/ 0 w 1135379"/>
                  <a:gd name="connsiteY22" fmla="*/ 0 h 68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35379" h="683894">
                    <a:moveTo>
                      <a:pt x="911543" y="0"/>
                    </a:moveTo>
                    <a:lnTo>
                      <a:pt x="795338" y="222885"/>
                    </a:lnTo>
                    <a:lnTo>
                      <a:pt x="679133" y="0"/>
                    </a:lnTo>
                    <a:lnTo>
                      <a:pt x="452438" y="0"/>
                    </a:lnTo>
                    <a:lnTo>
                      <a:pt x="691515" y="413385"/>
                    </a:lnTo>
                    <a:lnTo>
                      <a:pt x="691515" y="683895"/>
                    </a:lnTo>
                    <a:lnTo>
                      <a:pt x="896303" y="683895"/>
                    </a:lnTo>
                    <a:lnTo>
                      <a:pt x="896303" y="413385"/>
                    </a:lnTo>
                    <a:lnTo>
                      <a:pt x="1135380" y="0"/>
                    </a:lnTo>
                    <a:lnTo>
                      <a:pt x="911543" y="0"/>
                    </a:lnTo>
                    <a:close/>
                    <a:moveTo>
                      <a:pt x="0" y="0"/>
                    </a:moveTo>
                    <a:lnTo>
                      <a:pt x="0" y="683895"/>
                    </a:lnTo>
                    <a:lnTo>
                      <a:pt x="546735" y="683895"/>
                    </a:lnTo>
                    <a:lnTo>
                      <a:pt x="546735" y="526732"/>
                    </a:lnTo>
                    <a:lnTo>
                      <a:pt x="204788" y="526732"/>
                    </a:lnTo>
                    <a:lnTo>
                      <a:pt x="204788" y="414338"/>
                    </a:lnTo>
                    <a:lnTo>
                      <a:pt x="452438" y="414338"/>
                    </a:lnTo>
                    <a:lnTo>
                      <a:pt x="452438" y="270510"/>
                    </a:lnTo>
                    <a:lnTo>
                      <a:pt x="204788" y="270510"/>
                    </a:lnTo>
                    <a:lnTo>
                      <a:pt x="204788" y="157163"/>
                    </a:lnTo>
                    <a:lnTo>
                      <a:pt x="479108" y="157163"/>
                    </a:lnTo>
                    <a:lnTo>
                      <a:pt x="388620" y="0"/>
                    </a:lnTo>
                    <a:lnTo>
                      <a:pt x="0" y="0"/>
                    </a:lnTo>
                    <a:close/>
                  </a:path>
                </a:pathLst>
              </a:custGeom>
              <a:solidFill>
                <a:srgbClr val="FFFFFF"/>
              </a:solidFill>
              <a:ln w="952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746558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ey Statement 2">
    <p:spTree>
      <p:nvGrpSpPr>
        <p:cNvPr id="1" name=""/>
        <p:cNvGrpSpPr/>
        <p:nvPr/>
      </p:nvGrpSpPr>
      <p:grpSpPr>
        <a:xfrm>
          <a:off x="0" y="0"/>
          <a:ext cx="0" cy="0"/>
          <a:chOff x="0" y="0"/>
          <a:chExt cx="0" cy="0"/>
        </a:xfrm>
      </p:grpSpPr>
      <p:pic>
        <p:nvPicPr>
          <p:cNvPr id="9" name="Picture 8" descr="A blue and black background&#10;&#10;Description automatically generated">
            <a:extLst>
              <a:ext uri="{FF2B5EF4-FFF2-40B4-BE49-F238E27FC236}">
                <a16:creationId xmlns:a16="http://schemas.microsoft.com/office/drawing/2014/main" id="{6AAC62C8-893D-4361-9CB1-6A0F69650B9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0409" cy="6857105"/>
          </a:xfrm>
          <a:prstGeom prst="rect">
            <a:avLst/>
          </a:prstGeom>
        </p:spPr>
      </p:pic>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p:nvPr>
        </p:nvSpPr>
        <p:spPr>
          <a:xfrm>
            <a:off x="485774" y="1411287"/>
            <a:ext cx="11218863" cy="4638675"/>
          </a:xfrm>
        </p:spPr>
        <p:txBody>
          <a:bodyPr/>
          <a:lstStyle>
            <a:lvl1pPr marL="0" indent="0">
              <a:lnSpc>
                <a:spcPct val="85000"/>
              </a:lnSpc>
              <a:buNone/>
              <a:defRPr sz="8000"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Date Placeholder 16">
            <a:extLst>
              <a:ext uri="{FF2B5EF4-FFF2-40B4-BE49-F238E27FC236}">
                <a16:creationId xmlns:a16="http://schemas.microsoft.com/office/drawing/2014/main" id="{81B29507-2BB1-EC71-EE9B-8A9EE3F01E0A}"/>
              </a:ext>
            </a:extLst>
          </p:cNvPr>
          <p:cNvSpPr>
            <a:spLocks noGrp="1"/>
          </p:cNvSpPr>
          <p:nvPr>
            <p:ph type="dt" sz="half" idx="14"/>
          </p:nvPr>
        </p:nvSpPr>
        <p:spPr/>
        <p:txBody>
          <a:bodyPr/>
          <a:lstStyle/>
          <a:p>
            <a:endParaRPr lang="en-US"/>
          </a:p>
        </p:txBody>
      </p:sp>
      <p:sp>
        <p:nvSpPr>
          <p:cNvPr id="18" name="Footer Placeholder 17">
            <a:extLst>
              <a:ext uri="{FF2B5EF4-FFF2-40B4-BE49-F238E27FC236}">
                <a16:creationId xmlns:a16="http://schemas.microsoft.com/office/drawing/2014/main" id="{E046374F-F6C3-5157-DBE0-F11F0D83F934}"/>
              </a:ext>
            </a:extLst>
          </p:cNvPr>
          <p:cNvSpPr>
            <a:spLocks noGrp="1"/>
          </p:cNvSpPr>
          <p:nvPr>
            <p:ph type="ftr" sz="quarter" idx="15"/>
          </p:nvPr>
        </p:nvSpPr>
        <p:spPr/>
        <p:txBody>
          <a:bodyPr/>
          <a:lstStyle/>
          <a:p>
            <a:r>
              <a:rPr lang="en-US"/>
              <a:t>a</a:t>
            </a:r>
          </a:p>
        </p:txBody>
      </p:sp>
      <p:sp>
        <p:nvSpPr>
          <p:cNvPr id="19" name="Slide Number Placeholder 18">
            <a:extLst>
              <a:ext uri="{FF2B5EF4-FFF2-40B4-BE49-F238E27FC236}">
                <a16:creationId xmlns:a16="http://schemas.microsoft.com/office/drawing/2014/main" id="{C71B9A51-27B6-2F80-3AE9-7FB159956105}"/>
              </a:ext>
            </a:extLst>
          </p:cNvPr>
          <p:cNvSpPr>
            <a:spLocks noGrp="1"/>
          </p:cNvSpPr>
          <p:nvPr>
            <p:ph type="sldNum" sz="quarter" idx="16"/>
          </p:nvPr>
        </p:nvSpPr>
        <p:spPr/>
        <p:txBody>
          <a:bodyPr/>
          <a:lstStyle/>
          <a:p>
            <a:fld id="{F1BC30E3-FFE5-4B91-AA19-87A149EBB9EE}" type="slidenum">
              <a:rPr lang="en-GB" smtClean="0"/>
              <a:pPr/>
              <a:t>‹#›</a:t>
            </a:fld>
            <a:endParaRPr lang="en-GB"/>
          </a:p>
        </p:txBody>
      </p:sp>
      <p:grpSp>
        <p:nvGrpSpPr>
          <p:cNvPr id="2" name="Graphic 4">
            <a:extLst>
              <a:ext uri="{FF2B5EF4-FFF2-40B4-BE49-F238E27FC236}">
                <a16:creationId xmlns:a16="http://schemas.microsoft.com/office/drawing/2014/main" id="{68BACFA0-0CA6-543C-1524-36330D0ADB37}"/>
              </a:ext>
            </a:extLst>
          </p:cNvPr>
          <p:cNvGrpSpPr>
            <a:grpSpLocks noChangeAspect="1"/>
          </p:cNvGrpSpPr>
          <p:nvPr userDrawn="1"/>
        </p:nvGrpSpPr>
        <p:grpSpPr bwMode="invGray">
          <a:xfrm>
            <a:off x="10864485" y="6275796"/>
            <a:ext cx="1105573" cy="356400"/>
            <a:chOff x="9673094" y="5359719"/>
            <a:chExt cx="4313872" cy="1390649"/>
          </a:xfrm>
        </p:grpSpPr>
        <p:grpSp>
          <p:nvGrpSpPr>
            <p:cNvPr id="3" name="Graphic 4">
              <a:extLst>
                <a:ext uri="{FF2B5EF4-FFF2-40B4-BE49-F238E27FC236}">
                  <a16:creationId xmlns:a16="http://schemas.microsoft.com/office/drawing/2014/main" id="{D2D066F2-FFBC-38C3-D181-9427E587F9FA}"/>
                </a:ext>
              </a:extLst>
            </p:cNvPr>
            <p:cNvGrpSpPr/>
            <p:nvPr/>
          </p:nvGrpSpPr>
          <p:grpSpPr bwMode="invGray">
            <a:xfrm>
              <a:off x="11025644" y="6244592"/>
              <a:ext cx="2961322" cy="505777"/>
              <a:chOff x="11025644" y="6244592"/>
              <a:chExt cx="2961322" cy="505777"/>
            </a:xfrm>
            <a:solidFill>
              <a:srgbClr val="1A9AFA"/>
            </a:solidFill>
          </p:grpSpPr>
          <p:sp>
            <p:nvSpPr>
              <p:cNvPr id="13" name="Freeform 12">
                <a:extLst>
                  <a:ext uri="{FF2B5EF4-FFF2-40B4-BE49-F238E27FC236}">
                    <a16:creationId xmlns:a16="http://schemas.microsoft.com/office/drawing/2014/main" id="{4BD4B5DC-FEDE-239D-662E-8692D873B232}"/>
                  </a:ext>
                </a:extLst>
              </p:cNvPr>
              <p:cNvSpPr/>
              <p:nvPr/>
            </p:nvSpPr>
            <p:spPr bwMode="invGray">
              <a:xfrm>
                <a:off x="11025644" y="6264594"/>
                <a:ext cx="352425" cy="477202"/>
              </a:xfrm>
              <a:custGeom>
                <a:avLst/>
                <a:gdLst>
                  <a:gd name="connsiteX0" fmla="*/ 280035 w 352425"/>
                  <a:gd name="connsiteY0" fmla="*/ 149542 h 477202"/>
                  <a:gd name="connsiteX1" fmla="*/ 274320 w 352425"/>
                  <a:gd name="connsiteY1" fmla="*/ 114300 h 477202"/>
                  <a:gd name="connsiteX2" fmla="*/ 258128 w 352425"/>
                  <a:gd name="connsiteY2" fmla="*/ 88583 h 477202"/>
                  <a:gd name="connsiteX3" fmla="*/ 232410 w 352425"/>
                  <a:gd name="connsiteY3" fmla="*/ 72390 h 477202"/>
                  <a:gd name="connsiteX4" fmla="*/ 199072 w 352425"/>
                  <a:gd name="connsiteY4" fmla="*/ 66675 h 477202"/>
                  <a:gd name="connsiteX5" fmla="*/ 70485 w 352425"/>
                  <a:gd name="connsiteY5" fmla="*/ 66675 h 477202"/>
                  <a:gd name="connsiteX6" fmla="*/ 70485 w 352425"/>
                  <a:gd name="connsiteY6" fmla="*/ 231458 h 477202"/>
                  <a:gd name="connsiteX7" fmla="*/ 199072 w 352425"/>
                  <a:gd name="connsiteY7" fmla="*/ 231458 h 477202"/>
                  <a:gd name="connsiteX8" fmla="*/ 260985 w 352425"/>
                  <a:gd name="connsiteY8" fmla="*/ 209550 h 477202"/>
                  <a:gd name="connsiteX9" fmla="*/ 280035 w 352425"/>
                  <a:gd name="connsiteY9" fmla="*/ 149542 h 477202"/>
                  <a:gd name="connsiteX10" fmla="*/ 352425 w 352425"/>
                  <a:gd name="connsiteY10" fmla="*/ 149542 h 477202"/>
                  <a:gd name="connsiteX11" fmla="*/ 340995 w 352425"/>
                  <a:gd name="connsiteY11" fmla="*/ 214313 h 477202"/>
                  <a:gd name="connsiteX12" fmla="*/ 308610 w 352425"/>
                  <a:gd name="connsiteY12" fmla="*/ 260985 h 477202"/>
                  <a:gd name="connsiteX13" fmla="*/ 259080 w 352425"/>
                  <a:gd name="connsiteY13" fmla="*/ 289560 h 477202"/>
                  <a:gd name="connsiteX14" fmla="*/ 195263 w 352425"/>
                  <a:gd name="connsiteY14" fmla="*/ 299085 h 477202"/>
                  <a:gd name="connsiteX15" fmla="*/ 70485 w 352425"/>
                  <a:gd name="connsiteY15" fmla="*/ 299085 h 477202"/>
                  <a:gd name="connsiteX16" fmla="*/ 70485 w 352425"/>
                  <a:gd name="connsiteY16" fmla="*/ 477203 h 477202"/>
                  <a:gd name="connsiteX17" fmla="*/ 0 w 352425"/>
                  <a:gd name="connsiteY17" fmla="*/ 477203 h 477202"/>
                  <a:gd name="connsiteX18" fmla="*/ 0 w 352425"/>
                  <a:gd name="connsiteY18" fmla="*/ 0 h 477202"/>
                  <a:gd name="connsiteX19" fmla="*/ 200025 w 352425"/>
                  <a:gd name="connsiteY19" fmla="*/ 0 h 477202"/>
                  <a:gd name="connsiteX20" fmla="*/ 260985 w 352425"/>
                  <a:gd name="connsiteY20" fmla="*/ 9525 h 477202"/>
                  <a:gd name="connsiteX21" fmla="*/ 309563 w 352425"/>
                  <a:gd name="connsiteY21" fmla="*/ 38100 h 477202"/>
                  <a:gd name="connsiteX22" fmla="*/ 341947 w 352425"/>
                  <a:gd name="connsiteY22" fmla="*/ 84773 h 477202"/>
                  <a:gd name="connsiteX23" fmla="*/ 352425 w 352425"/>
                  <a:gd name="connsiteY23" fmla="*/ 149542 h 47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2425" h="477202">
                    <a:moveTo>
                      <a:pt x="280035" y="149542"/>
                    </a:moveTo>
                    <a:cubicBezTo>
                      <a:pt x="280035" y="136208"/>
                      <a:pt x="278130" y="124778"/>
                      <a:pt x="274320" y="114300"/>
                    </a:cubicBezTo>
                    <a:cubicBezTo>
                      <a:pt x="270510" y="103823"/>
                      <a:pt x="264795" y="95250"/>
                      <a:pt x="258128" y="88583"/>
                    </a:cubicBezTo>
                    <a:cubicBezTo>
                      <a:pt x="251460" y="81915"/>
                      <a:pt x="242888" y="76200"/>
                      <a:pt x="232410" y="72390"/>
                    </a:cubicBezTo>
                    <a:cubicBezTo>
                      <a:pt x="221932" y="68580"/>
                      <a:pt x="211455" y="66675"/>
                      <a:pt x="199072" y="66675"/>
                    </a:cubicBezTo>
                    <a:lnTo>
                      <a:pt x="70485" y="66675"/>
                    </a:lnTo>
                    <a:lnTo>
                      <a:pt x="70485" y="231458"/>
                    </a:lnTo>
                    <a:lnTo>
                      <a:pt x="199072" y="231458"/>
                    </a:lnTo>
                    <a:cubicBezTo>
                      <a:pt x="226695" y="231458"/>
                      <a:pt x="246697" y="223838"/>
                      <a:pt x="260985" y="209550"/>
                    </a:cubicBezTo>
                    <a:cubicBezTo>
                      <a:pt x="272415" y="196215"/>
                      <a:pt x="280035" y="175260"/>
                      <a:pt x="280035" y="149542"/>
                    </a:cubicBezTo>
                    <a:moveTo>
                      <a:pt x="352425" y="149542"/>
                    </a:moveTo>
                    <a:cubicBezTo>
                      <a:pt x="352425" y="174308"/>
                      <a:pt x="348615" y="196215"/>
                      <a:pt x="340995" y="214313"/>
                    </a:cubicBezTo>
                    <a:cubicBezTo>
                      <a:pt x="333375" y="233363"/>
                      <a:pt x="321945" y="248603"/>
                      <a:pt x="308610" y="260985"/>
                    </a:cubicBezTo>
                    <a:cubicBezTo>
                      <a:pt x="294322" y="273367"/>
                      <a:pt x="278130" y="282892"/>
                      <a:pt x="259080" y="289560"/>
                    </a:cubicBezTo>
                    <a:cubicBezTo>
                      <a:pt x="240030" y="296228"/>
                      <a:pt x="218122" y="299085"/>
                      <a:pt x="195263" y="299085"/>
                    </a:cubicBezTo>
                    <a:lnTo>
                      <a:pt x="70485" y="299085"/>
                    </a:lnTo>
                    <a:lnTo>
                      <a:pt x="70485" y="477203"/>
                    </a:lnTo>
                    <a:lnTo>
                      <a:pt x="0" y="477203"/>
                    </a:lnTo>
                    <a:lnTo>
                      <a:pt x="0" y="0"/>
                    </a:lnTo>
                    <a:lnTo>
                      <a:pt x="200025" y="0"/>
                    </a:lnTo>
                    <a:cubicBezTo>
                      <a:pt x="221932" y="0"/>
                      <a:pt x="241935" y="2858"/>
                      <a:pt x="260985" y="9525"/>
                    </a:cubicBezTo>
                    <a:cubicBezTo>
                      <a:pt x="280035" y="16192"/>
                      <a:pt x="296228" y="24765"/>
                      <a:pt x="309563" y="38100"/>
                    </a:cubicBezTo>
                    <a:cubicBezTo>
                      <a:pt x="322897" y="50483"/>
                      <a:pt x="334328" y="65723"/>
                      <a:pt x="341947" y="84773"/>
                    </a:cubicBezTo>
                    <a:cubicBezTo>
                      <a:pt x="348615" y="103823"/>
                      <a:pt x="352425" y="125730"/>
                      <a:pt x="352425" y="149542"/>
                    </a:cubicBezTo>
                  </a:path>
                </a:pathLst>
              </a:custGeom>
              <a:solidFill>
                <a:srgbClr val="1A9AFA"/>
              </a:solidFill>
              <a:ln w="952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8DFA037D-91EA-B211-E7BF-C852C981AA93}"/>
                  </a:ext>
                </a:extLst>
              </p:cNvPr>
              <p:cNvSpPr/>
              <p:nvPr/>
            </p:nvSpPr>
            <p:spPr bwMode="invGray">
              <a:xfrm>
                <a:off x="11399976" y="6377942"/>
                <a:ext cx="292417" cy="372427"/>
              </a:xfrm>
              <a:custGeom>
                <a:avLst/>
                <a:gdLst>
                  <a:gd name="connsiteX0" fmla="*/ 223838 w 292417"/>
                  <a:gd name="connsiteY0" fmla="*/ 211455 h 372427"/>
                  <a:gd name="connsiteX1" fmla="*/ 205740 w 292417"/>
                  <a:gd name="connsiteY1" fmla="*/ 203835 h 372427"/>
                  <a:gd name="connsiteX2" fmla="*/ 189548 w 292417"/>
                  <a:gd name="connsiteY2" fmla="*/ 199072 h 372427"/>
                  <a:gd name="connsiteX3" fmla="*/ 168593 w 292417"/>
                  <a:gd name="connsiteY3" fmla="*/ 196215 h 372427"/>
                  <a:gd name="connsiteX4" fmla="*/ 141923 w 292417"/>
                  <a:gd name="connsiteY4" fmla="*/ 195263 h 372427"/>
                  <a:gd name="connsiteX5" fmla="*/ 88583 w 292417"/>
                  <a:gd name="connsiteY5" fmla="*/ 209550 h 372427"/>
                  <a:gd name="connsiteX6" fmla="*/ 68580 w 292417"/>
                  <a:gd name="connsiteY6" fmla="*/ 248602 h 372427"/>
                  <a:gd name="connsiteX7" fmla="*/ 74295 w 292417"/>
                  <a:gd name="connsiteY7" fmla="*/ 275272 h 372427"/>
                  <a:gd name="connsiteX8" fmla="*/ 88583 w 292417"/>
                  <a:gd name="connsiteY8" fmla="*/ 293370 h 372427"/>
                  <a:gd name="connsiteX9" fmla="*/ 108585 w 292417"/>
                  <a:gd name="connsiteY9" fmla="*/ 303847 h 372427"/>
                  <a:gd name="connsiteX10" fmla="*/ 137160 w 292417"/>
                  <a:gd name="connsiteY10" fmla="*/ 307657 h 372427"/>
                  <a:gd name="connsiteX11" fmla="*/ 163830 w 292417"/>
                  <a:gd name="connsiteY11" fmla="*/ 303847 h 372427"/>
                  <a:gd name="connsiteX12" fmla="*/ 188595 w 292417"/>
                  <a:gd name="connsiteY12" fmla="*/ 293370 h 372427"/>
                  <a:gd name="connsiteX13" fmla="*/ 208598 w 292417"/>
                  <a:gd name="connsiteY13" fmla="*/ 279082 h 372427"/>
                  <a:gd name="connsiteX14" fmla="*/ 223838 w 292417"/>
                  <a:gd name="connsiteY14" fmla="*/ 262890 h 372427"/>
                  <a:gd name="connsiteX15" fmla="*/ 223838 w 292417"/>
                  <a:gd name="connsiteY15" fmla="*/ 211455 h 372427"/>
                  <a:gd name="connsiteX16" fmla="*/ 223838 w 292417"/>
                  <a:gd name="connsiteY16" fmla="*/ 364807 h 372427"/>
                  <a:gd name="connsiteX17" fmla="*/ 223838 w 292417"/>
                  <a:gd name="connsiteY17" fmla="*/ 329565 h 372427"/>
                  <a:gd name="connsiteX18" fmla="*/ 200978 w 292417"/>
                  <a:gd name="connsiteY18" fmla="*/ 347663 h 372427"/>
                  <a:gd name="connsiteX19" fmla="*/ 181928 w 292417"/>
                  <a:gd name="connsiteY19" fmla="*/ 359092 h 372427"/>
                  <a:gd name="connsiteX20" fmla="*/ 157163 w 292417"/>
                  <a:gd name="connsiteY20" fmla="*/ 368617 h 372427"/>
                  <a:gd name="connsiteX21" fmla="*/ 124778 w 292417"/>
                  <a:gd name="connsiteY21" fmla="*/ 372427 h 372427"/>
                  <a:gd name="connsiteX22" fmla="*/ 80963 w 292417"/>
                  <a:gd name="connsiteY22" fmla="*/ 365760 h 372427"/>
                  <a:gd name="connsiteX23" fmla="*/ 40958 w 292417"/>
                  <a:gd name="connsiteY23" fmla="*/ 344805 h 372427"/>
                  <a:gd name="connsiteX24" fmla="*/ 11430 w 292417"/>
                  <a:gd name="connsiteY24" fmla="*/ 307657 h 372427"/>
                  <a:gd name="connsiteX25" fmla="*/ 0 w 292417"/>
                  <a:gd name="connsiteY25" fmla="*/ 251460 h 372427"/>
                  <a:gd name="connsiteX26" fmla="*/ 10478 w 292417"/>
                  <a:gd name="connsiteY26" fmla="*/ 200025 h 372427"/>
                  <a:gd name="connsiteX27" fmla="*/ 40005 w 292417"/>
                  <a:gd name="connsiteY27" fmla="*/ 163830 h 372427"/>
                  <a:gd name="connsiteX28" fmla="*/ 85725 w 292417"/>
                  <a:gd name="connsiteY28" fmla="*/ 142875 h 372427"/>
                  <a:gd name="connsiteX29" fmla="*/ 141923 w 292417"/>
                  <a:gd name="connsiteY29" fmla="*/ 136207 h 372427"/>
                  <a:gd name="connsiteX30" fmla="*/ 189548 w 292417"/>
                  <a:gd name="connsiteY30" fmla="*/ 140017 h 372427"/>
                  <a:gd name="connsiteX31" fmla="*/ 221933 w 292417"/>
                  <a:gd name="connsiteY31" fmla="*/ 149542 h 372427"/>
                  <a:gd name="connsiteX32" fmla="*/ 221933 w 292417"/>
                  <a:gd name="connsiteY32" fmla="*/ 122872 h 372427"/>
                  <a:gd name="connsiteX33" fmla="*/ 204788 w 292417"/>
                  <a:gd name="connsiteY33" fmla="*/ 78105 h 372427"/>
                  <a:gd name="connsiteX34" fmla="*/ 154305 w 292417"/>
                  <a:gd name="connsiteY34" fmla="*/ 62865 h 372427"/>
                  <a:gd name="connsiteX35" fmla="*/ 104775 w 292417"/>
                  <a:gd name="connsiteY35" fmla="*/ 68580 h 372427"/>
                  <a:gd name="connsiteX36" fmla="*/ 61913 w 292417"/>
                  <a:gd name="connsiteY36" fmla="*/ 85725 h 372427"/>
                  <a:gd name="connsiteX37" fmla="*/ 34290 w 292417"/>
                  <a:gd name="connsiteY37" fmla="*/ 32385 h 372427"/>
                  <a:gd name="connsiteX38" fmla="*/ 89535 w 292417"/>
                  <a:gd name="connsiteY38" fmla="*/ 8572 h 372427"/>
                  <a:gd name="connsiteX39" fmla="*/ 157163 w 292417"/>
                  <a:gd name="connsiteY39" fmla="*/ 0 h 372427"/>
                  <a:gd name="connsiteX40" fmla="*/ 212408 w 292417"/>
                  <a:gd name="connsiteY40" fmla="*/ 7620 h 372427"/>
                  <a:gd name="connsiteX41" fmla="*/ 255270 w 292417"/>
                  <a:gd name="connsiteY41" fmla="*/ 29527 h 372427"/>
                  <a:gd name="connsiteX42" fmla="*/ 282893 w 292417"/>
                  <a:gd name="connsiteY42" fmla="*/ 67627 h 372427"/>
                  <a:gd name="connsiteX43" fmla="*/ 292418 w 292417"/>
                  <a:gd name="connsiteY43" fmla="*/ 120967 h 372427"/>
                  <a:gd name="connsiteX44" fmla="*/ 292418 w 292417"/>
                  <a:gd name="connsiteY44" fmla="*/ 366713 h 372427"/>
                  <a:gd name="connsiteX45" fmla="*/ 223838 w 292417"/>
                  <a:gd name="connsiteY45" fmla="*/ 366713 h 372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92417" h="372427">
                    <a:moveTo>
                      <a:pt x="223838" y="211455"/>
                    </a:moveTo>
                    <a:cubicBezTo>
                      <a:pt x="217170" y="208597"/>
                      <a:pt x="211455" y="205740"/>
                      <a:pt x="205740" y="203835"/>
                    </a:cubicBezTo>
                    <a:cubicBezTo>
                      <a:pt x="200025" y="201930"/>
                      <a:pt x="195263" y="200977"/>
                      <a:pt x="189548" y="199072"/>
                    </a:cubicBezTo>
                    <a:cubicBezTo>
                      <a:pt x="183833" y="198120"/>
                      <a:pt x="177165" y="197167"/>
                      <a:pt x="168593" y="196215"/>
                    </a:cubicBezTo>
                    <a:cubicBezTo>
                      <a:pt x="160020" y="195263"/>
                      <a:pt x="151448" y="195263"/>
                      <a:pt x="141923" y="195263"/>
                    </a:cubicBezTo>
                    <a:cubicBezTo>
                      <a:pt x="119063" y="195263"/>
                      <a:pt x="100965" y="200025"/>
                      <a:pt x="88583" y="209550"/>
                    </a:cubicBezTo>
                    <a:cubicBezTo>
                      <a:pt x="75248" y="219075"/>
                      <a:pt x="68580" y="232410"/>
                      <a:pt x="68580" y="248602"/>
                    </a:cubicBezTo>
                    <a:cubicBezTo>
                      <a:pt x="68580" y="259080"/>
                      <a:pt x="70485" y="268605"/>
                      <a:pt x="74295" y="275272"/>
                    </a:cubicBezTo>
                    <a:cubicBezTo>
                      <a:pt x="78105" y="282892"/>
                      <a:pt x="82868" y="288607"/>
                      <a:pt x="88583" y="293370"/>
                    </a:cubicBezTo>
                    <a:cubicBezTo>
                      <a:pt x="94298" y="298132"/>
                      <a:pt x="100965" y="301942"/>
                      <a:pt x="108585" y="303847"/>
                    </a:cubicBezTo>
                    <a:cubicBezTo>
                      <a:pt x="116205" y="305752"/>
                      <a:pt x="125730" y="307657"/>
                      <a:pt x="137160" y="307657"/>
                    </a:cubicBezTo>
                    <a:cubicBezTo>
                      <a:pt x="146685" y="307657"/>
                      <a:pt x="155258" y="306705"/>
                      <a:pt x="163830" y="303847"/>
                    </a:cubicBezTo>
                    <a:cubicBezTo>
                      <a:pt x="172403" y="300990"/>
                      <a:pt x="180975" y="298132"/>
                      <a:pt x="188595" y="293370"/>
                    </a:cubicBezTo>
                    <a:cubicBezTo>
                      <a:pt x="196215" y="288607"/>
                      <a:pt x="202883" y="283845"/>
                      <a:pt x="208598" y="279082"/>
                    </a:cubicBezTo>
                    <a:cubicBezTo>
                      <a:pt x="214313" y="273367"/>
                      <a:pt x="220028" y="268605"/>
                      <a:pt x="223838" y="262890"/>
                    </a:cubicBezTo>
                    <a:lnTo>
                      <a:pt x="223838" y="211455"/>
                    </a:lnTo>
                    <a:close/>
                    <a:moveTo>
                      <a:pt x="223838" y="364807"/>
                    </a:moveTo>
                    <a:lnTo>
                      <a:pt x="223838" y="329565"/>
                    </a:lnTo>
                    <a:cubicBezTo>
                      <a:pt x="214313" y="338138"/>
                      <a:pt x="207645" y="343852"/>
                      <a:pt x="200978" y="347663"/>
                    </a:cubicBezTo>
                    <a:cubicBezTo>
                      <a:pt x="195263" y="351472"/>
                      <a:pt x="188595" y="355282"/>
                      <a:pt x="181928" y="359092"/>
                    </a:cubicBezTo>
                    <a:cubicBezTo>
                      <a:pt x="175260" y="362902"/>
                      <a:pt x="167640" y="365760"/>
                      <a:pt x="157163" y="368617"/>
                    </a:cubicBezTo>
                    <a:cubicBezTo>
                      <a:pt x="147638" y="371475"/>
                      <a:pt x="136208" y="372427"/>
                      <a:pt x="124778" y="372427"/>
                    </a:cubicBezTo>
                    <a:cubicBezTo>
                      <a:pt x="110490" y="372427"/>
                      <a:pt x="96203" y="370522"/>
                      <a:pt x="80963" y="365760"/>
                    </a:cubicBezTo>
                    <a:cubicBezTo>
                      <a:pt x="65723" y="360997"/>
                      <a:pt x="53340" y="354330"/>
                      <a:pt x="40958" y="344805"/>
                    </a:cubicBezTo>
                    <a:cubicBezTo>
                      <a:pt x="29528" y="335280"/>
                      <a:pt x="19050" y="322897"/>
                      <a:pt x="11430" y="307657"/>
                    </a:cubicBezTo>
                    <a:cubicBezTo>
                      <a:pt x="3810" y="292417"/>
                      <a:pt x="0" y="273367"/>
                      <a:pt x="0" y="251460"/>
                    </a:cubicBezTo>
                    <a:cubicBezTo>
                      <a:pt x="0" y="231457"/>
                      <a:pt x="3810" y="214313"/>
                      <a:pt x="10478" y="200025"/>
                    </a:cubicBezTo>
                    <a:cubicBezTo>
                      <a:pt x="18098" y="185738"/>
                      <a:pt x="27623" y="173355"/>
                      <a:pt x="40005" y="163830"/>
                    </a:cubicBezTo>
                    <a:cubicBezTo>
                      <a:pt x="52388" y="154305"/>
                      <a:pt x="67628" y="147638"/>
                      <a:pt x="85725" y="142875"/>
                    </a:cubicBezTo>
                    <a:cubicBezTo>
                      <a:pt x="102870" y="138113"/>
                      <a:pt x="121920" y="136207"/>
                      <a:pt x="141923" y="136207"/>
                    </a:cubicBezTo>
                    <a:cubicBezTo>
                      <a:pt x="160973" y="136207"/>
                      <a:pt x="176213" y="137160"/>
                      <a:pt x="189548" y="140017"/>
                    </a:cubicBezTo>
                    <a:cubicBezTo>
                      <a:pt x="202883" y="142875"/>
                      <a:pt x="213360" y="145732"/>
                      <a:pt x="221933" y="149542"/>
                    </a:cubicBezTo>
                    <a:lnTo>
                      <a:pt x="221933" y="122872"/>
                    </a:lnTo>
                    <a:cubicBezTo>
                      <a:pt x="221933" y="102870"/>
                      <a:pt x="216218" y="88582"/>
                      <a:pt x="204788" y="78105"/>
                    </a:cubicBezTo>
                    <a:cubicBezTo>
                      <a:pt x="193358" y="67627"/>
                      <a:pt x="176213" y="62865"/>
                      <a:pt x="154305" y="62865"/>
                    </a:cubicBezTo>
                    <a:cubicBezTo>
                      <a:pt x="136208" y="62865"/>
                      <a:pt x="119063" y="64770"/>
                      <a:pt x="104775" y="68580"/>
                    </a:cubicBezTo>
                    <a:cubicBezTo>
                      <a:pt x="89535" y="72390"/>
                      <a:pt x="75248" y="78105"/>
                      <a:pt x="61913" y="85725"/>
                    </a:cubicBezTo>
                    <a:lnTo>
                      <a:pt x="34290" y="32385"/>
                    </a:lnTo>
                    <a:cubicBezTo>
                      <a:pt x="51435" y="21907"/>
                      <a:pt x="69533" y="13335"/>
                      <a:pt x="89535" y="8572"/>
                    </a:cubicBezTo>
                    <a:cubicBezTo>
                      <a:pt x="109538" y="2857"/>
                      <a:pt x="131445" y="0"/>
                      <a:pt x="157163" y="0"/>
                    </a:cubicBezTo>
                    <a:cubicBezTo>
                      <a:pt x="177165" y="0"/>
                      <a:pt x="195263" y="2857"/>
                      <a:pt x="212408" y="7620"/>
                    </a:cubicBezTo>
                    <a:cubicBezTo>
                      <a:pt x="228600" y="12382"/>
                      <a:pt x="242888" y="20002"/>
                      <a:pt x="255270" y="29527"/>
                    </a:cubicBezTo>
                    <a:cubicBezTo>
                      <a:pt x="266700" y="39052"/>
                      <a:pt x="276225" y="52388"/>
                      <a:pt x="282893" y="67627"/>
                    </a:cubicBezTo>
                    <a:cubicBezTo>
                      <a:pt x="289560" y="82867"/>
                      <a:pt x="292418" y="100013"/>
                      <a:pt x="292418" y="120967"/>
                    </a:cubicBezTo>
                    <a:lnTo>
                      <a:pt x="292418" y="366713"/>
                    </a:lnTo>
                    <a:lnTo>
                      <a:pt x="223838" y="366713"/>
                    </a:lnTo>
                    <a:close/>
                  </a:path>
                </a:pathLst>
              </a:custGeom>
              <a:solidFill>
                <a:srgbClr val="1A9AFA"/>
              </a:solidFill>
              <a:ln w="952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2046B363-87AD-CF7A-7EEB-19B9CF066A51}"/>
                  </a:ext>
                </a:extLst>
              </p:cNvPr>
              <p:cNvSpPr/>
              <p:nvPr/>
            </p:nvSpPr>
            <p:spPr bwMode="invGray">
              <a:xfrm>
                <a:off x="11760974" y="6378894"/>
                <a:ext cx="213359" cy="364807"/>
              </a:xfrm>
              <a:custGeom>
                <a:avLst/>
                <a:gdLst>
                  <a:gd name="connsiteX0" fmla="*/ 194310 w 213359"/>
                  <a:gd name="connsiteY0" fmla="*/ 80010 h 364807"/>
                  <a:gd name="connsiteX1" fmla="*/ 170497 w 213359"/>
                  <a:gd name="connsiteY1" fmla="*/ 70485 h 364807"/>
                  <a:gd name="connsiteX2" fmla="*/ 140970 w 213359"/>
                  <a:gd name="connsiteY2" fmla="*/ 67628 h 364807"/>
                  <a:gd name="connsiteX3" fmla="*/ 88582 w 213359"/>
                  <a:gd name="connsiteY3" fmla="*/ 90488 h 364807"/>
                  <a:gd name="connsiteX4" fmla="*/ 70485 w 213359"/>
                  <a:gd name="connsiteY4" fmla="*/ 160020 h 364807"/>
                  <a:gd name="connsiteX5" fmla="*/ 70485 w 213359"/>
                  <a:gd name="connsiteY5" fmla="*/ 364808 h 364807"/>
                  <a:gd name="connsiteX6" fmla="*/ 0 w 213359"/>
                  <a:gd name="connsiteY6" fmla="*/ 364808 h 364807"/>
                  <a:gd name="connsiteX7" fmla="*/ 0 w 213359"/>
                  <a:gd name="connsiteY7" fmla="*/ 6667 h 364807"/>
                  <a:gd name="connsiteX8" fmla="*/ 70485 w 213359"/>
                  <a:gd name="connsiteY8" fmla="*/ 6667 h 364807"/>
                  <a:gd name="connsiteX9" fmla="*/ 70485 w 213359"/>
                  <a:gd name="connsiteY9" fmla="*/ 40958 h 364807"/>
                  <a:gd name="connsiteX10" fmla="*/ 84772 w 213359"/>
                  <a:gd name="connsiteY10" fmla="*/ 24765 h 364807"/>
                  <a:gd name="connsiteX11" fmla="*/ 103822 w 213359"/>
                  <a:gd name="connsiteY11" fmla="*/ 11430 h 364807"/>
                  <a:gd name="connsiteX12" fmla="*/ 126682 w 213359"/>
                  <a:gd name="connsiteY12" fmla="*/ 2858 h 364807"/>
                  <a:gd name="connsiteX13" fmla="*/ 152400 w 213359"/>
                  <a:gd name="connsiteY13" fmla="*/ 0 h 364807"/>
                  <a:gd name="connsiteX14" fmla="*/ 188595 w 213359"/>
                  <a:gd name="connsiteY14" fmla="*/ 3810 h 364807"/>
                  <a:gd name="connsiteX15" fmla="*/ 213360 w 213359"/>
                  <a:gd name="connsiteY15" fmla="*/ 15240 h 364807"/>
                  <a:gd name="connsiteX16" fmla="*/ 194310 w 213359"/>
                  <a:gd name="connsiteY16" fmla="*/ 80010 h 364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3359" h="364807">
                    <a:moveTo>
                      <a:pt x="194310" y="80010"/>
                    </a:moveTo>
                    <a:cubicBezTo>
                      <a:pt x="186690" y="76200"/>
                      <a:pt x="179070" y="72390"/>
                      <a:pt x="170497" y="70485"/>
                    </a:cubicBezTo>
                    <a:cubicBezTo>
                      <a:pt x="161925" y="68580"/>
                      <a:pt x="152400" y="67628"/>
                      <a:pt x="140970" y="67628"/>
                    </a:cubicBezTo>
                    <a:cubicBezTo>
                      <a:pt x="118110" y="67628"/>
                      <a:pt x="100965" y="75248"/>
                      <a:pt x="88582" y="90488"/>
                    </a:cubicBezTo>
                    <a:cubicBezTo>
                      <a:pt x="76200" y="105728"/>
                      <a:pt x="70485" y="128588"/>
                      <a:pt x="70485" y="160020"/>
                    </a:cubicBezTo>
                    <a:lnTo>
                      <a:pt x="70485" y="364808"/>
                    </a:lnTo>
                    <a:lnTo>
                      <a:pt x="0" y="364808"/>
                    </a:lnTo>
                    <a:lnTo>
                      <a:pt x="0" y="6667"/>
                    </a:lnTo>
                    <a:lnTo>
                      <a:pt x="70485" y="6667"/>
                    </a:lnTo>
                    <a:lnTo>
                      <a:pt x="70485" y="40958"/>
                    </a:lnTo>
                    <a:cubicBezTo>
                      <a:pt x="74295" y="35242"/>
                      <a:pt x="79057" y="29528"/>
                      <a:pt x="84772" y="24765"/>
                    </a:cubicBezTo>
                    <a:cubicBezTo>
                      <a:pt x="90488" y="20003"/>
                      <a:pt x="97155" y="15240"/>
                      <a:pt x="103822" y="11430"/>
                    </a:cubicBezTo>
                    <a:cubicBezTo>
                      <a:pt x="110490" y="7620"/>
                      <a:pt x="118110" y="4763"/>
                      <a:pt x="126682" y="2858"/>
                    </a:cubicBezTo>
                    <a:cubicBezTo>
                      <a:pt x="134302" y="953"/>
                      <a:pt x="142875" y="0"/>
                      <a:pt x="152400" y="0"/>
                    </a:cubicBezTo>
                    <a:cubicBezTo>
                      <a:pt x="166688" y="0"/>
                      <a:pt x="179070" y="953"/>
                      <a:pt x="188595" y="3810"/>
                    </a:cubicBezTo>
                    <a:cubicBezTo>
                      <a:pt x="198120" y="6667"/>
                      <a:pt x="206692" y="10478"/>
                      <a:pt x="213360" y="15240"/>
                    </a:cubicBezTo>
                    <a:lnTo>
                      <a:pt x="194310" y="80010"/>
                    </a:lnTo>
                    <a:close/>
                  </a:path>
                </a:pathLst>
              </a:custGeom>
              <a:solidFill>
                <a:srgbClr val="1A9AFA"/>
              </a:solidFill>
              <a:ln w="952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AEA7DC1F-FEC1-4C80-C652-EF4407CCA6E2}"/>
                  </a:ext>
                </a:extLst>
              </p:cNvPr>
              <p:cNvSpPr/>
              <p:nvPr/>
            </p:nvSpPr>
            <p:spPr bwMode="invGray">
              <a:xfrm>
                <a:off x="12015291" y="6245544"/>
                <a:ext cx="208597" cy="504825"/>
              </a:xfrm>
              <a:custGeom>
                <a:avLst/>
                <a:gdLst>
                  <a:gd name="connsiteX0" fmla="*/ 200025 w 208597"/>
                  <a:gd name="connsiteY0" fmla="*/ 487680 h 504825"/>
                  <a:gd name="connsiteX1" fmla="*/ 169545 w 208597"/>
                  <a:gd name="connsiteY1" fmla="*/ 500063 h 504825"/>
                  <a:gd name="connsiteX2" fmla="*/ 131445 w 208597"/>
                  <a:gd name="connsiteY2" fmla="*/ 504825 h 504825"/>
                  <a:gd name="connsiteX3" fmla="*/ 99060 w 208597"/>
                  <a:gd name="connsiteY3" fmla="*/ 500063 h 504825"/>
                  <a:gd name="connsiteX4" fmla="*/ 74295 w 208597"/>
                  <a:gd name="connsiteY4" fmla="*/ 483870 h 504825"/>
                  <a:gd name="connsiteX5" fmla="*/ 57150 w 208597"/>
                  <a:gd name="connsiteY5" fmla="*/ 454342 h 504825"/>
                  <a:gd name="connsiteX6" fmla="*/ 51435 w 208597"/>
                  <a:gd name="connsiteY6" fmla="*/ 410528 h 504825"/>
                  <a:gd name="connsiteX7" fmla="*/ 51435 w 208597"/>
                  <a:gd name="connsiteY7" fmla="*/ 202883 h 504825"/>
                  <a:gd name="connsiteX8" fmla="*/ 0 w 208597"/>
                  <a:gd name="connsiteY8" fmla="*/ 202883 h 504825"/>
                  <a:gd name="connsiteX9" fmla="*/ 0 w 208597"/>
                  <a:gd name="connsiteY9" fmla="*/ 139065 h 504825"/>
                  <a:gd name="connsiteX10" fmla="*/ 51435 w 208597"/>
                  <a:gd name="connsiteY10" fmla="*/ 139065 h 504825"/>
                  <a:gd name="connsiteX11" fmla="*/ 51435 w 208597"/>
                  <a:gd name="connsiteY11" fmla="*/ 37148 h 504825"/>
                  <a:gd name="connsiteX12" fmla="*/ 120015 w 208597"/>
                  <a:gd name="connsiteY12" fmla="*/ 0 h 504825"/>
                  <a:gd name="connsiteX13" fmla="*/ 120015 w 208597"/>
                  <a:gd name="connsiteY13" fmla="*/ 139065 h 504825"/>
                  <a:gd name="connsiteX14" fmla="*/ 208597 w 208597"/>
                  <a:gd name="connsiteY14" fmla="*/ 139065 h 504825"/>
                  <a:gd name="connsiteX15" fmla="*/ 208597 w 208597"/>
                  <a:gd name="connsiteY15" fmla="*/ 202883 h 504825"/>
                  <a:gd name="connsiteX16" fmla="*/ 120015 w 208597"/>
                  <a:gd name="connsiteY16" fmla="*/ 202883 h 504825"/>
                  <a:gd name="connsiteX17" fmla="*/ 120015 w 208597"/>
                  <a:gd name="connsiteY17" fmla="*/ 397192 h 504825"/>
                  <a:gd name="connsiteX18" fmla="*/ 121920 w 208597"/>
                  <a:gd name="connsiteY18" fmla="*/ 418148 h 504825"/>
                  <a:gd name="connsiteX19" fmla="*/ 128588 w 208597"/>
                  <a:gd name="connsiteY19" fmla="*/ 431483 h 504825"/>
                  <a:gd name="connsiteX20" fmla="*/ 140018 w 208597"/>
                  <a:gd name="connsiteY20" fmla="*/ 438150 h 504825"/>
                  <a:gd name="connsiteX21" fmla="*/ 156210 w 208597"/>
                  <a:gd name="connsiteY21" fmla="*/ 440055 h 504825"/>
                  <a:gd name="connsiteX22" fmla="*/ 183833 w 208597"/>
                  <a:gd name="connsiteY22" fmla="*/ 435292 h 504825"/>
                  <a:gd name="connsiteX23" fmla="*/ 207645 w 208597"/>
                  <a:gd name="connsiteY23" fmla="*/ 425767 h 504825"/>
                  <a:gd name="connsiteX24" fmla="*/ 200025 w 208597"/>
                  <a:gd name="connsiteY24" fmla="*/ 48768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8597" h="504825">
                    <a:moveTo>
                      <a:pt x="200025" y="487680"/>
                    </a:moveTo>
                    <a:cubicBezTo>
                      <a:pt x="191453" y="492442"/>
                      <a:pt x="180975" y="496253"/>
                      <a:pt x="169545" y="500063"/>
                    </a:cubicBezTo>
                    <a:cubicBezTo>
                      <a:pt x="158115" y="502920"/>
                      <a:pt x="144780" y="504825"/>
                      <a:pt x="131445" y="504825"/>
                    </a:cubicBezTo>
                    <a:cubicBezTo>
                      <a:pt x="119063" y="504825"/>
                      <a:pt x="108585" y="502920"/>
                      <a:pt x="99060" y="500063"/>
                    </a:cubicBezTo>
                    <a:cubicBezTo>
                      <a:pt x="89535" y="496253"/>
                      <a:pt x="81915" y="491490"/>
                      <a:pt x="74295" y="483870"/>
                    </a:cubicBezTo>
                    <a:cubicBezTo>
                      <a:pt x="66675" y="476250"/>
                      <a:pt x="60960" y="466725"/>
                      <a:pt x="57150" y="454342"/>
                    </a:cubicBezTo>
                    <a:cubicBezTo>
                      <a:pt x="53340" y="441960"/>
                      <a:pt x="51435" y="427673"/>
                      <a:pt x="51435" y="410528"/>
                    </a:cubicBezTo>
                    <a:lnTo>
                      <a:pt x="51435" y="202883"/>
                    </a:lnTo>
                    <a:lnTo>
                      <a:pt x="0" y="202883"/>
                    </a:lnTo>
                    <a:lnTo>
                      <a:pt x="0" y="139065"/>
                    </a:lnTo>
                    <a:lnTo>
                      <a:pt x="51435" y="139065"/>
                    </a:lnTo>
                    <a:lnTo>
                      <a:pt x="51435" y="37148"/>
                    </a:lnTo>
                    <a:lnTo>
                      <a:pt x="120015" y="0"/>
                    </a:lnTo>
                    <a:lnTo>
                      <a:pt x="120015" y="139065"/>
                    </a:lnTo>
                    <a:lnTo>
                      <a:pt x="208597" y="139065"/>
                    </a:lnTo>
                    <a:lnTo>
                      <a:pt x="208597" y="202883"/>
                    </a:lnTo>
                    <a:lnTo>
                      <a:pt x="120015" y="202883"/>
                    </a:lnTo>
                    <a:lnTo>
                      <a:pt x="120015" y="397192"/>
                    </a:lnTo>
                    <a:cubicBezTo>
                      <a:pt x="120015" y="405765"/>
                      <a:pt x="120968" y="412433"/>
                      <a:pt x="121920" y="418148"/>
                    </a:cubicBezTo>
                    <a:cubicBezTo>
                      <a:pt x="123825" y="423863"/>
                      <a:pt x="125730" y="427673"/>
                      <a:pt x="128588" y="431483"/>
                    </a:cubicBezTo>
                    <a:cubicBezTo>
                      <a:pt x="131445" y="434340"/>
                      <a:pt x="135255" y="437198"/>
                      <a:pt x="140018" y="438150"/>
                    </a:cubicBezTo>
                    <a:cubicBezTo>
                      <a:pt x="144780" y="439103"/>
                      <a:pt x="150495" y="440055"/>
                      <a:pt x="156210" y="440055"/>
                    </a:cubicBezTo>
                    <a:cubicBezTo>
                      <a:pt x="165735" y="440055"/>
                      <a:pt x="174308" y="438150"/>
                      <a:pt x="183833" y="435292"/>
                    </a:cubicBezTo>
                    <a:cubicBezTo>
                      <a:pt x="193358" y="432435"/>
                      <a:pt x="200978" y="428625"/>
                      <a:pt x="207645" y="425767"/>
                    </a:cubicBezTo>
                    <a:lnTo>
                      <a:pt x="200025" y="487680"/>
                    </a:lnTo>
                    <a:close/>
                  </a:path>
                </a:pathLst>
              </a:custGeom>
              <a:solidFill>
                <a:srgbClr val="1A9AFA"/>
              </a:solidFill>
              <a:ln w="952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63FB18F7-A587-C087-C8D2-7B2786356506}"/>
                  </a:ext>
                </a:extLst>
              </p:cNvPr>
              <p:cNvSpPr/>
              <p:nvPr/>
            </p:nvSpPr>
            <p:spPr bwMode="invGray">
              <a:xfrm>
                <a:off x="12286754" y="6244592"/>
                <a:ext cx="287655" cy="498157"/>
              </a:xfrm>
              <a:custGeom>
                <a:avLst/>
                <a:gdLst>
                  <a:gd name="connsiteX0" fmla="*/ 219075 w 287655"/>
                  <a:gd name="connsiteY0" fmla="*/ 498157 h 498157"/>
                  <a:gd name="connsiteX1" fmla="*/ 219075 w 287655"/>
                  <a:gd name="connsiteY1" fmla="*/ 295275 h 498157"/>
                  <a:gd name="connsiteX2" fmla="*/ 200978 w 287655"/>
                  <a:gd name="connsiteY2" fmla="*/ 220980 h 498157"/>
                  <a:gd name="connsiteX3" fmla="*/ 144780 w 287655"/>
                  <a:gd name="connsiteY3" fmla="*/ 196215 h 498157"/>
                  <a:gd name="connsiteX4" fmla="*/ 114300 w 287655"/>
                  <a:gd name="connsiteY4" fmla="*/ 201930 h 498157"/>
                  <a:gd name="connsiteX5" fmla="*/ 90488 w 287655"/>
                  <a:gd name="connsiteY5" fmla="*/ 220027 h 498157"/>
                  <a:gd name="connsiteX6" fmla="*/ 75247 w 287655"/>
                  <a:gd name="connsiteY6" fmla="*/ 248602 h 498157"/>
                  <a:gd name="connsiteX7" fmla="*/ 70485 w 287655"/>
                  <a:gd name="connsiteY7" fmla="*/ 287655 h 498157"/>
                  <a:gd name="connsiteX8" fmla="*/ 70485 w 287655"/>
                  <a:gd name="connsiteY8" fmla="*/ 497205 h 498157"/>
                  <a:gd name="connsiteX9" fmla="*/ 0 w 287655"/>
                  <a:gd name="connsiteY9" fmla="*/ 497205 h 498157"/>
                  <a:gd name="connsiteX10" fmla="*/ 0 w 287655"/>
                  <a:gd name="connsiteY10" fmla="*/ 37147 h 498157"/>
                  <a:gd name="connsiteX11" fmla="*/ 70485 w 287655"/>
                  <a:gd name="connsiteY11" fmla="*/ 0 h 498157"/>
                  <a:gd name="connsiteX12" fmla="*/ 70485 w 287655"/>
                  <a:gd name="connsiteY12" fmla="*/ 173355 h 498157"/>
                  <a:gd name="connsiteX13" fmla="*/ 86678 w 287655"/>
                  <a:gd name="connsiteY13" fmla="*/ 156210 h 498157"/>
                  <a:gd name="connsiteX14" fmla="*/ 107633 w 287655"/>
                  <a:gd name="connsiteY14" fmla="*/ 142875 h 498157"/>
                  <a:gd name="connsiteX15" fmla="*/ 132397 w 287655"/>
                  <a:gd name="connsiteY15" fmla="*/ 134302 h 498157"/>
                  <a:gd name="connsiteX16" fmla="*/ 160020 w 287655"/>
                  <a:gd name="connsiteY16" fmla="*/ 131445 h 498157"/>
                  <a:gd name="connsiteX17" fmla="*/ 216218 w 287655"/>
                  <a:gd name="connsiteY17" fmla="*/ 141922 h 498157"/>
                  <a:gd name="connsiteX18" fmla="*/ 256222 w 287655"/>
                  <a:gd name="connsiteY18" fmla="*/ 172402 h 498157"/>
                  <a:gd name="connsiteX19" fmla="*/ 280035 w 287655"/>
                  <a:gd name="connsiteY19" fmla="*/ 223838 h 498157"/>
                  <a:gd name="connsiteX20" fmla="*/ 287655 w 287655"/>
                  <a:gd name="connsiteY20" fmla="*/ 292417 h 498157"/>
                  <a:gd name="connsiteX21" fmla="*/ 287655 w 287655"/>
                  <a:gd name="connsiteY21" fmla="*/ 497205 h 498157"/>
                  <a:gd name="connsiteX22" fmla="*/ 219075 w 287655"/>
                  <a:gd name="connsiteY22" fmla="*/ 497205 h 49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655" h="498157">
                    <a:moveTo>
                      <a:pt x="219075" y="498157"/>
                    </a:moveTo>
                    <a:lnTo>
                      <a:pt x="219075" y="295275"/>
                    </a:lnTo>
                    <a:cubicBezTo>
                      <a:pt x="219075" y="261938"/>
                      <a:pt x="213360" y="237172"/>
                      <a:pt x="200978" y="220980"/>
                    </a:cubicBezTo>
                    <a:cubicBezTo>
                      <a:pt x="189547" y="204788"/>
                      <a:pt x="170497" y="196215"/>
                      <a:pt x="144780" y="196215"/>
                    </a:cubicBezTo>
                    <a:cubicBezTo>
                      <a:pt x="134303" y="196215"/>
                      <a:pt x="123825" y="198120"/>
                      <a:pt x="114300" y="201930"/>
                    </a:cubicBezTo>
                    <a:cubicBezTo>
                      <a:pt x="104775" y="205740"/>
                      <a:pt x="97155" y="211455"/>
                      <a:pt x="90488" y="220027"/>
                    </a:cubicBezTo>
                    <a:cubicBezTo>
                      <a:pt x="83820" y="228600"/>
                      <a:pt x="79058" y="238125"/>
                      <a:pt x="75247" y="248602"/>
                    </a:cubicBezTo>
                    <a:cubicBezTo>
                      <a:pt x="72390" y="260032"/>
                      <a:pt x="70485" y="272415"/>
                      <a:pt x="70485" y="287655"/>
                    </a:cubicBezTo>
                    <a:lnTo>
                      <a:pt x="70485" y="497205"/>
                    </a:lnTo>
                    <a:lnTo>
                      <a:pt x="0" y="497205"/>
                    </a:lnTo>
                    <a:lnTo>
                      <a:pt x="0" y="37147"/>
                    </a:lnTo>
                    <a:lnTo>
                      <a:pt x="70485" y="0"/>
                    </a:lnTo>
                    <a:lnTo>
                      <a:pt x="70485" y="173355"/>
                    </a:lnTo>
                    <a:cubicBezTo>
                      <a:pt x="75247" y="166688"/>
                      <a:pt x="80010" y="160972"/>
                      <a:pt x="86678" y="156210"/>
                    </a:cubicBezTo>
                    <a:cubicBezTo>
                      <a:pt x="93345" y="151447"/>
                      <a:pt x="100013" y="146685"/>
                      <a:pt x="107633" y="142875"/>
                    </a:cubicBezTo>
                    <a:cubicBezTo>
                      <a:pt x="115253" y="139065"/>
                      <a:pt x="123825" y="136207"/>
                      <a:pt x="132397" y="134302"/>
                    </a:cubicBezTo>
                    <a:cubicBezTo>
                      <a:pt x="140970" y="132397"/>
                      <a:pt x="150495" y="131445"/>
                      <a:pt x="160020" y="131445"/>
                    </a:cubicBezTo>
                    <a:cubicBezTo>
                      <a:pt x="181928" y="131445"/>
                      <a:pt x="200025" y="135255"/>
                      <a:pt x="216218" y="141922"/>
                    </a:cubicBezTo>
                    <a:cubicBezTo>
                      <a:pt x="232410" y="148590"/>
                      <a:pt x="244793" y="159067"/>
                      <a:pt x="256222" y="172402"/>
                    </a:cubicBezTo>
                    <a:cubicBezTo>
                      <a:pt x="266700" y="185738"/>
                      <a:pt x="275272" y="202882"/>
                      <a:pt x="280035" y="223838"/>
                    </a:cubicBezTo>
                    <a:cubicBezTo>
                      <a:pt x="284797" y="244792"/>
                      <a:pt x="287655" y="267652"/>
                      <a:pt x="287655" y="292417"/>
                    </a:cubicBezTo>
                    <a:lnTo>
                      <a:pt x="287655" y="497205"/>
                    </a:lnTo>
                    <a:lnTo>
                      <a:pt x="219075" y="497205"/>
                    </a:lnTo>
                    <a:close/>
                  </a:path>
                </a:pathLst>
              </a:custGeom>
              <a:solidFill>
                <a:srgbClr val="1A9AFA"/>
              </a:solidFill>
              <a:ln w="952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F5F9EAC6-88CA-57FA-F2B5-680655D8DB65}"/>
                  </a:ext>
                </a:extLst>
              </p:cNvPr>
              <p:cNvSpPr/>
              <p:nvPr/>
            </p:nvSpPr>
            <p:spPr bwMode="invGray">
              <a:xfrm>
                <a:off x="12627749" y="6376036"/>
                <a:ext cx="308609" cy="374332"/>
              </a:xfrm>
              <a:custGeom>
                <a:avLst/>
                <a:gdLst>
                  <a:gd name="connsiteX0" fmla="*/ 237172 w 308609"/>
                  <a:gd name="connsiteY0" fmla="*/ 154305 h 374332"/>
                  <a:gd name="connsiteX1" fmla="*/ 230505 w 308609"/>
                  <a:gd name="connsiteY1" fmla="*/ 120015 h 374332"/>
                  <a:gd name="connsiteX2" fmla="*/ 215265 w 308609"/>
                  <a:gd name="connsiteY2" fmla="*/ 91440 h 374332"/>
                  <a:gd name="connsiteX3" fmla="*/ 189547 w 308609"/>
                  <a:gd name="connsiteY3" fmla="*/ 72390 h 374332"/>
                  <a:gd name="connsiteX4" fmla="*/ 152400 w 308609"/>
                  <a:gd name="connsiteY4" fmla="*/ 64770 h 374332"/>
                  <a:gd name="connsiteX5" fmla="*/ 120015 w 308609"/>
                  <a:gd name="connsiteY5" fmla="*/ 70485 h 374332"/>
                  <a:gd name="connsiteX6" fmla="*/ 96202 w 308609"/>
                  <a:gd name="connsiteY6" fmla="*/ 87630 h 374332"/>
                  <a:gd name="connsiteX7" fmla="*/ 80010 w 308609"/>
                  <a:gd name="connsiteY7" fmla="*/ 115253 h 374332"/>
                  <a:gd name="connsiteX8" fmla="*/ 71438 w 308609"/>
                  <a:gd name="connsiteY8" fmla="*/ 153353 h 374332"/>
                  <a:gd name="connsiteX9" fmla="*/ 237172 w 308609"/>
                  <a:gd name="connsiteY9" fmla="*/ 153353 h 374332"/>
                  <a:gd name="connsiteX10" fmla="*/ 308610 w 308609"/>
                  <a:gd name="connsiteY10" fmla="*/ 180023 h 374332"/>
                  <a:gd name="connsiteX11" fmla="*/ 307657 w 308609"/>
                  <a:gd name="connsiteY11" fmla="*/ 198120 h 374332"/>
                  <a:gd name="connsiteX12" fmla="*/ 306705 w 308609"/>
                  <a:gd name="connsiteY12" fmla="*/ 212408 h 374332"/>
                  <a:gd name="connsiteX13" fmla="*/ 69532 w 308609"/>
                  <a:gd name="connsiteY13" fmla="*/ 212408 h 374332"/>
                  <a:gd name="connsiteX14" fmla="*/ 80963 w 308609"/>
                  <a:gd name="connsiteY14" fmla="*/ 257175 h 374332"/>
                  <a:gd name="connsiteX15" fmla="*/ 100965 w 308609"/>
                  <a:gd name="connsiteY15" fmla="*/ 287655 h 374332"/>
                  <a:gd name="connsiteX16" fmla="*/ 128588 w 308609"/>
                  <a:gd name="connsiteY16" fmla="*/ 305753 h 374332"/>
                  <a:gd name="connsiteX17" fmla="*/ 160020 w 308609"/>
                  <a:gd name="connsiteY17" fmla="*/ 311468 h 374332"/>
                  <a:gd name="connsiteX18" fmla="*/ 181927 w 308609"/>
                  <a:gd name="connsiteY18" fmla="*/ 309563 h 374332"/>
                  <a:gd name="connsiteX19" fmla="*/ 201930 w 308609"/>
                  <a:gd name="connsiteY19" fmla="*/ 303848 h 374332"/>
                  <a:gd name="connsiteX20" fmla="*/ 219075 w 308609"/>
                  <a:gd name="connsiteY20" fmla="*/ 295275 h 374332"/>
                  <a:gd name="connsiteX21" fmla="*/ 238125 w 308609"/>
                  <a:gd name="connsiteY21" fmla="*/ 282893 h 374332"/>
                  <a:gd name="connsiteX22" fmla="*/ 280035 w 308609"/>
                  <a:gd name="connsiteY22" fmla="*/ 327660 h 374332"/>
                  <a:gd name="connsiteX23" fmla="*/ 254317 w 308609"/>
                  <a:gd name="connsiteY23" fmla="*/ 347663 h 374332"/>
                  <a:gd name="connsiteX24" fmla="*/ 227647 w 308609"/>
                  <a:gd name="connsiteY24" fmla="*/ 361950 h 374332"/>
                  <a:gd name="connsiteX25" fmla="*/ 195263 w 308609"/>
                  <a:gd name="connsiteY25" fmla="*/ 371475 h 374332"/>
                  <a:gd name="connsiteX26" fmla="*/ 155257 w 308609"/>
                  <a:gd name="connsiteY26" fmla="*/ 374333 h 374332"/>
                  <a:gd name="connsiteX27" fmla="*/ 111442 w 308609"/>
                  <a:gd name="connsiteY27" fmla="*/ 367665 h 374332"/>
                  <a:gd name="connsiteX28" fmla="*/ 75247 w 308609"/>
                  <a:gd name="connsiteY28" fmla="*/ 350520 h 374332"/>
                  <a:gd name="connsiteX29" fmla="*/ 46672 w 308609"/>
                  <a:gd name="connsiteY29" fmla="*/ 326708 h 374332"/>
                  <a:gd name="connsiteX30" fmla="*/ 22860 w 308609"/>
                  <a:gd name="connsiteY30" fmla="*/ 292418 h 374332"/>
                  <a:gd name="connsiteX31" fmla="*/ 5715 w 308609"/>
                  <a:gd name="connsiteY31" fmla="*/ 244793 h 374332"/>
                  <a:gd name="connsiteX32" fmla="*/ 0 w 308609"/>
                  <a:gd name="connsiteY32" fmla="*/ 187643 h 374332"/>
                  <a:gd name="connsiteX33" fmla="*/ 11430 w 308609"/>
                  <a:gd name="connsiteY33" fmla="*/ 107633 h 374332"/>
                  <a:gd name="connsiteX34" fmla="*/ 43815 w 308609"/>
                  <a:gd name="connsiteY34" fmla="*/ 48578 h 374332"/>
                  <a:gd name="connsiteX35" fmla="*/ 93345 w 308609"/>
                  <a:gd name="connsiteY35" fmla="*/ 12383 h 374332"/>
                  <a:gd name="connsiteX36" fmla="*/ 157163 w 308609"/>
                  <a:gd name="connsiteY36" fmla="*/ 0 h 374332"/>
                  <a:gd name="connsiteX37" fmla="*/ 223838 w 308609"/>
                  <a:gd name="connsiteY37" fmla="*/ 14288 h 374332"/>
                  <a:gd name="connsiteX38" fmla="*/ 270510 w 308609"/>
                  <a:gd name="connsiteY38" fmla="*/ 53340 h 374332"/>
                  <a:gd name="connsiteX39" fmla="*/ 298132 w 308609"/>
                  <a:gd name="connsiteY39" fmla="*/ 110490 h 374332"/>
                  <a:gd name="connsiteX40" fmla="*/ 308610 w 308609"/>
                  <a:gd name="connsiteY40" fmla="*/ 180023 h 37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08609" h="374332">
                    <a:moveTo>
                      <a:pt x="237172" y="154305"/>
                    </a:moveTo>
                    <a:cubicBezTo>
                      <a:pt x="236220" y="141923"/>
                      <a:pt x="234315" y="130493"/>
                      <a:pt x="230505" y="120015"/>
                    </a:cubicBezTo>
                    <a:cubicBezTo>
                      <a:pt x="226695" y="109538"/>
                      <a:pt x="221932" y="100013"/>
                      <a:pt x="215265" y="91440"/>
                    </a:cubicBezTo>
                    <a:cubicBezTo>
                      <a:pt x="208597" y="82868"/>
                      <a:pt x="200025" y="77153"/>
                      <a:pt x="189547" y="72390"/>
                    </a:cubicBezTo>
                    <a:cubicBezTo>
                      <a:pt x="179070" y="67628"/>
                      <a:pt x="166688" y="64770"/>
                      <a:pt x="152400" y="64770"/>
                    </a:cubicBezTo>
                    <a:cubicBezTo>
                      <a:pt x="140017" y="64770"/>
                      <a:pt x="129540" y="66675"/>
                      <a:pt x="120015" y="70485"/>
                    </a:cubicBezTo>
                    <a:cubicBezTo>
                      <a:pt x="110490" y="74295"/>
                      <a:pt x="102870" y="80010"/>
                      <a:pt x="96202" y="87630"/>
                    </a:cubicBezTo>
                    <a:cubicBezTo>
                      <a:pt x="89535" y="95250"/>
                      <a:pt x="83820" y="104775"/>
                      <a:pt x="80010" y="115253"/>
                    </a:cubicBezTo>
                    <a:cubicBezTo>
                      <a:pt x="75247" y="126683"/>
                      <a:pt x="72390" y="139065"/>
                      <a:pt x="71438" y="153353"/>
                    </a:cubicBezTo>
                    <a:lnTo>
                      <a:pt x="237172" y="153353"/>
                    </a:lnTo>
                    <a:close/>
                    <a:moveTo>
                      <a:pt x="308610" y="180023"/>
                    </a:moveTo>
                    <a:cubicBezTo>
                      <a:pt x="308610" y="186690"/>
                      <a:pt x="308610" y="192405"/>
                      <a:pt x="307657" y="198120"/>
                    </a:cubicBezTo>
                    <a:cubicBezTo>
                      <a:pt x="307657" y="203835"/>
                      <a:pt x="306705" y="208598"/>
                      <a:pt x="306705" y="212408"/>
                    </a:cubicBezTo>
                    <a:lnTo>
                      <a:pt x="69532" y="212408"/>
                    </a:lnTo>
                    <a:cubicBezTo>
                      <a:pt x="71438" y="229553"/>
                      <a:pt x="75247" y="244793"/>
                      <a:pt x="80963" y="257175"/>
                    </a:cubicBezTo>
                    <a:cubicBezTo>
                      <a:pt x="86677" y="269558"/>
                      <a:pt x="93345" y="280035"/>
                      <a:pt x="100965" y="287655"/>
                    </a:cubicBezTo>
                    <a:cubicBezTo>
                      <a:pt x="108585" y="295275"/>
                      <a:pt x="118110" y="301943"/>
                      <a:pt x="128588" y="305753"/>
                    </a:cubicBezTo>
                    <a:cubicBezTo>
                      <a:pt x="139065" y="309563"/>
                      <a:pt x="149542" y="311468"/>
                      <a:pt x="160020" y="311468"/>
                    </a:cubicBezTo>
                    <a:cubicBezTo>
                      <a:pt x="167640" y="311468"/>
                      <a:pt x="175260" y="310515"/>
                      <a:pt x="181927" y="309563"/>
                    </a:cubicBezTo>
                    <a:cubicBezTo>
                      <a:pt x="188595" y="308610"/>
                      <a:pt x="195263" y="306705"/>
                      <a:pt x="201930" y="303848"/>
                    </a:cubicBezTo>
                    <a:cubicBezTo>
                      <a:pt x="208597" y="300990"/>
                      <a:pt x="214313" y="298133"/>
                      <a:pt x="219075" y="295275"/>
                    </a:cubicBezTo>
                    <a:cubicBezTo>
                      <a:pt x="223838" y="292418"/>
                      <a:pt x="230505" y="288608"/>
                      <a:pt x="238125" y="282893"/>
                    </a:cubicBezTo>
                    <a:lnTo>
                      <a:pt x="280035" y="327660"/>
                    </a:lnTo>
                    <a:cubicBezTo>
                      <a:pt x="271463" y="336233"/>
                      <a:pt x="262890" y="342900"/>
                      <a:pt x="254317" y="347663"/>
                    </a:cubicBezTo>
                    <a:cubicBezTo>
                      <a:pt x="245745" y="352425"/>
                      <a:pt x="237172" y="357188"/>
                      <a:pt x="227647" y="361950"/>
                    </a:cubicBezTo>
                    <a:cubicBezTo>
                      <a:pt x="218122" y="365760"/>
                      <a:pt x="207645" y="369570"/>
                      <a:pt x="195263" y="371475"/>
                    </a:cubicBezTo>
                    <a:cubicBezTo>
                      <a:pt x="182880" y="373380"/>
                      <a:pt x="170497" y="374333"/>
                      <a:pt x="155257" y="374333"/>
                    </a:cubicBezTo>
                    <a:cubicBezTo>
                      <a:pt x="140017" y="374333"/>
                      <a:pt x="124777" y="372428"/>
                      <a:pt x="111442" y="367665"/>
                    </a:cubicBezTo>
                    <a:cubicBezTo>
                      <a:pt x="98107" y="362903"/>
                      <a:pt x="85725" y="358140"/>
                      <a:pt x="75247" y="350520"/>
                    </a:cubicBezTo>
                    <a:cubicBezTo>
                      <a:pt x="64770" y="343853"/>
                      <a:pt x="55245" y="335280"/>
                      <a:pt x="46672" y="326708"/>
                    </a:cubicBezTo>
                    <a:cubicBezTo>
                      <a:pt x="38100" y="318135"/>
                      <a:pt x="30480" y="305753"/>
                      <a:pt x="22860" y="292418"/>
                    </a:cubicBezTo>
                    <a:cubicBezTo>
                      <a:pt x="15240" y="278130"/>
                      <a:pt x="9525" y="262890"/>
                      <a:pt x="5715" y="244793"/>
                    </a:cubicBezTo>
                    <a:cubicBezTo>
                      <a:pt x="1905" y="227648"/>
                      <a:pt x="0" y="208598"/>
                      <a:pt x="0" y="187643"/>
                    </a:cubicBezTo>
                    <a:cubicBezTo>
                      <a:pt x="0" y="157163"/>
                      <a:pt x="3810" y="130493"/>
                      <a:pt x="11430" y="107633"/>
                    </a:cubicBezTo>
                    <a:cubicBezTo>
                      <a:pt x="19050" y="84773"/>
                      <a:pt x="29527" y="64770"/>
                      <a:pt x="43815" y="48578"/>
                    </a:cubicBezTo>
                    <a:cubicBezTo>
                      <a:pt x="57150" y="32385"/>
                      <a:pt x="74295" y="20955"/>
                      <a:pt x="93345" y="12383"/>
                    </a:cubicBezTo>
                    <a:cubicBezTo>
                      <a:pt x="112395" y="3810"/>
                      <a:pt x="134302" y="0"/>
                      <a:pt x="157163" y="0"/>
                    </a:cubicBezTo>
                    <a:cubicBezTo>
                      <a:pt x="182880" y="0"/>
                      <a:pt x="204788" y="4763"/>
                      <a:pt x="223838" y="14288"/>
                    </a:cubicBezTo>
                    <a:cubicBezTo>
                      <a:pt x="242888" y="23813"/>
                      <a:pt x="258127" y="37148"/>
                      <a:pt x="270510" y="53340"/>
                    </a:cubicBezTo>
                    <a:cubicBezTo>
                      <a:pt x="282892" y="69533"/>
                      <a:pt x="292417" y="88583"/>
                      <a:pt x="298132" y="110490"/>
                    </a:cubicBezTo>
                    <a:cubicBezTo>
                      <a:pt x="304800" y="133350"/>
                      <a:pt x="308610" y="156210"/>
                      <a:pt x="308610" y="180023"/>
                    </a:cubicBezTo>
                  </a:path>
                </a:pathLst>
              </a:custGeom>
              <a:solidFill>
                <a:srgbClr val="1A9AFA"/>
              </a:solidFill>
              <a:ln w="952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D1CB3B96-37C0-0187-18C9-5EF74C610C31}"/>
                  </a:ext>
                </a:extLst>
              </p:cNvPr>
              <p:cNvSpPr/>
              <p:nvPr/>
            </p:nvSpPr>
            <p:spPr bwMode="invGray">
              <a:xfrm>
                <a:off x="12987794" y="6376989"/>
                <a:ext cx="287655" cy="365759"/>
              </a:xfrm>
              <a:custGeom>
                <a:avLst/>
                <a:gdLst>
                  <a:gd name="connsiteX0" fmla="*/ 218122 w 287655"/>
                  <a:gd name="connsiteY0" fmla="*/ 365760 h 365759"/>
                  <a:gd name="connsiteX1" fmla="*/ 218122 w 287655"/>
                  <a:gd name="connsiteY1" fmla="*/ 162878 h 365759"/>
                  <a:gd name="connsiteX2" fmla="*/ 200978 w 287655"/>
                  <a:gd name="connsiteY2" fmla="*/ 89535 h 365759"/>
                  <a:gd name="connsiteX3" fmla="*/ 144780 w 287655"/>
                  <a:gd name="connsiteY3" fmla="*/ 64770 h 365759"/>
                  <a:gd name="connsiteX4" fmla="*/ 113347 w 287655"/>
                  <a:gd name="connsiteY4" fmla="*/ 70485 h 365759"/>
                  <a:gd name="connsiteX5" fmla="*/ 89535 w 287655"/>
                  <a:gd name="connsiteY5" fmla="*/ 89535 h 365759"/>
                  <a:gd name="connsiteX6" fmla="*/ 75247 w 287655"/>
                  <a:gd name="connsiteY6" fmla="*/ 119063 h 365759"/>
                  <a:gd name="connsiteX7" fmla="*/ 70485 w 287655"/>
                  <a:gd name="connsiteY7" fmla="*/ 156210 h 365759"/>
                  <a:gd name="connsiteX8" fmla="*/ 70485 w 287655"/>
                  <a:gd name="connsiteY8" fmla="*/ 365760 h 365759"/>
                  <a:gd name="connsiteX9" fmla="*/ 0 w 287655"/>
                  <a:gd name="connsiteY9" fmla="*/ 365760 h 365759"/>
                  <a:gd name="connsiteX10" fmla="*/ 0 w 287655"/>
                  <a:gd name="connsiteY10" fmla="*/ 7620 h 365759"/>
                  <a:gd name="connsiteX11" fmla="*/ 70485 w 287655"/>
                  <a:gd name="connsiteY11" fmla="*/ 7620 h 365759"/>
                  <a:gd name="connsiteX12" fmla="*/ 70485 w 287655"/>
                  <a:gd name="connsiteY12" fmla="*/ 41910 h 365759"/>
                  <a:gd name="connsiteX13" fmla="*/ 86678 w 287655"/>
                  <a:gd name="connsiteY13" fmla="*/ 24765 h 365759"/>
                  <a:gd name="connsiteX14" fmla="*/ 107632 w 287655"/>
                  <a:gd name="connsiteY14" fmla="*/ 11430 h 365759"/>
                  <a:gd name="connsiteX15" fmla="*/ 132397 w 287655"/>
                  <a:gd name="connsiteY15" fmla="*/ 2858 h 365759"/>
                  <a:gd name="connsiteX16" fmla="*/ 160020 w 287655"/>
                  <a:gd name="connsiteY16" fmla="*/ 0 h 365759"/>
                  <a:gd name="connsiteX17" fmla="*/ 216218 w 287655"/>
                  <a:gd name="connsiteY17" fmla="*/ 10478 h 365759"/>
                  <a:gd name="connsiteX18" fmla="*/ 256222 w 287655"/>
                  <a:gd name="connsiteY18" fmla="*/ 40958 h 365759"/>
                  <a:gd name="connsiteX19" fmla="*/ 280035 w 287655"/>
                  <a:gd name="connsiteY19" fmla="*/ 90488 h 365759"/>
                  <a:gd name="connsiteX20" fmla="*/ 287655 w 287655"/>
                  <a:gd name="connsiteY20" fmla="*/ 160972 h 365759"/>
                  <a:gd name="connsiteX21" fmla="*/ 287655 w 287655"/>
                  <a:gd name="connsiteY21" fmla="*/ 365760 h 365759"/>
                  <a:gd name="connsiteX22" fmla="*/ 218122 w 287655"/>
                  <a:gd name="connsiteY22" fmla="*/ 365760 h 36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655" h="365759">
                    <a:moveTo>
                      <a:pt x="218122" y="365760"/>
                    </a:moveTo>
                    <a:lnTo>
                      <a:pt x="218122" y="162878"/>
                    </a:lnTo>
                    <a:cubicBezTo>
                      <a:pt x="218122" y="130492"/>
                      <a:pt x="212407" y="105728"/>
                      <a:pt x="200978" y="89535"/>
                    </a:cubicBezTo>
                    <a:cubicBezTo>
                      <a:pt x="189547" y="73342"/>
                      <a:pt x="170497" y="64770"/>
                      <a:pt x="144780" y="64770"/>
                    </a:cubicBezTo>
                    <a:cubicBezTo>
                      <a:pt x="133350" y="64770"/>
                      <a:pt x="122872" y="66675"/>
                      <a:pt x="113347" y="70485"/>
                    </a:cubicBezTo>
                    <a:cubicBezTo>
                      <a:pt x="103822" y="74295"/>
                      <a:pt x="96203" y="80963"/>
                      <a:pt x="89535" y="89535"/>
                    </a:cubicBezTo>
                    <a:cubicBezTo>
                      <a:pt x="82868" y="98108"/>
                      <a:pt x="78105" y="107633"/>
                      <a:pt x="75247" y="119063"/>
                    </a:cubicBezTo>
                    <a:cubicBezTo>
                      <a:pt x="72390" y="130492"/>
                      <a:pt x="70485" y="142875"/>
                      <a:pt x="70485" y="156210"/>
                    </a:cubicBezTo>
                    <a:lnTo>
                      <a:pt x="70485" y="365760"/>
                    </a:lnTo>
                    <a:lnTo>
                      <a:pt x="0" y="365760"/>
                    </a:lnTo>
                    <a:lnTo>
                      <a:pt x="0" y="7620"/>
                    </a:lnTo>
                    <a:lnTo>
                      <a:pt x="70485" y="7620"/>
                    </a:lnTo>
                    <a:lnTo>
                      <a:pt x="70485" y="41910"/>
                    </a:lnTo>
                    <a:cubicBezTo>
                      <a:pt x="75247" y="35242"/>
                      <a:pt x="80010" y="29528"/>
                      <a:pt x="86678" y="24765"/>
                    </a:cubicBezTo>
                    <a:cubicBezTo>
                      <a:pt x="93345" y="20003"/>
                      <a:pt x="100013" y="15240"/>
                      <a:pt x="107632" y="11430"/>
                    </a:cubicBezTo>
                    <a:cubicBezTo>
                      <a:pt x="115253" y="7620"/>
                      <a:pt x="123825" y="4763"/>
                      <a:pt x="132397" y="2858"/>
                    </a:cubicBezTo>
                    <a:cubicBezTo>
                      <a:pt x="140970" y="953"/>
                      <a:pt x="150495" y="0"/>
                      <a:pt x="160020" y="0"/>
                    </a:cubicBezTo>
                    <a:cubicBezTo>
                      <a:pt x="181928" y="0"/>
                      <a:pt x="200025" y="3810"/>
                      <a:pt x="216218" y="10478"/>
                    </a:cubicBezTo>
                    <a:cubicBezTo>
                      <a:pt x="232410" y="17145"/>
                      <a:pt x="245745" y="27622"/>
                      <a:pt x="256222" y="40958"/>
                    </a:cubicBezTo>
                    <a:cubicBezTo>
                      <a:pt x="266700" y="54292"/>
                      <a:pt x="274320" y="70485"/>
                      <a:pt x="280035" y="90488"/>
                    </a:cubicBezTo>
                    <a:cubicBezTo>
                      <a:pt x="285750" y="110490"/>
                      <a:pt x="287655" y="134303"/>
                      <a:pt x="287655" y="160972"/>
                    </a:cubicBezTo>
                    <a:lnTo>
                      <a:pt x="287655" y="365760"/>
                    </a:lnTo>
                    <a:lnTo>
                      <a:pt x="218122" y="365760"/>
                    </a:lnTo>
                    <a:close/>
                  </a:path>
                </a:pathLst>
              </a:custGeom>
              <a:solidFill>
                <a:srgbClr val="1A9AFA"/>
              </a:solidFill>
              <a:ln w="952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06A6B5AB-EAF4-C83A-8C13-378A48B71C73}"/>
                  </a:ext>
                </a:extLst>
              </p:cNvPr>
              <p:cNvSpPr/>
              <p:nvPr/>
            </p:nvSpPr>
            <p:spPr bwMode="invGray">
              <a:xfrm>
                <a:off x="13327837" y="6376036"/>
                <a:ext cx="320039" cy="374332"/>
              </a:xfrm>
              <a:custGeom>
                <a:avLst/>
                <a:gdLst>
                  <a:gd name="connsiteX0" fmla="*/ 248602 w 320039"/>
                  <a:gd name="connsiteY0" fmla="*/ 187643 h 374332"/>
                  <a:gd name="connsiteX1" fmla="*/ 241935 w 320039"/>
                  <a:gd name="connsiteY1" fmla="*/ 138113 h 374332"/>
                  <a:gd name="connsiteX2" fmla="*/ 223838 w 320039"/>
                  <a:gd name="connsiteY2" fmla="*/ 100013 h 374332"/>
                  <a:gd name="connsiteX3" fmla="*/ 195263 w 320039"/>
                  <a:gd name="connsiteY3" fmla="*/ 76200 h 374332"/>
                  <a:gd name="connsiteX4" fmla="*/ 157163 w 320039"/>
                  <a:gd name="connsiteY4" fmla="*/ 67628 h 374332"/>
                  <a:gd name="connsiteX5" fmla="*/ 120967 w 320039"/>
                  <a:gd name="connsiteY5" fmla="*/ 76200 h 374332"/>
                  <a:gd name="connsiteX6" fmla="*/ 94297 w 320039"/>
                  <a:gd name="connsiteY6" fmla="*/ 100013 h 374332"/>
                  <a:gd name="connsiteX7" fmla="*/ 77152 w 320039"/>
                  <a:gd name="connsiteY7" fmla="*/ 137160 h 374332"/>
                  <a:gd name="connsiteX8" fmla="*/ 71438 w 320039"/>
                  <a:gd name="connsiteY8" fmla="*/ 185738 h 374332"/>
                  <a:gd name="connsiteX9" fmla="*/ 78105 w 320039"/>
                  <a:gd name="connsiteY9" fmla="*/ 238125 h 374332"/>
                  <a:gd name="connsiteX10" fmla="*/ 96202 w 320039"/>
                  <a:gd name="connsiteY10" fmla="*/ 276225 h 374332"/>
                  <a:gd name="connsiteX11" fmla="*/ 124777 w 320039"/>
                  <a:gd name="connsiteY11" fmla="*/ 299085 h 374332"/>
                  <a:gd name="connsiteX12" fmla="*/ 160972 w 320039"/>
                  <a:gd name="connsiteY12" fmla="*/ 306705 h 374332"/>
                  <a:gd name="connsiteX13" fmla="*/ 197167 w 320039"/>
                  <a:gd name="connsiteY13" fmla="*/ 297180 h 374332"/>
                  <a:gd name="connsiteX14" fmla="*/ 224790 w 320039"/>
                  <a:gd name="connsiteY14" fmla="*/ 271463 h 374332"/>
                  <a:gd name="connsiteX15" fmla="*/ 242888 w 320039"/>
                  <a:gd name="connsiteY15" fmla="*/ 233363 h 374332"/>
                  <a:gd name="connsiteX16" fmla="*/ 248602 w 320039"/>
                  <a:gd name="connsiteY16" fmla="*/ 187643 h 374332"/>
                  <a:gd name="connsiteX17" fmla="*/ 320040 w 320039"/>
                  <a:gd name="connsiteY17" fmla="*/ 185738 h 374332"/>
                  <a:gd name="connsiteX18" fmla="*/ 307657 w 320039"/>
                  <a:gd name="connsiteY18" fmla="*/ 265748 h 374332"/>
                  <a:gd name="connsiteX19" fmla="*/ 273367 w 320039"/>
                  <a:gd name="connsiteY19" fmla="*/ 324803 h 374332"/>
                  <a:gd name="connsiteX20" fmla="*/ 221932 w 320039"/>
                  <a:gd name="connsiteY20" fmla="*/ 361950 h 374332"/>
                  <a:gd name="connsiteX21" fmla="*/ 158115 w 320039"/>
                  <a:gd name="connsiteY21" fmla="*/ 374333 h 374332"/>
                  <a:gd name="connsiteX22" fmla="*/ 95250 w 320039"/>
                  <a:gd name="connsiteY22" fmla="*/ 360998 h 374332"/>
                  <a:gd name="connsiteX23" fmla="*/ 45720 w 320039"/>
                  <a:gd name="connsiteY23" fmla="*/ 322898 h 374332"/>
                  <a:gd name="connsiteX24" fmla="*/ 12382 w 320039"/>
                  <a:gd name="connsiteY24" fmla="*/ 263843 h 374332"/>
                  <a:gd name="connsiteX25" fmla="*/ 0 w 320039"/>
                  <a:gd name="connsiteY25" fmla="*/ 187643 h 374332"/>
                  <a:gd name="connsiteX26" fmla="*/ 12382 w 320039"/>
                  <a:gd name="connsiteY26" fmla="*/ 108585 h 374332"/>
                  <a:gd name="connsiteX27" fmla="*/ 45720 w 320039"/>
                  <a:gd name="connsiteY27" fmla="*/ 49530 h 374332"/>
                  <a:gd name="connsiteX28" fmla="*/ 96202 w 320039"/>
                  <a:gd name="connsiteY28" fmla="*/ 12383 h 374332"/>
                  <a:gd name="connsiteX29" fmla="*/ 159067 w 320039"/>
                  <a:gd name="connsiteY29" fmla="*/ 0 h 374332"/>
                  <a:gd name="connsiteX30" fmla="*/ 222885 w 320039"/>
                  <a:gd name="connsiteY30" fmla="*/ 13335 h 374332"/>
                  <a:gd name="connsiteX31" fmla="*/ 273367 w 320039"/>
                  <a:gd name="connsiteY31" fmla="*/ 50483 h 374332"/>
                  <a:gd name="connsiteX32" fmla="*/ 306705 w 320039"/>
                  <a:gd name="connsiteY32" fmla="*/ 108585 h 374332"/>
                  <a:gd name="connsiteX33" fmla="*/ 320040 w 320039"/>
                  <a:gd name="connsiteY33" fmla="*/ 185738 h 37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0039" h="374332">
                    <a:moveTo>
                      <a:pt x="248602" y="187643"/>
                    </a:moveTo>
                    <a:cubicBezTo>
                      <a:pt x="248602" y="169545"/>
                      <a:pt x="246697" y="153353"/>
                      <a:pt x="241935" y="138113"/>
                    </a:cubicBezTo>
                    <a:cubicBezTo>
                      <a:pt x="238125" y="123825"/>
                      <a:pt x="231457" y="110490"/>
                      <a:pt x="223838" y="100013"/>
                    </a:cubicBezTo>
                    <a:cubicBezTo>
                      <a:pt x="216217" y="89535"/>
                      <a:pt x="206692" y="81915"/>
                      <a:pt x="195263" y="76200"/>
                    </a:cubicBezTo>
                    <a:cubicBezTo>
                      <a:pt x="183832" y="70485"/>
                      <a:pt x="171450" y="67628"/>
                      <a:pt x="157163" y="67628"/>
                    </a:cubicBezTo>
                    <a:cubicBezTo>
                      <a:pt x="143827" y="67628"/>
                      <a:pt x="131445" y="70485"/>
                      <a:pt x="120967" y="76200"/>
                    </a:cubicBezTo>
                    <a:cubicBezTo>
                      <a:pt x="110490" y="81915"/>
                      <a:pt x="100965" y="89535"/>
                      <a:pt x="94297" y="100013"/>
                    </a:cubicBezTo>
                    <a:cubicBezTo>
                      <a:pt x="86677" y="110490"/>
                      <a:pt x="80963" y="122873"/>
                      <a:pt x="77152" y="137160"/>
                    </a:cubicBezTo>
                    <a:cubicBezTo>
                      <a:pt x="73342" y="151448"/>
                      <a:pt x="71438" y="167640"/>
                      <a:pt x="71438" y="185738"/>
                    </a:cubicBezTo>
                    <a:cubicBezTo>
                      <a:pt x="71438" y="205740"/>
                      <a:pt x="73342" y="222885"/>
                      <a:pt x="78105" y="238125"/>
                    </a:cubicBezTo>
                    <a:cubicBezTo>
                      <a:pt x="82867" y="253365"/>
                      <a:pt x="88582" y="265748"/>
                      <a:pt x="96202" y="276225"/>
                    </a:cubicBezTo>
                    <a:cubicBezTo>
                      <a:pt x="103822" y="286703"/>
                      <a:pt x="113347" y="294323"/>
                      <a:pt x="124777" y="299085"/>
                    </a:cubicBezTo>
                    <a:cubicBezTo>
                      <a:pt x="136207" y="304800"/>
                      <a:pt x="147638" y="306705"/>
                      <a:pt x="160972" y="306705"/>
                    </a:cubicBezTo>
                    <a:cubicBezTo>
                      <a:pt x="174307" y="306705"/>
                      <a:pt x="186690" y="303848"/>
                      <a:pt x="197167" y="297180"/>
                    </a:cubicBezTo>
                    <a:cubicBezTo>
                      <a:pt x="207645" y="290513"/>
                      <a:pt x="217170" y="281940"/>
                      <a:pt x="224790" y="271463"/>
                    </a:cubicBezTo>
                    <a:cubicBezTo>
                      <a:pt x="232410" y="260985"/>
                      <a:pt x="238125" y="247650"/>
                      <a:pt x="242888" y="233363"/>
                    </a:cubicBezTo>
                    <a:cubicBezTo>
                      <a:pt x="246697" y="220028"/>
                      <a:pt x="248602" y="203835"/>
                      <a:pt x="248602" y="187643"/>
                    </a:cubicBezTo>
                    <a:moveTo>
                      <a:pt x="320040" y="185738"/>
                    </a:moveTo>
                    <a:cubicBezTo>
                      <a:pt x="320040" y="215265"/>
                      <a:pt x="316230" y="241935"/>
                      <a:pt x="307657" y="265748"/>
                    </a:cubicBezTo>
                    <a:cubicBezTo>
                      <a:pt x="299085" y="288608"/>
                      <a:pt x="287655" y="308610"/>
                      <a:pt x="273367" y="324803"/>
                    </a:cubicBezTo>
                    <a:cubicBezTo>
                      <a:pt x="259080" y="340995"/>
                      <a:pt x="241935" y="353378"/>
                      <a:pt x="221932" y="361950"/>
                    </a:cubicBezTo>
                    <a:cubicBezTo>
                      <a:pt x="201930" y="370523"/>
                      <a:pt x="180975" y="374333"/>
                      <a:pt x="158115" y="374333"/>
                    </a:cubicBezTo>
                    <a:cubicBezTo>
                      <a:pt x="135255" y="374333"/>
                      <a:pt x="114300" y="369570"/>
                      <a:pt x="95250" y="360998"/>
                    </a:cubicBezTo>
                    <a:cubicBezTo>
                      <a:pt x="76200" y="352425"/>
                      <a:pt x="59055" y="339090"/>
                      <a:pt x="45720" y="322898"/>
                    </a:cubicBezTo>
                    <a:cubicBezTo>
                      <a:pt x="31432" y="306705"/>
                      <a:pt x="20955" y="286703"/>
                      <a:pt x="12382" y="263843"/>
                    </a:cubicBezTo>
                    <a:cubicBezTo>
                      <a:pt x="4763" y="240983"/>
                      <a:pt x="0" y="215265"/>
                      <a:pt x="0" y="187643"/>
                    </a:cubicBezTo>
                    <a:cubicBezTo>
                      <a:pt x="0" y="158115"/>
                      <a:pt x="3810" y="132398"/>
                      <a:pt x="12382" y="108585"/>
                    </a:cubicBezTo>
                    <a:cubicBezTo>
                      <a:pt x="20955" y="85725"/>
                      <a:pt x="31432" y="65723"/>
                      <a:pt x="45720" y="49530"/>
                    </a:cubicBezTo>
                    <a:cubicBezTo>
                      <a:pt x="60007" y="33338"/>
                      <a:pt x="77152" y="20955"/>
                      <a:pt x="96202" y="12383"/>
                    </a:cubicBezTo>
                    <a:cubicBezTo>
                      <a:pt x="115252" y="3810"/>
                      <a:pt x="136207" y="0"/>
                      <a:pt x="159067" y="0"/>
                    </a:cubicBezTo>
                    <a:cubicBezTo>
                      <a:pt x="181927" y="0"/>
                      <a:pt x="202882" y="4763"/>
                      <a:pt x="222885" y="13335"/>
                    </a:cubicBezTo>
                    <a:cubicBezTo>
                      <a:pt x="241935" y="21908"/>
                      <a:pt x="259080" y="34290"/>
                      <a:pt x="273367" y="50483"/>
                    </a:cubicBezTo>
                    <a:cubicBezTo>
                      <a:pt x="287655" y="66675"/>
                      <a:pt x="299085" y="85725"/>
                      <a:pt x="306705" y="108585"/>
                    </a:cubicBezTo>
                    <a:cubicBezTo>
                      <a:pt x="315277" y="132398"/>
                      <a:pt x="320040" y="158115"/>
                      <a:pt x="320040" y="185738"/>
                    </a:cubicBezTo>
                  </a:path>
                </a:pathLst>
              </a:custGeom>
              <a:solidFill>
                <a:srgbClr val="1A9AFA"/>
              </a:solidFill>
              <a:ln w="952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F9FFF1D9-6962-4D82-C27F-696628703673}"/>
                  </a:ext>
                </a:extLst>
              </p:cNvPr>
              <p:cNvSpPr/>
              <p:nvPr/>
            </p:nvSpPr>
            <p:spPr bwMode="invGray">
              <a:xfrm>
                <a:off x="13699312" y="6376989"/>
                <a:ext cx="287655" cy="365759"/>
              </a:xfrm>
              <a:custGeom>
                <a:avLst/>
                <a:gdLst>
                  <a:gd name="connsiteX0" fmla="*/ 218122 w 287655"/>
                  <a:gd name="connsiteY0" fmla="*/ 365760 h 365759"/>
                  <a:gd name="connsiteX1" fmla="*/ 218122 w 287655"/>
                  <a:gd name="connsiteY1" fmla="*/ 162878 h 365759"/>
                  <a:gd name="connsiteX2" fmla="*/ 200977 w 287655"/>
                  <a:gd name="connsiteY2" fmla="*/ 89535 h 365759"/>
                  <a:gd name="connsiteX3" fmla="*/ 144780 w 287655"/>
                  <a:gd name="connsiteY3" fmla="*/ 64770 h 365759"/>
                  <a:gd name="connsiteX4" fmla="*/ 113347 w 287655"/>
                  <a:gd name="connsiteY4" fmla="*/ 70485 h 365759"/>
                  <a:gd name="connsiteX5" fmla="*/ 89535 w 287655"/>
                  <a:gd name="connsiteY5" fmla="*/ 89535 h 365759"/>
                  <a:gd name="connsiteX6" fmla="*/ 75247 w 287655"/>
                  <a:gd name="connsiteY6" fmla="*/ 119063 h 365759"/>
                  <a:gd name="connsiteX7" fmla="*/ 70485 w 287655"/>
                  <a:gd name="connsiteY7" fmla="*/ 156210 h 365759"/>
                  <a:gd name="connsiteX8" fmla="*/ 70485 w 287655"/>
                  <a:gd name="connsiteY8" fmla="*/ 365760 h 365759"/>
                  <a:gd name="connsiteX9" fmla="*/ 0 w 287655"/>
                  <a:gd name="connsiteY9" fmla="*/ 365760 h 365759"/>
                  <a:gd name="connsiteX10" fmla="*/ 0 w 287655"/>
                  <a:gd name="connsiteY10" fmla="*/ 7620 h 365759"/>
                  <a:gd name="connsiteX11" fmla="*/ 70485 w 287655"/>
                  <a:gd name="connsiteY11" fmla="*/ 7620 h 365759"/>
                  <a:gd name="connsiteX12" fmla="*/ 70485 w 287655"/>
                  <a:gd name="connsiteY12" fmla="*/ 41910 h 365759"/>
                  <a:gd name="connsiteX13" fmla="*/ 86677 w 287655"/>
                  <a:gd name="connsiteY13" fmla="*/ 24765 h 365759"/>
                  <a:gd name="connsiteX14" fmla="*/ 107632 w 287655"/>
                  <a:gd name="connsiteY14" fmla="*/ 11430 h 365759"/>
                  <a:gd name="connsiteX15" fmla="*/ 132397 w 287655"/>
                  <a:gd name="connsiteY15" fmla="*/ 2858 h 365759"/>
                  <a:gd name="connsiteX16" fmla="*/ 160020 w 287655"/>
                  <a:gd name="connsiteY16" fmla="*/ 0 h 365759"/>
                  <a:gd name="connsiteX17" fmla="*/ 216218 w 287655"/>
                  <a:gd name="connsiteY17" fmla="*/ 10478 h 365759"/>
                  <a:gd name="connsiteX18" fmla="*/ 256222 w 287655"/>
                  <a:gd name="connsiteY18" fmla="*/ 40958 h 365759"/>
                  <a:gd name="connsiteX19" fmla="*/ 280035 w 287655"/>
                  <a:gd name="connsiteY19" fmla="*/ 90488 h 365759"/>
                  <a:gd name="connsiteX20" fmla="*/ 287655 w 287655"/>
                  <a:gd name="connsiteY20" fmla="*/ 160972 h 365759"/>
                  <a:gd name="connsiteX21" fmla="*/ 287655 w 287655"/>
                  <a:gd name="connsiteY21" fmla="*/ 365760 h 365759"/>
                  <a:gd name="connsiteX22" fmla="*/ 218122 w 287655"/>
                  <a:gd name="connsiteY22" fmla="*/ 365760 h 36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655" h="365759">
                    <a:moveTo>
                      <a:pt x="218122" y="365760"/>
                    </a:moveTo>
                    <a:lnTo>
                      <a:pt x="218122" y="162878"/>
                    </a:lnTo>
                    <a:cubicBezTo>
                      <a:pt x="218122" y="130492"/>
                      <a:pt x="212407" y="105728"/>
                      <a:pt x="200977" y="89535"/>
                    </a:cubicBezTo>
                    <a:cubicBezTo>
                      <a:pt x="189547" y="73342"/>
                      <a:pt x="170497" y="64770"/>
                      <a:pt x="144780" y="64770"/>
                    </a:cubicBezTo>
                    <a:cubicBezTo>
                      <a:pt x="133350" y="64770"/>
                      <a:pt x="122872" y="66675"/>
                      <a:pt x="113347" y="70485"/>
                    </a:cubicBezTo>
                    <a:cubicBezTo>
                      <a:pt x="103822" y="74295"/>
                      <a:pt x="96202" y="80963"/>
                      <a:pt x="89535" y="89535"/>
                    </a:cubicBezTo>
                    <a:cubicBezTo>
                      <a:pt x="82868" y="98108"/>
                      <a:pt x="78105" y="107633"/>
                      <a:pt x="75247" y="119063"/>
                    </a:cubicBezTo>
                    <a:cubicBezTo>
                      <a:pt x="72390" y="130492"/>
                      <a:pt x="70485" y="142875"/>
                      <a:pt x="70485" y="156210"/>
                    </a:cubicBezTo>
                    <a:lnTo>
                      <a:pt x="70485" y="365760"/>
                    </a:lnTo>
                    <a:lnTo>
                      <a:pt x="0" y="365760"/>
                    </a:lnTo>
                    <a:lnTo>
                      <a:pt x="0" y="7620"/>
                    </a:lnTo>
                    <a:lnTo>
                      <a:pt x="70485" y="7620"/>
                    </a:lnTo>
                    <a:lnTo>
                      <a:pt x="70485" y="41910"/>
                    </a:lnTo>
                    <a:cubicBezTo>
                      <a:pt x="75247" y="35242"/>
                      <a:pt x="80010" y="29528"/>
                      <a:pt x="86677" y="24765"/>
                    </a:cubicBezTo>
                    <a:cubicBezTo>
                      <a:pt x="93345" y="20003"/>
                      <a:pt x="100013" y="15240"/>
                      <a:pt x="107632" y="11430"/>
                    </a:cubicBezTo>
                    <a:cubicBezTo>
                      <a:pt x="115252" y="7620"/>
                      <a:pt x="123825" y="4763"/>
                      <a:pt x="132397" y="2858"/>
                    </a:cubicBezTo>
                    <a:cubicBezTo>
                      <a:pt x="140970" y="953"/>
                      <a:pt x="150495" y="0"/>
                      <a:pt x="160020" y="0"/>
                    </a:cubicBezTo>
                    <a:cubicBezTo>
                      <a:pt x="181927" y="0"/>
                      <a:pt x="200025" y="3810"/>
                      <a:pt x="216218" y="10478"/>
                    </a:cubicBezTo>
                    <a:cubicBezTo>
                      <a:pt x="232410" y="17145"/>
                      <a:pt x="245745" y="27622"/>
                      <a:pt x="256222" y="40958"/>
                    </a:cubicBezTo>
                    <a:cubicBezTo>
                      <a:pt x="266700" y="54292"/>
                      <a:pt x="274320" y="70485"/>
                      <a:pt x="280035" y="90488"/>
                    </a:cubicBezTo>
                    <a:cubicBezTo>
                      <a:pt x="285750" y="110490"/>
                      <a:pt x="287655" y="134303"/>
                      <a:pt x="287655" y="160972"/>
                    </a:cubicBezTo>
                    <a:lnTo>
                      <a:pt x="287655" y="365760"/>
                    </a:lnTo>
                    <a:lnTo>
                      <a:pt x="218122" y="365760"/>
                    </a:lnTo>
                    <a:close/>
                  </a:path>
                </a:pathLst>
              </a:custGeom>
              <a:solidFill>
                <a:srgbClr val="1A9AFA"/>
              </a:solidFill>
              <a:ln w="9525" cap="flat">
                <a:noFill/>
                <a:prstDash val="solid"/>
                <a:miter/>
              </a:ln>
            </p:spPr>
            <p:txBody>
              <a:bodyPr rtlCol="0" anchor="ctr"/>
              <a:lstStyle/>
              <a:p>
                <a:endParaRPr lang="en-US"/>
              </a:p>
            </p:txBody>
          </p:sp>
        </p:grpSp>
        <p:grpSp>
          <p:nvGrpSpPr>
            <p:cNvPr id="4" name="Graphic 4">
              <a:extLst>
                <a:ext uri="{FF2B5EF4-FFF2-40B4-BE49-F238E27FC236}">
                  <a16:creationId xmlns:a16="http://schemas.microsoft.com/office/drawing/2014/main" id="{609801FF-31CD-F352-DC51-DF1CFDFFCD83}"/>
                </a:ext>
              </a:extLst>
            </p:cNvPr>
            <p:cNvGrpSpPr/>
            <p:nvPr/>
          </p:nvGrpSpPr>
          <p:grpSpPr bwMode="invGray">
            <a:xfrm>
              <a:off x="9673094" y="5359719"/>
              <a:ext cx="1351597" cy="1383029"/>
              <a:chOff x="9673094" y="5359719"/>
              <a:chExt cx="1351597" cy="1383029"/>
            </a:xfrm>
          </p:grpSpPr>
          <p:sp>
            <p:nvSpPr>
              <p:cNvPr id="5" name="Freeform 4">
                <a:extLst>
                  <a:ext uri="{FF2B5EF4-FFF2-40B4-BE49-F238E27FC236}">
                    <a16:creationId xmlns:a16="http://schemas.microsoft.com/office/drawing/2014/main" id="{1D9CCBE8-6C09-BE35-0993-0CA86DD9CD18}"/>
                  </a:ext>
                </a:extLst>
              </p:cNvPr>
              <p:cNvSpPr/>
              <p:nvPr/>
            </p:nvSpPr>
            <p:spPr bwMode="invGray">
              <a:xfrm>
                <a:off x="9673094" y="5359719"/>
                <a:ext cx="1351597" cy="493394"/>
              </a:xfrm>
              <a:custGeom>
                <a:avLst/>
                <a:gdLst>
                  <a:gd name="connsiteX0" fmla="*/ 1351598 w 1351597"/>
                  <a:gd name="connsiteY0" fmla="*/ 0 h 493394"/>
                  <a:gd name="connsiteX1" fmla="*/ 0 w 1351597"/>
                  <a:gd name="connsiteY1" fmla="*/ 493395 h 493394"/>
                  <a:gd name="connsiteX2" fmla="*/ 1351598 w 1351597"/>
                  <a:gd name="connsiteY2" fmla="*/ 255270 h 493394"/>
                  <a:gd name="connsiteX3" fmla="*/ 1351598 w 1351597"/>
                  <a:gd name="connsiteY3" fmla="*/ 0 h 493394"/>
                </a:gdLst>
                <a:ahLst/>
                <a:cxnLst>
                  <a:cxn ang="0">
                    <a:pos x="connsiteX0" y="connsiteY0"/>
                  </a:cxn>
                  <a:cxn ang="0">
                    <a:pos x="connsiteX1" y="connsiteY1"/>
                  </a:cxn>
                  <a:cxn ang="0">
                    <a:pos x="connsiteX2" y="connsiteY2"/>
                  </a:cxn>
                  <a:cxn ang="0">
                    <a:pos x="connsiteX3" y="connsiteY3"/>
                  </a:cxn>
                </a:cxnLst>
                <a:rect l="l" t="t" r="r" b="b"/>
                <a:pathLst>
                  <a:path w="1351597" h="493394">
                    <a:moveTo>
                      <a:pt x="1351598" y="0"/>
                    </a:moveTo>
                    <a:lnTo>
                      <a:pt x="0" y="493395"/>
                    </a:lnTo>
                    <a:lnTo>
                      <a:pt x="1351598" y="255270"/>
                    </a:lnTo>
                    <a:lnTo>
                      <a:pt x="1351598" y="0"/>
                    </a:lnTo>
                    <a:close/>
                  </a:path>
                </a:pathLst>
              </a:custGeom>
              <a:solidFill>
                <a:srgbClr val="FFE600"/>
              </a:solidFill>
              <a:ln w="9525"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3A470842-3561-2745-CAD3-50F6BF96433B}"/>
                  </a:ext>
                </a:extLst>
              </p:cNvPr>
              <p:cNvSpPr/>
              <p:nvPr/>
            </p:nvSpPr>
            <p:spPr bwMode="invGray">
              <a:xfrm>
                <a:off x="9684524" y="6058854"/>
                <a:ext cx="1135379" cy="683894"/>
              </a:xfrm>
              <a:custGeom>
                <a:avLst/>
                <a:gdLst>
                  <a:gd name="connsiteX0" fmla="*/ 911543 w 1135379"/>
                  <a:gd name="connsiteY0" fmla="*/ 0 h 683894"/>
                  <a:gd name="connsiteX1" fmla="*/ 795338 w 1135379"/>
                  <a:gd name="connsiteY1" fmla="*/ 222885 h 683894"/>
                  <a:gd name="connsiteX2" fmla="*/ 679133 w 1135379"/>
                  <a:gd name="connsiteY2" fmla="*/ 0 h 683894"/>
                  <a:gd name="connsiteX3" fmla="*/ 452438 w 1135379"/>
                  <a:gd name="connsiteY3" fmla="*/ 0 h 683894"/>
                  <a:gd name="connsiteX4" fmla="*/ 691515 w 1135379"/>
                  <a:gd name="connsiteY4" fmla="*/ 413385 h 683894"/>
                  <a:gd name="connsiteX5" fmla="*/ 691515 w 1135379"/>
                  <a:gd name="connsiteY5" fmla="*/ 683895 h 683894"/>
                  <a:gd name="connsiteX6" fmla="*/ 896303 w 1135379"/>
                  <a:gd name="connsiteY6" fmla="*/ 683895 h 683894"/>
                  <a:gd name="connsiteX7" fmla="*/ 896303 w 1135379"/>
                  <a:gd name="connsiteY7" fmla="*/ 413385 h 683894"/>
                  <a:gd name="connsiteX8" fmla="*/ 1135380 w 1135379"/>
                  <a:gd name="connsiteY8" fmla="*/ 0 h 683894"/>
                  <a:gd name="connsiteX9" fmla="*/ 911543 w 1135379"/>
                  <a:gd name="connsiteY9" fmla="*/ 0 h 683894"/>
                  <a:gd name="connsiteX10" fmla="*/ 0 w 1135379"/>
                  <a:gd name="connsiteY10" fmla="*/ 0 h 683894"/>
                  <a:gd name="connsiteX11" fmla="*/ 0 w 1135379"/>
                  <a:gd name="connsiteY11" fmla="*/ 683895 h 683894"/>
                  <a:gd name="connsiteX12" fmla="*/ 546735 w 1135379"/>
                  <a:gd name="connsiteY12" fmla="*/ 683895 h 683894"/>
                  <a:gd name="connsiteX13" fmla="*/ 546735 w 1135379"/>
                  <a:gd name="connsiteY13" fmla="*/ 526732 h 683894"/>
                  <a:gd name="connsiteX14" fmla="*/ 204788 w 1135379"/>
                  <a:gd name="connsiteY14" fmla="*/ 526732 h 683894"/>
                  <a:gd name="connsiteX15" fmla="*/ 204788 w 1135379"/>
                  <a:gd name="connsiteY15" fmla="*/ 414338 h 683894"/>
                  <a:gd name="connsiteX16" fmla="*/ 452438 w 1135379"/>
                  <a:gd name="connsiteY16" fmla="*/ 414338 h 683894"/>
                  <a:gd name="connsiteX17" fmla="*/ 452438 w 1135379"/>
                  <a:gd name="connsiteY17" fmla="*/ 270510 h 683894"/>
                  <a:gd name="connsiteX18" fmla="*/ 204788 w 1135379"/>
                  <a:gd name="connsiteY18" fmla="*/ 270510 h 683894"/>
                  <a:gd name="connsiteX19" fmla="*/ 204788 w 1135379"/>
                  <a:gd name="connsiteY19" fmla="*/ 157163 h 683894"/>
                  <a:gd name="connsiteX20" fmla="*/ 479108 w 1135379"/>
                  <a:gd name="connsiteY20" fmla="*/ 157163 h 683894"/>
                  <a:gd name="connsiteX21" fmla="*/ 388620 w 1135379"/>
                  <a:gd name="connsiteY21" fmla="*/ 0 h 683894"/>
                  <a:gd name="connsiteX22" fmla="*/ 0 w 1135379"/>
                  <a:gd name="connsiteY22" fmla="*/ 0 h 68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35379" h="683894">
                    <a:moveTo>
                      <a:pt x="911543" y="0"/>
                    </a:moveTo>
                    <a:lnTo>
                      <a:pt x="795338" y="222885"/>
                    </a:lnTo>
                    <a:lnTo>
                      <a:pt x="679133" y="0"/>
                    </a:lnTo>
                    <a:lnTo>
                      <a:pt x="452438" y="0"/>
                    </a:lnTo>
                    <a:lnTo>
                      <a:pt x="691515" y="413385"/>
                    </a:lnTo>
                    <a:lnTo>
                      <a:pt x="691515" y="683895"/>
                    </a:lnTo>
                    <a:lnTo>
                      <a:pt x="896303" y="683895"/>
                    </a:lnTo>
                    <a:lnTo>
                      <a:pt x="896303" y="413385"/>
                    </a:lnTo>
                    <a:lnTo>
                      <a:pt x="1135380" y="0"/>
                    </a:lnTo>
                    <a:lnTo>
                      <a:pt x="911543" y="0"/>
                    </a:lnTo>
                    <a:close/>
                    <a:moveTo>
                      <a:pt x="0" y="0"/>
                    </a:moveTo>
                    <a:lnTo>
                      <a:pt x="0" y="683895"/>
                    </a:lnTo>
                    <a:lnTo>
                      <a:pt x="546735" y="683895"/>
                    </a:lnTo>
                    <a:lnTo>
                      <a:pt x="546735" y="526732"/>
                    </a:lnTo>
                    <a:lnTo>
                      <a:pt x="204788" y="526732"/>
                    </a:lnTo>
                    <a:lnTo>
                      <a:pt x="204788" y="414338"/>
                    </a:lnTo>
                    <a:lnTo>
                      <a:pt x="452438" y="414338"/>
                    </a:lnTo>
                    <a:lnTo>
                      <a:pt x="452438" y="270510"/>
                    </a:lnTo>
                    <a:lnTo>
                      <a:pt x="204788" y="270510"/>
                    </a:lnTo>
                    <a:lnTo>
                      <a:pt x="204788" y="157163"/>
                    </a:lnTo>
                    <a:lnTo>
                      <a:pt x="479108" y="157163"/>
                    </a:lnTo>
                    <a:lnTo>
                      <a:pt x="388620" y="0"/>
                    </a:lnTo>
                    <a:lnTo>
                      <a:pt x="0" y="0"/>
                    </a:lnTo>
                    <a:close/>
                  </a:path>
                </a:pathLst>
              </a:custGeom>
              <a:solidFill>
                <a:srgbClr val="FFFFFF"/>
              </a:solidFill>
              <a:ln w="952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343602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BrandEYPledSpectrum">
    <p:spTree>
      <p:nvGrpSpPr>
        <p:cNvPr id="1" name=""/>
        <p:cNvGrpSpPr/>
        <p:nvPr/>
      </p:nvGrpSpPr>
      <p:grpSpPr>
        <a:xfrm>
          <a:off x="0" y="0"/>
          <a:ext cx="0" cy="0"/>
          <a:chOff x="0" y="0"/>
          <a:chExt cx="0" cy="0"/>
        </a:xfrm>
      </p:grpSpPr>
      <p:pic>
        <p:nvPicPr>
          <p:cNvPr id="6" name="Picture 5" descr="A blurry blue and black background">
            <a:extLst>
              <a:ext uri="{FF2B5EF4-FFF2-40B4-BE49-F238E27FC236}">
                <a16:creationId xmlns:a16="http://schemas.microsoft.com/office/drawing/2014/main" id="{3E1E1A51-09DB-570E-C3AF-6130F49BB83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12192000" cy="6858000"/>
          </a:xfrm>
          <a:prstGeom prst="rect">
            <a:avLst/>
          </a:prstGeom>
        </p:spPr>
      </p:pic>
      <p:sp>
        <p:nvSpPr>
          <p:cNvPr id="7" name="Subtitle 2">
            <a:extLst>
              <a:ext uri="{FF2B5EF4-FFF2-40B4-BE49-F238E27FC236}">
                <a16:creationId xmlns:a16="http://schemas.microsoft.com/office/drawing/2014/main" id="{11036EC0-6305-25F3-3159-F667E17738CB}"/>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sz="16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8" name="Title 4">
            <a:extLst>
              <a:ext uri="{FF2B5EF4-FFF2-40B4-BE49-F238E27FC236}">
                <a16:creationId xmlns:a16="http://schemas.microsoft.com/office/drawing/2014/main" id="{5281A580-89FC-B958-D297-D2C4CC9C42D1}"/>
              </a:ext>
            </a:extLst>
          </p:cNvPr>
          <p:cNvSpPr>
            <a:spLocks noGrp="1"/>
          </p:cNvSpPr>
          <p:nvPr>
            <p:ph type="title"/>
          </p:nvPr>
        </p:nvSpPr>
        <p:spPr>
          <a:xfrm>
            <a:off x="889762" y="2698751"/>
            <a:ext cx="4906009" cy="1654043"/>
          </a:xfrm>
        </p:spPr>
        <p:txBody>
          <a:bodyPr anchor="t">
            <a:noAutofit/>
          </a:bodyPr>
          <a:lstStyle>
            <a:lvl1pPr>
              <a:defRPr lang="en-US" sz="4200" dirty="0">
                <a:solidFill>
                  <a:schemeClr val="bg1"/>
                </a:solidFill>
              </a:defRPr>
            </a:lvl1pPr>
          </a:lstStyle>
          <a:p>
            <a:r>
              <a:rPr lang="en-US"/>
              <a:t>Click to edit Master title style</a:t>
            </a:r>
          </a:p>
        </p:txBody>
      </p:sp>
      <p:sp>
        <p:nvSpPr>
          <p:cNvPr id="9" name="Text Placeholder 288">
            <a:extLst>
              <a:ext uri="{FF2B5EF4-FFF2-40B4-BE49-F238E27FC236}">
                <a16:creationId xmlns:a16="http://schemas.microsoft.com/office/drawing/2014/main" id="{E8E53166-119E-E3B2-15F7-78928CD566FC}"/>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mj-lt"/>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US"/>
              <a:t>Click to edit Master text styles</a:t>
            </a:r>
          </a:p>
        </p:txBody>
      </p:sp>
      <p:grpSp>
        <p:nvGrpSpPr>
          <p:cNvPr id="10" name="Group 9">
            <a:extLst>
              <a:ext uri="{FF2B5EF4-FFF2-40B4-BE49-F238E27FC236}">
                <a16:creationId xmlns:a16="http://schemas.microsoft.com/office/drawing/2014/main" id="{6F266F55-F883-E1C8-FD90-A1F5393F73A5}"/>
              </a:ext>
            </a:extLst>
          </p:cNvPr>
          <p:cNvGrpSpPr>
            <a:grpSpLocks noChangeAspect="1"/>
          </p:cNvGrpSpPr>
          <p:nvPr userDrawn="1"/>
        </p:nvGrpSpPr>
        <p:grpSpPr bwMode="invGray">
          <a:xfrm>
            <a:off x="9345224" y="5422966"/>
            <a:ext cx="2437200" cy="1056582"/>
            <a:chOff x="1333500" y="1365250"/>
            <a:chExt cx="7772399" cy="3369514"/>
          </a:xfrm>
        </p:grpSpPr>
        <p:sp>
          <p:nvSpPr>
            <p:cNvPr id="11" name="Freeform 7">
              <a:extLst>
                <a:ext uri="{FF2B5EF4-FFF2-40B4-BE49-F238E27FC236}">
                  <a16:creationId xmlns:a16="http://schemas.microsoft.com/office/drawing/2014/main" id="{7E73F916-D313-197F-4B89-CEE4F32EA59A}"/>
                </a:ext>
              </a:extLst>
            </p:cNvPr>
            <p:cNvSpPr/>
            <p:nvPr/>
          </p:nvSpPr>
          <p:spPr bwMode="invGray">
            <a:xfrm>
              <a:off x="3765639" y="2990756"/>
              <a:ext cx="635704" cy="857763"/>
            </a:xfrm>
            <a:custGeom>
              <a:avLst/>
              <a:gdLst>
                <a:gd name="connsiteX0" fmla="*/ 504506 w 635704"/>
                <a:gd name="connsiteY0" fmla="*/ 268512 h 857763"/>
                <a:gd name="connsiteX1" fmla="*/ 494014 w 635704"/>
                <a:gd name="connsiteY1" fmla="*/ 205730 h 857763"/>
                <a:gd name="connsiteX2" fmla="*/ 464323 w 635704"/>
                <a:gd name="connsiteY2" fmla="*/ 159400 h 857763"/>
                <a:gd name="connsiteX3" fmla="*/ 417922 w 635704"/>
                <a:gd name="connsiteY3" fmla="*/ 130997 h 857763"/>
                <a:gd name="connsiteX4" fmla="*/ 357142 w 635704"/>
                <a:gd name="connsiteY4" fmla="*/ 121374 h 857763"/>
                <a:gd name="connsiteX5" fmla="*/ 126457 w 635704"/>
                <a:gd name="connsiteY5" fmla="*/ 121374 h 857763"/>
                <a:gd name="connsiteX6" fmla="*/ 126457 w 635704"/>
                <a:gd name="connsiteY6" fmla="*/ 416892 h 857763"/>
                <a:gd name="connsiteX7" fmla="*/ 357142 w 635704"/>
                <a:gd name="connsiteY7" fmla="*/ 416892 h 857763"/>
                <a:gd name="connsiteX8" fmla="*/ 467976 w 635704"/>
                <a:gd name="connsiteY8" fmla="*/ 377391 h 857763"/>
                <a:gd name="connsiteX9" fmla="*/ 504506 w 635704"/>
                <a:gd name="connsiteY9" fmla="*/ 268512 h 857763"/>
                <a:gd name="connsiteX10" fmla="*/ 635704 w 635704"/>
                <a:gd name="connsiteY10" fmla="*/ 268512 h 857763"/>
                <a:gd name="connsiteX11" fmla="*/ 614719 w 635704"/>
                <a:gd name="connsiteY11" fmla="*/ 385152 h 857763"/>
                <a:gd name="connsiteX12" fmla="*/ 556037 w 635704"/>
                <a:gd name="connsiteY12" fmla="*/ 469198 h 857763"/>
                <a:gd name="connsiteX13" fmla="*/ 466111 w 635704"/>
                <a:gd name="connsiteY13" fmla="*/ 520339 h 857763"/>
                <a:gd name="connsiteX14" fmla="*/ 351079 w 635704"/>
                <a:gd name="connsiteY14" fmla="*/ 537722 h 857763"/>
                <a:gd name="connsiteX15" fmla="*/ 126379 w 635704"/>
                <a:gd name="connsiteY15" fmla="*/ 537722 h 857763"/>
                <a:gd name="connsiteX16" fmla="*/ 126379 w 635704"/>
                <a:gd name="connsiteY16" fmla="*/ 857764 h 857763"/>
                <a:gd name="connsiteX17" fmla="*/ 0 w 635704"/>
                <a:gd name="connsiteY17" fmla="*/ 857764 h 857763"/>
                <a:gd name="connsiteX18" fmla="*/ 0 w 635704"/>
                <a:gd name="connsiteY18" fmla="*/ 0 h 857763"/>
                <a:gd name="connsiteX19" fmla="*/ 359474 w 635704"/>
                <a:gd name="connsiteY19" fmla="*/ 0 h 857763"/>
                <a:gd name="connsiteX20" fmla="*/ 469375 w 635704"/>
                <a:gd name="connsiteY20" fmla="*/ 17073 h 857763"/>
                <a:gd name="connsiteX21" fmla="*/ 556815 w 635704"/>
                <a:gd name="connsiteY21" fmla="*/ 67594 h 857763"/>
                <a:gd name="connsiteX22" fmla="*/ 614641 w 635704"/>
                <a:gd name="connsiteY22" fmla="*/ 151639 h 857763"/>
                <a:gd name="connsiteX23" fmla="*/ 635627 w 635704"/>
                <a:gd name="connsiteY23" fmla="*/ 268590 h 857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35704" h="857763">
                  <a:moveTo>
                    <a:pt x="504506" y="268512"/>
                  </a:moveTo>
                  <a:cubicBezTo>
                    <a:pt x="504506" y="244998"/>
                    <a:pt x="501009" y="224044"/>
                    <a:pt x="494014" y="205730"/>
                  </a:cubicBezTo>
                  <a:cubicBezTo>
                    <a:pt x="487018" y="187415"/>
                    <a:pt x="477148" y="171972"/>
                    <a:pt x="464323" y="159400"/>
                  </a:cubicBezTo>
                  <a:cubicBezTo>
                    <a:pt x="451576" y="146828"/>
                    <a:pt x="436031" y="137360"/>
                    <a:pt x="417922" y="130997"/>
                  </a:cubicBezTo>
                  <a:cubicBezTo>
                    <a:pt x="399734" y="124633"/>
                    <a:pt x="379448" y="121374"/>
                    <a:pt x="357142" y="121374"/>
                  </a:cubicBezTo>
                  <a:lnTo>
                    <a:pt x="126457" y="121374"/>
                  </a:lnTo>
                  <a:lnTo>
                    <a:pt x="126457" y="416892"/>
                  </a:lnTo>
                  <a:lnTo>
                    <a:pt x="357142" y="416892"/>
                  </a:lnTo>
                  <a:cubicBezTo>
                    <a:pt x="406652" y="416892"/>
                    <a:pt x="443571" y="403699"/>
                    <a:pt x="467976" y="377391"/>
                  </a:cubicBezTo>
                  <a:cubicBezTo>
                    <a:pt x="492304" y="351083"/>
                    <a:pt x="504506" y="314764"/>
                    <a:pt x="504506" y="268512"/>
                  </a:cubicBezTo>
                  <a:moveTo>
                    <a:pt x="635704" y="268512"/>
                  </a:moveTo>
                  <a:cubicBezTo>
                    <a:pt x="635704" y="312746"/>
                    <a:pt x="628709" y="351626"/>
                    <a:pt x="614719" y="385152"/>
                  </a:cubicBezTo>
                  <a:cubicBezTo>
                    <a:pt x="600729" y="418677"/>
                    <a:pt x="581220" y="446692"/>
                    <a:pt x="556037" y="469198"/>
                  </a:cubicBezTo>
                  <a:cubicBezTo>
                    <a:pt x="530855" y="491703"/>
                    <a:pt x="500931" y="508776"/>
                    <a:pt x="466111" y="520339"/>
                  </a:cubicBezTo>
                  <a:cubicBezTo>
                    <a:pt x="431368" y="531902"/>
                    <a:pt x="393050" y="537722"/>
                    <a:pt x="351079" y="537722"/>
                  </a:cubicBezTo>
                  <a:lnTo>
                    <a:pt x="126379" y="537722"/>
                  </a:lnTo>
                  <a:lnTo>
                    <a:pt x="126379" y="857764"/>
                  </a:lnTo>
                  <a:lnTo>
                    <a:pt x="0" y="857764"/>
                  </a:lnTo>
                  <a:lnTo>
                    <a:pt x="0" y="0"/>
                  </a:lnTo>
                  <a:lnTo>
                    <a:pt x="359474" y="0"/>
                  </a:lnTo>
                  <a:cubicBezTo>
                    <a:pt x="398957" y="0"/>
                    <a:pt x="435643" y="5665"/>
                    <a:pt x="469375" y="17073"/>
                  </a:cubicBezTo>
                  <a:cubicBezTo>
                    <a:pt x="503107" y="28481"/>
                    <a:pt x="532254" y="45321"/>
                    <a:pt x="556815" y="67594"/>
                  </a:cubicBezTo>
                  <a:cubicBezTo>
                    <a:pt x="581375" y="89944"/>
                    <a:pt x="600651" y="117959"/>
                    <a:pt x="614641" y="151639"/>
                  </a:cubicBezTo>
                  <a:cubicBezTo>
                    <a:pt x="628632" y="185320"/>
                    <a:pt x="635627" y="224277"/>
                    <a:pt x="635627" y="268590"/>
                  </a:cubicBezTo>
                </a:path>
              </a:pathLst>
            </a:custGeom>
            <a:solidFill>
              <a:schemeClr val="accent1"/>
            </a:solidFill>
            <a:ln w="7772" cap="flat">
              <a:noFill/>
              <a:prstDash val="solid"/>
              <a:miter/>
            </a:ln>
          </p:spPr>
          <p:txBody>
            <a:bodyPr rtlCol="0" anchor="ctr"/>
            <a:lstStyle/>
            <a:p>
              <a:endParaRPr lang="en-US"/>
            </a:p>
          </p:txBody>
        </p:sp>
        <p:sp>
          <p:nvSpPr>
            <p:cNvPr id="12" name="Freeform 8">
              <a:extLst>
                <a:ext uri="{FF2B5EF4-FFF2-40B4-BE49-F238E27FC236}">
                  <a16:creationId xmlns:a16="http://schemas.microsoft.com/office/drawing/2014/main" id="{56BF5E5B-E972-4D86-7A98-A5293E75CE7C}"/>
                </a:ext>
              </a:extLst>
            </p:cNvPr>
            <p:cNvSpPr/>
            <p:nvPr/>
          </p:nvSpPr>
          <p:spPr bwMode="invGray">
            <a:xfrm>
              <a:off x="4442770" y="3191752"/>
              <a:ext cx="524092" cy="670503"/>
            </a:xfrm>
            <a:custGeom>
              <a:avLst/>
              <a:gdLst>
                <a:gd name="connsiteX0" fmla="*/ 400201 w 524092"/>
                <a:gd name="connsiteY0" fmla="*/ 382125 h 670503"/>
                <a:gd name="connsiteX1" fmla="*/ 367868 w 524092"/>
                <a:gd name="connsiteY1" fmla="*/ 369243 h 670503"/>
                <a:gd name="connsiteX2" fmla="*/ 337944 w 524092"/>
                <a:gd name="connsiteY2" fmla="*/ 361482 h 670503"/>
                <a:gd name="connsiteX3" fmla="*/ 300559 w 524092"/>
                <a:gd name="connsiteY3" fmla="*/ 356128 h 670503"/>
                <a:gd name="connsiteX4" fmla="*/ 252914 w 524092"/>
                <a:gd name="connsiteY4" fmla="*/ 354032 h 670503"/>
                <a:gd name="connsiteX5" fmla="*/ 156225 w 524092"/>
                <a:gd name="connsiteY5" fmla="*/ 379719 h 670503"/>
                <a:gd name="connsiteX6" fmla="*/ 120550 w 524092"/>
                <a:gd name="connsiteY6" fmla="*/ 449719 h 670503"/>
                <a:gd name="connsiteX7" fmla="*/ 130732 w 524092"/>
                <a:gd name="connsiteY7" fmla="*/ 498454 h 670503"/>
                <a:gd name="connsiteX8" fmla="*/ 156458 w 524092"/>
                <a:gd name="connsiteY8" fmla="*/ 531048 h 670503"/>
                <a:gd name="connsiteX9" fmla="*/ 193300 w 524092"/>
                <a:gd name="connsiteY9" fmla="*/ 549906 h 670503"/>
                <a:gd name="connsiteX10" fmla="*/ 244520 w 524092"/>
                <a:gd name="connsiteY10" fmla="*/ 556192 h 670503"/>
                <a:gd name="connsiteX11" fmla="*/ 293019 w 524092"/>
                <a:gd name="connsiteY11" fmla="*/ 548975 h 670503"/>
                <a:gd name="connsiteX12" fmla="*/ 336778 w 524092"/>
                <a:gd name="connsiteY12" fmla="*/ 530117 h 670503"/>
                <a:gd name="connsiteX13" fmla="*/ 373308 w 524092"/>
                <a:gd name="connsiteY13" fmla="*/ 503809 h 670503"/>
                <a:gd name="connsiteX14" fmla="*/ 400279 w 524092"/>
                <a:gd name="connsiteY14" fmla="*/ 474164 h 670503"/>
                <a:gd name="connsiteX15" fmla="*/ 400279 w 524092"/>
                <a:gd name="connsiteY15" fmla="*/ 382047 h 670503"/>
                <a:gd name="connsiteX16" fmla="*/ 400201 w 524092"/>
                <a:gd name="connsiteY16" fmla="*/ 656690 h 670503"/>
                <a:gd name="connsiteX17" fmla="*/ 400201 w 524092"/>
                <a:gd name="connsiteY17" fmla="*/ 593287 h 670503"/>
                <a:gd name="connsiteX18" fmla="*/ 359474 w 524092"/>
                <a:gd name="connsiteY18" fmla="*/ 626502 h 670503"/>
                <a:gd name="connsiteX19" fmla="*/ 325897 w 524092"/>
                <a:gd name="connsiteY19" fmla="*/ 646291 h 670503"/>
                <a:gd name="connsiteX20" fmla="*/ 281905 w 524092"/>
                <a:gd name="connsiteY20" fmla="*/ 663054 h 670503"/>
                <a:gd name="connsiteX21" fmla="*/ 223534 w 524092"/>
                <a:gd name="connsiteY21" fmla="*/ 670504 h 670503"/>
                <a:gd name="connsiteX22" fmla="*/ 144722 w 524092"/>
                <a:gd name="connsiteY22" fmla="*/ 658863 h 670503"/>
                <a:gd name="connsiteX23" fmla="*/ 72827 w 524092"/>
                <a:gd name="connsiteY23" fmla="*/ 621225 h 670503"/>
                <a:gd name="connsiteX24" fmla="*/ 20364 w 524092"/>
                <a:gd name="connsiteY24" fmla="*/ 553942 h 670503"/>
                <a:gd name="connsiteX25" fmla="*/ 0 w 524092"/>
                <a:gd name="connsiteY25" fmla="*/ 453444 h 670503"/>
                <a:gd name="connsiteX26" fmla="*/ 19431 w 524092"/>
                <a:gd name="connsiteY26" fmla="*/ 360473 h 670503"/>
                <a:gd name="connsiteX27" fmla="*/ 73371 w 524092"/>
                <a:gd name="connsiteY27" fmla="*/ 295596 h 670503"/>
                <a:gd name="connsiteX28" fmla="*/ 154826 w 524092"/>
                <a:gd name="connsiteY28" fmla="*/ 257570 h 670503"/>
                <a:gd name="connsiteX29" fmla="*/ 256334 w 524092"/>
                <a:gd name="connsiteY29" fmla="*/ 245308 h 670503"/>
                <a:gd name="connsiteX30" fmla="*/ 341986 w 524092"/>
                <a:gd name="connsiteY30" fmla="*/ 252215 h 670503"/>
                <a:gd name="connsiteX31" fmla="*/ 400123 w 524092"/>
                <a:gd name="connsiteY31" fmla="*/ 269831 h 670503"/>
                <a:gd name="connsiteX32" fmla="*/ 400123 w 524092"/>
                <a:gd name="connsiteY32" fmla="*/ 221949 h 670503"/>
                <a:gd name="connsiteX33" fmla="*/ 368956 w 524092"/>
                <a:gd name="connsiteY33" fmla="*/ 141240 h 670503"/>
                <a:gd name="connsiteX34" fmla="*/ 278485 w 524092"/>
                <a:gd name="connsiteY34" fmla="*/ 113148 h 670503"/>
                <a:gd name="connsiteX35" fmla="*/ 188636 w 524092"/>
                <a:gd name="connsiteY35" fmla="*/ 122693 h 670503"/>
                <a:gd name="connsiteX36" fmla="*/ 110757 w 524092"/>
                <a:gd name="connsiteY36" fmla="*/ 153192 h 670503"/>
                <a:gd name="connsiteX37" fmla="*/ 61635 w 524092"/>
                <a:gd name="connsiteY37" fmla="*/ 58048 h 670503"/>
                <a:gd name="connsiteX38" fmla="*/ 160733 w 524092"/>
                <a:gd name="connsiteY38" fmla="*/ 14667 h 670503"/>
                <a:gd name="connsiteX39" fmla="*/ 282060 w 524092"/>
                <a:gd name="connsiteY39" fmla="*/ 0 h 670503"/>
                <a:gd name="connsiteX40" fmla="*/ 380614 w 524092"/>
                <a:gd name="connsiteY40" fmla="*/ 13193 h 670503"/>
                <a:gd name="connsiteX41" fmla="*/ 457017 w 524092"/>
                <a:gd name="connsiteY41" fmla="*/ 53314 h 670503"/>
                <a:gd name="connsiteX42" fmla="*/ 506450 w 524092"/>
                <a:gd name="connsiteY42" fmla="*/ 120908 h 670503"/>
                <a:gd name="connsiteX43" fmla="*/ 524093 w 524092"/>
                <a:gd name="connsiteY43" fmla="*/ 216051 h 670503"/>
                <a:gd name="connsiteX44" fmla="*/ 524093 w 524092"/>
                <a:gd name="connsiteY44" fmla="*/ 656923 h 670503"/>
                <a:gd name="connsiteX45" fmla="*/ 400123 w 524092"/>
                <a:gd name="connsiteY45" fmla="*/ 656923 h 67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24092" h="670503">
                  <a:moveTo>
                    <a:pt x="400201" y="382125"/>
                  </a:moveTo>
                  <a:cubicBezTo>
                    <a:pt x="388231" y="376538"/>
                    <a:pt x="377428" y="372269"/>
                    <a:pt x="367868" y="369243"/>
                  </a:cubicBezTo>
                  <a:cubicBezTo>
                    <a:pt x="358308" y="366216"/>
                    <a:pt x="348359" y="363655"/>
                    <a:pt x="337944" y="361482"/>
                  </a:cubicBezTo>
                  <a:cubicBezTo>
                    <a:pt x="327607" y="359309"/>
                    <a:pt x="315093" y="357524"/>
                    <a:pt x="300559" y="356128"/>
                  </a:cubicBezTo>
                  <a:cubicBezTo>
                    <a:pt x="285946" y="354731"/>
                    <a:pt x="270091" y="354032"/>
                    <a:pt x="252914" y="354032"/>
                  </a:cubicBezTo>
                  <a:cubicBezTo>
                    <a:pt x="212186" y="354032"/>
                    <a:pt x="179931" y="362646"/>
                    <a:pt x="156225" y="379719"/>
                  </a:cubicBezTo>
                  <a:cubicBezTo>
                    <a:pt x="132442" y="396870"/>
                    <a:pt x="120550" y="420229"/>
                    <a:pt x="120550" y="449719"/>
                  </a:cubicBezTo>
                  <a:cubicBezTo>
                    <a:pt x="120550" y="468809"/>
                    <a:pt x="123892" y="485106"/>
                    <a:pt x="130732" y="498454"/>
                  </a:cubicBezTo>
                  <a:cubicBezTo>
                    <a:pt x="137494" y="511802"/>
                    <a:pt x="146121" y="522667"/>
                    <a:pt x="156458" y="531048"/>
                  </a:cubicBezTo>
                  <a:cubicBezTo>
                    <a:pt x="166796" y="539430"/>
                    <a:pt x="179154" y="545716"/>
                    <a:pt x="193300" y="549906"/>
                  </a:cubicBezTo>
                  <a:cubicBezTo>
                    <a:pt x="207523" y="554097"/>
                    <a:pt x="224545" y="556192"/>
                    <a:pt x="244520" y="556192"/>
                  </a:cubicBezTo>
                  <a:cubicBezTo>
                    <a:pt x="261308" y="556192"/>
                    <a:pt x="277475" y="553787"/>
                    <a:pt x="293019" y="548975"/>
                  </a:cubicBezTo>
                  <a:cubicBezTo>
                    <a:pt x="308642" y="544164"/>
                    <a:pt x="323176" y="537955"/>
                    <a:pt x="336778" y="530117"/>
                  </a:cubicBezTo>
                  <a:cubicBezTo>
                    <a:pt x="350380" y="522357"/>
                    <a:pt x="362505" y="513587"/>
                    <a:pt x="373308" y="503809"/>
                  </a:cubicBezTo>
                  <a:cubicBezTo>
                    <a:pt x="384112" y="494031"/>
                    <a:pt x="393050" y="484175"/>
                    <a:pt x="400279" y="474164"/>
                  </a:cubicBezTo>
                  <a:lnTo>
                    <a:pt x="400279" y="382047"/>
                  </a:lnTo>
                  <a:close/>
                  <a:moveTo>
                    <a:pt x="400201" y="656690"/>
                  </a:moveTo>
                  <a:lnTo>
                    <a:pt x="400201" y="593287"/>
                  </a:lnTo>
                  <a:cubicBezTo>
                    <a:pt x="383801" y="608498"/>
                    <a:pt x="370277" y="619518"/>
                    <a:pt x="359474" y="626502"/>
                  </a:cubicBezTo>
                  <a:cubicBezTo>
                    <a:pt x="348670" y="633486"/>
                    <a:pt x="337555" y="640083"/>
                    <a:pt x="325897" y="646291"/>
                  </a:cubicBezTo>
                  <a:cubicBezTo>
                    <a:pt x="314316" y="652422"/>
                    <a:pt x="299626" y="658009"/>
                    <a:pt x="281905" y="663054"/>
                  </a:cubicBezTo>
                  <a:cubicBezTo>
                    <a:pt x="264106" y="668021"/>
                    <a:pt x="244675" y="670504"/>
                    <a:pt x="223534" y="670504"/>
                  </a:cubicBezTo>
                  <a:cubicBezTo>
                    <a:pt x="197574" y="670504"/>
                    <a:pt x="171304" y="666624"/>
                    <a:pt x="144722" y="658863"/>
                  </a:cubicBezTo>
                  <a:cubicBezTo>
                    <a:pt x="118140" y="651103"/>
                    <a:pt x="94201" y="638531"/>
                    <a:pt x="72827" y="621225"/>
                  </a:cubicBezTo>
                  <a:cubicBezTo>
                    <a:pt x="51453" y="603842"/>
                    <a:pt x="33965" y="581414"/>
                    <a:pt x="20364" y="553942"/>
                  </a:cubicBezTo>
                  <a:cubicBezTo>
                    <a:pt x="6762" y="526470"/>
                    <a:pt x="0" y="492945"/>
                    <a:pt x="0" y="453444"/>
                  </a:cubicBezTo>
                  <a:cubicBezTo>
                    <a:pt x="0" y="417591"/>
                    <a:pt x="6451" y="386549"/>
                    <a:pt x="19431" y="360473"/>
                  </a:cubicBezTo>
                  <a:cubicBezTo>
                    <a:pt x="32411" y="334321"/>
                    <a:pt x="50365" y="312747"/>
                    <a:pt x="73371" y="295596"/>
                  </a:cubicBezTo>
                  <a:cubicBezTo>
                    <a:pt x="96378" y="278445"/>
                    <a:pt x="123503" y="265796"/>
                    <a:pt x="154826" y="257570"/>
                  </a:cubicBezTo>
                  <a:cubicBezTo>
                    <a:pt x="186149" y="249421"/>
                    <a:pt x="220037" y="245308"/>
                    <a:pt x="256334" y="245308"/>
                  </a:cubicBezTo>
                  <a:cubicBezTo>
                    <a:pt x="290299" y="245308"/>
                    <a:pt x="318824" y="247636"/>
                    <a:pt x="341986" y="252215"/>
                  </a:cubicBezTo>
                  <a:cubicBezTo>
                    <a:pt x="365147" y="256794"/>
                    <a:pt x="384501" y="262692"/>
                    <a:pt x="400123" y="269831"/>
                  </a:cubicBezTo>
                  <a:lnTo>
                    <a:pt x="400123" y="221949"/>
                  </a:lnTo>
                  <a:cubicBezTo>
                    <a:pt x="400123" y="186872"/>
                    <a:pt x="389786" y="159943"/>
                    <a:pt x="368956" y="141240"/>
                  </a:cubicBezTo>
                  <a:cubicBezTo>
                    <a:pt x="348203" y="122538"/>
                    <a:pt x="317969" y="113148"/>
                    <a:pt x="278485" y="113148"/>
                  </a:cubicBezTo>
                  <a:cubicBezTo>
                    <a:pt x="245297" y="113148"/>
                    <a:pt x="215373" y="116329"/>
                    <a:pt x="188636" y="122693"/>
                  </a:cubicBezTo>
                  <a:cubicBezTo>
                    <a:pt x="161899" y="129057"/>
                    <a:pt x="135939" y="139223"/>
                    <a:pt x="110757" y="153192"/>
                  </a:cubicBezTo>
                  <a:lnTo>
                    <a:pt x="61635" y="58048"/>
                  </a:lnTo>
                  <a:cubicBezTo>
                    <a:pt x="92414" y="38880"/>
                    <a:pt x="125446" y="24445"/>
                    <a:pt x="160733" y="14667"/>
                  </a:cubicBezTo>
                  <a:cubicBezTo>
                    <a:pt x="196098" y="4889"/>
                    <a:pt x="236514" y="0"/>
                    <a:pt x="282060" y="0"/>
                  </a:cubicBezTo>
                  <a:cubicBezTo>
                    <a:pt x="317969" y="0"/>
                    <a:pt x="350846" y="4423"/>
                    <a:pt x="380614" y="13193"/>
                  </a:cubicBezTo>
                  <a:cubicBezTo>
                    <a:pt x="410383" y="21962"/>
                    <a:pt x="435798" y="35310"/>
                    <a:pt x="457017" y="53314"/>
                  </a:cubicBezTo>
                  <a:cubicBezTo>
                    <a:pt x="478158" y="71241"/>
                    <a:pt x="494635" y="93746"/>
                    <a:pt x="506450" y="120908"/>
                  </a:cubicBezTo>
                  <a:cubicBezTo>
                    <a:pt x="518264" y="148070"/>
                    <a:pt x="524093" y="179732"/>
                    <a:pt x="524093" y="216051"/>
                  </a:cubicBezTo>
                  <a:lnTo>
                    <a:pt x="524093" y="656923"/>
                  </a:lnTo>
                  <a:lnTo>
                    <a:pt x="400123" y="656923"/>
                  </a:lnTo>
                  <a:close/>
                </a:path>
              </a:pathLst>
            </a:custGeom>
            <a:solidFill>
              <a:schemeClr val="accent1"/>
            </a:solidFill>
            <a:ln w="7772" cap="flat">
              <a:noFill/>
              <a:prstDash val="solid"/>
              <a:miter/>
            </a:ln>
          </p:spPr>
          <p:txBody>
            <a:bodyPr rtlCol="0" anchor="ctr"/>
            <a:lstStyle/>
            <a:p>
              <a:endParaRPr lang="en-US"/>
            </a:p>
          </p:txBody>
        </p:sp>
        <p:sp>
          <p:nvSpPr>
            <p:cNvPr id="13" name="Freeform 9">
              <a:extLst>
                <a:ext uri="{FF2B5EF4-FFF2-40B4-BE49-F238E27FC236}">
                  <a16:creationId xmlns:a16="http://schemas.microsoft.com/office/drawing/2014/main" id="{2E1B4393-BCF8-B695-4B72-7D944932884F}"/>
                </a:ext>
              </a:extLst>
            </p:cNvPr>
            <p:cNvSpPr/>
            <p:nvPr/>
          </p:nvSpPr>
          <p:spPr bwMode="invGray">
            <a:xfrm>
              <a:off x="5089745" y="3191596"/>
              <a:ext cx="382790" cy="656767"/>
            </a:xfrm>
            <a:custGeom>
              <a:avLst/>
              <a:gdLst>
                <a:gd name="connsiteX0" fmla="*/ 349369 w 382790"/>
                <a:gd name="connsiteY0" fmla="*/ 147216 h 656767"/>
                <a:gd name="connsiteX1" fmla="*/ 306543 w 382790"/>
                <a:gd name="connsiteY1" fmla="*/ 129833 h 656767"/>
                <a:gd name="connsiteX2" fmla="*/ 252914 w 382790"/>
                <a:gd name="connsiteY2" fmla="*/ 123857 h 656767"/>
                <a:gd name="connsiteX3" fmla="*/ 159412 w 382790"/>
                <a:gd name="connsiteY3" fmla="*/ 165375 h 656767"/>
                <a:gd name="connsiteX4" fmla="*/ 126457 w 382790"/>
                <a:gd name="connsiteY4" fmla="*/ 289465 h 656767"/>
                <a:gd name="connsiteX5" fmla="*/ 126457 w 382790"/>
                <a:gd name="connsiteY5" fmla="*/ 656768 h 656767"/>
                <a:gd name="connsiteX6" fmla="*/ 0 w 382790"/>
                <a:gd name="connsiteY6" fmla="*/ 656768 h 656767"/>
                <a:gd name="connsiteX7" fmla="*/ 0 w 382790"/>
                <a:gd name="connsiteY7" fmla="*/ 13736 h 656767"/>
                <a:gd name="connsiteX8" fmla="*/ 126457 w 382790"/>
                <a:gd name="connsiteY8" fmla="*/ 13736 h 656767"/>
                <a:gd name="connsiteX9" fmla="*/ 126457 w 382790"/>
                <a:gd name="connsiteY9" fmla="*/ 74733 h 656767"/>
                <a:gd name="connsiteX10" fmla="*/ 152805 w 382790"/>
                <a:gd name="connsiteY10" fmla="*/ 45088 h 656767"/>
                <a:gd name="connsiteX11" fmla="*/ 187237 w 382790"/>
                <a:gd name="connsiteY11" fmla="*/ 21497 h 656767"/>
                <a:gd name="connsiteX12" fmla="*/ 227654 w 382790"/>
                <a:gd name="connsiteY12" fmla="*/ 5665 h 656767"/>
                <a:gd name="connsiteX13" fmla="*/ 273200 w 382790"/>
                <a:gd name="connsiteY13" fmla="*/ 0 h 656767"/>
                <a:gd name="connsiteX14" fmla="*/ 337866 w 382790"/>
                <a:gd name="connsiteY14" fmla="*/ 7217 h 656767"/>
                <a:gd name="connsiteX15" fmla="*/ 382791 w 382790"/>
                <a:gd name="connsiteY15" fmla="*/ 26929 h 656767"/>
                <a:gd name="connsiteX16" fmla="*/ 349214 w 382790"/>
                <a:gd name="connsiteY16" fmla="*/ 147138 h 656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2790" h="656767">
                  <a:moveTo>
                    <a:pt x="349369" y="147216"/>
                  </a:moveTo>
                  <a:cubicBezTo>
                    <a:pt x="335768" y="139611"/>
                    <a:pt x="321467" y="133868"/>
                    <a:pt x="306543" y="129833"/>
                  </a:cubicBezTo>
                  <a:cubicBezTo>
                    <a:pt x="291543" y="125875"/>
                    <a:pt x="273666" y="123857"/>
                    <a:pt x="252914" y="123857"/>
                  </a:cubicBezTo>
                  <a:cubicBezTo>
                    <a:pt x="212575" y="123857"/>
                    <a:pt x="181408" y="137671"/>
                    <a:pt x="159412" y="165375"/>
                  </a:cubicBezTo>
                  <a:cubicBezTo>
                    <a:pt x="137416" y="193158"/>
                    <a:pt x="126457" y="234443"/>
                    <a:pt x="126457" y="289465"/>
                  </a:cubicBezTo>
                  <a:lnTo>
                    <a:pt x="126457" y="656768"/>
                  </a:lnTo>
                  <a:lnTo>
                    <a:pt x="0" y="656768"/>
                  </a:lnTo>
                  <a:lnTo>
                    <a:pt x="0" y="13736"/>
                  </a:lnTo>
                  <a:lnTo>
                    <a:pt x="126457" y="13736"/>
                  </a:lnTo>
                  <a:lnTo>
                    <a:pt x="126457" y="74733"/>
                  </a:lnTo>
                  <a:cubicBezTo>
                    <a:pt x="133608" y="63946"/>
                    <a:pt x="142390" y="54090"/>
                    <a:pt x="152805" y="45088"/>
                  </a:cubicBezTo>
                  <a:cubicBezTo>
                    <a:pt x="163220" y="36164"/>
                    <a:pt x="174646" y="28248"/>
                    <a:pt x="187237" y="21497"/>
                  </a:cubicBezTo>
                  <a:cubicBezTo>
                    <a:pt x="199828" y="14745"/>
                    <a:pt x="213275" y="9468"/>
                    <a:pt x="227654" y="5665"/>
                  </a:cubicBezTo>
                  <a:cubicBezTo>
                    <a:pt x="242032" y="1863"/>
                    <a:pt x="257189" y="0"/>
                    <a:pt x="273200" y="0"/>
                  </a:cubicBezTo>
                  <a:cubicBezTo>
                    <a:pt x="299160" y="0"/>
                    <a:pt x="320689" y="2406"/>
                    <a:pt x="337866" y="7217"/>
                  </a:cubicBezTo>
                  <a:cubicBezTo>
                    <a:pt x="355043" y="12029"/>
                    <a:pt x="370044" y="18547"/>
                    <a:pt x="382791" y="26929"/>
                  </a:cubicBezTo>
                  <a:lnTo>
                    <a:pt x="349214" y="147138"/>
                  </a:lnTo>
                  <a:close/>
                </a:path>
              </a:pathLst>
            </a:custGeom>
            <a:solidFill>
              <a:schemeClr val="accent1"/>
            </a:solidFill>
            <a:ln w="7772" cap="flat">
              <a:noFill/>
              <a:prstDash val="solid"/>
              <a:miter/>
            </a:ln>
          </p:spPr>
          <p:txBody>
            <a:bodyPr rtlCol="0" anchor="ctr"/>
            <a:lstStyle/>
            <a:p>
              <a:endParaRPr lang="en-US"/>
            </a:p>
          </p:txBody>
        </p:sp>
        <p:sp>
          <p:nvSpPr>
            <p:cNvPr id="14" name="Freeform 10">
              <a:extLst>
                <a:ext uri="{FF2B5EF4-FFF2-40B4-BE49-F238E27FC236}">
                  <a16:creationId xmlns:a16="http://schemas.microsoft.com/office/drawing/2014/main" id="{E27D35BD-E240-F4ED-14AC-59FD00863055}"/>
                </a:ext>
              </a:extLst>
            </p:cNvPr>
            <p:cNvSpPr/>
            <p:nvPr/>
          </p:nvSpPr>
          <p:spPr bwMode="invGray">
            <a:xfrm>
              <a:off x="5546296" y="2955446"/>
              <a:ext cx="375018" cy="906809"/>
            </a:xfrm>
            <a:custGeom>
              <a:avLst/>
              <a:gdLst>
                <a:gd name="connsiteX0" fmla="*/ 360639 w 375018"/>
                <a:gd name="connsiteY0" fmla="*/ 876854 h 906809"/>
                <a:gd name="connsiteX1" fmla="*/ 305844 w 375018"/>
                <a:gd name="connsiteY1" fmla="*/ 898428 h 906809"/>
                <a:gd name="connsiteX2" fmla="*/ 236669 w 375018"/>
                <a:gd name="connsiteY2" fmla="*/ 906810 h 906809"/>
                <a:gd name="connsiteX3" fmla="*/ 178843 w 375018"/>
                <a:gd name="connsiteY3" fmla="*/ 897575 h 906809"/>
                <a:gd name="connsiteX4" fmla="*/ 133608 w 375018"/>
                <a:gd name="connsiteY4" fmla="*/ 868240 h 906809"/>
                <a:gd name="connsiteX5" fmla="*/ 102440 w 375018"/>
                <a:gd name="connsiteY5" fmla="*/ 815625 h 906809"/>
                <a:gd name="connsiteX6" fmla="*/ 91636 w 375018"/>
                <a:gd name="connsiteY6" fmla="*/ 736390 h 906809"/>
                <a:gd name="connsiteX7" fmla="*/ 91636 w 375018"/>
                <a:gd name="connsiteY7" fmla="*/ 364897 h 906809"/>
                <a:gd name="connsiteX8" fmla="*/ 0 w 375018"/>
                <a:gd name="connsiteY8" fmla="*/ 364897 h 906809"/>
                <a:gd name="connsiteX9" fmla="*/ 0 w 375018"/>
                <a:gd name="connsiteY9" fmla="*/ 250042 h 906809"/>
                <a:gd name="connsiteX10" fmla="*/ 91636 w 375018"/>
                <a:gd name="connsiteY10" fmla="*/ 250042 h 906809"/>
                <a:gd name="connsiteX11" fmla="*/ 91636 w 375018"/>
                <a:gd name="connsiteY11" fmla="*/ 66430 h 906809"/>
                <a:gd name="connsiteX12" fmla="*/ 215606 w 375018"/>
                <a:gd name="connsiteY12" fmla="*/ 0 h 906809"/>
                <a:gd name="connsiteX13" fmla="*/ 215606 w 375018"/>
                <a:gd name="connsiteY13" fmla="*/ 250042 h 906809"/>
                <a:gd name="connsiteX14" fmla="*/ 375018 w 375018"/>
                <a:gd name="connsiteY14" fmla="*/ 250042 h 906809"/>
                <a:gd name="connsiteX15" fmla="*/ 375018 w 375018"/>
                <a:gd name="connsiteY15" fmla="*/ 364897 h 906809"/>
                <a:gd name="connsiteX16" fmla="*/ 215606 w 375018"/>
                <a:gd name="connsiteY16" fmla="*/ 364897 h 906809"/>
                <a:gd name="connsiteX17" fmla="*/ 215606 w 375018"/>
                <a:gd name="connsiteY17" fmla="*/ 714195 h 906809"/>
                <a:gd name="connsiteX18" fmla="*/ 219493 w 375018"/>
                <a:gd name="connsiteY18" fmla="*/ 751601 h 906809"/>
                <a:gd name="connsiteX19" fmla="*/ 231462 w 375018"/>
                <a:gd name="connsiteY19" fmla="*/ 775192 h 906809"/>
                <a:gd name="connsiteX20" fmla="*/ 252137 w 375018"/>
                <a:gd name="connsiteY20" fmla="*/ 787764 h 906809"/>
                <a:gd name="connsiteX21" fmla="*/ 282060 w 375018"/>
                <a:gd name="connsiteY21" fmla="*/ 791412 h 906809"/>
                <a:gd name="connsiteX22" fmla="*/ 332115 w 375018"/>
                <a:gd name="connsiteY22" fmla="*/ 783651 h 906809"/>
                <a:gd name="connsiteX23" fmla="*/ 374941 w 375018"/>
                <a:gd name="connsiteY23" fmla="*/ 765725 h 906809"/>
                <a:gd name="connsiteX24" fmla="*/ 360561 w 375018"/>
                <a:gd name="connsiteY24" fmla="*/ 877010 h 90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5018" h="906809">
                  <a:moveTo>
                    <a:pt x="360639" y="876854"/>
                  </a:moveTo>
                  <a:cubicBezTo>
                    <a:pt x="345094" y="885624"/>
                    <a:pt x="326752" y="892841"/>
                    <a:pt x="305844" y="898428"/>
                  </a:cubicBezTo>
                  <a:cubicBezTo>
                    <a:pt x="284858" y="904016"/>
                    <a:pt x="261774" y="906810"/>
                    <a:pt x="236669" y="906810"/>
                  </a:cubicBezTo>
                  <a:cubicBezTo>
                    <a:pt x="214674" y="906810"/>
                    <a:pt x="195398" y="903706"/>
                    <a:pt x="178843" y="897575"/>
                  </a:cubicBezTo>
                  <a:cubicBezTo>
                    <a:pt x="162288" y="891366"/>
                    <a:pt x="147209" y="881588"/>
                    <a:pt x="133608" y="868240"/>
                  </a:cubicBezTo>
                  <a:cubicBezTo>
                    <a:pt x="120006" y="854892"/>
                    <a:pt x="109668" y="837354"/>
                    <a:pt x="102440" y="815625"/>
                  </a:cubicBezTo>
                  <a:cubicBezTo>
                    <a:pt x="95212" y="793895"/>
                    <a:pt x="91636" y="767432"/>
                    <a:pt x="91636" y="736390"/>
                  </a:cubicBezTo>
                  <a:lnTo>
                    <a:pt x="91636" y="364897"/>
                  </a:lnTo>
                  <a:lnTo>
                    <a:pt x="0" y="364897"/>
                  </a:lnTo>
                  <a:lnTo>
                    <a:pt x="0" y="250042"/>
                  </a:lnTo>
                  <a:lnTo>
                    <a:pt x="91636" y="250042"/>
                  </a:lnTo>
                  <a:lnTo>
                    <a:pt x="91636" y="66430"/>
                  </a:lnTo>
                  <a:lnTo>
                    <a:pt x="215606" y="0"/>
                  </a:lnTo>
                  <a:lnTo>
                    <a:pt x="215606" y="250042"/>
                  </a:lnTo>
                  <a:lnTo>
                    <a:pt x="375018" y="250042"/>
                  </a:lnTo>
                  <a:lnTo>
                    <a:pt x="375018" y="364897"/>
                  </a:lnTo>
                  <a:lnTo>
                    <a:pt x="215606" y="364897"/>
                  </a:lnTo>
                  <a:lnTo>
                    <a:pt x="215606" y="714195"/>
                  </a:lnTo>
                  <a:cubicBezTo>
                    <a:pt x="215606" y="729328"/>
                    <a:pt x="216927" y="741822"/>
                    <a:pt x="219493" y="751601"/>
                  </a:cubicBezTo>
                  <a:cubicBezTo>
                    <a:pt x="222058" y="761379"/>
                    <a:pt x="226099" y="769217"/>
                    <a:pt x="231462" y="775192"/>
                  </a:cubicBezTo>
                  <a:cubicBezTo>
                    <a:pt x="236825" y="781168"/>
                    <a:pt x="243742" y="785359"/>
                    <a:pt x="252137" y="787764"/>
                  </a:cubicBezTo>
                  <a:cubicBezTo>
                    <a:pt x="260531" y="790170"/>
                    <a:pt x="270479" y="791412"/>
                    <a:pt x="282060" y="791412"/>
                  </a:cubicBezTo>
                  <a:cubicBezTo>
                    <a:pt x="298460" y="791412"/>
                    <a:pt x="315093" y="788851"/>
                    <a:pt x="332115" y="783651"/>
                  </a:cubicBezTo>
                  <a:cubicBezTo>
                    <a:pt x="349058" y="778452"/>
                    <a:pt x="363360" y="772476"/>
                    <a:pt x="374941" y="765725"/>
                  </a:cubicBezTo>
                  <a:lnTo>
                    <a:pt x="360561" y="877010"/>
                  </a:lnTo>
                  <a:close/>
                </a:path>
              </a:pathLst>
            </a:custGeom>
            <a:solidFill>
              <a:schemeClr val="accent1"/>
            </a:solidFill>
            <a:ln w="7772" cap="flat">
              <a:noFill/>
              <a:prstDash val="solid"/>
              <a:miter/>
            </a:ln>
          </p:spPr>
          <p:txBody>
            <a:bodyPr rtlCol="0" anchor="ctr"/>
            <a:lstStyle/>
            <a:p>
              <a:endParaRPr lang="en-US"/>
            </a:p>
          </p:txBody>
        </p:sp>
        <p:sp>
          <p:nvSpPr>
            <p:cNvPr id="15" name="Freeform 11">
              <a:extLst>
                <a:ext uri="{FF2B5EF4-FFF2-40B4-BE49-F238E27FC236}">
                  <a16:creationId xmlns:a16="http://schemas.microsoft.com/office/drawing/2014/main" id="{E5B78AA5-89A9-FB2A-5F72-B5B28DA95DCE}"/>
                </a:ext>
              </a:extLst>
            </p:cNvPr>
            <p:cNvSpPr/>
            <p:nvPr/>
          </p:nvSpPr>
          <p:spPr bwMode="invGray">
            <a:xfrm>
              <a:off x="6038988" y="2955368"/>
              <a:ext cx="517642" cy="893073"/>
            </a:xfrm>
            <a:custGeom>
              <a:avLst/>
              <a:gdLst>
                <a:gd name="connsiteX0" fmla="*/ 391185 w 517642"/>
                <a:gd name="connsiteY0" fmla="*/ 893074 h 893073"/>
                <a:gd name="connsiteX1" fmla="*/ 391185 w 517642"/>
                <a:gd name="connsiteY1" fmla="*/ 529419 h 893073"/>
                <a:gd name="connsiteX2" fmla="*/ 359396 w 517642"/>
                <a:gd name="connsiteY2" fmla="*/ 396637 h 893073"/>
                <a:gd name="connsiteX3" fmla="*/ 258744 w 517642"/>
                <a:gd name="connsiteY3" fmla="*/ 352946 h 893073"/>
                <a:gd name="connsiteX4" fmla="*/ 204492 w 517642"/>
                <a:gd name="connsiteY4" fmla="*/ 362491 h 893073"/>
                <a:gd name="connsiteX5" fmla="*/ 161977 w 517642"/>
                <a:gd name="connsiteY5" fmla="*/ 394154 h 893073"/>
                <a:gd name="connsiteX6" fmla="*/ 135318 w 517642"/>
                <a:gd name="connsiteY6" fmla="*/ 446227 h 893073"/>
                <a:gd name="connsiteX7" fmla="*/ 126379 w 517642"/>
                <a:gd name="connsiteY7" fmla="*/ 516847 h 893073"/>
                <a:gd name="connsiteX8" fmla="*/ 126379 w 517642"/>
                <a:gd name="connsiteY8" fmla="*/ 893074 h 893073"/>
                <a:gd name="connsiteX9" fmla="*/ 0 w 517642"/>
                <a:gd name="connsiteY9" fmla="*/ 893074 h 893073"/>
                <a:gd name="connsiteX10" fmla="*/ 0 w 517642"/>
                <a:gd name="connsiteY10" fmla="*/ 66430 h 893073"/>
                <a:gd name="connsiteX11" fmla="*/ 126379 w 517642"/>
                <a:gd name="connsiteY11" fmla="*/ 0 h 893073"/>
                <a:gd name="connsiteX12" fmla="*/ 126379 w 517642"/>
                <a:gd name="connsiteY12" fmla="*/ 311039 h 893073"/>
                <a:gd name="connsiteX13" fmla="*/ 155759 w 517642"/>
                <a:gd name="connsiteY13" fmla="*/ 279687 h 893073"/>
                <a:gd name="connsiteX14" fmla="*/ 194155 w 517642"/>
                <a:gd name="connsiteY14" fmla="*/ 256095 h 893073"/>
                <a:gd name="connsiteX15" fmla="*/ 239079 w 517642"/>
                <a:gd name="connsiteY15" fmla="*/ 241428 h 893073"/>
                <a:gd name="connsiteX16" fmla="*/ 288201 w 517642"/>
                <a:gd name="connsiteY16" fmla="*/ 236306 h 893073"/>
                <a:gd name="connsiteX17" fmla="*/ 388853 w 517642"/>
                <a:gd name="connsiteY17" fmla="*/ 254854 h 893073"/>
                <a:gd name="connsiteX18" fmla="*/ 460437 w 517642"/>
                <a:gd name="connsiteY18" fmla="*/ 309565 h 893073"/>
                <a:gd name="connsiteX19" fmla="*/ 503574 w 517642"/>
                <a:gd name="connsiteY19" fmla="*/ 401682 h 893073"/>
                <a:gd name="connsiteX20" fmla="*/ 517642 w 517642"/>
                <a:gd name="connsiteY20" fmla="*/ 524607 h 893073"/>
                <a:gd name="connsiteX21" fmla="*/ 517642 w 517642"/>
                <a:gd name="connsiteY21" fmla="*/ 893074 h 893073"/>
                <a:gd name="connsiteX22" fmla="*/ 391263 w 517642"/>
                <a:gd name="connsiteY22" fmla="*/ 893074 h 893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17642" h="893073">
                  <a:moveTo>
                    <a:pt x="391185" y="893074"/>
                  </a:moveTo>
                  <a:lnTo>
                    <a:pt x="391185" y="529419"/>
                  </a:lnTo>
                  <a:cubicBezTo>
                    <a:pt x="391185" y="469974"/>
                    <a:pt x="380615" y="425739"/>
                    <a:pt x="359396" y="396637"/>
                  </a:cubicBezTo>
                  <a:cubicBezTo>
                    <a:pt x="338255" y="367535"/>
                    <a:pt x="304678" y="352946"/>
                    <a:pt x="258744" y="352946"/>
                  </a:cubicBezTo>
                  <a:cubicBezTo>
                    <a:pt x="239157" y="352946"/>
                    <a:pt x="221125" y="356128"/>
                    <a:pt x="204492" y="362491"/>
                  </a:cubicBezTo>
                  <a:cubicBezTo>
                    <a:pt x="187937" y="368855"/>
                    <a:pt x="173713" y="379409"/>
                    <a:pt x="161977" y="394154"/>
                  </a:cubicBezTo>
                  <a:cubicBezTo>
                    <a:pt x="150163" y="408899"/>
                    <a:pt x="141303" y="426282"/>
                    <a:pt x="135318" y="446227"/>
                  </a:cubicBezTo>
                  <a:cubicBezTo>
                    <a:pt x="129333" y="466171"/>
                    <a:pt x="126379" y="489685"/>
                    <a:pt x="126379" y="516847"/>
                  </a:cubicBezTo>
                  <a:lnTo>
                    <a:pt x="126379" y="893074"/>
                  </a:lnTo>
                  <a:lnTo>
                    <a:pt x="0" y="893074"/>
                  </a:lnTo>
                  <a:lnTo>
                    <a:pt x="0" y="66430"/>
                  </a:lnTo>
                  <a:lnTo>
                    <a:pt x="126379" y="0"/>
                  </a:lnTo>
                  <a:lnTo>
                    <a:pt x="126379" y="311039"/>
                  </a:lnTo>
                  <a:cubicBezTo>
                    <a:pt x="134385" y="299476"/>
                    <a:pt x="144178" y="289000"/>
                    <a:pt x="155759" y="279687"/>
                  </a:cubicBezTo>
                  <a:cubicBezTo>
                    <a:pt x="167340" y="270297"/>
                    <a:pt x="180087" y="262459"/>
                    <a:pt x="194155" y="256095"/>
                  </a:cubicBezTo>
                  <a:cubicBezTo>
                    <a:pt x="208067" y="249732"/>
                    <a:pt x="223068" y="244843"/>
                    <a:pt x="239079" y="241428"/>
                  </a:cubicBezTo>
                  <a:cubicBezTo>
                    <a:pt x="255012" y="238013"/>
                    <a:pt x="271413" y="236306"/>
                    <a:pt x="288201" y="236306"/>
                  </a:cubicBezTo>
                  <a:cubicBezTo>
                    <a:pt x="326907" y="236306"/>
                    <a:pt x="360484" y="242514"/>
                    <a:pt x="388853" y="254854"/>
                  </a:cubicBezTo>
                  <a:cubicBezTo>
                    <a:pt x="417223" y="267193"/>
                    <a:pt x="441084" y="285430"/>
                    <a:pt x="460437" y="309565"/>
                  </a:cubicBezTo>
                  <a:cubicBezTo>
                    <a:pt x="479791" y="333700"/>
                    <a:pt x="494169" y="364431"/>
                    <a:pt x="503574" y="401682"/>
                  </a:cubicBezTo>
                  <a:cubicBezTo>
                    <a:pt x="512978" y="439009"/>
                    <a:pt x="517642" y="479985"/>
                    <a:pt x="517642" y="524607"/>
                  </a:cubicBezTo>
                  <a:lnTo>
                    <a:pt x="517642" y="893074"/>
                  </a:lnTo>
                  <a:lnTo>
                    <a:pt x="391263" y="893074"/>
                  </a:lnTo>
                  <a:close/>
                </a:path>
              </a:pathLst>
            </a:custGeom>
            <a:solidFill>
              <a:schemeClr val="accent1"/>
            </a:solidFill>
            <a:ln w="7772" cap="flat">
              <a:noFill/>
              <a:prstDash val="solid"/>
              <a:miter/>
            </a:ln>
          </p:spPr>
          <p:txBody>
            <a:bodyPr rtlCol="0" anchor="ctr"/>
            <a:lstStyle/>
            <a:p>
              <a:endParaRPr lang="en-US"/>
            </a:p>
          </p:txBody>
        </p:sp>
        <p:sp>
          <p:nvSpPr>
            <p:cNvPr id="16" name="Freeform 12">
              <a:extLst>
                <a:ext uri="{FF2B5EF4-FFF2-40B4-BE49-F238E27FC236}">
                  <a16:creationId xmlns:a16="http://schemas.microsoft.com/office/drawing/2014/main" id="{0C6D53A4-DE2D-F4EC-10EA-6B0C1522B9DD}"/>
                </a:ext>
              </a:extLst>
            </p:cNvPr>
            <p:cNvSpPr/>
            <p:nvPr/>
          </p:nvSpPr>
          <p:spPr bwMode="invGray">
            <a:xfrm>
              <a:off x="6650598" y="3191674"/>
              <a:ext cx="553550" cy="670581"/>
            </a:xfrm>
            <a:custGeom>
              <a:avLst/>
              <a:gdLst>
                <a:gd name="connsiteX0" fmla="*/ 425850 w 553550"/>
                <a:gd name="connsiteY0" fmla="*/ 275729 h 670581"/>
                <a:gd name="connsiteX1" fmla="*/ 414192 w 553550"/>
                <a:gd name="connsiteY1" fmla="*/ 213568 h 670581"/>
                <a:gd name="connsiteX2" fmla="*/ 386600 w 553550"/>
                <a:gd name="connsiteY2" fmla="*/ 162116 h 670581"/>
                <a:gd name="connsiteX3" fmla="*/ 340509 w 553550"/>
                <a:gd name="connsiteY3" fmla="*/ 127116 h 670581"/>
                <a:gd name="connsiteX4" fmla="*/ 273666 w 553550"/>
                <a:gd name="connsiteY4" fmla="*/ 114234 h 670581"/>
                <a:gd name="connsiteX5" fmla="*/ 214907 w 553550"/>
                <a:gd name="connsiteY5" fmla="*/ 125331 h 670581"/>
                <a:gd name="connsiteX6" fmla="*/ 171770 w 553550"/>
                <a:gd name="connsiteY6" fmla="*/ 156761 h 670581"/>
                <a:gd name="connsiteX7" fmla="*/ 142080 w 553550"/>
                <a:gd name="connsiteY7" fmla="*/ 206739 h 670581"/>
                <a:gd name="connsiteX8" fmla="*/ 126224 w 553550"/>
                <a:gd name="connsiteY8" fmla="*/ 275807 h 670581"/>
                <a:gd name="connsiteX9" fmla="*/ 425772 w 553550"/>
                <a:gd name="connsiteY9" fmla="*/ 275807 h 670581"/>
                <a:gd name="connsiteX10" fmla="*/ 553473 w 553550"/>
                <a:gd name="connsiteY10" fmla="*/ 322447 h 670581"/>
                <a:gd name="connsiteX11" fmla="*/ 552229 w 553550"/>
                <a:gd name="connsiteY11" fmla="*/ 354731 h 670581"/>
                <a:gd name="connsiteX12" fmla="*/ 549820 w 553550"/>
                <a:gd name="connsiteY12" fmla="*/ 379797 h 670581"/>
                <a:gd name="connsiteX13" fmla="*/ 123892 w 553550"/>
                <a:gd name="connsiteY13" fmla="*/ 379797 h 670581"/>
                <a:gd name="connsiteX14" fmla="*/ 144256 w 553550"/>
                <a:gd name="connsiteY14" fmla="*/ 459652 h 670581"/>
                <a:gd name="connsiteX15" fmla="*/ 180786 w 553550"/>
                <a:gd name="connsiteY15" fmla="*/ 514363 h 670581"/>
                <a:gd name="connsiteX16" fmla="*/ 229675 w 553550"/>
                <a:gd name="connsiteY16" fmla="*/ 546104 h 670581"/>
                <a:gd name="connsiteX17" fmla="*/ 286258 w 553550"/>
                <a:gd name="connsiteY17" fmla="*/ 556270 h 670581"/>
                <a:gd name="connsiteX18" fmla="*/ 325819 w 553550"/>
                <a:gd name="connsiteY18" fmla="*/ 552700 h 670581"/>
                <a:gd name="connsiteX19" fmla="*/ 361494 w 553550"/>
                <a:gd name="connsiteY19" fmla="*/ 541913 h 670581"/>
                <a:gd name="connsiteX20" fmla="*/ 391807 w 553550"/>
                <a:gd name="connsiteY20" fmla="*/ 527246 h 670581"/>
                <a:gd name="connsiteX21" fmla="*/ 425928 w 553550"/>
                <a:gd name="connsiteY21" fmla="*/ 504818 h 670581"/>
                <a:gd name="connsiteX22" fmla="*/ 500853 w 553550"/>
                <a:gd name="connsiteY22" fmla="*/ 585604 h 670581"/>
                <a:gd name="connsiteX23" fmla="*/ 454997 w 553550"/>
                <a:gd name="connsiteY23" fmla="*/ 622389 h 670581"/>
                <a:gd name="connsiteX24" fmla="*/ 407662 w 553550"/>
                <a:gd name="connsiteY24" fmla="*/ 647533 h 670581"/>
                <a:gd name="connsiteX25" fmla="*/ 349836 w 553550"/>
                <a:gd name="connsiteY25" fmla="*/ 664606 h 670581"/>
                <a:gd name="connsiteX26" fmla="*/ 278563 w 553550"/>
                <a:gd name="connsiteY26" fmla="*/ 670581 h 670581"/>
                <a:gd name="connsiteX27" fmla="*/ 200062 w 553550"/>
                <a:gd name="connsiteY27" fmla="*/ 658941 h 670581"/>
                <a:gd name="connsiteX28" fmla="*/ 135396 w 553550"/>
                <a:gd name="connsiteY28" fmla="*/ 628442 h 670581"/>
                <a:gd name="connsiteX29" fmla="*/ 84797 w 553550"/>
                <a:gd name="connsiteY29" fmla="*/ 585372 h 670581"/>
                <a:gd name="connsiteX30" fmla="*/ 41971 w 553550"/>
                <a:gd name="connsiteY30" fmla="*/ 523133 h 670581"/>
                <a:gd name="connsiteX31" fmla="*/ 10804 w 553550"/>
                <a:gd name="connsiteY31" fmla="*/ 438233 h 670581"/>
                <a:gd name="connsiteX32" fmla="*/ 0 w 553550"/>
                <a:gd name="connsiteY32" fmla="*/ 335640 h 670581"/>
                <a:gd name="connsiteX33" fmla="*/ 20675 w 553550"/>
                <a:gd name="connsiteY33" fmla="*/ 191450 h 670581"/>
                <a:gd name="connsiteX34" fmla="*/ 78502 w 553550"/>
                <a:gd name="connsiteY34" fmla="*/ 86141 h 670581"/>
                <a:gd name="connsiteX35" fmla="*/ 167729 w 553550"/>
                <a:gd name="connsiteY35" fmla="*/ 21884 h 670581"/>
                <a:gd name="connsiteX36" fmla="*/ 282139 w 553550"/>
                <a:gd name="connsiteY36" fmla="*/ 0 h 670581"/>
                <a:gd name="connsiteX37" fmla="*/ 401989 w 553550"/>
                <a:gd name="connsiteY37" fmla="*/ 26075 h 670581"/>
                <a:gd name="connsiteX38" fmla="*/ 486475 w 553550"/>
                <a:gd name="connsiteY38" fmla="*/ 96074 h 670581"/>
                <a:gd name="connsiteX39" fmla="*/ 536762 w 553550"/>
                <a:gd name="connsiteY39" fmla="*/ 198668 h 670581"/>
                <a:gd name="connsiteX40" fmla="*/ 553551 w 553550"/>
                <a:gd name="connsiteY40" fmla="*/ 322447 h 670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53550" h="670581">
                  <a:moveTo>
                    <a:pt x="425850" y="275729"/>
                  </a:moveTo>
                  <a:cubicBezTo>
                    <a:pt x="424218" y="253767"/>
                    <a:pt x="420332" y="233047"/>
                    <a:pt x="414192" y="213568"/>
                  </a:cubicBezTo>
                  <a:cubicBezTo>
                    <a:pt x="407974" y="194012"/>
                    <a:pt x="398802" y="176861"/>
                    <a:pt x="386600" y="162116"/>
                  </a:cubicBezTo>
                  <a:cubicBezTo>
                    <a:pt x="374397" y="147371"/>
                    <a:pt x="359085" y="135730"/>
                    <a:pt x="340509" y="127116"/>
                  </a:cubicBezTo>
                  <a:cubicBezTo>
                    <a:pt x="321933" y="118580"/>
                    <a:pt x="299626" y="114234"/>
                    <a:pt x="273666" y="114234"/>
                  </a:cubicBezTo>
                  <a:cubicBezTo>
                    <a:pt x="251282" y="114234"/>
                    <a:pt x="231773" y="117959"/>
                    <a:pt x="214907" y="125331"/>
                  </a:cubicBezTo>
                  <a:cubicBezTo>
                    <a:pt x="198196" y="132704"/>
                    <a:pt x="183740" y="143180"/>
                    <a:pt x="171770" y="156761"/>
                  </a:cubicBezTo>
                  <a:cubicBezTo>
                    <a:pt x="159801" y="170342"/>
                    <a:pt x="149930" y="187027"/>
                    <a:pt x="142080" y="206739"/>
                  </a:cubicBezTo>
                  <a:cubicBezTo>
                    <a:pt x="134307" y="226528"/>
                    <a:pt x="129022" y="249499"/>
                    <a:pt x="126224" y="275807"/>
                  </a:cubicBezTo>
                  <a:lnTo>
                    <a:pt x="425772" y="275807"/>
                  </a:lnTo>
                  <a:close/>
                  <a:moveTo>
                    <a:pt x="553473" y="322447"/>
                  </a:moveTo>
                  <a:cubicBezTo>
                    <a:pt x="553473" y="334010"/>
                    <a:pt x="553084" y="344797"/>
                    <a:pt x="552229" y="354731"/>
                  </a:cubicBezTo>
                  <a:cubicBezTo>
                    <a:pt x="551452" y="364742"/>
                    <a:pt x="550597" y="373045"/>
                    <a:pt x="549820" y="379797"/>
                  </a:cubicBezTo>
                  <a:lnTo>
                    <a:pt x="123892" y="379797"/>
                  </a:lnTo>
                  <a:cubicBezTo>
                    <a:pt x="127468" y="410916"/>
                    <a:pt x="134307" y="437535"/>
                    <a:pt x="144256" y="459652"/>
                  </a:cubicBezTo>
                  <a:cubicBezTo>
                    <a:pt x="154205" y="481769"/>
                    <a:pt x="166407" y="500006"/>
                    <a:pt x="180786" y="514363"/>
                  </a:cubicBezTo>
                  <a:cubicBezTo>
                    <a:pt x="195165" y="528720"/>
                    <a:pt x="211487" y="539274"/>
                    <a:pt x="229675" y="546104"/>
                  </a:cubicBezTo>
                  <a:cubicBezTo>
                    <a:pt x="247862" y="552933"/>
                    <a:pt x="266671" y="556270"/>
                    <a:pt x="286258" y="556270"/>
                  </a:cubicBezTo>
                  <a:cubicBezTo>
                    <a:pt x="300248" y="556270"/>
                    <a:pt x="313383" y="555106"/>
                    <a:pt x="325819" y="552700"/>
                  </a:cubicBezTo>
                  <a:cubicBezTo>
                    <a:pt x="338177" y="550294"/>
                    <a:pt x="350069" y="546724"/>
                    <a:pt x="361494" y="541913"/>
                  </a:cubicBezTo>
                  <a:cubicBezTo>
                    <a:pt x="372920" y="537101"/>
                    <a:pt x="382946" y="532290"/>
                    <a:pt x="391807" y="527246"/>
                  </a:cubicBezTo>
                  <a:cubicBezTo>
                    <a:pt x="400590" y="522279"/>
                    <a:pt x="411937" y="514751"/>
                    <a:pt x="425928" y="504818"/>
                  </a:cubicBezTo>
                  <a:lnTo>
                    <a:pt x="500853" y="585604"/>
                  </a:lnTo>
                  <a:cubicBezTo>
                    <a:pt x="484842" y="600737"/>
                    <a:pt x="469609" y="612999"/>
                    <a:pt x="454997" y="622389"/>
                  </a:cubicBezTo>
                  <a:cubicBezTo>
                    <a:pt x="440384" y="631779"/>
                    <a:pt x="424684" y="640160"/>
                    <a:pt x="407662" y="647533"/>
                  </a:cubicBezTo>
                  <a:cubicBezTo>
                    <a:pt x="390719" y="654905"/>
                    <a:pt x="371443" y="660570"/>
                    <a:pt x="349836" y="664606"/>
                  </a:cubicBezTo>
                  <a:cubicBezTo>
                    <a:pt x="328307" y="668564"/>
                    <a:pt x="304445" y="670581"/>
                    <a:pt x="278563" y="670581"/>
                  </a:cubicBezTo>
                  <a:cubicBezTo>
                    <a:pt x="250583" y="670581"/>
                    <a:pt x="224467" y="666701"/>
                    <a:pt x="200062" y="658941"/>
                  </a:cubicBezTo>
                  <a:cubicBezTo>
                    <a:pt x="175734" y="651180"/>
                    <a:pt x="154127" y="641014"/>
                    <a:pt x="135396" y="628442"/>
                  </a:cubicBezTo>
                  <a:cubicBezTo>
                    <a:pt x="116586" y="615870"/>
                    <a:pt x="99720" y="601513"/>
                    <a:pt x="84797" y="585372"/>
                  </a:cubicBezTo>
                  <a:cubicBezTo>
                    <a:pt x="69796" y="569230"/>
                    <a:pt x="55573" y="548509"/>
                    <a:pt x="41971" y="523133"/>
                  </a:cubicBezTo>
                  <a:cubicBezTo>
                    <a:pt x="28369" y="497834"/>
                    <a:pt x="18032" y="469508"/>
                    <a:pt x="10804" y="438233"/>
                  </a:cubicBezTo>
                  <a:cubicBezTo>
                    <a:pt x="3575" y="406959"/>
                    <a:pt x="0" y="372735"/>
                    <a:pt x="0" y="335640"/>
                  </a:cubicBezTo>
                  <a:cubicBezTo>
                    <a:pt x="0" y="281394"/>
                    <a:pt x="6918" y="233357"/>
                    <a:pt x="20675" y="191450"/>
                  </a:cubicBezTo>
                  <a:cubicBezTo>
                    <a:pt x="34432" y="149622"/>
                    <a:pt x="53708" y="114467"/>
                    <a:pt x="78502" y="86141"/>
                  </a:cubicBezTo>
                  <a:cubicBezTo>
                    <a:pt x="103296" y="57815"/>
                    <a:pt x="132986" y="36396"/>
                    <a:pt x="167729" y="21884"/>
                  </a:cubicBezTo>
                  <a:cubicBezTo>
                    <a:pt x="202549" y="7295"/>
                    <a:pt x="240634" y="0"/>
                    <a:pt x="282139" y="0"/>
                  </a:cubicBezTo>
                  <a:cubicBezTo>
                    <a:pt x="328073" y="0"/>
                    <a:pt x="368023" y="8692"/>
                    <a:pt x="401989" y="26075"/>
                  </a:cubicBezTo>
                  <a:cubicBezTo>
                    <a:pt x="435954" y="43381"/>
                    <a:pt x="464090" y="66740"/>
                    <a:pt x="486475" y="96074"/>
                  </a:cubicBezTo>
                  <a:cubicBezTo>
                    <a:pt x="508859" y="125409"/>
                    <a:pt x="525570" y="159633"/>
                    <a:pt x="536762" y="198668"/>
                  </a:cubicBezTo>
                  <a:cubicBezTo>
                    <a:pt x="547954" y="237780"/>
                    <a:pt x="553551" y="278988"/>
                    <a:pt x="553551" y="322447"/>
                  </a:cubicBezTo>
                </a:path>
              </a:pathLst>
            </a:custGeom>
            <a:solidFill>
              <a:schemeClr val="accent1"/>
            </a:solidFill>
            <a:ln w="7772" cap="flat">
              <a:noFill/>
              <a:prstDash val="solid"/>
              <a:miter/>
            </a:ln>
          </p:spPr>
          <p:txBody>
            <a:bodyPr rtlCol="0" anchor="ctr"/>
            <a:lstStyle/>
            <a:p>
              <a:endParaRPr lang="en-US"/>
            </a:p>
          </p:txBody>
        </p:sp>
        <p:sp>
          <p:nvSpPr>
            <p:cNvPr id="17" name="Freeform 13">
              <a:extLst>
                <a:ext uri="{FF2B5EF4-FFF2-40B4-BE49-F238E27FC236}">
                  <a16:creationId xmlns:a16="http://schemas.microsoft.com/office/drawing/2014/main" id="{9DC96337-951D-0DB8-4F84-251B37F94747}"/>
                </a:ext>
              </a:extLst>
            </p:cNvPr>
            <p:cNvSpPr/>
            <p:nvPr/>
          </p:nvSpPr>
          <p:spPr bwMode="invGray">
            <a:xfrm>
              <a:off x="7297884" y="3191752"/>
              <a:ext cx="517719" cy="656845"/>
            </a:xfrm>
            <a:custGeom>
              <a:avLst/>
              <a:gdLst>
                <a:gd name="connsiteX0" fmla="*/ 391262 w 517719"/>
                <a:gd name="connsiteY0" fmla="*/ 656690 h 656845"/>
                <a:gd name="connsiteX1" fmla="*/ 391262 w 517719"/>
                <a:gd name="connsiteY1" fmla="*/ 293035 h 656845"/>
                <a:gd name="connsiteX2" fmla="*/ 360095 w 517719"/>
                <a:gd name="connsiteY2" fmla="*/ 161107 h 656845"/>
                <a:gd name="connsiteX3" fmla="*/ 258821 w 517719"/>
                <a:gd name="connsiteY3" fmla="*/ 116562 h 656845"/>
                <a:gd name="connsiteX4" fmla="*/ 202471 w 517719"/>
                <a:gd name="connsiteY4" fmla="*/ 127349 h 656845"/>
                <a:gd name="connsiteX5" fmla="*/ 159334 w 517719"/>
                <a:gd name="connsiteY5" fmla="*/ 160874 h 656845"/>
                <a:gd name="connsiteX6" fmla="*/ 134152 w 517719"/>
                <a:gd name="connsiteY6" fmla="*/ 214421 h 656845"/>
                <a:gd name="connsiteX7" fmla="*/ 126379 w 517719"/>
                <a:gd name="connsiteY7" fmla="*/ 280541 h 656845"/>
                <a:gd name="connsiteX8" fmla="*/ 126379 w 517719"/>
                <a:gd name="connsiteY8" fmla="*/ 656768 h 656845"/>
                <a:gd name="connsiteX9" fmla="*/ 0 w 517719"/>
                <a:gd name="connsiteY9" fmla="*/ 656768 h 656845"/>
                <a:gd name="connsiteX10" fmla="*/ 0 w 517719"/>
                <a:gd name="connsiteY10" fmla="*/ 13736 h 656845"/>
                <a:gd name="connsiteX11" fmla="*/ 126379 w 517719"/>
                <a:gd name="connsiteY11" fmla="*/ 13736 h 656845"/>
                <a:gd name="connsiteX12" fmla="*/ 126379 w 517719"/>
                <a:gd name="connsiteY12" fmla="*/ 74733 h 656845"/>
                <a:gd name="connsiteX13" fmla="*/ 155759 w 517719"/>
                <a:gd name="connsiteY13" fmla="*/ 43381 h 656845"/>
                <a:gd name="connsiteX14" fmla="*/ 194154 w 517719"/>
                <a:gd name="connsiteY14" fmla="*/ 19789 h 656845"/>
                <a:gd name="connsiteX15" fmla="*/ 239079 w 517719"/>
                <a:gd name="connsiteY15" fmla="*/ 5122 h 656845"/>
                <a:gd name="connsiteX16" fmla="*/ 288201 w 517719"/>
                <a:gd name="connsiteY16" fmla="*/ 0 h 656845"/>
                <a:gd name="connsiteX17" fmla="*/ 389164 w 517719"/>
                <a:gd name="connsiteY17" fmla="*/ 18858 h 656845"/>
                <a:gd name="connsiteX18" fmla="*/ 460515 w 517719"/>
                <a:gd name="connsiteY18" fmla="*/ 73026 h 656845"/>
                <a:gd name="connsiteX19" fmla="*/ 503341 w 517719"/>
                <a:gd name="connsiteY19" fmla="*/ 162194 h 656845"/>
                <a:gd name="connsiteX20" fmla="*/ 517719 w 517719"/>
                <a:gd name="connsiteY20" fmla="*/ 288379 h 656845"/>
                <a:gd name="connsiteX21" fmla="*/ 517719 w 517719"/>
                <a:gd name="connsiteY21" fmla="*/ 656845 h 656845"/>
                <a:gd name="connsiteX22" fmla="*/ 391262 w 517719"/>
                <a:gd name="connsiteY22" fmla="*/ 656845 h 65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17719" h="656845">
                  <a:moveTo>
                    <a:pt x="391262" y="656690"/>
                  </a:moveTo>
                  <a:lnTo>
                    <a:pt x="391262" y="293035"/>
                  </a:lnTo>
                  <a:cubicBezTo>
                    <a:pt x="391262" y="234832"/>
                    <a:pt x="380925" y="190830"/>
                    <a:pt x="360095" y="161107"/>
                  </a:cubicBezTo>
                  <a:cubicBezTo>
                    <a:pt x="339343" y="131462"/>
                    <a:pt x="305611" y="116562"/>
                    <a:pt x="258821" y="116562"/>
                  </a:cubicBezTo>
                  <a:cubicBezTo>
                    <a:pt x="238457" y="116562"/>
                    <a:pt x="219648" y="120210"/>
                    <a:pt x="202471" y="127349"/>
                  </a:cubicBezTo>
                  <a:cubicBezTo>
                    <a:pt x="185294" y="134566"/>
                    <a:pt x="170915" y="145664"/>
                    <a:pt x="159334" y="160874"/>
                  </a:cubicBezTo>
                  <a:cubicBezTo>
                    <a:pt x="147753" y="176007"/>
                    <a:pt x="139359" y="193856"/>
                    <a:pt x="134152" y="214421"/>
                  </a:cubicBezTo>
                  <a:cubicBezTo>
                    <a:pt x="128944" y="234987"/>
                    <a:pt x="126379" y="257027"/>
                    <a:pt x="126379" y="280541"/>
                  </a:cubicBezTo>
                  <a:lnTo>
                    <a:pt x="126379" y="656768"/>
                  </a:lnTo>
                  <a:lnTo>
                    <a:pt x="0" y="656768"/>
                  </a:lnTo>
                  <a:lnTo>
                    <a:pt x="0" y="13736"/>
                  </a:lnTo>
                  <a:lnTo>
                    <a:pt x="126379" y="13736"/>
                  </a:lnTo>
                  <a:lnTo>
                    <a:pt x="126379" y="74733"/>
                  </a:lnTo>
                  <a:cubicBezTo>
                    <a:pt x="134385" y="63170"/>
                    <a:pt x="144178" y="52693"/>
                    <a:pt x="155759" y="43381"/>
                  </a:cubicBezTo>
                  <a:cubicBezTo>
                    <a:pt x="167340" y="33991"/>
                    <a:pt x="180086" y="26153"/>
                    <a:pt x="194154" y="19789"/>
                  </a:cubicBezTo>
                  <a:cubicBezTo>
                    <a:pt x="208067" y="13426"/>
                    <a:pt x="223068" y="8537"/>
                    <a:pt x="239079" y="5122"/>
                  </a:cubicBezTo>
                  <a:cubicBezTo>
                    <a:pt x="255090" y="1707"/>
                    <a:pt x="271412" y="0"/>
                    <a:pt x="288201" y="0"/>
                  </a:cubicBezTo>
                  <a:cubicBezTo>
                    <a:pt x="326907" y="0"/>
                    <a:pt x="360562" y="6286"/>
                    <a:pt x="389164" y="18858"/>
                  </a:cubicBezTo>
                  <a:cubicBezTo>
                    <a:pt x="417767" y="31430"/>
                    <a:pt x="441472" y="49434"/>
                    <a:pt x="460515" y="73026"/>
                  </a:cubicBezTo>
                  <a:cubicBezTo>
                    <a:pt x="479479" y="96540"/>
                    <a:pt x="493703" y="126263"/>
                    <a:pt x="503341" y="162194"/>
                  </a:cubicBezTo>
                  <a:cubicBezTo>
                    <a:pt x="512901" y="198125"/>
                    <a:pt x="517719" y="240186"/>
                    <a:pt x="517719" y="288379"/>
                  </a:cubicBezTo>
                  <a:lnTo>
                    <a:pt x="517719" y="656845"/>
                  </a:lnTo>
                  <a:lnTo>
                    <a:pt x="391262" y="656845"/>
                  </a:lnTo>
                  <a:close/>
                </a:path>
              </a:pathLst>
            </a:custGeom>
            <a:solidFill>
              <a:schemeClr val="accent1"/>
            </a:solidFill>
            <a:ln w="7772" cap="flat">
              <a:noFill/>
              <a:prstDash val="solid"/>
              <a:miter/>
            </a:ln>
          </p:spPr>
          <p:txBody>
            <a:bodyPr rtlCol="0" anchor="ctr"/>
            <a:lstStyle/>
            <a:p>
              <a:endParaRPr lang="en-US"/>
            </a:p>
          </p:txBody>
        </p:sp>
        <p:sp>
          <p:nvSpPr>
            <p:cNvPr id="18" name="Freeform 14">
              <a:extLst>
                <a:ext uri="{FF2B5EF4-FFF2-40B4-BE49-F238E27FC236}">
                  <a16:creationId xmlns:a16="http://schemas.microsoft.com/office/drawing/2014/main" id="{2617DD70-727E-F838-6C71-D57805A2F446}"/>
                </a:ext>
              </a:extLst>
            </p:cNvPr>
            <p:cNvSpPr/>
            <p:nvPr/>
          </p:nvSpPr>
          <p:spPr bwMode="invGray">
            <a:xfrm>
              <a:off x="7909572" y="3191752"/>
              <a:ext cx="574457" cy="670503"/>
            </a:xfrm>
            <a:custGeom>
              <a:avLst/>
              <a:gdLst>
                <a:gd name="connsiteX0" fmla="*/ 446913 w 574457"/>
                <a:gd name="connsiteY0" fmla="*/ 335485 h 670503"/>
                <a:gd name="connsiteX1" fmla="*/ 435487 w 574457"/>
                <a:gd name="connsiteY1" fmla="*/ 246628 h 670503"/>
                <a:gd name="connsiteX2" fmla="*/ 402843 w 574457"/>
                <a:gd name="connsiteY2" fmla="*/ 178724 h 670503"/>
                <a:gd name="connsiteX3" fmla="*/ 351001 w 574457"/>
                <a:gd name="connsiteY3" fmla="*/ 135342 h 670503"/>
                <a:gd name="connsiteX4" fmla="*/ 282138 w 574457"/>
                <a:gd name="connsiteY4" fmla="*/ 120132 h 670503"/>
                <a:gd name="connsiteX5" fmla="*/ 217705 w 574457"/>
                <a:gd name="connsiteY5" fmla="*/ 135342 h 670503"/>
                <a:gd name="connsiteX6" fmla="*/ 169205 w 574457"/>
                <a:gd name="connsiteY6" fmla="*/ 178413 h 670503"/>
                <a:gd name="connsiteX7" fmla="*/ 138349 w 574457"/>
                <a:gd name="connsiteY7" fmla="*/ 245153 h 670503"/>
                <a:gd name="connsiteX8" fmla="*/ 127623 w 574457"/>
                <a:gd name="connsiteY8" fmla="*/ 331837 h 670503"/>
                <a:gd name="connsiteX9" fmla="*/ 139281 w 574457"/>
                <a:gd name="connsiteY9" fmla="*/ 425739 h 670503"/>
                <a:gd name="connsiteX10" fmla="*/ 172236 w 574457"/>
                <a:gd name="connsiteY10" fmla="*/ 493953 h 670503"/>
                <a:gd name="connsiteX11" fmla="*/ 223145 w 574457"/>
                <a:gd name="connsiteY11" fmla="*/ 535782 h 670503"/>
                <a:gd name="connsiteX12" fmla="*/ 288744 w 574457"/>
                <a:gd name="connsiteY12" fmla="*/ 550139 h 670503"/>
                <a:gd name="connsiteX13" fmla="*/ 353722 w 574457"/>
                <a:gd name="connsiteY13" fmla="*/ 533066 h 670503"/>
                <a:gd name="connsiteX14" fmla="*/ 403465 w 574457"/>
                <a:gd name="connsiteY14" fmla="*/ 486969 h 670503"/>
                <a:gd name="connsiteX15" fmla="*/ 435487 w 574457"/>
                <a:gd name="connsiteY15" fmla="*/ 418755 h 670503"/>
                <a:gd name="connsiteX16" fmla="*/ 446913 w 574457"/>
                <a:gd name="connsiteY16" fmla="*/ 335330 h 670503"/>
                <a:gd name="connsiteX17" fmla="*/ 574458 w 574457"/>
                <a:gd name="connsiteY17" fmla="*/ 331915 h 670503"/>
                <a:gd name="connsiteX18" fmla="*/ 552307 w 574457"/>
                <a:gd name="connsiteY18" fmla="*/ 474863 h 670503"/>
                <a:gd name="connsiteX19" fmla="*/ 491216 w 574457"/>
                <a:gd name="connsiteY19" fmla="*/ 581336 h 670503"/>
                <a:gd name="connsiteX20" fmla="*/ 398957 w 574457"/>
                <a:gd name="connsiteY20" fmla="*/ 647766 h 670503"/>
                <a:gd name="connsiteX21" fmla="*/ 283926 w 574457"/>
                <a:gd name="connsiteY21" fmla="*/ 670504 h 670503"/>
                <a:gd name="connsiteX22" fmla="*/ 170993 w 574457"/>
                <a:gd name="connsiteY22" fmla="*/ 646602 h 670503"/>
                <a:gd name="connsiteX23" fmla="*/ 81144 w 574457"/>
                <a:gd name="connsiteY23" fmla="*/ 578698 h 670503"/>
                <a:gd name="connsiteX24" fmla="*/ 21529 w 574457"/>
                <a:gd name="connsiteY24" fmla="*/ 472845 h 670503"/>
                <a:gd name="connsiteX25" fmla="*/ 0 w 574457"/>
                <a:gd name="connsiteY25" fmla="*/ 335562 h 670503"/>
                <a:gd name="connsiteX26" fmla="*/ 22151 w 574457"/>
                <a:gd name="connsiteY26" fmla="*/ 194400 h 670503"/>
                <a:gd name="connsiteX27" fmla="*/ 82931 w 574457"/>
                <a:gd name="connsiteY27" fmla="*/ 88857 h 670503"/>
                <a:gd name="connsiteX28" fmla="*/ 174024 w 574457"/>
                <a:gd name="connsiteY28" fmla="*/ 22738 h 670503"/>
                <a:gd name="connsiteX29" fmla="*/ 287579 w 574457"/>
                <a:gd name="connsiteY29" fmla="*/ 0 h 670503"/>
                <a:gd name="connsiteX30" fmla="*/ 401678 w 574457"/>
                <a:gd name="connsiteY30" fmla="*/ 23669 h 670503"/>
                <a:gd name="connsiteX31" fmla="*/ 492459 w 574457"/>
                <a:gd name="connsiteY31" fmla="*/ 90642 h 670503"/>
                <a:gd name="connsiteX32" fmla="*/ 552617 w 574457"/>
                <a:gd name="connsiteY32" fmla="*/ 195331 h 670503"/>
                <a:gd name="connsiteX33" fmla="*/ 574458 w 574457"/>
                <a:gd name="connsiteY33" fmla="*/ 331993 h 67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74457" h="670503">
                  <a:moveTo>
                    <a:pt x="446913" y="335485"/>
                  </a:moveTo>
                  <a:cubicBezTo>
                    <a:pt x="446913" y="302813"/>
                    <a:pt x="443105" y="273168"/>
                    <a:pt x="435487" y="246628"/>
                  </a:cubicBezTo>
                  <a:cubicBezTo>
                    <a:pt x="427871" y="220164"/>
                    <a:pt x="416989" y="197504"/>
                    <a:pt x="402843" y="178724"/>
                  </a:cubicBezTo>
                  <a:cubicBezTo>
                    <a:pt x="388698" y="160021"/>
                    <a:pt x="371365" y="145509"/>
                    <a:pt x="351001" y="135342"/>
                  </a:cubicBezTo>
                  <a:cubicBezTo>
                    <a:pt x="330638" y="125176"/>
                    <a:pt x="307631" y="120132"/>
                    <a:pt x="282138" y="120132"/>
                  </a:cubicBezTo>
                  <a:cubicBezTo>
                    <a:pt x="258199" y="120132"/>
                    <a:pt x="236670" y="125176"/>
                    <a:pt x="217705" y="135342"/>
                  </a:cubicBezTo>
                  <a:cubicBezTo>
                    <a:pt x="198740" y="145509"/>
                    <a:pt x="182574" y="159866"/>
                    <a:pt x="169205" y="178413"/>
                  </a:cubicBezTo>
                  <a:cubicBezTo>
                    <a:pt x="155837" y="196960"/>
                    <a:pt x="145577" y="219233"/>
                    <a:pt x="138349" y="245153"/>
                  </a:cubicBezTo>
                  <a:cubicBezTo>
                    <a:pt x="131120" y="271073"/>
                    <a:pt x="127623" y="300019"/>
                    <a:pt x="127623" y="331837"/>
                  </a:cubicBezTo>
                  <a:cubicBezTo>
                    <a:pt x="127623" y="367303"/>
                    <a:pt x="131509" y="398655"/>
                    <a:pt x="139281" y="425739"/>
                  </a:cubicBezTo>
                  <a:cubicBezTo>
                    <a:pt x="147054" y="452901"/>
                    <a:pt x="158013" y="475561"/>
                    <a:pt x="172236" y="493953"/>
                  </a:cubicBezTo>
                  <a:cubicBezTo>
                    <a:pt x="186382" y="512268"/>
                    <a:pt x="203404" y="526237"/>
                    <a:pt x="223145" y="535782"/>
                  </a:cubicBezTo>
                  <a:cubicBezTo>
                    <a:pt x="242888" y="545328"/>
                    <a:pt x="264728" y="550139"/>
                    <a:pt x="288744" y="550139"/>
                  </a:cubicBezTo>
                  <a:cubicBezTo>
                    <a:pt x="312761" y="550139"/>
                    <a:pt x="334368" y="544474"/>
                    <a:pt x="353722" y="533066"/>
                  </a:cubicBezTo>
                  <a:cubicBezTo>
                    <a:pt x="373075" y="521658"/>
                    <a:pt x="389708" y="506293"/>
                    <a:pt x="403465" y="486969"/>
                  </a:cubicBezTo>
                  <a:cubicBezTo>
                    <a:pt x="417222" y="467645"/>
                    <a:pt x="427948" y="444907"/>
                    <a:pt x="435487" y="418755"/>
                  </a:cubicBezTo>
                  <a:cubicBezTo>
                    <a:pt x="443027" y="392602"/>
                    <a:pt x="446913" y="364819"/>
                    <a:pt x="446913" y="335330"/>
                  </a:cubicBezTo>
                  <a:moveTo>
                    <a:pt x="574458" y="331915"/>
                  </a:moveTo>
                  <a:cubicBezTo>
                    <a:pt x="574458" y="385384"/>
                    <a:pt x="567074" y="433034"/>
                    <a:pt x="552307" y="474863"/>
                  </a:cubicBezTo>
                  <a:cubicBezTo>
                    <a:pt x="537539" y="516769"/>
                    <a:pt x="517175" y="552234"/>
                    <a:pt x="491216" y="581336"/>
                  </a:cubicBezTo>
                  <a:cubicBezTo>
                    <a:pt x="465256" y="610438"/>
                    <a:pt x="434477" y="632555"/>
                    <a:pt x="398957" y="647766"/>
                  </a:cubicBezTo>
                  <a:cubicBezTo>
                    <a:pt x="363438" y="662899"/>
                    <a:pt x="325042" y="670504"/>
                    <a:pt x="283926" y="670504"/>
                  </a:cubicBezTo>
                  <a:cubicBezTo>
                    <a:pt x="242810" y="670504"/>
                    <a:pt x="205502" y="662511"/>
                    <a:pt x="170993" y="646602"/>
                  </a:cubicBezTo>
                  <a:cubicBezTo>
                    <a:pt x="136483" y="630693"/>
                    <a:pt x="106482" y="608032"/>
                    <a:pt x="81144" y="578698"/>
                  </a:cubicBezTo>
                  <a:cubicBezTo>
                    <a:pt x="55728" y="549363"/>
                    <a:pt x="35908" y="514130"/>
                    <a:pt x="21529" y="472845"/>
                  </a:cubicBezTo>
                  <a:cubicBezTo>
                    <a:pt x="7150" y="431559"/>
                    <a:pt x="0" y="385850"/>
                    <a:pt x="0" y="335562"/>
                  </a:cubicBezTo>
                  <a:cubicBezTo>
                    <a:pt x="0" y="285275"/>
                    <a:pt x="7384" y="235840"/>
                    <a:pt x="22151" y="194400"/>
                  </a:cubicBezTo>
                  <a:cubicBezTo>
                    <a:pt x="36919" y="152959"/>
                    <a:pt x="57205" y="117726"/>
                    <a:pt x="82931" y="88857"/>
                  </a:cubicBezTo>
                  <a:cubicBezTo>
                    <a:pt x="108658" y="59988"/>
                    <a:pt x="139048" y="37949"/>
                    <a:pt x="174024" y="22738"/>
                  </a:cubicBezTo>
                  <a:cubicBezTo>
                    <a:pt x="208999" y="7605"/>
                    <a:pt x="246774" y="0"/>
                    <a:pt x="287579" y="0"/>
                  </a:cubicBezTo>
                  <a:cubicBezTo>
                    <a:pt x="328384" y="0"/>
                    <a:pt x="366702" y="7916"/>
                    <a:pt x="401678" y="23669"/>
                  </a:cubicBezTo>
                  <a:cubicBezTo>
                    <a:pt x="436653" y="39423"/>
                    <a:pt x="466888" y="61773"/>
                    <a:pt x="492459" y="90642"/>
                  </a:cubicBezTo>
                  <a:cubicBezTo>
                    <a:pt x="518030" y="119589"/>
                    <a:pt x="538083" y="154433"/>
                    <a:pt x="552617" y="195331"/>
                  </a:cubicBezTo>
                  <a:cubicBezTo>
                    <a:pt x="567152" y="236151"/>
                    <a:pt x="574458" y="281782"/>
                    <a:pt x="574458" y="331993"/>
                  </a:cubicBezTo>
                </a:path>
              </a:pathLst>
            </a:custGeom>
            <a:solidFill>
              <a:schemeClr val="accent1"/>
            </a:solidFill>
            <a:ln w="7772" cap="flat">
              <a:noFill/>
              <a:prstDash val="solid"/>
              <a:miter/>
            </a:ln>
          </p:spPr>
          <p:txBody>
            <a:bodyPr rtlCol="0" anchor="ctr"/>
            <a:lstStyle/>
            <a:p>
              <a:endParaRPr lang="en-US"/>
            </a:p>
          </p:txBody>
        </p:sp>
        <p:sp>
          <p:nvSpPr>
            <p:cNvPr id="19" name="Freeform 15">
              <a:extLst>
                <a:ext uri="{FF2B5EF4-FFF2-40B4-BE49-F238E27FC236}">
                  <a16:creationId xmlns:a16="http://schemas.microsoft.com/office/drawing/2014/main" id="{7BC5C7C3-8F42-FFBA-CF05-A6449249DB37}"/>
                </a:ext>
              </a:extLst>
            </p:cNvPr>
            <p:cNvSpPr/>
            <p:nvPr/>
          </p:nvSpPr>
          <p:spPr bwMode="invGray">
            <a:xfrm>
              <a:off x="8577920" y="3191752"/>
              <a:ext cx="517641" cy="656845"/>
            </a:xfrm>
            <a:custGeom>
              <a:avLst/>
              <a:gdLst>
                <a:gd name="connsiteX0" fmla="*/ 391262 w 517641"/>
                <a:gd name="connsiteY0" fmla="*/ 656690 h 656845"/>
                <a:gd name="connsiteX1" fmla="*/ 391262 w 517641"/>
                <a:gd name="connsiteY1" fmla="*/ 293035 h 656845"/>
                <a:gd name="connsiteX2" fmla="*/ 360095 w 517641"/>
                <a:gd name="connsiteY2" fmla="*/ 161107 h 656845"/>
                <a:gd name="connsiteX3" fmla="*/ 258821 w 517641"/>
                <a:gd name="connsiteY3" fmla="*/ 116562 h 656845"/>
                <a:gd name="connsiteX4" fmla="*/ 202549 w 517641"/>
                <a:gd name="connsiteY4" fmla="*/ 127349 h 656845"/>
                <a:gd name="connsiteX5" fmla="*/ 159412 w 517641"/>
                <a:gd name="connsiteY5" fmla="*/ 160874 h 656845"/>
                <a:gd name="connsiteX6" fmla="*/ 134230 w 517641"/>
                <a:gd name="connsiteY6" fmla="*/ 214421 h 656845"/>
                <a:gd name="connsiteX7" fmla="*/ 126457 w 517641"/>
                <a:gd name="connsiteY7" fmla="*/ 280541 h 656845"/>
                <a:gd name="connsiteX8" fmla="*/ 126457 w 517641"/>
                <a:gd name="connsiteY8" fmla="*/ 656768 h 656845"/>
                <a:gd name="connsiteX9" fmla="*/ 0 w 517641"/>
                <a:gd name="connsiteY9" fmla="*/ 656768 h 656845"/>
                <a:gd name="connsiteX10" fmla="*/ 0 w 517641"/>
                <a:gd name="connsiteY10" fmla="*/ 13736 h 656845"/>
                <a:gd name="connsiteX11" fmla="*/ 126457 w 517641"/>
                <a:gd name="connsiteY11" fmla="*/ 13736 h 656845"/>
                <a:gd name="connsiteX12" fmla="*/ 126457 w 517641"/>
                <a:gd name="connsiteY12" fmla="*/ 74733 h 656845"/>
                <a:gd name="connsiteX13" fmla="*/ 155837 w 517641"/>
                <a:gd name="connsiteY13" fmla="*/ 43381 h 656845"/>
                <a:gd name="connsiteX14" fmla="*/ 194154 w 517641"/>
                <a:gd name="connsiteY14" fmla="*/ 19789 h 656845"/>
                <a:gd name="connsiteX15" fmla="*/ 239079 w 517641"/>
                <a:gd name="connsiteY15" fmla="*/ 5122 h 656845"/>
                <a:gd name="connsiteX16" fmla="*/ 288201 w 517641"/>
                <a:gd name="connsiteY16" fmla="*/ 0 h 656845"/>
                <a:gd name="connsiteX17" fmla="*/ 389164 w 517641"/>
                <a:gd name="connsiteY17" fmla="*/ 18858 h 656845"/>
                <a:gd name="connsiteX18" fmla="*/ 460437 w 517641"/>
                <a:gd name="connsiteY18" fmla="*/ 73026 h 656845"/>
                <a:gd name="connsiteX19" fmla="*/ 503263 w 517641"/>
                <a:gd name="connsiteY19" fmla="*/ 162194 h 656845"/>
                <a:gd name="connsiteX20" fmla="*/ 517642 w 517641"/>
                <a:gd name="connsiteY20" fmla="*/ 288379 h 656845"/>
                <a:gd name="connsiteX21" fmla="*/ 517642 w 517641"/>
                <a:gd name="connsiteY21" fmla="*/ 656845 h 656845"/>
                <a:gd name="connsiteX22" fmla="*/ 391262 w 517641"/>
                <a:gd name="connsiteY22" fmla="*/ 656845 h 65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17641" h="656845">
                  <a:moveTo>
                    <a:pt x="391262" y="656690"/>
                  </a:moveTo>
                  <a:lnTo>
                    <a:pt x="391262" y="293035"/>
                  </a:lnTo>
                  <a:cubicBezTo>
                    <a:pt x="391262" y="234832"/>
                    <a:pt x="380925" y="190830"/>
                    <a:pt x="360095" y="161107"/>
                  </a:cubicBezTo>
                  <a:cubicBezTo>
                    <a:pt x="339343" y="131462"/>
                    <a:pt x="305611" y="116562"/>
                    <a:pt x="258821" y="116562"/>
                  </a:cubicBezTo>
                  <a:cubicBezTo>
                    <a:pt x="238457" y="116562"/>
                    <a:pt x="219648" y="120210"/>
                    <a:pt x="202549" y="127349"/>
                  </a:cubicBezTo>
                  <a:cubicBezTo>
                    <a:pt x="185372" y="134566"/>
                    <a:pt x="170993" y="145664"/>
                    <a:pt x="159412" y="160874"/>
                  </a:cubicBezTo>
                  <a:cubicBezTo>
                    <a:pt x="147831" y="176007"/>
                    <a:pt x="139437" y="193856"/>
                    <a:pt x="134230" y="214421"/>
                  </a:cubicBezTo>
                  <a:cubicBezTo>
                    <a:pt x="129022" y="234987"/>
                    <a:pt x="126457" y="257027"/>
                    <a:pt x="126457" y="280541"/>
                  </a:cubicBezTo>
                  <a:lnTo>
                    <a:pt x="126457" y="656768"/>
                  </a:lnTo>
                  <a:lnTo>
                    <a:pt x="0" y="656768"/>
                  </a:lnTo>
                  <a:lnTo>
                    <a:pt x="0" y="13736"/>
                  </a:lnTo>
                  <a:lnTo>
                    <a:pt x="126457" y="13736"/>
                  </a:lnTo>
                  <a:lnTo>
                    <a:pt x="126457" y="74733"/>
                  </a:lnTo>
                  <a:cubicBezTo>
                    <a:pt x="134462" y="63170"/>
                    <a:pt x="144178" y="52693"/>
                    <a:pt x="155837" y="43381"/>
                  </a:cubicBezTo>
                  <a:cubicBezTo>
                    <a:pt x="167417" y="33991"/>
                    <a:pt x="180164" y="26153"/>
                    <a:pt x="194154" y="19789"/>
                  </a:cubicBezTo>
                  <a:cubicBezTo>
                    <a:pt x="208145" y="13426"/>
                    <a:pt x="223146" y="8537"/>
                    <a:pt x="239079" y="5122"/>
                  </a:cubicBezTo>
                  <a:cubicBezTo>
                    <a:pt x="255012" y="1707"/>
                    <a:pt x="271412" y="0"/>
                    <a:pt x="288201" y="0"/>
                  </a:cubicBezTo>
                  <a:cubicBezTo>
                    <a:pt x="326985" y="0"/>
                    <a:pt x="360562" y="6286"/>
                    <a:pt x="389164" y="18858"/>
                  </a:cubicBezTo>
                  <a:cubicBezTo>
                    <a:pt x="417689" y="31430"/>
                    <a:pt x="441472" y="49434"/>
                    <a:pt x="460437" y="73026"/>
                  </a:cubicBezTo>
                  <a:cubicBezTo>
                    <a:pt x="479402" y="96540"/>
                    <a:pt x="493703" y="126263"/>
                    <a:pt x="503263" y="162194"/>
                  </a:cubicBezTo>
                  <a:cubicBezTo>
                    <a:pt x="512823" y="198125"/>
                    <a:pt x="517642" y="240186"/>
                    <a:pt x="517642" y="288379"/>
                  </a:cubicBezTo>
                  <a:lnTo>
                    <a:pt x="517642" y="656845"/>
                  </a:lnTo>
                  <a:lnTo>
                    <a:pt x="391262" y="656845"/>
                  </a:lnTo>
                  <a:close/>
                </a:path>
              </a:pathLst>
            </a:custGeom>
            <a:solidFill>
              <a:schemeClr val="accent1"/>
            </a:solidFill>
            <a:ln w="7772" cap="flat">
              <a:noFill/>
              <a:prstDash val="solid"/>
              <a:miter/>
            </a:ln>
          </p:spPr>
          <p:txBody>
            <a:bodyPr rtlCol="0" anchor="ctr"/>
            <a:lstStyle/>
            <a:p>
              <a:endParaRPr lang="en-US"/>
            </a:p>
          </p:txBody>
        </p:sp>
        <p:sp>
          <p:nvSpPr>
            <p:cNvPr id="20" name="Freeform 16">
              <a:extLst>
                <a:ext uri="{FF2B5EF4-FFF2-40B4-BE49-F238E27FC236}">
                  <a16:creationId xmlns:a16="http://schemas.microsoft.com/office/drawing/2014/main" id="{104D3CB5-8F33-318F-F1C0-F4EF179D4542}"/>
                </a:ext>
              </a:extLst>
            </p:cNvPr>
            <p:cNvSpPr/>
            <p:nvPr/>
          </p:nvSpPr>
          <p:spPr bwMode="invGray">
            <a:xfrm>
              <a:off x="1333500" y="1365250"/>
              <a:ext cx="2432217" cy="886244"/>
            </a:xfrm>
            <a:custGeom>
              <a:avLst/>
              <a:gdLst>
                <a:gd name="connsiteX0" fmla="*/ 2431984 w 2432217"/>
                <a:gd name="connsiteY0" fmla="*/ 0 h 886244"/>
                <a:gd name="connsiteX1" fmla="*/ 0 w 2432217"/>
                <a:gd name="connsiteY1" fmla="*/ 886245 h 886244"/>
                <a:gd name="connsiteX2" fmla="*/ 2432217 w 2432217"/>
                <a:gd name="connsiteY2" fmla="*/ 457246 h 886244"/>
                <a:gd name="connsiteX3" fmla="*/ 2432217 w 2432217"/>
                <a:gd name="connsiteY3" fmla="*/ 0 h 886244"/>
                <a:gd name="connsiteX4" fmla="*/ 2431984 w 2432217"/>
                <a:gd name="connsiteY4" fmla="*/ 0 h 886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217" h="886244">
                  <a:moveTo>
                    <a:pt x="2431984" y="0"/>
                  </a:moveTo>
                  <a:lnTo>
                    <a:pt x="0" y="886245"/>
                  </a:lnTo>
                  <a:lnTo>
                    <a:pt x="2432217" y="457246"/>
                  </a:lnTo>
                  <a:lnTo>
                    <a:pt x="2432217" y="0"/>
                  </a:lnTo>
                  <a:lnTo>
                    <a:pt x="2431984" y="0"/>
                  </a:lnTo>
                  <a:close/>
                </a:path>
              </a:pathLst>
            </a:custGeom>
            <a:solidFill>
              <a:schemeClr val="accent5"/>
            </a:solidFill>
            <a:ln w="7772" cap="flat">
              <a:noFill/>
              <a:prstDash val="solid"/>
              <a:miter/>
            </a:ln>
          </p:spPr>
          <p:txBody>
            <a:bodyPr rtlCol="0" anchor="ctr"/>
            <a:lstStyle/>
            <a:p>
              <a:endParaRPr lang="en-US"/>
            </a:p>
          </p:txBody>
        </p:sp>
        <p:sp>
          <p:nvSpPr>
            <p:cNvPr id="21" name="Freeform 17">
              <a:extLst>
                <a:ext uri="{FF2B5EF4-FFF2-40B4-BE49-F238E27FC236}">
                  <a16:creationId xmlns:a16="http://schemas.microsoft.com/office/drawing/2014/main" id="{B05D38AD-B6C6-C0A5-F4F7-3D3CCEEBA1A6}"/>
                </a:ext>
              </a:extLst>
            </p:cNvPr>
            <p:cNvSpPr/>
            <p:nvPr/>
          </p:nvSpPr>
          <p:spPr bwMode="invGray">
            <a:xfrm>
              <a:off x="1354718" y="2619961"/>
              <a:ext cx="2042042" cy="1228558"/>
            </a:xfrm>
            <a:custGeom>
              <a:avLst/>
              <a:gdLst>
                <a:gd name="connsiteX0" fmla="*/ 1639277 w 2042042"/>
                <a:gd name="connsiteY0" fmla="*/ 78 h 1228558"/>
                <a:gd name="connsiteX1" fmla="*/ 1430277 w 2042042"/>
                <a:gd name="connsiteY1" fmla="*/ 400983 h 1228558"/>
                <a:gd name="connsiteX2" fmla="*/ 1221821 w 2042042"/>
                <a:gd name="connsiteY2" fmla="*/ 78 h 1228558"/>
                <a:gd name="connsiteX3" fmla="*/ 813848 w 2042042"/>
                <a:gd name="connsiteY3" fmla="*/ 78 h 1228558"/>
                <a:gd name="connsiteX4" fmla="*/ 1243662 w 2042042"/>
                <a:gd name="connsiteY4" fmla="*/ 743297 h 1228558"/>
                <a:gd name="connsiteX5" fmla="*/ 1243662 w 2042042"/>
                <a:gd name="connsiteY5" fmla="*/ 1228559 h 1228558"/>
                <a:gd name="connsiteX6" fmla="*/ 1611607 w 2042042"/>
                <a:gd name="connsiteY6" fmla="*/ 1228559 h 1228558"/>
                <a:gd name="connsiteX7" fmla="*/ 1611607 w 2042042"/>
                <a:gd name="connsiteY7" fmla="*/ 743297 h 1228558"/>
                <a:gd name="connsiteX8" fmla="*/ 2042043 w 2042042"/>
                <a:gd name="connsiteY8" fmla="*/ 78 h 1228558"/>
                <a:gd name="connsiteX9" fmla="*/ 1639277 w 2042042"/>
                <a:gd name="connsiteY9" fmla="*/ 78 h 1228558"/>
                <a:gd name="connsiteX10" fmla="*/ 0 w 2042042"/>
                <a:gd name="connsiteY10" fmla="*/ 78 h 1228558"/>
                <a:gd name="connsiteX11" fmla="*/ 0 w 2042042"/>
                <a:gd name="connsiteY11" fmla="*/ 1228481 h 1228558"/>
                <a:gd name="connsiteX12" fmla="*/ 984219 w 2042042"/>
                <a:gd name="connsiteY12" fmla="*/ 1228481 h 1228558"/>
                <a:gd name="connsiteX13" fmla="*/ 984219 w 2042042"/>
                <a:gd name="connsiteY13" fmla="*/ 945923 h 1228558"/>
                <a:gd name="connsiteX14" fmla="*/ 369034 w 2042042"/>
                <a:gd name="connsiteY14" fmla="*/ 945923 h 1228558"/>
                <a:gd name="connsiteX15" fmla="*/ 369034 w 2042042"/>
                <a:gd name="connsiteY15" fmla="*/ 743220 h 1228558"/>
                <a:gd name="connsiteX16" fmla="*/ 813848 w 2042042"/>
                <a:gd name="connsiteY16" fmla="*/ 743220 h 1228558"/>
                <a:gd name="connsiteX17" fmla="*/ 813848 w 2042042"/>
                <a:gd name="connsiteY17" fmla="*/ 485339 h 1228558"/>
                <a:gd name="connsiteX18" fmla="*/ 369034 w 2042042"/>
                <a:gd name="connsiteY18" fmla="*/ 485339 h 1228558"/>
                <a:gd name="connsiteX19" fmla="*/ 369034 w 2042042"/>
                <a:gd name="connsiteY19" fmla="*/ 282558 h 1228558"/>
                <a:gd name="connsiteX20" fmla="*/ 861182 w 2042042"/>
                <a:gd name="connsiteY20" fmla="*/ 282558 h 1228558"/>
                <a:gd name="connsiteX21" fmla="*/ 697884 w 2042042"/>
                <a:gd name="connsiteY21" fmla="*/ 0 h 1228558"/>
                <a:gd name="connsiteX22" fmla="*/ 0 w 2042042"/>
                <a:gd name="connsiteY22" fmla="*/ 0 h 122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42042" h="1228558">
                  <a:moveTo>
                    <a:pt x="1639277" y="78"/>
                  </a:moveTo>
                  <a:lnTo>
                    <a:pt x="1430277" y="400983"/>
                  </a:lnTo>
                  <a:lnTo>
                    <a:pt x="1221821" y="78"/>
                  </a:lnTo>
                  <a:lnTo>
                    <a:pt x="813848" y="78"/>
                  </a:lnTo>
                  <a:lnTo>
                    <a:pt x="1243662" y="743297"/>
                  </a:lnTo>
                  <a:lnTo>
                    <a:pt x="1243662" y="1228559"/>
                  </a:lnTo>
                  <a:lnTo>
                    <a:pt x="1611607" y="1228559"/>
                  </a:lnTo>
                  <a:lnTo>
                    <a:pt x="1611607" y="743297"/>
                  </a:lnTo>
                  <a:lnTo>
                    <a:pt x="2042043" y="78"/>
                  </a:lnTo>
                  <a:lnTo>
                    <a:pt x="1639277" y="78"/>
                  </a:lnTo>
                  <a:close/>
                  <a:moveTo>
                    <a:pt x="0" y="78"/>
                  </a:moveTo>
                  <a:lnTo>
                    <a:pt x="0" y="1228481"/>
                  </a:lnTo>
                  <a:lnTo>
                    <a:pt x="984219" y="1228481"/>
                  </a:lnTo>
                  <a:lnTo>
                    <a:pt x="984219" y="945923"/>
                  </a:lnTo>
                  <a:lnTo>
                    <a:pt x="369034" y="945923"/>
                  </a:lnTo>
                  <a:lnTo>
                    <a:pt x="369034" y="743220"/>
                  </a:lnTo>
                  <a:lnTo>
                    <a:pt x="813848" y="743220"/>
                  </a:lnTo>
                  <a:lnTo>
                    <a:pt x="813848" y="485339"/>
                  </a:lnTo>
                  <a:lnTo>
                    <a:pt x="369034" y="485339"/>
                  </a:lnTo>
                  <a:lnTo>
                    <a:pt x="369034" y="282558"/>
                  </a:lnTo>
                  <a:lnTo>
                    <a:pt x="861182" y="282558"/>
                  </a:lnTo>
                  <a:lnTo>
                    <a:pt x="697884" y="0"/>
                  </a:lnTo>
                  <a:lnTo>
                    <a:pt x="0" y="0"/>
                  </a:lnTo>
                  <a:close/>
                </a:path>
              </a:pathLst>
            </a:custGeom>
            <a:solidFill>
              <a:srgbClr val="FFFFFF"/>
            </a:solidFill>
            <a:ln w="7772" cap="flat">
              <a:noFill/>
              <a:prstDash val="solid"/>
              <a:miter/>
            </a:ln>
          </p:spPr>
          <p:txBody>
            <a:bodyPr rtlCol="0" anchor="ctr"/>
            <a:lstStyle/>
            <a:p>
              <a:endParaRPr lang="en-US"/>
            </a:p>
          </p:txBody>
        </p:sp>
        <p:sp>
          <p:nvSpPr>
            <p:cNvPr id="22" name="Freeform 18">
              <a:extLst>
                <a:ext uri="{FF2B5EF4-FFF2-40B4-BE49-F238E27FC236}">
                  <a16:creationId xmlns:a16="http://schemas.microsoft.com/office/drawing/2014/main" id="{165AE05D-1F9C-6957-016F-459DFFE53CE2}"/>
                </a:ext>
              </a:extLst>
            </p:cNvPr>
            <p:cNvSpPr/>
            <p:nvPr/>
          </p:nvSpPr>
          <p:spPr bwMode="invGray">
            <a:xfrm>
              <a:off x="5925900" y="4251210"/>
              <a:ext cx="200839" cy="388178"/>
            </a:xfrm>
            <a:custGeom>
              <a:avLst/>
              <a:gdLst>
                <a:gd name="connsiteX0" fmla="*/ 119151 w 200839"/>
                <a:gd name="connsiteY0" fmla="*/ 286749 h 388178"/>
                <a:gd name="connsiteX1" fmla="*/ 119151 w 200839"/>
                <a:gd name="connsiteY1" fmla="*/ 173679 h 388178"/>
                <a:gd name="connsiteX2" fmla="*/ 199751 w 200839"/>
                <a:gd name="connsiteY2" fmla="*/ 173679 h 388178"/>
                <a:gd name="connsiteX3" fmla="*/ 199751 w 200839"/>
                <a:gd name="connsiteY3" fmla="*/ 107250 h 388178"/>
                <a:gd name="connsiteX4" fmla="*/ 119151 w 200839"/>
                <a:gd name="connsiteY4" fmla="*/ 107250 h 388178"/>
                <a:gd name="connsiteX5" fmla="*/ 119151 w 200839"/>
                <a:gd name="connsiteY5" fmla="*/ 0 h 388178"/>
                <a:gd name="connsiteX6" fmla="*/ 47878 w 200839"/>
                <a:gd name="connsiteY6" fmla="*/ 35543 h 388178"/>
                <a:gd name="connsiteX7" fmla="*/ 47878 w 200839"/>
                <a:gd name="connsiteY7" fmla="*/ 107250 h 388178"/>
                <a:gd name="connsiteX8" fmla="*/ 0 w 200839"/>
                <a:gd name="connsiteY8" fmla="*/ 107250 h 388178"/>
                <a:gd name="connsiteX9" fmla="*/ 0 w 200839"/>
                <a:gd name="connsiteY9" fmla="*/ 173679 h 388178"/>
                <a:gd name="connsiteX10" fmla="*/ 47878 w 200839"/>
                <a:gd name="connsiteY10" fmla="*/ 173679 h 388178"/>
                <a:gd name="connsiteX11" fmla="*/ 47878 w 200839"/>
                <a:gd name="connsiteY11" fmla="*/ 305995 h 388178"/>
                <a:gd name="connsiteX12" fmla="*/ 122027 w 200839"/>
                <a:gd name="connsiteY12" fmla="*/ 388178 h 388178"/>
                <a:gd name="connsiteX13" fmla="*/ 190346 w 200839"/>
                <a:gd name="connsiteY13" fmla="*/ 371260 h 388178"/>
                <a:gd name="connsiteX14" fmla="*/ 200839 w 200839"/>
                <a:gd name="connsiteY14" fmla="*/ 299554 h 388178"/>
                <a:gd name="connsiteX15" fmla="*/ 145344 w 200839"/>
                <a:gd name="connsiteY15" fmla="*/ 319964 h 388178"/>
                <a:gd name="connsiteX16" fmla="*/ 119073 w 200839"/>
                <a:gd name="connsiteY16" fmla="*/ 286749 h 38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839" h="388178">
                  <a:moveTo>
                    <a:pt x="119151" y="286749"/>
                  </a:moveTo>
                  <a:lnTo>
                    <a:pt x="119151" y="173679"/>
                  </a:lnTo>
                  <a:lnTo>
                    <a:pt x="199751" y="173679"/>
                  </a:lnTo>
                  <a:lnTo>
                    <a:pt x="199751" y="107250"/>
                  </a:lnTo>
                  <a:lnTo>
                    <a:pt x="119151" y="107250"/>
                  </a:lnTo>
                  <a:lnTo>
                    <a:pt x="119151" y="0"/>
                  </a:lnTo>
                  <a:lnTo>
                    <a:pt x="47878" y="35543"/>
                  </a:lnTo>
                  <a:lnTo>
                    <a:pt x="47878" y="107250"/>
                  </a:lnTo>
                  <a:lnTo>
                    <a:pt x="0" y="107250"/>
                  </a:lnTo>
                  <a:lnTo>
                    <a:pt x="0" y="173679"/>
                  </a:lnTo>
                  <a:lnTo>
                    <a:pt x="47878" y="173679"/>
                  </a:lnTo>
                  <a:lnTo>
                    <a:pt x="47878" y="305995"/>
                  </a:lnTo>
                  <a:cubicBezTo>
                    <a:pt x="47878" y="353799"/>
                    <a:pt x="78812" y="388178"/>
                    <a:pt x="122027" y="388178"/>
                  </a:cubicBezTo>
                  <a:cubicBezTo>
                    <a:pt x="140681" y="388178"/>
                    <a:pt x="175734" y="382901"/>
                    <a:pt x="190346" y="371260"/>
                  </a:cubicBezTo>
                  <a:lnTo>
                    <a:pt x="200839" y="299554"/>
                  </a:lnTo>
                  <a:cubicBezTo>
                    <a:pt x="188559" y="311195"/>
                    <a:pt x="162910" y="319964"/>
                    <a:pt x="145344" y="319964"/>
                  </a:cubicBezTo>
                  <a:cubicBezTo>
                    <a:pt x="127778" y="319964"/>
                    <a:pt x="119073" y="311815"/>
                    <a:pt x="119073" y="286749"/>
                  </a:cubicBezTo>
                  <a:close/>
                </a:path>
              </a:pathLst>
            </a:custGeom>
            <a:solidFill>
              <a:srgbClr val="FFFFFF"/>
            </a:solidFill>
            <a:ln w="7772" cap="flat">
              <a:noFill/>
              <a:prstDash val="solid"/>
              <a:miter/>
            </a:ln>
          </p:spPr>
          <p:txBody>
            <a:bodyPr rtlCol="0" anchor="ctr"/>
            <a:lstStyle/>
            <a:p>
              <a:endParaRPr lang="en-US"/>
            </a:p>
          </p:txBody>
        </p:sp>
        <p:sp>
          <p:nvSpPr>
            <p:cNvPr id="23" name="Freeform 19">
              <a:extLst>
                <a:ext uri="{FF2B5EF4-FFF2-40B4-BE49-F238E27FC236}">
                  <a16:creationId xmlns:a16="http://schemas.microsoft.com/office/drawing/2014/main" id="{88BFD915-1634-C147-5326-2EF3ED7BBE8D}"/>
                </a:ext>
              </a:extLst>
            </p:cNvPr>
            <p:cNvSpPr/>
            <p:nvPr/>
          </p:nvSpPr>
          <p:spPr bwMode="invGray">
            <a:xfrm>
              <a:off x="4293307" y="4251210"/>
              <a:ext cx="200838" cy="388178"/>
            </a:xfrm>
            <a:custGeom>
              <a:avLst/>
              <a:gdLst>
                <a:gd name="connsiteX0" fmla="*/ 119151 w 200838"/>
                <a:gd name="connsiteY0" fmla="*/ 286749 h 388178"/>
                <a:gd name="connsiteX1" fmla="*/ 119151 w 200838"/>
                <a:gd name="connsiteY1" fmla="*/ 173679 h 388178"/>
                <a:gd name="connsiteX2" fmla="*/ 199751 w 200838"/>
                <a:gd name="connsiteY2" fmla="*/ 173679 h 388178"/>
                <a:gd name="connsiteX3" fmla="*/ 199751 w 200838"/>
                <a:gd name="connsiteY3" fmla="*/ 107250 h 388178"/>
                <a:gd name="connsiteX4" fmla="*/ 119151 w 200838"/>
                <a:gd name="connsiteY4" fmla="*/ 107250 h 388178"/>
                <a:gd name="connsiteX5" fmla="*/ 119151 w 200838"/>
                <a:gd name="connsiteY5" fmla="*/ 0 h 388178"/>
                <a:gd name="connsiteX6" fmla="*/ 47878 w 200838"/>
                <a:gd name="connsiteY6" fmla="*/ 35543 h 388178"/>
                <a:gd name="connsiteX7" fmla="*/ 47878 w 200838"/>
                <a:gd name="connsiteY7" fmla="*/ 107250 h 388178"/>
                <a:gd name="connsiteX8" fmla="*/ 0 w 200838"/>
                <a:gd name="connsiteY8" fmla="*/ 107250 h 388178"/>
                <a:gd name="connsiteX9" fmla="*/ 0 w 200838"/>
                <a:gd name="connsiteY9" fmla="*/ 173679 h 388178"/>
                <a:gd name="connsiteX10" fmla="*/ 47878 w 200838"/>
                <a:gd name="connsiteY10" fmla="*/ 173679 h 388178"/>
                <a:gd name="connsiteX11" fmla="*/ 47878 w 200838"/>
                <a:gd name="connsiteY11" fmla="*/ 305995 h 388178"/>
                <a:gd name="connsiteX12" fmla="*/ 122027 w 200838"/>
                <a:gd name="connsiteY12" fmla="*/ 388178 h 388178"/>
                <a:gd name="connsiteX13" fmla="*/ 190346 w 200838"/>
                <a:gd name="connsiteY13" fmla="*/ 371260 h 388178"/>
                <a:gd name="connsiteX14" fmla="*/ 200839 w 200838"/>
                <a:gd name="connsiteY14" fmla="*/ 299554 h 388178"/>
                <a:gd name="connsiteX15" fmla="*/ 145344 w 200838"/>
                <a:gd name="connsiteY15" fmla="*/ 319964 h 388178"/>
                <a:gd name="connsiteX16" fmla="*/ 119073 w 200838"/>
                <a:gd name="connsiteY16" fmla="*/ 286749 h 38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838" h="388178">
                  <a:moveTo>
                    <a:pt x="119151" y="286749"/>
                  </a:moveTo>
                  <a:lnTo>
                    <a:pt x="119151" y="173679"/>
                  </a:lnTo>
                  <a:lnTo>
                    <a:pt x="199751" y="173679"/>
                  </a:lnTo>
                  <a:lnTo>
                    <a:pt x="199751" y="107250"/>
                  </a:lnTo>
                  <a:lnTo>
                    <a:pt x="119151" y="107250"/>
                  </a:lnTo>
                  <a:lnTo>
                    <a:pt x="119151" y="0"/>
                  </a:lnTo>
                  <a:lnTo>
                    <a:pt x="47878" y="35543"/>
                  </a:lnTo>
                  <a:lnTo>
                    <a:pt x="47878" y="107250"/>
                  </a:lnTo>
                  <a:lnTo>
                    <a:pt x="0" y="107250"/>
                  </a:lnTo>
                  <a:lnTo>
                    <a:pt x="0" y="173679"/>
                  </a:lnTo>
                  <a:lnTo>
                    <a:pt x="47878" y="173679"/>
                  </a:lnTo>
                  <a:lnTo>
                    <a:pt x="47878" y="305995"/>
                  </a:lnTo>
                  <a:cubicBezTo>
                    <a:pt x="47878" y="353799"/>
                    <a:pt x="78812" y="388178"/>
                    <a:pt x="122027" y="388178"/>
                  </a:cubicBezTo>
                  <a:cubicBezTo>
                    <a:pt x="140680" y="388178"/>
                    <a:pt x="175734" y="382901"/>
                    <a:pt x="190346" y="371260"/>
                  </a:cubicBezTo>
                  <a:lnTo>
                    <a:pt x="200839" y="299554"/>
                  </a:lnTo>
                  <a:cubicBezTo>
                    <a:pt x="188559" y="311195"/>
                    <a:pt x="162909" y="319964"/>
                    <a:pt x="145344" y="319964"/>
                  </a:cubicBezTo>
                  <a:cubicBezTo>
                    <a:pt x="127778" y="319964"/>
                    <a:pt x="119073" y="311815"/>
                    <a:pt x="119073" y="286749"/>
                  </a:cubicBezTo>
                  <a:close/>
                </a:path>
              </a:pathLst>
            </a:custGeom>
            <a:solidFill>
              <a:srgbClr val="FFFFFF"/>
            </a:solidFill>
            <a:ln w="7772" cap="flat">
              <a:noFill/>
              <a:prstDash val="solid"/>
              <a:miter/>
            </a:ln>
          </p:spPr>
          <p:txBody>
            <a:bodyPr rtlCol="0" anchor="ctr"/>
            <a:lstStyle/>
            <a:p>
              <a:endParaRPr lang="en-US"/>
            </a:p>
          </p:txBody>
        </p:sp>
        <p:sp>
          <p:nvSpPr>
            <p:cNvPr id="24" name="Freeform 20">
              <a:extLst>
                <a:ext uri="{FF2B5EF4-FFF2-40B4-BE49-F238E27FC236}">
                  <a16:creationId xmlns:a16="http://schemas.microsoft.com/office/drawing/2014/main" id="{BC8336D7-BD61-DA69-3F0E-A7754D086495}"/>
                </a:ext>
              </a:extLst>
            </p:cNvPr>
            <p:cNvSpPr/>
            <p:nvPr/>
          </p:nvSpPr>
          <p:spPr bwMode="invGray">
            <a:xfrm>
              <a:off x="6170575" y="4251132"/>
              <a:ext cx="238379" cy="382435"/>
            </a:xfrm>
            <a:custGeom>
              <a:avLst/>
              <a:gdLst>
                <a:gd name="connsiteX0" fmla="*/ 140136 w 238379"/>
                <a:gd name="connsiteY0" fmla="*/ 101429 h 382435"/>
                <a:gd name="connsiteX1" fmla="*/ 71273 w 238379"/>
                <a:gd name="connsiteY1" fmla="*/ 125952 h 382435"/>
                <a:gd name="connsiteX2" fmla="*/ 71273 w 238379"/>
                <a:gd name="connsiteY2" fmla="*/ 0 h 382435"/>
                <a:gd name="connsiteX3" fmla="*/ 0 w 238379"/>
                <a:gd name="connsiteY3" fmla="*/ 35543 h 382435"/>
                <a:gd name="connsiteX4" fmla="*/ 0 w 238379"/>
                <a:gd name="connsiteY4" fmla="*/ 382436 h 382435"/>
                <a:gd name="connsiteX5" fmla="*/ 71273 w 238379"/>
                <a:gd name="connsiteY5" fmla="*/ 382436 h 382435"/>
                <a:gd name="connsiteX6" fmla="*/ 71273 w 238379"/>
                <a:gd name="connsiteY6" fmla="*/ 230874 h 382435"/>
                <a:gd name="connsiteX7" fmla="*/ 119772 w 238379"/>
                <a:gd name="connsiteY7" fmla="*/ 168480 h 382435"/>
                <a:gd name="connsiteX8" fmla="*/ 167107 w 238379"/>
                <a:gd name="connsiteY8" fmla="*/ 232581 h 382435"/>
                <a:gd name="connsiteX9" fmla="*/ 167107 w 238379"/>
                <a:gd name="connsiteY9" fmla="*/ 382436 h 382435"/>
                <a:gd name="connsiteX10" fmla="*/ 238379 w 238379"/>
                <a:gd name="connsiteY10" fmla="*/ 382436 h 382435"/>
                <a:gd name="connsiteX11" fmla="*/ 238379 w 238379"/>
                <a:gd name="connsiteY11" fmla="*/ 226761 h 382435"/>
                <a:gd name="connsiteX12" fmla="*/ 140292 w 238379"/>
                <a:gd name="connsiteY12" fmla="*/ 101429 h 38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8379" h="382435">
                  <a:moveTo>
                    <a:pt x="140136" y="101429"/>
                  </a:moveTo>
                  <a:cubicBezTo>
                    <a:pt x="112700" y="101429"/>
                    <a:pt x="84641" y="109578"/>
                    <a:pt x="71273" y="125952"/>
                  </a:cubicBezTo>
                  <a:lnTo>
                    <a:pt x="71273" y="0"/>
                  </a:lnTo>
                  <a:lnTo>
                    <a:pt x="0" y="35543"/>
                  </a:lnTo>
                  <a:lnTo>
                    <a:pt x="0" y="382436"/>
                  </a:lnTo>
                  <a:lnTo>
                    <a:pt x="71273" y="382436"/>
                  </a:lnTo>
                  <a:lnTo>
                    <a:pt x="71273" y="230874"/>
                  </a:lnTo>
                  <a:cubicBezTo>
                    <a:pt x="71273" y="190054"/>
                    <a:pt x="83553" y="168480"/>
                    <a:pt x="119772" y="168480"/>
                  </a:cubicBezTo>
                  <a:cubicBezTo>
                    <a:pt x="158324" y="168480"/>
                    <a:pt x="167107" y="194167"/>
                    <a:pt x="167107" y="232581"/>
                  </a:cubicBezTo>
                  <a:lnTo>
                    <a:pt x="167107" y="382436"/>
                  </a:lnTo>
                  <a:lnTo>
                    <a:pt x="238379" y="382436"/>
                  </a:lnTo>
                  <a:lnTo>
                    <a:pt x="238379" y="226761"/>
                  </a:lnTo>
                  <a:cubicBezTo>
                    <a:pt x="238379" y="158546"/>
                    <a:pt x="212653" y="101429"/>
                    <a:pt x="140292" y="101429"/>
                  </a:cubicBezTo>
                  <a:close/>
                </a:path>
              </a:pathLst>
            </a:custGeom>
            <a:solidFill>
              <a:srgbClr val="FFFFFF"/>
            </a:solidFill>
            <a:ln w="7772" cap="flat">
              <a:noFill/>
              <a:prstDash val="solid"/>
              <a:miter/>
            </a:ln>
          </p:spPr>
          <p:txBody>
            <a:bodyPr rtlCol="0" anchor="ctr"/>
            <a:lstStyle/>
            <a:p>
              <a:endParaRPr lang="en-US"/>
            </a:p>
          </p:txBody>
        </p:sp>
        <p:sp>
          <p:nvSpPr>
            <p:cNvPr id="25" name="Freeform 21">
              <a:extLst>
                <a:ext uri="{FF2B5EF4-FFF2-40B4-BE49-F238E27FC236}">
                  <a16:creationId xmlns:a16="http://schemas.microsoft.com/office/drawing/2014/main" id="{2904AF7D-3287-5DB8-90AE-46918F10C334}"/>
                </a:ext>
              </a:extLst>
            </p:cNvPr>
            <p:cNvSpPr/>
            <p:nvPr/>
          </p:nvSpPr>
          <p:spPr bwMode="invGray">
            <a:xfrm>
              <a:off x="1678205" y="4251132"/>
              <a:ext cx="238379" cy="382435"/>
            </a:xfrm>
            <a:custGeom>
              <a:avLst/>
              <a:gdLst>
                <a:gd name="connsiteX0" fmla="*/ 140136 w 238379"/>
                <a:gd name="connsiteY0" fmla="*/ 101429 h 382435"/>
                <a:gd name="connsiteX1" fmla="*/ 71273 w 238379"/>
                <a:gd name="connsiteY1" fmla="*/ 125952 h 382435"/>
                <a:gd name="connsiteX2" fmla="*/ 71273 w 238379"/>
                <a:gd name="connsiteY2" fmla="*/ 0 h 382435"/>
                <a:gd name="connsiteX3" fmla="*/ 0 w 238379"/>
                <a:gd name="connsiteY3" fmla="*/ 35543 h 382435"/>
                <a:gd name="connsiteX4" fmla="*/ 0 w 238379"/>
                <a:gd name="connsiteY4" fmla="*/ 382436 h 382435"/>
                <a:gd name="connsiteX5" fmla="*/ 71273 w 238379"/>
                <a:gd name="connsiteY5" fmla="*/ 382436 h 382435"/>
                <a:gd name="connsiteX6" fmla="*/ 71273 w 238379"/>
                <a:gd name="connsiteY6" fmla="*/ 230874 h 382435"/>
                <a:gd name="connsiteX7" fmla="*/ 119773 w 238379"/>
                <a:gd name="connsiteY7" fmla="*/ 168480 h 382435"/>
                <a:gd name="connsiteX8" fmla="*/ 167107 w 238379"/>
                <a:gd name="connsiteY8" fmla="*/ 232581 h 382435"/>
                <a:gd name="connsiteX9" fmla="*/ 167107 w 238379"/>
                <a:gd name="connsiteY9" fmla="*/ 382436 h 382435"/>
                <a:gd name="connsiteX10" fmla="*/ 238380 w 238379"/>
                <a:gd name="connsiteY10" fmla="*/ 382436 h 382435"/>
                <a:gd name="connsiteX11" fmla="*/ 238380 w 238379"/>
                <a:gd name="connsiteY11" fmla="*/ 226761 h 382435"/>
                <a:gd name="connsiteX12" fmla="*/ 140292 w 238379"/>
                <a:gd name="connsiteY12" fmla="*/ 101429 h 38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8379" h="382435">
                  <a:moveTo>
                    <a:pt x="140136" y="101429"/>
                  </a:moveTo>
                  <a:cubicBezTo>
                    <a:pt x="112700" y="101429"/>
                    <a:pt x="84641" y="109578"/>
                    <a:pt x="71273" y="125952"/>
                  </a:cubicBezTo>
                  <a:lnTo>
                    <a:pt x="71273" y="0"/>
                  </a:lnTo>
                  <a:lnTo>
                    <a:pt x="0" y="35543"/>
                  </a:lnTo>
                  <a:lnTo>
                    <a:pt x="0" y="382436"/>
                  </a:lnTo>
                  <a:lnTo>
                    <a:pt x="71273" y="382436"/>
                  </a:lnTo>
                  <a:lnTo>
                    <a:pt x="71273" y="230874"/>
                  </a:lnTo>
                  <a:cubicBezTo>
                    <a:pt x="71273" y="190054"/>
                    <a:pt x="83553" y="168480"/>
                    <a:pt x="119773" y="168480"/>
                  </a:cubicBezTo>
                  <a:cubicBezTo>
                    <a:pt x="158324" y="168480"/>
                    <a:pt x="167107" y="194167"/>
                    <a:pt x="167107" y="232581"/>
                  </a:cubicBezTo>
                  <a:lnTo>
                    <a:pt x="167107" y="382436"/>
                  </a:lnTo>
                  <a:lnTo>
                    <a:pt x="238380" y="382436"/>
                  </a:lnTo>
                  <a:lnTo>
                    <a:pt x="238380" y="226761"/>
                  </a:lnTo>
                  <a:cubicBezTo>
                    <a:pt x="238380" y="158546"/>
                    <a:pt x="212653" y="101429"/>
                    <a:pt x="140292" y="101429"/>
                  </a:cubicBezTo>
                  <a:close/>
                </a:path>
              </a:pathLst>
            </a:custGeom>
            <a:solidFill>
              <a:srgbClr val="FFFFFF"/>
            </a:solidFill>
            <a:ln w="7772" cap="flat">
              <a:noFill/>
              <a:prstDash val="solid"/>
              <a:miter/>
            </a:ln>
          </p:spPr>
          <p:txBody>
            <a:bodyPr rtlCol="0" anchor="ctr"/>
            <a:lstStyle/>
            <a:p>
              <a:endParaRPr lang="en-US"/>
            </a:p>
          </p:txBody>
        </p:sp>
        <p:sp>
          <p:nvSpPr>
            <p:cNvPr id="26" name="Freeform 22">
              <a:extLst>
                <a:ext uri="{FF2B5EF4-FFF2-40B4-BE49-F238E27FC236}">
                  <a16:creationId xmlns:a16="http://schemas.microsoft.com/office/drawing/2014/main" id="{8C4CA1E4-233E-0853-F024-D822D876D4CF}"/>
                </a:ext>
              </a:extLst>
            </p:cNvPr>
            <p:cNvSpPr/>
            <p:nvPr/>
          </p:nvSpPr>
          <p:spPr bwMode="invGray">
            <a:xfrm>
              <a:off x="2898939" y="4251210"/>
              <a:ext cx="200838" cy="388178"/>
            </a:xfrm>
            <a:custGeom>
              <a:avLst/>
              <a:gdLst>
                <a:gd name="connsiteX0" fmla="*/ 119151 w 200838"/>
                <a:gd name="connsiteY0" fmla="*/ 286749 h 388178"/>
                <a:gd name="connsiteX1" fmla="*/ 119151 w 200838"/>
                <a:gd name="connsiteY1" fmla="*/ 173679 h 388178"/>
                <a:gd name="connsiteX2" fmla="*/ 199751 w 200838"/>
                <a:gd name="connsiteY2" fmla="*/ 173679 h 388178"/>
                <a:gd name="connsiteX3" fmla="*/ 199751 w 200838"/>
                <a:gd name="connsiteY3" fmla="*/ 107250 h 388178"/>
                <a:gd name="connsiteX4" fmla="*/ 119151 w 200838"/>
                <a:gd name="connsiteY4" fmla="*/ 107250 h 388178"/>
                <a:gd name="connsiteX5" fmla="*/ 119151 w 200838"/>
                <a:gd name="connsiteY5" fmla="*/ 0 h 388178"/>
                <a:gd name="connsiteX6" fmla="*/ 47878 w 200838"/>
                <a:gd name="connsiteY6" fmla="*/ 35543 h 388178"/>
                <a:gd name="connsiteX7" fmla="*/ 47878 w 200838"/>
                <a:gd name="connsiteY7" fmla="*/ 107250 h 388178"/>
                <a:gd name="connsiteX8" fmla="*/ 0 w 200838"/>
                <a:gd name="connsiteY8" fmla="*/ 107250 h 388178"/>
                <a:gd name="connsiteX9" fmla="*/ 0 w 200838"/>
                <a:gd name="connsiteY9" fmla="*/ 173679 h 388178"/>
                <a:gd name="connsiteX10" fmla="*/ 47878 w 200838"/>
                <a:gd name="connsiteY10" fmla="*/ 173679 h 388178"/>
                <a:gd name="connsiteX11" fmla="*/ 47878 w 200838"/>
                <a:gd name="connsiteY11" fmla="*/ 305995 h 388178"/>
                <a:gd name="connsiteX12" fmla="*/ 122027 w 200838"/>
                <a:gd name="connsiteY12" fmla="*/ 388178 h 388178"/>
                <a:gd name="connsiteX13" fmla="*/ 190346 w 200838"/>
                <a:gd name="connsiteY13" fmla="*/ 371260 h 388178"/>
                <a:gd name="connsiteX14" fmla="*/ 200839 w 200838"/>
                <a:gd name="connsiteY14" fmla="*/ 299554 h 388178"/>
                <a:gd name="connsiteX15" fmla="*/ 145344 w 200838"/>
                <a:gd name="connsiteY15" fmla="*/ 319964 h 388178"/>
                <a:gd name="connsiteX16" fmla="*/ 119073 w 200838"/>
                <a:gd name="connsiteY16" fmla="*/ 286749 h 38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838" h="388178">
                  <a:moveTo>
                    <a:pt x="119151" y="286749"/>
                  </a:moveTo>
                  <a:lnTo>
                    <a:pt x="119151" y="173679"/>
                  </a:lnTo>
                  <a:lnTo>
                    <a:pt x="199751" y="173679"/>
                  </a:lnTo>
                  <a:lnTo>
                    <a:pt x="199751" y="107250"/>
                  </a:lnTo>
                  <a:lnTo>
                    <a:pt x="119151" y="107250"/>
                  </a:lnTo>
                  <a:lnTo>
                    <a:pt x="119151" y="0"/>
                  </a:lnTo>
                  <a:lnTo>
                    <a:pt x="47878" y="35543"/>
                  </a:lnTo>
                  <a:lnTo>
                    <a:pt x="47878" y="107250"/>
                  </a:lnTo>
                  <a:lnTo>
                    <a:pt x="0" y="107250"/>
                  </a:lnTo>
                  <a:lnTo>
                    <a:pt x="0" y="173679"/>
                  </a:lnTo>
                  <a:lnTo>
                    <a:pt x="47878" y="173679"/>
                  </a:lnTo>
                  <a:lnTo>
                    <a:pt x="47878" y="305995"/>
                  </a:lnTo>
                  <a:cubicBezTo>
                    <a:pt x="47878" y="353799"/>
                    <a:pt x="78812" y="388178"/>
                    <a:pt x="122027" y="388178"/>
                  </a:cubicBezTo>
                  <a:cubicBezTo>
                    <a:pt x="140680" y="388178"/>
                    <a:pt x="175734" y="382901"/>
                    <a:pt x="190346" y="371260"/>
                  </a:cubicBezTo>
                  <a:lnTo>
                    <a:pt x="200839" y="299554"/>
                  </a:lnTo>
                  <a:cubicBezTo>
                    <a:pt x="188558" y="311195"/>
                    <a:pt x="162909" y="319964"/>
                    <a:pt x="145344" y="319964"/>
                  </a:cubicBezTo>
                  <a:cubicBezTo>
                    <a:pt x="127778" y="319964"/>
                    <a:pt x="119073" y="311815"/>
                    <a:pt x="119073" y="286749"/>
                  </a:cubicBezTo>
                  <a:close/>
                </a:path>
              </a:pathLst>
            </a:custGeom>
            <a:solidFill>
              <a:srgbClr val="FFFFFF"/>
            </a:solidFill>
            <a:ln w="7772" cap="flat">
              <a:noFill/>
              <a:prstDash val="solid"/>
              <a:miter/>
            </a:ln>
          </p:spPr>
          <p:txBody>
            <a:bodyPr rtlCol="0" anchor="ctr"/>
            <a:lstStyle/>
            <a:p>
              <a:endParaRPr lang="en-US"/>
            </a:p>
          </p:txBody>
        </p:sp>
        <p:sp>
          <p:nvSpPr>
            <p:cNvPr id="27" name="Freeform 23">
              <a:extLst>
                <a:ext uri="{FF2B5EF4-FFF2-40B4-BE49-F238E27FC236}">
                  <a16:creationId xmlns:a16="http://schemas.microsoft.com/office/drawing/2014/main" id="{4AB640F2-A0DC-99A6-E013-B30FD7A0CAB1}"/>
                </a:ext>
              </a:extLst>
            </p:cNvPr>
            <p:cNvSpPr/>
            <p:nvPr/>
          </p:nvSpPr>
          <p:spPr bwMode="invGray">
            <a:xfrm>
              <a:off x="3143614" y="4251132"/>
              <a:ext cx="238379" cy="382435"/>
            </a:xfrm>
            <a:custGeom>
              <a:avLst/>
              <a:gdLst>
                <a:gd name="connsiteX0" fmla="*/ 140136 w 238379"/>
                <a:gd name="connsiteY0" fmla="*/ 101429 h 382435"/>
                <a:gd name="connsiteX1" fmla="*/ 71273 w 238379"/>
                <a:gd name="connsiteY1" fmla="*/ 125952 h 382435"/>
                <a:gd name="connsiteX2" fmla="*/ 71273 w 238379"/>
                <a:gd name="connsiteY2" fmla="*/ 0 h 382435"/>
                <a:gd name="connsiteX3" fmla="*/ 0 w 238379"/>
                <a:gd name="connsiteY3" fmla="*/ 35543 h 382435"/>
                <a:gd name="connsiteX4" fmla="*/ 0 w 238379"/>
                <a:gd name="connsiteY4" fmla="*/ 382436 h 382435"/>
                <a:gd name="connsiteX5" fmla="*/ 71273 w 238379"/>
                <a:gd name="connsiteY5" fmla="*/ 382436 h 382435"/>
                <a:gd name="connsiteX6" fmla="*/ 71273 w 238379"/>
                <a:gd name="connsiteY6" fmla="*/ 230874 h 382435"/>
                <a:gd name="connsiteX7" fmla="*/ 119773 w 238379"/>
                <a:gd name="connsiteY7" fmla="*/ 168480 h 382435"/>
                <a:gd name="connsiteX8" fmla="*/ 167107 w 238379"/>
                <a:gd name="connsiteY8" fmla="*/ 232581 h 382435"/>
                <a:gd name="connsiteX9" fmla="*/ 167107 w 238379"/>
                <a:gd name="connsiteY9" fmla="*/ 382436 h 382435"/>
                <a:gd name="connsiteX10" fmla="*/ 238380 w 238379"/>
                <a:gd name="connsiteY10" fmla="*/ 382436 h 382435"/>
                <a:gd name="connsiteX11" fmla="*/ 238380 w 238379"/>
                <a:gd name="connsiteY11" fmla="*/ 226761 h 382435"/>
                <a:gd name="connsiteX12" fmla="*/ 140292 w 238379"/>
                <a:gd name="connsiteY12" fmla="*/ 101429 h 38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8379" h="382435">
                  <a:moveTo>
                    <a:pt x="140136" y="101429"/>
                  </a:moveTo>
                  <a:cubicBezTo>
                    <a:pt x="112700" y="101429"/>
                    <a:pt x="84641" y="109578"/>
                    <a:pt x="71273" y="125952"/>
                  </a:cubicBezTo>
                  <a:lnTo>
                    <a:pt x="71273" y="0"/>
                  </a:lnTo>
                  <a:lnTo>
                    <a:pt x="0" y="35543"/>
                  </a:lnTo>
                  <a:lnTo>
                    <a:pt x="0" y="382436"/>
                  </a:lnTo>
                  <a:lnTo>
                    <a:pt x="71273" y="382436"/>
                  </a:lnTo>
                  <a:lnTo>
                    <a:pt x="71273" y="230874"/>
                  </a:lnTo>
                  <a:cubicBezTo>
                    <a:pt x="71273" y="190054"/>
                    <a:pt x="83553" y="168480"/>
                    <a:pt x="119773" y="168480"/>
                  </a:cubicBezTo>
                  <a:cubicBezTo>
                    <a:pt x="158324" y="168480"/>
                    <a:pt x="167107" y="194167"/>
                    <a:pt x="167107" y="232581"/>
                  </a:cubicBezTo>
                  <a:lnTo>
                    <a:pt x="167107" y="382436"/>
                  </a:lnTo>
                  <a:lnTo>
                    <a:pt x="238380" y="382436"/>
                  </a:lnTo>
                  <a:lnTo>
                    <a:pt x="238380" y="226761"/>
                  </a:lnTo>
                  <a:cubicBezTo>
                    <a:pt x="238380" y="158546"/>
                    <a:pt x="212653" y="101429"/>
                    <a:pt x="140292" y="101429"/>
                  </a:cubicBezTo>
                  <a:close/>
                </a:path>
              </a:pathLst>
            </a:custGeom>
            <a:solidFill>
              <a:srgbClr val="FFFFFF"/>
            </a:solidFill>
            <a:ln w="7772" cap="flat">
              <a:noFill/>
              <a:prstDash val="solid"/>
              <a:miter/>
            </a:ln>
          </p:spPr>
          <p:txBody>
            <a:bodyPr rtlCol="0" anchor="ctr"/>
            <a:lstStyle/>
            <a:p>
              <a:endParaRPr lang="en-US"/>
            </a:p>
          </p:txBody>
        </p:sp>
        <p:sp>
          <p:nvSpPr>
            <p:cNvPr id="28" name="Freeform 24">
              <a:extLst>
                <a:ext uri="{FF2B5EF4-FFF2-40B4-BE49-F238E27FC236}">
                  <a16:creationId xmlns:a16="http://schemas.microsoft.com/office/drawing/2014/main" id="{491313F6-EFBA-19A8-754E-F724704D32CD}"/>
                </a:ext>
              </a:extLst>
            </p:cNvPr>
            <p:cNvSpPr/>
            <p:nvPr/>
          </p:nvSpPr>
          <p:spPr bwMode="invGray">
            <a:xfrm>
              <a:off x="2242171" y="4352251"/>
              <a:ext cx="237602" cy="382513"/>
            </a:xfrm>
            <a:custGeom>
              <a:avLst/>
              <a:gdLst>
                <a:gd name="connsiteX0" fmla="*/ 131354 w 237602"/>
                <a:gd name="connsiteY0" fmla="*/ 0 h 382513"/>
                <a:gd name="connsiteX1" fmla="*/ 68863 w 237602"/>
                <a:gd name="connsiteY1" fmla="*/ 24523 h 382513"/>
                <a:gd name="connsiteX2" fmla="*/ 68863 w 237602"/>
                <a:gd name="connsiteY2" fmla="*/ 5898 h 382513"/>
                <a:gd name="connsiteX3" fmla="*/ 0 w 237602"/>
                <a:gd name="connsiteY3" fmla="*/ 5898 h 382513"/>
                <a:gd name="connsiteX4" fmla="*/ 0 w 237602"/>
                <a:gd name="connsiteY4" fmla="*/ 382513 h 382513"/>
                <a:gd name="connsiteX5" fmla="*/ 68863 w 237602"/>
                <a:gd name="connsiteY5" fmla="*/ 348134 h 382513"/>
                <a:gd name="connsiteX6" fmla="*/ 68863 w 237602"/>
                <a:gd name="connsiteY6" fmla="*/ 264166 h 382513"/>
                <a:gd name="connsiteX7" fmla="*/ 130188 w 237602"/>
                <a:gd name="connsiteY7" fmla="*/ 286904 h 382513"/>
                <a:gd name="connsiteX8" fmla="*/ 237602 w 237602"/>
                <a:gd name="connsiteY8" fmla="*/ 144034 h 382513"/>
                <a:gd name="connsiteX9" fmla="*/ 131354 w 237602"/>
                <a:gd name="connsiteY9" fmla="*/ 0 h 382513"/>
                <a:gd name="connsiteX10" fmla="*/ 118529 w 237602"/>
                <a:gd name="connsiteY10" fmla="*/ 220940 h 382513"/>
                <a:gd name="connsiteX11" fmla="*/ 68863 w 237602"/>
                <a:gd name="connsiteY11" fmla="*/ 195874 h 382513"/>
                <a:gd name="connsiteX12" fmla="*/ 68863 w 237602"/>
                <a:gd name="connsiteY12" fmla="*/ 90953 h 382513"/>
                <a:gd name="connsiteX13" fmla="*/ 114410 w 237602"/>
                <a:gd name="connsiteY13" fmla="*/ 66430 h 382513"/>
                <a:gd name="connsiteX14" fmla="*/ 166407 w 237602"/>
                <a:gd name="connsiteY14" fmla="*/ 147449 h 382513"/>
                <a:gd name="connsiteX15" fmla="*/ 118529 w 237602"/>
                <a:gd name="connsiteY15" fmla="*/ 220940 h 382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7602" h="382513">
                  <a:moveTo>
                    <a:pt x="131354" y="0"/>
                  </a:moveTo>
                  <a:cubicBezTo>
                    <a:pt x="105627" y="0"/>
                    <a:pt x="86973" y="8149"/>
                    <a:pt x="68863" y="24523"/>
                  </a:cubicBezTo>
                  <a:lnTo>
                    <a:pt x="68863" y="5898"/>
                  </a:lnTo>
                  <a:lnTo>
                    <a:pt x="0" y="5898"/>
                  </a:lnTo>
                  <a:lnTo>
                    <a:pt x="0" y="382513"/>
                  </a:lnTo>
                  <a:lnTo>
                    <a:pt x="68863" y="348134"/>
                  </a:lnTo>
                  <a:lnTo>
                    <a:pt x="68863" y="264166"/>
                  </a:lnTo>
                  <a:cubicBezTo>
                    <a:pt x="81144" y="275807"/>
                    <a:pt x="99798" y="286904"/>
                    <a:pt x="130188" y="286904"/>
                  </a:cubicBezTo>
                  <a:cubicBezTo>
                    <a:pt x="208456" y="286904"/>
                    <a:pt x="237602" y="214577"/>
                    <a:pt x="237602" y="144034"/>
                  </a:cubicBezTo>
                  <a:cubicBezTo>
                    <a:pt x="237602" y="70000"/>
                    <a:pt x="205502" y="0"/>
                    <a:pt x="131354" y="0"/>
                  </a:cubicBezTo>
                  <a:close/>
                  <a:moveTo>
                    <a:pt x="118529" y="220940"/>
                  </a:moveTo>
                  <a:cubicBezTo>
                    <a:pt x="98709" y="220940"/>
                    <a:pt x="79978" y="211628"/>
                    <a:pt x="68863" y="195874"/>
                  </a:cubicBezTo>
                  <a:lnTo>
                    <a:pt x="68863" y="90953"/>
                  </a:lnTo>
                  <a:cubicBezTo>
                    <a:pt x="79978" y="75199"/>
                    <a:pt x="95134" y="66430"/>
                    <a:pt x="114410" y="66430"/>
                  </a:cubicBezTo>
                  <a:cubicBezTo>
                    <a:pt x="155837" y="66430"/>
                    <a:pt x="166407" y="107250"/>
                    <a:pt x="166407" y="147449"/>
                  </a:cubicBezTo>
                  <a:cubicBezTo>
                    <a:pt x="166407" y="187648"/>
                    <a:pt x="157080" y="220940"/>
                    <a:pt x="118529" y="220940"/>
                  </a:cubicBezTo>
                  <a:close/>
                </a:path>
              </a:pathLst>
            </a:custGeom>
            <a:solidFill>
              <a:srgbClr val="FFFFFF"/>
            </a:solidFill>
            <a:ln w="7772" cap="flat">
              <a:noFill/>
              <a:prstDash val="solid"/>
              <a:miter/>
            </a:ln>
          </p:spPr>
          <p:txBody>
            <a:bodyPr rtlCol="0" anchor="ctr"/>
            <a:lstStyle/>
            <a:p>
              <a:endParaRPr lang="en-US"/>
            </a:p>
          </p:txBody>
        </p:sp>
        <p:sp>
          <p:nvSpPr>
            <p:cNvPr id="29" name="Freeform 25">
              <a:extLst>
                <a:ext uri="{FF2B5EF4-FFF2-40B4-BE49-F238E27FC236}">
                  <a16:creationId xmlns:a16="http://schemas.microsoft.com/office/drawing/2014/main" id="{C9506AAF-D2A7-BD84-D804-A3ABF774DDBD}"/>
                </a:ext>
              </a:extLst>
            </p:cNvPr>
            <p:cNvSpPr/>
            <p:nvPr/>
          </p:nvSpPr>
          <p:spPr bwMode="invGray">
            <a:xfrm>
              <a:off x="1958323" y="4352251"/>
              <a:ext cx="230063" cy="286826"/>
            </a:xfrm>
            <a:custGeom>
              <a:avLst/>
              <a:gdLst>
                <a:gd name="connsiteX0" fmla="*/ 230063 w 230063"/>
                <a:gd name="connsiteY0" fmla="*/ 281006 h 286826"/>
                <a:gd name="connsiteX1" fmla="*/ 230063 w 230063"/>
                <a:gd name="connsiteY1" fmla="*/ 96230 h 286826"/>
                <a:gd name="connsiteX2" fmla="*/ 117985 w 230063"/>
                <a:gd name="connsiteY2" fmla="*/ 0 h 286826"/>
                <a:gd name="connsiteX3" fmla="*/ 22773 w 230063"/>
                <a:gd name="connsiteY3" fmla="*/ 28015 h 286826"/>
                <a:gd name="connsiteX4" fmla="*/ 50210 w 230063"/>
                <a:gd name="connsiteY4" fmla="*/ 76984 h 286826"/>
                <a:gd name="connsiteX5" fmla="*/ 113866 w 230063"/>
                <a:gd name="connsiteY5" fmla="*/ 58902 h 286826"/>
                <a:gd name="connsiteX6" fmla="*/ 161122 w 230063"/>
                <a:gd name="connsiteY6" fmla="*/ 95066 h 286826"/>
                <a:gd name="connsiteX7" fmla="*/ 161122 w 230063"/>
                <a:gd name="connsiteY7" fmla="*/ 109655 h 286826"/>
                <a:gd name="connsiteX8" fmla="*/ 107415 w 230063"/>
                <a:gd name="connsiteY8" fmla="*/ 98558 h 286826"/>
                <a:gd name="connsiteX9" fmla="*/ 0 w 230063"/>
                <a:gd name="connsiteY9" fmla="*/ 191218 h 286826"/>
                <a:gd name="connsiteX10" fmla="*/ 96922 w 230063"/>
                <a:gd name="connsiteY10" fmla="*/ 286827 h 286826"/>
                <a:gd name="connsiteX11" fmla="*/ 161122 w 230063"/>
                <a:gd name="connsiteY11" fmla="*/ 261760 h 286826"/>
                <a:gd name="connsiteX12" fmla="*/ 161122 w 230063"/>
                <a:gd name="connsiteY12" fmla="*/ 281006 h 286826"/>
                <a:gd name="connsiteX13" fmla="*/ 229985 w 230063"/>
                <a:gd name="connsiteY13" fmla="*/ 281006 h 286826"/>
                <a:gd name="connsiteX14" fmla="*/ 109202 w 230063"/>
                <a:gd name="connsiteY14" fmla="*/ 227382 h 286826"/>
                <a:gd name="connsiteX15" fmla="*/ 70107 w 230063"/>
                <a:gd name="connsiteY15" fmla="*/ 189511 h 286826"/>
                <a:gd name="connsiteX16" fmla="*/ 115032 w 230063"/>
                <a:gd name="connsiteY16" fmla="*/ 153968 h 286826"/>
                <a:gd name="connsiteX17" fmla="*/ 161122 w 230063"/>
                <a:gd name="connsiteY17" fmla="*/ 165608 h 286826"/>
                <a:gd name="connsiteX18" fmla="*/ 161122 w 230063"/>
                <a:gd name="connsiteY18" fmla="*/ 200608 h 286826"/>
                <a:gd name="connsiteX19" fmla="*/ 109125 w 230063"/>
                <a:gd name="connsiteY19" fmla="*/ 227459 h 28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0063" h="286826">
                  <a:moveTo>
                    <a:pt x="230063" y="281006"/>
                  </a:moveTo>
                  <a:lnTo>
                    <a:pt x="230063" y="96230"/>
                  </a:lnTo>
                  <a:cubicBezTo>
                    <a:pt x="230063" y="33836"/>
                    <a:pt x="187470" y="0"/>
                    <a:pt x="117985" y="0"/>
                  </a:cubicBezTo>
                  <a:cubicBezTo>
                    <a:pt x="81222" y="0"/>
                    <a:pt x="52619" y="9313"/>
                    <a:pt x="22773" y="28015"/>
                  </a:cubicBezTo>
                  <a:lnTo>
                    <a:pt x="50210" y="76984"/>
                  </a:lnTo>
                  <a:cubicBezTo>
                    <a:pt x="71817" y="64179"/>
                    <a:pt x="92258" y="58902"/>
                    <a:pt x="113866" y="58902"/>
                  </a:cubicBezTo>
                  <a:cubicBezTo>
                    <a:pt x="144256" y="58902"/>
                    <a:pt x="161122" y="69379"/>
                    <a:pt x="161122" y="95066"/>
                  </a:cubicBezTo>
                  <a:lnTo>
                    <a:pt x="161122" y="109655"/>
                  </a:lnTo>
                  <a:cubicBezTo>
                    <a:pt x="143012" y="100886"/>
                    <a:pt x="124902" y="98558"/>
                    <a:pt x="107415" y="98558"/>
                  </a:cubicBezTo>
                  <a:cubicBezTo>
                    <a:pt x="41427" y="98558"/>
                    <a:pt x="0" y="131229"/>
                    <a:pt x="0" y="191218"/>
                  </a:cubicBezTo>
                  <a:cubicBezTo>
                    <a:pt x="0" y="251206"/>
                    <a:pt x="42593" y="286827"/>
                    <a:pt x="96922" y="286827"/>
                  </a:cubicBezTo>
                  <a:cubicBezTo>
                    <a:pt x="123814" y="286827"/>
                    <a:pt x="144800" y="278057"/>
                    <a:pt x="161122" y="261760"/>
                  </a:cubicBezTo>
                  <a:lnTo>
                    <a:pt x="161122" y="281006"/>
                  </a:lnTo>
                  <a:lnTo>
                    <a:pt x="229985" y="281006"/>
                  </a:lnTo>
                  <a:close/>
                  <a:moveTo>
                    <a:pt x="109202" y="227382"/>
                  </a:moveTo>
                  <a:cubicBezTo>
                    <a:pt x="83476" y="227382"/>
                    <a:pt x="70107" y="210464"/>
                    <a:pt x="70107" y="189511"/>
                  </a:cubicBezTo>
                  <a:cubicBezTo>
                    <a:pt x="70107" y="167393"/>
                    <a:pt x="84719" y="153968"/>
                    <a:pt x="115032" y="153968"/>
                  </a:cubicBezTo>
                  <a:cubicBezTo>
                    <a:pt x="129022" y="153968"/>
                    <a:pt x="147132" y="156917"/>
                    <a:pt x="161122" y="165608"/>
                  </a:cubicBezTo>
                  <a:lnTo>
                    <a:pt x="161122" y="200608"/>
                  </a:lnTo>
                  <a:cubicBezTo>
                    <a:pt x="145966" y="222725"/>
                    <a:pt x="122571" y="227459"/>
                    <a:pt x="109125" y="227459"/>
                  </a:cubicBezTo>
                  <a:close/>
                </a:path>
              </a:pathLst>
            </a:custGeom>
            <a:solidFill>
              <a:srgbClr val="FFFFFF"/>
            </a:solidFill>
            <a:ln w="7772" cap="flat">
              <a:noFill/>
              <a:prstDash val="solid"/>
              <a:miter/>
            </a:ln>
          </p:spPr>
          <p:txBody>
            <a:bodyPr rtlCol="0" anchor="ctr"/>
            <a:lstStyle/>
            <a:p>
              <a:endParaRPr lang="en-US"/>
            </a:p>
          </p:txBody>
        </p:sp>
        <p:sp>
          <p:nvSpPr>
            <p:cNvPr id="30" name="Freeform 26">
              <a:extLst>
                <a:ext uri="{FF2B5EF4-FFF2-40B4-BE49-F238E27FC236}">
                  <a16:creationId xmlns:a16="http://schemas.microsoft.com/office/drawing/2014/main" id="{A69400A6-2DDE-2D90-0D97-828D2AB50B8E}"/>
                </a:ext>
              </a:extLst>
            </p:cNvPr>
            <p:cNvSpPr/>
            <p:nvPr/>
          </p:nvSpPr>
          <p:spPr bwMode="invGray">
            <a:xfrm>
              <a:off x="1340728" y="4260755"/>
              <a:ext cx="284392" cy="378322"/>
            </a:xfrm>
            <a:custGeom>
              <a:avLst/>
              <a:gdLst>
                <a:gd name="connsiteX0" fmla="*/ 144800 w 284392"/>
                <a:gd name="connsiteY0" fmla="*/ 308944 h 378322"/>
                <a:gd name="connsiteX1" fmla="*/ 51376 w 284392"/>
                <a:gd name="connsiteY1" fmla="*/ 266960 h 378322"/>
                <a:gd name="connsiteX2" fmla="*/ 0 w 284392"/>
                <a:gd name="connsiteY2" fmla="*/ 312436 h 378322"/>
                <a:gd name="connsiteX3" fmla="*/ 146587 w 284392"/>
                <a:gd name="connsiteY3" fmla="*/ 378322 h 378322"/>
                <a:gd name="connsiteX4" fmla="*/ 284392 w 284392"/>
                <a:gd name="connsiteY4" fmla="*/ 262304 h 378322"/>
                <a:gd name="connsiteX5" fmla="*/ 251126 w 284392"/>
                <a:gd name="connsiteY5" fmla="*/ 185941 h 378322"/>
                <a:gd name="connsiteX6" fmla="*/ 161821 w 284392"/>
                <a:gd name="connsiteY6" fmla="*/ 149234 h 378322"/>
                <a:gd name="connsiteX7" fmla="*/ 102829 w 284392"/>
                <a:gd name="connsiteY7" fmla="*/ 129988 h 378322"/>
                <a:gd name="connsiteX8" fmla="*/ 87673 w 284392"/>
                <a:gd name="connsiteY8" fmla="*/ 104922 h 378322"/>
                <a:gd name="connsiteX9" fmla="*/ 141380 w 284392"/>
                <a:gd name="connsiteY9" fmla="*/ 69379 h 378322"/>
                <a:gd name="connsiteX10" fmla="*/ 224856 w 284392"/>
                <a:gd name="connsiteY10" fmla="*/ 106706 h 378322"/>
                <a:gd name="connsiteX11" fmla="*/ 276231 w 284392"/>
                <a:gd name="connsiteY11" fmla="*/ 56574 h 378322"/>
                <a:gd name="connsiteX12" fmla="*/ 146043 w 284392"/>
                <a:gd name="connsiteY12" fmla="*/ 0 h 378322"/>
                <a:gd name="connsiteX13" fmla="*/ 14068 w 284392"/>
                <a:gd name="connsiteY13" fmla="*/ 109035 h 378322"/>
                <a:gd name="connsiteX14" fmla="*/ 45624 w 284392"/>
                <a:gd name="connsiteY14" fmla="*/ 182526 h 378322"/>
                <a:gd name="connsiteX15" fmla="*/ 129100 w 284392"/>
                <a:gd name="connsiteY15" fmla="*/ 216362 h 378322"/>
                <a:gd name="connsiteX16" fmla="*/ 188636 w 284392"/>
                <a:gd name="connsiteY16" fmla="*/ 234444 h 378322"/>
                <a:gd name="connsiteX17" fmla="*/ 210243 w 284392"/>
                <a:gd name="connsiteY17" fmla="*/ 264166 h 378322"/>
                <a:gd name="connsiteX18" fmla="*/ 144878 w 284392"/>
                <a:gd name="connsiteY18" fmla="*/ 309022 h 37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4392" h="378322">
                  <a:moveTo>
                    <a:pt x="144800" y="308944"/>
                  </a:moveTo>
                  <a:cubicBezTo>
                    <a:pt x="109746" y="308944"/>
                    <a:pt x="75315" y="295518"/>
                    <a:pt x="51376" y="266960"/>
                  </a:cubicBezTo>
                  <a:lnTo>
                    <a:pt x="0" y="312436"/>
                  </a:lnTo>
                  <a:cubicBezTo>
                    <a:pt x="33266" y="361405"/>
                    <a:pt x="92802" y="378322"/>
                    <a:pt x="146587" y="378322"/>
                  </a:cubicBezTo>
                  <a:cubicBezTo>
                    <a:pt x="221358" y="378322"/>
                    <a:pt x="284392" y="345108"/>
                    <a:pt x="284392" y="262304"/>
                  </a:cubicBezTo>
                  <a:cubicBezTo>
                    <a:pt x="284392" y="227925"/>
                    <a:pt x="273278" y="204023"/>
                    <a:pt x="251126" y="185941"/>
                  </a:cubicBezTo>
                  <a:cubicBezTo>
                    <a:pt x="226021" y="165531"/>
                    <a:pt x="195087" y="157925"/>
                    <a:pt x="161821" y="149234"/>
                  </a:cubicBezTo>
                  <a:cubicBezTo>
                    <a:pt x="133763" y="142249"/>
                    <a:pt x="115731" y="136972"/>
                    <a:pt x="102829" y="129988"/>
                  </a:cubicBezTo>
                  <a:cubicBezTo>
                    <a:pt x="91714" y="123547"/>
                    <a:pt x="87673" y="116019"/>
                    <a:pt x="87673" y="104922"/>
                  </a:cubicBezTo>
                  <a:cubicBezTo>
                    <a:pt x="87673" y="79234"/>
                    <a:pt x="110446" y="69379"/>
                    <a:pt x="141380" y="69379"/>
                  </a:cubicBezTo>
                  <a:cubicBezTo>
                    <a:pt x="177599" y="69379"/>
                    <a:pt x="200917" y="82804"/>
                    <a:pt x="224856" y="106706"/>
                  </a:cubicBezTo>
                  <a:lnTo>
                    <a:pt x="276231" y="56574"/>
                  </a:lnTo>
                  <a:cubicBezTo>
                    <a:pt x="243509" y="23359"/>
                    <a:pt x="202626" y="0"/>
                    <a:pt x="146043" y="0"/>
                  </a:cubicBezTo>
                  <a:cubicBezTo>
                    <a:pt x="80678" y="0"/>
                    <a:pt x="14068" y="31508"/>
                    <a:pt x="14068" y="109035"/>
                  </a:cubicBezTo>
                  <a:cubicBezTo>
                    <a:pt x="14068" y="134101"/>
                    <a:pt x="21063" y="162659"/>
                    <a:pt x="45624" y="182526"/>
                  </a:cubicBezTo>
                  <a:cubicBezTo>
                    <a:pt x="70185" y="202315"/>
                    <a:pt x="109824" y="211706"/>
                    <a:pt x="129100" y="216362"/>
                  </a:cubicBezTo>
                  <a:cubicBezTo>
                    <a:pt x="160034" y="223967"/>
                    <a:pt x="175812" y="228002"/>
                    <a:pt x="188636" y="234444"/>
                  </a:cubicBezTo>
                  <a:cubicBezTo>
                    <a:pt x="206124" y="243213"/>
                    <a:pt x="210243" y="253689"/>
                    <a:pt x="210243" y="264166"/>
                  </a:cubicBezTo>
                  <a:cubicBezTo>
                    <a:pt x="210243" y="290397"/>
                    <a:pt x="186304" y="309022"/>
                    <a:pt x="144878" y="309022"/>
                  </a:cubicBezTo>
                  <a:close/>
                </a:path>
              </a:pathLst>
            </a:custGeom>
            <a:solidFill>
              <a:srgbClr val="FFFFFF"/>
            </a:solidFill>
            <a:ln w="7772" cap="flat">
              <a:noFill/>
              <a:prstDash val="solid"/>
              <a:miter/>
            </a:ln>
          </p:spPr>
          <p:txBody>
            <a:bodyPr rtlCol="0" anchor="ctr"/>
            <a:lstStyle/>
            <a:p>
              <a:endParaRPr lang="en-US"/>
            </a:p>
          </p:txBody>
        </p:sp>
        <p:sp>
          <p:nvSpPr>
            <p:cNvPr id="31" name="Freeform 27">
              <a:extLst>
                <a:ext uri="{FF2B5EF4-FFF2-40B4-BE49-F238E27FC236}">
                  <a16:creationId xmlns:a16="http://schemas.microsoft.com/office/drawing/2014/main" id="{BD05E40E-CC0C-8403-07FC-953FB934376A}"/>
                </a:ext>
              </a:extLst>
            </p:cNvPr>
            <p:cNvSpPr/>
            <p:nvPr/>
          </p:nvSpPr>
          <p:spPr bwMode="invGray">
            <a:xfrm>
              <a:off x="4818877" y="4352329"/>
              <a:ext cx="177521" cy="281006"/>
            </a:xfrm>
            <a:custGeom>
              <a:avLst/>
              <a:gdLst>
                <a:gd name="connsiteX0" fmla="*/ 68864 w 177521"/>
                <a:gd name="connsiteY0" fmla="*/ 131074 h 281006"/>
                <a:gd name="connsiteX1" fmla="*/ 109669 w 177521"/>
                <a:gd name="connsiteY1" fmla="*/ 70465 h 281006"/>
                <a:gd name="connsiteX2" fmla="*/ 149386 w 177521"/>
                <a:gd name="connsiteY2" fmla="*/ 87383 h 281006"/>
                <a:gd name="connsiteX3" fmla="*/ 177522 w 177521"/>
                <a:gd name="connsiteY3" fmla="*/ 18625 h 281006"/>
                <a:gd name="connsiteX4" fmla="*/ 126690 w 177521"/>
                <a:gd name="connsiteY4" fmla="*/ 0 h 281006"/>
                <a:gd name="connsiteX5" fmla="*/ 68864 w 177521"/>
                <a:gd name="connsiteY5" fmla="*/ 25066 h 281006"/>
                <a:gd name="connsiteX6" fmla="*/ 68864 w 177521"/>
                <a:gd name="connsiteY6" fmla="*/ 5820 h 281006"/>
                <a:gd name="connsiteX7" fmla="*/ 0 w 177521"/>
                <a:gd name="connsiteY7" fmla="*/ 5820 h 281006"/>
                <a:gd name="connsiteX8" fmla="*/ 0 w 177521"/>
                <a:gd name="connsiteY8" fmla="*/ 281006 h 281006"/>
                <a:gd name="connsiteX9" fmla="*/ 68864 w 177521"/>
                <a:gd name="connsiteY9" fmla="*/ 281006 h 281006"/>
                <a:gd name="connsiteX10" fmla="*/ 68864 w 177521"/>
                <a:gd name="connsiteY10" fmla="*/ 131152 h 28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521" h="281006">
                  <a:moveTo>
                    <a:pt x="68864" y="131074"/>
                  </a:moveTo>
                  <a:cubicBezTo>
                    <a:pt x="68864" y="97859"/>
                    <a:pt x="76947" y="70465"/>
                    <a:pt x="109669" y="70465"/>
                  </a:cubicBezTo>
                  <a:cubicBezTo>
                    <a:pt x="126612" y="70465"/>
                    <a:pt x="138893" y="77449"/>
                    <a:pt x="149386" y="87383"/>
                  </a:cubicBezTo>
                  <a:lnTo>
                    <a:pt x="177522" y="18625"/>
                  </a:lnTo>
                  <a:cubicBezTo>
                    <a:pt x="162910" y="5820"/>
                    <a:pt x="145966" y="0"/>
                    <a:pt x="126690" y="0"/>
                  </a:cubicBezTo>
                  <a:cubicBezTo>
                    <a:pt x="104539" y="0"/>
                    <a:pt x="84642" y="9312"/>
                    <a:pt x="68864" y="25066"/>
                  </a:cubicBezTo>
                  <a:lnTo>
                    <a:pt x="68864" y="5820"/>
                  </a:lnTo>
                  <a:lnTo>
                    <a:pt x="0" y="5820"/>
                  </a:lnTo>
                  <a:lnTo>
                    <a:pt x="0" y="281006"/>
                  </a:lnTo>
                  <a:lnTo>
                    <a:pt x="68864" y="281006"/>
                  </a:lnTo>
                  <a:lnTo>
                    <a:pt x="68864" y="131152"/>
                  </a:lnTo>
                  <a:close/>
                </a:path>
              </a:pathLst>
            </a:custGeom>
            <a:solidFill>
              <a:srgbClr val="FFFFFF"/>
            </a:solidFill>
            <a:ln w="7772" cap="flat">
              <a:noFill/>
              <a:prstDash val="solid"/>
              <a:miter/>
            </a:ln>
          </p:spPr>
          <p:txBody>
            <a:bodyPr rtlCol="0" anchor="ctr"/>
            <a:lstStyle/>
            <a:p>
              <a:endParaRPr lang="en-US"/>
            </a:p>
          </p:txBody>
        </p:sp>
        <p:sp>
          <p:nvSpPr>
            <p:cNvPr id="32" name="Freeform 28">
              <a:extLst>
                <a:ext uri="{FF2B5EF4-FFF2-40B4-BE49-F238E27FC236}">
                  <a16:creationId xmlns:a16="http://schemas.microsoft.com/office/drawing/2014/main" id="{44028475-800F-138E-6BED-92AAA4A08A8F}"/>
                </a:ext>
              </a:extLst>
            </p:cNvPr>
            <p:cNvSpPr/>
            <p:nvPr/>
          </p:nvSpPr>
          <p:spPr bwMode="invGray">
            <a:xfrm>
              <a:off x="5810324" y="4252839"/>
              <a:ext cx="81765" cy="81639"/>
            </a:xfrm>
            <a:custGeom>
              <a:avLst/>
              <a:gdLst>
                <a:gd name="connsiteX0" fmla="*/ 40883 w 81765"/>
                <a:gd name="connsiteY0" fmla="*/ 0 h 81639"/>
                <a:gd name="connsiteX1" fmla="*/ 0 w 81765"/>
                <a:gd name="connsiteY1" fmla="*/ 40820 h 81639"/>
                <a:gd name="connsiteX2" fmla="*/ 40883 w 81765"/>
                <a:gd name="connsiteY2" fmla="*/ 81640 h 81639"/>
                <a:gd name="connsiteX3" fmla="*/ 81766 w 81765"/>
                <a:gd name="connsiteY3" fmla="*/ 40820 h 81639"/>
                <a:gd name="connsiteX4" fmla="*/ 40883 w 81765"/>
                <a:gd name="connsiteY4" fmla="*/ 0 h 8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65" h="81639">
                  <a:moveTo>
                    <a:pt x="40883" y="0"/>
                  </a:moveTo>
                  <a:cubicBezTo>
                    <a:pt x="18110" y="0"/>
                    <a:pt x="0" y="18082"/>
                    <a:pt x="0" y="40820"/>
                  </a:cubicBezTo>
                  <a:cubicBezTo>
                    <a:pt x="0" y="63558"/>
                    <a:pt x="18110" y="81640"/>
                    <a:pt x="40883" y="81640"/>
                  </a:cubicBezTo>
                  <a:cubicBezTo>
                    <a:pt x="63656" y="81640"/>
                    <a:pt x="81766" y="63558"/>
                    <a:pt x="81766" y="40820"/>
                  </a:cubicBezTo>
                  <a:cubicBezTo>
                    <a:pt x="81766" y="18082"/>
                    <a:pt x="63656" y="0"/>
                    <a:pt x="40883" y="0"/>
                  </a:cubicBezTo>
                  <a:close/>
                </a:path>
              </a:pathLst>
            </a:custGeom>
            <a:solidFill>
              <a:srgbClr val="FFFFFF"/>
            </a:solidFill>
            <a:ln w="7772" cap="flat">
              <a:noFill/>
              <a:prstDash val="solid"/>
              <a:miter/>
            </a:ln>
          </p:spPr>
          <p:txBody>
            <a:bodyPr rtlCol="0" anchor="ctr"/>
            <a:lstStyle/>
            <a:p>
              <a:endParaRPr lang="en-US"/>
            </a:p>
          </p:txBody>
        </p:sp>
        <p:sp>
          <p:nvSpPr>
            <p:cNvPr id="33" name="Freeform 29">
              <a:extLst>
                <a:ext uri="{FF2B5EF4-FFF2-40B4-BE49-F238E27FC236}">
                  <a16:creationId xmlns:a16="http://schemas.microsoft.com/office/drawing/2014/main" id="{0FD0C35F-ED4C-2269-A179-20B2DE246987}"/>
                </a:ext>
              </a:extLst>
            </p:cNvPr>
            <p:cNvSpPr/>
            <p:nvPr/>
          </p:nvSpPr>
          <p:spPr bwMode="invGray">
            <a:xfrm>
              <a:off x="5379966" y="4358382"/>
              <a:ext cx="398257" cy="275185"/>
            </a:xfrm>
            <a:custGeom>
              <a:avLst/>
              <a:gdLst>
                <a:gd name="connsiteX0" fmla="*/ 279107 w 398257"/>
                <a:gd name="connsiteY0" fmla="*/ 159710 h 275185"/>
                <a:gd name="connsiteX1" fmla="*/ 232395 w 398257"/>
                <a:gd name="connsiteY1" fmla="*/ 0 h 275185"/>
                <a:gd name="connsiteX2" fmla="*/ 167651 w 398257"/>
                <a:gd name="connsiteY2" fmla="*/ 0 h 275185"/>
                <a:gd name="connsiteX3" fmla="*/ 120939 w 398257"/>
                <a:gd name="connsiteY3" fmla="*/ 159710 h 275185"/>
                <a:gd name="connsiteX4" fmla="*/ 79434 w 398257"/>
                <a:gd name="connsiteY4" fmla="*/ 0 h 275185"/>
                <a:gd name="connsiteX5" fmla="*/ 0 w 398257"/>
                <a:gd name="connsiteY5" fmla="*/ 0 h 275185"/>
                <a:gd name="connsiteX6" fmla="*/ 86429 w 398257"/>
                <a:gd name="connsiteY6" fmla="*/ 275186 h 275185"/>
                <a:gd name="connsiteX7" fmla="*/ 151873 w 398257"/>
                <a:gd name="connsiteY7" fmla="*/ 275186 h 275185"/>
                <a:gd name="connsiteX8" fmla="*/ 199129 w 398257"/>
                <a:gd name="connsiteY8" fmla="*/ 107870 h 275185"/>
                <a:gd name="connsiteX9" fmla="*/ 245841 w 398257"/>
                <a:gd name="connsiteY9" fmla="*/ 275186 h 275185"/>
                <a:gd name="connsiteX10" fmla="*/ 311285 w 398257"/>
                <a:gd name="connsiteY10" fmla="*/ 275186 h 275185"/>
                <a:gd name="connsiteX11" fmla="*/ 398258 w 398257"/>
                <a:gd name="connsiteY11" fmla="*/ 0 h 275185"/>
                <a:gd name="connsiteX12" fmla="*/ 321156 w 398257"/>
                <a:gd name="connsiteY12" fmla="*/ 0 h 275185"/>
                <a:gd name="connsiteX13" fmla="*/ 279107 w 398257"/>
                <a:gd name="connsiteY13" fmla="*/ 159710 h 275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8257" h="275185">
                  <a:moveTo>
                    <a:pt x="279107" y="159710"/>
                  </a:moveTo>
                  <a:lnTo>
                    <a:pt x="232395" y="0"/>
                  </a:lnTo>
                  <a:lnTo>
                    <a:pt x="167651" y="0"/>
                  </a:lnTo>
                  <a:lnTo>
                    <a:pt x="120939" y="159710"/>
                  </a:lnTo>
                  <a:lnTo>
                    <a:pt x="79434" y="0"/>
                  </a:lnTo>
                  <a:lnTo>
                    <a:pt x="0" y="0"/>
                  </a:lnTo>
                  <a:lnTo>
                    <a:pt x="86429" y="275186"/>
                  </a:lnTo>
                  <a:lnTo>
                    <a:pt x="151873" y="275186"/>
                  </a:lnTo>
                  <a:lnTo>
                    <a:pt x="199129" y="107870"/>
                  </a:lnTo>
                  <a:lnTo>
                    <a:pt x="245841" y="275186"/>
                  </a:lnTo>
                  <a:lnTo>
                    <a:pt x="311285" y="275186"/>
                  </a:lnTo>
                  <a:lnTo>
                    <a:pt x="398258" y="0"/>
                  </a:lnTo>
                  <a:lnTo>
                    <a:pt x="321156" y="0"/>
                  </a:lnTo>
                  <a:lnTo>
                    <a:pt x="279107" y="159710"/>
                  </a:lnTo>
                  <a:close/>
                </a:path>
              </a:pathLst>
            </a:custGeom>
            <a:solidFill>
              <a:srgbClr val="FFFFFF"/>
            </a:solidFill>
            <a:ln w="7772" cap="flat">
              <a:noFill/>
              <a:prstDash val="solid"/>
              <a:miter/>
            </a:ln>
          </p:spPr>
          <p:txBody>
            <a:bodyPr rtlCol="0" anchor="ctr"/>
            <a:lstStyle/>
            <a:p>
              <a:endParaRPr lang="en-US"/>
            </a:p>
          </p:txBody>
        </p:sp>
        <p:sp>
          <p:nvSpPr>
            <p:cNvPr id="34" name="Freeform 30">
              <a:extLst>
                <a:ext uri="{FF2B5EF4-FFF2-40B4-BE49-F238E27FC236}">
                  <a16:creationId xmlns:a16="http://schemas.microsoft.com/office/drawing/2014/main" id="{E1CA9C54-174B-FE34-32B9-17CD5A3798DB}"/>
                </a:ext>
              </a:extLst>
            </p:cNvPr>
            <p:cNvSpPr/>
            <p:nvPr/>
          </p:nvSpPr>
          <p:spPr bwMode="invGray">
            <a:xfrm>
              <a:off x="5815609" y="4358382"/>
              <a:ext cx="71272" cy="275185"/>
            </a:xfrm>
            <a:custGeom>
              <a:avLst/>
              <a:gdLst>
                <a:gd name="connsiteX0" fmla="*/ 0 w 71272"/>
                <a:gd name="connsiteY0" fmla="*/ 0 h 275185"/>
                <a:gd name="connsiteX1" fmla="*/ 71273 w 71272"/>
                <a:gd name="connsiteY1" fmla="*/ 0 h 275185"/>
                <a:gd name="connsiteX2" fmla="*/ 71273 w 71272"/>
                <a:gd name="connsiteY2" fmla="*/ 275186 h 275185"/>
                <a:gd name="connsiteX3" fmla="*/ 0 w 71272"/>
                <a:gd name="connsiteY3" fmla="*/ 275186 h 275185"/>
              </a:gdLst>
              <a:ahLst/>
              <a:cxnLst>
                <a:cxn ang="0">
                  <a:pos x="connsiteX0" y="connsiteY0"/>
                </a:cxn>
                <a:cxn ang="0">
                  <a:pos x="connsiteX1" y="connsiteY1"/>
                </a:cxn>
                <a:cxn ang="0">
                  <a:pos x="connsiteX2" y="connsiteY2"/>
                </a:cxn>
                <a:cxn ang="0">
                  <a:pos x="connsiteX3" y="connsiteY3"/>
                </a:cxn>
              </a:cxnLst>
              <a:rect l="l" t="t" r="r" b="b"/>
              <a:pathLst>
                <a:path w="71272" h="275185">
                  <a:moveTo>
                    <a:pt x="0" y="0"/>
                  </a:moveTo>
                  <a:lnTo>
                    <a:pt x="71273" y="0"/>
                  </a:lnTo>
                  <a:lnTo>
                    <a:pt x="71273" y="275186"/>
                  </a:lnTo>
                  <a:lnTo>
                    <a:pt x="0" y="275186"/>
                  </a:lnTo>
                  <a:close/>
                </a:path>
              </a:pathLst>
            </a:custGeom>
            <a:solidFill>
              <a:srgbClr val="FFFFFF"/>
            </a:solidFill>
            <a:ln w="7772" cap="flat">
              <a:noFill/>
              <a:prstDash val="solid"/>
              <a:miter/>
            </a:ln>
          </p:spPr>
          <p:txBody>
            <a:bodyPr rtlCol="0" anchor="ctr"/>
            <a:lstStyle/>
            <a:p>
              <a:endParaRPr lang="en-US"/>
            </a:p>
          </p:txBody>
        </p:sp>
        <p:sp>
          <p:nvSpPr>
            <p:cNvPr id="35" name="Freeform 31">
              <a:extLst>
                <a:ext uri="{FF2B5EF4-FFF2-40B4-BE49-F238E27FC236}">
                  <a16:creationId xmlns:a16="http://schemas.microsoft.com/office/drawing/2014/main" id="{1562F6C2-447A-CCDA-B01E-629D81747546}"/>
                </a:ext>
              </a:extLst>
            </p:cNvPr>
            <p:cNvSpPr/>
            <p:nvPr/>
          </p:nvSpPr>
          <p:spPr bwMode="invGray">
            <a:xfrm>
              <a:off x="6582279" y="4352561"/>
              <a:ext cx="240555" cy="286904"/>
            </a:xfrm>
            <a:custGeom>
              <a:avLst/>
              <a:gdLst>
                <a:gd name="connsiteX0" fmla="*/ 131975 w 240555"/>
                <a:gd name="connsiteY0" fmla="*/ 218069 h 286904"/>
                <a:gd name="connsiteX1" fmla="*/ 73605 w 240555"/>
                <a:gd name="connsiteY1" fmla="*/ 142870 h 286904"/>
                <a:gd name="connsiteX2" fmla="*/ 131431 w 240555"/>
                <a:gd name="connsiteY2" fmla="*/ 68215 h 286904"/>
                <a:gd name="connsiteX3" fmla="*/ 193300 w 240555"/>
                <a:gd name="connsiteY3" fmla="*/ 106706 h 286904"/>
                <a:gd name="connsiteX4" fmla="*/ 240012 w 240555"/>
                <a:gd name="connsiteY4" fmla="*/ 59445 h 286904"/>
                <a:gd name="connsiteX5" fmla="*/ 131975 w 240555"/>
                <a:gd name="connsiteY5" fmla="*/ 0 h 286904"/>
                <a:gd name="connsiteX6" fmla="*/ 0 w 240555"/>
                <a:gd name="connsiteY6" fmla="*/ 144034 h 286904"/>
                <a:gd name="connsiteX7" fmla="*/ 130810 w 240555"/>
                <a:gd name="connsiteY7" fmla="*/ 286904 h 286904"/>
                <a:gd name="connsiteX8" fmla="*/ 240556 w 240555"/>
                <a:gd name="connsiteY8" fmla="*/ 226295 h 286904"/>
                <a:gd name="connsiteX9" fmla="*/ 195010 w 240555"/>
                <a:gd name="connsiteY9" fmla="*/ 183147 h 286904"/>
                <a:gd name="connsiteX10" fmla="*/ 131975 w 240555"/>
                <a:gd name="connsiteY10" fmla="*/ 218146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0555" h="286904">
                  <a:moveTo>
                    <a:pt x="131975" y="218069"/>
                  </a:moveTo>
                  <a:cubicBezTo>
                    <a:pt x="91093" y="218069"/>
                    <a:pt x="73605" y="182526"/>
                    <a:pt x="73605" y="142870"/>
                  </a:cubicBezTo>
                  <a:cubicBezTo>
                    <a:pt x="73605" y="100343"/>
                    <a:pt x="93424" y="68215"/>
                    <a:pt x="131431" y="68215"/>
                  </a:cubicBezTo>
                  <a:cubicBezTo>
                    <a:pt x="159490" y="68215"/>
                    <a:pt x="176978" y="85132"/>
                    <a:pt x="193300" y="106706"/>
                  </a:cubicBezTo>
                  <a:lnTo>
                    <a:pt x="240012" y="59445"/>
                  </a:lnTo>
                  <a:cubicBezTo>
                    <a:pt x="214907" y="22117"/>
                    <a:pt x="181019" y="0"/>
                    <a:pt x="131975" y="0"/>
                  </a:cubicBezTo>
                  <a:cubicBezTo>
                    <a:pt x="46168" y="0"/>
                    <a:pt x="0" y="68215"/>
                    <a:pt x="0" y="144034"/>
                  </a:cubicBezTo>
                  <a:cubicBezTo>
                    <a:pt x="0" y="226838"/>
                    <a:pt x="55495" y="286904"/>
                    <a:pt x="130810" y="286904"/>
                  </a:cubicBezTo>
                  <a:cubicBezTo>
                    <a:pt x="185139" y="286904"/>
                    <a:pt x="217239" y="256018"/>
                    <a:pt x="240556" y="226295"/>
                  </a:cubicBezTo>
                  <a:lnTo>
                    <a:pt x="195010" y="183147"/>
                  </a:lnTo>
                  <a:cubicBezTo>
                    <a:pt x="178065" y="204721"/>
                    <a:pt x="157080" y="218146"/>
                    <a:pt x="131975" y="218146"/>
                  </a:cubicBezTo>
                  <a:close/>
                </a:path>
              </a:pathLst>
            </a:custGeom>
            <a:solidFill>
              <a:srgbClr val="FFFFFF"/>
            </a:solidFill>
            <a:ln w="7772" cap="flat">
              <a:noFill/>
              <a:prstDash val="solid"/>
              <a:miter/>
            </a:ln>
          </p:spPr>
          <p:txBody>
            <a:bodyPr rtlCol="0" anchor="ctr"/>
            <a:lstStyle/>
            <a:p>
              <a:endParaRPr lang="en-US"/>
            </a:p>
          </p:txBody>
        </p:sp>
        <p:sp>
          <p:nvSpPr>
            <p:cNvPr id="36" name="Freeform 32">
              <a:extLst>
                <a:ext uri="{FF2B5EF4-FFF2-40B4-BE49-F238E27FC236}">
                  <a16:creationId xmlns:a16="http://schemas.microsoft.com/office/drawing/2014/main" id="{377CA482-232C-065F-EB80-65368180D5D4}"/>
                </a:ext>
              </a:extLst>
            </p:cNvPr>
            <p:cNvSpPr/>
            <p:nvPr/>
          </p:nvSpPr>
          <p:spPr bwMode="invGray">
            <a:xfrm>
              <a:off x="7751870" y="4251132"/>
              <a:ext cx="247007" cy="388255"/>
            </a:xfrm>
            <a:custGeom>
              <a:avLst/>
              <a:gdLst>
                <a:gd name="connsiteX0" fmla="*/ 175734 w 247007"/>
                <a:gd name="connsiteY0" fmla="*/ 123547 h 388255"/>
                <a:gd name="connsiteX1" fmla="*/ 111534 w 247007"/>
                <a:gd name="connsiteY1" fmla="*/ 101429 h 388255"/>
                <a:gd name="connsiteX2" fmla="*/ 0 w 247007"/>
                <a:gd name="connsiteY2" fmla="*/ 242514 h 388255"/>
                <a:gd name="connsiteX3" fmla="*/ 113244 w 247007"/>
                <a:gd name="connsiteY3" fmla="*/ 388256 h 388255"/>
                <a:gd name="connsiteX4" fmla="*/ 175734 w 247007"/>
                <a:gd name="connsiteY4" fmla="*/ 364354 h 388255"/>
                <a:gd name="connsiteX5" fmla="*/ 175734 w 247007"/>
                <a:gd name="connsiteY5" fmla="*/ 382436 h 388255"/>
                <a:gd name="connsiteX6" fmla="*/ 247007 w 247007"/>
                <a:gd name="connsiteY6" fmla="*/ 382436 h 388255"/>
                <a:gd name="connsiteX7" fmla="*/ 247007 w 247007"/>
                <a:gd name="connsiteY7" fmla="*/ 0 h 388255"/>
                <a:gd name="connsiteX8" fmla="*/ 175734 w 247007"/>
                <a:gd name="connsiteY8" fmla="*/ 35543 h 388255"/>
                <a:gd name="connsiteX9" fmla="*/ 175734 w 247007"/>
                <a:gd name="connsiteY9" fmla="*/ 123547 h 388255"/>
                <a:gd name="connsiteX10" fmla="*/ 175734 w 247007"/>
                <a:gd name="connsiteY10" fmla="*/ 297303 h 388255"/>
                <a:gd name="connsiteX11" fmla="*/ 127856 w 247007"/>
                <a:gd name="connsiteY11" fmla="*/ 321206 h 388255"/>
                <a:gd name="connsiteX12" fmla="*/ 74693 w 247007"/>
                <a:gd name="connsiteY12" fmla="*/ 240186 h 388255"/>
                <a:gd name="connsiteX13" fmla="*/ 126069 w 247007"/>
                <a:gd name="connsiteY13" fmla="*/ 168480 h 388255"/>
                <a:gd name="connsiteX14" fmla="*/ 175734 w 247007"/>
                <a:gd name="connsiteY14" fmla="*/ 192382 h 388255"/>
                <a:gd name="connsiteX15" fmla="*/ 175734 w 247007"/>
                <a:gd name="connsiteY15" fmla="*/ 297303 h 38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7007" h="388255">
                  <a:moveTo>
                    <a:pt x="175734" y="123547"/>
                  </a:moveTo>
                  <a:cubicBezTo>
                    <a:pt x="158246" y="107793"/>
                    <a:pt x="135473" y="101429"/>
                    <a:pt x="111534" y="101429"/>
                  </a:cubicBezTo>
                  <a:cubicBezTo>
                    <a:pt x="39717" y="101429"/>
                    <a:pt x="0" y="159167"/>
                    <a:pt x="0" y="242514"/>
                  </a:cubicBezTo>
                  <a:cubicBezTo>
                    <a:pt x="0" y="319498"/>
                    <a:pt x="33888" y="388256"/>
                    <a:pt x="113244" y="388256"/>
                  </a:cubicBezTo>
                  <a:cubicBezTo>
                    <a:pt x="138349" y="388256"/>
                    <a:pt x="152339" y="381271"/>
                    <a:pt x="175734" y="364354"/>
                  </a:cubicBezTo>
                  <a:lnTo>
                    <a:pt x="175734" y="382436"/>
                  </a:lnTo>
                  <a:lnTo>
                    <a:pt x="247007" y="382436"/>
                  </a:lnTo>
                  <a:lnTo>
                    <a:pt x="247007" y="0"/>
                  </a:lnTo>
                  <a:lnTo>
                    <a:pt x="175734" y="35543"/>
                  </a:lnTo>
                  <a:lnTo>
                    <a:pt x="175734" y="123547"/>
                  </a:lnTo>
                  <a:close/>
                  <a:moveTo>
                    <a:pt x="175734" y="297303"/>
                  </a:moveTo>
                  <a:cubicBezTo>
                    <a:pt x="161744" y="312436"/>
                    <a:pt x="147676" y="321206"/>
                    <a:pt x="127856" y="321206"/>
                  </a:cubicBezTo>
                  <a:cubicBezTo>
                    <a:pt x="87595" y="321206"/>
                    <a:pt x="74693" y="284499"/>
                    <a:pt x="74693" y="240186"/>
                  </a:cubicBezTo>
                  <a:cubicBezTo>
                    <a:pt x="74693" y="201151"/>
                    <a:pt x="84642" y="168480"/>
                    <a:pt x="126069" y="168480"/>
                  </a:cubicBezTo>
                  <a:cubicBezTo>
                    <a:pt x="145888" y="168480"/>
                    <a:pt x="160500" y="176085"/>
                    <a:pt x="175734" y="192382"/>
                  </a:cubicBezTo>
                  <a:lnTo>
                    <a:pt x="175734" y="297303"/>
                  </a:lnTo>
                  <a:close/>
                </a:path>
              </a:pathLst>
            </a:custGeom>
            <a:solidFill>
              <a:srgbClr val="FFFFFF"/>
            </a:solidFill>
            <a:ln w="7772" cap="flat">
              <a:noFill/>
              <a:prstDash val="solid"/>
              <a:miter/>
            </a:ln>
          </p:spPr>
          <p:txBody>
            <a:bodyPr rtlCol="0" anchor="ctr"/>
            <a:lstStyle/>
            <a:p>
              <a:endParaRPr lang="en-US"/>
            </a:p>
          </p:txBody>
        </p:sp>
        <p:sp>
          <p:nvSpPr>
            <p:cNvPr id="37" name="Freeform 33">
              <a:extLst>
                <a:ext uri="{FF2B5EF4-FFF2-40B4-BE49-F238E27FC236}">
                  <a16:creationId xmlns:a16="http://schemas.microsoft.com/office/drawing/2014/main" id="{71D81180-770A-FC1C-BE8B-4E83D124F149}"/>
                </a:ext>
              </a:extLst>
            </p:cNvPr>
            <p:cNvSpPr/>
            <p:nvPr/>
          </p:nvSpPr>
          <p:spPr bwMode="invGray">
            <a:xfrm>
              <a:off x="8325162" y="4352561"/>
              <a:ext cx="237757" cy="281083"/>
            </a:xfrm>
            <a:custGeom>
              <a:avLst/>
              <a:gdLst>
                <a:gd name="connsiteX0" fmla="*/ 138426 w 237757"/>
                <a:gd name="connsiteY0" fmla="*/ 0 h 281083"/>
                <a:gd name="connsiteX1" fmla="*/ 71273 w 237757"/>
                <a:gd name="connsiteY1" fmla="*/ 24523 h 281083"/>
                <a:gd name="connsiteX2" fmla="*/ 71273 w 237757"/>
                <a:gd name="connsiteY2" fmla="*/ 5898 h 281083"/>
                <a:gd name="connsiteX3" fmla="*/ 0 w 237757"/>
                <a:gd name="connsiteY3" fmla="*/ 5898 h 281083"/>
                <a:gd name="connsiteX4" fmla="*/ 0 w 237757"/>
                <a:gd name="connsiteY4" fmla="*/ 281084 h 281083"/>
                <a:gd name="connsiteX5" fmla="*/ 71273 w 237757"/>
                <a:gd name="connsiteY5" fmla="*/ 281084 h 281083"/>
                <a:gd name="connsiteX6" fmla="*/ 71273 w 237757"/>
                <a:gd name="connsiteY6" fmla="*/ 129522 h 281083"/>
                <a:gd name="connsiteX7" fmla="*/ 119151 w 237757"/>
                <a:gd name="connsiteY7" fmla="*/ 67128 h 281083"/>
                <a:gd name="connsiteX8" fmla="*/ 166485 w 237757"/>
                <a:gd name="connsiteY8" fmla="*/ 131229 h 281083"/>
                <a:gd name="connsiteX9" fmla="*/ 166485 w 237757"/>
                <a:gd name="connsiteY9" fmla="*/ 281084 h 281083"/>
                <a:gd name="connsiteX10" fmla="*/ 237758 w 237757"/>
                <a:gd name="connsiteY10" fmla="*/ 281084 h 281083"/>
                <a:gd name="connsiteX11" fmla="*/ 237758 w 237757"/>
                <a:gd name="connsiteY11" fmla="*/ 125409 h 281083"/>
                <a:gd name="connsiteX12" fmla="*/ 138504 w 237757"/>
                <a:gd name="connsiteY12" fmla="*/ 78 h 28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7757" h="281083">
                  <a:moveTo>
                    <a:pt x="138426" y="0"/>
                  </a:moveTo>
                  <a:cubicBezTo>
                    <a:pt x="107492" y="0"/>
                    <a:pt x="85885" y="9933"/>
                    <a:pt x="71273" y="24523"/>
                  </a:cubicBezTo>
                  <a:lnTo>
                    <a:pt x="71273" y="5898"/>
                  </a:lnTo>
                  <a:lnTo>
                    <a:pt x="0" y="5898"/>
                  </a:lnTo>
                  <a:lnTo>
                    <a:pt x="0" y="281084"/>
                  </a:lnTo>
                  <a:lnTo>
                    <a:pt x="71273" y="281084"/>
                  </a:lnTo>
                  <a:lnTo>
                    <a:pt x="71273" y="129522"/>
                  </a:lnTo>
                  <a:cubicBezTo>
                    <a:pt x="71273" y="88702"/>
                    <a:pt x="82931" y="67128"/>
                    <a:pt x="119151" y="67128"/>
                  </a:cubicBezTo>
                  <a:cubicBezTo>
                    <a:pt x="157702" y="67128"/>
                    <a:pt x="166485" y="92815"/>
                    <a:pt x="166485" y="131229"/>
                  </a:cubicBezTo>
                  <a:lnTo>
                    <a:pt x="166485" y="281084"/>
                  </a:lnTo>
                  <a:lnTo>
                    <a:pt x="237758" y="281084"/>
                  </a:lnTo>
                  <a:lnTo>
                    <a:pt x="237758" y="125409"/>
                  </a:lnTo>
                  <a:cubicBezTo>
                    <a:pt x="237758" y="57816"/>
                    <a:pt x="213197" y="78"/>
                    <a:pt x="138504" y="78"/>
                  </a:cubicBezTo>
                  <a:close/>
                </a:path>
              </a:pathLst>
            </a:custGeom>
            <a:solidFill>
              <a:srgbClr val="FFFFFF"/>
            </a:solidFill>
            <a:ln w="7772" cap="flat">
              <a:noFill/>
              <a:prstDash val="solid"/>
              <a:miter/>
            </a:ln>
          </p:spPr>
          <p:txBody>
            <a:bodyPr rtlCol="0" anchor="ctr"/>
            <a:lstStyle/>
            <a:p>
              <a:endParaRPr lang="en-US"/>
            </a:p>
          </p:txBody>
        </p:sp>
        <p:sp>
          <p:nvSpPr>
            <p:cNvPr id="38" name="Freeform 34">
              <a:extLst>
                <a:ext uri="{FF2B5EF4-FFF2-40B4-BE49-F238E27FC236}">
                  <a16:creationId xmlns:a16="http://schemas.microsoft.com/office/drawing/2014/main" id="{B183709F-FF07-BB3D-CB5B-FE2B4C24ABC2}"/>
                </a:ext>
              </a:extLst>
            </p:cNvPr>
            <p:cNvSpPr/>
            <p:nvPr/>
          </p:nvSpPr>
          <p:spPr bwMode="invGray">
            <a:xfrm>
              <a:off x="8041469" y="4352561"/>
              <a:ext cx="238846" cy="286904"/>
            </a:xfrm>
            <a:custGeom>
              <a:avLst/>
              <a:gdLst>
                <a:gd name="connsiteX0" fmla="*/ 122027 w 238846"/>
                <a:gd name="connsiteY0" fmla="*/ 0 h 286904"/>
                <a:gd name="connsiteX1" fmla="*/ 0 w 238846"/>
                <a:gd name="connsiteY1" fmla="*/ 144034 h 286904"/>
                <a:gd name="connsiteX2" fmla="*/ 126690 w 238846"/>
                <a:gd name="connsiteY2" fmla="*/ 286904 h 286904"/>
                <a:gd name="connsiteX3" fmla="*/ 226566 w 238846"/>
                <a:gd name="connsiteY3" fmla="*/ 243213 h 286904"/>
                <a:gd name="connsiteX4" fmla="*/ 177522 w 238846"/>
                <a:gd name="connsiteY4" fmla="*/ 201850 h 286904"/>
                <a:gd name="connsiteX5" fmla="*/ 129644 w 238846"/>
                <a:gd name="connsiteY5" fmla="*/ 221095 h 286904"/>
                <a:gd name="connsiteX6" fmla="*/ 70651 w 238846"/>
                <a:gd name="connsiteY6" fmla="*/ 166850 h 286904"/>
                <a:gd name="connsiteX7" fmla="*/ 237680 w 238846"/>
                <a:gd name="connsiteY7" fmla="*/ 166850 h 286904"/>
                <a:gd name="connsiteX8" fmla="*/ 238846 w 238846"/>
                <a:gd name="connsiteY8" fmla="*/ 142948 h 286904"/>
                <a:gd name="connsiteX9" fmla="*/ 122027 w 238846"/>
                <a:gd name="connsiteY9" fmla="*/ 78 h 286904"/>
                <a:gd name="connsiteX10" fmla="*/ 71817 w 238846"/>
                <a:gd name="connsiteY10" fmla="*/ 113070 h 286904"/>
                <a:gd name="connsiteX11" fmla="*/ 119695 w 238846"/>
                <a:gd name="connsiteY11" fmla="*/ 61152 h 286904"/>
                <a:gd name="connsiteX12" fmla="*/ 169905 w 238846"/>
                <a:gd name="connsiteY12" fmla="*/ 113070 h 286904"/>
                <a:gd name="connsiteX13" fmla="*/ 71817 w 238846"/>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6" h="286904">
                  <a:moveTo>
                    <a:pt x="122027" y="0"/>
                  </a:moveTo>
                  <a:cubicBezTo>
                    <a:pt x="54329" y="0"/>
                    <a:pt x="0" y="55953"/>
                    <a:pt x="0" y="144034"/>
                  </a:cubicBezTo>
                  <a:cubicBezTo>
                    <a:pt x="0" y="225053"/>
                    <a:pt x="46090" y="286904"/>
                    <a:pt x="126690" y="286904"/>
                  </a:cubicBezTo>
                  <a:cubicBezTo>
                    <a:pt x="161744" y="286904"/>
                    <a:pt x="200839" y="275264"/>
                    <a:pt x="226566" y="243213"/>
                  </a:cubicBezTo>
                  <a:lnTo>
                    <a:pt x="177522" y="201850"/>
                  </a:lnTo>
                  <a:cubicBezTo>
                    <a:pt x="163532" y="215818"/>
                    <a:pt x="147131" y="221095"/>
                    <a:pt x="129644" y="221095"/>
                  </a:cubicBezTo>
                  <a:cubicBezTo>
                    <a:pt x="99876" y="221095"/>
                    <a:pt x="73605" y="205342"/>
                    <a:pt x="70651" y="166850"/>
                  </a:cubicBezTo>
                  <a:lnTo>
                    <a:pt x="237680" y="166850"/>
                  </a:lnTo>
                  <a:cubicBezTo>
                    <a:pt x="238302" y="162737"/>
                    <a:pt x="238846" y="151717"/>
                    <a:pt x="238846" y="142948"/>
                  </a:cubicBezTo>
                  <a:cubicBezTo>
                    <a:pt x="238846" y="63636"/>
                    <a:pt x="194466"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endParaRPr lang="en-US"/>
            </a:p>
          </p:txBody>
        </p:sp>
        <p:sp>
          <p:nvSpPr>
            <p:cNvPr id="39" name="Freeform 35">
              <a:extLst>
                <a:ext uri="{FF2B5EF4-FFF2-40B4-BE49-F238E27FC236}">
                  <a16:creationId xmlns:a16="http://schemas.microsoft.com/office/drawing/2014/main" id="{BE2DF3A5-C9A8-A1DE-1575-78EEBDAF5383}"/>
                </a:ext>
              </a:extLst>
            </p:cNvPr>
            <p:cNvSpPr/>
            <p:nvPr/>
          </p:nvSpPr>
          <p:spPr bwMode="invGray">
            <a:xfrm>
              <a:off x="8867054" y="4352561"/>
              <a:ext cx="238845" cy="286904"/>
            </a:xfrm>
            <a:custGeom>
              <a:avLst/>
              <a:gdLst>
                <a:gd name="connsiteX0" fmla="*/ 122026 w 238845"/>
                <a:gd name="connsiteY0" fmla="*/ 0 h 286904"/>
                <a:gd name="connsiteX1" fmla="*/ 0 w 238845"/>
                <a:gd name="connsiteY1" fmla="*/ 144034 h 286904"/>
                <a:gd name="connsiteX2" fmla="*/ 126690 w 238845"/>
                <a:gd name="connsiteY2" fmla="*/ 286904 h 286904"/>
                <a:gd name="connsiteX3" fmla="*/ 226565 w 238845"/>
                <a:gd name="connsiteY3" fmla="*/ 243213 h 286904"/>
                <a:gd name="connsiteX4" fmla="*/ 177521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6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6" y="0"/>
                  </a:moveTo>
                  <a:cubicBezTo>
                    <a:pt x="54329" y="0"/>
                    <a:pt x="0" y="55953"/>
                    <a:pt x="0" y="144034"/>
                  </a:cubicBezTo>
                  <a:cubicBezTo>
                    <a:pt x="0" y="225053"/>
                    <a:pt x="46090" y="286904"/>
                    <a:pt x="126690" y="286904"/>
                  </a:cubicBezTo>
                  <a:cubicBezTo>
                    <a:pt x="161744" y="286904"/>
                    <a:pt x="200839" y="275264"/>
                    <a:pt x="226565" y="243213"/>
                  </a:cubicBezTo>
                  <a:lnTo>
                    <a:pt x="177521" y="201850"/>
                  </a:lnTo>
                  <a:cubicBezTo>
                    <a:pt x="163531" y="215818"/>
                    <a:pt x="147131" y="221095"/>
                    <a:pt x="129644" y="221095"/>
                  </a:cubicBezTo>
                  <a:cubicBezTo>
                    <a:pt x="99875" y="221095"/>
                    <a:pt x="73604" y="205342"/>
                    <a:pt x="70651" y="166850"/>
                  </a:cubicBezTo>
                  <a:lnTo>
                    <a:pt x="237680" y="166850"/>
                  </a:lnTo>
                  <a:cubicBezTo>
                    <a:pt x="238302" y="162737"/>
                    <a:pt x="238846" y="151717"/>
                    <a:pt x="238846" y="142948"/>
                  </a:cubicBezTo>
                  <a:cubicBezTo>
                    <a:pt x="238846" y="63636"/>
                    <a:pt x="194465" y="78"/>
                    <a:pt x="122026" y="78"/>
                  </a:cubicBezTo>
                  <a:close/>
                  <a:moveTo>
                    <a:pt x="71817" y="113070"/>
                  </a:moveTo>
                  <a:cubicBezTo>
                    <a:pt x="73604"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endParaRPr lang="en-US"/>
            </a:p>
          </p:txBody>
        </p:sp>
        <p:sp>
          <p:nvSpPr>
            <p:cNvPr id="40" name="Freeform 36">
              <a:extLst>
                <a:ext uri="{FF2B5EF4-FFF2-40B4-BE49-F238E27FC236}">
                  <a16:creationId xmlns:a16="http://schemas.microsoft.com/office/drawing/2014/main" id="{A0917C4C-FDEB-3004-6D54-D7F2A86836EE}"/>
                </a:ext>
              </a:extLst>
            </p:cNvPr>
            <p:cNvSpPr/>
            <p:nvPr/>
          </p:nvSpPr>
          <p:spPr bwMode="invGray">
            <a:xfrm>
              <a:off x="4999974" y="4352561"/>
              <a:ext cx="238845" cy="286904"/>
            </a:xfrm>
            <a:custGeom>
              <a:avLst/>
              <a:gdLst>
                <a:gd name="connsiteX0" fmla="*/ 122027 w 238845"/>
                <a:gd name="connsiteY0" fmla="*/ 0 h 286904"/>
                <a:gd name="connsiteX1" fmla="*/ 0 w 238845"/>
                <a:gd name="connsiteY1" fmla="*/ 144034 h 286904"/>
                <a:gd name="connsiteX2" fmla="*/ 126690 w 238845"/>
                <a:gd name="connsiteY2" fmla="*/ 286904 h 286904"/>
                <a:gd name="connsiteX3" fmla="*/ 226565 w 238845"/>
                <a:gd name="connsiteY3" fmla="*/ 243213 h 286904"/>
                <a:gd name="connsiteX4" fmla="*/ 177522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7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7" y="0"/>
                  </a:moveTo>
                  <a:cubicBezTo>
                    <a:pt x="54329" y="0"/>
                    <a:pt x="0" y="55953"/>
                    <a:pt x="0" y="144034"/>
                  </a:cubicBezTo>
                  <a:cubicBezTo>
                    <a:pt x="0" y="225053"/>
                    <a:pt x="46090" y="286904"/>
                    <a:pt x="126690" y="286904"/>
                  </a:cubicBezTo>
                  <a:cubicBezTo>
                    <a:pt x="161744" y="286904"/>
                    <a:pt x="200839" y="275264"/>
                    <a:pt x="226565" y="243213"/>
                  </a:cubicBezTo>
                  <a:lnTo>
                    <a:pt x="177522" y="201850"/>
                  </a:lnTo>
                  <a:cubicBezTo>
                    <a:pt x="163531" y="215818"/>
                    <a:pt x="147131" y="221095"/>
                    <a:pt x="129644" y="221095"/>
                  </a:cubicBezTo>
                  <a:cubicBezTo>
                    <a:pt x="99875" y="221095"/>
                    <a:pt x="73605" y="205342"/>
                    <a:pt x="70651" y="166850"/>
                  </a:cubicBezTo>
                  <a:lnTo>
                    <a:pt x="237680" y="166850"/>
                  </a:lnTo>
                  <a:cubicBezTo>
                    <a:pt x="238302" y="162737"/>
                    <a:pt x="238846" y="151717"/>
                    <a:pt x="238846" y="142948"/>
                  </a:cubicBezTo>
                  <a:cubicBezTo>
                    <a:pt x="238846" y="63636"/>
                    <a:pt x="194465"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endParaRPr lang="en-US"/>
            </a:p>
          </p:txBody>
        </p:sp>
        <p:sp>
          <p:nvSpPr>
            <p:cNvPr id="41" name="Freeform 37">
              <a:extLst>
                <a:ext uri="{FF2B5EF4-FFF2-40B4-BE49-F238E27FC236}">
                  <a16:creationId xmlns:a16="http://schemas.microsoft.com/office/drawing/2014/main" id="{586C3F5A-51D5-5229-0BF9-9BEA5AB400CD}"/>
                </a:ext>
              </a:extLst>
            </p:cNvPr>
            <p:cNvSpPr/>
            <p:nvPr/>
          </p:nvSpPr>
          <p:spPr bwMode="invGray">
            <a:xfrm>
              <a:off x="3424508" y="4352561"/>
              <a:ext cx="238845" cy="286904"/>
            </a:xfrm>
            <a:custGeom>
              <a:avLst/>
              <a:gdLst>
                <a:gd name="connsiteX0" fmla="*/ 122027 w 238845"/>
                <a:gd name="connsiteY0" fmla="*/ 0 h 286904"/>
                <a:gd name="connsiteX1" fmla="*/ 0 w 238845"/>
                <a:gd name="connsiteY1" fmla="*/ 144034 h 286904"/>
                <a:gd name="connsiteX2" fmla="*/ 126690 w 238845"/>
                <a:gd name="connsiteY2" fmla="*/ 286904 h 286904"/>
                <a:gd name="connsiteX3" fmla="*/ 226565 w 238845"/>
                <a:gd name="connsiteY3" fmla="*/ 243213 h 286904"/>
                <a:gd name="connsiteX4" fmla="*/ 177522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7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7" y="0"/>
                  </a:moveTo>
                  <a:cubicBezTo>
                    <a:pt x="54329" y="0"/>
                    <a:pt x="0" y="55953"/>
                    <a:pt x="0" y="144034"/>
                  </a:cubicBezTo>
                  <a:cubicBezTo>
                    <a:pt x="0" y="225053"/>
                    <a:pt x="46090" y="286904"/>
                    <a:pt x="126690" y="286904"/>
                  </a:cubicBezTo>
                  <a:cubicBezTo>
                    <a:pt x="161744" y="286904"/>
                    <a:pt x="200839" y="275264"/>
                    <a:pt x="226565" y="243213"/>
                  </a:cubicBezTo>
                  <a:lnTo>
                    <a:pt x="177522" y="201850"/>
                  </a:lnTo>
                  <a:cubicBezTo>
                    <a:pt x="163531" y="215818"/>
                    <a:pt x="147131" y="221095"/>
                    <a:pt x="129644" y="221095"/>
                  </a:cubicBezTo>
                  <a:cubicBezTo>
                    <a:pt x="99875" y="221095"/>
                    <a:pt x="73605" y="205342"/>
                    <a:pt x="70651" y="166850"/>
                  </a:cubicBezTo>
                  <a:lnTo>
                    <a:pt x="237680" y="166850"/>
                  </a:lnTo>
                  <a:cubicBezTo>
                    <a:pt x="238302" y="162737"/>
                    <a:pt x="238846" y="151717"/>
                    <a:pt x="238846" y="142948"/>
                  </a:cubicBezTo>
                  <a:cubicBezTo>
                    <a:pt x="238846" y="63636"/>
                    <a:pt x="194465"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endParaRPr lang="en-US"/>
            </a:p>
          </p:txBody>
        </p:sp>
        <p:sp>
          <p:nvSpPr>
            <p:cNvPr id="42" name="Freeform 38">
              <a:extLst>
                <a:ext uri="{FF2B5EF4-FFF2-40B4-BE49-F238E27FC236}">
                  <a16:creationId xmlns:a16="http://schemas.microsoft.com/office/drawing/2014/main" id="{0AD3B514-E6E8-DF6F-CEA5-3D1F132494A7}"/>
                </a:ext>
              </a:extLst>
            </p:cNvPr>
            <p:cNvSpPr/>
            <p:nvPr/>
          </p:nvSpPr>
          <p:spPr bwMode="invGray">
            <a:xfrm>
              <a:off x="2512417" y="4352561"/>
              <a:ext cx="238845" cy="286904"/>
            </a:xfrm>
            <a:custGeom>
              <a:avLst/>
              <a:gdLst>
                <a:gd name="connsiteX0" fmla="*/ 122027 w 238845"/>
                <a:gd name="connsiteY0" fmla="*/ 0 h 286904"/>
                <a:gd name="connsiteX1" fmla="*/ 0 w 238845"/>
                <a:gd name="connsiteY1" fmla="*/ 144034 h 286904"/>
                <a:gd name="connsiteX2" fmla="*/ 126690 w 238845"/>
                <a:gd name="connsiteY2" fmla="*/ 286904 h 286904"/>
                <a:gd name="connsiteX3" fmla="*/ 226566 w 238845"/>
                <a:gd name="connsiteY3" fmla="*/ 243213 h 286904"/>
                <a:gd name="connsiteX4" fmla="*/ 177522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7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7" y="0"/>
                  </a:moveTo>
                  <a:cubicBezTo>
                    <a:pt x="54329" y="0"/>
                    <a:pt x="0" y="55953"/>
                    <a:pt x="0" y="144034"/>
                  </a:cubicBezTo>
                  <a:cubicBezTo>
                    <a:pt x="0" y="225053"/>
                    <a:pt x="46090" y="286904"/>
                    <a:pt x="126690" y="286904"/>
                  </a:cubicBezTo>
                  <a:cubicBezTo>
                    <a:pt x="161744" y="286904"/>
                    <a:pt x="200839" y="275264"/>
                    <a:pt x="226566" y="243213"/>
                  </a:cubicBezTo>
                  <a:lnTo>
                    <a:pt x="177522" y="201850"/>
                  </a:lnTo>
                  <a:cubicBezTo>
                    <a:pt x="163531" y="215818"/>
                    <a:pt x="147132" y="221095"/>
                    <a:pt x="129644" y="221095"/>
                  </a:cubicBezTo>
                  <a:cubicBezTo>
                    <a:pt x="99875" y="221095"/>
                    <a:pt x="73605" y="205342"/>
                    <a:pt x="70651" y="166850"/>
                  </a:cubicBezTo>
                  <a:lnTo>
                    <a:pt x="237680" y="166850"/>
                  </a:lnTo>
                  <a:cubicBezTo>
                    <a:pt x="238302" y="162737"/>
                    <a:pt x="238846" y="151717"/>
                    <a:pt x="238846" y="142948"/>
                  </a:cubicBezTo>
                  <a:cubicBezTo>
                    <a:pt x="238846" y="63636"/>
                    <a:pt x="194465"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endParaRPr lang="en-US"/>
            </a:p>
          </p:txBody>
        </p:sp>
        <p:sp>
          <p:nvSpPr>
            <p:cNvPr id="43" name="Freeform 39">
              <a:extLst>
                <a:ext uri="{FF2B5EF4-FFF2-40B4-BE49-F238E27FC236}">
                  <a16:creationId xmlns:a16="http://schemas.microsoft.com/office/drawing/2014/main" id="{C7C41C64-6FAF-6FDB-B578-BAD9539EE4FD}"/>
                </a:ext>
              </a:extLst>
            </p:cNvPr>
            <p:cNvSpPr/>
            <p:nvPr/>
          </p:nvSpPr>
          <p:spPr bwMode="invGray">
            <a:xfrm>
              <a:off x="4536739" y="4358071"/>
              <a:ext cx="229985" cy="281006"/>
            </a:xfrm>
            <a:custGeom>
              <a:avLst/>
              <a:gdLst>
                <a:gd name="connsiteX0" fmla="*/ 229907 w 229985"/>
                <a:gd name="connsiteY0" fmla="*/ 275186 h 281006"/>
                <a:gd name="connsiteX1" fmla="*/ 229907 w 229985"/>
                <a:gd name="connsiteY1" fmla="*/ 0 h 281006"/>
                <a:gd name="connsiteX2" fmla="*/ 161044 w 229985"/>
                <a:gd name="connsiteY2" fmla="*/ 0 h 281006"/>
                <a:gd name="connsiteX3" fmla="*/ 161044 w 229985"/>
                <a:gd name="connsiteY3" fmla="*/ 152183 h 281006"/>
                <a:gd name="connsiteX4" fmla="*/ 114954 w 229985"/>
                <a:gd name="connsiteY4" fmla="*/ 215120 h 281006"/>
                <a:gd name="connsiteX5" fmla="*/ 68863 w 229985"/>
                <a:gd name="connsiteY5" fmla="*/ 149854 h 281006"/>
                <a:gd name="connsiteX6" fmla="*/ 68863 w 229985"/>
                <a:gd name="connsiteY6" fmla="*/ 0 h 281006"/>
                <a:gd name="connsiteX7" fmla="*/ 0 w 229985"/>
                <a:gd name="connsiteY7" fmla="*/ 0 h 281006"/>
                <a:gd name="connsiteX8" fmla="*/ 0 w 229985"/>
                <a:gd name="connsiteY8" fmla="*/ 155675 h 281006"/>
                <a:gd name="connsiteX9" fmla="*/ 98088 w 229985"/>
                <a:gd name="connsiteY9" fmla="*/ 281006 h 281006"/>
                <a:gd name="connsiteX10" fmla="*/ 162288 w 229985"/>
                <a:gd name="connsiteY10" fmla="*/ 255940 h 281006"/>
                <a:gd name="connsiteX11" fmla="*/ 162288 w 229985"/>
                <a:gd name="connsiteY11" fmla="*/ 275186 h 281006"/>
                <a:gd name="connsiteX12" fmla="*/ 229985 w 229985"/>
                <a:gd name="connsiteY12" fmla="*/ 275186 h 28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9985" h="281006">
                  <a:moveTo>
                    <a:pt x="229907" y="275186"/>
                  </a:moveTo>
                  <a:lnTo>
                    <a:pt x="229907" y="0"/>
                  </a:lnTo>
                  <a:lnTo>
                    <a:pt x="161044" y="0"/>
                  </a:lnTo>
                  <a:lnTo>
                    <a:pt x="161044" y="152183"/>
                  </a:lnTo>
                  <a:cubicBezTo>
                    <a:pt x="161044" y="186018"/>
                    <a:pt x="153427" y="215120"/>
                    <a:pt x="114954" y="215120"/>
                  </a:cubicBezTo>
                  <a:cubicBezTo>
                    <a:pt x="76480" y="215120"/>
                    <a:pt x="68863" y="187105"/>
                    <a:pt x="68863" y="149854"/>
                  </a:cubicBezTo>
                  <a:lnTo>
                    <a:pt x="68863" y="0"/>
                  </a:lnTo>
                  <a:lnTo>
                    <a:pt x="0" y="0"/>
                  </a:lnTo>
                  <a:lnTo>
                    <a:pt x="0" y="155675"/>
                  </a:lnTo>
                  <a:cubicBezTo>
                    <a:pt x="0" y="229710"/>
                    <a:pt x="26892" y="281006"/>
                    <a:pt x="98088" y="281006"/>
                  </a:cubicBezTo>
                  <a:cubicBezTo>
                    <a:pt x="122648" y="281006"/>
                    <a:pt x="147131" y="272858"/>
                    <a:pt x="162288" y="255940"/>
                  </a:cubicBezTo>
                  <a:lnTo>
                    <a:pt x="162288" y="275186"/>
                  </a:lnTo>
                  <a:lnTo>
                    <a:pt x="229985" y="275186"/>
                  </a:lnTo>
                  <a:close/>
                </a:path>
              </a:pathLst>
            </a:custGeom>
            <a:solidFill>
              <a:srgbClr val="FFFFFF"/>
            </a:solidFill>
            <a:ln w="7772" cap="flat">
              <a:noFill/>
              <a:prstDash val="solid"/>
              <a:miter/>
            </a:ln>
          </p:spPr>
          <p:txBody>
            <a:bodyPr rtlCol="0" anchor="ctr"/>
            <a:lstStyle/>
            <a:p>
              <a:endParaRPr lang="en-US"/>
            </a:p>
          </p:txBody>
        </p:sp>
        <p:sp>
          <p:nvSpPr>
            <p:cNvPr id="44" name="Freeform 40">
              <a:extLst>
                <a:ext uri="{FF2B5EF4-FFF2-40B4-BE49-F238E27FC236}">
                  <a16:creationId xmlns:a16="http://schemas.microsoft.com/office/drawing/2014/main" id="{386D9BA5-DBB8-188C-90FE-7CEFC3AE52B7}"/>
                </a:ext>
              </a:extLst>
            </p:cNvPr>
            <p:cNvSpPr/>
            <p:nvPr/>
          </p:nvSpPr>
          <p:spPr bwMode="invGray">
            <a:xfrm>
              <a:off x="4026014" y="4358071"/>
              <a:ext cx="229985" cy="281006"/>
            </a:xfrm>
            <a:custGeom>
              <a:avLst/>
              <a:gdLst>
                <a:gd name="connsiteX0" fmla="*/ 229907 w 229985"/>
                <a:gd name="connsiteY0" fmla="*/ 275186 h 281006"/>
                <a:gd name="connsiteX1" fmla="*/ 229907 w 229985"/>
                <a:gd name="connsiteY1" fmla="*/ 0 h 281006"/>
                <a:gd name="connsiteX2" fmla="*/ 161044 w 229985"/>
                <a:gd name="connsiteY2" fmla="*/ 0 h 281006"/>
                <a:gd name="connsiteX3" fmla="*/ 161044 w 229985"/>
                <a:gd name="connsiteY3" fmla="*/ 152183 h 281006"/>
                <a:gd name="connsiteX4" fmla="*/ 114954 w 229985"/>
                <a:gd name="connsiteY4" fmla="*/ 215120 h 281006"/>
                <a:gd name="connsiteX5" fmla="*/ 68863 w 229985"/>
                <a:gd name="connsiteY5" fmla="*/ 149854 h 281006"/>
                <a:gd name="connsiteX6" fmla="*/ 68863 w 229985"/>
                <a:gd name="connsiteY6" fmla="*/ 0 h 281006"/>
                <a:gd name="connsiteX7" fmla="*/ 0 w 229985"/>
                <a:gd name="connsiteY7" fmla="*/ 0 h 281006"/>
                <a:gd name="connsiteX8" fmla="*/ 0 w 229985"/>
                <a:gd name="connsiteY8" fmla="*/ 155675 h 281006"/>
                <a:gd name="connsiteX9" fmla="*/ 98088 w 229985"/>
                <a:gd name="connsiteY9" fmla="*/ 281006 h 281006"/>
                <a:gd name="connsiteX10" fmla="*/ 162288 w 229985"/>
                <a:gd name="connsiteY10" fmla="*/ 255940 h 281006"/>
                <a:gd name="connsiteX11" fmla="*/ 162288 w 229985"/>
                <a:gd name="connsiteY11" fmla="*/ 275186 h 281006"/>
                <a:gd name="connsiteX12" fmla="*/ 229985 w 229985"/>
                <a:gd name="connsiteY12" fmla="*/ 275186 h 28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9985" h="281006">
                  <a:moveTo>
                    <a:pt x="229907" y="275186"/>
                  </a:moveTo>
                  <a:lnTo>
                    <a:pt x="229907" y="0"/>
                  </a:lnTo>
                  <a:lnTo>
                    <a:pt x="161044" y="0"/>
                  </a:lnTo>
                  <a:lnTo>
                    <a:pt x="161044" y="152183"/>
                  </a:lnTo>
                  <a:cubicBezTo>
                    <a:pt x="161044" y="186018"/>
                    <a:pt x="153427" y="215120"/>
                    <a:pt x="114954" y="215120"/>
                  </a:cubicBezTo>
                  <a:cubicBezTo>
                    <a:pt x="76480" y="215120"/>
                    <a:pt x="68863" y="187105"/>
                    <a:pt x="68863" y="149854"/>
                  </a:cubicBezTo>
                  <a:lnTo>
                    <a:pt x="68863" y="0"/>
                  </a:lnTo>
                  <a:lnTo>
                    <a:pt x="0" y="0"/>
                  </a:lnTo>
                  <a:lnTo>
                    <a:pt x="0" y="155675"/>
                  </a:lnTo>
                  <a:cubicBezTo>
                    <a:pt x="0" y="229710"/>
                    <a:pt x="26892" y="281006"/>
                    <a:pt x="98088" y="281006"/>
                  </a:cubicBezTo>
                  <a:cubicBezTo>
                    <a:pt x="122648" y="281006"/>
                    <a:pt x="147131" y="272858"/>
                    <a:pt x="162288" y="255940"/>
                  </a:cubicBezTo>
                  <a:lnTo>
                    <a:pt x="162288" y="275186"/>
                  </a:lnTo>
                  <a:lnTo>
                    <a:pt x="229985" y="275186"/>
                  </a:lnTo>
                  <a:close/>
                </a:path>
              </a:pathLst>
            </a:custGeom>
            <a:solidFill>
              <a:srgbClr val="FFFFFF"/>
            </a:solidFill>
            <a:ln w="7772" cap="flat">
              <a:noFill/>
              <a:prstDash val="solid"/>
              <a:miter/>
            </a:ln>
          </p:spPr>
          <p:txBody>
            <a:bodyPr rtlCol="0" anchor="ctr"/>
            <a:lstStyle/>
            <a:p>
              <a:endParaRPr lang="en-US"/>
            </a:p>
          </p:txBody>
        </p:sp>
        <p:sp>
          <p:nvSpPr>
            <p:cNvPr id="45" name="Freeform 41">
              <a:extLst>
                <a:ext uri="{FF2B5EF4-FFF2-40B4-BE49-F238E27FC236}">
                  <a16:creationId xmlns:a16="http://schemas.microsoft.com/office/drawing/2014/main" id="{D82AFF45-D84F-87F5-2936-BEFD26D04927}"/>
                </a:ext>
              </a:extLst>
            </p:cNvPr>
            <p:cNvSpPr/>
            <p:nvPr/>
          </p:nvSpPr>
          <p:spPr bwMode="invGray">
            <a:xfrm>
              <a:off x="8604890" y="4352561"/>
              <a:ext cx="240555" cy="286904"/>
            </a:xfrm>
            <a:custGeom>
              <a:avLst/>
              <a:gdLst>
                <a:gd name="connsiteX0" fmla="*/ 131976 w 240555"/>
                <a:gd name="connsiteY0" fmla="*/ 218069 h 286904"/>
                <a:gd name="connsiteX1" fmla="*/ 73605 w 240555"/>
                <a:gd name="connsiteY1" fmla="*/ 142870 h 286904"/>
                <a:gd name="connsiteX2" fmla="*/ 131432 w 240555"/>
                <a:gd name="connsiteY2" fmla="*/ 68215 h 286904"/>
                <a:gd name="connsiteX3" fmla="*/ 193300 w 240555"/>
                <a:gd name="connsiteY3" fmla="*/ 106706 h 286904"/>
                <a:gd name="connsiteX4" fmla="*/ 240012 w 240555"/>
                <a:gd name="connsiteY4" fmla="*/ 59445 h 286904"/>
                <a:gd name="connsiteX5" fmla="*/ 131976 w 240555"/>
                <a:gd name="connsiteY5" fmla="*/ 0 h 286904"/>
                <a:gd name="connsiteX6" fmla="*/ 0 w 240555"/>
                <a:gd name="connsiteY6" fmla="*/ 144034 h 286904"/>
                <a:gd name="connsiteX7" fmla="*/ 130810 w 240555"/>
                <a:gd name="connsiteY7" fmla="*/ 286904 h 286904"/>
                <a:gd name="connsiteX8" fmla="*/ 240556 w 240555"/>
                <a:gd name="connsiteY8" fmla="*/ 226295 h 286904"/>
                <a:gd name="connsiteX9" fmla="*/ 195010 w 240555"/>
                <a:gd name="connsiteY9" fmla="*/ 183147 h 286904"/>
                <a:gd name="connsiteX10" fmla="*/ 131976 w 240555"/>
                <a:gd name="connsiteY10" fmla="*/ 218146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0555" h="286904">
                  <a:moveTo>
                    <a:pt x="131976" y="218069"/>
                  </a:moveTo>
                  <a:cubicBezTo>
                    <a:pt x="91093" y="218069"/>
                    <a:pt x="73605" y="182526"/>
                    <a:pt x="73605" y="142870"/>
                  </a:cubicBezTo>
                  <a:cubicBezTo>
                    <a:pt x="73605" y="100343"/>
                    <a:pt x="93424" y="68215"/>
                    <a:pt x="131432" y="68215"/>
                  </a:cubicBezTo>
                  <a:cubicBezTo>
                    <a:pt x="159490" y="68215"/>
                    <a:pt x="176978" y="85132"/>
                    <a:pt x="193300" y="106706"/>
                  </a:cubicBezTo>
                  <a:lnTo>
                    <a:pt x="240012" y="59445"/>
                  </a:lnTo>
                  <a:cubicBezTo>
                    <a:pt x="214907" y="22117"/>
                    <a:pt x="181020" y="0"/>
                    <a:pt x="131976" y="0"/>
                  </a:cubicBezTo>
                  <a:cubicBezTo>
                    <a:pt x="46168" y="0"/>
                    <a:pt x="0" y="68215"/>
                    <a:pt x="0" y="144034"/>
                  </a:cubicBezTo>
                  <a:cubicBezTo>
                    <a:pt x="0" y="226838"/>
                    <a:pt x="55495" y="286904"/>
                    <a:pt x="130810" y="286904"/>
                  </a:cubicBezTo>
                  <a:cubicBezTo>
                    <a:pt x="185139" y="286904"/>
                    <a:pt x="217239" y="256018"/>
                    <a:pt x="240556" y="226295"/>
                  </a:cubicBezTo>
                  <a:lnTo>
                    <a:pt x="195010" y="183147"/>
                  </a:lnTo>
                  <a:cubicBezTo>
                    <a:pt x="178066" y="204721"/>
                    <a:pt x="157080" y="218146"/>
                    <a:pt x="131976" y="218146"/>
                  </a:cubicBezTo>
                  <a:close/>
                </a:path>
              </a:pathLst>
            </a:custGeom>
            <a:solidFill>
              <a:srgbClr val="FFFFFF"/>
            </a:solidFill>
            <a:ln w="7772" cap="flat">
              <a:noFill/>
              <a:prstDash val="solid"/>
              <a:miter/>
            </a:ln>
          </p:spPr>
          <p:txBody>
            <a:bodyPr rtlCol="0" anchor="ctr"/>
            <a:lstStyle/>
            <a:p>
              <a:endParaRPr lang="en-US"/>
            </a:p>
          </p:txBody>
        </p:sp>
        <p:sp>
          <p:nvSpPr>
            <p:cNvPr id="46" name="Freeform 42">
              <a:extLst>
                <a:ext uri="{FF2B5EF4-FFF2-40B4-BE49-F238E27FC236}">
                  <a16:creationId xmlns:a16="http://schemas.microsoft.com/office/drawing/2014/main" id="{9749B3AD-B18E-A317-9496-970930AD1E9E}"/>
                </a:ext>
              </a:extLst>
            </p:cNvPr>
            <p:cNvSpPr/>
            <p:nvPr/>
          </p:nvSpPr>
          <p:spPr bwMode="invGray">
            <a:xfrm>
              <a:off x="6846230" y="4352561"/>
              <a:ext cx="258043" cy="286826"/>
            </a:xfrm>
            <a:custGeom>
              <a:avLst/>
              <a:gdLst>
                <a:gd name="connsiteX0" fmla="*/ 129022 w 258043"/>
                <a:gd name="connsiteY0" fmla="*/ 0 h 286826"/>
                <a:gd name="connsiteX1" fmla="*/ 0 w 258043"/>
                <a:gd name="connsiteY1" fmla="*/ 143413 h 286826"/>
                <a:gd name="connsiteX2" fmla="*/ 129022 w 258043"/>
                <a:gd name="connsiteY2" fmla="*/ 286827 h 286826"/>
                <a:gd name="connsiteX3" fmla="*/ 258043 w 258043"/>
                <a:gd name="connsiteY3" fmla="*/ 143413 h 286826"/>
                <a:gd name="connsiteX4" fmla="*/ 129022 w 258043"/>
                <a:gd name="connsiteY4" fmla="*/ 0 h 286826"/>
                <a:gd name="connsiteX5" fmla="*/ 129022 w 258043"/>
                <a:gd name="connsiteY5" fmla="*/ 218069 h 286826"/>
                <a:gd name="connsiteX6" fmla="*/ 73527 w 258043"/>
                <a:gd name="connsiteY6" fmla="*/ 143413 h 286826"/>
                <a:gd name="connsiteX7" fmla="*/ 129022 w 258043"/>
                <a:gd name="connsiteY7" fmla="*/ 68215 h 286826"/>
                <a:gd name="connsiteX8" fmla="*/ 184517 w 258043"/>
                <a:gd name="connsiteY8" fmla="*/ 143413 h 286826"/>
                <a:gd name="connsiteX9" fmla="*/ 129022 w 258043"/>
                <a:gd name="connsiteY9" fmla="*/ 218069 h 28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8043" h="286826">
                  <a:moveTo>
                    <a:pt x="129022" y="0"/>
                  </a:moveTo>
                  <a:cubicBezTo>
                    <a:pt x="49588" y="0"/>
                    <a:pt x="0" y="62394"/>
                    <a:pt x="0" y="143413"/>
                  </a:cubicBezTo>
                  <a:cubicBezTo>
                    <a:pt x="0" y="228546"/>
                    <a:pt x="54329" y="286827"/>
                    <a:pt x="129022" y="286827"/>
                  </a:cubicBezTo>
                  <a:cubicBezTo>
                    <a:pt x="203714" y="286827"/>
                    <a:pt x="258043" y="228546"/>
                    <a:pt x="258043" y="143413"/>
                  </a:cubicBezTo>
                  <a:cubicBezTo>
                    <a:pt x="258043" y="58281"/>
                    <a:pt x="208378" y="0"/>
                    <a:pt x="129022" y="0"/>
                  </a:cubicBezTo>
                  <a:close/>
                  <a:moveTo>
                    <a:pt x="129022" y="218069"/>
                  </a:moveTo>
                  <a:cubicBezTo>
                    <a:pt x="83476" y="218069"/>
                    <a:pt x="73527" y="174378"/>
                    <a:pt x="73527" y="143413"/>
                  </a:cubicBezTo>
                  <a:cubicBezTo>
                    <a:pt x="73527" y="100886"/>
                    <a:pt x="91015" y="68215"/>
                    <a:pt x="129022" y="68215"/>
                  </a:cubicBezTo>
                  <a:cubicBezTo>
                    <a:pt x="167029" y="68215"/>
                    <a:pt x="184517" y="100886"/>
                    <a:pt x="184517" y="143413"/>
                  </a:cubicBezTo>
                  <a:cubicBezTo>
                    <a:pt x="184517" y="174300"/>
                    <a:pt x="174568" y="218069"/>
                    <a:pt x="129022" y="218069"/>
                  </a:cubicBezTo>
                  <a:close/>
                </a:path>
              </a:pathLst>
            </a:custGeom>
            <a:solidFill>
              <a:srgbClr val="FFFFFF"/>
            </a:solidFill>
            <a:ln w="7772" cap="flat">
              <a:noFill/>
              <a:prstDash val="solid"/>
              <a:miter/>
            </a:ln>
          </p:spPr>
          <p:txBody>
            <a:bodyPr rtlCol="0" anchor="ctr"/>
            <a:lstStyle/>
            <a:p>
              <a:endParaRPr lang="en-US"/>
            </a:p>
          </p:txBody>
        </p:sp>
        <p:sp>
          <p:nvSpPr>
            <p:cNvPr id="47" name="Freeform 43">
              <a:extLst>
                <a:ext uri="{FF2B5EF4-FFF2-40B4-BE49-F238E27FC236}">
                  <a16:creationId xmlns:a16="http://schemas.microsoft.com/office/drawing/2014/main" id="{8D532166-FC1E-3BB8-10BD-4760656F162B}"/>
                </a:ext>
              </a:extLst>
            </p:cNvPr>
            <p:cNvSpPr/>
            <p:nvPr/>
          </p:nvSpPr>
          <p:spPr bwMode="invGray">
            <a:xfrm>
              <a:off x="7419599" y="4252917"/>
              <a:ext cx="174646" cy="380573"/>
            </a:xfrm>
            <a:custGeom>
              <a:avLst/>
              <a:gdLst>
                <a:gd name="connsiteX0" fmla="*/ 38551 w 174646"/>
                <a:gd name="connsiteY0" fmla="*/ 72250 h 380573"/>
                <a:gd name="connsiteX1" fmla="*/ 38551 w 174646"/>
                <a:gd name="connsiteY1" fmla="*/ 105465 h 380573"/>
                <a:gd name="connsiteX2" fmla="*/ 0 w 174646"/>
                <a:gd name="connsiteY2" fmla="*/ 105465 h 380573"/>
                <a:gd name="connsiteX3" fmla="*/ 0 w 174646"/>
                <a:gd name="connsiteY3" fmla="*/ 171894 h 380573"/>
                <a:gd name="connsiteX4" fmla="*/ 38551 w 174646"/>
                <a:gd name="connsiteY4" fmla="*/ 171894 h 380573"/>
                <a:gd name="connsiteX5" fmla="*/ 38551 w 174646"/>
                <a:gd name="connsiteY5" fmla="*/ 380573 h 380573"/>
                <a:gd name="connsiteX6" fmla="*/ 109824 w 174646"/>
                <a:gd name="connsiteY6" fmla="*/ 380573 h 380573"/>
                <a:gd name="connsiteX7" fmla="*/ 109824 w 174646"/>
                <a:gd name="connsiteY7" fmla="*/ 171894 h 380573"/>
                <a:gd name="connsiteX8" fmla="*/ 168817 w 174646"/>
                <a:gd name="connsiteY8" fmla="*/ 171894 h 380573"/>
                <a:gd name="connsiteX9" fmla="*/ 168817 w 174646"/>
                <a:gd name="connsiteY9" fmla="*/ 105465 h 380573"/>
                <a:gd name="connsiteX10" fmla="*/ 109824 w 174646"/>
                <a:gd name="connsiteY10" fmla="*/ 105465 h 380573"/>
                <a:gd name="connsiteX11" fmla="*/ 109824 w 174646"/>
                <a:gd name="connsiteY11" fmla="*/ 83347 h 380573"/>
                <a:gd name="connsiteX12" fmla="*/ 139592 w 174646"/>
                <a:gd name="connsiteY12" fmla="*/ 59445 h 380573"/>
                <a:gd name="connsiteX13" fmla="*/ 174646 w 174646"/>
                <a:gd name="connsiteY13" fmla="*/ 64722 h 380573"/>
                <a:gd name="connsiteX14" fmla="*/ 174646 w 174646"/>
                <a:gd name="connsiteY14" fmla="*/ 7605 h 380573"/>
                <a:gd name="connsiteX15" fmla="*/ 122649 w 174646"/>
                <a:gd name="connsiteY15" fmla="*/ 0 h 380573"/>
                <a:gd name="connsiteX16" fmla="*/ 38551 w 174646"/>
                <a:gd name="connsiteY16" fmla="*/ 72328 h 38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646" h="380573">
                  <a:moveTo>
                    <a:pt x="38551" y="72250"/>
                  </a:moveTo>
                  <a:lnTo>
                    <a:pt x="38551" y="105465"/>
                  </a:lnTo>
                  <a:lnTo>
                    <a:pt x="0" y="105465"/>
                  </a:lnTo>
                  <a:lnTo>
                    <a:pt x="0" y="171894"/>
                  </a:lnTo>
                  <a:lnTo>
                    <a:pt x="38551" y="171894"/>
                  </a:lnTo>
                  <a:lnTo>
                    <a:pt x="38551" y="380573"/>
                  </a:lnTo>
                  <a:lnTo>
                    <a:pt x="109824" y="380573"/>
                  </a:lnTo>
                  <a:lnTo>
                    <a:pt x="109824" y="171894"/>
                  </a:lnTo>
                  <a:lnTo>
                    <a:pt x="168817" y="171894"/>
                  </a:lnTo>
                  <a:lnTo>
                    <a:pt x="168817" y="105465"/>
                  </a:lnTo>
                  <a:lnTo>
                    <a:pt x="109824" y="105465"/>
                  </a:lnTo>
                  <a:lnTo>
                    <a:pt x="109824" y="83347"/>
                  </a:lnTo>
                  <a:cubicBezTo>
                    <a:pt x="109824" y="65886"/>
                    <a:pt x="119151" y="59445"/>
                    <a:pt x="139592" y="59445"/>
                  </a:cubicBezTo>
                  <a:cubicBezTo>
                    <a:pt x="150085" y="59445"/>
                    <a:pt x="164153" y="61230"/>
                    <a:pt x="174646" y="64722"/>
                  </a:cubicBezTo>
                  <a:lnTo>
                    <a:pt x="174646" y="7605"/>
                  </a:lnTo>
                  <a:cubicBezTo>
                    <a:pt x="160034" y="1785"/>
                    <a:pt x="137883" y="0"/>
                    <a:pt x="122649" y="0"/>
                  </a:cubicBezTo>
                  <a:cubicBezTo>
                    <a:pt x="70651" y="0"/>
                    <a:pt x="38551" y="20953"/>
                    <a:pt x="38551" y="72328"/>
                  </a:cubicBezTo>
                  <a:close/>
                </a:path>
              </a:pathLst>
            </a:custGeom>
            <a:solidFill>
              <a:srgbClr val="FFFFFF"/>
            </a:solidFill>
            <a:ln w="7772" cap="flat">
              <a:noFill/>
              <a:prstDash val="solid"/>
              <a:miter/>
            </a:ln>
          </p:spPr>
          <p:txBody>
            <a:bodyPr rtlCol="0" anchor="ctr"/>
            <a:lstStyle/>
            <a:p>
              <a:endParaRPr lang="en-US"/>
            </a:p>
          </p:txBody>
        </p:sp>
        <p:sp>
          <p:nvSpPr>
            <p:cNvPr id="48" name="Freeform 44">
              <a:extLst>
                <a:ext uri="{FF2B5EF4-FFF2-40B4-BE49-F238E27FC236}">
                  <a16:creationId xmlns:a16="http://schemas.microsoft.com/office/drawing/2014/main" id="{728FB9B7-BC2A-E8EE-CC96-8056F0BB6D66}"/>
                </a:ext>
              </a:extLst>
            </p:cNvPr>
            <p:cNvSpPr/>
            <p:nvPr/>
          </p:nvSpPr>
          <p:spPr bwMode="invGray">
            <a:xfrm>
              <a:off x="3814838" y="4252917"/>
              <a:ext cx="174645" cy="380573"/>
            </a:xfrm>
            <a:custGeom>
              <a:avLst/>
              <a:gdLst>
                <a:gd name="connsiteX0" fmla="*/ 38551 w 174645"/>
                <a:gd name="connsiteY0" fmla="*/ 72250 h 380573"/>
                <a:gd name="connsiteX1" fmla="*/ 38551 w 174645"/>
                <a:gd name="connsiteY1" fmla="*/ 105465 h 380573"/>
                <a:gd name="connsiteX2" fmla="*/ 0 w 174645"/>
                <a:gd name="connsiteY2" fmla="*/ 105465 h 380573"/>
                <a:gd name="connsiteX3" fmla="*/ 0 w 174645"/>
                <a:gd name="connsiteY3" fmla="*/ 171894 h 380573"/>
                <a:gd name="connsiteX4" fmla="*/ 38551 w 174645"/>
                <a:gd name="connsiteY4" fmla="*/ 171894 h 380573"/>
                <a:gd name="connsiteX5" fmla="*/ 38551 w 174645"/>
                <a:gd name="connsiteY5" fmla="*/ 380573 h 380573"/>
                <a:gd name="connsiteX6" fmla="*/ 109824 w 174645"/>
                <a:gd name="connsiteY6" fmla="*/ 380573 h 380573"/>
                <a:gd name="connsiteX7" fmla="*/ 109824 w 174645"/>
                <a:gd name="connsiteY7" fmla="*/ 171894 h 380573"/>
                <a:gd name="connsiteX8" fmla="*/ 168817 w 174645"/>
                <a:gd name="connsiteY8" fmla="*/ 171894 h 380573"/>
                <a:gd name="connsiteX9" fmla="*/ 168817 w 174645"/>
                <a:gd name="connsiteY9" fmla="*/ 105465 h 380573"/>
                <a:gd name="connsiteX10" fmla="*/ 109824 w 174645"/>
                <a:gd name="connsiteY10" fmla="*/ 105465 h 380573"/>
                <a:gd name="connsiteX11" fmla="*/ 109824 w 174645"/>
                <a:gd name="connsiteY11" fmla="*/ 83347 h 380573"/>
                <a:gd name="connsiteX12" fmla="*/ 139592 w 174645"/>
                <a:gd name="connsiteY12" fmla="*/ 59445 h 380573"/>
                <a:gd name="connsiteX13" fmla="*/ 174646 w 174645"/>
                <a:gd name="connsiteY13" fmla="*/ 64722 h 380573"/>
                <a:gd name="connsiteX14" fmla="*/ 174646 w 174645"/>
                <a:gd name="connsiteY14" fmla="*/ 7605 h 380573"/>
                <a:gd name="connsiteX15" fmla="*/ 122648 w 174645"/>
                <a:gd name="connsiteY15" fmla="*/ 0 h 380573"/>
                <a:gd name="connsiteX16" fmla="*/ 38551 w 174645"/>
                <a:gd name="connsiteY16" fmla="*/ 72328 h 38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645" h="380573">
                  <a:moveTo>
                    <a:pt x="38551" y="72250"/>
                  </a:moveTo>
                  <a:lnTo>
                    <a:pt x="38551" y="105465"/>
                  </a:lnTo>
                  <a:lnTo>
                    <a:pt x="0" y="105465"/>
                  </a:lnTo>
                  <a:lnTo>
                    <a:pt x="0" y="171894"/>
                  </a:lnTo>
                  <a:lnTo>
                    <a:pt x="38551" y="171894"/>
                  </a:lnTo>
                  <a:lnTo>
                    <a:pt x="38551" y="380573"/>
                  </a:lnTo>
                  <a:lnTo>
                    <a:pt x="109824" y="380573"/>
                  </a:lnTo>
                  <a:lnTo>
                    <a:pt x="109824" y="171894"/>
                  </a:lnTo>
                  <a:lnTo>
                    <a:pt x="168817" y="171894"/>
                  </a:lnTo>
                  <a:lnTo>
                    <a:pt x="168817" y="105465"/>
                  </a:lnTo>
                  <a:lnTo>
                    <a:pt x="109824" y="105465"/>
                  </a:lnTo>
                  <a:lnTo>
                    <a:pt x="109824" y="83347"/>
                  </a:lnTo>
                  <a:cubicBezTo>
                    <a:pt x="109824" y="65886"/>
                    <a:pt x="119151" y="59445"/>
                    <a:pt x="139592" y="59445"/>
                  </a:cubicBezTo>
                  <a:cubicBezTo>
                    <a:pt x="150085" y="59445"/>
                    <a:pt x="164153" y="61230"/>
                    <a:pt x="174646" y="64722"/>
                  </a:cubicBezTo>
                  <a:lnTo>
                    <a:pt x="174646" y="7605"/>
                  </a:lnTo>
                  <a:cubicBezTo>
                    <a:pt x="160034" y="1785"/>
                    <a:pt x="137882" y="0"/>
                    <a:pt x="122648" y="0"/>
                  </a:cubicBezTo>
                  <a:cubicBezTo>
                    <a:pt x="70651" y="0"/>
                    <a:pt x="38551" y="20953"/>
                    <a:pt x="38551" y="72328"/>
                  </a:cubicBezTo>
                  <a:close/>
                </a:path>
              </a:pathLst>
            </a:custGeom>
            <a:solidFill>
              <a:srgbClr val="FFFFFF"/>
            </a:solidFill>
            <a:ln w="7772" cap="flat">
              <a:noFill/>
              <a:prstDash val="solid"/>
              <a:miter/>
            </a:ln>
          </p:spPr>
          <p:txBody>
            <a:bodyPr rtlCol="0" anchor="ctr"/>
            <a:lstStyle/>
            <a:p>
              <a:endParaRPr lang="en-US"/>
            </a:p>
          </p:txBody>
        </p:sp>
        <p:sp>
          <p:nvSpPr>
            <p:cNvPr id="49" name="Freeform 45">
              <a:extLst>
                <a:ext uri="{FF2B5EF4-FFF2-40B4-BE49-F238E27FC236}">
                  <a16:creationId xmlns:a16="http://schemas.microsoft.com/office/drawing/2014/main" id="{6DC03A3E-322C-0026-3E8F-C682C13A1DAB}"/>
                </a:ext>
              </a:extLst>
            </p:cNvPr>
            <p:cNvSpPr/>
            <p:nvPr/>
          </p:nvSpPr>
          <p:spPr bwMode="invGray">
            <a:xfrm>
              <a:off x="7146866" y="4352561"/>
              <a:ext cx="237680" cy="281083"/>
            </a:xfrm>
            <a:custGeom>
              <a:avLst/>
              <a:gdLst>
                <a:gd name="connsiteX0" fmla="*/ 138426 w 237680"/>
                <a:gd name="connsiteY0" fmla="*/ 0 h 281083"/>
                <a:gd name="connsiteX1" fmla="*/ 71273 w 237680"/>
                <a:gd name="connsiteY1" fmla="*/ 24523 h 281083"/>
                <a:gd name="connsiteX2" fmla="*/ 71273 w 237680"/>
                <a:gd name="connsiteY2" fmla="*/ 5898 h 281083"/>
                <a:gd name="connsiteX3" fmla="*/ 0 w 237680"/>
                <a:gd name="connsiteY3" fmla="*/ 5898 h 281083"/>
                <a:gd name="connsiteX4" fmla="*/ 0 w 237680"/>
                <a:gd name="connsiteY4" fmla="*/ 281084 h 281083"/>
                <a:gd name="connsiteX5" fmla="*/ 71273 w 237680"/>
                <a:gd name="connsiteY5" fmla="*/ 281084 h 281083"/>
                <a:gd name="connsiteX6" fmla="*/ 71273 w 237680"/>
                <a:gd name="connsiteY6" fmla="*/ 129522 h 281083"/>
                <a:gd name="connsiteX7" fmla="*/ 119151 w 237680"/>
                <a:gd name="connsiteY7" fmla="*/ 67128 h 281083"/>
                <a:gd name="connsiteX8" fmla="*/ 166407 w 237680"/>
                <a:gd name="connsiteY8" fmla="*/ 131229 h 281083"/>
                <a:gd name="connsiteX9" fmla="*/ 166407 w 237680"/>
                <a:gd name="connsiteY9" fmla="*/ 281084 h 281083"/>
                <a:gd name="connsiteX10" fmla="*/ 237680 w 237680"/>
                <a:gd name="connsiteY10" fmla="*/ 281084 h 281083"/>
                <a:gd name="connsiteX11" fmla="*/ 237680 w 237680"/>
                <a:gd name="connsiteY11" fmla="*/ 125409 h 281083"/>
                <a:gd name="connsiteX12" fmla="*/ 138426 w 237680"/>
                <a:gd name="connsiteY12" fmla="*/ 78 h 28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7680" h="281083">
                  <a:moveTo>
                    <a:pt x="138426" y="0"/>
                  </a:moveTo>
                  <a:cubicBezTo>
                    <a:pt x="107492" y="0"/>
                    <a:pt x="85885" y="9933"/>
                    <a:pt x="71273" y="24523"/>
                  </a:cubicBezTo>
                  <a:lnTo>
                    <a:pt x="71273" y="5898"/>
                  </a:lnTo>
                  <a:lnTo>
                    <a:pt x="0" y="5898"/>
                  </a:lnTo>
                  <a:lnTo>
                    <a:pt x="0" y="281084"/>
                  </a:lnTo>
                  <a:lnTo>
                    <a:pt x="71273" y="281084"/>
                  </a:lnTo>
                  <a:lnTo>
                    <a:pt x="71273" y="129522"/>
                  </a:lnTo>
                  <a:cubicBezTo>
                    <a:pt x="71273" y="88702"/>
                    <a:pt x="82931" y="67128"/>
                    <a:pt x="119151" y="67128"/>
                  </a:cubicBezTo>
                  <a:cubicBezTo>
                    <a:pt x="157702" y="67128"/>
                    <a:pt x="166407" y="92815"/>
                    <a:pt x="166407" y="131229"/>
                  </a:cubicBezTo>
                  <a:lnTo>
                    <a:pt x="166407" y="281084"/>
                  </a:lnTo>
                  <a:lnTo>
                    <a:pt x="237680" y="281084"/>
                  </a:lnTo>
                  <a:lnTo>
                    <a:pt x="237680" y="125409"/>
                  </a:lnTo>
                  <a:cubicBezTo>
                    <a:pt x="237680" y="57816"/>
                    <a:pt x="213119" y="78"/>
                    <a:pt x="138426" y="78"/>
                  </a:cubicBezTo>
                  <a:close/>
                </a:path>
              </a:pathLst>
            </a:custGeom>
            <a:solidFill>
              <a:srgbClr val="FFFFFF"/>
            </a:solidFill>
            <a:ln w="7772" cap="flat">
              <a:noFill/>
              <a:prstDash val="solid"/>
              <a:miter/>
            </a:ln>
          </p:spPr>
          <p:txBody>
            <a:bodyPr rtlCol="0" anchor="ctr"/>
            <a:lstStyle/>
            <a:p>
              <a:endParaRPr lang="en-US"/>
            </a:p>
          </p:txBody>
        </p:sp>
        <p:sp>
          <p:nvSpPr>
            <p:cNvPr id="50" name="Freeform 46">
              <a:extLst>
                <a:ext uri="{FF2B5EF4-FFF2-40B4-BE49-F238E27FC236}">
                  <a16:creationId xmlns:a16="http://schemas.microsoft.com/office/drawing/2014/main" id="{8124A495-AC52-40E1-B3E2-1F6333FFD4F3}"/>
                </a:ext>
              </a:extLst>
            </p:cNvPr>
            <p:cNvSpPr/>
            <p:nvPr/>
          </p:nvSpPr>
          <p:spPr bwMode="invGray">
            <a:xfrm>
              <a:off x="7635595" y="4358382"/>
              <a:ext cx="71272" cy="275185"/>
            </a:xfrm>
            <a:custGeom>
              <a:avLst/>
              <a:gdLst>
                <a:gd name="connsiteX0" fmla="*/ 0 w 71272"/>
                <a:gd name="connsiteY0" fmla="*/ 0 h 275185"/>
                <a:gd name="connsiteX1" fmla="*/ 71273 w 71272"/>
                <a:gd name="connsiteY1" fmla="*/ 0 h 275185"/>
                <a:gd name="connsiteX2" fmla="*/ 71273 w 71272"/>
                <a:gd name="connsiteY2" fmla="*/ 275186 h 275185"/>
                <a:gd name="connsiteX3" fmla="*/ 0 w 71272"/>
                <a:gd name="connsiteY3" fmla="*/ 275186 h 275185"/>
              </a:gdLst>
              <a:ahLst/>
              <a:cxnLst>
                <a:cxn ang="0">
                  <a:pos x="connsiteX0" y="connsiteY0"/>
                </a:cxn>
                <a:cxn ang="0">
                  <a:pos x="connsiteX1" y="connsiteY1"/>
                </a:cxn>
                <a:cxn ang="0">
                  <a:pos x="connsiteX2" y="connsiteY2"/>
                </a:cxn>
                <a:cxn ang="0">
                  <a:pos x="connsiteX3" y="connsiteY3"/>
                </a:cxn>
              </a:cxnLst>
              <a:rect l="l" t="t" r="r" b="b"/>
              <a:pathLst>
                <a:path w="71272" h="275185">
                  <a:moveTo>
                    <a:pt x="0" y="0"/>
                  </a:moveTo>
                  <a:lnTo>
                    <a:pt x="71273" y="0"/>
                  </a:lnTo>
                  <a:lnTo>
                    <a:pt x="71273" y="275186"/>
                  </a:lnTo>
                  <a:lnTo>
                    <a:pt x="0" y="275186"/>
                  </a:lnTo>
                  <a:close/>
                </a:path>
              </a:pathLst>
            </a:custGeom>
            <a:solidFill>
              <a:srgbClr val="FFFFFF"/>
            </a:solidFill>
            <a:ln w="7772" cap="flat">
              <a:noFill/>
              <a:prstDash val="solid"/>
              <a:miter/>
            </a:ln>
          </p:spPr>
          <p:txBody>
            <a:bodyPr rtlCol="0" anchor="ctr"/>
            <a:lstStyle/>
            <a:p>
              <a:endParaRPr lang="en-US"/>
            </a:p>
          </p:txBody>
        </p:sp>
        <p:sp>
          <p:nvSpPr>
            <p:cNvPr id="51" name="Freeform 47">
              <a:extLst>
                <a:ext uri="{FF2B5EF4-FFF2-40B4-BE49-F238E27FC236}">
                  <a16:creationId xmlns:a16="http://schemas.microsoft.com/office/drawing/2014/main" id="{D8E55BF7-2091-05E3-6682-B0E3D6BC81B8}"/>
                </a:ext>
              </a:extLst>
            </p:cNvPr>
            <p:cNvSpPr/>
            <p:nvPr/>
          </p:nvSpPr>
          <p:spPr bwMode="invGray">
            <a:xfrm>
              <a:off x="7630931" y="4252839"/>
              <a:ext cx="81765" cy="81639"/>
            </a:xfrm>
            <a:custGeom>
              <a:avLst/>
              <a:gdLst>
                <a:gd name="connsiteX0" fmla="*/ 40883 w 81765"/>
                <a:gd name="connsiteY0" fmla="*/ 0 h 81639"/>
                <a:gd name="connsiteX1" fmla="*/ 0 w 81765"/>
                <a:gd name="connsiteY1" fmla="*/ 40820 h 81639"/>
                <a:gd name="connsiteX2" fmla="*/ 40883 w 81765"/>
                <a:gd name="connsiteY2" fmla="*/ 81640 h 81639"/>
                <a:gd name="connsiteX3" fmla="*/ 81766 w 81765"/>
                <a:gd name="connsiteY3" fmla="*/ 40820 h 81639"/>
                <a:gd name="connsiteX4" fmla="*/ 40883 w 81765"/>
                <a:gd name="connsiteY4" fmla="*/ 0 h 8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65" h="81639">
                  <a:moveTo>
                    <a:pt x="40883" y="0"/>
                  </a:moveTo>
                  <a:cubicBezTo>
                    <a:pt x="18110" y="0"/>
                    <a:pt x="0" y="18082"/>
                    <a:pt x="0" y="40820"/>
                  </a:cubicBezTo>
                  <a:cubicBezTo>
                    <a:pt x="0" y="63558"/>
                    <a:pt x="18110" y="81640"/>
                    <a:pt x="40883" y="81640"/>
                  </a:cubicBezTo>
                  <a:cubicBezTo>
                    <a:pt x="63656" y="81640"/>
                    <a:pt x="81766" y="63558"/>
                    <a:pt x="81766" y="40820"/>
                  </a:cubicBezTo>
                  <a:cubicBezTo>
                    <a:pt x="81766" y="18082"/>
                    <a:pt x="63656" y="0"/>
                    <a:pt x="40883" y="0"/>
                  </a:cubicBezTo>
                  <a:close/>
                </a:path>
              </a:pathLst>
            </a:custGeom>
            <a:solidFill>
              <a:srgbClr val="FFFFFF"/>
            </a:solidFill>
            <a:ln w="7772" cap="flat">
              <a:noFill/>
              <a:prstDash val="solid"/>
              <a:miter/>
            </a:ln>
          </p:spPr>
          <p:txBody>
            <a:bodyPr rtlCol="0" anchor="ctr"/>
            <a:lstStyle/>
            <a:p>
              <a:endParaRPr lang="en-US"/>
            </a:p>
          </p:txBody>
        </p:sp>
      </p:grpSp>
      <p:grpSp>
        <p:nvGrpSpPr>
          <p:cNvPr id="52" name="Group 51">
            <a:extLst>
              <a:ext uri="{FF2B5EF4-FFF2-40B4-BE49-F238E27FC236}">
                <a16:creationId xmlns:a16="http://schemas.microsoft.com/office/drawing/2014/main" id="{AEE9F7A6-ACBD-7517-D6DF-C8ECE42C490A}"/>
              </a:ext>
            </a:extLst>
          </p:cNvPr>
          <p:cNvGrpSpPr/>
          <p:nvPr userDrawn="1"/>
        </p:nvGrpSpPr>
        <p:grpSpPr>
          <a:xfrm>
            <a:off x="485774" y="1291008"/>
            <a:ext cx="5706110" cy="4360545"/>
            <a:chOff x="485774" y="1291008"/>
            <a:chExt cx="5706110" cy="4360545"/>
          </a:xfrm>
        </p:grpSpPr>
        <p:sp>
          <p:nvSpPr>
            <p:cNvPr id="53" name="Freeform 49">
              <a:extLst>
                <a:ext uri="{FF2B5EF4-FFF2-40B4-BE49-F238E27FC236}">
                  <a16:creationId xmlns:a16="http://schemas.microsoft.com/office/drawing/2014/main" id="{87782289-4313-C5FF-72AD-8DAD938921C2}"/>
                </a:ext>
              </a:extLst>
            </p:cNvPr>
            <p:cNvSpPr/>
            <p:nvPr/>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accent1"/>
            </a:solidFill>
            <a:ln w="63500" cap="flat">
              <a:noFill/>
              <a:prstDash val="solid"/>
              <a:miter/>
            </a:ln>
          </p:spPr>
          <p:txBody>
            <a:bodyPr rtlCol="0" anchor="ctr"/>
            <a:lstStyle/>
            <a:p>
              <a:endParaRPr lang="en-US"/>
            </a:p>
          </p:txBody>
        </p:sp>
        <p:sp>
          <p:nvSpPr>
            <p:cNvPr id="54" name="Freeform 50">
              <a:extLst>
                <a:ext uri="{FF2B5EF4-FFF2-40B4-BE49-F238E27FC236}">
                  <a16:creationId xmlns:a16="http://schemas.microsoft.com/office/drawing/2014/main" id="{DA2290ED-1C01-4BE8-4FFC-355A1D45E7FF}"/>
                </a:ext>
              </a:extLst>
            </p:cNvPr>
            <p:cNvSpPr/>
            <p:nvPr/>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7000">
                  <a:schemeClr val="accent1"/>
                </a:gs>
                <a:gs pos="80000">
                  <a:schemeClr val="accent5"/>
                </a:gs>
              </a:gsLst>
              <a:lin ang="19140000" scaled="0"/>
              <a:tileRect/>
            </a:gradFill>
            <a:ln w="8181" cap="flat">
              <a:noFill/>
              <a:prstDash val="solid"/>
              <a:miter/>
            </a:ln>
          </p:spPr>
          <p:txBody>
            <a:bodyPr rtlCol="0" anchor="ctr"/>
            <a:lstStyle/>
            <a:p>
              <a:pPr lvl="0"/>
              <a:endParaRPr lang="en-US"/>
            </a:p>
          </p:txBody>
        </p:sp>
      </p:grpSp>
      <p:sp>
        <p:nvSpPr>
          <p:cNvPr id="55" name="TextBox 54">
            <a:extLst>
              <a:ext uri="{FF2B5EF4-FFF2-40B4-BE49-F238E27FC236}">
                <a16:creationId xmlns:a16="http://schemas.microsoft.com/office/drawing/2014/main" id="{3A5F50A7-973C-994B-4CB0-421D3390AF8F}"/>
              </a:ext>
            </a:extLst>
          </p:cNvPr>
          <p:cNvSpPr txBox="1"/>
          <p:nvPr userDrawn="1"/>
        </p:nvSpPr>
        <p:spPr>
          <a:xfrm>
            <a:off x="479582" y="6297351"/>
            <a:ext cx="6817777" cy="196208"/>
          </a:xfrm>
          <a:prstGeom prst="rect">
            <a:avLst/>
          </a:prstGeom>
          <a:noFill/>
        </p:spPr>
        <p:txBody>
          <a:bodyPr wrap="square" lIns="0" tIns="36576" rIns="0" bIns="0" rtlCol="0" anchor="t">
            <a:spAutoFit/>
          </a:bodyPr>
          <a:lstStyle/>
          <a:p>
            <a:pPr marL="0" indent="0" algn="l">
              <a:lnSpc>
                <a:spcPct val="90000"/>
              </a:lnSpc>
              <a:spcBef>
                <a:spcPts val="400"/>
              </a:spcBef>
              <a:spcAft>
                <a:spcPts val="400"/>
              </a:spcAft>
              <a:buClr>
                <a:schemeClr val="tx2"/>
              </a:buClr>
              <a:buSzPct val="100000"/>
              <a:buFont typeface="Wingdings" pitchFamily="2" charset="2"/>
              <a:buNone/>
            </a:pPr>
            <a:r>
              <a:rPr lang="en-GB" sz="1150" dirty="0">
                <a:solidFill>
                  <a:schemeClr val="bg1"/>
                </a:solidFill>
                <a:latin typeface="+mj-lt"/>
              </a:rPr>
              <a:t>Together with ’s full spectrum of skills, services and ecosystem partners.</a:t>
            </a:r>
          </a:p>
        </p:txBody>
      </p:sp>
      <p:sp>
        <p:nvSpPr>
          <p:cNvPr id="56" name="Freeform 50">
            <a:extLst>
              <a:ext uri="{FF2B5EF4-FFF2-40B4-BE49-F238E27FC236}">
                <a16:creationId xmlns:a16="http://schemas.microsoft.com/office/drawing/2014/main" id="{16BD0B7D-31ED-3A66-1F6F-7FC0C7680223}"/>
              </a:ext>
            </a:extLst>
          </p:cNvPr>
          <p:cNvSpPr/>
          <p:nvPr userDrawn="1"/>
        </p:nvSpPr>
        <p:spPr>
          <a:xfrm>
            <a:off x="485775" y="6160958"/>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57" name="Freeform 50">
            <a:extLst>
              <a:ext uri="{FF2B5EF4-FFF2-40B4-BE49-F238E27FC236}">
                <a16:creationId xmlns:a16="http://schemas.microsoft.com/office/drawing/2014/main" id="{C8A9AB61-9943-DB49-226A-4FBD41D05129}"/>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chemeClr val="accent5"/>
          </a:solidFill>
          <a:ln w="63500" cap="flat">
            <a:noFill/>
            <a:prstDash val="solid"/>
            <a:miter/>
          </a:ln>
        </p:spPr>
        <p:txBody>
          <a:bodyPr rtlCol="0" anchor="ctr"/>
          <a:lstStyle/>
          <a:p>
            <a:endParaRPr lang="en-US"/>
          </a:p>
        </p:txBody>
      </p:sp>
    </p:spTree>
    <p:extLst>
      <p:ext uri="{BB962C8B-B14F-4D97-AF65-F5344CB8AC3E}">
        <p14:creationId xmlns:p14="http://schemas.microsoft.com/office/powerpoint/2010/main" val="31873684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Title Slide Frame 4">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E2051BCE-D2DA-7E41-A5F0-D0B77C70254A}"/>
              </a:ext>
            </a:extLst>
          </p:cNvPr>
          <p:cNvGraphicFramePr>
            <a:graphicFrameLocks noChangeAspect="1"/>
          </p:cNvGraphicFramePr>
          <p:nvPr userDrawn="1">
            <p:custDataLst>
              <p:tags r:id="rId1"/>
            </p:custDataLst>
            <p:extLst>
              <p:ext uri="{D42A27DB-BD31-4B8C-83A1-F6EECF244321}">
                <p14:modId xmlns:p14="http://schemas.microsoft.com/office/powerpoint/2010/main" val="714330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9" name="think-cell data - do not delete" hidden="1">
                        <a:extLst>
                          <a:ext uri="{FF2B5EF4-FFF2-40B4-BE49-F238E27FC236}">
                            <a16:creationId xmlns:a16="http://schemas.microsoft.com/office/drawing/2014/main" id="{E2051BCE-D2DA-7E41-A5F0-D0B77C70254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0" name="Picture 19">
            <a:extLst>
              <a:ext uri="{FF2B5EF4-FFF2-40B4-BE49-F238E27FC236}">
                <a16:creationId xmlns:a16="http://schemas.microsoft.com/office/drawing/2014/main" id="{13FA5D9B-435E-6F0D-CE9D-BFD15A0E330F}"/>
              </a:ext>
            </a:extLst>
          </p:cNvPr>
          <p:cNvPicPr>
            <a:picLocks noChangeAspect="1"/>
          </p:cNvPicPr>
          <p:nvPr userDrawn="1"/>
        </p:nvPicPr>
        <p:blipFill>
          <a:blip r:embed="rId5"/>
          <a:srcRect b="19463"/>
          <a:stretch/>
        </p:blipFill>
        <p:spPr>
          <a:xfrm>
            <a:off x="0" y="0"/>
            <a:ext cx="12192000" cy="6858000"/>
          </a:xfrm>
          <a:prstGeom prst="rect">
            <a:avLst/>
          </a:prstGeom>
        </p:spPr>
      </p:pic>
      <p:sp>
        <p:nvSpPr>
          <p:cNvPr id="14" name="Rectangle 13">
            <a:extLst>
              <a:ext uri="{FF2B5EF4-FFF2-40B4-BE49-F238E27FC236}">
                <a16:creationId xmlns:a16="http://schemas.microsoft.com/office/drawing/2014/main" id="{FDCA11D1-FE32-A112-2678-634D232D86B4}"/>
              </a:ext>
              <a:ext uri="{C183D7F6-B498-43B3-948B-1728B52AA6E4}">
                <adec:decorative xmlns:adec="http://schemas.microsoft.com/office/drawing/2017/decorative" val="1"/>
              </a:ext>
            </a:extLst>
          </p:cNvPr>
          <p:cNvSpPr/>
          <p:nvPr userDrawn="1"/>
        </p:nvSpPr>
        <p:spPr bwMode="white">
          <a:xfrm rot="16200000">
            <a:off x="7255316" y="1921316"/>
            <a:ext cx="3015367" cy="6858000"/>
          </a:xfrm>
          <a:prstGeom prst="rect">
            <a:avLst/>
          </a:prstGeom>
          <a:gradFill flip="none" rotWithShape="1">
            <a:gsLst>
              <a:gs pos="50000">
                <a:schemeClr val="bg1">
                  <a:alpha val="0"/>
                </a:schemeClr>
              </a:gs>
              <a:gs pos="100000">
                <a:schemeClr val="bg1"/>
              </a:gs>
            </a:gsLst>
            <a:lin ang="81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1A1A24"/>
              </a:solidFill>
              <a:effectLst/>
              <a:uLnTx/>
              <a:uFillTx/>
              <a:latin typeface="EYInterstate Light"/>
              <a:ea typeface="+mn-ea"/>
              <a:cs typeface="+mn-cs"/>
            </a:endParaRPr>
          </a:p>
        </p:txBody>
      </p:sp>
      <p:sp>
        <p:nvSpPr>
          <p:cNvPr id="3" name="Rectangle 2">
            <a:extLst>
              <a:ext uri="{FF2B5EF4-FFF2-40B4-BE49-F238E27FC236}">
                <a16:creationId xmlns:a16="http://schemas.microsoft.com/office/drawing/2014/main" id="{E2D7BB4A-5FCC-BE0E-4598-A4CBBA847A08}"/>
              </a:ext>
              <a:ext uri="{C183D7F6-B498-43B3-948B-1728B52AA6E4}">
                <adec:decorative xmlns:adec="http://schemas.microsoft.com/office/drawing/2017/decorative" val="1"/>
              </a:ext>
            </a:extLst>
          </p:cNvPr>
          <p:cNvSpPr/>
          <p:nvPr userDrawn="1"/>
        </p:nvSpPr>
        <p:spPr bwMode="white">
          <a:xfrm>
            <a:off x="-5794"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1A1A24"/>
              </a:solidFill>
              <a:effectLst/>
              <a:uLnTx/>
              <a:uFillTx/>
              <a:latin typeface="EYInterstate Light"/>
              <a:ea typeface="+mn-ea"/>
              <a:cs typeface="+mn-cs"/>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047865"/>
            <a:ext cx="4907628" cy="511939"/>
          </a:xfrm>
        </p:spPr>
        <p:txBody>
          <a:bodyPr wrap="square">
            <a:noAutofit/>
          </a:bodyPr>
          <a:lstStyle>
            <a:lvl1pPr marL="0" indent="0" algn="l">
              <a:buNone/>
              <a:defRPr lang="en-GB" sz="1600" kern="1200" dirty="0">
                <a:solidFill>
                  <a:schemeClr val="bg1"/>
                </a:solidFill>
                <a:latin typeface="+mj-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310131"/>
            <a:ext cx="4906009" cy="1654043"/>
          </a:xfrm>
        </p:spPr>
        <p:txBody>
          <a:bodyPr vert="horz" anchor="t">
            <a:noAutofit/>
          </a:bodyPr>
          <a:lstStyle>
            <a:lvl1pPr algn="l" defTabSz="914400" rtl="0" eaLnBrk="1" latinLnBrk="0" hangingPunct="1">
              <a:lnSpc>
                <a:spcPct val="85000"/>
              </a:lnSpc>
              <a:spcBef>
                <a:spcPct val="0"/>
              </a:spcBef>
              <a:buNone/>
              <a:defRPr lang="en-US" sz="4200" b="1" i="0" kern="1200" dirty="0">
                <a:solidFill>
                  <a:schemeClr val="bg1"/>
                </a:solidFill>
                <a:latin typeface="+mj-lt"/>
                <a:ea typeface="+mj-ea"/>
                <a:cs typeface="Arial" pitchFamily="34" charset="0"/>
              </a:defRPr>
            </a:lvl1pPr>
          </a:lstStyle>
          <a:p>
            <a:r>
              <a:rPr lang="en-US"/>
              <a:t>Click to edit Master title style</a:t>
            </a:r>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4658865"/>
            <a:ext cx="4906010" cy="246221"/>
          </a:xfrm>
        </p:spPr>
        <p:txBody>
          <a:bodyPr wrap="square">
            <a:spAutoFit/>
          </a:bodyPr>
          <a:lstStyle>
            <a:lvl1pPr marL="0" indent="0">
              <a:buNone/>
              <a:defRPr sz="1600" b="1">
                <a:latin typeface="+mj-lt"/>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US"/>
              <a:t>Click to edit Master text styles</a:t>
            </a:r>
          </a:p>
        </p:txBody>
      </p:sp>
      <p:grpSp>
        <p:nvGrpSpPr>
          <p:cNvPr id="8" name="Group 7">
            <a:extLst>
              <a:ext uri="{FF2B5EF4-FFF2-40B4-BE49-F238E27FC236}">
                <a16:creationId xmlns:a16="http://schemas.microsoft.com/office/drawing/2014/main" id="{53C054C4-B0F1-3513-59FC-805A098DBE34}"/>
              </a:ext>
            </a:extLst>
          </p:cNvPr>
          <p:cNvGrpSpPr/>
          <p:nvPr userDrawn="1"/>
        </p:nvGrpSpPr>
        <p:grpSpPr>
          <a:xfrm>
            <a:off x="485775" y="5776013"/>
            <a:ext cx="4940935" cy="318770"/>
            <a:chOff x="485775" y="6164633"/>
            <a:chExt cx="4940935" cy="318770"/>
          </a:xfrm>
        </p:grpSpPr>
        <p:sp>
          <p:nvSpPr>
            <p:cNvPr id="9" name="Freeform 8">
              <a:extLst>
                <a:ext uri="{FF2B5EF4-FFF2-40B4-BE49-F238E27FC236}">
                  <a16:creationId xmlns:a16="http://schemas.microsoft.com/office/drawing/2014/main" id="{7A3E19F4-4DB4-F59A-2A51-47A2D55A90E0}"/>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1A9AFA"/>
            </a:solidFill>
            <a:ln w="6350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10" name="Freeform 9">
              <a:extLst>
                <a:ext uri="{FF2B5EF4-FFF2-40B4-BE49-F238E27FC236}">
                  <a16:creationId xmlns:a16="http://schemas.microsoft.com/office/drawing/2014/main" id="{9A1F91B4-6F38-3316-FDC2-178FAFEB4F31}"/>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grpSp>
      <p:grpSp>
        <p:nvGrpSpPr>
          <p:cNvPr id="5" name="Group 4">
            <a:extLst>
              <a:ext uri="{FF2B5EF4-FFF2-40B4-BE49-F238E27FC236}">
                <a16:creationId xmlns:a16="http://schemas.microsoft.com/office/drawing/2014/main" id="{482CE306-E61A-923E-80E0-77174AA308EC}"/>
              </a:ext>
            </a:extLst>
          </p:cNvPr>
          <p:cNvGrpSpPr/>
          <p:nvPr userDrawn="1"/>
        </p:nvGrpSpPr>
        <p:grpSpPr>
          <a:xfrm>
            <a:off x="485774" y="902388"/>
            <a:ext cx="5706110" cy="4360545"/>
            <a:chOff x="485774" y="1291008"/>
            <a:chExt cx="5706110" cy="4360545"/>
          </a:xfrm>
        </p:grpSpPr>
        <p:sp>
          <p:nvSpPr>
            <p:cNvPr id="6" name="Freeform 25">
              <a:extLst>
                <a:ext uri="{FF2B5EF4-FFF2-40B4-BE49-F238E27FC236}">
                  <a16:creationId xmlns:a16="http://schemas.microsoft.com/office/drawing/2014/main" id="{A3BE74D9-8944-FC80-254E-9804F1A62AAB}"/>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rgbClr val="1A9AFA"/>
            </a:solidFill>
            <a:ln w="6350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 name="Freeform 3">
              <a:extLst>
                <a:ext uri="{FF2B5EF4-FFF2-40B4-BE49-F238E27FC236}">
                  <a16:creationId xmlns:a16="http://schemas.microsoft.com/office/drawing/2014/main" id="{EE7ADBF8-7DC8-E7E1-3CFB-0964B45D2348}"/>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1A9AFA"/>
                </a:gs>
                <a:gs pos="63000">
                  <a:srgbClr val="4EBEEB"/>
                </a:gs>
                <a:gs pos="100000">
                  <a:srgbClr val="32FFFF"/>
                </a:gs>
              </a:gsLst>
              <a:lin ang="19500000" scaled="0"/>
              <a:tileRect/>
            </a:gradFill>
            <a:ln w="8181"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grpSp>
      <p:grpSp>
        <p:nvGrpSpPr>
          <p:cNvPr id="2" name="Group 1">
            <a:extLst>
              <a:ext uri="{FF2B5EF4-FFF2-40B4-BE49-F238E27FC236}">
                <a16:creationId xmlns:a16="http://schemas.microsoft.com/office/drawing/2014/main" id="{257D3A8D-1491-2EB9-66B1-22B23BD56E18}"/>
              </a:ext>
            </a:extLst>
          </p:cNvPr>
          <p:cNvGrpSpPr>
            <a:grpSpLocks noChangeAspect="1"/>
          </p:cNvGrpSpPr>
          <p:nvPr userDrawn="1"/>
        </p:nvGrpSpPr>
        <p:grpSpPr bwMode="invGray">
          <a:xfrm>
            <a:off x="8489731" y="5435717"/>
            <a:ext cx="1569911" cy="680592"/>
            <a:chOff x="1333500" y="1365250"/>
            <a:chExt cx="7772399" cy="3369514"/>
          </a:xfrm>
        </p:grpSpPr>
        <p:sp>
          <p:nvSpPr>
            <p:cNvPr id="4" name="Freeform 11">
              <a:extLst>
                <a:ext uri="{FF2B5EF4-FFF2-40B4-BE49-F238E27FC236}">
                  <a16:creationId xmlns:a16="http://schemas.microsoft.com/office/drawing/2014/main" id="{271953EA-E924-D3B7-4B4A-0BB3AB32D600}"/>
                </a:ext>
              </a:extLst>
            </p:cNvPr>
            <p:cNvSpPr/>
            <p:nvPr/>
          </p:nvSpPr>
          <p:spPr bwMode="invGray">
            <a:xfrm>
              <a:off x="3765639" y="2990756"/>
              <a:ext cx="635704" cy="857763"/>
            </a:xfrm>
            <a:custGeom>
              <a:avLst/>
              <a:gdLst>
                <a:gd name="connsiteX0" fmla="*/ 504506 w 635704"/>
                <a:gd name="connsiteY0" fmla="*/ 268512 h 857763"/>
                <a:gd name="connsiteX1" fmla="*/ 494014 w 635704"/>
                <a:gd name="connsiteY1" fmla="*/ 205730 h 857763"/>
                <a:gd name="connsiteX2" fmla="*/ 464323 w 635704"/>
                <a:gd name="connsiteY2" fmla="*/ 159400 h 857763"/>
                <a:gd name="connsiteX3" fmla="*/ 417922 w 635704"/>
                <a:gd name="connsiteY3" fmla="*/ 130997 h 857763"/>
                <a:gd name="connsiteX4" fmla="*/ 357142 w 635704"/>
                <a:gd name="connsiteY4" fmla="*/ 121374 h 857763"/>
                <a:gd name="connsiteX5" fmla="*/ 126457 w 635704"/>
                <a:gd name="connsiteY5" fmla="*/ 121374 h 857763"/>
                <a:gd name="connsiteX6" fmla="*/ 126457 w 635704"/>
                <a:gd name="connsiteY6" fmla="*/ 416892 h 857763"/>
                <a:gd name="connsiteX7" fmla="*/ 357142 w 635704"/>
                <a:gd name="connsiteY7" fmla="*/ 416892 h 857763"/>
                <a:gd name="connsiteX8" fmla="*/ 467976 w 635704"/>
                <a:gd name="connsiteY8" fmla="*/ 377391 h 857763"/>
                <a:gd name="connsiteX9" fmla="*/ 504506 w 635704"/>
                <a:gd name="connsiteY9" fmla="*/ 268512 h 857763"/>
                <a:gd name="connsiteX10" fmla="*/ 635704 w 635704"/>
                <a:gd name="connsiteY10" fmla="*/ 268512 h 857763"/>
                <a:gd name="connsiteX11" fmla="*/ 614719 w 635704"/>
                <a:gd name="connsiteY11" fmla="*/ 385152 h 857763"/>
                <a:gd name="connsiteX12" fmla="*/ 556037 w 635704"/>
                <a:gd name="connsiteY12" fmla="*/ 469198 h 857763"/>
                <a:gd name="connsiteX13" fmla="*/ 466111 w 635704"/>
                <a:gd name="connsiteY13" fmla="*/ 520339 h 857763"/>
                <a:gd name="connsiteX14" fmla="*/ 351079 w 635704"/>
                <a:gd name="connsiteY14" fmla="*/ 537722 h 857763"/>
                <a:gd name="connsiteX15" fmla="*/ 126379 w 635704"/>
                <a:gd name="connsiteY15" fmla="*/ 537722 h 857763"/>
                <a:gd name="connsiteX16" fmla="*/ 126379 w 635704"/>
                <a:gd name="connsiteY16" fmla="*/ 857764 h 857763"/>
                <a:gd name="connsiteX17" fmla="*/ 0 w 635704"/>
                <a:gd name="connsiteY17" fmla="*/ 857764 h 857763"/>
                <a:gd name="connsiteX18" fmla="*/ 0 w 635704"/>
                <a:gd name="connsiteY18" fmla="*/ 0 h 857763"/>
                <a:gd name="connsiteX19" fmla="*/ 359474 w 635704"/>
                <a:gd name="connsiteY19" fmla="*/ 0 h 857763"/>
                <a:gd name="connsiteX20" fmla="*/ 469375 w 635704"/>
                <a:gd name="connsiteY20" fmla="*/ 17073 h 857763"/>
                <a:gd name="connsiteX21" fmla="*/ 556815 w 635704"/>
                <a:gd name="connsiteY21" fmla="*/ 67594 h 857763"/>
                <a:gd name="connsiteX22" fmla="*/ 614641 w 635704"/>
                <a:gd name="connsiteY22" fmla="*/ 151639 h 857763"/>
                <a:gd name="connsiteX23" fmla="*/ 635627 w 635704"/>
                <a:gd name="connsiteY23" fmla="*/ 268590 h 857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35704" h="857763">
                  <a:moveTo>
                    <a:pt x="504506" y="268512"/>
                  </a:moveTo>
                  <a:cubicBezTo>
                    <a:pt x="504506" y="244998"/>
                    <a:pt x="501009" y="224044"/>
                    <a:pt x="494014" y="205730"/>
                  </a:cubicBezTo>
                  <a:cubicBezTo>
                    <a:pt x="487018" y="187415"/>
                    <a:pt x="477148" y="171972"/>
                    <a:pt x="464323" y="159400"/>
                  </a:cubicBezTo>
                  <a:cubicBezTo>
                    <a:pt x="451576" y="146828"/>
                    <a:pt x="436031" y="137360"/>
                    <a:pt x="417922" y="130997"/>
                  </a:cubicBezTo>
                  <a:cubicBezTo>
                    <a:pt x="399734" y="124633"/>
                    <a:pt x="379448" y="121374"/>
                    <a:pt x="357142" y="121374"/>
                  </a:cubicBezTo>
                  <a:lnTo>
                    <a:pt x="126457" y="121374"/>
                  </a:lnTo>
                  <a:lnTo>
                    <a:pt x="126457" y="416892"/>
                  </a:lnTo>
                  <a:lnTo>
                    <a:pt x="357142" y="416892"/>
                  </a:lnTo>
                  <a:cubicBezTo>
                    <a:pt x="406652" y="416892"/>
                    <a:pt x="443571" y="403699"/>
                    <a:pt x="467976" y="377391"/>
                  </a:cubicBezTo>
                  <a:cubicBezTo>
                    <a:pt x="492304" y="351083"/>
                    <a:pt x="504506" y="314764"/>
                    <a:pt x="504506" y="268512"/>
                  </a:cubicBezTo>
                  <a:moveTo>
                    <a:pt x="635704" y="268512"/>
                  </a:moveTo>
                  <a:cubicBezTo>
                    <a:pt x="635704" y="312746"/>
                    <a:pt x="628709" y="351626"/>
                    <a:pt x="614719" y="385152"/>
                  </a:cubicBezTo>
                  <a:cubicBezTo>
                    <a:pt x="600729" y="418677"/>
                    <a:pt x="581220" y="446692"/>
                    <a:pt x="556037" y="469198"/>
                  </a:cubicBezTo>
                  <a:cubicBezTo>
                    <a:pt x="530855" y="491703"/>
                    <a:pt x="500931" y="508776"/>
                    <a:pt x="466111" y="520339"/>
                  </a:cubicBezTo>
                  <a:cubicBezTo>
                    <a:pt x="431368" y="531902"/>
                    <a:pt x="393050" y="537722"/>
                    <a:pt x="351079" y="537722"/>
                  </a:cubicBezTo>
                  <a:lnTo>
                    <a:pt x="126379" y="537722"/>
                  </a:lnTo>
                  <a:lnTo>
                    <a:pt x="126379" y="857764"/>
                  </a:lnTo>
                  <a:lnTo>
                    <a:pt x="0" y="857764"/>
                  </a:lnTo>
                  <a:lnTo>
                    <a:pt x="0" y="0"/>
                  </a:lnTo>
                  <a:lnTo>
                    <a:pt x="359474" y="0"/>
                  </a:lnTo>
                  <a:cubicBezTo>
                    <a:pt x="398957" y="0"/>
                    <a:pt x="435643" y="5665"/>
                    <a:pt x="469375" y="17073"/>
                  </a:cubicBezTo>
                  <a:cubicBezTo>
                    <a:pt x="503107" y="28481"/>
                    <a:pt x="532254" y="45321"/>
                    <a:pt x="556815" y="67594"/>
                  </a:cubicBezTo>
                  <a:cubicBezTo>
                    <a:pt x="581375" y="89944"/>
                    <a:pt x="600651" y="117959"/>
                    <a:pt x="614641" y="151639"/>
                  </a:cubicBezTo>
                  <a:cubicBezTo>
                    <a:pt x="628632" y="185320"/>
                    <a:pt x="635627" y="224277"/>
                    <a:pt x="635627" y="268590"/>
                  </a:cubicBezTo>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21" name="Freeform 12">
              <a:extLst>
                <a:ext uri="{FF2B5EF4-FFF2-40B4-BE49-F238E27FC236}">
                  <a16:creationId xmlns:a16="http://schemas.microsoft.com/office/drawing/2014/main" id="{62186479-44DE-BA2B-680D-36E46D3D5053}"/>
                </a:ext>
              </a:extLst>
            </p:cNvPr>
            <p:cNvSpPr/>
            <p:nvPr/>
          </p:nvSpPr>
          <p:spPr bwMode="invGray">
            <a:xfrm>
              <a:off x="4442770" y="3191752"/>
              <a:ext cx="524092" cy="670503"/>
            </a:xfrm>
            <a:custGeom>
              <a:avLst/>
              <a:gdLst>
                <a:gd name="connsiteX0" fmla="*/ 400201 w 524092"/>
                <a:gd name="connsiteY0" fmla="*/ 382125 h 670503"/>
                <a:gd name="connsiteX1" fmla="*/ 367868 w 524092"/>
                <a:gd name="connsiteY1" fmla="*/ 369243 h 670503"/>
                <a:gd name="connsiteX2" fmla="*/ 337944 w 524092"/>
                <a:gd name="connsiteY2" fmla="*/ 361482 h 670503"/>
                <a:gd name="connsiteX3" fmla="*/ 300559 w 524092"/>
                <a:gd name="connsiteY3" fmla="*/ 356128 h 670503"/>
                <a:gd name="connsiteX4" fmla="*/ 252914 w 524092"/>
                <a:gd name="connsiteY4" fmla="*/ 354032 h 670503"/>
                <a:gd name="connsiteX5" fmla="*/ 156225 w 524092"/>
                <a:gd name="connsiteY5" fmla="*/ 379719 h 670503"/>
                <a:gd name="connsiteX6" fmla="*/ 120550 w 524092"/>
                <a:gd name="connsiteY6" fmla="*/ 449719 h 670503"/>
                <a:gd name="connsiteX7" fmla="*/ 130732 w 524092"/>
                <a:gd name="connsiteY7" fmla="*/ 498454 h 670503"/>
                <a:gd name="connsiteX8" fmla="*/ 156458 w 524092"/>
                <a:gd name="connsiteY8" fmla="*/ 531048 h 670503"/>
                <a:gd name="connsiteX9" fmla="*/ 193300 w 524092"/>
                <a:gd name="connsiteY9" fmla="*/ 549906 h 670503"/>
                <a:gd name="connsiteX10" fmla="*/ 244520 w 524092"/>
                <a:gd name="connsiteY10" fmla="*/ 556192 h 670503"/>
                <a:gd name="connsiteX11" fmla="*/ 293019 w 524092"/>
                <a:gd name="connsiteY11" fmla="*/ 548975 h 670503"/>
                <a:gd name="connsiteX12" fmla="*/ 336778 w 524092"/>
                <a:gd name="connsiteY12" fmla="*/ 530117 h 670503"/>
                <a:gd name="connsiteX13" fmla="*/ 373308 w 524092"/>
                <a:gd name="connsiteY13" fmla="*/ 503809 h 670503"/>
                <a:gd name="connsiteX14" fmla="*/ 400279 w 524092"/>
                <a:gd name="connsiteY14" fmla="*/ 474164 h 670503"/>
                <a:gd name="connsiteX15" fmla="*/ 400279 w 524092"/>
                <a:gd name="connsiteY15" fmla="*/ 382047 h 670503"/>
                <a:gd name="connsiteX16" fmla="*/ 400201 w 524092"/>
                <a:gd name="connsiteY16" fmla="*/ 656690 h 670503"/>
                <a:gd name="connsiteX17" fmla="*/ 400201 w 524092"/>
                <a:gd name="connsiteY17" fmla="*/ 593287 h 670503"/>
                <a:gd name="connsiteX18" fmla="*/ 359474 w 524092"/>
                <a:gd name="connsiteY18" fmla="*/ 626502 h 670503"/>
                <a:gd name="connsiteX19" fmla="*/ 325897 w 524092"/>
                <a:gd name="connsiteY19" fmla="*/ 646291 h 670503"/>
                <a:gd name="connsiteX20" fmla="*/ 281905 w 524092"/>
                <a:gd name="connsiteY20" fmla="*/ 663054 h 670503"/>
                <a:gd name="connsiteX21" fmla="*/ 223534 w 524092"/>
                <a:gd name="connsiteY21" fmla="*/ 670504 h 670503"/>
                <a:gd name="connsiteX22" fmla="*/ 144722 w 524092"/>
                <a:gd name="connsiteY22" fmla="*/ 658863 h 670503"/>
                <a:gd name="connsiteX23" fmla="*/ 72827 w 524092"/>
                <a:gd name="connsiteY23" fmla="*/ 621225 h 670503"/>
                <a:gd name="connsiteX24" fmla="*/ 20364 w 524092"/>
                <a:gd name="connsiteY24" fmla="*/ 553942 h 670503"/>
                <a:gd name="connsiteX25" fmla="*/ 0 w 524092"/>
                <a:gd name="connsiteY25" fmla="*/ 453444 h 670503"/>
                <a:gd name="connsiteX26" fmla="*/ 19431 w 524092"/>
                <a:gd name="connsiteY26" fmla="*/ 360473 h 670503"/>
                <a:gd name="connsiteX27" fmla="*/ 73371 w 524092"/>
                <a:gd name="connsiteY27" fmla="*/ 295596 h 670503"/>
                <a:gd name="connsiteX28" fmla="*/ 154826 w 524092"/>
                <a:gd name="connsiteY28" fmla="*/ 257570 h 670503"/>
                <a:gd name="connsiteX29" fmla="*/ 256334 w 524092"/>
                <a:gd name="connsiteY29" fmla="*/ 245308 h 670503"/>
                <a:gd name="connsiteX30" fmla="*/ 341986 w 524092"/>
                <a:gd name="connsiteY30" fmla="*/ 252215 h 670503"/>
                <a:gd name="connsiteX31" fmla="*/ 400123 w 524092"/>
                <a:gd name="connsiteY31" fmla="*/ 269831 h 670503"/>
                <a:gd name="connsiteX32" fmla="*/ 400123 w 524092"/>
                <a:gd name="connsiteY32" fmla="*/ 221949 h 670503"/>
                <a:gd name="connsiteX33" fmla="*/ 368956 w 524092"/>
                <a:gd name="connsiteY33" fmla="*/ 141240 h 670503"/>
                <a:gd name="connsiteX34" fmla="*/ 278485 w 524092"/>
                <a:gd name="connsiteY34" fmla="*/ 113148 h 670503"/>
                <a:gd name="connsiteX35" fmla="*/ 188636 w 524092"/>
                <a:gd name="connsiteY35" fmla="*/ 122693 h 670503"/>
                <a:gd name="connsiteX36" fmla="*/ 110757 w 524092"/>
                <a:gd name="connsiteY36" fmla="*/ 153192 h 670503"/>
                <a:gd name="connsiteX37" fmla="*/ 61635 w 524092"/>
                <a:gd name="connsiteY37" fmla="*/ 58048 h 670503"/>
                <a:gd name="connsiteX38" fmla="*/ 160733 w 524092"/>
                <a:gd name="connsiteY38" fmla="*/ 14667 h 670503"/>
                <a:gd name="connsiteX39" fmla="*/ 282060 w 524092"/>
                <a:gd name="connsiteY39" fmla="*/ 0 h 670503"/>
                <a:gd name="connsiteX40" fmla="*/ 380614 w 524092"/>
                <a:gd name="connsiteY40" fmla="*/ 13193 h 670503"/>
                <a:gd name="connsiteX41" fmla="*/ 457017 w 524092"/>
                <a:gd name="connsiteY41" fmla="*/ 53314 h 670503"/>
                <a:gd name="connsiteX42" fmla="*/ 506450 w 524092"/>
                <a:gd name="connsiteY42" fmla="*/ 120908 h 670503"/>
                <a:gd name="connsiteX43" fmla="*/ 524093 w 524092"/>
                <a:gd name="connsiteY43" fmla="*/ 216051 h 670503"/>
                <a:gd name="connsiteX44" fmla="*/ 524093 w 524092"/>
                <a:gd name="connsiteY44" fmla="*/ 656923 h 670503"/>
                <a:gd name="connsiteX45" fmla="*/ 400123 w 524092"/>
                <a:gd name="connsiteY45" fmla="*/ 656923 h 67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24092" h="670503">
                  <a:moveTo>
                    <a:pt x="400201" y="382125"/>
                  </a:moveTo>
                  <a:cubicBezTo>
                    <a:pt x="388231" y="376538"/>
                    <a:pt x="377428" y="372269"/>
                    <a:pt x="367868" y="369243"/>
                  </a:cubicBezTo>
                  <a:cubicBezTo>
                    <a:pt x="358308" y="366216"/>
                    <a:pt x="348359" y="363655"/>
                    <a:pt x="337944" y="361482"/>
                  </a:cubicBezTo>
                  <a:cubicBezTo>
                    <a:pt x="327607" y="359309"/>
                    <a:pt x="315093" y="357524"/>
                    <a:pt x="300559" y="356128"/>
                  </a:cubicBezTo>
                  <a:cubicBezTo>
                    <a:pt x="285946" y="354731"/>
                    <a:pt x="270091" y="354032"/>
                    <a:pt x="252914" y="354032"/>
                  </a:cubicBezTo>
                  <a:cubicBezTo>
                    <a:pt x="212186" y="354032"/>
                    <a:pt x="179931" y="362646"/>
                    <a:pt x="156225" y="379719"/>
                  </a:cubicBezTo>
                  <a:cubicBezTo>
                    <a:pt x="132442" y="396870"/>
                    <a:pt x="120550" y="420229"/>
                    <a:pt x="120550" y="449719"/>
                  </a:cubicBezTo>
                  <a:cubicBezTo>
                    <a:pt x="120550" y="468809"/>
                    <a:pt x="123892" y="485106"/>
                    <a:pt x="130732" y="498454"/>
                  </a:cubicBezTo>
                  <a:cubicBezTo>
                    <a:pt x="137494" y="511802"/>
                    <a:pt x="146121" y="522667"/>
                    <a:pt x="156458" y="531048"/>
                  </a:cubicBezTo>
                  <a:cubicBezTo>
                    <a:pt x="166796" y="539430"/>
                    <a:pt x="179154" y="545716"/>
                    <a:pt x="193300" y="549906"/>
                  </a:cubicBezTo>
                  <a:cubicBezTo>
                    <a:pt x="207523" y="554097"/>
                    <a:pt x="224545" y="556192"/>
                    <a:pt x="244520" y="556192"/>
                  </a:cubicBezTo>
                  <a:cubicBezTo>
                    <a:pt x="261308" y="556192"/>
                    <a:pt x="277475" y="553787"/>
                    <a:pt x="293019" y="548975"/>
                  </a:cubicBezTo>
                  <a:cubicBezTo>
                    <a:pt x="308642" y="544164"/>
                    <a:pt x="323176" y="537955"/>
                    <a:pt x="336778" y="530117"/>
                  </a:cubicBezTo>
                  <a:cubicBezTo>
                    <a:pt x="350380" y="522357"/>
                    <a:pt x="362505" y="513587"/>
                    <a:pt x="373308" y="503809"/>
                  </a:cubicBezTo>
                  <a:cubicBezTo>
                    <a:pt x="384112" y="494031"/>
                    <a:pt x="393050" y="484175"/>
                    <a:pt x="400279" y="474164"/>
                  </a:cubicBezTo>
                  <a:lnTo>
                    <a:pt x="400279" y="382047"/>
                  </a:lnTo>
                  <a:close/>
                  <a:moveTo>
                    <a:pt x="400201" y="656690"/>
                  </a:moveTo>
                  <a:lnTo>
                    <a:pt x="400201" y="593287"/>
                  </a:lnTo>
                  <a:cubicBezTo>
                    <a:pt x="383801" y="608498"/>
                    <a:pt x="370277" y="619518"/>
                    <a:pt x="359474" y="626502"/>
                  </a:cubicBezTo>
                  <a:cubicBezTo>
                    <a:pt x="348670" y="633486"/>
                    <a:pt x="337555" y="640083"/>
                    <a:pt x="325897" y="646291"/>
                  </a:cubicBezTo>
                  <a:cubicBezTo>
                    <a:pt x="314316" y="652422"/>
                    <a:pt x="299626" y="658009"/>
                    <a:pt x="281905" y="663054"/>
                  </a:cubicBezTo>
                  <a:cubicBezTo>
                    <a:pt x="264106" y="668021"/>
                    <a:pt x="244675" y="670504"/>
                    <a:pt x="223534" y="670504"/>
                  </a:cubicBezTo>
                  <a:cubicBezTo>
                    <a:pt x="197574" y="670504"/>
                    <a:pt x="171304" y="666624"/>
                    <a:pt x="144722" y="658863"/>
                  </a:cubicBezTo>
                  <a:cubicBezTo>
                    <a:pt x="118140" y="651103"/>
                    <a:pt x="94201" y="638531"/>
                    <a:pt x="72827" y="621225"/>
                  </a:cubicBezTo>
                  <a:cubicBezTo>
                    <a:pt x="51453" y="603842"/>
                    <a:pt x="33965" y="581414"/>
                    <a:pt x="20364" y="553942"/>
                  </a:cubicBezTo>
                  <a:cubicBezTo>
                    <a:pt x="6762" y="526470"/>
                    <a:pt x="0" y="492945"/>
                    <a:pt x="0" y="453444"/>
                  </a:cubicBezTo>
                  <a:cubicBezTo>
                    <a:pt x="0" y="417591"/>
                    <a:pt x="6451" y="386549"/>
                    <a:pt x="19431" y="360473"/>
                  </a:cubicBezTo>
                  <a:cubicBezTo>
                    <a:pt x="32411" y="334321"/>
                    <a:pt x="50365" y="312747"/>
                    <a:pt x="73371" y="295596"/>
                  </a:cubicBezTo>
                  <a:cubicBezTo>
                    <a:pt x="96378" y="278445"/>
                    <a:pt x="123503" y="265796"/>
                    <a:pt x="154826" y="257570"/>
                  </a:cubicBezTo>
                  <a:cubicBezTo>
                    <a:pt x="186149" y="249421"/>
                    <a:pt x="220037" y="245308"/>
                    <a:pt x="256334" y="245308"/>
                  </a:cubicBezTo>
                  <a:cubicBezTo>
                    <a:pt x="290299" y="245308"/>
                    <a:pt x="318824" y="247636"/>
                    <a:pt x="341986" y="252215"/>
                  </a:cubicBezTo>
                  <a:cubicBezTo>
                    <a:pt x="365147" y="256794"/>
                    <a:pt x="384501" y="262692"/>
                    <a:pt x="400123" y="269831"/>
                  </a:cubicBezTo>
                  <a:lnTo>
                    <a:pt x="400123" y="221949"/>
                  </a:lnTo>
                  <a:cubicBezTo>
                    <a:pt x="400123" y="186872"/>
                    <a:pt x="389786" y="159943"/>
                    <a:pt x="368956" y="141240"/>
                  </a:cubicBezTo>
                  <a:cubicBezTo>
                    <a:pt x="348203" y="122538"/>
                    <a:pt x="317969" y="113148"/>
                    <a:pt x="278485" y="113148"/>
                  </a:cubicBezTo>
                  <a:cubicBezTo>
                    <a:pt x="245297" y="113148"/>
                    <a:pt x="215373" y="116329"/>
                    <a:pt x="188636" y="122693"/>
                  </a:cubicBezTo>
                  <a:cubicBezTo>
                    <a:pt x="161899" y="129057"/>
                    <a:pt x="135939" y="139223"/>
                    <a:pt x="110757" y="153192"/>
                  </a:cubicBezTo>
                  <a:lnTo>
                    <a:pt x="61635" y="58048"/>
                  </a:lnTo>
                  <a:cubicBezTo>
                    <a:pt x="92414" y="38880"/>
                    <a:pt x="125446" y="24445"/>
                    <a:pt x="160733" y="14667"/>
                  </a:cubicBezTo>
                  <a:cubicBezTo>
                    <a:pt x="196098" y="4889"/>
                    <a:pt x="236514" y="0"/>
                    <a:pt x="282060" y="0"/>
                  </a:cubicBezTo>
                  <a:cubicBezTo>
                    <a:pt x="317969" y="0"/>
                    <a:pt x="350846" y="4423"/>
                    <a:pt x="380614" y="13193"/>
                  </a:cubicBezTo>
                  <a:cubicBezTo>
                    <a:pt x="410383" y="21962"/>
                    <a:pt x="435798" y="35310"/>
                    <a:pt x="457017" y="53314"/>
                  </a:cubicBezTo>
                  <a:cubicBezTo>
                    <a:pt x="478158" y="71241"/>
                    <a:pt x="494635" y="93746"/>
                    <a:pt x="506450" y="120908"/>
                  </a:cubicBezTo>
                  <a:cubicBezTo>
                    <a:pt x="518264" y="148070"/>
                    <a:pt x="524093" y="179732"/>
                    <a:pt x="524093" y="216051"/>
                  </a:cubicBezTo>
                  <a:lnTo>
                    <a:pt x="524093" y="656923"/>
                  </a:lnTo>
                  <a:lnTo>
                    <a:pt x="400123" y="656923"/>
                  </a:lnTo>
                  <a:close/>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22" name="Freeform 13">
              <a:extLst>
                <a:ext uri="{FF2B5EF4-FFF2-40B4-BE49-F238E27FC236}">
                  <a16:creationId xmlns:a16="http://schemas.microsoft.com/office/drawing/2014/main" id="{2957BA87-BED2-11FD-F718-DE3264BBE064}"/>
                </a:ext>
              </a:extLst>
            </p:cNvPr>
            <p:cNvSpPr/>
            <p:nvPr/>
          </p:nvSpPr>
          <p:spPr bwMode="invGray">
            <a:xfrm>
              <a:off x="5089745" y="3191596"/>
              <a:ext cx="382790" cy="656767"/>
            </a:xfrm>
            <a:custGeom>
              <a:avLst/>
              <a:gdLst>
                <a:gd name="connsiteX0" fmla="*/ 349369 w 382790"/>
                <a:gd name="connsiteY0" fmla="*/ 147216 h 656767"/>
                <a:gd name="connsiteX1" fmla="*/ 306543 w 382790"/>
                <a:gd name="connsiteY1" fmla="*/ 129833 h 656767"/>
                <a:gd name="connsiteX2" fmla="*/ 252914 w 382790"/>
                <a:gd name="connsiteY2" fmla="*/ 123857 h 656767"/>
                <a:gd name="connsiteX3" fmla="*/ 159412 w 382790"/>
                <a:gd name="connsiteY3" fmla="*/ 165375 h 656767"/>
                <a:gd name="connsiteX4" fmla="*/ 126457 w 382790"/>
                <a:gd name="connsiteY4" fmla="*/ 289465 h 656767"/>
                <a:gd name="connsiteX5" fmla="*/ 126457 w 382790"/>
                <a:gd name="connsiteY5" fmla="*/ 656768 h 656767"/>
                <a:gd name="connsiteX6" fmla="*/ 0 w 382790"/>
                <a:gd name="connsiteY6" fmla="*/ 656768 h 656767"/>
                <a:gd name="connsiteX7" fmla="*/ 0 w 382790"/>
                <a:gd name="connsiteY7" fmla="*/ 13736 h 656767"/>
                <a:gd name="connsiteX8" fmla="*/ 126457 w 382790"/>
                <a:gd name="connsiteY8" fmla="*/ 13736 h 656767"/>
                <a:gd name="connsiteX9" fmla="*/ 126457 w 382790"/>
                <a:gd name="connsiteY9" fmla="*/ 74733 h 656767"/>
                <a:gd name="connsiteX10" fmla="*/ 152805 w 382790"/>
                <a:gd name="connsiteY10" fmla="*/ 45088 h 656767"/>
                <a:gd name="connsiteX11" fmla="*/ 187237 w 382790"/>
                <a:gd name="connsiteY11" fmla="*/ 21497 h 656767"/>
                <a:gd name="connsiteX12" fmla="*/ 227654 w 382790"/>
                <a:gd name="connsiteY12" fmla="*/ 5665 h 656767"/>
                <a:gd name="connsiteX13" fmla="*/ 273200 w 382790"/>
                <a:gd name="connsiteY13" fmla="*/ 0 h 656767"/>
                <a:gd name="connsiteX14" fmla="*/ 337866 w 382790"/>
                <a:gd name="connsiteY14" fmla="*/ 7217 h 656767"/>
                <a:gd name="connsiteX15" fmla="*/ 382791 w 382790"/>
                <a:gd name="connsiteY15" fmla="*/ 26929 h 656767"/>
                <a:gd name="connsiteX16" fmla="*/ 349214 w 382790"/>
                <a:gd name="connsiteY16" fmla="*/ 147138 h 656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2790" h="656767">
                  <a:moveTo>
                    <a:pt x="349369" y="147216"/>
                  </a:moveTo>
                  <a:cubicBezTo>
                    <a:pt x="335768" y="139611"/>
                    <a:pt x="321467" y="133868"/>
                    <a:pt x="306543" y="129833"/>
                  </a:cubicBezTo>
                  <a:cubicBezTo>
                    <a:pt x="291543" y="125875"/>
                    <a:pt x="273666" y="123857"/>
                    <a:pt x="252914" y="123857"/>
                  </a:cubicBezTo>
                  <a:cubicBezTo>
                    <a:pt x="212575" y="123857"/>
                    <a:pt x="181408" y="137671"/>
                    <a:pt x="159412" y="165375"/>
                  </a:cubicBezTo>
                  <a:cubicBezTo>
                    <a:pt x="137416" y="193158"/>
                    <a:pt x="126457" y="234443"/>
                    <a:pt x="126457" y="289465"/>
                  </a:cubicBezTo>
                  <a:lnTo>
                    <a:pt x="126457" y="656768"/>
                  </a:lnTo>
                  <a:lnTo>
                    <a:pt x="0" y="656768"/>
                  </a:lnTo>
                  <a:lnTo>
                    <a:pt x="0" y="13736"/>
                  </a:lnTo>
                  <a:lnTo>
                    <a:pt x="126457" y="13736"/>
                  </a:lnTo>
                  <a:lnTo>
                    <a:pt x="126457" y="74733"/>
                  </a:lnTo>
                  <a:cubicBezTo>
                    <a:pt x="133608" y="63946"/>
                    <a:pt x="142390" y="54090"/>
                    <a:pt x="152805" y="45088"/>
                  </a:cubicBezTo>
                  <a:cubicBezTo>
                    <a:pt x="163220" y="36164"/>
                    <a:pt x="174646" y="28248"/>
                    <a:pt x="187237" y="21497"/>
                  </a:cubicBezTo>
                  <a:cubicBezTo>
                    <a:pt x="199828" y="14745"/>
                    <a:pt x="213275" y="9468"/>
                    <a:pt x="227654" y="5665"/>
                  </a:cubicBezTo>
                  <a:cubicBezTo>
                    <a:pt x="242032" y="1863"/>
                    <a:pt x="257189" y="0"/>
                    <a:pt x="273200" y="0"/>
                  </a:cubicBezTo>
                  <a:cubicBezTo>
                    <a:pt x="299160" y="0"/>
                    <a:pt x="320689" y="2406"/>
                    <a:pt x="337866" y="7217"/>
                  </a:cubicBezTo>
                  <a:cubicBezTo>
                    <a:pt x="355043" y="12029"/>
                    <a:pt x="370044" y="18547"/>
                    <a:pt x="382791" y="26929"/>
                  </a:cubicBezTo>
                  <a:lnTo>
                    <a:pt x="349214" y="147138"/>
                  </a:lnTo>
                  <a:close/>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23" name="Freeform 14">
              <a:extLst>
                <a:ext uri="{FF2B5EF4-FFF2-40B4-BE49-F238E27FC236}">
                  <a16:creationId xmlns:a16="http://schemas.microsoft.com/office/drawing/2014/main" id="{5F84949A-7A71-A190-B72D-2BF537C8A4F2}"/>
                </a:ext>
              </a:extLst>
            </p:cNvPr>
            <p:cNvSpPr/>
            <p:nvPr/>
          </p:nvSpPr>
          <p:spPr bwMode="invGray">
            <a:xfrm>
              <a:off x="5546296" y="2955446"/>
              <a:ext cx="375018" cy="906809"/>
            </a:xfrm>
            <a:custGeom>
              <a:avLst/>
              <a:gdLst>
                <a:gd name="connsiteX0" fmla="*/ 360639 w 375018"/>
                <a:gd name="connsiteY0" fmla="*/ 876854 h 906809"/>
                <a:gd name="connsiteX1" fmla="*/ 305844 w 375018"/>
                <a:gd name="connsiteY1" fmla="*/ 898428 h 906809"/>
                <a:gd name="connsiteX2" fmla="*/ 236669 w 375018"/>
                <a:gd name="connsiteY2" fmla="*/ 906810 h 906809"/>
                <a:gd name="connsiteX3" fmla="*/ 178843 w 375018"/>
                <a:gd name="connsiteY3" fmla="*/ 897575 h 906809"/>
                <a:gd name="connsiteX4" fmla="*/ 133608 w 375018"/>
                <a:gd name="connsiteY4" fmla="*/ 868240 h 906809"/>
                <a:gd name="connsiteX5" fmla="*/ 102440 w 375018"/>
                <a:gd name="connsiteY5" fmla="*/ 815625 h 906809"/>
                <a:gd name="connsiteX6" fmla="*/ 91636 w 375018"/>
                <a:gd name="connsiteY6" fmla="*/ 736390 h 906809"/>
                <a:gd name="connsiteX7" fmla="*/ 91636 w 375018"/>
                <a:gd name="connsiteY7" fmla="*/ 364897 h 906809"/>
                <a:gd name="connsiteX8" fmla="*/ 0 w 375018"/>
                <a:gd name="connsiteY8" fmla="*/ 364897 h 906809"/>
                <a:gd name="connsiteX9" fmla="*/ 0 w 375018"/>
                <a:gd name="connsiteY9" fmla="*/ 250042 h 906809"/>
                <a:gd name="connsiteX10" fmla="*/ 91636 w 375018"/>
                <a:gd name="connsiteY10" fmla="*/ 250042 h 906809"/>
                <a:gd name="connsiteX11" fmla="*/ 91636 w 375018"/>
                <a:gd name="connsiteY11" fmla="*/ 66430 h 906809"/>
                <a:gd name="connsiteX12" fmla="*/ 215606 w 375018"/>
                <a:gd name="connsiteY12" fmla="*/ 0 h 906809"/>
                <a:gd name="connsiteX13" fmla="*/ 215606 w 375018"/>
                <a:gd name="connsiteY13" fmla="*/ 250042 h 906809"/>
                <a:gd name="connsiteX14" fmla="*/ 375018 w 375018"/>
                <a:gd name="connsiteY14" fmla="*/ 250042 h 906809"/>
                <a:gd name="connsiteX15" fmla="*/ 375018 w 375018"/>
                <a:gd name="connsiteY15" fmla="*/ 364897 h 906809"/>
                <a:gd name="connsiteX16" fmla="*/ 215606 w 375018"/>
                <a:gd name="connsiteY16" fmla="*/ 364897 h 906809"/>
                <a:gd name="connsiteX17" fmla="*/ 215606 w 375018"/>
                <a:gd name="connsiteY17" fmla="*/ 714195 h 906809"/>
                <a:gd name="connsiteX18" fmla="*/ 219493 w 375018"/>
                <a:gd name="connsiteY18" fmla="*/ 751601 h 906809"/>
                <a:gd name="connsiteX19" fmla="*/ 231462 w 375018"/>
                <a:gd name="connsiteY19" fmla="*/ 775192 h 906809"/>
                <a:gd name="connsiteX20" fmla="*/ 252137 w 375018"/>
                <a:gd name="connsiteY20" fmla="*/ 787764 h 906809"/>
                <a:gd name="connsiteX21" fmla="*/ 282060 w 375018"/>
                <a:gd name="connsiteY21" fmla="*/ 791412 h 906809"/>
                <a:gd name="connsiteX22" fmla="*/ 332115 w 375018"/>
                <a:gd name="connsiteY22" fmla="*/ 783651 h 906809"/>
                <a:gd name="connsiteX23" fmla="*/ 374941 w 375018"/>
                <a:gd name="connsiteY23" fmla="*/ 765725 h 906809"/>
                <a:gd name="connsiteX24" fmla="*/ 360561 w 375018"/>
                <a:gd name="connsiteY24" fmla="*/ 877010 h 90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5018" h="906809">
                  <a:moveTo>
                    <a:pt x="360639" y="876854"/>
                  </a:moveTo>
                  <a:cubicBezTo>
                    <a:pt x="345094" y="885624"/>
                    <a:pt x="326752" y="892841"/>
                    <a:pt x="305844" y="898428"/>
                  </a:cubicBezTo>
                  <a:cubicBezTo>
                    <a:pt x="284858" y="904016"/>
                    <a:pt x="261774" y="906810"/>
                    <a:pt x="236669" y="906810"/>
                  </a:cubicBezTo>
                  <a:cubicBezTo>
                    <a:pt x="214674" y="906810"/>
                    <a:pt x="195398" y="903706"/>
                    <a:pt x="178843" y="897575"/>
                  </a:cubicBezTo>
                  <a:cubicBezTo>
                    <a:pt x="162288" y="891366"/>
                    <a:pt x="147209" y="881588"/>
                    <a:pt x="133608" y="868240"/>
                  </a:cubicBezTo>
                  <a:cubicBezTo>
                    <a:pt x="120006" y="854892"/>
                    <a:pt x="109668" y="837354"/>
                    <a:pt x="102440" y="815625"/>
                  </a:cubicBezTo>
                  <a:cubicBezTo>
                    <a:pt x="95212" y="793895"/>
                    <a:pt x="91636" y="767432"/>
                    <a:pt x="91636" y="736390"/>
                  </a:cubicBezTo>
                  <a:lnTo>
                    <a:pt x="91636" y="364897"/>
                  </a:lnTo>
                  <a:lnTo>
                    <a:pt x="0" y="364897"/>
                  </a:lnTo>
                  <a:lnTo>
                    <a:pt x="0" y="250042"/>
                  </a:lnTo>
                  <a:lnTo>
                    <a:pt x="91636" y="250042"/>
                  </a:lnTo>
                  <a:lnTo>
                    <a:pt x="91636" y="66430"/>
                  </a:lnTo>
                  <a:lnTo>
                    <a:pt x="215606" y="0"/>
                  </a:lnTo>
                  <a:lnTo>
                    <a:pt x="215606" y="250042"/>
                  </a:lnTo>
                  <a:lnTo>
                    <a:pt x="375018" y="250042"/>
                  </a:lnTo>
                  <a:lnTo>
                    <a:pt x="375018" y="364897"/>
                  </a:lnTo>
                  <a:lnTo>
                    <a:pt x="215606" y="364897"/>
                  </a:lnTo>
                  <a:lnTo>
                    <a:pt x="215606" y="714195"/>
                  </a:lnTo>
                  <a:cubicBezTo>
                    <a:pt x="215606" y="729328"/>
                    <a:pt x="216927" y="741822"/>
                    <a:pt x="219493" y="751601"/>
                  </a:cubicBezTo>
                  <a:cubicBezTo>
                    <a:pt x="222058" y="761379"/>
                    <a:pt x="226099" y="769217"/>
                    <a:pt x="231462" y="775192"/>
                  </a:cubicBezTo>
                  <a:cubicBezTo>
                    <a:pt x="236825" y="781168"/>
                    <a:pt x="243742" y="785359"/>
                    <a:pt x="252137" y="787764"/>
                  </a:cubicBezTo>
                  <a:cubicBezTo>
                    <a:pt x="260531" y="790170"/>
                    <a:pt x="270479" y="791412"/>
                    <a:pt x="282060" y="791412"/>
                  </a:cubicBezTo>
                  <a:cubicBezTo>
                    <a:pt x="298460" y="791412"/>
                    <a:pt x="315093" y="788851"/>
                    <a:pt x="332115" y="783651"/>
                  </a:cubicBezTo>
                  <a:cubicBezTo>
                    <a:pt x="349058" y="778452"/>
                    <a:pt x="363360" y="772476"/>
                    <a:pt x="374941" y="765725"/>
                  </a:cubicBezTo>
                  <a:lnTo>
                    <a:pt x="360561" y="877010"/>
                  </a:lnTo>
                  <a:close/>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24" name="Freeform 15">
              <a:extLst>
                <a:ext uri="{FF2B5EF4-FFF2-40B4-BE49-F238E27FC236}">
                  <a16:creationId xmlns:a16="http://schemas.microsoft.com/office/drawing/2014/main" id="{BC563FF2-253A-ABB9-CABB-8635B66144A9}"/>
                </a:ext>
              </a:extLst>
            </p:cNvPr>
            <p:cNvSpPr/>
            <p:nvPr/>
          </p:nvSpPr>
          <p:spPr bwMode="invGray">
            <a:xfrm>
              <a:off x="6038988" y="2955368"/>
              <a:ext cx="517642" cy="893073"/>
            </a:xfrm>
            <a:custGeom>
              <a:avLst/>
              <a:gdLst>
                <a:gd name="connsiteX0" fmla="*/ 391185 w 517642"/>
                <a:gd name="connsiteY0" fmla="*/ 893074 h 893073"/>
                <a:gd name="connsiteX1" fmla="*/ 391185 w 517642"/>
                <a:gd name="connsiteY1" fmla="*/ 529419 h 893073"/>
                <a:gd name="connsiteX2" fmla="*/ 359396 w 517642"/>
                <a:gd name="connsiteY2" fmla="*/ 396637 h 893073"/>
                <a:gd name="connsiteX3" fmla="*/ 258744 w 517642"/>
                <a:gd name="connsiteY3" fmla="*/ 352946 h 893073"/>
                <a:gd name="connsiteX4" fmla="*/ 204492 w 517642"/>
                <a:gd name="connsiteY4" fmla="*/ 362491 h 893073"/>
                <a:gd name="connsiteX5" fmla="*/ 161977 w 517642"/>
                <a:gd name="connsiteY5" fmla="*/ 394154 h 893073"/>
                <a:gd name="connsiteX6" fmla="*/ 135318 w 517642"/>
                <a:gd name="connsiteY6" fmla="*/ 446227 h 893073"/>
                <a:gd name="connsiteX7" fmla="*/ 126379 w 517642"/>
                <a:gd name="connsiteY7" fmla="*/ 516847 h 893073"/>
                <a:gd name="connsiteX8" fmla="*/ 126379 w 517642"/>
                <a:gd name="connsiteY8" fmla="*/ 893074 h 893073"/>
                <a:gd name="connsiteX9" fmla="*/ 0 w 517642"/>
                <a:gd name="connsiteY9" fmla="*/ 893074 h 893073"/>
                <a:gd name="connsiteX10" fmla="*/ 0 w 517642"/>
                <a:gd name="connsiteY10" fmla="*/ 66430 h 893073"/>
                <a:gd name="connsiteX11" fmla="*/ 126379 w 517642"/>
                <a:gd name="connsiteY11" fmla="*/ 0 h 893073"/>
                <a:gd name="connsiteX12" fmla="*/ 126379 w 517642"/>
                <a:gd name="connsiteY12" fmla="*/ 311039 h 893073"/>
                <a:gd name="connsiteX13" fmla="*/ 155759 w 517642"/>
                <a:gd name="connsiteY13" fmla="*/ 279687 h 893073"/>
                <a:gd name="connsiteX14" fmla="*/ 194155 w 517642"/>
                <a:gd name="connsiteY14" fmla="*/ 256095 h 893073"/>
                <a:gd name="connsiteX15" fmla="*/ 239079 w 517642"/>
                <a:gd name="connsiteY15" fmla="*/ 241428 h 893073"/>
                <a:gd name="connsiteX16" fmla="*/ 288201 w 517642"/>
                <a:gd name="connsiteY16" fmla="*/ 236306 h 893073"/>
                <a:gd name="connsiteX17" fmla="*/ 388853 w 517642"/>
                <a:gd name="connsiteY17" fmla="*/ 254854 h 893073"/>
                <a:gd name="connsiteX18" fmla="*/ 460437 w 517642"/>
                <a:gd name="connsiteY18" fmla="*/ 309565 h 893073"/>
                <a:gd name="connsiteX19" fmla="*/ 503574 w 517642"/>
                <a:gd name="connsiteY19" fmla="*/ 401682 h 893073"/>
                <a:gd name="connsiteX20" fmla="*/ 517642 w 517642"/>
                <a:gd name="connsiteY20" fmla="*/ 524607 h 893073"/>
                <a:gd name="connsiteX21" fmla="*/ 517642 w 517642"/>
                <a:gd name="connsiteY21" fmla="*/ 893074 h 893073"/>
                <a:gd name="connsiteX22" fmla="*/ 391263 w 517642"/>
                <a:gd name="connsiteY22" fmla="*/ 893074 h 893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17642" h="893073">
                  <a:moveTo>
                    <a:pt x="391185" y="893074"/>
                  </a:moveTo>
                  <a:lnTo>
                    <a:pt x="391185" y="529419"/>
                  </a:lnTo>
                  <a:cubicBezTo>
                    <a:pt x="391185" y="469974"/>
                    <a:pt x="380615" y="425739"/>
                    <a:pt x="359396" y="396637"/>
                  </a:cubicBezTo>
                  <a:cubicBezTo>
                    <a:pt x="338255" y="367535"/>
                    <a:pt x="304678" y="352946"/>
                    <a:pt x="258744" y="352946"/>
                  </a:cubicBezTo>
                  <a:cubicBezTo>
                    <a:pt x="239157" y="352946"/>
                    <a:pt x="221125" y="356128"/>
                    <a:pt x="204492" y="362491"/>
                  </a:cubicBezTo>
                  <a:cubicBezTo>
                    <a:pt x="187937" y="368855"/>
                    <a:pt x="173713" y="379409"/>
                    <a:pt x="161977" y="394154"/>
                  </a:cubicBezTo>
                  <a:cubicBezTo>
                    <a:pt x="150163" y="408899"/>
                    <a:pt x="141303" y="426282"/>
                    <a:pt x="135318" y="446227"/>
                  </a:cubicBezTo>
                  <a:cubicBezTo>
                    <a:pt x="129333" y="466171"/>
                    <a:pt x="126379" y="489685"/>
                    <a:pt x="126379" y="516847"/>
                  </a:cubicBezTo>
                  <a:lnTo>
                    <a:pt x="126379" y="893074"/>
                  </a:lnTo>
                  <a:lnTo>
                    <a:pt x="0" y="893074"/>
                  </a:lnTo>
                  <a:lnTo>
                    <a:pt x="0" y="66430"/>
                  </a:lnTo>
                  <a:lnTo>
                    <a:pt x="126379" y="0"/>
                  </a:lnTo>
                  <a:lnTo>
                    <a:pt x="126379" y="311039"/>
                  </a:lnTo>
                  <a:cubicBezTo>
                    <a:pt x="134385" y="299476"/>
                    <a:pt x="144178" y="289000"/>
                    <a:pt x="155759" y="279687"/>
                  </a:cubicBezTo>
                  <a:cubicBezTo>
                    <a:pt x="167340" y="270297"/>
                    <a:pt x="180087" y="262459"/>
                    <a:pt x="194155" y="256095"/>
                  </a:cubicBezTo>
                  <a:cubicBezTo>
                    <a:pt x="208067" y="249732"/>
                    <a:pt x="223068" y="244843"/>
                    <a:pt x="239079" y="241428"/>
                  </a:cubicBezTo>
                  <a:cubicBezTo>
                    <a:pt x="255012" y="238013"/>
                    <a:pt x="271413" y="236306"/>
                    <a:pt x="288201" y="236306"/>
                  </a:cubicBezTo>
                  <a:cubicBezTo>
                    <a:pt x="326907" y="236306"/>
                    <a:pt x="360484" y="242514"/>
                    <a:pt x="388853" y="254854"/>
                  </a:cubicBezTo>
                  <a:cubicBezTo>
                    <a:pt x="417223" y="267193"/>
                    <a:pt x="441084" y="285430"/>
                    <a:pt x="460437" y="309565"/>
                  </a:cubicBezTo>
                  <a:cubicBezTo>
                    <a:pt x="479791" y="333700"/>
                    <a:pt x="494169" y="364431"/>
                    <a:pt x="503574" y="401682"/>
                  </a:cubicBezTo>
                  <a:cubicBezTo>
                    <a:pt x="512978" y="439009"/>
                    <a:pt x="517642" y="479985"/>
                    <a:pt x="517642" y="524607"/>
                  </a:cubicBezTo>
                  <a:lnTo>
                    <a:pt x="517642" y="893074"/>
                  </a:lnTo>
                  <a:lnTo>
                    <a:pt x="391263" y="893074"/>
                  </a:lnTo>
                  <a:close/>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25" name="Freeform 16">
              <a:extLst>
                <a:ext uri="{FF2B5EF4-FFF2-40B4-BE49-F238E27FC236}">
                  <a16:creationId xmlns:a16="http://schemas.microsoft.com/office/drawing/2014/main" id="{EA5C943C-FEED-933C-7CB4-A86EFE32B1AB}"/>
                </a:ext>
              </a:extLst>
            </p:cNvPr>
            <p:cNvSpPr/>
            <p:nvPr/>
          </p:nvSpPr>
          <p:spPr bwMode="invGray">
            <a:xfrm>
              <a:off x="6650598" y="3191674"/>
              <a:ext cx="553550" cy="670581"/>
            </a:xfrm>
            <a:custGeom>
              <a:avLst/>
              <a:gdLst>
                <a:gd name="connsiteX0" fmla="*/ 425850 w 553550"/>
                <a:gd name="connsiteY0" fmla="*/ 275729 h 670581"/>
                <a:gd name="connsiteX1" fmla="*/ 414192 w 553550"/>
                <a:gd name="connsiteY1" fmla="*/ 213568 h 670581"/>
                <a:gd name="connsiteX2" fmla="*/ 386600 w 553550"/>
                <a:gd name="connsiteY2" fmla="*/ 162116 h 670581"/>
                <a:gd name="connsiteX3" fmla="*/ 340509 w 553550"/>
                <a:gd name="connsiteY3" fmla="*/ 127116 h 670581"/>
                <a:gd name="connsiteX4" fmla="*/ 273666 w 553550"/>
                <a:gd name="connsiteY4" fmla="*/ 114234 h 670581"/>
                <a:gd name="connsiteX5" fmla="*/ 214907 w 553550"/>
                <a:gd name="connsiteY5" fmla="*/ 125331 h 670581"/>
                <a:gd name="connsiteX6" fmla="*/ 171770 w 553550"/>
                <a:gd name="connsiteY6" fmla="*/ 156761 h 670581"/>
                <a:gd name="connsiteX7" fmla="*/ 142080 w 553550"/>
                <a:gd name="connsiteY7" fmla="*/ 206739 h 670581"/>
                <a:gd name="connsiteX8" fmla="*/ 126224 w 553550"/>
                <a:gd name="connsiteY8" fmla="*/ 275807 h 670581"/>
                <a:gd name="connsiteX9" fmla="*/ 425772 w 553550"/>
                <a:gd name="connsiteY9" fmla="*/ 275807 h 670581"/>
                <a:gd name="connsiteX10" fmla="*/ 553473 w 553550"/>
                <a:gd name="connsiteY10" fmla="*/ 322447 h 670581"/>
                <a:gd name="connsiteX11" fmla="*/ 552229 w 553550"/>
                <a:gd name="connsiteY11" fmla="*/ 354731 h 670581"/>
                <a:gd name="connsiteX12" fmla="*/ 549820 w 553550"/>
                <a:gd name="connsiteY12" fmla="*/ 379797 h 670581"/>
                <a:gd name="connsiteX13" fmla="*/ 123892 w 553550"/>
                <a:gd name="connsiteY13" fmla="*/ 379797 h 670581"/>
                <a:gd name="connsiteX14" fmla="*/ 144256 w 553550"/>
                <a:gd name="connsiteY14" fmla="*/ 459652 h 670581"/>
                <a:gd name="connsiteX15" fmla="*/ 180786 w 553550"/>
                <a:gd name="connsiteY15" fmla="*/ 514363 h 670581"/>
                <a:gd name="connsiteX16" fmla="*/ 229675 w 553550"/>
                <a:gd name="connsiteY16" fmla="*/ 546104 h 670581"/>
                <a:gd name="connsiteX17" fmla="*/ 286258 w 553550"/>
                <a:gd name="connsiteY17" fmla="*/ 556270 h 670581"/>
                <a:gd name="connsiteX18" fmla="*/ 325819 w 553550"/>
                <a:gd name="connsiteY18" fmla="*/ 552700 h 670581"/>
                <a:gd name="connsiteX19" fmla="*/ 361494 w 553550"/>
                <a:gd name="connsiteY19" fmla="*/ 541913 h 670581"/>
                <a:gd name="connsiteX20" fmla="*/ 391807 w 553550"/>
                <a:gd name="connsiteY20" fmla="*/ 527246 h 670581"/>
                <a:gd name="connsiteX21" fmla="*/ 425928 w 553550"/>
                <a:gd name="connsiteY21" fmla="*/ 504818 h 670581"/>
                <a:gd name="connsiteX22" fmla="*/ 500853 w 553550"/>
                <a:gd name="connsiteY22" fmla="*/ 585604 h 670581"/>
                <a:gd name="connsiteX23" fmla="*/ 454997 w 553550"/>
                <a:gd name="connsiteY23" fmla="*/ 622389 h 670581"/>
                <a:gd name="connsiteX24" fmla="*/ 407662 w 553550"/>
                <a:gd name="connsiteY24" fmla="*/ 647533 h 670581"/>
                <a:gd name="connsiteX25" fmla="*/ 349836 w 553550"/>
                <a:gd name="connsiteY25" fmla="*/ 664606 h 670581"/>
                <a:gd name="connsiteX26" fmla="*/ 278563 w 553550"/>
                <a:gd name="connsiteY26" fmla="*/ 670581 h 670581"/>
                <a:gd name="connsiteX27" fmla="*/ 200062 w 553550"/>
                <a:gd name="connsiteY27" fmla="*/ 658941 h 670581"/>
                <a:gd name="connsiteX28" fmla="*/ 135396 w 553550"/>
                <a:gd name="connsiteY28" fmla="*/ 628442 h 670581"/>
                <a:gd name="connsiteX29" fmla="*/ 84797 w 553550"/>
                <a:gd name="connsiteY29" fmla="*/ 585372 h 670581"/>
                <a:gd name="connsiteX30" fmla="*/ 41971 w 553550"/>
                <a:gd name="connsiteY30" fmla="*/ 523133 h 670581"/>
                <a:gd name="connsiteX31" fmla="*/ 10804 w 553550"/>
                <a:gd name="connsiteY31" fmla="*/ 438233 h 670581"/>
                <a:gd name="connsiteX32" fmla="*/ 0 w 553550"/>
                <a:gd name="connsiteY32" fmla="*/ 335640 h 670581"/>
                <a:gd name="connsiteX33" fmla="*/ 20675 w 553550"/>
                <a:gd name="connsiteY33" fmla="*/ 191450 h 670581"/>
                <a:gd name="connsiteX34" fmla="*/ 78502 w 553550"/>
                <a:gd name="connsiteY34" fmla="*/ 86141 h 670581"/>
                <a:gd name="connsiteX35" fmla="*/ 167729 w 553550"/>
                <a:gd name="connsiteY35" fmla="*/ 21884 h 670581"/>
                <a:gd name="connsiteX36" fmla="*/ 282139 w 553550"/>
                <a:gd name="connsiteY36" fmla="*/ 0 h 670581"/>
                <a:gd name="connsiteX37" fmla="*/ 401989 w 553550"/>
                <a:gd name="connsiteY37" fmla="*/ 26075 h 670581"/>
                <a:gd name="connsiteX38" fmla="*/ 486475 w 553550"/>
                <a:gd name="connsiteY38" fmla="*/ 96074 h 670581"/>
                <a:gd name="connsiteX39" fmla="*/ 536762 w 553550"/>
                <a:gd name="connsiteY39" fmla="*/ 198668 h 670581"/>
                <a:gd name="connsiteX40" fmla="*/ 553551 w 553550"/>
                <a:gd name="connsiteY40" fmla="*/ 322447 h 670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53550" h="670581">
                  <a:moveTo>
                    <a:pt x="425850" y="275729"/>
                  </a:moveTo>
                  <a:cubicBezTo>
                    <a:pt x="424218" y="253767"/>
                    <a:pt x="420332" y="233047"/>
                    <a:pt x="414192" y="213568"/>
                  </a:cubicBezTo>
                  <a:cubicBezTo>
                    <a:pt x="407974" y="194012"/>
                    <a:pt x="398802" y="176861"/>
                    <a:pt x="386600" y="162116"/>
                  </a:cubicBezTo>
                  <a:cubicBezTo>
                    <a:pt x="374397" y="147371"/>
                    <a:pt x="359085" y="135730"/>
                    <a:pt x="340509" y="127116"/>
                  </a:cubicBezTo>
                  <a:cubicBezTo>
                    <a:pt x="321933" y="118580"/>
                    <a:pt x="299626" y="114234"/>
                    <a:pt x="273666" y="114234"/>
                  </a:cubicBezTo>
                  <a:cubicBezTo>
                    <a:pt x="251282" y="114234"/>
                    <a:pt x="231773" y="117959"/>
                    <a:pt x="214907" y="125331"/>
                  </a:cubicBezTo>
                  <a:cubicBezTo>
                    <a:pt x="198196" y="132704"/>
                    <a:pt x="183740" y="143180"/>
                    <a:pt x="171770" y="156761"/>
                  </a:cubicBezTo>
                  <a:cubicBezTo>
                    <a:pt x="159801" y="170342"/>
                    <a:pt x="149930" y="187027"/>
                    <a:pt x="142080" y="206739"/>
                  </a:cubicBezTo>
                  <a:cubicBezTo>
                    <a:pt x="134307" y="226528"/>
                    <a:pt x="129022" y="249499"/>
                    <a:pt x="126224" y="275807"/>
                  </a:cubicBezTo>
                  <a:lnTo>
                    <a:pt x="425772" y="275807"/>
                  </a:lnTo>
                  <a:close/>
                  <a:moveTo>
                    <a:pt x="553473" y="322447"/>
                  </a:moveTo>
                  <a:cubicBezTo>
                    <a:pt x="553473" y="334010"/>
                    <a:pt x="553084" y="344797"/>
                    <a:pt x="552229" y="354731"/>
                  </a:cubicBezTo>
                  <a:cubicBezTo>
                    <a:pt x="551452" y="364742"/>
                    <a:pt x="550597" y="373045"/>
                    <a:pt x="549820" y="379797"/>
                  </a:cubicBezTo>
                  <a:lnTo>
                    <a:pt x="123892" y="379797"/>
                  </a:lnTo>
                  <a:cubicBezTo>
                    <a:pt x="127468" y="410916"/>
                    <a:pt x="134307" y="437535"/>
                    <a:pt x="144256" y="459652"/>
                  </a:cubicBezTo>
                  <a:cubicBezTo>
                    <a:pt x="154205" y="481769"/>
                    <a:pt x="166407" y="500006"/>
                    <a:pt x="180786" y="514363"/>
                  </a:cubicBezTo>
                  <a:cubicBezTo>
                    <a:pt x="195165" y="528720"/>
                    <a:pt x="211487" y="539274"/>
                    <a:pt x="229675" y="546104"/>
                  </a:cubicBezTo>
                  <a:cubicBezTo>
                    <a:pt x="247862" y="552933"/>
                    <a:pt x="266671" y="556270"/>
                    <a:pt x="286258" y="556270"/>
                  </a:cubicBezTo>
                  <a:cubicBezTo>
                    <a:pt x="300248" y="556270"/>
                    <a:pt x="313383" y="555106"/>
                    <a:pt x="325819" y="552700"/>
                  </a:cubicBezTo>
                  <a:cubicBezTo>
                    <a:pt x="338177" y="550294"/>
                    <a:pt x="350069" y="546724"/>
                    <a:pt x="361494" y="541913"/>
                  </a:cubicBezTo>
                  <a:cubicBezTo>
                    <a:pt x="372920" y="537101"/>
                    <a:pt x="382946" y="532290"/>
                    <a:pt x="391807" y="527246"/>
                  </a:cubicBezTo>
                  <a:cubicBezTo>
                    <a:pt x="400590" y="522279"/>
                    <a:pt x="411937" y="514751"/>
                    <a:pt x="425928" y="504818"/>
                  </a:cubicBezTo>
                  <a:lnTo>
                    <a:pt x="500853" y="585604"/>
                  </a:lnTo>
                  <a:cubicBezTo>
                    <a:pt x="484842" y="600737"/>
                    <a:pt x="469609" y="612999"/>
                    <a:pt x="454997" y="622389"/>
                  </a:cubicBezTo>
                  <a:cubicBezTo>
                    <a:pt x="440384" y="631779"/>
                    <a:pt x="424684" y="640160"/>
                    <a:pt x="407662" y="647533"/>
                  </a:cubicBezTo>
                  <a:cubicBezTo>
                    <a:pt x="390719" y="654905"/>
                    <a:pt x="371443" y="660570"/>
                    <a:pt x="349836" y="664606"/>
                  </a:cubicBezTo>
                  <a:cubicBezTo>
                    <a:pt x="328307" y="668564"/>
                    <a:pt x="304445" y="670581"/>
                    <a:pt x="278563" y="670581"/>
                  </a:cubicBezTo>
                  <a:cubicBezTo>
                    <a:pt x="250583" y="670581"/>
                    <a:pt x="224467" y="666701"/>
                    <a:pt x="200062" y="658941"/>
                  </a:cubicBezTo>
                  <a:cubicBezTo>
                    <a:pt x="175734" y="651180"/>
                    <a:pt x="154127" y="641014"/>
                    <a:pt x="135396" y="628442"/>
                  </a:cubicBezTo>
                  <a:cubicBezTo>
                    <a:pt x="116586" y="615870"/>
                    <a:pt x="99720" y="601513"/>
                    <a:pt x="84797" y="585372"/>
                  </a:cubicBezTo>
                  <a:cubicBezTo>
                    <a:pt x="69796" y="569230"/>
                    <a:pt x="55573" y="548509"/>
                    <a:pt x="41971" y="523133"/>
                  </a:cubicBezTo>
                  <a:cubicBezTo>
                    <a:pt x="28369" y="497834"/>
                    <a:pt x="18032" y="469508"/>
                    <a:pt x="10804" y="438233"/>
                  </a:cubicBezTo>
                  <a:cubicBezTo>
                    <a:pt x="3575" y="406959"/>
                    <a:pt x="0" y="372735"/>
                    <a:pt x="0" y="335640"/>
                  </a:cubicBezTo>
                  <a:cubicBezTo>
                    <a:pt x="0" y="281394"/>
                    <a:pt x="6918" y="233357"/>
                    <a:pt x="20675" y="191450"/>
                  </a:cubicBezTo>
                  <a:cubicBezTo>
                    <a:pt x="34432" y="149622"/>
                    <a:pt x="53708" y="114467"/>
                    <a:pt x="78502" y="86141"/>
                  </a:cubicBezTo>
                  <a:cubicBezTo>
                    <a:pt x="103296" y="57815"/>
                    <a:pt x="132986" y="36396"/>
                    <a:pt x="167729" y="21884"/>
                  </a:cubicBezTo>
                  <a:cubicBezTo>
                    <a:pt x="202549" y="7295"/>
                    <a:pt x="240634" y="0"/>
                    <a:pt x="282139" y="0"/>
                  </a:cubicBezTo>
                  <a:cubicBezTo>
                    <a:pt x="328073" y="0"/>
                    <a:pt x="368023" y="8692"/>
                    <a:pt x="401989" y="26075"/>
                  </a:cubicBezTo>
                  <a:cubicBezTo>
                    <a:pt x="435954" y="43381"/>
                    <a:pt x="464090" y="66740"/>
                    <a:pt x="486475" y="96074"/>
                  </a:cubicBezTo>
                  <a:cubicBezTo>
                    <a:pt x="508859" y="125409"/>
                    <a:pt x="525570" y="159633"/>
                    <a:pt x="536762" y="198668"/>
                  </a:cubicBezTo>
                  <a:cubicBezTo>
                    <a:pt x="547954" y="237780"/>
                    <a:pt x="553551" y="278988"/>
                    <a:pt x="553551" y="322447"/>
                  </a:cubicBezTo>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26" name="Freeform 17">
              <a:extLst>
                <a:ext uri="{FF2B5EF4-FFF2-40B4-BE49-F238E27FC236}">
                  <a16:creationId xmlns:a16="http://schemas.microsoft.com/office/drawing/2014/main" id="{62F37186-8209-5E2D-C0DB-BC726D36C0E6}"/>
                </a:ext>
              </a:extLst>
            </p:cNvPr>
            <p:cNvSpPr/>
            <p:nvPr/>
          </p:nvSpPr>
          <p:spPr bwMode="invGray">
            <a:xfrm>
              <a:off x="7297884" y="3191752"/>
              <a:ext cx="517719" cy="656845"/>
            </a:xfrm>
            <a:custGeom>
              <a:avLst/>
              <a:gdLst>
                <a:gd name="connsiteX0" fmla="*/ 391262 w 517719"/>
                <a:gd name="connsiteY0" fmla="*/ 656690 h 656845"/>
                <a:gd name="connsiteX1" fmla="*/ 391262 w 517719"/>
                <a:gd name="connsiteY1" fmla="*/ 293035 h 656845"/>
                <a:gd name="connsiteX2" fmla="*/ 360095 w 517719"/>
                <a:gd name="connsiteY2" fmla="*/ 161107 h 656845"/>
                <a:gd name="connsiteX3" fmla="*/ 258821 w 517719"/>
                <a:gd name="connsiteY3" fmla="*/ 116562 h 656845"/>
                <a:gd name="connsiteX4" fmla="*/ 202471 w 517719"/>
                <a:gd name="connsiteY4" fmla="*/ 127349 h 656845"/>
                <a:gd name="connsiteX5" fmla="*/ 159334 w 517719"/>
                <a:gd name="connsiteY5" fmla="*/ 160874 h 656845"/>
                <a:gd name="connsiteX6" fmla="*/ 134152 w 517719"/>
                <a:gd name="connsiteY6" fmla="*/ 214421 h 656845"/>
                <a:gd name="connsiteX7" fmla="*/ 126379 w 517719"/>
                <a:gd name="connsiteY7" fmla="*/ 280541 h 656845"/>
                <a:gd name="connsiteX8" fmla="*/ 126379 w 517719"/>
                <a:gd name="connsiteY8" fmla="*/ 656768 h 656845"/>
                <a:gd name="connsiteX9" fmla="*/ 0 w 517719"/>
                <a:gd name="connsiteY9" fmla="*/ 656768 h 656845"/>
                <a:gd name="connsiteX10" fmla="*/ 0 w 517719"/>
                <a:gd name="connsiteY10" fmla="*/ 13736 h 656845"/>
                <a:gd name="connsiteX11" fmla="*/ 126379 w 517719"/>
                <a:gd name="connsiteY11" fmla="*/ 13736 h 656845"/>
                <a:gd name="connsiteX12" fmla="*/ 126379 w 517719"/>
                <a:gd name="connsiteY12" fmla="*/ 74733 h 656845"/>
                <a:gd name="connsiteX13" fmla="*/ 155759 w 517719"/>
                <a:gd name="connsiteY13" fmla="*/ 43381 h 656845"/>
                <a:gd name="connsiteX14" fmla="*/ 194154 w 517719"/>
                <a:gd name="connsiteY14" fmla="*/ 19789 h 656845"/>
                <a:gd name="connsiteX15" fmla="*/ 239079 w 517719"/>
                <a:gd name="connsiteY15" fmla="*/ 5122 h 656845"/>
                <a:gd name="connsiteX16" fmla="*/ 288201 w 517719"/>
                <a:gd name="connsiteY16" fmla="*/ 0 h 656845"/>
                <a:gd name="connsiteX17" fmla="*/ 389164 w 517719"/>
                <a:gd name="connsiteY17" fmla="*/ 18858 h 656845"/>
                <a:gd name="connsiteX18" fmla="*/ 460515 w 517719"/>
                <a:gd name="connsiteY18" fmla="*/ 73026 h 656845"/>
                <a:gd name="connsiteX19" fmla="*/ 503341 w 517719"/>
                <a:gd name="connsiteY19" fmla="*/ 162194 h 656845"/>
                <a:gd name="connsiteX20" fmla="*/ 517719 w 517719"/>
                <a:gd name="connsiteY20" fmla="*/ 288379 h 656845"/>
                <a:gd name="connsiteX21" fmla="*/ 517719 w 517719"/>
                <a:gd name="connsiteY21" fmla="*/ 656845 h 656845"/>
                <a:gd name="connsiteX22" fmla="*/ 391262 w 517719"/>
                <a:gd name="connsiteY22" fmla="*/ 656845 h 65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17719" h="656845">
                  <a:moveTo>
                    <a:pt x="391262" y="656690"/>
                  </a:moveTo>
                  <a:lnTo>
                    <a:pt x="391262" y="293035"/>
                  </a:lnTo>
                  <a:cubicBezTo>
                    <a:pt x="391262" y="234832"/>
                    <a:pt x="380925" y="190830"/>
                    <a:pt x="360095" y="161107"/>
                  </a:cubicBezTo>
                  <a:cubicBezTo>
                    <a:pt x="339343" y="131462"/>
                    <a:pt x="305611" y="116562"/>
                    <a:pt x="258821" y="116562"/>
                  </a:cubicBezTo>
                  <a:cubicBezTo>
                    <a:pt x="238457" y="116562"/>
                    <a:pt x="219648" y="120210"/>
                    <a:pt x="202471" y="127349"/>
                  </a:cubicBezTo>
                  <a:cubicBezTo>
                    <a:pt x="185294" y="134566"/>
                    <a:pt x="170915" y="145664"/>
                    <a:pt x="159334" y="160874"/>
                  </a:cubicBezTo>
                  <a:cubicBezTo>
                    <a:pt x="147753" y="176007"/>
                    <a:pt x="139359" y="193856"/>
                    <a:pt x="134152" y="214421"/>
                  </a:cubicBezTo>
                  <a:cubicBezTo>
                    <a:pt x="128944" y="234987"/>
                    <a:pt x="126379" y="257027"/>
                    <a:pt x="126379" y="280541"/>
                  </a:cubicBezTo>
                  <a:lnTo>
                    <a:pt x="126379" y="656768"/>
                  </a:lnTo>
                  <a:lnTo>
                    <a:pt x="0" y="656768"/>
                  </a:lnTo>
                  <a:lnTo>
                    <a:pt x="0" y="13736"/>
                  </a:lnTo>
                  <a:lnTo>
                    <a:pt x="126379" y="13736"/>
                  </a:lnTo>
                  <a:lnTo>
                    <a:pt x="126379" y="74733"/>
                  </a:lnTo>
                  <a:cubicBezTo>
                    <a:pt x="134385" y="63170"/>
                    <a:pt x="144178" y="52693"/>
                    <a:pt x="155759" y="43381"/>
                  </a:cubicBezTo>
                  <a:cubicBezTo>
                    <a:pt x="167340" y="33991"/>
                    <a:pt x="180086" y="26153"/>
                    <a:pt x="194154" y="19789"/>
                  </a:cubicBezTo>
                  <a:cubicBezTo>
                    <a:pt x="208067" y="13426"/>
                    <a:pt x="223068" y="8537"/>
                    <a:pt x="239079" y="5122"/>
                  </a:cubicBezTo>
                  <a:cubicBezTo>
                    <a:pt x="255090" y="1707"/>
                    <a:pt x="271412" y="0"/>
                    <a:pt x="288201" y="0"/>
                  </a:cubicBezTo>
                  <a:cubicBezTo>
                    <a:pt x="326907" y="0"/>
                    <a:pt x="360562" y="6286"/>
                    <a:pt x="389164" y="18858"/>
                  </a:cubicBezTo>
                  <a:cubicBezTo>
                    <a:pt x="417767" y="31430"/>
                    <a:pt x="441472" y="49434"/>
                    <a:pt x="460515" y="73026"/>
                  </a:cubicBezTo>
                  <a:cubicBezTo>
                    <a:pt x="479479" y="96540"/>
                    <a:pt x="493703" y="126263"/>
                    <a:pt x="503341" y="162194"/>
                  </a:cubicBezTo>
                  <a:cubicBezTo>
                    <a:pt x="512901" y="198125"/>
                    <a:pt x="517719" y="240186"/>
                    <a:pt x="517719" y="288379"/>
                  </a:cubicBezTo>
                  <a:lnTo>
                    <a:pt x="517719" y="656845"/>
                  </a:lnTo>
                  <a:lnTo>
                    <a:pt x="391262" y="656845"/>
                  </a:lnTo>
                  <a:close/>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2" name="Freeform 18">
              <a:extLst>
                <a:ext uri="{FF2B5EF4-FFF2-40B4-BE49-F238E27FC236}">
                  <a16:creationId xmlns:a16="http://schemas.microsoft.com/office/drawing/2014/main" id="{9BD69F44-BAB6-6A25-23E1-8C44F47E9548}"/>
                </a:ext>
              </a:extLst>
            </p:cNvPr>
            <p:cNvSpPr/>
            <p:nvPr/>
          </p:nvSpPr>
          <p:spPr bwMode="invGray">
            <a:xfrm>
              <a:off x="7909572" y="3191752"/>
              <a:ext cx="574457" cy="670503"/>
            </a:xfrm>
            <a:custGeom>
              <a:avLst/>
              <a:gdLst>
                <a:gd name="connsiteX0" fmla="*/ 446913 w 574457"/>
                <a:gd name="connsiteY0" fmla="*/ 335485 h 670503"/>
                <a:gd name="connsiteX1" fmla="*/ 435487 w 574457"/>
                <a:gd name="connsiteY1" fmla="*/ 246628 h 670503"/>
                <a:gd name="connsiteX2" fmla="*/ 402843 w 574457"/>
                <a:gd name="connsiteY2" fmla="*/ 178724 h 670503"/>
                <a:gd name="connsiteX3" fmla="*/ 351001 w 574457"/>
                <a:gd name="connsiteY3" fmla="*/ 135342 h 670503"/>
                <a:gd name="connsiteX4" fmla="*/ 282138 w 574457"/>
                <a:gd name="connsiteY4" fmla="*/ 120132 h 670503"/>
                <a:gd name="connsiteX5" fmla="*/ 217705 w 574457"/>
                <a:gd name="connsiteY5" fmla="*/ 135342 h 670503"/>
                <a:gd name="connsiteX6" fmla="*/ 169205 w 574457"/>
                <a:gd name="connsiteY6" fmla="*/ 178413 h 670503"/>
                <a:gd name="connsiteX7" fmla="*/ 138349 w 574457"/>
                <a:gd name="connsiteY7" fmla="*/ 245153 h 670503"/>
                <a:gd name="connsiteX8" fmla="*/ 127623 w 574457"/>
                <a:gd name="connsiteY8" fmla="*/ 331837 h 670503"/>
                <a:gd name="connsiteX9" fmla="*/ 139281 w 574457"/>
                <a:gd name="connsiteY9" fmla="*/ 425739 h 670503"/>
                <a:gd name="connsiteX10" fmla="*/ 172236 w 574457"/>
                <a:gd name="connsiteY10" fmla="*/ 493953 h 670503"/>
                <a:gd name="connsiteX11" fmla="*/ 223145 w 574457"/>
                <a:gd name="connsiteY11" fmla="*/ 535782 h 670503"/>
                <a:gd name="connsiteX12" fmla="*/ 288744 w 574457"/>
                <a:gd name="connsiteY12" fmla="*/ 550139 h 670503"/>
                <a:gd name="connsiteX13" fmla="*/ 353722 w 574457"/>
                <a:gd name="connsiteY13" fmla="*/ 533066 h 670503"/>
                <a:gd name="connsiteX14" fmla="*/ 403465 w 574457"/>
                <a:gd name="connsiteY14" fmla="*/ 486969 h 670503"/>
                <a:gd name="connsiteX15" fmla="*/ 435487 w 574457"/>
                <a:gd name="connsiteY15" fmla="*/ 418755 h 670503"/>
                <a:gd name="connsiteX16" fmla="*/ 446913 w 574457"/>
                <a:gd name="connsiteY16" fmla="*/ 335330 h 670503"/>
                <a:gd name="connsiteX17" fmla="*/ 574458 w 574457"/>
                <a:gd name="connsiteY17" fmla="*/ 331915 h 670503"/>
                <a:gd name="connsiteX18" fmla="*/ 552307 w 574457"/>
                <a:gd name="connsiteY18" fmla="*/ 474863 h 670503"/>
                <a:gd name="connsiteX19" fmla="*/ 491216 w 574457"/>
                <a:gd name="connsiteY19" fmla="*/ 581336 h 670503"/>
                <a:gd name="connsiteX20" fmla="*/ 398957 w 574457"/>
                <a:gd name="connsiteY20" fmla="*/ 647766 h 670503"/>
                <a:gd name="connsiteX21" fmla="*/ 283926 w 574457"/>
                <a:gd name="connsiteY21" fmla="*/ 670504 h 670503"/>
                <a:gd name="connsiteX22" fmla="*/ 170993 w 574457"/>
                <a:gd name="connsiteY22" fmla="*/ 646602 h 670503"/>
                <a:gd name="connsiteX23" fmla="*/ 81144 w 574457"/>
                <a:gd name="connsiteY23" fmla="*/ 578698 h 670503"/>
                <a:gd name="connsiteX24" fmla="*/ 21529 w 574457"/>
                <a:gd name="connsiteY24" fmla="*/ 472845 h 670503"/>
                <a:gd name="connsiteX25" fmla="*/ 0 w 574457"/>
                <a:gd name="connsiteY25" fmla="*/ 335562 h 670503"/>
                <a:gd name="connsiteX26" fmla="*/ 22151 w 574457"/>
                <a:gd name="connsiteY26" fmla="*/ 194400 h 670503"/>
                <a:gd name="connsiteX27" fmla="*/ 82931 w 574457"/>
                <a:gd name="connsiteY27" fmla="*/ 88857 h 670503"/>
                <a:gd name="connsiteX28" fmla="*/ 174024 w 574457"/>
                <a:gd name="connsiteY28" fmla="*/ 22738 h 670503"/>
                <a:gd name="connsiteX29" fmla="*/ 287579 w 574457"/>
                <a:gd name="connsiteY29" fmla="*/ 0 h 670503"/>
                <a:gd name="connsiteX30" fmla="*/ 401678 w 574457"/>
                <a:gd name="connsiteY30" fmla="*/ 23669 h 670503"/>
                <a:gd name="connsiteX31" fmla="*/ 492459 w 574457"/>
                <a:gd name="connsiteY31" fmla="*/ 90642 h 670503"/>
                <a:gd name="connsiteX32" fmla="*/ 552617 w 574457"/>
                <a:gd name="connsiteY32" fmla="*/ 195331 h 670503"/>
                <a:gd name="connsiteX33" fmla="*/ 574458 w 574457"/>
                <a:gd name="connsiteY33" fmla="*/ 331993 h 67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74457" h="670503">
                  <a:moveTo>
                    <a:pt x="446913" y="335485"/>
                  </a:moveTo>
                  <a:cubicBezTo>
                    <a:pt x="446913" y="302813"/>
                    <a:pt x="443105" y="273168"/>
                    <a:pt x="435487" y="246628"/>
                  </a:cubicBezTo>
                  <a:cubicBezTo>
                    <a:pt x="427871" y="220164"/>
                    <a:pt x="416989" y="197504"/>
                    <a:pt x="402843" y="178724"/>
                  </a:cubicBezTo>
                  <a:cubicBezTo>
                    <a:pt x="388698" y="160021"/>
                    <a:pt x="371365" y="145509"/>
                    <a:pt x="351001" y="135342"/>
                  </a:cubicBezTo>
                  <a:cubicBezTo>
                    <a:pt x="330638" y="125176"/>
                    <a:pt x="307631" y="120132"/>
                    <a:pt x="282138" y="120132"/>
                  </a:cubicBezTo>
                  <a:cubicBezTo>
                    <a:pt x="258199" y="120132"/>
                    <a:pt x="236670" y="125176"/>
                    <a:pt x="217705" y="135342"/>
                  </a:cubicBezTo>
                  <a:cubicBezTo>
                    <a:pt x="198740" y="145509"/>
                    <a:pt x="182574" y="159866"/>
                    <a:pt x="169205" y="178413"/>
                  </a:cubicBezTo>
                  <a:cubicBezTo>
                    <a:pt x="155837" y="196960"/>
                    <a:pt x="145577" y="219233"/>
                    <a:pt x="138349" y="245153"/>
                  </a:cubicBezTo>
                  <a:cubicBezTo>
                    <a:pt x="131120" y="271073"/>
                    <a:pt x="127623" y="300019"/>
                    <a:pt x="127623" y="331837"/>
                  </a:cubicBezTo>
                  <a:cubicBezTo>
                    <a:pt x="127623" y="367303"/>
                    <a:pt x="131509" y="398655"/>
                    <a:pt x="139281" y="425739"/>
                  </a:cubicBezTo>
                  <a:cubicBezTo>
                    <a:pt x="147054" y="452901"/>
                    <a:pt x="158013" y="475561"/>
                    <a:pt x="172236" y="493953"/>
                  </a:cubicBezTo>
                  <a:cubicBezTo>
                    <a:pt x="186382" y="512268"/>
                    <a:pt x="203404" y="526237"/>
                    <a:pt x="223145" y="535782"/>
                  </a:cubicBezTo>
                  <a:cubicBezTo>
                    <a:pt x="242888" y="545328"/>
                    <a:pt x="264728" y="550139"/>
                    <a:pt x="288744" y="550139"/>
                  </a:cubicBezTo>
                  <a:cubicBezTo>
                    <a:pt x="312761" y="550139"/>
                    <a:pt x="334368" y="544474"/>
                    <a:pt x="353722" y="533066"/>
                  </a:cubicBezTo>
                  <a:cubicBezTo>
                    <a:pt x="373075" y="521658"/>
                    <a:pt x="389708" y="506293"/>
                    <a:pt x="403465" y="486969"/>
                  </a:cubicBezTo>
                  <a:cubicBezTo>
                    <a:pt x="417222" y="467645"/>
                    <a:pt x="427948" y="444907"/>
                    <a:pt x="435487" y="418755"/>
                  </a:cubicBezTo>
                  <a:cubicBezTo>
                    <a:pt x="443027" y="392602"/>
                    <a:pt x="446913" y="364819"/>
                    <a:pt x="446913" y="335330"/>
                  </a:cubicBezTo>
                  <a:moveTo>
                    <a:pt x="574458" y="331915"/>
                  </a:moveTo>
                  <a:cubicBezTo>
                    <a:pt x="574458" y="385384"/>
                    <a:pt x="567074" y="433034"/>
                    <a:pt x="552307" y="474863"/>
                  </a:cubicBezTo>
                  <a:cubicBezTo>
                    <a:pt x="537539" y="516769"/>
                    <a:pt x="517175" y="552234"/>
                    <a:pt x="491216" y="581336"/>
                  </a:cubicBezTo>
                  <a:cubicBezTo>
                    <a:pt x="465256" y="610438"/>
                    <a:pt x="434477" y="632555"/>
                    <a:pt x="398957" y="647766"/>
                  </a:cubicBezTo>
                  <a:cubicBezTo>
                    <a:pt x="363438" y="662899"/>
                    <a:pt x="325042" y="670504"/>
                    <a:pt x="283926" y="670504"/>
                  </a:cubicBezTo>
                  <a:cubicBezTo>
                    <a:pt x="242810" y="670504"/>
                    <a:pt x="205502" y="662511"/>
                    <a:pt x="170993" y="646602"/>
                  </a:cubicBezTo>
                  <a:cubicBezTo>
                    <a:pt x="136483" y="630693"/>
                    <a:pt x="106482" y="608032"/>
                    <a:pt x="81144" y="578698"/>
                  </a:cubicBezTo>
                  <a:cubicBezTo>
                    <a:pt x="55728" y="549363"/>
                    <a:pt x="35908" y="514130"/>
                    <a:pt x="21529" y="472845"/>
                  </a:cubicBezTo>
                  <a:cubicBezTo>
                    <a:pt x="7150" y="431559"/>
                    <a:pt x="0" y="385850"/>
                    <a:pt x="0" y="335562"/>
                  </a:cubicBezTo>
                  <a:cubicBezTo>
                    <a:pt x="0" y="285275"/>
                    <a:pt x="7384" y="235840"/>
                    <a:pt x="22151" y="194400"/>
                  </a:cubicBezTo>
                  <a:cubicBezTo>
                    <a:pt x="36919" y="152959"/>
                    <a:pt x="57205" y="117726"/>
                    <a:pt x="82931" y="88857"/>
                  </a:cubicBezTo>
                  <a:cubicBezTo>
                    <a:pt x="108658" y="59988"/>
                    <a:pt x="139048" y="37949"/>
                    <a:pt x="174024" y="22738"/>
                  </a:cubicBezTo>
                  <a:cubicBezTo>
                    <a:pt x="208999" y="7605"/>
                    <a:pt x="246774" y="0"/>
                    <a:pt x="287579" y="0"/>
                  </a:cubicBezTo>
                  <a:cubicBezTo>
                    <a:pt x="328384" y="0"/>
                    <a:pt x="366702" y="7916"/>
                    <a:pt x="401678" y="23669"/>
                  </a:cubicBezTo>
                  <a:cubicBezTo>
                    <a:pt x="436653" y="39423"/>
                    <a:pt x="466888" y="61773"/>
                    <a:pt x="492459" y="90642"/>
                  </a:cubicBezTo>
                  <a:cubicBezTo>
                    <a:pt x="518030" y="119589"/>
                    <a:pt x="538083" y="154433"/>
                    <a:pt x="552617" y="195331"/>
                  </a:cubicBezTo>
                  <a:cubicBezTo>
                    <a:pt x="567152" y="236151"/>
                    <a:pt x="574458" y="281782"/>
                    <a:pt x="574458" y="331993"/>
                  </a:cubicBezTo>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3" name="Freeform 19">
              <a:extLst>
                <a:ext uri="{FF2B5EF4-FFF2-40B4-BE49-F238E27FC236}">
                  <a16:creationId xmlns:a16="http://schemas.microsoft.com/office/drawing/2014/main" id="{4C698C07-7167-06F6-5EE9-82BF34028AE4}"/>
                </a:ext>
              </a:extLst>
            </p:cNvPr>
            <p:cNvSpPr/>
            <p:nvPr/>
          </p:nvSpPr>
          <p:spPr bwMode="invGray">
            <a:xfrm>
              <a:off x="8577920" y="3191752"/>
              <a:ext cx="517641" cy="656845"/>
            </a:xfrm>
            <a:custGeom>
              <a:avLst/>
              <a:gdLst>
                <a:gd name="connsiteX0" fmla="*/ 391262 w 517641"/>
                <a:gd name="connsiteY0" fmla="*/ 656690 h 656845"/>
                <a:gd name="connsiteX1" fmla="*/ 391262 w 517641"/>
                <a:gd name="connsiteY1" fmla="*/ 293035 h 656845"/>
                <a:gd name="connsiteX2" fmla="*/ 360095 w 517641"/>
                <a:gd name="connsiteY2" fmla="*/ 161107 h 656845"/>
                <a:gd name="connsiteX3" fmla="*/ 258821 w 517641"/>
                <a:gd name="connsiteY3" fmla="*/ 116562 h 656845"/>
                <a:gd name="connsiteX4" fmla="*/ 202549 w 517641"/>
                <a:gd name="connsiteY4" fmla="*/ 127349 h 656845"/>
                <a:gd name="connsiteX5" fmla="*/ 159412 w 517641"/>
                <a:gd name="connsiteY5" fmla="*/ 160874 h 656845"/>
                <a:gd name="connsiteX6" fmla="*/ 134230 w 517641"/>
                <a:gd name="connsiteY6" fmla="*/ 214421 h 656845"/>
                <a:gd name="connsiteX7" fmla="*/ 126457 w 517641"/>
                <a:gd name="connsiteY7" fmla="*/ 280541 h 656845"/>
                <a:gd name="connsiteX8" fmla="*/ 126457 w 517641"/>
                <a:gd name="connsiteY8" fmla="*/ 656768 h 656845"/>
                <a:gd name="connsiteX9" fmla="*/ 0 w 517641"/>
                <a:gd name="connsiteY9" fmla="*/ 656768 h 656845"/>
                <a:gd name="connsiteX10" fmla="*/ 0 w 517641"/>
                <a:gd name="connsiteY10" fmla="*/ 13736 h 656845"/>
                <a:gd name="connsiteX11" fmla="*/ 126457 w 517641"/>
                <a:gd name="connsiteY11" fmla="*/ 13736 h 656845"/>
                <a:gd name="connsiteX12" fmla="*/ 126457 w 517641"/>
                <a:gd name="connsiteY12" fmla="*/ 74733 h 656845"/>
                <a:gd name="connsiteX13" fmla="*/ 155837 w 517641"/>
                <a:gd name="connsiteY13" fmla="*/ 43381 h 656845"/>
                <a:gd name="connsiteX14" fmla="*/ 194154 w 517641"/>
                <a:gd name="connsiteY14" fmla="*/ 19789 h 656845"/>
                <a:gd name="connsiteX15" fmla="*/ 239079 w 517641"/>
                <a:gd name="connsiteY15" fmla="*/ 5122 h 656845"/>
                <a:gd name="connsiteX16" fmla="*/ 288201 w 517641"/>
                <a:gd name="connsiteY16" fmla="*/ 0 h 656845"/>
                <a:gd name="connsiteX17" fmla="*/ 389164 w 517641"/>
                <a:gd name="connsiteY17" fmla="*/ 18858 h 656845"/>
                <a:gd name="connsiteX18" fmla="*/ 460437 w 517641"/>
                <a:gd name="connsiteY18" fmla="*/ 73026 h 656845"/>
                <a:gd name="connsiteX19" fmla="*/ 503263 w 517641"/>
                <a:gd name="connsiteY19" fmla="*/ 162194 h 656845"/>
                <a:gd name="connsiteX20" fmla="*/ 517642 w 517641"/>
                <a:gd name="connsiteY20" fmla="*/ 288379 h 656845"/>
                <a:gd name="connsiteX21" fmla="*/ 517642 w 517641"/>
                <a:gd name="connsiteY21" fmla="*/ 656845 h 656845"/>
                <a:gd name="connsiteX22" fmla="*/ 391262 w 517641"/>
                <a:gd name="connsiteY22" fmla="*/ 656845 h 65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17641" h="656845">
                  <a:moveTo>
                    <a:pt x="391262" y="656690"/>
                  </a:moveTo>
                  <a:lnTo>
                    <a:pt x="391262" y="293035"/>
                  </a:lnTo>
                  <a:cubicBezTo>
                    <a:pt x="391262" y="234832"/>
                    <a:pt x="380925" y="190830"/>
                    <a:pt x="360095" y="161107"/>
                  </a:cubicBezTo>
                  <a:cubicBezTo>
                    <a:pt x="339343" y="131462"/>
                    <a:pt x="305611" y="116562"/>
                    <a:pt x="258821" y="116562"/>
                  </a:cubicBezTo>
                  <a:cubicBezTo>
                    <a:pt x="238457" y="116562"/>
                    <a:pt x="219648" y="120210"/>
                    <a:pt x="202549" y="127349"/>
                  </a:cubicBezTo>
                  <a:cubicBezTo>
                    <a:pt x="185372" y="134566"/>
                    <a:pt x="170993" y="145664"/>
                    <a:pt x="159412" y="160874"/>
                  </a:cubicBezTo>
                  <a:cubicBezTo>
                    <a:pt x="147831" y="176007"/>
                    <a:pt x="139437" y="193856"/>
                    <a:pt x="134230" y="214421"/>
                  </a:cubicBezTo>
                  <a:cubicBezTo>
                    <a:pt x="129022" y="234987"/>
                    <a:pt x="126457" y="257027"/>
                    <a:pt x="126457" y="280541"/>
                  </a:cubicBezTo>
                  <a:lnTo>
                    <a:pt x="126457" y="656768"/>
                  </a:lnTo>
                  <a:lnTo>
                    <a:pt x="0" y="656768"/>
                  </a:lnTo>
                  <a:lnTo>
                    <a:pt x="0" y="13736"/>
                  </a:lnTo>
                  <a:lnTo>
                    <a:pt x="126457" y="13736"/>
                  </a:lnTo>
                  <a:lnTo>
                    <a:pt x="126457" y="74733"/>
                  </a:lnTo>
                  <a:cubicBezTo>
                    <a:pt x="134462" y="63170"/>
                    <a:pt x="144178" y="52693"/>
                    <a:pt x="155837" y="43381"/>
                  </a:cubicBezTo>
                  <a:cubicBezTo>
                    <a:pt x="167417" y="33991"/>
                    <a:pt x="180164" y="26153"/>
                    <a:pt x="194154" y="19789"/>
                  </a:cubicBezTo>
                  <a:cubicBezTo>
                    <a:pt x="208145" y="13426"/>
                    <a:pt x="223146" y="8537"/>
                    <a:pt x="239079" y="5122"/>
                  </a:cubicBezTo>
                  <a:cubicBezTo>
                    <a:pt x="255012" y="1707"/>
                    <a:pt x="271412" y="0"/>
                    <a:pt x="288201" y="0"/>
                  </a:cubicBezTo>
                  <a:cubicBezTo>
                    <a:pt x="326985" y="0"/>
                    <a:pt x="360562" y="6286"/>
                    <a:pt x="389164" y="18858"/>
                  </a:cubicBezTo>
                  <a:cubicBezTo>
                    <a:pt x="417689" y="31430"/>
                    <a:pt x="441472" y="49434"/>
                    <a:pt x="460437" y="73026"/>
                  </a:cubicBezTo>
                  <a:cubicBezTo>
                    <a:pt x="479402" y="96540"/>
                    <a:pt x="493703" y="126263"/>
                    <a:pt x="503263" y="162194"/>
                  </a:cubicBezTo>
                  <a:cubicBezTo>
                    <a:pt x="512823" y="198125"/>
                    <a:pt x="517642" y="240186"/>
                    <a:pt x="517642" y="288379"/>
                  </a:cubicBezTo>
                  <a:lnTo>
                    <a:pt x="517642" y="656845"/>
                  </a:lnTo>
                  <a:lnTo>
                    <a:pt x="391262" y="656845"/>
                  </a:lnTo>
                  <a:close/>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4" name="Freeform 26">
              <a:extLst>
                <a:ext uri="{FF2B5EF4-FFF2-40B4-BE49-F238E27FC236}">
                  <a16:creationId xmlns:a16="http://schemas.microsoft.com/office/drawing/2014/main" id="{BAC1AC9F-7FC3-9264-6B7F-A63C8BE74D91}"/>
                </a:ext>
              </a:extLst>
            </p:cNvPr>
            <p:cNvSpPr/>
            <p:nvPr/>
          </p:nvSpPr>
          <p:spPr bwMode="invGray">
            <a:xfrm>
              <a:off x="1333500" y="1365250"/>
              <a:ext cx="2432217" cy="886244"/>
            </a:xfrm>
            <a:custGeom>
              <a:avLst/>
              <a:gdLst>
                <a:gd name="connsiteX0" fmla="*/ 2431984 w 2432217"/>
                <a:gd name="connsiteY0" fmla="*/ 0 h 886244"/>
                <a:gd name="connsiteX1" fmla="*/ 0 w 2432217"/>
                <a:gd name="connsiteY1" fmla="*/ 886245 h 886244"/>
                <a:gd name="connsiteX2" fmla="*/ 2432217 w 2432217"/>
                <a:gd name="connsiteY2" fmla="*/ 457246 h 886244"/>
                <a:gd name="connsiteX3" fmla="*/ 2432217 w 2432217"/>
                <a:gd name="connsiteY3" fmla="*/ 0 h 886244"/>
                <a:gd name="connsiteX4" fmla="*/ 2431984 w 2432217"/>
                <a:gd name="connsiteY4" fmla="*/ 0 h 886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217" h="886244">
                  <a:moveTo>
                    <a:pt x="2431984" y="0"/>
                  </a:moveTo>
                  <a:lnTo>
                    <a:pt x="0" y="886245"/>
                  </a:lnTo>
                  <a:lnTo>
                    <a:pt x="2432217" y="457246"/>
                  </a:lnTo>
                  <a:lnTo>
                    <a:pt x="2432217" y="0"/>
                  </a:lnTo>
                  <a:lnTo>
                    <a:pt x="2431984" y="0"/>
                  </a:lnTo>
                  <a:close/>
                </a:path>
              </a:pathLst>
            </a:custGeom>
            <a:solidFill>
              <a:srgbClr val="FFE600"/>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5" name="Freeform 30">
              <a:extLst>
                <a:ext uri="{FF2B5EF4-FFF2-40B4-BE49-F238E27FC236}">
                  <a16:creationId xmlns:a16="http://schemas.microsoft.com/office/drawing/2014/main" id="{C16F909E-0CD7-BC49-F6A6-4D7839EF9AB1}"/>
                </a:ext>
              </a:extLst>
            </p:cNvPr>
            <p:cNvSpPr/>
            <p:nvPr/>
          </p:nvSpPr>
          <p:spPr bwMode="invGray">
            <a:xfrm>
              <a:off x="1354718" y="2619961"/>
              <a:ext cx="2042042" cy="1228558"/>
            </a:xfrm>
            <a:custGeom>
              <a:avLst/>
              <a:gdLst>
                <a:gd name="connsiteX0" fmla="*/ 1639277 w 2042042"/>
                <a:gd name="connsiteY0" fmla="*/ 78 h 1228558"/>
                <a:gd name="connsiteX1" fmla="*/ 1430277 w 2042042"/>
                <a:gd name="connsiteY1" fmla="*/ 400983 h 1228558"/>
                <a:gd name="connsiteX2" fmla="*/ 1221821 w 2042042"/>
                <a:gd name="connsiteY2" fmla="*/ 78 h 1228558"/>
                <a:gd name="connsiteX3" fmla="*/ 813848 w 2042042"/>
                <a:gd name="connsiteY3" fmla="*/ 78 h 1228558"/>
                <a:gd name="connsiteX4" fmla="*/ 1243662 w 2042042"/>
                <a:gd name="connsiteY4" fmla="*/ 743297 h 1228558"/>
                <a:gd name="connsiteX5" fmla="*/ 1243662 w 2042042"/>
                <a:gd name="connsiteY5" fmla="*/ 1228559 h 1228558"/>
                <a:gd name="connsiteX6" fmla="*/ 1611607 w 2042042"/>
                <a:gd name="connsiteY6" fmla="*/ 1228559 h 1228558"/>
                <a:gd name="connsiteX7" fmla="*/ 1611607 w 2042042"/>
                <a:gd name="connsiteY7" fmla="*/ 743297 h 1228558"/>
                <a:gd name="connsiteX8" fmla="*/ 2042043 w 2042042"/>
                <a:gd name="connsiteY8" fmla="*/ 78 h 1228558"/>
                <a:gd name="connsiteX9" fmla="*/ 1639277 w 2042042"/>
                <a:gd name="connsiteY9" fmla="*/ 78 h 1228558"/>
                <a:gd name="connsiteX10" fmla="*/ 0 w 2042042"/>
                <a:gd name="connsiteY10" fmla="*/ 78 h 1228558"/>
                <a:gd name="connsiteX11" fmla="*/ 0 w 2042042"/>
                <a:gd name="connsiteY11" fmla="*/ 1228481 h 1228558"/>
                <a:gd name="connsiteX12" fmla="*/ 984219 w 2042042"/>
                <a:gd name="connsiteY12" fmla="*/ 1228481 h 1228558"/>
                <a:gd name="connsiteX13" fmla="*/ 984219 w 2042042"/>
                <a:gd name="connsiteY13" fmla="*/ 945923 h 1228558"/>
                <a:gd name="connsiteX14" fmla="*/ 369034 w 2042042"/>
                <a:gd name="connsiteY14" fmla="*/ 945923 h 1228558"/>
                <a:gd name="connsiteX15" fmla="*/ 369034 w 2042042"/>
                <a:gd name="connsiteY15" fmla="*/ 743220 h 1228558"/>
                <a:gd name="connsiteX16" fmla="*/ 813848 w 2042042"/>
                <a:gd name="connsiteY16" fmla="*/ 743220 h 1228558"/>
                <a:gd name="connsiteX17" fmla="*/ 813848 w 2042042"/>
                <a:gd name="connsiteY17" fmla="*/ 485339 h 1228558"/>
                <a:gd name="connsiteX18" fmla="*/ 369034 w 2042042"/>
                <a:gd name="connsiteY18" fmla="*/ 485339 h 1228558"/>
                <a:gd name="connsiteX19" fmla="*/ 369034 w 2042042"/>
                <a:gd name="connsiteY19" fmla="*/ 282558 h 1228558"/>
                <a:gd name="connsiteX20" fmla="*/ 861182 w 2042042"/>
                <a:gd name="connsiteY20" fmla="*/ 282558 h 1228558"/>
                <a:gd name="connsiteX21" fmla="*/ 697884 w 2042042"/>
                <a:gd name="connsiteY21" fmla="*/ 0 h 1228558"/>
                <a:gd name="connsiteX22" fmla="*/ 0 w 2042042"/>
                <a:gd name="connsiteY22" fmla="*/ 0 h 122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42042" h="1228558">
                  <a:moveTo>
                    <a:pt x="1639277" y="78"/>
                  </a:moveTo>
                  <a:lnTo>
                    <a:pt x="1430277" y="400983"/>
                  </a:lnTo>
                  <a:lnTo>
                    <a:pt x="1221821" y="78"/>
                  </a:lnTo>
                  <a:lnTo>
                    <a:pt x="813848" y="78"/>
                  </a:lnTo>
                  <a:lnTo>
                    <a:pt x="1243662" y="743297"/>
                  </a:lnTo>
                  <a:lnTo>
                    <a:pt x="1243662" y="1228559"/>
                  </a:lnTo>
                  <a:lnTo>
                    <a:pt x="1611607" y="1228559"/>
                  </a:lnTo>
                  <a:lnTo>
                    <a:pt x="1611607" y="743297"/>
                  </a:lnTo>
                  <a:lnTo>
                    <a:pt x="2042043" y="78"/>
                  </a:lnTo>
                  <a:lnTo>
                    <a:pt x="1639277" y="78"/>
                  </a:lnTo>
                  <a:close/>
                  <a:moveTo>
                    <a:pt x="0" y="78"/>
                  </a:moveTo>
                  <a:lnTo>
                    <a:pt x="0" y="1228481"/>
                  </a:lnTo>
                  <a:lnTo>
                    <a:pt x="984219" y="1228481"/>
                  </a:lnTo>
                  <a:lnTo>
                    <a:pt x="984219" y="945923"/>
                  </a:lnTo>
                  <a:lnTo>
                    <a:pt x="369034" y="945923"/>
                  </a:lnTo>
                  <a:lnTo>
                    <a:pt x="369034" y="743220"/>
                  </a:lnTo>
                  <a:lnTo>
                    <a:pt x="813848" y="743220"/>
                  </a:lnTo>
                  <a:lnTo>
                    <a:pt x="813848" y="485339"/>
                  </a:lnTo>
                  <a:lnTo>
                    <a:pt x="369034" y="485339"/>
                  </a:lnTo>
                  <a:lnTo>
                    <a:pt x="369034" y="282558"/>
                  </a:lnTo>
                  <a:lnTo>
                    <a:pt x="861182" y="282558"/>
                  </a:lnTo>
                  <a:lnTo>
                    <a:pt x="697884" y="0"/>
                  </a:lnTo>
                  <a:lnTo>
                    <a:pt x="0" y="0"/>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6" name="Freeform 31">
              <a:extLst>
                <a:ext uri="{FF2B5EF4-FFF2-40B4-BE49-F238E27FC236}">
                  <a16:creationId xmlns:a16="http://schemas.microsoft.com/office/drawing/2014/main" id="{02480DD1-4D44-4A29-0329-AD1A09B263F4}"/>
                </a:ext>
              </a:extLst>
            </p:cNvPr>
            <p:cNvSpPr/>
            <p:nvPr/>
          </p:nvSpPr>
          <p:spPr bwMode="invGray">
            <a:xfrm>
              <a:off x="5925900" y="4251210"/>
              <a:ext cx="200839" cy="388178"/>
            </a:xfrm>
            <a:custGeom>
              <a:avLst/>
              <a:gdLst>
                <a:gd name="connsiteX0" fmla="*/ 119151 w 200839"/>
                <a:gd name="connsiteY0" fmla="*/ 286749 h 388178"/>
                <a:gd name="connsiteX1" fmla="*/ 119151 w 200839"/>
                <a:gd name="connsiteY1" fmla="*/ 173679 h 388178"/>
                <a:gd name="connsiteX2" fmla="*/ 199751 w 200839"/>
                <a:gd name="connsiteY2" fmla="*/ 173679 h 388178"/>
                <a:gd name="connsiteX3" fmla="*/ 199751 w 200839"/>
                <a:gd name="connsiteY3" fmla="*/ 107250 h 388178"/>
                <a:gd name="connsiteX4" fmla="*/ 119151 w 200839"/>
                <a:gd name="connsiteY4" fmla="*/ 107250 h 388178"/>
                <a:gd name="connsiteX5" fmla="*/ 119151 w 200839"/>
                <a:gd name="connsiteY5" fmla="*/ 0 h 388178"/>
                <a:gd name="connsiteX6" fmla="*/ 47878 w 200839"/>
                <a:gd name="connsiteY6" fmla="*/ 35543 h 388178"/>
                <a:gd name="connsiteX7" fmla="*/ 47878 w 200839"/>
                <a:gd name="connsiteY7" fmla="*/ 107250 h 388178"/>
                <a:gd name="connsiteX8" fmla="*/ 0 w 200839"/>
                <a:gd name="connsiteY8" fmla="*/ 107250 h 388178"/>
                <a:gd name="connsiteX9" fmla="*/ 0 w 200839"/>
                <a:gd name="connsiteY9" fmla="*/ 173679 h 388178"/>
                <a:gd name="connsiteX10" fmla="*/ 47878 w 200839"/>
                <a:gd name="connsiteY10" fmla="*/ 173679 h 388178"/>
                <a:gd name="connsiteX11" fmla="*/ 47878 w 200839"/>
                <a:gd name="connsiteY11" fmla="*/ 305995 h 388178"/>
                <a:gd name="connsiteX12" fmla="*/ 122027 w 200839"/>
                <a:gd name="connsiteY12" fmla="*/ 388178 h 388178"/>
                <a:gd name="connsiteX13" fmla="*/ 190346 w 200839"/>
                <a:gd name="connsiteY13" fmla="*/ 371260 h 388178"/>
                <a:gd name="connsiteX14" fmla="*/ 200839 w 200839"/>
                <a:gd name="connsiteY14" fmla="*/ 299554 h 388178"/>
                <a:gd name="connsiteX15" fmla="*/ 145344 w 200839"/>
                <a:gd name="connsiteY15" fmla="*/ 319964 h 388178"/>
                <a:gd name="connsiteX16" fmla="*/ 119073 w 200839"/>
                <a:gd name="connsiteY16" fmla="*/ 286749 h 38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839" h="388178">
                  <a:moveTo>
                    <a:pt x="119151" y="286749"/>
                  </a:moveTo>
                  <a:lnTo>
                    <a:pt x="119151" y="173679"/>
                  </a:lnTo>
                  <a:lnTo>
                    <a:pt x="199751" y="173679"/>
                  </a:lnTo>
                  <a:lnTo>
                    <a:pt x="199751" y="107250"/>
                  </a:lnTo>
                  <a:lnTo>
                    <a:pt x="119151" y="107250"/>
                  </a:lnTo>
                  <a:lnTo>
                    <a:pt x="119151" y="0"/>
                  </a:lnTo>
                  <a:lnTo>
                    <a:pt x="47878" y="35543"/>
                  </a:lnTo>
                  <a:lnTo>
                    <a:pt x="47878" y="107250"/>
                  </a:lnTo>
                  <a:lnTo>
                    <a:pt x="0" y="107250"/>
                  </a:lnTo>
                  <a:lnTo>
                    <a:pt x="0" y="173679"/>
                  </a:lnTo>
                  <a:lnTo>
                    <a:pt x="47878" y="173679"/>
                  </a:lnTo>
                  <a:lnTo>
                    <a:pt x="47878" y="305995"/>
                  </a:lnTo>
                  <a:cubicBezTo>
                    <a:pt x="47878" y="353799"/>
                    <a:pt x="78812" y="388178"/>
                    <a:pt x="122027" y="388178"/>
                  </a:cubicBezTo>
                  <a:cubicBezTo>
                    <a:pt x="140681" y="388178"/>
                    <a:pt x="175734" y="382901"/>
                    <a:pt x="190346" y="371260"/>
                  </a:cubicBezTo>
                  <a:lnTo>
                    <a:pt x="200839" y="299554"/>
                  </a:lnTo>
                  <a:cubicBezTo>
                    <a:pt x="188559" y="311195"/>
                    <a:pt x="162910" y="319964"/>
                    <a:pt x="145344" y="319964"/>
                  </a:cubicBezTo>
                  <a:cubicBezTo>
                    <a:pt x="127778" y="319964"/>
                    <a:pt x="119073" y="311815"/>
                    <a:pt x="119073" y="28674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7" name="Freeform 32">
              <a:extLst>
                <a:ext uri="{FF2B5EF4-FFF2-40B4-BE49-F238E27FC236}">
                  <a16:creationId xmlns:a16="http://schemas.microsoft.com/office/drawing/2014/main" id="{25863A8D-5EBC-9340-DF3C-BCB0E70CEFA9}"/>
                </a:ext>
              </a:extLst>
            </p:cNvPr>
            <p:cNvSpPr/>
            <p:nvPr/>
          </p:nvSpPr>
          <p:spPr bwMode="invGray">
            <a:xfrm>
              <a:off x="4293307" y="4251210"/>
              <a:ext cx="200838" cy="388178"/>
            </a:xfrm>
            <a:custGeom>
              <a:avLst/>
              <a:gdLst>
                <a:gd name="connsiteX0" fmla="*/ 119151 w 200838"/>
                <a:gd name="connsiteY0" fmla="*/ 286749 h 388178"/>
                <a:gd name="connsiteX1" fmla="*/ 119151 w 200838"/>
                <a:gd name="connsiteY1" fmla="*/ 173679 h 388178"/>
                <a:gd name="connsiteX2" fmla="*/ 199751 w 200838"/>
                <a:gd name="connsiteY2" fmla="*/ 173679 h 388178"/>
                <a:gd name="connsiteX3" fmla="*/ 199751 w 200838"/>
                <a:gd name="connsiteY3" fmla="*/ 107250 h 388178"/>
                <a:gd name="connsiteX4" fmla="*/ 119151 w 200838"/>
                <a:gd name="connsiteY4" fmla="*/ 107250 h 388178"/>
                <a:gd name="connsiteX5" fmla="*/ 119151 w 200838"/>
                <a:gd name="connsiteY5" fmla="*/ 0 h 388178"/>
                <a:gd name="connsiteX6" fmla="*/ 47878 w 200838"/>
                <a:gd name="connsiteY6" fmla="*/ 35543 h 388178"/>
                <a:gd name="connsiteX7" fmla="*/ 47878 w 200838"/>
                <a:gd name="connsiteY7" fmla="*/ 107250 h 388178"/>
                <a:gd name="connsiteX8" fmla="*/ 0 w 200838"/>
                <a:gd name="connsiteY8" fmla="*/ 107250 h 388178"/>
                <a:gd name="connsiteX9" fmla="*/ 0 w 200838"/>
                <a:gd name="connsiteY9" fmla="*/ 173679 h 388178"/>
                <a:gd name="connsiteX10" fmla="*/ 47878 w 200838"/>
                <a:gd name="connsiteY10" fmla="*/ 173679 h 388178"/>
                <a:gd name="connsiteX11" fmla="*/ 47878 w 200838"/>
                <a:gd name="connsiteY11" fmla="*/ 305995 h 388178"/>
                <a:gd name="connsiteX12" fmla="*/ 122027 w 200838"/>
                <a:gd name="connsiteY12" fmla="*/ 388178 h 388178"/>
                <a:gd name="connsiteX13" fmla="*/ 190346 w 200838"/>
                <a:gd name="connsiteY13" fmla="*/ 371260 h 388178"/>
                <a:gd name="connsiteX14" fmla="*/ 200839 w 200838"/>
                <a:gd name="connsiteY14" fmla="*/ 299554 h 388178"/>
                <a:gd name="connsiteX15" fmla="*/ 145344 w 200838"/>
                <a:gd name="connsiteY15" fmla="*/ 319964 h 388178"/>
                <a:gd name="connsiteX16" fmla="*/ 119073 w 200838"/>
                <a:gd name="connsiteY16" fmla="*/ 286749 h 38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838" h="388178">
                  <a:moveTo>
                    <a:pt x="119151" y="286749"/>
                  </a:moveTo>
                  <a:lnTo>
                    <a:pt x="119151" y="173679"/>
                  </a:lnTo>
                  <a:lnTo>
                    <a:pt x="199751" y="173679"/>
                  </a:lnTo>
                  <a:lnTo>
                    <a:pt x="199751" y="107250"/>
                  </a:lnTo>
                  <a:lnTo>
                    <a:pt x="119151" y="107250"/>
                  </a:lnTo>
                  <a:lnTo>
                    <a:pt x="119151" y="0"/>
                  </a:lnTo>
                  <a:lnTo>
                    <a:pt x="47878" y="35543"/>
                  </a:lnTo>
                  <a:lnTo>
                    <a:pt x="47878" y="107250"/>
                  </a:lnTo>
                  <a:lnTo>
                    <a:pt x="0" y="107250"/>
                  </a:lnTo>
                  <a:lnTo>
                    <a:pt x="0" y="173679"/>
                  </a:lnTo>
                  <a:lnTo>
                    <a:pt x="47878" y="173679"/>
                  </a:lnTo>
                  <a:lnTo>
                    <a:pt x="47878" y="305995"/>
                  </a:lnTo>
                  <a:cubicBezTo>
                    <a:pt x="47878" y="353799"/>
                    <a:pt x="78812" y="388178"/>
                    <a:pt x="122027" y="388178"/>
                  </a:cubicBezTo>
                  <a:cubicBezTo>
                    <a:pt x="140680" y="388178"/>
                    <a:pt x="175734" y="382901"/>
                    <a:pt x="190346" y="371260"/>
                  </a:cubicBezTo>
                  <a:lnTo>
                    <a:pt x="200839" y="299554"/>
                  </a:lnTo>
                  <a:cubicBezTo>
                    <a:pt x="188559" y="311195"/>
                    <a:pt x="162909" y="319964"/>
                    <a:pt x="145344" y="319964"/>
                  </a:cubicBezTo>
                  <a:cubicBezTo>
                    <a:pt x="127778" y="319964"/>
                    <a:pt x="119073" y="311815"/>
                    <a:pt x="119073" y="28674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8" name="Freeform 33">
              <a:extLst>
                <a:ext uri="{FF2B5EF4-FFF2-40B4-BE49-F238E27FC236}">
                  <a16:creationId xmlns:a16="http://schemas.microsoft.com/office/drawing/2014/main" id="{D66D96A4-1C6D-861C-F5FE-F367C55C8D48}"/>
                </a:ext>
              </a:extLst>
            </p:cNvPr>
            <p:cNvSpPr/>
            <p:nvPr/>
          </p:nvSpPr>
          <p:spPr bwMode="invGray">
            <a:xfrm>
              <a:off x="6170575" y="4251132"/>
              <a:ext cx="238379" cy="382435"/>
            </a:xfrm>
            <a:custGeom>
              <a:avLst/>
              <a:gdLst>
                <a:gd name="connsiteX0" fmla="*/ 140136 w 238379"/>
                <a:gd name="connsiteY0" fmla="*/ 101429 h 382435"/>
                <a:gd name="connsiteX1" fmla="*/ 71273 w 238379"/>
                <a:gd name="connsiteY1" fmla="*/ 125952 h 382435"/>
                <a:gd name="connsiteX2" fmla="*/ 71273 w 238379"/>
                <a:gd name="connsiteY2" fmla="*/ 0 h 382435"/>
                <a:gd name="connsiteX3" fmla="*/ 0 w 238379"/>
                <a:gd name="connsiteY3" fmla="*/ 35543 h 382435"/>
                <a:gd name="connsiteX4" fmla="*/ 0 w 238379"/>
                <a:gd name="connsiteY4" fmla="*/ 382436 h 382435"/>
                <a:gd name="connsiteX5" fmla="*/ 71273 w 238379"/>
                <a:gd name="connsiteY5" fmla="*/ 382436 h 382435"/>
                <a:gd name="connsiteX6" fmla="*/ 71273 w 238379"/>
                <a:gd name="connsiteY6" fmla="*/ 230874 h 382435"/>
                <a:gd name="connsiteX7" fmla="*/ 119772 w 238379"/>
                <a:gd name="connsiteY7" fmla="*/ 168480 h 382435"/>
                <a:gd name="connsiteX8" fmla="*/ 167107 w 238379"/>
                <a:gd name="connsiteY8" fmla="*/ 232581 h 382435"/>
                <a:gd name="connsiteX9" fmla="*/ 167107 w 238379"/>
                <a:gd name="connsiteY9" fmla="*/ 382436 h 382435"/>
                <a:gd name="connsiteX10" fmla="*/ 238379 w 238379"/>
                <a:gd name="connsiteY10" fmla="*/ 382436 h 382435"/>
                <a:gd name="connsiteX11" fmla="*/ 238379 w 238379"/>
                <a:gd name="connsiteY11" fmla="*/ 226761 h 382435"/>
                <a:gd name="connsiteX12" fmla="*/ 140292 w 238379"/>
                <a:gd name="connsiteY12" fmla="*/ 101429 h 38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8379" h="382435">
                  <a:moveTo>
                    <a:pt x="140136" y="101429"/>
                  </a:moveTo>
                  <a:cubicBezTo>
                    <a:pt x="112700" y="101429"/>
                    <a:pt x="84641" y="109578"/>
                    <a:pt x="71273" y="125952"/>
                  </a:cubicBezTo>
                  <a:lnTo>
                    <a:pt x="71273" y="0"/>
                  </a:lnTo>
                  <a:lnTo>
                    <a:pt x="0" y="35543"/>
                  </a:lnTo>
                  <a:lnTo>
                    <a:pt x="0" y="382436"/>
                  </a:lnTo>
                  <a:lnTo>
                    <a:pt x="71273" y="382436"/>
                  </a:lnTo>
                  <a:lnTo>
                    <a:pt x="71273" y="230874"/>
                  </a:lnTo>
                  <a:cubicBezTo>
                    <a:pt x="71273" y="190054"/>
                    <a:pt x="83553" y="168480"/>
                    <a:pt x="119772" y="168480"/>
                  </a:cubicBezTo>
                  <a:cubicBezTo>
                    <a:pt x="158324" y="168480"/>
                    <a:pt x="167107" y="194167"/>
                    <a:pt x="167107" y="232581"/>
                  </a:cubicBezTo>
                  <a:lnTo>
                    <a:pt x="167107" y="382436"/>
                  </a:lnTo>
                  <a:lnTo>
                    <a:pt x="238379" y="382436"/>
                  </a:lnTo>
                  <a:lnTo>
                    <a:pt x="238379" y="226761"/>
                  </a:lnTo>
                  <a:cubicBezTo>
                    <a:pt x="238379" y="158546"/>
                    <a:pt x="212653" y="101429"/>
                    <a:pt x="140292" y="10142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9" name="Freeform 34">
              <a:extLst>
                <a:ext uri="{FF2B5EF4-FFF2-40B4-BE49-F238E27FC236}">
                  <a16:creationId xmlns:a16="http://schemas.microsoft.com/office/drawing/2014/main" id="{6CE97E62-A3C5-ECC5-6A79-F5E67C9602A4}"/>
                </a:ext>
              </a:extLst>
            </p:cNvPr>
            <p:cNvSpPr/>
            <p:nvPr/>
          </p:nvSpPr>
          <p:spPr bwMode="invGray">
            <a:xfrm>
              <a:off x="1678205" y="4251132"/>
              <a:ext cx="238379" cy="382435"/>
            </a:xfrm>
            <a:custGeom>
              <a:avLst/>
              <a:gdLst>
                <a:gd name="connsiteX0" fmla="*/ 140136 w 238379"/>
                <a:gd name="connsiteY0" fmla="*/ 101429 h 382435"/>
                <a:gd name="connsiteX1" fmla="*/ 71273 w 238379"/>
                <a:gd name="connsiteY1" fmla="*/ 125952 h 382435"/>
                <a:gd name="connsiteX2" fmla="*/ 71273 w 238379"/>
                <a:gd name="connsiteY2" fmla="*/ 0 h 382435"/>
                <a:gd name="connsiteX3" fmla="*/ 0 w 238379"/>
                <a:gd name="connsiteY3" fmla="*/ 35543 h 382435"/>
                <a:gd name="connsiteX4" fmla="*/ 0 w 238379"/>
                <a:gd name="connsiteY4" fmla="*/ 382436 h 382435"/>
                <a:gd name="connsiteX5" fmla="*/ 71273 w 238379"/>
                <a:gd name="connsiteY5" fmla="*/ 382436 h 382435"/>
                <a:gd name="connsiteX6" fmla="*/ 71273 w 238379"/>
                <a:gd name="connsiteY6" fmla="*/ 230874 h 382435"/>
                <a:gd name="connsiteX7" fmla="*/ 119773 w 238379"/>
                <a:gd name="connsiteY7" fmla="*/ 168480 h 382435"/>
                <a:gd name="connsiteX8" fmla="*/ 167107 w 238379"/>
                <a:gd name="connsiteY8" fmla="*/ 232581 h 382435"/>
                <a:gd name="connsiteX9" fmla="*/ 167107 w 238379"/>
                <a:gd name="connsiteY9" fmla="*/ 382436 h 382435"/>
                <a:gd name="connsiteX10" fmla="*/ 238380 w 238379"/>
                <a:gd name="connsiteY10" fmla="*/ 382436 h 382435"/>
                <a:gd name="connsiteX11" fmla="*/ 238380 w 238379"/>
                <a:gd name="connsiteY11" fmla="*/ 226761 h 382435"/>
                <a:gd name="connsiteX12" fmla="*/ 140292 w 238379"/>
                <a:gd name="connsiteY12" fmla="*/ 101429 h 38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8379" h="382435">
                  <a:moveTo>
                    <a:pt x="140136" y="101429"/>
                  </a:moveTo>
                  <a:cubicBezTo>
                    <a:pt x="112700" y="101429"/>
                    <a:pt x="84641" y="109578"/>
                    <a:pt x="71273" y="125952"/>
                  </a:cubicBezTo>
                  <a:lnTo>
                    <a:pt x="71273" y="0"/>
                  </a:lnTo>
                  <a:lnTo>
                    <a:pt x="0" y="35543"/>
                  </a:lnTo>
                  <a:lnTo>
                    <a:pt x="0" y="382436"/>
                  </a:lnTo>
                  <a:lnTo>
                    <a:pt x="71273" y="382436"/>
                  </a:lnTo>
                  <a:lnTo>
                    <a:pt x="71273" y="230874"/>
                  </a:lnTo>
                  <a:cubicBezTo>
                    <a:pt x="71273" y="190054"/>
                    <a:pt x="83553" y="168480"/>
                    <a:pt x="119773" y="168480"/>
                  </a:cubicBezTo>
                  <a:cubicBezTo>
                    <a:pt x="158324" y="168480"/>
                    <a:pt x="167107" y="194167"/>
                    <a:pt x="167107" y="232581"/>
                  </a:cubicBezTo>
                  <a:lnTo>
                    <a:pt x="167107" y="382436"/>
                  </a:lnTo>
                  <a:lnTo>
                    <a:pt x="238380" y="382436"/>
                  </a:lnTo>
                  <a:lnTo>
                    <a:pt x="238380" y="226761"/>
                  </a:lnTo>
                  <a:cubicBezTo>
                    <a:pt x="238380" y="158546"/>
                    <a:pt x="212653" y="101429"/>
                    <a:pt x="140292" y="10142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0" name="Freeform 35">
              <a:extLst>
                <a:ext uri="{FF2B5EF4-FFF2-40B4-BE49-F238E27FC236}">
                  <a16:creationId xmlns:a16="http://schemas.microsoft.com/office/drawing/2014/main" id="{C97EB114-6AE0-F6F6-49CB-7C658C6DDF92}"/>
                </a:ext>
              </a:extLst>
            </p:cNvPr>
            <p:cNvSpPr/>
            <p:nvPr/>
          </p:nvSpPr>
          <p:spPr bwMode="invGray">
            <a:xfrm>
              <a:off x="2898939" y="4251210"/>
              <a:ext cx="200838" cy="388178"/>
            </a:xfrm>
            <a:custGeom>
              <a:avLst/>
              <a:gdLst>
                <a:gd name="connsiteX0" fmla="*/ 119151 w 200838"/>
                <a:gd name="connsiteY0" fmla="*/ 286749 h 388178"/>
                <a:gd name="connsiteX1" fmla="*/ 119151 w 200838"/>
                <a:gd name="connsiteY1" fmla="*/ 173679 h 388178"/>
                <a:gd name="connsiteX2" fmla="*/ 199751 w 200838"/>
                <a:gd name="connsiteY2" fmla="*/ 173679 h 388178"/>
                <a:gd name="connsiteX3" fmla="*/ 199751 w 200838"/>
                <a:gd name="connsiteY3" fmla="*/ 107250 h 388178"/>
                <a:gd name="connsiteX4" fmla="*/ 119151 w 200838"/>
                <a:gd name="connsiteY4" fmla="*/ 107250 h 388178"/>
                <a:gd name="connsiteX5" fmla="*/ 119151 w 200838"/>
                <a:gd name="connsiteY5" fmla="*/ 0 h 388178"/>
                <a:gd name="connsiteX6" fmla="*/ 47878 w 200838"/>
                <a:gd name="connsiteY6" fmla="*/ 35543 h 388178"/>
                <a:gd name="connsiteX7" fmla="*/ 47878 w 200838"/>
                <a:gd name="connsiteY7" fmla="*/ 107250 h 388178"/>
                <a:gd name="connsiteX8" fmla="*/ 0 w 200838"/>
                <a:gd name="connsiteY8" fmla="*/ 107250 h 388178"/>
                <a:gd name="connsiteX9" fmla="*/ 0 w 200838"/>
                <a:gd name="connsiteY9" fmla="*/ 173679 h 388178"/>
                <a:gd name="connsiteX10" fmla="*/ 47878 w 200838"/>
                <a:gd name="connsiteY10" fmla="*/ 173679 h 388178"/>
                <a:gd name="connsiteX11" fmla="*/ 47878 w 200838"/>
                <a:gd name="connsiteY11" fmla="*/ 305995 h 388178"/>
                <a:gd name="connsiteX12" fmla="*/ 122027 w 200838"/>
                <a:gd name="connsiteY12" fmla="*/ 388178 h 388178"/>
                <a:gd name="connsiteX13" fmla="*/ 190346 w 200838"/>
                <a:gd name="connsiteY13" fmla="*/ 371260 h 388178"/>
                <a:gd name="connsiteX14" fmla="*/ 200839 w 200838"/>
                <a:gd name="connsiteY14" fmla="*/ 299554 h 388178"/>
                <a:gd name="connsiteX15" fmla="*/ 145344 w 200838"/>
                <a:gd name="connsiteY15" fmla="*/ 319964 h 388178"/>
                <a:gd name="connsiteX16" fmla="*/ 119073 w 200838"/>
                <a:gd name="connsiteY16" fmla="*/ 286749 h 38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838" h="388178">
                  <a:moveTo>
                    <a:pt x="119151" y="286749"/>
                  </a:moveTo>
                  <a:lnTo>
                    <a:pt x="119151" y="173679"/>
                  </a:lnTo>
                  <a:lnTo>
                    <a:pt x="199751" y="173679"/>
                  </a:lnTo>
                  <a:lnTo>
                    <a:pt x="199751" y="107250"/>
                  </a:lnTo>
                  <a:lnTo>
                    <a:pt x="119151" y="107250"/>
                  </a:lnTo>
                  <a:lnTo>
                    <a:pt x="119151" y="0"/>
                  </a:lnTo>
                  <a:lnTo>
                    <a:pt x="47878" y="35543"/>
                  </a:lnTo>
                  <a:lnTo>
                    <a:pt x="47878" y="107250"/>
                  </a:lnTo>
                  <a:lnTo>
                    <a:pt x="0" y="107250"/>
                  </a:lnTo>
                  <a:lnTo>
                    <a:pt x="0" y="173679"/>
                  </a:lnTo>
                  <a:lnTo>
                    <a:pt x="47878" y="173679"/>
                  </a:lnTo>
                  <a:lnTo>
                    <a:pt x="47878" y="305995"/>
                  </a:lnTo>
                  <a:cubicBezTo>
                    <a:pt x="47878" y="353799"/>
                    <a:pt x="78812" y="388178"/>
                    <a:pt x="122027" y="388178"/>
                  </a:cubicBezTo>
                  <a:cubicBezTo>
                    <a:pt x="140680" y="388178"/>
                    <a:pt x="175734" y="382901"/>
                    <a:pt x="190346" y="371260"/>
                  </a:cubicBezTo>
                  <a:lnTo>
                    <a:pt x="200839" y="299554"/>
                  </a:lnTo>
                  <a:cubicBezTo>
                    <a:pt x="188558" y="311195"/>
                    <a:pt x="162909" y="319964"/>
                    <a:pt x="145344" y="319964"/>
                  </a:cubicBezTo>
                  <a:cubicBezTo>
                    <a:pt x="127778" y="319964"/>
                    <a:pt x="119073" y="311815"/>
                    <a:pt x="119073" y="28674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1" name="Freeform 36">
              <a:extLst>
                <a:ext uri="{FF2B5EF4-FFF2-40B4-BE49-F238E27FC236}">
                  <a16:creationId xmlns:a16="http://schemas.microsoft.com/office/drawing/2014/main" id="{3050C1A2-E483-E73C-AA8B-084DDFA096C8}"/>
                </a:ext>
              </a:extLst>
            </p:cNvPr>
            <p:cNvSpPr/>
            <p:nvPr/>
          </p:nvSpPr>
          <p:spPr bwMode="invGray">
            <a:xfrm>
              <a:off x="3143614" y="4251132"/>
              <a:ext cx="238379" cy="382435"/>
            </a:xfrm>
            <a:custGeom>
              <a:avLst/>
              <a:gdLst>
                <a:gd name="connsiteX0" fmla="*/ 140136 w 238379"/>
                <a:gd name="connsiteY0" fmla="*/ 101429 h 382435"/>
                <a:gd name="connsiteX1" fmla="*/ 71273 w 238379"/>
                <a:gd name="connsiteY1" fmla="*/ 125952 h 382435"/>
                <a:gd name="connsiteX2" fmla="*/ 71273 w 238379"/>
                <a:gd name="connsiteY2" fmla="*/ 0 h 382435"/>
                <a:gd name="connsiteX3" fmla="*/ 0 w 238379"/>
                <a:gd name="connsiteY3" fmla="*/ 35543 h 382435"/>
                <a:gd name="connsiteX4" fmla="*/ 0 w 238379"/>
                <a:gd name="connsiteY4" fmla="*/ 382436 h 382435"/>
                <a:gd name="connsiteX5" fmla="*/ 71273 w 238379"/>
                <a:gd name="connsiteY5" fmla="*/ 382436 h 382435"/>
                <a:gd name="connsiteX6" fmla="*/ 71273 w 238379"/>
                <a:gd name="connsiteY6" fmla="*/ 230874 h 382435"/>
                <a:gd name="connsiteX7" fmla="*/ 119773 w 238379"/>
                <a:gd name="connsiteY7" fmla="*/ 168480 h 382435"/>
                <a:gd name="connsiteX8" fmla="*/ 167107 w 238379"/>
                <a:gd name="connsiteY8" fmla="*/ 232581 h 382435"/>
                <a:gd name="connsiteX9" fmla="*/ 167107 w 238379"/>
                <a:gd name="connsiteY9" fmla="*/ 382436 h 382435"/>
                <a:gd name="connsiteX10" fmla="*/ 238380 w 238379"/>
                <a:gd name="connsiteY10" fmla="*/ 382436 h 382435"/>
                <a:gd name="connsiteX11" fmla="*/ 238380 w 238379"/>
                <a:gd name="connsiteY11" fmla="*/ 226761 h 382435"/>
                <a:gd name="connsiteX12" fmla="*/ 140292 w 238379"/>
                <a:gd name="connsiteY12" fmla="*/ 101429 h 38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8379" h="382435">
                  <a:moveTo>
                    <a:pt x="140136" y="101429"/>
                  </a:moveTo>
                  <a:cubicBezTo>
                    <a:pt x="112700" y="101429"/>
                    <a:pt x="84641" y="109578"/>
                    <a:pt x="71273" y="125952"/>
                  </a:cubicBezTo>
                  <a:lnTo>
                    <a:pt x="71273" y="0"/>
                  </a:lnTo>
                  <a:lnTo>
                    <a:pt x="0" y="35543"/>
                  </a:lnTo>
                  <a:lnTo>
                    <a:pt x="0" y="382436"/>
                  </a:lnTo>
                  <a:lnTo>
                    <a:pt x="71273" y="382436"/>
                  </a:lnTo>
                  <a:lnTo>
                    <a:pt x="71273" y="230874"/>
                  </a:lnTo>
                  <a:cubicBezTo>
                    <a:pt x="71273" y="190054"/>
                    <a:pt x="83553" y="168480"/>
                    <a:pt x="119773" y="168480"/>
                  </a:cubicBezTo>
                  <a:cubicBezTo>
                    <a:pt x="158324" y="168480"/>
                    <a:pt x="167107" y="194167"/>
                    <a:pt x="167107" y="232581"/>
                  </a:cubicBezTo>
                  <a:lnTo>
                    <a:pt x="167107" y="382436"/>
                  </a:lnTo>
                  <a:lnTo>
                    <a:pt x="238380" y="382436"/>
                  </a:lnTo>
                  <a:lnTo>
                    <a:pt x="238380" y="226761"/>
                  </a:lnTo>
                  <a:cubicBezTo>
                    <a:pt x="238380" y="158546"/>
                    <a:pt x="212653" y="101429"/>
                    <a:pt x="140292" y="10142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2" name="Freeform 37">
              <a:extLst>
                <a:ext uri="{FF2B5EF4-FFF2-40B4-BE49-F238E27FC236}">
                  <a16:creationId xmlns:a16="http://schemas.microsoft.com/office/drawing/2014/main" id="{839E7096-3AD9-369E-C458-C5C0AF992C73}"/>
                </a:ext>
              </a:extLst>
            </p:cNvPr>
            <p:cNvSpPr/>
            <p:nvPr/>
          </p:nvSpPr>
          <p:spPr bwMode="invGray">
            <a:xfrm>
              <a:off x="2242171" y="4352251"/>
              <a:ext cx="237602" cy="382513"/>
            </a:xfrm>
            <a:custGeom>
              <a:avLst/>
              <a:gdLst>
                <a:gd name="connsiteX0" fmla="*/ 131354 w 237602"/>
                <a:gd name="connsiteY0" fmla="*/ 0 h 382513"/>
                <a:gd name="connsiteX1" fmla="*/ 68863 w 237602"/>
                <a:gd name="connsiteY1" fmla="*/ 24523 h 382513"/>
                <a:gd name="connsiteX2" fmla="*/ 68863 w 237602"/>
                <a:gd name="connsiteY2" fmla="*/ 5898 h 382513"/>
                <a:gd name="connsiteX3" fmla="*/ 0 w 237602"/>
                <a:gd name="connsiteY3" fmla="*/ 5898 h 382513"/>
                <a:gd name="connsiteX4" fmla="*/ 0 w 237602"/>
                <a:gd name="connsiteY4" fmla="*/ 382513 h 382513"/>
                <a:gd name="connsiteX5" fmla="*/ 68863 w 237602"/>
                <a:gd name="connsiteY5" fmla="*/ 348134 h 382513"/>
                <a:gd name="connsiteX6" fmla="*/ 68863 w 237602"/>
                <a:gd name="connsiteY6" fmla="*/ 264166 h 382513"/>
                <a:gd name="connsiteX7" fmla="*/ 130188 w 237602"/>
                <a:gd name="connsiteY7" fmla="*/ 286904 h 382513"/>
                <a:gd name="connsiteX8" fmla="*/ 237602 w 237602"/>
                <a:gd name="connsiteY8" fmla="*/ 144034 h 382513"/>
                <a:gd name="connsiteX9" fmla="*/ 131354 w 237602"/>
                <a:gd name="connsiteY9" fmla="*/ 0 h 382513"/>
                <a:gd name="connsiteX10" fmla="*/ 118529 w 237602"/>
                <a:gd name="connsiteY10" fmla="*/ 220940 h 382513"/>
                <a:gd name="connsiteX11" fmla="*/ 68863 w 237602"/>
                <a:gd name="connsiteY11" fmla="*/ 195874 h 382513"/>
                <a:gd name="connsiteX12" fmla="*/ 68863 w 237602"/>
                <a:gd name="connsiteY12" fmla="*/ 90953 h 382513"/>
                <a:gd name="connsiteX13" fmla="*/ 114410 w 237602"/>
                <a:gd name="connsiteY13" fmla="*/ 66430 h 382513"/>
                <a:gd name="connsiteX14" fmla="*/ 166407 w 237602"/>
                <a:gd name="connsiteY14" fmla="*/ 147449 h 382513"/>
                <a:gd name="connsiteX15" fmla="*/ 118529 w 237602"/>
                <a:gd name="connsiteY15" fmla="*/ 220940 h 382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7602" h="382513">
                  <a:moveTo>
                    <a:pt x="131354" y="0"/>
                  </a:moveTo>
                  <a:cubicBezTo>
                    <a:pt x="105627" y="0"/>
                    <a:pt x="86973" y="8149"/>
                    <a:pt x="68863" y="24523"/>
                  </a:cubicBezTo>
                  <a:lnTo>
                    <a:pt x="68863" y="5898"/>
                  </a:lnTo>
                  <a:lnTo>
                    <a:pt x="0" y="5898"/>
                  </a:lnTo>
                  <a:lnTo>
                    <a:pt x="0" y="382513"/>
                  </a:lnTo>
                  <a:lnTo>
                    <a:pt x="68863" y="348134"/>
                  </a:lnTo>
                  <a:lnTo>
                    <a:pt x="68863" y="264166"/>
                  </a:lnTo>
                  <a:cubicBezTo>
                    <a:pt x="81144" y="275807"/>
                    <a:pt x="99798" y="286904"/>
                    <a:pt x="130188" y="286904"/>
                  </a:cubicBezTo>
                  <a:cubicBezTo>
                    <a:pt x="208456" y="286904"/>
                    <a:pt x="237602" y="214577"/>
                    <a:pt x="237602" y="144034"/>
                  </a:cubicBezTo>
                  <a:cubicBezTo>
                    <a:pt x="237602" y="70000"/>
                    <a:pt x="205502" y="0"/>
                    <a:pt x="131354" y="0"/>
                  </a:cubicBezTo>
                  <a:close/>
                  <a:moveTo>
                    <a:pt x="118529" y="220940"/>
                  </a:moveTo>
                  <a:cubicBezTo>
                    <a:pt x="98709" y="220940"/>
                    <a:pt x="79978" y="211628"/>
                    <a:pt x="68863" y="195874"/>
                  </a:cubicBezTo>
                  <a:lnTo>
                    <a:pt x="68863" y="90953"/>
                  </a:lnTo>
                  <a:cubicBezTo>
                    <a:pt x="79978" y="75199"/>
                    <a:pt x="95134" y="66430"/>
                    <a:pt x="114410" y="66430"/>
                  </a:cubicBezTo>
                  <a:cubicBezTo>
                    <a:pt x="155837" y="66430"/>
                    <a:pt x="166407" y="107250"/>
                    <a:pt x="166407" y="147449"/>
                  </a:cubicBezTo>
                  <a:cubicBezTo>
                    <a:pt x="166407" y="187648"/>
                    <a:pt x="157080" y="220940"/>
                    <a:pt x="118529" y="220940"/>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3" name="Freeform 38">
              <a:extLst>
                <a:ext uri="{FF2B5EF4-FFF2-40B4-BE49-F238E27FC236}">
                  <a16:creationId xmlns:a16="http://schemas.microsoft.com/office/drawing/2014/main" id="{E70BDFFB-238F-A0D0-ECA6-B41AE760BD1D}"/>
                </a:ext>
              </a:extLst>
            </p:cNvPr>
            <p:cNvSpPr/>
            <p:nvPr/>
          </p:nvSpPr>
          <p:spPr bwMode="invGray">
            <a:xfrm>
              <a:off x="1958323" y="4352251"/>
              <a:ext cx="230063" cy="286826"/>
            </a:xfrm>
            <a:custGeom>
              <a:avLst/>
              <a:gdLst>
                <a:gd name="connsiteX0" fmla="*/ 230063 w 230063"/>
                <a:gd name="connsiteY0" fmla="*/ 281006 h 286826"/>
                <a:gd name="connsiteX1" fmla="*/ 230063 w 230063"/>
                <a:gd name="connsiteY1" fmla="*/ 96230 h 286826"/>
                <a:gd name="connsiteX2" fmla="*/ 117985 w 230063"/>
                <a:gd name="connsiteY2" fmla="*/ 0 h 286826"/>
                <a:gd name="connsiteX3" fmla="*/ 22773 w 230063"/>
                <a:gd name="connsiteY3" fmla="*/ 28015 h 286826"/>
                <a:gd name="connsiteX4" fmla="*/ 50210 w 230063"/>
                <a:gd name="connsiteY4" fmla="*/ 76984 h 286826"/>
                <a:gd name="connsiteX5" fmla="*/ 113866 w 230063"/>
                <a:gd name="connsiteY5" fmla="*/ 58902 h 286826"/>
                <a:gd name="connsiteX6" fmla="*/ 161122 w 230063"/>
                <a:gd name="connsiteY6" fmla="*/ 95066 h 286826"/>
                <a:gd name="connsiteX7" fmla="*/ 161122 w 230063"/>
                <a:gd name="connsiteY7" fmla="*/ 109655 h 286826"/>
                <a:gd name="connsiteX8" fmla="*/ 107415 w 230063"/>
                <a:gd name="connsiteY8" fmla="*/ 98558 h 286826"/>
                <a:gd name="connsiteX9" fmla="*/ 0 w 230063"/>
                <a:gd name="connsiteY9" fmla="*/ 191218 h 286826"/>
                <a:gd name="connsiteX10" fmla="*/ 96922 w 230063"/>
                <a:gd name="connsiteY10" fmla="*/ 286827 h 286826"/>
                <a:gd name="connsiteX11" fmla="*/ 161122 w 230063"/>
                <a:gd name="connsiteY11" fmla="*/ 261760 h 286826"/>
                <a:gd name="connsiteX12" fmla="*/ 161122 w 230063"/>
                <a:gd name="connsiteY12" fmla="*/ 281006 h 286826"/>
                <a:gd name="connsiteX13" fmla="*/ 229985 w 230063"/>
                <a:gd name="connsiteY13" fmla="*/ 281006 h 286826"/>
                <a:gd name="connsiteX14" fmla="*/ 109202 w 230063"/>
                <a:gd name="connsiteY14" fmla="*/ 227382 h 286826"/>
                <a:gd name="connsiteX15" fmla="*/ 70107 w 230063"/>
                <a:gd name="connsiteY15" fmla="*/ 189511 h 286826"/>
                <a:gd name="connsiteX16" fmla="*/ 115032 w 230063"/>
                <a:gd name="connsiteY16" fmla="*/ 153968 h 286826"/>
                <a:gd name="connsiteX17" fmla="*/ 161122 w 230063"/>
                <a:gd name="connsiteY17" fmla="*/ 165608 h 286826"/>
                <a:gd name="connsiteX18" fmla="*/ 161122 w 230063"/>
                <a:gd name="connsiteY18" fmla="*/ 200608 h 286826"/>
                <a:gd name="connsiteX19" fmla="*/ 109125 w 230063"/>
                <a:gd name="connsiteY19" fmla="*/ 227459 h 28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0063" h="286826">
                  <a:moveTo>
                    <a:pt x="230063" y="281006"/>
                  </a:moveTo>
                  <a:lnTo>
                    <a:pt x="230063" y="96230"/>
                  </a:lnTo>
                  <a:cubicBezTo>
                    <a:pt x="230063" y="33836"/>
                    <a:pt x="187470" y="0"/>
                    <a:pt x="117985" y="0"/>
                  </a:cubicBezTo>
                  <a:cubicBezTo>
                    <a:pt x="81222" y="0"/>
                    <a:pt x="52619" y="9313"/>
                    <a:pt x="22773" y="28015"/>
                  </a:cubicBezTo>
                  <a:lnTo>
                    <a:pt x="50210" y="76984"/>
                  </a:lnTo>
                  <a:cubicBezTo>
                    <a:pt x="71817" y="64179"/>
                    <a:pt x="92258" y="58902"/>
                    <a:pt x="113866" y="58902"/>
                  </a:cubicBezTo>
                  <a:cubicBezTo>
                    <a:pt x="144256" y="58902"/>
                    <a:pt x="161122" y="69379"/>
                    <a:pt x="161122" y="95066"/>
                  </a:cubicBezTo>
                  <a:lnTo>
                    <a:pt x="161122" y="109655"/>
                  </a:lnTo>
                  <a:cubicBezTo>
                    <a:pt x="143012" y="100886"/>
                    <a:pt x="124902" y="98558"/>
                    <a:pt x="107415" y="98558"/>
                  </a:cubicBezTo>
                  <a:cubicBezTo>
                    <a:pt x="41427" y="98558"/>
                    <a:pt x="0" y="131229"/>
                    <a:pt x="0" y="191218"/>
                  </a:cubicBezTo>
                  <a:cubicBezTo>
                    <a:pt x="0" y="251206"/>
                    <a:pt x="42593" y="286827"/>
                    <a:pt x="96922" y="286827"/>
                  </a:cubicBezTo>
                  <a:cubicBezTo>
                    <a:pt x="123814" y="286827"/>
                    <a:pt x="144800" y="278057"/>
                    <a:pt x="161122" y="261760"/>
                  </a:cubicBezTo>
                  <a:lnTo>
                    <a:pt x="161122" y="281006"/>
                  </a:lnTo>
                  <a:lnTo>
                    <a:pt x="229985" y="281006"/>
                  </a:lnTo>
                  <a:close/>
                  <a:moveTo>
                    <a:pt x="109202" y="227382"/>
                  </a:moveTo>
                  <a:cubicBezTo>
                    <a:pt x="83476" y="227382"/>
                    <a:pt x="70107" y="210464"/>
                    <a:pt x="70107" y="189511"/>
                  </a:cubicBezTo>
                  <a:cubicBezTo>
                    <a:pt x="70107" y="167393"/>
                    <a:pt x="84719" y="153968"/>
                    <a:pt x="115032" y="153968"/>
                  </a:cubicBezTo>
                  <a:cubicBezTo>
                    <a:pt x="129022" y="153968"/>
                    <a:pt x="147132" y="156917"/>
                    <a:pt x="161122" y="165608"/>
                  </a:cubicBezTo>
                  <a:lnTo>
                    <a:pt x="161122" y="200608"/>
                  </a:lnTo>
                  <a:cubicBezTo>
                    <a:pt x="145966" y="222725"/>
                    <a:pt x="122571" y="227459"/>
                    <a:pt x="109125" y="22745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4" name="Freeform 39">
              <a:extLst>
                <a:ext uri="{FF2B5EF4-FFF2-40B4-BE49-F238E27FC236}">
                  <a16:creationId xmlns:a16="http://schemas.microsoft.com/office/drawing/2014/main" id="{2236FBF1-D41C-7E49-755E-CD588B7B37C9}"/>
                </a:ext>
              </a:extLst>
            </p:cNvPr>
            <p:cNvSpPr/>
            <p:nvPr/>
          </p:nvSpPr>
          <p:spPr bwMode="invGray">
            <a:xfrm>
              <a:off x="1340728" y="4260755"/>
              <a:ext cx="284392" cy="378322"/>
            </a:xfrm>
            <a:custGeom>
              <a:avLst/>
              <a:gdLst>
                <a:gd name="connsiteX0" fmla="*/ 144800 w 284392"/>
                <a:gd name="connsiteY0" fmla="*/ 308944 h 378322"/>
                <a:gd name="connsiteX1" fmla="*/ 51376 w 284392"/>
                <a:gd name="connsiteY1" fmla="*/ 266960 h 378322"/>
                <a:gd name="connsiteX2" fmla="*/ 0 w 284392"/>
                <a:gd name="connsiteY2" fmla="*/ 312436 h 378322"/>
                <a:gd name="connsiteX3" fmla="*/ 146587 w 284392"/>
                <a:gd name="connsiteY3" fmla="*/ 378322 h 378322"/>
                <a:gd name="connsiteX4" fmla="*/ 284392 w 284392"/>
                <a:gd name="connsiteY4" fmla="*/ 262304 h 378322"/>
                <a:gd name="connsiteX5" fmla="*/ 251126 w 284392"/>
                <a:gd name="connsiteY5" fmla="*/ 185941 h 378322"/>
                <a:gd name="connsiteX6" fmla="*/ 161821 w 284392"/>
                <a:gd name="connsiteY6" fmla="*/ 149234 h 378322"/>
                <a:gd name="connsiteX7" fmla="*/ 102829 w 284392"/>
                <a:gd name="connsiteY7" fmla="*/ 129988 h 378322"/>
                <a:gd name="connsiteX8" fmla="*/ 87673 w 284392"/>
                <a:gd name="connsiteY8" fmla="*/ 104922 h 378322"/>
                <a:gd name="connsiteX9" fmla="*/ 141380 w 284392"/>
                <a:gd name="connsiteY9" fmla="*/ 69379 h 378322"/>
                <a:gd name="connsiteX10" fmla="*/ 224856 w 284392"/>
                <a:gd name="connsiteY10" fmla="*/ 106706 h 378322"/>
                <a:gd name="connsiteX11" fmla="*/ 276231 w 284392"/>
                <a:gd name="connsiteY11" fmla="*/ 56574 h 378322"/>
                <a:gd name="connsiteX12" fmla="*/ 146043 w 284392"/>
                <a:gd name="connsiteY12" fmla="*/ 0 h 378322"/>
                <a:gd name="connsiteX13" fmla="*/ 14068 w 284392"/>
                <a:gd name="connsiteY13" fmla="*/ 109035 h 378322"/>
                <a:gd name="connsiteX14" fmla="*/ 45624 w 284392"/>
                <a:gd name="connsiteY14" fmla="*/ 182526 h 378322"/>
                <a:gd name="connsiteX15" fmla="*/ 129100 w 284392"/>
                <a:gd name="connsiteY15" fmla="*/ 216362 h 378322"/>
                <a:gd name="connsiteX16" fmla="*/ 188636 w 284392"/>
                <a:gd name="connsiteY16" fmla="*/ 234444 h 378322"/>
                <a:gd name="connsiteX17" fmla="*/ 210243 w 284392"/>
                <a:gd name="connsiteY17" fmla="*/ 264166 h 378322"/>
                <a:gd name="connsiteX18" fmla="*/ 144878 w 284392"/>
                <a:gd name="connsiteY18" fmla="*/ 309022 h 37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4392" h="378322">
                  <a:moveTo>
                    <a:pt x="144800" y="308944"/>
                  </a:moveTo>
                  <a:cubicBezTo>
                    <a:pt x="109746" y="308944"/>
                    <a:pt x="75315" y="295518"/>
                    <a:pt x="51376" y="266960"/>
                  </a:cubicBezTo>
                  <a:lnTo>
                    <a:pt x="0" y="312436"/>
                  </a:lnTo>
                  <a:cubicBezTo>
                    <a:pt x="33266" y="361405"/>
                    <a:pt x="92802" y="378322"/>
                    <a:pt x="146587" y="378322"/>
                  </a:cubicBezTo>
                  <a:cubicBezTo>
                    <a:pt x="221358" y="378322"/>
                    <a:pt x="284392" y="345108"/>
                    <a:pt x="284392" y="262304"/>
                  </a:cubicBezTo>
                  <a:cubicBezTo>
                    <a:pt x="284392" y="227925"/>
                    <a:pt x="273278" y="204023"/>
                    <a:pt x="251126" y="185941"/>
                  </a:cubicBezTo>
                  <a:cubicBezTo>
                    <a:pt x="226021" y="165531"/>
                    <a:pt x="195087" y="157925"/>
                    <a:pt x="161821" y="149234"/>
                  </a:cubicBezTo>
                  <a:cubicBezTo>
                    <a:pt x="133763" y="142249"/>
                    <a:pt x="115731" y="136972"/>
                    <a:pt x="102829" y="129988"/>
                  </a:cubicBezTo>
                  <a:cubicBezTo>
                    <a:pt x="91714" y="123547"/>
                    <a:pt x="87673" y="116019"/>
                    <a:pt x="87673" y="104922"/>
                  </a:cubicBezTo>
                  <a:cubicBezTo>
                    <a:pt x="87673" y="79234"/>
                    <a:pt x="110446" y="69379"/>
                    <a:pt x="141380" y="69379"/>
                  </a:cubicBezTo>
                  <a:cubicBezTo>
                    <a:pt x="177599" y="69379"/>
                    <a:pt x="200917" y="82804"/>
                    <a:pt x="224856" y="106706"/>
                  </a:cubicBezTo>
                  <a:lnTo>
                    <a:pt x="276231" y="56574"/>
                  </a:lnTo>
                  <a:cubicBezTo>
                    <a:pt x="243509" y="23359"/>
                    <a:pt x="202626" y="0"/>
                    <a:pt x="146043" y="0"/>
                  </a:cubicBezTo>
                  <a:cubicBezTo>
                    <a:pt x="80678" y="0"/>
                    <a:pt x="14068" y="31508"/>
                    <a:pt x="14068" y="109035"/>
                  </a:cubicBezTo>
                  <a:cubicBezTo>
                    <a:pt x="14068" y="134101"/>
                    <a:pt x="21063" y="162659"/>
                    <a:pt x="45624" y="182526"/>
                  </a:cubicBezTo>
                  <a:cubicBezTo>
                    <a:pt x="70185" y="202315"/>
                    <a:pt x="109824" y="211706"/>
                    <a:pt x="129100" y="216362"/>
                  </a:cubicBezTo>
                  <a:cubicBezTo>
                    <a:pt x="160034" y="223967"/>
                    <a:pt x="175812" y="228002"/>
                    <a:pt x="188636" y="234444"/>
                  </a:cubicBezTo>
                  <a:cubicBezTo>
                    <a:pt x="206124" y="243213"/>
                    <a:pt x="210243" y="253689"/>
                    <a:pt x="210243" y="264166"/>
                  </a:cubicBezTo>
                  <a:cubicBezTo>
                    <a:pt x="210243" y="290397"/>
                    <a:pt x="186304" y="309022"/>
                    <a:pt x="144878" y="309022"/>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5" name="Freeform 40">
              <a:extLst>
                <a:ext uri="{FF2B5EF4-FFF2-40B4-BE49-F238E27FC236}">
                  <a16:creationId xmlns:a16="http://schemas.microsoft.com/office/drawing/2014/main" id="{D67C2851-2DFC-D44D-2FF1-7E304735A8D9}"/>
                </a:ext>
              </a:extLst>
            </p:cNvPr>
            <p:cNvSpPr/>
            <p:nvPr/>
          </p:nvSpPr>
          <p:spPr bwMode="invGray">
            <a:xfrm>
              <a:off x="4818877" y="4352329"/>
              <a:ext cx="177521" cy="281006"/>
            </a:xfrm>
            <a:custGeom>
              <a:avLst/>
              <a:gdLst>
                <a:gd name="connsiteX0" fmla="*/ 68864 w 177521"/>
                <a:gd name="connsiteY0" fmla="*/ 131074 h 281006"/>
                <a:gd name="connsiteX1" fmla="*/ 109669 w 177521"/>
                <a:gd name="connsiteY1" fmla="*/ 70465 h 281006"/>
                <a:gd name="connsiteX2" fmla="*/ 149386 w 177521"/>
                <a:gd name="connsiteY2" fmla="*/ 87383 h 281006"/>
                <a:gd name="connsiteX3" fmla="*/ 177522 w 177521"/>
                <a:gd name="connsiteY3" fmla="*/ 18625 h 281006"/>
                <a:gd name="connsiteX4" fmla="*/ 126690 w 177521"/>
                <a:gd name="connsiteY4" fmla="*/ 0 h 281006"/>
                <a:gd name="connsiteX5" fmla="*/ 68864 w 177521"/>
                <a:gd name="connsiteY5" fmla="*/ 25066 h 281006"/>
                <a:gd name="connsiteX6" fmla="*/ 68864 w 177521"/>
                <a:gd name="connsiteY6" fmla="*/ 5820 h 281006"/>
                <a:gd name="connsiteX7" fmla="*/ 0 w 177521"/>
                <a:gd name="connsiteY7" fmla="*/ 5820 h 281006"/>
                <a:gd name="connsiteX8" fmla="*/ 0 w 177521"/>
                <a:gd name="connsiteY8" fmla="*/ 281006 h 281006"/>
                <a:gd name="connsiteX9" fmla="*/ 68864 w 177521"/>
                <a:gd name="connsiteY9" fmla="*/ 281006 h 281006"/>
                <a:gd name="connsiteX10" fmla="*/ 68864 w 177521"/>
                <a:gd name="connsiteY10" fmla="*/ 131152 h 28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521" h="281006">
                  <a:moveTo>
                    <a:pt x="68864" y="131074"/>
                  </a:moveTo>
                  <a:cubicBezTo>
                    <a:pt x="68864" y="97859"/>
                    <a:pt x="76947" y="70465"/>
                    <a:pt x="109669" y="70465"/>
                  </a:cubicBezTo>
                  <a:cubicBezTo>
                    <a:pt x="126612" y="70465"/>
                    <a:pt x="138893" y="77449"/>
                    <a:pt x="149386" y="87383"/>
                  </a:cubicBezTo>
                  <a:lnTo>
                    <a:pt x="177522" y="18625"/>
                  </a:lnTo>
                  <a:cubicBezTo>
                    <a:pt x="162910" y="5820"/>
                    <a:pt x="145966" y="0"/>
                    <a:pt x="126690" y="0"/>
                  </a:cubicBezTo>
                  <a:cubicBezTo>
                    <a:pt x="104539" y="0"/>
                    <a:pt x="84642" y="9312"/>
                    <a:pt x="68864" y="25066"/>
                  </a:cubicBezTo>
                  <a:lnTo>
                    <a:pt x="68864" y="5820"/>
                  </a:lnTo>
                  <a:lnTo>
                    <a:pt x="0" y="5820"/>
                  </a:lnTo>
                  <a:lnTo>
                    <a:pt x="0" y="281006"/>
                  </a:lnTo>
                  <a:lnTo>
                    <a:pt x="68864" y="281006"/>
                  </a:lnTo>
                  <a:lnTo>
                    <a:pt x="68864" y="131152"/>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6" name="Freeform 41">
              <a:extLst>
                <a:ext uri="{FF2B5EF4-FFF2-40B4-BE49-F238E27FC236}">
                  <a16:creationId xmlns:a16="http://schemas.microsoft.com/office/drawing/2014/main" id="{07773179-D702-883C-8D94-780D7A9A2BFF}"/>
                </a:ext>
              </a:extLst>
            </p:cNvPr>
            <p:cNvSpPr/>
            <p:nvPr/>
          </p:nvSpPr>
          <p:spPr bwMode="invGray">
            <a:xfrm>
              <a:off x="5810324" y="4252839"/>
              <a:ext cx="81765" cy="81639"/>
            </a:xfrm>
            <a:custGeom>
              <a:avLst/>
              <a:gdLst>
                <a:gd name="connsiteX0" fmla="*/ 40883 w 81765"/>
                <a:gd name="connsiteY0" fmla="*/ 0 h 81639"/>
                <a:gd name="connsiteX1" fmla="*/ 0 w 81765"/>
                <a:gd name="connsiteY1" fmla="*/ 40820 h 81639"/>
                <a:gd name="connsiteX2" fmla="*/ 40883 w 81765"/>
                <a:gd name="connsiteY2" fmla="*/ 81640 h 81639"/>
                <a:gd name="connsiteX3" fmla="*/ 81766 w 81765"/>
                <a:gd name="connsiteY3" fmla="*/ 40820 h 81639"/>
                <a:gd name="connsiteX4" fmla="*/ 40883 w 81765"/>
                <a:gd name="connsiteY4" fmla="*/ 0 h 8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65" h="81639">
                  <a:moveTo>
                    <a:pt x="40883" y="0"/>
                  </a:moveTo>
                  <a:cubicBezTo>
                    <a:pt x="18110" y="0"/>
                    <a:pt x="0" y="18082"/>
                    <a:pt x="0" y="40820"/>
                  </a:cubicBezTo>
                  <a:cubicBezTo>
                    <a:pt x="0" y="63558"/>
                    <a:pt x="18110" y="81640"/>
                    <a:pt x="40883" y="81640"/>
                  </a:cubicBezTo>
                  <a:cubicBezTo>
                    <a:pt x="63656" y="81640"/>
                    <a:pt x="81766" y="63558"/>
                    <a:pt x="81766" y="40820"/>
                  </a:cubicBezTo>
                  <a:cubicBezTo>
                    <a:pt x="81766" y="18082"/>
                    <a:pt x="63656" y="0"/>
                    <a:pt x="40883" y="0"/>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7" name="Freeform 42">
              <a:extLst>
                <a:ext uri="{FF2B5EF4-FFF2-40B4-BE49-F238E27FC236}">
                  <a16:creationId xmlns:a16="http://schemas.microsoft.com/office/drawing/2014/main" id="{DF5C7105-377B-096F-5116-EC259FB2E204}"/>
                </a:ext>
              </a:extLst>
            </p:cNvPr>
            <p:cNvSpPr/>
            <p:nvPr/>
          </p:nvSpPr>
          <p:spPr bwMode="invGray">
            <a:xfrm>
              <a:off x="5379966" y="4358382"/>
              <a:ext cx="398257" cy="275185"/>
            </a:xfrm>
            <a:custGeom>
              <a:avLst/>
              <a:gdLst>
                <a:gd name="connsiteX0" fmla="*/ 279107 w 398257"/>
                <a:gd name="connsiteY0" fmla="*/ 159710 h 275185"/>
                <a:gd name="connsiteX1" fmla="*/ 232395 w 398257"/>
                <a:gd name="connsiteY1" fmla="*/ 0 h 275185"/>
                <a:gd name="connsiteX2" fmla="*/ 167651 w 398257"/>
                <a:gd name="connsiteY2" fmla="*/ 0 h 275185"/>
                <a:gd name="connsiteX3" fmla="*/ 120939 w 398257"/>
                <a:gd name="connsiteY3" fmla="*/ 159710 h 275185"/>
                <a:gd name="connsiteX4" fmla="*/ 79434 w 398257"/>
                <a:gd name="connsiteY4" fmla="*/ 0 h 275185"/>
                <a:gd name="connsiteX5" fmla="*/ 0 w 398257"/>
                <a:gd name="connsiteY5" fmla="*/ 0 h 275185"/>
                <a:gd name="connsiteX6" fmla="*/ 86429 w 398257"/>
                <a:gd name="connsiteY6" fmla="*/ 275186 h 275185"/>
                <a:gd name="connsiteX7" fmla="*/ 151873 w 398257"/>
                <a:gd name="connsiteY7" fmla="*/ 275186 h 275185"/>
                <a:gd name="connsiteX8" fmla="*/ 199129 w 398257"/>
                <a:gd name="connsiteY8" fmla="*/ 107870 h 275185"/>
                <a:gd name="connsiteX9" fmla="*/ 245841 w 398257"/>
                <a:gd name="connsiteY9" fmla="*/ 275186 h 275185"/>
                <a:gd name="connsiteX10" fmla="*/ 311285 w 398257"/>
                <a:gd name="connsiteY10" fmla="*/ 275186 h 275185"/>
                <a:gd name="connsiteX11" fmla="*/ 398258 w 398257"/>
                <a:gd name="connsiteY11" fmla="*/ 0 h 275185"/>
                <a:gd name="connsiteX12" fmla="*/ 321156 w 398257"/>
                <a:gd name="connsiteY12" fmla="*/ 0 h 275185"/>
                <a:gd name="connsiteX13" fmla="*/ 279107 w 398257"/>
                <a:gd name="connsiteY13" fmla="*/ 159710 h 275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8257" h="275185">
                  <a:moveTo>
                    <a:pt x="279107" y="159710"/>
                  </a:moveTo>
                  <a:lnTo>
                    <a:pt x="232395" y="0"/>
                  </a:lnTo>
                  <a:lnTo>
                    <a:pt x="167651" y="0"/>
                  </a:lnTo>
                  <a:lnTo>
                    <a:pt x="120939" y="159710"/>
                  </a:lnTo>
                  <a:lnTo>
                    <a:pt x="79434" y="0"/>
                  </a:lnTo>
                  <a:lnTo>
                    <a:pt x="0" y="0"/>
                  </a:lnTo>
                  <a:lnTo>
                    <a:pt x="86429" y="275186"/>
                  </a:lnTo>
                  <a:lnTo>
                    <a:pt x="151873" y="275186"/>
                  </a:lnTo>
                  <a:lnTo>
                    <a:pt x="199129" y="107870"/>
                  </a:lnTo>
                  <a:lnTo>
                    <a:pt x="245841" y="275186"/>
                  </a:lnTo>
                  <a:lnTo>
                    <a:pt x="311285" y="275186"/>
                  </a:lnTo>
                  <a:lnTo>
                    <a:pt x="398258" y="0"/>
                  </a:lnTo>
                  <a:lnTo>
                    <a:pt x="321156" y="0"/>
                  </a:lnTo>
                  <a:lnTo>
                    <a:pt x="279107" y="159710"/>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8" name="Freeform 43">
              <a:extLst>
                <a:ext uri="{FF2B5EF4-FFF2-40B4-BE49-F238E27FC236}">
                  <a16:creationId xmlns:a16="http://schemas.microsoft.com/office/drawing/2014/main" id="{AEABECA8-91CA-A465-0F84-F4EE6B870EDA}"/>
                </a:ext>
              </a:extLst>
            </p:cNvPr>
            <p:cNvSpPr/>
            <p:nvPr/>
          </p:nvSpPr>
          <p:spPr bwMode="invGray">
            <a:xfrm>
              <a:off x="5815609" y="4358382"/>
              <a:ext cx="71272" cy="275185"/>
            </a:xfrm>
            <a:custGeom>
              <a:avLst/>
              <a:gdLst>
                <a:gd name="connsiteX0" fmla="*/ 0 w 71272"/>
                <a:gd name="connsiteY0" fmla="*/ 0 h 275185"/>
                <a:gd name="connsiteX1" fmla="*/ 71273 w 71272"/>
                <a:gd name="connsiteY1" fmla="*/ 0 h 275185"/>
                <a:gd name="connsiteX2" fmla="*/ 71273 w 71272"/>
                <a:gd name="connsiteY2" fmla="*/ 275186 h 275185"/>
                <a:gd name="connsiteX3" fmla="*/ 0 w 71272"/>
                <a:gd name="connsiteY3" fmla="*/ 275186 h 275185"/>
              </a:gdLst>
              <a:ahLst/>
              <a:cxnLst>
                <a:cxn ang="0">
                  <a:pos x="connsiteX0" y="connsiteY0"/>
                </a:cxn>
                <a:cxn ang="0">
                  <a:pos x="connsiteX1" y="connsiteY1"/>
                </a:cxn>
                <a:cxn ang="0">
                  <a:pos x="connsiteX2" y="connsiteY2"/>
                </a:cxn>
                <a:cxn ang="0">
                  <a:pos x="connsiteX3" y="connsiteY3"/>
                </a:cxn>
              </a:cxnLst>
              <a:rect l="l" t="t" r="r" b="b"/>
              <a:pathLst>
                <a:path w="71272" h="275185">
                  <a:moveTo>
                    <a:pt x="0" y="0"/>
                  </a:moveTo>
                  <a:lnTo>
                    <a:pt x="71273" y="0"/>
                  </a:lnTo>
                  <a:lnTo>
                    <a:pt x="71273" y="275186"/>
                  </a:lnTo>
                  <a:lnTo>
                    <a:pt x="0" y="275186"/>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9" name="Freeform 44">
              <a:extLst>
                <a:ext uri="{FF2B5EF4-FFF2-40B4-BE49-F238E27FC236}">
                  <a16:creationId xmlns:a16="http://schemas.microsoft.com/office/drawing/2014/main" id="{D9AF6C57-F264-A6AF-EE70-065FE405FBC6}"/>
                </a:ext>
              </a:extLst>
            </p:cNvPr>
            <p:cNvSpPr/>
            <p:nvPr/>
          </p:nvSpPr>
          <p:spPr bwMode="invGray">
            <a:xfrm>
              <a:off x="6582279" y="4352561"/>
              <a:ext cx="240555" cy="286904"/>
            </a:xfrm>
            <a:custGeom>
              <a:avLst/>
              <a:gdLst>
                <a:gd name="connsiteX0" fmla="*/ 131975 w 240555"/>
                <a:gd name="connsiteY0" fmla="*/ 218069 h 286904"/>
                <a:gd name="connsiteX1" fmla="*/ 73605 w 240555"/>
                <a:gd name="connsiteY1" fmla="*/ 142870 h 286904"/>
                <a:gd name="connsiteX2" fmla="*/ 131431 w 240555"/>
                <a:gd name="connsiteY2" fmla="*/ 68215 h 286904"/>
                <a:gd name="connsiteX3" fmla="*/ 193300 w 240555"/>
                <a:gd name="connsiteY3" fmla="*/ 106706 h 286904"/>
                <a:gd name="connsiteX4" fmla="*/ 240012 w 240555"/>
                <a:gd name="connsiteY4" fmla="*/ 59445 h 286904"/>
                <a:gd name="connsiteX5" fmla="*/ 131975 w 240555"/>
                <a:gd name="connsiteY5" fmla="*/ 0 h 286904"/>
                <a:gd name="connsiteX6" fmla="*/ 0 w 240555"/>
                <a:gd name="connsiteY6" fmla="*/ 144034 h 286904"/>
                <a:gd name="connsiteX7" fmla="*/ 130810 w 240555"/>
                <a:gd name="connsiteY7" fmla="*/ 286904 h 286904"/>
                <a:gd name="connsiteX8" fmla="*/ 240556 w 240555"/>
                <a:gd name="connsiteY8" fmla="*/ 226295 h 286904"/>
                <a:gd name="connsiteX9" fmla="*/ 195010 w 240555"/>
                <a:gd name="connsiteY9" fmla="*/ 183147 h 286904"/>
                <a:gd name="connsiteX10" fmla="*/ 131975 w 240555"/>
                <a:gd name="connsiteY10" fmla="*/ 218146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0555" h="286904">
                  <a:moveTo>
                    <a:pt x="131975" y="218069"/>
                  </a:moveTo>
                  <a:cubicBezTo>
                    <a:pt x="91093" y="218069"/>
                    <a:pt x="73605" y="182526"/>
                    <a:pt x="73605" y="142870"/>
                  </a:cubicBezTo>
                  <a:cubicBezTo>
                    <a:pt x="73605" y="100343"/>
                    <a:pt x="93424" y="68215"/>
                    <a:pt x="131431" y="68215"/>
                  </a:cubicBezTo>
                  <a:cubicBezTo>
                    <a:pt x="159490" y="68215"/>
                    <a:pt x="176978" y="85132"/>
                    <a:pt x="193300" y="106706"/>
                  </a:cubicBezTo>
                  <a:lnTo>
                    <a:pt x="240012" y="59445"/>
                  </a:lnTo>
                  <a:cubicBezTo>
                    <a:pt x="214907" y="22117"/>
                    <a:pt x="181019" y="0"/>
                    <a:pt x="131975" y="0"/>
                  </a:cubicBezTo>
                  <a:cubicBezTo>
                    <a:pt x="46168" y="0"/>
                    <a:pt x="0" y="68215"/>
                    <a:pt x="0" y="144034"/>
                  </a:cubicBezTo>
                  <a:cubicBezTo>
                    <a:pt x="0" y="226838"/>
                    <a:pt x="55495" y="286904"/>
                    <a:pt x="130810" y="286904"/>
                  </a:cubicBezTo>
                  <a:cubicBezTo>
                    <a:pt x="185139" y="286904"/>
                    <a:pt x="217239" y="256018"/>
                    <a:pt x="240556" y="226295"/>
                  </a:cubicBezTo>
                  <a:lnTo>
                    <a:pt x="195010" y="183147"/>
                  </a:lnTo>
                  <a:cubicBezTo>
                    <a:pt x="178065" y="204721"/>
                    <a:pt x="157080" y="218146"/>
                    <a:pt x="131975" y="218146"/>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0" name="Freeform 45">
              <a:extLst>
                <a:ext uri="{FF2B5EF4-FFF2-40B4-BE49-F238E27FC236}">
                  <a16:creationId xmlns:a16="http://schemas.microsoft.com/office/drawing/2014/main" id="{763D9A8B-291B-816C-BAE2-9F2933C5DC4B}"/>
                </a:ext>
              </a:extLst>
            </p:cNvPr>
            <p:cNvSpPr/>
            <p:nvPr/>
          </p:nvSpPr>
          <p:spPr bwMode="invGray">
            <a:xfrm>
              <a:off x="7751870" y="4251132"/>
              <a:ext cx="247007" cy="388255"/>
            </a:xfrm>
            <a:custGeom>
              <a:avLst/>
              <a:gdLst>
                <a:gd name="connsiteX0" fmla="*/ 175734 w 247007"/>
                <a:gd name="connsiteY0" fmla="*/ 123547 h 388255"/>
                <a:gd name="connsiteX1" fmla="*/ 111534 w 247007"/>
                <a:gd name="connsiteY1" fmla="*/ 101429 h 388255"/>
                <a:gd name="connsiteX2" fmla="*/ 0 w 247007"/>
                <a:gd name="connsiteY2" fmla="*/ 242514 h 388255"/>
                <a:gd name="connsiteX3" fmla="*/ 113244 w 247007"/>
                <a:gd name="connsiteY3" fmla="*/ 388256 h 388255"/>
                <a:gd name="connsiteX4" fmla="*/ 175734 w 247007"/>
                <a:gd name="connsiteY4" fmla="*/ 364354 h 388255"/>
                <a:gd name="connsiteX5" fmla="*/ 175734 w 247007"/>
                <a:gd name="connsiteY5" fmla="*/ 382436 h 388255"/>
                <a:gd name="connsiteX6" fmla="*/ 247007 w 247007"/>
                <a:gd name="connsiteY6" fmla="*/ 382436 h 388255"/>
                <a:gd name="connsiteX7" fmla="*/ 247007 w 247007"/>
                <a:gd name="connsiteY7" fmla="*/ 0 h 388255"/>
                <a:gd name="connsiteX8" fmla="*/ 175734 w 247007"/>
                <a:gd name="connsiteY8" fmla="*/ 35543 h 388255"/>
                <a:gd name="connsiteX9" fmla="*/ 175734 w 247007"/>
                <a:gd name="connsiteY9" fmla="*/ 123547 h 388255"/>
                <a:gd name="connsiteX10" fmla="*/ 175734 w 247007"/>
                <a:gd name="connsiteY10" fmla="*/ 297303 h 388255"/>
                <a:gd name="connsiteX11" fmla="*/ 127856 w 247007"/>
                <a:gd name="connsiteY11" fmla="*/ 321206 h 388255"/>
                <a:gd name="connsiteX12" fmla="*/ 74693 w 247007"/>
                <a:gd name="connsiteY12" fmla="*/ 240186 h 388255"/>
                <a:gd name="connsiteX13" fmla="*/ 126069 w 247007"/>
                <a:gd name="connsiteY13" fmla="*/ 168480 h 388255"/>
                <a:gd name="connsiteX14" fmla="*/ 175734 w 247007"/>
                <a:gd name="connsiteY14" fmla="*/ 192382 h 388255"/>
                <a:gd name="connsiteX15" fmla="*/ 175734 w 247007"/>
                <a:gd name="connsiteY15" fmla="*/ 297303 h 38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7007" h="388255">
                  <a:moveTo>
                    <a:pt x="175734" y="123547"/>
                  </a:moveTo>
                  <a:cubicBezTo>
                    <a:pt x="158246" y="107793"/>
                    <a:pt x="135473" y="101429"/>
                    <a:pt x="111534" y="101429"/>
                  </a:cubicBezTo>
                  <a:cubicBezTo>
                    <a:pt x="39717" y="101429"/>
                    <a:pt x="0" y="159167"/>
                    <a:pt x="0" y="242514"/>
                  </a:cubicBezTo>
                  <a:cubicBezTo>
                    <a:pt x="0" y="319498"/>
                    <a:pt x="33888" y="388256"/>
                    <a:pt x="113244" y="388256"/>
                  </a:cubicBezTo>
                  <a:cubicBezTo>
                    <a:pt x="138349" y="388256"/>
                    <a:pt x="152339" y="381271"/>
                    <a:pt x="175734" y="364354"/>
                  </a:cubicBezTo>
                  <a:lnTo>
                    <a:pt x="175734" y="382436"/>
                  </a:lnTo>
                  <a:lnTo>
                    <a:pt x="247007" y="382436"/>
                  </a:lnTo>
                  <a:lnTo>
                    <a:pt x="247007" y="0"/>
                  </a:lnTo>
                  <a:lnTo>
                    <a:pt x="175734" y="35543"/>
                  </a:lnTo>
                  <a:lnTo>
                    <a:pt x="175734" y="123547"/>
                  </a:lnTo>
                  <a:close/>
                  <a:moveTo>
                    <a:pt x="175734" y="297303"/>
                  </a:moveTo>
                  <a:cubicBezTo>
                    <a:pt x="161744" y="312436"/>
                    <a:pt x="147676" y="321206"/>
                    <a:pt x="127856" y="321206"/>
                  </a:cubicBezTo>
                  <a:cubicBezTo>
                    <a:pt x="87595" y="321206"/>
                    <a:pt x="74693" y="284499"/>
                    <a:pt x="74693" y="240186"/>
                  </a:cubicBezTo>
                  <a:cubicBezTo>
                    <a:pt x="74693" y="201151"/>
                    <a:pt x="84642" y="168480"/>
                    <a:pt x="126069" y="168480"/>
                  </a:cubicBezTo>
                  <a:cubicBezTo>
                    <a:pt x="145888" y="168480"/>
                    <a:pt x="160500" y="176085"/>
                    <a:pt x="175734" y="192382"/>
                  </a:cubicBezTo>
                  <a:lnTo>
                    <a:pt x="175734" y="297303"/>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1" name="Freeform 46">
              <a:extLst>
                <a:ext uri="{FF2B5EF4-FFF2-40B4-BE49-F238E27FC236}">
                  <a16:creationId xmlns:a16="http://schemas.microsoft.com/office/drawing/2014/main" id="{447229EB-34AB-221B-6A6B-E5AA86D5DA21}"/>
                </a:ext>
              </a:extLst>
            </p:cNvPr>
            <p:cNvSpPr/>
            <p:nvPr/>
          </p:nvSpPr>
          <p:spPr bwMode="invGray">
            <a:xfrm>
              <a:off x="8325162" y="4352561"/>
              <a:ext cx="237757" cy="281083"/>
            </a:xfrm>
            <a:custGeom>
              <a:avLst/>
              <a:gdLst>
                <a:gd name="connsiteX0" fmla="*/ 138426 w 237757"/>
                <a:gd name="connsiteY0" fmla="*/ 0 h 281083"/>
                <a:gd name="connsiteX1" fmla="*/ 71273 w 237757"/>
                <a:gd name="connsiteY1" fmla="*/ 24523 h 281083"/>
                <a:gd name="connsiteX2" fmla="*/ 71273 w 237757"/>
                <a:gd name="connsiteY2" fmla="*/ 5898 h 281083"/>
                <a:gd name="connsiteX3" fmla="*/ 0 w 237757"/>
                <a:gd name="connsiteY3" fmla="*/ 5898 h 281083"/>
                <a:gd name="connsiteX4" fmla="*/ 0 w 237757"/>
                <a:gd name="connsiteY4" fmla="*/ 281084 h 281083"/>
                <a:gd name="connsiteX5" fmla="*/ 71273 w 237757"/>
                <a:gd name="connsiteY5" fmla="*/ 281084 h 281083"/>
                <a:gd name="connsiteX6" fmla="*/ 71273 w 237757"/>
                <a:gd name="connsiteY6" fmla="*/ 129522 h 281083"/>
                <a:gd name="connsiteX7" fmla="*/ 119151 w 237757"/>
                <a:gd name="connsiteY7" fmla="*/ 67128 h 281083"/>
                <a:gd name="connsiteX8" fmla="*/ 166485 w 237757"/>
                <a:gd name="connsiteY8" fmla="*/ 131229 h 281083"/>
                <a:gd name="connsiteX9" fmla="*/ 166485 w 237757"/>
                <a:gd name="connsiteY9" fmla="*/ 281084 h 281083"/>
                <a:gd name="connsiteX10" fmla="*/ 237758 w 237757"/>
                <a:gd name="connsiteY10" fmla="*/ 281084 h 281083"/>
                <a:gd name="connsiteX11" fmla="*/ 237758 w 237757"/>
                <a:gd name="connsiteY11" fmla="*/ 125409 h 281083"/>
                <a:gd name="connsiteX12" fmla="*/ 138504 w 237757"/>
                <a:gd name="connsiteY12" fmla="*/ 78 h 28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7757" h="281083">
                  <a:moveTo>
                    <a:pt x="138426" y="0"/>
                  </a:moveTo>
                  <a:cubicBezTo>
                    <a:pt x="107492" y="0"/>
                    <a:pt x="85885" y="9933"/>
                    <a:pt x="71273" y="24523"/>
                  </a:cubicBezTo>
                  <a:lnTo>
                    <a:pt x="71273" y="5898"/>
                  </a:lnTo>
                  <a:lnTo>
                    <a:pt x="0" y="5898"/>
                  </a:lnTo>
                  <a:lnTo>
                    <a:pt x="0" y="281084"/>
                  </a:lnTo>
                  <a:lnTo>
                    <a:pt x="71273" y="281084"/>
                  </a:lnTo>
                  <a:lnTo>
                    <a:pt x="71273" y="129522"/>
                  </a:lnTo>
                  <a:cubicBezTo>
                    <a:pt x="71273" y="88702"/>
                    <a:pt x="82931" y="67128"/>
                    <a:pt x="119151" y="67128"/>
                  </a:cubicBezTo>
                  <a:cubicBezTo>
                    <a:pt x="157702" y="67128"/>
                    <a:pt x="166485" y="92815"/>
                    <a:pt x="166485" y="131229"/>
                  </a:cubicBezTo>
                  <a:lnTo>
                    <a:pt x="166485" y="281084"/>
                  </a:lnTo>
                  <a:lnTo>
                    <a:pt x="237758" y="281084"/>
                  </a:lnTo>
                  <a:lnTo>
                    <a:pt x="237758" y="125409"/>
                  </a:lnTo>
                  <a:cubicBezTo>
                    <a:pt x="237758" y="57816"/>
                    <a:pt x="213197" y="78"/>
                    <a:pt x="138504" y="78"/>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2" name="Freeform 47">
              <a:extLst>
                <a:ext uri="{FF2B5EF4-FFF2-40B4-BE49-F238E27FC236}">
                  <a16:creationId xmlns:a16="http://schemas.microsoft.com/office/drawing/2014/main" id="{96DC4DCD-18CC-3208-73E9-0CB399D808D5}"/>
                </a:ext>
              </a:extLst>
            </p:cNvPr>
            <p:cNvSpPr/>
            <p:nvPr/>
          </p:nvSpPr>
          <p:spPr bwMode="invGray">
            <a:xfrm>
              <a:off x="8041469" y="4352561"/>
              <a:ext cx="238846" cy="286904"/>
            </a:xfrm>
            <a:custGeom>
              <a:avLst/>
              <a:gdLst>
                <a:gd name="connsiteX0" fmla="*/ 122027 w 238846"/>
                <a:gd name="connsiteY0" fmla="*/ 0 h 286904"/>
                <a:gd name="connsiteX1" fmla="*/ 0 w 238846"/>
                <a:gd name="connsiteY1" fmla="*/ 144034 h 286904"/>
                <a:gd name="connsiteX2" fmla="*/ 126690 w 238846"/>
                <a:gd name="connsiteY2" fmla="*/ 286904 h 286904"/>
                <a:gd name="connsiteX3" fmla="*/ 226566 w 238846"/>
                <a:gd name="connsiteY3" fmla="*/ 243213 h 286904"/>
                <a:gd name="connsiteX4" fmla="*/ 177522 w 238846"/>
                <a:gd name="connsiteY4" fmla="*/ 201850 h 286904"/>
                <a:gd name="connsiteX5" fmla="*/ 129644 w 238846"/>
                <a:gd name="connsiteY5" fmla="*/ 221095 h 286904"/>
                <a:gd name="connsiteX6" fmla="*/ 70651 w 238846"/>
                <a:gd name="connsiteY6" fmla="*/ 166850 h 286904"/>
                <a:gd name="connsiteX7" fmla="*/ 237680 w 238846"/>
                <a:gd name="connsiteY7" fmla="*/ 166850 h 286904"/>
                <a:gd name="connsiteX8" fmla="*/ 238846 w 238846"/>
                <a:gd name="connsiteY8" fmla="*/ 142948 h 286904"/>
                <a:gd name="connsiteX9" fmla="*/ 122027 w 238846"/>
                <a:gd name="connsiteY9" fmla="*/ 78 h 286904"/>
                <a:gd name="connsiteX10" fmla="*/ 71817 w 238846"/>
                <a:gd name="connsiteY10" fmla="*/ 113070 h 286904"/>
                <a:gd name="connsiteX11" fmla="*/ 119695 w 238846"/>
                <a:gd name="connsiteY11" fmla="*/ 61152 h 286904"/>
                <a:gd name="connsiteX12" fmla="*/ 169905 w 238846"/>
                <a:gd name="connsiteY12" fmla="*/ 113070 h 286904"/>
                <a:gd name="connsiteX13" fmla="*/ 71817 w 238846"/>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6" h="286904">
                  <a:moveTo>
                    <a:pt x="122027" y="0"/>
                  </a:moveTo>
                  <a:cubicBezTo>
                    <a:pt x="54329" y="0"/>
                    <a:pt x="0" y="55953"/>
                    <a:pt x="0" y="144034"/>
                  </a:cubicBezTo>
                  <a:cubicBezTo>
                    <a:pt x="0" y="225053"/>
                    <a:pt x="46090" y="286904"/>
                    <a:pt x="126690" y="286904"/>
                  </a:cubicBezTo>
                  <a:cubicBezTo>
                    <a:pt x="161744" y="286904"/>
                    <a:pt x="200839" y="275264"/>
                    <a:pt x="226566" y="243213"/>
                  </a:cubicBezTo>
                  <a:lnTo>
                    <a:pt x="177522" y="201850"/>
                  </a:lnTo>
                  <a:cubicBezTo>
                    <a:pt x="163532" y="215818"/>
                    <a:pt x="147131" y="221095"/>
                    <a:pt x="129644" y="221095"/>
                  </a:cubicBezTo>
                  <a:cubicBezTo>
                    <a:pt x="99876" y="221095"/>
                    <a:pt x="73605" y="205342"/>
                    <a:pt x="70651" y="166850"/>
                  </a:cubicBezTo>
                  <a:lnTo>
                    <a:pt x="237680" y="166850"/>
                  </a:lnTo>
                  <a:cubicBezTo>
                    <a:pt x="238302" y="162737"/>
                    <a:pt x="238846" y="151717"/>
                    <a:pt x="238846" y="142948"/>
                  </a:cubicBezTo>
                  <a:cubicBezTo>
                    <a:pt x="238846" y="63636"/>
                    <a:pt x="194466"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3" name="Freeform 48">
              <a:extLst>
                <a:ext uri="{FF2B5EF4-FFF2-40B4-BE49-F238E27FC236}">
                  <a16:creationId xmlns:a16="http://schemas.microsoft.com/office/drawing/2014/main" id="{A6B593FB-601E-08DD-51F0-252671F70137}"/>
                </a:ext>
              </a:extLst>
            </p:cNvPr>
            <p:cNvSpPr/>
            <p:nvPr/>
          </p:nvSpPr>
          <p:spPr bwMode="invGray">
            <a:xfrm>
              <a:off x="8867054" y="4352561"/>
              <a:ext cx="238845" cy="286904"/>
            </a:xfrm>
            <a:custGeom>
              <a:avLst/>
              <a:gdLst>
                <a:gd name="connsiteX0" fmla="*/ 122026 w 238845"/>
                <a:gd name="connsiteY0" fmla="*/ 0 h 286904"/>
                <a:gd name="connsiteX1" fmla="*/ 0 w 238845"/>
                <a:gd name="connsiteY1" fmla="*/ 144034 h 286904"/>
                <a:gd name="connsiteX2" fmla="*/ 126690 w 238845"/>
                <a:gd name="connsiteY2" fmla="*/ 286904 h 286904"/>
                <a:gd name="connsiteX3" fmla="*/ 226565 w 238845"/>
                <a:gd name="connsiteY3" fmla="*/ 243213 h 286904"/>
                <a:gd name="connsiteX4" fmla="*/ 177521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6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6" y="0"/>
                  </a:moveTo>
                  <a:cubicBezTo>
                    <a:pt x="54329" y="0"/>
                    <a:pt x="0" y="55953"/>
                    <a:pt x="0" y="144034"/>
                  </a:cubicBezTo>
                  <a:cubicBezTo>
                    <a:pt x="0" y="225053"/>
                    <a:pt x="46090" y="286904"/>
                    <a:pt x="126690" y="286904"/>
                  </a:cubicBezTo>
                  <a:cubicBezTo>
                    <a:pt x="161744" y="286904"/>
                    <a:pt x="200839" y="275264"/>
                    <a:pt x="226565" y="243213"/>
                  </a:cubicBezTo>
                  <a:lnTo>
                    <a:pt x="177521" y="201850"/>
                  </a:lnTo>
                  <a:cubicBezTo>
                    <a:pt x="163531" y="215818"/>
                    <a:pt x="147131" y="221095"/>
                    <a:pt x="129644" y="221095"/>
                  </a:cubicBezTo>
                  <a:cubicBezTo>
                    <a:pt x="99875" y="221095"/>
                    <a:pt x="73604" y="205342"/>
                    <a:pt x="70651" y="166850"/>
                  </a:cubicBezTo>
                  <a:lnTo>
                    <a:pt x="237680" y="166850"/>
                  </a:lnTo>
                  <a:cubicBezTo>
                    <a:pt x="238302" y="162737"/>
                    <a:pt x="238846" y="151717"/>
                    <a:pt x="238846" y="142948"/>
                  </a:cubicBezTo>
                  <a:cubicBezTo>
                    <a:pt x="238846" y="63636"/>
                    <a:pt x="194465" y="78"/>
                    <a:pt x="122026" y="78"/>
                  </a:cubicBezTo>
                  <a:close/>
                  <a:moveTo>
                    <a:pt x="71817" y="113070"/>
                  </a:moveTo>
                  <a:cubicBezTo>
                    <a:pt x="73604"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4" name="Freeform 49">
              <a:extLst>
                <a:ext uri="{FF2B5EF4-FFF2-40B4-BE49-F238E27FC236}">
                  <a16:creationId xmlns:a16="http://schemas.microsoft.com/office/drawing/2014/main" id="{CF35BA5B-8E79-AF0B-08EF-D29735F613C7}"/>
                </a:ext>
              </a:extLst>
            </p:cNvPr>
            <p:cNvSpPr/>
            <p:nvPr/>
          </p:nvSpPr>
          <p:spPr bwMode="invGray">
            <a:xfrm>
              <a:off x="4999974" y="4352561"/>
              <a:ext cx="238845" cy="286904"/>
            </a:xfrm>
            <a:custGeom>
              <a:avLst/>
              <a:gdLst>
                <a:gd name="connsiteX0" fmla="*/ 122027 w 238845"/>
                <a:gd name="connsiteY0" fmla="*/ 0 h 286904"/>
                <a:gd name="connsiteX1" fmla="*/ 0 w 238845"/>
                <a:gd name="connsiteY1" fmla="*/ 144034 h 286904"/>
                <a:gd name="connsiteX2" fmla="*/ 126690 w 238845"/>
                <a:gd name="connsiteY2" fmla="*/ 286904 h 286904"/>
                <a:gd name="connsiteX3" fmla="*/ 226565 w 238845"/>
                <a:gd name="connsiteY3" fmla="*/ 243213 h 286904"/>
                <a:gd name="connsiteX4" fmla="*/ 177522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7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7" y="0"/>
                  </a:moveTo>
                  <a:cubicBezTo>
                    <a:pt x="54329" y="0"/>
                    <a:pt x="0" y="55953"/>
                    <a:pt x="0" y="144034"/>
                  </a:cubicBezTo>
                  <a:cubicBezTo>
                    <a:pt x="0" y="225053"/>
                    <a:pt x="46090" y="286904"/>
                    <a:pt x="126690" y="286904"/>
                  </a:cubicBezTo>
                  <a:cubicBezTo>
                    <a:pt x="161744" y="286904"/>
                    <a:pt x="200839" y="275264"/>
                    <a:pt x="226565" y="243213"/>
                  </a:cubicBezTo>
                  <a:lnTo>
                    <a:pt x="177522" y="201850"/>
                  </a:lnTo>
                  <a:cubicBezTo>
                    <a:pt x="163531" y="215818"/>
                    <a:pt x="147131" y="221095"/>
                    <a:pt x="129644" y="221095"/>
                  </a:cubicBezTo>
                  <a:cubicBezTo>
                    <a:pt x="99875" y="221095"/>
                    <a:pt x="73605" y="205342"/>
                    <a:pt x="70651" y="166850"/>
                  </a:cubicBezTo>
                  <a:lnTo>
                    <a:pt x="237680" y="166850"/>
                  </a:lnTo>
                  <a:cubicBezTo>
                    <a:pt x="238302" y="162737"/>
                    <a:pt x="238846" y="151717"/>
                    <a:pt x="238846" y="142948"/>
                  </a:cubicBezTo>
                  <a:cubicBezTo>
                    <a:pt x="238846" y="63636"/>
                    <a:pt x="194465"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5" name="Freeform 50">
              <a:extLst>
                <a:ext uri="{FF2B5EF4-FFF2-40B4-BE49-F238E27FC236}">
                  <a16:creationId xmlns:a16="http://schemas.microsoft.com/office/drawing/2014/main" id="{30D8CD19-A19D-5902-8B6B-E16E29060132}"/>
                </a:ext>
              </a:extLst>
            </p:cNvPr>
            <p:cNvSpPr/>
            <p:nvPr/>
          </p:nvSpPr>
          <p:spPr bwMode="invGray">
            <a:xfrm>
              <a:off x="3424508" y="4352561"/>
              <a:ext cx="238845" cy="286904"/>
            </a:xfrm>
            <a:custGeom>
              <a:avLst/>
              <a:gdLst>
                <a:gd name="connsiteX0" fmla="*/ 122027 w 238845"/>
                <a:gd name="connsiteY0" fmla="*/ 0 h 286904"/>
                <a:gd name="connsiteX1" fmla="*/ 0 w 238845"/>
                <a:gd name="connsiteY1" fmla="*/ 144034 h 286904"/>
                <a:gd name="connsiteX2" fmla="*/ 126690 w 238845"/>
                <a:gd name="connsiteY2" fmla="*/ 286904 h 286904"/>
                <a:gd name="connsiteX3" fmla="*/ 226565 w 238845"/>
                <a:gd name="connsiteY3" fmla="*/ 243213 h 286904"/>
                <a:gd name="connsiteX4" fmla="*/ 177522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7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7" y="0"/>
                  </a:moveTo>
                  <a:cubicBezTo>
                    <a:pt x="54329" y="0"/>
                    <a:pt x="0" y="55953"/>
                    <a:pt x="0" y="144034"/>
                  </a:cubicBezTo>
                  <a:cubicBezTo>
                    <a:pt x="0" y="225053"/>
                    <a:pt x="46090" y="286904"/>
                    <a:pt x="126690" y="286904"/>
                  </a:cubicBezTo>
                  <a:cubicBezTo>
                    <a:pt x="161744" y="286904"/>
                    <a:pt x="200839" y="275264"/>
                    <a:pt x="226565" y="243213"/>
                  </a:cubicBezTo>
                  <a:lnTo>
                    <a:pt x="177522" y="201850"/>
                  </a:lnTo>
                  <a:cubicBezTo>
                    <a:pt x="163531" y="215818"/>
                    <a:pt x="147131" y="221095"/>
                    <a:pt x="129644" y="221095"/>
                  </a:cubicBezTo>
                  <a:cubicBezTo>
                    <a:pt x="99875" y="221095"/>
                    <a:pt x="73605" y="205342"/>
                    <a:pt x="70651" y="166850"/>
                  </a:cubicBezTo>
                  <a:lnTo>
                    <a:pt x="237680" y="166850"/>
                  </a:lnTo>
                  <a:cubicBezTo>
                    <a:pt x="238302" y="162737"/>
                    <a:pt x="238846" y="151717"/>
                    <a:pt x="238846" y="142948"/>
                  </a:cubicBezTo>
                  <a:cubicBezTo>
                    <a:pt x="238846" y="63636"/>
                    <a:pt x="194465"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6" name="Freeform 51">
              <a:extLst>
                <a:ext uri="{FF2B5EF4-FFF2-40B4-BE49-F238E27FC236}">
                  <a16:creationId xmlns:a16="http://schemas.microsoft.com/office/drawing/2014/main" id="{0B1386DC-02C9-F4FF-C998-B8B68CBAD3B4}"/>
                </a:ext>
              </a:extLst>
            </p:cNvPr>
            <p:cNvSpPr/>
            <p:nvPr/>
          </p:nvSpPr>
          <p:spPr bwMode="invGray">
            <a:xfrm>
              <a:off x="2512417" y="4352561"/>
              <a:ext cx="238845" cy="286904"/>
            </a:xfrm>
            <a:custGeom>
              <a:avLst/>
              <a:gdLst>
                <a:gd name="connsiteX0" fmla="*/ 122027 w 238845"/>
                <a:gd name="connsiteY0" fmla="*/ 0 h 286904"/>
                <a:gd name="connsiteX1" fmla="*/ 0 w 238845"/>
                <a:gd name="connsiteY1" fmla="*/ 144034 h 286904"/>
                <a:gd name="connsiteX2" fmla="*/ 126690 w 238845"/>
                <a:gd name="connsiteY2" fmla="*/ 286904 h 286904"/>
                <a:gd name="connsiteX3" fmla="*/ 226566 w 238845"/>
                <a:gd name="connsiteY3" fmla="*/ 243213 h 286904"/>
                <a:gd name="connsiteX4" fmla="*/ 177522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7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7" y="0"/>
                  </a:moveTo>
                  <a:cubicBezTo>
                    <a:pt x="54329" y="0"/>
                    <a:pt x="0" y="55953"/>
                    <a:pt x="0" y="144034"/>
                  </a:cubicBezTo>
                  <a:cubicBezTo>
                    <a:pt x="0" y="225053"/>
                    <a:pt x="46090" y="286904"/>
                    <a:pt x="126690" y="286904"/>
                  </a:cubicBezTo>
                  <a:cubicBezTo>
                    <a:pt x="161744" y="286904"/>
                    <a:pt x="200839" y="275264"/>
                    <a:pt x="226566" y="243213"/>
                  </a:cubicBezTo>
                  <a:lnTo>
                    <a:pt x="177522" y="201850"/>
                  </a:lnTo>
                  <a:cubicBezTo>
                    <a:pt x="163531" y="215818"/>
                    <a:pt x="147132" y="221095"/>
                    <a:pt x="129644" y="221095"/>
                  </a:cubicBezTo>
                  <a:cubicBezTo>
                    <a:pt x="99875" y="221095"/>
                    <a:pt x="73605" y="205342"/>
                    <a:pt x="70651" y="166850"/>
                  </a:cubicBezTo>
                  <a:lnTo>
                    <a:pt x="237680" y="166850"/>
                  </a:lnTo>
                  <a:cubicBezTo>
                    <a:pt x="238302" y="162737"/>
                    <a:pt x="238846" y="151717"/>
                    <a:pt x="238846" y="142948"/>
                  </a:cubicBezTo>
                  <a:cubicBezTo>
                    <a:pt x="238846" y="63636"/>
                    <a:pt x="194465"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7" name="Freeform 52">
              <a:extLst>
                <a:ext uri="{FF2B5EF4-FFF2-40B4-BE49-F238E27FC236}">
                  <a16:creationId xmlns:a16="http://schemas.microsoft.com/office/drawing/2014/main" id="{C983CA6D-CE27-F856-3B7C-1651CCEA818C}"/>
                </a:ext>
              </a:extLst>
            </p:cNvPr>
            <p:cNvSpPr/>
            <p:nvPr/>
          </p:nvSpPr>
          <p:spPr bwMode="invGray">
            <a:xfrm>
              <a:off x="4536739" y="4358071"/>
              <a:ext cx="229985" cy="281006"/>
            </a:xfrm>
            <a:custGeom>
              <a:avLst/>
              <a:gdLst>
                <a:gd name="connsiteX0" fmla="*/ 229907 w 229985"/>
                <a:gd name="connsiteY0" fmla="*/ 275186 h 281006"/>
                <a:gd name="connsiteX1" fmla="*/ 229907 w 229985"/>
                <a:gd name="connsiteY1" fmla="*/ 0 h 281006"/>
                <a:gd name="connsiteX2" fmla="*/ 161044 w 229985"/>
                <a:gd name="connsiteY2" fmla="*/ 0 h 281006"/>
                <a:gd name="connsiteX3" fmla="*/ 161044 w 229985"/>
                <a:gd name="connsiteY3" fmla="*/ 152183 h 281006"/>
                <a:gd name="connsiteX4" fmla="*/ 114954 w 229985"/>
                <a:gd name="connsiteY4" fmla="*/ 215120 h 281006"/>
                <a:gd name="connsiteX5" fmla="*/ 68863 w 229985"/>
                <a:gd name="connsiteY5" fmla="*/ 149854 h 281006"/>
                <a:gd name="connsiteX6" fmla="*/ 68863 w 229985"/>
                <a:gd name="connsiteY6" fmla="*/ 0 h 281006"/>
                <a:gd name="connsiteX7" fmla="*/ 0 w 229985"/>
                <a:gd name="connsiteY7" fmla="*/ 0 h 281006"/>
                <a:gd name="connsiteX8" fmla="*/ 0 w 229985"/>
                <a:gd name="connsiteY8" fmla="*/ 155675 h 281006"/>
                <a:gd name="connsiteX9" fmla="*/ 98088 w 229985"/>
                <a:gd name="connsiteY9" fmla="*/ 281006 h 281006"/>
                <a:gd name="connsiteX10" fmla="*/ 162288 w 229985"/>
                <a:gd name="connsiteY10" fmla="*/ 255940 h 281006"/>
                <a:gd name="connsiteX11" fmla="*/ 162288 w 229985"/>
                <a:gd name="connsiteY11" fmla="*/ 275186 h 281006"/>
                <a:gd name="connsiteX12" fmla="*/ 229985 w 229985"/>
                <a:gd name="connsiteY12" fmla="*/ 275186 h 28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9985" h="281006">
                  <a:moveTo>
                    <a:pt x="229907" y="275186"/>
                  </a:moveTo>
                  <a:lnTo>
                    <a:pt x="229907" y="0"/>
                  </a:lnTo>
                  <a:lnTo>
                    <a:pt x="161044" y="0"/>
                  </a:lnTo>
                  <a:lnTo>
                    <a:pt x="161044" y="152183"/>
                  </a:lnTo>
                  <a:cubicBezTo>
                    <a:pt x="161044" y="186018"/>
                    <a:pt x="153427" y="215120"/>
                    <a:pt x="114954" y="215120"/>
                  </a:cubicBezTo>
                  <a:cubicBezTo>
                    <a:pt x="76480" y="215120"/>
                    <a:pt x="68863" y="187105"/>
                    <a:pt x="68863" y="149854"/>
                  </a:cubicBezTo>
                  <a:lnTo>
                    <a:pt x="68863" y="0"/>
                  </a:lnTo>
                  <a:lnTo>
                    <a:pt x="0" y="0"/>
                  </a:lnTo>
                  <a:lnTo>
                    <a:pt x="0" y="155675"/>
                  </a:lnTo>
                  <a:cubicBezTo>
                    <a:pt x="0" y="229710"/>
                    <a:pt x="26892" y="281006"/>
                    <a:pt x="98088" y="281006"/>
                  </a:cubicBezTo>
                  <a:cubicBezTo>
                    <a:pt x="122648" y="281006"/>
                    <a:pt x="147131" y="272858"/>
                    <a:pt x="162288" y="255940"/>
                  </a:cubicBezTo>
                  <a:lnTo>
                    <a:pt x="162288" y="275186"/>
                  </a:lnTo>
                  <a:lnTo>
                    <a:pt x="229985" y="275186"/>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8" name="Freeform 53">
              <a:extLst>
                <a:ext uri="{FF2B5EF4-FFF2-40B4-BE49-F238E27FC236}">
                  <a16:creationId xmlns:a16="http://schemas.microsoft.com/office/drawing/2014/main" id="{AE6290F4-F0D7-7ADE-473A-C5656D75B5CF}"/>
                </a:ext>
              </a:extLst>
            </p:cNvPr>
            <p:cNvSpPr/>
            <p:nvPr/>
          </p:nvSpPr>
          <p:spPr bwMode="invGray">
            <a:xfrm>
              <a:off x="4026014" y="4358071"/>
              <a:ext cx="229985" cy="281006"/>
            </a:xfrm>
            <a:custGeom>
              <a:avLst/>
              <a:gdLst>
                <a:gd name="connsiteX0" fmla="*/ 229907 w 229985"/>
                <a:gd name="connsiteY0" fmla="*/ 275186 h 281006"/>
                <a:gd name="connsiteX1" fmla="*/ 229907 w 229985"/>
                <a:gd name="connsiteY1" fmla="*/ 0 h 281006"/>
                <a:gd name="connsiteX2" fmla="*/ 161044 w 229985"/>
                <a:gd name="connsiteY2" fmla="*/ 0 h 281006"/>
                <a:gd name="connsiteX3" fmla="*/ 161044 w 229985"/>
                <a:gd name="connsiteY3" fmla="*/ 152183 h 281006"/>
                <a:gd name="connsiteX4" fmla="*/ 114954 w 229985"/>
                <a:gd name="connsiteY4" fmla="*/ 215120 h 281006"/>
                <a:gd name="connsiteX5" fmla="*/ 68863 w 229985"/>
                <a:gd name="connsiteY5" fmla="*/ 149854 h 281006"/>
                <a:gd name="connsiteX6" fmla="*/ 68863 w 229985"/>
                <a:gd name="connsiteY6" fmla="*/ 0 h 281006"/>
                <a:gd name="connsiteX7" fmla="*/ 0 w 229985"/>
                <a:gd name="connsiteY7" fmla="*/ 0 h 281006"/>
                <a:gd name="connsiteX8" fmla="*/ 0 w 229985"/>
                <a:gd name="connsiteY8" fmla="*/ 155675 h 281006"/>
                <a:gd name="connsiteX9" fmla="*/ 98088 w 229985"/>
                <a:gd name="connsiteY9" fmla="*/ 281006 h 281006"/>
                <a:gd name="connsiteX10" fmla="*/ 162288 w 229985"/>
                <a:gd name="connsiteY10" fmla="*/ 255940 h 281006"/>
                <a:gd name="connsiteX11" fmla="*/ 162288 w 229985"/>
                <a:gd name="connsiteY11" fmla="*/ 275186 h 281006"/>
                <a:gd name="connsiteX12" fmla="*/ 229985 w 229985"/>
                <a:gd name="connsiteY12" fmla="*/ 275186 h 28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9985" h="281006">
                  <a:moveTo>
                    <a:pt x="229907" y="275186"/>
                  </a:moveTo>
                  <a:lnTo>
                    <a:pt x="229907" y="0"/>
                  </a:lnTo>
                  <a:lnTo>
                    <a:pt x="161044" y="0"/>
                  </a:lnTo>
                  <a:lnTo>
                    <a:pt x="161044" y="152183"/>
                  </a:lnTo>
                  <a:cubicBezTo>
                    <a:pt x="161044" y="186018"/>
                    <a:pt x="153427" y="215120"/>
                    <a:pt x="114954" y="215120"/>
                  </a:cubicBezTo>
                  <a:cubicBezTo>
                    <a:pt x="76480" y="215120"/>
                    <a:pt x="68863" y="187105"/>
                    <a:pt x="68863" y="149854"/>
                  </a:cubicBezTo>
                  <a:lnTo>
                    <a:pt x="68863" y="0"/>
                  </a:lnTo>
                  <a:lnTo>
                    <a:pt x="0" y="0"/>
                  </a:lnTo>
                  <a:lnTo>
                    <a:pt x="0" y="155675"/>
                  </a:lnTo>
                  <a:cubicBezTo>
                    <a:pt x="0" y="229710"/>
                    <a:pt x="26892" y="281006"/>
                    <a:pt x="98088" y="281006"/>
                  </a:cubicBezTo>
                  <a:cubicBezTo>
                    <a:pt x="122648" y="281006"/>
                    <a:pt x="147131" y="272858"/>
                    <a:pt x="162288" y="255940"/>
                  </a:cubicBezTo>
                  <a:lnTo>
                    <a:pt x="162288" y="275186"/>
                  </a:lnTo>
                  <a:lnTo>
                    <a:pt x="229985" y="275186"/>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9" name="Freeform 54">
              <a:extLst>
                <a:ext uri="{FF2B5EF4-FFF2-40B4-BE49-F238E27FC236}">
                  <a16:creationId xmlns:a16="http://schemas.microsoft.com/office/drawing/2014/main" id="{FED98DEE-E283-E794-60B7-3EB8B9FEBCE5}"/>
                </a:ext>
              </a:extLst>
            </p:cNvPr>
            <p:cNvSpPr/>
            <p:nvPr/>
          </p:nvSpPr>
          <p:spPr bwMode="invGray">
            <a:xfrm>
              <a:off x="8604890" y="4352561"/>
              <a:ext cx="240555" cy="286904"/>
            </a:xfrm>
            <a:custGeom>
              <a:avLst/>
              <a:gdLst>
                <a:gd name="connsiteX0" fmla="*/ 131976 w 240555"/>
                <a:gd name="connsiteY0" fmla="*/ 218069 h 286904"/>
                <a:gd name="connsiteX1" fmla="*/ 73605 w 240555"/>
                <a:gd name="connsiteY1" fmla="*/ 142870 h 286904"/>
                <a:gd name="connsiteX2" fmla="*/ 131432 w 240555"/>
                <a:gd name="connsiteY2" fmla="*/ 68215 h 286904"/>
                <a:gd name="connsiteX3" fmla="*/ 193300 w 240555"/>
                <a:gd name="connsiteY3" fmla="*/ 106706 h 286904"/>
                <a:gd name="connsiteX4" fmla="*/ 240012 w 240555"/>
                <a:gd name="connsiteY4" fmla="*/ 59445 h 286904"/>
                <a:gd name="connsiteX5" fmla="*/ 131976 w 240555"/>
                <a:gd name="connsiteY5" fmla="*/ 0 h 286904"/>
                <a:gd name="connsiteX6" fmla="*/ 0 w 240555"/>
                <a:gd name="connsiteY6" fmla="*/ 144034 h 286904"/>
                <a:gd name="connsiteX7" fmla="*/ 130810 w 240555"/>
                <a:gd name="connsiteY7" fmla="*/ 286904 h 286904"/>
                <a:gd name="connsiteX8" fmla="*/ 240556 w 240555"/>
                <a:gd name="connsiteY8" fmla="*/ 226295 h 286904"/>
                <a:gd name="connsiteX9" fmla="*/ 195010 w 240555"/>
                <a:gd name="connsiteY9" fmla="*/ 183147 h 286904"/>
                <a:gd name="connsiteX10" fmla="*/ 131976 w 240555"/>
                <a:gd name="connsiteY10" fmla="*/ 218146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0555" h="286904">
                  <a:moveTo>
                    <a:pt x="131976" y="218069"/>
                  </a:moveTo>
                  <a:cubicBezTo>
                    <a:pt x="91093" y="218069"/>
                    <a:pt x="73605" y="182526"/>
                    <a:pt x="73605" y="142870"/>
                  </a:cubicBezTo>
                  <a:cubicBezTo>
                    <a:pt x="73605" y="100343"/>
                    <a:pt x="93424" y="68215"/>
                    <a:pt x="131432" y="68215"/>
                  </a:cubicBezTo>
                  <a:cubicBezTo>
                    <a:pt x="159490" y="68215"/>
                    <a:pt x="176978" y="85132"/>
                    <a:pt x="193300" y="106706"/>
                  </a:cubicBezTo>
                  <a:lnTo>
                    <a:pt x="240012" y="59445"/>
                  </a:lnTo>
                  <a:cubicBezTo>
                    <a:pt x="214907" y="22117"/>
                    <a:pt x="181020" y="0"/>
                    <a:pt x="131976" y="0"/>
                  </a:cubicBezTo>
                  <a:cubicBezTo>
                    <a:pt x="46168" y="0"/>
                    <a:pt x="0" y="68215"/>
                    <a:pt x="0" y="144034"/>
                  </a:cubicBezTo>
                  <a:cubicBezTo>
                    <a:pt x="0" y="226838"/>
                    <a:pt x="55495" y="286904"/>
                    <a:pt x="130810" y="286904"/>
                  </a:cubicBezTo>
                  <a:cubicBezTo>
                    <a:pt x="185139" y="286904"/>
                    <a:pt x="217239" y="256018"/>
                    <a:pt x="240556" y="226295"/>
                  </a:cubicBezTo>
                  <a:lnTo>
                    <a:pt x="195010" y="183147"/>
                  </a:lnTo>
                  <a:cubicBezTo>
                    <a:pt x="178066" y="204721"/>
                    <a:pt x="157080" y="218146"/>
                    <a:pt x="131976" y="218146"/>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90" name="Freeform 55">
              <a:extLst>
                <a:ext uri="{FF2B5EF4-FFF2-40B4-BE49-F238E27FC236}">
                  <a16:creationId xmlns:a16="http://schemas.microsoft.com/office/drawing/2014/main" id="{1E1FDC83-5FDD-4866-ADFD-442AE8897CA7}"/>
                </a:ext>
              </a:extLst>
            </p:cNvPr>
            <p:cNvSpPr/>
            <p:nvPr/>
          </p:nvSpPr>
          <p:spPr bwMode="invGray">
            <a:xfrm>
              <a:off x="6846230" y="4352561"/>
              <a:ext cx="258043" cy="286826"/>
            </a:xfrm>
            <a:custGeom>
              <a:avLst/>
              <a:gdLst>
                <a:gd name="connsiteX0" fmla="*/ 129022 w 258043"/>
                <a:gd name="connsiteY0" fmla="*/ 0 h 286826"/>
                <a:gd name="connsiteX1" fmla="*/ 0 w 258043"/>
                <a:gd name="connsiteY1" fmla="*/ 143413 h 286826"/>
                <a:gd name="connsiteX2" fmla="*/ 129022 w 258043"/>
                <a:gd name="connsiteY2" fmla="*/ 286827 h 286826"/>
                <a:gd name="connsiteX3" fmla="*/ 258043 w 258043"/>
                <a:gd name="connsiteY3" fmla="*/ 143413 h 286826"/>
                <a:gd name="connsiteX4" fmla="*/ 129022 w 258043"/>
                <a:gd name="connsiteY4" fmla="*/ 0 h 286826"/>
                <a:gd name="connsiteX5" fmla="*/ 129022 w 258043"/>
                <a:gd name="connsiteY5" fmla="*/ 218069 h 286826"/>
                <a:gd name="connsiteX6" fmla="*/ 73527 w 258043"/>
                <a:gd name="connsiteY6" fmla="*/ 143413 h 286826"/>
                <a:gd name="connsiteX7" fmla="*/ 129022 w 258043"/>
                <a:gd name="connsiteY7" fmla="*/ 68215 h 286826"/>
                <a:gd name="connsiteX8" fmla="*/ 184517 w 258043"/>
                <a:gd name="connsiteY8" fmla="*/ 143413 h 286826"/>
                <a:gd name="connsiteX9" fmla="*/ 129022 w 258043"/>
                <a:gd name="connsiteY9" fmla="*/ 218069 h 28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8043" h="286826">
                  <a:moveTo>
                    <a:pt x="129022" y="0"/>
                  </a:moveTo>
                  <a:cubicBezTo>
                    <a:pt x="49588" y="0"/>
                    <a:pt x="0" y="62394"/>
                    <a:pt x="0" y="143413"/>
                  </a:cubicBezTo>
                  <a:cubicBezTo>
                    <a:pt x="0" y="228546"/>
                    <a:pt x="54329" y="286827"/>
                    <a:pt x="129022" y="286827"/>
                  </a:cubicBezTo>
                  <a:cubicBezTo>
                    <a:pt x="203714" y="286827"/>
                    <a:pt x="258043" y="228546"/>
                    <a:pt x="258043" y="143413"/>
                  </a:cubicBezTo>
                  <a:cubicBezTo>
                    <a:pt x="258043" y="58281"/>
                    <a:pt x="208378" y="0"/>
                    <a:pt x="129022" y="0"/>
                  </a:cubicBezTo>
                  <a:close/>
                  <a:moveTo>
                    <a:pt x="129022" y="218069"/>
                  </a:moveTo>
                  <a:cubicBezTo>
                    <a:pt x="83476" y="218069"/>
                    <a:pt x="73527" y="174378"/>
                    <a:pt x="73527" y="143413"/>
                  </a:cubicBezTo>
                  <a:cubicBezTo>
                    <a:pt x="73527" y="100886"/>
                    <a:pt x="91015" y="68215"/>
                    <a:pt x="129022" y="68215"/>
                  </a:cubicBezTo>
                  <a:cubicBezTo>
                    <a:pt x="167029" y="68215"/>
                    <a:pt x="184517" y="100886"/>
                    <a:pt x="184517" y="143413"/>
                  </a:cubicBezTo>
                  <a:cubicBezTo>
                    <a:pt x="184517" y="174300"/>
                    <a:pt x="174568" y="218069"/>
                    <a:pt x="129022" y="21806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91" name="Freeform 56">
              <a:extLst>
                <a:ext uri="{FF2B5EF4-FFF2-40B4-BE49-F238E27FC236}">
                  <a16:creationId xmlns:a16="http://schemas.microsoft.com/office/drawing/2014/main" id="{17954407-7A88-9AC9-5445-CEA1AE7A4685}"/>
                </a:ext>
              </a:extLst>
            </p:cNvPr>
            <p:cNvSpPr/>
            <p:nvPr/>
          </p:nvSpPr>
          <p:spPr bwMode="invGray">
            <a:xfrm>
              <a:off x="7419599" y="4252917"/>
              <a:ext cx="174646" cy="380573"/>
            </a:xfrm>
            <a:custGeom>
              <a:avLst/>
              <a:gdLst>
                <a:gd name="connsiteX0" fmla="*/ 38551 w 174646"/>
                <a:gd name="connsiteY0" fmla="*/ 72250 h 380573"/>
                <a:gd name="connsiteX1" fmla="*/ 38551 w 174646"/>
                <a:gd name="connsiteY1" fmla="*/ 105465 h 380573"/>
                <a:gd name="connsiteX2" fmla="*/ 0 w 174646"/>
                <a:gd name="connsiteY2" fmla="*/ 105465 h 380573"/>
                <a:gd name="connsiteX3" fmla="*/ 0 w 174646"/>
                <a:gd name="connsiteY3" fmla="*/ 171894 h 380573"/>
                <a:gd name="connsiteX4" fmla="*/ 38551 w 174646"/>
                <a:gd name="connsiteY4" fmla="*/ 171894 h 380573"/>
                <a:gd name="connsiteX5" fmla="*/ 38551 w 174646"/>
                <a:gd name="connsiteY5" fmla="*/ 380573 h 380573"/>
                <a:gd name="connsiteX6" fmla="*/ 109824 w 174646"/>
                <a:gd name="connsiteY6" fmla="*/ 380573 h 380573"/>
                <a:gd name="connsiteX7" fmla="*/ 109824 w 174646"/>
                <a:gd name="connsiteY7" fmla="*/ 171894 h 380573"/>
                <a:gd name="connsiteX8" fmla="*/ 168817 w 174646"/>
                <a:gd name="connsiteY8" fmla="*/ 171894 h 380573"/>
                <a:gd name="connsiteX9" fmla="*/ 168817 w 174646"/>
                <a:gd name="connsiteY9" fmla="*/ 105465 h 380573"/>
                <a:gd name="connsiteX10" fmla="*/ 109824 w 174646"/>
                <a:gd name="connsiteY10" fmla="*/ 105465 h 380573"/>
                <a:gd name="connsiteX11" fmla="*/ 109824 w 174646"/>
                <a:gd name="connsiteY11" fmla="*/ 83347 h 380573"/>
                <a:gd name="connsiteX12" fmla="*/ 139592 w 174646"/>
                <a:gd name="connsiteY12" fmla="*/ 59445 h 380573"/>
                <a:gd name="connsiteX13" fmla="*/ 174646 w 174646"/>
                <a:gd name="connsiteY13" fmla="*/ 64722 h 380573"/>
                <a:gd name="connsiteX14" fmla="*/ 174646 w 174646"/>
                <a:gd name="connsiteY14" fmla="*/ 7605 h 380573"/>
                <a:gd name="connsiteX15" fmla="*/ 122649 w 174646"/>
                <a:gd name="connsiteY15" fmla="*/ 0 h 380573"/>
                <a:gd name="connsiteX16" fmla="*/ 38551 w 174646"/>
                <a:gd name="connsiteY16" fmla="*/ 72328 h 38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646" h="380573">
                  <a:moveTo>
                    <a:pt x="38551" y="72250"/>
                  </a:moveTo>
                  <a:lnTo>
                    <a:pt x="38551" y="105465"/>
                  </a:lnTo>
                  <a:lnTo>
                    <a:pt x="0" y="105465"/>
                  </a:lnTo>
                  <a:lnTo>
                    <a:pt x="0" y="171894"/>
                  </a:lnTo>
                  <a:lnTo>
                    <a:pt x="38551" y="171894"/>
                  </a:lnTo>
                  <a:lnTo>
                    <a:pt x="38551" y="380573"/>
                  </a:lnTo>
                  <a:lnTo>
                    <a:pt x="109824" y="380573"/>
                  </a:lnTo>
                  <a:lnTo>
                    <a:pt x="109824" y="171894"/>
                  </a:lnTo>
                  <a:lnTo>
                    <a:pt x="168817" y="171894"/>
                  </a:lnTo>
                  <a:lnTo>
                    <a:pt x="168817" y="105465"/>
                  </a:lnTo>
                  <a:lnTo>
                    <a:pt x="109824" y="105465"/>
                  </a:lnTo>
                  <a:lnTo>
                    <a:pt x="109824" y="83347"/>
                  </a:lnTo>
                  <a:cubicBezTo>
                    <a:pt x="109824" y="65886"/>
                    <a:pt x="119151" y="59445"/>
                    <a:pt x="139592" y="59445"/>
                  </a:cubicBezTo>
                  <a:cubicBezTo>
                    <a:pt x="150085" y="59445"/>
                    <a:pt x="164153" y="61230"/>
                    <a:pt x="174646" y="64722"/>
                  </a:cubicBezTo>
                  <a:lnTo>
                    <a:pt x="174646" y="7605"/>
                  </a:lnTo>
                  <a:cubicBezTo>
                    <a:pt x="160034" y="1785"/>
                    <a:pt x="137883" y="0"/>
                    <a:pt x="122649" y="0"/>
                  </a:cubicBezTo>
                  <a:cubicBezTo>
                    <a:pt x="70651" y="0"/>
                    <a:pt x="38551" y="20953"/>
                    <a:pt x="38551" y="72328"/>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92" name="Freeform 57">
              <a:extLst>
                <a:ext uri="{FF2B5EF4-FFF2-40B4-BE49-F238E27FC236}">
                  <a16:creationId xmlns:a16="http://schemas.microsoft.com/office/drawing/2014/main" id="{18EA7051-BC96-DAF2-D94C-82ED385995B2}"/>
                </a:ext>
              </a:extLst>
            </p:cNvPr>
            <p:cNvSpPr/>
            <p:nvPr/>
          </p:nvSpPr>
          <p:spPr bwMode="invGray">
            <a:xfrm>
              <a:off x="3814838" y="4252917"/>
              <a:ext cx="174645" cy="380573"/>
            </a:xfrm>
            <a:custGeom>
              <a:avLst/>
              <a:gdLst>
                <a:gd name="connsiteX0" fmla="*/ 38551 w 174645"/>
                <a:gd name="connsiteY0" fmla="*/ 72250 h 380573"/>
                <a:gd name="connsiteX1" fmla="*/ 38551 w 174645"/>
                <a:gd name="connsiteY1" fmla="*/ 105465 h 380573"/>
                <a:gd name="connsiteX2" fmla="*/ 0 w 174645"/>
                <a:gd name="connsiteY2" fmla="*/ 105465 h 380573"/>
                <a:gd name="connsiteX3" fmla="*/ 0 w 174645"/>
                <a:gd name="connsiteY3" fmla="*/ 171894 h 380573"/>
                <a:gd name="connsiteX4" fmla="*/ 38551 w 174645"/>
                <a:gd name="connsiteY4" fmla="*/ 171894 h 380573"/>
                <a:gd name="connsiteX5" fmla="*/ 38551 w 174645"/>
                <a:gd name="connsiteY5" fmla="*/ 380573 h 380573"/>
                <a:gd name="connsiteX6" fmla="*/ 109824 w 174645"/>
                <a:gd name="connsiteY6" fmla="*/ 380573 h 380573"/>
                <a:gd name="connsiteX7" fmla="*/ 109824 w 174645"/>
                <a:gd name="connsiteY7" fmla="*/ 171894 h 380573"/>
                <a:gd name="connsiteX8" fmla="*/ 168817 w 174645"/>
                <a:gd name="connsiteY8" fmla="*/ 171894 h 380573"/>
                <a:gd name="connsiteX9" fmla="*/ 168817 w 174645"/>
                <a:gd name="connsiteY9" fmla="*/ 105465 h 380573"/>
                <a:gd name="connsiteX10" fmla="*/ 109824 w 174645"/>
                <a:gd name="connsiteY10" fmla="*/ 105465 h 380573"/>
                <a:gd name="connsiteX11" fmla="*/ 109824 w 174645"/>
                <a:gd name="connsiteY11" fmla="*/ 83347 h 380573"/>
                <a:gd name="connsiteX12" fmla="*/ 139592 w 174645"/>
                <a:gd name="connsiteY12" fmla="*/ 59445 h 380573"/>
                <a:gd name="connsiteX13" fmla="*/ 174646 w 174645"/>
                <a:gd name="connsiteY13" fmla="*/ 64722 h 380573"/>
                <a:gd name="connsiteX14" fmla="*/ 174646 w 174645"/>
                <a:gd name="connsiteY14" fmla="*/ 7605 h 380573"/>
                <a:gd name="connsiteX15" fmla="*/ 122648 w 174645"/>
                <a:gd name="connsiteY15" fmla="*/ 0 h 380573"/>
                <a:gd name="connsiteX16" fmla="*/ 38551 w 174645"/>
                <a:gd name="connsiteY16" fmla="*/ 72328 h 38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645" h="380573">
                  <a:moveTo>
                    <a:pt x="38551" y="72250"/>
                  </a:moveTo>
                  <a:lnTo>
                    <a:pt x="38551" y="105465"/>
                  </a:lnTo>
                  <a:lnTo>
                    <a:pt x="0" y="105465"/>
                  </a:lnTo>
                  <a:lnTo>
                    <a:pt x="0" y="171894"/>
                  </a:lnTo>
                  <a:lnTo>
                    <a:pt x="38551" y="171894"/>
                  </a:lnTo>
                  <a:lnTo>
                    <a:pt x="38551" y="380573"/>
                  </a:lnTo>
                  <a:lnTo>
                    <a:pt x="109824" y="380573"/>
                  </a:lnTo>
                  <a:lnTo>
                    <a:pt x="109824" y="171894"/>
                  </a:lnTo>
                  <a:lnTo>
                    <a:pt x="168817" y="171894"/>
                  </a:lnTo>
                  <a:lnTo>
                    <a:pt x="168817" y="105465"/>
                  </a:lnTo>
                  <a:lnTo>
                    <a:pt x="109824" y="105465"/>
                  </a:lnTo>
                  <a:lnTo>
                    <a:pt x="109824" y="83347"/>
                  </a:lnTo>
                  <a:cubicBezTo>
                    <a:pt x="109824" y="65886"/>
                    <a:pt x="119151" y="59445"/>
                    <a:pt x="139592" y="59445"/>
                  </a:cubicBezTo>
                  <a:cubicBezTo>
                    <a:pt x="150085" y="59445"/>
                    <a:pt x="164153" y="61230"/>
                    <a:pt x="174646" y="64722"/>
                  </a:cubicBezTo>
                  <a:lnTo>
                    <a:pt x="174646" y="7605"/>
                  </a:lnTo>
                  <a:cubicBezTo>
                    <a:pt x="160034" y="1785"/>
                    <a:pt x="137882" y="0"/>
                    <a:pt x="122648" y="0"/>
                  </a:cubicBezTo>
                  <a:cubicBezTo>
                    <a:pt x="70651" y="0"/>
                    <a:pt x="38551" y="20953"/>
                    <a:pt x="38551" y="72328"/>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93" name="Freeform 58">
              <a:extLst>
                <a:ext uri="{FF2B5EF4-FFF2-40B4-BE49-F238E27FC236}">
                  <a16:creationId xmlns:a16="http://schemas.microsoft.com/office/drawing/2014/main" id="{4D494596-BDB6-F0C3-B2A2-AAB091CCDBF2}"/>
                </a:ext>
              </a:extLst>
            </p:cNvPr>
            <p:cNvSpPr/>
            <p:nvPr/>
          </p:nvSpPr>
          <p:spPr bwMode="invGray">
            <a:xfrm>
              <a:off x="7146866" y="4352561"/>
              <a:ext cx="237680" cy="281083"/>
            </a:xfrm>
            <a:custGeom>
              <a:avLst/>
              <a:gdLst>
                <a:gd name="connsiteX0" fmla="*/ 138426 w 237680"/>
                <a:gd name="connsiteY0" fmla="*/ 0 h 281083"/>
                <a:gd name="connsiteX1" fmla="*/ 71273 w 237680"/>
                <a:gd name="connsiteY1" fmla="*/ 24523 h 281083"/>
                <a:gd name="connsiteX2" fmla="*/ 71273 w 237680"/>
                <a:gd name="connsiteY2" fmla="*/ 5898 h 281083"/>
                <a:gd name="connsiteX3" fmla="*/ 0 w 237680"/>
                <a:gd name="connsiteY3" fmla="*/ 5898 h 281083"/>
                <a:gd name="connsiteX4" fmla="*/ 0 w 237680"/>
                <a:gd name="connsiteY4" fmla="*/ 281084 h 281083"/>
                <a:gd name="connsiteX5" fmla="*/ 71273 w 237680"/>
                <a:gd name="connsiteY5" fmla="*/ 281084 h 281083"/>
                <a:gd name="connsiteX6" fmla="*/ 71273 w 237680"/>
                <a:gd name="connsiteY6" fmla="*/ 129522 h 281083"/>
                <a:gd name="connsiteX7" fmla="*/ 119151 w 237680"/>
                <a:gd name="connsiteY7" fmla="*/ 67128 h 281083"/>
                <a:gd name="connsiteX8" fmla="*/ 166407 w 237680"/>
                <a:gd name="connsiteY8" fmla="*/ 131229 h 281083"/>
                <a:gd name="connsiteX9" fmla="*/ 166407 w 237680"/>
                <a:gd name="connsiteY9" fmla="*/ 281084 h 281083"/>
                <a:gd name="connsiteX10" fmla="*/ 237680 w 237680"/>
                <a:gd name="connsiteY10" fmla="*/ 281084 h 281083"/>
                <a:gd name="connsiteX11" fmla="*/ 237680 w 237680"/>
                <a:gd name="connsiteY11" fmla="*/ 125409 h 281083"/>
                <a:gd name="connsiteX12" fmla="*/ 138426 w 237680"/>
                <a:gd name="connsiteY12" fmla="*/ 78 h 28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7680" h="281083">
                  <a:moveTo>
                    <a:pt x="138426" y="0"/>
                  </a:moveTo>
                  <a:cubicBezTo>
                    <a:pt x="107492" y="0"/>
                    <a:pt x="85885" y="9933"/>
                    <a:pt x="71273" y="24523"/>
                  </a:cubicBezTo>
                  <a:lnTo>
                    <a:pt x="71273" y="5898"/>
                  </a:lnTo>
                  <a:lnTo>
                    <a:pt x="0" y="5898"/>
                  </a:lnTo>
                  <a:lnTo>
                    <a:pt x="0" y="281084"/>
                  </a:lnTo>
                  <a:lnTo>
                    <a:pt x="71273" y="281084"/>
                  </a:lnTo>
                  <a:lnTo>
                    <a:pt x="71273" y="129522"/>
                  </a:lnTo>
                  <a:cubicBezTo>
                    <a:pt x="71273" y="88702"/>
                    <a:pt x="82931" y="67128"/>
                    <a:pt x="119151" y="67128"/>
                  </a:cubicBezTo>
                  <a:cubicBezTo>
                    <a:pt x="157702" y="67128"/>
                    <a:pt x="166407" y="92815"/>
                    <a:pt x="166407" y="131229"/>
                  </a:cubicBezTo>
                  <a:lnTo>
                    <a:pt x="166407" y="281084"/>
                  </a:lnTo>
                  <a:lnTo>
                    <a:pt x="237680" y="281084"/>
                  </a:lnTo>
                  <a:lnTo>
                    <a:pt x="237680" y="125409"/>
                  </a:lnTo>
                  <a:cubicBezTo>
                    <a:pt x="237680" y="57816"/>
                    <a:pt x="213119" y="78"/>
                    <a:pt x="138426" y="78"/>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94" name="Freeform 59">
              <a:extLst>
                <a:ext uri="{FF2B5EF4-FFF2-40B4-BE49-F238E27FC236}">
                  <a16:creationId xmlns:a16="http://schemas.microsoft.com/office/drawing/2014/main" id="{99907645-96AF-0325-B430-0F93771CB722}"/>
                </a:ext>
              </a:extLst>
            </p:cNvPr>
            <p:cNvSpPr/>
            <p:nvPr/>
          </p:nvSpPr>
          <p:spPr bwMode="invGray">
            <a:xfrm>
              <a:off x="7635595" y="4358382"/>
              <a:ext cx="71272" cy="275185"/>
            </a:xfrm>
            <a:custGeom>
              <a:avLst/>
              <a:gdLst>
                <a:gd name="connsiteX0" fmla="*/ 0 w 71272"/>
                <a:gd name="connsiteY0" fmla="*/ 0 h 275185"/>
                <a:gd name="connsiteX1" fmla="*/ 71273 w 71272"/>
                <a:gd name="connsiteY1" fmla="*/ 0 h 275185"/>
                <a:gd name="connsiteX2" fmla="*/ 71273 w 71272"/>
                <a:gd name="connsiteY2" fmla="*/ 275186 h 275185"/>
                <a:gd name="connsiteX3" fmla="*/ 0 w 71272"/>
                <a:gd name="connsiteY3" fmla="*/ 275186 h 275185"/>
              </a:gdLst>
              <a:ahLst/>
              <a:cxnLst>
                <a:cxn ang="0">
                  <a:pos x="connsiteX0" y="connsiteY0"/>
                </a:cxn>
                <a:cxn ang="0">
                  <a:pos x="connsiteX1" y="connsiteY1"/>
                </a:cxn>
                <a:cxn ang="0">
                  <a:pos x="connsiteX2" y="connsiteY2"/>
                </a:cxn>
                <a:cxn ang="0">
                  <a:pos x="connsiteX3" y="connsiteY3"/>
                </a:cxn>
              </a:cxnLst>
              <a:rect l="l" t="t" r="r" b="b"/>
              <a:pathLst>
                <a:path w="71272" h="275185">
                  <a:moveTo>
                    <a:pt x="0" y="0"/>
                  </a:moveTo>
                  <a:lnTo>
                    <a:pt x="71273" y="0"/>
                  </a:lnTo>
                  <a:lnTo>
                    <a:pt x="71273" y="275186"/>
                  </a:lnTo>
                  <a:lnTo>
                    <a:pt x="0" y="275186"/>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95" name="Freeform 60">
              <a:extLst>
                <a:ext uri="{FF2B5EF4-FFF2-40B4-BE49-F238E27FC236}">
                  <a16:creationId xmlns:a16="http://schemas.microsoft.com/office/drawing/2014/main" id="{5C4C1473-F01A-827A-9A7B-1C325DFA488B}"/>
                </a:ext>
              </a:extLst>
            </p:cNvPr>
            <p:cNvSpPr/>
            <p:nvPr/>
          </p:nvSpPr>
          <p:spPr bwMode="invGray">
            <a:xfrm>
              <a:off x="7630931" y="4252839"/>
              <a:ext cx="81765" cy="81639"/>
            </a:xfrm>
            <a:custGeom>
              <a:avLst/>
              <a:gdLst>
                <a:gd name="connsiteX0" fmla="*/ 40883 w 81765"/>
                <a:gd name="connsiteY0" fmla="*/ 0 h 81639"/>
                <a:gd name="connsiteX1" fmla="*/ 0 w 81765"/>
                <a:gd name="connsiteY1" fmla="*/ 40820 h 81639"/>
                <a:gd name="connsiteX2" fmla="*/ 40883 w 81765"/>
                <a:gd name="connsiteY2" fmla="*/ 81640 h 81639"/>
                <a:gd name="connsiteX3" fmla="*/ 81766 w 81765"/>
                <a:gd name="connsiteY3" fmla="*/ 40820 h 81639"/>
                <a:gd name="connsiteX4" fmla="*/ 40883 w 81765"/>
                <a:gd name="connsiteY4" fmla="*/ 0 h 8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65" h="81639">
                  <a:moveTo>
                    <a:pt x="40883" y="0"/>
                  </a:moveTo>
                  <a:cubicBezTo>
                    <a:pt x="18110" y="0"/>
                    <a:pt x="0" y="18082"/>
                    <a:pt x="0" y="40820"/>
                  </a:cubicBezTo>
                  <a:cubicBezTo>
                    <a:pt x="0" y="63558"/>
                    <a:pt x="18110" y="81640"/>
                    <a:pt x="40883" y="81640"/>
                  </a:cubicBezTo>
                  <a:cubicBezTo>
                    <a:pt x="63656" y="81640"/>
                    <a:pt x="81766" y="63558"/>
                    <a:pt x="81766" y="40820"/>
                  </a:cubicBezTo>
                  <a:cubicBezTo>
                    <a:pt x="81766" y="18082"/>
                    <a:pt x="63656" y="0"/>
                    <a:pt x="40883" y="0"/>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grpSp>
    </p:spTree>
    <p:extLst>
      <p:ext uri="{BB962C8B-B14F-4D97-AF65-F5344CB8AC3E}">
        <p14:creationId xmlns:p14="http://schemas.microsoft.com/office/powerpoint/2010/main" val="17339091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_Title Slide Frame 4">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A66D895-0626-6F0F-A40D-3571A535EAA9}"/>
              </a:ext>
            </a:extLst>
          </p:cNvPr>
          <p:cNvSpPr/>
          <p:nvPr userDrawn="1"/>
        </p:nvSpPr>
        <p:spPr bwMode="auto">
          <a:xfrm>
            <a:off x="0" y="0"/>
            <a:ext cx="12192000" cy="6858000"/>
          </a:xfrm>
          <a:prstGeom prst="rect">
            <a:avLst/>
          </a:prstGeom>
          <a:blipFill>
            <a:blip r:embed="rId2"/>
            <a:srcRect/>
            <a:stretch>
              <a:fillRect t="-235" b="-18283"/>
            </a:stretch>
          </a:blipFill>
          <a:ln w="9525" cap="flat" cmpd="sng" algn="ctr">
            <a:noFill/>
            <a:prstDash val="solid"/>
            <a:round/>
            <a:headEnd type="none" w="med" len="med"/>
            <a:tailEnd type="none" w="med" len="med"/>
          </a:ln>
          <a:effectLst/>
        </p:spPr>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lvl="0" indent="0" algn="ctr" defTabSz="1019175" rtl="0" eaLnBrk="1" fontAlgn="base" latinLnBrk="0" hangingPunct="1">
              <a:lnSpc>
                <a:spcPct val="100000"/>
              </a:lnSpc>
              <a:spcBef>
                <a:spcPct val="0"/>
              </a:spcBef>
              <a:spcAft>
                <a:spcPts val="600"/>
              </a:spcAft>
              <a:buClrTx/>
              <a:buSzTx/>
              <a:buFontTx/>
              <a:buNone/>
              <a:tabLst/>
              <a:defRPr/>
            </a:pPr>
            <a:endParaRPr kumimoji="0" lang="en-IN" sz="1200" b="0" i="0" u="none" strike="noStrike" kern="1200" cap="none" spc="0" normalizeH="0" baseline="0" noProof="0">
              <a:ln>
                <a:noFill/>
              </a:ln>
              <a:solidFill>
                <a:srgbClr val="1A9AFA"/>
              </a:solidFill>
              <a:effectLst/>
              <a:uLnTx/>
              <a:uFillTx/>
              <a:latin typeface="EYInterstate Light"/>
              <a:ea typeface="+mn-ea"/>
              <a:cs typeface="+mn-cs"/>
            </a:endParaRPr>
          </a:p>
        </p:txBody>
      </p:sp>
      <p:sp>
        <p:nvSpPr>
          <p:cNvPr id="14" name="Rectangle 13">
            <a:extLst>
              <a:ext uri="{FF2B5EF4-FFF2-40B4-BE49-F238E27FC236}">
                <a16:creationId xmlns:a16="http://schemas.microsoft.com/office/drawing/2014/main" id="{FDCA11D1-FE32-A112-2678-634D232D86B4}"/>
              </a:ext>
              <a:ext uri="{C183D7F6-B498-43B3-948B-1728B52AA6E4}">
                <adec:decorative xmlns:adec="http://schemas.microsoft.com/office/drawing/2017/decorative" val="1"/>
              </a:ext>
            </a:extLst>
          </p:cNvPr>
          <p:cNvSpPr/>
          <p:nvPr userDrawn="1"/>
        </p:nvSpPr>
        <p:spPr bwMode="white">
          <a:xfrm rot="16200000">
            <a:off x="7255316" y="1921316"/>
            <a:ext cx="3015367" cy="6858000"/>
          </a:xfrm>
          <a:prstGeom prst="rect">
            <a:avLst/>
          </a:prstGeom>
          <a:gradFill flip="none" rotWithShape="1">
            <a:gsLst>
              <a:gs pos="50000">
                <a:schemeClr val="bg1">
                  <a:alpha val="0"/>
                </a:schemeClr>
              </a:gs>
              <a:gs pos="100000">
                <a:schemeClr val="bg1"/>
              </a:gs>
            </a:gsLst>
            <a:lin ang="81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1A1A24"/>
              </a:solidFill>
              <a:effectLst/>
              <a:uLnTx/>
              <a:uFillTx/>
              <a:latin typeface="EYInterstate Light"/>
              <a:ea typeface="+mn-ea"/>
              <a:cs typeface="+mn-cs"/>
            </a:endParaRPr>
          </a:p>
        </p:txBody>
      </p:sp>
      <p:sp>
        <p:nvSpPr>
          <p:cNvPr id="3" name="Rectangle 2">
            <a:extLst>
              <a:ext uri="{FF2B5EF4-FFF2-40B4-BE49-F238E27FC236}">
                <a16:creationId xmlns:a16="http://schemas.microsoft.com/office/drawing/2014/main" id="{E2D7BB4A-5FCC-BE0E-4598-A4CBBA847A08}"/>
              </a:ext>
              <a:ext uri="{C183D7F6-B498-43B3-948B-1728B52AA6E4}">
                <adec:decorative xmlns:adec="http://schemas.microsoft.com/office/drawing/2017/decorative" val="1"/>
              </a:ext>
            </a:extLst>
          </p:cNvPr>
          <p:cNvSpPr/>
          <p:nvPr userDrawn="1"/>
        </p:nvSpPr>
        <p:spPr bwMode="white">
          <a:xfrm>
            <a:off x="-5794"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1A1A24"/>
              </a:solidFill>
              <a:effectLst/>
              <a:uLnTx/>
              <a:uFillTx/>
              <a:latin typeface="EYInterstate Light"/>
              <a:ea typeface="+mn-ea"/>
              <a:cs typeface="+mn-cs"/>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047865"/>
            <a:ext cx="4907628" cy="511939"/>
          </a:xfrm>
        </p:spPr>
        <p:txBody>
          <a:bodyPr wrap="square">
            <a:noAutofit/>
          </a:bodyPr>
          <a:lstStyle>
            <a:lvl1pPr marL="0" indent="0" algn="l">
              <a:buNone/>
              <a:defRPr lang="en-GB" sz="1600" kern="1200" dirty="0">
                <a:solidFill>
                  <a:schemeClr val="bg1"/>
                </a:solidFill>
                <a:latin typeface="+mj-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310131"/>
            <a:ext cx="4906009" cy="1654043"/>
          </a:xfrm>
        </p:spPr>
        <p:txBody>
          <a:bodyPr anchor="t">
            <a:noAutofit/>
          </a:bodyPr>
          <a:lstStyle>
            <a:lvl1pPr algn="l" defTabSz="914400" rtl="0" eaLnBrk="1" latinLnBrk="0" hangingPunct="1">
              <a:lnSpc>
                <a:spcPct val="85000"/>
              </a:lnSpc>
              <a:spcBef>
                <a:spcPct val="0"/>
              </a:spcBef>
              <a:buNone/>
              <a:defRPr lang="en-US" sz="4200" b="1" i="0" kern="1200" dirty="0">
                <a:solidFill>
                  <a:schemeClr val="bg1"/>
                </a:solidFill>
                <a:latin typeface="+mj-lt"/>
                <a:ea typeface="+mj-ea"/>
                <a:cs typeface="Arial" pitchFamily="34" charset="0"/>
              </a:defRPr>
            </a:lvl1pPr>
          </a:lstStyle>
          <a:p>
            <a:r>
              <a:rPr lang="en-US"/>
              <a:t>Click to edit Master title style</a:t>
            </a:r>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4658865"/>
            <a:ext cx="4906010" cy="246221"/>
          </a:xfrm>
        </p:spPr>
        <p:txBody>
          <a:bodyPr wrap="square">
            <a:spAutoFit/>
          </a:bodyPr>
          <a:lstStyle>
            <a:lvl1pPr marL="0" indent="0">
              <a:buNone/>
              <a:defRPr sz="1600" b="1">
                <a:latin typeface="+mj-lt"/>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US"/>
              <a:t>Click to edit Master text styles</a:t>
            </a:r>
          </a:p>
        </p:txBody>
      </p:sp>
      <p:grpSp>
        <p:nvGrpSpPr>
          <p:cNvPr id="8" name="Group 7">
            <a:extLst>
              <a:ext uri="{FF2B5EF4-FFF2-40B4-BE49-F238E27FC236}">
                <a16:creationId xmlns:a16="http://schemas.microsoft.com/office/drawing/2014/main" id="{53C054C4-B0F1-3513-59FC-805A098DBE34}"/>
              </a:ext>
            </a:extLst>
          </p:cNvPr>
          <p:cNvGrpSpPr/>
          <p:nvPr userDrawn="1"/>
        </p:nvGrpSpPr>
        <p:grpSpPr>
          <a:xfrm>
            <a:off x="485775" y="5776013"/>
            <a:ext cx="4940935" cy="318770"/>
            <a:chOff x="485775" y="6164633"/>
            <a:chExt cx="4940935" cy="318770"/>
          </a:xfrm>
        </p:grpSpPr>
        <p:sp>
          <p:nvSpPr>
            <p:cNvPr id="9" name="Freeform 8">
              <a:extLst>
                <a:ext uri="{FF2B5EF4-FFF2-40B4-BE49-F238E27FC236}">
                  <a16:creationId xmlns:a16="http://schemas.microsoft.com/office/drawing/2014/main" id="{7A3E19F4-4DB4-F59A-2A51-47A2D55A90E0}"/>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1A9AFA"/>
            </a:solidFill>
            <a:ln w="6350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10" name="Freeform 9">
              <a:extLst>
                <a:ext uri="{FF2B5EF4-FFF2-40B4-BE49-F238E27FC236}">
                  <a16:creationId xmlns:a16="http://schemas.microsoft.com/office/drawing/2014/main" id="{9A1F91B4-6F38-3316-FDC2-178FAFEB4F31}"/>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grpSp>
      <p:grpSp>
        <p:nvGrpSpPr>
          <p:cNvPr id="5" name="Group 4">
            <a:extLst>
              <a:ext uri="{FF2B5EF4-FFF2-40B4-BE49-F238E27FC236}">
                <a16:creationId xmlns:a16="http://schemas.microsoft.com/office/drawing/2014/main" id="{482CE306-E61A-923E-80E0-77174AA308EC}"/>
              </a:ext>
            </a:extLst>
          </p:cNvPr>
          <p:cNvGrpSpPr/>
          <p:nvPr userDrawn="1"/>
        </p:nvGrpSpPr>
        <p:grpSpPr>
          <a:xfrm>
            <a:off x="485774" y="902388"/>
            <a:ext cx="5706110" cy="4360545"/>
            <a:chOff x="485774" y="1291008"/>
            <a:chExt cx="5706110" cy="4360545"/>
          </a:xfrm>
        </p:grpSpPr>
        <p:sp>
          <p:nvSpPr>
            <p:cNvPr id="6" name="Freeform 25">
              <a:extLst>
                <a:ext uri="{FF2B5EF4-FFF2-40B4-BE49-F238E27FC236}">
                  <a16:creationId xmlns:a16="http://schemas.microsoft.com/office/drawing/2014/main" id="{A3BE74D9-8944-FC80-254E-9804F1A62AAB}"/>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rgbClr val="1A9AFA"/>
            </a:solidFill>
            <a:ln w="6350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 name="Freeform 3">
              <a:extLst>
                <a:ext uri="{FF2B5EF4-FFF2-40B4-BE49-F238E27FC236}">
                  <a16:creationId xmlns:a16="http://schemas.microsoft.com/office/drawing/2014/main" id="{EE7ADBF8-7DC8-E7E1-3CFB-0964B45D2348}"/>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1A9AFA"/>
                </a:gs>
                <a:gs pos="63000">
                  <a:srgbClr val="4EBEEB"/>
                </a:gs>
                <a:gs pos="100000">
                  <a:srgbClr val="32FFFF"/>
                </a:gs>
              </a:gsLst>
              <a:lin ang="19500000" scaled="0"/>
              <a:tileRect/>
            </a:gradFill>
            <a:ln w="8181"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grpSp>
      <p:grpSp>
        <p:nvGrpSpPr>
          <p:cNvPr id="2" name="Group 1">
            <a:extLst>
              <a:ext uri="{FF2B5EF4-FFF2-40B4-BE49-F238E27FC236}">
                <a16:creationId xmlns:a16="http://schemas.microsoft.com/office/drawing/2014/main" id="{257D3A8D-1491-2EB9-66B1-22B23BD56E18}"/>
              </a:ext>
            </a:extLst>
          </p:cNvPr>
          <p:cNvGrpSpPr>
            <a:grpSpLocks noChangeAspect="1"/>
          </p:cNvGrpSpPr>
          <p:nvPr userDrawn="1"/>
        </p:nvGrpSpPr>
        <p:grpSpPr bwMode="invGray">
          <a:xfrm>
            <a:off x="7064968" y="5410336"/>
            <a:ext cx="1569911" cy="680592"/>
            <a:chOff x="1333500" y="1365250"/>
            <a:chExt cx="7772399" cy="3369514"/>
          </a:xfrm>
        </p:grpSpPr>
        <p:sp>
          <p:nvSpPr>
            <p:cNvPr id="4" name="Freeform 11">
              <a:extLst>
                <a:ext uri="{FF2B5EF4-FFF2-40B4-BE49-F238E27FC236}">
                  <a16:creationId xmlns:a16="http://schemas.microsoft.com/office/drawing/2014/main" id="{271953EA-E924-D3B7-4B4A-0BB3AB32D600}"/>
                </a:ext>
              </a:extLst>
            </p:cNvPr>
            <p:cNvSpPr/>
            <p:nvPr/>
          </p:nvSpPr>
          <p:spPr bwMode="invGray">
            <a:xfrm>
              <a:off x="3765639" y="2990756"/>
              <a:ext cx="635704" cy="857763"/>
            </a:xfrm>
            <a:custGeom>
              <a:avLst/>
              <a:gdLst>
                <a:gd name="connsiteX0" fmla="*/ 504506 w 635704"/>
                <a:gd name="connsiteY0" fmla="*/ 268512 h 857763"/>
                <a:gd name="connsiteX1" fmla="*/ 494014 w 635704"/>
                <a:gd name="connsiteY1" fmla="*/ 205730 h 857763"/>
                <a:gd name="connsiteX2" fmla="*/ 464323 w 635704"/>
                <a:gd name="connsiteY2" fmla="*/ 159400 h 857763"/>
                <a:gd name="connsiteX3" fmla="*/ 417922 w 635704"/>
                <a:gd name="connsiteY3" fmla="*/ 130997 h 857763"/>
                <a:gd name="connsiteX4" fmla="*/ 357142 w 635704"/>
                <a:gd name="connsiteY4" fmla="*/ 121374 h 857763"/>
                <a:gd name="connsiteX5" fmla="*/ 126457 w 635704"/>
                <a:gd name="connsiteY5" fmla="*/ 121374 h 857763"/>
                <a:gd name="connsiteX6" fmla="*/ 126457 w 635704"/>
                <a:gd name="connsiteY6" fmla="*/ 416892 h 857763"/>
                <a:gd name="connsiteX7" fmla="*/ 357142 w 635704"/>
                <a:gd name="connsiteY7" fmla="*/ 416892 h 857763"/>
                <a:gd name="connsiteX8" fmla="*/ 467976 w 635704"/>
                <a:gd name="connsiteY8" fmla="*/ 377391 h 857763"/>
                <a:gd name="connsiteX9" fmla="*/ 504506 w 635704"/>
                <a:gd name="connsiteY9" fmla="*/ 268512 h 857763"/>
                <a:gd name="connsiteX10" fmla="*/ 635704 w 635704"/>
                <a:gd name="connsiteY10" fmla="*/ 268512 h 857763"/>
                <a:gd name="connsiteX11" fmla="*/ 614719 w 635704"/>
                <a:gd name="connsiteY11" fmla="*/ 385152 h 857763"/>
                <a:gd name="connsiteX12" fmla="*/ 556037 w 635704"/>
                <a:gd name="connsiteY12" fmla="*/ 469198 h 857763"/>
                <a:gd name="connsiteX13" fmla="*/ 466111 w 635704"/>
                <a:gd name="connsiteY13" fmla="*/ 520339 h 857763"/>
                <a:gd name="connsiteX14" fmla="*/ 351079 w 635704"/>
                <a:gd name="connsiteY14" fmla="*/ 537722 h 857763"/>
                <a:gd name="connsiteX15" fmla="*/ 126379 w 635704"/>
                <a:gd name="connsiteY15" fmla="*/ 537722 h 857763"/>
                <a:gd name="connsiteX16" fmla="*/ 126379 w 635704"/>
                <a:gd name="connsiteY16" fmla="*/ 857764 h 857763"/>
                <a:gd name="connsiteX17" fmla="*/ 0 w 635704"/>
                <a:gd name="connsiteY17" fmla="*/ 857764 h 857763"/>
                <a:gd name="connsiteX18" fmla="*/ 0 w 635704"/>
                <a:gd name="connsiteY18" fmla="*/ 0 h 857763"/>
                <a:gd name="connsiteX19" fmla="*/ 359474 w 635704"/>
                <a:gd name="connsiteY19" fmla="*/ 0 h 857763"/>
                <a:gd name="connsiteX20" fmla="*/ 469375 w 635704"/>
                <a:gd name="connsiteY20" fmla="*/ 17073 h 857763"/>
                <a:gd name="connsiteX21" fmla="*/ 556815 w 635704"/>
                <a:gd name="connsiteY21" fmla="*/ 67594 h 857763"/>
                <a:gd name="connsiteX22" fmla="*/ 614641 w 635704"/>
                <a:gd name="connsiteY22" fmla="*/ 151639 h 857763"/>
                <a:gd name="connsiteX23" fmla="*/ 635627 w 635704"/>
                <a:gd name="connsiteY23" fmla="*/ 268590 h 857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35704" h="857763">
                  <a:moveTo>
                    <a:pt x="504506" y="268512"/>
                  </a:moveTo>
                  <a:cubicBezTo>
                    <a:pt x="504506" y="244998"/>
                    <a:pt x="501009" y="224044"/>
                    <a:pt x="494014" y="205730"/>
                  </a:cubicBezTo>
                  <a:cubicBezTo>
                    <a:pt x="487018" y="187415"/>
                    <a:pt x="477148" y="171972"/>
                    <a:pt x="464323" y="159400"/>
                  </a:cubicBezTo>
                  <a:cubicBezTo>
                    <a:pt x="451576" y="146828"/>
                    <a:pt x="436031" y="137360"/>
                    <a:pt x="417922" y="130997"/>
                  </a:cubicBezTo>
                  <a:cubicBezTo>
                    <a:pt x="399734" y="124633"/>
                    <a:pt x="379448" y="121374"/>
                    <a:pt x="357142" y="121374"/>
                  </a:cubicBezTo>
                  <a:lnTo>
                    <a:pt x="126457" y="121374"/>
                  </a:lnTo>
                  <a:lnTo>
                    <a:pt x="126457" y="416892"/>
                  </a:lnTo>
                  <a:lnTo>
                    <a:pt x="357142" y="416892"/>
                  </a:lnTo>
                  <a:cubicBezTo>
                    <a:pt x="406652" y="416892"/>
                    <a:pt x="443571" y="403699"/>
                    <a:pt x="467976" y="377391"/>
                  </a:cubicBezTo>
                  <a:cubicBezTo>
                    <a:pt x="492304" y="351083"/>
                    <a:pt x="504506" y="314764"/>
                    <a:pt x="504506" y="268512"/>
                  </a:cubicBezTo>
                  <a:moveTo>
                    <a:pt x="635704" y="268512"/>
                  </a:moveTo>
                  <a:cubicBezTo>
                    <a:pt x="635704" y="312746"/>
                    <a:pt x="628709" y="351626"/>
                    <a:pt x="614719" y="385152"/>
                  </a:cubicBezTo>
                  <a:cubicBezTo>
                    <a:pt x="600729" y="418677"/>
                    <a:pt x="581220" y="446692"/>
                    <a:pt x="556037" y="469198"/>
                  </a:cubicBezTo>
                  <a:cubicBezTo>
                    <a:pt x="530855" y="491703"/>
                    <a:pt x="500931" y="508776"/>
                    <a:pt x="466111" y="520339"/>
                  </a:cubicBezTo>
                  <a:cubicBezTo>
                    <a:pt x="431368" y="531902"/>
                    <a:pt x="393050" y="537722"/>
                    <a:pt x="351079" y="537722"/>
                  </a:cubicBezTo>
                  <a:lnTo>
                    <a:pt x="126379" y="537722"/>
                  </a:lnTo>
                  <a:lnTo>
                    <a:pt x="126379" y="857764"/>
                  </a:lnTo>
                  <a:lnTo>
                    <a:pt x="0" y="857764"/>
                  </a:lnTo>
                  <a:lnTo>
                    <a:pt x="0" y="0"/>
                  </a:lnTo>
                  <a:lnTo>
                    <a:pt x="359474" y="0"/>
                  </a:lnTo>
                  <a:cubicBezTo>
                    <a:pt x="398957" y="0"/>
                    <a:pt x="435643" y="5665"/>
                    <a:pt x="469375" y="17073"/>
                  </a:cubicBezTo>
                  <a:cubicBezTo>
                    <a:pt x="503107" y="28481"/>
                    <a:pt x="532254" y="45321"/>
                    <a:pt x="556815" y="67594"/>
                  </a:cubicBezTo>
                  <a:cubicBezTo>
                    <a:pt x="581375" y="89944"/>
                    <a:pt x="600651" y="117959"/>
                    <a:pt x="614641" y="151639"/>
                  </a:cubicBezTo>
                  <a:cubicBezTo>
                    <a:pt x="628632" y="185320"/>
                    <a:pt x="635627" y="224277"/>
                    <a:pt x="635627" y="268590"/>
                  </a:cubicBezTo>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21" name="Freeform 12">
              <a:extLst>
                <a:ext uri="{FF2B5EF4-FFF2-40B4-BE49-F238E27FC236}">
                  <a16:creationId xmlns:a16="http://schemas.microsoft.com/office/drawing/2014/main" id="{62186479-44DE-BA2B-680D-36E46D3D5053}"/>
                </a:ext>
              </a:extLst>
            </p:cNvPr>
            <p:cNvSpPr/>
            <p:nvPr/>
          </p:nvSpPr>
          <p:spPr bwMode="invGray">
            <a:xfrm>
              <a:off x="4442770" y="3191752"/>
              <a:ext cx="524092" cy="670503"/>
            </a:xfrm>
            <a:custGeom>
              <a:avLst/>
              <a:gdLst>
                <a:gd name="connsiteX0" fmla="*/ 400201 w 524092"/>
                <a:gd name="connsiteY0" fmla="*/ 382125 h 670503"/>
                <a:gd name="connsiteX1" fmla="*/ 367868 w 524092"/>
                <a:gd name="connsiteY1" fmla="*/ 369243 h 670503"/>
                <a:gd name="connsiteX2" fmla="*/ 337944 w 524092"/>
                <a:gd name="connsiteY2" fmla="*/ 361482 h 670503"/>
                <a:gd name="connsiteX3" fmla="*/ 300559 w 524092"/>
                <a:gd name="connsiteY3" fmla="*/ 356128 h 670503"/>
                <a:gd name="connsiteX4" fmla="*/ 252914 w 524092"/>
                <a:gd name="connsiteY4" fmla="*/ 354032 h 670503"/>
                <a:gd name="connsiteX5" fmla="*/ 156225 w 524092"/>
                <a:gd name="connsiteY5" fmla="*/ 379719 h 670503"/>
                <a:gd name="connsiteX6" fmla="*/ 120550 w 524092"/>
                <a:gd name="connsiteY6" fmla="*/ 449719 h 670503"/>
                <a:gd name="connsiteX7" fmla="*/ 130732 w 524092"/>
                <a:gd name="connsiteY7" fmla="*/ 498454 h 670503"/>
                <a:gd name="connsiteX8" fmla="*/ 156458 w 524092"/>
                <a:gd name="connsiteY8" fmla="*/ 531048 h 670503"/>
                <a:gd name="connsiteX9" fmla="*/ 193300 w 524092"/>
                <a:gd name="connsiteY9" fmla="*/ 549906 h 670503"/>
                <a:gd name="connsiteX10" fmla="*/ 244520 w 524092"/>
                <a:gd name="connsiteY10" fmla="*/ 556192 h 670503"/>
                <a:gd name="connsiteX11" fmla="*/ 293019 w 524092"/>
                <a:gd name="connsiteY11" fmla="*/ 548975 h 670503"/>
                <a:gd name="connsiteX12" fmla="*/ 336778 w 524092"/>
                <a:gd name="connsiteY12" fmla="*/ 530117 h 670503"/>
                <a:gd name="connsiteX13" fmla="*/ 373308 w 524092"/>
                <a:gd name="connsiteY13" fmla="*/ 503809 h 670503"/>
                <a:gd name="connsiteX14" fmla="*/ 400279 w 524092"/>
                <a:gd name="connsiteY14" fmla="*/ 474164 h 670503"/>
                <a:gd name="connsiteX15" fmla="*/ 400279 w 524092"/>
                <a:gd name="connsiteY15" fmla="*/ 382047 h 670503"/>
                <a:gd name="connsiteX16" fmla="*/ 400201 w 524092"/>
                <a:gd name="connsiteY16" fmla="*/ 656690 h 670503"/>
                <a:gd name="connsiteX17" fmla="*/ 400201 w 524092"/>
                <a:gd name="connsiteY17" fmla="*/ 593287 h 670503"/>
                <a:gd name="connsiteX18" fmla="*/ 359474 w 524092"/>
                <a:gd name="connsiteY18" fmla="*/ 626502 h 670503"/>
                <a:gd name="connsiteX19" fmla="*/ 325897 w 524092"/>
                <a:gd name="connsiteY19" fmla="*/ 646291 h 670503"/>
                <a:gd name="connsiteX20" fmla="*/ 281905 w 524092"/>
                <a:gd name="connsiteY20" fmla="*/ 663054 h 670503"/>
                <a:gd name="connsiteX21" fmla="*/ 223534 w 524092"/>
                <a:gd name="connsiteY21" fmla="*/ 670504 h 670503"/>
                <a:gd name="connsiteX22" fmla="*/ 144722 w 524092"/>
                <a:gd name="connsiteY22" fmla="*/ 658863 h 670503"/>
                <a:gd name="connsiteX23" fmla="*/ 72827 w 524092"/>
                <a:gd name="connsiteY23" fmla="*/ 621225 h 670503"/>
                <a:gd name="connsiteX24" fmla="*/ 20364 w 524092"/>
                <a:gd name="connsiteY24" fmla="*/ 553942 h 670503"/>
                <a:gd name="connsiteX25" fmla="*/ 0 w 524092"/>
                <a:gd name="connsiteY25" fmla="*/ 453444 h 670503"/>
                <a:gd name="connsiteX26" fmla="*/ 19431 w 524092"/>
                <a:gd name="connsiteY26" fmla="*/ 360473 h 670503"/>
                <a:gd name="connsiteX27" fmla="*/ 73371 w 524092"/>
                <a:gd name="connsiteY27" fmla="*/ 295596 h 670503"/>
                <a:gd name="connsiteX28" fmla="*/ 154826 w 524092"/>
                <a:gd name="connsiteY28" fmla="*/ 257570 h 670503"/>
                <a:gd name="connsiteX29" fmla="*/ 256334 w 524092"/>
                <a:gd name="connsiteY29" fmla="*/ 245308 h 670503"/>
                <a:gd name="connsiteX30" fmla="*/ 341986 w 524092"/>
                <a:gd name="connsiteY30" fmla="*/ 252215 h 670503"/>
                <a:gd name="connsiteX31" fmla="*/ 400123 w 524092"/>
                <a:gd name="connsiteY31" fmla="*/ 269831 h 670503"/>
                <a:gd name="connsiteX32" fmla="*/ 400123 w 524092"/>
                <a:gd name="connsiteY32" fmla="*/ 221949 h 670503"/>
                <a:gd name="connsiteX33" fmla="*/ 368956 w 524092"/>
                <a:gd name="connsiteY33" fmla="*/ 141240 h 670503"/>
                <a:gd name="connsiteX34" fmla="*/ 278485 w 524092"/>
                <a:gd name="connsiteY34" fmla="*/ 113148 h 670503"/>
                <a:gd name="connsiteX35" fmla="*/ 188636 w 524092"/>
                <a:gd name="connsiteY35" fmla="*/ 122693 h 670503"/>
                <a:gd name="connsiteX36" fmla="*/ 110757 w 524092"/>
                <a:gd name="connsiteY36" fmla="*/ 153192 h 670503"/>
                <a:gd name="connsiteX37" fmla="*/ 61635 w 524092"/>
                <a:gd name="connsiteY37" fmla="*/ 58048 h 670503"/>
                <a:gd name="connsiteX38" fmla="*/ 160733 w 524092"/>
                <a:gd name="connsiteY38" fmla="*/ 14667 h 670503"/>
                <a:gd name="connsiteX39" fmla="*/ 282060 w 524092"/>
                <a:gd name="connsiteY39" fmla="*/ 0 h 670503"/>
                <a:gd name="connsiteX40" fmla="*/ 380614 w 524092"/>
                <a:gd name="connsiteY40" fmla="*/ 13193 h 670503"/>
                <a:gd name="connsiteX41" fmla="*/ 457017 w 524092"/>
                <a:gd name="connsiteY41" fmla="*/ 53314 h 670503"/>
                <a:gd name="connsiteX42" fmla="*/ 506450 w 524092"/>
                <a:gd name="connsiteY42" fmla="*/ 120908 h 670503"/>
                <a:gd name="connsiteX43" fmla="*/ 524093 w 524092"/>
                <a:gd name="connsiteY43" fmla="*/ 216051 h 670503"/>
                <a:gd name="connsiteX44" fmla="*/ 524093 w 524092"/>
                <a:gd name="connsiteY44" fmla="*/ 656923 h 670503"/>
                <a:gd name="connsiteX45" fmla="*/ 400123 w 524092"/>
                <a:gd name="connsiteY45" fmla="*/ 656923 h 67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24092" h="670503">
                  <a:moveTo>
                    <a:pt x="400201" y="382125"/>
                  </a:moveTo>
                  <a:cubicBezTo>
                    <a:pt x="388231" y="376538"/>
                    <a:pt x="377428" y="372269"/>
                    <a:pt x="367868" y="369243"/>
                  </a:cubicBezTo>
                  <a:cubicBezTo>
                    <a:pt x="358308" y="366216"/>
                    <a:pt x="348359" y="363655"/>
                    <a:pt x="337944" y="361482"/>
                  </a:cubicBezTo>
                  <a:cubicBezTo>
                    <a:pt x="327607" y="359309"/>
                    <a:pt x="315093" y="357524"/>
                    <a:pt x="300559" y="356128"/>
                  </a:cubicBezTo>
                  <a:cubicBezTo>
                    <a:pt x="285946" y="354731"/>
                    <a:pt x="270091" y="354032"/>
                    <a:pt x="252914" y="354032"/>
                  </a:cubicBezTo>
                  <a:cubicBezTo>
                    <a:pt x="212186" y="354032"/>
                    <a:pt x="179931" y="362646"/>
                    <a:pt x="156225" y="379719"/>
                  </a:cubicBezTo>
                  <a:cubicBezTo>
                    <a:pt x="132442" y="396870"/>
                    <a:pt x="120550" y="420229"/>
                    <a:pt x="120550" y="449719"/>
                  </a:cubicBezTo>
                  <a:cubicBezTo>
                    <a:pt x="120550" y="468809"/>
                    <a:pt x="123892" y="485106"/>
                    <a:pt x="130732" y="498454"/>
                  </a:cubicBezTo>
                  <a:cubicBezTo>
                    <a:pt x="137494" y="511802"/>
                    <a:pt x="146121" y="522667"/>
                    <a:pt x="156458" y="531048"/>
                  </a:cubicBezTo>
                  <a:cubicBezTo>
                    <a:pt x="166796" y="539430"/>
                    <a:pt x="179154" y="545716"/>
                    <a:pt x="193300" y="549906"/>
                  </a:cubicBezTo>
                  <a:cubicBezTo>
                    <a:pt x="207523" y="554097"/>
                    <a:pt x="224545" y="556192"/>
                    <a:pt x="244520" y="556192"/>
                  </a:cubicBezTo>
                  <a:cubicBezTo>
                    <a:pt x="261308" y="556192"/>
                    <a:pt x="277475" y="553787"/>
                    <a:pt x="293019" y="548975"/>
                  </a:cubicBezTo>
                  <a:cubicBezTo>
                    <a:pt x="308642" y="544164"/>
                    <a:pt x="323176" y="537955"/>
                    <a:pt x="336778" y="530117"/>
                  </a:cubicBezTo>
                  <a:cubicBezTo>
                    <a:pt x="350380" y="522357"/>
                    <a:pt x="362505" y="513587"/>
                    <a:pt x="373308" y="503809"/>
                  </a:cubicBezTo>
                  <a:cubicBezTo>
                    <a:pt x="384112" y="494031"/>
                    <a:pt x="393050" y="484175"/>
                    <a:pt x="400279" y="474164"/>
                  </a:cubicBezTo>
                  <a:lnTo>
                    <a:pt x="400279" y="382047"/>
                  </a:lnTo>
                  <a:close/>
                  <a:moveTo>
                    <a:pt x="400201" y="656690"/>
                  </a:moveTo>
                  <a:lnTo>
                    <a:pt x="400201" y="593287"/>
                  </a:lnTo>
                  <a:cubicBezTo>
                    <a:pt x="383801" y="608498"/>
                    <a:pt x="370277" y="619518"/>
                    <a:pt x="359474" y="626502"/>
                  </a:cubicBezTo>
                  <a:cubicBezTo>
                    <a:pt x="348670" y="633486"/>
                    <a:pt x="337555" y="640083"/>
                    <a:pt x="325897" y="646291"/>
                  </a:cubicBezTo>
                  <a:cubicBezTo>
                    <a:pt x="314316" y="652422"/>
                    <a:pt x="299626" y="658009"/>
                    <a:pt x="281905" y="663054"/>
                  </a:cubicBezTo>
                  <a:cubicBezTo>
                    <a:pt x="264106" y="668021"/>
                    <a:pt x="244675" y="670504"/>
                    <a:pt x="223534" y="670504"/>
                  </a:cubicBezTo>
                  <a:cubicBezTo>
                    <a:pt x="197574" y="670504"/>
                    <a:pt x="171304" y="666624"/>
                    <a:pt x="144722" y="658863"/>
                  </a:cubicBezTo>
                  <a:cubicBezTo>
                    <a:pt x="118140" y="651103"/>
                    <a:pt x="94201" y="638531"/>
                    <a:pt x="72827" y="621225"/>
                  </a:cubicBezTo>
                  <a:cubicBezTo>
                    <a:pt x="51453" y="603842"/>
                    <a:pt x="33965" y="581414"/>
                    <a:pt x="20364" y="553942"/>
                  </a:cubicBezTo>
                  <a:cubicBezTo>
                    <a:pt x="6762" y="526470"/>
                    <a:pt x="0" y="492945"/>
                    <a:pt x="0" y="453444"/>
                  </a:cubicBezTo>
                  <a:cubicBezTo>
                    <a:pt x="0" y="417591"/>
                    <a:pt x="6451" y="386549"/>
                    <a:pt x="19431" y="360473"/>
                  </a:cubicBezTo>
                  <a:cubicBezTo>
                    <a:pt x="32411" y="334321"/>
                    <a:pt x="50365" y="312747"/>
                    <a:pt x="73371" y="295596"/>
                  </a:cubicBezTo>
                  <a:cubicBezTo>
                    <a:pt x="96378" y="278445"/>
                    <a:pt x="123503" y="265796"/>
                    <a:pt x="154826" y="257570"/>
                  </a:cubicBezTo>
                  <a:cubicBezTo>
                    <a:pt x="186149" y="249421"/>
                    <a:pt x="220037" y="245308"/>
                    <a:pt x="256334" y="245308"/>
                  </a:cubicBezTo>
                  <a:cubicBezTo>
                    <a:pt x="290299" y="245308"/>
                    <a:pt x="318824" y="247636"/>
                    <a:pt x="341986" y="252215"/>
                  </a:cubicBezTo>
                  <a:cubicBezTo>
                    <a:pt x="365147" y="256794"/>
                    <a:pt x="384501" y="262692"/>
                    <a:pt x="400123" y="269831"/>
                  </a:cubicBezTo>
                  <a:lnTo>
                    <a:pt x="400123" y="221949"/>
                  </a:lnTo>
                  <a:cubicBezTo>
                    <a:pt x="400123" y="186872"/>
                    <a:pt x="389786" y="159943"/>
                    <a:pt x="368956" y="141240"/>
                  </a:cubicBezTo>
                  <a:cubicBezTo>
                    <a:pt x="348203" y="122538"/>
                    <a:pt x="317969" y="113148"/>
                    <a:pt x="278485" y="113148"/>
                  </a:cubicBezTo>
                  <a:cubicBezTo>
                    <a:pt x="245297" y="113148"/>
                    <a:pt x="215373" y="116329"/>
                    <a:pt x="188636" y="122693"/>
                  </a:cubicBezTo>
                  <a:cubicBezTo>
                    <a:pt x="161899" y="129057"/>
                    <a:pt x="135939" y="139223"/>
                    <a:pt x="110757" y="153192"/>
                  </a:cubicBezTo>
                  <a:lnTo>
                    <a:pt x="61635" y="58048"/>
                  </a:lnTo>
                  <a:cubicBezTo>
                    <a:pt x="92414" y="38880"/>
                    <a:pt x="125446" y="24445"/>
                    <a:pt x="160733" y="14667"/>
                  </a:cubicBezTo>
                  <a:cubicBezTo>
                    <a:pt x="196098" y="4889"/>
                    <a:pt x="236514" y="0"/>
                    <a:pt x="282060" y="0"/>
                  </a:cubicBezTo>
                  <a:cubicBezTo>
                    <a:pt x="317969" y="0"/>
                    <a:pt x="350846" y="4423"/>
                    <a:pt x="380614" y="13193"/>
                  </a:cubicBezTo>
                  <a:cubicBezTo>
                    <a:pt x="410383" y="21962"/>
                    <a:pt x="435798" y="35310"/>
                    <a:pt x="457017" y="53314"/>
                  </a:cubicBezTo>
                  <a:cubicBezTo>
                    <a:pt x="478158" y="71241"/>
                    <a:pt x="494635" y="93746"/>
                    <a:pt x="506450" y="120908"/>
                  </a:cubicBezTo>
                  <a:cubicBezTo>
                    <a:pt x="518264" y="148070"/>
                    <a:pt x="524093" y="179732"/>
                    <a:pt x="524093" y="216051"/>
                  </a:cubicBezTo>
                  <a:lnTo>
                    <a:pt x="524093" y="656923"/>
                  </a:lnTo>
                  <a:lnTo>
                    <a:pt x="400123" y="656923"/>
                  </a:lnTo>
                  <a:close/>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22" name="Freeform 13">
              <a:extLst>
                <a:ext uri="{FF2B5EF4-FFF2-40B4-BE49-F238E27FC236}">
                  <a16:creationId xmlns:a16="http://schemas.microsoft.com/office/drawing/2014/main" id="{2957BA87-BED2-11FD-F718-DE3264BBE064}"/>
                </a:ext>
              </a:extLst>
            </p:cNvPr>
            <p:cNvSpPr/>
            <p:nvPr/>
          </p:nvSpPr>
          <p:spPr bwMode="invGray">
            <a:xfrm>
              <a:off x="5089745" y="3191596"/>
              <a:ext cx="382790" cy="656767"/>
            </a:xfrm>
            <a:custGeom>
              <a:avLst/>
              <a:gdLst>
                <a:gd name="connsiteX0" fmla="*/ 349369 w 382790"/>
                <a:gd name="connsiteY0" fmla="*/ 147216 h 656767"/>
                <a:gd name="connsiteX1" fmla="*/ 306543 w 382790"/>
                <a:gd name="connsiteY1" fmla="*/ 129833 h 656767"/>
                <a:gd name="connsiteX2" fmla="*/ 252914 w 382790"/>
                <a:gd name="connsiteY2" fmla="*/ 123857 h 656767"/>
                <a:gd name="connsiteX3" fmla="*/ 159412 w 382790"/>
                <a:gd name="connsiteY3" fmla="*/ 165375 h 656767"/>
                <a:gd name="connsiteX4" fmla="*/ 126457 w 382790"/>
                <a:gd name="connsiteY4" fmla="*/ 289465 h 656767"/>
                <a:gd name="connsiteX5" fmla="*/ 126457 w 382790"/>
                <a:gd name="connsiteY5" fmla="*/ 656768 h 656767"/>
                <a:gd name="connsiteX6" fmla="*/ 0 w 382790"/>
                <a:gd name="connsiteY6" fmla="*/ 656768 h 656767"/>
                <a:gd name="connsiteX7" fmla="*/ 0 w 382790"/>
                <a:gd name="connsiteY7" fmla="*/ 13736 h 656767"/>
                <a:gd name="connsiteX8" fmla="*/ 126457 w 382790"/>
                <a:gd name="connsiteY8" fmla="*/ 13736 h 656767"/>
                <a:gd name="connsiteX9" fmla="*/ 126457 w 382790"/>
                <a:gd name="connsiteY9" fmla="*/ 74733 h 656767"/>
                <a:gd name="connsiteX10" fmla="*/ 152805 w 382790"/>
                <a:gd name="connsiteY10" fmla="*/ 45088 h 656767"/>
                <a:gd name="connsiteX11" fmla="*/ 187237 w 382790"/>
                <a:gd name="connsiteY11" fmla="*/ 21497 h 656767"/>
                <a:gd name="connsiteX12" fmla="*/ 227654 w 382790"/>
                <a:gd name="connsiteY12" fmla="*/ 5665 h 656767"/>
                <a:gd name="connsiteX13" fmla="*/ 273200 w 382790"/>
                <a:gd name="connsiteY13" fmla="*/ 0 h 656767"/>
                <a:gd name="connsiteX14" fmla="*/ 337866 w 382790"/>
                <a:gd name="connsiteY14" fmla="*/ 7217 h 656767"/>
                <a:gd name="connsiteX15" fmla="*/ 382791 w 382790"/>
                <a:gd name="connsiteY15" fmla="*/ 26929 h 656767"/>
                <a:gd name="connsiteX16" fmla="*/ 349214 w 382790"/>
                <a:gd name="connsiteY16" fmla="*/ 147138 h 656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2790" h="656767">
                  <a:moveTo>
                    <a:pt x="349369" y="147216"/>
                  </a:moveTo>
                  <a:cubicBezTo>
                    <a:pt x="335768" y="139611"/>
                    <a:pt x="321467" y="133868"/>
                    <a:pt x="306543" y="129833"/>
                  </a:cubicBezTo>
                  <a:cubicBezTo>
                    <a:pt x="291543" y="125875"/>
                    <a:pt x="273666" y="123857"/>
                    <a:pt x="252914" y="123857"/>
                  </a:cubicBezTo>
                  <a:cubicBezTo>
                    <a:pt x="212575" y="123857"/>
                    <a:pt x="181408" y="137671"/>
                    <a:pt x="159412" y="165375"/>
                  </a:cubicBezTo>
                  <a:cubicBezTo>
                    <a:pt x="137416" y="193158"/>
                    <a:pt x="126457" y="234443"/>
                    <a:pt x="126457" y="289465"/>
                  </a:cubicBezTo>
                  <a:lnTo>
                    <a:pt x="126457" y="656768"/>
                  </a:lnTo>
                  <a:lnTo>
                    <a:pt x="0" y="656768"/>
                  </a:lnTo>
                  <a:lnTo>
                    <a:pt x="0" y="13736"/>
                  </a:lnTo>
                  <a:lnTo>
                    <a:pt x="126457" y="13736"/>
                  </a:lnTo>
                  <a:lnTo>
                    <a:pt x="126457" y="74733"/>
                  </a:lnTo>
                  <a:cubicBezTo>
                    <a:pt x="133608" y="63946"/>
                    <a:pt x="142390" y="54090"/>
                    <a:pt x="152805" y="45088"/>
                  </a:cubicBezTo>
                  <a:cubicBezTo>
                    <a:pt x="163220" y="36164"/>
                    <a:pt x="174646" y="28248"/>
                    <a:pt x="187237" y="21497"/>
                  </a:cubicBezTo>
                  <a:cubicBezTo>
                    <a:pt x="199828" y="14745"/>
                    <a:pt x="213275" y="9468"/>
                    <a:pt x="227654" y="5665"/>
                  </a:cubicBezTo>
                  <a:cubicBezTo>
                    <a:pt x="242032" y="1863"/>
                    <a:pt x="257189" y="0"/>
                    <a:pt x="273200" y="0"/>
                  </a:cubicBezTo>
                  <a:cubicBezTo>
                    <a:pt x="299160" y="0"/>
                    <a:pt x="320689" y="2406"/>
                    <a:pt x="337866" y="7217"/>
                  </a:cubicBezTo>
                  <a:cubicBezTo>
                    <a:pt x="355043" y="12029"/>
                    <a:pt x="370044" y="18547"/>
                    <a:pt x="382791" y="26929"/>
                  </a:cubicBezTo>
                  <a:lnTo>
                    <a:pt x="349214" y="147138"/>
                  </a:lnTo>
                  <a:close/>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23" name="Freeform 14">
              <a:extLst>
                <a:ext uri="{FF2B5EF4-FFF2-40B4-BE49-F238E27FC236}">
                  <a16:creationId xmlns:a16="http://schemas.microsoft.com/office/drawing/2014/main" id="{5F84949A-7A71-A190-B72D-2BF537C8A4F2}"/>
                </a:ext>
              </a:extLst>
            </p:cNvPr>
            <p:cNvSpPr/>
            <p:nvPr/>
          </p:nvSpPr>
          <p:spPr bwMode="invGray">
            <a:xfrm>
              <a:off x="5546296" y="2955446"/>
              <a:ext cx="375018" cy="906809"/>
            </a:xfrm>
            <a:custGeom>
              <a:avLst/>
              <a:gdLst>
                <a:gd name="connsiteX0" fmla="*/ 360639 w 375018"/>
                <a:gd name="connsiteY0" fmla="*/ 876854 h 906809"/>
                <a:gd name="connsiteX1" fmla="*/ 305844 w 375018"/>
                <a:gd name="connsiteY1" fmla="*/ 898428 h 906809"/>
                <a:gd name="connsiteX2" fmla="*/ 236669 w 375018"/>
                <a:gd name="connsiteY2" fmla="*/ 906810 h 906809"/>
                <a:gd name="connsiteX3" fmla="*/ 178843 w 375018"/>
                <a:gd name="connsiteY3" fmla="*/ 897575 h 906809"/>
                <a:gd name="connsiteX4" fmla="*/ 133608 w 375018"/>
                <a:gd name="connsiteY4" fmla="*/ 868240 h 906809"/>
                <a:gd name="connsiteX5" fmla="*/ 102440 w 375018"/>
                <a:gd name="connsiteY5" fmla="*/ 815625 h 906809"/>
                <a:gd name="connsiteX6" fmla="*/ 91636 w 375018"/>
                <a:gd name="connsiteY6" fmla="*/ 736390 h 906809"/>
                <a:gd name="connsiteX7" fmla="*/ 91636 w 375018"/>
                <a:gd name="connsiteY7" fmla="*/ 364897 h 906809"/>
                <a:gd name="connsiteX8" fmla="*/ 0 w 375018"/>
                <a:gd name="connsiteY8" fmla="*/ 364897 h 906809"/>
                <a:gd name="connsiteX9" fmla="*/ 0 w 375018"/>
                <a:gd name="connsiteY9" fmla="*/ 250042 h 906809"/>
                <a:gd name="connsiteX10" fmla="*/ 91636 w 375018"/>
                <a:gd name="connsiteY10" fmla="*/ 250042 h 906809"/>
                <a:gd name="connsiteX11" fmla="*/ 91636 w 375018"/>
                <a:gd name="connsiteY11" fmla="*/ 66430 h 906809"/>
                <a:gd name="connsiteX12" fmla="*/ 215606 w 375018"/>
                <a:gd name="connsiteY12" fmla="*/ 0 h 906809"/>
                <a:gd name="connsiteX13" fmla="*/ 215606 w 375018"/>
                <a:gd name="connsiteY13" fmla="*/ 250042 h 906809"/>
                <a:gd name="connsiteX14" fmla="*/ 375018 w 375018"/>
                <a:gd name="connsiteY14" fmla="*/ 250042 h 906809"/>
                <a:gd name="connsiteX15" fmla="*/ 375018 w 375018"/>
                <a:gd name="connsiteY15" fmla="*/ 364897 h 906809"/>
                <a:gd name="connsiteX16" fmla="*/ 215606 w 375018"/>
                <a:gd name="connsiteY16" fmla="*/ 364897 h 906809"/>
                <a:gd name="connsiteX17" fmla="*/ 215606 w 375018"/>
                <a:gd name="connsiteY17" fmla="*/ 714195 h 906809"/>
                <a:gd name="connsiteX18" fmla="*/ 219493 w 375018"/>
                <a:gd name="connsiteY18" fmla="*/ 751601 h 906809"/>
                <a:gd name="connsiteX19" fmla="*/ 231462 w 375018"/>
                <a:gd name="connsiteY19" fmla="*/ 775192 h 906809"/>
                <a:gd name="connsiteX20" fmla="*/ 252137 w 375018"/>
                <a:gd name="connsiteY20" fmla="*/ 787764 h 906809"/>
                <a:gd name="connsiteX21" fmla="*/ 282060 w 375018"/>
                <a:gd name="connsiteY21" fmla="*/ 791412 h 906809"/>
                <a:gd name="connsiteX22" fmla="*/ 332115 w 375018"/>
                <a:gd name="connsiteY22" fmla="*/ 783651 h 906809"/>
                <a:gd name="connsiteX23" fmla="*/ 374941 w 375018"/>
                <a:gd name="connsiteY23" fmla="*/ 765725 h 906809"/>
                <a:gd name="connsiteX24" fmla="*/ 360561 w 375018"/>
                <a:gd name="connsiteY24" fmla="*/ 877010 h 90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5018" h="906809">
                  <a:moveTo>
                    <a:pt x="360639" y="876854"/>
                  </a:moveTo>
                  <a:cubicBezTo>
                    <a:pt x="345094" y="885624"/>
                    <a:pt x="326752" y="892841"/>
                    <a:pt x="305844" y="898428"/>
                  </a:cubicBezTo>
                  <a:cubicBezTo>
                    <a:pt x="284858" y="904016"/>
                    <a:pt x="261774" y="906810"/>
                    <a:pt x="236669" y="906810"/>
                  </a:cubicBezTo>
                  <a:cubicBezTo>
                    <a:pt x="214674" y="906810"/>
                    <a:pt x="195398" y="903706"/>
                    <a:pt x="178843" y="897575"/>
                  </a:cubicBezTo>
                  <a:cubicBezTo>
                    <a:pt x="162288" y="891366"/>
                    <a:pt x="147209" y="881588"/>
                    <a:pt x="133608" y="868240"/>
                  </a:cubicBezTo>
                  <a:cubicBezTo>
                    <a:pt x="120006" y="854892"/>
                    <a:pt x="109668" y="837354"/>
                    <a:pt x="102440" y="815625"/>
                  </a:cubicBezTo>
                  <a:cubicBezTo>
                    <a:pt x="95212" y="793895"/>
                    <a:pt x="91636" y="767432"/>
                    <a:pt x="91636" y="736390"/>
                  </a:cubicBezTo>
                  <a:lnTo>
                    <a:pt x="91636" y="364897"/>
                  </a:lnTo>
                  <a:lnTo>
                    <a:pt x="0" y="364897"/>
                  </a:lnTo>
                  <a:lnTo>
                    <a:pt x="0" y="250042"/>
                  </a:lnTo>
                  <a:lnTo>
                    <a:pt x="91636" y="250042"/>
                  </a:lnTo>
                  <a:lnTo>
                    <a:pt x="91636" y="66430"/>
                  </a:lnTo>
                  <a:lnTo>
                    <a:pt x="215606" y="0"/>
                  </a:lnTo>
                  <a:lnTo>
                    <a:pt x="215606" y="250042"/>
                  </a:lnTo>
                  <a:lnTo>
                    <a:pt x="375018" y="250042"/>
                  </a:lnTo>
                  <a:lnTo>
                    <a:pt x="375018" y="364897"/>
                  </a:lnTo>
                  <a:lnTo>
                    <a:pt x="215606" y="364897"/>
                  </a:lnTo>
                  <a:lnTo>
                    <a:pt x="215606" y="714195"/>
                  </a:lnTo>
                  <a:cubicBezTo>
                    <a:pt x="215606" y="729328"/>
                    <a:pt x="216927" y="741822"/>
                    <a:pt x="219493" y="751601"/>
                  </a:cubicBezTo>
                  <a:cubicBezTo>
                    <a:pt x="222058" y="761379"/>
                    <a:pt x="226099" y="769217"/>
                    <a:pt x="231462" y="775192"/>
                  </a:cubicBezTo>
                  <a:cubicBezTo>
                    <a:pt x="236825" y="781168"/>
                    <a:pt x="243742" y="785359"/>
                    <a:pt x="252137" y="787764"/>
                  </a:cubicBezTo>
                  <a:cubicBezTo>
                    <a:pt x="260531" y="790170"/>
                    <a:pt x="270479" y="791412"/>
                    <a:pt x="282060" y="791412"/>
                  </a:cubicBezTo>
                  <a:cubicBezTo>
                    <a:pt x="298460" y="791412"/>
                    <a:pt x="315093" y="788851"/>
                    <a:pt x="332115" y="783651"/>
                  </a:cubicBezTo>
                  <a:cubicBezTo>
                    <a:pt x="349058" y="778452"/>
                    <a:pt x="363360" y="772476"/>
                    <a:pt x="374941" y="765725"/>
                  </a:cubicBezTo>
                  <a:lnTo>
                    <a:pt x="360561" y="877010"/>
                  </a:lnTo>
                  <a:close/>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24" name="Freeform 15">
              <a:extLst>
                <a:ext uri="{FF2B5EF4-FFF2-40B4-BE49-F238E27FC236}">
                  <a16:creationId xmlns:a16="http://schemas.microsoft.com/office/drawing/2014/main" id="{BC563FF2-253A-ABB9-CABB-8635B66144A9}"/>
                </a:ext>
              </a:extLst>
            </p:cNvPr>
            <p:cNvSpPr/>
            <p:nvPr/>
          </p:nvSpPr>
          <p:spPr bwMode="invGray">
            <a:xfrm>
              <a:off x="6038988" y="2955368"/>
              <a:ext cx="517642" cy="893073"/>
            </a:xfrm>
            <a:custGeom>
              <a:avLst/>
              <a:gdLst>
                <a:gd name="connsiteX0" fmla="*/ 391185 w 517642"/>
                <a:gd name="connsiteY0" fmla="*/ 893074 h 893073"/>
                <a:gd name="connsiteX1" fmla="*/ 391185 w 517642"/>
                <a:gd name="connsiteY1" fmla="*/ 529419 h 893073"/>
                <a:gd name="connsiteX2" fmla="*/ 359396 w 517642"/>
                <a:gd name="connsiteY2" fmla="*/ 396637 h 893073"/>
                <a:gd name="connsiteX3" fmla="*/ 258744 w 517642"/>
                <a:gd name="connsiteY3" fmla="*/ 352946 h 893073"/>
                <a:gd name="connsiteX4" fmla="*/ 204492 w 517642"/>
                <a:gd name="connsiteY4" fmla="*/ 362491 h 893073"/>
                <a:gd name="connsiteX5" fmla="*/ 161977 w 517642"/>
                <a:gd name="connsiteY5" fmla="*/ 394154 h 893073"/>
                <a:gd name="connsiteX6" fmla="*/ 135318 w 517642"/>
                <a:gd name="connsiteY6" fmla="*/ 446227 h 893073"/>
                <a:gd name="connsiteX7" fmla="*/ 126379 w 517642"/>
                <a:gd name="connsiteY7" fmla="*/ 516847 h 893073"/>
                <a:gd name="connsiteX8" fmla="*/ 126379 w 517642"/>
                <a:gd name="connsiteY8" fmla="*/ 893074 h 893073"/>
                <a:gd name="connsiteX9" fmla="*/ 0 w 517642"/>
                <a:gd name="connsiteY9" fmla="*/ 893074 h 893073"/>
                <a:gd name="connsiteX10" fmla="*/ 0 w 517642"/>
                <a:gd name="connsiteY10" fmla="*/ 66430 h 893073"/>
                <a:gd name="connsiteX11" fmla="*/ 126379 w 517642"/>
                <a:gd name="connsiteY11" fmla="*/ 0 h 893073"/>
                <a:gd name="connsiteX12" fmla="*/ 126379 w 517642"/>
                <a:gd name="connsiteY12" fmla="*/ 311039 h 893073"/>
                <a:gd name="connsiteX13" fmla="*/ 155759 w 517642"/>
                <a:gd name="connsiteY13" fmla="*/ 279687 h 893073"/>
                <a:gd name="connsiteX14" fmla="*/ 194155 w 517642"/>
                <a:gd name="connsiteY14" fmla="*/ 256095 h 893073"/>
                <a:gd name="connsiteX15" fmla="*/ 239079 w 517642"/>
                <a:gd name="connsiteY15" fmla="*/ 241428 h 893073"/>
                <a:gd name="connsiteX16" fmla="*/ 288201 w 517642"/>
                <a:gd name="connsiteY16" fmla="*/ 236306 h 893073"/>
                <a:gd name="connsiteX17" fmla="*/ 388853 w 517642"/>
                <a:gd name="connsiteY17" fmla="*/ 254854 h 893073"/>
                <a:gd name="connsiteX18" fmla="*/ 460437 w 517642"/>
                <a:gd name="connsiteY18" fmla="*/ 309565 h 893073"/>
                <a:gd name="connsiteX19" fmla="*/ 503574 w 517642"/>
                <a:gd name="connsiteY19" fmla="*/ 401682 h 893073"/>
                <a:gd name="connsiteX20" fmla="*/ 517642 w 517642"/>
                <a:gd name="connsiteY20" fmla="*/ 524607 h 893073"/>
                <a:gd name="connsiteX21" fmla="*/ 517642 w 517642"/>
                <a:gd name="connsiteY21" fmla="*/ 893074 h 893073"/>
                <a:gd name="connsiteX22" fmla="*/ 391263 w 517642"/>
                <a:gd name="connsiteY22" fmla="*/ 893074 h 893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17642" h="893073">
                  <a:moveTo>
                    <a:pt x="391185" y="893074"/>
                  </a:moveTo>
                  <a:lnTo>
                    <a:pt x="391185" y="529419"/>
                  </a:lnTo>
                  <a:cubicBezTo>
                    <a:pt x="391185" y="469974"/>
                    <a:pt x="380615" y="425739"/>
                    <a:pt x="359396" y="396637"/>
                  </a:cubicBezTo>
                  <a:cubicBezTo>
                    <a:pt x="338255" y="367535"/>
                    <a:pt x="304678" y="352946"/>
                    <a:pt x="258744" y="352946"/>
                  </a:cubicBezTo>
                  <a:cubicBezTo>
                    <a:pt x="239157" y="352946"/>
                    <a:pt x="221125" y="356128"/>
                    <a:pt x="204492" y="362491"/>
                  </a:cubicBezTo>
                  <a:cubicBezTo>
                    <a:pt x="187937" y="368855"/>
                    <a:pt x="173713" y="379409"/>
                    <a:pt x="161977" y="394154"/>
                  </a:cubicBezTo>
                  <a:cubicBezTo>
                    <a:pt x="150163" y="408899"/>
                    <a:pt x="141303" y="426282"/>
                    <a:pt x="135318" y="446227"/>
                  </a:cubicBezTo>
                  <a:cubicBezTo>
                    <a:pt x="129333" y="466171"/>
                    <a:pt x="126379" y="489685"/>
                    <a:pt x="126379" y="516847"/>
                  </a:cubicBezTo>
                  <a:lnTo>
                    <a:pt x="126379" y="893074"/>
                  </a:lnTo>
                  <a:lnTo>
                    <a:pt x="0" y="893074"/>
                  </a:lnTo>
                  <a:lnTo>
                    <a:pt x="0" y="66430"/>
                  </a:lnTo>
                  <a:lnTo>
                    <a:pt x="126379" y="0"/>
                  </a:lnTo>
                  <a:lnTo>
                    <a:pt x="126379" y="311039"/>
                  </a:lnTo>
                  <a:cubicBezTo>
                    <a:pt x="134385" y="299476"/>
                    <a:pt x="144178" y="289000"/>
                    <a:pt x="155759" y="279687"/>
                  </a:cubicBezTo>
                  <a:cubicBezTo>
                    <a:pt x="167340" y="270297"/>
                    <a:pt x="180087" y="262459"/>
                    <a:pt x="194155" y="256095"/>
                  </a:cubicBezTo>
                  <a:cubicBezTo>
                    <a:pt x="208067" y="249732"/>
                    <a:pt x="223068" y="244843"/>
                    <a:pt x="239079" y="241428"/>
                  </a:cubicBezTo>
                  <a:cubicBezTo>
                    <a:pt x="255012" y="238013"/>
                    <a:pt x="271413" y="236306"/>
                    <a:pt x="288201" y="236306"/>
                  </a:cubicBezTo>
                  <a:cubicBezTo>
                    <a:pt x="326907" y="236306"/>
                    <a:pt x="360484" y="242514"/>
                    <a:pt x="388853" y="254854"/>
                  </a:cubicBezTo>
                  <a:cubicBezTo>
                    <a:pt x="417223" y="267193"/>
                    <a:pt x="441084" y="285430"/>
                    <a:pt x="460437" y="309565"/>
                  </a:cubicBezTo>
                  <a:cubicBezTo>
                    <a:pt x="479791" y="333700"/>
                    <a:pt x="494169" y="364431"/>
                    <a:pt x="503574" y="401682"/>
                  </a:cubicBezTo>
                  <a:cubicBezTo>
                    <a:pt x="512978" y="439009"/>
                    <a:pt x="517642" y="479985"/>
                    <a:pt x="517642" y="524607"/>
                  </a:cubicBezTo>
                  <a:lnTo>
                    <a:pt x="517642" y="893074"/>
                  </a:lnTo>
                  <a:lnTo>
                    <a:pt x="391263" y="893074"/>
                  </a:lnTo>
                  <a:close/>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25" name="Freeform 16">
              <a:extLst>
                <a:ext uri="{FF2B5EF4-FFF2-40B4-BE49-F238E27FC236}">
                  <a16:creationId xmlns:a16="http://schemas.microsoft.com/office/drawing/2014/main" id="{EA5C943C-FEED-933C-7CB4-A86EFE32B1AB}"/>
                </a:ext>
              </a:extLst>
            </p:cNvPr>
            <p:cNvSpPr/>
            <p:nvPr/>
          </p:nvSpPr>
          <p:spPr bwMode="invGray">
            <a:xfrm>
              <a:off x="6650598" y="3191674"/>
              <a:ext cx="553550" cy="670581"/>
            </a:xfrm>
            <a:custGeom>
              <a:avLst/>
              <a:gdLst>
                <a:gd name="connsiteX0" fmla="*/ 425850 w 553550"/>
                <a:gd name="connsiteY0" fmla="*/ 275729 h 670581"/>
                <a:gd name="connsiteX1" fmla="*/ 414192 w 553550"/>
                <a:gd name="connsiteY1" fmla="*/ 213568 h 670581"/>
                <a:gd name="connsiteX2" fmla="*/ 386600 w 553550"/>
                <a:gd name="connsiteY2" fmla="*/ 162116 h 670581"/>
                <a:gd name="connsiteX3" fmla="*/ 340509 w 553550"/>
                <a:gd name="connsiteY3" fmla="*/ 127116 h 670581"/>
                <a:gd name="connsiteX4" fmla="*/ 273666 w 553550"/>
                <a:gd name="connsiteY4" fmla="*/ 114234 h 670581"/>
                <a:gd name="connsiteX5" fmla="*/ 214907 w 553550"/>
                <a:gd name="connsiteY5" fmla="*/ 125331 h 670581"/>
                <a:gd name="connsiteX6" fmla="*/ 171770 w 553550"/>
                <a:gd name="connsiteY6" fmla="*/ 156761 h 670581"/>
                <a:gd name="connsiteX7" fmla="*/ 142080 w 553550"/>
                <a:gd name="connsiteY7" fmla="*/ 206739 h 670581"/>
                <a:gd name="connsiteX8" fmla="*/ 126224 w 553550"/>
                <a:gd name="connsiteY8" fmla="*/ 275807 h 670581"/>
                <a:gd name="connsiteX9" fmla="*/ 425772 w 553550"/>
                <a:gd name="connsiteY9" fmla="*/ 275807 h 670581"/>
                <a:gd name="connsiteX10" fmla="*/ 553473 w 553550"/>
                <a:gd name="connsiteY10" fmla="*/ 322447 h 670581"/>
                <a:gd name="connsiteX11" fmla="*/ 552229 w 553550"/>
                <a:gd name="connsiteY11" fmla="*/ 354731 h 670581"/>
                <a:gd name="connsiteX12" fmla="*/ 549820 w 553550"/>
                <a:gd name="connsiteY12" fmla="*/ 379797 h 670581"/>
                <a:gd name="connsiteX13" fmla="*/ 123892 w 553550"/>
                <a:gd name="connsiteY13" fmla="*/ 379797 h 670581"/>
                <a:gd name="connsiteX14" fmla="*/ 144256 w 553550"/>
                <a:gd name="connsiteY14" fmla="*/ 459652 h 670581"/>
                <a:gd name="connsiteX15" fmla="*/ 180786 w 553550"/>
                <a:gd name="connsiteY15" fmla="*/ 514363 h 670581"/>
                <a:gd name="connsiteX16" fmla="*/ 229675 w 553550"/>
                <a:gd name="connsiteY16" fmla="*/ 546104 h 670581"/>
                <a:gd name="connsiteX17" fmla="*/ 286258 w 553550"/>
                <a:gd name="connsiteY17" fmla="*/ 556270 h 670581"/>
                <a:gd name="connsiteX18" fmla="*/ 325819 w 553550"/>
                <a:gd name="connsiteY18" fmla="*/ 552700 h 670581"/>
                <a:gd name="connsiteX19" fmla="*/ 361494 w 553550"/>
                <a:gd name="connsiteY19" fmla="*/ 541913 h 670581"/>
                <a:gd name="connsiteX20" fmla="*/ 391807 w 553550"/>
                <a:gd name="connsiteY20" fmla="*/ 527246 h 670581"/>
                <a:gd name="connsiteX21" fmla="*/ 425928 w 553550"/>
                <a:gd name="connsiteY21" fmla="*/ 504818 h 670581"/>
                <a:gd name="connsiteX22" fmla="*/ 500853 w 553550"/>
                <a:gd name="connsiteY22" fmla="*/ 585604 h 670581"/>
                <a:gd name="connsiteX23" fmla="*/ 454997 w 553550"/>
                <a:gd name="connsiteY23" fmla="*/ 622389 h 670581"/>
                <a:gd name="connsiteX24" fmla="*/ 407662 w 553550"/>
                <a:gd name="connsiteY24" fmla="*/ 647533 h 670581"/>
                <a:gd name="connsiteX25" fmla="*/ 349836 w 553550"/>
                <a:gd name="connsiteY25" fmla="*/ 664606 h 670581"/>
                <a:gd name="connsiteX26" fmla="*/ 278563 w 553550"/>
                <a:gd name="connsiteY26" fmla="*/ 670581 h 670581"/>
                <a:gd name="connsiteX27" fmla="*/ 200062 w 553550"/>
                <a:gd name="connsiteY27" fmla="*/ 658941 h 670581"/>
                <a:gd name="connsiteX28" fmla="*/ 135396 w 553550"/>
                <a:gd name="connsiteY28" fmla="*/ 628442 h 670581"/>
                <a:gd name="connsiteX29" fmla="*/ 84797 w 553550"/>
                <a:gd name="connsiteY29" fmla="*/ 585372 h 670581"/>
                <a:gd name="connsiteX30" fmla="*/ 41971 w 553550"/>
                <a:gd name="connsiteY30" fmla="*/ 523133 h 670581"/>
                <a:gd name="connsiteX31" fmla="*/ 10804 w 553550"/>
                <a:gd name="connsiteY31" fmla="*/ 438233 h 670581"/>
                <a:gd name="connsiteX32" fmla="*/ 0 w 553550"/>
                <a:gd name="connsiteY32" fmla="*/ 335640 h 670581"/>
                <a:gd name="connsiteX33" fmla="*/ 20675 w 553550"/>
                <a:gd name="connsiteY33" fmla="*/ 191450 h 670581"/>
                <a:gd name="connsiteX34" fmla="*/ 78502 w 553550"/>
                <a:gd name="connsiteY34" fmla="*/ 86141 h 670581"/>
                <a:gd name="connsiteX35" fmla="*/ 167729 w 553550"/>
                <a:gd name="connsiteY35" fmla="*/ 21884 h 670581"/>
                <a:gd name="connsiteX36" fmla="*/ 282139 w 553550"/>
                <a:gd name="connsiteY36" fmla="*/ 0 h 670581"/>
                <a:gd name="connsiteX37" fmla="*/ 401989 w 553550"/>
                <a:gd name="connsiteY37" fmla="*/ 26075 h 670581"/>
                <a:gd name="connsiteX38" fmla="*/ 486475 w 553550"/>
                <a:gd name="connsiteY38" fmla="*/ 96074 h 670581"/>
                <a:gd name="connsiteX39" fmla="*/ 536762 w 553550"/>
                <a:gd name="connsiteY39" fmla="*/ 198668 h 670581"/>
                <a:gd name="connsiteX40" fmla="*/ 553551 w 553550"/>
                <a:gd name="connsiteY40" fmla="*/ 322447 h 670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53550" h="670581">
                  <a:moveTo>
                    <a:pt x="425850" y="275729"/>
                  </a:moveTo>
                  <a:cubicBezTo>
                    <a:pt x="424218" y="253767"/>
                    <a:pt x="420332" y="233047"/>
                    <a:pt x="414192" y="213568"/>
                  </a:cubicBezTo>
                  <a:cubicBezTo>
                    <a:pt x="407974" y="194012"/>
                    <a:pt x="398802" y="176861"/>
                    <a:pt x="386600" y="162116"/>
                  </a:cubicBezTo>
                  <a:cubicBezTo>
                    <a:pt x="374397" y="147371"/>
                    <a:pt x="359085" y="135730"/>
                    <a:pt x="340509" y="127116"/>
                  </a:cubicBezTo>
                  <a:cubicBezTo>
                    <a:pt x="321933" y="118580"/>
                    <a:pt x="299626" y="114234"/>
                    <a:pt x="273666" y="114234"/>
                  </a:cubicBezTo>
                  <a:cubicBezTo>
                    <a:pt x="251282" y="114234"/>
                    <a:pt x="231773" y="117959"/>
                    <a:pt x="214907" y="125331"/>
                  </a:cubicBezTo>
                  <a:cubicBezTo>
                    <a:pt x="198196" y="132704"/>
                    <a:pt x="183740" y="143180"/>
                    <a:pt x="171770" y="156761"/>
                  </a:cubicBezTo>
                  <a:cubicBezTo>
                    <a:pt x="159801" y="170342"/>
                    <a:pt x="149930" y="187027"/>
                    <a:pt x="142080" y="206739"/>
                  </a:cubicBezTo>
                  <a:cubicBezTo>
                    <a:pt x="134307" y="226528"/>
                    <a:pt x="129022" y="249499"/>
                    <a:pt x="126224" y="275807"/>
                  </a:cubicBezTo>
                  <a:lnTo>
                    <a:pt x="425772" y="275807"/>
                  </a:lnTo>
                  <a:close/>
                  <a:moveTo>
                    <a:pt x="553473" y="322447"/>
                  </a:moveTo>
                  <a:cubicBezTo>
                    <a:pt x="553473" y="334010"/>
                    <a:pt x="553084" y="344797"/>
                    <a:pt x="552229" y="354731"/>
                  </a:cubicBezTo>
                  <a:cubicBezTo>
                    <a:pt x="551452" y="364742"/>
                    <a:pt x="550597" y="373045"/>
                    <a:pt x="549820" y="379797"/>
                  </a:cubicBezTo>
                  <a:lnTo>
                    <a:pt x="123892" y="379797"/>
                  </a:lnTo>
                  <a:cubicBezTo>
                    <a:pt x="127468" y="410916"/>
                    <a:pt x="134307" y="437535"/>
                    <a:pt x="144256" y="459652"/>
                  </a:cubicBezTo>
                  <a:cubicBezTo>
                    <a:pt x="154205" y="481769"/>
                    <a:pt x="166407" y="500006"/>
                    <a:pt x="180786" y="514363"/>
                  </a:cubicBezTo>
                  <a:cubicBezTo>
                    <a:pt x="195165" y="528720"/>
                    <a:pt x="211487" y="539274"/>
                    <a:pt x="229675" y="546104"/>
                  </a:cubicBezTo>
                  <a:cubicBezTo>
                    <a:pt x="247862" y="552933"/>
                    <a:pt x="266671" y="556270"/>
                    <a:pt x="286258" y="556270"/>
                  </a:cubicBezTo>
                  <a:cubicBezTo>
                    <a:pt x="300248" y="556270"/>
                    <a:pt x="313383" y="555106"/>
                    <a:pt x="325819" y="552700"/>
                  </a:cubicBezTo>
                  <a:cubicBezTo>
                    <a:pt x="338177" y="550294"/>
                    <a:pt x="350069" y="546724"/>
                    <a:pt x="361494" y="541913"/>
                  </a:cubicBezTo>
                  <a:cubicBezTo>
                    <a:pt x="372920" y="537101"/>
                    <a:pt x="382946" y="532290"/>
                    <a:pt x="391807" y="527246"/>
                  </a:cubicBezTo>
                  <a:cubicBezTo>
                    <a:pt x="400590" y="522279"/>
                    <a:pt x="411937" y="514751"/>
                    <a:pt x="425928" y="504818"/>
                  </a:cubicBezTo>
                  <a:lnTo>
                    <a:pt x="500853" y="585604"/>
                  </a:lnTo>
                  <a:cubicBezTo>
                    <a:pt x="484842" y="600737"/>
                    <a:pt x="469609" y="612999"/>
                    <a:pt x="454997" y="622389"/>
                  </a:cubicBezTo>
                  <a:cubicBezTo>
                    <a:pt x="440384" y="631779"/>
                    <a:pt x="424684" y="640160"/>
                    <a:pt x="407662" y="647533"/>
                  </a:cubicBezTo>
                  <a:cubicBezTo>
                    <a:pt x="390719" y="654905"/>
                    <a:pt x="371443" y="660570"/>
                    <a:pt x="349836" y="664606"/>
                  </a:cubicBezTo>
                  <a:cubicBezTo>
                    <a:pt x="328307" y="668564"/>
                    <a:pt x="304445" y="670581"/>
                    <a:pt x="278563" y="670581"/>
                  </a:cubicBezTo>
                  <a:cubicBezTo>
                    <a:pt x="250583" y="670581"/>
                    <a:pt x="224467" y="666701"/>
                    <a:pt x="200062" y="658941"/>
                  </a:cubicBezTo>
                  <a:cubicBezTo>
                    <a:pt x="175734" y="651180"/>
                    <a:pt x="154127" y="641014"/>
                    <a:pt x="135396" y="628442"/>
                  </a:cubicBezTo>
                  <a:cubicBezTo>
                    <a:pt x="116586" y="615870"/>
                    <a:pt x="99720" y="601513"/>
                    <a:pt x="84797" y="585372"/>
                  </a:cubicBezTo>
                  <a:cubicBezTo>
                    <a:pt x="69796" y="569230"/>
                    <a:pt x="55573" y="548509"/>
                    <a:pt x="41971" y="523133"/>
                  </a:cubicBezTo>
                  <a:cubicBezTo>
                    <a:pt x="28369" y="497834"/>
                    <a:pt x="18032" y="469508"/>
                    <a:pt x="10804" y="438233"/>
                  </a:cubicBezTo>
                  <a:cubicBezTo>
                    <a:pt x="3575" y="406959"/>
                    <a:pt x="0" y="372735"/>
                    <a:pt x="0" y="335640"/>
                  </a:cubicBezTo>
                  <a:cubicBezTo>
                    <a:pt x="0" y="281394"/>
                    <a:pt x="6918" y="233357"/>
                    <a:pt x="20675" y="191450"/>
                  </a:cubicBezTo>
                  <a:cubicBezTo>
                    <a:pt x="34432" y="149622"/>
                    <a:pt x="53708" y="114467"/>
                    <a:pt x="78502" y="86141"/>
                  </a:cubicBezTo>
                  <a:cubicBezTo>
                    <a:pt x="103296" y="57815"/>
                    <a:pt x="132986" y="36396"/>
                    <a:pt x="167729" y="21884"/>
                  </a:cubicBezTo>
                  <a:cubicBezTo>
                    <a:pt x="202549" y="7295"/>
                    <a:pt x="240634" y="0"/>
                    <a:pt x="282139" y="0"/>
                  </a:cubicBezTo>
                  <a:cubicBezTo>
                    <a:pt x="328073" y="0"/>
                    <a:pt x="368023" y="8692"/>
                    <a:pt x="401989" y="26075"/>
                  </a:cubicBezTo>
                  <a:cubicBezTo>
                    <a:pt x="435954" y="43381"/>
                    <a:pt x="464090" y="66740"/>
                    <a:pt x="486475" y="96074"/>
                  </a:cubicBezTo>
                  <a:cubicBezTo>
                    <a:pt x="508859" y="125409"/>
                    <a:pt x="525570" y="159633"/>
                    <a:pt x="536762" y="198668"/>
                  </a:cubicBezTo>
                  <a:cubicBezTo>
                    <a:pt x="547954" y="237780"/>
                    <a:pt x="553551" y="278988"/>
                    <a:pt x="553551" y="322447"/>
                  </a:cubicBezTo>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26" name="Freeform 17">
              <a:extLst>
                <a:ext uri="{FF2B5EF4-FFF2-40B4-BE49-F238E27FC236}">
                  <a16:creationId xmlns:a16="http://schemas.microsoft.com/office/drawing/2014/main" id="{62F37186-8209-5E2D-C0DB-BC726D36C0E6}"/>
                </a:ext>
              </a:extLst>
            </p:cNvPr>
            <p:cNvSpPr/>
            <p:nvPr/>
          </p:nvSpPr>
          <p:spPr bwMode="invGray">
            <a:xfrm>
              <a:off x="7297884" y="3191752"/>
              <a:ext cx="517719" cy="656845"/>
            </a:xfrm>
            <a:custGeom>
              <a:avLst/>
              <a:gdLst>
                <a:gd name="connsiteX0" fmla="*/ 391262 w 517719"/>
                <a:gd name="connsiteY0" fmla="*/ 656690 h 656845"/>
                <a:gd name="connsiteX1" fmla="*/ 391262 w 517719"/>
                <a:gd name="connsiteY1" fmla="*/ 293035 h 656845"/>
                <a:gd name="connsiteX2" fmla="*/ 360095 w 517719"/>
                <a:gd name="connsiteY2" fmla="*/ 161107 h 656845"/>
                <a:gd name="connsiteX3" fmla="*/ 258821 w 517719"/>
                <a:gd name="connsiteY3" fmla="*/ 116562 h 656845"/>
                <a:gd name="connsiteX4" fmla="*/ 202471 w 517719"/>
                <a:gd name="connsiteY4" fmla="*/ 127349 h 656845"/>
                <a:gd name="connsiteX5" fmla="*/ 159334 w 517719"/>
                <a:gd name="connsiteY5" fmla="*/ 160874 h 656845"/>
                <a:gd name="connsiteX6" fmla="*/ 134152 w 517719"/>
                <a:gd name="connsiteY6" fmla="*/ 214421 h 656845"/>
                <a:gd name="connsiteX7" fmla="*/ 126379 w 517719"/>
                <a:gd name="connsiteY7" fmla="*/ 280541 h 656845"/>
                <a:gd name="connsiteX8" fmla="*/ 126379 w 517719"/>
                <a:gd name="connsiteY8" fmla="*/ 656768 h 656845"/>
                <a:gd name="connsiteX9" fmla="*/ 0 w 517719"/>
                <a:gd name="connsiteY9" fmla="*/ 656768 h 656845"/>
                <a:gd name="connsiteX10" fmla="*/ 0 w 517719"/>
                <a:gd name="connsiteY10" fmla="*/ 13736 h 656845"/>
                <a:gd name="connsiteX11" fmla="*/ 126379 w 517719"/>
                <a:gd name="connsiteY11" fmla="*/ 13736 h 656845"/>
                <a:gd name="connsiteX12" fmla="*/ 126379 w 517719"/>
                <a:gd name="connsiteY12" fmla="*/ 74733 h 656845"/>
                <a:gd name="connsiteX13" fmla="*/ 155759 w 517719"/>
                <a:gd name="connsiteY13" fmla="*/ 43381 h 656845"/>
                <a:gd name="connsiteX14" fmla="*/ 194154 w 517719"/>
                <a:gd name="connsiteY14" fmla="*/ 19789 h 656845"/>
                <a:gd name="connsiteX15" fmla="*/ 239079 w 517719"/>
                <a:gd name="connsiteY15" fmla="*/ 5122 h 656845"/>
                <a:gd name="connsiteX16" fmla="*/ 288201 w 517719"/>
                <a:gd name="connsiteY16" fmla="*/ 0 h 656845"/>
                <a:gd name="connsiteX17" fmla="*/ 389164 w 517719"/>
                <a:gd name="connsiteY17" fmla="*/ 18858 h 656845"/>
                <a:gd name="connsiteX18" fmla="*/ 460515 w 517719"/>
                <a:gd name="connsiteY18" fmla="*/ 73026 h 656845"/>
                <a:gd name="connsiteX19" fmla="*/ 503341 w 517719"/>
                <a:gd name="connsiteY19" fmla="*/ 162194 h 656845"/>
                <a:gd name="connsiteX20" fmla="*/ 517719 w 517719"/>
                <a:gd name="connsiteY20" fmla="*/ 288379 h 656845"/>
                <a:gd name="connsiteX21" fmla="*/ 517719 w 517719"/>
                <a:gd name="connsiteY21" fmla="*/ 656845 h 656845"/>
                <a:gd name="connsiteX22" fmla="*/ 391262 w 517719"/>
                <a:gd name="connsiteY22" fmla="*/ 656845 h 65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17719" h="656845">
                  <a:moveTo>
                    <a:pt x="391262" y="656690"/>
                  </a:moveTo>
                  <a:lnTo>
                    <a:pt x="391262" y="293035"/>
                  </a:lnTo>
                  <a:cubicBezTo>
                    <a:pt x="391262" y="234832"/>
                    <a:pt x="380925" y="190830"/>
                    <a:pt x="360095" y="161107"/>
                  </a:cubicBezTo>
                  <a:cubicBezTo>
                    <a:pt x="339343" y="131462"/>
                    <a:pt x="305611" y="116562"/>
                    <a:pt x="258821" y="116562"/>
                  </a:cubicBezTo>
                  <a:cubicBezTo>
                    <a:pt x="238457" y="116562"/>
                    <a:pt x="219648" y="120210"/>
                    <a:pt x="202471" y="127349"/>
                  </a:cubicBezTo>
                  <a:cubicBezTo>
                    <a:pt x="185294" y="134566"/>
                    <a:pt x="170915" y="145664"/>
                    <a:pt x="159334" y="160874"/>
                  </a:cubicBezTo>
                  <a:cubicBezTo>
                    <a:pt x="147753" y="176007"/>
                    <a:pt x="139359" y="193856"/>
                    <a:pt x="134152" y="214421"/>
                  </a:cubicBezTo>
                  <a:cubicBezTo>
                    <a:pt x="128944" y="234987"/>
                    <a:pt x="126379" y="257027"/>
                    <a:pt x="126379" y="280541"/>
                  </a:cubicBezTo>
                  <a:lnTo>
                    <a:pt x="126379" y="656768"/>
                  </a:lnTo>
                  <a:lnTo>
                    <a:pt x="0" y="656768"/>
                  </a:lnTo>
                  <a:lnTo>
                    <a:pt x="0" y="13736"/>
                  </a:lnTo>
                  <a:lnTo>
                    <a:pt x="126379" y="13736"/>
                  </a:lnTo>
                  <a:lnTo>
                    <a:pt x="126379" y="74733"/>
                  </a:lnTo>
                  <a:cubicBezTo>
                    <a:pt x="134385" y="63170"/>
                    <a:pt x="144178" y="52693"/>
                    <a:pt x="155759" y="43381"/>
                  </a:cubicBezTo>
                  <a:cubicBezTo>
                    <a:pt x="167340" y="33991"/>
                    <a:pt x="180086" y="26153"/>
                    <a:pt x="194154" y="19789"/>
                  </a:cubicBezTo>
                  <a:cubicBezTo>
                    <a:pt x="208067" y="13426"/>
                    <a:pt x="223068" y="8537"/>
                    <a:pt x="239079" y="5122"/>
                  </a:cubicBezTo>
                  <a:cubicBezTo>
                    <a:pt x="255090" y="1707"/>
                    <a:pt x="271412" y="0"/>
                    <a:pt x="288201" y="0"/>
                  </a:cubicBezTo>
                  <a:cubicBezTo>
                    <a:pt x="326907" y="0"/>
                    <a:pt x="360562" y="6286"/>
                    <a:pt x="389164" y="18858"/>
                  </a:cubicBezTo>
                  <a:cubicBezTo>
                    <a:pt x="417767" y="31430"/>
                    <a:pt x="441472" y="49434"/>
                    <a:pt x="460515" y="73026"/>
                  </a:cubicBezTo>
                  <a:cubicBezTo>
                    <a:pt x="479479" y="96540"/>
                    <a:pt x="493703" y="126263"/>
                    <a:pt x="503341" y="162194"/>
                  </a:cubicBezTo>
                  <a:cubicBezTo>
                    <a:pt x="512901" y="198125"/>
                    <a:pt x="517719" y="240186"/>
                    <a:pt x="517719" y="288379"/>
                  </a:cubicBezTo>
                  <a:lnTo>
                    <a:pt x="517719" y="656845"/>
                  </a:lnTo>
                  <a:lnTo>
                    <a:pt x="391262" y="656845"/>
                  </a:lnTo>
                  <a:close/>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2" name="Freeform 18">
              <a:extLst>
                <a:ext uri="{FF2B5EF4-FFF2-40B4-BE49-F238E27FC236}">
                  <a16:creationId xmlns:a16="http://schemas.microsoft.com/office/drawing/2014/main" id="{9BD69F44-BAB6-6A25-23E1-8C44F47E9548}"/>
                </a:ext>
              </a:extLst>
            </p:cNvPr>
            <p:cNvSpPr/>
            <p:nvPr/>
          </p:nvSpPr>
          <p:spPr bwMode="invGray">
            <a:xfrm>
              <a:off x="7909572" y="3191752"/>
              <a:ext cx="574457" cy="670503"/>
            </a:xfrm>
            <a:custGeom>
              <a:avLst/>
              <a:gdLst>
                <a:gd name="connsiteX0" fmla="*/ 446913 w 574457"/>
                <a:gd name="connsiteY0" fmla="*/ 335485 h 670503"/>
                <a:gd name="connsiteX1" fmla="*/ 435487 w 574457"/>
                <a:gd name="connsiteY1" fmla="*/ 246628 h 670503"/>
                <a:gd name="connsiteX2" fmla="*/ 402843 w 574457"/>
                <a:gd name="connsiteY2" fmla="*/ 178724 h 670503"/>
                <a:gd name="connsiteX3" fmla="*/ 351001 w 574457"/>
                <a:gd name="connsiteY3" fmla="*/ 135342 h 670503"/>
                <a:gd name="connsiteX4" fmla="*/ 282138 w 574457"/>
                <a:gd name="connsiteY4" fmla="*/ 120132 h 670503"/>
                <a:gd name="connsiteX5" fmla="*/ 217705 w 574457"/>
                <a:gd name="connsiteY5" fmla="*/ 135342 h 670503"/>
                <a:gd name="connsiteX6" fmla="*/ 169205 w 574457"/>
                <a:gd name="connsiteY6" fmla="*/ 178413 h 670503"/>
                <a:gd name="connsiteX7" fmla="*/ 138349 w 574457"/>
                <a:gd name="connsiteY7" fmla="*/ 245153 h 670503"/>
                <a:gd name="connsiteX8" fmla="*/ 127623 w 574457"/>
                <a:gd name="connsiteY8" fmla="*/ 331837 h 670503"/>
                <a:gd name="connsiteX9" fmla="*/ 139281 w 574457"/>
                <a:gd name="connsiteY9" fmla="*/ 425739 h 670503"/>
                <a:gd name="connsiteX10" fmla="*/ 172236 w 574457"/>
                <a:gd name="connsiteY10" fmla="*/ 493953 h 670503"/>
                <a:gd name="connsiteX11" fmla="*/ 223145 w 574457"/>
                <a:gd name="connsiteY11" fmla="*/ 535782 h 670503"/>
                <a:gd name="connsiteX12" fmla="*/ 288744 w 574457"/>
                <a:gd name="connsiteY12" fmla="*/ 550139 h 670503"/>
                <a:gd name="connsiteX13" fmla="*/ 353722 w 574457"/>
                <a:gd name="connsiteY13" fmla="*/ 533066 h 670503"/>
                <a:gd name="connsiteX14" fmla="*/ 403465 w 574457"/>
                <a:gd name="connsiteY14" fmla="*/ 486969 h 670503"/>
                <a:gd name="connsiteX15" fmla="*/ 435487 w 574457"/>
                <a:gd name="connsiteY15" fmla="*/ 418755 h 670503"/>
                <a:gd name="connsiteX16" fmla="*/ 446913 w 574457"/>
                <a:gd name="connsiteY16" fmla="*/ 335330 h 670503"/>
                <a:gd name="connsiteX17" fmla="*/ 574458 w 574457"/>
                <a:gd name="connsiteY17" fmla="*/ 331915 h 670503"/>
                <a:gd name="connsiteX18" fmla="*/ 552307 w 574457"/>
                <a:gd name="connsiteY18" fmla="*/ 474863 h 670503"/>
                <a:gd name="connsiteX19" fmla="*/ 491216 w 574457"/>
                <a:gd name="connsiteY19" fmla="*/ 581336 h 670503"/>
                <a:gd name="connsiteX20" fmla="*/ 398957 w 574457"/>
                <a:gd name="connsiteY20" fmla="*/ 647766 h 670503"/>
                <a:gd name="connsiteX21" fmla="*/ 283926 w 574457"/>
                <a:gd name="connsiteY21" fmla="*/ 670504 h 670503"/>
                <a:gd name="connsiteX22" fmla="*/ 170993 w 574457"/>
                <a:gd name="connsiteY22" fmla="*/ 646602 h 670503"/>
                <a:gd name="connsiteX23" fmla="*/ 81144 w 574457"/>
                <a:gd name="connsiteY23" fmla="*/ 578698 h 670503"/>
                <a:gd name="connsiteX24" fmla="*/ 21529 w 574457"/>
                <a:gd name="connsiteY24" fmla="*/ 472845 h 670503"/>
                <a:gd name="connsiteX25" fmla="*/ 0 w 574457"/>
                <a:gd name="connsiteY25" fmla="*/ 335562 h 670503"/>
                <a:gd name="connsiteX26" fmla="*/ 22151 w 574457"/>
                <a:gd name="connsiteY26" fmla="*/ 194400 h 670503"/>
                <a:gd name="connsiteX27" fmla="*/ 82931 w 574457"/>
                <a:gd name="connsiteY27" fmla="*/ 88857 h 670503"/>
                <a:gd name="connsiteX28" fmla="*/ 174024 w 574457"/>
                <a:gd name="connsiteY28" fmla="*/ 22738 h 670503"/>
                <a:gd name="connsiteX29" fmla="*/ 287579 w 574457"/>
                <a:gd name="connsiteY29" fmla="*/ 0 h 670503"/>
                <a:gd name="connsiteX30" fmla="*/ 401678 w 574457"/>
                <a:gd name="connsiteY30" fmla="*/ 23669 h 670503"/>
                <a:gd name="connsiteX31" fmla="*/ 492459 w 574457"/>
                <a:gd name="connsiteY31" fmla="*/ 90642 h 670503"/>
                <a:gd name="connsiteX32" fmla="*/ 552617 w 574457"/>
                <a:gd name="connsiteY32" fmla="*/ 195331 h 670503"/>
                <a:gd name="connsiteX33" fmla="*/ 574458 w 574457"/>
                <a:gd name="connsiteY33" fmla="*/ 331993 h 67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74457" h="670503">
                  <a:moveTo>
                    <a:pt x="446913" y="335485"/>
                  </a:moveTo>
                  <a:cubicBezTo>
                    <a:pt x="446913" y="302813"/>
                    <a:pt x="443105" y="273168"/>
                    <a:pt x="435487" y="246628"/>
                  </a:cubicBezTo>
                  <a:cubicBezTo>
                    <a:pt x="427871" y="220164"/>
                    <a:pt x="416989" y="197504"/>
                    <a:pt x="402843" y="178724"/>
                  </a:cubicBezTo>
                  <a:cubicBezTo>
                    <a:pt x="388698" y="160021"/>
                    <a:pt x="371365" y="145509"/>
                    <a:pt x="351001" y="135342"/>
                  </a:cubicBezTo>
                  <a:cubicBezTo>
                    <a:pt x="330638" y="125176"/>
                    <a:pt x="307631" y="120132"/>
                    <a:pt x="282138" y="120132"/>
                  </a:cubicBezTo>
                  <a:cubicBezTo>
                    <a:pt x="258199" y="120132"/>
                    <a:pt x="236670" y="125176"/>
                    <a:pt x="217705" y="135342"/>
                  </a:cubicBezTo>
                  <a:cubicBezTo>
                    <a:pt x="198740" y="145509"/>
                    <a:pt x="182574" y="159866"/>
                    <a:pt x="169205" y="178413"/>
                  </a:cubicBezTo>
                  <a:cubicBezTo>
                    <a:pt x="155837" y="196960"/>
                    <a:pt x="145577" y="219233"/>
                    <a:pt x="138349" y="245153"/>
                  </a:cubicBezTo>
                  <a:cubicBezTo>
                    <a:pt x="131120" y="271073"/>
                    <a:pt x="127623" y="300019"/>
                    <a:pt x="127623" y="331837"/>
                  </a:cubicBezTo>
                  <a:cubicBezTo>
                    <a:pt x="127623" y="367303"/>
                    <a:pt x="131509" y="398655"/>
                    <a:pt x="139281" y="425739"/>
                  </a:cubicBezTo>
                  <a:cubicBezTo>
                    <a:pt x="147054" y="452901"/>
                    <a:pt x="158013" y="475561"/>
                    <a:pt x="172236" y="493953"/>
                  </a:cubicBezTo>
                  <a:cubicBezTo>
                    <a:pt x="186382" y="512268"/>
                    <a:pt x="203404" y="526237"/>
                    <a:pt x="223145" y="535782"/>
                  </a:cubicBezTo>
                  <a:cubicBezTo>
                    <a:pt x="242888" y="545328"/>
                    <a:pt x="264728" y="550139"/>
                    <a:pt x="288744" y="550139"/>
                  </a:cubicBezTo>
                  <a:cubicBezTo>
                    <a:pt x="312761" y="550139"/>
                    <a:pt x="334368" y="544474"/>
                    <a:pt x="353722" y="533066"/>
                  </a:cubicBezTo>
                  <a:cubicBezTo>
                    <a:pt x="373075" y="521658"/>
                    <a:pt x="389708" y="506293"/>
                    <a:pt x="403465" y="486969"/>
                  </a:cubicBezTo>
                  <a:cubicBezTo>
                    <a:pt x="417222" y="467645"/>
                    <a:pt x="427948" y="444907"/>
                    <a:pt x="435487" y="418755"/>
                  </a:cubicBezTo>
                  <a:cubicBezTo>
                    <a:pt x="443027" y="392602"/>
                    <a:pt x="446913" y="364819"/>
                    <a:pt x="446913" y="335330"/>
                  </a:cubicBezTo>
                  <a:moveTo>
                    <a:pt x="574458" y="331915"/>
                  </a:moveTo>
                  <a:cubicBezTo>
                    <a:pt x="574458" y="385384"/>
                    <a:pt x="567074" y="433034"/>
                    <a:pt x="552307" y="474863"/>
                  </a:cubicBezTo>
                  <a:cubicBezTo>
                    <a:pt x="537539" y="516769"/>
                    <a:pt x="517175" y="552234"/>
                    <a:pt x="491216" y="581336"/>
                  </a:cubicBezTo>
                  <a:cubicBezTo>
                    <a:pt x="465256" y="610438"/>
                    <a:pt x="434477" y="632555"/>
                    <a:pt x="398957" y="647766"/>
                  </a:cubicBezTo>
                  <a:cubicBezTo>
                    <a:pt x="363438" y="662899"/>
                    <a:pt x="325042" y="670504"/>
                    <a:pt x="283926" y="670504"/>
                  </a:cubicBezTo>
                  <a:cubicBezTo>
                    <a:pt x="242810" y="670504"/>
                    <a:pt x="205502" y="662511"/>
                    <a:pt x="170993" y="646602"/>
                  </a:cubicBezTo>
                  <a:cubicBezTo>
                    <a:pt x="136483" y="630693"/>
                    <a:pt x="106482" y="608032"/>
                    <a:pt x="81144" y="578698"/>
                  </a:cubicBezTo>
                  <a:cubicBezTo>
                    <a:pt x="55728" y="549363"/>
                    <a:pt x="35908" y="514130"/>
                    <a:pt x="21529" y="472845"/>
                  </a:cubicBezTo>
                  <a:cubicBezTo>
                    <a:pt x="7150" y="431559"/>
                    <a:pt x="0" y="385850"/>
                    <a:pt x="0" y="335562"/>
                  </a:cubicBezTo>
                  <a:cubicBezTo>
                    <a:pt x="0" y="285275"/>
                    <a:pt x="7384" y="235840"/>
                    <a:pt x="22151" y="194400"/>
                  </a:cubicBezTo>
                  <a:cubicBezTo>
                    <a:pt x="36919" y="152959"/>
                    <a:pt x="57205" y="117726"/>
                    <a:pt x="82931" y="88857"/>
                  </a:cubicBezTo>
                  <a:cubicBezTo>
                    <a:pt x="108658" y="59988"/>
                    <a:pt x="139048" y="37949"/>
                    <a:pt x="174024" y="22738"/>
                  </a:cubicBezTo>
                  <a:cubicBezTo>
                    <a:pt x="208999" y="7605"/>
                    <a:pt x="246774" y="0"/>
                    <a:pt x="287579" y="0"/>
                  </a:cubicBezTo>
                  <a:cubicBezTo>
                    <a:pt x="328384" y="0"/>
                    <a:pt x="366702" y="7916"/>
                    <a:pt x="401678" y="23669"/>
                  </a:cubicBezTo>
                  <a:cubicBezTo>
                    <a:pt x="436653" y="39423"/>
                    <a:pt x="466888" y="61773"/>
                    <a:pt x="492459" y="90642"/>
                  </a:cubicBezTo>
                  <a:cubicBezTo>
                    <a:pt x="518030" y="119589"/>
                    <a:pt x="538083" y="154433"/>
                    <a:pt x="552617" y="195331"/>
                  </a:cubicBezTo>
                  <a:cubicBezTo>
                    <a:pt x="567152" y="236151"/>
                    <a:pt x="574458" y="281782"/>
                    <a:pt x="574458" y="331993"/>
                  </a:cubicBezTo>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3" name="Freeform 19">
              <a:extLst>
                <a:ext uri="{FF2B5EF4-FFF2-40B4-BE49-F238E27FC236}">
                  <a16:creationId xmlns:a16="http://schemas.microsoft.com/office/drawing/2014/main" id="{4C698C07-7167-06F6-5EE9-82BF34028AE4}"/>
                </a:ext>
              </a:extLst>
            </p:cNvPr>
            <p:cNvSpPr/>
            <p:nvPr/>
          </p:nvSpPr>
          <p:spPr bwMode="invGray">
            <a:xfrm>
              <a:off x="8577920" y="3191752"/>
              <a:ext cx="517641" cy="656845"/>
            </a:xfrm>
            <a:custGeom>
              <a:avLst/>
              <a:gdLst>
                <a:gd name="connsiteX0" fmla="*/ 391262 w 517641"/>
                <a:gd name="connsiteY0" fmla="*/ 656690 h 656845"/>
                <a:gd name="connsiteX1" fmla="*/ 391262 w 517641"/>
                <a:gd name="connsiteY1" fmla="*/ 293035 h 656845"/>
                <a:gd name="connsiteX2" fmla="*/ 360095 w 517641"/>
                <a:gd name="connsiteY2" fmla="*/ 161107 h 656845"/>
                <a:gd name="connsiteX3" fmla="*/ 258821 w 517641"/>
                <a:gd name="connsiteY3" fmla="*/ 116562 h 656845"/>
                <a:gd name="connsiteX4" fmla="*/ 202549 w 517641"/>
                <a:gd name="connsiteY4" fmla="*/ 127349 h 656845"/>
                <a:gd name="connsiteX5" fmla="*/ 159412 w 517641"/>
                <a:gd name="connsiteY5" fmla="*/ 160874 h 656845"/>
                <a:gd name="connsiteX6" fmla="*/ 134230 w 517641"/>
                <a:gd name="connsiteY6" fmla="*/ 214421 h 656845"/>
                <a:gd name="connsiteX7" fmla="*/ 126457 w 517641"/>
                <a:gd name="connsiteY7" fmla="*/ 280541 h 656845"/>
                <a:gd name="connsiteX8" fmla="*/ 126457 w 517641"/>
                <a:gd name="connsiteY8" fmla="*/ 656768 h 656845"/>
                <a:gd name="connsiteX9" fmla="*/ 0 w 517641"/>
                <a:gd name="connsiteY9" fmla="*/ 656768 h 656845"/>
                <a:gd name="connsiteX10" fmla="*/ 0 w 517641"/>
                <a:gd name="connsiteY10" fmla="*/ 13736 h 656845"/>
                <a:gd name="connsiteX11" fmla="*/ 126457 w 517641"/>
                <a:gd name="connsiteY11" fmla="*/ 13736 h 656845"/>
                <a:gd name="connsiteX12" fmla="*/ 126457 w 517641"/>
                <a:gd name="connsiteY12" fmla="*/ 74733 h 656845"/>
                <a:gd name="connsiteX13" fmla="*/ 155837 w 517641"/>
                <a:gd name="connsiteY13" fmla="*/ 43381 h 656845"/>
                <a:gd name="connsiteX14" fmla="*/ 194154 w 517641"/>
                <a:gd name="connsiteY14" fmla="*/ 19789 h 656845"/>
                <a:gd name="connsiteX15" fmla="*/ 239079 w 517641"/>
                <a:gd name="connsiteY15" fmla="*/ 5122 h 656845"/>
                <a:gd name="connsiteX16" fmla="*/ 288201 w 517641"/>
                <a:gd name="connsiteY16" fmla="*/ 0 h 656845"/>
                <a:gd name="connsiteX17" fmla="*/ 389164 w 517641"/>
                <a:gd name="connsiteY17" fmla="*/ 18858 h 656845"/>
                <a:gd name="connsiteX18" fmla="*/ 460437 w 517641"/>
                <a:gd name="connsiteY18" fmla="*/ 73026 h 656845"/>
                <a:gd name="connsiteX19" fmla="*/ 503263 w 517641"/>
                <a:gd name="connsiteY19" fmla="*/ 162194 h 656845"/>
                <a:gd name="connsiteX20" fmla="*/ 517642 w 517641"/>
                <a:gd name="connsiteY20" fmla="*/ 288379 h 656845"/>
                <a:gd name="connsiteX21" fmla="*/ 517642 w 517641"/>
                <a:gd name="connsiteY21" fmla="*/ 656845 h 656845"/>
                <a:gd name="connsiteX22" fmla="*/ 391262 w 517641"/>
                <a:gd name="connsiteY22" fmla="*/ 656845 h 65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17641" h="656845">
                  <a:moveTo>
                    <a:pt x="391262" y="656690"/>
                  </a:moveTo>
                  <a:lnTo>
                    <a:pt x="391262" y="293035"/>
                  </a:lnTo>
                  <a:cubicBezTo>
                    <a:pt x="391262" y="234832"/>
                    <a:pt x="380925" y="190830"/>
                    <a:pt x="360095" y="161107"/>
                  </a:cubicBezTo>
                  <a:cubicBezTo>
                    <a:pt x="339343" y="131462"/>
                    <a:pt x="305611" y="116562"/>
                    <a:pt x="258821" y="116562"/>
                  </a:cubicBezTo>
                  <a:cubicBezTo>
                    <a:pt x="238457" y="116562"/>
                    <a:pt x="219648" y="120210"/>
                    <a:pt x="202549" y="127349"/>
                  </a:cubicBezTo>
                  <a:cubicBezTo>
                    <a:pt x="185372" y="134566"/>
                    <a:pt x="170993" y="145664"/>
                    <a:pt x="159412" y="160874"/>
                  </a:cubicBezTo>
                  <a:cubicBezTo>
                    <a:pt x="147831" y="176007"/>
                    <a:pt x="139437" y="193856"/>
                    <a:pt x="134230" y="214421"/>
                  </a:cubicBezTo>
                  <a:cubicBezTo>
                    <a:pt x="129022" y="234987"/>
                    <a:pt x="126457" y="257027"/>
                    <a:pt x="126457" y="280541"/>
                  </a:cubicBezTo>
                  <a:lnTo>
                    <a:pt x="126457" y="656768"/>
                  </a:lnTo>
                  <a:lnTo>
                    <a:pt x="0" y="656768"/>
                  </a:lnTo>
                  <a:lnTo>
                    <a:pt x="0" y="13736"/>
                  </a:lnTo>
                  <a:lnTo>
                    <a:pt x="126457" y="13736"/>
                  </a:lnTo>
                  <a:lnTo>
                    <a:pt x="126457" y="74733"/>
                  </a:lnTo>
                  <a:cubicBezTo>
                    <a:pt x="134462" y="63170"/>
                    <a:pt x="144178" y="52693"/>
                    <a:pt x="155837" y="43381"/>
                  </a:cubicBezTo>
                  <a:cubicBezTo>
                    <a:pt x="167417" y="33991"/>
                    <a:pt x="180164" y="26153"/>
                    <a:pt x="194154" y="19789"/>
                  </a:cubicBezTo>
                  <a:cubicBezTo>
                    <a:pt x="208145" y="13426"/>
                    <a:pt x="223146" y="8537"/>
                    <a:pt x="239079" y="5122"/>
                  </a:cubicBezTo>
                  <a:cubicBezTo>
                    <a:pt x="255012" y="1707"/>
                    <a:pt x="271412" y="0"/>
                    <a:pt x="288201" y="0"/>
                  </a:cubicBezTo>
                  <a:cubicBezTo>
                    <a:pt x="326985" y="0"/>
                    <a:pt x="360562" y="6286"/>
                    <a:pt x="389164" y="18858"/>
                  </a:cubicBezTo>
                  <a:cubicBezTo>
                    <a:pt x="417689" y="31430"/>
                    <a:pt x="441472" y="49434"/>
                    <a:pt x="460437" y="73026"/>
                  </a:cubicBezTo>
                  <a:cubicBezTo>
                    <a:pt x="479402" y="96540"/>
                    <a:pt x="493703" y="126263"/>
                    <a:pt x="503263" y="162194"/>
                  </a:cubicBezTo>
                  <a:cubicBezTo>
                    <a:pt x="512823" y="198125"/>
                    <a:pt x="517642" y="240186"/>
                    <a:pt x="517642" y="288379"/>
                  </a:cubicBezTo>
                  <a:lnTo>
                    <a:pt x="517642" y="656845"/>
                  </a:lnTo>
                  <a:lnTo>
                    <a:pt x="391262" y="656845"/>
                  </a:lnTo>
                  <a:close/>
                </a:path>
              </a:pathLst>
            </a:custGeom>
            <a:solidFill>
              <a:srgbClr val="1A9AFA"/>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4" name="Freeform 26">
              <a:extLst>
                <a:ext uri="{FF2B5EF4-FFF2-40B4-BE49-F238E27FC236}">
                  <a16:creationId xmlns:a16="http://schemas.microsoft.com/office/drawing/2014/main" id="{BAC1AC9F-7FC3-9264-6B7F-A63C8BE74D91}"/>
                </a:ext>
              </a:extLst>
            </p:cNvPr>
            <p:cNvSpPr/>
            <p:nvPr/>
          </p:nvSpPr>
          <p:spPr bwMode="invGray">
            <a:xfrm>
              <a:off x="1333500" y="1365250"/>
              <a:ext cx="2432217" cy="886244"/>
            </a:xfrm>
            <a:custGeom>
              <a:avLst/>
              <a:gdLst>
                <a:gd name="connsiteX0" fmla="*/ 2431984 w 2432217"/>
                <a:gd name="connsiteY0" fmla="*/ 0 h 886244"/>
                <a:gd name="connsiteX1" fmla="*/ 0 w 2432217"/>
                <a:gd name="connsiteY1" fmla="*/ 886245 h 886244"/>
                <a:gd name="connsiteX2" fmla="*/ 2432217 w 2432217"/>
                <a:gd name="connsiteY2" fmla="*/ 457246 h 886244"/>
                <a:gd name="connsiteX3" fmla="*/ 2432217 w 2432217"/>
                <a:gd name="connsiteY3" fmla="*/ 0 h 886244"/>
                <a:gd name="connsiteX4" fmla="*/ 2431984 w 2432217"/>
                <a:gd name="connsiteY4" fmla="*/ 0 h 886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217" h="886244">
                  <a:moveTo>
                    <a:pt x="2431984" y="0"/>
                  </a:moveTo>
                  <a:lnTo>
                    <a:pt x="0" y="886245"/>
                  </a:lnTo>
                  <a:lnTo>
                    <a:pt x="2432217" y="457246"/>
                  </a:lnTo>
                  <a:lnTo>
                    <a:pt x="2432217" y="0"/>
                  </a:lnTo>
                  <a:lnTo>
                    <a:pt x="2431984" y="0"/>
                  </a:lnTo>
                  <a:close/>
                </a:path>
              </a:pathLst>
            </a:custGeom>
            <a:solidFill>
              <a:srgbClr val="FFE600"/>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5" name="Freeform 30">
              <a:extLst>
                <a:ext uri="{FF2B5EF4-FFF2-40B4-BE49-F238E27FC236}">
                  <a16:creationId xmlns:a16="http://schemas.microsoft.com/office/drawing/2014/main" id="{C16F909E-0CD7-BC49-F6A6-4D7839EF9AB1}"/>
                </a:ext>
              </a:extLst>
            </p:cNvPr>
            <p:cNvSpPr/>
            <p:nvPr/>
          </p:nvSpPr>
          <p:spPr bwMode="invGray">
            <a:xfrm>
              <a:off x="1354718" y="2619961"/>
              <a:ext cx="2042042" cy="1228558"/>
            </a:xfrm>
            <a:custGeom>
              <a:avLst/>
              <a:gdLst>
                <a:gd name="connsiteX0" fmla="*/ 1639277 w 2042042"/>
                <a:gd name="connsiteY0" fmla="*/ 78 h 1228558"/>
                <a:gd name="connsiteX1" fmla="*/ 1430277 w 2042042"/>
                <a:gd name="connsiteY1" fmla="*/ 400983 h 1228558"/>
                <a:gd name="connsiteX2" fmla="*/ 1221821 w 2042042"/>
                <a:gd name="connsiteY2" fmla="*/ 78 h 1228558"/>
                <a:gd name="connsiteX3" fmla="*/ 813848 w 2042042"/>
                <a:gd name="connsiteY3" fmla="*/ 78 h 1228558"/>
                <a:gd name="connsiteX4" fmla="*/ 1243662 w 2042042"/>
                <a:gd name="connsiteY4" fmla="*/ 743297 h 1228558"/>
                <a:gd name="connsiteX5" fmla="*/ 1243662 w 2042042"/>
                <a:gd name="connsiteY5" fmla="*/ 1228559 h 1228558"/>
                <a:gd name="connsiteX6" fmla="*/ 1611607 w 2042042"/>
                <a:gd name="connsiteY6" fmla="*/ 1228559 h 1228558"/>
                <a:gd name="connsiteX7" fmla="*/ 1611607 w 2042042"/>
                <a:gd name="connsiteY7" fmla="*/ 743297 h 1228558"/>
                <a:gd name="connsiteX8" fmla="*/ 2042043 w 2042042"/>
                <a:gd name="connsiteY8" fmla="*/ 78 h 1228558"/>
                <a:gd name="connsiteX9" fmla="*/ 1639277 w 2042042"/>
                <a:gd name="connsiteY9" fmla="*/ 78 h 1228558"/>
                <a:gd name="connsiteX10" fmla="*/ 0 w 2042042"/>
                <a:gd name="connsiteY10" fmla="*/ 78 h 1228558"/>
                <a:gd name="connsiteX11" fmla="*/ 0 w 2042042"/>
                <a:gd name="connsiteY11" fmla="*/ 1228481 h 1228558"/>
                <a:gd name="connsiteX12" fmla="*/ 984219 w 2042042"/>
                <a:gd name="connsiteY12" fmla="*/ 1228481 h 1228558"/>
                <a:gd name="connsiteX13" fmla="*/ 984219 w 2042042"/>
                <a:gd name="connsiteY13" fmla="*/ 945923 h 1228558"/>
                <a:gd name="connsiteX14" fmla="*/ 369034 w 2042042"/>
                <a:gd name="connsiteY14" fmla="*/ 945923 h 1228558"/>
                <a:gd name="connsiteX15" fmla="*/ 369034 w 2042042"/>
                <a:gd name="connsiteY15" fmla="*/ 743220 h 1228558"/>
                <a:gd name="connsiteX16" fmla="*/ 813848 w 2042042"/>
                <a:gd name="connsiteY16" fmla="*/ 743220 h 1228558"/>
                <a:gd name="connsiteX17" fmla="*/ 813848 w 2042042"/>
                <a:gd name="connsiteY17" fmla="*/ 485339 h 1228558"/>
                <a:gd name="connsiteX18" fmla="*/ 369034 w 2042042"/>
                <a:gd name="connsiteY18" fmla="*/ 485339 h 1228558"/>
                <a:gd name="connsiteX19" fmla="*/ 369034 w 2042042"/>
                <a:gd name="connsiteY19" fmla="*/ 282558 h 1228558"/>
                <a:gd name="connsiteX20" fmla="*/ 861182 w 2042042"/>
                <a:gd name="connsiteY20" fmla="*/ 282558 h 1228558"/>
                <a:gd name="connsiteX21" fmla="*/ 697884 w 2042042"/>
                <a:gd name="connsiteY21" fmla="*/ 0 h 1228558"/>
                <a:gd name="connsiteX22" fmla="*/ 0 w 2042042"/>
                <a:gd name="connsiteY22" fmla="*/ 0 h 122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42042" h="1228558">
                  <a:moveTo>
                    <a:pt x="1639277" y="78"/>
                  </a:moveTo>
                  <a:lnTo>
                    <a:pt x="1430277" y="400983"/>
                  </a:lnTo>
                  <a:lnTo>
                    <a:pt x="1221821" y="78"/>
                  </a:lnTo>
                  <a:lnTo>
                    <a:pt x="813848" y="78"/>
                  </a:lnTo>
                  <a:lnTo>
                    <a:pt x="1243662" y="743297"/>
                  </a:lnTo>
                  <a:lnTo>
                    <a:pt x="1243662" y="1228559"/>
                  </a:lnTo>
                  <a:lnTo>
                    <a:pt x="1611607" y="1228559"/>
                  </a:lnTo>
                  <a:lnTo>
                    <a:pt x="1611607" y="743297"/>
                  </a:lnTo>
                  <a:lnTo>
                    <a:pt x="2042043" y="78"/>
                  </a:lnTo>
                  <a:lnTo>
                    <a:pt x="1639277" y="78"/>
                  </a:lnTo>
                  <a:close/>
                  <a:moveTo>
                    <a:pt x="0" y="78"/>
                  </a:moveTo>
                  <a:lnTo>
                    <a:pt x="0" y="1228481"/>
                  </a:lnTo>
                  <a:lnTo>
                    <a:pt x="984219" y="1228481"/>
                  </a:lnTo>
                  <a:lnTo>
                    <a:pt x="984219" y="945923"/>
                  </a:lnTo>
                  <a:lnTo>
                    <a:pt x="369034" y="945923"/>
                  </a:lnTo>
                  <a:lnTo>
                    <a:pt x="369034" y="743220"/>
                  </a:lnTo>
                  <a:lnTo>
                    <a:pt x="813848" y="743220"/>
                  </a:lnTo>
                  <a:lnTo>
                    <a:pt x="813848" y="485339"/>
                  </a:lnTo>
                  <a:lnTo>
                    <a:pt x="369034" y="485339"/>
                  </a:lnTo>
                  <a:lnTo>
                    <a:pt x="369034" y="282558"/>
                  </a:lnTo>
                  <a:lnTo>
                    <a:pt x="861182" y="282558"/>
                  </a:lnTo>
                  <a:lnTo>
                    <a:pt x="697884" y="0"/>
                  </a:lnTo>
                  <a:lnTo>
                    <a:pt x="0" y="0"/>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6" name="Freeform 31">
              <a:extLst>
                <a:ext uri="{FF2B5EF4-FFF2-40B4-BE49-F238E27FC236}">
                  <a16:creationId xmlns:a16="http://schemas.microsoft.com/office/drawing/2014/main" id="{02480DD1-4D44-4A29-0329-AD1A09B263F4}"/>
                </a:ext>
              </a:extLst>
            </p:cNvPr>
            <p:cNvSpPr/>
            <p:nvPr/>
          </p:nvSpPr>
          <p:spPr bwMode="invGray">
            <a:xfrm>
              <a:off x="5925900" y="4251210"/>
              <a:ext cx="200839" cy="388178"/>
            </a:xfrm>
            <a:custGeom>
              <a:avLst/>
              <a:gdLst>
                <a:gd name="connsiteX0" fmla="*/ 119151 w 200839"/>
                <a:gd name="connsiteY0" fmla="*/ 286749 h 388178"/>
                <a:gd name="connsiteX1" fmla="*/ 119151 w 200839"/>
                <a:gd name="connsiteY1" fmla="*/ 173679 h 388178"/>
                <a:gd name="connsiteX2" fmla="*/ 199751 w 200839"/>
                <a:gd name="connsiteY2" fmla="*/ 173679 h 388178"/>
                <a:gd name="connsiteX3" fmla="*/ 199751 w 200839"/>
                <a:gd name="connsiteY3" fmla="*/ 107250 h 388178"/>
                <a:gd name="connsiteX4" fmla="*/ 119151 w 200839"/>
                <a:gd name="connsiteY4" fmla="*/ 107250 h 388178"/>
                <a:gd name="connsiteX5" fmla="*/ 119151 w 200839"/>
                <a:gd name="connsiteY5" fmla="*/ 0 h 388178"/>
                <a:gd name="connsiteX6" fmla="*/ 47878 w 200839"/>
                <a:gd name="connsiteY6" fmla="*/ 35543 h 388178"/>
                <a:gd name="connsiteX7" fmla="*/ 47878 w 200839"/>
                <a:gd name="connsiteY7" fmla="*/ 107250 h 388178"/>
                <a:gd name="connsiteX8" fmla="*/ 0 w 200839"/>
                <a:gd name="connsiteY8" fmla="*/ 107250 h 388178"/>
                <a:gd name="connsiteX9" fmla="*/ 0 w 200839"/>
                <a:gd name="connsiteY9" fmla="*/ 173679 h 388178"/>
                <a:gd name="connsiteX10" fmla="*/ 47878 w 200839"/>
                <a:gd name="connsiteY10" fmla="*/ 173679 h 388178"/>
                <a:gd name="connsiteX11" fmla="*/ 47878 w 200839"/>
                <a:gd name="connsiteY11" fmla="*/ 305995 h 388178"/>
                <a:gd name="connsiteX12" fmla="*/ 122027 w 200839"/>
                <a:gd name="connsiteY12" fmla="*/ 388178 h 388178"/>
                <a:gd name="connsiteX13" fmla="*/ 190346 w 200839"/>
                <a:gd name="connsiteY13" fmla="*/ 371260 h 388178"/>
                <a:gd name="connsiteX14" fmla="*/ 200839 w 200839"/>
                <a:gd name="connsiteY14" fmla="*/ 299554 h 388178"/>
                <a:gd name="connsiteX15" fmla="*/ 145344 w 200839"/>
                <a:gd name="connsiteY15" fmla="*/ 319964 h 388178"/>
                <a:gd name="connsiteX16" fmla="*/ 119073 w 200839"/>
                <a:gd name="connsiteY16" fmla="*/ 286749 h 38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839" h="388178">
                  <a:moveTo>
                    <a:pt x="119151" y="286749"/>
                  </a:moveTo>
                  <a:lnTo>
                    <a:pt x="119151" y="173679"/>
                  </a:lnTo>
                  <a:lnTo>
                    <a:pt x="199751" y="173679"/>
                  </a:lnTo>
                  <a:lnTo>
                    <a:pt x="199751" y="107250"/>
                  </a:lnTo>
                  <a:lnTo>
                    <a:pt x="119151" y="107250"/>
                  </a:lnTo>
                  <a:lnTo>
                    <a:pt x="119151" y="0"/>
                  </a:lnTo>
                  <a:lnTo>
                    <a:pt x="47878" y="35543"/>
                  </a:lnTo>
                  <a:lnTo>
                    <a:pt x="47878" y="107250"/>
                  </a:lnTo>
                  <a:lnTo>
                    <a:pt x="0" y="107250"/>
                  </a:lnTo>
                  <a:lnTo>
                    <a:pt x="0" y="173679"/>
                  </a:lnTo>
                  <a:lnTo>
                    <a:pt x="47878" y="173679"/>
                  </a:lnTo>
                  <a:lnTo>
                    <a:pt x="47878" y="305995"/>
                  </a:lnTo>
                  <a:cubicBezTo>
                    <a:pt x="47878" y="353799"/>
                    <a:pt x="78812" y="388178"/>
                    <a:pt x="122027" y="388178"/>
                  </a:cubicBezTo>
                  <a:cubicBezTo>
                    <a:pt x="140681" y="388178"/>
                    <a:pt x="175734" y="382901"/>
                    <a:pt x="190346" y="371260"/>
                  </a:cubicBezTo>
                  <a:lnTo>
                    <a:pt x="200839" y="299554"/>
                  </a:lnTo>
                  <a:cubicBezTo>
                    <a:pt x="188559" y="311195"/>
                    <a:pt x="162910" y="319964"/>
                    <a:pt x="145344" y="319964"/>
                  </a:cubicBezTo>
                  <a:cubicBezTo>
                    <a:pt x="127778" y="319964"/>
                    <a:pt x="119073" y="311815"/>
                    <a:pt x="119073" y="28674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7" name="Freeform 32">
              <a:extLst>
                <a:ext uri="{FF2B5EF4-FFF2-40B4-BE49-F238E27FC236}">
                  <a16:creationId xmlns:a16="http://schemas.microsoft.com/office/drawing/2014/main" id="{25863A8D-5EBC-9340-DF3C-BCB0E70CEFA9}"/>
                </a:ext>
              </a:extLst>
            </p:cNvPr>
            <p:cNvSpPr/>
            <p:nvPr/>
          </p:nvSpPr>
          <p:spPr bwMode="invGray">
            <a:xfrm>
              <a:off x="4293307" y="4251210"/>
              <a:ext cx="200838" cy="388178"/>
            </a:xfrm>
            <a:custGeom>
              <a:avLst/>
              <a:gdLst>
                <a:gd name="connsiteX0" fmla="*/ 119151 w 200838"/>
                <a:gd name="connsiteY0" fmla="*/ 286749 h 388178"/>
                <a:gd name="connsiteX1" fmla="*/ 119151 w 200838"/>
                <a:gd name="connsiteY1" fmla="*/ 173679 h 388178"/>
                <a:gd name="connsiteX2" fmla="*/ 199751 w 200838"/>
                <a:gd name="connsiteY2" fmla="*/ 173679 h 388178"/>
                <a:gd name="connsiteX3" fmla="*/ 199751 w 200838"/>
                <a:gd name="connsiteY3" fmla="*/ 107250 h 388178"/>
                <a:gd name="connsiteX4" fmla="*/ 119151 w 200838"/>
                <a:gd name="connsiteY4" fmla="*/ 107250 h 388178"/>
                <a:gd name="connsiteX5" fmla="*/ 119151 w 200838"/>
                <a:gd name="connsiteY5" fmla="*/ 0 h 388178"/>
                <a:gd name="connsiteX6" fmla="*/ 47878 w 200838"/>
                <a:gd name="connsiteY6" fmla="*/ 35543 h 388178"/>
                <a:gd name="connsiteX7" fmla="*/ 47878 w 200838"/>
                <a:gd name="connsiteY7" fmla="*/ 107250 h 388178"/>
                <a:gd name="connsiteX8" fmla="*/ 0 w 200838"/>
                <a:gd name="connsiteY8" fmla="*/ 107250 h 388178"/>
                <a:gd name="connsiteX9" fmla="*/ 0 w 200838"/>
                <a:gd name="connsiteY9" fmla="*/ 173679 h 388178"/>
                <a:gd name="connsiteX10" fmla="*/ 47878 w 200838"/>
                <a:gd name="connsiteY10" fmla="*/ 173679 h 388178"/>
                <a:gd name="connsiteX11" fmla="*/ 47878 w 200838"/>
                <a:gd name="connsiteY11" fmla="*/ 305995 h 388178"/>
                <a:gd name="connsiteX12" fmla="*/ 122027 w 200838"/>
                <a:gd name="connsiteY12" fmla="*/ 388178 h 388178"/>
                <a:gd name="connsiteX13" fmla="*/ 190346 w 200838"/>
                <a:gd name="connsiteY13" fmla="*/ 371260 h 388178"/>
                <a:gd name="connsiteX14" fmla="*/ 200839 w 200838"/>
                <a:gd name="connsiteY14" fmla="*/ 299554 h 388178"/>
                <a:gd name="connsiteX15" fmla="*/ 145344 w 200838"/>
                <a:gd name="connsiteY15" fmla="*/ 319964 h 388178"/>
                <a:gd name="connsiteX16" fmla="*/ 119073 w 200838"/>
                <a:gd name="connsiteY16" fmla="*/ 286749 h 38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838" h="388178">
                  <a:moveTo>
                    <a:pt x="119151" y="286749"/>
                  </a:moveTo>
                  <a:lnTo>
                    <a:pt x="119151" y="173679"/>
                  </a:lnTo>
                  <a:lnTo>
                    <a:pt x="199751" y="173679"/>
                  </a:lnTo>
                  <a:lnTo>
                    <a:pt x="199751" y="107250"/>
                  </a:lnTo>
                  <a:lnTo>
                    <a:pt x="119151" y="107250"/>
                  </a:lnTo>
                  <a:lnTo>
                    <a:pt x="119151" y="0"/>
                  </a:lnTo>
                  <a:lnTo>
                    <a:pt x="47878" y="35543"/>
                  </a:lnTo>
                  <a:lnTo>
                    <a:pt x="47878" y="107250"/>
                  </a:lnTo>
                  <a:lnTo>
                    <a:pt x="0" y="107250"/>
                  </a:lnTo>
                  <a:lnTo>
                    <a:pt x="0" y="173679"/>
                  </a:lnTo>
                  <a:lnTo>
                    <a:pt x="47878" y="173679"/>
                  </a:lnTo>
                  <a:lnTo>
                    <a:pt x="47878" y="305995"/>
                  </a:lnTo>
                  <a:cubicBezTo>
                    <a:pt x="47878" y="353799"/>
                    <a:pt x="78812" y="388178"/>
                    <a:pt x="122027" y="388178"/>
                  </a:cubicBezTo>
                  <a:cubicBezTo>
                    <a:pt x="140680" y="388178"/>
                    <a:pt x="175734" y="382901"/>
                    <a:pt x="190346" y="371260"/>
                  </a:cubicBezTo>
                  <a:lnTo>
                    <a:pt x="200839" y="299554"/>
                  </a:lnTo>
                  <a:cubicBezTo>
                    <a:pt x="188559" y="311195"/>
                    <a:pt x="162909" y="319964"/>
                    <a:pt x="145344" y="319964"/>
                  </a:cubicBezTo>
                  <a:cubicBezTo>
                    <a:pt x="127778" y="319964"/>
                    <a:pt x="119073" y="311815"/>
                    <a:pt x="119073" y="28674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8" name="Freeform 33">
              <a:extLst>
                <a:ext uri="{FF2B5EF4-FFF2-40B4-BE49-F238E27FC236}">
                  <a16:creationId xmlns:a16="http://schemas.microsoft.com/office/drawing/2014/main" id="{D66D96A4-1C6D-861C-F5FE-F367C55C8D48}"/>
                </a:ext>
              </a:extLst>
            </p:cNvPr>
            <p:cNvSpPr/>
            <p:nvPr/>
          </p:nvSpPr>
          <p:spPr bwMode="invGray">
            <a:xfrm>
              <a:off x="6170575" y="4251132"/>
              <a:ext cx="238379" cy="382435"/>
            </a:xfrm>
            <a:custGeom>
              <a:avLst/>
              <a:gdLst>
                <a:gd name="connsiteX0" fmla="*/ 140136 w 238379"/>
                <a:gd name="connsiteY0" fmla="*/ 101429 h 382435"/>
                <a:gd name="connsiteX1" fmla="*/ 71273 w 238379"/>
                <a:gd name="connsiteY1" fmla="*/ 125952 h 382435"/>
                <a:gd name="connsiteX2" fmla="*/ 71273 w 238379"/>
                <a:gd name="connsiteY2" fmla="*/ 0 h 382435"/>
                <a:gd name="connsiteX3" fmla="*/ 0 w 238379"/>
                <a:gd name="connsiteY3" fmla="*/ 35543 h 382435"/>
                <a:gd name="connsiteX4" fmla="*/ 0 w 238379"/>
                <a:gd name="connsiteY4" fmla="*/ 382436 h 382435"/>
                <a:gd name="connsiteX5" fmla="*/ 71273 w 238379"/>
                <a:gd name="connsiteY5" fmla="*/ 382436 h 382435"/>
                <a:gd name="connsiteX6" fmla="*/ 71273 w 238379"/>
                <a:gd name="connsiteY6" fmla="*/ 230874 h 382435"/>
                <a:gd name="connsiteX7" fmla="*/ 119772 w 238379"/>
                <a:gd name="connsiteY7" fmla="*/ 168480 h 382435"/>
                <a:gd name="connsiteX8" fmla="*/ 167107 w 238379"/>
                <a:gd name="connsiteY8" fmla="*/ 232581 h 382435"/>
                <a:gd name="connsiteX9" fmla="*/ 167107 w 238379"/>
                <a:gd name="connsiteY9" fmla="*/ 382436 h 382435"/>
                <a:gd name="connsiteX10" fmla="*/ 238379 w 238379"/>
                <a:gd name="connsiteY10" fmla="*/ 382436 h 382435"/>
                <a:gd name="connsiteX11" fmla="*/ 238379 w 238379"/>
                <a:gd name="connsiteY11" fmla="*/ 226761 h 382435"/>
                <a:gd name="connsiteX12" fmla="*/ 140292 w 238379"/>
                <a:gd name="connsiteY12" fmla="*/ 101429 h 38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8379" h="382435">
                  <a:moveTo>
                    <a:pt x="140136" y="101429"/>
                  </a:moveTo>
                  <a:cubicBezTo>
                    <a:pt x="112700" y="101429"/>
                    <a:pt x="84641" y="109578"/>
                    <a:pt x="71273" y="125952"/>
                  </a:cubicBezTo>
                  <a:lnTo>
                    <a:pt x="71273" y="0"/>
                  </a:lnTo>
                  <a:lnTo>
                    <a:pt x="0" y="35543"/>
                  </a:lnTo>
                  <a:lnTo>
                    <a:pt x="0" y="382436"/>
                  </a:lnTo>
                  <a:lnTo>
                    <a:pt x="71273" y="382436"/>
                  </a:lnTo>
                  <a:lnTo>
                    <a:pt x="71273" y="230874"/>
                  </a:lnTo>
                  <a:cubicBezTo>
                    <a:pt x="71273" y="190054"/>
                    <a:pt x="83553" y="168480"/>
                    <a:pt x="119772" y="168480"/>
                  </a:cubicBezTo>
                  <a:cubicBezTo>
                    <a:pt x="158324" y="168480"/>
                    <a:pt x="167107" y="194167"/>
                    <a:pt x="167107" y="232581"/>
                  </a:cubicBezTo>
                  <a:lnTo>
                    <a:pt x="167107" y="382436"/>
                  </a:lnTo>
                  <a:lnTo>
                    <a:pt x="238379" y="382436"/>
                  </a:lnTo>
                  <a:lnTo>
                    <a:pt x="238379" y="226761"/>
                  </a:lnTo>
                  <a:cubicBezTo>
                    <a:pt x="238379" y="158546"/>
                    <a:pt x="212653" y="101429"/>
                    <a:pt x="140292" y="10142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69" name="Freeform 34">
              <a:extLst>
                <a:ext uri="{FF2B5EF4-FFF2-40B4-BE49-F238E27FC236}">
                  <a16:creationId xmlns:a16="http://schemas.microsoft.com/office/drawing/2014/main" id="{6CE97E62-A3C5-ECC5-6A79-F5E67C9602A4}"/>
                </a:ext>
              </a:extLst>
            </p:cNvPr>
            <p:cNvSpPr/>
            <p:nvPr/>
          </p:nvSpPr>
          <p:spPr bwMode="invGray">
            <a:xfrm>
              <a:off x="1678205" y="4251132"/>
              <a:ext cx="238379" cy="382435"/>
            </a:xfrm>
            <a:custGeom>
              <a:avLst/>
              <a:gdLst>
                <a:gd name="connsiteX0" fmla="*/ 140136 w 238379"/>
                <a:gd name="connsiteY0" fmla="*/ 101429 h 382435"/>
                <a:gd name="connsiteX1" fmla="*/ 71273 w 238379"/>
                <a:gd name="connsiteY1" fmla="*/ 125952 h 382435"/>
                <a:gd name="connsiteX2" fmla="*/ 71273 w 238379"/>
                <a:gd name="connsiteY2" fmla="*/ 0 h 382435"/>
                <a:gd name="connsiteX3" fmla="*/ 0 w 238379"/>
                <a:gd name="connsiteY3" fmla="*/ 35543 h 382435"/>
                <a:gd name="connsiteX4" fmla="*/ 0 w 238379"/>
                <a:gd name="connsiteY4" fmla="*/ 382436 h 382435"/>
                <a:gd name="connsiteX5" fmla="*/ 71273 w 238379"/>
                <a:gd name="connsiteY5" fmla="*/ 382436 h 382435"/>
                <a:gd name="connsiteX6" fmla="*/ 71273 w 238379"/>
                <a:gd name="connsiteY6" fmla="*/ 230874 h 382435"/>
                <a:gd name="connsiteX7" fmla="*/ 119773 w 238379"/>
                <a:gd name="connsiteY7" fmla="*/ 168480 h 382435"/>
                <a:gd name="connsiteX8" fmla="*/ 167107 w 238379"/>
                <a:gd name="connsiteY8" fmla="*/ 232581 h 382435"/>
                <a:gd name="connsiteX9" fmla="*/ 167107 w 238379"/>
                <a:gd name="connsiteY9" fmla="*/ 382436 h 382435"/>
                <a:gd name="connsiteX10" fmla="*/ 238380 w 238379"/>
                <a:gd name="connsiteY10" fmla="*/ 382436 h 382435"/>
                <a:gd name="connsiteX11" fmla="*/ 238380 w 238379"/>
                <a:gd name="connsiteY11" fmla="*/ 226761 h 382435"/>
                <a:gd name="connsiteX12" fmla="*/ 140292 w 238379"/>
                <a:gd name="connsiteY12" fmla="*/ 101429 h 38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8379" h="382435">
                  <a:moveTo>
                    <a:pt x="140136" y="101429"/>
                  </a:moveTo>
                  <a:cubicBezTo>
                    <a:pt x="112700" y="101429"/>
                    <a:pt x="84641" y="109578"/>
                    <a:pt x="71273" y="125952"/>
                  </a:cubicBezTo>
                  <a:lnTo>
                    <a:pt x="71273" y="0"/>
                  </a:lnTo>
                  <a:lnTo>
                    <a:pt x="0" y="35543"/>
                  </a:lnTo>
                  <a:lnTo>
                    <a:pt x="0" y="382436"/>
                  </a:lnTo>
                  <a:lnTo>
                    <a:pt x="71273" y="382436"/>
                  </a:lnTo>
                  <a:lnTo>
                    <a:pt x="71273" y="230874"/>
                  </a:lnTo>
                  <a:cubicBezTo>
                    <a:pt x="71273" y="190054"/>
                    <a:pt x="83553" y="168480"/>
                    <a:pt x="119773" y="168480"/>
                  </a:cubicBezTo>
                  <a:cubicBezTo>
                    <a:pt x="158324" y="168480"/>
                    <a:pt x="167107" y="194167"/>
                    <a:pt x="167107" y="232581"/>
                  </a:cubicBezTo>
                  <a:lnTo>
                    <a:pt x="167107" y="382436"/>
                  </a:lnTo>
                  <a:lnTo>
                    <a:pt x="238380" y="382436"/>
                  </a:lnTo>
                  <a:lnTo>
                    <a:pt x="238380" y="226761"/>
                  </a:lnTo>
                  <a:cubicBezTo>
                    <a:pt x="238380" y="158546"/>
                    <a:pt x="212653" y="101429"/>
                    <a:pt x="140292" y="10142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0" name="Freeform 35">
              <a:extLst>
                <a:ext uri="{FF2B5EF4-FFF2-40B4-BE49-F238E27FC236}">
                  <a16:creationId xmlns:a16="http://schemas.microsoft.com/office/drawing/2014/main" id="{C97EB114-6AE0-F6F6-49CB-7C658C6DDF92}"/>
                </a:ext>
              </a:extLst>
            </p:cNvPr>
            <p:cNvSpPr/>
            <p:nvPr/>
          </p:nvSpPr>
          <p:spPr bwMode="invGray">
            <a:xfrm>
              <a:off x="2898939" y="4251210"/>
              <a:ext cx="200838" cy="388178"/>
            </a:xfrm>
            <a:custGeom>
              <a:avLst/>
              <a:gdLst>
                <a:gd name="connsiteX0" fmla="*/ 119151 w 200838"/>
                <a:gd name="connsiteY0" fmla="*/ 286749 h 388178"/>
                <a:gd name="connsiteX1" fmla="*/ 119151 w 200838"/>
                <a:gd name="connsiteY1" fmla="*/ 173679 h 388178"/>
                <a:gd name="connsiteX2" fmla="*/ 199751 w 200838"/>
                <a:gd name="connsiteY2" fmla="*/ 173679 h 388178"/>
                <a:gd name="connsiteX3" fmla="*/ 199751 w 200838"/>
                <a:gd name="connsiteY3" fmla="*/ 107250 h 388178"/>
                <a:gd name="connsiteX4" fmla="*/ 119151 w 200838"/>
                <a:gd name="connsiteY4" fmla="*/ 107250 h 388178"/>
                <a:gd name="connsiteX5" fmla="*/ 119151 w 200838"/>
                <a:gd name="connsiteY5" fmla="*/ 0 h 388178"/>
                <a:gd name="connsiteX6" fmla="*/ 47878 w 200838"/>
                <a:gd name="connsiteY6" fmla="*/ 35543 h 388178"/>
                <a:gd name="connsiteX7" fmla="*/ 47878 w 200838"/>
                <a:gd name="connsiteY7" fmla="*/ 107250 h 388178"/>
                <a:gd name="connsiteX8" fmla="*/ 0 w 200838"/>
                <a:gd name="connsiteY8" fmla="*/ 107250 h 388178"/>
                <a:gd name="connsiteX9" fmla="*/ 0 w 200838"/>
                <a:gd name="connsiteY9" fmla="*/ 173679 h 388178"/>
                <a:gd name="connsiteX10" fmla="*/ 47878 w 200838"/>
                <a:gd name="connsiteY10" fmla="*/ 173679 h 388178"/>
                <a:gd name="connsiteX11" fmla="*/ 47878 w 200838"/>
                <a:gd name="connsiteY11" fmla="*/ 305995 h 388178"/>
                <a:gd name="connsiteX12" fmla="*/ 122027 w 200838"/>
                <a:gd name="connsiteY12" fmla="*/ 388178 h 388178"/>
                <a:gd name="connsiteX13" fmla="*/ 190346 w 200838"/>
                <a:gd name="connsiteY13" fmla="*/ 371260 h 388178"/>
                <a:gd name="connsiteX14" fmla="*/ 200839 w 200838"/>
                <a:gd name="connsiteY14" fmla="*/ 299554 h 388178"/>
                <a:gd name="connsiteX15" fmla="*/ 145344 w 200838"/>
                <a:gd name="connsiteY15" fmla="*/ 319964 h 388178"/>
                <a:gd name="connsiteX16" fmla="*/ 119073 w 200838"/>
                <a:gd name="connsiteY16" fmla="*/ 286749 h 38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838" h="388178">
                  <a:moveTo>
                    <a:pt x="119151" y="286749"/>
                  </a:moveTo>
                  <a:lnTo>
                    <a:pt x="119151" y="173679"/>
                  </a:lnTo>
                  <a:lnTo>
                    <a:pt x="199751" y="173679"/>
                  </a:lnTo>
                  <a:lnTo>
                    <a:pt x="199751" y="107250"/>
                  </a:lnTo>
                  <a:lnTo>
                    <a:pt x="119151" y="107250"/>
                  </a:lnTo>
                  <a:lnTo>
                    <a:pt x="119151" y="0"/>
                  </a:lnTo>
                  <a:lnTo>
                    <a:pt x="47878" y="35543"/>
                  </a:lnTo>
                  <a:lnTo>
                    <a:pt x="47878" y="107250"/>
                  </a:lnTo>
                  <a:lnTo>
                    <a:pt x="0" y="107250"/>
                  </a:lnTo>
                  <a:lnTo>
                    <a:pt x="0" y="173679"/>
                  </a:lnTo>
                  <a:lnTo>
                    <a:pt x="47878" y="173679"/>
                  </a:lnTo>
                  <a:lnTo>
                    <a:pt x="47878" y="305995"/>
                  </a:lnTo>
                  <a:cubicBezTo>
                    <a:pt x="47878" y="353799"/>
                    <a:pt x="78812" y="388178"/>
                    <a:pt x="122027" y="388178"/>
                  </a:cubicBezTo>
                  <a:cubicBezTo>
                    <a:pt x="140680" y="388178"/>
                    <a:pt x="175734" y="382901"/>
                    <a:pt x="190346" y="371260"/>
                  </a:cubicBezTo>
                  <a:lnTo>
                    <a:pt x="200839" y="299554"/>
                  </a:lnTo>
                  <a:cubicBezTo>
                    <a:pt x="188558" y="311195"/>
                    <a:pt x="162909" y="319964"/>
                    <a:pt x="145344" y="319964"/>
                  </a:cubicBezTo>
                  <a:cubicBezTo>
                    <a:pt x="127778" y="319964"/>
                    <a:pt x="119073" y="311815"/>
                    <a:pt x="119073" y="28674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1" name="Freeform 36">
              <a:extLst>
                <a:ext uri="{FF2B5EF4-FFF2-40B4-BE49-F238E27FC236}">
                  <a16:creationId xmlns:a16="http://schemas.microsoft.com/office/drawing/2014/main" id="{3050C1A2-E483-E73C-AA8B-084DDFA096C8}"/>
                </a:ext>
              </a:extLst>
            </p:cNvPr>
            <p:cNvSpPr/>
            <p:nvPr/>
          </p:nvSpPr>
          <p:spPr bwMode="invGray">
            <a:xfrm>
              <a:off x="3143614" y="4251132"/>
              <a:ext cx="238379" cy="382435"/>
            </a:xfrm>
            <a:custGeom>
              <a:avLst/>
              <a:gdLst>
                <a:gd name="connsiteX0" fmla="*/ 140136 w 238379"/>
                <a:gd name="connsiteY0" fmla="*/ 101429 h 382435"/>
                <a:gd name="connsiteX1" fmla="*/ 71273 w 238379"/>
                <a:gd name="connsiteY1" fmla="*/ 125952 h 382435"/>
                <a:gd name="connsiteX2" fmla="*/ 71273 w 238379"/>
                <a:gd name="connsiteY2" fmla="*/ 0 h 382435"/>
                <a:gd name="connsiteX3" fmla="*/ 0 w 238379"/>
                <a:gd name="connsiteY3" fmla="*/ 35543 h 382435"/>
                <a:gd name="connsiteX4" fmla="*/ 0 w 238379"/>
                <a:gd name="connsiteY4" fmla="*/ 382436 h 382435"/>
                <a:gd name="connsiteX5" fmla="*/ 71273 w 238379"/>
                <a:gd name="connsiteY5" fmla="*/ 382436 h 382435"/>
                <a:gd name="connsiteX6" fmla="*/ 71273 w 238379"/>
                <a:gd name="connsiteY6" fmla="*/ 230874 h 382435"/>
                <a:gd name="connsiteX7" fmla="*/ 119773 w 238379"/>
                <a:gd name="connsiteY7" fmla="*/ 168480 h 382435"/>
                <a:gd name="connsiteX8" fmla="*/ 167107 w 238379"/>
                <a:gd name="connsiteY8" fmla="*/ 232581 h 382435"/>
                <a:gd name="connsiteX9" fmla="*/ 167107 w 238379"/>
                <a:gd name="connsiteY9" fmla="*/ 382436 h 382435"/>
                <a:gd name="connsiteX10" fmla="*/ 238380 w 238379"/>
                <a:gd name="connsiteY10" fmla="*/ 382436 h 382435"/>
                <a:gd name="connsiteX11" fmla="*/ 238380 w 238379"/>
                <a:gd name="connsiteY11" fmla="*/ 226761 h 382435"/>
                <a:gd name="connsiteX12" fmla="*/ 140292 w 238379"/>
                <a:gd name="connsiteY12" fmla="*/ 101429 h 38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8379" h="382435">
                  <a:moveTo>
                    <a:pt x="140136" y="101429"/>
                  </a:moveTo>
                  <a:cubicBezTo>
                    <a:pt x="112700" y="101429"/>
                    <a:pt x="84641" y="109578"/>
                    <a:pt x="71273" y="125952"/>
                  </a:cubicBezTo>
                  <a:lnTo>
                    <a:pt x="71273" y="0"/>
                  </a:lnTo>
                  <a:lnTo>
                    <a:pt x="0" y="35543"/>
                  </a:lnTo>
                  <a:lnTo>
                    <a:pt x="0" y="382436"/>
                  </a:lnTo>
                  <a:lnTo>
                    <a:pt x="71273" y="382436"/>
                  </a:lnTo>
                  <a:lnTo>
                    <a:pt x="71273" y="230874"/>
                  </a:lnTo>
                  <a:cubicBezTo>
                    <a:pt x="71273" y="190054"/>
                    <a:pt x="83553" y="168480"/>
                    <a:pt x="119773" y="168480"/>
                  </a:cubicBezTo>
                  <a:cubicBezTo>
                    <a:pt x="158324" y="168480"/>
                    <a:pt x="167107" y="194167"/>
                    <a:pt x="167107" y="232581"/>
                  </a:cubicBezTo>
                  <a:lnTo>
                    <a:pt x="167107" y="382436"/>
                  </a:lnTo>
                  <a:lnTo>
                    <a:pt x="238380" y="382436"/>
                  </a:lnTo>
                  <a:lnTo>
                    <a:pt x="238380" y="226761"/>
                  </a:lnTo>
                  <a:cubicBezTo>
                    <a:pt x="238380" y="158546"/>
                    <a:pt x="212653" y="101429"/>
                    <a:pt x="140292" y="10142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2" name="Freeform 37">
              <a:extLst>
                <a:ext uri="{FF2B5EF4-FFF2-40B4-BE49-F238E27FC236}">
                  <a16:creationId xmlns:a16="http://schemas.microsoft.com/office/drawing/2014/main" id="{839E7096-3AD9-369E-C458-C5C0AF992C73}"/>
                </a:ext>
              </a:extLst>
            </p:cNvPr>
            <p:cNvSpPr/>
            <p:nvPr/>
          </p:nvSpPr>
          <p:spPr bwMode="invGray">
            <a:xfrm>
              <a:off x="2242171" y="4352251"/>
              <a:ext cx="237602" cy="382513"/>
            </a:xfrm>
            <a:custGeom>
              <a:avLst/>
              <a:gdLst>
                <a:gd name="connsiteX0" fmla="*/ 131354 w 237602"/>
                <a:gd name="connsiteY0" fmla="*/ 0 h 382513"/>
                <a:gd name="connsiteX1" fmla="*/ 68863 w 237602"/>
                <a:gd name="connsiteY1" fmla="*/ 24523 h 382513"/>
                <a:gd name="connsiteX2" fmla="*/ 68863 w 237602"/>
                <a:gd name="connsiteY2" fmla="*/ 5898 h 382513"/>
                <a:gd name="connsiteX3" fmla="*/ 0 w 237602"/>
                <a:gd name="connsiteY3" fmla="*/ 5898 h 382513"/>
                <a:gd name="connsiteX4" fmla="*/ 0 w 237602"/>
                <a:gd name="connsiteY4" fmla="*/ 382513 h 382513"/>
                <a:gd name="connsiteX5" fmla="*/ 68863 w 237602"/>
                <a:gd name="connsiteY5" fmla="*/ 348134 h 382513"/>
                <a:gd name="connsiteX6" fmla="*/ 68863 w 237602"/>
                <a:gd name="connsiteY6" fmla="*/ 264166 h 382513"/>
                <a:gd name="connsiteX7" fmla="*/ 130188 w 237602"/>
                <a:gd name="connsiteY7" fmla="*/ 286904 h 382513"/>
                <a:gd name="connsiteX8" fmla="*/ 237602 w 237602"/>
                <a:gd name="connsiteY8" fmla="*/ 144034 h 382513"/>
                <a:gd name="connsiteX9" fmla="*/ 131354 w 237602"/>
                <a:gd name="connsiteY9" fmla="*/ 0 h 382513"/>
                <a:gd name="connsiteX10" fmla="*/ 118529 w 237602"/>
                <a:gd name="connsiteY10" fmla="*/ 220940 h 382513"/>
                <a:gd name="connsiteX11" fmla="*/ 68863 w 237602"/>
                <a:gd name="connsiteY11" fmla="*/ 195874 h 382513"/>
                <a:gd name="connsiteX12" fmla="*/ 68863 w 237602"/>
                <a:gd name="connsiteY12" fmla="*/ 90953 h 382513"/>
                <a:gd name="connsiteX13" fmla="*/ 114410 w 237602"/>
                <a:gd name="connsiteY13" fmla="*/ 66430 h 382513"/>
                <a:gd name="connsiteX14" fmla="*/ 166407 w 237602"/>
                <a:gd name="connsiteY14" fmla="*/ 147449 h 382513"/>
                <a:gd name="connsiteX15" fmla="*/ 118529 w 237602"/>
                <a:gd name="connsiteY15" fmla="*/ 220940 h 382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7602" h="382513">
                  <a:moveTo>
                    <a:pt x="131354" y="0"/>
                  </a:moveTo>
                  <a:cubicBezTo>
                    <a:pt x="105627" y="0"/>
                    <a:pt x="86973" y="8149"/>
                    <a:pt x="68863" y="24523"/>
                  </a:cubicBezTo>
                  <a:lnTo>
                    <a:pt x="68863" y="5898"/>
                  </a:lnTo>
                  <a:lnTo>
                    <a:pt x="0" y="5898"/>
                  </a:lnTo>
                  <a:lnTo>
                    <a:pt x="0" y="382513"/>
                  </a:lnTo>
                  <a:lnTo>
                    <a:pt x="68863" y="348134"/>
                  </a:lnTo>
                  <a:lnTo>
                    <a:pt x="68863" y="264166"/>
                  </a:lnTo>
                  <a:cubicBezTo>
                    <a:pt x="81144" y="275807"/>
                    <a:pt x="99798" y="286904"/>
                    <a:pt x="130188" y="286904"/>
                  </a:cubicBezTo>
                  <a:cubicBezTo>
                    <a:pt x="208456" y="286904"/>
                    <a:pt x="237602" y="214577"/>
                    <a:pt x="237602" y="144034"/>
                  </a:cubicBezTo>
                  <a:cubicBezTo>
                    <a:pt x="237602" y="70000"/>
                    <a:pt x="205502" y="0"/>
                    <a:pt x="131354" y="0"/>
                  </a:cubicBezTo>
                  <a:close/>
                  <a:moveTo>
                    <a:pt x="118529" y="220940"/>
                  </a:moveTo>
                  <a:cubicBezTo>
                    <a:pt x="98709" y="220940"/>
                    <a:pt x="79978" y="211628"/>
                    <a:pt x="68863" y="195874"/>
                  </a:cubicBezTo>
                  <a:lnTo>
                    <a:pt x="68863" y="90953"/>
                  </a:lnTo>
                  <a:cubicBezTo>
                    <a:pt x="79978" y="75199"/>
                    <a:pt x="95134" y="66430"/>
                    <a:pt x="114410" y="66430"/>
                  </a:cubicBezTo>
                  <a:cubicBezTo>
                    <a:pt x="155837" y="66430"/>
                    <a:pt x="166407" y="107250"/>
                    <a:pt x="166407" y="147449"/>
                  </a:cubicBezTo>
                  <a:cubicBezTo>
                    <a:pt x="166407" y="187648"/>
                    <a:pt x="157080" y="220940"/>
                    <a:pt x="118529" y="220940"/>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3" name="Freeform 38">
              <a:extLst>
                <a:ext uri="{FF2B5EF4-FFF2-40B4-BE49-F238E27FC236}">
                  <a16:creationId xmlns:a16="http://schemas.microsoft.com/office/drawing/2014/main" id="{E70BDFFB-238F-A0D0-ECA6-B41AE760BD1D}"/>
                </a:ext>
              </a:extLst>
            </p:cNvPr>
            <p:cNvSpPr/>
            <p:nvPr/>
          </p:nvSpPr>
          <p:spPr bwMode="invGray">
            <a:xfrm>
              <a:off x="1958323" y="4352251"/>
              <a:ext cx="230063" cy="286826"/>
            </a:xfrm>
            <a:custGeom>
              <a:avLst/>
              <a:gdLst>
                <a:gd name="connsiteX0" fmla="*/ 230063 w 230063"/>
                <a:gd name="connsiteY0" fmla="*/ 281006 h 286826"/>
                <a:gd name="connsiteX1" fmla="*/ 230063 w 230063"/>
                <a:gd name="connsiteY1" fmla="*/ 96230 h 286826"/>
                <a:gd name="connsiteX2" fmla="*/ 117985 w 230063"/>
                <a:gd name="connsiteY2" fmla="*/ 0 h 286826"/>
                <a:gd name="connsiteX3" fmla="*/ 22773 w 230063"/>
                <a:gd name="connsiteY3" fmla="*/ 28015 h 286826"/>
                <a:gd name="connsiteX4" fmla="*/ 50210 w 230063"/>
                <a:gd name="connsiteY4" fmla="*/ 76984 h 286826"/>
                <a:gd name="connsiteX5" fmla="*/ 113866 w 230063"/>
                <a:gd name="connsiteY5" fmla="*/ 58902 h 286826"/>
                <a:gd name="connsiteX6" fmla="*/ 161122 w 230063"/>
                <a:gd name="connsiteY6" fmla="*/ 95066 h 286826"/>
                <a:gd name="connsiteX7" fmla="*/ 161122 w 230063"/>
                <a:gd name="connsiteY7" fmla="*/ 109655 h 286826"/>
                <a:gd name="connsiteX8" fmla="*/ 107415 w 230063"/>
                <a:gd name="connsiteY8" fmla="*/ 98558 h 286826"/>
                <a:gd name="connsiteX9" fmla="*/ 0 w 230063"/>
                <a:gd name="connsiteY9" fmla="*/ 191218 h 286826"/>
                <a:gd name="connsiteX10" fmla="*/ 96922 w 230063"/>
                <a:gd name="connsiteY10" fmla="*/ 286827 h 286826"/>
                <a:gd name="connsiteX11" fmla="*/ 161122 w 230063"/>
                <a:gd name="connsiteY11" fmla="*/ 261760 h 286826"/>
                <a:gd name="connsiteX12" fmla="*/ 161122 w 230063"/>
                <a:gd name="connsiteY12" fmla="*/ 281006 h 286826"/>
                <a:gd name="connsiteX13" fmla="*/ 229985 w 230063"/>
                <a:gd name="connsiteY13" fmla="*/ 281006 h 286826"/>
                <a:gd name="connsiteX14" fmla="*/ 109202 w 230063"/>
                <a:gd name="connsiteY14" fmla="*/ 227382 h 286826"/>
                <a:gd name="connsiteX15" fmla="*/ 70107 w 230063"/>
                <a:gd name="connsiteY15" fmla="*/ 189511 h 286826"/>
                <a:gd name="connsiteX16" fmla="*/ 115032 w 230063"/>
                <a:gd name="connsiteY16" fmla="*/ 153968 h 286826"/>
                <a:gd name="connsiteX17" fmla="*/ 161122 w 230063"/>
                <a:gd name="connsiteY17" fmla="*/ 165608 h 286826"/>
                <a:gd name="connsiteX18" fmla="*/ 161122 w 230063"/>
                <a:gd name="connsiteY18" fmla="*/ 200608 h 286826"/>
                <a:gd name="connsiteX19" fmla="*/ 109125 w 230063"/>
                <a:gd name="connsiteY19" fmla="*/ 227459 h 28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0063" h="286826">
                  <a:moveTo>
                    <a:pt x="230063" y="281006"/>
                  </a:moveTo>
                  <a:lnTo>
                    <a:pt x="230063" y="96230"/>
                  </a:lnTo>
                  <a:cubicBezTo>
                    <a:pt x="230063" y="33836"/>
                    <a:pt x="187470" y="0"/>
                    <a:pt x="117985" y="0"/>
                  </a:cubicBezTo>
                  <a:cubicBezTo>
                    <a:pt x="81222" y="0"/>
                    <a:pt x="52619" y="9313"/>
                    <a:pt x="22773" y="28015"/>
                  </a:cubicBezTo>
                  <a:lnTo>
                    <a:pt x="50210" y="76984"/>
                  </a:lnTo>
                  <a:cubicBezTo>
                    <a:pt x="71817" y="64179"/>
                    <a:pt x="92258" y="58902"/>
                    <a:pt x="113866" y="58902"/>
                  </a:cubicBezTo>
                  <a:cubicBezTo>
                    <a:pt x="144256" y="58902"/>
                    <a:pt x="161122" y="69379"/>
                    <a:pt x="161122" y="95066"/>
                  </a:cubicBezTo>
                  <a:lnTo>
                    <a:pt x="161122" y="109655"/>
                  </a:lnTo>
                  <a:cubicBezTo>
                    <a:pt x="143012" y="100886"/>
                    <a:pt x="124902" y="98558"/>
                    <a:pt x="107415" y="98558"/>
                  </a:cubicBezTo>
                  <a:cubicBezTo>
                    <a:pt x="41427" y="98558"/>
                    <a:pt x="0" y="131229"/>
                    <a:pt x="0" y="191218"/>
                  </a:cubicBezTo>
                  <a:cubicBezTo>
                    <a:pt x="0" y="251206"/>
                    <a:pt x="42593" y="286827"/>
                    <a:pt x="96922" y="286827"/>
                  </a:cubicBezTo>
                  <a:cubicBezTo>
                    <a:pt x="123814" y="286827"/>
                    <a:pt x="144800" y="278057"/>
                    <a:pt x="161122" y="261760"/>
                  </a:cubicBezTo>
                  <a:lnTo>
                    <a:pt x="161122" y="281006"/>
                  </a:lnTo>
                  <a:lnTo>
                    <a:pt x="229985" y="281006"/>
                  </a:lnTo>
                  <a:close/>
                  <a:moveTo>
                    <a:pt x="109202" y="227382"/>
                  </a:moveTo>
                  <a:cubicBezTo>
                    <a:pt x="83476" y="227382"/>
                    <a:pt x="70107" y="210464"/>
                    <a:pt x="70107" y="189511"/>
                  </a:cubicBezTo>
                  <a:cubicBezTo>
                    <a:pt x="70107" y="167393"/>
                    <a:pt x="84719" y="153968"/>
                    <a:pt x="115032" y="153968"/>
                  </a:cubicBezTo>
                  <a:cubicBezTo>
                    <a:pt x="129022" y="153968"/>
                    <a:pt x="147132" y="156917"/>
                    <a:pt x="161122" y="165608"/>
                  </a:cubicBezTo>
                  <a:lnTo>
                    <a:pt x="161122" y="200608"/>
                  </a:lnTo>
                  <a:cubicBezTo>
                    <a:pt x="145966" y="222725"/>
                    <a:pt x="122571" y="227459"/>
                    <a:pt x="109125" y="22745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4" name="Freeform 39">
              <a:extLst>
                <a:ext uri="{FF2B5EF4-FFF2-40B4-BE49-F238E27FC236}">
                  <a16:creationId xmlns:a16="http://schemas.microsoft.com/office/drawing/2014/main" id="{2236FBF1-D41C-7E49-755E-CD588B7B37C9}"/>
                </a:ext>
              </a:extLst>
            </p:cNvPr>
            <p:cNvSpPr/>
            <p:nvPr/>
          </p:nvSpPr>
          <p:spPr bwMode="invGray">
            <a:xfrm>
              <a:off x="1340728" y="4260755"/>
              <a:ext cx="284392" cy="378322"/>
            </a:xfrm>
            <a:custGeom>
              <a:avLst/>
              <a:gdLst>
                <a:gd name="connsiteX0" fmla="*/ 144800 w 284392"/>
                <a:gd name="connsiteY0" fmla="*/ 308944 h 378322"/>
                <a:gd name="connsiteX1" fmla="*/ 51376 w 284392"/>
                <a:gd name="connsiteY1" fmla="*/ 266960 h 378322"/>
                <a:gd name="connsiteX2" fmla="*/ 0 w 284392"/>
                <a:gd name="connsiteY2" fmla="*/ 312436 h 378322"/>
                <a:gd name="connsiteX3" fmla="*/ 146587 w 284392"/>
                <a:gd name="connsiteY3" fmla="*/ 378322 h 378322"/>
                <a:gd name="connsiteX4" fmla="*/ 284392 w 284392"/>
                <a:gd name="connsiteY4" fmla="*/ 262304 h 378322"/>
                <a:gd name="connsiteX5" fmla="*/ 251126 w 284392"/>
                <a:gd name="connsiteY5" fmla="*/ 185941 h 378322"/>
                <a:gd name="connsiteX6" fmla="*/ 161821 w 284392"/>
                <a:gd name="connsiteY6" fmla="*/ 149234 h 378322"/>
                <a:gd name="connsiteX7" fmla="*/ 102829 w 284392"/>
                <a:gd name="connsiteY7" fmla="*/ 129988 h 378322"/>
                <a:gd name="connsiteX8" fmla="*/ 87673 w 284392"/>
                <a:gd name="connsiteY8" fmla="*/ 104922 h 378322"/>
                <a:gd name="connsiteX9" fmla="*/ 141380 w 284392"/>
                <a:gd name="connsiteY9" fmla="*/ 69379 h 378322"/>
                <a:gd name="connsiteX10" fmla="*/ 224856 w 284392"/>
                <a:gd name="connsiteY10" fmla="*/ 106706 h 378322"/>
                <a:gd name="connsiteX11" fmla="*/ 276231 w 284392"/>
                <a:gd name="connsiteY11" fmla="*/ 56574 h 378322"/>
                <a:gd name="connsiteX12" fmla="*/ 146043 w 284392"/>
                <a:gd name="connsiteY12" fmla="*/ 0 h 378322"/>
                <a:gd name="connsiteX13" fmla="*/ 14068 w 284392"/>
                <a:gd name="connsiteY13" fmla="*/ 109035 h 378322"/>
                <a:gd name="connsiteX14" fmla="*/ 45624 w 284392"/>
                <a:gd name="connsiteY14" fmla="*/ 182526 h 378322"/>
                <a:gd name="connsiteX15" fmla="*/ 129100 w 284392"/>
                <a:gd name="connsiteY15" fmla="*/ 216362 h 378322"/>
                <a:gd name="connsiteX16" fmla="*/ 188636 w 284392"/>
                <a:gd name="connsiteY16" fmla="*/ 234444 h 378322"/>
                <a:gd name="connsiteX17" fmla="*/ 210243 w 284392"/>
                <a:gd name="connsiteY17" fmla="*/ 264166 h 378322"/>
                <a:gd name="connsiteX18" fmla="*/ 144878 w 284392"/>
                <a:gd name="connsiteY18" fmla="*/ 309022 h 37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4392" h="378322">
                  <a:moveTo>
                    <a:pt x="144800" y="308944"/>
                  </a:moveTo>
                  <a:cubicBezTo>
                    <a:pt x="109746" y="308944"/>
                    <a:pt x="75315" y="295518"/>
                    <a:pt x="51376" y="266960"/>
                  </a:cubicBezTo>
                  <a:lnTo>
                    <a:pt x="0" y="312436"/>
                  </a:lnTo>
                  <a:cubicBezTo>
                    <a:pt x="33266" y="361405"/>
                    <a:pt x="92802" y="378322"/>
                    <a:pt x="146587" y="378322"/>
                  </a:cubicBezTo>
                  <a:cubicBezTo>
                    <a:pt x="221358" y="378322"/>
                    <a:pt x="284392" y="345108"/>
                    <a:pt x="284392" y="262304"/>
                  </a:cubicBezTo>
                  <a:cubicBezTo>
                    <a:pt x="284392" y="227925"/>
                    <a:pt x="273278" y="204023"/>
                    <a:pt x="251126" y="185941"/>
                  </a:cubicBezTo>
                  <a:cubicBezTo>
                    <a:pt x="226021" y="165531"/>
                    <a:pt x="195087" y="157925"/>
                    <a:pt x="161821" y="149234"/>
                  </a:cubicBezTo>
                  <a:cubicBezTo>
                    <a:pt x="133763" y="142249"/>
                    <a:pt x="115731" y="136972"/>
                    <a:pt x="102829" y="129988"/>
                  </a:cubicBezTo>
                  <a:cubicBezTo>
                    <a:pt x="91714" y="123547"/>
                    <a:pt x="87673" y="116019"/>
                    <a:pt x="87673" y="104922"/>
                  </a:cubicBezTo>
                  <a:cubicBezTo>
                    <a:pt x="87673" y="79234"/>
                    <a:pt x="110446" y="69379"/>
                    <a:pt x="141380" y="69379"/>
                  </a:cubicBezTo>
                  <a:cubicBezTo>
                    <a:pt x="177599" y="69379"/>
                    <a:pt x="200917" y="82804"/>
                    <a:pt x="224856" y="106706"/>
                  </a:cubicBezTo>
                  <a:lnTo>
                    <a:pt x="276231" y="56574"/>
                  </a:lnTo>
                  <a:cubicBezTo>
                    <a:pt x="243509" y="23359"/>
                    <a:pt x="202626" y="0"/>
                    <a:pt x="146043" y="0"/>
                  </a:cubicBezTo>
                  <a:cubicBezTo>
                    <a:pt x="80678" y="0"/>
                    <a:pt x="14068" y="31508"/>
                    <a:pt x="14068" y="109035"/>
                  </a:cubicBezTo>
                  <a:cubicBezTo>
                    <a:pt x="14068" y="134101"/>
                    <a:pt x="21063" y="162659"/>
                    <a:pt x="45624" y="182526"/>
                  </a:cubicBezTo>
                  <a:cubicBezTo>
                    <a:pt x="70185" y="202315"/>
                    <a:pt x="109824" y="211706"/>
                    <a:pt x="129100" y="216362"/>
                  </a:cubicBezTo>
                  <a:cubicBezTo>
                    <a:pt x="160034" y="223967"/>
                    <a:pt x="175812" y="228002"/>
                    <a:pt x="188636" y="234444"/>
                  </a:cubicBezTo>
                  <a:cubicBezTo>
                    <a:pt x="206124" y="243213"/>
                    <a:pt x="210243" y="253689"/>
                    <a:pt x="210243" y="264166"/>
                  </a:cubicBezTo>
                  <a:cubicBezTo>
                    <a:pt x="210243" y="290397"/>
                    <a:pt x="186304" y="309022"/>
                    <a:pt x="144878" y="309022"/>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5" name="Freeform 40">
              <a:extLst>
                <a:ext uri="{FF2B5EF4-FFF2-40B4-BE49-F238E27FC236}">
                  <a16:creationId xmlns:a16="http://schemas.microsoft.com/office/drawing/2014/main" id="{D67C2851-2DFC-D44D-2FF1-7E304735A8D9}"/>
                </a:ext>
              </a:extLst>
            </p:cNvPr>
            <p:cNvSpPr/>
            <p:nvPr/>
          </p:nvSpPr>
          <p:spPr bwMode="invGray">
            <a:xfrm>
              <a:off x="4818877" y="4352329"/>
              <a:ext cx="177521" cy="281006"/>
            </a:xfrm>
            <a:custGeom>
              <a:avLst/>
              <a:gdLst>
                <a:gd name="connsiteX0" fmla="*/ 68864 w 177521"/>
                <a:gd name="connsiteY0" fmla="*/ 131074 h 281006"/>
                <a:gd name="connsiteX1" fmla="*/ 109669 w 177521"/>
                <a:gd name="connsiteY1" fmla="*/ 70465 h 281006"/>
                <a:gd name="connsiteX2" fmla="*/ 149386 w 177521"/>
                <a:gd name="connsiteY2" fmla="*/ 87383 h 281006"/>
                <a:gd name="connsiteX3" fmla="*/ 177522 w 177521"/>
                <a:gd name="connsiteY3" fmla="*/ 18625 h 281006"/>
                <a:gd name="connsiteX4" fmla="*/ 126690 w 177521"/>
                <a:gd name="connsiteY4" fmla="*/ 0 h 281006"/>
                <a:gd name="connsiteX5" fmla="*/ 68864 w 177521"/>
                <a:gd name="connsiteY5" fmla="*/ 25066 h 281006"/>
                <a:gd name="connsiteX6" fmla="*/ 68864 w 177521"/>
                <a:gd name="connsiteY6" fmla="*/ 5820 h 281006"/>
                <a:gd name="connsiteX7" fmla="*/ 0 w 177521"/>
                <a:gd name="connsiteY7" fmla="*/ 5820 h 281006"/>
                <a:gd name="connsiteX8" fmla="*/ 0 w 177521"/>
                <a:gd name="connsiteY8" fmla="*/ 281006 h 281006"/>
                <a:gd name="connsiteX9" fmla="*/ 68864 w 177521"/>
                <a:gd name="connsiteY9" fmla="*/ 281006 h 281006"/>
                <a:gd name="connsiteX10" fmla="*/ 68864 w 177521"/>
                <a:gd name="connsiteY10" fmla="*/ 131152 h 28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521" h="281006">
                  <a:moveTo>
                    <a:pt x="68864" y="131074"/>
                  </a:moveTo>
                  <a:cubicBezTo>
                    <a:pt x="68864" y="97859"/>
                    <a:pt x="76947" y="70465"/>
                    <a:pt x="109669" y="70465"/>
                  </a:cubicBezTo>
                  <a:cubicBezTo>
                    <a:pt x="126612" y="70465"/>
                    <a:pt x="138893" y="77449"/>
                    <a:pt x="149386" y="87383"/>
                  </a:cubicBezTo>
                  <a:lnTo>
                    <a:pt x="177522" y="18625"/>
                  </a:lnTo>
                  <a:cubicBezTo>
                    <a:pt x="162910" y="5820"/>
                    <a:pt x="145966" y="0"/>
                    <a:pt x="126690" y="0"/>
                  </a:cubicBezTo>
                  <a:cubicBezTo>
                    <a:pt x="104539" y="0"/>
                    <a:pt x="84642" y="9312"/>
                    <a:pt x="68864" y="25066"/>
                  </a:cubicBezTo>
                  <a:lnTo>
                    <a:pt x="68864" y="5820"/>
                  </a:lnTo>
                  <a:lnTo>
                    <a:pt x="0" y="5820"/>
                  </a:lnTo>
                  <a:lnTo>
                    <a:pt x="0" y="281006"/>
                  </a:lnTo>
                  <a:lnTo>
                    <a:pt x="68864" y="281006"/>
                  </a:lnTo>
                  <a:lnTo>
                    <a:pt x="68864" y="131152"/>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6" name="Freeform 41">
              <a:extLst>
                <a:ext uri="{FF2B5EF4-FFF2-40B4-BE49-F238E27FC236}">
                  <a16:creationId xmlns:a16="http://schemas.microsoft.com/office/drawing/2014/main" id="{07773179-D702-883C-8D94-780D7A9A2BFF}"/>
                </a:ext>
              </a:extLst>
            </p:cNvPr>
            <p:cNvSpPr/>
            <p:nvPr/>
          </p:nvSpPr>
          <p:spPr bwMode="invGray">
            <a:xfrm>
              <a:off x="5810324" y="4252839"/>
              <a:ext cx="81765" cy="81639"/>
            </a:xfrm>
            <a:custGeom>
              <a:avLst/>
              <a:gdLst>
                <a:gd name="connsiteX0" fmla="*/ 40883 w 81765"/>
                <a:gd name="connsiteY0" fmla="*/ 0 h 81639"/>
                <a:gd name="connsiteX1" fmla="*/ 0 w 81765"/>
                <a:gd name="connsiteY1" fmla="*/ 40820 h 81639"/>
                <a:gd name="connsiteX2" fmla="*/ 40883 w 81765"/>
                <a:gd name="connsiteY2" fmla="*/ 81640 h 81639"/>
                <a:gd name="connsiteX3" fmla="*/ 81766 w 81765"/>
                <a:gd name="connsiteY3" fmla="*/ 40820 h 81639"/>
                <a:gd name="connsiteX4" fmla="*/ 40883 w 81765"/>
                <a:gd name="connsiteY4" fmla="*/ 0 h 8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65" h="81639">
                  <a:moveTo>
                    <a:pt x="40883" y="0"/>
                  </a:moveTo>
                  <a:cubicBezTo>
                    <a:pt x="18110" y="0"/>
                    <a:pt x="0" y="18082"/>
                    <a:pt x="0" y="40820"/>
                  </a:cubicBezTo>
                  <a:cubicBezTo>
                    <a:pt x="0" y="63558"/>
                    <a:pt x="18110" y="81640"/>
                    <a:pt x="40883" y="81640"/>
                  </a:cubicBezTo>
                  <a:cubicBezTo>
                    <a:pt x="63656" y="81640"/>
                    <a:pt x="81766" y="63558"/>
                    <a:pt x="81766" y="40820"/>
                  </a:cubicBezTo>
                  <a:cubicBezTo>
                    <a:pt x="81766" y="18082"/>
                    <a:pt x="63656" y="0"/>
                    <a:pt x="40883" y="0"/>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7" name="Freeform 42">
              <a:extLst>
                <a:ext uri="{FF2B5EF4-FFF2-40B4-BE49-F238E27FC236}">
                  <a16:creationId xmlns:a16="http://schemas.microsoft.com/office/drawing/2014/main" id="{DF5C7105-377B-096F-5116-EC259FB2E204}"/>
                </a:ext>
              </a:extLst>
            </p:cNvPr>
            <p:cNvSpPr/>
            <p:nvPr/>
          </p:nvSpPr>
          <p:spPr bwMode="invGray">
            <a:xfrm>
              <a:off x="5379966" y="4358382"/>
              <a:ext cx="398257" cy="275185"/>
            </a:xfrm>
            <a:custGeom>
              <a:avLst/>
              <a:gdLst>
                <a:gd name="connsiteX0" fmla="*/ 279107 w 398257"/>
                <a:gd name="connsiteY0" fmla="*/ 159710 h 275185"/>
                <a:gd name="connsiteX1" fmla="*/ 232395 w 398257"/>
                <a:gd name="connsiteY1" fmla="*/ 0 h 275185"/>
                <a:gd name="connsiteX2" fmla="*/ 167651 w 398257"/>
                <a:gd name="connsiteY2" fmla="*/ 0 h 275185"/>
                <a:gd name="connsiteX3" fmla="*/ 120939 w 398257"/>
                <a:gd name="connsiteY3" fmla="*/ 159710 h 275185"/>
                <a:gd name="connsiteX4" fmla="*/ 79434 w 398257"/>
                <a:gd name="connsiteY4" fmla="*/ 0 h 275185"/>
                <a:gd name="connsiteX5" fmla="*/ 0 w 398257"/>
                <a:gd name="connsiteY5" fmla="*/ 0 h 275185"/>
                <a:gd name="connsiteX6" fmla="*/ 86429 w 398257"/>
                <a:gd name="connsiteY6" fmla="*/ 275186 h 275185"/>
                <a:gd name="connsiteX7" fmla="*/ 151873 w 398257"/>
                <a:gd name="connsiteY7" fmla="*/ 275186 h 275185"/>
                <a:gd name="connsiteX8" fmla="*/ 199129 w 398257"/>
                <a:gd name="connsiteY8" fmla="*/ 107870 h 275185"/>
                <a:gd name="connsiteX9" fmla="*/ 245841 w 398257"/>
                <a:gd name="connsiteY9" fmla="*/ 275186 h 275185"/>
                <a:gd name="connsiteX10" fmla="*/ 311285 w 398257"/>
                <a:gd name="connsiteY10" fmla="*/ 275186 h 275185"/>
                <a:gd name="connsiteX11" fmla="*/ 398258 w 398257"/>
                <a:gd name="connsiteY11" fmla="*/ 0 h 275185"/>
                <a:gd name="connsiteX12" fmla="*/ 321156 w 398257"/>
                <a:gd name="connsiteY12" fmla="*/ 0 h 275185"/>
                <a:gd name="connsiteX13" fmla="*/ 279107 w 398257"/>
                <a:gd name="connsiteY13" fmla="*/ 159710 h 275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8257" h="275185">
                  <a:moveTo>
                    <a:pt x="279107" y="159710"/>
                  </a:moveTo>
                  <a:lnTo>
                    <a:pt x="232395" y="0"/>
                  </a:lnTo>
                  <a:lnTo>
                    <a:pt x="167651" y="0"/>
                  </a:lnTo>
                  <a:lnTo>
                    <a:pt x="120939" y="159710"/>
                  </a:lnTo>
                  <a:lnTo>
                    <a:pt x="79434" y="0"/>
                  </a:lnTo>
                  <a:lnTo>
                    <a:pt x="0" y="0"/>
                  </a:lnTo>
                  <a:lnTo>
                    <a:pt x="86429" y="275186"/>
                  </a:lnTo>
                  <a:lnTo>
                    <a:pt x="151873" y="275186"/>
                  </a:lnTo>
                  <a:lnTo>
                    <a:pt x="199129" y="107870"/>
                  </a:lnTo>
                  <a:lnTo>
                    <a:pt x="245841" y="275186"/>
                  </a:lnTo>
                  <a:lnTo>
                    <a:pt x="311285" y="275186"/>
                  </a:lnTo>
                  <a:lnTo>
                    <a:pt x="398258" y="0"/>
                  </a:lnTo>
                  <a:lnTo>
                    <a:pt x="321156" y="0"/>
                  </a:lnTo>
                  <a:lnTo>
                    <a:pt x="279107" y="159710"/>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8" name="Freeform 43">
              <a:extLst>
                <a:ext uri="{FF2B5EF4-FFF2-40B4-BE49-F238E27FC236}">
                  <a16:creationId xmlns:a16="http://schemas.microsoft.com/office/drawing/2014/main" id="{AEABECA8-91CA-A465-0F84-F4EE6B870EDA}"/>
                </a:ext>
              </a:extLst>
            </p:cNvPr>
            <p:cNvSpPr/>
            <p:nvPr/>
          </p:nvSpPr>
          <p:spPr bwMode="invGray">
            <a:xfrm>
              <a:off x="5815609" y="4358382"/>
              <a:ext cx="71272" cy="275185"/>
            </a:xfrm>
            <a:custGeom>
              <a:avLst/>
              <a:gdLst>
                <a:gd name="connsiteX0" fmla="*/ 0 w 71272"/>
                <a:gd name="connsiteY0" fmla="*/ 0 h 275185"/>
                <a:gd name="connsiteX1" fmla="*/ 71273 w 71272"/>
                <a:gd name="connsiteY1" fmla="*/ 0 h 275185"/>
                <a:gd name="connsiteX2" fmla="*/ 71273 w 71272"/>
                <a:gd name="connsiteY2" fmla="*/ 275186 h 275185"/>
                <a:gd name="connsiteX3" fmla="*/ 0 w 71272"/>
                <a:gd name="connsiteY3" fmla="*/ 275186 h 275185"/>
              </a:gdLst>
              <a:ahLst/>
              <a:cxnLst>
                <a:cxn ang="0">
                  <a:pos x="connsiteX0" y="connsiteY0"/>
                </a:cxn>
                <a:cxn ang="0">
                  <a:pos x="connsiteX1" y="connsiteY1"/>
                </a:cxn>
                <a:cxn ang="0">
                  <a:pos x="connsiteX2" y="connsiteY2"/>
                </a:cxn>
                <a:cxn ang="0">
                  <a:pos x="connsiteX3" y="connsiteY3"/>
                </a:cxn>
              </a:cxnLst>
              <a:rect l="l" t="t" r="r" b="b"/>
              <a:pathLst>
                <a:path w="71272" h="275185">
                  <a:moveTo>
                    <a:pt x="0" y="0"/>
                  </a:moveTo>
                  <a:lnTo>
                    <a:pt x="71273" y="0"/>
                  </a:lnTo>
                  <a:lnTo>
                    <a:pt x="71273" y="275186"/>
                  </a:lnTo>
                  <a:lnTo>
                    <a:pt x="0" y="275186"/>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79" name="Freeform 44">
              <a:extLst>
                <a:ext uri="{FF2B5EF4-FFF2-40B4-BE49-F238E27FC236}">
                  <a16:creationId xmlns:a16="http://schemas.microsoft.com/office/drawing/2014/main" id="{D9AF6C57-F264-A6AF-EE70-065FE405FBC6}"/>
                </a:ext>
              </a:extLst>
            </p:cNvPr>
            <p:cNvSpPr/>
            <p:nvPr/>
          </p:nvSpPr>
          <p:spPr bwMode="invGray">
            <a:xfrm>
              <a:off x="6582279" y="4352561"/>
              <a:ext cx="240555" cy="286904"/>
            </a:xfrm>
            <a:custGeom>
              <a:avLst/>
              <a:gdLst>
                <a:gd name="connsiteX0" fmla="*/ 131975 w 240555"/>
                <a:gd name="connsiteY0" fmla="*/ 218069 h 286904"/>
                <a:gd name="connsiteX1" fmla="*/ 73605 w 240555"/>
                <a:gd name="connsiteY1" fmla="*/ 142870 h 286904"/>
                <a:gd name="connsiteX2" fmla="*/ 131431 w 240555"/>
                <a:gd name="connsiteY2" fmla="*/ 68215 h 286904"/>
                <a:gd name="connsiteX3" fmla="*/ 193300 w 240555"/>
                <a:gd name="connsiteY3" fmla="*/ 106706 h 286904"/>
                <a:gd name="connsiteX4" fmla="*/ 240012 w 240555"/>
                <a:gd name="connsiteY4" fmla="*/ 59445 h 286904"/>
                <a:gd name="connsiteX5" fmla="*/ 131975 w 240555"/>
                <a:gd name="connsiteY5" fmla="*/ 0 h 286904"/>
                <a:gd name="connsiteX6" fmla="*/ 0 w 240555"/>
                <a:gd name="connsiteY6" fmla="*/ 144034 h 286904"/>
                <a:gd name="connsiteX7" fmla="*/ 130810 w 240555"/>
                <a:gd name="connsiteY7" fmla="*/ 286904 h 286904"/>
                <a:gd name="connsiteX8" fmla="*/ 240556 w 240555"/>
                <a:gd name="connsiteY8" fmla="*/ 226295 h 286904"/>
                <a:gd name="connsiteX9" fmla="*/ 195010 w 240555"/>
                <a:gd name="connsiteY9" fmla="*/ 183147 h 286904"/>
                <a:gd name="connsiteX10" fmla="*/ 131975 w 240555"/>
                <a:gd name="connsiteY10" fmla="*/ 218146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0555" h="286904">
                  <a:moveTo>
                    <a:pt x="131975" y="218069"/>
                  </a:moveTo>
                  <a:cubicBezTo>
                    <a:pt x="91093" y="218069"/>
                    <a:pt x="73605" y="182526"/>
                    <a:pt x="73605" y="142870"/>
                  </a:cubicBezTo>
                  <a:cubicBezTo>
                    <a:pt x="73605" y="100343"/>
                    <a:pt x="93424" y="68215"/>
                    <a:pt x="131431" y="68215"/>
                  </a:cubicBezTo>
                  <a:cubicBezTo>
                    <a:pt x="159490" y="68215"/>
                    <a:pt x="176978" y="85132"/>
                    <a:pt x="193300" y="106706"/>
                  </a:cubicBezTo>
                  <a:lnTo>
                    <a:pt x="240012" y="59445"/>
                  </a:lnTo>
                  <a:cubicBezTo>
                    <a:pt x="214907" y="22117"/>
                    <a:pt x="181019" y="0"/>
                    <a:pt x="131975" y="0"/>
                  </a:cubicBezTo>
                  <a:cubicBezTo>
                    <a:pt x="46168" y="0"/>
                    <a:pt x="0" y="68215"/>
                    <a:pt x="0" y="144034"/>
                  </a:cubicBezTo>
                  <a:cubicBezTo>
                    <a:pt x="0" y="226838"/>
                    <a:pt x="55495" y="286904"/>
                    <a:pt x="130810" y="286904"/>
                  </a:cubicBezTo>
                  <a:cubicBezTo>
                    <a:pt x="185139" y="286904"/>
                    <a:pt x="217239" y="256018"/>
                    <a:pt x="240556" y="226295"/>
                  </a:cubicBezTo>
                  <a:lnTo>
                    <a:pt x="195010" y="183147"/>
                  </a:lnTo>
                  <a:cubicBezTo>
                    <a:pt x="178065" y="204721"/>
                    <a:pt x="157080" y="218146"/>
                    <a:pt x="131975" y="218146"/>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0" name="Freeform 45">
              <a:extLst>
                <a:ext uri="{FF2B5EF4-FFF2-40B4-BE49-F238E27FC236}">
                  <a16:creationId xmlns:a16="http://schemas.microsoft.com/office/drawing/2014/main" id="{763D9A8B-291B-816C-BAE2-9F2933C5DC4B}"/>
                </a:ext>
              </a:extLst>
            </p:cNvPr>
            <p:cNvSpPr/>
            <p:nvPr/>
          </p:nvSpPr>
          <p:spPr bwMode="invGray">
            <a:xfrm>
              <a:off x="7751870" y="4251132"/>
              <a:ext cx="247007" cy="388255"/>
            </a:xfrm>
            <a:custGeom>
              <a:avLst/>
              <a:gdLst>
                <a:gd name="connsiteX0" fmla="*/ 175734 w 247007"/>
                <a:gd name="connsiteY0" fmla="*/ 123547 h 388255"/>
                <a:gd name="connsiteX1" fmla="*/ 111534 w 247007"/>
                <a:gd name="connsiteY1" fmla="*/ 101429 h 388255"/>
                <a:gd name="connsiteX2" fmla="*/ 0 w 247007"/>
                <a:gd name="connsiteY2" fmla="*/ 242514 h 388255"/>
                <a:gd name="connsiteX3" fmla="*/ 113244 w 247007"/>
                <a:gd name="connsiteY3" fmla="*/ 388256 h 388255"/>
                <a:gd name="connsiteX4" fmla="*/ 175734 w 247007"/>
                <a:gd name="connsiteY4" fmla="*/ 364354 h 388255"/>
                <a:gd name="connsiteX5" fmla="*/ 175734 w 247007"/>
                <a:gd name="connsiteY5" fmla="*/ 382436 h 388255"/>
                <a:gd name="connsiteX6" fmla="*/ 247007 w 247007"/>
                <a:gd name="connsiteY6" fmla="*/ 382436 h 388255"/>
                <a:gd name="connsiteX7" fmla="*/ 247007 w 247007"/>
                <a:gd name="connsiteY7" fmla="*/ 0 h 388255"/>
                <a:gd name="connsiteX8" fmla="*/ 175734 w 247007"/>
                <a:gd name="connsiteY8" fmla="*/ 35543 h 388255"/>
                <a:gd name="connsiteX9" fmla="*/ 175734 w 247007"/>
                <a:gd name="connsiteY9" fmla="*/ 123547 h 388255"/>
                <a:gd name="connsiteX10" fmla="*/ 175734 w 247007"/>
                <a:gd name="connsiteY10" fmla="*/ 297303 h 388255"/>
                <a:gd name="connsiteX11" fmla="*/ 127856 w 247007"/>
                <a:gd name="connsiteY11" fmla="*/ 321206 h 388255"/>
                <a:gd name="connsiteX12" fmla="*/ 74693 w 247007"/>
                <a:gd name="connsiteY12" fmla="*/ 240186 h 388255"/>
                <a:gd name="connsiteX13" fmla="*/ 126069 w 247007"/>
                <a:gd name="connsiteY13" fmla="*/ 168480 h 388255"/>
                <a:gd name="connsiteX14" fmla="*/ 175734 w 247007"/>
                <a:gd name="connsiteY14" fmla="*/ 192382 h 388255"/>
                <a:gd name="connsiteX15" fmla="*/ 175734 w 247007"/>
                <a:gd name="connsiteY15" fmla="*/ 297303 h 38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7007" h="388255">
                  <a:moveTo>
                    <a:pt x="175734" y="123547"/>
                  </a:moveTo>
                  <a:cubicBezTo>
                    <a:pt x="158246" y="107793"/>
                    <a:pt x="135473" y="101429"/>
                    <a:pt x="111534" y="101429"/>
                  </a:cubicBezTo>
                  <a:cubicBezTo>
                    <a:pt x="39717" y="101429"/>
                    <a:pt x="0" y="159167"/>
                    <a:pt x="0" y="242514"/>
                  </a:cubicBezTo>
                  <a:cubicBezTo>
                    <a:pt x="0" y="319498"/>
                    <a:pt x="33888" y="388256"/>
                    <a:pt x="113244" y="388256"/>
                  </a:cubicBezTo>
                  <a:cubicBezTo>
                    <a:pt x="138349" y="388256"/>
                    <a:pt x="152339" y="381271"/>
                    <a:pt x="175734" y="364354"/>
                  </a:cubicBezTo>
                  <a:lnTo>
                    <a:pt x="175734" y="382436"/>
                  </a:lnTo>
                  <a:lnTo>
                    <a:pt x="247007" y="382436"/>
                  </a:lnTo>
                  <a:lnTo>
                    <a:pt x="247007" y="0"/>
                  </a:lnTo>
                  <a:lnTo>
                    <a:pt x="175734" y="35543"/>
                  </a:lnTo>
                  <a:lnTo>
                    <a:pt x="175734" y="123547"/>
                  </a:lnTo>
                  <a:close/>
                  <a:moveTo>
                    <a:pt x="175734" y="297303"/>
                  </a:moveTo>
                  <a:cubicBezTo>
                    <a:pt x="161744" y="312436"/>
                    <a:pt x="147676" y="321206"/>
                    <a:pt x="127856" y="321206"/>
                  </a:cubicBezTo>
                  <a:cubicBezTo>
                    <a:pt x="87595" y="321206"/>
                    <a:pt x="74693" y="284499"/>
                    <a:pt x="74693" y="240186"/>
                  </a:cubicBezTo>
                  <a:cubicBezTo>
                    <a:pt x="74693" y="201151"/>
                    <a:pt x="84642" y="168480"/>
                    <a:pt x="126069" y="168480"/>
                  </a:cubicBezTo>
                  <a:cubicBezTo>
                    <a:pt x="145888" y="168480"/>
                    <a:pt x="160500" y="176085"/>
                    <a:pt x="175734" y="192382"/>
                  </a:cubicBezTo>
                  <a:lnTo>
                    <a:pt x="175734" y="297303"/>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1" name="Freeform 46">
              <a:extLst>
                <a:ext uri="{FF2B5EF4-FFF2-40B4-BE49-F238E27FC236}">
                  <a16:creationId xmlns:a16="http://schemas.microsoft.com/office/drawing/2014/main" id="{447229EB-34AB-221B-6A6B-E5AA86D5DA21}"/>
                </a:ext>
              </a:extLst>
            </p:cNvPr>
            <p:cNvSpPr/>
            <p:nvPr/>
          </p:nvSpPr>
          <p:spPr bwMode="invGray">
            <a:xfrm>
              <a:off x="8325162" y="4352561"/>
              <a:ext cx="237757" cy="281083"/>
            </a:xfrm>
            <a:custGeom>
              <a:avLst/>
              <a:gdLst>
                <a:gd name="connsiteX0" fmla="*/ 138426 w 237757"/>
                <a:gd name="connsiteY0" fmla="*/ 0 h 281083"/>
                <a:gd name="connsiteX1" fmla="*/ 71273 w 237757"/>
                <a:gd name="connsiteY1" fmla="*/ 24523 h 281083"/>
                <a:gd name="connsiteX2" fmla="*/ 71273 w 237757"/>
                <a:gd name="connsiteY2" fmla="*/ 5898 h 281083"/>
                <a:gd name="connsiteX3" fmla="*/ 0 w 237757"/>
                <a:gd name="connsiteY3" fmla="*/ 5898 h 281083"/>
                <a:gd name="connsiteX4" fmla="*/ 0 w 237757"/>
                <a:gd name="connsiteY4" fmla="*/ 281084 h 281083"/>
                <a:gd name="connsiteX5" fmla="*/ 71273 w 237757"/>
                <a:gd name="connsiteY5" fmla="*/ 281084 h 281083"/>
                <a:gd name="connsiteX6" fmla="*/ 71273 w 237757"/>
                <a:gd name="connsiteY6" fmla="*/ 129522 h 281083"/>
                <a:gd name="connsiteX7" fmla="*/ 119151 w 237757"/>
                <a:gd name="connsiteY7" fmla="*/ 67128 h 281083"/>
                <a:gd name="connsiteX8" fmla="*/ 166485 w 237757"/>
                <a:gd name="connsiteY8" fmla="*/ 131229 h 281083"/>
                <a:gd name="connsiteX9" fmla="*/ 166485 w 237757"/>
                <a:gd name="connsiteY9" fmla="*/ 281084 h 281083"/>
                <a:gd name="connsiteX10" fmla="*/ 237758 w 237757"/>
                <a:gd name="connsiteY10" fmla="*/ 281084 h 281083"/>
                <a:gd name="connsiteX11" fmla="*/ 237758 w 237757"/>
                <a:gd name="connsiteY11" fmla="*/ 125409 h 281083"/>
                <a:gd name="connsiteX12" fmla="*/ 138504 w 237757"/>
                <a:gd name="connsiteY12" fmla="*/ 78 h 28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7757" h="281083">
                  <a:moveTo>
                    <a:pt x="138426" y="0"/>
                  </a:moveTo>
                  <a:cubicBezTo>
                    <a:pt x="107492" y="0"/>
                    <a:pt x="85885" y="9933"/>
                    <a:pt x="71273" y="24523"/>
                  </a:cubicBezTo>
                  <a:lnTo>
                    <a:pt x="71273" y="5898"/>
                  </a:lnTo>
                  <a:lnTo>
                    <a:pt x="0" y="5898"/>
                  </a:lnTo>
                  <a:lnTo>
                    <a:pt x="0" y="281084"/>
                  </a:lnTo>
                  <a:lnTo>
                    <a:pt x="71273" y="281084"/>
                  </a:lnTo>
                  <a:lnTo>
                    <a:pt x="71273" y="129522"/>
                  </a:lnTo>
                  <a:cubicBezTo>
                    <a:pt x="71273" y="88702"/>
                    <a:pt x="82931" y="67128"/>
                    <a:pt x="119151" y="67128"/>
                  </a:cubicBezTo>
                  <a:cubicBezTo>
                    <a:pt x="157702" y="67128"/>
                    <a:pt x="166485" y="92815"/>
                    <a:pt x="166485" y="131229"/>
                  </a:cubicBezTo>
                  <a:lnTo>
                    <a:pt x="166485" y="281084"/>
                  </a:lnTo>
                  <a:lnTo>
                    <a:pt x="237758" y="281084"/>
                  </a:lnTo>
                  <a:lnTo>
                    <a:pt x="237758" y="125409"/>
                  </a:lnTo>
                  <a:cubicBezTo>
                    <a:pt x="237758" y="57816"/>
                    <a:pt x="213197" y="78"/>
                    <a:pt x="138504" y="78"/>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2" name="Freeform 47">
              <a:extLst>
                <a:ext uri="{FF2B5EF4-FFF2-40B4-BE49-F238E27FC236}">
                  <a16:creationId xmlns:a16="http://schemas.microsoft.com/office/drawing/2014/main" id="{96DC4DCD-18CC-3208-73E9-0CB399D808D5}"/>
                </a:ext>
              </a:extLst>
            </p:cNvPr>
            <p:cNvSpPr/>
            <p:nvPr/>
          </p:nvSpPr>
          <p:spPr bwMode="invGray">
            <a:xfrm>
              <a:off x="8041469" y="4352561"/>
              <a:ext cx="238846" cy="286904"/>
            </a:xfrm>
            <a:custGeom>
              <a:avLst/>
              <a:gdLst>
                <a:gd name="connsiteX0" fmla="*/ 122027 w 238846"/>
                <a:gd name="connsiteY0" fmla="*/ 0 h 286904"/>
                <a:gd name="connsiteX1" fmla="*/ 0 w 238846"/>
                <a:gd name="connsiteY1" fmla="*/ 144034 h 286904"/>
                <a:gd name="connsiteX2" fmla="*/ 126690 w 238846"/>
                <a:gd name="connsiteY2" fmla="*/ 286904 h 286904"/>
                <a:gd name="connsiteX3" fmla="*/ 226566 w 238846"/>
                <a:gd name="connsiteY3" fmla="*/ 243213 h 286904"/>
                <a:gd name="connsiteX4" fmla="*/ 177522 w 238846"/>
                <a:gd name="connsiteY4" fmla="*/ 201850 h 286904"/>
                <a:gd name="connsiteX5" fmla="*/ 129644 w 238846"/>
                <a:gd name="connsiteY5" fmla="*/ 221095 h 286904"/>
                <a:gd name="connsiteX6" fmla="*/ 70651 w 238846"/>
                <a:gd name="connsiteY6" fmla="*/ 166850 h 286904"/>
                <a:gd name="connsiteX7" fmla="*/ 237680 w 238846"/>
                <a:gd name="connsiteY7" fmla="*/ 166850 h 286904"/>
                <a:gd name="connsiteX8" fmla="*/ 238846 w 238846"/>
                <a:gd name="connsiteY8" fmla="*/ 142948 h 286904"/>
                <a:gd name="connsiteX9" fmla="*/ 122027 w 238846"/>
                <a:gd name="connsiteY9" fmla="*/ 78 h 286904"/>
                <a:gd name="connsiteX10" fmla="*/ 71817 w 238846"/>
                <a:gd name="connsiteY10" fmla="*/ 113070 h 286904"/>
                <a:gd name="connsiteX11" fmla="*/ 119695 w 238846"/>
                <a:gd name="connsiteY11" fmla="*/ 61152 h 286904"/>
                <a:gd name="connsiteX12" fmla="*/ 169905 w 238846"/>
                <a:gd name="connsiteY12" fmla="*/ 113070 h 286904"/>
                <a:gd name="connsiteX13" fmla="*/ 71817 w 238846"/>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6" h="286904">
                  <a:moveTo>
                    <a:pt x="122027" y="0"/>
                  </a:moveTo>
                  <a:cubicBezTo>
                    <a:pt x="54329" y="0"/>
                    <a:pt x="0" y="55953"/>
                    <a:pt x="0" y="144034"/>
                  </a:cubicBezTo>
                  <a:cubicBezTo>
                    <a:pt x="0" y="225053"/>
                    <a:pt x="46090" y="286904"/>
                    <a:pt x="126690" y="286904"/>
                  </a:cubicBezTo>
                  <a:cubicBezTo>
                    <a:pt x="161744" y="286904"/>
                    <a:pt x="200839" y="275264"/>
                    <a:pt x="226566" y="243213"/>
                  </a:cubicBezTo>
                  <a:lnTo>
                    <a:pt x="177522" y="201850"/>
                  </a:lnTo>
                  <a:cubicBezTo>
                    <a:pt x="163532" y="215818"/>
                    <a:pt x="147131" y="221095"/>
                    <a:pt x="129644" y="221095"/>
                  </a:cubicBezTo>
                  <a:cubicBezTo>
                    <a:pt x="99876" y="221095"/>
                    <a:pt x="73605" y="205342"/>
                    <a:pt x="70651" y="166850"/>
                  </a:cubicBezTo>
                  <a:lnTo>
                    <a:pt x="237680" y="166850"/>
                  </a:lnTo>
                  <a:cubicBezTo>
                    <a:pt x="238302" y="162737"/>
                    <a:pt x="238846" y="151717"/>
                    <a:pt x="238846" y="142948"/>
                  </a:cubicBezTo>
                  <a:cubicBezTo>
                    <a:pt x="238846" y="63636"/>
                    <a:pt x="194466"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3" name="Freeform 48">
              <a:extLst>
                <a:ext uri="{FF2B5EF4-FFF2-40B4-BE49-F238E27FC236}">
                  <a16:creationId xmlns:a16="http://schemas.microsoft.com/office/drawing/2014/main" id="{A6B593FB-601E-08DD-51F0-252671F70137}"/>
                </a:ext>
              </a:extLst>
            </p:cNvPr>
            <p:cNvSpPr/>
            <p:nvPr/>
          </p:nvSpPr>
          <p:spPr bwMode="invGray">
            <a:xfrm>
              <a:off x="8867054" y="4352561"/>
              <a:ext cx="238845" cy="286904"/>
            </a:xfrm>
            <a:custGeom>
              <a:avLst/>
              <a:gdLst>
                <a:gd name="connsiteX0" fmla="*/ 122026 w 238845"/>
                <a:gd name="connsiteY0" fmla="*/ 0 h 286904"/>
                <a:gd name="connsiteX1" fmla="*/ 0 w 238845"/>
                <a:gd name="connsiteY1" fmla="*/ 144034 h 286904"/>
                <a:gd name="connsiteX2" fmla="*/ 126690 w 238845"/>
                <a:gd name="connsiteY2" fmla="*/ 286904 h 286904"/>
                <a:gd name="connsiteX3" fmla="*/ 226565 w 238845"/>
                <a:gd name="connsiteY3" fmla="*/ 243213 h 286904"/>
                <a:gd name="connsiteX4" fmla="*/ 177521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6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6" y="0"/>
                  </a:moveTo>
                  <a:cubicBezTo>
                    <a:pt x="54329" y="0"/>
                    <a:pt x="0" y="55953"/>
                    <a:pt x="0" y="144034"/>
                  </a:cubicBezTo>
                  <a:cubicBezTo>
                    <a:pt x="0" y="225053"/>
                    <a:pt x="46090" y="286904"/>
                    <a:pt x="126690" y="286904"/>
                  </a:cubicBezTo>
                  <a:cubicBezTo>
                    <a:pt x="161744" y="286904"/>
                    <a:pt x="200839" y="275264"/>
                    <a:pt x="226565" y="243213"/>
                  </a:cubicBezTo>
                  <a:lnTo>
                    <a:pt x="177521" y="201850"/>
                  </a:lnTo>
                  <a:cubicBezTo>
                    <a:pt x="163531" y="215818"/>
                    <a:pt x="147131" y="221095"/>
                    <a:pt x="129644" y="221095"/>
                  </a:cubicBezTo>
                  <a:cubicBezTo>
                    <a:pt x="99875" y="221095"/>
                    <a:pt x="73604" y="205342"/>
                    <a:pt x="70651" y="166850"/>
                  </a:cubicBezTo>
                  <a:lnTo>
                    <a:pt x="237680" y="166850"/>
                  </a:lnTo>
                  <a:cubicBezTo>
                    <a:pt x="238302" y="162737"/>
                    <a:pt x="238846" y="151717"/>
                    <a:pt x="238846" y="142948"/>
                  </a:cubicBezTo>
                  <a:cubicBezTo>
                    <a:pt x="238846" y="63636"/>
                    <a:pt x="194465" y="78"/>
                    <a:pt x="122026" y="78"/>
                  </a:cubicBezTo>
                  <a:close/>
                  <a:moveTo>
                    <a:pt x="71817" y="113070"/>
                  </a:moveTo>
                  <a:cubicBezTo>
                    <a:pt x="73604"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4" name="Freeform 49">
              <a:extLst>
                <a:ext uri="{FF2B5EF4-FFF2-40B4-BE49-F238E27FC236}">
                  <a16:creationId xmlns:a16="http://schemas.microsoft.com/office/drawing/2014/main" id="{CF35BA5B-8E79-AF0B-08EF-D29735F613C7}"/>
                </a:ext>
              </a:extLst>
            </p:cNvPr>
            <p:cNvSpPr/>
            <p:nvPr/>
          </p:nvSpPr>
          <p:spPr bwMode="invGray">
            <a:xfrm>
              <a:off x="4999974" y="4352561"/>
              <a:ext cx="238845" cy="286904"/>
            </a:xfrm>
            <a:custGeom>
              <a:avLst/>
              <a:gdLst>
                <a:gd name="connsiteX0" fmla="*/ 122027 w 238845"/>
                <a:gd name="connsiteY0" fmla="*/ 0 h 286904"/>
                <a:gd name="connsiteX1" fmla="*/ 0 w 238845"/>
                <a:gd name="connsiteY1" fmla="*/ 144034 h 286904"/>
                <a:gd name="connsiteX2" fmla="*/ 126690 w 238845"/>
                <a:gd name="connsiteY2" fmla="*/ 286904 h 286904"/>
                <a:gd name="connsiteX3" fmla="*/ 226565 w 238845"/>
                <a:gd name="connsiteY3" fmla="*/ 243213 h 286904"/>
                <a:gd name="connsiteX4" fmla="*/ 177522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7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7" y="0"/>
                  </a:moveTo>
                  <a:cubicBezTo>
                    <a:pt x="54329" y="0"/>
                    <a:pt x="0" y="55953"/>
                    <a:pt x="0" y="144034"/>
                  </a:cubicBezTo>
                  <a:cubicBezTo>
                    <a:pt x="0" y="225053"/>
                    <a:pt x="46090" y="286904"/>
                    <a:pt x="126690" y="286904"/>
                  </a:cubicBezTo>
                  <a:cubicBezTo>
                    <a:pt x="161744" y="286904"/>
                    <a:pt x="200839" y="275264"/>
                    <a:pt x="226565" y="243213"/>
                  </a:cubicBezTo>
                  <a:lnTo>
                    <a:pt x="177522" y="201850"/>
                  </a:lnTo>
                  <a:cubicBezTo>
                    <a:pt x="163531" y="215818"/>
                    <a:pt x="147131" y="221095"/>
                    <a:pt x="129644" y="221095"/>
                  </a:cubicBezTo>
                  <a:cubicBezTo>
                    <a:pt x="99875" y="221095"/>
                    <a:pt x="73605" y="205342"/>
                    <a:pt x="70651" y="166850"/>
                  </a:cubicBezTo>
                  <a:lnTo>
                    <a:pt x="237680" y="166850"/>
                  </a:lnTo>
                  <a:cubicBezTo>
                    <a:pt x="238302" y="162737"/>
                    <a:pt x="238846" y="151717"/>
                    <a:pt x="238846" y="142948"/>
                  </a:cubicBezTo>
                  <a:cubicBezTo>
                    <a:pt x="238846" y="63636"/>
                    <a:pt x="194465"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5" name="Freeform 50">
              <a:extLst>
                <a:ext uri="{FF2B5EF4-FFF2-40B4-BE49-F238E27FC236}">
                  <a16:creationId xmlns:a16="http://schemas.microsoft.com/office/drawing/2014/main" id="{30D8CD19-A19D-5902-8B6B-E16E29060132}"/>
                </a:ext>
              </a:extLst>
            </p:cNvPr>
            <p:cNvSpPr/>
            <p:nvPr/>
          </p:nvSpPr>
          <p:spPr bwMode="invGray">
            <a:xfrm>
              <a:off x="3424508" y="4352561"/>
              <a:ext cx="238845" cy="286904"/>
            </a:xfrm>
            <a:custGeom>
              <a:avLst/>
              <a:gdLst>
                <a:gd name="connsiteX0" fmla="*/ 122027 w 238845"/>
                <a:gd name="connsiteY0" fmla="*/ 0 h 286904"/>
                <a:gd name="connsiteX1" fmla="*/ 0 w 238845"/>
                <a:gd name="connsiteY1" fmla="*/ 144034 h 286904"/>
                <a:gd name="connsiteX2" fmla="*/ 126690 w 238845"/>
                <a:gd name="connsiteY2" fmla="*/ 286904 h 286904"/>
                <a:gd name="connsiteX3" fmla="*/ 226565 w 238845"/>
                <a:gd name="connsiteY3" fmla="*/ 243213 h 286904"/>
                <a:gd name="connsiteX4" fmla="*/ 177522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7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7" y="0"/>
                  </a:moveTo>
                  <a:cubicBezTo>
                    <a:pt x="54329" y="0"/>
                    <a:pt x="0" y="55953"/>
                    <a:pt x="0" y="144034"/>
                  </a:cubicBezTo>
                  <a:cubicBezTo>
                    <a:pt x="0" y="225053"/>
                    <a:pt x="46090" y="286904"/>
                    <a:pt x="126690" y="286904"/>
                  </a:cubicBezTo>
                  <a:cubicBezTo>
                    <a:pt x="161744" y="286904"/>
                    <a:pt x="200839" y="275264"/>
                    <a:pt x="226565" y="243213"/>
                  </a:cubicBezTo>
                  <a:lnTo>
                    <a:pt x="177522" y="201850"/>
                  </a:lnTo>
                  <a:cubicBezTo>
                    <a:pt x="163531" y="215818"/>
                    <a:pt x="147131" y="221095"/>
                    <a:pt x="129644" y="221095"/>
                  </a:cubicBezTo>
                  <a:cubicBezTo>
                    <a:pt x="99875" y="221095"/>
                    <a:pt x="73605" y="205342"/>
                    <a:pt x="70651" y="166850"/>
                  </a:cubicBezTo>
                  <a:lnTo>
                    <a:pt x="237680" y="166850"/>
                  </a:lnTo>
                  <a:cubicBezTo>
                    <a:pt x="238302" y="162737"/>
                    <a:pt x="238846" y="151717"/>
                    <a:pt x="238846" y="142948"/>
                  </a:cubicBezTo>
                  <a:cubicBezTo>
                    <a:pt x="238846" y="63636"/>
                    <a:pt x="194465"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6" name="Freeform 51">
              <a:extLst>
                <a:ext uri="{FF2B5EF4-FFF2-40B4-BE49-F238E27FC236}">
                  <a16:creationId xmlns:a16="http://schemas.microsoft.com/office/drawing/2014/main" id="{0B1386DC-02C9-F4FF-C998-B8B68CBAD3B4}"/>
                </a:ext>
              </a:extLst>
            </p:cNvPr>
            <p:cNvSpPr/>
            <p:nvPr/>
          </p:nvSpPr>
          <p:spPr bwMode="invGray">
            <a:xfrm>
              <a:off x="2512417" y="4352561"/>
              <a:ext cx="238845" cy="286904"/>
            </a:xfrm>
            <a:custGeom>
              <a:avLst/>
              <a:gdLst>
                <a:gd name="connsiteX0" fmla="*/ 122027 w 238845"/>
                <a:gd name="connsiteY0" fmla="*/ 0 h 286904"/>
                <a:gd name="connsiteX1" fmla="*/ 0 w 238845"/>
                <a:gd name="connsiteY1" fmla="*/ 144034 h 286904"/>
                <a:gd name="connsiteX2" fmla="*/ 126690 w 238845"/>
                <a:gd name="connsiteY2" fmla="*/ 286904 h 286904"/>
                <a:gd name="connsiteX3" fmla="*/ 226566 w 238845"/>
                <a:gd name="connsiteY3" fmla="*/ 243213 h 286904"/>
                <a:gd name="connsiteX4" fmla="*/ 177522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7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7" y="0"/>
                  </a:moveTo>
                  <a:cubicBezTo>
                    <a:pt x="54329" y="0"/>
                    <a:pt x="0" y="55953"/>
                    <a:pt x="0" y="144034"/>
                  </a:cubicBezTo>
                  <a:cubicBezTo>
                    <a:pt x="0" y="225053"/>
                    <a:pt x="46090" y="286904"/>
                    <a:pt x="126690" y="286904"/>
                  </a:cubicBezTo>
                  <a:cubicBezTo>
                    <a:pt x="161744" y="286904"/>
                    <a:pt x="200839" y="275264"/>
                    <a:pt x="226566" y="243213"/>
                  </a:cubicBezTo>
                  <a:lnTo>
                    <a:pt x="177522" y="201850"/>
                  </a:lnTo>
                  <a:cubicBezTo>
                    <a:pt x="163531" y="215818"/>
                    <a:pt x="147132" y="221095"/>
                    <a:pt x="129644" y="221095"/>
                  </a:cubicBezTo>
                  <a:cubicBezTo>
                    <a:pt x="99875" y="221095"/>
                    <a:pt x="73605" y="205342"/>
                    <a:pt x="70651" y="166850"/>
                  </a:cubicBezTo>
                  <a:lnTo>
                    <a:pt x="237680" y="166850"/>
                  </a:lnTo>
                  <a:cubicBezTo>
                    <a:pt x="238302" y="162737"/>
                    <a:pt x="238846" y="151717"/>
                    <a:pt x="238846" y="142948"/>
                  </a:cubicBezTo>
                  <a:cubicBezTo>
                    <a:pt x="238846" y="63636"/>
                    <a:pt x="194465"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7" name="Freeform 52">
              <a:extLst>
                <a:ext uri="{FF2B5EF4-FFF2-40B4-BE49-F238E27FC236}">
                  <a16:creationId xmlns:a16="http://schemas.microsoft.com/office/drawing/2014/main" id="{C983CA6D-CE27-F856-3B7C-1651CCEA818C}"/>
                </a:ext>
              </a:extLst>
            </p:cNvPr>
            <p:cNvSpPr/>
            <p:nvPr/>
          </p:nvSpPr>
          <p:spPr bwMode="invGray">
            <a:xfrm>
              <a:off x="4536739" y="4358071"/>
              <a:ext cx="229985" cy="281006"/>
            </a:xfrm>
            <a:custGeom>
              <a:avLst/>
              <a:gdLst>
                <a:gd name="connsiteX0" fmla="*/ 229907 w 229985"/>
                <a:gd name="connsiteY0" fmla="*/ 275186 h 281006"/>
                <a:gd name="connsiteX1" fmla="*/ 229907 w 229985"/>
                <a:gd name="connsiteY1" fmla="*/ 0 h 281006"/>
                <a:gd name="connsiteX2" fmla="*/ 161044 w 229985"/>
                <a:gd name="connsiteY2" fmla="*/ 0 h 281006"/>
                <a:gd name="connsiteX3" fmla="*/ 161044 w 229985"/>
                <a:gd name="connsiteY3" fmla="*/ 152183 h 281006"/>
                <a:gd name="connsiteX4" fmla="*/ 114954 w 229985"/>
                <a:gd name="connsiteY4" fmla="*/ 215120 h 281006"/>
                <a:gd name="connsiteX5" fmla="*/ 68863 w 229985"/>
                <a:gd name="connsiteY5" fmla="*/ 149854 h 281006"/>
                <a:gd name="connsiteX6" fmla="*/ 68863 w 229985"/>
                <a:gd name="connsiteY6" fmla="*/ 0 h 281006"/>
                <a:gd name="connsiteX7" fmla="*/ 0 w 229985"/>
                <a:gd name="connsiteY7" fmla="*/ 0 h 281006"/>
                <a:gd name="connsiteX8" fmla="*/ 0 w 229985"/>
                <a:gd name="connsiteY8" fmla="*/ 155675 h 281006"/>
                <a:gd name="connsiteX9" fmla="*/ 98088 w 229985"/>
                <a:gd name="connsiteY9" fmla="*/ 281006 h 281006"/>
                <a:gd name="connsiteX10" fmla="*/ 162288 w 229985"/>
                <a:gd name="connsiteY10" fmla="*/ 255940 h 281006"/>
                <a:gd name="connsiteX11" fmla="*/ 162288 w 229985"/>
                <a:gd name="connsiteY11" fmla="*/ 275186 h 281006"/>
                <a:gd name="connsiteX12" fmla="*/ 229985 w 229985"/>
                <a:gd name="connsiteY12" fmla="*/ 275186 h 28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9985" h="281006">
                  <a:moveTo>
                    <a:pt x="229907" y="275186"/>
                  </a:moveTo>
                  <a:lnTo>
                    <a:pt x="229907" y="0"/>
                  </a:lnTo>
                  <a:lnTo>
                    <a:pt x="161044" y="0"/>
                  </a:lnTo>
                  <a:lnTo>
                    <a:pt x="161044" y="152183"/>
                  </a:lnTo>
                  <a:cubicBezTo>
                    <a:pt x="161044" y="186018"/>
                    <a:pt x="153427" y="215120"/>
                    <a:pt x="114954" y="215120"/>
                  </a:cubicBezTo>
                  <a:cubicBezTo>
                    <a:pt x="76480" y="215120"/>
                    <a:pt x="68863" y="187105"/>
                    <a:pt x="68863" y="149854"/>
                  </a:cubicBezTo>
                  <a:lnTo>
                    <a:pt x="68863" y="0"/>
                  </a:lnTo>
                  <a:lnTo>
                    <a:pt x="0" y="0"/>
                  </a:lnTo>
                  <a:lnTo>
                    <a:pt x="0" y="155675"/>
                  </a:lnTo>
                  <a:cubicBezTo>
                    <a:pt x="0" y="229710"/>
                    <a:pt x="26892" y="281006"/>
                    <a:pt x="98088" y="281006"/>
                  </a:cubicBezTo>
                  <a:cubicBezTo>
                    <a:pt x="122648" y="281006"/>
                    <a:pt x="147131" y="272858"/>
                    <a:pt x="162288" y="255940"/>
                  </a:cubicBezTo>
                  <a:lnTo>
                    <a:pt x="162288" y="275186"/>
                  </a:lnTo>
                  <a:lnTo>
                    <a:pt x="229985" y="275186"/>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8" name="Freeform 53">
              <a:extLst>
                <a:ext uri="{FF2B5EF4-FFF2-40B4-BE49-F238E27FC236}">
                  <a16:creationId xmlns:a16="http://schemas.microsoft.com/office/drawing/2014/main" id="{AE6290F4-F0D7-7ADE-473A-C5656D75B5CF}"/>
                </a:ext>
              </a:extLst>
            </p:cNvPr>
            <p:cNvSpPr/>
            <p:nvPr/>
          </p:nvSpPr>
          <p:spPr bwMode="invGray">
            <a:xfrm>
              <a:off x="4026014" y="4358071"/>
              <a:ext cx="229985" cy="281006"/>
            </a:xfrm>
            <a:custGeom>
              <a:avLst/>
              <a:gdLst>
                <a:gd name="connsiteX0" fmla="*/ 229907 w 229985"/>
                <a:gd name="connsiteY0" fmla="*/ 275186 h 281006"/>
                <a:gd name="connsiteX1" fmla="*/ 229907 w 229985"/>
                <a:gd name="connsiteY1" fmla="*/ 0 h 281006"/>
                <a:gd name="connsiteX2" fmla="*/ 161044 w 229985"/>
                <a:gd name="connsiteY2" fmla="*/ 0 h 281006"/>
                <a:gd name="connsiteX3" fmla="*/ 161044 w 229985"/>
                <a:gd name="connsiteY3" fmla="*/ 152183 h 281006"/>
                <a:gd name="connsiteX4" fmla="*/ 114954 w 229985"/>
                <a:gd name="connsiteY4" fmla="*/ 215120 h 281006"/>
                <a:gd name="connsiteX5" fmla="*/ 68863 w 229985"/>
                <a:gd name="connsiteY5" fmla="*/ 149854 h 281006"/>
                <a:gd name="connsiteX6" fmla="*/ 68863 w 229985"/>
                <a:gd name="connsiteY6" fmla="*/ 0 h 281006"/>
                <a:gd name="connsiteX7" fmla="*/ 0 w 229985"/>
                <a:gd name="connsiteY7" fmla="*/ 0 h 281006"/>
                <a:gd name="connsiteX8" fmla="*/ 0 w 229985"/>
                <a:gd name="connsiteY8" fmla="*/ 155675 h 281006"/>
                <a:gd name="connsiteX9" fmla="*/ 98088 w 229985"/>
                <a:gd name="connsiteY9" fmla="*/ 281006 h 281006"/>
                <a:gd name="connsiteX10" fmla="*/ 162288 w 229985"/>
                <a:gd name="connsiteY10" fmla="*/ 255940 h 281006"/>
                <a:gd name="connsiteX11" fmla="*/ 162288 w 229985"/>
                <a:gd name="connsiteY11" fmla="*/ 275186 h 281006"/>
                <a:gd name="connsiteX12" fmla="*/ 229985 w 229985"/>
                <a:gd name="connsiteY12" fmla="*/ 275186 h 28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9985" h="281006">
                  <a:moveTo>
                    <a:pt x="229907" y="275186"/>
                  </a:moveTo>
                  <a:lnTo>
                    <a:pt x="229907" y="0"/>
                  </a:lnTo>
                  <a:lnTo>
                    <a:pt x="161044" y="0"/>
                  </a:lnTo>
                  <a:lnTo>
                    <a:pt x="161044" y="152183"/>
                  </a:lnTo>
                  <a:cubicBezTo>
                    <a:pt x="161044" y="186018"/>
                    <a:pt x="153427" y="215120"/>
                    <a:pt x="114954" y="215120"/>
                  </a:cubicBezTo>
                  <a:cubicBezTo>
                    <a:pt x="76480" y="215120"/>
                    <a:pt x="68863" y="187105"/>
                    <a:pt x="68863" y="149854"/>
                  </a:cubicBezTo>
                  <a:lnTo>
                    <a:pt x="68863" y="0"/>
                  </a:lnTo>
                  <a:lnTo>
                    <a:pt x="0" y="0"/>
                  </a:lnTo>
                  <a:lnTo>
                    <a:pt x="0" y="155675"/>
                  </a:lnTo>
                  <a:cubicBezTo>
                    <a:pt x="0" y="229710"/>
                    <a:pt x="26892" y="281006"/>
                    <a:pt x="98088" y="281006"/>
                  </a:cubicBezTo>
                  <a:cubicBezTo>
                    <a:pt x="122648" y="281006"/>
                    <a:pt x="147131" y="272858"/>
                    <a:pt x="162288" y="255940"/>
                  </a:cubicBezTo>
                  <a:lnTo>
                    <a:pt x="162288" y="275186"/>
                  </a:lnTo>
                  <a:lnTo>
                    <a:pt x="229985" y="275186"/>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89" name="Freeform 54">
              <a:extLst>
                <a:ext uri="{FF2B5EF4-FFF2-40B4-BE49-F238E27FC236}">
                  <a16:creationId xmlns:a16="http://schemas.microsoft.com/office/drawing/2014/main" id="{FED98DEE-E283-E794-60B7-3EB8B9FEBCE5}"/>
                </a:ext>
              </a:extLst>
            </p:cNvPr>
            <p:cNvSpPr/>
            <p:nvPr/>
          </p:nvSpPr>
          <p:spPr bwMode="invGray">
            <a:xfrm>
              <a:off x="8604890" y="4352561"/>
              <a:ext cx="240555" cy="286904"/>
            </a:xfrm>
            <a:custGeom>
              <a:avLst/>
              <a:gdLst>
                <a:gd name="connsiteX0" fmla="*/ 131976 w 240555"/>
                <a:gd name="connsiteY0" fmla="*/ 218069 h 286904"/>
                <a:gd name="connsiteX1" fmla="*/ 73605 w 240555"/>
                <a:gd name="connsiteY1" fmla="*/ 142870 h 286904"/>
                <a:gd name="connsiteX2" fmla="*/ 131432 w 240555"/>
                <a:gd name="connsiteY2" fmla="*/ 68215 h 286904"/>
                <a:gd name="connsiteX3" fmla="*/ 193300 w 240555"/>
                <a:gd name="connsiteY3" fmla="*/ 106706 h 286904"/>
                <a:gd name="connsiteX4" fmla="*/ 240012 w 240555"/>
                <a:gd name="connsiteY4" fmla="*/ 59445 h 286904"/>
                <a:gd name="connsiteX5" fmla="*/ 131976 w 240555"/>
                <a:gd name="connsiteY5" fmla="*/ 0 h 286904"/>
                <a:gd name="connsiteX6" fmla="*/ 0 w 240555"/>
                <a:gd name="connsiteY6" fmla="*/ 144034 h 286904"/>
                <a:gd name="connsiteX7" fmla="*/ 130810 w 240555"/>
                <a:gd name="connsiteY7" fmla="*/ 286904 h 286904"/>
                <a:gd name="connsiteX8" fmla="*/ 240556 w 240555"/>
                <a:gd name="connsiteY8" fmla="*/ 226295 h 286904"/>
                <a:gd name="connsiteX9" fmla="*/ 195010 w 240555"/>
                <a:gd name="connsiteY9" fmla="*/ 183147 h 286904"/>
                <a:gd name="connsiteX10" fmla="*/ 131976 w 240555"/>
                <a:gd name="connsiteY10" fmla="*/ 218146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0555" h="286904">
                  <a:moveTo>
                    <a:pt x="131976" y="218069"/>
                  </a:moveTo>
                  <a:cubicBezTo>
                    <a:pt x="91093" y="218069"/>
                    <a:pt x="73605" y="182526"/>
                    <a:pt x="73605" y="142870"/>
                  </a:cubicBezTo>
                  <a:cubicBezTo>
                    <a:pt x="73605" y="100343"/>
                    <a:pt x="93424" y="68215"/>
                    <a:pt x="131432" y="68215"/>
                  </a:cubicBezTo>
                  <a:cubicBezTo>
                    <a:pt x="159490" y="68215"/>
                    <a:pt x="176978" y="85132"/>
                    <a:pt x="193300" y="106706"/>
                  </a:cubicBezTo>
                  <a:lnTo>
                    <a:pt x="240012" y="59445"/>
                  </a:lnTo>
                  <a:cubicBezTo>
                    <a:pt x="214907" y="22117"/>
                    <a:pt x="181020" y="0"/>
                    <a:pt x="131976" y="0"/>
                  </a:cubicBezTo>
                  <a:cubicBezTo>
                    <a:pt x="46168" y="0"/>
                    <a:pt x="0" y="68215"/>
                    <a:pt x="0" y="144034"/>
                  </a:cubicBezTo>
                  <a:cubicBezTo>
                    <a:pt x="0" y="226838"/>
                    <a:pt x="55495" y="286904"/>
                    <a:pt x="130810" y="286904"/>
                  </a:cubicBezTo>
                  <a:cubicBezTo>
                    <a:pt x="185139" y="286904"/>
                    <a:pt x="217239" y="256018"/>
                    <a:pt x="240556" y="226295"/>
                  </a:cubicBezTo>
                  <a:lnTo>
                    <a:pt x="195010" y="183147"/>
                  </a:lnTo>
                  <a:cubicBezTo>
                    <a:pt x="178066" y="204721"/>
                    <a:pt x="157080" y="218146"/>
                    <a:pt x="131976" y="218146"/>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90" name="Freeform 55">
              <a:extLst>
                <a:ext uri="{FF2B5EF4-FFF2-40B4-BE49-F238E27FC236}">
                  <a16:creationId xmlns:a16="http://schemas.microsoft.com/office/drawing/2014/main" id="{1E1FDC83-5FDD-4866-ADFD-442AE8897CA7}"/>
                </a:ext>
              </a:extLst>
            </p:cNvPr>
            <p:cNvSpPr/>
            <p:nvPr/>
          </p:nvSpPr>
          <p:spPr bwMode="invGray">
            <a:xfrm>
              <a:off x="6846230" y="4352561"/>
              <a:ext cx="258043" cy="286826"/>
            </a:xfrm>
            <a:custGeom>
              <a:avLst/>
              <a:gdLst>
                <a:gd name="connsiteX0" fmla="*/ 129022 w 258043"/>
                <a:gd name="connsiteY0" fmla="*/ 0 h 286826"/>
                <a:gd name="connsiteX1" fmla="*/ 0 w 258043"/>
                <a:gd name="connsiteY1" fmla="*/ 143413 h 286826"/>
                <a:gd name="connsiteX2" fmla="*/ 129022 w 258043"/>
                <a:gd name="connsiteY2" fmla="*/ 286827 h 286826"/>
                <a:gd name="connsiteX3" fmla="*/ 258043 w 258043"/>
                <a:gd name="connsiteY3" fmla="*/ 143413 h 286826"/>
                <a:gd name="connsiteX4" fmla="*/ 129022 w 258043"/>
                <a:gd name="connsiteY4" fmla="*/ 0 h 286826"/>
                <a:gd name="connsiteX5" fmla="*/ 129022 w 258043"/>
                <a:gd name="connsiteY5" fmla="*/ 218069 h 286826"/>
                <a:gd name="connsiteX6" fmla="*/ 73527 w 258043"/>
                <a:gd name="connsiteY6" fmla="*/ 143413 h 286826"/>
                <a:gd name="connsiteX7" fmla="*/ 129022 w 258043"/>
                <a:gd name="connsiteY7" fmla="*/ 68215 h 286826"/>
                <a:gd name="connsiteX8" fmla="*/ 184517 w 258043"/>
                <a:gd name="connsiteY8" fmla="*/ 143413 h 286826"/>
                <a:gd name="connsiteX9" fmla="*/ 129022 w 258043"/>
                <a:gd name="connsiteY9" fmla="*/ 218069 h 28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8043" h="286826">
                  <a:moveTo>
                    <a:pt x="129022" y="0"/>
                  </a:moveTo>
                  <a:cubicBezTo>
                    <a:pt x="49588" y="0"/>
                    <a:pt x="0" y="62394"/>
                    <a:pt x="0" y="143413"/>
                  </a:cubicBezTo>
                  <a:cubicBezTo>
                    <a:pt x="0" y="228546"/>
                    <a:pt x="54329" y="286827"/>
                    <a:pt x="129022" y="286827"/>
                  </a:cubicBezTo>
                  <a:cubicBezTo>
                    <a:pt x="203714" y="286827"/>
                    <a:pt x="258043" y="228546"/>
                    <a:pt x="258043" y="143413"/>
                  </a:cubicBezTo>
                  <a:cubicBezTo>
                    <a:pt x="258043" y="58281"/>
                    <a:pt x="208378" y="0"/>
                    <a:pt x="129022" y="0"/>
                  </a:cubicBezTo>
                  <a:close/>
                  <a:moveTo>
                    <a:pt x="129022" y="218069"/>
                  </a:moveTo>
                  <a:cubicBezTo>
                    <a:pt x="83476" y="218069"/>
                    <a:pt x="73527" y="174378"/>
                    <a:pt x="73527" y="143413"/>
                  </a:cubicBezTo>
                  <a:cubicBezTo>
                    <a:pt x="73527" y="100886"/>
                    <a:pt x="91015" y="68215"/>
                    <a:pt x="129022" y="68215"/>
                  </a:cubicBezTo>
                  <a:cubicBezTo>
                    <a:pt x="167029" y="68215"/>
                    <a:pt x="184517" y="100886"/>
                    <a:pt x="184517" y="143413"/>
                  </a:cubicBezTo>
                  <a:cubicBezTo>
                    <a:pt x="184517" y="174300"/>
                    <a:pt x="174568" y="218069"/>
                    <a:pt x="129022" y="218069"/>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91" name="Freeform 56">
              <a:extLst>
                <a:ext uri="{FF2B5EF4-FFF2-40B4-BE49-F238E27FC236}">
                  <a16:creationId xmlns:a16="http://schemas.microsoft.com/office/drawing/2014/main" id="{17954407-7A88-9AC9-5445-CEA1AE7A4685}"/>
                </a:ext>
              </a:extLst>
            </p:cNvPr>
            <p:cNvSpPr/>
            <p:nvPr/>
          </p:nvSpPr>
          <p:spPr bwMode="invGray">
            <a:xfrm>
              <a:off x="7419599" y="4252917"/>
              <a:ext cx="174646" cy="380573"/>
            </a:xfrm>
            <a:custGeom>
              <a:avLst/>
              <a:gdLst>
                <a:gd name="connsiteX0" fmla="*/ 38551 w 174646"/>
                <a:gd name="connsiteY0" fmla="*/ 72250 h 380573"/>
                <a:gd name="connsiteX1" fmla="*/ 38551 w 174646"/>
                <a:gd name="connsiteY1" fmla="*/ 105465 h 380573"/>
                <a:gd name="connsiteX2" fmla="*/ 0 w 174646"/>
                <a:gd name="connsiteY2" fmla="*/ 105465 h 380573"/>
                <a:gd name="connsiteX3" fmla="*/ 0 w 174646"/>
                <a:gd name="connsiteY3" fmla="*/ 171894 h 380573"/>
                <a:gd name="connsiteX4" fmla="*/ 38551 w 174646"/>
                <a:gd name="connsiteY4" fmla="*/ 171894 h 380573"/>
                <a:gd name="connsiteX5" fmla="*/ 38551 w 174646"/>
                <a:gd name="connsiteY5" fmla="*/ 380573 h 380573"/>
                <a:gd name="connsiteX6" fmla="*/ 109824 w 174646"/>
                <a:gd name="connsiteY6" fmla="*/ 380573 h 380573"/>
                <a:gd name="connsiteX7" fmla="*/ 109824 w 174646"/>
                <a:gd name="connsiteY7" fmla="*/ 171894 h 380573"/>
                <a:gd name="connsiteX8" fmla="*/ 168817 w 174646"/>
                <a:gd name="connsiteY8" fmla="*/ 171894 h 380573"/>
                <a:gd name="connsiteX9" fmla="*/ 168817 w 174646"/>
                <a:gd name="connsiteY9" fmla="*/ 105465 h 380573"/>
                <a:gd name="connsiteX10" fmla="*/ 109824 w 174646"/>
                <a:gd name="connsiteY10" fmla="*/ 105465 h 380573"/>
                <a:gd name="connsiteX11" fmla="*/ 109824 w 174646"/>
                <a:gd name="connsiteY11" fmla="*/ 83347 h 380573"/>
                <a:gd name="connsiteX12" fmla="*/ 139592 w 174646"/>
                <a:gd name="connsiteY12" fmla="*/ 59445 h 380573"/>
                <a:gd name="connsiteX13" fmla="*/ 174646 w 174646"/>
                <a:gd name="connsiteY13" fmla="*/ 64722 h 380573"/>
                <a:gd name="connsiteX14" fmla="*/ 174646 w 174646"/>
                <a:gd name="connsiteY14" fmla="*/ 7605 h 380573"/>
                <a:gd name="connsiteX15" fmla="*/ 122649 w 174646"/>
                <a:gd name="connsiteY15" fmla="*/ 0 h 380573"/>
                <a:gd name="connsiteX16" fmla="*/ 38551 w 174646"/>
                <a:gd name="connsiteY16" fmla="*/ 72328 h 38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646" h="380573">
                  <a:moveTo>
                    <a:pt x="38551" y="72250"/>
                  </a:moveTo>
                  <a:lnTo>
                    <a:pt x="38551" y="105465"/>
                  </a:lnTo>
                  <a:lnTo>
                    <a:pt x="0" y="105465"/>
                  </a:lnTo>
                  <a:lnTo>
                    <a:pt x="0" y="171894"/>
                  </a:lnTo>
                  <a:lnTo>
                    <a:pt x="38551" y="171894"/>
                  </a:lnTo>
                  <a:lnTo>
                    <a:pt x="38551" y="380573"/>
                  </a:lnTo>
                  <a:lnTo>
                    <a:pt x="109824" y="380573"/>
                  </a:lnTo>
                  <a:lnTo>
                    <a:pt x="109824" y="171894"/>
                  </a:lnTo>
                  <a:lnTo>
                    <a:pt x="168817" y="171894"/>
                  </a:lnTo>
                  <a:lnTo>
                    <a:pt x="168817" y="105465"/>
                  </a:lnTo>
                  <a:lnTo>
                    <a:pt x="109824" y="105465"/>
                  </a:lnTo>
                  <a:lnTo>
                    <a:pt x="109824" y="83347"/>
                  </a:lnTo>
                  <a:cubicBezTo>
                    <a:pt x="109824" y="65886"/>
                    <a:pt x="119151" y="59445"/>
                    <a:pt x="139592" y="59445"/>
                  </a:cubicBezTo>
                  <a:cubicBezTo>
                    <a:pt x="150085" y="59445"/>
                    <a:pt x="164153" y="61230"/>
                    <a:pt x="174646" y="64722"/>
                  </a:cubicBezTo>
                  <a:lnTo>
                    <a:pt x="174646" y="7605"/>
                  </a:lnTo>
                  <a:cubicBezTo>
                    <a:pt x="160034" y="1785"/>
                    <a:pt x="137883" y="0"/>
                    <a:pt x="122649" y="0"/>
                  </a:cubicBezTo>
                  <a:cubicBezTo>
                    <a:pt x="70651" y="0"/>
                    <a:pt x="38551" y="20953"/>
                    <a:pt x="38551" y="72328"/>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92" name="Freeform 57">
              <a:extLst>
                <a:ext uri="{FF2B5EF4-FFF2-40B4-BE49-F238E27FC236}">
                  <a16:creationId xmlns:a16="http://schemas.microsoft.com/office/drawing/2014/main" id="{18EA7051-BC96-DAF2-D94C-82ED385995B2}"/>
                </a:ext>
              </a:extLst>
            </p:cNvPr>
            <p:cNvSpPr/>
            <p:nvPr/>
          </p:nvSpPr>
          <p:spPr bwMode="invGray">
            <a:xfrm>
              <a:off x="3814838" y="4252917"/>
              <a:ext cx="174645" cy="380573"/>
            </a:xfrm>
            <a:custGeom>
              <a:avLst/>
              <a:gdLst>
                <a:gd name="connsiteX0" fmla="*/ 38551 w 174645"/>
                <a:gd name="connsiteY0" fmla="*/ 72250 h 380573"/>
                <a:gd name="connsiteX1" fmla="*/ 38551 w 174645"/>
                <a:gd name="connsiteY1" fmla="*/ 105465 h 380573"/>
                <a:gd name="connsiteX2" fmla="*/ 0 w 174645"/>
                <a:gd name="connsiteY2" fmla="*/ 105465 h 380573"/>
                <a:gd name="connsiteX3" fmla="*/ 0 w 174645"/>
                <a:gd name="connsiteY3" fmla="*/ 171894 h 380573"/>
                <a:gd name="connsiteX4" fmla="*/ 38551 w 174645"/>
                <a:gd name="connsiteY4" fmla="*/ 171894 h 380573"/>
                <a:gd name="connsiteX5" fmla="*/ 38551 w 174645"/>
                <a:gd name="connsiteY5" fmla="*/ 380573 h 380573"/>
                <a:gd name="connsiteX6" fmla="*/ 109824 w 174645"/>
                <a:gd name="connsiteY6" fmla="*/ 380573 h 380573"/>
                <a:gd name="connsiteX7" fmla="*/ 109824 w 174645"/>
                <a:gd name="connsiteY7" fmla="*/ 171894 h 380573"/>
                <a:gd name="connsiteX8" fmla="*/ 168817 w 174645"/>
                <a:gd name="connsiteY8" fmla="*/ 171894 h 380573"/>
                <a:gd name="connsiteX9" fmla="*/ 168817 w 174645"/>
                <a:gd name="connsiteY9" fmla="*/ 105465 h 380573"/>
                <a:gd name="connsiteX10" fmla="*/ 109824 w 174645"/>
                <a:gd name="connsiteY10" fmla="*/ 105465 h 380573"/>
                <a:gd name="connsiteX11" fmla="*/ 109824 w 174645"/>
                <a:gd name="connsiteY11" fmla="*/ 83347 h 380573"/>
                <a:gd name="connsiteX12" fmla="*/ 139592 w 174645"/>
                <a:gd name="connsiteY12" fmla="*/ 59445 h 380573"/>
                <a:gd name="connsiteX13" fmla="*/ 174646 w 174645"/>
                <a:gd name="connsiteY13" fmla="*/ 64722 h 380573"/>
                <a:gd name="connsiteX14" fmla="*/ 174646 w 174645"/>
                <a:gd name="connsiteY14" fmla="*/ 7605 h 380573"/>
                <a:gd name="connsiteX15" fmla="*/ 122648 w 174645"/>
                <a:gd name="connsiteY15" fmla="*/ 0 h 380573"/>
                <a:gd name="connsiteX16" fmla="*/ 38551 w 174645"/>
                <a:gd name="connsiteY16" fmla="*/ 72328 h 38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645" h="380573">
                  <a:moveTo>
                    <a:pt x="38551" y="72250"/>
                  </a:moveTo>
                  <a:lnTo>
                    <a:pt x="38551" y="105465"/>
                  </a:lnTo>
                  <a:lnTo>
                    <a:pt x="0" y="105465"/>
                  </a:lnTo>
                  <a:lnTo>
                    <a:pt x="0" y="171894"/>
                  </a:lnTo>
                  <a:lnTo>
                    <a:pt x="38551" y="171894"/>
                  </a:lnTo>
                  <a:lnTo>
                    <a:pt x="38551" y="380573"/>
                  </a:lnTo>
                  <a:lnTo>
                    <a:pt x="109824" y="380573"/>
                  </a:lnTo>
                  <a:lnTo>
                    <a:pt x="109824" y="171894"/>
                  </a:lnTo>
                  <a:lnTo>
                    <a:pt x="168817" y="171894"/>
                  </a:lnTo>
                  <a:lnTo>
                    <a:pt x="168817" y="105465"/>
                  </a:lnTo>
                  <a:lnTo>
                    <a:pt x="109824" y="105465"/>
                  </a:lnTo>
                  <a:lnTo>
                    <a:pt x="109824" y="83347"/>
                  </a:lnTo>
                  <a:cubicBezTo>
                    <a:pt x="109824" y="65886"/>
                    <a:pt x="119151" y="59445"/>
                    <a:pt x="139592" y="59445"/>
                  </a:cubicBezTo>
                  <a:cubicBezTo>
                    <a:pt x="150085" y="59445"/>
                    <a:pt x="164153" y="61230"/>
                    <a:pt x="174646" y="64722"/>
                  </a:cubicBezTo>
                  <a:lnTo>
                    <a:pt x="174646" y="7605"/>
                  </a:lnTo>
                  <a:cubicBezTo>
                    <a:pt x="160034" y="1785"/>
                    <a:pt x="137882" y="0"/>
                    <a:pt x="122648" y="0"/>
                  </a:cubicBezTo>
                  <a:cubicBezTo>
                    <a:pt x="70651" y="0"/>
                    <a:pt x="38551" y="20953"/>
                    <a:pt x="38551" y="72328"/>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93" name="Freeform 58">
              <a:extLst>
                <a:ext uri="{FF2B5EF4-FFF2-40B4-BE49-F238E27FC236}">
                  <a16:creationId xmlns:a16="http://schemas.microsoft.com/office/drawing/2014/main" id="{4D494596-BDB6-F0C3-B2A2-AAB091CCDBF2}"/>
                </a:ext>
              </a:extLst>
            </p:cNvPr>
            <p:cNvSpPr/>
            <p:nvPr/>
          </p:nvSpPr>
          <p:spPr bwMode="invGray">
            <a:xfrm>
              <a:off x="7146866" y="4352561"/>
              <a:ext cx="237680" cy="281083"/>
            </a:xfrm>
            <a:custGeom>
              <a:avLst/>
              <a:gdLst>
                <a:gd name="connsiteX0" fmla="*/ 138426 w 237680"/>
                <a:gd name="connsiteY0" fmla="*/ 0 h 281083"/>
                <a:gd name="connsiteX1" fmla="*/ 71273 w 237680"/>
                <a:gd name="connsiteY1" fmla="*/ 24523 h 281083"/>
                <a:gd name="connsiteX2" fmla="*/ 71273 w 237680"/>
                <a:gd name="connsiteY2" fmla="*/ 5898 h 281083"/>
                <a:gd name="connsiteX3" fmla="*/ 0 w 237680"/>
                <a:gd name="connsiteY3" fmla="*/ 5898 h 281083"/>
                <a:gd name="connsiteX4" fmla="*/ 0 w 237680"/>
                <a:gd name="connsiteY4" fmla="*/ 281084 h 281083"/>
                <a:gd name="connsiteX5" fmla="*/ 71273 w 237680"/>
                <a:gd name="connsiteY5" fmla="*/ 281084 h 281083"/>
                <a:gd name="connsiteX6" fmla="*/ 71273 w 237680"/>
                <a:gd name="connsiteY6" fmla="*/ 129522 h 281083"/>
                <a:gd name="connsiteX7" fmla="*/ 119151 w 237680"/>
                <a:gd name="connsiteY7" fmla="*/ 67128 h 281083"/>
                <a:gd name="connsiteX8" fmla="*/ 166407 w 237680"/>
                <a:gd name="connsiteY8" fmla="*/ 131229 h 281083"/>
                <a:gd name="connsiteX9" fmla="*/ 166407 w 237680"/>
                <a:gd name="connsiteY9" fmla="*/ 281084 h 281083"/>
                <a:gd name="connsiteX10" fmla="*/ 237680 w 237680"/>
                <a:gd name="connsiteY10" fmla="*/ 281084 h 281083"/>
                <a:gd name="connsiteX11" fmla="*/ 237680 w 237680"/>
                <a:gd name="connsiteY11" fmla="*/ 125409 h 281083"/>
                <a:gd name="connsiteX12" fmla="*/ 138426 w 237680"/>
                <a:gd name="connsiteY12" fmla="*/ 78 h 28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7680" h="281083">
                  <a:moveTo>
                    <a:pt x="138426" y="0"/>
                  </a:moveTo>
                  <a:cubicBezTo>
                    <a:pt x="107492" y="0"/>
                    <a:pt x="85885" y="9933"/>
                    <a:pt x="71273" y="24523"/>
                  </a:cubicBezTo>
                  <a:lnTo>
                    <a:pt x="71273" y="5898"/>
                  </a:lnTo>
                  <a:lnTo>
                    <a:pt x="0" y="5898"/>
                  </a:lnTo>
                  <a:lnTo>
                    <a:pt x="0" y="281084"/>
                  </a:lnTo>
                  <a:lnTo>
                    <a:pt x="71273" y="281084"/>
                  </a:lnTo>
                  <a:lnTo>
                    <a:pt x="71273" y="129522"/>
                  </a:lnTo>
                  <a:cubicBezTo>
                    <a:pt x="71273" y="88702"/>
                    <a:pt x="82931" y="67128"/>
                    <a:pt x="119151" y="67128"/>
                  </a:cubicBezTo>
                  <a:cubicBezTo>
                    <a:pt x="157702" y="67128"/>
                    <a:pt x="166407" y="92815"/>
                    <a:pt x="166407" y="131229"/>
                  </a:cubicBezTo>
                  <a:lnTo>
                    <a:pt x="166407" y="281084"/>
                  </a:lnTo>
                  <a:lnTo>
                    <a:pt x="237680" y="281084"/>
                  </a:lnTo>
                  <a:lnTo>
                    <a:pt x="237680" y="125409"/>
                  </a:lnTo>
                  <a:cubicBezTo>
                    <a:pt x="237680" y="57816"/>
                    <a:pt x="213119" y="78"/>
                    <a:pt x="138426" y="78"/>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94" name="Freeform 59">
              <a:extLst>
                <a:ext uri="{FF2B5EF4-FFF2-40B4-BE49-F238E27FC236}">
                  <a16:creationId xmlns:a16="http://schemas.microsoft.com/office/drawing/2014/main" id="{99907645-96AF-0325-B430-0F93771CB722}"/>
                </a:ext>
              </a:extLst>
            </p:cNvPr>
            <p:cNvSpPr/>
            <p:nvPr/>
          </p:nvSpPr>
          <p:spPr bwMode="invGray">
            <a:xfrm>
              <a:off x="7635595" y="4358382"/>
              <a:ext cx="71272" cy="275185"/>
            </a:xfrm>
            <a:custGeom>
              <a:avLst/>
              <a:gdLst>
                <a:gd name="connsiteX0" fmla="*/ 0 w 71272"/>
                <a:gd name="connsiteY0" fmla="*/ 0 h 275185"/>
                <a:gd name="connsiteX1" fmla="*/ 71273 w 71272"/>
                <a:gd name="connsiteY1" fmla="*/ 0 h 275185"/>
                <a:gd name="connsiteX2" fmla="*/ 71273 w 71272"/>
                <a:gd name="connsiteY2" fmla="*/ 275186 h 275185"/>
                <a:gd name="connsiteX3" fmla="*/ 0 w 71272"/>
                <a:gd name="connsiteY3" fmla="*/ 275186 h 275185"/>
              </a:gdLst>
              <a:ahLst/>
              <a:cxnLst>
                <a:cxn ang="0">
                  <a:pos x="connsiteX0" y="connsiteY0"/>
                </a:cxn>
                <a:cxn ang="0">
                  <a:pos x="connsiteX1" y="connsiteY1"/>
                </a:cxn>
                <a:cxn ang="0">
                  <a:pos x="connsiteX2" y="connsiteY2"/>
                </a:cxn>
                <a:cxn ang="0">
                  <a:pos x="connsiteX3" y="connsiteY3"/>
                </a:cxn>
              </a:cxnLst>
              <a:rect l="l" t="t" r="r" b="b"/>
              <a:pathLst>
                <a:path w="71272" h="275185">
                  <a:moveTo>
                    <a:pt x="0" y="0"/>
                  </a:moveTo>
                  <a:lnTo>
                    <a:pt x="71273" y="0"/>
                  </a:lnTo>
                  <a:lnTo>
                    <a:pt x="71273" y="275186"/>
                  </a:lnTo>
                  <a:lnTo>
                    <a:pt x="0" y="275186"/>
                  </a:ln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95" name="Freeform 60">
              <a:extLst>
                <a:ext uri="{FF2B5EF4-FFF2-40B4-BE49-F238E27FC236}">
                  <a16:creationId xmlns:a16="http://schemas.microsoft.com/office/drawing/2014/main" id="{5C4C1473-F01A-827A-9A7B-1C325DFA488B}"/>
                </a:ext>
              </a:extLst>
            </p:cNvPr>
            <p:cNvSpPr/>
            <p:nvPr/>
          </p:nvSpPr>
          <p:spPr bwMode="invGray">
            <a:xfrm>
              <a:off x="7630931" y="4252839"/>
              <a:ext cx="81765" cy="81639"/>
            </a:xfrm>
            <a:custGeom>
              <a:avLst/>
              <a:gdLst>
                <a:gd name="connsiteX0" fmla="*/ 40883 w 81765"/>
                <a:gd name="connsiteY0" fmla="*/ 0 h 81639"/>
                <a:gd name="connsiteX1" fmla="*/ 0 w 81765"/>
                <a:gd name="connsiteY1" fmla="*/ 40820 h 81639"/>
                <a:gd name="connsiteX2" fmla="*/ 40883 w 81765"/>
                <a:gd name="connsiteY2" fmla="*/ 81640 h 81639"/>
                <a:gd name="connsiteX3" fmla="*/ 81766 w 81765"/>
                <a:gd name="connsiteY3" fmla="*/ 40820 h 81639"/>
                <a:gd name="connsiteX4" fmla="*/ 40883 w 81765"/>
                <a:gd name="connsiteY4" fmla="*/ 0 h 8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65" h="81639">
                  <a:moveTo>
                    <a:pt x="40883" y="0"/>
                  </a:moveTo>
                  <a:cubicBezTo>
                    <a:pt x="18110" y="0"/>
                    <a:pt x="0" y="18082"/>
                    <a:pt x="0" y="40820"/>
                  </a:cubicBezTo>
                  <a:cubicBezTo>
                    <a:pt x="0" y="63558"/>
                    <a:pt x="18110" y="81640"/>
                    <a:pt x="40883" y="81640"/>
                  </a:cubicBezTo>
                  <a:cubicBezTo>
                    <a:pt x="63656" y="81640"/>
                    <a:pt x="81766" y="63558"/>
                    <a:pt x="81766" y="40820"/>
                  </a:cubicBezTo>
                  <a:cubicBezTo>
                    <a:pt x="81766" y="18082"/>
                    <a:pt x="63656" y="0"/>
                    <a:pt x="40883" y="0"/>
                  </a:cubicBezTo>
                  <a:close/>
                </a:path>
              </a:pathLst>
            </a:custGeom>
            <a:solidFill>
              <a:srgbClr val="FFFFFF"/>
            </a:solidFill>
            <a:ln w="777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24"/>
                </a:solidFill>
                <a:effectLst/>
                <a:uLnTx/>
                <a:uFillTx/>
                <a:latin typeface="EYInterstate Light"/>
                <a:ea typeface="+mn-ea"/>
                <a:cs typeface="+mn-cs"/>
              </a:endParaRPr>
            </a:p>
          </p:txBody>
        </p:sp>
      </p:grpSp>
    </p:spTree>
    <p:extLst>
      <p:ext uri="{BB962C8B-B14F-4D97-AF65-F5344CB8AC3E}">
        <p14:creationId xmlns:p14="http://schemas.microsoft.com/office/powerpoint/2010/main" val="18458309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Title Slide Fram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2D7BB4A-5FCC-BE0E-4598-A4CBBA847A08}"/>
              </a:ext>
              <a:ext uri="{C183D7F6-B498-43B3-948B-1728B52AA6E4}">
                <adec:decorative xmlns:adec="http://schemas.microsoft.com/office/drawing/2017/decorative" val="1"/>
              </a:ext>
            </a:extLst>
          </p:cNvPr>
          <p:cNvSpPr/>
          <p:nvPr userDrawn="1"/>
        </p:nvSpPr>
        <p:spPr bwMode="white">
          <a:xfrm>
            <a:off x="-5794"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047865"/>
            <a:ext cx="4907628" cy="511939"/>
          </a:xfrm>
        </p:spPr>
        <p:txBody>
          <a:bodyPr wrap="square">
            <a:noAutofit/>
          </a:bodyPr>
          <a:lstStyle>
            <a:lvl1pPr marL="0" indent="0" algn="l">
              <a:buNone/>
              <a:defRPr lang="en-GB" sz="1600" kern="1200" dirty="0">
                <a:solidFill>
                  <a:schemeClr val="bg1"/>
                </a:solidFill>
                <a:latin typeface="+mj-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310131"/>
            <a:ext cx="4906009" cy="1654043"/>
          </a:xfrm>
        </p:spPr>
        <p:txBody>
          <a:bodyPr anchor="t">
            <a:noAutofit/>
          </a:bodyPr>
          <a:lstStyle>
            <a:lvl1pPr algn="l" defTabSz="914400" rtl="0" eaLnBrk="1" latinLnBrk="0" hangingPunct="1">
              <a:lnSpc>
                <a:spcPct val="85000"/>
              </a:lnSpc>
              <a:spcBef>
                <a:spcPct val="0"/>
              </a:spcBef>
              <a:buNone/>
              <a:defRPr lang="en-US" sz="4200" b="1" i="0" kern="1200" dirty="0">
                <a:solidFill>
                  <a:schemeClr val="bg1"/>
                </a:solidFill>
                <a:latin typeface="+mj-lt"/>
                <a:ea typeface="+mj-ea"/>
                <a:cs typeface="Arial" pitchFamily="34" charset="0"/>
              </a:defRPr>
            </a:lvl1pPr>
          </a:lstStyle>
          <a:p>
            <a:r>
              <a:rPr lang="en-US"/>
              <a:t>Click to edit Master title style</a:t>
            </a:r>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4658865"/>
            <a:ext cx="4906010" cy="246221"/>
          </a:xfrm>
        </p:spPr>
        <p:txBody>
          <a:bodyPr wrap="square">
            <a:spAutoFit/>
          </a:bodyPr>
          <a:lstStyle>
            <a:lvl1pPr marL="0" indent="0">
              <a:buNone/>
              <a:defRPr sz="1600" b="1">
                <a:latin typeface="+mj-lt"/>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US"/>
              <a:t>Click to edit Master text styles</a:t>
            </a:r>
          </a:p>
        </p:txBody>
      </p:sp>
      <p:grpSp>
        <p:nvGrpSpPr>
          <p:cNvPr id="8" name="Group 7">
            <a:extLst>
              <a:ext uri="{FF2B5EF4-FFF2-40B4-BE49-F238E27FC236}">
                <a16:creationId xmlns:a16="http://schemas.microsoft.com/office/drawing/2014/main" id="{53C054C4-B0F1-3513-59FC-805A098DBE34}"/>
              </a:ext>
            </a:extLst>
          </p:cNvPr>
          <p:cNvGrpSpPr/>
          <p:nvPr userDrawn="1"/>
        </p:nvGrpSpPr>
        <p:grpSpPr>
          <a:xfrm>
            <a:off x="485775" y="5776013"/>
            <a:ext cx="4940935" cy="318770"/>
            <a:chOff x="485775" y="6164633"/>
            <a:chExt cx="4940935" cy="318770"/>
          </a:xfrm>
        </p:grpSpPr>
        <p:sp>
          <p:nvSpPr>
            <p:cNvPr id="9" name="Freeform 8">
              <a:extLst>
                <a:ext uri="{FF2B5EF4-FFF2-40B4-BE49-F238E27FC236}">
                  <a16:creationId xmlns:a16="http://schemas.microsoft.com/office/drawing/2014/main" id="{7A3E19F4-4DB4-F59A-2A51-47A2D55A90E0}"/>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1A9AFA"/>
            </a:solidFill>
            <a:ln w="63500"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9A1F91B4-6F38-3316-FDC2-178FAFEB4F31}"/>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grpSp>
        <p:nvGrpSpPr>
          <p:cNvPr id="5" name="Group 4">
            <a:extLst>
              <a:ext uri="{FF2B5EF4-FFF2-40B4-BE49-F238E27FC236}">
                <a16:creationId xmlns:a16="http://schemas.microsoft.com/office/drawing/2014/main" id="{482CE306-E61A-923E-80E0-77174AA308EC}"/>
              </a:ext>
            </a:extLst>
          </p:cNvPr>
          <p:cNvGrpSpPr/>
          <p:nvPr userDrawn="1"/>
        </p:nvGrpSpPr>
        <p:grpSpPr>
          <a:xfrm>
            <a:off x="485774" y="902388"/>
            <a:ext cx="5706110" cy="4360545"/>
            <a:chOff x="485774" y="1291008"/>
            <a:chExt cx="5706110" cy="4360545"/>
          </a:xfrm>
        </p:grpSpPr>
        <p:sp>
          <p:nvSpPr>
            <p:cNvPr id="6" name="Freeform 25">
              <a:extLst>
                <a:ext uri="{FF2B5EF4-FFF2-40B4-BE49-F238E27FC236}">
                  <a16:creationId xmlns:a16="http://schemas.microsoft.com/office/drawing/2014/main" id="{A3BE74D9-8944-FC80-254E-9804F1A62AAB}"/>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rgbClr val="1A9AFA"/>
            </a:solidFill>
            <a:ln w="63500" cap="flat">
              <a:noFill/>
              <a:prstDash val="solid"/>
              <a:miter/>
            </a:ln>
          </p:spPr>
          <p:txBody>
            <a:bodyPr rtlCol="0" anchor="ctr"/>
            <a:lstStyle/>
            <a:p>
              <a:endParaRPr lang="en-US"/>
            </a:p>
          </p:txBody>
        </p:sp>
        <p:sp>
          <p:nvSpPr>
            <p:cNvPr id="7" name="Freeform 3">
              <a:extLst>
                <a:ext uri="{FF2B5EF4-FFF2-40B4-BE49-F238E27FC236}">
                  <a16:creationId xmlns:a16="http://schemas.microsoft.com/office/drawing/2014/main" id="{EE7ADBF8-7DC8-E7E1-3CFB-0964B45D2348}"/>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1A9AFA"/>
                </a:gs>
                <a:gs pos="63000">
                  <a:srgbClr val="4EBEEB"/>
                </a:gs>
                <a:gs pos="100000">
                  <a:srgbClr val="32FFFF"/>
                </a:gs>
              </a:gsLst>
              <a:lin ang="1950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257D3A8D-1491-2EB9-66B1-22B23BD56E18}"/>
              </a:ext>
            </a:extLst>
          </p:cNvPr>
          <p:cNvGrpSpPr>
            <a:grpSpLocks noChangeAspect="1"/>
          </p:cNvGrpSpPr>
          <p:nvPr userDrawn="1"/>
        </p:nvGrpSpPr>
        <p:grpSpPr bwMode="invGray">
          <a:xfrm>
            <a:off x="7536876" y="5410336"/>
            <a:ext cx="1569911" cy="680592"/>
            <a:chOff x="1333500" y="1365250"/>
            <a:chExt cx="7772399" cy="3369514"/>
          </a:xfrm>
        </p:grpSpPr>
        <p:sp>
          <p:nvSpPr>
            <p:cNvPr id="4" name="Freeform 11">
              <a:extLst>
                <a:ext uri="{FF2B5EF4-FFF2-40B4-BE49-F238E27FC236}">
                  <a16:creationId xmlns:a16="http://schemas.microsoft.com/office/drawing/2014/main" id="{271953EA-E924-D3B7-4B4A-0BB3AB32D600}"/>
                </a:ext>
              </a:extLst>
            </p:cNvPr>
            <p:cNvSpPr/>
            <p:nvPr/>
          </p:nvSpPr>
          <p:spPr bwMode="invGray">
            <a:xfrm>
              <a:off x="3765639" y="2990756"/>
              <a:ext cx="635704" cy="857763"/>
            </a:xfrm>
            <a:custGeom>
              <a:avLst/>
              <a:gdLst>
                <a:gd name="connsiteX0" fmla="*/ 504506 w 635704"/>
                <a:gd name="connsiteY0" fmla="*/ 268512 h 857763"/>
                <a:gd name="connsiteX1" fmla="*/ 494014 w 635704"/>
                <a:gd name="connsiteY1" fmla="*/ 205730 h 857763"/>
                <a:gd name="connsiteX2" fmla="*/ 464323 w 635704"/>
                <a:gd name="connsiteY2" fmla="*/ 159400 h 857763"/>
                <a:gd name="connsiteX3" fmla="*/ 417922 w 635704"/>
                <a:gd name="connsiteY3" fmla="*/ 130997 h 857763"/>
                <a:gd name="connsiteX4" fmla="*/ 357142 w 635704"/>
                <a:gd name="connsiteY4" fmla="*/ 121374 h 857763"/>
                <a:gd name="connsiteX5" fmla="*/ 126457 w 635704"/>
                <a:gd name="connsiteY5" fmla="*/ 121374 h 857763"/>
                <a:gd name="connsiteX6" fmla="*/ 126457 w 635704"/>
                <a:gd name="connsiteY6" fmla="*/ 416892 h 857763"/>
                <a:gd name="connsiteX7" fmla="*/ 357142 w 635704"/>
                <a:gd name="connsiteY7" fmla="*/ 416892 h 857763"/>
                <a:gd name="connsiteX8" fmla="*/ 467976 w 635704"/>
                <a:gd name="connsiteY8" fmla="*/ 377391 h 857763"/>
                <a:gd name="connsiteX9" fmla="*/ 504506 w 635704"/>
                <a:gd name="connsiteY9" fmla="*/ 268512 h 857763"/>
                <a:gd name="connsiteX10" fmla="*/ 635704 w 635704"/>
                <a:gd name="connsiteY10" fmla="*/ 268512 h 857763"/>
                <a:gd name="connsiteX11" fmla="*/ 614719 w 635704"/>
                <a:gd name="connsiteY11" fmla="*/ 385152 h 857763"/>
                <a:gd name="connsiteX12" fmla="*/ 556037 w 635704"/>
                <a:gd name="connsiteY12" fmla="*/ 469198 h 857763"/>
                <a:gd name="connsiteX13" fmla="*/ 466111 w 635704"/>
                <a:gd name="connsiteY13" fmla="*/ 520339 h 857763"/>
                <a:gd name="connsiteX14" fmla="*/ 351079 w 635704"/>
                <a:gd name="connsiteY14" fmla="*/ 537722 h 857763"/>
                <a:gd name="connsiteX15" fmla="*/ 126379 w 635704"/>
                <a:gd name="connsiteY15" fmla="*/ 537722 h 857763"/>
                <a:gd name="connsiteX16" fmla="*/ 126379 w 635704"/>
                <a:gd name="connsiteY16" fmla="*/ 857764 h 857763"/>
                <a:gd name="connsiteX17" fmla="*/ 0 w 635704"/>
                <a:gd name="connsiteY17" fmla="*/ 857764 h 857763"/>
                <a:gd name="connsiteX18" fmla="*/ 0 w 635704"/>
                <a:gd name="connsiteY18" fmla="*/ 0 h 857763"/>
                <a:gd name="connsiteX19" fmla="*/ 359474 w 635704"/>
                <a:gd name="connsiteY19" fmla="*/ 0 h 857763"/>
                <a:gd name="connsiteX20" fmla="*/ 469375 w 635704"/>
                <a:gd name="connsiteY20" fmla="*/ 17073 h 857763"/>
                <a:gd name="connsiteX21" fmla="*/ 556815 w 635704"/>
                <a:gd name="connsiteY21" fmla="*/ 67594 h 857763"/>
                <a:gd name="connsiteX22" fmla="*/ 614641 w 635704"/>
                <a:gd name="connsiteY22" fmla="*/ 151639 h 857763"/>
                <a:gd name="connsiteX23" fmla="*/ 635627 w 635704"/>
                <a:gd name="connsiteY23" fmla="*/ 268590 h 857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35704" h="857763">
                  <a:moveTo>
                    <a:pt x="504506" y="268512"/>
                  </a:moveTo>
                  <a:cubicBezTo>
                    <a:pt x="504506" y="244998"/>
                    <a:pt x="501009" y="224044"/>
                    <a:pt x="494014" y="205730"/>
                  </a:cubicBezTo>
                  <a:cubicBezTo>
                    <a:pt x="487018" y="187415"/>
                    <a:pt x="477148" y="171972"/>
                    <a:pt x="464323" y="159400"/>
                  </a:cubicBezTo>
                  <a:cubicBezTo>
                    <a:pt x="451576" y="146828"/>
                    <a:pt x="436031" y="137360"/>
                    <a:pt x="417922" y="130997"/>
                  </a:cubicBezTo>
                  <a:cubicBezTo>
                    <a:pt x="399734" y="124633"/>
                    <a:pt x="379448" y="121374"/>
                    <a:pt x="357142" y="121374"/>
                  </a:cubicBezTo>
                  <a:lnTo>
                    <a:pt x="126457" y="121374"/>
                  </a:lnTo>
                  <a:lnTo>
                    <a:pt x="126457" y="416892"/>
                  </a:lnTo>
                  <a:lnTo>
                    <a:pt x="357142" y="416892"/>
                  </a:lnTo>
                  <a:cubicBezTo>
                    <a:pt x="406652" y="416892"/>
                    <a:pt x="443571" y="403699"/>
                    <a:pt x="467976" y="377391"/>
                  </a:cubicBezTo>
                  <a:cubicBezTo>
                    <a:pt x="492304" y="351083"/>
                    <a:pt x="504506" y="314764"/>
                    <a:pt x="504506" y="268512"/>
                  </a:cubicBezTo>
                  <a:moveTo>
                    <a:pt x="635704" y="268512"/>
                  </a:moveTo>
                  <a:cubicBezTo>
                    <a:pt x="635704" y="312746"/>
                    <a:pt x="628709" y="351626"/>
                    <a:pt x="614719" y="385152"/>
                  </a:cubicBezTo>
                  <a:cubicBezTo>
                    <a:pt x="600729" y="418677"/>
                    <a:pt x="581220" y="446692"/>
                    <a:pt x="556037" y="469198"/>
                  </a:cubicBezTo>
                  <a:cubicBezTo>
                    <a:pt x="530855" y="491703"/>
                    <a:pt x="500931" y="508776"/>
                    <a:pt x="466111" y="520339"/>
                  </a:cubicBezTo>
                  <a:cubicBezTo>
                    <a:pt x="431368" y="531902"/>
                    <a:pt x="393050" y="537722"/>
                    <a:pt x="351079" y="537722"/>
                  </a:cubicBezTo>
                  <a:lnTo>
                    <a:pt x="126379" y="537722"/>
                  </a:lnTo>
                  <a:lnTo>
                    <a:pt x="126379" y="857764"/>
                  </a:lnTo>
                  <a:lnTo>
                    <a:pt x="0" y="857764"/>
                  </a:lnTo>
                  <a:lnTo>
                    <a:pt x="0" y="0"/>
                  </a:lnTo>
                  <a:lnTo>
                    <a:pt x="359474" y="0"/>
                  </a:lnTo>
                  <a:cubicBezTo>
                    <a:pt x="398957" y="0"/>
                    <a:pt x="435643" y="5665"/>
                    <a:pt x="469375" y="17073"/>
                  </a:cubicBezTo>
                  <a:cubicBezTo>
                    <a:pt x="503107" y="28481"/>
                    <a:pt x="532254" y="45321"/>
                    <a:pt x="556815" y="67594"/>
                  </a:cubicBezTo>
                  <a:cubicBezTo>
                    <a:pt x="581375" y="89944"/>
                    <a:pt x="600651" y="117959"/>
                    <a:pt x="614641" y="151639"/>
                  </a:cubicBezTo>
                  <a:cubicBezTo>
                    <a:pt x="628632" y="185320"/>
                    <a:pt x="635627" y="224277"/>
                    <a:pt x="635627" y="268590"/>
                  </a:cubicBezTo>
                </a:path>
              </a:pathLst>
            </a:custGeom>
            <a:solidFill>
              <a:srgbClr val="1A9AFA"/>
            </a:solidFill>
            <a:ln w="7772" cap="flat">
              <a:noFill/>
              <a:prstDash val="solid"/>
              <a:miter/>
            </a:ln>
          </p:spPr>
          <p:txBody>
            <a:bodyPr rtlCol="0" anchor="ctr"/>
            <a:lstStyle/>
            <a:p>
              <a:endParaRPr lang="en-US"/>
            </a:p>
          </p:txBody>
        </p:sp>
        <p:sp>
          <p:nvSpPr>
            <p:cNvPr id="21" name="Freeform 12">
              <a:extLst>
                <a:ext uri="{FF2B5EF4-FFF2-40B4-BE49-F238E27FC236}">
                  <a16:creationId xmlns:a16="http://schemas.microsoft.com/office/drawing/2014/main" id="{62186479-44DE-BA2B-680D-36E46D3D5053}"/>
                </a:ext>
              </a:extLst>
            </p:cNvPr>
            <p:cNvSpPr/>
            <p:nvPr/>
          </p:nvSpPr>
          <p:spPr bwMode="invGray">
            <a:xfrm>
              <a:off x="4442770" y="3191752"/>
              <a:ext cx="524092" cy="670503"/>
            </a:xfrm>
            <a:custGeom>
              <a:avLst/>
              <a:gdLst>
                <a:gd name="connsiteX0" fmla="*/ 400201 w 524092"/>
                <a:gd name="connsiteY0" fmla="*/ 382125 h 670503"/>
                <a:gd name="connsiteX1" fmla="*/ 367868 w 524092"/>
                <a:gd name="connsiteY1" fmla="*/ 369243 h 670503"/>
                <a:gd name="connsiteX2" fmla="*/ 337944 w 524092"/>
                <a:gd name="connsiteY2" fmla="*/ 361482 h 670503"/>
                <a:gd name="connsiteX3" fmla="*/ 300559 w 524092"/>
                <a:gd name="connsiteY3" fmla="*/ 356128 h 670503"/>
                <a:gd name="connsiteX4" fmla="*/ 252914 w 524092"/>
                <a:gd name="connsiteY4" fmla="*/ 354032 h 670503"/>
                <a:gd name="connsiteX5" fmla="*/ 156225 w 524092"/>
                <a:gd name="connsiteY5" fmla="*/ 379719 h 670503"/>
                <a:gd name="connsiteX6" fmla="*/ 120550 w 524092"/>
                <a:gd name="connsiteY6" fmla="*/ 449719 h 670503"/>
                <a:gd name="connsiteX7" fmla="*/ 130732 w 524092"/>
                <a:gd name="connsiteY7" fmla="*/ 498454 h 670503"/>
                <a:gd name="connsiteX8" fmla="*/ 156458 w 524092"/>
                <a:gd name="connsiteY8" fmla="*/ 531048 h 670503"/>
                <a:gd name="connsiteX9" fmla="*/ 193300 w 524092"/>
                <a:gd name="connsiteY9" fmla="*/ 549906 h 670503"/>
                <a:gd name="connsiteX10" fmla="*/ 244520 w 524092"/>
                <a:gd name="connsiteY10" fmla="*/ 556192 h 670503"/>
                <a:gd name="connsiteX11" fmla="*/ 293019 w 524092"/>
                <a:gd name="connsiteY11" fmla="*/ 548975 h 670503"/>
                <a:gd name="connsiteX12" fmla="*/ 336778 w 524092"/>
                <a:gd name="connsiteY12" fmla="*/ 530117 h 670503"/>
                <a:gd name="connsiteX13" fmla="*/ 373308 w 524092"/>
                <a:gd name="connsiteY13" fmla="*/ 503809 h 670503"/>
                <a:gd name="connsiteX14" fmla="*/ 400279 w 524092"/>
                <a:gd name="connsiteY14" fmla="*/ 474164 h 670503"/>
                <a:gd name="connsiteX15" fmla="*/ 400279 w 524092"/>
                <a:gd name="connsiteY15" fmla="*/ 382047 h 670503"/>
                <a:gd name="connsiteX16" fmla="*/ 400201 w 524092"/>
                <a:gd name="connsiteY16" fmla="*/ 656690 h 670503"/>
                <a:gd name="connsiteX17" fmla="*/ 400201 w 524092"/>
                <a:gd name="connsiteY17" fmla="*/ 593287 h 670503"/>
                <a:gd name="connsiteX18" fmla="*/ 359474 w 524092"/>
                <a:gd name="connsiteY18" fmla="*/ 626502 h 670503"/>
                <a:gd name="connsiteX19" fmla="*/ 325897 w 524092"/>
                <a:gd name="connsiteY19" fmla="*/ 646291 h 670503"/>
                <a:gd name="connsiteX20" fmla="*/ 281905 w 524092"/>
                <a:gd name="connsiteY20" fmla="*/ 663054 h 670503"/>
                <a:gd name="connsiteX21" fmla="*/ 223534 w 524092"/>
                <a:gd name="connsiteY21" fmla="*/ 670504 h 670503"/>
                <a:gd name="connsiteX22" fmla="*/ 144722 w 524092"/>
                <a:gd name="connsiteY22" fmla="*/ 658863 h 670503"/>
                <a:gd name="connsiteX23" fmla="*/ 72827 w 524092"/>
                <a:gd name="connsiteY23" fmla="*/ 621225 h 670503"/>
                <a:gd name="connsiteX24" fmla="*/ 20364 w 524092"/>
                <a:gd name="connsiteY24" fmla="*/ 553942 h 670503"/>
                <a:gd name="connsiteX25" fmla="*/ 0 w 524092"/>
                <a:gd name="connsiteY25" fmla="*/ 453444 h 670503"/>
                <a:gd name="connsiteX26" fmla="*/ 19431 w 524092"/>
                <a:gd name="connsiteY26" fmla="*/ 360473 h 670503"/>
                <a:gd name="connsiteX27" fmla="*/ 73371 w 524092"/>
                <a:gd name="connsiteY27" fmla="*/ 295596 h 670503"/>
                <a:gd name="connsiteX28" fmla="*/ 154826 w 524092"/>
                <a:gd name="connsiteY28" fmla="*/ 257570 h 670503"/>
                <a:gd name="connsiteX29" fmla="*/ 256334 w 524092"/>
                <a:gd name="connsiteY29" fmla="*/ 245308 h 670503"/>
                <a:gd name="connsiteX30" fmla="*/ 341986 w 524092"/>
                <a:gd name="connsiteY30" fmla="*/ 252215 h 670503"/>
                <a:gd name="connsiteX31" fmla="*/ 400123 w 524092"/>
                <a:gd name="connsiteY31" fmla="*/ 269831 h 670503"/>
                <a:gd name="connsiteX32" fmla="*/ 400123 w 524092"/>
                <a:gd name="connsiteY32" fmla="*/ 221949 h 670503"/>
                <a:gd name="connsiteX33" fmla="*/ 368956 w 524092"/>
                <a:gd name="connsiteY33" fmla="*/ 141240 h 670503"/>
                <a:gd name="connsiteX34" fmla="*/ 278485 w 524092"/>
                <a:gd name="connsiteY34" fmla="*/ 113148 h 670503"/>
                <a:gd name="connsiteX35" fmla="*/ 188636 w 524092"/>
                <a:gd name="connsiteY35" fmla="*/ 122693 h 670503"/>
                <a:gd name="connsiteX36" fmla="*/ 110757 w 524092"/>
                <a:gd name="connsiteY36" fmla="*/ 153192 h 670503"/>
                <a:gd name="connsiteX37" fmla="*/ 61635 w 524092"/>
                <a:gd name="connsiteY37" fmla="*/ 58048 h 670503"/>
                <a:gd name="connsiteX38" fmla="*/ 160733 w 524092"/>
                <a:gd name="connsiteY38" fmla="*/ 14667 h 670503"/>
                <a:gd name="connsiteX39" fmla="*/ 282060 w 524092"/>
                <a:gd name="connsiteY39" fmla="*/ 0 h 670503"/>
                <a:gd name="connsiteX40" fmla="*/ 380614 w 524092"/>
                <a:gd name="connsiteY40" fmla="*/ 13193 h 670503"/>
                <a:gd name="connsiteX41" fmla="*/ 457017 w 524092"/>
                <a:gd name="connsiteY41" fmla="*/ 53314 h 670503"/>
                <a:gd name="connsiteX42" fmla="*/ 506450 w 524092"/>
                <a:gd name="connsiteY42" fmla="*/ 120908 h 670503"/>
                <a:gd name="connsiteX43" fmla="*/ 524093 w 524092"/>
                <a:gd name="connsiteY43" fmla="*/ 216051 h 670503"/>
                <a:gd name="connsiteX44" fmla="*/ 524093 w 524092"/>
                <a:gd name="connsiteY44" fmla="*/ 656923 h 670503"/>
                <a:gd name="connsiteX45" fmla="*/ 400123 w 524092"/>
                <a:gd name="connsiteY45" fmla="*/ 656923 h 67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24092" h="670503">
                  <a:moveTo>
                    <a:pt x="400201" y="382125"/>
                  </a:moveTo>
                  <a:cubicBezTo>
                    <a:pt x="388231" y="376538"/>
                    <a:pt x="377428" y="372269"/>
                    <a:pt x="367868" y="369243"/>
                  </a:cubicBezTo>
                  <a:cubicBezTo>
                    <a:pt x="358308" y="366216"/>
                    <a:pt x="348359" y="363655"/>
                    <a:pt x="337944" y="361482"/>
                  </a:cubicBezTo>
                  <a:cubicBezTo>
                    <a:pt x="327607" y="359309"/>
                    <a:pt x="315093" y="357524"/>
                    <a:pt x="300559" y="356128"/>
                  </a:cubicBezTo>
                  <a:cubicBezTo>
                    <a:pt x="285946" y="354731"/>
                    <a:pt x="270091" y="354032"/>
                    <a:pt x="252914" y="354032"/>
                  </a:cubicBezTo>
                  <a:cubicBezTo>
                    <a:pt x="212186" y="354032"/>
                    <a:pt x="179931" y="362646"/>
                    <a:pt x="156225" y="379719"/>
                  </a:cubicBezTo>
                  <a:cubicBezTo>
                    <a:pt x="132442" y="396870"/>
                    <a:pt x="120550" y="420229"/>
                    <a:pt x="120550" y="449719"/>
                  </a:cubicBezTo>
                  <a:cubicBezTo>
                    <a:pt x="120550" y="468809"/>
                    <a:pt x="123892" y="485106"/>
                    <a:pt x="130732" y="498454"/>
                  </a:cubicBezTo>
                  <a:cubicBezTo>
                    <a:pt x="137494" y="511802"/>
                    <a:pt x="146121" y="522667"/>
                    <a:pt x="156458" y="531048"/>
                  </a:cubicBezTo>
                  <a:cubicBezTo>
                    <a:pt x="166796" y="539430"/>
                    <a:pt x="179154" y="545716"/>
                    <a:pt x="193300" y="549906"/>
                  </a:cubicBezTo>
                  <a:cubicBezTo>
                    <a:pt x="207523" y="554097"/>
                    <a:pt x="224545" y="556192"/>
                    <a:pt x="244520" y="556192"/>
                  </a:cubicBezTo>
                  <a:cubicBezTo>
                    <a:pt x="261308" y="556192"/>
                    <a:pt x="277475" y="553787"/>
                    <a:pt x="293019" y="548975"/>
                  </a:cubicBezTo>
                  <a:cubicBezTo>
                    <a:pt x="308642" y="544164"/>
                    <a:pt x="323176" y="537955"/>
                    <a:pt x="336778" y="530117"/>
                  </a:cubicBezTo>
                  <a:cubicBezTo>
                    <a:pt x="350380" y="522357"/>
                    <a:pt x="362505" y="513587"/>
                    <a:pt x="373308" y="503809"/>
                  </a:cubicBezTo>
                  <a:cubicBezTo>
                    <a:pt x="384112" y="494031"/>
                    <a:pt x="393050" y="484175"/>
                    <a:pt x="400279" y="474164"/>
                  </a:cubicBezTo>
                  <a:lnTo>
                    <a:pt x="400279" y="382047"/>
                  </a:lnTo>
                  <a:close/>
                  <a:moveTo>
                    <a:pt x="400201" y="656690"/>
                  </a:moveTo>
                  <a:lnTo>
                    <a:pt x="400201" y="593287"/>
                  </a:lnTo>
                  <a:cubicBezTo>
                    <a:pt x="383801" y="608498"/>
                    <a:pt x="370277" y="619518"/>
                    <a:pt x="359474" y="626502"/>
                  </a:cubicBezTo>
                  <a:cubicBezTo>
                    <a:pt x="348670" y="633486"/>
                    <a:pt x="337555" y="640083"/>
                    <a:pt x="325897" y="646291"/>
                  </a:cubicBezTo>
                  <a:cubicBezTo>
                    <a:pt x="314316" y="652422"/>
                    <a:pt x="299626" y="658009"/>
                    <a:pt x="281905" y="663054"/>
                  </a:cubicBezTo>
                  <a:cubicBezTo>
                    <a:pt x="264106" y="668021"/>
                    <a:pt x="244675" y="670504"/>
                    <a:pt x="223534" y="670504"/>
                  </a:cubicBezTo>
                  <a:cubicBezTo>
                    <a:pt x="197574" y="670504"/>
                    <a:pt x="171304" y="666624"/>
                    <a:pt x="144722" y="658863"/>
                  </a:cubicBezTo>
                  <a:cubicBezTo>
                    <a:pt x="118140" y="651103"/>
                    <a:pt x="94201" y="638531"/>
                    <a:pt x="72827" y="621225"/>
                  </a:cubicBezTo>
                  <a:cubicBezTo>
                    <a:pt x="51453" y="603842"/>
                    <a:pt x="33965" y="581414"/>
                    <a:pt x="20364" y="553942"/>
                  </a:cubicBezTo>
                  <a:cubicBezTo>
                    <a:pt x="6762" y="526470"/>
                    <a:pt x="0" y="492945"/>
                    <a:pt x="0" y="453444"/>
                  </a:cubicBezTo>
                  <a:cubicBezTo>
                    <a:pt x="0" y="417591"/>
                    <a:pt x="6451" y="386549"/>
                    <a:pt x="19431" y="360473"/>
                  </a:cubicBezTo>
                  <a:cubicBezTo>
                    <a:pt x="32411" y="334321"/>
                    <a:pt x="50365" y="312747"/>
                    <a:pt x="73371" y="295596"/>
                  </a:cubicBezTo>
                  <a:cubicBezTo>
                    <a:pt x="96378" y="278445"/>
                    <a:pt x="123503" y="265796"/>
                    <a:pt x="154826" y="257570"/>
                  </a:cubicBezTo>
                  <a:cubicBezTo>
                    <a:pt x="186149" y="249421"/>
                    <a:pt x="220037" y="245308"/>
                    <a:pt x="256334" y="245308"/>
                  </a:cubicBezTo>
                  <a:cubicBezTo>
                    <a:pt x="290299" y="245308"/>
                    <a:pt x="318824" y="247636"/>
                    <a:pt x="341986" y="252215"/>
                  </a:cubicBezTo>
                  <a:cubicBezTo>
                    <a:pt x="365147" y="256794"/>
                    <a:pt x="384501" y="262692"/>
                    <a:pt x="400123" y="269831"/>
                  </a:cubicBezTo>
                  <a:lnTo>
                    <a:pt x="400123" y="221949"/>
                  </a:lnTo>
                  <a:cubicBezTo>
                    <a:pt x="400123" y="186872"/>
                    <a:pt x="389786" y="159943"/>
                    <a:pt x="368956" y="141240"/>
                  </a:cubicBezTo>
                  <a:cubicBezTo>
                    <a:pt x="348203" y="122538"/>
                    <a:pt x="317969" y="113148"/>
                    <a:pt x="278485" y="113148"/>
                  </a:cubicBezTo>
                  <a:cubicBezTo>
                    <a:pt x="245297" y="113148"/>
                    <a:pt x="215373" y="116329"/>
                    <a:pt x="188636" y="122693"/>
                  </a:cubicBezTo>
                  <a:cubicBezTo>
                    <a:pt x="161899" y="129057"/>
                    <a:pt x="135939" y="139223"/>
                    <a:pt x="110757" y="153192"/>
                  </a:cubicBezTo>
                  <a:lnTo>
                    <a:pt x="61635" y="58048"/>
                  </a:lnTo>
                  <a:cubicBezTo>
                    <a:pt x="92414" y="38880"/>
                    <a:pt x="125446" y="24445"/>
                    <a:pt x="160733" y="14667"/>
                  </a:cubicBezTo>
                  <a:cubicBezTo>
                    <a:pt x="196098" y="4889"/>
                    <a:pt x="236514" y="0"/>
                    <a:pt x="282060" y="0"/>
                  </a:cubicBezTo>
                  <a:cubicBezTo>
                    <a:pt x="317969" y="0"/>
                    <a:pt x="350846" y="4423"/>
                    <a:pt x="380614" y="13193"/>
                  </a:cubicBezTo>
                  <a:cubicBezTo>
                    <a:pt x="410383" y="21962"/>
                    <a:pt x="435798" y="35310"/>
                    <a:pt x="457017" y="53314"/>
                  </a:cubicBezTo>
                  <a:cubicBezTo>
                    <a:pt x="478158" y="71241"/>
                    <a:pt x="494635" y="93746"/>
                    <a:pt x="506450" y="120908"/>
                  </a:cubicBezTo>
                  <a:cubicBezTo>
                    <a:pt x="518264" y="148070"/>
                    <a:pt x="524093" y="179732"/>
                    <a:pt x="524093" y="216051"/>
                  </a:cubicBezTo>
                  <a:lnTo>
                    <a:pt x="524093" y="656923"/>
                  </a:lnTo>
                  <a:lnTo>
                    <a:pt x="400123" y="656923"/>
                  </a:lnTo>
                  <a:close/>
                </a:path>
              </a:pathLst>
            </a:custGeom>
            <a:solidFill>
              <a:srgbClr val="1A9AFA"/>
            </a:solidFill>
            <a:ln w="7772" cap="flat">
              <a:noFill/>
              <a:prstDash val="solid"/>
              <a:miter/>
            </a:ln>
          </p:spPr>
          <p:txBody>
            <a:bodyPr rtlCol="0" anchor="ctr"/>
            <a:lstStyle/>
            <a:p>
              <a:endParaRPr lang="en-US"/>
            </a:p>
          </p:txBody>
        </p:sp>
        <p:sp>
          <p:nvSpPr>
            <p:cNvPr id="22" name="Freeform 13">
              <a:extLst>
                <a:ext uri="{FF2B5EF4-FFF2-40B4-BE49-F238E27FC236}">
                  <a16:creationId xmlns:a16="http://schemas.microsoft.com/office/drawing/2014/main" id="{2957BA87-BED2-11FD-F718-DE3264BBE064}"/>
                </a:ext>
              </a:extLst>
            </p:cNvPr>
            <p:cNvSpPr/>
            <p:nvPr/>
          </p:nvSpPr>
          <p:spPr bwMode="invGray">
            <a:xfrm>
              <a:off x="5089745" y="3191596"/>
              <a:ext cx="382790" cy="656767"/>
            </a:xfrm>
            <a:custGeom>
              <a:avLst/>
              <a:gdLst>
                <a:gd name="connsiteX0" fmla="*/ 349369 w 382790"/>
                <a:gd name="connsiteY0" fmla="*/ 147216 h 656767"/>
                <a:gd name="connsiteX1" fmla="*/ 306543 w 382790"/>
                <a:gd name="connsiteY1" fmla="*/ 129833 h 656767"/>
                <a:gd name="connsiteX2" fmla="*/ 252914 w 382790"/>
                <a:gd name="connsiteY2" fmla="*/ 123857 h 656767"/>
                <a:gd name="connsiteX3" fmla="*/ 159412 w 382790"/>
                <a:gd name="connsiteY3" fmla="*/ 165375 h 656767"/>
                <a:gd name="connsiteX4" fmla="*/ 126457 w 382790"/>
                <a:gd name="connsiteY4" fmla="*/ 289465 h 656767"/>
                <a:gd name="connsiteX5" fmla="*/ 126457 w 382790"/>
                <a:gd name="connsiteY5" fmla="*/ 656768 h 656767"/>
                <a:gd name="connsiteX6" fmla="*/ 0 w 382790"/>
                <a:gd name="connsiteY6" fmla="*/ 656768 h 656767"/>
                <a:gd name="connsiteX7" fmla="*/ 0 w 382790"/>
                <a:gd name="connsiteY7" fmla="*/ 13736 h 656767"/>
                <a:gd name="connsiteX8" fmla="*/ 126457 w 382790"/>
                <a:gd name="connsiteY8" fmla="*/ 13736 h 656767"/>
                <a:gd name="connsiteX9" fmla="*/ 126457 w 382790"/>
                <a:gd name="connsiteY9" fmla="*/ 74733 h 656767"/>
                <a:gd name="connsiteX10" fmla="*/ 152805 w 382790"/>
                <a:gd name="connsiteY10" fmla="*/ 45088 h 656767"/>
                <a:gd name="connsiteX11" fmla="*/ 187237 w 382790"/>
                <a:gd name="connsiteY11" fmla="*/ 21497 h 656767"/>
                <a:gd name="connsiteX12" fmla="*/ 227654 w 382790"/>
                <a:gd name="connsiteY12" fmla="*/ 5665 h 656767"/>
                <a:gd name="connsiteX13" fmla="*/ 273200 w 382790"/>
                <a:gd name="connsiteY13" fmla="*/ 0 h 656767"/>
                <a:gd name="connsiteX14" fmla="*/ 337866 w 382790"/>
                <a:gd name="connsiteY14" fmla="*/ 7217 h 656767"/>
                <a:gd name="connsiteX15" fmla="*/ 382791 w 382790"/>
                <a:gd name="connsiteY15" fmla="*/ 26929 h 656767"/>
                <a:gd name="connsiteX16" fmla="*/ 349214 w 382790"/>
                <a:gd name="connsiteY16" fmla="*/ 147138 h 656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2790" h="656767">
                  <a:moveTo>
                    <a:pt x="349369" y="147216"/>
                  </a:moveTo>
                  <a:cubicBezTo>
                    <a:pt x="335768" y="139611"/>
                    <a:pt x="321467" y="133868"/>
                    <a:pt x="306543" y="129833"/>
                  </a:cubicBezTo>
                  <a:cubicBezTo>
                    <a:pt x="291543" y="125875"/>
                    <a:pt x="273666" y="123857"/>
                    <a:pt x="252914" y="123857"/>
                  </a:cubicBezTo>
                  <a:cubicBezTo>
                    <a:pt x="212575" y="123857"/>
                    <a:pt x="181408" y="137671"/>
                    <a:pt x="159412" y="165375"/>
                  </a:cubicBezTo>
                  <a:cubicBezTo>
                    <a:pt x="137416" y="193158"/>
                    <a:pt x="126457" y="234443"/>
                    <a:pt x="126457" y="289465"/>
                  </a:cubicBezTo>
                  <a:lnTo>
                    <a:pt x="126457" y="656768"/>
                  </a:lnTo>
                  <a:lnTo>
                    <a:pt x="0" y="656768"/>
                  </a:lnTo>
                  <a:lnTo>
                    <a:pt x="0" y="13736"/>
                  </a:lnTo>
                  <a:lnTo>
                    <a:pt x="126457" y="13736"/>
                  </a:lnTo>
                  <a:lnTo>
                    <a:pt x="126457" y="74733"/>
                  </a:lnTo>
                  <a:cubicBezTo>
                    <a:pt x="133608" y="63946"/>
                    <a:pt x="142390" y="54090"/>
                    <a:pt x="152805" y="45088"/>
                  </a:cubicBezTo>
                  <a:cubicBezTo>
                    <a:pt x="163220" y="36164"/>
                    <a:pt x="174646" y="28248"/>
                    <a:pt x="187237" y="21497"/>
                  </a:cubicBezTo>
                  <a:cubicBezTo>
                    <a:pt x="199828" y="14745"/>
                    <a:pt x="213275" y="9468"/>
                    <a:pt x="227654" y="5665"/>
                  </a:cubicBezTo>
                  <a:cubicBezTo>
                    <a:pt x="242032" y="1863"/>
                    <a:pt x="257189" y="0"/>
                    <a:pt x="273200" y="0"/>
                  </a:cubicBezTo>
                  <a:cubicBezTo>
                    <a:pt x="299160" y="0"/>
                    <a:pt x="320689" y="2406"/>
                    <a:pt x="337866" y="7217"/>
                  </a:cubicBezTo>
                  <a:cubicBezTo>
                    <a:pt x="355043" y="12029"/>
                    <a:pt x="370044" y="18547"/>
                    <a:pt x="382791" y="26929"/>
                  </a:cubicBezTo>
                  <a:lnTo>
                    <a:pt x="349214" y="147138"/>
                  </a:lnTo>
                  <a:close/>
                </a:path>
              </a:pathLst>
            </a:custGeom>
            <a:solidFill>
              <a:srgbClr val="1A9AFA"/>
            </a:solidFill>
            <a:ln w="7772" cap="flat">
              <a:noFill/>
              <a:prstDash val="solid"/>
              <a:miter/>
            </a:ln>
          </p:spPr>
          <p:txBody>
            <a:bodyPr rtlCol="0" anchor="ctr"/>
            <a:lstStyle/>
            <a:p>
              <a:endParaRPr lang="en-US"/>
            </a:p>
          </p:txBody>
        </p:sp>
        <p:sp>
          <p:nvSpPr>
            <p:cNvPr id="23" name="Freeform 14">
              <a:extLst>
                <a:ext uri="{FF2B5EF4-FFF2-40B4-BE49-F238E27FC236}">
                  <a16:creationId xmlns:a16="http://schemas.microsoft.com/office/drawing/2014/main" id="{5F84949A-7A71-A190-B72D-2BF537C8A4F2}"/>
                </a:ext>
              </a:extLst>
            </p:cNvPr>
            <p:cNvSpPr/>
            <p:nvPr/>
          </p:nvSpPr>
          <p:spPr bwMode="invGray">
            <a:xfrm>
              <a:off x="5546296" y="2955446"/>
              <a:ext cx="375018" cy="906809"/>
            </a:xfrm>
            <a:custGeom>
              <a:avLst/>
              <a:gdLst>
                <a:gd name="connsiteX0" fmla="*/ 360639 w 375018"/>
                <a:gd name="connsiteY0" fmla="*/ 876854 h 906809"/>
                <a:gd name="connsiteX1" fmla="*/ 305844 w 375018"/>
                <a:gd name="connsiteY1" fmla="*/ 898428 h 906809"/>
                <a:gd name="connsiteX2" fmla="*/ 236669 w 375018"/>
                <a:gd name="connsiteY2" fmla="*/ 906810 h 906809"/>
                <a:gd name="connsiteX3" fmla="*/ 178843 w 375018"/>
                <a:gd name="connsiteY3" fmla="*/ 897575 h 906809"/>
                <a:gd name="connsiteX4" fmla="*/ 133608 w 375018"/>
                <a:gd name="connsiteY4" fmla="*/ 868240 h 906809"/>
                <a:gd name="connsiteX5" fmla="*/ 102440 w 375018"/>
                <a:gd name="connsiteY5" fmla="*/ 815625 h 906809"/>
                <a:gd name="connsiteX6" fmla="*/ 91636 w 375018"/>
                <a:gd name="connsiteY6" fmla="*/ 736390 h 906809"/>
                <a:gd name="connsiteX7" fmla="*/ 91636 w 375018"/>
                <a:gd name="connsiteY7" fmla="*/ 364897 h 906809"/>
                <a:gd name="connsiteX8" fmla="*/ 0 w 375018"/>
                <a:gd name="connsiteY8" fmla="*/ 364897 h 906809"/>
                <a:gd name="connsiteX9" fmla="*/ 0 w 375018"/>
                <a:gd name="connsiteY9" fmla="*/ 250042 h 906809"/>
                <a:gd name="connsiteX10" fmla="*/ 91636 w 375018"/>
                <a:gd name="connsiteY10" fmla="*/ 250042 h 906809"/>
                <a:gd name="connsiteX11" fmla="*/ 91636 w 375018"/>
                <a:gd name="connsiteY11" fmla="*/ 66430 h 906809"/>
                <a:gd name="connsiteX12" fmla="*/ 215606 w 375018"/>
                <a:gd name="connsiteY12" fmla="*/ 0 h 906809"/>
                <a:gd name="connsiteX13" fmla="*/ 215606 w 375018"/>
                <a:gd name="connsiteY13" fmla="*/ 250042 h 906809"/>
                <a:gd name="connsiteX14" fmla="*/ 375018 w 375018"/>
                <a:gd name="connsiteY14" fmla="*/ 250042 h 906809"/>
                <a:gd name="connsiteX15" fmla="*/ 375018 w 375018"/>
                <a:gd name="connsiteY15" fmla="*/ 364897 h 906809"/>
                <a:gd name="connsiteX16" fmla="*/ 215606 w 375018"/>
                <a:gd name="connsiteY16" fmla="*/ 364897 h 906809"/>
                <a:gd name="connsiteX17" fmla="*/ 215606 w 375018"/>
                <a:gd name="connsiteY17" fmla="*/ 714195 h 906809"/>
                <a:gd name="connsiteX18" fmla="*/ 219493 w 375018"/>
                <a:gd name="connsiteY18" fmla="*/ 751601 h 906809"/>
                <a:gd name="connsiteX19" fmla="*/ 231462 w 375018"/>
                <a:gd name="connsiteY19" fmla="*/ 775192 h 906809"/>
                <a:gd name="connsiteX20" fmla="*/ 252137 w 375018"/>
                <a:gd name="connsiteY20" fmla="*/ 787764 h 906809"/>
                <a:gd name="connsiteX21" fmla="*/ 282060 w 375018"/>
                <a:gd name="connsiteY21" fmla="*/ 791412 h 906809"/>
                <a:gd name="connsiteX22" fmla="*/ 332115 w 375018"/>
                <a:gd name="connsiteY22" fmla="*/ 783651 h 906809"/>
                <a:gd name="connsiteX23" fmla="*/ 374941 w 375018"/>
                <a:gd name="connsiteY23" fmla="*/ 765725 h 906809"/>
                <a:gd name="connsiteX24" fmla="*/ 360561 w 375018"/>
                <a:gd name="connsiteY24" fmla="*/ 877010 h 90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5018" h="906809">
                  <a:moveTo>
                    <a:pt x="360639" y="876854"/>
                  </a:moveTo>
                  <a:cubicBezTo>
                    <a:pt x="345094" y="885624"/>
                    <a:pt x="326752" y="892841"/>
                    <a:pt x="305844" y="898428"/>
                  </a:cubicBezTo>
                  <a:cubicBezTo>
                    <a:pt x="284858" y="904016"/>
                    <a:pt x="261774" y="906810"/>
                    <a:pt x="236669" y="906810"/>
                  </a:cubicBezTo>
                  <a:cubicBezTo>
                    <a:pt x="214674" y="906810"/>
                    <a:pt x="195398" y="903706"/>
                    <a:pt x="178843" y="897575"/>
                  </a:cubicBezTo>
                  <a:cubicBezTo>
                    <a:pt x="162288" y="891366"/>
                    <a:pt x="147209" y="881588"/>
                    <a:pt x="133608" y="868240"/>
                  </a:cubicBezTo>
                  <a:cubicBezTo>
                    <a:pt x="120006" y="854892"/>
                    <a:pt x="109668" y="837354"/>
                    <a:pt x="102440" y="815625"/>
                  </a:cubicBezTo>
                  <a:cubicBezTo>
                    <a:pt x="95212" y="793895"/>
                    <a:pt x="91636" y="767432"/>
                    <a:pt x="91636" y="736390"/>
                  </a:cubicBezTo>
                  <a:lnTo>
                    <a:pt x="91636" y="364897"/>
                  </a:lnTo>
                  <a:lnTo>
                    <a:pt x="0" y="364897"/>
                  </a:lnTo>
                  <a:lnTo>
                    <a:pt x="0" y="250042"/>
                  </a:lnTo>
                  <a:lnTo>
                    <a:pt x="91636" y="250042"/>
                  </a:lnTo>
                  <a:lnTo>
                    <a:pt x="91636" y="66430"/>
                  </a:lnTo>
                  <a:lnTo>
                    <a:pt x="215606" y="0"/>
                  </a:lnTo>
                  <a:lnTo>
                    <a:pt x="215606" y="250042"/>
                  </a:lnTo>
                  <a:lnTo>
                    <a:pt x="375018" y="250042"/>
                  </a:lnTo>
                  <a:lnTo>
                    <a:pt x="375018" y="364897"/>
                  </a:lnTo>
                  <a:lnTo>
                    <a:pt x="215606" y="364897"/>
                  </a:lnTo>
                  <a:lnTo>
                    <a:pt x="215606" y="714195"/>
                  </a:lnTo>
                  <a:cubicBezTo>
                    <a:pt x="215606" y="729328"/>
                    <a:pt x="216927" y="741822"/>
                    <a:pt x="219493" y="751601"/>
                  </a:cubicBezTo>
                  <a:cubicBezTo>
                    <a:pt x="222058" y="761379"/>
                    <a:pt x="226099" y="769217"/>
                    <a:pt x="231462" y="775192"/>
                  </a:cubicBezTo>
                  <a:cubicBezTo>
                    <a:pt x="236825" y="781168"/>
                    <a:pt x="243742" y="785359"/>
                    <a:pt x="252137" y="787764"/>
                  </a:cubicBezTo>
                  <a:cubicBezTo>
                    <a:pt x="260531" y="790170"/>
                    <a:pt x="270479" y="791412"/>
                    <a:pt x="282060" y="791412"/>
                  </a:cubicBezTo>
                  <a:cubicBezTo>
                    <a:pt x="298460" y="791412"/>
                    <a:pt x="315093" y="788851"/>
                    <a:pt x="332115" y="783651"/>
                  </a:cubicBezTo>
                  <a:cubicBezTo>
                    <a:pt x="349058" y="778452"/>
                    <a:pt x="363360" y="772476"/>
                    <a:pt x="374941" y="765725"/>
                  </a:cubicBezTo>
                  <a:lnTo>
                    <a:pt x="360561" y="877010"/>
                  </a:lnTo>
                  <a:close/>
                </a:path>
              </a:pathLst>
            </a:custGeom>
            <a:solidFill>
              <a:srgbClr val="1A9AFA"/>
            </a:solidFill>
            <a:ln w="7772" cap="flat">
              <a:noFill/>
              <a:prstDash val="solid"/>
              <a:miter/>
            </a:ln>
          </p:spPr>
          <p:txBody>
            <a:bodyPr rtlCol="0" anchor="ctr"/>
            <a:lstStyle/>
            <a:p>
              <a:endParaRPr lang="en-US"/>
            </a:p>
          </p:txBody>
        </p:sp>
        <p:sp>
          <p:nvSpPr>
            <p:cNvPr id="24" name="Freeform 15">
              <a:extLst>
                <a:ext uri="{FF2B5EF4-FFF2-40B4-BE49-F238E27FC236}">
                  <a16:creationId xmlns:a16="http://schemas.microsoft.com/office/drawing/2014/main" id="{BC563FF2-253A-ABB9-CABB-8635B66144A9}"/>
                </a:ext>
              </a:extLst>
            </p:cNvPr>
            <p:cNvSpPr/>
            <p:nvPr/>
          </p:nvSpPr>
          <p:spPr bwMode="invGray">
            <a:xfrm>
              <a:off x="6038988" y="2955368"/>
              <a:ext cx="517642" cy="893073"/>
            </a:xfrm>
            <a:custGeom>
              <a:avLst/>
              <a:gdLst>
                <a:gd name="connsiteX0" fmla="*/ 391185 w 517642"/>
                <a:gd name="connsiteY0" fmla="*/ 893074 h 893073"/>
                <a:gd name="connsiteX1" fmla="*/ 391185 w 517642"/>
                <a:gd name="connsiteY1" fmla="*/ 529419 h 893073"/>
                <a:gd name="connsiteX2" fmla="*/ 359396 w 517642"/>
                <a:gd name="connsiteY2" fmla="*/ 396637 h 893073"/>
                <a:gd name="connsiteX3" fmla="*/ 258744 w 517642"/>
                <a:gd name="connsiteY3" fmla="*/ 352946 h 893073"/>
                <a:gd name="connsiteX4" fmla="*/ 204492 w 517642"/>
                <a:gd name="connsiteY4" fmla="*/ 362491 h 893073"/>
                <a:gd name="connsiteX5" fmla="*/ 161977 w 517642"/>
                <a:gd name="connsiteY5" fmla="*/ 394154 h 893073"/>
                <a:gd name="connsiteX6" fmla="*/ 135318 w 517642"/>
                <a:gd name="connsiteY6" fmla="*/ 446227 h 893073"/>
                <a:gd name="connsiteX7" fmla="*/ 126379 w 517642"/>
                <a:gd name="connsiteY7" fmla="*/ 516847 h 893073"/>
                <a:gd name="connsiteX8" fmla="*/ 126379 w 517642"/>
                <a:gd name="connsiteY8" fmla="*/ 893074 h 893073"/>
                <a:gd name="connsiteX9" fmla="*/ 0 w 517642"/>
                <a:gd name="connsiteY9" fmla="*/ 893074 h 893073"/>
                <a:gd name="connsiteX10" fmla="*/ 0 w 517642"/>
                <a:gd name="connsiteY10" fmla="*/ 66430 h 893073"/>
                <a:gd name="connsiteX11" fmla="*/ 126379 w 517642"/>
                <a:gd name="connsiteY11" fmla="*/ 0 h 893073"/>
                <a:gd name="connsiteX12" fmla="*/ 126379 w 517642"/>
                <a:gd name="connsiteY12" fmla="*/ 311039 h 893073"/>
                <a:gd name="connsiteX13" fmla="*/ 155759 w 517642"/>
                <a:gd name="connsiteY13" fmla="*/ 279687 h 893073"/>
                <a:gd name="connsiteX14" fmla="*/ 194155 w 517642"/>
                <a:gd name="connsiteY14" fmla="*/ 256095 h 893073"/>
                <a:gd name="connsiteX15" fmla="*/ 239079 w 517642"/>
                <a:gd name="connsiteY15" fmla="*/ 241428 h 893073"/>
                <a:gd name="connsiteX16" fmla="*/ 288201 w 517642"/>
                <a:gd name="connsiteY16" fmla="*/ 236306 h 893073"/>
                <a:gd name="connsiteX17" fmla="*/ 388853 w 517642"/>
                <a:gd name="connsiteY17" fmla="*/ 254854 h 893073"/>
                <a:gd name="connsiteX18" fmla="*/ 460437 w 517642"/>
                <a:gd name="connsiteY18" fmla="*/ 309565 h 893073"/>
                <a:gd name="connsiteX19" fmla="*/ 503574 w 517642"/>
                <a:gd name="connsiteY19" fmla="*/ 401682 h 893073"/>
                <a:gd name="connsiteX20" fmla="*/ 517642 w 517642"/>
                <a:gd name="connsiteY20" fmla="*/ 524607 h 893073"/>
                <a:gd name="connsiteX21" fmla="*/ 517642 w 517642"/>
                <a:gd name="connsiteY21" fmla="*/ 893074 h 893073"/>
                <a:gd name="connsiteX22" fmla="*/ 391263 w 517642"/>
                <a:gd name="connsiteY22" fmla="*/ 893074 h 893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17642" h="893073">
                  <a:moveTo>
                    <a:pt x="391185" y="893074"/>
                  </a:moveTo>
                  <a:lnTo>
                    <a:pt x="391185" y="529419"/>
                  </a:lnTo>
                  <a:cubicBezTo>
                    <a:pt x="391185" y="469974"/>
                    <a:pt x="380615" y="425739"/>
                    <a:pt x="359396" y="396637"/>
                  </a:cubicBezTo>
                  <a:cubicBezTo>
                    <a:pt x="338255" y="367535"/>
                    <a:pt x="304678" y="352946"/>
                    <a:pt x="258744" y="352946"/>
                  </a:cubicBezTo>
                  <a:cubicBezTo>
                    <a:pt x="239157" y="352946"/>
                    <a:pt x="221125" y="356128"/>
                    <a:pt x="204492" y="362491"/>
                  </a:cubicBezTo>
                  <a:cubicBezTo>
                    <a:pt x="187937" y="368855"/>
                    <a:pt x="173713" y="379409"/>
                    <a:pt x="161977" y="394154"/>
                  </a:cubicBezTo>
                  <a:cubicBezTo>
                    <a:pt x="150163" y="408899"/>
                    <a:pt x="141303" y="426282"/>
                    <a:pt x="135318" y="446227"/>
                  </a:cubicBezTo>
                  <a:cubicBezTo>
                    <a:pt x="129333" y="466171"/>
                    <a:pt x="126379" y="489685"/>
                    <a:pt x="126379" y="516847"/>
                  </a:cubicBezTo>
                  <a:lnTo>
                    <a:pt x="126379" y="893074"/>
                  </a:lnTo>
                  <a:lnTo>
                    <a:pt x="0" y="893074"/>
                  </a:lnTo>
                  <a:lnTo>
                    <a:pt x="0" y="66430"/>
                  </a:lnTo>
                  <a:lnTo>
                    <a:pt x="126379" y="0"/>
                  </a:lnTo>
                  <a:lnTo>
                    <a:pt x="126379" y="311039"/>
                  </a:lnTo>
                  <a:cubicBezTo>
                    <a:pt x="134385" y="299476"/>
                    <a:pt x="144178" y="289000"/>
                    <a:pt x="155759" y="279687"/>
                  </a:cubicBezTo>
                  <a:cubicBezTo>
                    <a:pt x="167340" y="270297"/>
                    <a:pt x="180087" y="262459"/>
                    <a:pt x="194155" y="256095"/>
                  </a:cubicBezTo>
                  <a:cubicBezTo>
                    <a:pt x="208067" y="249732"/>
                    <a:pt x="223068" y="244843"/>
                    <a:pt x="239079" y="241428"/>
                  </a:cubicBezTo>
                  <a:cubicBezTo>
                    <a:pt x="255012" y="238013"/>
                    <a:pt x="271413" y="236306"/>
                    <a:pt x="288201" y="236306"/>
                  </a:cubicBezTo>
                  <a:cubicBezTo>
                    <a:pt x="326907" y="236306"/>
                    <a:pt x="360484" y="242514"/>
                    <a:pt x="388853" y="254854"/>
                  </a:cubicBezTo>
                  <a:cubicBezTo>
                    <a:pt x="417223" y="267193"/>
                    <a:pt x="441084" y="285430"/>
                    <a:pt x="460437" y="309565"/>
                  </a:cubicBezTo>
                  <a:cubicBezTo>
                    <a:pt x="479791" y="333700"/>
                    <a:pt x="494169" y="364431"/>
                    <a:pt x="503574" y="401682"/>
                  </a:cubicBezTo>
                  <a:cubicBezTo>
                    <a:pt x="512978" y="439009"/>
                    <a:pt x="517642" y="479985"/>
                    <a:pt x="517642" y="524607"/>
                  </a:cubicBezTo>
                  <a:lnTo>
                    <a:pt x="517642" y="893074"/>
                  </a:lnTo>
                  <a:lnTo>
                    <a:pt x="391263" y="893074"/>
                  </a:lnTo>
                  <a:close/>
                </a:path>
              </a:pathLst>
            </a:custGeom>
            <a:solidFill>
              <a:srgbClr val="1A9AFA"/>
            </a:solidFill>
            <a:ln w="7772" cap="flat">
              <a:noFill/>
              <a:prstDash val="solid"/>
              <a:miter/>
            </a:ln>
          </p:spPr>
          <p:txBody>
            <a:bodyPr rtlCol="0" anchor="ctr"/>
            <a:lstStyle/>
            <a:p>
              <a:endParaRPr lang="en-US"/>
            </a:p>
          </p:txBody>
        </p:sp>
        <p:sp>
          <p:nvSpPr>
            <p:cNvPr id="25" name="Freeform 16">
              <a:extLst>
                <a:ext uri="{FF2B5EF4-FFF2-40B4-BE49-F238E27FC236}">
                  <a16:creationId xmlns:a16="http://schemas.microsoft.com/office/drawing/2014/main" id="{EA5C943C-FEED-933C-7CB4-A86EFE32B1AB}"/>
                </a:ext>
              </a:extLst>
            </p:cNvPr>
            <p:cNvSpPr/>
            <p:nvPr/>
          </p:nvSpPr>
          <p:spPr bwMode="invGray">
            <a:xfrm>
              <a:off x="6650598" y="3191674"/>
              <a:ext cx="553550" cy="670581"/>
            </a:xfrm>
            <a:custGeom>
              <a:avLst/>
              <a:gdLst>
                <a:gd name="connsiteX0" fmla="*/ 425850 w 553550"/>
                <a:gd name="connsiteY0" fmla="*/ 275729 h 670581"/>
                <a:gd name="connsiteX1" fmla="*/ 414192 w 553550"/>
                <a:gd name="connsiteY1" fmla="*/ 213568 h 670581"/>
                <a:gd name="connsiteX2" fmla="*/ 386600 w 553550"/>
                <a:gd name="connsiteY2" fmla="*/ 162116 h 670581"/>
                <a:gd name="connsiteX3" fmla="*/ 340509 w 553550"/>
                <a:gd name="connsiteY3" fmla="*/ 127116 h 670581"/>
                <a:gd name="connsiteX4" fmla="*/ 273666 w 553550"/>
                <a:gd name="connsiteY4" fmla="*/ 114234 h 670581"/>
                <a:gd name="connsiteX5" fmla="*/ 214907 w 553550"/>
                <a:gd name="connsiteY5" fmla="*/ 125331 h 670581"/>
                <a:gd name="connsiteX6" fmla="*/ 171770 w 553550"/>
                <a:gd name="connsiteY6" fmla="*/ 156761 h 670581"/>
                <a:gd name="connsiteX7" fmla="*/ 142080 w 553550"/>
                <a:gd name="connsiteY7" fmla="*/ 206739 h 670581"/>
                <a:gd name="connsiteX8" fmla="*/ 126224 w 553550"/>
                <a:gd name="connsiteY8" fmla="*/ 275807 h 670581"/>
                <a:gd name="connsiteX9" fmla="*/ 425772 w 553550"/>
                <a:gd name="connsiteY9" fmla="*/ 275807 h 670581"/>
                <a:gd name="connsiteX10" fmla="*/ 553473 w 553550"/>
                <a:gd name="connsiteY10" fmla="*/ 322447 h 670581"/>
                <a:gd name="connsiteX11" fmla="*/ 552229 w 553550"/>
                <a:gd name="connsiteY11" fmla="*/ 354731 h 670581"/>
                <a:gd name="connsiteX12" fmla="*/ 549820 w 553550"/>
                <a:gd name="connsiteY12" fmla="*/ 379797 h 670581"/>
                <a:gd name="connsiteX13" fmla="*/ 123892 w 553550"/>
                <a:gd name="connsiteY13" fmla="*/ 379797 h 670581"/>
                <a:gd name="connsiteX14" fmla="*/ 144256 w 553550"/>
                <a:gd name="connsiteY14" fmla="*/ 459652 h 670581"/>
                <a:gd name="connsiteX15" fmla="*/ 180786 w 553550"/>
                <a:gd name="connsiteY15" fmla="*/ 514363 h 670581"/>
                <a:gd name="connsiteX16" fmla="*/ 229675 w 553550"/>
                <a:gd name="connsiteY16" fmla="*/ 546104 h 670581"/>
                <a:gd name="connsiteX17" fmla="*/ 286258 w 553550"/>
                <a:gd name="connsiteY17" fmla="*/ 556270 h 670581"/>
                <a:gd name="connsiteX18" fmla="*/ 325819 w 553550"/>
                <a:gd name="connsiteY18" fmla="*/ 552700 h 670581"/>
                <a:gd name="connsiteX19" fmla="*/ 361494 w 553550"/>
                <a:gd name="connsiteY19" fmla="*/ 541913 h 670581"/>
                <a:gd name="connsiteX20" fmla="*/ 391807 w 553550"/>
                <a:gd name="connsiteY20" fmla="*/ 527246 h 670581"/>
                <a:gd name="connsiteX21" fmla="*/ 425928 w 553550"/>
                <a:gd name="connsiteY21" fmla="*/ 504818 h 670581"/>
                <a:gd name="connsiteX22" fmla="*/ 500853 w 553550"/>
                <a:gd name="connsiteY22" fmla="*/ 585604 h 670581"/>
                <a:gd name="connsiteX23" fmla="*/ 454997 w 553550"/>
                <a:gd name="connsiteY23" fmla="*/ 622389 h 670581"/>
                <a:gd name="connsiteX24" fmla="*/ 407662 w 553550"/>
                <a:gd name="connsiteY24" fmla="*/ 647533 h 670581"/>
                <a:gd name="connsiteX25" fmla="*/ 349836 w 553550"/>
                <a:gd name="connsiteY25" fmla="*/ 664606 h 670581"/>
                <a:gd name="connsiteX26" fmla="*/ 278563 w 553550"/>
                <a:gd name="connsiteY26" fmla="*/ 670581 h 670581"/>
                <a:gd name="connsiteX27" fmla="*/ 200062 w 553550"/>
                <a:gd name="connsiteY27" fmla="*/ 658941 h 670581"/>
                <a:gd name="connsiteX28" fmla="*/ 135396 w 553550"/>
                <a:gd name="connsiteY28" fmla="*/ 628442 h 670581"/>
                <a:gd name="connsiteX29" fmla="*/ 84797 w 553550"/>
                <a:gd name="connsiteY29" fmla="*/ 585372 h 670581"/>
                <a:gd name="connsiteX30" fmla="*/ 41971 w 553550"/>
                <a:gd name="connsiteY30" fmla="*/ 523133 h 670581"/>
                <a:gd name="connsiteX31" fmla="*/ 10804 w 553550"/>
                <a:gd name="connsiteY31" fmla="*/ 438233 h 670581"/>
                <a:gd name="connsiteX32" fmla="*/ 0 w 553550"/>
                <a:gd name="connsiteY32" fmla="*/ 335640 h 670581"/>
                <a:gd name="connsiteX33" fmla="*/ 20675 w 553550"/>
                <a:gd name="connsiteY33" fmla="*/ 191450 h 670581"/>
                <a:gd name="connsiteX34" fmla="*/ 78502 w 553550"/>
                <a:gd name="connsiteY34" fmla="*/ 86141 h 670581"/>
                <a:gd name="connsiteX35" fmla="*/ 167729 w 553550"/>
                <a:gd name="connsiteY35" fmla="*/ 21884 h 670581"/>
                <a:gd name="connsiteX36" fmla="*/ 282139 w 553550"/>
                <a:gd name="connsiteY36" fmla="*/ 0 h 670581"/>
                <a:gd name="connsiteX37" fmla="*/ 401989 w 553550"/>
                <a:gd name="connsiteY37" fmla="*/ 26075 h 670581"/>
                <a:gd name="connsiteX38" fmla="*/ 486475 w 553550"/>
                <a:gd name="connsiteY38" fmla="*/ 96074 h 670581"/>
                <a:gd name="connsiteX39" fmla="*/ 536762 w 553550"/>
                <a:gd name="connsiteY39" fmla="*/ 198668 h 670581"/>
                <a:gd name="connsiteX40" fmla="*/ 553551 w 553550"/>
                <a:gd name="connsiteY40" fmla="*/ 322447 h 670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53550" h="670581">
                  <a:moveTo>
                    <a:pt x="425850" y="275729"/>
                  </a:moveTo>
                  <a:cubicBezTo>
                    <a:pt x="424218" y="253767"/>
                    <a:pt x="420332" y="233047"/>
                    <a:pt x="414192" y="213568"/>
                  </a:cubicBezTo>
                  <a:cubicBezTo>
                    <a:pt x="407974" y="194012"/>
                    <a:pt x="398802" y="176861"/>
                    <a:pt x="386600" y="162116"/>
                  </a:cubicBezTo>
                  <a:cubicBezTo>
                    <a:pt x="374397" y="147371"/>
                    <a:pt x="359085" y="135730"/>
                    <a:pt x="340509" y="127116"/>
                  </a:cubicBezTo>
                  <a:cubicBezTo>
                    <a:pt x="321933" y="118580"/>
                    <a:pt x="299626" y="114234"/>
                    <a:pt x="273666" y="114234"/>
                  </a:cubicBezTo>
                  <a:cubicBezTo>
                    <a:pt x="251282" y="114234"/>
                    <a:pt x="231773" y="117959"/>
                    <a:pt x="214907" y="125331"/>
                  </a:cubicBezTo>
                  <a:cubicBezTo>
                    <a:pt x="198196" y="132704"/>
                    <a:pt x="183740" y="143180"/>
                    <a:pt x="171770" y="156761"/>
                  </a:cubicBezTo>
                  <a:cubicBezTo>
                    <a:pt x="159801" y="170342"/>
                    <a:pt x="149930" y="187027"/>
                    <a:pt x="142080" y="206739"/>
                  </a:cubicBezTo>
                  <a:cubicBezTo>
                    <a:pt x="134307" y="226528"/>
                    <a:pt x="129022" y="249499"/>
                    <a:pt x="126224" y="275807"/>
                  </a:cubicBezTo>
                  <a:lnTo>
                    <a:pt x="425772" y="275807"/>
                  </a:lnTo>
                  <a:close/>
                  <a:moveTo>
                    <a:pt x="553473" y="322447"/>
                  </a:moveTo>
                  <a:cubicBezTo>
                    <a:pt x="553473" y="334010"/>
                    <a:pt x="553084" y="344797"/>
                    <a:pt x="552229" y="354731"/>
                  </a:cubicBezTo>
                  <a:cubicBezTo>
                    <a:pt x="551452" y="364742"/>
                    <a:pt x="550597" y="373045"/>
                    <a:pt x="549820" y="379797"/>
                  </a:cubicBezTo>
                  <a:lnTo>
                    <a:pt x="123892" y="379797"/>
                  </a:lnTo>
                  <a:cubicBezTo>
                    <a:pt x="127468" y="410916"/>
                    <a:pt x="134307" y="437535"/>
                    <a:pt x="144256" y="459652"/>
                  </a:cubicBezTo>
                  <a:cubicBezTo>
                    <a:pt x="154205" y="481769"/>
                    <a:pt x="166407" y="500006"/>
                    <a:pt x="180786" y="514363"/>
                  </a:cubicBezTo>
                  <a:cubicBezTo>
                    <a:pt x="195165" y="528720"/>
                    <a:pt x="211487" y="539274"/>
                    <a:pt x="229675" y="546104"/>
                  </a:cubicBezTo>
                  <a:cubicBezTo>
                    <a:pt x="247862" y="552933"/>
                    <a:pt x="266671" y="556270"/>
                    <a:pt x="286258" y="556270"/>
                  </a:cubicBezTo>
                  <a:cubicBezTo>
                    <a:pt x="300248" y="556270"/>
                    <a:pt x="313383" y="555106"/>
                    <a:pt x="325819" y="552700"/>
                  </a:cubicBezTo>
                  <a:cubicBezTo>
                    <a:pt x="338177" y="550294"/>
                    <a:pt x="350069" y="546724"/>
                    <a:pt x="361494" y="541913"/>
                  </a:cubicBezTo>
                  <a:cubicBezTo>
                    <a:pt x="372920" y="537101"/>
                    <a:pt x="382946" y="532290"/>
                    <a:pt x="391807" y="527246"/>
                  </a:cubicBezTo>
                  <a:cubicBezTo>
                    <a:pt x="400590" y="522279"/>
                    <a:pt x="411937" y="514751"/>
                    <a:pt x="425928" y="504818"/>
                  </a:cubicBezTo>
                  <a:lnTo>
                    <a:pt x="500853" y="585604"/>
                  </a:lnTo>
                  <a:cubicBezTo>
                    <a:pt x="484842" y="600737"/>
                    <a:pt x="469609" y="612999"/>
                    <a:pt x="454997" y="622389"/>
                  </a:cubicBezTo>
                  <a:cubicBezTo>
                    <a:pt x="440384" y="631779"/>
                    <a:pt x="424684" y="640160"/>
                    <a:pt x="407662" y="647533"/>
                  </a:cubicBezTo>
                  <a:cubicBezTo>
                    <a:pt x="390719" y="654905"/>
                    <a:pt x="371443" y="660570"/>
                    <a:pt x="349836" y="664606"/>
                  </a:cubicBezTo>
                  <a:cubicBezTo>
                    <a:pt x="328307" y="668564"/>
                    <a:pt x="304445" y="670581"/>
                    <a:pt x="278563" y="670581"/>
                  </a:cubicBezTo>
                  <a:cubicBezTo>
                    <a:pt x="250583" y="670581"/>
                    <a:pt x="224467" y="666701"/>
                    <a:pt x="200062" y="658941"/>
                  </a:cubicBezTo>
                  <a:cubicBezTo>
                    <a:pt x="175734" y="651180"/>
                    <a:pt x="154127" y="641014"/>
                    <a:pt x="135396" y="628442"/>
                  </a:cubicBezTo>
                  <a:cubicBezTo>
                    <a:pt x="116586" y="615870"/>
                    <a:pt x="99720" y="601513"/>
                    <a:pt x="84797" y="585372"/>
                  </a:cubicBezTo>
                  <a:cubicBezTo>
                    <a:pt x="69796" y="569230"/>
                    <a:pt x="55573" y="548509"/>
                    <a:pt x="41971" y="523133"/>
                  </a:cubicBezTo>
                  <a:cubicBezTo>
                    <a:pt x="28369" y="497834"/>
                    <a:pt x="18032" y="469508"/>
                    <a:pt x="10804" y="438233"/>
                  </a:cubicBezTo>
                  <a:cubicBezTo>
                    <a:pt x="3575" y="406959"/>
                    <a:pt x="0" y="372735"/>
                    <a:pt x="0" y="335640"/>
                  </a:cubicBezTo>
                  <a:cubicBezTo>
                    <a:pt x="0" y="281394"/>
                    <a:pt x="6918" y="233357"/>
                    <a:pt x="20675" y="191450"/>
                  </a:cubicBezTo>
                  <a:cubicBezTo>
                    <a:pt x="34432" y="149622"/>
                    <a:pt x="53708" y="114467"/>
                    <a:pt x="78502" y="86141"/>
                  </a:cubicBezTo>
                  <a:cubicBezTo>
                    <a:pt x="103296" y="57815"/>
                    <a:pt x="132986" y="36396"/>
                    <a:pt x="167729" y="21884"/>
                  </a:cubicBezTo>
                  <a:cubicBezTo>
                    <a:pt x="202549" y="7295"/>
                    <a:pt x="240634" y="0"/>
                    <a:pt x="282139" y="0"/>
                  </a:cubicBezTo>
                  <a:cubicBezTo>
                    <a:pt x="328073" y="0"/>
                    <a:pt x="368023" y="8692"/>
                    <a:pt x="401989" y="26075"/>
                  </a:cubicBezTo>
                  <a:cubicBezTo>
                    <a:pt x="435954" y="43381"/>
                    <a:pt x="464090" y="66740"/>
                    <a:pt x="486475" y="96074"/>
                  </a:cubicBezTo>
                  <a:cubicBezTo>
                    <a:pt x="508859" y="125409"/>
                    <a:pt x="525570" y="159633"/>
                    <a:pt x="536762" y="198668"/>
                  </a:cubicBezTo>
                  <a:cubicBezTo>
                    <a:pt x="547954" y="237780"/>
                    <a:pt x="553551" y="278988"/>
                    <a:pt x="553551" y="322447"/>
                  </a:cubicBezTo>
                </a:path>
              </a:pathLst>
            </a:custGeom>
            <a:solidFill>
              <a:srgbClr val="1A9AFA"/>
            </a:solidFill>
            <a:ln w="7772" cap="flat">
              <a:noFill/>
              <a:prstDash val="solid"/>
              <a:miter/>
            </a:ln>
          </p:spPr>
          <p:txBody>
            <a:bodyPr rtlCol="0" anchor="ctr"/>
            <a:lstStyle/>
            <a:p>
              <a:endParaRPr lang="en-US"/>
            </a:p>
          </p:txBody>
        </p:sp>
        <p:sp>
          <p:nvSpPr>
            <p:cNvPr id="26" name="Freeform 17">
              <a:extLst>
                <a:ext uri="{FF2B5EF4-FFF2-40B4-BE49-F238E27FC236}">
                  <a16:creationId xmlns:a16="http://schemas.microsoft.com/office/drawing/2014/main" id="{62F37186-8209-5E2D-C0DB-BC726D36C0E6}"/>
                </a:ext>
              </a:extLst>
            </p:cNvPr>
            <p:cNvSpPr/>
            <p:nvPr/>
          </p:nvSpPr>
          <p:spPr bwMode="invGray">
            <a:xfrm>
              <a:off x="7297884" y="3191752"/>
              <a:ext cx="517719" cy="656845"/>
            </a:xfrm>
            <a:custGeom>
              <a:avLst/>
              <a:gdLst>
                <a:gd name="connsiteX0" fmla="*/ 391262 w 517719"/>
                <a:gd name="connsiteY0" fmla="*/ 656690 h 656845"/>
                <a:gd name="connsiteX1" fmla="*/ 391262 w 517719"/>
                <a:gd name="connsiteY1" fmla="*/ 293035 h 656845"/>
                <a:gd name="connsiteX2" fmla="*/ 360095 w 517719"/>
                <a:gd name="connsiteY2" fmla="*/ 161107 h 656845"/>
                <a:gd name="connsiteX3" fmla="*/ 258821 w 517719"/>
                <a:gd name="connsiteY3" fmla="*/ 116562 h 656845"/>
                <a:gd name="connsiteX4" fmla="*/ 202471 w 517719"/>
                <a:gd name="connsiteY4" fmla="*/ 127349 h 656845"/>
                <a:gd name="connsiteX5" fmla="*/ 159334 w 517719"/>
                <a:gd name="connsiteY5" fmla="*/ 160874 h 656845"/>
                <a:gd name="connsiteX6" fmla="*/ 134152 w 517719"/>
                <a:gd name="connsiteY6" fmla="*/ 214421 h 656845"/>
                <a:gd name="connsiteX7" fmla="*/ 126379 w 517719"/>
                <a:gd name="connsiteY7" fmla="*/ 280541 h 656845"/>
                <a:gd name="connsiteX8" fmla="*/ 126379 w 517719"/>
                <a:gd name="connsiteY8" fmla="*/ 656768 h 656845"/>
                <a:gd name="connsiteX9" fmla="*/ 0 w 517719"/>
                <a:gd name="connsiteY9" fmla="*/ 656768 h 656845"/>
                <a:gd name="connsiteX10" fmla="*/ 0 w 517719"/>
                <a:gd name="connsiteY10" fmla="*/ 13736 h 656845"/>
                <a:gd name="connsiteX11" fmla="*/ 126379 w 517719"/>
                <a:gd name="connsiteY11" fmla="*/ 13736 h 656845"/>
                <a:gd name="connsiteX12" fmla="*/ 126379 w 517719"/>
                <a:gd name="connsiteY12" fmla="*/ 74733 h 656845"/>
                <a:gd name="connsiteX13" fmla="*/ 155759 w 517719"/>
                <a:gd name="connsiteY13" fmla="*/ 43381 h 656845"/>
                <a:gd name="connsiteX14" fmla="*/ 194154 w 517719"/>
                <a:gd name="connsiteY14" fmla="*/ 19789 h 656845"/>
                <a:gd name="connsiteX15" fmla="*/ 239079 w 517719"/>
                <a:gd name="connsiteY15" fmla="*/ 5122 h 656845"/>
                <a:gd name="connsiteX16" fmla="*/ 288201 w 517719"/>
                <a:gd name="connsiteY16" fmla="*/ 0 h 656845"/>
                <a:gd name="connsiteX17" fmla="*/ 389164 w 517719"/>
                <a:gd name="connsiteY17" fmla="*/ 18858 h 656845"/>
                <a:gd name="connsiteX18" fmla="*/ 460515 w 517719"/>
                <a:gd name="connsiteY18" fmla="*/ 73026 h 656845"/>
                <a:gd name="connsiteX19" fmla="*/ 503341 w 517719"/>
                <a:gd name="connsiteY19" fmla="*/ 162194 h 656845"/>
                <a:gd name="connsiteX20" fmla="*/ 517719 w 517719"/>
                <a:gd name="connsiteY20" fmla="*/ 288379 h 656845"/>
                <a:gd name="connsiteX21" fmla="*/ 517719 w 517719"/>
                <a:gd name="connsiteY21" fmla="*/ 656845 h 656845"/>
                <a:gd name="connsiteX22" fmla="*/ 391262 w 517719"/>
                <a:gd name="connsiteY22" fmla="*/ 656845 h 65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17719" h="656845">
                  <a:moveTo>
                    <a:pt x="391262" y="656690"/>
                  </a:moveTo>
                  <a:lnTo>
                    <a:pt x="391262" y="293035"/>
                  </a:lnTo>
                  <a:cubicBezTo>
                    <a:pt x="391262" y="234832"/>
                    <a:pt x="380925" y="190830"/>
                    <a:pt x="360095" y="161107"/>
                  </a:cubicBezTo>
                  <a:cubicBezTo>
                    <a:pt x="339343" y="131462"/>
                    <a:pt x="305611" y="116562"/>
                    <a:pt x="258821" y="116562"/>
                  </a:cubicBezTo>
                  <a:cubicBezTo>
                    <a:pt x="238457" y="116562"/>
                    <a:pt x="219648" y="120210"/>
                    <a:pt x="202471" y="127349"/>
                  </a:cubicBezTo>
                  <a:cubicBezTo>
                    <a:pt x="185294" y="134566"/>
                    <a:pt x="170915" y="145664"/>
                    <a:pt x="159334" y="160874"/>
                  </a:cubicBezTo>
                  <a:cubicBezTo>
                    <a:pt x="147753" y="176007"/>
                    <a:pt x="139359" y="193856"/>
                    <a:pt x="134152" y="214421"/>
                  </a:cubicBezTo>
                  <a:cubicBezTo>
                    <a:pt x="128944" y="234987"/>
                    <a:pt x="126379" y="257027"/>
                    <a:pt x="126379" y="280541"/>
                  </a:cubicBezTo>
                  <a:lnTo>
                    <a:pt x="126379" y="656768"/>
                  </a:lnTo>
                  <a:lnTo>
                    <a:pt x="0" y="656768"/>
                  </a:lnTo>
                  <a:lnTo>
                    <a:pt x="0" y="13736"/>
                  </a:lnTo>
                  <a:lnTo>
                    <a:pt x="126379" y="13736"/>
                  </a:lnTo>
                  <a:lnTo>
                    <a:pt x="126379" y="74733"/>
                  </a:lnTo>
                  <a:cubicBezTo>
                    <a:pt x="134385" y="63170"/>
                    <a:pt x="144178" y="52693"/>
                    <a:pt x="155759" y="43381"/>
                  </a:cubicBezTo>
                  <a:cubicBezTo>
                    <a:pt x="167340" y="33991"/>
                    <a:pt x="180086" y="26153"/>
                    <a:pt x="194154" y="19789"/>
                  </a:cubicBezTo>
                  <a:cubicBezTo>
                    <a:pt x="208067" y="13426"/>
                    <a:pt x="223068" y="8537"/>
                    <a:pt x="239079" y="5122"/>
                  </a:cubicBezTo>
                  <a:cubicBezTo>
                    <a:pt x="255090" y="1707"/>
                    <a:pt x="271412" y="0"/>
                    <a:pt x="288201" y="0"/>
                  </a:cubicBezTo>
                  <a:cubicBezTo>
                    <a:pt x="326907" y="0"/>
                    <a:pt x="360562" y="6286"/>
                    <a:pt x="389164" y="18858"/>
                  </a:cubicBezTo>
                  <a:cubicBezTo>
                    <a:pt x="417767" y="31430"/>
                    <a:pt x="441472" y="49434"/>
                    <a:pt x="460515" y="73026"/>
                  </a:cubicBezTo>
                  <a:cubicBezTo>
                    <a:pt x="479479" y="96540"/>
                    <a:pt x="493703" y="126263"/>
                    <a:pt x="503341" y="162194"/>
                  </a:cubicBezTo>
                  <a:cubicBezTo>
                    <a:pt x="512901" y="198125"/>
                    <a:pt x="517719" y="240186"/>
                    <a:pt x="517719" y="288379"/>
                  </a:cubicBezTo>
                  <a:lnTo>
                    <a:pt x="517719" y="656845"/>
                  </a:lnTo>
                  <a:lnTo>
                    <a:pt x="391262" y="656845"/>
                  </a:lnTo>
                  <a:close/>
                </a:path>
              </a:pathLst>
            </a:custGeom>
            <a:solidFill>
              <a:srgbClr val="1A9AFA"/>
            </a:solidFill>
            <a:ln w="7772" cap="flat">
              <a:noFill/>
              <a:prstDash val="solid"/>
              <a:miter/>
            </a:ln>
          </p:spPr>
          <p:txBody>
            <a:bodyPr rtlCol="0" anchor="ctr"/>
            <a:lstStyle/>
            <a:p>
              <a:endParaRPr lang="en-US"/>
            </a:p>
          </p:txBody>
        </p:sp>
        <p:sp>
          <p:nvSpPr>
            <p:cNvPr id="62" name="Freeform 18">
              <a:extLst>
                <a:ext uri="{FF2B5EF4-FFF2-40B4-BE49-F238E27FC236}">
                  <a16:creationId xmlns:a16="http://schemas.microsoft.com/office/drawing/2014/main" id="{9BD69F44-BAB6-6A25-23E1-8C44F47E9548}"/>
                </a:ext>
              </a:extLst>
            </p:cNvPr>
            <p:cNvSpPr/>
            <p:nvPr/>
          </p:nvSpPr>
          <p:spPr bwMode="invGray">
            <a:xfrm>
              <a:off x="7909572" y="3191752"/>
              <a:ext cx="574457" cy="670503"/>
            </a:xfrm>
            <a:custGeom>
              <a:avLst/>
              <a:gdLst>
                <a:gd name="connsiteX0" fmla="*/ 446913 w 574457"/>
                <a:gd name="connsiteY0" fmla="*/ 335485 h 670503"/>
                <a:gd name="connsiteX1" fmla="*/ 435487 w 574457"/>
                <a:gd name="connsiteY1" fmla="*/ 246628 h 670503"/>
                <a:gd name="connsiteX2" fmla="*/ 402843 w 574457"/>
                <a:gd name="connsiteY2" fmla="*/ 178724 h 670503"/>
                <a:gd name="connsiteX3" fmla="*/ 351001 w 574457"/>
                <a:gd name="connsiteY3" fmla="*/ 135342 h 670503"/>
                <a:gd name="connsiteX4" fmla="*/ 282138 w 574457"/>
                <a:gd name="connsiteY4" fmla="*/ 120132 h 670503"/>
                <a:gd name="connsiteX5" fmla="*/ 217705 w 574457"/>
                <a:gd name="connsiteY5" fmla="*/ 135342 h 670503"/>
                <a:gd name="connsiteX6" fmla="*/ 169205 w 574457"/>
                <a:gd name="connsiteY6" fmla="*/ 178413 h 670503"/>
                <a:gd name="connsiteX7" fmla="*/ 138349 w 574457"/>
                <a:gd name="connsiteY7" fmla="*/ 245153 h 670503"/>
                <a:gd name="connsiteX8" fmla="*/ 127623 w 574457"/>
                <a:gd name="connsiteY8" fmla="*/ 331837 h 670503"/>
                <a:gd name="connsiteX9" fmla="*/ 139281 w 574457"/>
                <a:gd name="connsiteY9" fmla="*/ 425739 h 670503"/>
                <a:gd name="connsiteX10" fmla="*/ 172236 w 574457"/>
                <a:gd name="connsiteY10" fmla="*/ 493953 h 670503"/>
                <a:gd name="connsiteX11" fmla="*/ 223145 w 574457"/>
                <a:gd name="connsiteY11" fmla="*/ 535782 h 670503"/>
                <a:gd name="connsiteX12" fmla="*/ 288744 w 574457"/>
                <a:gd name="connsiteY12" fmla="*/ 550139 h 670503"/>
                <a:gd name="connsiteX13" fmla="*/ 353722 w 574457"/>
                <a:gd name="connsiteY13" fmla="*/ 533066 h 670503"/>
                <a:gd name="connsiteX14" fmla="*/ 403465 w 574457"/>
                <a:gd name="connsiteY14" fmla="*/ 486969 h 670503"/>
                <a:gd name="connsiteX15" fmla="*/ 435487 w 574457"/>
                <a:gd name="connsiteY15" fmla="*/ 418755 h 670503"/>
                <a:gd name="connsiteX16" fmla="*/ 446913 w 574457"/>
                <a:gd name="connsiteY16" fmla="*/ 335330 h 670503"/>
                <a:gd name="connsiteX17" fmla="*/ 574458 w 574457"/>
                <a:gd name="connsiteY17" fmla="*/ 331915 h 670503"/>
                <a:gd name="connsiteX18" fmla="*/ 552307 w 574457"/>
                <a:gd name="connsiteY18" fmla="*/ 474863 h 670503"/>
                <a:gd name="connsiteX19" fmla="*/ 491216 w 574457"/>
                <a:gd name="connsiteY19" fmla="*/ 581336 h 670503"/>
                <a:gd name="connsiteX20" fmla="*/ 398957 w 574457"/>
                <a:gd name="connsiteY20" fmla="*/ 647766 h 670503"/>
                <a:gd name="connsiteX21" fmla="*/ 283926 w 574457"/>
                <a:gd name="connsiteY21" fmla="*/ 670504 h 670503"/>
                <a:gd name="connsiteX22" fmla="*/ 170993 w 574457"/>
                <a:gd name="connsiteY22" fmla="*/ 646602 h 670503"/>
                <a:gd name="connsiteX23" fmla="*/ 81144 w 574457"/>
                <a:gd name="connsiteY23" fmla="*/ 578698 h 670503"/>
                <a:gd name="connsiteX24" fmla="*/ 21529 w 574457"/>
                <a:gd name="connsiteY24" fmla="*/ 472845 h 670503"/>
                <a:gd name="connsiteX25" fmla="*/ 0 w 574457"/>
                <a:gd name="connsiteY25" fmla="*/ 335562 h 670503"/>
                <a:gd name="connsiteX26" fmla="*/ 22151 w 574457"/>
                <a:gd name="connsiteY26" fmla="*/ 194400 h 670503"/>
                <a:gd name="connsiteX27" fmla="*/ 82931 w 574457"/>
                <a:gd name="connsiteY27" fmla="*/ 88857 h 670503"/>
                <a:gd name="connsiteX28" fmla="*/ 174024 w 574457"/>
                <a:gd name="connsiteY28" fmla="*/ 22738 h 670503"/>
                <a:gd name="connsiteX29" fmla="*/ 287579 w 574457"/>
                <a:gd name="connsiteY29" fmla="*/ 0 h 670503"/>
                <a:gd name="connsiteX30" fmla="*/ 401678 w 574457"/>
                <a:gd name="connsiteY30" fmla="*/ 23669 h 670503"/>
                <a:gd name="connsiteX31" fmla="*/ 492459 w 574457"/>
                <a:gd name="connsiteY31" fmla="*/ 90642 h 670503"/>
                <a:gd name="connsiteX32" fmla="*/ 552617 w 574457"/>
                <a:gd name="connsiteY32" fmla="*/ 195331 h 670503"/>
                <a:gd name="connsiteX33" fmla="*/ 574458 w 574457"/>
                <a:gd name="connsiteY33" fmla="*/ 331993 h 67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74457" h="670503">
                  <a:moveTo>
                    <a:pt x="446913" y="335485"/>
                  </a:moveTo>
                  <a:cubicBezTo>
                    <a:pt x="446913" y="302813"/>
                    <a:pt x="443105" y="273168"/>
                    <a:pt x="435487" y="246628"/>
                  </a:cubicBezTo>
                  <a:cubicBezTo>
                    <a:pt x="427871" y="220164"/>
                    <a:pt x="416989" y="197504"/>
                    <a:pt x="402843" y="178724"/>
                  </a:cubicBezTo>
                  <a:cubicBezTo>
                    <a:pt x="388698" y="160021"/>
                    <a:pt x="371365" y="145509"/>
                    <a:pt x="351001" y="135342"/>
                  </a:cubicBezTo>
                  <a:cubicBezTo>
                    <a:pt x="330638" y="125176"/>
                    <a:pt x="307631" y="120132"/>
                    <a:pt x="282138" y="120132"/>
                  </a:cubicBezTo>
                  <a:cubicBezTo>
                    <a:pt x="258199" y="120132"/>
                    <a:pt x="236670" y="125176"/>
                    <a:pt x="217705" y="135342"/>
                  </a:cubicBezTo>
                  <a:cubicBezTo>
                    <a:pt x="198740" y="145509"/>
                    <a:pt x="182574" y="159866"/>
                    <a:pt x="169205" y="178413"/>
                  </a:cubicBezTo>
                  <a:cubicBezTo>
                    <a:pt x="155837" y="196960"/>
                    <a:pt x="145577" y="219233"/>
                    <a:pt x="138349" y="245153"/>
                  </a:cubicBezTo>
                  <a:cubicBezTo>
                    <a:pt x="131120" y="271073"/>
                    <a:pt x="127623" y="300019"/>
                    <a:pt x="127623" y="331837"/>
                  </a:cubicBezTo>
                  <a:cubicBezTo>
                    <a:pt x="127623" y="367303"/>
                    <a:pt x="131509" y="398655"/>
                    <a:pt x="139281" y="425739"/>
                  </a:cubicBezTo>
                  <a:cubicBezTo>
                    <a:pt x="147054" y="452901"/>
                    <a:pt x="158013" y="475561"/>
                    <a:pt x="172236" y="493953"/>
                  </a:cubicBezTo>
                  <a:cubicBezTo>
                    <a:pt x="186382" y="512268"/>
                    <a:pt x="203404" y="526237"/>
                    <a:pt x="223145" y="535782"/>
                  </a:cubicBezTo>
                  <a:cubicBezTo>
                    <a:pt x="242888" y="545328"/>
                    <a:pt x="264728" y="550139"/>
                    <a:pt x="288744" y="550139"/>
                  </a:cubicBezTo>
                  <a:cubicBezTo>
                    <a:pt x="312761" y="550139"/>
                    <a:pt x="334368" y="544474"/>
                    <a:pt x="353722" y="533066"/>
                  </a:cubicBezTo>
                  <a:cubicBezTo>
                    <a:pt x="373075" y="521658"/>
                    <a:pt x="389708" y="506293"/>
                    <a:pt x="403465" y="486969"/>
                  </a:cubicBezTo>
                  <a:cubicBezTo>
                    <a:pt x="417222" y="467645"/>
                    <a:pt x="427948" y="444907"/>
                    <a:pt x="435487" y="418755"/>
                  </a:cubicBezTo>
                  <a:cubicBezTo>
                    <a:pt x="443027" y="392602"/>
                    <a:pt x="446913" y="364819"/>
                    <a:pt x="446913" y="335330"/>
                  </a:cubicBezTo>
                  <a:moveTo>
                    <a:pt x="574458" y="331915"/>
                  </a:moveTo>
                  <a:cubicBezTo>
                    <a:pt x="574458" y="385384"/>
                    <a:pt x="567074" y="433034"/>
                    <a:pt x="552307" y="474863"/>
                  </a:cubicBezTo>
                  <a:cubicBezTo>
                    <a:pt x="537539" y="516769"/>
                    <a:pt x="517175" y="552234"/>
                    <a:pt x="491216" y="581336"/>
                  </a:cubicBezTo>
                  <a:cubicBezTo>
                    <a:pt x="465256" y="610438"/>
                    <a:pt x="434477" y="632555"/>
                    <a:pt x="398957" y="647766"/>
                  </a:cubicBezTo>
                  <a:cubicBezTo>
                    <a:pt x="363438" y="662899"/>
                    <a:pt x="325042" y="670504"/>
                    <a:pt x="283926" y="670504"/>
                  </a:cubicBezTo>
                  <a:cubicBezTo>
                    <a:pt x="242810" y="670504"/>
                    <a:pt x="205502" y="662511"/>
                    <a:pt x="170993" y="646602"/>
                  </a:cubicBezTo>
                  <a:cubicBezTo>
                    <a:pt x="136483" y="630693"/>
                    <a:pt x="106482" y="608032"/>
                    <a:pt x="81144" y="578698"/>
                  </a:cubicBezTo>
                  <a:cubicBezTo>
                    <a:pt x="55728" y="549363"/>
                    <a:pt x="35908" y="514130"/>
                    <a:pt x="21529" y="472845"/>
                  </a:cubicBezTo>
                  <a:cubicBezTo>
                    <a:pt x="7150" y="431559"/>
                    <a:pt x="0" y="385850"/>
                    <a:pt x="0" y="335562"/>
                  </a:cubicBezTo>
                  <a:cubicBezTo>
                    <a:pt x="0" y="285275"/>
                    <a:pt x="7384" y="235840"/>
                    <a:pt x="22151" y="194400"/>
                  </a:cubicBezTo>
                  <a:cubicBezTo>
                    <a:pt x="36919" y="152959"/>
                    <a:pt x="57205" y="117726"/>
                    <a:pt x="82931" y="88857"/>
                  </a:cubicBezTo>
                  <a:cubicBezTo>
                    <a:pt x="108658" y="59988"/>
                    <a:pt x="139048" y="37949"/>
                    <a:pt x="174024" y="22738"/>
                  </a:cubicBezTo>
                  <a:cubicBezTo>
                    <a:pt x="208999" y="7605"/>
                    <a:pt x="246774" y="0"/>
                    <a:pt x="287579" y="0"/>
                  </a:cubicBezTo>
                  <a:cubicBezTo>
                    <a:pt x="328384" y="0"/>
                    <a:pt x="366702" y="7916"/>
                    <a:pt x="401678" y="23669"/>
                  </a:cubicBezTo>
                  <a:cubicBezTo>
                    <a:pt x="436653" y="39423"/>
                    <a:pt x="466888" y="61773"/>
                    <a:pt x="492459" y="90642"/>
                  </a:cubicBezTo>
                  <a:cubicBezTo>
                    <a:pt x="518030" y="119589"/>
                    <a:pt x="538083" y="154433"/>
                    <a:pt x="552617" y="195331"/>
                  </a:cubicBezTo>
                  <a:cubicBezTo>
                    <a:pt x="567152" y="236151"/>
                    <a:pt x="574458" y="281782"/>
                    <a:pt x="574458" y="331993"/>
                  </a:cubicBezTo>
                </a:path>
              </a:pathLst>
            </a:custGeom>
            <a:solidFill>
              <a:srgbClr val="1A9AFA"/>
            </a:solidFill>
            <a:ln w="7772" cap="flat">
              <a:noFill/>
              <a:prstDash val="solid"/>
              <a:miter/>
            </a:ln>
          </p:spPr>
          <p:txBody>
            <a:bodyPr rtlCol="0" anchor="ctr"/>
            <a:lstStyle/>
            <a:p>
              <a:endParaRPr lang="en-US"/>
            </a:p>
          </p:txBody>
        </p:sp>
        <p:sp>
          <p:nvSpPr>
            <p:cNvPr id="63" name="Freeform 19">
              <a:extLst>
                <a:ext uri="{FF2B5EF4-FFF2-40B4-BE49-F238E27FC236}">
                  <a16:creationId xmlns:a16="http://schemas.microsoft.com/office/drawing/2014/main" id="{4C698C07-7167-06F6-5EE9-82BF34028AE4}"/>
                </a:ext>
              </a:extLst>
            </p:cNvPr>
            <p:cNvSpPr/>
            <p:nvPr/>
          </p:nvSpPr>
          <p:spPr bwMode="invGray">
            <a:xfrm>
              <a:off x="8577920" y="3191752"/>
              <a:ext cx="517641" cy="656845"/>
            </a:xfrm>
            <a:custGeom>
              <a:avLst/>
              <a:gdLst>
                <a:gd name="connsiteX0" fmla="*/ 391262 w 517641"/>
                <a:gd name="connsiteY0" fmla="*/ 656690 h 656845"/>
                <a:gd name="connsiteX1" fmla="*/ 391262 w 517641"/>
                <a:gd name="connsiteY1" fmla="*/ 293035 h 656845"/>
                <a:gd name="connsiteX2" fmla="*/ 360095 w 517641"/>
                <a:gd name="connsiteY2" fmla="*/ 161107 h 656845"/>
                <a:gd name="connsiteX3" fmla="*/ 258821 w 517641"/>
                <a:gd name="connsiteY3" fmla="*/ 116562 h 656845"/>
                <a:gd name="connsiteX4" fmla="*/ 202549 w 517641"/>
                <a:gd name="connsiteY4" fmla="*/ 127349 h 656845"/>
                <a:gd name="connsiteX5" fmla="*/ 159412 w 517641"/>
                <a:gd name="connsiteY5" fmla="*/ 160874 h 656845"/>
                <a:gd name="connsiteX6" fmla="*/ 134230 w 517641"/>
                <a:gd name="connsiteY6" fmla="*/ 214421 h 656845"/>
                <a:gd name="connsiteX7" fmla="*/ 126457 w 517641"/>
                <a:gd name="connsiteY7" fmla="*/ 280541 h 656845"/>
                <a:gd name="connsiteX8" fmla="*/ 126457 w 517641"/>
                <a:gd name="connsiteY8" fmla="*/ 656768 h 656845"/>
                <a:gd name="connsiteX9" fmla="*/ 0 w 517641"/>
                <a:gd name="connsiteY9" fmla="*/ 656768 h 656845"/>
                <a:gd name="connsiteX10" fmla="*/ 0 w 517641"/>
                <a:gd name="connsiteY10" fmla="*/ 13736 h 656845"/>
                <a:gd name="connsiteX11" fmla="*/ 126457 w 517641"/>
                <a:gd name="connsiteY11" fmla="*/ 13736 h 656845"/>
                <a:gd name="connsiteX12" fmla="*/ 126457 w 517641"/>
                <a:gd name="connsiteY12" fmla="*/ 74733 h 656845"/>
                <a:gd name="connsiteX13" fmla="*/ 155837 w 517641"/>
                <a:gd name="connsiteY13" fmla="*/ 43381 h 656845"/>
                <a:gd name="connsiteX14" fmla="*/ 194154 w 517641"/>
                <a:gd name="connsiteY14" fmla="*/ 19789 h 656845"/>
                <a:gd name="connsiteX15" fmla="*/ 239079 w 517641"/>
                <a:gd name="connsiteY15" fmla="*/ 5122 h 656845"/>
                <a:gd name="connsiteX16" fmla="*/ 288201 w 517641"/>
                <a:gd name="connsiteY16" fmla="*/ 0 h 656845"/>
                <a:gd name="connsiteX17" fmla="*/ 389164 w 517641"/>
                <a:gd name="connsiteY17" fmla="*/ 18858 h 656845"/>
                <a:gd name="connsiteX18" fmla="*/ 460437 w 517641"/>
                <a:gd name="connsiteY18" fmla="*/ 73026 h 656845"/>
                <a:gd name="connsiteX19" fmla="*/ 503263 w 517641"/>
                <a:gd name="connsiteY19" fmla="*/ 162194 h 656845"/>
                <a:gd name="connsiteX20" fmla="*/ 517642 w 517641"/>
                <a:gd name="connsiteY20" fmla="*/ 288379 h 656845"/>
                <a:gd name="connsiteX21" fmla="*/ 517642 w 517641"/>
                <a:gd name="connsiteY21" fmla="*/ 656845 h 656845"/>
                <a:gd name="connsiteX22" fmla="*/ 391262 w 517641"/>
                <a:gd name="connsiteY22" fmla="*/ 656845 h 65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17641" h="656845">
                  <a:moveTo>
                    <a:pt x="391262" y="656690"/>
                  </a:moveTo>
                  <a:lnTo>
                    <a:pt x="391262" y="293035"/>
                  </a:lnTo>
                  <a:cubicBezTo>
                    <a:pt x="391262" y="234832"/>
                    <a:pt x="380925" y="190830"/>
                    <a:pt x="360095" y="161107"/>
                  </a:cubicBezTo>
                  <a:cubicBezTo>
                    <a:pt x="339343" y="131462"/>
                    <a:pt x="305611" y="116562"/>
                    <a:pt x="258821" y="116562"/>
                  </a:cubicBezTo>
                  <a:cubicBezTo>
                    <a:pt x="238457" y="116562"/>
                    <a:pt x="219648" y="120210"/>
                    <a:pt x="202549" y="127349"/>
                  </a:cubicBezTo>
                  <a:cubicBezTo>
                    <a:pt x="185372" y="134566"/>
                    <a:pt x="170993" y="145664"/>
                    <a:pt x="159412" y="160874"/>
                  </a:cubicBezTo>
                  <a:cubicBezTo>
                    <a:pt x="147831" y="176007"/>
                    <a:pt x="139437" y="193856"/>
                    <a:pt x="134230" y="214421"/>
                  </a:cubicBezTo>
                  <a:cubicBezTo>
                    <a:pt x="129022" y="234987"/>
                    <a:pt x="126457" y="257027"/>
                    <a:pt x="126457" y="280541"/>
                  </a:cubicBezTo>
                  <a:lnTo>
                    <a:pt x="126457" y="656768"/>
                  </a:lnTo>
                  <a:lnTo>
                    <a:pt x="0" y="656768"/>
                  </a:lnTo>
                  <a:lnTo>
                    <a:pt x="0" y="13736"/>
                  </a:lnTo>
                  <a:lnTo>
                    <a:pt x="126457" y="13736"/>
                  </a:lnTo>
                  <a:lnTo>
                    <a:pt x="126457" y="74733"/>
                  </a:lnTo>
                  <a:cubicBezTo>
                    <a:pt x="134462" y="63170"/>
                    <a:pt x="144178" y="52693"/>
                    <a:pt x="155837" y="43381"/>
                  </a:cubicBezTo>
                  <a:cubicBezTo>
                    <a:pt x="167417" y="33991"/>
                    <a:pt x="180164" y="26153"/>
                    <a:pt x="194154" y="19789"/>
                  </a:cubicBezTo>
                  <a:cubicBezTo>
                    <a:pt x="208145" y="13426"/>
                    <a:pt x="223146" y="8537"/>
                    <a:pt x="239079" y="5122"/>
                  </a:cubicBezTo>
                  <a:cubicBezTo>
                    <a:pt x="255012" y="1707"/>
                    <a:pt x="271412" y="0"/>
                    <a:pt x="288201" y="0"/>
                  </a:cubicBezTo>
                  <a:cubicBezTo>
                    <a:pt x="326985" y="0"/>
                    <a:pt x="360562" y="6286"/>
                    <a:pt x="389164" y="18858"/>
                  </a:cubicBezTo>
                  <a:cubicBezTo>
                    <a:pt x="417689" y="31430"/>
                    <a:pt x="441472" y="49434"/>
                    <a:pt x="460437" y="73026"/>
                  </a:cubicBezTo>
                  <a:cubicBezTo>
                    <a:pt x="479402" y="96540"/>
                    <a:pt x="493703" y="126263"/>
                    <a:pt x="503263" y="162194"/>
                  </a:cubicBezTo>
                  <a:cubicBezTo>
                    <a:pt x="512823" y="198125"/>
                    <a:pt x="517642" y="240186"/>
                    <a:pt x="517642" y="288379"/>
                  </a:cubicBezTo>
                  <a:lnTo>
                    <a:pt x="517642" y="656845"/>
                  </a:lnTo>
                  <a:lnTo>
                    <a:pt x="391262" y="656845"/>
                  </a:lnTo>
                  <a:close/>
                </a:path>
              </a:pathLst>
            </a:custGeom>
            <a:solidFill>
              <a:srgbClr val="1A9AFA"/>
            </a:solidFill>
            <a:ln w="7772" cap="flat">
              <a:noFill/>
              <a:prstDash val="solid"/>
              <a:miter/>
            </a:ln>
          </p:spPr>
          <p:txBody>
            <a:bodyPr rtlCol="0" anchor="ctr"/>
            <a:lstStyle/>
            <a:p>
              <a:endParaRPr lang="en-US"/>
            </a:p>
          </p:txBody>
        </p:sp>
        <p:sp>
          <p:nvSpPr>
            <p:cNvPr id="64" name="Freeform 26">
              <a:extLst>
                <a:ext uri="{FF2B5EF4-FFF2-40B4-BE49-F238E27FC236}">
                  <a16:creationId xmlns:a16="http://schemas.microsoft.com/office/drawing/2014/main" id="{BAC1AC9F-7FC3-9264-6B7F-A63C8BE74D91}"/>
                </a:ext>
              </a:extLst>
            </p:cNvPr>
            <p:cNvSpPr/>
            <p:nvPr/>
          </p:nvSpPr>
          <p:spPr bwMode="invGray">
            <a:xfrm>
              <a:off x="1333500" y="1365250"/>
              <a:ext cx="2432217" cy="886244"/>
            </a:xfrm>
            <a:custGeom>
              <a:avLst/>
              <a:gdLst>
                <a:gd name="connsiteX0" fmla="*/ 2431984 w 2432217"/>
                <a:gd name="connsiteY0" fmla="*/ 0 h 886244"/>
                <a:gd name="connsiteX1" fmla="*/ 0 w 2432217"/>
                <a:gd name="connsiteY1" fmla="*/ 886245 h 886244"/>
                <a:gd name="connsiteX2" fmla="*/ 2432217 w 2432217"/>
                <a:gd name="connsiteY2" fmla="*/ 457246 h 886244"/>
                <a:gd name="connsiteX3" fmla="*/ 2432217 w 2432217"/>
                <a:gd name="connsiteY3" fmla="*/ 0 h 886244"/>
                <a:gd name="connsiteX4" fmla="*/ 2431984 w 2432217"/>
                <a:gd name="connsiteY4" fmla="*/ 0 h 886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217" h="886244">
                  <a:moveTo>
                    <a:pt x="2431984" y="0"/>
                  </a:moveTo>
                  <a:lnTo>
                    <a:pt x="0" y="886245"/>
                  </a:lnTo>
                  <a:lnTo>
                    <a:pt x="2432217" y="457246"/>
                  </a:lnTo>
                  <a:lnTo>
                    <a:pt x="2432217" y="0"/>
                  </a:lnTo>
                  <a:lnTo>
                    <a:pt x="2431984" y="0"/>
                  </a:lnTo>
                  <a:close/>
                </a:path>
              </a:pathLst>
            </a:custGeom>
            <a:solidFill>
              <a:srgbClr val="FFE600"/>
            </a:solidFill>
            <a:ln w="7772" cap="flat">
              <a:noFill/>
              <a:prstDash val="solid"/>
              <a:miter/>
            </a:ln>
          </p:spPr>
          <p:txBody>
            <a:bodyPr rtlCol="0" anchor="ctr"/>
            <a:lstStyle/>
            <a:p>
              <a:endParaRPr lang="en-US"/>
            </a:p>
          </p:txBody>
        </p:sp>
        <p:sp>
          <p:nvSpPr>
            <p:cNvPr id="65" name="Freeform 30">
              <a:extLst>
                <a:ext uri="{FF2B5EF4-FFF2-40B4-BE49-F238E27FC236}">
                  <a16:creationId xmlns:a16="http://schemas.microsoft.com/office/drawing/2014/main" id="{C16F909E-0CD7-BC49-F6A6-4D7839EF9AB1}"/>
                </a:ext>
              </a:extLst>
            </p:cNvPr>
            <p:cNvSpPr/>
            <p:nvPr/>
          </p:nvSpPr>
          <p:spPr bwMode="invGray">
            <a:xfrm>
              <a:off x="1354718" y="2619961"/>
              <a:ext cx="2042042" cy="1228558"/>
            </a:xfrm>
            <a:custGeom>
              <a:avLst/>
              <a:gdLst>
                <a:gd name="connsiteX0" fmla="*/ 1639277 w 2042042"/>
                <a:gd name="connsiteY0" fmla="*/ 78 h 1228558"/>
                <a:gd name="connsiteX1" fmla="*/ 1430277 w 2042042"/>
                <a:gd name="connsiteY1" fmla="*/ 400983 h 1228558"/>
                <a:gd name="connsiteX2" fmla="*/ 1221821 w 2042042"/>
                <a:gd name="connsiteY2" fmla="*/ 78 h 1228558"/>
                <a:gd name="connsiteX3" fmla="*/ 813848 w 2042042"/>
                <a:gd name="connsiteY3" fmla="*/ 78 h 1228558"/>
                <a:gd name="connsiteX4" fmla="*/ 1243662 w 2042042"/>
                <a:gd name="connsiteY4" fmla="*/ 743297 h 1228558"/>
                <a:gd name="connsiteX5" fmla="*/ 1243662 w 2042042"/>
                <a:gd name="connsiteY5" fmla="*/ 1228559 h 1228558"/>
                <a:gd name="connsiteX6" fmla="*/ 1611607 w 2042042"/>
                <a:gd name="connsiteY6" fmla="*/ 1228559 h 1228558"/>
                <a:gd name="connsiteX7" fmla="*/ 1611607 w 2042042"/>
                <a:gd name="connsiteY7" fmla="*/ 743297 h 1228558"/>
                <a:gd name="connsiteX8" fmla="*/ 2042043 w 2042042"/>
                <a:gd name="connsiteY8" fmla="*/ 78 h 1228558"/>
                <a:gd name="connsiteX9" fmla="*/ 1639277 w 2042042"/>
                <a:gd name="connsiteY9" fmla="*/ 78 h 1228558"/>
                <a:gd name="connsiteX10" fmla="*/ 0 w 2042042"/>
                <a:gd name="connsiteY10" fmla="*/ 78 h 1228558"/>
                <a:gd name="connsiteX11" fmla="*/ 0 w 2042042"/>
                <a:gd name="connsiteY11" fmla="*/ 1228481 h 1228558"/>
                <a:gd name="connsiteX12" fmla="*/ 984219 w 2042042"/>
                <a:gd name="connsiteY12" fmla="*/ 1228481 h 1228558"/>
                <a:gd name="connsiteX13" fmla="*/ 984219 w 2042042"/>
                <a:gd name="connsiteY13" fmla="*/ 945923 h 1228558"/>
                <a:gd name="connsiteX14" fmla="*/ 369034 w 2042042"/>
                <a:gd name="connsiteY14" fmla="*/ 945923 h 1228558"/>
                <a:gd name="connsiteX15" fmla="*/ 369034 w 2042042"/>
                <a:gd name="connsiteY15" fmla="*/ 743220 h 1228558"/>
                <a:gd name="connsiteX16" fmla="*/ 813848 w 2042042"/>
                <a:gd name="connsiteY16" fmla="*/ 743220 h 1228558"/>
                <a:gd name="connsiteX17" fmla="*/ 813848 w 2042042"/>
                <a:gd name="connsiteY17" fmla="*/ 485339 h 1228558"/>
                <a:gd name="connsiteX18" fmla="*/ 369034 w 2042042"/>
                <a:gd name="connsiteY18" fmla="*/ 485339 h 1228558"/>
                <a:gd name="connsiteX19" fmla="*/ 369034 w 2042042"/>
                <a:gd name="connsiteY19" fmla="*/ 282558 h 1228558"/>
                <a:gd name="connsiteX20" fmla="*/ 861182 w 2042042"/>
                <a:gd name="connsiteY20" fmla="*/ 282558 h 1228558"/>
                <a:gd name="connsiteX21" fmla="*/ 697884 w 2042042"/>
                <a:gd name="connsiteY21" fmla="*/ 0 h 1228558"/>
                <a:gd name="connsiteX22" fmla="*/ 0 w 2042042"/>
                <a:gd name="connsiteY22" fmla="*/ 0 h 122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42042" h="1228558">
                  <a:moveTo>
                    <a:pt x="1639277" y="78"/>
                  </a:moveTo>
                  <a:lnTo>
                    <a:pt x="1430277" y="400983"/>
                  </a:lnTo>
                  <a:lnTo>
                    <a:pt x="1221821" y="78"/>
                  </a:lnTo>
                  <a:lnTo>
                    <a:pt x="813848" y="78"/>
                  </a:lnTo>
                  <a:lnTo>
                    <a:pt x="1243662" y="743297"/>
                  </a:lnTo>
                  <a:lnTo>
                    <a:pt x="1243662" y="1228559"/>
                  </a:lnTo>
                  <a:lnTo>
                    <a:pt x="1611607" y="1228559"/>
                  </a:lnTo>
                  <a:lnTo>
                    <a:pt x="1611607" y="743297"/>
                  </a:lnTo>
                  <a:lnTo>
                    <a:pt x="2042043" y="78"/>
                  </a:lnTo>
                  <a:lnTo>
                    <a:pt x="1639277" y="78"/>
                  </a:lnTo>
                  <a:close/>
                  <a:moveTo>
                    <a:pt x="0" y="78"/>
                  </a:moveTo>
                  <a:lnTo>
                    <a:pt x="0" y="1228481"/>
                  </a:lnTo>
                  <a:lnTo>
                    <a:pt x="984219" y="1228481"/>
                  </a:lnTo>
                  <a:lnTo>
                    <a:pt x="984219" y="945923"/>
                  </a:lnTo>
                  <a:lnTo>
                    <a:pt x="369034" y="945923"/>
                  </a:lnTo>
                  <a:lnTo>
                    <a:pt x="369034" y="743220"/>
                  </a:lnTo>
                  <a:lnTo>
                    <a:pt x="813848" y="743220"/>
                  </a:lnTo>
                  <a:lnTo>
                    <a:pt x="813848" y="485339"/>
                  </a:lnTo>
                  <a:lnTo>
                    <a:pt x="369034" y="485339"/>
                  </a:lnTo>
                  <a:lnTo>
                    <a:pt x="369034" y="282558"/>
                  </a:lnTo>
                  <a:lnTo>
                    <a:pt x="861182" y="282558"/>
                  </a:lnTo>
                  <a:lnTo>
                    <a:pt x="697884" y="0"/>
                  </a:lnTo>
                  <a:lnTo>
                    <a:pt x="0" y="0"/>
                  </a:lnTo>
                  <a:close/>
                </a:path>
              </a:pathLst>
            </a:custGeom>
            <a:solidFill>
              <a:srgbClr val="FFFFFF"/>
            </a:solidFill>
            <a:ln w="7772" cap="flat">
              <a:noFill/>
              <a:prstDash val="solid"/>
              <a:miter/>
            </a:ln>
          </p:spPr>
          <p:txBody>
            <a:bodyPr rtlCol="0" anchor="ctr"/>
            <a:lstStyle/>
            <a:p>
              <a:endParaRPr lang="en-US"/>
            </a:p>
          </p:txBody>
        </p:sp>
        <p:sp>
          <p:nvSpPr>
            <p:cNvPr id="66" name="Freeform 31">
              <a:extLst>
                <a:ext uri="{FF2B5EF4-FFF2-40B4-BE49-F238E27FC236}">
                  <a16:creationId xmlns:a16="http://schemas.microsoft.com/office/drawing/2014/main" id="{02480DD1-4D44-4A29-0329-AD1A09B263F4}"/>
                </a:ext>
              </a:extLst>
            </p:cNvPr>
            <p:cNvSpPr/>
            <p:nvPr/>
          </p:nvSpPr>
          <p:spPr bwMode="invGray">
            <a:xfrm>
              <a:off x="5925900" y="4251210"/>
              <a:ext cx="200839" cy="388178"/>
            </a:xfrm>
            <a:custGeom>
              <a:avLst/>
              <a:gdLst>
                <a:gd name="connsiteX0" fmla="*/ 119151 w 200839"/>
                <a:gd name="connsiteY0" fmla="*/ 286749 h 388178"/>
                <a:gd name="connsiteX1" fmla="*/ 119151 w 200839"/>
                <a:gd name="connsiteY1" fmla="*/ 173679 h 388178"/>
                <a:gd name="connsiteX2" fmla="*/ 199751 w 200839"/>
                <a:gd name="connsiteY2" fmla="*/ 173679 h 388178"/>
                <a:gd name="connsiteX3" fmla="*/ 199751 w 200839"/>
                <a:gd name="connsiteY3" fmla="*/ 107250 h 388178"/>
                <a:gd name="connsiteX4" fmla="*/ 119151 w 200839"/>
                <a:gd name="connsiteY4" fmla="*/ 107250 h 388178"/>
                <a:gd name="connsiteX5" fmla="*/ 119151 w 200839"/>
                <a:gd name="connsiteY5" fmla="*/ 0 h 388178"/>
                <a:gd name="connsiteX6" fmla="*/ 47878 w 200839"/>
                <a:gd name="connsiteY6" fmla="*/ 35543 h 388178"/>
                <a:gd name="connsiteX7" fmla="*/ 47878 w 200839"/>
                <a:gd name="connsiteY7" fmla="*/ 107250 h 388178"/>
                <a:gd name="connsiteX8" fmla="*/ 0 w 200839"/>
                <a:gd name="connsiteY8" fmla="*/ 107250 h 388178"/>
                <a:gd name="connsiteX9" fmla="*/ 0 w 200839"/>
                <a:gd name="connsiteY9" fmla="*/ 173679 h 388178"/>
                <a:gd name="connsiteX10" fmla="*/ 47878 w 200839"/>
                <a:gd name="connsiteY10" fmla="*/ 173679 h 388178"/>
                <a:gd name="connsiteX11" fmla="*/ 47878 w 200839"/>
                <a:gd name="connsiteY11" fmla="*/ 305995 h 388178"/>
                <a:gd name="connsiteX12" fmla="*/ 122027 w 200839"/>
                <a:gd name="connsiteY12" fmla="*/ 388178 h 388178"/>
                <a:gd name="connsiteX13" fmla="*/ 190346 w 200839"/>
                <a:gd name="connsiteY13" fmla="*/ 371260 h 388178"/>
                <a:gd name="connsiteX14" fmla="*/ 200839 w 200839"/>
                <a:gd name="connsiteY14" fmla="*/ 299554 h 388178"/>
                <a:gd name="connsiteX15" fmla="*/ 145344 w 200839"/>
                <a:gd name="connsiteY15" fmla="*/ 319964 h 388178"/>
                <a:gd name="connsiteX16" fmla="*/ 119073 w 200839"/>
                <a:gd name="connsiteY16" fmla="*/ 286749 h 38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839" h="388178">
                  <a:moveTo>
                    <a:pt x="119151" y="286749"/>
                  </a:moveTo>
                  <a:lnTo>
                    <a:pt x="119151" y="173679"/>
                  </a:lnTo>
                  <a:lnTo>
                    <a:pt x="199751" y="173679"/>
                  </a:lnTo>
                  <a:lnTo>
                    <a:pt x="199751" y="107250"/>
                  </a:lnTo>
                  <a:lnTo>
                    <a:pt x="119151" y="107250"/>
                  </a:lnTo>
                  <a:lnTo>
                    <a:pt x="119151" y="0"/>
                  </a:lnTo>
                  <a:lnTo>
                    <a:pt x="47878" y="35543"/>
                  </a:lnTo>
                  <a:lnTo>
                    <a:pt x="47878" y="107250"/>
                  </a:lnTo>
                  <a:lnTo>
                    <a:pt x="0" y="107250"/>
                  </a:lnTo>
                  <a:lnTo>
                    <a:pt x="0" y="173679"/>
                  </a:lnTo>
                  <a:lnTo>
                    <a:pt x="47878" y="173679"/>
                  </a:lnTo>
                  <a:lnTo>
                    <a:pt x="47878" y="305995"/>
                  </a:lnTo>
                  <a:cubicBezTo>
                    <a:pt x="47878" y="353799"/>
                    <a:pt x="78812" y="388178"/>
                    <a:pt x="122027" y="388178"/>
                  </a:cubicBezTo>
                  <a:cubicBezTo>
                    <a:pt x="140681" y="388178"/>
                    <a:pt x="175734" y="382901"/>
                    <a:pt x="190346" y="371260"/>
                  </a:cubicBezTo>
                  <a:lnTo>
                    <a:pt x="200839" y="299554"/>
                  </a:lnTo>
                  <a:cubicBezTo>
                    <a:pt x="188559" y="311195"/>
                    <a:pt x="162910" y="319964"/>
                    <a:pt x="145344" y="319964"/>
                  </a:cubicBezTo>
                  <a:cubicBezTo>
                    <a:pt x="127778" y="319964"/>
                    <a:pt x="119073" y="311815"/>
                    <a:pt x="119073" y="286749"/>
                  </a:cubicBezTo>
                  <a:close/>
                </a:path>
              </a:pathLst>
            </a:custGeom>
            <a:solidFill>
              <a:srgbClr val="FFFFFF"/>
            </a:solidFill>
            <a:ln w="7772" cap="flat">
              <a:noFill/>
              <a:prstDash val="solid"/>
              <a:miter/>
            </a:ln>
          </p:spPr>
          <p:txBody>
            <a:bodyPr rtlCol="0" anchor="ctr"/>
            <a:lstStyle/>
            <a:p>
              <a:endParaRPr lang="en-US"/>
            </a:p>
          </p:txBody>
        </p:sp>
        <p:sp>
          <p:nvSpPr>
            <p:cNvPr id="67" name="Freeform 32">
              <a:extLst>
                <a:ext uri="{FF2B5EF4-FFF2-40B4-BE49-F238E27FC236}">
                  <a16:creationId xmlns:a16="http://schemas.microsoft.com/office/drawing/2014/main" id="{25863A8D-5EBC-9340-DF3C-BCB0E70CEFA9}"/>
                </a:ext>
              </a:extLst>
            </p:cNvPr>
            <p:cNvSpPr/>
            <p:nvPr/>
          </p:nvSpPr>
          <p:spPr bwMode="invGray">
            <a:xfrm>
              <a:off x="4293307" y="4251210"/>
              <a:ext cx="200838" cy="388178"/>
            </a:xfrm>
            <a:custGeom>
              <a:avLst/>
              <a:gdLst>
                <a:gd name="connsiteX0" fmla="*/ 119151 w 200838"/>
                <a:gd name="connsiteY0" fmla="*/ 286749 h 388178"/>
                <a:gd name="connsiteX1" fmla="*/ 119151 w 200838"/>
                <a:gd name="connsiteY1" fmla="*/ 173679 h 388178"/>
                <a:gd name="connsiteX2" fmla="*/ 199751 w 200838"/>
                <a:gd name="connsiteY2" fmla="*/ 173679 h 388178"/>
                <a:gd name="connsiteX3" fmla="*/ 199751 w 200838"/>
                <a:gd name="connsiteY3" fmla="*/ 107250 h 388178"/>
                <a:gd name="connsiteX4" fmla="*/ 119151 w 200838"/>
                <a:gd name="connsiteY4" fmla="*/ 107250 h 388178"/>
                <a:gd name="connsiteX5" fmla="*/ 119151 w 200838"/>
                <a:gd name="connsiteY5" fmla="*/ 0 h 388178"/>
                <a:gd name="connsiteX6" fmla="*/ 47878 w 200838"/>
                <a:gd name="connsiteY6" fmla="*/ 35543 h 388178"/>
                <a:gd name="connsiteX7" fmla="*/ 47878 w 200838"/>
                <a:gd name="connsiteY7" fmla="*/ 107250 h 388178"/>
                <a:gd name="connsiteX8" fmla="*/ 0 w 200838"/>
                <a:gd name="connsiteY8" fmla="*/ 107250 h 388178"/>
                <a:gd name="connsiteX9" fmla="*/ 0 w 200838"/>
                <a:gd name="connsiteY9" fmla="*/ 173679 h 388178"/>
                <a:gd name="connsiteX10" fmla="*/ 47878 w 200838"/>
                <a:gd name="connsiteY10" fmla="*/ 173679 h 388178"/>
                <a:gd name="connsiteX11" fmla="*/ 47878 w 200838"/>
                <a:gd name="connsiteY11" fmla="*/ 305995 h 388178"/>
                <a:gd name="connsiteX12" fmla="*/ 122027 w 200838"/>
                <a:gd name="connsiteY12" fmla="*/ 388178 h 388178"/>
                <a:gd name="connsiteX13" fmla="*/ 190346 w 200838"/>
                <a:gd name="connsiteY13" fmla="*/ 371260 h 388178"/>
                <a:gd name="connsiteX14" fmla="*/ 200839 w 200838"/>
                <a:gd name="connsiteY14" fmla="*/ 299554 h 388178"/>
                <a:gd name="connsiteX15" fmla="*/ 145344 w 200838"/>
                <a:gd name="connsiteY15" fmla="*/ 319964 h 388178"/>
                <a:gd name="connsiteX16" fmla="*/ 119073 w 200838"/>
                <a:gd name="connsiteY16" fmla="*/ 286749 h 38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838" h="388178">
                  <a:moveTo>
                    <a:pt x="119151" y="286749"/>
                  </a:moveTo>
                  <a:lnTo>
                    <a:pt x="119151" y="173679"/>
                  </a:lnTo>
                  <a:lnTo>
                    <a:pt x="199751" y="173679"/>
                  </a:lnTo>
                  <a:lnTo>
                    <a:pt x="199751" y="107250"/>
                  </a:lnTo>
                  <a:lnTo>
                    <a:pt x="119151" y="107250"/>
                  </a:lnTo>
                  <a:lnTo>
                    <a:pt x="119151" y="0"/>
                  </a:lnTo>
                  <a:lnTo>
                    <a:pt x="47878" y="35543"/>
                  </a:lnTo>
                  <a:lnTo>
                    <a:pt x="47878" y="107250"/>
                  </a:lnTo>
                  <a:lnTo>
                    <a:pt x="0" y="107250"/>
                  </a:lnTo>
                  <a:lnTo>
                    <a:pt x="0" y="173679"/>
                  </a:lnTo>
                  <a:lnTo>
                    <a:pt x="47878" y="173679"/>
                  </a:lnTo>
                  <a:lnTo>
                    <a:pt x="47878" y="305995"/>
                  </a:lnTo>
                  <a:cubicBezTo>
                    <a:pt x="47878" y="353799"/>
                    <a:pt x="78812" y="388178"/>
                    <a:pt x="122027" y="388178"/>
                  </a:cubicBezTo>
                  <a:cubicBezTo>
                    <a:pt x="140680" y="388178"/>
                    <a:pt x="175734" y="382901"/>
                    <a:pt x="190346" y="371260"/>
                  </a:cubicBezTo>
                  <a:lnTo>
                    <a:pt x="200839" y="299554"/>
                  </a:lnTo>
                  <a:cubicBezTo>
                    <a:pt x="188559" y="311195"/>
                    <a:pt x="162909" y="319964"/>
                    <a:pt x="145344" y="319964"/>
                  </a:cubicBezTo>
                  <a:cubicBezTo>
                    <a:pt x="127778" y="319964"/>
                    <a:pt x="119073" y="311815"/>
                    <a:pt x="119073" y="286749"/>
                  </a:cubicBezTo>
                  <a:close/>
                </a:path>
              </a:pathLst>
            </a:custGeom>
            <a:solidFill>
              <a:srgbClr val="FFFFFF"/>
            </a:solidFill>
            <a:ln w="7772" cap="flat">
              <a:noFill/>
              <a:prstDash val="solid"/>
              <a:miter/>
            </a:ln>
          </p:spPr>
          <p:txBody>
            <a:bodyPr rtlCol="0" anchor="ctr"/>
            <a:lstStyle/>
            <a:p>
              <a:endParaRPr lang="en-US"/>
            </a:p>
          </p:txBody>
        </p:sp>
        <p:sp>
          <p:nvSpPr>
            <p:cNvPr id="68" name="Freeform 33">
              <a:extLst>
                <a:ext uri="{FF2B5EF4-FFF2-40B4-BE49-F238E27FC236}">
                  <a16:creationId xmlns:a16="http://schemas.microsoft.com/office/drawing/2014/main" id="{D66D96A4-1C6D-861C-F5FE-F367C55C8D48}"/>
                </a:ext>
              </a:extLst>
            </p:cNvPr>
            <p:cNvSpPr/>
            <p:nvPr/>
          </p:nvSpPr>
          <p:spPr bwMode="invGray">
            <a:xfrm>
              <a:off x="6170575" y="4251132"/>
              <a:ext cx="238379" cy="382435"/>
            </a:xfrm>
            <a:custGeom>
              <a:avLst/>
              <a:gdLst>
                <a:gd name="connsiteX0" fmla="*/ 140136 w 238379"/>
                <a:gd name="connsiteY0" fmla="*/ 101429 h 382435"/>
                <a:gd name="connsiteX1" fmla="*/ 71273 w 238379"/>
                <a:gd name="connsiteY1" fmla="*/ 125952 h 382435"/>
                <a:gd name="connsiteX2" fmla="*/ 71273 w 238379"/>
                <a:gd name="connsiteY2" fmla="*/ 0 h 382435"/>
                <a:gd name="connsiteX3" fmla="*/ 0 w 238379"/>
                <a:gd name="connsiteY3" fmla="*/ 35543 h 382435"/>
                <a:gd name="connsiteX4" fmla="*/ 0 w 238379"/>
                <a:gd name="connsiteY4" fmla="*/ 382436 h 382435"/>
                <a:gd name="connsiteX5" fmla="*/ 71273 w 238379"/>
                <a:gd name="connsiteY5" fmla="*/ 382436 h 382435"/>
                <a:gd name="connsiteX6" fmla="*/ 71273 w 238379"/>
                <a:gd name="connsiteY6" fmla="*/ 230874 h 382435"/>
                <a:gd name="connsiteX7" fmla="*/ 119772 w 238379"/>
                <a:gd name="connsiteY7" fmla="*/ 168480 h 382435"/>
                <a:gd name="connsiteX8" fmla="*/ 167107 w 238379"/>
                <a:gd name="connsiteY8" fmla="*/ 232581 h 382435"/>
                <a:gd name="connsiteX9" fmla="*/ 167107 w 238379"/>
                <a:gd name="connsiteY9" fmla="*/ 382436 h 382435"/>
                <a:gd name="connsiteX10" fmla="*/ 238379 w 238379"/>
                <a:gd name="connsiteY10" fmla="*/ 382436 h 382435"/>
                <a:gd name="connsiteX11" fmla="*/ 238379 w 238379"/>
                <a:gd name="connsiteY11" fmla="*/ 226761 h 382435"/>
                <a:gd name="connsiteX12" fmla="*/ 140292 w 238379"/>
                <a:gd name="connsiteY12" fmla="*/ 101429 h 38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8379" h="382435">
                  <a:moveTo>
                    <a:pt x="140136" y="101429"/>
                  </a:moveTo>
                  <a:cubicBezTo>
                    <a:pt x="112700" y="101429"/>
                    <a:pt x="84641" y="109578"/>
                    <a:pt x="71273" y="125952"/>
                  </a:cubicBezTo>
                  <a:lnTo>
                    <a:pt x="71273" y="0"/>
                  </a:lnTo>
                  <a:lnTo>
                    <a:pt x="0" y="35543"/>
                  </a:lnTo>
                  <a:lnTo>
                    <a:pt x="0" y="382436"/>
                  </a:lnTo>
                  <a:lnTo>
                    <a:pt x="71273" y="382436"/>
                  </a:lnTo>
                  <a:lnTo>
                    <a:pt x="71273" y="230874"/>
                  </a:lnTo>
                  <a:cubicBezTo>
                    <a:pt x="71273" y="190054"/>
                    <a:pt x="83553" y="168480"/>
                    <a:pt x="119772" y="168480"/>
                  </a:cubicBezTo>
                  <a:cubicBezTo>
                    <a:pt x="158324" y="168480"/>
                    <a:pt x="167107" y="194167"/>
                    <a:pt x="167107" y="232581"/>
                  </a:cubicBezTo>
                  <a:lnTo>
                    <a:pt x="167107" y="382436"/>
                  </a:lnTo>
                  <a:lnTo>
                    <a:pt x="238379" y="382436"/>
                  </a:lnTo>
                  <a:lnTo>
                    <a:pt x="238379" y="226761"/>
                  </a:lnTo>
                  <a:cubicBezTo>
                    <a:pt x="238379" y="158546"/>
                    <a:pt x="212653" y="101429"/>
                    <a:pt x="140292" y="101429"/>
                  </a:cubicBezTo>
                  <a:close/>
                </a:path>
              </a:pathLst>
            </a:custGeom>
            <a:solidFill>
              <a:srgbClr val="FFFFFF"/>
            </a:solidFill>
            <a:ln w="7772" cap="flat">
              <a:noFill/>
              <a:prstDash val="solid"/>
              <a:miter/>
            </a:ln>
          </p:spPr>
          <p:txBody>
            <a:bodyPr rtlCol="0" anchor="ctr"/>
            <a:lstStyle/>
            <a:p>
              <a:endParaRPr lang="en-US"/>
            </a:p>
          </p:txBody>
        </p:sp>
        <p:sp>
          <p:nvSpPr>
            <p:cNvPr id="69" name="Freeform 34">
              <a:extLst>
                <a:ext uri="{FF2B5EF4-FFF2-40B4-BE49-F238E27FC236}">
                  <a16:creationId xmlns:a16="http://schemas.microsoft.com/office/drawing/2014/main" id="{6CE97E62-A3C5-ECC5-6A79-F5E67C9602A4}"/>
                </a:ext>
              </a:extLst>
            </p:cNvPr>
            <p:cNvSpPr/>
            <p:nvPr/>
          </p:nvSpPr>
          <p:spPr bwMode="invGray">
            <a:xfrm>
              <a:off x="1678205" y="4251132"/>
              <a:ext cx="238379" cy="382435"/>
            </a:xfrm>
            <a:custGeom>
              <a:avLst/>
              <a:gdLst>
                <a:gd name="connsiteX0" fmla="*/ 140136 w 238379"/>
                <a:gd name="connsiteY0" fmla="*/ 101429 h 382435"/>
                <a:gd name="connsiteX1" fmla="*/ 71273 w 238379"/>
                <a:gd name="connsiteY1" fmla="*/ 125952 h 382435"/>
                <a:gd name="connsiteX2" fmla="*/ 71273 w 238379"/>
                <a:gd name="connsiteY2" fmla="*/ 0 h 382435"/>
                <a:gd name="connsiteX3" fmla="*/ 0 w 238379"/>
                <a:gd name="connsiteY3" fmla="*/ 35543 h 382435"/>
                <a:gd name="connsiteX4" fmla="*/ 0 w 238379"/>
                <a:gd name="connsiteY4" fmla="*/ 382436 h 382435"/>
                <a:gd name="connsiteX5" fmla="*/ 71273 w 238379"/>
                <a:gd name="connsiteY5" fmla="*/ 382436 h 382435"/>
                <a:gd name="connsiteX6" fmla="*/ 71273 w 238379"/>
                <a:gd name="connsiteY6" fmla="*/ 230874 h 382435"/>
                <a:gd name="connsiteX7" fmla="*/ 119773 w 238379"/>
                <a:gd name="connsiteY7" fmla="*/ 168480 h 382435"/>
                <a:gd name="connsiteX8" fmla="*/ 167107 w 238379"/>
                <a:gd name="connsiteY8" fmla="*/ 232581 h 382435"/>
                <a:gd name="connsiteX9" fmla="*/ 167107 w 238379"/>
                <a:gd name="connsiteY9" fmla="*/ 382436 h 382435"/>
                <a:gd name="connsiteX10" fmla="*/ 238380 w 238379"/>
                <a:gd name="connsiteY10" fmla="*/ 382436 h 382435"/>
                <a:gd name="connsiteX11" fmla="*/ 238380 w 238379"/>
                <a:gd name="connsiteY11" fmla="*/ 226761 h 382435"/>
                <a:gd name="connsiteX12" fmla="*/ 140292 w 238379"/>
                <a:gd name="connsiteY12" fmla="*/ 101429 h 38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8379" h="382435">
                  <a:moveTo>
                    <a:pt x="140136" y="101429"/>
                  </a:moveTo>
                  <a:cubicBezTo>
                    <a:pt x="112700" y="101429"/>
                    <a:pt x="84641" y="109578"/>
                    <a:pt x="71273" y="125952"/>
                  </a:cubicBezTo>
                  <a:lnTo>
                    <a:pt x="71273" y="0"/>
                  </a:lnTo>
                  <a:lnTo>
                    <a:pt x="0" y="35543"/>
                  </a:lnTo>
                  <a:lnTo>
                    <a:pt x="0" y="382436"/>
                  </a:lnTo>
                  <a:lnTo>
                    <a:pt x="71273" y="382436"/>
                  </a:lnTo>
                  <a:lnTo>
                    <a:pt x="71273" y="230874"/>
                  </a:lnTo>
                  <a:cubicBezTo>
                    <a:pt x="71273" y="190054"/>
                    <a:pt x="83553" y="168480"/>
                    <a:pt x="119773" y="168480"/>
                  </a:cubicBezTo>
                  <a:cubicBezTo>
                    <a:pt x="158324" y="168480"/>
                    <a:pt x="167107" y="194167"/>
                    <a:pt x="167107" y="232581"/>
                  </a:cubicBezTo>
                  <a:lnTo>
                    <a:pt x="167107" y="382436"/>
                  </a:lnTo>
                  <a:lnTo>
                    <a:pt x="238380" y="382436"/>
                  </a:lnTo>
                  <a:lnTo>
                    <a:pt x="238380" y="226761"/>
                  </a:lnTo>
                  <a:cubicBezTo>
                    <a:pt x="238380" y="158546"/>
                    <a:pt x="212653" y="101429"/>
                    <a:pt x="140292" y="101429"/>
                  </a:cubicBezTo>
                  <a:close/>
                </a:path>
              </a:pathLst>
            </a:custGeom>
            <a:solidFill>
              <a:srgbClr val="FFFFFF"/>
            </a:solidFill>
            <a:ln w="7772" cap="flat">
              <a:noFill/>
              <a:prstDash val="solid"/>
              <a:miter/>
            </a:ln>
          </p:spPr>
          <p:txBody>
            <a:bodyPr rtlCol="0" anchor="ctr"/>
            <a:lstStyle/>
            <a:p>
              <a:endParaRPr lang="en-US"/>
            </a:p>
          </p:txBody>
        </p:sp>
        <p:sp>
          <p:nvSpPr>
            <p:cNvPr id="70" name="Freeform 35">
              <a:extLst>
                <a:ext uri="{FF2B5EF4-FFF2-40B4-BE49-F238E27FC236}">
                  <a16:creationId xmlns:a16="http://schemas.microsoft.com/office/drawing/2014/main" id="{C97EB114-6AE0-F6F6-49CB-7C658C6DDF92}"/>
                </a:ext>
              </a:extLst>
            </p:cNvPr>
            <p:cNvSpPr/>
            <p:nvPr/>
          </p:nvSpPr>
          <p:spPr bwMode="invGray">
            <a:xfrm>
              <a:off x="2898939" y="4251210"/>
              <a:ext cx="200838" cy="388178"/>
            </a:xfrm>
            <a:custGeom>
              <a:avLst/>
              <a:gdLst>
                <a:gd name="connsiteX0" fmla="*/ 119151 w 200838"/>
                <a:gd name="connsiteY0" fmla="*/ 286749 h 388178"/>
                <a:gd name="connsiteX1" fmla="*/ 119151 w 200838"/>
                <a:gd name="connsiteY1" fmla="*/ 173679 h 388178"/>
                <a:gd name="connsiteX2" fmla="*/ 199751 w 200838"/>
                <a:gd name="connsiteY2" fmla="*/ 173679 h 388178"/>
                <a:gd name="connsiteX3" fmla="*/ 199751 w 200838"/>
                <a:gd name="connsiteY3" fmla="*/ 107250 h 388178"/>
                <a:gd name="connsiteX4" fmla="*/ 119151 w 200838"/>
                <a:gd name="connsiteY4" fmla="*/ 107250 h 388178"/>
                <a:gd name="connsiteX5" fmla="*/ 119151 w 200838"/>
                <a:gd name="connsiteY5" fmla="*/ 0 h 388178"/>
                <a:gd name="connsiteX6" fmla="*/ 47878 w 200838"/>
                <a:gd name="connsiteY6" fmla="*/ 35543 h 388178"/>
                <a:gd name="connsiteX7" fmla="*/ 47878 w 200838"/>
                <a:gd name="connsiteY7" fmla="*/ 107250 h 388178"/>
                <a:gd name="connsiteX8" fmla="*/ 0 w 200838"/>
                <a:gd name="connsiteY8" fmla="*/ 107250 h 388178"/>
                <a:gd name="connsiteX9" fmla="*/ 0 w 200838"/>
                <a:gd name="connsiteY9" fmla="*/ 173679 h 388178"/>
                <a:gd name="connsiteX10" fmla="*/ 47878 w 200838"/>
                <a:gd name="connsiteY10" fmla="*/ 173679 h 388178"/>
                <a:gd name="connsiteX11" fmla="*/ 47878 w 200838"/>
                <a:gd name="connsiteY11" fmla="*/ 305995 h 388178"/>
                <a:gd name="connsiteX12" fmla="*/ 122027 w 200838"/>
                <a:gd name="connsiteY12" fmla="*/ 388178 h 388178"/>
                <a:gd name="connsiteX13" fmla="*/ 190346 w 200838"/>
                <a:gd name="connsiteY13" fmla="*/ 371260 h 388178"/>
                <a:gd name="connsiteX14" fmla="*/ 200839 w 200838"/>
                <a:gd name="connsiteY14" fmla="*/ 299554 h 388178"/>
                <a:gd name="connsiteX15" fmla="*/ 145344 w 200838"/>
                <a:gd name="connsiteY15" fmla="*/ 319964 h 388178"/>
                <a:gd name="connsiteX16" fmla="*/ 119073 w 200838"/>
                <a:gd name="connsiteY16" fmla="*/ 286749 h 38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838" h="388178">
                  <a:moveTo>
                    <a:pt x="119151" y="286749"/>
                  </a:moveTo>
                  <a:lnTo>
                    <a:pt x="119151" y="173679"/>
                  </a:lnTo>
                  <a:lnTo>
                    <a:pt x="199751" y="173679"/>
                  </a:lnTo>
                  <a:lnTo>
                    <a:pt x="199751" y="107250"/>
                  </a:lnTo>
                  <a:lnTo>
                    <a:pt x="119151" y="107250"/>
                  </a:lnTo>
                  <a:lnTo>
                    <a:pt x="119151" y="0"/>
                  </a:lnTo>
                  <a:lnTo>
                    <a:pt x="47878" y="35543"/>
                  </a:lnTo>
                  <a:lnTo>
                    <a:pt x="47878" y="107250"/>
                  </a:lnTo>
                  <a:lnTo>
                    <a:pt x="0" y="107250"/>
                  </a:lnTo>
                  <a:lnTo>
                    <a:pt x="0" y="173679"/>
                  </a:lnTo>
                  <a:lnTo>
                    <a:pt x="47878" y="173679"/>
                  </a:lnTo>
                  <a:lnTo>
                    <a:pt x="47878" y="305995"/>
                  </a:lnTo>
                  <a:cubicBezTo>
                    <a:pt x="47878" y="353799"/>
                    <a:pt x="78812" y="388178"/>
                    <a:pt x="122027" y="388178"/>
                  </a:cubicBezTo>
                  <a:cubicBezTo>
                    <a:pt x="140680" y="388178"/>
                    <a:pt x="175734" y="382901"/>
                    <a:pt x="190346" y="371260"/>
                  </a:cubicBezTo>
                  <a:lnTo>
                    <a:pt x="200839" y="299554"/>
                  </a:lnTo>
                  <a:cubicBezTo>
                    <a:pt x="188558" y="311195"/>
                    <a:pt x="162909" y="319964"/>
                    <a:pt x="145344" y="319964"/>
                  </a:cubicBezTo>
                  <a:cubicBezTo>
                    <a:pt x="127778" y="319964"/>
                    <a:pt x="119073" y="311815"/>
                    <a:pt x="119073" y="286749"/>
                  </a:cubicBezTo>
                  <a:close/>
                </a:path>
              </a:pathLst>
            </a:custGeom>
            <a:solidFill>
              <a:srgbClr val="FFFFFF"/>
            </a:solidFill>
            <a:ln w="7772" cap="flat">
              <a:noFill/>
              <a:prstDash val="solid"/>
              <a:miter/>
            </a:ln>
          </p:spPr>
          <p:txBody>
            <a:bodyPr rtlCol="0" anchor="ctr"/>
            <a:lstStyle/>
            <a:p>
              <a:endParaRPr lang="en-US"/>
            </a:p>
          </p:txBody>
        </p:sp>
        <p:sp>
          <p:nvSpPr>
            <p:cNvPr id="71" name="Freeform 36">
              <a:extLst>
                <a:ext uri="{FF2B5EF4-FFF2-40B4-BE49-F238E27FC236}">
                  <a16:creationId xmlns:a16="http://schemas.microsoft.com/office/drawing/2014/main" id="{3050C1A2-E483-E73C-AA8B-084DDFA096C8}"/>
                </a:ext>
              </a:extLst>
            </p:cNvPr>
            <p:cNvSpPr/>
            <p:nvPr/>
          </p:nvSpPr>
          <p:spPr bwMode="invGray">
            <a:xfrm>
              <a:off x="3143614" y="4251132"/>
              <a:ext cx="238379" cy="382435"/>
            </a:xfrm>
            <a:custGeom>
              <a:avLst/>
              <a:gdLst>
                <a:gd name="connsiteX0" fmla="*/ 140136 w 238379"/>
                <a:gd name="connsiteY0" fmla="*/ 101429 h 382435"/>
                <a:gd name="connsiteX1" fmla="*/ 71273 w 238379"/>
                <a:gd name="connsiteY1" fmla="*/ 125952 h 382435"/>
                <a:gd name="connsiteX2" fmla="*/ 71273 w 238379"/>
                <a:gd name="connsiteY2" fmla="*/ 0 h 382435"/>
                <a:gd name="connsiteX3" fmla="*/ 0 w 238379"/>
                <a:gd name="connsiteY3" fmla="*/ 35543 h 382435"/>
                <a:gd name="connsiteX4" fmla="*/ 0 w 238379"/>
                <a:gd name="connsiteY4" fmla="*/ 382436 h 382435"/>
                <a:gd name="connsiteX5" fmla="*/ 71273 w 238379"/>
                <a:gd name="connsiteY5" fmla="*/ 382436 h 382435"/>
                <a:gd name="connsiteX6" fmla="*/ 71273 w 238379"/>
                <a:gd name="connsiteY6" fmla="*/ 230874 h 382435"/>
                <a:gd name="connsiteX7" fmla="*/ 119773 w 238379"/>
                <a:gd name="connsiteY7" fmla="*/ 168480 h 382435"/>
                <a:gd name="connsiteX8" fmla="*/ 167107 w 238379"/>
                <a:gd name="connsiteY8" fmla="*/ 232581 h 382435"/>
                <a:gd name="connsiteX9" fmla="*/ 167107 w 238379"/>
                <a:gd name="connsiteY9" fmla="*/ 382436 h 382435"/>
                <a:gd name="connsiteX10" fmla="*/ 238380 w 238379"/>
                <a:gd name="connsiteY10" fmla="*/ 382436 h 382435"/>
                <a:gd name="connsiteX11" fmla="*/ 238380 w 238379"/>
                <a:gd name="connsiteY11" fmla="*/ 226761 h 382435"/>
                <a:gd name="connsiteX12" fmla="*/ 140292 w 238379"/>
                <a:gd name="connsiteY12" fmla="*/ 101429 h 38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8379" h="382435">
                  <a:moveTo>
                    <a:pt x="140136" y="101429"/>
                  </a:moveTo>
                  <a:cubicBezTo>
                    <a:pt x="112700" y="101429"/>
                    <a:pt x="84641" y="109578"/>
                    <a:pt x="71273" y="125952"/>
                  </a:cubicBezTo>
                  <a:lnTo>
                    <a:pt x="71273" y="0"/>
                  </a:lnTo>
                  <a:lnTo>
                    <a:pt x="0" y="35543"/>
                  </a:lnTo>
                  <a:lnTo>
                    <a:pt x="0" y="382436"/>
                  </a:lnTo>
                  <a:lnTo>
                    <a:pt x="71273" y="382436"/>
                  </a:lnTo>
                  <a:lnTo>
                    <a:pt x="71273" y="230874"/>
                  </a:lnTo>
                  <a:cubicBezTo>
                    <a:pt x="71273" y="190054"/>
                    <a:pt x="83553" y="168480"/>
                    <a:pt x="119773" y="168480"/>
                  </a:cubicBezTo>
                  <a:cubicBezTo>
                    <a:pt x="158324" y="168480"/>
                    <a:pt x="167107" y="194167"/>
                    <a:pt x="167107" y="232581"/>
                  </a:cubicBezTo>
                  <a:lnTo>
                    <a:pt x="167107" y="382436"/>
                  </a:lnTo>
                  <a:lnTo>
                    <a:pt x="238380" y="382436"/>
                  </a:lnTo>
                  <a:lnTo>
                    <a:pt x="238380" y="226761"/>
                  </a:lnTo>
                  <a:cubicBezTo>
                    <a:pt x="238380" y="158546"/>
                    <a:pt x="212653" y="101429"/>
                    <a:pt x="140292" y="101429"/>
                  </a:cubicBezTo>
                  <a:close/>
                </a:path>
              </a:pathLst>
            </a:custGeom>
            <a:solidFill>
              <a:srgbClr val="FFFFFF"/>
            </a:solidFill>
            <a:ln w="7772" cap="flat">
              <a:noFill/>
              <a:prstDash val="solid"/>
              <a:miter/>
            </a:ln>
          </p:spPr>
          <p:txBody>
            <a:bodyPr rtlCol="0" anchor="ctr"/>
            <a:lstStyle/>
            <a:p>
              <a:endParaRPr lang="en-US"/>
            </a:p>
          </p:txBody>
        </p:sp>
        <p:sp>
          <p:nvSpPr>
            <p:cNvPr id="72" name="Freeform 37">
              <a:extLst>
                <a:ext uri="{FF2B5EF4-FFF2-40B4-BE49-F238E27FC236}">
                  <a16:creationId xmlns:a16="http://schemas.microsoft.com/office/drawing/2014/main" id="{839E7096-3AD9-369E-C458-C5C0AF992C73}"/>
                </a:ext>
              </a:extLst>
            </p:cNvPr>
            <p:cNvSpPr/>
            <p:nvPr/>
          </p:nvSpPr>
          <p:spPr bwMode="invGray">
            <a:xfrm>
              <a:off x="2242171" y="4352251"/>
              <a:ext cx="237602" cy="382513"/>
            </a:xfrm>
            <a:custGeom>
              <a:avLst/>
              <a:gdLst>
                <a:gd name="connsiteX0" fmla="*/ 131354 w 237602"/>
                <a:gd name="connsiteY0" fmla="*/ 0 h 382513"/>
                <a:gd name="connsiteX1" fmla="*/ 68863 w 237602"/>
                <a:gd name="connsiteY1" fmla="*/ 24523 h 382513"/>
                <a:gd name="connsiteX2" fmla="*/ 68863 w 237602"/>
                <a:gd name="connsiteY2" fmla="*/ 5898 h 382513"/>
                <a:gd name="connsiteX3" fmla="*/ 0 w 237602"/>
                <a:gd name="connsiteY3" fmla="*/ 5898 h 382513"/>
                <a:gd name="connsiteX4" fmla="*/ 0 w 237602"/>
                <a:gd name="connsiteY4" fmla="*/ 382513 h 382513"/>
                <a:gd name="connsiteX5" fmla="*/ 68863 w 237602"/>
                <a:gd name="connsiteY5" fmla="*/ 348134 h 382513"/>
                <a:gd name="connsiteX6" fmla="*/ 68863 w 237602"/>
                <a:gd name="connsiteY6" fmla="*/ 264166 h 382513"/>
                <a:gd name="connsiteX7" fmla="*/ 130188 w 237602"/>
                <a:gd name="connsiteY7" fmla="*/ 286904 h 382513"/>
                <a:gd name="connsiteX8" fmla="*/ 237602 w 237602"/>
                <a:gd name="connsiteY8" fmla="*/ 144034 h 382513"/>
                <a:gd name="connsiteX9" fmla="*/ 131354 w 237602"/>
                <a:gd name="connsiteY9" fmla="*/ 0 h 382513"/>
                <a:gd name="connsiteX10" fmla="*/ 118529 w 237602"/>
                <a:gd name="connsiteY10" fmla="*/ 220940 h 382513"/>
                <a:gd name="connsiteX11" fmla="*/ 68863 w 237602"/>
                <a:gd name="connsiteY11" fmla="*/ 195874 h 382513"/>
                <a:gd name="connsiteX12" fmla="*/ 68863 w 237602"/>
                <a:gd name="connsiteY12" fmla="*/ 90953 h 382513"/>
                <a:gd name="connsiteX13" fmla="*/ 114410 w 237602"/>
                <a:gd name="connsiteY13" fmla="*/ 66430 h 382513"/>
                <a:gd name="connsiteX14" fmla="*/ 166407 w 237602"/>
                <a:gd name="connsiteY14" fmla="*/ 147449 h 382513"/>
                <a:gd name="connsiteX15" fmla="*/ 118529 w 237602"/>
                <a:gd name="connsiteY15" fmla="*/ 220940 h 382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7602" h="382513">
                  <a:moveTo>
                    <a:pt x="131354" y="0"/>
                  </a:moveTo>
                  <a:cubicBezTo>
                    <a:pt x="105627" y="0"/>
                    <a:pt x="86973" y="8149"/>
                    <a:pt x="68863" y="24523"/>
                  </a:cubicBezTo>
                  <a:lnTo>
                    <a:pt x="68863" y="5898"/>
                  </a:lnTo>
                  <a:lnTo>
                    <a:pt x="0" y="5898"/>
                  </a:lnTo>
                  <a:lnTo>
                    <a:pt x="0" y="382513"/>
                  </a:lnTo>
                  <a:lnTo>
                    <a:pt x="68863" y="348134"/>
                  </a:lnTo>
                  <a:lnTo>
                    <a:pt x="68863" y="264166"/>
                  </a:lnTo>
                  <a:cubicBezTo>
                    <a:pt x="81144" y="275807"/>
                    <a:pt x="99798" y="286904"/>
                    <a:pt x="130188" y="286904"/>
                  </a:cubicBezTo>
                  <a:cubicBezTo>
                    <a:pt x="208456" y="286904"/>
                    <a:pt x="237602" y="214577"/>
                    <a:pt x="237602" y="144034"/>
                  </a:cubicBezTo>
                  <a:cubicBezTo>
                    <a:pt x="237602" y="70000"/>
                    <a:pt x="205502" y="0"/>
                    <a:pt x="131354" y="0"/>
                  </a:cubicBezTo>
                  <a:close/>
                  <a:moveTo>
                    <a:pt x="118529" y="220940"/>
                  </a:moveTo>
                  <a:cubicBezTo>
                    <a:pt x="98709" y="220940"/>
                    <a:pt x="79978" y="211628"/>
                    <a:pt x="68863" y="195874"/>
                  </a:cubicBezTo>
                  <a:lnTo>
                    <a:pt x="68863" y="90953"/>
                  </a:lnTo>
                  <a:cubicBezTo>
                    <a:pt x="79978" y="75199"/>
                    <a:pt x="95134" y="66430"/>
                    <a:pt x="114410" y="66430"/>
                  </a:cubicBezTo>
                  <a:cubicBezTo>
                    <a:pt x="155837" y="66430"/>
                    <a:pt x="166407" y="107250"/>
                    <a:pt x="166407" y="147449"/>
                  </a:cubicBezTo>
                  <a:cubicBezTo>
                    <a:pt x="166407" y="187648"/>
                    <a:pt x="157080" y="220940"/>
                    <a:pt x="118529" y="220940"/>
                  </a:cubicBezTo>
                  <a:close/>
                </a:path>
              </a:pathLst>
            </a:custGeom>
            <a:solidFill>
              <a:srgbClr val="FFFFFF"/>
            </a:solidFill>
            <a:ln w="7772" cap="flat">
              <a:noFill/>
              <a:prstDash val="solid"/>
              <a:miter/>
            </a:ln>
          </p:spPr>
          <p:txBody>
            <a:bodyPr rtlCol="0" anchor="ctr"/>
            <a:lstStyle/>
            <a:p>
              <a:endParaRPr lang="en-US"/>
            </a:p>
          </p:txBody>
        </p:sp>
        <p:sp>
          <p:nvSpPr>
            <p:cNvPr id="73" name="Freeform 38">
              <a:extLst>
                <a:ext uri="{FF2B5EF4-FFF2-40B4-BE49-F238E27FC236}">
                  <a16:creationId xmlns:a16="http://schemas.microsoft.com/office/drawing/2014/main" id="{E70BDFFB-238F-A0D0-ECA6-B41AE760BD1D}"/>
                </a:ext>
              </a:extLst>
            </p:cNvPr>
            <p:cNvSpPr/>
            <p:nvPr/>
          </p:nvSpPr>
          <p:spPr bwMode="invGray">
            <a:xfrm>
              <a:off x="1958323" y="4352251"/>
              <a:ext cx="230063" cy="286826"/>
            </a:xfrm>
            <a:custGeom>
              <a:avLst/>
              <a:gdLst>
                <a:gd name="connsiteX0" fmla="*/ 230063 w 230063"/>
                <a:gd name="connsiteY0" fmla="*/ 281006 h 286826"/>
                <a:gd name="connsiteX1" fmla="*/ 230063 w 230063"/>
                <a:gd name="connsiteY1" fmla="*/ 96230 h 286826"/>
                <a:gd name="connsiteX2" fmla="*/ 117985 w 230063"/>
                <a:gd name="connsiteY2" fmla="*/ 0 h 286826"/>
                <a:gd name="connsiteX3" fmla="*/ 22773 w 230063"/>
                <a:gd name="connsiteY3" fmla="*/ 28015 h 286826"/>
                <a:gd name="connsiteX4" fmla="*/ 50210 w 230063"/>
                <a:gd name="connsiteY4" fmla="*/ 76984 h 286826"/>
                <a:gd name="connsiteX5" fmla="*/ 113866 w 230063"/>
                <a:gd name="connsiteY5" fmla="*/ 58902 h 286826"/>
                <a:gd name="connsiteX6" fmla="*/ 161122 w 230063"/>
                <a:gd name="connsiteY6" fmla="*/ 95066 h 286826"/>
                <a:gd name="connsiteX7" fmla="*/ 161122 w 230063"/>
                <a:gd name="connsiteY7" fmla="*/ 109655 h 286826"/>
                <a:gd name="connsiteX8" fmla="*/ 107415 w 230063"/>
                <a:gd name="connsiteY8" fmla="*/ 98558 h 286826"/>
                <a:gd name="connsiteX9" fmla="*/ 0 w 230063"/>
                <a:gd name="connsiteY9" fmla="*/ 191218 h 286826"/>
                <a:gd name="connsiteX10" fmla="*/ 96922 w 230063"/>
                <a:gd name="connsiteY10" fmla="*/ 286827 h 286826"/>
                <a:gd name="connsiteX11" fmla="*/ 161122 w 230063"/>
                <a:gd name="connsiteY11" fmla="*/ 261760 h 286826"/>
                <a:gd name="connsiteX12" fmla="*/ 161122 w 230063"/>
                <a:gd name="connsiteY12" fmla="*/ 281006 h 286826"/>
                <a:gd name="connsiteX13" fmla="*/ 229985 w 230063"/>
                <a:gd name="connsiteY13" fmla="*/ 281006 h 286826"/>
                <a:gd name="connsiteX14" fmla="*/ 109202 w 230063"/>
                <a:gd name="connsiteY14" fmla="*/ 227382 h 286826"/>
                <a:gd name="connsiteX15" fmla="*/ 70107 w 230063"/>
                <a:gd name="connsiteY15" fmla="*/ 189511 h 286826"/>
                <a:gd name="connsiteX16" fmla="*/ 115032 w 230063"/>
                <a:gd name="connsiteY16" fmla="*/ 153968 h 286826"/>
                <a:gd name="connsiteX17" fmla="*/ 161122 w 230063"/>
                <a:gd name="connsiteY17" fmla="*/ 165608 h 286826"/>
                <a:gd name="connsiteX18" fmla="*/ 161122 w 230063"/>
                <a:gd name="connsiteY18" fmla="*/ 200608 h 286826"/>
                <a:gd name="connsiteX19" fmla="*/ 109125 w 230063"/>
                <a:gd name="connsiteY19" fmla="*/ 227459 h 28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0063" h="286826">
                  <a:moveTo>
                    <a:pt x="230063" y="281006"/>
                  </a:moveTo>
                  <a:lnTo>
                    <a:pt x="230063" y="96230"/>
                  </a:lnTo>
                  <a:cubicBezTo>
                    <a:pt x="230063" y="33836"/>
                    <a:pt x="187470" y="0"/>
                    <a:pt x="117985" y="0"/>
                  </a:cubicBezTo>
                  <a:cubicBezTo>
                    <a:pt x="81222" y="0"/>
                    <a:pt x="52619" y="9313"/>
                    <a:pt x="22773" y="28015"/>
                  </a:cubicBezTo>
                  <a:lnTo>
                    <a:pt x="50210" y="76984"/>
                  </a:lnTo>
                  <a:cubicBezTo>
                    <a:pt x="71817" y="64179"/>
                    <a:pt x="92258" y="58902"/>
                    <a:pt x="113866" y="58902"/>
                  </a:cubicBezTo>
                  <a:cubicBezTo>
                    <a:pt x="144256" y="58902"/>
                    <a:pt x="161122" y="69379"/>
                    <a:pt x="161122" y="95066"/>
                  </a:cubicBezTo>
                  <a:lnTo>
                    <a:pt x="161122" y="109655"/>
                  </a:lnTo>
                  <a:cubicBezTo>
                    <a:pt x="143012" y="100886"/>
                    <a:pt x="124902" y="98558"/>
                    <a:pt x="107415" y="98558"/>
                  </a:cubicBezTo>
                  <a:cubicBezTo>
                    <a:pt x="41427" y="98558"/>
                    <a:pt x="0" y="131229"/>
                    <a:pt x="0" y="191218"/>
                  </a:cubicBezTo>
                  <a:cubicBezTo>
                    <a:pt x="0" y="251206"/>
                    <a:pt x="42593" y="286827"/>
                    <a:pt x="96922" y="286827"/>
                  </a:cubicBezTo>
                  <a:cubicBezTo>
                    <a:pt x="123814" y="286827"/>
                    <a:pt x="144800" y="278057"/>
                    <a:pt x="161122" y="261760"/>
                  </a:cubicBezTo>
                  <a:lnTo>
                    <a:pt x="161122" y="281006"/>
                  </a:lnTo>
                  <a:lnTo>
                    <a:pt x="229985" y="281006"/>
                  </a:lnTo>
                  <a:close/>
                  <a:moveTo>
                    <a:pt x="109202" y="227382"/>
                  </a:moveTo>
                  <a:cubicBezTo>
                    <a:pt x="83476" y="227382"/>
                    <a:pt x="70107" y="210464"/>
                    <a:pt x="70107" y="189511"/>
                  </a:cubicBezTo>
                  <a:cubicBezTo>
                    <a:pt x="70107" y="167393"/>
                    <a:pt x="84719" y="153968"/>
                    <a:pt x="115032" y="153968"/>
                  </a:cubicBezTo>
                  <a:cubicBezTo>
                    <a:pt x="129022" y="153968"/>
                    <a:pt x="147132" y="156917"/>
                    <a:pt x="161122" y="165608"/>
                  </a:cubicBezTo>
                  <a:lnTo>
                    <a:pt x="161122" y="200608"/>
                  </a:lnTo>
                  <a:cubicBezTo>
                    <a:pt x="145966" y="222725"/>
                    <a:pt x="122571" y="227459"/>
                    <a:pt x="109125" y="227459"/>
                  </a:cubicBezTo>
                  <a:close/>
                </a:path>
              </a:pathLst>
            </a:custGeom>
            <a:solidFill>
              <a:srgbClr val="FFFFFF"/>
            </a:solidFill>
            <a:ln w="7772" cap="flat">
              <a:noFill/>
              <a:prstDash val="solid"/>
              <a:miter/>
            </a:ln>
          </p:spPr>
          <p:txBody>
            <a:bodyPr rtlCol="0" anchor="ctr"/>
            <a:lstStyle/>
            <a:p>
              <a:endParaRPr lang="en-US"/>
            </a:p>
          </p:txBody>
        </p:sp>
        <p:sp>
          <p:nvSpPr>
            <p:cNvPr id="74" name="Freeform 39">
              <a:extLst>
                <a:ext uri="{FF2B5EF4-FFF2-40B4-BE49-F238E27FC236}">
                  <a16:creationId xmlns:a16="http://schemas.microsoft.com/office/drawing/2014/main" id="{2236FBF1-D41C-7E49-755E-CD588B7B37C9}"/>
                </a:ext>
              </a:extLst>
            </p:cNvPr>
            <p:cNvSpPr/>
            <p:nvPr/>
          </p:nvSpPr>
          <p:spPr bwMode="invGray">
            <a:xfrm>
              <a:off x="1340728" y="4260755"/>
              <a:ext cx="284392" cy="378322"/>
            </a:xfrm>
            <a:custGeom>
              <a:avLst/>
              <a:gdLst>
                <a:gd name="connsiteX0" fmla="*/ 144800 w 284392"/>
                <a:gd name="connsiteY0" fmla="*/ 308944 h 378322"/>
                <a:gd name="connsiteX1" fmla="*/ 51376 w 284392"/>
                <a:gd name="connsiteY1" fmla="*/ 266960 h 378322"/>
                <a:gd name="connsiteX2" fmla="*/ 0 w 284392"/>
                <a:gd name="connsiteY2" fmla="*/ 312436 h 378322"/>
                <a:gd name="connsiteX3" fmla="*/ 146587 w 284392"/>
                <a:gd name="connsiteY3" fmla="*/ 378322 h 378322"/>
                <a:gd name="connsiteX4" fmla="*/ 284392 w 284392"/>
                <a:gd name="connsiteY4" fmla="*/ 262304 h 378322"/>
                <a:gd name="connsiteX5" fmla="*/ 251126 w 284392"/>
                <a:gd name="connsiteY5" fmla="*/ 185941 h 378322"/>
                <a:gd name="connsiteX6" fmla="*/ 161821 w 284392"/>
                <a:gd name="connsiteY6" fmla="*/ 149234 h 378322"/>
                <a:gd name="connsiteX7" fmla="*/ 102829 w 284392"/>
                <a:gd name="connsiteY7" fmla="*/ 129988 h 378322"/>
                <a:gd name="connsiteX8" fmla="*/ 87673 w 284392"/>
                <a:gd name="connsiteY8" fmla="*/ 104922 h 378322"/>
                <a:gd name="connsiteX9" fmla="*/ 141380 w 284392"/>
                <a:gd name="connsiteY9" fmla="*/ 69379 h 378322"/>
                <a:gd name="connsiteX10" fmla="*/ 224856 w 284392"/>
                <a:gd name="connsiteY10" fmla="*/ 106706 h 378322"/>
                <a:gd name="connsiteX11" fmla="*/ 276231 w 284392"/>
                <a:gd name="connsiteY11" fmla="*/ 56574 h 378322"/>
                <a:gd name="connsiteX12" fmla="*/ 146043 w 284392"/>
                <a:gd name="connsiteY12" fmla="*/ 0 h 378322"/>
                <a:gd name="connsiteX13" fmla="*/ 14068 w 284392"/>
                <a:gd name="connsiteY13" fmla="*/ 109035 h 378322"/>
                <a:gd name="connsiteX14" fmla="*/ 45624 w 284392"/>
                <a:gd name="connsiteY14" fmla="*/ 182526 h 378322"/>
                <a:gd name="connsiteX15" fmla="*/ 129100 w 284392"/>
                <a:gd name="connsiteY15" fmla="*/ 216362 h 378322"/>
                <a:gd name="connsiteX16" fmla="*/ 188636 w 284392"/>
                <a:gd name="connsiteY16" fmla="*/ 234444 h 378322"/>
                <a:gd name="connsiteX17" fmla="*/ 210243 w 284392"/>
                <a:gd name="connsiteY17" fmla="*/ 264166 h 378322"/>
                <a:gd name="connsiteX18" fmla="*/ 144878 w 284392"/>
                <a:gd name="connsiteY18" fmla="*/ 309022 h 37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4392" h="378322">
                  <a:moveTo>
                    <a:pt x="144800" y="308944"/>
                  </a:moveTo>
                  <a:cubicBezTo>
                    <a:pt x="109746" y="308944"/>
                    <a:pt x="75315" y="295518"/>
                    <a:pt x="51376" y="266960"/>
                  </a:cubicBezTo>
                  <a:lnTo>
                    <a:pt x="0" y="312436"/>
                  </a:lnTo>
                  <a:cubicBezTo>
                    <a:pt x="33266" y="361405"/>
                    <a:pt x="92802" y="378322"/>
                    <a:pt x="146587" y="378322"/>
                  </a:cubicBezTo>
                  <a:cubicBezTo>
                    <a:pt x="221358" y="378322"/>
                    <a:pt x="284392" y="345108"/>
                    <a:pt x="284392" y="262304"/>
                  </a:cubicBezTo>
                  <a:cubicBezTo>
                    <a:pt x="284392" y="227925"/>
                    <a:pt x="273278" y="204023"/>
                    <a:pt x="251126" y="185941"/>
                  </a:cubicBezTo>
                  <a:cubicBezTo>
                    <a:pt x="226021" y="165531"/>
                    <a:pt x="195087" y="157925"/>
                    <a:pt x="161821" y="149234"/>
                  </a:cubicBezTo>
                  <a:cubicBezTo>
                    <a:pt x="133763" y="142249"/>
                    <a:pt x="115731" y="136972"/>
                    <a:pt x="102829" y="129988"/>
                  </a:cubicBezTo>
                  <a:cubicBezTo>
                    <a:pt x="91714" y="123547"/>
                    <a:pt x="87673" y="116019"/>
                    <a:pt x="87673" y="104922"/>
                  </a:cubicBezTo>
                  <a:cubicBezTo>
                    <a:pt x="87673" y="79234"/>
                    <a:pt x="110446" y="69379"/>
                    <a:pt x="141380" y="69379"/>
                  </a:cubicBezTo>
                  <a:cubicBezTo>
                    <a:pt x="177599" y="69379"/>
                    <a:pt x="200917" y="82804"/>
                    <a:pt x="224856" y="106706"/>
                  </a:cubicBezTo>
                  <a:lnTo>
                    <a:pt x="276231" y="56574"/>
                  </a:lnTo>
                  <a:cubicBezTo>
                    <a:pt x="243509" y="23359"/>
                    <a:pt x="202626" y="0"/>
                    <a:pt x="146043" y="0"/>
                  </a:cubicBezTo>
                  <a:cubicBezTo>
                    <a:pt x="80678" y="0"/>
                    <a:pt x="14068" y="31508"/>
                    <a:pt x="14068" y="109035"/>
                  </a:cubicBezTo>
                  <a:cubicBezTo>
                    <a:pt x="14068" y="134101"/>
                    <a:pt x="21063" y="162659"/>
                    <a:pt x="45624" y="182526"/>
                  </a:cubicBezTo>
                  <a:cubicBezTo>
                    <a:pt x="70185" y="202315"/>
                    <a:pt x="109824" y="211706"/>
                    <a:pt x="129100" y="216362"/>
                  </a:cubicBezTo>
                  <a:cubicBezTo>
                    <a:pt x="160034" y="223967"/>
                    <a:pt x="175812" y="228002"/>
                    <a:pt x="188636" y="234444"/>
                  </a:cubicBezTo>
                  <a:cubicBezTo>
                    <a:pt x="206124" y="243213"/>
                    <a:pt x="210243" y="253689"/>
                    <a:pt x="210243" y="264166"/>
                  </a:cubicBezTo>
                  <a:cubicBezTo>
                    <a:pt x="210243" y="290397"/>
                    <a:pt x="186304" y="309022"/>
                    <a:pt x="144878" y="309022"/>
                  </a:cubicBezTo>
                  <a:close/>
                </a:path>
              </a:pathLst>
            </a:custGeom>
            <a:solidFill>
              <a:srgbClr val="FFFFFF"/>
            </a:solidFill>
            <a:ln w="7772" cap="flat">
              <a:noFill/>
              <a:prstDash val="solid"/>
              <a:miter/>
            </a:ln>
          </p:spPr>
          <p:txBody>
            <a:bodyPr rtlCol="0" anchor="ctr"/>
            <a:lstStyle/>
            <a:p>
              <a:endParaRPr lang="en-US"/>
            </a:p>
          </p:txBody>
        </p:sp>
        <p:sp>
          <p:nvSpPr>
            <p:cNvPr id="75" name="Freeform 40">
              <a:extLst>
                <a:ext uri="{FF2B5EF4-FFF2-40B4-BE49-F238E27FC236}">
                  <a16:creationId xmlns:a16="http://schemas.microsoft.com/office/drawing/2014/main" id="{D67C2851-2DFC-D44D-2FF1-7E304735A8D9}"/>
                </a:ext>
              </a:extLst>
            </p:cNvPr>
            <p:cNvSpPr/>
            <p:nvPr/>
          </p:nvSpPr>
          <p:spPr bwMode="invGray">
            <a:xfrm>
              <a:off x="4818877" y="4352329"/>
              <a:ext cx="177521" cy="281006"/>
            </a:xfrm>
            <a:custGeom>
              <a:avLst/>
              <a:gdLst>
                <a:gd name="connsiteX0" fmla="*/ 68864 w 177521"/>
                <a:gd name="connsiteY0" fmla="*/ 131074 h 281006"/>
                <a:gd name="connsiteX1" fmla="*/ 109669 w 177521"/>
                <a:gd name="connsiteY1" fmla="*/ 70465 h 281006"/>
                <a:gd name="connsiteX2" fmla="*/ 149386 w 177521"/>
                <a:gd name="connsiteY2" fmla="*/ 87383 h 281006"/>
                <a:gd name="connsiteX3" fmla="*/ 177522 w 177521"/>
                <a:gd name="connsiteY3" fmla="*/ 18625 h 281006"/>
                <a:gd name="connsiteX4" fmla="*/ 126690 w 177521"/>
                <a:gd name="connsiteY4" fmla="*/ 0 h 281006"/>
                <a:gd name="connsiteX5" fmla="*/ 68864 w 177521"/>
                <a:gd name="connsiteY5" fmla="*/ 25066 h 281006"/>
                <a:gd name="connsiteX6" fmla="*/ 68864 w 177521"/>
                <a:gd name="connsiteY6" fmla="*/ 5820 h 281006"/>
                <a:gd name="connsiteX7" fmla="*/ 0 w 177521"/>
                <a:gd name="connsiteY7" fmla="*/ 5820 h 281006"/>
                <a:gd name="connsiteX8" fmla="*/ 0 w 177521"/>
                <a:gd name="connsiteY8" fmla="*/ 281006 h 281006"/>
                <a:gd name="connsiteX9" fmla="*/ 68864 w 177521"/>
                <a:gd name="connsiteY9" fmla="*/ 281006 h 281006"/>
                <a:gd name="connsiteX10" fmla="*/ 68864 w 177521"/>
                <a:gd name="connsiteY10" fmla="*/ 131152 h 28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521" h="281006">
                  <a:moveTo>
                    <a:pt x="68864" y="131074"/>
                  </a:moveTo>
                  <a:cubicBezTo>
                    <a:pt x="68864" y="97859"/>
                    <a:pt x="76947" y="70465"/>
                    <a:pt x="109669" y="70465"/>
                  </a:cubicBezTo>
                  <a:cubicBezTo>
                    <a:pt x="126612" y="70465"/>
                    <a:pt x="138893" y="77449"/>
                    <a:pt x="149386" y="87383"/>
                  </a:cubicBezTo>
                  <a:lnTo>
                    <a:pt x="177522" y="18625"/>
                  </a:lnTo>
                  <a:cubicBezTo>
                    <a:pt x="162910" y="5820"/>
                    <a:pt x="145966" y="0"/>
                    <a:pt x="126690" y="0"/>
                  </a:cubicBezTo>
                  <a:cubicBezTo>
                    <a:pt x="104539" y="0"/>
                    <a:pt x="84642" y="9312"/>
                    <a:pt x="68864" y="25066"/>
                  </a:cubicBezTo>
                  <a:lnTo>
                    <a:pt x="68864" y="5820"/>
                  </a:lnTo>
                  <a:lnTo>
                    <a:pt x="0" y="5820"/>
                  </a:lnTo>
                  <a:lnTo>
                    <a:pt x="0" y="281006"/>
                  </a:lnTo>
                  <a:lnTo>
                    <a:pt x="68864" y="281006"/>
                  </a:lnTo>
                  <a:lnTo>
                    <a:pt x="68864" y="131152"/>
                  </a:lnTo>
                  <a:close/>
                </a:path>
              </a:pathLst>
            </a:custGeom>
            <a:solidFill>
              <a:srgbClr val="FFFFFF"/>
            </a:solidFill>
            <a:ln w="7772" cap="flat">
              <a:noFill/>
              <a:prstDash val="solid"/>
              <a:miter/>
            </a:ln>
          </p:spPr>
          <p:txBody>
            <a:bodyPr rtlCol="0" anchor="ctr"/>
            <a:lstStyle/>
            <a:p>
              <a:endParaRPr lang="en-US"/>
            </a:p>
          </p:txBody>
        </p:sp>
        <p:sp>
          <p:nvSpPr>
            <p:cNvPr id="76" name="Freeform 41">
              <a:extLst>
                <a:ext uri="{FF2B5EF4-FFF2-40B4-BE49-F238E27FC236}">
                  <a16:creationId xmlns:a16="http://schemas.microsoft.com/office/drawing/2014/main" id="{07773179-D702-883C-8D94-780D7A9A2BFF}"/>
                </a:ext>
              </a:extLst>
            </p:cNvPr>
            <p:cNvSpPr/>
            <p:nvPr/>
          </p:nvSpPr>
          <p:spPr bwMode="invGray">
            <a:xfrm>
              <a:off x="5810324" y="4252839"/>
              <a:ext cx="81765" cy="81639"/>
            </a:xfrm>
            <a:custGeom>
              <a:avLst/>
              <a:gdLst>
                <a:gd name="connsiteX0" fmla="*/ 40883 w 81765"/>
                <a:gd name="connsiteY0" fmla="*/ 0 h 81639"/>
                <a:gd name="connsiteX1" fmla="*/ 0 w 81765"/>
                <a:gd name="connsiteY1" fmla="*/ 40820 h 81639"/>
                <a:gd name="connsiteX2" fmla="*/ 40883 w 81765"/>
                <a:gd name="connsiteY2" fmla="*/ 81640 h 81639"/>
                <a:gd name="connsiteX3" fmla="*/ 81766 w 81765"/>
                <a:gd name="connsiteY3" fmla="*/ 40820 h 81639"/>
                <a:gd name="connsiteX4" fmla="*/ 40883 w 81765"/>
                <a:gd name="connsiteY4" fmla="*/ 0 h 8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65" h="81639">
                  <a:moveTo>
                    <a:pt x="40883" y="0"/>
                  </a:moveTo>
                  <a:cubicBezTo>
                    <a:pt x="18110" y="0"/>
                    <a:pt x="0" y="18082"/>
                    <a:pt x="0" y="40820"/>
                  </a:cubicBezTo>
                  <a:cubicBezTo>
                    <a:pt x="0" y="63558"/>
                    <a:pt x="18110" y="81640"/>
                    <a:pt x="40883" y="81640"/>
                  </a:cubicBezTo>
                  <a:cubicBezTo>
                    <a:pt x="63656" y="81640"/>
                    <a:pt x="81766" y="63558"/>
                    <a:pt x="81766" y="40820"/>
                  </a:cubicBezTo>
                  <a:cubicBezTo>
                    <a:pt x="81766" y="18082"/>
                    <a:pt x="63656" y="0"/>
                    <a:pt x="40883" y="0"/>
                  </a:cubicBezTo>
                  <a:close/>
                </a:path>
              </a:pathLst>
            </a:custGeom>
            <a:solidFill>
              <a:srgbClr val="FFFFFF"/>
            </a:solidFill>
            <a:ln w="7772" cap="flat">
              <a:noFill/>
              <a:prstDash val="solid"/>
              <a:miter/>
            </a:ln>
          </p:spPr>
          <p:txBody>
            <a:bodyPr rtlCol="0" anchor="ctr"/>
            <a:lstStyle/>
            <a:p>
              <a:endParaRPr lang="en-US"/>
            </a:p>
          </p:txBody>
        </p:sp>
        <p:sp>
          <p:nvSpPr>
            <p:cNvPr id="77" name="Freeform 42">
              <a:extLst>
                <a:ext uri="{FF2B5EF4-FFF2-40B4-BE49-F238E27FC236}">
                  <a16:creationId xmlns:a16="http://schemas.microsoft.com/office/drawing/2014/main" id="{DF5C7105-377B-096F-5116-EC259FB2E204}"/>
                </a:ext>
              </a:extLst>
            </p:cNvPr>
            <p:cNvSpPr/>
            <p:nvPr/>
          </p:nvSpPr>
          <p:spPr bwMode="invGray">
            <a:xfrm>
              <a:off x="5379966" y="4358382"/>
              <a:ext cx="398257" cy="275185"/>
            </a:xfrm>
            <a:custGeom>
              <a:avLst/>
              <a:gdLst>
                <a:gd name="connsiteX0" fmla="*/ 279107 w 398257"/>
                <a:gd name="connsiteY0" fmla="*/ 159710 h 275185"/>
                <a:gd name="connsiteX1" fmla="*/ 232395 w 398257"/>
                <a:gd name="connsiteY1" fmla="*/ 0 h 275185"/>
                <a:gd name="connsiteX2" fmla="*/ 167651 w 398257"/>
                <a:gd name="connsiteY2" fmla="*/ 0 h 275185"/>
                <a:gd name="connsiteX3" fmla="*/ 120939 w 398257"/>
                <a:gd name="connsiteY3" fmla="*/ 159710 h 275185"/>
                <a:gd name="connsiteX4" fmla="*/ 79434 w 398257"/>
                <a:gd name="connsiteY4" fmla="*/ 0 h 275185"/>
                <a:gd name="connsiteX5" fmla="*/ 0 w 398257"/>
                <a:gd name="connsiteY5" fmla="*/ 0 h 275185"/>
                <a:gd name="connsiteX6" fmla="*/ 86429 w 398257"/>
                <a:gd name="connsiteY6" fmla="*/ 275186 h 275185"/>
                <a:gd name="connsiteX7" fmla="*/ 151873 w 398257"/>
                <a:gd name="connsiteY7" fmla="*/ 275186 h 275185"/>
                <a:gd name="connsiteX8" fmla="*/ 199129 w 398257"/>
                <a:gd name="connsiteY8" fmla="*/ 107870 h 275185"/>
                <a:gd name="connsiteX9" fmla="*/ 245841 w 398257"/>
                <a:gd name="connsiteY9" fmla="*/ 275186 h 275185"/>
                <a:gd name="connsiteX10" fmla="*/ 311285 w 398257"/>
                <a:gd name="connsiteY10" fmla="*/ 275186 h 275185"/>
                <a:gd name="connsiteX11" fmla="*/ 398258 w 398257"/>
                <a:gd name="connsiteY11" fmla="*/ 0 h 275185"/>
                <a:gd name="connsiteX12" fmla="*/ 321156 w 398257"/>
                <a:gd name="connsiteY12" fmla="*/ 0 h 275185"/>
                <a:gd name="connsiteX13" fmla="*/ 279107 w 398257"/>
                <a:gd name="connsiteY13" fmla="*/ 159710 h 275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8257" h="275185">
                  <a:moveTo>
                    <a:pt x="279107" y="159710"/>
                  </a:moveTo>
                  <a:lnTo>
                    <a:pt x="232395" y="0"/>
                  </a:lnTo>
                  <a:lnTo>
                    <a:pt x="167651" y="0"/>
                  </a:lnTo>
                  <a:lnTo>
                    <a:pt x="120939" y="159710"/>
                  </a:lnTo>
                  <a:lnTo>
                    <a:pt x="79434" y="0"/>
                  </a:lnTo>
                  <a:lnTo>
                    <a:pt x="0" y="0"/>
                  </a:lnTo>
                  <a:lnTo>
                    <a:pt x="86429" y="275186"/>
                  </a:lnTo>
                  <a:lnTo>
                    <a:pt x="151873" y="275186"/>
                  </a:lnTo>
                  <a:lnTo>
                    <a:pt x="199129" y="107870"/>
                  </a:lnTo>
                  <a:lnTo>
                    <a:pt x="245841" y="275186"/>
                  </a:lnTo>
                  <a:lnTo>
                    <a:pt x="311285" y="275186"/>
                  </a:lnTo>
                  <a:lnTo>
                    <a:pt x="398258" y="0"/>
                  </a:lnTo>
                  <a:lnTo>
                    <a:pt x="321156" y="0"/>
                  </a:lnTo>
                  <a:lnTo>
                    <a:pt x="279107" y="159710"/>
                  </a:lnTo>
                  <a:close/>
                </a:path>
              </a:pathLst>
            </a:custGeom>
            <a:solidFill>
              <a:srgbClr val="FFFFFF"/>
            </a:solidFill>
            <a:ln w="7772" cap="flat">
              <a:noFill/>
              <a:prstDash val="solid"/>
              <a:miter/>
            </a:ln>
          </p:spPr>
          <p:txBody>
            <a:bodyPr rtlCol="0" anchor="ctr"/>
            <a:lstStyle/>
            <a:p>
              <a:endParaRPr lang="en-US"/>
            </a:p>
          </p:txBody>
        </p:sp>
        <p:sp>
          <p:nvSpPr>
            <p:cNvPr id="78" name="Freeform 43">
              <a:extLst>
                <a:ext uri="{FF2B5EF4-FFF2-40B4-BE49-F238E27FC236}">
                  <a16:creationId xmlns:a16="http://schemas.microsoft.com/office/drawing/2014/main" id="{AEABECA8-91CA-A465-0F84-F4EE6B870EDA}"/>
                </a:ext>
              </a:extLst>
            </p:cNvPr>
            <p:cNvSpPr/>
            <p:nvPr/>
          </p:nvSpPr>
          <p:spPr bwMode="invGray">
            <a:xfrm>
              <a:off x="5815609" y="4358382"/>
              <a:ext cx="71272" cy="275185"/>
            </a:xfrm>
            <a:custGeom>
              <a:avLst/>
              <a:gdLst>
                <a:gd name="connsiteX0" fmla="*/ 0 w 71272"/>
                <a:gd name="connsiteY0" fmla="*/ 0 h 275185"/>
                <a:gd name="connsiteX1" fmla="*/ 71273 w 71272"/>
                <a:gd name="connsiteY1" fmla="*/ 0 h 275185"/>
                <a:gd name="connsiteX2" fmla="*/ 71273 w 71272"/>
                <a:gd name="connsiteY2" fmla="*/ 275186 h 275185"/>
                <a:gd name="connsiteX3" fmla="*/ 0 w 71272"/>
                <a:gd name="connsiteY3" fmla="*/ 275186 h 275185"/>
              </a:gdLst>
              <a:ahLst/>
              <a:cxnLst>
                <a:cxn ang="0">
                  <a:pos x="connsiteX0" y="connsiteY0"/>
                </a:cxn>
                <a:cxn ang="0">
                  <a:pos x="connsiteX1" y="connsiteY1"/>
                </a:cxn>
                <a:cxn ang="0">
                  <a:pos x="connsiteX2" y="connsiteY2"/>
                </a:cxn>
                <a:cxn ang="0">
                  <a:pos x="connsiteX3" y="connsiteY3"/>
                </a:cxn>
              </a:cxnLst>
              <a:rect l="l" t="t" r="r" b="b"/>
              <a:pathLst>
                <a:path w="71272" h="275185">
                  <a:moveTo>
                    <a:pt x="0" y="0"/>
                  </a:moveTo>
                  <a:lnTo>
                    <a:pt x="71273" y="0"/>
                  </a:lnTo>
                  <a:lnTo>
                    <a:pt x="71273" y="275186"/>
                  </a:lnTo>
                  <a:lnTo>
                    <a:pt x="0" y="275186"/>
                  </a:lnTo>
                  <a:close/>
                </a:path>
              </a:pathLst>
            </a:custGeom>
            <a:solidFill>
              <a:srgbClr val="FFFFFF"/>
            </a:solidFill>
            <a:ln w="7772" cap="flat">
              <a:noFill/>
              <a:prstDash val="solid"/>
              <a:miter/>
            </a:ln>
          </p:spPr>
          <p:txBody>
            <a:bodyPr rtlCol="0" anchor="ctr"/>
            <a:lstStyle/>
            <a:p>
              <a:endParaRPr lang="en-US"/>
            </a:p>
          </p:txBody>
        </p:sp>
        <p:sp>
          <p:nvSpPr>
            <p:cNvPr id="79" name="Freeform 44">
              <a:extLst>
                <a:ext uri="{FF2B5EF4-FFF2-40B4-BE49-F238E27FC236}">
                  <a16:creationId xmlns:a16="http://schemas.microsoft.com/office/drawing/2014/main" id="{D9AF6C57-F264-A6AF-EE70-065FE405FBC6}"/>
                </a:ext>
              </a:extLst>
            </p:cNvPr>
            <p:cNvSpPr/>
            <p:nvPr/>
          </p:nvSpPr>
          <p:spPr bwMode="invGray">
            <a:xfrm>
              <a:off x="6582279" y="4352561"/>
              <a:ext cx="240555" cy="286904"/>
            </a:xfrm>
            <a:custGeom>
              <a:avLst/>
              <a:gdLst>
                <a:gd name="connsiteX0" fmla="*/ 131975 w 240555"/>
                <a:gd name="connsiteY0" fmla="*/ 218069 h 286904"/>
                <a:gd name="connsiteX1" fmla="*/ 73605 w 240555"/>
                <a:gd name="connsiteY1" fmla="*/ 142870 h 286904"/>
                <a:gd name="connsiteX2" fmla="*/ 131431 w 240555"/>
                <a:gd name="connsiteY2" fmla="*/ 68215 h 286904"/>
                <a:gd name="connsiteX3" fmla="*/ 193300 w 240555"/>
                <a:gd name="connsiteY3" fmla="*/ 106706 h 286904"/>
                <a:gd name="connsiteX4" fmla="*/ 240012 w 240555"/>
                <a:gd name="connsiteY4" fmla="*/ 59445 h 286904"/>
                <a:gd name="connsiteX5" fmla="*/ 131975 w 240555"/>
                <a:gd name="connsiteY5" fmla="*/ 0 h 286904"/>
                <a:gd name="connsiteX6" fmla="*/ 0 w 240555"/>
                <a:gd name="connsiteY6" fmla="*/ 144034 h 286904"/>
                <a:gd name="connsiteX7" fmla="*/ 130810 w 240555"/>
                <a:gd name="connsiteY7" fmla="*/ 286904 h 286904"/>
                <a:gd name="connsiteX8" fmla="*/ 240556 w 240555"/>
                <a:gd name="connsiteY8" fmla="*/ 226295 h 286904"/>
                <a:gd name="connsiteX9" fmla="*/ 195010 w 240555"/>
                <a:gd name="connsiteY9" fmla="*/ 183147 h 286904"/>
                <a:gd name="connsiteX10" fmla="*/ 131975 w 240555"/>
                <a:gd name="connsiteY10" fmla="*/ 218146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0555" h="286904">
                  <a:moveTo>
                    <a:pt x="131975" y="218069"/>
                  </a:moveTo>
                  <a:cubicBezTo>
                    <a:pt x="91093" y="218069"/>
                    <a:pt x="73605" y="182526"/>
                    <a:pt x="73605" y="142870"/>
                  </a:cubicBezTo>
                  <a:cubicBezTo>
                    <a:pt x="73605" y="100343"/>
                    <a:pt x="93424" y="68215"/>
                    <a:pt x="131431" y="68215"/>
                  </a:cubicBezTo>
                  <a:cubicBezTo>
                    <a:pt x="159490" y="68215"/>
                    <a:pt x="176978" y="85132"/>
                    <a:pt x="193300" y="106706"/>
                  </a:cubicBezTo>
                  <a:lnTo>
                    <a:pt x="240012" y="59445"/>
                  </a:lnTo>
                  <a:cubicBezTo>
                    <a:pt x="214907" y="22117"/>
                    <a:pt x="181019" y="0"/>
                    <a:pt x="131975" y="0"/>
                  </a:cubicBezTo>
                  <a:cubicBezTo>
                    <a:pt x="46168" y="0"/>
                    <a:pt x="0" y="68215"/>
                    <a:pt x="0" y="144034"/>
                  </a:cubicBezTo>
                  <a:cubicBezTo>
                    <a:pt x="0" y="226838"/>
                    <a:pt x="55495" y="286904"/>
                    <a:pt x="130810" y="286904"/>
                  </a:cubicBezTo>
                  <a:cubicBezTo>
                    <a:pt x="185139" y="286904"/>
                    <a:pt x="217239" y="256018"/>
                    <a:pt x="240556" y="226295"/>
                  </a:cubicBezTo>
                  <a:lnTo>
                    <a:pt x="195010" y="183147"/>
                  </a:lnTo>
                  <a:cubicBezTo>
                    <a:pt x="178065" y="204721"/>
                    <a:pt x="157080" y="218146"/>
                    <a:pt x="131975" y="218146"/>
                  </a:cubicBezTo>
                  <a:close/>
                </a:path>
              </a:pathLst>
            </a:custGeom>
            <a:solidFill>
              <a:srgbClr val="FFFFFF"/>
            </a:solidFill>
            <a:ln w="7772" cap="flat">
              <a:noFill/>
              <a:prstDash val="solid"/>
              <a:miter/>
            </a:ln>
          </p:spPr>
          <p:txBody>
            <a:bodyPr rtlCol="0" anchor="ctr"/>
            <a:lstStyle/>
            <a:p>
              <a:endParaRPr lang="en-US"/>
            </a:p>
          </p:txBody>
        </p:sp>
        <p:sp>
          <p:nvSpPr>
            <p:cNvPr id="80" name="Freeform 45">
              <a:extLst>
                <a:ext uri="{FF2B5EF4-FFF2-40B4-BE49-F238E27FC236}">
                  <a16:creationId xmlns:a16="http://schemas.microsoft.com/office/drawing/2014/main" id="{763D9A8B-291B-816C-BAE2-9F2933C5DC4B}"/>
                </a:ext>
              </a:extLst>
            </p:cNvPr>
            <p:cNvSpPr/>
            <p:nvPr/>
          </p:nvSpPr>
          <p:spPr bwMode="invGray">
            <a:xfrm>
              <a:off x="7751870" y="4251132"/>
              <a:ext cx="247007" cy="388255"/>
            </a:xfrm>
            <a:custGeom>
              <a:avLst/>
              <a:gdLst>
                <a:gd name="connsiteX0" fmla="*/ 175734 w 247007"/>
                <a:gd name="connsiteY0" fmla="*/ 123547 h 388255"/>
                <a:gd name="connsiteX1" fmla="*/ 111534 w 247007"/>
                <a:gd name="connsiteY1" fmla="*/ 101429 h 388255"/>
                <a:gd name="connsiteX2" fmla="*/ 0 w 247007"/>
                <a:gd name="connsiteY2" fmla="*/ 242514 h 388255"/>
                <a:gd name="connsiteX3" fmla="*/ 113244 w 247007"/>
                <a:gd name="connsiteY3" fmla="*/ 388256 h 388255"/>
                <a:gd name="connsiteX4" fmla="*/ 175734 w 247007"/>
                <a:gd name="connsiteY4" fmla="*/ 364354 h 388255"/>
                <a:gd name="connsiteX5" fmla="*/ 175734 w 247007"/>
                <a:gd name="connsiteY5" fmla="*/ 382436 h 388255"/>
                <a:gd name="connsiteX6" fmla="*/ 247007 w 247007"/>
                <a:gd name="connsiteY6" fmla="*/ 382436 h 388255"/>
                <a:gd name="connsiteX7" fmla="*/ 247007 w 247007"/>
                <a:gd name="connsiteY7" fmla="*/ 0 h 388255"/>
                <a:gd name="connsiteX8" fmla="*/ 175734 w 247007"/>
                <a:gd name="connsiteY8" fmla="*/ 35543 h 388255"/>
                <a:gd name="connsiteX9" fmla="*/ 175734 w 247007"/>
                <a:gd name="connsiteY9" fmla="*/ 123547 h 388255"/>
                <a:gd name="connsiteX10" fmla="*/ 175734 w 247007"/>
                <a:gd name="connsiteY10" fmla="*/ 297303 h 388255"/>
                <a:gd name="connsiteX11" fmla="*/ 127856 w 247007"/>
                <a:gd name="connsiteY11" fmla="*/ 321206 h 388255"/>
                <a:gd name="connsiteX12" fmla="*/ 74693 w 247007"/>
                <a:gd name="connsiteY12" fmla="*/ 240186 h 388255"/>
                <a:gd name="connsiteX13" fmla="*/ 126069 w 247007"/>
                <a:gd name="connsiteY13" fmla="*/ 168480 h 388255"/>
                <a:gd name="connsiteX14" fmla="*/ 175734 w 247007"/>
                <a:gd name="connsiteY14" fmla="*/ 192382 h 388255"/>
                <a:gd name="connsiteX15" fmla="*/ 175734 w 247007"/>
                <a:gd name="connsiteY15" fmla="*/ 297303 h 38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7007" h="388255">
                  <a:moveTo>
                    <a:pt x="175734" y="123547"/>
                  </a:moveTo>
                  <a:cubicBezTo>
                    <a:pt x="158246" y="107793"/>
                    <a:pt x="135473" y="101429"/>
                    <a:pt x="111534" y="101429"/>
                  </a:cubicBezTo>
                  <a:cubicBezTo>
                    <a:pt x="39717" y="101429"/>
                    <a:pt x="0" y="159167"/>
                    <a:pt x="0" y="242514"/>
                  </a:cubicBezTo>
                  <a:cubicBezTo>
                    <a:pt x="0" y="319498"/>
                    <a:pt x="33888" y="388256"/>
                    <a:pt x="113244" y="388256"/>
                  </a:cubicBezTo>
                  <a:cubicBezTo>
                    <a:pt x="138349" y="388256"/>
                    <a:pt x="152339" y="381271"/>
                    <a:pt x="175734" y="364354"/>
                  </a:cubicBezTo>
                  <a:lnTo>
                    <a:pt x="175734" y="382436"/>
                  </a:lnTo>
                  <a:lnTo>
                    <a:pt x="247007" y="382436"/>
                  </a:lnTo>
                  <a:lnTo>
                    <a:pt x="247007" y="0"/>
                  </a:lnTo>
                  <a:lnTo>
                    <a:pt x="175734" y="35543"/>
                  </a:lnTo>
                  <a:lnTo>
                    <a:pt x="175734" y="123547"/>
                  </a:lnTo>
                  <a:close/>
                  <a:moveTo>
                    <a:pt x="175734" y="297303"/>
                  </a:moveTo>
                  <a:cubicBezTo>
                    <a:pt x="161744" y="312436"/>
                    <a:pt x="147676" y="321206"/>
                    <a:pt x="127856" y="321206"/>
                  </a:cubicBezTo>
                  <a:cubicBezTo>
                    <a:pt x="87595" y="321206"/>
                    <a:pt x="74693" y="284499"/>
                    <a:pt x="74693" y="240186"/>
                  </a:cubicBezTo>
                  <a:cubicBezTo>
                    <a:pt x="74693" y="201151"/>
                    <a:pt x="84642" y="168480"/>
                    <a:pt x="126069" y="168480"/>
                  </a:cubicBezTo>
                  <a:cubicBezTo>
                    <a:pt x="145888" y="168480"/>
                    <a:pt x="160500" y="176085"/>
                    <a:pt x="175734" y="192382"/>
                  </a:cubicBezTo>
                  <a:lnTo>
                    <a:pt x="175734" y="297303"/>
                  </a:lnTo>
                  <a:close/>
                </a:path>
              </a:pathLst>
            </a:custGeom>
            <a:solidFill>
              <a:srgbClr val="FFFFFF"/>
            </a:solidFill>
            <a:ln w="7772" cap="flat">
              <a:noFill/>
              <a:prstDash val="solid"/>
              <a:miter/>
            </a:ln>
          </p:spPr>
          <p:txBody>
            <a:bodyPr rtlCol="0" anchor="ctr"/>
            <a:lstStyle/>
            <a:p>
              <a:endParaRPr lang="en-US"/>
            </a:p>
          </p:txBody>
        </p:sp>
        <p:sp>
          <p:nvSpPr>
            <p:cNvPr id="81" name="Freeform 46">
              <a:extLst>
                <a:ext uri="{FF2B5EF4-FFF2-40B4-BE49-F238E27FC236}">
                  <a16:creationId xmlns:a16="http://schemas.microsoft.com/office/drawing/2014/main" id="{447229EB-34AB-221B-6A6B-E5AA86D5DA21}"/>
                </a:ext>
              </a:extLst>
            </p:cNvPr>
            <p:cNvSpPr/>
            <p:nvPr/>
          </p:nvSpPr>
          <p:spPr bwMode="invGray">
            <a:xfrm>
              <a:off x="8325162" y="4352561"/>
              <a:ext cx="237757" cy="281083"/>
            </a:xfrm>
            <a:custGeom>
              <a:avLst/>
              <a:gdLst>
                <a:gd name="connsiteX0" fmla="*/ 138426 w 237757"/>
                <a:gd name="connsiteY0" fmla="*/ 0 h 281083"/>
                <a:gd name="connsiteX1" fmla="*/ 71273 w 237757"/>
                <a:gd name="connsiteY1" fmla="*/ 24523 h 281083"/>
                <a:gd name="connsiteX2" fmla="*/ 71273 w 237757"/>
                <a:gd name="connsiteY2" fmla="*/ 5898 h 281083"/>
                <a:gd name="connsiteX3" fmla="*/ 0 w 237757"/>
                <a:gd name="connsiteY3" fmla="*/ 5898 h 281083"/>
                <a:gd name="connsiteX4" fmla="*/ 0 w 237757"/>
                <a:gd name="connsiteY4" fmla="*/ 281084 h 281083"/>
                <a:gd name="connsiteX5" fmla="*/ 71273 w 237757"/>
                <a:gd name="connsiteY5" fmla="*/ 281084 h 281083"/>
                <a:gd name="connsiteX6" fmla="*/ 71273 w 237757"/>
                <a:gd name="connsiteY6" fmla="*/ 129522 h 281083"/>
                <a:gd name="connsiteX7" fmla="*/ 119151 w 237757"/>
                <a:gd name="connsiteY7" fmla="*/ 67128 h 281083"/>
                <a:gd name="connsiteX8" fmla="*/ 166485 w 237757"/>
                <a:gd name="connsiteY8" fmla="*/ 131229 h 281083"/>
                <a:gd name="connsiteX9" fmla="*/ 166485 w 237757"/>
                <a:gd name="connsiteY9" fmla="*/ 281084 h 281083"/>
                <a:gd name="connsiteX10" fmla="*/ 237758 w 237757"/>
                <a:gd name="connsiteY10" fmla="*/ 281084 h 281083"/>
                <a:gd name="connsiteX11" fmla="*/ 237758 w 237757"/>
                <a:gd name="connsiteY11" fmla="*/ 125409 h 281083"/>
                <a:gd name="connsiteX12" fmla="*/ 138504 w 237757"/>
                <a:gd name="connsiteY12" fmla="*/ 78 h 28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7757" h="281083">
                  <a:moveTo>
                    <a:pt x="138426" y="0"/>
                  </a:moveTo>
                  <a:cubicBezTo>
                    <a:pt x="107492" y="0"/>
                    <a:pt x="85885" y="9933"/>
                    <a:pt x="71273" y="24523"/>
                  </a:cubicBezTo>
                  <a:lnTo>
                    <a:pt x="71273" y="5898"/>
                  </a:lnTo>
                  <a:lnTo>
                    <a:pt x="0" y="5898"/>
                  </a:lnTo>
                  <a:lnTo>
                    <a:pt x="0" y="281084"/>
                  </a:lnTo>
                  <a:lnTo>
                    <a:pt x="71273" y="281084"/>
                  </a:lnTo>
                  <a:lnTo>
                    <a:pt x="71273" y="129522"/>
                  </a:lnTo>
                  <a:cubicBezTo>
                    <a:pt x="71273" y="88702"/>
                    <a:pt x="82931" y="67128"/>
                    <a:pt x="119151" y="67128"/>
                  </a:cubicBezTo>
                  <a:cubicBezTo>
                    <a:pt x="157702" y="67128"/>
                    <a:pt x="166485" y="92815"/>
                    <a:pt x="166485" y="131229"/>
                  </a:cubicBezTo>
                  <a:lnTo>
                    <a:pt x="166485" y="281084"/>
                  </a:lnTo>
                  <a:lnTo>
                    <a:pt x="237758" y="281084"/>
                  </a:lnTo>
                  <a:lnTo>
                    <a:pt x="237758" y="125409"/>
                  </a:lnTo>
                  <a:cubicBezTo>
                    <a:pt x="237758" y="57816"/>
                    <a:pt x="213197" y="78"/>
                    <a:pt x="138504" y="78"/>
                  </a:cubicBezTo>
                  <a:close/>
                </a:path>
              </a:pathLst>
            </a:custGeom>
            <a:solidFill>
              <a:srgbClr val="FFFFFF"/>
            </a:solidFill>
            <a:ln w="7772" cap="flat">
              <a:noFill/>
              <a:prstDash val="solid"/>
              <a:miter/>
            </a:ln>
          </p:spPr>
          <p:txBody>
            <a:bodyPr rtlCol="0" anchor="ctr"/>
            <a:lstStyle/>
            <a:p>
              <a:endParaRPr lang="en-US"/>
            </a:p>
          </p:txBody>
        </p:sp>
        <p:sp>
          <p:nvSpPr>
            <p:cNvPr id="82" name="Freeform 47">
              <a:extLst>
                <a:ext uri="{FF2B5EF4-FFF2-40B4-BE49-F238E27FC236}">
                  <a16:creationId xmlns:a16="http://schemas.microsoft.com/office/drawing/2014/main" id="{96DC4DCD-18CC-3208-73E9-0CB399D808D5}"/>
                </a:ext>
              </a:extLst>
            </p:cNvPr>
            <p:cNvSpPr/>
            <p:nvPr/>
          </p:nvSpPr>
          <p:spPr bwMode="invGray">
            <a:xfrm>
              <a:off x="8041469" y="4352561"/>
              <a:ext cx="238846" cy="286904"/>
            </a:xfrm>
            <a:custGeom>
              <a:avLst/>
              <a:gdLst>
                <a:gd name="connsiteX0" fmla="*/ 122027 w 238846"/>
                <a:gd name="connsiteY0" fmla="*/ 0 h 286904"/>
                <a:gd name="connsiteX1" fmla="*/ 0 w 238846"/>
                <a:gd name="connsiteY1" fmla="*/ 144034 h 286904"/>
                <a:gd name="connsiteX2" fmla="*/ 126690 w 238846"/>
                <a:gd name="connsiteY2" fmla="*/ 286904 h 286904"/>
                <a:gd name="connsiteX3" fmla="*/ 226566 w 238846"/>
                <a:gd name="connsiteY3" fmla="*/ 243213 h 286904"/>
                <a:gd name="connsiteX4" fmla="*/ 177522 w 238846"/>
                <a:gd name="connsiteY4" fmla="*/ 201850 h 286904"/>
                <a:gd name="connsiteX5" fmla="*/ 129644 w 238846"/>
                <a:gd name="connsiteY5" fmla="*/ 221095 h 286904"/>
                <a:gd name="connsiteX6" fmla="*/ 70651 w 238846"/>
                <a:gd name="connsiteY6" fmla="*/ 166850 h 286904"/>
                <a:gd name="connsiteX7" fmla="*/ 237680 w 238846"/>
                <a:gd name="connsiteY7" fmla="*/ 166850 h 286904"/>
                <a:gd name="connsiteX8" fmla="*/ 238846 w 238846"/>
                <a:gd name="connsiteY8" fmla="*/ 142948 h 286904"/>
                <a:gd name="connsiteX9" fmla="*/ 122027 w 238846"/>
                <a:gd name="connsiteY9" fmla="*/ 78 h 286904"/>
                <a:gd name="connsiteX10" fmla="*/ 71817 w 238846"/>
                <a:gd name="connsiteY10" fmla="*/ 113070 h 286904"/>
                <a:gd name="connsiteX11" fmla="*/ 119695 w 238846"/>
                <a:gd name="connsiteY11" fmla="*/ 61152 h 286904"/>
                <a:gd name="connsiteX12" fmla="*/ 169905 w 238846"/>
                <a:gd name="connsiteY12" fmla="*/ 113070 h 286904"/>
                <a:gd name="connsiteX13" fmla="*/ 71817 w 238846"/>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6" h="286904">
                  <a:moveTo>
                    <a:pt x="122027" y="0"/>
                  </a:moveTo>
                  <a:cubicBezTo>
                    <a:pt x="54329" y="0"/>
                    <a:pt x="0" y="55953"/>
                    <a:pt x="0" y="144034"/>
                  </a:cubicBezTo>
                  <a:cubicBezTo>
                    <a:pt x="0" y="225053"/>
                    <a:pt x="46090" y="286904"/>
                    <a:pt x="126690" y="286904"/>
                  </a:cubicBezTo>
                  <a:cubicBezTo>
                    <a:pt x="161744" y="286904"/>
                    <a:pt x="200839" y="275264"/>
                    <a:pt x="226566" y="243213"/>
                  </a:cubicBezTo>
                  <a:lnTo>
                    <a:pt x="177522" y="201850"/>
                  </a:lnTo>
                  <a:cubicBezTo>
                    <a:pt x="163532" y="215818"/>
                    <a:pt x="147131" y="221095"/>
                    <a:pt x="129644" y="221095"/>
                  </a:cubicBezTo>
                  <a:cubicBezTo>
                    <a:pt x="99876" y="221095"/>
                    <a:pt x="73605" y="205342"/>
                    <a:pt x="70651" y="166850"/>
                  </a:cubicBezTo>
                  <a:lnTo>
                    <a:pt x="237680" y="166850"/>
                  </a:lnTo>
                  <a:cubicBezTo>
                    <a:pt x="238302" y="162737"/>
                    <a:pt x="238846" y="151717"/>
                    <a:pt x="238846" y="142948"/>
                  </a:cubicBezTo>
                  <a:cubicBezTo>
                    <a:pt x="238846" y="63636"/>
                    <a:pt x="194466"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endParaRPr lang="en-US"/>
            </a:p>
          </p:txBody>
        </p:sp>
        <p:sp>
          <p:nvSpPr>
            <p:cNvPr id="83" name="Freeform 48">
              <a:extLst>
                <a:ext uri="{FF2B5EF4-FFF2-40B4-BE49-F238E27FC236}">
                  <a16:creationId xmlns:a16="http://schemas.microsoft.com/office/drawing/2014/main" id="{A6B593FB-601E-08DD-51F0-252671F70137}"/>
                </a:ext>
              </a:extLst>
            </p:cNvPr>
            <p:cNvSpPr/>
            <p:nvPr/>
          </p:nvSpPr>
          <p:spPr bwMode="invGray">
            <a:xfrm>
              <a:off x="8867054" y="4352561"/>
              <a:ext cx="238845" cy="286904"/>
            </a:xfrm>
            <a:custGeom>
              <a:avLst/>
              <a:gdLst>
                <a:gd name="connsiteX0" fmla="*/ 122026 w 238845"/>
                <a:gd name="connsiteY0" fmla="*/ 0 h 286904"/>
                <a:gd name="connsiteX1" fmla="*/ 0 w 238845"/>
                <a:gd name="connsiteY1" fmla="*/ 144034 h 286904"/>
                <a:gd name="connsiteX2" fmla="*/ 126690 w 238845"/>
                <a:gd name="connsiteY2" fmla="*/ 286904 h 286904"/>
                <a:gd name="connsiteX3" fmla="*/ 226565 w 238845"/>
                <a:gd name="connsiteY3" fmla="*/ 243213 h 286904"/>
                <a:gd name="connsiteX4" fmla="*/ 177521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6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6" y="0"/>
                  </a:moveTo>
                  <a:cubicBezTo>
                    <a:pt x="54329" y="0"/>
                    <a:pt x="0" y="55953"/>
                    <a:pt x="0" y="144034"/>
                  </a:cubicBezTo>
                  <a:cubicBezTo>
                    <a:pt x="0" y="225053"/>
                    <a:pt x="46090" y="286904"/>
                    <a:pt x="126690" y="286904"/>
                  </a:cubicBezTo>
                  <a:cubicBezTo>
                    <a:pt x="161744" y="286904"/>
                    <a:pt x="200839" y="275264"/>
                    <a:pt x="226565" y="243213"/>
                  </a:cubicBezTo>
                  <a:lnTo>
                    <a:pt x="177521" y="201850"/>
                  </a:lnTo>
                  <a:cubicBezTo>
                    <a:pt x="163531" y="215818"/>
                    <a:pt x="147131" y="221095"/>
                    <a:pt x="129644" y="221095"/>
                  </a:cubicBezTo>
                  <a:cubicBezTo>
                    <a:pt x="99875" y="221095"/>
                    <a:pt x="73604" y="205342"/>
                    <a:pt x="70651" y="166850"/>
                  </a:cubicBezTo>
                  <a:lnTo>
                    <a:pt x="237680" y="166850"/>
                  </a:lnTo>
                  <a:cubicBezTo>
                    <a:pt x="238302" y="162737"/>
                    <a:pt x="238846" y="151717"/>
                    <a:pt x="238846" y="142948"/>
                  </a:cubicBezTo>
                  <a:cubicBezTo>
                    <a:pt x="238846" y="63636"/>
                    <a:pt x="194465" y="78"/>
                    <a:pt x="122026" y="78"/>
                  </a:cubicBezTo>
                  <a:close/>
                  <a:moveTo>
                    <a:pt x="71817" y="113070"/>
                  </a:moveTo>
                  <a:cubicBezTo>
                    <a:pt x="73604"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endParaRPr lang="en-US"/>
            </a:p>
          </p:txBody>
        </p:sp>
        <p:sp>
          <p:nvSpPr>
            <p:cNvPr id="84" name="Freeform 49">
              <a:extLst>
                <a:ext uri="{FF2B5EF4-FFF2-40B4-BE49-F238E27FC236}">
                  <a16:creationId xmlns:a16="http://schemas.microsoft.com/office/drawing/2014/main" id="{CF35BA5B-8E79-AF0B-08EF-D29735F613C7}"/>
                </a:ext>
              </a:extLst>
            </p:cNvPr>
            <p:cNvSpPr/>
            <p:nvPr/>
          </p:nvSpPr>
          <p:spPr bwMode="invGray">
            <a:xfrm>
              <a:off x="4999974" y="4352561"/>
              <a:ext cx="238845" cy="286904"/>
            </a:xfrm>
            <a:custGeom>
              <a:avLst/>
              <a:gdLst>
                <a:gd name="connsiteX0" fmla="*/ 122027 w 238845"/>
                <a:gd name="connsiteY0" fmla="*/ 0 h 286904"/>
                <a:gd name="connsiteX1" fmla="*/ 0 w 238845"/>
                <a:gd name="connsiteY1" fmla="*/ 144034 h 286904"/>
                <a:gd name="connsiteX2" fmla="*/ 126690 w 238845"/>
                <a:gd name="connsiteY2" fmla="*/ 286904 h 286904"/>
                <a:gd name="connsiteX3" fmla="*/ 226565 w 238845"/>
                <a:gd name="connsiteY3" fmla="*/ 243213 h 286904"/>
                <a:gd name="connsiteX4" fmla="*/ 177522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7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7" y="0"/>
                  </a:moveTo>
                  <a:cubicBezTo>
                    <a:pt x="54329" y="0"/>
                    <a:pt x="0" y="55953"/>
                    <a:pt x="0" y="144034"/>
                  </a:cubicBezTo>
                  <a:cubicBezTo>
                    <a:pt x="0" y="225053"/>
                    <a:pt x="46090" y="286904"/>
                    <a:pt x="126690" y="286904"/>
                  </a:cubicBezTo>
                  <a:cubicBezTo>
                    <a:pt x="161744" y="286904"/>
                    <a:pt x="200839" y="275264"/>
                    <a:pt x="226565" y="243213"/>
                  </a:cubicBezTo>
                  <a:lnTo>
                    <a:pt x="177522" y="201850"/>
                  </a:lnTo>
                  <a:cubicBezTo>
                    <a:pt x="163531" y="215818"/>
                    <a:pt x="147131" y="221095"/>
                    <a:pt x="129644" y="221095"/>
                  </a:cubicBezTo>
                  <a:cubicBezTo>
                    <a:pt x="99875" y="221095"/>
                    <a:pt x="73605" y="205342"/>
                    <a:pt x="70651" y="166850"/>
                  </a:cubicBezTo>
                  <a:lnTo>
                    <a:pt x="237680" y="166850"/>
                  </a:lnTo>
                  <a:cubicBezTo>
                    <a:pt x="238302" y="162737"/>
                    <a:pt x="238846" y="151717"/>
                    <a:pt x="238846" y="142948"/>
                  </a:cubicBezTo>
                  <a:cubicBezTo>
                    <a:pt x="238846" y="63636"/>
                    <a:pt x="194465"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endParaRPr lang="en-US"/>
            </a:p>
          </p:txBody>
        </p:sp>
        <p:sp>
          <p:nvSpPr>
            <p:cNvPr id="85" name="Freeform 50">
              <a:extLst>
                <a:ext uri="{FF2B5EF4-FFF2-40B4-BE49-F238E27FC236}">
                  <a16:creationId xmlns:a16="http://schemas.microsoft.com/office/drawing/2014/main" id="{30D8CD19-A19D-5902-8B6B-E16E29060132}"/>
                </a:ext>
              </a:extLst>
            </p:cNvPr>
            <p:cNvSpPr/>
            <p:nvPr/>
          </p:nvSpPr>
          <p:spPr bwMode="invGray">
            <a:xfrm>
              <a:off x="3424508" y="4352561"/>
              <a:ext cx="238845" cy="286904"/>
            </a:xfrm>
            <a:custGeom>
              <a:avLst/>
              <a:gdLst>
                <a:gd name="connsiteX0" fmla="*/ 122027 w 238845"/>
                <a:gd name="connsiteY0" fmla="*/ 0 h 286904"/>
                <a:gd name="connsiteX1" fmla="*/ 0 w 238845"/>
                <a:gd name="connsiteY1" fmla="*/ 144034 h 286904"/>
                <a:gd name="connsiteX2" fmla="*/ 126690 w 238845"/>
                <a:gd name="connsiteY2" fmla="*/ 286904 h 286904"/>
                <a:gd name="connsiteX3" fmla="*/ 226565 w 238845"/>
                <a:gd name="connsiteY3" fmla="*/ 243213 h 286904"/>
                <a:gd name="connsiteX4" fmla="*/ 177522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7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7" y="0"/>
                  </a:moveTo>
                  <a:cubicBezTo>
                    <a:pt x="54329" y="0"/>
                    <a:pt x="0" y="55953"/>
                    <a:pt x="0" y="144034"/>
                  </a:cubicBezTo>
                  <a:cubicBezTo>
                    <a:pt x="0" y="225053"/>
                    <a:pt x="46090" y="286904"/>
                    <a:pt x="126690" y="286904"/>
                  </a:cubicBezTo>
                  <a:cubicBezTo>
                    <a:pt x="161744" y="286904"/>
                    <a:pt x="200839" y="275264"/>
                    <a:pt x="226565" y="243213"/>
                  </a:cubicBezTo>
                  <a:lnTo>
                    <a:pt x="177522" y="201850"/>
                  </a:lnTo>
                  <a:cubicBezTo>
                    <a:pt x="163531" y="215818"/>
                    <a:pt x="147131" y="221095"/>
                    <a:pt x="129644" y="221095"/>
                  </a:cubicBezTo>
                  <a:cubicBezTo>
                    <a:pt x="99875" y="221095"/>
                    <a:pt x="73605" y="205342"/>
                    <a:pt x="70651" y="166850"/>
                  </a:cubicBezTo>
                  <a:lnTo>
                    <a:pt x="237680" y="166850"/>
                  </a:lnTo>
                  <a:cubicBezTo>
                    <a:pt x="238302" y="162737"/>
                    <a:pt x="238846" y="151717"/>
                    <a:pt x="238846" y="142948"/>
                  </a:cubicBezTo>
                  <a:cubicBezTo>
                    <a:pt x="238846" y="63636"/>
                    <a:pt x="194465"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endParaRPr lang="en-US"/>
            </a:p>
          </p:txBody>
        </p:sp>
        <p:sp>
          <p:nvSpPr>
            <p:cNvPr id="86" name="Freeform 51">
              <a:extLst>
                <a:ext uri="{FF2B5EF4-FFF2-40B4-BE49-F238E27FC236}">
                  <a16:creationId xmlns:a16="http://schemas.microsoft.com/office/drawing/2014/main" id="{0B1386DC-02C9-F4FF-C998-B8B68CBAD3B4}"/>
                </a:ext>
              </a:extLst>
            </p:cNvPr>
            <p:cNvSpPr/>
            <p:nvPr/>
          </p:nvSpPr>
          <p:spPr bwMode="invGray">
            <a:xfrm>
              <a:off x="2512417" y="4352561"/>
              <a:ext cx="238845" cy="286904"/>
            </a:xfrm>
            <a:custGeom>
              <a:avLst/>
              <a:gdLst>
                <a:gd name="connsiteX0" fmla="*/ 122027 w 238845"/>
                <a:gd name="connsiteY0" fmla="*/ 0 h 286904"/>
                <a:gd name="connsiteX1" fmla="*/ 0 w 238845"/>
                <a:gd name="connsiteY1" fmla="*/ 144034 h 286904"/>
                <a:gd name="connsiteX2" fmla="*/ 126690 w 238845"/>
                <a:gd name="connsiteY2" fmla="*/ 286904 h 286904"/>
                <a:gd name="connsiteX3" fmla="*/ 226566 w 238845"/>
                <a:gd name="connsiteY3" fmla="*/ 243213 h 286904"/>
                <a:gd name="connsiteX4" fmla="*/ 177522 w 238845"/>
                <a:gd name="connsiteY4" fmla="*/ 201850 h 286904"/>
                <a:gd name="connsiteX5" fmla="*/ 129644 w 238845"/>
                <a:gd name="connsiteY5" fmla="*/ 221095 h 286904"/>
                <a:gd name="connsiteX6" fmla="*/ 70651 w 238845"/>
                <a:gd name="connsiteY6" fmla="*/ 166850 h 286904"/>
                <a:gd name="connsiteX7" fmla="*/ 237680 w 238845"/>
                <a:gd name="connsiteY7" fmla="*/ 166850 h 286904"/>
                <a:gd name="connsiteX8" fmla="*/ 238846 w 238845"/>
                <a:gd name="connsiteY8" fmla="*/ 142948 h 286904"/>
                <a:gd name="connsiteX9" fmla="*/ 122027 w 238845"/>
                <a:gd name="connsiteY9" fmla="*/ 78 h 286904"/>
                <a:gd name="connsiteX10" fmla="*/ 71817 w 238845"/>
                <a:gd name="connsiteY10" fmla="*/ 113070 h 286904"/>
                <a:gd name="connsiteX11" fmla="*/ 119695 w 238845"/>
                <a:gd name="connsiteY11" fmla="*/ 61152 h 286904"/>
                <a:gd name="connsiteX12" fmla="*/ 169905 w 238845"/>
                <a:gd name="connsiteY12" fmla="*/ 113070 h 286904"/>
                <a:gd name="connsiteX13" fmla="*/ 71817 w 238845"/>
                <a:gd name="connsiteY13" fmla="*/ 113070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845" h="286904">
                  <a:moveTo>
                    <a:pt x="122027" y="0"/>
                  </a:moveTo>
                  <a:cubicBezTo>
                    <a:pt x="54329" y="0"/>
                    <a:pt x="0" y="55953"/>
                    <a:pt x="0" y="144034"/>
                  </a:cubicBezTo>
                  <a:cubicBezTo>
                    <a:pt x="0" y="225053"/>
                    <a:pt x="46090" y="286904"/>
                    <a:pt x="126690" y="286904"/>
                  </a:cubicBezTo>
                  <a:cubicBezTo>
                    <a:pt x="161744" y="286904"/>
                    <a:pt x="200839" y="275264"/>
                    <a:pt x="226566" y="243213"/>
                  </a:cubicBezTo>
                  <a:lnTo>
                    <a:pt x="177522" y="201850"/>
                  </a:lnTo>
                  <a:cubicBezTo>
                    <a:pt x="163531" y="215818"/>
                    <a:pt x="147132" y="221095"/>
                    <a:pt x="129644" y="221095"/>
                  </a:cubicBezTo>
                  <a:cubicBezTo>
                    <a:pt x="99875" y="221095"/>
                    <a:pt x="73605" y="205342"/>
                    <a:pt x="70651" y="166850"/>
                  </a:cubicBezTo>
                  <a:lnTo>
                    <a:pt x="237680" y="166850"/>
                  </a:lnTo>
                  <a:cubicBezTo>
                    <a:pt x="238302" y="162737"/>
                    <a:pt x="238846" y="151717"/>
                    <a:pt x="238846" y="142948"/>
                  </a:cubicBezTo>
                  <a:cubicBezTo>
                    <a:pt x="238846" y="63636"/>
                    <a:pt x="194465" y="78"/>
                    <a:pt x="122027" y="78"/>
                  </a:cubicBezTo>
                  <a:close/>
                  <a:moveTo>
                    <a:pt x="71817" y="113070"/>
                  </a:moveTo>
                  <a:cubicBezTo>
                    <a:pt x="73605" y="90332"/>
                    <a:pt x="86429" y="61152"/>
                    <a:pt x="119695" y="61152"/>
                  </a:cubicBezTo>
                  <a:cubicBezTo>
                    <a:pt x="147753" y="61152"/>
                    <a:pt x="167573" y="82106"/>
                    <a:pt x="169905" y="113070"/>
                  </a:cubicBezTo>
                  <a:lnTo>
                    <a:pt x="71817" y="113070"/>
                  </a:lnTo>
                  <a:close/>
                </a:path>
              </a:pathLst>
            </a:custGeom>
            <a:solidFill>
              <a:srgbClr val="FFFFFF"/>
            </a:solidFill>
            <a:ln w="7772" cap="flat">
              <a:noFill/>
              <a:prstDash val="solid"/>
              <a:miter/>
            </a:ln>
          </p:spPr>
          <p:txBody>
            <a:bodyPr rtlCol="0" anchor="ctr"/>
            <a:lstStyle/>
            <a:p>
              <a:endParaRPr lang="en-US"/>
            </a:p>
          </p:txBody>
        </p:sp>
        <p:sp>
          <p:nvSpPr>
            <p:cNvPr id="87" name="Freeform 52">
              <a:extLst>
                <a:ext uri="{FF2B5EF4-FFF2-40B4-BE49-F238E27FC236}">
                  <a16:creationId xmlns:a16="http://schemas.microsoft.com/office/drawing/2014/main" id="{C983CA6D-CE27-F856-3B7C-1651CCEA818C}"/>
                </a:ext>
              </a:extLst>
            </p:cNvPr>
            <p:cNvSpPr/>
            <p:nvPr/>
          </p:nvSpPr>
          <p:spPr bwMode="invGray">
            <a:xfrm>
              <a:off x="4536739" y="4358071"/>
              <a:ext cx="229985" cy="281006"/>
            </a:xfrm>
            <a:custGeom>
              <a:avLst/>
              <a:gdLst>
                <a:gd name="connsiteX0" fmla="*/ 229907 w 229985"/>
                <a:gd name="connsiteY0" fmla="*/ 275186 h 281006"/>
                <a:gd name="connsiteX1" fmla="*/ 229907 w 229985"/>
                <a:gd name="connsiteY1" fmla="*/ 0 h 281006"/>
                <a:gd name="connsiteX2" fmla="*/ 161044 w 229985"/>
                <a:gd name="connsiteY2" fmla="*/ 0 h 281006"/>
                <a:gd name="connsiteX3" fmla="*/ 161044 w 229985"/>
                <a:gd name="connsiteY3" fmla="*/ 152183 h 281006"/>
                <a:gd name="connsiteX4" fmla="*/ 114954 w 229985"/>
                <a:gd name="connsiteY4" fmla="*/ 215120 h 281006"/>
                <a:gd name="connsiteX5" fmla="*/ 68863 w 229985"/>
                <a:gd name="connsiteY5" fmla="*/ 149854 h 281006"/>
                <a:gd name="connsiteX6" fmla="*/ 68863 w 229985"/>
                <a:gd name="connsiteY6" fmla="*/ 0 h 281006"/>
                <a:gd name="connsiteX7" fmla="*/ 0 w 229985"/>
                <a:gd name="connsiteY7" fmla="*/ 0 h 281006"/>
                <a:gd name="connsiteX8" fmla="*/ 0 w 229985"/>
                <a:gd name="connsiteY8" fmla="*/ 155675 h 281006"/>
                <a:gd name="connsiteX9" fmla="*/ 98088 w 229985"/>
                <a:gd name="connsiteY9" fmla="*/ 281006 h 281006"/>
                <a:gd name="connsiteX10" fmla="*/ 162288 w 229985"/>
                <a:gd name="connsiteY10" fmla="*/ 255940 h 281006"/>
                <a:gd name="connsiteX11" fmla="*/ 162288 w 229985"/>
                <a:gd name="connsiteY11" fmla="*/ 275186 h 281006"/>
                <a:gd name="connsiteX12" fmla="*/ 229985 w 229985"/>
                <a:gd name="connsiteY12" fmla="*/ 275186 h 28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9985" h="281006">
                  <a:moveTo>
                    <a:pt x="229907" y="275186"/>
                  </a:moveTo>
                  <a:lnTo>
                    <a:pt x="229907" y="0"/>
                  </a:lnTo>
                  <a:lnTo>
                    <a:pt x="161044" y="0"/>
                  </a:lnTo>
                  <a:lnTo>
                    <a:pt x="161044" y="152183"/>
                  </a:lnTo>
                  <a:cubicBezTo>
                    <a:pt x="161044" y="186018"/>
                    <a:pt x="153427" y="215120"/>
                    <a:pt x="114954" y="215120"/>
                  </a:cubicBezTo>
                  <a:cubicBezTo>
                    <a:pt x="76480" y="215120"/>
                    <a:pt x="68863" y="187105"/>
                    <a:pt x="68863" y="149854"/>
                  </a:cubicBezTo>
                  <a:lnTo>
                    <a:pt x="68863" y="0"/>
                  </a:lnTo>
                  <a:lnTo>
                    <a:pt x="0" y="0"/>
                  </a:lnTo>
                  <a:lnTo>
                    <a:pt x="0" y="155675"/>
                  </a:lnTo>
                  <a:cubicBezTo>
                    <a:pt x="0" y="229710"/>
                    <a:pt x="26892" y="281006"/>
                    <a:pt x="98088" y="281006"/>
                  </a:cubicBezTo>
                  <a:cubicBezTo>
                    <a:pt x="122648" y="281006"/>
                    <a:pt x="147131" y="272858"/>
                    <a:pt x="162288" y="255940"/>
                  </a:cubicBezTo>
                  <a:lnTo>
                    <a:pt x="162288" y="275186"/>
                  </a:lnTo>
                  <a:lnTo>
                    <a:pt x="229985" y="275186"/>
                  </a:lnTo>
                  <a:close/>
                </a:path>
              </a:pathLst>
            </a:custGeom>
            <a:solidFill>
              <a:srgbClr val="FFFFFF"/>
            </a:solidFill>
            <a:ln w="7772" cap="flat">
              <a:noFill/>
              <a:prstDash val="solid"/>
              <a:miter/>
            </a:ln>
          </p:spPr>
          <p:txBody>
            <a:bodyPr rtlCol="0" anchor="ctr"/>
            <a:lstStyle/>
            <a:p>
              <a:endParaRPr lang="en-US"/>
            </a:p>
          </p:txBody>
        </p:sp>
        <p:sp>
          <p:nvSpPr>
            <p:cNvPr id="88" name="Freeform 53">
              <a:extLst>
                <a:ext uri="{FF2B5EF4-FFF2-40B4-BE49-F238E27FC236}">
                  <a16:creationId xmlns:a16="http://schemas.microsoft.com/office/drawing/2014/main" id="{AE6290F4-F0D7-7ADE-473A-C5656D75B5CF}"/>
                </a:ext>
              </a:extLst>
            </p:cNvPr>
            <p:cNvSpPr/>
            <p:nvPr/>
          </p:nvSpPr>
          <p:spPr bwMode="invGray">
            <a:xfrm>
              <a:off x="4026014" y="4358071"/>
              <a:ext cx="229985" cy="281006"/>
            </a:xfrm>
            <a:custGeom>
              <a:avLst/>
              <a:gdLst>
                <a:gd name="connsiteX0" fmla="*/ 229907 w 229985"/>
                <a:gd name="connsiteY0" fmla="*/ 275186 h 281006"/>
                <a:gd name="connsiteX1" fmla="*/ 229907 w 229985"/>
                <a:gd name="connsiteY1" fmla="*/ 0 h 281006"/>
                <a:gd name="connsiteX2" fmla="*/ 161044 w 229985"/>
                <a:gd name="connsiteY2" fmla="*/ 0 h 281006"/>
                <a:gd name="connsiteX3" fmla="*/ 161044 w 229985"/>
                <a:gd name="connsiteY3" fmla="*/ 152183 h 281006"/>
                <a:gd name="connsiteX4" fmla="*/ 114954 w 229985"/>
                <a:gd name="connsiteY4" fmla="*/ 215120 h 281006"/>
                <a:gd name="connsiteX5" fmla="*/ 68863 w 229985"/>
                <a:gd name="connsiteY5" fmla="*/ 149854 h 281006"/>
                <a:gd name="connsiteX6" fmla="*/ 68863 w 229985"/>
                <a:gd name="connsiteY6" fmla="*/ 0 h 281006"/>
                <a:gd name="connsiteX7" fmla="*/ 0 w 229985"/>
                <a:gd name="connsiteY7" fmla="*/ 0 h 281006"/>
                <a:gd name="connsiteX8" fmla="*/ 0 w 229985"/>
                <a:gd name="connsiteY8" fmla="*/ 155675 h 281006"/>
                <a:gd name="connsiteX9" fmla="*/ 98088 w 229985"/>
                <a:gd name="connsiteY9" fmla="*/ 281006 h 281006"/>
                <a:gd name="connsiteX10" fmla="*/ 162288 w 229985"/>
                <a:gd name="connsiteY10" fmla="*/ 255940 h 281006"/>
                <a:gd name="connsiteX11" fmla="*/ 162288 w 229985"/>
                <a:gd name="connsiteY11" fmla="*/ 275186 h 281006"/>
                <a:gd name="connsiteX12" fmla="*/ 229985 w 229985"/>
                <a:gd name="connsiteY12" fmla="*/ 275186 h 28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9985" h="281006">
                  <a:moveTo>
                    <a:pt x="229907" y="275186"/>
                  </a:moveTo>
                  <a:lnTo>
                    <a:pt x="229907" y="0"/>
                  </a:lnTo>
                  <a:lnTo>
                    <a:pt x="161044" y="0"/>
                  </a:lnTo>
                  <a:lnTo>
                    <a:pt x="161044" y="152183"/>
                  </a:lnTo>
                  <a:cubicBezTo>
                    <a:pt x="161044" y="186018"/>
                    <a:pt x="153427" y="215120"/>
                    <a:pt x="114954" y="215120"/>
                  </a:cubicBezTo>
                  <a:cubicBezTo>
                    <a:pt x="76480" y="215120"/>
                    <a:pt x="68863" y="187105"/>
                    <a:pt x="68863" y="149854"/>
                  </a:cubicBezTo>
                  <a:lnTo>
                    <a:pt x="68863" y="0"/>
                  </a:lnTo>
                  <a:lnTo>
                    <a:pt x="0" y="0"/>
                  </a:lnTo>
                  <a:lnTo>
                    <a:pt x="0" y="155675"/>
                  </a:lnTo>
                  <a:cubicBezTo>
                    <a:pt x="0" y="229710"/>
                    <a:pt x="26892" y="281006"/>
                    <a:pt x="98088" y="281006"/>
                  </a:cubicBezTo>
                  <a:cubicBezTo>
                    <a:pt x="122648" y="281006"/>
                    <a:pt x="147131" y="272858"/>
                    <a:pt x="162288" y="255940"/>
                  </a:cubicBezTo>
                  <a:lnTo>
                    <a:pt x="162288" y="275186"/>
                  </a:lnTo>
                  <a:lnTo>
                    <a:pt x="229985" y="275186"/>
                  </a:lnTo>
                  <a:close/>
                </a:path>
              </a:pathLst>
            </a:custGeom>
            <a:solidFill>
              <a:srgbClr val="FFFFFF"/>
            </a:solidFill>
            <a:ln w="7772" cap="flat">
              <a:noFill/>
              <a:prstDash val="solid"/>
              <a:miter/>
            </a:ln>
          </p:spPr>
          <p:txBody>
            <a:bodyPr rtlCol="0" anchor="ctr"/>
            <a:lstStyle/>
            <a:p>
              <a:endParaRPr lang="en-US"/>
            </a:p>
          </p:txBody>
        </p:sp>
        <p:sp>
          <p:nvSpPr>
            <p:cNvPr id="89" name="Freeform 54">
              <a:extLst>
                <a:ext uri="{FF2B5EF4-FFF2-40B4-BE49-F238E27FC236}">
                  <a16:creationId xmlns:a16="http://schemas.microsoft.com/office/drawing/2014/main" id="{FED98DEE-E283-E794-60B7-3EB8B9FEBCE5}"/>
                </a:ext>
              </a:extLst>
            </p:cNvPr>
            <p:cNvSpPr/>
            <p:nvPr/>
          </p:nvSpPr>
          <p:spPr bwMode="invGray">
            <a:xfrm>
              <a:off x="8604890" y="4352561"/>
              <a:ext cx="240555" cy="286904"/>
            </a:xfrm>
            <a:custGeom>
              <a:avLst/>
              <a:gdLst>
                <a:gd name="connsiteX0" fmla="*/ 131976 w 240555"/>
                <a:gd name="connsiteY0" fmla="*/ 218069 h 286904"/>
                <a:gd name="connsiteX1" fmla="*/ 73605 w 240555"/>
                <a:gd name="connsiteY1" fmla="*/ 142870 h 286904"/>
                <a:gd name="connsiteX2" fmla="*/ 131432 w 240555"/>
                <a:gd name="connsiteY2" fmla="*/ 68215 h 286904"/>
                <a:gd name="connsiteX3" fmla="*/ 193300 w 240555"/>
                <a:gd name="connsiteY3" fmla="*/ 106706 h 286904"/>
                <a:gd name="connsiteX4" fmla="*/ 240012 w 240555"/>
                <a:gd name="connsiteY4" fmla="*/ 59445 h 286904"/>
                <a:gd name="connsiteX5" fmla="*/ 131976 w 240555"/>
                <a:gd name="connsiteY5" fmla="*/ 0 h 286904"/>
                <a:gd name="connsiteX6" fmla="*/ 0 w 240555"/>
                <a:gd name="connsiteY6" fmla="*/ 144034 h 286904"/>
                <a:gd name="connsiteX7" fmla="*/ 130810 w 240555"/>
                <a:gd name="connsiteY7" fmla="*/ 286904 h 286904"/>
                <a:gd name="connsiteX8" fmla="*/ 240556 w 240555"/>
                <a:gd name="connsiteY8" fmla="*/ 226295 h 286904"/>
                <a:gd name="connsiteX9" fmla="*/ 195010 w 240555"/>
                <a:gd name="connsiteY9" fmla="*/ 183147 h 286904"/>
                <a:gd name="connsiteX10" fmla="*/ 131976 w 240555"/>
                <a:gd name="connsiteY10" fmla="*/ 218146 h 28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0555" h="286904">
                  <a:moveTo>
                    <a:pt x="131976" y="218069"/>
                  </a:moveTo>
                  <a:cubicBezTo>
                    <a:pt x="91093" y="218069"/>
                    <a:pt x="73605" y="182526"/>
                    <a:pt x="73605" y="142870"/>
                  </a:cubicBezTo>
                  <a:cubicBezTo>
                    <a:pt x="73605" y="100343"/>
                    <a:pt x="93424" y="68215"/>
                    <a:pt x="131432" y="68215"/>
                  </a:cubicBezTo>
                  <a:cubicBezTo>
                    <a:pt x="159490" y="68215"/>
                    <a:pt x="176978" y="85132"/>
                    <a:pt x="193300" y="106706"/>
                  </a:cubicBezTo>
                  <a:lnTo>
                    <a:pt x="240012" y="59445"/>
                  </a:lnTo>
                  <a:cubicBezTo>
                    <a:pt x="214907" y="22117"/>
                    <a:pt x="181020" y="0"/>
                    <a:pt x="131976" y="0"/>
                  </a:cubicBezTo>
                  <a:cubicBezTo>
                    <a:pt x="46168" y="0"/>
                    <a:pt x="0" y="68215"/>
                    <a:pt x="0" y="144034"/>
                  </a:cubicBezTo>
                  <a:cubicBezTo>
                    <a:pt x="0" y="226838"/>
                    <a:pt x="55495" y="286904"/>
                    <a:pt x="130810" y="286904"/>
                  </a:cubicBezTo>
                  <a:cubicBezTo>
                    <a:pt x="185139" y="286904"/>
                    <a:pt x="217239" y="256018"/>
                    <a:pt x="240556" y="226295"/>
                  </a:cubicBezTo>
                  <a:lnTo>
                    <a:pt x="195010" y="183147"/>
                  </a:lnTo>
                  <a:cubicBezTo>
                    <a:pt x="178066" y="204721"/>
                    <a:pt x="157080" y="218146"/>
                    <a:pt x="131976" y="218146"/>
                  </a:cubicBezTo>
                  <a:close/>
                </a:path>
              </a:pathLst>
            </a:custGeom>
            <a:solidFill>
              <a:srgbClr val="FFFFFF"/>
            </a:solidFill>
            <a:ln w="7772" cap="flat">
              <a:noFill/>
              <a:prstDash val="solid"/>
              <a:miter/>
            </a:ln>
          </p:spPr>
          <p:txBody>
            <a:bodyPr rtlCol="0" anchor="ctr"/>
            <a:lstStyle/>
            <a:p>
              <a:endParaRPr lang="en-US"/>
            </a:p>
          </p:txBody>
        </p:sp>
        <p:sp>
          <p:nvSpPr>
            <p:cNvPr id="90" name="Freeform 55">
              <a:extLst>
                <a:ext uri="{FF2B5EF4-FFF2-40B4-BE49-F238E27FC236}">
                  <a16:creationId xmlns:a16="http://schemas.microsoft.com/office/drawing/2014/main" id="{1E1FDC83-5FDD-4866-ADFD-442AE8897CA7}"/>
                </a:ext>
              </a:extLst>
            </p:cNvPr>
            <p:cNvSpPr/>
            <p:nvPr/>
          </p:nvSpPr>
          <p:spPr bwMode="invGray">
            <a:xfrm>
              <a:off x="6846230" y="4352561"/>
              <a:ext cx="258043" cy="286826"/>
            </a:xfrm>
            <a:custGeom>
              <a:avLst/>
              <a:gdLst>
                <a:gd name="connsiteX0" fmla="*/ 129022 w 258043"/>
                <a:gd name="connsiteY0" fmla="*/ 0 h 286826"/>
                <a:gd name="connsiteX1" fmla="*/ 0 w 258043"/>
                <a:gd name="connsiteY1" fmla="*/ 143413 h 286826"/>
                <a:gd name="connsiteX2" fmla="*/ 129022 w 258043"/>
                <a:gd name="connsiteY2" fmla="*/ 286827 h 286826"/>
                <a:gd name="connsiteX3" fmla="*/ 258043 w 258043"/>
                <a:gd name="connsiteY3" fmla="*/ 143413 h 286826"/>
                <a:gd name="connsiteX4" fmla="*/ 129022 w 258043"/>
                <a:gd name="connsiteY4" fmla="*/ 0 h 286826"/>
                <a:gd name="connsiteX5" fmla="*/ 129022 w 258043"/>
                <a:gd name="connsiteY5" fmla="*/ 218069 h 286826"/>
                <a:gd name="connsiteX6" fmla="*/ 73527 w 258043"/>
                <a:gd name="connsiteY6" fmla="*/ 143413 h 286826"/>
                <a:gd name="connsiteX7" fmla="*/ 129022 w 258043"/>
                <a:gd name="connsiteY7" fmla="*/ 68215 h 286826"/>
                <a:gd name="connsiteX8" fmla="*/ 184517 w 258043"/>
                <a:gd name="connsiteY8" fmla="*/ 143413 h 286826"/>
                <a:gd name="connsiteX9" fmla="*/ 129022 w 258043"/>
                <a:gd name="connsiteY9" fmla="*/ 218069 h 28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8043" h="286826">
                  <a:moveTo>
                    <a:pt x="129022" y="0"/>
                  </a:moveTo>
                  <a:cubicBezTo>
                    <a:pt x="49588" y="0"/>
                    <a:pt x="0" y="62394"/>
                    <a:pt x="0" y="143413"/>
                  </a:cubicBezTo>
                  <a:cubicBezTo>
                    <a:pt x="0" y="228546"/>
                    <a:pt x="54329" y="286827"/>
                    <a:pt x="129022" y="286827"/>
                  </a:cubicBezTo>
                  <a:cubicBezTo>
                    <a:pt x="203714" y="286827"/>
                    <a:pt x="258043" y="228546"/>
                    <a:pt x="258043" y="143413"/>
                  </a:cubicBezTo>
                  <a:cubicBezTo>
                    <a:pt x="258043" y="58281"/>
                    <a:pt x="208378" y="0"/>
                    <a:pt x="129022" y="0"/>
                  </a:cubicBezTo>
                  <a:close/>
                  <a:moveTo>
                    <a:pt x="129022" y="218069"/>
                  </a:moveTo>
                  <a:cubicBezTo>
                    <a:pt x="83476" y="218069"/>
                    <a:pt x="73527" y="174378"/>
                    <a:pt x="73527" y="143413"/>
                  </a:cubicBezTo>
                  <a:cubicBezTo>
                    <a:pt x="73527" y="100886"/>
                    <a:pt x="91015" y="68215"/>
                    <a:pt x="129022" y="68215"/>
                  </a:cubicBezTo>
                  <a:cubicBezTo>
                    <a:pt x="167029" y="68215"/>
                    <a:pt x="184517" y="100886"/>
                    <a:pt x="184517" y="143413"/>
                  </a:cubicBezTo>
                  <a:cubicBezTo>
                    <a:pt x="184517" y="174300"/>
                    <a:pt x="174568" y="218069"/>
                    <a:pt x="129022" y="218069"/>
                  </a:cubicBezTo>
                  <a:close/>
                </a:path>
              </a:pathLst>
            </a:custGeom>
            <a:solidFill>
              <a:srgbClr val="FFFFFF"/>
            </a:solidFill>
            <a:ln w="7772" cap="flat">
              <a:noFill/>
              <a:prstDash val="solid"/>
              <a:miter/>
            </a:ln>
          </p:spPr>
          <p:txBody>
            <a:bodyPr rtlCol="0" anchor="ctr"/>
            <a:lstStyle/>
            <a:p>
              <a:endParaRPr lang="en-US"/>
            </a:p>
          </p:txBody>
        </p:sp>
        <p:sp>
          <p:nvSpPr>
            <p:cNvPr id="91" name="Freeform 56">
              <a:extLst>
                <a:ext uri="{FF2B5EF4-FFF2-40B4-BE49-F238E27FC236}">
                  <a16:creationId xmlns:a16="http://schemas.microsoft.com/office/drawing/2014/main" id="{17954407-7A88-9AC9-5445-CEA1AE7A4685}"/>
                </a:ext>
              </a:extLst>
            </p:cNvPr>
            <p:cNvSpPr/>
            <p:nvPr/>
          </p:nvSpPr>
          <p:spPr bwMode="invGray">
            <a:xfrm>
              <a:off x="7419599" y="4252917"/>
              <a:ext cx="174646" cy="380573"/>
            </a:xfrm>
            <a:custGeom>
              <a:avLst/>
              <a:gdLst>
                <a:gd name="connsiteX0" fmla="*/ 38551 w 174646"/>
                <a:gd name="connsiteY0" fmla="*/ 72250 h 380573"/>
                <a:gd name="connsiteX1" fmla="*/ 38551 w 174646"/>
                <a:gd name="connsiteY1" fmla="*/ 105465 h 380573"/>
                <a:gd name="connsiteX2" fmla="*/ 0 w 174646"/>
                <a:gd name="connsiteY2" fmla="*/ 105465 h 380573"/>
                <a:gd name="connsiteX3" fmla="*/ 0 w 174646"/>
                <a:gd name="connsiteY3" fmla="*/ 171894 h 380573"/>
                <a:gd name="connsiteX4" fmla="*/ 38551 w 174646"/>
                <a:gd name="connsiteY4" fmla="*/ 171894 h 380573"/>
                <a:gd name="connsiteX5" fmla="*/ 38551 w 174646"/>
                <a:gd name="connsiteY5" fmla="*/ 380573 h 380573"/>
                <a:gd name="connsiteX6" fmla="*/ 109824 w 174646"/>
                <a:gd name="connsiteY6" fmla="*/ 380573 h 380573"/>
                <a:gd name="connsiteX7" fmla="*/ 109824 w 174646"/>
                <a:gd name="connsiteY7" fmla="*/ 171894 h 380573"/>
                <a:gd name="connsiteX8" fmla="*/ 168817 w 174646"/>
                <a:gd name="connsiteY8" fmla="*/ 171894 h 380573"/>
                <a:gd name="connsiteX9" fmla="*/ 168817 w 174646"/>
                <a:gd name="connsiteY9" fmla="*/ 105465 h 380573"/>
                <a:gd name="connsiteX10" fmla="*/ 109824 w 174646"/>
                <a:gd name="connsiteY10" fmla="*/ 105465 h 380573"/>
                <a:gd name="connsiteX11" fmla="*/ 109824 w 174646"/>
                <a:gd name="connsiteY11" fmla="*/ 83347 h 380573"/>
                <a:gd name="connsiteX12" fmla="*/ 139592 w 174646"/>
                <a:gd name="connsiteY12" fmla="*/ 59445 h 380573"/>
                <a:gd name="connsiteX13" fmla="*/ 174646 w 174646"/>
                <a:gd name="connsiteY13" fmla="*/ 64722 h 380573"/>
                <a:gd name="connsiteX14" fmla="*/ 174646 w 174646"/>
                <a:gd name="connsiteY14" fmla="*/ 7605 h 380573"/>
                <a:gd name="connsiteX15" fmla="*/ 122649 w 174646"/>
                <a:gd name="connsiteY15" fmla="*/ 0 h 380573"/>
                <a:gd name="connsiteX16" fmla="*/ 38551 w 174646"/>
                <a:gd name="connsiteY16" fmla="*/ 72328 h 38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646" h="380573">
                  <a:moveTo>
                    <a:pt x="38551" y="72250"/>
                  </a:moveTo>
                  <a:lnTo>
                    <a:pt x="38551" y="105465"/>
                  </a:lnTo>
                  <a:lnTo>
                    <a:pt x="0" y="105465"/>
                  </a:lnTo>
                  <a:lnTo>
                    <a:pt x="0" y="171894"/>
                  </a:lnTo>
                  <a:lnTo>
                    <a:pt x="38551" y="171894"/>
                  </a:lnTo>
                  <a:lnTo>
                    <a:pt x="38551" y="380573"/>
                  </a:lnTo>
                  <a:lnTo>
                    <a:pt x="109824" y="380573"/>
                  </a:lnTo>
                  <a:lnTo>
                    <a:pt x="109824" y="171894"/>
                  </a:lnTo>
                  <a:lnTo>
                    <a:pt x="168817" y="171894"/>
                  </a:lnTo>
                  <a:lnTo>
                    <a:pt x="168817" y="105465"/>
                  </a:lnTo>
                  <a:lnTo>
                    <a:pt x="109824" y="105465"/>
                  </a:lnTo>
                  <a:lnTo>
                    <a:pt x="109824" y="83347"/>
                  </a:lnTo>
                  <a:cubicBezTo>
                    <a:pt x="109824" y="65886"/>
                    <a:pt x="119151" y="59445"/>
                    <a:pt x="139592" y="59445"/>
                  </a:cubicBezTo>
                  <a:cubicBezTo>
                    <a:pt x="150085" y="59445"/>
                    <a:pt x="164153" y="61230"/>
                    <a:pt x="174646" y="64722"/>
                  </a:cubicBezTo>
                  <a:lnTo>
                    <a:pt x="174646" y="7605"/>
                  </a:lnTo>
                  <a:cubicBezTo>
                    <a:pt x="160034" y="1785"/>
                    <a:pt x="137883" y="0"/>
                    <a:pt x="122649" y="0"/>
                  </a:cubicBezTo>
                  <a:cubicBezTo>
                    <a:pt x="70651" y="0"/>
                    <a:pt x="38551" y="20953"/>
                    <a:pt x="38551" y="72328"/>
                  </a:cubicBezTo>
                  <a:close/>
                </a:path>
              </a:pathLst>
            </a:custGeom>
            <a:solidFill>
              <a:srgbClr val="FFFFFF"/>
            </a:solidFill>
            <a:ln w="7772" cap="flat">
              <a:noFill/>
              <a:prstDash val="solid"/>
              <a:miter/>
            </a:ln>
          </p:spPr>
          <p:txBody>
            <a:bodyPr rtlCol="0" anchor="ctr"/>
            <a:lstStyle/>
            <a:p>
              <a:endParaRPr lang="en-US"/>
            </a:p>
          </p:txBody>
        </p:sp>
        <p:sp>
          <p:nvSpPr>
            <p:cNvPr id="92" name="Freeform 57">
              <a:extLst>
                <a:ext uri="{FF2B5EF4-FFF2-40B4-BE49-F238E27FC236}">
                  <a16:creationId xmlns:a16="http://schemas.microsoft.com/office/drawing/2014/main" id="{18EA7051-BC96-DAF2-D94C-82ED385995B2}"/>
                </a:ext>
              </a:extLst>
            </p:cNvPr>
            <p:cNvSpPr/>
            <p:nvPr/>
          </p:nvSpPr>
          <p:spPr bwMode="invGray">
            <a:xfrm>
              <a:off x="3814838" y="4252917"/>
              <a:ext cx="174645" cy="380573"/>
            </a:xfrm>
            <a:custGeom>
              <a:avLst/>
              <a:gdLst>
                <a:gd name="connsiteX0" fmla="*/ 38551 w 174645"/>
                <a:gd name="connsiteY0" fmla="*/ 72250 h 380573"/>
                <a:gd name="connsiteX1" fmla="*/ 38551 w 174645"/>
                <a:gd name="connsiteY1" fmla="*/ 105465 h 380573"/>
                <a:gd name="connsiteX2" fmla="*/ 0 w 174645"/>
                <a:gd name="connsiteY2" fmla="*/ 105465 h 380573"/>
                <a:gd name="connsiteX3" fmla="*/ 0 w 174645"/>
                <a:gd name="connsiteY3" fmla="*/ 171894 h 380573"/>
                <a:gd name="connsiteX4" fmla="*/ 38551 w 174645"/>
                <a:gd name="connsiteY4" fmla="*/ 171894 h 380573"/>
                <a:gd name="connsiteX5" fmla="*/ 38551 w 174645"/>
                <a:gd name="connsiteY5" fmla="*/ 380573 h 380573"/>
                <a:gd name="connsiteX6" fmla="*/ 109824 w 174645"/>
                <a:gd name="connsiteY6" fmla="*/ 380573 h 380573"/>
                <a:gd name="connsiteX7" fmla="*/ 109824 w 174645"/>
                <a:gd name="connsiteY7" fmla="*/ 171894 h 380573"/>
                <a:gd name="connsiteX8" fmla="*/ 168817 w 174645"/>
                <a:gd name="connsiteY8" fmla="*/ 171894 h 380573"/>
                <a:gd name="connsiteX9" fmla="*/ 168817 w 174645"/>
                <a:gd name="connsiteY9" fmla="*/ 105465 h 380573"/>
                <a:gd name="connsiteX10" fmla="*/ 109824 w 174645"/>
                <a:gd name="connsiteY10" fmla="*/ 105465 h 380573"/>
                <a:gd name="connsiteX11" fmla="*/ 109824 w 174645"/>
                <a:gd name="connsiteY11" fmla="*/ 83347 h 380573"/>
                <a:gd name="connsiteX12" fmla="*/ 139592 w 174645"/>
                <a:gd name="connsiteY12" fmla="*/ 59445 h 380573"/>
                <a:gd name="connsiteX13" fmla="*/ 174646 w 174645"/>
                <a:gd name="connsiteY13" fmla="*/ 64722 h 380573"/>
                <a:gd name="connsiteX14" fmla="*/ 174646 w 174645"/>
                <a:gd name="connsiteY14" fmla="*/ 7605 h 380573"/>
                <a:gd name="connsiteX15" fmla="*/ 122648 w 174645"/>
                <a:gd name="connsiteY15" fmla="*/ 0 h 380573"/>
                <a:gd name="connsiteX16" fmla="*/ 38551 w 174645"/>
                <a:gd name="connsiteY16" fmla="*/ 72328 h 38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645" h="380573">
                  <a:moveTo>
                    <a:pt x="38551" y="72250"/>
                  </a:moveTo>
                  <a:lnTo>
                    <a:pt x="38551" y="105465"/>
                  </a:lnTo>
                  <a:lnTo>
                    <a:pt x="0" y="105465"/>
                  </a:lnTo>
                  <a:lnTo>
                    <a:pt x="0" y="171894"/>
                  </a:lnTo>
                  <a:lnTo>
                    <a:pt x="38551" y="171894"/>
                  </a:lnTo>
                  <a:lnTo>
                    <a:pt x="38551" y="380573"/>
                  </a:lnTo>
                  <a:lnTo>
                    <a:pt x="109824" y="380573"/>
                  </a:lnTo>
                  <a:lnTo>
                    <a:pt x="109824" y="171894"/>
                  </a:lnTo>
                  <a:lnTo>
                    <a:pt x="168817" y="171894"/>
                  </a:lnTo>
                  <a:lnTo>
                    <a:pt x="168817" y="105465"/>
                  </a:lnTo>
                  <a:lnTo>
                    <a:pt x="109824" y="105465"/>
                  </a:lnTo>
                  <a:lnTo>
                    <a:pt x="109824" y="83347"/>
                  </a:lnTo>
                  <a:cubicBezTo>
                    <a:pt x="109824" y="65886"/>
                    <a:pt x="119151" y="59445"/>
                    <a:pt x="139592" y="59445"/>
                  </a:cubicBezTo>
                  <a:cubicBezTo>
                    <a:pt x="150085" y="59445"/>
                    <a:pt x="164153" y="61230"/>
                    <a:pt x="174646" y="64722"/>
                  </a:cubicBezTo>
                  <a:lnTo>
                    <a:pt x="174646" y="7605"/>
                  </a:lnTo>
                  <a:cubicBezTo>
                    <a:pt x="160034" y="1785"/>
                    <a:pt x="137882" y="0"/>
                    <a:pt x="122648" y="0"/>
                  </a:cubicBezTo>
                  <a:cubicBezTo>
                    <a:pt x="70651" y="0"/>
                    <a:pt x="38551" y="20953"/>
                    <a:pt x="38551" y="72328"/>
                  </a:cubicBezTo>
                  <a:close/>
                </a:path>
              </a:pathLst>
            </a:custGeom>
            <a:solidFill>
              <a:srgbClr val="FFFFFF"/>
            </a:solidFill>
            <a:ln w="7772" cap="flat">
              <a:noFill/>
              <a:prstDash val="solid"/>
              <a:miter/>
            </a:ln>
          </p:spPr>
          <p:txBody>
            <a:bodyPr rtlCol="0" anchor="ctr"/>
            <a:lstStyle/>
            <a:p>
              <a:endParaRPr lang="en-US"/>
            </a:p>
          </p:txBody>
        </p:sp>
        <p:sp>
          <p:nvSpPr>
            <p:cNvPr id="93" name="Freeform 58">
              <a:extLst>
                <a:ext uri="{FF2B5EF4-FFF2-40B4-BE49-F238E27FC236}">
                  <a16:creationId xmlns:a16="http://schemas.microsoft.com/office/drawing/2014/main" id="{4D494596-BDB6-F0C3-B2A2-AAB091CCDBF2}"/>
                </a:ext>
              </a:extLst>
            </p:cNvPr>
            <p:cNvSpPr/>
            <p:nvPr/>
          </p:nvSpPr>
          <p:spPr bwMode="invGray">
            <a:xfrm>
              <a:off x="7146866" y="4352561"/>
              <a:ext cx="237680" cy="281083"/>
            </a:xfrm>
            <a:custGeom>
              <a:avLst/>
              <a:gdLst>
                <a:gd name="connsiteX0" fmla="*/ 138426 w 237680"/>
                <a:gd name="connsiteY0" fmla="*/ 0 h 281083"/>
                <a:gd name="connsiteX1" fmla="*/ 71273 w 237680"/>
                <a:gd name="connsiteY1" fmla="*/ 24523 h 281083"/>
                <a:gd name="connsiteX2" fmla="*/ 71273 w 237680"/>
                <a:gd name="connsiteY2" fmla="*/ 5898 h 281083"/>
                <a:gd name="connsiteX3" fmla="*/ 0 w 237680"/>
                <a:gd name="connsiteY3" fmla="*/ 5898 h 281083"/>
                <a:gd name="connsiteX4" fmla="*/ 0 w 237680"/>
                <a:gd name="connsiteY4" fmla="*/ 281084 h 281083"/>
                <a:gd name="connsiteX5" fmla="*/ 71273 w 237680"/>
                <a:gd name="connsiteY5" fmla="*/ 281084 h 281083"/>
                <a:gd name="connsiteX6" fmla="*/ 71273 w 237680"/>
                <a:gd name="connsiteY6" fmla="*/ 129522 h 281083"/>
                <a:gd name="connsiteX7" fmla="*/ 119151 w 237680"/>
                <a:gd name="connsiteY7" fmla="*/ 67128 h 281083"/>
                <a:gd name="connsiteX8" fmla="*/ 166407 w 237680"/>
                <a:gd name="connsiteY8" fmla="*/ 131229 h 281083"/>
                <a:gd name="connsiteX9" fmla="*/ 166407 w 237680"/>
                <a:gd name="connsiteY9" fmla="*/ 281084 h 281083"/>
                <a:gd name="connsiteX10" fmla="*/ 237680 w 237680"/>
                <a:gd name="connsiteY10" fmla="*/ 281084 h 281083"/>
                <a:gd name="connsiteX11" fmla="*/ 237680 w 237680"/>
                <a:gd name="connsiteY11" fmla="*/ 125409 h 281083"/>
                <a:gd name="connsiteX12" fmla="*/ 138426 w 237680"/>
                <a:gd name="connsiteY12" fmla="*/ 78 h 28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7680" h="281083">
                  <a:moveTo>
                    <a:pt x="138426" y="0"/>
                  </a:moveTo>
                  <a:cubicBezTo>
                    <a:pt x="107492" y="0"/>
                    <a:pt x="85885" y="9933"/>
                    <a:pt x="71273" y="24523"/>
                  </a:cubicBezTo>
                  <a:lnTo>
                    <a:pt x="71273" y="5898"/>
                  </a:lnTo>
                  <a:lnTo>
                    <a:pt x="0" y="5898"/>
                  </a:lnTo>
                  <a:lnTo>
                    <a:pt x="0" y="281084"/>
                  </a:lnTo>
                  <a:lnTo>
                    <a:pt x="71273" y="281084"/>
                  </a:lnTo>
                  <a:lnTo>
                    <a:pt x="71273" y="129522"/>
                  </a:lnTo>
                  <a:cubicBezTo>
                    <a:pt x="71273" y="88702"/>
                    <a:pt x="82931" y="67128"/>
                    <a:pt x="119151" y="67128"/>
                  </a:cubicBezTo>
                  <a:cubicBezTo>
                    <a:pt x="157702" y="67128"/>
                    <a:pt x="166407" y="92815"/>
                    <a:pt x="166407" y="131229"/>
                  </a:cubicBezTo>
                  <a:lnTo>
                    <a:pt x="166407" y="281084"/>
                  </a:lnTo>
                  <a:lnTo>
                    <a:pt x="237680" y="281084"/>
                  </a:lnTo>
                  <a:lnTo>
                    <a:pt x="237680" y="125409"/>
                  </a:lnTo>
                  <a:cubicBezTo>
                    <a:pt x="237680" y="57816"/>
                    <a:pt x="213119" y="78"/>
                    <a:pt x="138426" y="78"/>
                  </a:cubicBezTo>
                  <a:close/>
                </a:path>
              </a:pathLst>
            </a:custGeom>
            <a:solidFill>
              <a:srgbClr val="FFFFFF"/>
            </a:solidFill>
            <a:ln w="7772" cap="flat">
              <a:noFill/>
              <a:prstDash val="solid"/>
              <a:miter/>
            </a:ln>
          </p:spPr>
          <p:txBody>
            <a:bodyPr rtlCol="0" anchor="ctr"/>
            <a:lstStyle/>
            <a:p>
              <a:endParaRPr lang="en-US"/>
            </a:p>
          </p:txBody>
        </p:sp>
        <p:sp>
          <p:nvSpPr>
            <p:cNvPr id="94" name="Freeform 59">
              <a:extLst>
                <a:ext uri="{FF2B5EF4-FFF2-40B4-BE49-F238E27FC236}">
                  <a16:creationId xmlns:a16="http://schemas.microsoft.com/office/drawing/2014/main" id="{99907645-96AF-0325-B430-0F93771CB722}"/>
                </a:ext>
              </a:extLst>
            </p:cNvPr>
            <p:cNvSpPr/>
            <p:nvPr/>
          </p:nvSpPr>
          <p:spPr bwMode="invGray">
            <a:xfrm>
              <a:off x="7635595" y="4358382"/>
              <a:ext cx="71272" cy="275185"/>
            </a:xfrm>
            <a:custGeom>
              <a:avLst/>
              <a:gdLst>
                <a:gd name="connsiteX0" fmla="*/ 0 w 71272"/>
                <a:gd name="connsiteY0" fmla="*/ 0 h 275185"/>
                <a:gd name="connsiteX1" fmla="*/ 71273 w 71272"/>
                <a:gd name="connsiteY1" fmla="*/ 0 h 275185"/>
                <a:gd name="connsiteX2" fmla="*/ 71273 w 71272"/>
                <a:gd name="connsiteY2" fmla="*/ 275186 h 275185"/>
                <a:gd name="connsiteX3" fmla="*/ 0 w 71272"/>
                <a:gd name="connsiteY3" fmla="*/ 275186 h 275185"/>
              </a:gdLst>
              <a:ahLst/>
              <a:cxnLst>
                <a:cxn ang="0">
                  <a:pos x="connsiteX0" y="connsiteY0"/>
                </a:cxn>
                <a:cxn ang="0">
                  <a:pos x="connsiteX1" y="connsiteY1"/>
                </a:cxn>
                <a:cxn ang="0">
                  <a:pos x="connsiteX2" y="connsiteY2"/>
                </a:cxn>
                <a:cxn ang="0">
                  <a:pos x="connsiteX3" y="connsiteY3"/>
                </a:cxn>
              </a:cxnLst>
              <a:rect l="l" t="t" r="r" b="b"/>
              <a:pathLst>
                <a:path w="71272" h="275185">
                  <a:moveTo>
                    <a:pt x="0" y="0"/>
                  </a:moveTo>
                  <a:lnTo>
                    <a:pt x="71273" y="0"/>
                  </a:lnTo>
                  <a:lnTo>
                    <a:pt x="71273" y="275186"/>
                  </a:lnTo>
                  <a:lnTo>
                    <a:pt x="0" y="275186"/>
                  </a:lnTo>
                  <a:close/>
                </a:path>
              </a:pathLst>
            </a:custGeom>
            <a:solidFill>
              <a:srgbClr val="FFFFFF"/>
            </a:solidFill>
            <a:ln w="7772" cap="flat">
              <a:noFill/>
              <a:prstDash val="solid"/>
              <a:miter/>
            </a:ln>
          </p:spPr>
          <p:txBody>
            <a:bodyPr rtlCol="0" anchor="ctr"/>
            <a:lstStyle/>
            <a:p>
              <a:endParaRPr lang="en-US"/>
            </a:p>
          </p:txBody>
        </p:sp>
        <p:sp>
          <p:nvSpPr>
            <p:cNvPr id="95" name="Freeform 60">
              <a:extLst>
                <a:ext uri="{FF2B5EF4-FFF2-40B4-BE49-F238E27FC236}">
                  <a16:creationId xmlns:a16="http://schemas.microsoft.com/office/drawing/2014/main" id="{5C4C1473-F01A-827A-9A7B-1C325DFA488B}"/>
                </a:ext>
              </a:extLst>
            </p:cNvPr>
            <p:cNvSpPr/>
            <p:nvPr/>
          </p:nvSpPr>
          <p:spPr bwMode="invGray">
            <a:xfrm>
              <a:off x="7630931" y="4252839"/>
              <a:ext cx="81765" cy="81639"/>
            </a:xfrm>
            <a:custGeom>
              <a:avLst/>
              <a:gdLst>
                <a:gd name="connsiteX0" fmla="*/ 40883 w 81765"/>
                <a:gd name="connsiteY0" fmla="*/ 0 h 81639"/>
                <a:gd name="connsiteX1" fmla="*/ 0 w 81765"/>
                <a:gd name="connsiteY1" fmla="*/ 40820 h 81639"/>
                <a:gd name="connsiteX2" fmla="*/ 40883 w 81765"/>
                <a:gd name="connsiteY2" fmla="*/ 81640 h 81639"/>
                <a:gd name="connsiteX3" fmla="*/ 81766 w 81765"/>
                <a:gd name="connsiteY3" fmla="*/ 40820 h 81639"/>
                <a:gd name="connsiteX4" fmla="*/ 40883 w 81765"/>
                <a:gd name="connsiteY4" fmla="*/ 0 h 8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65" h="81639">
                  <a:moveTo>
                    <a:pt x="40883" y="0"/>
                  </a:moveTo>
                  <a:cubicBezTo>
                    <a:pt x="18110" y="0"/>
                    <a:pt x="0" y="18082"/>
                    <a:pt x="0" y="40820"/>
                  </a:cubicBezTo>
                  <a:cubicBezTo>
                    <a:pt x="0" y="63558"/>
                    <a:pt x="18110" y="81640"/>
                    <a:pt x="40883" y="81640"/>
                  </a:cubicBezTo>
                  <a:cubicBezTo>
                    <a:pt x="63656" y="81640"/>
                    <a:pt x="81766" y="63558"/>
                    <a:pt x="81766" y="40820"/>
                  </a:cubicBezTo>
                  <a:cubicBezTo>
                    <a:pt x="81766" y="18082"/>
                    <a:pt x="63656" y="0"/>
                    <a:pt x="40883" y="0"/>
                  </a:cubicBezTo>
                  <a:close/>
                </a:path>
              </a:pathLst>
            </a:custGeom>
            <a:solidFill>
              <a:srgbClr val="FFFFFF"/>
            </a:solidFill>
            <a:ln w="7772" cap="flat">
              <a:noFill/>
              <a:prstDash val="solid"/>
              <a:miter/>
            </a:ln>
          </p:spPr>
          <p:txBody>
            <a:bodyPr rtlCol="0" anchor="ctr"/>
            <a:lstStyle/>
            <a:p>
              <a:endParaRPr lang="en-US"/>
            </a:p>
          </p:txBody>
        </p:sp>
      </p:grpSp>
      <p:pic>
        <p:nvPicPr>
          <p:cNvPr id="12" name="Picture 11" descr="A blue logo with a black background&#10;&#10;AI-generated content may be incorrect.">
            <a:extLst>
              <a:ext uri="{FF2B5EF4-FFF2-40B4-BE49-F238E27FC236}">
                <a16:creationId xmlns:a16="http://schemas.microsoft.com/office/drawing/2014/main" id="{A05ADFA3-BFAF-D923-3BB8-C992898C28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67943" y="5589343"/>
            <a:ext cx="815418" cy="481097"/>
          </a:xfrm>
          <a:prstGeom prst="rect">
            <a:avLst/>
          </a:prstGeom>
        </p:spPr>
      </p:pic>
    </p:spTree>
    <p:extLst>
      <p:ext uri="{BB962C8B-B14F-4D97-AF65-F5344CB8AC3E}">
        <p14:creationId xmlns:p14="http://schemas.microsoft.com/office/powerpoint/2010/main" val="40433569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Title Slide Fram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2D7BB4A-5FCC-BE0E-4598-A4CBBA847A08}"/>
              </a:ext>
              <a:ext uri="{C183D7F6-B498-43B3-948B-1728B52AA6E4}">
                <adec:decorative xmlns:adec="http://schemas.microsoft.com/office/drawing/2017/decorative" val="1"/>
              </a:ext>
            </a:extLst>
          </p:cNvPr>
          <p:cNvSpPr/>
          <p:nvPr userDrawn="1"/>
        </p:nvSpPr>
        <p:spPr bwMode="white">
          <a:xfrm>
            <a:off x="-5794"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dirty="0">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047865"/>
            <a:ext cx="4907628" cy="511939"/>
          </a:xfrm>
        </p:spPr>
        <p:txBody>
          <a:bodyPr wrap="square">
            <a:noAutofit/>
          </a:bodyPr>
          <a:lstStyle>
            <a:lvl1pPr marL="0" indent="0" algn="l">
              <a:buNone/>
              <a:defRPr lang="en-GB" sz="1600" kern="1200" dirty="0">
                <a:solidFill>
                  <a:schemeClr val="bg1"/>
                </a:solidFill>
                <a:latin typeface="+mj-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310131"/>
            <a:ext cx="4906009" cy="1654043"/>
          </a:xfrm>
        </p:spPr>
        <p:txBody>
          <a:bodyPr anchor="t">
            <a:noAutofit/>
          </a:bodyPr>
          <a:lstStyle>
            <a:lvl1pPr algn="l" defTabSz="914400" rtl="0" eaLnBrk="1" latinLnBrk="0" hangingPunct="1">
              <a:lnSpc>
                <a:spcPct val="85000"/>
              </a:lnSpc>
              <a:spcBef>
                <a:spcPct val="0"/>
              </a:spcBef>
              <a:buNone/>
              <a:defRPr lang="en-US" sz="4200" b="1" i="0" kern="1200" dirty="0">
                <a:solidFill>
                  <a:schemeClr val="bg1"/>
                </a:solidFill>
                <a:latin typeface="+mj-lt"/>
                <a:ea typeface="+mj-ea"/>
                <a:cs typeface="Arial" pitchFamily="34" charset="0"/>
              </a:defRPr>
            </a:lvl1pPr>
          </a:lstStyle>
          <a:p>
            <a:r>
              <a:rPr lang="en-US"/>
              <a:t>Click to edit Master title style</a:t>
            </a:r>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4658865"/>
            <a:ext cx="4906010" cy="246221"/>
          </a:xfrm>
        </p:spPr>
        <p:txBody>
          <a:bodyPr wrap="square">
            <a:spAutoFit/>
          </a:bodyPr>
          <a:lstStyle>
            <a:lvl1pPr marL="0" indent="0">
              <a:buNone/>
              <a:defRPr sz="1600" b="1">
                <a:latin typeface="+mj-lt"/>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US"/>
              <a:t>Click to edit Master text styles</a:t>
            </a:r>
          </a:p>
        </p:txBody>
      </p:sp>
      <p:grpSp>
        <p:nvGrpSpPr>
          <p:cNvPr id="8" name="Group 7">
            <a:extLst>
              <a:ext uri="{FF2B5EF4-FFF2-40B4-BE49-F238E27FC236}">
                <a16:creationId xmlns:a16="http://schemas.microsoft.com/office/drawing/2014/main" id="{53C054C4-B0F1-3513-59FC-805A098DBE34}"/>
              </a:ext>
            </a:extLst>
          </p:cNvPr>
          <p:cNvGrpSpPr/>
          <p:nvPr userDrawn="1"/>
        </p:nvGrpSpPr>
        <p:grpSpPr>
          <a:xfrm>
            <a:off x="485775" y="5776013"/>
            <a:ext cx="4940935" cy="318770"/>
            <a:chOff x="485775" y="6164633"/>
            <a:chExt cx="4940935" cy="318770"/>
          </a:xfrm>
        </p:grpSpPr>
        <p:sp>
          <p:nvSpPr>
            <p:cNvPr id="9" name="Freeform 8">
              <a:extLst>
                <a:ext uri="{FF2B5EF4-FFF2-40B4-BE49-F238E27FC236}">
                  <a16:creationId xmlns:a16="http://schemas.microsoft.com/office/drawing/2014/main" id="{7A3E19F4-4DB4-F59A-2A51-47A2D55A90E0}"/>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1A9AFA"/>
            </a:solidFill>
            <a:ln w="63500"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9A1F91B4-6F38-3316-FDC2-178FAFEB4F31}"/>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grpSp>
        <p:nvGrpSpPr>
          <p:cNvPr id="5" name="Group 4">
            <a:extLst>
              <a:ext uri="{FF2B5EF4-FFF2-40B4-BE49-F238E27FC236}">
                <a16:creationId xmlns:a16="http://schemas.microsoft.com/office/drawing/2014/main" id="{482CE306-E61A-923E-80E0-77174AA308EC}"/>
              </a:ext>
            </a:extLst>
          </p:cNvPr>
          <p:cNvGrpSpPr/>
          <p:nvPr userDrawn="1"/>
        </p:nvGrpSpPr>
        <p:grpSpPr>
          <a:xfrm>
            <a:off x="485774" y="902388"/>
            <a:ext cx="5706110" cy="4360545"/>
            <a:chOff x="485774" y="1291008"/>
            <a:chExt cx="5706110" cy="4360545"/>
          </a:xfrm>
        </p:grpSpPr>
        <p:sp>
          <p:nvSpPr>
            <p:cNvPr id="6" name="Freeform 25">
              <a:extLst>
                <a:ext uri="{FF2B5EF4-FFF2-40B4-BE49-F238E27FC236}">
                  <a16:creationId xmlns:a16="http://schemas.microsoft.com/office/drawing/2014/main" id="{A3BE74D9-8944-FC80-254E-9804F1A62AAB}"/>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rgbClr val="1A9AFA"/>
            </a:solidFill>
            <a:ln w="63500" cap="flat">
              <a:noFill/>
              <a:prstDash val="solid"/>
              <a:miter/>
            </a:ln>
          </p:spPr>
          <p:txBody>
            <a:bodyPr rtlCol="0" anchor="ctr"/>
            <a:lstStyle/>
            <a:p>
              <a:endParaRPr lang="en-US"/>
            </a:p>
          </p:txBody>
        </p:sp>
        <p:sp>
          <p:nvSpPr>
            <p:cNvPr id="7" name="Freeform 3">
              <a:extLst>
                <a:ext uri="{FF2B5EF4-FFF2-40B4-BE49-F238E27FC236}">
                  <a16:creationId xmlns:a16="http://schemas.microsoft.com/office/drawing/2014/main" id="{EE7ADBF8-7DC8-E7E1-3CFB-0964B45D2348}"/>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1A9AFA"/>
                </a:gs>
                <a:gs pos="63000">
                  <a:srgbClr val="4EBEEB"/>
                </a:gs>
                <a:gs pos="100000">
                  <a:srgbClr val="32FFFF"/>
                </a:gs>
              </a:gsLst>
              <a:lin ang="19500000" scaled="0"/>
              <a:tileRect/>
            </a:gradFill>
            <a:ln w="8181" cap="flat">
              <a:noFill/>
              <a:prstDash val="solid"/>
              <a:miter/>
            </a:ln>
          </p:spPr>
          <p:txBody>
            <a:bodyPr rtlCol="0" anchor="ctr"/>
            <a:lstStyle/>
            <a:p>
              <a:pPr lvl="0"/>
              <a:endParaRPr lang="en-US"/>
            </a:p>
          </p:txBody>
        </p:sp>
      </p:grpSp>
    </p:spTree>
    <p:extLst>
      <p:ext uri="{BB962C8B-B14F-4D97-AF65-F5344CB8AC3E}">
        <p14:creationId xmlns:p14="http://schemas.microsoft.com/office/powerpoint/2010/main" val="2944104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EFA5771D-D013-458A-87B2-67897D4F1121}"/>
              </a:ext>
            </a:extLst>
          </p:cNvPr>
          <p:cNvSpPr>
            <a:spLocks noGrp="1"/>
          </p:cNvSpPr>
          <p:nvPr>
            <p:ph type="body" sz="quarter" idx="10"/>
          </p:nvPr>
        </p:nvSpPr>
        <p:spPr>
          <a:xfrm>
            <a:off x="698651" y="2883051"/>
            <a:ext cx="5325226" cy="3420931"/>
          </a:xfrm>
        </p:spPr>
        <p:txBody>
          <a:bodyPr/>
          <a:lstStyle>
            <a:lvl1pPr>
              <a:spcAft>
                <a:spcPts val="300"/>
              </a:spcAft>
              <a:defRPr sz="999"/>
            </a:lvl1pPr>
            <a:lvl2pPr>
              <a:spcAft>
                <a:spcPts val="300"/>
              </a:spcAft>
              <a:defRPr sz="1399"/>
            </a:lvl2pPr>
            <a:lvl3pPr>
              <a:spcAft>
                <a:spcPts val="300"/>
              </a:spcAft>
              <a:defRPr lang="en-US" sz="1199" b="1" baseline="0" dirty="0">
                <a:solidFill>
                  <a:srgbClr val="747480"/>
                </a:solidFill>
                <a:latin typeface="EYInterstate Light" panose="02000506000000020004" pitchFamily="2" charset="0"/>
                <a:cs typeface="+mn-cs"/>
              </a:defRPr>
            </a:lvl3pPr>
            <a:lvl4pPr marL="190337" indent="-185579">
              <a:spcAft>
                <a:spcPts val="300"/>
              </a:spcAft>
              <a:buClr>
                <a:schemeClr val="tx1"/>
              </a:buClr>
              <a:buSzPct val="100000"/>
              <a:buFont typeface="EYInterstate" pitchFamily="2" charset="0"/>
              <a:buChar char="•"/>
              <a:defRPr sz="999"/>
            </a:lvl4pPr>
            <a:lvl5pPr marL="352125" indent="-160201">
              <a:spcAft>
                <a:spcPts val="300"/>
              </a:spcAft>
              <a:buClr>
                <a:schemeClr val="tx1"/>
              </a:buClr>
              <a:buSzPct val="100000"/>
              <a:buFont typeface="EYInterstate" pitchFamily="2" charset="0"/>
              <a:buChar char="•"/>
              <a:defRPr sz="999"/>
            </a:lvl5pPr>
          </a:lstStyle>
          <a:p>
            <a:pPr lvl="0"/>
            <a:r>
              <a:rPr lang="en-US"/>
              <a:t>Click to edit Master text styles</a:t>
            </a:r>
          </a:p>
          <a:p>
            <a:pPr lvl="1"/>
            <a:r>
              <a:rPr lang="en-US"/>
              <a:t>Second level</a:t>
            </a:r>
          </a:p>
          <a:p>
            <a:pPr marL="2879" lvl="2"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pPr>
            <a:r>
              <a:rPr lang="en-US"/>
              <a:t>Third level</a:t>
            </a:r>
          </a:p>
          <a:p>
            <a:pPr lvl="3"/>
            <a:r>
              <a:rPr lang="en-US"/>
              <a:t>Fourth level</a:t>
            </a:r>
          </a:p>
          <a:p>
            <a:pPr lvl="4"/>
            <a:r>
              <a:rPr lang="en-US"/>
              <a:t>Fifth level</a:t>
            </a:r>
          </a:p>
        </p:txBody>
      </p:sp>
      <p:sp>
        <p:nvSpPr>
          <p:cNvPr id="27" name="Text Placeholder 6">
            <a:extLst>
              <a:ext uri="{FF2B5EF4-FFF2-40B4-BE49-F238E27FC236}">
                <a16:creationId xmlns:a16="http://schemas.microsoft.com/office/drawing/2014/main" id="{D0FC522E-E17D-4566-BAEA-EBD564EBCF88}"/>
              </a:ext>
            </a:extLst>
          </p:cNvPr>
          <p:cNvSpPr>
            <a:spLocks noGrp="1"/>
          </p:cNvSpPr>
          <p:nvPr>
            <p:ph type="body" sz="quarter" idx="11"/>
          </p:nvPr>
        </p:nvSpPr>
        <p:spPr>
          <a:xfrm>
            <a:off x="6162693" y="2883015"/>
            <a:ext cx="5325226" cy="3421124"/>
          </a:xfrm>
        </p:spPr>
        <p:txBody>
          <a:bodyPr/>
          <a:lstStyle>
            <a:lvl1pPr>
              <a:spcAft>
                <a:spcPts val="300"/>
              </a:spcAft>
              <a:defRPr sz="999"/>
            </a:lvl1pPr>
            <a:lvl2pPr>
              <a:spcAft>
                <a:spcPts val="300"/>
              </a:spcAft>
              <a:defRPr sz="1399"/>
            </a:lvl2pPr>
            <a:lvl3pPr>
              <a:spcAft>
                <a:spcPts val="300"/>
              </a:spcAft>
              <a:defRPr lang="en-US" sz="1199" b="1" baseline="0" dirty="0">
                <a:solidFill>
                  <a:srgbClr val="747480"/>
                </a:solidFill>
                <a:latin typeface="EYInterstate Light" panose="02000506000000020004" pitchFamily="2" charset="0"/>
                <a:cs typeface="+mn-cs"/>
              </a:defRPr>
            </a:lvl3pPr>
            <a:lvl4pPr marL="190337" indent="-185579">
              <a:spcAft>
                <a:spcPts val="300"/>
              </a:spcAft>
              <a:buClr>
                <a:schemeClr val="tx1"/>
              </a:buClr>
              <a:buSzPct val="100000"/>
              <a:buFont typeface="EYInterstate" pitchFamily="2" charset="0"/>
              <a:buChar char="•"/>
              <a:defRPr sz="999"/>
            </a:lvl4pPr>
            <a:lvl5pPr marL="352125" indent="-160201">
              <a:spcAft>
                <a:spcPts val="300"/>
              </a:spcAft>
              <a:buClr>
                <a:schemeClr val="tx1"/>
              </a:buClr>
              <a:buSzPct val="100000"/>
              <a:buFont typeface="EYInterstate" pitchFamily="2" charset="0"/>
              <a:buChar char="•"/>
              <a:defRPr sz="999"/>
            </a:lvl5pPr>
          </a:lstStyle>
          <a:p>
            <a:pPr lvl="0"/>
            <a:r>
              <a:rPr lang="en-US"/>
              <a:t>Click to edit Master text styles</a:t>
            </a:r>
          </a:p>
          <a:p>
            <a:pPr lvl="1"/>
            <a:r>
              <a:rPr lang="en-US"/>
              <a:t>Second level</a:t>
            </a:r>
          </a:p>
          <a:p>
            <a:pPr marL="2879" lvl="2"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pPr>
            <a:r>
              <a:rPr lang="en-US"/>
              <a:t>Third level</a:t>
            </a:r>
          </a:p>
          <a:p>
            <a:pPr lvl="3"/>
            <a:r>
              <a:rPr lang="en-US"/>
              <a:t>Fourth level</a:t>
            </a:r>
          </a:p>
          <a:p>
            <a:pPr lvl="4"/>
            <a:r>
              <a:rPr lang="en-US"/>
              <a:t>Fifth level</a:t>
            </a:r>
          </a:p>
        </p:txBody>
      </p:sp>
      <p:sp>
        <p:nvSpPr>
          <p:cNvPr id="28" name="Text Placeholder 7">
            <a:extLst>
              <a:ext uri="{FF2B5EF4-FFF2-40B4-BE49-F238E27FC236}">
                <a16:creationId xmlns:a16="http://schemas.microsoft.com/office/drawing/2014/main" id="{AC9EF3C9-2B1C-4BE4-9BC9-1242B7C9D8ED}"/>
              </a:ext>
            </a:extLst>
          </p:cNvPr>
          <p:cNvSpPr>
            <a:spLocks noGrp="1"/>
          </p:cNvSpPr>
          <p:nvPr>
            <p:ph type="body" sz="quarter" idx="13" hasCustomPrompt="1"/>
          </p:nvPr>
        </p:nvSpPr>
        <p:spPr>
          <a:xfrm>
            <a:off x="698651" y="1706155"/>
            <a:ext cx="4647355" cy="1008000"/>
          </a:xfrm>
        </p:spPr>
        <p:txBody>
          <a:bodyPr/>
          <a:lstStyle>
            <a:lvl1pPr>
              <a:defRPr sz="1199" b="1" baseline="0">
                <a:solidFill>
                  <a:schemeClr val="tx1"/>
                </a:solidFill>
              </a:defRPr>
            </a:lvl1pPr>
            <a:lvl2pPr>
              <a:spcBef>
                <a:spcPts val="200"/>
              </a:spcBef>
              <a:spcAft>
                <a:spcPts val="200"/>
              </a:spcAft>
              <a:defRPr sz="900" b="0">
                <a:solidFill>
                  <a:schemeClr val="tx1"/>
                </a:solidFill>
              </a:defRPr>
            </a:lvl2pPr>
            <a:lvl3pPr marL="3173" marR="0" indent="0" algn="l" defTabSz="994514" rtl="0" eaLnBrk="1" fontAlgn="base" latinLnBrk="0" hangingPunct="1">
              <a:lnSpc>
                <a:spcPct val="100000"/>
              </a:lnSpc>
              <a:spcBef>
                <a:spcPct val="0"/>
              </a:spcBef>
              <a:spcAft>
                <a:spcPct val="40000"/>
              </a:spcAft>
              <a:buClr>
                <a:srgbClr val="FFD200"/>
              </a:buClr>
              <a:buSzPct val="75000"/>
              <a:buFont typeface="Arial Unicode MS" pitchFamily="34" charset="-128"/>
              <a:buNone/>
              <a:tabLst>
                <a:tab pos="1613111" algn="l"/>
                <a:tab pos="3226223" algn="l"/>
                <a:tab pos="4661685" algn="r"/>
              </a:tabLst>
              <a:defRPr kumimoji="0" lang="en-US" sz="1299" b="1" i="0" u="none" strike="noStrike" kern="0" cap="none" spc="0" normalizeH="0" baseline="0" noProof="0">
                <a:ln>
                  <a:noFill/>
                </a:ln>
                <a:solidFill>
                  <a:srgbClr val="7F7E82"/>
                </a:solidFill>
                <a:effectLst/>
                <a:uLnTx/>
                <a:uFillTx/>
              </a:defRPr>
            </a:lvl3pPr>
            <a:lvl4pPr marL="0" indent="4759">
              <a:buNone/>
              <a:defRPr sz="999"/>
            </a:lvl4pPr>
            <a:lvl5pPr>
              <a:defRPr sz="999"/>
            </a:lvl5pPr>
          </a:lstStyle>
          <a:p>
            <a:pPr lvl="0"/>
            <a:r>
              <a:rPr lang="en-US"/>
              <a:t>Private and confidential</a:t>
            </a:r>
          </a:p>
          <a:p>
            <a:pPr lvl="1"/>
            <a:r>
              <a:rPr lang="en-US"/>
              <a:t>XXXXXXXXXXXXX</a:t>
            </a:r>
          </a:p>
          <a:p>
            <a:pPr lvl="1"/>
            <a:r>
              <a:rPr lang="en-US"/>
              <a:t>XXXXXXXXXXX,</a:t>
            </a:r>
          </a:p>
          <a:p>
            <a:pPr lvl="1"/>
            <a:r>
              <a:rPr lang="en-US"/>
              <a:t>XXXXXXX</a:t>
            </a:r>
          </a:p>
        </p:txBody>
      </p:sp>
      <p:sp>
        <p:nvSpPr>
          <p:cNvPr id="29" name="Text Placeholder 11">
            <a:extLst>
              <a:ext uri="{FF2B5EF4-FFF2-40B4-BE49-F238E27FC236}">
                <a16:creationId xmlns:a16="http://schemas.microsoft.com/office/drawing/2014/main" id="{B8023327-946F-465C-B6F4-D60BA1024E61}"/>
              </a:ext>
            </a:extLst>
          </p:cNvPr>
          <p:cNvSpPr>
            <a:spLocks noGrp="1"/>
          </p:cNvSpPr>
          <p:nvPr>
            <p:ph type="body" sz="quarter" idx="12" hasCustomPrompt="1"/>
          </p:nvPr>
        </p:nvSpPr>
        <p:spPr>
          <a:xfrm>
            <a:off x="10040874" y="338373"/>
            <a:ext cx="1447046" cy="887412"/>
          </a:xfrm>
        </p:spPr>
        <p:txBody>
          <a:bodyPr/>
          <a:lstStyle>
            <a:lvl1pPr algn="l" defTabSz="994514">
              <a:spcAft>
                <a:spcPts val="0"/>
              </a:spcAft>
              <a:defRPr sz="700">
                <a:solidFill>
                  <a:srgbClr val="747480"/>
                </a:solidFill>
              </a:defRPr>
            </a:lvl1pPr>
            <a:lvl2pPr>
              <a:defRPr sz="700"/>
            </a:lvl2pPr>
            <a:lvl3pPr>
              <a:defRPr sz="700"/>
            </a:lvl3pPr>
            <a:lvl4pPr>
              <a:defRPr sz="700"/>
            </a:lvl4pPr>
            <a:lvl5pPr>
              <a:defRPr sz="700"/>
            </a:lvl5pPr>
          </a:lstStyle>
          <a:p>
            <a:pPr lvl="0"/>
            <a:r>
              <a:rPr lang="en-US"/>
              <a:t>Ernst &amp; Young LLP</a:t>
            </a:r>
          </a:p>
          <a:p>
            <a:pPr lvl="0"/>
            <a:r>
              <a:rPr lang="en-US"/>
              <a:t>1 More London Place</a:t>
            </a:r>
          </a:p>
          <a:p>
            <a:pPr lvl="0"/>
            <a:r>
              <a:rPr lang="en-US"/>
              <a:t>London SE1 2AF</a:t>
            </a:r>
          </a:p>
          <a:p>
            <a:pPr lvl="0"/>
            <a:endParaRPr lang="en-US"/>
          </a:p>
          <a:p>
            <a:pPr lvl="0"/>
            <a:r>
              <a:rPr lang="en-US"/>
              <a:t>Tel: 020 7951 2000</a:t>
            </a:r>
          </a:p>
          <a:p>
            <a:pPr lvl="0"/>
            <a:r>
              <a:rPr lang="en-US"/>
              <a:t>Fax: 020 7951 1345</a:t>
            </a:r>
          </a:p>
          <a:p>
            <a:pPr lvl="0"/>
            <a:r>
              <a:rPr lang="en-US"/>
              <a:t>www.ey.com/uk</a:t>
            </a:r>
          </a:p>
        </p:txBody>
      </p:sp>
      <p:pic>
        <p:nvPicPr>
          <p:cNvPr id="2" name="Picture 1" descr="A black and yellow logo&#10;&#10;Description automatically generated">
            <a:extLst>
              <a:ext uri="{FF2B5EF4-FFF2-40B4-BE49-F238E27FC236}">
                <a16:creationId xmlns:a16="http://schemas.microsoft.com/office/drawing/2014/main" id="{F764C199-EB11-53B5-08C1-7D2118DB5C3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98651" y="356296"/>
            <a:ext cx="1144079" cy="1205859"/>
          </a:xfrm>
          <a:prstGeom prst="rect">
            <a:avLst/>
          </a:prstGeom>
        </p:spPr>
      </p:pic>
    </p:spTree>
    <p:extLst>
      <p:ext uri="{BB962C8B-B14F-4D97-AF65-F5344CB8AC3E}">
        <p14:creationId xmlns:p14="http://schemas.microsoft.com/office/powerpoint/2010/main" val="1948991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EFA5771D-D013-458A-87B2-67897D4F1121}"/>
              </a:ext>
            </a:extLst>
          </p:cNvPr>
          <p:cNvSpPr>
            <a:spLocks noGrp="1"/>
          </p:cNvSpPr>
          <p:nvPr>
            <p:ph type="body" sz="quarter" idx="10"/>
          </p:nvPr>
        </p:nvSpPr>
        <p:spPr>
          <a:xfrm>
            <a:off x="698650" y="2883051"/>
            <a:ext cx="7966379" cy="3420931"/>
          </a:xfrm>
        </p:spPr>
        <p:txBody>
          <a:bodyPr/>
          <a:lstStyle>
            <a:lvl1pPr>
              <a:spcAft>
                <a:spcPts val="300"/>
              </a:spcAft>
              <a:defRPr sz="999"/>
            </a:lvl1pPr>
            <a:lvl2pPr>
              <a:spcAft>
                <a:spcPts val="300"/>
              </a:spcAft>
              <a:defRPr sz="1399"/>
            </a:lvl2pPr>
            <a:lvl3pPr>
              <a:spcAft>
                <a:spcPts val="300"/>
              </a:spcAft>
              <a:defRPr lang="en-US" sz="1199" b="1" baseline="0" dirty="0">
                <a:solidFill>
                  <a:srgbClr val="747480"/>
                </a:solidFill>
                <a:latin typeface="EYInterstate Light" panose="02000506000000020004" pitchFamily="2" charset="0"/>
                <a:cs typeface="+mn-cs"/>
              </a:defRPr>
            </a:lvl3pPr>
            <a:lvl4pPr marL="190337" indent="-185579">
              <a:spcAft>
                <a:spcPts val="300"/>
              </a:spcAft>
              <a:buClr>
                <a:schemeClr val="tx1"/>
              </a:buClr>
              <a:buSzPct val="100000"/>
              <a:buFont typeface="EYInterstate" pitchFamily="2" charset="0"/>
              <a:buChar char="•"/>
              <a:defRPr sz="999"/>
            </a:lvl4pPr>
            <a:lvl5pPr marL="352125" indent="-160201">
              <a:spcAft>
                <a:spcPts val="300"/>
              </a:spcAft>
              <a:buClr>
                <a:schemeClr val="tx1"/>
              </a:buClr>
              <a:buSzPct val="100000"/>
              <a:buFont typeface="EYInterstate" pitchFamily="2" charset="0"/>
              <a:buChar char="•"/>
              <a:defRPr sz="999"/>
            </a:lvl5pPr>
          </a:lstStyle>
          <a:p>
            <a:pPr lvl="0"/>
            <a:r>
              <a:rPr lang="en-US"/>
              <a:t>Click to edit Master text styles</a:t>
            </a:r>
          </a:p>
          <a:p>
            <a:pPr lvl="1"/>
            <a:r>
              <a:rPr lang="en-US"/>
              <a:t>Second level</a:t>
            </a:r>
          </a:p>
          <a:p>
            <a:pPr marL="2879" lvl="2"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pPr>
            <a:r>
              <a:rPr lang="en-US"/>
              <a:t>Third level</a:t>
            </a:r>
          </a:p>
          <a:p>
            <a:pPr lvl="3"/>
            <a:r>
              <a:rPr lang="en-US"/>
              <a:t>Fourth level</a:t>
            </a:r>
          </a:p>
          <a:p>
            <a:pPr lvl="4"/>
            <a:r>
              <a:rPr lang="en-US"/>
              <a:t>Fifth level</a:t>
            </a:r>
          </a:p>
        </p:txBody>
      </p:sp>
      <p:sp>
        <p:nvSpPr>
          <p:cNvPr id="28" name="Text Placeholder 7">
            <a:extLst>
              <a:ext uri="{FF2B5EF4-FFF2-40B4-BE49-F238E27FC236}">
                <a16:creationId xmlns:a16="http://schemas.microsoft.com/office/drawing/2014/main" id="{AC9EF3C9-2B1C-4BE4-9BC9-1242B7C9D8ED}"/>
              </a:ext>
            </a:extLst>
          </p:cNvPr>
          <p:cNvSpPr>
            <a:spLocks noGrp="1"/>
          </p:cNvSpPr>
          <p:nvPr>
            <p:ph type="body" sz="quarter" idx="13" hasCustomPrompt="1"/>
          </p:nvPr>
        </p:nvSpPr>
        <p:spPr>
          <a:xfrm>
            <a:off x="698650" y="1706155"/>
            <a:ext cx="7966379" cy="1008000"/>
          </a:xfrm>
        </p:spPr>
        <p:txBody>
          <a:bodyPr/>
          <a:lstStyle>
            <a:lvl1pPr>
              <a:defRPr sz="1199" b="1" baseline="0">
                <a:solidFill>
                  <a:schemeClr val="tx1"/>
                </a:solidFill>
              </a:defRPr>
            </a:lvl1pPr>
            <a:lvl2pPr>
              <a:spcBef>
                <a:spcPts val="200"/>
              </a:spcBef>
              <a:spcAft>
                <a:spcPts val="200"/>
              </a:spcAft>
              <a:defRPr sz="900" b="0">
                <a:solidFill>
                  <a:schemeClr val="tx1"/>
                </a:solidFill>
              </a:defRPr>
            </a:lvl2pPr>
            <a:lvl3pPr marL="3173" marR="0" indent="0" algn="l" defTabSz="994514" rtl="0" eaLnBrk="1" fontAlgn="base" latinLnBrk="0" hangingPunct="1">
              <a:lnSpc>
                <a:spcPct val="100000"/>
              </a:lnSpc>
              <a:spcBef>
                <a:spcPct val="0"/>
              </a:spcBef>
              <a:spcAft>
                <a:spcPct val="40000"/>
              </a:spcAft>
              <a:buClr>
                <a:srgbClr val="FFD200"/>
              </a:buClr>
              <a:buSzPct val="75000"/>
              <a:buFont typeface="Arial Unicode MS" pitchFamily="34" charset="-128"/>
              <a:buNone/>
              <a:tabLst>
                <a:tab pos="1613111" algn="l"/>
                <a:tab pos="3226223" algn="l"/>
                <a:tab pos="4661685" algn="r"/>
              </a:tabLst>
              <a:defRPr kumimoji="0" lang="en-US" sz="1299" b="1" i="0" u="none" strike="noStrike" kern="0" cap="none" spc="0" normalizeH="0" baseline="0" noProof="0">
                <a:ln>
                  <a:noFill/>
                </a:ln>
                <a:solidFill>
                  <a:srgbClr val="7F7E82"/>
                </a:solidFill>
                <a:effectLst/>
                <a:uLnTx/>
                <a:uFillTx/>
              </a:defRPr>
            </a:lvl3pPr>
            <a:lvl4pPr marL="0" indent="4759">
              <a:buNone/>
              <a:defRPr sz="999"/>
            </a:lvl4pPr>
            <a:lvl5pPr>
              <a:defRPr sz="999"/>
            </a:lvl5pPr>
          </a:lstStyle>
          <a:p>
            <a:pPr lvl="0"/>
            <a:r>
              <a:rPr lang="en-US"/>
              <a:t>Private and confidential</a:t>
            </a:r>
          </a:p>
          <a:p>
            <a:pPr lvl="1"/>
            <a:r>
              <a:rPr lang="en-US"/>
              <a:t>XXXXXXXXXXXXX</a:t>
            </a:r>
          </a:p>
          <a:p>
            <a:pPr lvl="1"/>
            <a:r>
              <a:rPr lang="en-US"/>
              <a:t>XXXXXXXXXXX,</a:t>
            </a:r>
          </a:p>
          <a:p>
            <a:pPr lvl="1"/>
            <a:r>
              <a:rPr lang="en-US"/>
              <a:t>XXXXXXX</a:t>
            </a:r>
          </a:p>
        </p:txBody>
      </p:sp>
      <p:sp>
        <p:nvSpPr>
          <p:cNvPr id="29" name="Text Placeholder 11">
            <a:extLst>
              <a:ext uri="{FF2B5EF4-FFF2-40B4-BE49-F238E27FC236}">
                <a16:creationId xmlns:a16="http://schemas.microsoft.com/office/drawing/2014/main" id="{B8023327-946F-465C-B6F4-D60BA1024E61}"/>
              </a:ext>
            </a:extLst>
          </p:cNvPr>
          <p:cNvSpPr>
            <a:spLocks noGrp="1"/>
          </p:cNvSpPr>
          <p:nvPr>
            <p:ph type="body" sz="quarter" idx="12" hasCustomPrompt="1"/>
          </p:nvPr>
        </p:nvSpPr>
        <p:spPr>
          <a:xfrm>
            <a:off x="7217983" y="338373"/>
            <a:ext cx="1447046" cy="887412"/>
          </a:xfrm>
        </p:spPr>
        <p:txBody>
          <a:bodyPr/>
          <a:lstStyle>
            <a:lvl1pPr algn="l" defTabSz="994514">
              <a:spcAft>
                <a:spcPts val="0"/>
              </a:spcAft>
              <a:defRPr sz="700">
                <a:solidFill>
                  <a:srgbClr val="747480"/>
                </a:solidFill>
              </a:defRPr>
            </a:lvl1pPr>
            <a:lvl2pPr>
              <a:defRPr sz="700"/>
            </a:lvl2pPr>
            <a:lvl3pPr>
              <a:defRPr sz="700"/>
            </a:lvl3pPr>
            <a:lvl4pPr>
              <a:defRPr sz="700"/>
            </a:lvl4pPr>
            <a:lvl5pPr>
              <a:defRPr sz="700"/>
            </a:lvl5pPr>
          </a:lstStyle>
          <a:p>
            <a:pPr lvl="0"/>
            <a:r>
              <a:rPr lang="en-US"/>
              <a:t>Ernst &amp; Young LLP</a:t>
            </a:r>
          </a:p>
          <a:p>
            <a:pPr lvl="0"/>
            <a:r>
              <a:rPr lang="en-US"/>
              <a:t>1 More London Place</a:t>
            </a:r>
          </a:p>
          <a:p>
            <a:pPr lvl="0"/>
            <a:r>
              <a:rPr lang="en-US"/>
              <a:t>London SE1 2AF</a:t>
            </a:r>
          </a:p>
          <a:p>
            <a:pPr lvl="0"/>
            <a:endParaRPr lang="en-US"/>
          </a:p>
          <a:p>
            <a:pPr lvl="0"/>
            <a:r>
              <a:rPr lang="en-US"/>
              <a:t>Tel: 020 7951 2000</a:t>
            </a:r>
          </a:p>
          <a:p>
            <a:pPr lvl="0"/>
            <a:r>
              <a:rPr lang="en-US"/>
              <a:t>Fax: 020 7951 1345</a:t>
            </a:r>
          </a:p>
          <a:p>
            <a:pPr lvl="0"/>
            <a:r>
              <a:rPr lang="en-US"/>
              <a:t>www.ey.com/uk</a:t>
            </a:r>
          </a:p>
        </p:txBody>
      </p:sp>
      <p:pic>
        <p:nvPicPr>
          <p:cNvPr id="2" name="Picture 1" descr="A black and yellow logo&#10;&#10;Description automatically generated">
            <a:extLst>
              <a:ext uri="{FF2B5EF4-FFF2-40B4-BE49-F238E27FC236}">
                <a16:creationId xmlns:a16="http://schemas.microsoft.com/office/drawing/2014/main" id="{F764C199-EB11-53B5-08C1-7D2118DB5C3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98651" y="356296"/>
            <a:ext cx="1144079" cy="1205859"/>
          </a:xfrm>
          <a:prstGeom prst="rect">
            <a:avLst/>
          </a:prstGeom>
        </p:spPr>
      </p:pic>
      <p:sp>
        <p:nvSpPr>
          <p:cNvPr id="3" name="Rectangle 2">
            <a:extLst>
              <a:ext uri="{FF2B5EF4-FFF2-40B4-BE49-F238E27FC236}">
                <a16:creationId xmlns:a16="http://schemas.microsoft.com/office/drawing/2014/main" id="{4C362BA1-9CF9-EC28-7766-D489FDFF019C}"/>
              </a:ext>
            </a:extLst>
          </p:cNvPr>
          <p:cNvSpPr/>
          <p:nvPr userDrawn="1"/>
        </p:nvSpPr>
        <p:spPr bwMode="auto">
          <a:xfrm>
            <a:off x="8889850" y="1706155"/>
            <a:ext cx="2603499" cy="4564470"/>
          </a:xfrm>
          <a:prstGeom prst="rect">
            <a:avLst/>
          </a:prstGeom>
          <a:solidFill>
            <a:srgbClr val="F2F2F2"/>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sp>
        <p:nvSpPr>
          <p:cNvPr id="5" name="TextBox 4">
            <a:extLst>
              <a:ext uri="{FF2B5EF4-FFF2-40B4-BE49-F238E27FC236}">
                <a16:creationId xmlns:a16="http://schemas.microsoft.com/office/drawing/2014/main" id="{86AC490D-078A-7693-C5C0-00FD013E52B5}"/>
              </a:ext>
            </a:extLst>
          </p:cNvPr>
          <p:cNvSpPr txBox="1"/>
          <p:nvPr userDrawn="1"/>
        </p:nvSpPr>
        <p:spPr>
          <a:xfrm>
            <a:off x="8889850" y="1858154"/>
            <a:ext cx="2619525" cy="276999"/>
          </a:xfrm>
          <a:prstGeom prst="rect">
            <a:avLst/>
          </a:prstGeom>
          <a:noFill/>
        </p:spPr>
        <p:txBody>
          <a:bodyPr wrap="square">
            <a:spAutoFit/>
          </a:bodyPr>
          <a:lstStyle/>
          <a:p>
            <a:pPr marL="0" marR="0" lvl="0" indent="0" algn="l" defTabSz="902010" rtl="0" eaLnBrk="1" fontAlgn="base" latinLnBrk="0" hangingPunct="1">
              <a:lnSpc>
                <a:spcPct val="100000"/>
              </a:lnSpc>
              <a:spcBef>
                <a:spcPct val="0"/>
              </a:spcBef>
              <a:spcAft>
                <a:spcPct val="40000"/>
              </a:spcAft>
              <a:buClr>
                <a:srgbClr val="FFD200"/>
              </a:buClr>
              <a:buSzPct val="75000"/>
              <a:buFont typeface="Arial Unicode MS" pitchFamily="34" charset="-128"/>
              <a:buNone/>
              <a:tabLst>
                <a:tab pos="1463068" algn="l"/>
                <a:tab pos="2926135" algn="l"/>
                <a:tab pos="4228080" algn="r"/>
              </a:tabLst>
              <a:defRPr/>
            </a:pPr>
            <a:r>
              <a:rPr kumimoji="0" lang="en-US" sz="1200" b="1" i="0" u="none" strike="noStrike" kern="0" cap="none" spc="0" normalizeH="0" baseline="0" noProof="0">
                <a:ln>
                  <a:noFill/>
                </a:ln>
                <a:solidFill>
                  <a:srgbClr val="000000"/>
                </a:solidFill>
                <a:effectLst/>
                <a:uLnTx/>
                <a:uFillTx/>
                <a:latin typeface="EYInterstate Light" panose="02000506000000020004" pitchFamily="2" charset="0"/>
                <a:ea typeface="+mn-ea"/>
                <a:cs typeface="Arial"/>
              </a:rPr>
              <a:t>Contacts</a:t>
            </a:r>
          </a:p>
        </p:txBody>
      </p:sp>
      <p:sp>
        <p:nvSpPr>
          <p:cNvPr id="7" name="Text Placeholder 4">
            <a:extLst>
              <a:ext uri="{FF2B5EF4-FFF2-40B4-BE49-F238E27FC236}">
                <a16:creationId xmlns:a16="http://schemas.microsoft.com/office/drawing/2014/main" id="{553EA9E2-12F1-F137-3A43-0351E6534045}"/>
              </a:ext>
            </a:extLst>
          </p:cNvPr>
          <p:cNvSpPr>
            <a:spLocks noGrp="1"/>
          </p:cNvSpPr>
          <p:nvPr>
            <p:ph type="body" sz="quarter" idx="14"/>
          </p:nvPr>
        </p:nvSpPr>
        <p:spPr>
          <a:xfrm>
            <a:off x="8984267" y="2277924"/>
            <a:ext cx="2414664" cy="3883390"/>
          </a:xfrm>
        </p:spPr>
        <p:txBody>
          <a:bodyPr/>
          <a:lstStyle>
            <a:lvl1pPr>
              <a:spcAft>
                <a:spcPts val="300"/>
              </a:spcAft>
              <a:defRPr sz="999"/>
            </a:lvl1pPr>
            <a:lvl2pPr>
              <a:spcAft>
                <a:spcPts val="300"/>
              </a:spcAft>
              <a:defRPr sz="1399"/>
            </a:lvl2pPr>
            <a:lvl3pPr>
              <a:spcAft>
                <a:spcPts val="300"/>
              </a:spcAft>
              <a:defRPr lang="en-US" sz="1199" b="1" baseline="0" dirty="0">
                <a:solidFill>
                  <a:srgbClr val="747480"/>
                </a:solidFill>
                <a:latin typeface="EYInterstate Light" panose="02000506000000020004" pitchFamily="2" charset="0"/>
                <a:cs typeface="+mn-cs"/>
              </a:defRPr>
            </a:lvl3pPr>
            <a:lvl4pPr marL="190337" indent="-185579">
              <a:spcAft>
                <a:spcPts val="300"/>
              </a:spcAft>
              <a:buClr>
                <a:schemeClr val="tx1"/>
              </a:buClr>
              <a:buSzPct val="100000"/>
              <a:buFont typeface="EYInterstate" pitchFamily="2" charset="0"/>
              <a:buChar char="•"/>
              <a:defRPr sz="999"/>
            </a:lvl4pPr>
            <a:lvl5pPr marL="352125" indent="-160201">
              <a:spcAft>
                <a:spcPts val="300"/>
              </a:spcAft>
              <a:buClr>
                <a:schemeClr val="tx1"/>
              </a:buClr>
              <a:buSzPct val="100000"/>
              <a:buFont typeface="EYInterstate" pitchFamily="2" charset="0"/>
              <a:buChar char="•"/>
              <a:defRPr sz="999"/>
            </a:lvl5pPr>
          </a:lstStyle>
          <a:p>
            <a:pPr lvl="0"/>
            <a:r>
              <a:rPr lang="en-US"/>
              <a:t>Click to edit Master text styles</a:t>
            </a:r>
          </a:p>
          <a:p>
            <a:pPr lvl="1"/>
            <a:r>
              <a:rPr lang="en-US"/>
              <a:t>Second level</a:t>
            </a:r>
          </a:p>
          <a:p>
            <a:pPr marL="2879" lvl="2"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pPr>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70264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userDrawn="1">
            <p:ph type="title"/>
          </p:nvPr>
        </p:nvSpPr>
        <p:spPr>
          <a:xfrm>
            <a:off x="701366" y="273717"/>
            <a:ext cx="10789269" cy="792000"/>
          </a:xfrm>
        </p:spPr>
        <p:txBody>
          <a:bodyPr lIns="0"/>
          <a:lstStyle>
            <a:lvl1pPr>
              <a:defRPr>
                <a:solidFill>
                  <a:schemeClr val="tx1"/>
                </a:solidFill>
              </a:defRPr>
            </a:lvl1pPr>
          </a:lstStyle>
          <a:p>
            <a:r>
              <a:rPr lang="en-US"/>
              <a:t>Click to edit Master title style</a:t>
            </a:r>
          </a:p>
        </p:txBody>
      </p:sp>
      <p:sp>
        <p:nvSpPr>
          <p:cNvPr id="3" name="Content Placeholder 2"/>
          <p:cNvSpPr>
            <a:spLocks noGrp="1"/>
          </p:cNvSpPr>
          <p:nvPr>
            <p:ph idx="1"/>
          </p:nvPr>
        </p:nvSpPr>
        <p:spPr>
          <a:xfrm>
            <a:off x="701366" y="1291281"/>
            <a:ext cx="10789269" cy="4968000"/>
          </a:xfrm>
        </p:spPr>
        <p:txBody>
          <a:bodyPr/>
          <a:lstStyle>
            <a:lvl1pPr>
              <a:defRPr sz="999"/>
            </a:lvl1pPr>
            <a:lvl2pPr>
              <a:defRPr/>
            </a:lvl2pPr>
            <a:lvl3pPr>
              <a:defRPr baseline="0">
                <a:solidFill>
                  <a:srgbClr val="747480"/>
                </a:solidFill>
              </a:defRPr>
            </a:lvl3pPr>
            <a:lvl4pPr marL="172632" indent="-168317">
              <a:buClr>
                <a:schemeClr val="tx1"/>
              </a:buClr>
              <a:buSzPct val="100000"/>
              <a:buFont typeface="EYInterstate" pitchFamily="2" charset="0"/>
              <a:buChar char="•"/>
              <a:defRPr sz="999"/>
            </a:lvl4pPr>
            <a:lvl5pPr marL="319372" indent="-145299">
              <a:buClr>
                <a:schemeClr val="tx1"/>
              </a:buClr>
              <a:buSzPct val="100000"/>
              <a:buFont typeface="EYInterstate" pitchFamily="2" charset="0"/>
              <a:buChar char="•"/>
              <a:defRPr sz="9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Line 10">
            <a:extLst>
              <a:ext uri="{FF2B5EF4-FFF2-40B4-BE49-F238E27FC236}">
                <a16:creationId xmlns:a16="http://schemas.microsoft.com/office/drawing/2014/main" id="{553F802C-743B-4B1A-B297-4A21CDCC9DB2}"/>
              </a:ext>
            </a:extLst>
          </p:cNvPr>
          <p:cNvSpPr>
            <a:spLocks noChangeShapeType="1"/>
          </p:cNvSpPr>
          <p:nvPr userDrawn="1"/>
        </p:nvSpPr>
        <p:spPr bwMode="auto">
          <a:xfrm>
            <a:off x="701365" y="1085850"/>
            <a:ext cx="10790780" cy="0"/>
          </a:xfrm>
          <a:prstGeom prst="line">
            <a:avLst/>
          </a:prstGeom>
          <a:noFill/>
          <a:ln w="19050">
            <a:gradFill flip="none" rotWithShape="1">
              <a:gsLst>
                <a:gs pos="0">
                  <a:srgbClr val="FFE600"/>
                </a:gs>
                <a:gs pos="58000">
                  <a:srgbClr val="00C864"/>
                </a:gs>
                <a:gs pos="100000">
                  <a:srgbClr val="4398F7"/>
                </a:gs>
              </a:gsLst>
              <a:lin ang="0" scaled="1"/>
              <a:tileRect/>
            </a:gra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8" noProof="0">
              <a:solidFill>
                <a:schemeClr val="bg1"/>
              </a:solidFill>
              <a:latin typeface="EYInterstate Light" panose="02000506000000020004" pitchFamily="2" charset="0"/>
              <a:sym typeface="EYInterstate Light" panose="02000506000000020004" pitchFamily="2" charset="0"/>
            </a:endParaRPr>
          </a:p>
        </p:txBody>
      </p:sp>
    </p:spTree>
    <p:extLst>
      <p:ext uri="{BB962C8B-B14F-4D97-AF65-F5344CB8AC3E}">
        <p14:creationId xmlns:p14="http://schemas.microsoft.com/office/powerpoint/2010/main" val="1092499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1/3 column layout">
    <p:spTree>
      <p:nvGrpSpPr>
        <p:cNvPr id="1" name=""/>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id="{9AD17B03-94B7-7D42-CB91-CCFC8036B668}"/>
              </a:ext>
            </a:extLst>
          </p:cNvPr>
          <p:cNvSpPr/>
          <p:nvPr userDrawn="1"/>
        </p:nvSpPr>
        <p:spPr bwMode="auto">
          <a:xfrm>
            <a:off x="6211387" y="3867195"/>
            <a:ext cx="5323475" cy="2116440"/>
          </a:xfrm>
          <a:prstGeom prst="roundRect">
            <a:avLst>
              <a:gd name="adj" fmla="val 7609"/>
            </a:avLst>
          </a:prstGeom>
          <a:noFill/>
          <a:ln w="9525">
            <a:gradFill>
              <a:gsLst>
                <a:gs pos="31000">
                  <a:srgbClr val="188CE5">
                    <a:lumMod val="99000"/>
                    <a:alpha val="42000"/>
                  </a:srgbClr>
                </a:gs>
                <a:gs pos="83000">
                  <a:schemeClr val="bg1">
                    <a:alpha val="42000"/>
                  </a:schemeClr>
                </a:gs>
                <a:gs pos="0">
                  <a:srgbClr val="188CE5"/>
                </a:gs>
              </a:gsLst>
              <a:lin ang="5400000" scaled="1"/>
            </a:gradFill>
            <a:miter lim="800000"/>
            <a:headEnd/>
            <a:tailEnd/>
          </a:ln>
          <a:effectLst/>
        </p:spPr>
        <p:txBody>
          <a:bodyPr vert="horz" wrap="square" lIns="72000" tIns="0" rIns="0" bIns="0" numCol="1" anchor="t" anchorCtr="0" compatLnSpc="1">
            <a:prstTxWarp prst="textNoShape">
              <a:avLst/>
            </a:prstTxWarp>
            <a:noAutofit/>
          </a:bodyPr>
          <a:lstStyle/>
          <a:p>
            <a:pPr marL="180000" lvl="0" indent="-180000" defTabSz="902010" fontAlgn="base">
              <a:lnSpc>
                <a:spcPct val="95000"/>
              </a:lnSpc>
              <a:spcBef>
                <a:spcPts val="50"/>
              </a:spcBef>
              <a:spcAft>
                <a:spcPts val="0"/>
              </a:spcAft>
              <a:buClr>
                <a:schemeClr val="accent1"/>
              </a:buClr>
              <a:buSzPct val="100000"/>
              <a:buFont typeface="EYInterstate Light" panose="02000506000000020004" pitchFamily="2" charset="0"/>
              <a:buChar char="•"/>
              <a:tabLst>
                <a:tab pos="1463068" algn="l"/>
                <a:tab pos="2926135" algn="l"/>
                <a:tab pos="4228080" algn="r"/>
              </a:tabLst>
            </a:pPr>
            <a:endParaRPr lang="en-US" sz="1100" baseline="0">
              <a:latin typeface="EYInterstate Light" panose="02000506000000020004" pitchFamily="2" charset="0"/>
            </a:endParaRPr>
          </a:p>
        </p:txBody>
      </p:sp>
      <p:sp>
        <p:nvSpPr>
          <p:cNvPr id="43" name="Rectangle: Rounded Corners 42">
            <a:extLst>
              <a:ext uri="{FF2B5EF4-FFF2-40B4-BE49-F238E27FC236}">
                <a16:creationId xmlns:a16="http://schemas.microsoft.com/office/drawing/2014/main" id="{5F170419-0404-8416-6CC6-4E8CFCDB11F4}"/>
              </a:ext>
            </a:extLst>
          </p:cNvPr>
          <p:cNvSpPr/>
          <p:nvPr userDrawn="1"/>
        </p:nvSpPr>
        <p:spPr bwMode="auto">
          <a:xfrm>
            <a:off x="6211387" y="1583121"/>
            <a:ext cx="5323478" cy="2095886"/>
          </a:xfrm>
          <a:prstGeom prst="roundRect">
            <a:avLst>
              <a:gd name="adj" fmla="val 7609"/>
            </a:avLst>
          </a:prstGeom>
          <a:noFill/>
          <a:ln w="9525">
            <a:gradFill>
              <a:gsLst>
                <a:gs pos="56000">
                  <a:srgbClr val="FCF07D">
                    <a:lumMod val="99000"/>
                    <a:alpha val="54000"/>
                  </a:srgbClr>
                </a:gs>
                <a:gs pos="100000">
                  <a:schemeClr val="bg1"/>
                </a:gs>
                <a:gs pos="0">
                  <a:srgbClr val="FFE600"/>
                </a:gs>
              </a:gsLst>
              <a:lin ang="5400000" scaled="1"/>
            </a:gradFill>
            <a:miter lim="800000"/>
            <a:headEnd/>
            <a:tailEnd/>
          </a:ln>
          <a:effectLst/>
        </p:spPr>
        <p:txBody>
          <a:bodyPr vert="horz" wrap="square" lIns="72000" tIns="0" rIns="0" bIns="0" numCol="1" anchor="t" anchorCtr="0" compatLnSpc="1">
            <a:prstTxWarp prst="textNoShape">
              <a:avLst/>
            </a:prstTxWarp>
            <a:noAutofit/>
          </a:bodyPr>
          <a:lstStyle/>
          <a:p>
            <a:pPr marL="180000" lvl="0" indent="-180000" defTabSz="902010" fontAlgn="base">
              <a:lnSpc>
                <a:spcPct val="95000"/>
              </a:lnSpc>
              <a:spcBef>
                <a:spcPts val="50"/>
              </a:spcBef>
              <a:spcAft>
                <a:spcPts val="0"/>
              </a:spcAft>
              <a:buClr>
                <a:schemeClr val="accent1"/>
              </a:buClr>
              <a:buSzPct val="100000"/>
              <a:buFont typeface="EYInterstate Light" panose="02000506000000020004" pitchFamily="2" charset="0"/>
              <a:buChar char="•"/>
              <a:tabLst>
                <a:tab pos="1463068" algn="l"/>
                <a:tab pos="2926135" algn="l"/>
                <a:tab pos="4228080" algn="r"/>
              </a:tabLst>
            </a:pPr>
            <a:endParaRPr lang="en-US" sz="1100" baseline="0">
              <a:latin typeface="EYInterstate Light" panose="02000506000000020004" pitchFamily="2" charset="0"/>
            </a:endParaRPr>
          </a:p>
        </p:txBody>
      </p:sp>
      <p:sp>
        <p:nvSpPr>
          <p:cNvPr id="41" name="Rectangle: Rounded Corners 40">
            <a:extLst>
              <a:ext uri="{FF2B5EF4-FFF2-40B4-BE49-F238E27FC236}">
                <a16:creationId xmlns:a16="http://schemas.microsoft.com/office/drawing/2014/main" id="{E6838832-F56B-ABF0-59AA-3D53DEFF5CCE}"/>
              </a:ext>
            </a:extLst>
          </p:cNvPr>
          <p:cNvSpPr/>
          <p:nvPr userDrawn="1"/>
        </p:nvSpPr>
        <p:spPr bwMode="auto">
          <a:xfrm>
            <a:off x="702137" y="3867195"/>
            <a:ext cx="5323475" cy="2116440"/>
          </a:xfrm>
          <a:prstGeom prst="roundRect">
            <a:avLst>
              <a:gd name="adj" fmla="val 7609"/>
            </a:avLst>
          </a:prstGeom>
          <a:noFill/>
          <a:ln w="9525">
            <a:gradFill>
              <a:gsLst>
                <a:gs pos="31000">
                  <a:srgbClr val="188CE5">
                    <a:lumMod val="99000"/>
                    <a:alpha val="42000"/>
                  </a:srgbClr>
                </a:gs>
                <a:gs pos="83000">
                  <a:schemeClr val="bg1">
                    <a:alpha val="42000"/>
                  </a:schemeClr>
                </a:gs>
                <a:gs pos="0">
                  <a:srgbClr val="188CE5"/>
                </a:gs>
              </a:gsLst>
              <a:lin ang="5400000" scaled="1"/>
            </a:gradFill>
            <a:miter lim="800000"/>
            <a:headEnd/>
            <a:tailEnd/>
          </a:ln>
          <a:effectLst/>
        </p:spPr>
        <p:txBody>
          <a:bodyPr vert="horz" wrap="square" lIns="72000" tIns="0" rIns="0" bIns="0" numCol="1" anchor="t" anchorCtr="0" compatLnSpc="1">
            <a:prstTxWarp prst="textNoShape">
              <a:avLst/>
            </a:prstTxWarp>
            <a:noAutofit/>
          </a:bodyPr>
          <a:lstStyle/>
          <a:p>
            <a:pPr marL="180000" lvl="0" indent="-180000" defTabSz="902010" fontAlgn="base">
              <a:lnSpc>
                <a:spcPct val="95000"/>
              </a:lnSpc>
              <a:spcBef>
                <a:spcPts val="50"/>
              </a:spcBef>
              <a:spcAft>
                <a:spcPts val="0"/>
              </a:spcAft>
              <a:buClr>
                <a:schemeClr val="accent1"/>
              </a:buClr>
              <a:buSzPct val="100000"/>
              <a:buFont typeface="EYInterstate Light" panose="02000506000000020004" pitchFamily="2" charset="0"/>
              <a:buChar char="•"/>
              <a:tabLst>
                <a:tab pos="1463068" algn="l"/>
                <a:tab pos="2926135" algn="l"/>
                <a:tab pos="4228080" algn="r"/>
              </a:tabLst>
            </a:pPr>
            <a:endParaRPr lang="en-US" sz="1100" baseline="0">
              <a:latin typeface="EYInterstate Light" panose="02000506000000020004" pitchFamily="2" charset="0"/>
            </a:endParaRPr>
          </a:p>
        </p:txBody>
      </p:sp>
      <p:sp>
        <p:nvSpPr>
          <p:cNvPr id="40" name="Rectangle: Rounded Corners 39">
            <a:extLst>
              <a:ext uri="{FF2B5EF4-FFF2-40B4-BE49-F238E27FC236}">
                <a16:creationId xmlns:a16="http://schemas.microsoft.com/office/drawing/2014/main" id="{CA7BDE75-13EC-DAAC-AAFB-2CF8442CAB1C}"/>
              </a:ext>
            </a:extLst>
          </p:cNvPr>
          <p:cNvSpPr/>
          <p:nvPr userDrawn="1"/>
        </p:nvSpPr>
        <p:spPr bwMode="auto">
          <a:xfrm>
            <a:off x="696710" y="1583121"/>
            <a:ext cx="5323478" cy="2095886"/>
          </a:xfrm>
          <a:prstGeom prst="roundRect">
            <a:avLst>
              <a:gd name="adj" fmla="val 7609"/>
            </a:avLst>
          </a:prstGeom>
          <a:noFill/>
          <a:ln w="9525">
            <a:gradFill>
              <a:gsLst>
                <a:gs pos="56000">
                  <a:srgbClr val="FCF07D">
                    <a:lumMod val="99000"/>
                    <a:alpha val="54000"/>
                  </a:srgbClr>
                </a:gs>
                <a:gs pos="100000">
                  <a:schemeClr val="bg1"/>
                </a:gs>
                <a:gs pos="0">
                  <a:srgbClr val="FFE600"/>
                </a:gs>
              </a:gsLst>
              <a:lin ang="5400000" scaled="1"/>
            </a:gradFill>
            <a:miter lim="800000"/>
            <a:headEnd/>
            <a:tailEnd/>
          </a:ln>
          <a:effectLst/>
        </p:spPr>
        <p:txBody>
          <a:bodyPr vert="horz" wrap="square" lIns="72000" tIns="0" rIns="0" bIns="0" numCol="1" anchor="t" anchorCtr="0" compatLnSpc="1">
            <a:prstTxWarp prst="textNoShape">
              <a:avLst/>
            </a:prstTxWarp>
            <a:noAutofit/>
          </a:bodyPr>
          <a:lstStyle/>
          <a:p>
            <a:pPr marL="180000" lvl="0" indent="-180000" defTabSz="902010" fontAlgn="base">
              <a:lnSpc>
                <a:spcPct val="95000"/>
              </a:lnSpc>
              <a:spcBef>
                <a:spcPts val="50"/>
              </a:spcBef>
              <a:spcAft>
                <a:spcPts val="0"/>
              </a:spcAft>
              <a:buClr>
                <a:schemeClr val="accent1"/>
              </a:buClr>
              <a:buSzPct val="100000"/>
              <a:buFont typeface="EYInterstate Light" panose="02000506000000020004" pitchFamily="2" charset="0"/>
              <a:buChar char="•"/>
              <a:tabLst>
                <a:tab pos="1463068" algn="l"/>
                <a:tab pos="2926135" algn="l"/>
                <a:tab pos="4228080" algn="r"/>
              </a:tabLst>
            </a:pPr>
            <a:endParaRPr lang="en-US" sz="1100" baseline="0">
              <a:latin typeface="EYInterstate Light" panose="02000506000000020004" pitchFamily="2" charset="0"/>
            </a:endParaRPr>
          </a:p>
        </p:txBody>
      </p:sp>
      <p:sp>
        <p:nvSpPr>
          <p:cNvPr id="2" name="Rectangle 1">
            <a:extLst>
              <a:ext uri="{FF2B5EF4-FFF2-40B4-BE49-F238E27FC236}">
                <a16:creationId xmlns:a16="http://schemas.microsoft.com/office/drawing/2014/main" id="{A447AC6D-D54F-E17C-34F6-FD8E7E057E00}"/>
              </a:ext>
            </a:extLst>
          </p:cNvPr>
          <p:cNvSpPr/>
          <p:nvPr userDrawn="1"/>
        </p:nvSpPr>
        <p:spPr bwMode="auto">
          <a:xfrm>
            <a:off x="0" y="0"/>
            <a:ext cx="12192000" cy="1375836"/>
          </a:xfrm>
          <a:prstGeom prst="rect">
            <a:avLst/>
          </a:prstGeom>
          <a:solidFill>
            <a:schemeClr val="accent3">
              <a:lumMod val="95000"/>
            </a:schemeClr>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EYInterstate Light"/>
              <a:ea typeface="+mn-ea"/>
              <a:cs typeface="Calibri Light"/>
            </a:endParaRPr>
          </a:p>
        </p:txBody>
      </p:sp>
      <p:cxnSp>
        <p:nvCxnSpPr>
          <p:cNvPr id="3" name="Straight Connector 2">
            <a:extLst>
              <a:ext uri="{FF2B5EF4-FFF2-40B4-BE49-F238E27FC236}">
                <a16:creationId xmlns:a16="http://schemas.microsoft.com/office/drawing/2014/main" id="{A165FD14-773B-C78D-2FCF-CCF7BEF6E805}"/>
              </a:ext>
            </a:extLst>
          </p:cNvPr>
          <p:cNvCxnSpPr>
            <a:cxnSpLocks/>
          </p:cNvCxnSpPr>
          <p:nvPr userDrawn="1"/>
        </p:nvCxnSpPr>
        <p:spPr bwMode="auto">
          <a:xfrm>
            <a:off x="6096000" y="1731131"/>
            <a:ext cx="0" cy="4539494"/>
          </a:xfrm>
          <a:prstGeom prst="line">
            <a:avLst/>
          </a:prstGeom>
          <a:solidFill>
            <a:schemeClr val="accent1"/>
          </a:solidFill>
          <a:ln w="3175" cap="flat" cmpd="sng" algn="ctr">
            <a:solidFill>
              <a:schemeClr val="tx2"/>
            </a:solidFill>
            <a:prstDash val="solid"/>
            <a:round/>
            <a:headEnd type="none" w="med" len="med"/>
            <a:tailEnd type="none" w="med" len="med"/>
          </a:ln>
          <a:effectLst/>
        </p:spPr>
      </p:cxnSp>
      <p:sp>
        <p:nvSpPr>
          <p:cNvPr id="4" name="Picture Placeholder 3">
            <a:extLst>
              <a:ext uri="{FF2B5EF4-FFF2-40B4-BE49-F238E27FC236}">
                <a16:creationId xmlns:a16="http://schemas.microsoft.com/office/drawing/2014/main" id="{F405CCED-35DB-435B-9253-F9A243073D87}"/>
              </a:ext>
            </a:extLst>
          </p:cNvPr>
          <p:cNvSpPr>
            <a:spLocks noGrp="1"/>
          </p:cNvSpPr>
          <p:nvPr>
            <p:ph type="pic" sz="quarter" idx="14"/>
          </p:nvPr>
        </p:nvSpPr>
        <p:spPr>
          <a:xfrm>
            <a:off x="690563" y="185870"/>
            <a:ext cx="1100530" cy="1101825"/>
          </a:xfrm>
          <a:prstGeom prst="ellipse">
            <a:avLst/>
          </a:prstGeom>
          <a:noFill/>
          <a:ln w="19050">
            <a:gradFill flip="none" rotWithShape="1">
              <a:gsLst>
                <a:gs pos="0">
                  <a:srgbClr val="FFE600"/>
                </a:gs>
                <a:gs pos="58000">
                  <a:srgbClr val="00C864"/>
                </a:gs>
                <a:gs pos="100000">
                  <a:srgbClr val="4398F7"/>
                </a:gs>
              </a:gsLst>
              <a:lin ang="0" scaled="1"/>
              <a:tileRect/>
            </a:gradFill>
            <a:round/>
            <a:headEnd/>
            <a:tailEnd/>
          </a:ln>
          <a:effectLst/>
        </p:spPr>
        <p:txBody>
          <a:bodyPr wrap="none" anchor="ctr"/>
          <a:lstStyle>
            <a:lvl1pPr>
              <a:defRPr lang="en-US" sz="1798" kern="1200">
                <a:solidFill>
                  <a:schemeClr val="bg1"/>
                </a:solidFill>
              </a:defRPr>
            </a:lvl1pPr>
          </a:lstStyle>
          <a:p>
            <a:pPr marL="0" lvl="0" defTabSz="914400" latinLnBrk="0"/>
            <a:endParaRPr lang="en-US"/>
          </a:p>
        </p:txBody>
      </p:sp>
      <p:sp>
        <p:nvSpPr>
          <p:cNvPr id="5" name="Content Placeholder 10">
            <a:extLst>
              <a:ext uri="{FF2B5EF4-FFF2-40B4-BE49-F238E27FC236}">
                <a16:creationId xmlns:a16="http://schemas.microsoft.com/office/drawing/2014/main" id="{A6E21B3F-4390-AC7D-91DE-92FC432449F2}"/>
              </a:ext>
            </a:extLst>
          </p:cNvPr>
          <p:cNvSpPr>
            <a:spLocks noGrp="1"/>
          </p:cNvSpPr>
          <p:nvPr>
            <p:ph sz="quarter" idx="12" hasCustomPrompt="1"/>
          </p:nvPr>
        </p:nvSpPr>
        <p:spPr>
          <a:xfrm>
            <a:off x="690561" y="1731131"/>
            <a:ext cx="5308793" cy="1865098"/>
          </a:xfrm>
          <a:prstGeom prst="rect">
            <a:avLst/>
          </a:prstGeom>
        </p:spPr>
        <p:txBody>
          <a:bodyPr lIns="54864" tIns="54864" rIns="54864" bIns="54864"/>
          <a:lstStyle>
            <a:lvl2pPr>
              <a:defRPr sz="1200">
                <a:solidFill>
                  <a:schemeClr val="tx1"/>
                </a:solidFill>
                <a:latin typeface="+mn-lt"/>
              </a:defRPr>
            </a:lvl2pPr>
            <a:lvl4pPr marL="172722" indent="-16840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4pPr>
            <a:lvl5pPr marL="319537" indent="-14537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5pPr>
          </a:lstStyle>
          <a:p>
            <a:pPr lvl="3"/>
            <a:r>
              <a:rPr lang="en-US"/>
              <a:t>Fourth level</a:t>
            </a:r>
          </a:p>
          <a:p>
            <a:pPr lvl="4"/>
            <a:r>
              <a:rPr lang="en-US"/>
              <a:t>Fifth level</a:t>
            </a:r>
          </a:p>
        </p:txBody>
      </p:sp>
      <p:sp>
        <p:nvSpPr>
          <p:cNvPr id="6" name="Content Placeholder 10">
            <a:extLst>
              <a:ext uri="{FF2B5EF4-FFF2-40B4-BE49-F238E27FC236}">
                <a16:creationId xmlns:a16="http://schemas.microsoft.com/office/drawing/2014/main" id="{2CF7388C-2761-318B-A83D-A9C0F75C90EF}"/>
              </a:ext>
            </a:extLst>
          </p:cNvPr>
          <p:cNvSpPr>
            <a:spLocks noGrp="1"/>
          </p:cNvSpPr>
          <p:nvPr>
            <p:ph sz="quarter" idx="15" hasCustomPrompt="1"/>
          </p:nvPr>
        </p:nvSpPr>
        <p:spPr>
          <a:xfrm>
            <a:off x="690562" y="3949126"/>
            <a:ext cx="5308792" cy="2313991"/>
          </a:xfrm>
          <a:prstGeom prst="rect">
            <a:avLst/>
          </a:prstGeom>
        </p:spPr>
        <p:txBody>
          <a:bodyPr lIns="54864" tIns="54864" rIns="54864" bIns="54864"/>
          <a:lstStyle>
            <a:lvl2pPr>
              <a:defRPr sz="1200">
                <a:solidFill>
                  <a:schemeClr val="tx1"/>
                </a:solidFill>
                <a:latin typeface="+mn-lt"/>
              </a:defRPr>
            </a:lvl2pPr>
            <a:lvl4pPr marL="172722" indent="-16840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4pPr>
            <a:lvl5pPr marL="319537" indent="-14537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5pPr>
          </a:lstStyle>
          <a:p>
            <a:pPr lvl="3"/>
            <a:r>
              <a:rPr lang="en-US"/>
              <a:t>Fourth level</a:t>
            </a:r>
          </a:p>
          <a:p>
            <a:pPr lvl="4"/>
            <a:r>
              <a:rPr lang="en-US"/>
              <a:t>Fifth level</a:t>
            </a:r>
          </a:p>
        </p:txBody>
      </p:sp>
      <p:sp>
        <p:nvSpPr>
          <p:cNvPr id="12" name="Text Placeholder 654">
            <a:extLst>
              <a:ext uri="{FF2B5EF4-FFF2-40B4-BE49-F238E27FC236}">
                <a16:creationId xmlns:a16="http://schemas.microsoft.com/office/drawing/2014/main" id="{DEDBB4D8-192F-B0B1-8D32-305ADC2E7889}"/>
              </a:ext>
            </a:extLst>
          </p:cNvPr>
          <p:cNvSpPr>
            <a:spLocks noGrp="1"/>
          </p:cNvSpPr>
          <p:nvPr>
            <p:ph type="body" sz="quarter" idx="22" hasCustomPrompt="1"/>
          </p:nvPr>
        </p:nvSpPr>
        <p:spPr>
          <a:xfrm>
            <a:off x="1944829" y="327051"/>
            <a:ext cx="3966107" cy="247236"/>
          </a:xfrm>
        </p:spPr>
        <p:txBody>
          <a:bodyPr/>
          <a:lstStyle>
            <a:lvl1pPr>
              <a:defRPr>
                <a:solidFill>
                  <a:srgbClr val="881739"/>
                </a:solidFill>
              </a:defRPr>
            </a:lvl1pPr>
            <a:lvl2pPr>
              <a:defRPr sz="1200" b="1">
                <a:solidFill>
                  <a:schemeClr val="tx1"/>
                </a:solidFill>
                <a:latin typeface="+mn-lt"/>
              </a:defRPr>
            </a:lvl2pPr>
            <a:lvl3pPr>
              <a:defRPr b="1">
                <a:solidFill>
                  <a:schemeClr val="tx1"/>
                </a:solidFill>
                <a:latin typeface="+mn-lt"/>
              </a:defRPr>
            </a:lvl3pPr>
            <a:lvl4pPr>
              <a:defRPr>
                <a:solidFill>
                  <a:srgbClr val="881739"/>
                </a:solidFill>
              </a:defRPr>
            </a:lvl4pPr>
            <a:lvl5pPr>
              <a:defRPr>
                <a:solidFill>
                  <a:srgbClr val="881739"/>
                </a:solidFill>
              </a:defRPr>
            </a:lvl5pPr>
          </a:lstStyle>
          <a:p>
            <a:pPr lvl="1"/>
            <a:r>
              <a:rPr lang="en-US"/>
              <a:t>Name</a:t>
            </a:r>
          </a:p>
        </p:txBody>
      </p:sp>
      <p:sp>
        <p:nvSpPr>
          <p:cNvPr id="13" name="Text Placeholder 656">
            <a:extLst>
              <a:ext uri="{FF2B5EF4-FFF2-40B4-BE49-F238E27FC236}">
                <a16:creationId xmlns:a16="http://schemas.microsoft.com/office/drawing/2014/main" id="{5C1AC5DD-FC48-439C-3361-9BEE4D85D22F}"/>
              </a:ext>
            </a:extLst>
          </p:cNvPr>
          <p:cNvSpPr>
            <a:spLocks noGrp="1"/>
          </p:cNvSpPr>
          <p:nvPr>
            <p:ph type="body" sz="quarter" idx="23"/>
          </p:nvPr>
        </p:nvSpPr>
        <p:spPr>
          <a:xfrm>
            <a:off x="1944830" y="575224"/>
            <a:ext cx="3966109" cy="710651"/>
          </a:xfrm>
        </p:spPr>
        <p:txBody>
          <a:bodyPr/>
          <a:lstStyle>
            <a:lvl2pPr>
              <a:defRPr sz="1050">
                <a:solidFill>
                  <a:schemeClr val="tx1"/>
                </a:solidFill>
                <a:latin typeface="+mn-lt"/>
              </a:defRPr>
            </a:lvl2pPr>
          </a:lstStyle>
          <a:p>
            <a:pPr lvl="1"/>
            <a:endParaRPr lang="en-US"/>
          </a:p>
        </p:txBody>
      </p:sp>
      <p:sp>
        <p:nvSpPr>
          <p:cNvPr id="25" name="Line 10">
            <a:extLst>
              <a:ext uri="{FF2B5EF4-FFF2-40B4-BE49-F238E27FC236}">
                <a16:creationId xmlns:a16="http://schemas.microsoft.com/office/drawing/2014/main" id="{6896BDB5-4B22-66C9-4D75-9C0666B9EA78}"/>
              </a:ext>
            </a:extLst>
          </p:cNvPr>
          <p:cNvSpPr>
            <a:spLocks noChangeShapeType="1"/>
          </p:cNvSpPr>
          <p:nvPr userDrawn="1"/>
        </p:nvSpPr>
        <p:spPr bwMode="auto">
          <a:xfrm>
            <a:off x="0" y="1375837"/>
            <a:ext cx="12192000" cy="0"/>
          </a:xfrm>
          <a:prstGeom prst="line">
            <a:avLst/>
          </a:prstGeom>
          <a:noFill/>
          <a:ln w="19050">
            <a:gradFill flip="none" rotWithShape="1">
              <a:gsLst>
                <a:gs pos="0">
                  <a:srgbClr val="FFE600"/>
                </a:gs>
                <a:gs pos="58000">
                  <a:srgbClr val="00C864"/>
                </a:gs>
                <a:gs pos="100000">
                  <a:srgbClr val="4398F7"/>
                </a:gs>
              </a:gsLst>
              <a:lin ang="0" scaled="1"/>
              <a:tileRect/>
            </a:gra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914400"/>
            <a:endParaRPr lang="en-US" sz="1798" noProof="0">
              <a:solidFill>
                <a:schemeClr val="bg1"/>
              </a:solidFill>
              <a:latin typeface="EYInterstate Light" panose="02000506000000020004" pitchFamily="2" charset="0"/>
              <a:sym typeface="EYInterstate Light" panose="02000506000000020004" pitchFamily="2" charset="0"/>
            </a:endParaRPr>
          </a:p>
        </p:txBody>
      </p:sp>
      <p:sp>
        <p:nvSpPr>
          <p:cNvPr id="21" name="Rectangle: Rounded Corners 20">
            <a:extLst>
              <a:ext uri="{FF2B5EF4-FFF2-40B4-BE49-F238E27FC236}">
                <a16:creationId xmlns:a16="http://schemas.microsoft.com/office/drawing/2014/main" id="{6506CBFC-BADC-C0B6-4E8F-D144CF7F90CA}"/>
              </a:ext>
            </a:extLst>
          </p:cNvPr>
          <p:cNvSpPr/>
          <p:nvPr userDrawn="1"/>
        </p:nvSpPr>
        <p:spPr bwMode="auto">
          <a:xfrm>
            <a:off x="701366" y="1443900"/>
            <a:ext cx="2381991" cy="291250"/>
          </a:xfrm>
          <a:prstGeom prst="roundRect">
            <a:avLst>
              <a:gd name="adj" fmla="val 50000"/>
            </a:avLst>
          </a:prstGeom>
          <a:solidFill>
            <a:srgbClr val="FFE60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050" b="0" kern="0">
                <a:solidFill>
                  <a:schemeClr val="tx1"/>
                </a:solidFill>
                <a:latin typeface="EYInterstate Light"/>
                <a:cs typeface="Arial"/>
              </a:rPr>
              <a:t>Background</a:t>
            </a:r>
          </a:p>
        </p:txBody>
      </p:sp>
      <p:sp>
        <p:nvSpPr>
          <p:cNvPr id="23" name="Rectangle: Rounded Corners 22">
            <a:extLst>
              <a:ext uri="{FF2B5EF4-FFF2-40B4-BE49-F238E27FC236}">
                <a16:creationId xmlns:a16="http://schemas.microsoft.com/office/drawing/2014/main" id="{2F8A9BFF-939E-AF73-5FB2-92ADF5080739}"/>
              </a:ext>
            </a:extLst>
          </p:cNvPr>
          <p:cNvSpPr/>
          <p:nvPr userDrawn="1"/>
        </p:nvSpPr>
        <p:spPr bwMode="auto">
          <a:xfrm>
            <a:off x="701366" y="3659353"/>
            <a:ext cx="2381991" cy="291250"/>
          </a:xfrm>
          <a:prstGeom prst="roundRect">
            <a:avLst>
              <a:gd name="adj" fmla="val 50000"/>
            </a:avLst>
          </a:prstGeom>
          <a:solidFill>
            <a:srgbClr val="188CE5"/>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050" b="0" kern="0">
                <a:solidFill>
                  <a:srgbClr val="FFFFFF"/>
                </a:solidFill>
                <a:latin typeface="EYInterstate Light"/>
                <a:cs typeface="Arial"/>
              </a:rPr>
              <a:t>Professional experience</a:t>
            </a:r>
          </a:p>
        </p:txBody>
      </p:sp>
      <p:sp>
        <p:nvSpPr>
          <p:cNvPr id="33" name="Picture Placeholder 3">
            <a:extLst>
              <a:ext uri="{FF2B5EF4-FFF2-40B4-BE49-F238E27FC236}">
                <a16:creationId xmlns:a16="http://schemas.microsoft.com/office/drawing/2014/main" id="{BB50A76B-E220-54B5-96B9-4E80600C6B69}"/>
              </a:ext>
            </a:extLst>
          </p:cNvPr>
          <p:cNvSpPr>
            <a:spLocks noGrp="1"/>
          </p:cNvSpPr>
          <p:nvPr>
            <p:ph type="pic" sz="quarter" idx="24"/>
          </p:nvPr>
        </p:nvSpPr>
        <p:spPr>
          <a:xfrm>
            <a:off x="6200584" y="185870"/>
            <a:ext cx="1100530" cy="1101825"/>
          </a:xfrm>
          <a:prstGeom prst="ellipse">
            <a:avLst/>
          </a:prstGeom>
          <a:noFill/>
          <a:ln w="19050">
            <a:gradFill flip="none" rotWithShape="1">
              <a:gsLst>
                <a:gs pos="0">
                  <a:srgbClr val="FFE600"/>
                </a:gs>
                <a:gs pos="58000">
                  <a:srgbClr val="00C864"/>
                </a:gs>
                <a:gs pos="100000">
                  <a:srgbClr val="4398F7"/>
                </a:gs>
              </a:gsLst>
              <a:lin ang="0" scaled="1"/>
              <a:tileRect/>
            </a:gradFill>
            <a:round/>
            <a:headEnd/>
            <a:tailEnd/>
          </a:ln>
          <a:effectLst/>
        </p:spPr>
        <p:txBody>
          <a:bodyPr wrap="none" anchor="ctr"/>
          <a:lstStyle>
            <a:lvl1pPr>
              <a:defRPr lang="en-US" sz="1798" kern="1200">
                <a:solidFill>
                  <a:schemeClr val="bg1"/>
                </a:solidFill>
              </a:defRPr>
            </a:lvl1pPr>
          </a:lstStyle>
          <a:p>
            <a:pPr marL="0" lvl="0" defTabSz="914400" latinLnBrk="0"/>
            <a:endParaRPr lang="en-US"/>
          </a:p>
        </p:txBody>
      </p:sp>
      <p:sp>
        <p:nvSpPr>
          <p:cNvPr id="34" name="Content Placeholder 10">
            <a:extLst>
              <a:ext uri="{FF2B5EF4-FFF2-40B4-BE49-F238E27FC236}">
                <a16:creationId xmlns:a16="http://schemas.microsoft.com/office/drawing/2014/main" id="{77E42B6C-2AEA-4E04-FDA8-31224A12E5A4}"/>
              </a:ext>
            </a:extLst>
          </p:cNvPr>
          <p:cNvSpPr>
            <a:spLocks noGrp="1"/>
          </p:cNvSpPr>
          <p:nvPr>
            <p:ph sz="quarter" idx="25" hasCustomPrompt="1"/>
          </p:nvPr>
        </p:nvSpPr>
        <p:spPr>
          <a:xfrm>
            <a:off x="6200582" y="1731131"/>
            <a:ext cx="5308793" cy="1865098"/>
          </a:xfrm>
          <a:prstGeom prst="rect">
            <a:avLst/>
          </a:prstGeom>
        </p:spPr>
        <p:txBody>
          <a:bodyPr lIns="54864" tIns="54864" rIns="54864" bIns="54864"/>
          <a:lstStyle>
            <a:lvl2pPr>
              <a:defRPr sz="1200">
                <a:solidFill>
                  <a:schemeClr val="tx1"/>
                </a:solidFill>
                <a:latin typeface="+mn-lt"/>
              </a:defRPr>
            </a:lvl2pPr>
            <a:lvl4pPr marL="172722" indent="-16840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4pPr>
            <a:lvl5pPr marL="319537" indent="-14537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5pPr>
          </a:lstStyle>
          <a:p>
            <a:pPr lvl="3"/>
            <a:r>
              <a:rPr lang="en-US"/>
              <a:t>Fourth level</a:t>
            </a:r>
          </a:p>
          <a:p>
            <a:pPr lvl="4"/>
            <a:r>
              <a:rPr lang="en-US"/>
              <a:t>Fifth level</a:t>
            </a:r>
          </a:p>
        </p:txBody>
      </p:sp>
      <p:sp>
        <p:nvSpPr>
          <p:cNvPr id="35" name="Content Placeholder 10">
            <a:extLst>
              <a:ext uri="{FF2B5EF4-FFF2-40B4-BE49-F238E27FC236}">
                <a16:creationId xmlns:a16="http://schemas.microsoft.com/office/drawing/2014/main" id="{CDBFEF4F-F947-8643-4840-E4FBAB9DD8DB}"/>
              </a:ext>
            </a:extLst>
          </p:cNvPr>
          <p:cNvSpPr>
            <a:spLocks noGrp="1"/>
          </p:cNvSpPr>
          <p:nvPr>
            <p:ph sz="quarter" idx="26" hasCustomPrompt="1"/>
          </p:nvPr>
        </p:nvSpPr>
        <p:spPr>
          <a:xfrm>
            <a:off x="6200583" y="3949126"/>
            <a:ext cx="5308792" cy="2313991"/>
          </a:xfrm>
          <a:prstGeom prst="rect">
            <a:avLst/>
          </a:prstGeom>
        </p:spPr>
        <p:txBody>
          <a:bodyPr lIns="54864" tIns="54864" rIns="54864" bIns="54864"/>
          <a:lstStyle>
            <a:lvl2pPr>
              <a:defRPr sz="1200">
                <a:solidFill>
                  <a:schemeClr val="tx1"/>
                </a:solidFill>
                <a:latin typeface="+mn-lt"/>
              </a:defRPr>
            </a:lvl2pPr>
            <a:lvl4pPr marL="172722" indent="-16840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4pPr>
            <a:lvl5pPr marL="319537" indent="-145375" algn="l" defTabSz="902476" rtl="0" eaLnBrk="1" fontAlgn="base" hangingPunct="1">
              <a:spcBef>
                <a:spcPct val="0"/>
              </a:spcBef>
              <a:spcAft>
                <a:spcPts val="200"/>
              </a:spcAft>
              <a:buClr>
                <a:schemeClr val="tx2">
                  <a:lumMod val="65000"/>
                  <a:lumOff val="35000"/>
                </a:schemeClr>
              </a:buClr>
              <a:buSzPct val="100000"/>
              <a:buFont typeface="EYInterstate Light" panose="02000506000000020004" pitchFamily="2" charset="0"/>
              <a:buChar char="•"/>
              <a:tabLst>
                <a:tab pos="1463824" algn="l"/>
                <a:tab pos="2927648" algn="l"/>
                <a:tab pos="4230263" algn="r"/>
              </a:tabLst>
              <a:defRPr lang="en-US" sz="950" dirty="0">
                <a:solidFill>
                  <a:schemeClr val="tx1"/>
                </a:solidFill>
                <a:latin typeface="+mn-lt"/>
                <a:cs typeface="+mn-cs"/>
              </a:defRPr>
            </a:lvl5pPr>
          </a:lstStyle>
          <a:p>
            <a:pPr lvl="3"/>
            <a:r>
              <a:rPr lang="en-US"/>
              <a:t>Fourth level</a:t>
            </a:r>
          </a:p>
          <a:p>
            <a:pPr lvl="4"/>
            <a:r>
              <a:rPr lang="en-US"/>
              <a:t>Fifth level</a:t>
            </a:r>
          </a:p>
        </p:txBody>
      </p:sp>
      <p:sp>
        <p:nvSpPr>
          <p:cNvPr id="36" name="Text Placeholder 654">
            <a:extLst>
              <a:ext uri="{FF2B5EF4-FFF2-40B4-BE49-F238E27FC236}">
                <a16:creationId xmlns:a16="http://schemas.microsoft.com/office/drawing/2014/main" id="{72E5315F-E67C-24AB-920F-8DD2D77DC343}"/>
              </a:ext>
            </a:extLst>
          </p:cNvPr>
          <p:cNvSpPr>
            <a:spLocks noGrp="1"/>
          </p:cNvSpPr>
          <p:nvPr>
            <p:ph type="body" sz="quarter" idx="27" hasCustomPrompt="1"/>
          </p:nvPr>
        </p:nvSpPr>
        <p:spPr>
          <a:xfrm>
            <a:off x="7454850" y="327051"/>
            <a:ext cx="3966107" cy="247236"/>
          </a:xfrm>
        </p:spPr>
        <p:txBody>
          <a:bodyPr/>
          <a:lstStyle>
            <a:lvl1pPr>
              <a:defRPr>
                <a:solidFill>
                  <a:srgbClr val="881739"/>
                </a:solidFill>
              </a:defRPr>
            </a:lvl1pPr>
            <a:lvl2pPr>
              <a:defRPr sz="1200" b="1">
                <a:solidFill>
                  <a:schemeClr val="tx1"/>
                </a:solidFill>
                <a:latin typeface="+mn-lt"/>
              </a:defRPr>
            </a:lvl2pPr>
            <a:lvl3pPr>
              <a:defRPr b="1">
                <a:solidFill>
                  <a:schemeClr val="tx1"/>
                </a:solidFill>
                <a:latin typeface="+mn-lt"/>
              </a:defRPr>
            </a:lvl3pPr>
            <a:lvl4pPr>
              <a:defRPr>
                <a:solidFill>
                  <a:srgbClr val="881739"/>
                </a:solidFill>
              </a:defRPr>
            </a:lvl4pPr>
            <a:lvl5pPr>
              <a:defRPr>
                <a:solidFill>
                  <a:srgbClr val="881739"/>
                </a:solidFill>
              </a:defRPr>
            </a:lvl5pPr>
          </a:lstStyle>
          <a:p>
            <a:pPr lvl="1"/>
            <a:r>
              <a:rPr lang="en-US"/>
              <a:t>Name</a:t>
            </a:r>
          </a:p>
        </p:txBody>
      </p:sp>
      <p:sp>
        <p:nvSpPr>
          <p:cNvPr id="37" name="Text Placeholder 656">
            <a:extLst>
              <a:ext uri="{FF2B5EF4-FFF2-40B4-BE49-F238E27FC236}">
                <a16:creationId xmlns:a16="http://schemas.microsoft.com/office/drawing/2014/main" id="{03F77AA6-BDFB-4230-4C2E-2A8B2BC1372D}"/>
              </a:ext>
            </a:extLst>
          </p:cNvPr>
          <p:cNvSpPr>
            <a:spLocks noGrp="1"/>
          </p:cNvSpPr>
          <p:nvPr>
            <p:ph type="body" sz="quarter" idx="28"/>
          </p:nvPr>
        </p:nvSpPr>
        <p:spPr>
          <a:xfrm>
            <a:off x="7454851" y="575224"/>
            <a:ext cx="3966109" cy="710651"/>
          </a:xfrm>
        </p:spPr>
        <p:txBody>
          <a:bodyPr/>
          <a:lstStyle>
            <a:lvl2pPr>
              <a:defRPr sz="1050">
                <a:solidFill>
                  <a:schemeClr val="tx1"/>
                </a:solidFill>
                <a:latin typeface="+mn-lt"/>
              </a:defRPr>
            </a:lvl2pPr>
          </a:lstStyle>
          <a:p>
            <a:pPr lvl="1"/>
            <a:endParaRPr lang="en-US"/>
          </a:p>
        </p:txBody>
      </p:sp>
      <p:sp>
        <p:nvSpPr>
          <p:cNvPr id="38" name="Rectangle: Rounded Corners 37">
            <a:extLst>
              <a:ext uri="{FF2B5EF4-FFF2-40B4-BE49-F238E27FC236}">
                <a16:creationId xmlns:a16="http://schemas.microsoft.com/office/drawing/2014/main" id="{2974A702-E76E-F5D0-8124-2D34E30E96A9}"/>
              </a:ext>
            </a:extLst>
          </p:cNvPr>
          <p:cNvSpPr/>
          <p:nvPr userDrawn="1"/>
        </p:nvSpPr>
        <p:spPr bwMode="auto">
          <a:xfrm>
            <a:off x="6211387" y="1443900"/>
            <a:ext cx="2381991" cy="291250"/>
          </a:xfrm>
          <a:prstGeom prst="roundRect">
            <a:avLst>
              <a:gd name="adj" fmla="val 50000"/>
            </a:avLst>
          </a:prstGeom>
          <a:solidFill>
            <a:srgbClr val="FFE60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050" b="0" kern="0">
                <a:solidFill>
                  <a:schemeClr val="tx1"/>
                </a:solidFill>
                <a:latin typeface="EYInterstate Light"/>
                <a:cs typeface="Arial"/>
              </a:rPr>
              <a:t>Background</a:t>
            </a:r>
          </a:p>
        </p:txBody>
      </p:sp>
      <p:sp>
        <p:nvSpPr>
          <p:cNvPr id="39" name="Rectangle: Rounded Corners 38">
            <a:extLst>
              <a:ext uri="{FF2B5EF4-FFF2-40B4-BE49-F238E27FC236}">
                <a16:creationId xmlns:a16="http://schemas.microsoft.com/office/drawing/2014/main" id="{9491C100-990C-F720-48F4-27F6C2D18254}"/>
              </a:ext>
            </a:extLst>
          </p:cNvPr>
          <p:cNvSpPr/>
          <p:nvPr userDrawn="1"/>
        </p:nvSpPr>
        <p:spPr bwMode="auto">
          <a:xfrm>
            <a:off x="6211387" y="3659353"/>
            <a:ext cx="2381991" cy="291250"/>
          </a:xfrm>
          <a:prstGeom prst="roundRect">
            <a:avLst>
              <a:gd name="adj" fmla="val 50000"/>
            </a:avLst>
          </a:prstGeom>
          <a:solidFill>
            <a:srgbClr val="188CE5"/>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050" b="0" kern="0">
                <a:solidFill>
                  <a:srgbClr val="FFFFFF"/>
                </a:solidFill>
                <a:latin typeface="EYInterstate Light"/>
                <a:cs typeface="Arial"/>
              </a:rPr>
              <a:t>Professional experience</a:t>
            </a:r>
          </a:p>
        </p:txBody>
      </p:sp>
    </p:spTree>
    <p:extLst>
      <p:ext uri="{BB962C8B-B14F-4D97-AF65-F5344CB8AC3E}">
        <p14:creationId xmlns:p14="http://schemas.microsoft.com/office/powerpoint/2010/main" val="2432441303"/>
      </p:ext>
    </p:extLst>
  </p:cSld>
  <p:clrMapOvr>
    <a:masterClrMapping/>
  </p:clrMapOvr>
  <p:extLst>
    <p:ext uri="{DCECCB84-F9BA-43D5-87BE-67443E8EF086}">
      <p15:sldGuideLst xmlns:p15="http://schemas.microsoft.com/office/powerpoint/2012/main">
        <p15:guide id="1" orient="horz" pos="242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CV layout">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2EB7836A-93B6-419C-85DC-89CBA86CD18D}"/>
              </a:ext>
            </a:extLst>
          </p:cNvPr>
          <p:cNvSpPr>
            <a:spLocks noGrp="1"/>
          </p:cNvSpPr>
          <p:nvPr>
            <p:ph type="title"/>
          </p:nvPr>
        </p:nvSpPr>
        <p:spPr>
          <a:xfrm>
            <a:off x="701366" y="273717"/>
            <a:ext cx="10789269" cy="792000"/>
          </a:xfrm>
        </p:spPr>
        <p:txBody>
          <a:bodyPr lIns="0"/>
          <a:lstStyle>
            <a:lvl1pPr>
              <a:defRPr>
                <a:solidFill>
                  <a:schemeClr val="tx1"/>
                </a:solidFill>
              </a:defRPr>
            </a:lvl1pPr>
          </a:lstStyle>
          <a:p>
            <a:r>
              <a:rPr lang="en-US"/>
              <a:t>Click to edit Master title style</a:t>
            </a:r>
          </a:p>
        </p:txBody>
      </p:sp>
      <p:sp>
        <p:nvSpPr>
          <p:cNvPr id="4" name="Rectangle: Rounded Corners 3">
            <a:extLst>
              <a:ext uri="{FF2B5EF4-FFF2-40B4-BE49-F238E27FC236}">
                <a16:creationId xmlns:a16="http://schemas.microsoft.com/office/drawing/2014/main" id="{AD15B116-E8C2-C409-9B8F-2FAC7D2A8D91}"/>
              </a:ext>
            </a:extLst>
          </p:cNvPr>
          <p:cNvSpPr/>
          <p:nvPr userDrawn="1"/>
        </p:nvSpPr>
        <p:spPr bwMode="auto">
          <a:xfrm>
            <a:off x="3545121" y="1285874"/>
            <a:ext cx="2381991" cy="291250"/>
          </a:xfrm>
          <a:prstGeom prst="roundRect">
            <a:avLst>
              <a:gd name="adj" fmla="val 50000"/>
            </a:avLst>
          </a:prstGeom>
          <a:solidFill>
            <a:srgbClr val="FFE60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200" b="0" kern="0">
                <a:solidFill>
                  <a:schemeClr val="tx1"/>
                </a:solidFill>
                <a:latin typeface="EYInterstate Light"/>
                <a:cs typeface="Arial"/>
              </a:rPr>
              <a:t>Background</a:t>
            </a:r>
          </a:p>
        </p:txBody>
      </p:sp>
      <p:sp>
        <p:nvSpPr>
          <p:cNvPr id="5" name="Content Placeholder 10">
            <a:extLst>
              <a:ext uri="{FF2B5EF4-FFF2-40B4-BE49-F238E27FC236}">
                <a16:creationId xmlns:a16="http://schemas.microsoft.com/office/drawing/2014/main" id="{8BE108F9-5D60-6616-851B-47A6F1CC34A1}"/>
              </a:ext>
            </a:extLst>
          </p:cNvPr>
          <p:cNvSpPr>
            <a:spLocks noGrp="1"/>
          </p:cNvSpPr>
          <p:nvPr>
            <p:ph sz="quarter" idx="12"/>
          </p:nvPr>
        </p:nvSpPr>
        <p:spPr>
          <a:xfrm>
            <a:off x="3545122" y="1651635"/>
            <a:ext cx="7964253" cy="982131"/>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77A4695B-2575-450F-0B18-83C85E4B8CA8}"/>
              </a:ext>
            </a:extLst>
          </p:cNvPr>
          <p:cNvSpPr/>
          <p:nvPr userDrawn="1"/>
        </p:nvSpPr>
        <p:spPr bwMode="auto">
          <a:xfrm>
            <a:off x="690562" y="1285874"/>
            <a:ext cx="2603499" cy="4984751"/>
          </a:xfrm>
          <a:prstGeom prst="rect">
            <a:avLst/>
          </a:prstGeom>
          <a:solidFill>
            <a:srgbClr val="F2F2F2"/>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sp>
        <p:nvSpPr>
          <p:cNvPr id="7" name="Rectangle: Rounded Corners 6">
            <a:extLst>
              <a:ext uri="{FF2B5EF4-FFF2-40B4-BE49-F238E27FC236}">
                <a16:creationId xmlns:a16="http://schemas.microsoft.com/office/drawing/2014/main" id="{C682ED12-298F-33D0-0DBE-25034AABC306}"/>
              </a:ext>
            </a:extLst>
          </p:cNvPr>
          <p:cNvSpPr/>
          <p:nvPr userDrawn="1"/>
        </p:nvSpPr>
        <p:spPr bwMode="auto">
          <a:xfrm>
            <a:off x="3545121" y="2991654"/>
            <a:ext cx="2381991" cy="291250"/>
          </a:xfrm>
          <a:prstGeom prst="roundRect">
            <a:avLst>
              <a:gd name="adj" fmla="val 50000"/>
            </a:avLst>
          </a:prstGeom>
          <a:solidFill>
            <a:srgbClr val="188CE5"/>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200" b="0" kern="0">
                <a:solidFill>
                  <a:srgbClr val="FFFFFF"/>
                </a:solidFill>
                <a:latin typeface="EYInterstate Light"/>
                <a:cs typeface="Arial"/>
              </a:rPr>
              <a:t>Approach</a:t>
            </a:r>
          </a:p>
        </p:txBody>
      </p:sp>
      <p:sp>
        <p:nvSpPr>
          <p:cNvPr id="8" name="Content Placeholder 10">
            <a:extLst>
              <a:ext uri="{FF2B5EF4-FFF2-40B4-BE49-F238E27FC236}">
                <a16:creationId xmlns:a16="http://schemas.microsoft.com/office/drawing/2014/main" id="{6EBC5B35-E426-5D9F-E3F8-44158E278E56}"/>
              </a:ext>
            </a:extLst>
          </p:cNvPr>
          <p:cNvSpPr>
            <a:spLocks noGrp="1"/>
          </p:cNvSpPr>
          <p:nvPr>
            <p:ph sz="quarter" idx="13"/>
          </p:nvPr>
        </p:nvSpPr>
        <p:spPr>
          <a:xfrm>
            <a:off x="3545122" y="3357416"/>
            <a:ext cx="3797171" cy="2913210"/>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Rounded Corners 8">
            <a:extLst>
              <a:ext uri="{FF2B5EF4-FFF2-40B4-BE49-F238E27FC236}">
                <a16:creationId xmlns:a16="http://schemas.microsoft.com/office/drawing/2014/main" id="{5C726504-4239-3433-D7DF-03E317F15E04}"/>
              </a:ext>
            </a:extLst>
          </p:cNvPr>
          <p:cNvSpPr/>
          <p:nvPr userDrawn="1"/>
        </p:nvSpPr>
        <p:spPr bwMode="auto">
          <a:xfrm>
            <a:off x="7712203" y="2991654"/>
            <a:ext cx="2381991" cy="291250"/>
          </a:xfrm>
          <a:prstGeom prst="roundRect">
            <a:avLst>
              <a:gd name="adj" fmla="val 50000"/>
            </a:avLst>
          </a:prstGeom>
          <a:solidFill>
            <a:srgbClr val="27ACAA"/>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200" b="0" kern="0">
                <a:solidFill>
                  <a:srgbClr val="FFFFFF"/>
                </a:solidFill>
                <a:latin typeface="EYInterstate Light"/>
                <a:cs typeface="Arial"/>
              </a:rPr>
              <a:t>Results</a:t>
            </a:r>
          </a:p>
        </p:txBody>
      </p:sp>
      <p:sp>
        <p:nvSpPr>
          <p:cNvPr id="10" name="Content Placeholder 10">
            <a:extLst>
              <a:ext uri="{FF2B5EF4-FFF2-40B4-BE49-F238E27FC236}">
                <a16:creationId xmlns:a16="http://schemas.microsoft.com/office/drawing/2014/main" id="{4401F698-5E28-8E6A-E62F-D043565845BE}"/>
              </a:ext>
            </a:extLst>
          </p:cNvPr>
          <p:cNvSpPr>
            <a:spLocks noGrp="1"/>
          </p:cNvSpPr>
          <p:nvPr>
            <p:ph sz="quarter" idx="14"/>
          </p:nvPr>
        </p:nvSpPr>
        <p:spPr>
          <a:xfrm>
            <a:off x="7712204" y="3357416"/>
            <a:ext cx="3797171" cy="2913210"/>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Line 10">
            <a:extLst>
              <a:ext uri="{FF2B5EF4-FFF2-40B4-BE49-F238E27FC236}">
                <a16:creationId xmlns:a16="http://schemas.microsoft.com/office/drawing/2014/main" id="{ED3A2674-3943-63AD-E300-3BD0D5EA37A0}"/>
              </a:ext>
            </a:extLst>
          </p:cNvPr>
          <p:cNvSpPr>
            <a:spLocks noChangeShapeType="1"/>
          </p:cNvSpPr>
          <p:nvPr userDrawn="1"/>
        </p:nvSpPr>
        <p:spPr bwMode="auto">
          <a:xfrm>
            <a:off x="701365" y="1085850"/>
            <a:ext cx="10790780" cy="0"/>
          </a:xfrm>
          <a:prstGeom prst="line">
            <a:avLst/>
          </a:prstGeom>
          <a:noFill/>
          <a:ln w="19050">
            <a:gradFill flip="none" rotWithShape="1">
              <a:gsLst>
                <a:gs pos="0">
                  <a:srgbClr val="FFE600"/>
                </a:gs>
                <a:gs pos="58000">
                  <a:srgbClr val="00C864"/>
                </a:gs>
                <a:gs pos="100000">
                  <a:srgbClr val="4398F7"/>
                </a:gs>
              </a:gsLst>
              <a:lin ang="0" scaled="1"/>
              <a:tileRect/>
            </a:gra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914400"/>
            <a:endParaRPr lang="en-US" sz="1798" noProof="0">
              <a:solidFill>
                <a:schemeClr val="bg1"/>
              </a:solidFill>
              <a:latin typeface="EYInterstate Light" panose="02000506000000020004" pitchFamily="2" charset="0"/>
              <a:sym typeface="EYInterstate Light" panose="02000506000000020004" pitchFamily="2" charset="0"/>
            </a:endParaRPr>
          </a:p>
        </p:txBody>
      </p:sp>
    </p:spTree>
    <p:extLst>
      <p:ext uri="{BB962C8B-B14F-4D97-AF65-F5344CB8AC3E}">
        <p14:creationId xmlns:p14="http://schemas.microsoft.com/office/powerpoint/2010/main" val="116249993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CV layout">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2EB7836A-93B6-419C-85DC-89CBA86CD18D}"/>
              </a:ext>
            </a:extLst>
          </p:cNvPr>
          <p:cNvSpPr>
            <a:spLocks noGrp="1"/>
          </p:cNvSpPr>
          <p:nvPr>
            <p:ph type="title"/>
          </p:nvPr>
        </p:nvSpPr>
        <p:spPr>
          <a:xfrm>
            <a:off x="701366" y="273717"/>
            <a:ext cx="10789269" cy="792000"/>
          </a:xfrm>
        </p:spPr>
        <p:txBody>
          <a:bodyPr lIns="0"/>
          <a:lstStyle>
            <a:lvl1pPr>
              <a:defRPr>
                <a:solidFill>
                  <a:schemeClr val="tx1"/>
                </a:solidFill>
              </a:defRPr>
            </a:lvl1pPr>
          </a:lstStyle>
          <a:p>
            <a:r>
              <a:rPr lang="en-US"/>
              <a:t>Click to edit Master title style</a:t>
            </a:r>
          </a:p>
        </p:txBody>
      </p:sp>
      <p:sp>
        <p:nvSpPr>
          <p:cNvPr id="4" name="Rectangle: Rounded Corners 3">
            <a:extLst>
              <a:ext uri="{FF2B5EF4-FFF2-40B4-BE49-F238E27FC236}">
                <a16:creationId xmlns:a16="http://schemas.microsoft.com/office/drawing/2014/main" id="{AD15B116-E8C2-C409-9B8F-2FAC7D2A8D91}"/>
              </a:ext>
            </a:extLst>
          </p:cNvPr>
          <p:cNvSpPr/>
          <p:nvPr userDrawn="1"/>
        </p:nvSpPr>
        <p:spPr bwMode="auto">
          <a:xfrm>
            <a:off x="701366" y="1285873"/>
            <a:ext cx="2615408" cy="500401"/>
          </a:xfrm>
          <a:prstGeom prst="roundRect">
            <a:avLst>
              <a:gd name="adj" fmla="val 29814"/>
            </a:avLst>
          </a:prstGeom>
          <a:solidFill>
            <a:srgbClr val="35A4E8"/>
          </a:solidFill>
          <a:ln w="9525" cap="flat" cmpd="sng" algn="ctr">
            <a:solidFill>
              <a:schemeClr val="accent2"/>
            </a:solid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endParaRPr lang="en-US" sz="1200" b="0" kern="0">
              <a:solidFill>
                <a:schemeClr val="tx1"/>
              </a:solidFill>
              <a:latin typeface="EYInterstate Light"/>
              <a:cs typeface="Arial"/>
            </a:endParaRPr>
          </a:p>
        </p:txBody>
      </p:sp>
      <p:sp>
        <p:nvSpPr>
          <p:cNvPr id="5" name="Content Placeholder 10">
            <a:extLst>
              <a:ext uri="{FF2B5EF4-FFF2-40B4-BE49-F238E27FC236}">
                <a16:creationId xmlns:a16="http://schemas.microsoft.com/office/drawing/2014/main" id="{8BE108F9-5D60-6616-851B-47A6F1CC34A1}"/>
              </a:ext>
            </a:extLst>
          </p:cNvPr>
          <p:cNvSpPr>
            <a:spLocks noGrp="1"/>
          </p:cNvSpPr>
          <p:nvPr>
            <p:ph sz="quarter" idx="12"/>
          </p:nvPr>
        </p:nvSpPr>
        <p:spPr>
          <a:xfrm>
            <a:off x="701367" y="1844749"/>
            <a:ext cx="2615408" cy="3927401"/>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Line 10">
            <a:extLst>
              <a:ext uri="{FF2B5EF4-FFF2-40B4-BE49-F238E27FC236}">
                <a16:creationId xmlns:a16="http://schemas.microsoft.com/office/drawing/2014/main" id="{ED3A2674-3943-63AD-E300-3BD0D5EA37A0}"/>
              </a:ext>
            </a:extLst>
          </p:cNvPr>
          <p:cNvSpPr>
            <a:spLocks noChangeShapeType="1"/>
          </p:cNvSpPr>
          <p:nvPr userDrawn="1"/>
        </p:nvSpPr>
        <p:spPr bwMode="auto">
          <a:xfrm>
            <a:off x="701365" y="1085850"/>
            <a:ext cx="10790780" cy="0"/>
          </a:xfrm>
          <a:prstGeom prst="line">
            <a:avLst/>
          </a:prstGeom>
          <a:noFill/>
          <a:ln w="19050">
            <a:gradFill flip="none" rotWithShape="1">
              <a:gsLst>
                <a:gs pos="0">
                  <a:srgbClr val="FFE600"/>
                </a:gs>
                <a:gs pos="58000">
                  <a:srgbClr val="00C864"/>
                </a:gs>
                <a:gs pos="100000">
                  <a:srgbClr val="4398F7"/>
                </a:gs>
              </a:gsLst>
              <a:lin ang="0" scaled="1"/>
              <a:tileRect/>
            </a:gra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914400"/>
            <a:endParaRPr lang="en-US" sz="1798" noProof="0">
              <a:solidFill>
                <a:schemeClr val="bg1"/>
              </a:solidFill>
              <a:latin typeface="EYInterstate Light" panose="02000506000000020004" pitchFamily="2" charset="0"/>
              <a:sym typeface="EYInterstate Light" panose="02000506000000020004" pitchFamily="2" charset="0"/>
            </a:endParaRPr>
          </a:p>
        </p:txBody>
      </p:sp>
      <p:sp>
        <p:nvSpPr>
          <p:cNvPr id="11" name="Rectangle 10">
            <a:extLst>
              <a:ext uri="{FF2B5EF4-FFF2-40B4-BE49-F238E27FC236}">
                <a16:creationId xmlns:a16="http://schemas.microsoft.com/office/drawing/2014/main" id="{C4D429CA-0C6A-5683-BF2A-BC3D4236C53F}"/>
              </a:ext>
            </a:extLst>
          </p:cNvPr>
          <p:cNvSpPr/>
          <p:nvPr userDrawn="1"/>
        </p:nvSpPr>
        <p:spPr bwMode="auto">
          <a:xfrm>
            <a:off x="8875225" y="5809361"/>
            <a:ext cx="2634148" cy="500400"/>
          </a:xfrm>
          <a:prstGeom prst="rect">
            <a:avLst/>
          </a:prstGeom>
          <a:solidFill>
            <a:schemeClr val="accent3">
              <a:lumMod val="95000"/>
            </a:schemeClr>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R="0" lvl="0" indent="0" algn="ctr" defTabSz="995363" fontAlgn="auto">
              <a:lnSpc>
                <a:spcPct val="100000"/>
              </a:lnSpc>
              <a:spcBef>
                <a:spcPts val="0"/>
              </a:spcBef>
              <a:spcAft>
                <a:spcPts val="0"/>
              </a:spcAft>
              <a:buClrTx/>
              <a:buSzTx/>
              <a:buFontTx/>
              <a:buNone/>
              <a:tabLst/>
            </a:pPr>
            <a:endParaRPr kumimoji="0" lang="en-US" b="1" i="0" u="none" strike="noStrike" cap="none" spc="0" normalizeH="0" baseline="0">
              <a:ln>
                <a:noFill/>
              </a:ln>
              <a:solidFill>
                <a:srgbClr val="000000"/>
              </a:solidFill>
              <a:effectLst/>
              <a:uLnTx/>
              <a:uFillTx/>
              <a:latin typeface="EYInterstate Light"/>
              <a:cs typeface="Calibri Light"/>
            </a:endParaRPr>
          </a:p>
        </p:txBody>
      </p:sp>
      <p:sp>
        <p:nvSpPr>
          <p:cNvPr id="13" name="Content Placeholder 10">
            <a:extLst>
              <a:ext uri="{FF2B5EF4-FFF2-40B4-BE49-F238E27FC236}">
                <a16:creationId xmlns:a16="http://schemas.microsoft.com/office/drawing/2014/main" id="{09EF1EED-1F1A-497B-643B-08B717C8E483}"/>
              </a:ext>
            </a:extLst>
          </p:cNvPr>
          <p:cNvSpPr>
            <a:spLocks noGrp="1"/>
          </p:cNvSpPr>
          <p:nvPr userDrawn="1">
            <p:ph sz="quarter" idx="13"/>
          </p:nvPr>
        </p:nvSpPr>
        <p:spPr>
          <a:xfrm>
            <a:off x="3432233" y="1844749"/>
            <a:ext cx="2615408" cy="3927401"/>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0">
            <a:extLst>
              <a:ext uri="{FF2B5EF4-FFF2-40B4-BE49-F238E27FC236}">
                <a16:creationId xmlns:a16="http://schemas.microsoft.com/office/drawing/2014/main" id="{8732BA7D-E368-34AB-60B0-842A51037EFA}"/>
              </a:ext>
            </a:extLst>
          </p:cNvPr>
          <p:cNvSpPr>
            <a:spLocks noGrp="1"/>
          </p:cNvSpPr>
          <p:nvPr userDrawn="1">
            <p:ph sz="quarter" idx="14"/>
          </p:nvPr>
        </p:nvSpPr>
        <p:spPr>
          <a:xfrm>
            <a:off x="6163099" y="1844749"/>
            <a:ext cx="2615408" cy="3927401"/>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10">
            <a:extLst>
              <a:ext uri="{FF2B5EF4-FFF2-40B4-BE49-F238E27FC236}">
                <a16:creationId xmlns:a16="http://schemas.microsoft.com/office/drawing/2014/main" id="{796FAD0B-5E65-4107-52A6-0CE97C41EBA4}"/>
              </a:ext>
            </a:extLst>
          </p:cNvPr>
          <p:cNvSpPr>
            <a:spLocks noGrp="1"/>
          </p:cNvSpPr>
          <p:nvPr userDrawn="1">
            <p:ph sz="quarter" idx="15"/>
          </p:nvPr>
        </p:nvSpPr>
        <p:spPr>
          <a:xfrm>
            <a:off x="8875225" y="1844749"/>
            <a:ext cx="2615408" cy="3927401"/>
          </a:xfrm>
          <a:prstGeom prst="rect">
            <a:avLst/>
          </a:prstGeom>
        </p:spPr>
        <p:txBody>
          <a:bodyPr/>
          <a:lstStyle>
            <a:lvl1pPr>
              <a:defRPr>
                <a:latin typeface="+mn-lt"/>
              </a:defRPr>
            </a:lvl1pPr>
            <a:lvl2pPr>
              <a:defRPr>
                <a:latin typeface="+mn-lt"/>
              </a:defRPr>
            </a:lvl2pPr>
            <a:lvl3pPr>
              <a:defRPr>
                <a:latin typeface="+mn-lt"/>
              </a:defRPr>
            </a:lvl3pPr>
            <a:lvl4pPr>
              <a:buClrTx/>
              <a:defRPr>
                <a:latin typeface="+mn-lt"/>
              </a:defRPr>
            </a:lvl4pPr>
            <a:lvl5pPr>
              <a:buClrTx/>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Rectangle 16">
            <a:extLst>
              <a:ext uri="{FF2B5EF4-FFF2-40B4-BE49-F238E27FC236}">
                <a16:creationId xmlns:a16="http://schemas.microsoft.com/office/drawing/2014/main" id="{FACCAF4A-DD54-4A87-5178-3C9403D0676F}"/>
              </a:ext>
            </a:extLst>
          </p:cNvPr>
          <p:cNvSpPr/>
          <p:nvPr userDrawn="1"/>
        </p:nvSpPr>
        <p:spPr bwMode="auto">
          <a:xfrm>
            <a:off x="6163099" y="5809361"/>
            <a:ext cx="2634148" cy="500400"/>
          </a:xfrm>
          <a:prstGeom prst="rect">
            <a:avLst/>
          </a:prstGeom>
          <a:solidFill>
            <a:schemeClr val="accent3">
              <a:lumMod val="95000"/>
            </a:schemeClr>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R="0" lvl="0" indent="0" algn="ctr" defTabSz="995363" fontAlgn="auto">
              <a:lnSpc>
                <a:spcPct val="100000"/>
              </a:lnSpc>
              <a:spcBef>
                <a:spcPts val="0"/>
              </a:spcBef>
              <a:spcAft>
                <a:spcPts val="0"/>
              </a:spcAft>
              <a:buClrTx/>
              <a:buSzTx/>
              <a:buFontTx/>
              <a:buNone/>
              <a:tabLst/>
            </a:pPr>
            <a:endParaRPr kumimoji="0" lang="en-US" b="1" i="0" u="none" strike="noStrike" cap="none" spc="0" normalizeH="0" baseline="0">
              <a:ln>
                <a:noFill/>
              </a:ln>
              <a:solidFill>
                <a:srgbClr val="000000"/>
              </a:solidFill>
              <a:effectLst/>
              <a:uLnTx/>
              <a:uFillTx/>
              <a:latin typeface="EYInterstate Light"/>
              <a:cs typeface="Calibri Light"/>
            </a:endParaRPr>
          </a:p>
        </p:txBody>
      </p:sp>
      <p:sp>
        <p:nvSpPr>
          <p:cNvPr id="19" name="Rectangle 18">
            <a:extLst>
              <a:ext uri="{FF2B5EF4-FFF2-40B4-BE49-F238E27FC236}">
                <a16:creationId xmlns:a16="http://schemas.microsoft.com/office/drawing/2014/main" id="{A14B3AD4-0FE1-2C83-CB90-BC70960D7BC7}"/>
              </a:ext>
            </a:extLst>
          </p:cNvPr>
          <p:cNvSpPr/>
          <p:nvPr userDrawn="1"/>
        </p:nvSpPr>
        <p:spPr bwMode="auto">
          <a:xfrm>
            <a:off x="3432233" y="5809361"/>
            <a:ext cx="2634148" cy="500400"/>
          </a:xfrm>
          <a:prstGeom prst="rect">
            <a:avLst/>
          </a:prstGeom>
          <a:solidFill>
            <a:schemeClr val="accent3">
              <a:lumMod val="95000"/>
            </a:schemeClr>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R="0" lvl="0" indent="0" algn="ctr" defTabSz="995363" fontAlgn="auto">
              <a:lnSpc>
                <a:spcPct val="100000"/>
              </a:lnSpc>
              <a:spcBef>
                <a:spcPts val="0"/>
              </a:spcBef>
              <a:spcAft>
                <a:spcPts val="0"/>
              </a:spcAft>
              <a:buClrTx/>
              <a:buSzTx/>
              <a:buFontTx/>
              <a:buNone/>
              <a:tabLst/>
            </a:pPr>
            <a:endParaRPr kumimoji="0" lang="en-US" b="1" i="0" u="none" strike="noStrike" cap="none" spc="0" normalizeH="0" baseline="0">
              <a:ln>
                <a:noFill/>
              </a:ln>
              <a:solidFill>
                <a:srgbClr val="000000"/>
              </a:solidFill>
              <a:effectLst/>
              <a:uLnTx/>
              <a:uFillTx/>
              <a:latin typeface="EYInterstate Light"/>
              <a:cs typeface="Calibri Light"/>
            </a:endParaRPr>
          </a:p>
        </p:txBody>
      </p:sp>
      <p:sp>
        <p:nvSpPr>
          <p:cNvPr id="20" name="Rectangle 19">
            <a:extLst>
              <a:ext uri="{FF2B5EF4-FFF2-40B4-BE49-F238E27FC236}">
                <a16:creationId xmlns:a16="http://schemas.microsoft.com/office/drawing/2014/main" id="{6CE4C0A8-07D1-6B8D-994A-FC3181E77E6D}"/>
              </a:ext>
            </a:extLst>
          </p:cNvPr>
          <p:cNvSpPr/>
          <p:nvPr userDrawn="1"/>
        </p:nvSpPr>
        <p:spPr bwMode="auto">
          <a:xfrm>
            <a:off x="701367" y="5809361"/>
            <a:ext cx="2634148" cy="500400"/>
          </a:xfrm>
          <a:prstGeom prst="rect">
            <a:avLst/>
          </a:prstGeom>
          <a:solidFill>
            <a:schemeClr val="accent3">
              <a:lumMod val="95000"/>
            </a:schemeClr>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R="0" lvl="0" indent="0" algn="ctr" defTabSz="995363" fontAlgn="auto">
              <a:lnSpc>
                <a:spcPct val="100000"/>
              </a:lnSpc>
              <a:spcBef>
                <a:spcPts val="0"/>
              </a:spcBef>
              <a:spcAft>
                <a:spcPts val="0"/>
              </a:spcAft>
              <a:buClrTx/>
              <a:buSzTx/>
              <a:buFontTx/>
              <a:buNone/>
              <a:tabLst/>
            </a:pPr>
            <a:endParaRPr kumimoji="0" lang="en-US" b="1" i="0" u="none" strike="noStrike" cap="none" spc="0" normalizeH="0" baseline="0">
              <a:ln>
                <a:noFill/>
              </a:ln>
              <a:solidFill>
                <a:srgbClr val="000000"/>
              </a:solidFill>
              <a:effectLst/>
              <a:uLnTx/>
              <a:uFillTx/>
              <a:latin typeface="EYInterstate Light"/>
              <a:cs typeface="Calibri Light"/>
            </a:endParaRPr>
          </a:p>
        </p:txBody>
      </p:sp>
      <p:sp>
        <p:nvSpPr>
          <p:cNvPr id="21" name="Rectangle: Rounded Corners 20">
            <a:extLst>
              <a:ext uri="{FF2B5EF4-FFF2-40B4-BE49-F238E27FC236}">
                <a16:creationId xmlns:a16="http://schemas.microsoft.com/office/drawing/2014/main" id="{7BB00E6F-EFE4-ED9E-2CD4-2CDDF6179EE2}"/>
              </a:ext>
            </a:extLst>
          </p:cNvPr>
          <p:cNvSpPr/>
          <p:nvPr userDrawn="1"/>
        </p:nvSpPr>
        <p:spPr bwMode="auto">
          <a:xfrm>
            <a:off x="3432233" y="1285873"/>
            <a:ext cx="2615408" cy="500401"/>
          </a:xfrm>
          <a:prstGeom prst="roundRect">
            <a:avLst>
              <a:gd name="adj" fmla="val 29814"/>
            </a:avLst>
          </a:prstGeom>
          <a:solidFill>
            <a:srgbClr val="35A4E8"/>
          </a:solidFill>
          <a:ln w="9525" cap="flat" cmpd="sng" algn="ctr">
            <a:solidFill>
              <a:schemeClr val="accent2"/>
            </a:solid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endParaRPr lang="en-US" sz="1200" b="0" kern="0">
              <a:solidFill>
                <a:schemeClr val="tx1"/>
              </a:solidFill>
              <a:latin typeface="EYInterstate Light"/>
              <a:cs typeface="Arial"/>
            </a:endParaRPr>
          </a:p>
        </p:txBody>
      </p:sp>
      <p:sp>
        <p:nvSpPr>
          <p:cNvPr id="22" name="Rectangle: Rounded Corners 21">
            <a:extLst>
              <a:ext uri="{FF2B5EF4-FFF2-40B4-BE49-F238E27FC236}">
                <a16:creationId xmlns:a16="http://schemas.microsoft.com/office/drawing/2014/main" id="{9AA2A2DA-DD74-970B-87D7-286555FFCF01}"/>
              </a:ext>
            </a:extLst>
          </p:cNvPr>
          <p:cNvSpPr/>
          <p:nvPr userDrawn="1"/>
        </p:nvSpPr>
        <p:spPr bwMode="auto">
          <a:xfrm>
            <a:off x="6163099" y="1285873"/>
            <a:ext cx="2615408" cy="500401"/>
          </a:xfrm>
          <a:prstGeom prst="roundRect">
            <a:avLst>
              <a:gd name="adj" fmla="val 29814"/>
            </a:avLst>
          </a:prstGeom>
          <a:solidFill>
            <a:srgbClr val="35A4E8"/>
          </a:solidFill>
          <a:ln w="9525" cap="flat" cmpd="sng" algn="ctr">
            <a:solidFill>
              <a:schemeClr val="accent2"/>
            </a:solid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endParaRPr lang="en-US" sz="1200" b="0" kern="0">
              <a:solidFill>
                <a:schemeClr val="tx1"/>
              </a:solidFill>
              <a:latin typeface="EYInterstate Light"/>
              <a:cs typeface="Arial"/>
            </a:endParaRPr>
          </a:p>
        </p:txBody>
      </p:sp>
      <p:sp>
        <p:nvSpPr>
          <p:cNvPr id="23" name="Rectangle: Rounded Corners 22">
            <a:extLst>
              <a:ext uri="{FF2B5EF4-FFF2-40B4-BE49-F238E27FC236}">
                <a16:creationId xmlns:a16="http://schemas.microsoft.com/office/drawing/2014/main" id="{D05503D5-B6D3-EDF1-199D-F5B7C9B4166F}"/>
              </a:ext>
            </a:extLst>
          </p:cNvPr>
          <p:cNvSpPr/>
          <p:nvPr userDrawn="1"/>
        </p:nvSpPr>
        <p:spPr bwMode="auto">
          <a:xfrm>
            <a:off x="8875225" y="1285873"/>
            <a:ext cx="2615408" cy="500401"/>
          </a:xfrm>
          <a:prstGeom prst="roundRect">
            <a:avLst>
              <a:gd name="adj" fmla="val 29814"/>
            </a:avLst>
          </a:prstGeom>
          <a:solidFill>
            <a:srgbClr val="35A4E8"/>
          </a:solidFill>
          <a:ln w="9525" cap="flat" cmpd="sng" algn="ctr">
            <a:solidFill>
              <a:schemeClr val="accent2"/>
            </a:solid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endParaRPr lang="en-US" sz="1200" b="0" kern="0">
              <a:solidFill>
                <a:schemeClr val="tx1"/>
              </a:solidFill>
              <a:latin typeface="EYInterstate Light"/>
              <a:cs typeface="Arial"/>
            </a:endParaRPr>
          </a:p>
        </p:txBody>
      </p:sp>
    </p:spTree>
    <p:extLst>
      <p:ext uri="{BB962C8B-B14F-4D97-AF65-F5344CB8AC3E}">
        <p14:creationId xmlns:p14="http://schemas.microsoft.com/office/powerpoint/2010/main" val="16243970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Boilerplate">
    <p:spTree>
      <p:nvGrpSpPr>
        <p:cNvPr id="1" name=""/>
        <p:cNvGrpSpPr/>
        <p:nvPr/>
      </p:nvGrpSpPr>
      <p:grpSpPr>
        <a:xfrm>
          <a:off x="0" y="0"/>
          <a:ext cx="0" cy="0"/>
          <a:chOff x="0" y="0"/>
          <a:chExt cx="0" cy="0"/>
        </a:xfrm>
      </p:grpSpPr>
      <p:pic>
        <p:nvPicPr>
          <p:cNvPr id="12" name="Content Placeholder 3">
            <a:extLst>
              <a:ext uri="{FF2B5EF4-FFF2-40B4-BE49-F238E27FC236}">
                <a16:creationId xmlns:a16="http://schemas.microsoft.com/office/drawing/2014/main" id="{C399FDFE-B722-4788-9846-6D0513D1A9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19355"/>
            <a:ext cx="12195204" cy="6898511"/>
          </a:xfrm>
          <a:prstGeom prst="rect">
            <a:avLst/>
          </a:prstGeom>
        </p:spPr>
      </p:pic>
      <p:sp>
        <p:nvSpPr>
          <p:cNvPr id="2" name="Rectangle 1">
            <a:extLst>
              <a:ext uri="{FF2B5EF4-FFF2-40B4-BE49-F238E27FC236}">
                <a16:creationId xmlns:a16="http://schemas.microsoft.com/office/drawing/2014/main" id="{5D7333A3-945C-496C-A261-B5F3C7EE89B8}"/>
              </a:ext>
            </a:extLst>
          </p:cNvPr>
          <p:cNvSpPr/>
          <p:nvPr userDrawn="1"/>
        </p:nvSpPr>
        <p:spPr bwMode="auto">
          <a:xfrm>
            <a:off x="1" y="-19355"/>
            <a:ext cx="12191998" cy="6877355"/>
          </a:xfrm>
          <a:prstGeom prst="rect">
            <a:avLst/>
          </a:prstGeom>
          <a:gradFill flip="none" rotWithShape="1">
            <a:gsLst>
              <a:gs pos="0">
                <a:schemeClr val="tx2">
                  <a:alpha val="0"/>
                </a:schemeClr>
              </a:gs>
              <a:gs pos="89000">
                <a:schemeClr val="tx2"/>
              </a:gs>
            </a:gsLst>
            <a:lin ang="10800000" scaled="1"/>
            <a:tileRect/>
          </a:gra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sp>
        <p:nvSpPr>
          <p:cNvPr id="3" name="TextBox 2">
            <a:extLst>
              <a:ext uri="{FF2B5EF4-FFF2-40B4-BE49-F238E27FC236}">
                <a16:creationId xmlns:a16="http://schemas.microsoft.com/office/drawing/2014/main" id="{8674E020-E70E-8F53-5221-BD696D283DF6}"/>
              </a:ext>
            </a:extLst>
          </p:cNvPr>
          <p:cNvSpPr txBox="1"/>
          <p:nvPr userDrawn="1"/>
        </p:nvSpPr>
        <p:spPr>
          <a:xfrm>
            <a:off x="606110" y="610338"/>
            <a:ext cx="4164390" cy="4906481"/>
          </a:xfrm>
          <a:prstGeom prst="rect">
            <a:avLst/>
          </a:prstGeom>
          <a:noFill/>
        </p:spPr>
        <p:txBody>
          <a:bodyPr wrap="square">
            <a:spAutoFit/>
          </a:bodyPr>
          <a:lstStyle/>
          <a:p>
            <a:pPr marL="0" marR="0" lvl="0" indent="0" defTabSz="913943" eaLnBrk="1" fontAlgn="auto" latinLnBrk="0" hangingPunct="1">
              <a:lnSpc>
                <a:spcPct val="100000"/>
              </a:lnSpc>
              <a:spcBef>
                <a:spcPts val="0"/>
              </a:spcBef>
              <a:spcAft>
                <a:spcPts val="1199"/>
              </a:spcAft>
              <a:buClrTx/>
              <a:buSzTx/>
              <a:buFontTx/>
              <a:buNone/>
              <a:tabLst/>
              <a:defRPr/>
            </a:pPr>
            <a:r>
              <a:rPr kumimoji="0" lang="en-IN" sz="1199" b="0" i="0" u="none" strike="noStrike" kern="0" cap="none" spc="0" normalizeH="0" baseline="0" noProof="0" dirty="0">
                <a:ln>
                  <a:noFill/>
                </a:ln>
                <a:solidFill>
                  <a:prstClr val="white"/>
                </a:solidFill>
                <a:effectLst/>
                <a:uLnTx/>
                <a:uFillTx/>
                <a:cs typeface="Calibri Light"/>
              </a:rPr>
              <a:t>  |  Building a better working world</a:t>
            </a:r>
            <a:endParaRPr kumimoji="0" lang="en-US" sz="1199" b="0" i="0" u="none" strike="noStrike" kern="0" cap="none" spc="0" normalizeH="0" baseline="0" noProof="0" dirty="0">
              <a:ln>
                <a:noFill/>
              </a:ln>
              <a:solidFill>
                <a:prstClr val="white"/>
              </a:solidFill>
              <a:effectLst/>
              <a:uLnTx/>
              <a:uFillTx/>
              <a:latin typeface="Times New Roman" panose="02020603050405020304" pitchFamily="18" charset="0"/>
              <a:ea typeface="Times New Roman" panose="02020603050405020304" pitchFamily="18" charset="0"/>
              <a:cs typeface="Calibri Light"/>
            </a:endParaRPr>
          </a:p>
          <a:p>
            <a:pPr marL="0" marR="0" lvl="0" indent="0" defTabSz="913943"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dirty="0">
                <a:ln>
                  <a:noFill/>
                </a:ln>
                <a:solidFill>
                  <a:prstClr val="white"/>
                </a:solidFill>
                <a:effectLst/>
                <a:uLnTx/>
                <a:uFillTx/>
                <a:cs typeface="Calibri Light"/>
              </a:rPr>
              <a:t> exists to build a better working world, helping to create long-term value for clients, people and society and build trust in the capital markets.</a:t>
            </a:r>
            <a:endParaRPr kumimoji="0" lang="en-US" sz="900" b="0" i="0" u="none" strike="noStrike" kern="0" cap="none" spc="0" normalizeH="0" baseline="0" noProof="0" dirty="0">
              <a:ln>
                <a:noFill/>
              </a:ln>
              <a:solidFill>
                <a:prstClr val="white"/>
              </a:solidFill>
              <a:effectLst/>
              <a:uLnTx/>
              <a:uFillTx/>
              <a:latin typeface="Times New Roman" panose="02020603050405020304" pitchFamily="18" charset="0"/>
              <a:ea typeface="Times New Roman" panose="02020603050405020304" pitchFamily="18" charset="0"/>
              <a:cs typeface="Calibri Light"/>
            </a:endParaRPr>
          </a:p>
          <a:p>
            <a:pPr marL="0" marR="0" lvl="0" indent="0" defTabSz="913943"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dirty="0">
                <a:ln>
                  <a:noFill/>
                </a:ln>
                <a:solidFill>
                  <a:prstClr val="white"/>
                </a:solidFill>
                <a:effectLst/>
                <a:uLnTx/>
                <a:uFillTx/>
                <a:cs typeface="Calibri Light"/>
              </a:rPr>
              <a:t>Enabled by data and technology, diverse  teams in over 150 countries provide trust through assurance and help clients grow, transform and operate.</a:t>
            </a:r>
            <a:endParaRPr kumimoji="0" lang="en-US" sz="900" b="0" i="0" u="none" strike="noStrike" kern="0" cap="none" spc="0" normalizeH="0" baseline="0" noProof="0" dirty="0">
              <a:ln>
                <a:noFill/>
              </a:ln>
              <a:solidFill>
                <a:prstClr val="white"/>
              </a:solidFill>
              <a:effectLst/>
              <a:uLnTx/>
              <a:uFillTx/>
              <a:latin typeface="Times New Roman" panose="02020603050405020304" pitchFamily="18" charset="0"/>
              <a:ea typeface="Times New Roman" panose="02020603050405020304" pitchFamily="18" charset="0"/>
              <a:cs typeface="Calibri Light"/>
            </a:endParaRPr>
          </a:p>
          <a:p>
            <a:pPr marL="0" marR="0" lvl="0" indent="0" defTabSz="913943" eaLnBrk="1" fontAlgn="auto" latinLnBrk="0" hangingPunct="1">
              <a:lnSpc>
                <a:spcPct val="100000"/>
              </a:lnSpc>
              <a:spcBef>
                <a:spcPts val="0"/>
              </a:spcBef>
              <a:spcAft>
                <a:spcPts val="1199"/>
              </a:spcAft>
              <a:buClrTx/>
              <a:buSzTx/>
              <a:buFontTx/>
              <a:buNone/>
              <a:tabLst/>
              <a:defRPr/>
            </a:pPr>
            <a:r>
              <a:rPr kumimoji="0" lang="en-IN" sz="900" b="0" i="0" u="none" strike="noStrike" kern="0" cap="none" spc="0" normalizeH="0" baseline="0" noProof="0" dirty="0">
                <a:ln>
                  <a:noFill/>
                </a:ln>
                <a:solidFill>
                  <a:prstClr val="white"/>
                </a:solidFill>
                <a:effectLst/>
                <a:uLnTx/>
                <a:uFillTx/>
                <a:cs typeface="Calibri Light"/>
              </a:rPr>
              <a:t>Working across assurance, consulting, law, strategy, tax and transactions,  teams ask better questions to find new answers for the complex issues facing our world today.</a:t>
            </a:r>
            <a:endParaRPr kumimoji="0" lang="en-US" sz="900" b="0" i="0" u="none" strike="noStrike" kern="0" cap="none" spc="0" normalizeH="0" baseline="0" noProof="0" dirty="0">
              <a:ln>
                <a:noFill/>
              </a:ln>
              <a:solidFill>
                <a:prstClr val="white"/>
              </a:solidFill>
              <a:effectLst/>
              <a:uLnTx/>
              <a:uFillTx/>
              <a:latin typeface="Times New Roman" panose="02020603050405020304" pitchFamily="18" charset="0"/>
              <a:ea typeface="Times New Roman" panose="02020603050405020304" pitchFamily="18" charset="0"/>
              <a:cs typeface="Calibri Light"/>
            </a:endParaRPr>
          </a:p>
          <a:p>
            <a:pPr marL="0" marR="0" lvl="0" indent="0" defTabSz="913943" eaLnBrk="1" fontAlgn="auto" latinLnBrk="0" hangingPunct="1">
              <a:lnSpc>
                <a:spcPct val="100000"/>
              </a:lnSpc>
              <a:spcBef>
                <a:spcPts val="0"/>
              </a:spcBef>
              <a:spcAft>
                <a:spcPts val="0"/>
              </a:spcAft>
              <a:buClrTx/>
              <a:buSzTx/>
              <a:buFontTx/>
              <a:buNone/>
              <a:tabLst/>
              <a:defRPr/>
            </a:pPr>
            <a:r>
              <a:rPr kumimoji="0" lang="en-IN" sz="800" b="0" i="0" u="none" strike="noStrike" kern="0" cap="none" spc="0" normalizeH="0" baseline="0" noProof="0" dirty="0">
                <a:ln>
                  <a:noFill/>
                </a:ln>
                <a:solidFill>
                  <a:prstClr val="white"/>
                </a:solidFill>
                <a:effectLst/>
                <a:uLnTx/>
                <a:uFillTx/>
                <a:cs typeface="Calibri Light"/>
              </a:rPr>
              <a:t> refers to the global organization, and may refer to one or more, of the member firms of  Global Limited, each of which is a separate legal entity.  Global Limited, a UK company limited by guarantee, does not provide services to clients. Information about how  collects and uses personal data and a description of the rights individuals have under data protection legislation are available via /privacy.  member firms do not practice law where prohibited by local laws. For more information about our organization, please visit .</a:t>
            </a:r>
          </a:p>
          <a:p>
            <a:pPr marL="0" marR="0" lvl="0" indent="0" defTabSz="913943" eaLnBrk="1" fontAlgn="auto" latinLnBrk="0" hangingPunct="1">
              <a:lnSpc>
                <a:spcPct val="100000"/>
              </a:lnSpc>
              <a:spcBef>
                <a:spcPts val="0"/>
              </a:spcBef>
              <a:spcAft>
                <a:spcPts val="0"/>
              </a:spcAft>
              <a:buClrTx/>
              <a:buSzTx/>
              <a:buFontTx/>
              <a:buNone/>
              <a:tabLst/>
              <a:defRPr/>
            </a:pPr>
            <a:endParaRPr kumimoji="0" lang="en-US" sz="1199" b="0" i="0" u="none" strike="noStrike" kern="0" cap="none" spc="0" normalizeH="0" baseline="0" noProof="0" dirty="0">
              <a:ln>
                <a:noFill/>
              </a:ln>
              <a:solidFill>
                <a:prstClr val="white"/>
              </a:solidFill>
              <a:effectLst/>
              <a:uLnTx/>
              <a:uFillTx/>
              <a:latin typeface="Times New Roman" panose="02020603050405020304" pitchFamily="18" charset="0"/>
              <a:ea typeface="Times New Roman" panose="02020603050405020304" pitchFamily="18" charset="0"/>
              <a:cs typeface="Calibri Light"/>
            </a:endParaRPr>
          </a:p>
          <a:p>
            <a:pPr marL="0" marR="0" lvl="0" indent="0" defTabSz="913943" eaLnBrk="1" fontAlgn="auto" latinLnBrk="0" hangingPunct="1">
              <a:lnSpc>
                <a:spcPct val="100000"/>
              </a:lnSpc>
              <a:spcBef>
                <a:spcPts val="0"/>
              </a:spcBef>
              <a:spcAft>
                <a:spcPts val="1199"/>
              </a:spcAft>
              <a:buClrTx/>
              <a:buSzTx/>
              <a:buFontTx/>
              <a:buNone/>
              <a:tabLst/>
              <a:defRPr/>
            </a:pPr>
            <a:r>
              <a:rPr kumimoji="0" lang="en-IN" sz="800" b="0" i="0" u="none" strike="noStrike" kern="0" cap="none" spc="0" normalizeH="0" baseline="0" noProof="0" dirty="0">
                <a:ln>
                  <a:noFill/>
                </a:ln>
                <a:solidFill>
                  <a:prstClr val="white"/>
                </a:solidFill>
                <a:effectLst/>
                <a:uLnTx/>
                <a:uFillTx/>
                <a:cs typeface="Calibri Light"/>
              </a:rPr>
              <a:t>The MENA practice of  has been operating in the region since 1923. Over the past 100 years, we have grown to over 8,000 people united across 26 offices and 15 countries, sharing the same values and an unwavering commitment to quality. As an organization, we continue to develop outstanding leaders who deliver exceptional services to our clients and who contribute to our communities. We are proud of our accomplishments over the years, reaffirming our position as the largest and most established professional services organization in the region.</a:t>
            </a:r>
            <a:endParaRPr kumimoji="0" lang="en-US" sz="1199" b="0" i="0" u="none" strike="noStrike" kern="0" cap="none" spc="0" normalizeH="0" baseline="0" noProof="0" dirty="0">
              <a:ln>
                <a:noFill/>
              </a:ln>
              <a:solidFill>
                <a:prstClr val="white"/>
              </a:solidFill>
              <a:effectLst/>
              <a:uLnTx/>
              <a:uFillTx/>
              <a:latin typeface="Times New Roman" panose="02020603050405020304" pitchFamily="18" charset="0"/>
              <a:ea typeface="Times New Roman" panose="02020603050405020304" pitchFamily="18" charset="0"/>
              <a:cs typeface="Calibri Light"/>
            </a:endParaRPr>
          </a:p>
          <a:p>
            <a:pPr marL="0" marR="0" lvl="0" indent="0" defTabSz="913943" eaLnBrk="1" fontAlgn="auto" latinLnBrk="0" hangingPunct="1">
              <a:lnSpc>
                <a:spcPct val="100000"/>
              </a:lnSpc>
              <a:spcBef>
                <a:spcPts val="0"/>
              </a:spcBef>
              <a:spcAft>
                <a:spcPts val="0"/>
              </a:spcAft>
              <a:buClrTx/>
              <a:buSzTx/>
              <a:buFontTx/>
              <a:buNone/>
              <a:tabLst/>
              <a:defRPr/>
            </a:pPr>
            <a:r>
              <a:rPr kumimoji="0" lang="en-IN" sz="800" b="0" i="0" u="none" strike="noStrike" kern="0" cap="none" spc="0" normalizeH="0" baseline="0" noProof="0" dirty="0">
                <a:ln>
                  <a:noFill/>
                </a:ln>
                <a:solidFill>
                  <a:prstClr val="white"/>
                </a:solidFill>
                <a:effectLst/>
                <a:uLnTx/>
                <a:uFillTx/>
              </a:rPr>
              <a:t>© 2024 GM Limited.</a:t>
            </a:r>
            <a:endParaRPr kumimoji="0" lang="en-US" sz="1199" b="0" i="0" u="none" strike="noStrike" kern="0" cap="none" spc="0" normalizeH="0" baseline="0" noProof="0" dirty="0">
              <a:ln>
                <a:noFill/>
              </a:ln>
              <a:solidFill>
                <a:prstClr val="white"/>
              </a:solidFill>
              <a:effectLst/>
              <a:uLnTx/>
              <a:uFillTx/>
              <a:latin typeface="Times New Roman" panose="02020603050405020304" pitchFamily="18" charset="0"/>
              <a:ea typeface="Times New Roman" panose="02020603050405020304" pitchFamily="18" charset="0"/>
              <a:cs typeface="Calibri Light"/>
            </a:endParaRPr>
          </a:p>
          <a:p>
            <a:pPr marL="0" marR="0" lvl="0" indent="0" defTabSz="913943" eaLnBrk="1" fontAlgn="auto" latinLnBrk="0" hangingPunct="1">
              <a:lnSpc>
                <a:spcPct val="100000"/>
              </a:lnSpc>
              <a:spcBef>
                <a:spcPts val="0"/>
              </a:spcBef>
              <a:spcAft>
                <a:spcPts val="1199"/>
              </a:spcAft>
              <a:buClrTx/>
              <a:buSzTx/>
              <a:buFontTx/>
              <a:buNone/>
              <a:tabLst/>
              <a:defRPr/>
            </a:pPr>
            <a:r>
              <a:rPr kumimoji="0" lang="en-IN" sz="800" b="0" i="0" u="none" strike="noStrike" kern="0" cap="none" spc="0" normalizeH="0" baseline="0" noProof="0" dirty="0">
                <a:ln>
                  <a:noFill/>
                </a:ln>
                <a:solidFill>
                  <a:prstClr val="white"/>
                </a:solidFill>
                <a:effectLst/>
                <a:uLnTx/>
                <a:uFillTx/>
              </a:rPr>
              <a:t>All Rights Reserved.</a:t>
            </a:r>
            <a:endParaRPr kumimoji="0" lang="en-US" sz="1199" b="0" i="0" u="none" strike="noStrike" kern="0" cap="none" spc="0" normalizeH="0" baseline="0" noProof="0" dirty="0">
              <a:ln>
                <a:noFill/>
              </a:ln>
              <a:solidFill>
                <a:prstClr val="white"/>
              </a:solidFill>
              <a:effectLst/>
              <a:uLnTx/>
              <a:uFillTx/>
              <a:latin typeface="Times New Roman" panose="02020603050405020304" pitchFamily="18" charset="0"/>
              <a:ea typeface="Times New Roman" panose="02020603050405020304" pitchFamily="18" charset="0"/>
              <a:cs typeface="Calibri Light"/>
            </a:endParaRPr>
          </a:p>
          <a:p>
            <a:pPr marL="0" marR="0" lvl="0" indent="0" defTabSz="913943" eaLnBrk="1" fontAlgn="auto" latinLnBrk="0" hangingPunct="1">
              <a:lnSpc>
                <a:spcPct val="100000"/>
              </a:lnSpc>
              <a:spcBef>
                <a:spcPts val="0"/>
              </a:spcBef>
              <a:spcAft>
                <a:spcPts val="600"/>
              </a:spcAft>
              <a:buClrTx/>
              <a:buSzTx/>
              <a:buFontTx/>
              <a:buNone/>
              <a:tabLst/>
              <a:defRPr/>
            </a:pPr>
            <a:r>
              <a:rPr kumimoji="0" lang="en-IN" sz="800" b="0" i="0" u="none" strike="noStrike" kern="0" cap="none" spc="0" normalizeH="0" baseline="0" noProof="0" dirty="0">
                <a:ln>
                  <a:noFill/>
                </a:ln>
                <a:solidFill>
                  <a:prstClr val="white"/>
                </a:solidFill>
                <a:effectLst/>
                <a:uLnTx/>
                <a:uFillTx/>
              </a:rPr>
              <a:t>ED None</a:t>
            </a:r>
            <a:endParaRPr kumimoji="0" lang="en-US" sz="1199" b="0" i="0" u="none" strike="noStrike" kern="0" cap="none" spc="0" normalizeH="0" baseline="0" noProof="0" dirty="0">
              <a:ln>
                <a:noFill/>
              </a:ln>
              <a:solidFill>
                <a:prstClr val="white"/>
              </a:solidFill>
              <a:effectLst/>
              <a:uLnTx/>
              <a:uFillTx/>
              <a:latin typeface="Times New Roman" panose="02020603050405020304" pitchFamily="18" charset="0"/>
              <a:ea typeface="Times New Roman" panose="02020603050405020304" pitchFamily="18" charset="0"/>
              <a:cs typeface="Calibri Light"/>
            </a:endParaRPr>
          </a:p>
          <a:p>
            <a:pPr marL="0" marR="0" lvl="0" indent="0" defTabSz="913943" eaLnBrk="1" fontAlgn="auto" latinLnBrk="0" hangingPunct="1">
              <a:lnSpc>
                <a:spcPct val="100000"/>
              </a:lnSpc>
              <a:spcBef>
                <a:spcPts val="0"/>
              </a:spcBef>
              <a:spcAft>
                <a:spcPts val="600"/>
              </a:spcAft>
              <a:buClrTx/>
              <a:buSzTx/>
              <a:buFontTx/>
              <a:buNone/>
              <a:tabLst/>
              <a:defRPr/>
            </a:pPr>
            <a:r>
              <a:rPr kumimoji="0" lang="en-IN" sz="700" b="0" i="0" u="none" strike="noStrike" kern="0" cap="none" spc="0" normalizeH="0" baseline="0" noProof="0" dirty="0">
                <a:ln>
                  <a:noFill/>
                </a:ln>
                <a:solidFill>
                  <a:prstClr val="white"/>
                </a:solidFill>
                <a:effectLst/>
                <a:uLnTx/>
                <a:uFillTx/>
              </a:rPr>
              <a:t>This material has been prepared for general informational purposes only and is not intended to be relied upon as accounting, tax, legal or other professional advice. Please refer to your advisors for specific advice.</a:t>
            </a:r>
            <a:endParaRPr kumimoji="0" lang="en-US" sz="1199" b="0" i="0" u="none" strike="noStrike" kern="0" cap="none" spc="0" normalizeH="0" baseline="0" noProof="0" dirty="0">
              <a:ln>
                <a:noFill/>
              </a:ln>
              <a:solidFill>
                <a:prstClr val="white"/>
              </a:solidFill>
              <a:effectLst/>
              <a:uLnTx/>
              <a:uFillTx/>
              <a:latin typeface="Times New Roman" panose="02020603050405020304" pitchFamily="18" charset="0"/>
              <a:ea typeface="Times New Roman" panose="02020603050405020304" pitchFamily="18" charset="0"/>
              <a:cs typeface="Calibri Light"/>
            </a:endParaRPr>
          </a:p>
          <a:p>
            <a:pPr marL="0" marR="0" lvl="0" indent="0" defTabSz="913943" eaLnBrk="1" fontAlgn="auto" latinLnBrk="0" hangingPunct="1">
              <a:lnSpc>
                <a:spcPct val="100000"/>
              </a:lnSpc>
              <a:spcBef>
                <a:spcPts val="0"/>
              </a:spcBef>
              <a:spcAft>
                <a:spcPts val="999"/>
              </a:spcAft>
              <a:buClrTx/>
              <a:buSzTx/>
              <a:buFontTx/>
              <a:buNone/>
              <a:tabLst/>
              <a:defRPr/>
            </a:pPr>
            <a:endParaRPr kumimoji="0" lang="en-US" sz="1199" b="0" i="0" u="none" strike="noStrike" kern="0" cap="none" spc="0" normalizeH="0" baseline="0" noProof="0" dirty="0">
              <a:ln>
                <a:noFill/>
              </a:ln>
              <a:solidFill>
                <a:prstClr val="white"/>
              </a:solidFill>
              <a:effectLst/>
              <a:uLnTx/>
              <a:uFillTx/>
              <a:latin typeface="Times New Roman" panose="02020603050405020304" pitchFamily="18" charset="0"/>
              <a:ea typeface="Times New Roman" panose="02020603050405020304" pitchFamily="18" charset="0"/>
              <a:cs typeface="Calibri Light"/>
            </a:endParaRPr>
          </a:p>
        </p:txBody>
      </p:sp>
    </p:spTree>
    <p:extLst>
      <p:ext uri="{BB962C8B-B14F-4D97-AF65-F5344CB8AC3E}">
        <p14:creationId xmlns:p14="http://schemas.microsoft.com/office/powerpoint/2010/main" val="34361022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0534C50-2C32-C882-2AF1-F86B4E19D92A}"/>
              </a:ext>
            </a:extLst>
          </p:cNvPr>
          <p:cNvSpPr/>
          <p:nvPr userDrawn="1"/>
        </p:nvSpPr>
        <p:spPr>
          <a:xfrm>
            <a:off x="0" y="0"/>
            <a:ext cx="12192000" cy="6858000"/>
          </a:xfrm>
          <a:prstGeom prst="rect">
            <a:avLst/>
          </a:prstGeom>
          <a:solidFill>
            <a:schemeClr val="tx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DAC853D5-A5F6-8AEE-DEA2-5200189A63F8}"/>
              </a:ext>
            </a:extLst>
          </p:cNvPr>
          <p:cNvSpPr/>
          <p:nvPr userDrawn="1"/>
        </p:nvSpPr>
        <p:spPr>
          <a:xfrm>
            <a:off x="0" y="0"/>
            <a:ext cx="12192000" cy="6858000"/>
          </a:xfrm>
          <a:prstGeom prst="rect">
            <a:avLst/>
          </a:prstGeom>
          <a:solidFill>
            <a:schemeClr val="tx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1314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emf"/><Relationship Id="rId5" Type="http://schemas.openxmlformats.org/officeDocument/2006/relationships/slideLayout" Target="../slideLayouts/slideLayout14.xml"/><Relationship Id="rId10" Type="http://schemas.openxmlformats.org/officeDocument/2006/relationships/oleObject" Target="../embeddings/oleObject2.bin"/><Relationship Id="rId4" Type="http://schemas.openxmlformats.org/officeDocument/2006/relationships/slideLayout" Target="../slideLayouts/slideLayout13.xml"/><Relationship Id="rId9" Type="http://schemas.openxmlformats.org/officeDocument/2006/relationships/tags" Target="../tags/tag3.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image" Target="../media/image1.emf"/><Relationship Id="rId5" Type="http://schemas.openxmlformats.org/officeDocument/2006/relationships/slideLayout" Target="../slideLayouts/slideLayout21.xml"/><Relationship Id="rId10" Type="http://schemas.openxmlformats.org/officeDocument/2006/relationships/oleObject" Target="../embeddings/oleObject1.bin"/><Relationship Id="rId4" Type="http://schemas.openxmlformats.org/officeDocument/2006/relationships/slideLayout" Target="../slideLayouts/slideLayout20.xml"/><Relationship Id="rId9" Type="http://schemas.openxmlformats.org/officeDocument/2006/relationships/tags" Target="../tags/tag5.xml"/></Relationships>
</file>

<file path=ppt/slideMasters/_rels/slideMaster4.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heme" Target="../theme/theme4.xml"/><Relationship Id="rId1" Type="http://schemas.openxmlformats.org/officeDocument/2006/relationships/slideLayout" Target="../slideLayouts/slideLayout24.xml"/><Relationship Id="rId6" Type="http://schemas.openxmlformats.org/officeDocument/2006/relationships/image" Target="../media/image12.jpeg"/><Relationship Id="rId5" Type="http://schemas.openxmlformats.org/officeDocument/2006/relationships/image" Target="../media/image1.emf"/><Relationship Id="rId4" Type="http://schemas.openxmlformats.org/officeDocument/2006/relationships/oleObject" Target="../embeddings/oleObject4.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8DE8EEA9-1BE2-99F2-2FFC-DE34F9313F9D}"/>
              </a:ext>
            </a:extLst>
          </p:cNvPr>
          <p:cNvGraphicFramePr>
            <a:graphicFrameLocks noChangeAspect="1"/>
          </p:cNvGraphicFramePr>
          <p:nvPr userDrawn="1">
            <p:custDataLst>
              <p:tags r:id="rId11"/>
            </p:custDataLst>
            <p:extLst>
              <p:ext uri="{D42A27DB-BD31-4B8C-83A1-F6EECF244321}">
                <p14:modId xmlns:p14="http://schemas.microsoft.com/office/powerpoint/2010/main" val="14835622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395" imgH="396" progId="TCLayout.ActiveDocument.1">
                  <p:embed/>
                </p:oleObj>
              </mc:Choice>
              <mc:Fallback>
                <p:oleObj name="think-cell Slide" r:id="rId12" imgW="395" imgH="396" progId="TCLayout.ActiveDocument.1">
                  <p:embed/>
                  <p:pic>
                    <p:nvPicPr>
                      <p:cNvPr id="13" name="think-cell data - do not delete" hidden="1">
                        <a:extLst>
                          <a:ext uri="{FF2B5EF4-FFF2-40B4-BE49-F238E27FC236}">
                            <a16:creationId xmlns:a16="http://schemas.microsoft.com/office/drawing/2014/main" id="{8DE8EEA9-1BE2-99F2-2FFC-DE34F9313F9D}"/>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1026" name="Rectangle 2"/>
          <p:cNvSpPr>
            <a:spLocks noGrp="1" noChangeArrowheads="1"/>
          </p:cNvSpPr>
          <p:nvPr userDrawn="1">
            <p:ph type="title"/>
          </p:nvPr>
        </p:nvSpPr>
        <p:spPr bwMode="gray">
          <a:xfrm>
            <a:off x="701365" y="273717"/>
            <a:ext cx="10789269" cy="792000"/>
          </a:xfrm>
          <a:prstGeom prst="rect">
            <a:avLst/>
          </a:prstGeom>
          <a:noFill/>
          <a:ln w="9525">
            <a:noFill/>
            <a:miter lim="800000"/>
            <a:headEnd/>
            <a:tailEnd/>
          </a:ln>
          <a:effectLst/>
        </p:spPr>
        <p:txBody>
          <a:bodyPr vert="horz" wrap="square" lIns="0" tIns="0" rIns="0" bIns="36000" numCol="1" anchor="b" anchorCtr="0" compatLnSpc="1">
            <a:prstTxWarp prst="textNoShape">
              <a:avLst/>
            </a:prstTxWarp>
          </a:bodyPr>
          <a:lstStyle/>
          <a:p>
            <a:pPr lvl="0"/>
            <a:r>
              <a:rPr lang="en-US"/>
              <a:t>Headline 1 (Interstate 22pt)</a:t>
            </a:r>
          </a:p>
        </p:txBody>
      </p:sp>
      <p:sp>
        <p:nvSpPr>
          <p:cNvPr id="1027" name="Rectangle 3"/>
          <p:cNvSpPr>
            <a:spLocks noGrp="1" noChangeArrowheads="1"/>
          </p:cNvSpPr>
          <p:nvPr userDrawn="1">
            <p:ph type="body" idx="1"/>
          </p:nvPr>
        </p:nvSpPr>
        <p:spPr bwMode="gray">
          <a:xfrm>
            <a:off x="699555" y="1291281"/>
            <a:ext cx="10789269" cy="4968000"/>
          </a:xfrm>
          <a:prstGeom prst="rect">
            <a:avLst/>
          </a:prstGeom>
          <a:noFill/>
          <a:ln w="9525">
            <a:noFill/>
            <a:miter lim="800000"/>
            <a:headEnd/>
            <a:tailEnd/>
          </a:ln>
          <a:effectLst/>
        </p:spPr>
        <p:txBody>
          <a:bodyPr vert="horz" wrap="square" lIns="0" tIns="0" rIns="71975" bIns="0" numCol="1" anchor="t" anchorCtr="0" compatLnSpc="1">
            <a:prstTxWarp prst="textNoShape">
              <a:avLst/>
            </a:prstTxWarp>
          </a:bodyPr>
          <a:lstStyle/>
          <a:p>
            <a:pPr lvl="0"/>
            <a:r>
              <a:rPr lang="en-US"/>
              <a:t>Body text (Interstate 10pt)</a:t>
            </a:r>
          </a:p>
          <a:p>
            <a:pPr lvl="1"/>
            <a:r>
              <a:rPr lang="en-US"/>
              <a:t>Headline 2 (Interstate bold 14pt)</a:t>
            </a:r>
          </a:p>
          <a:p>
            <a:pPr lvl="3"/>
            <a:r>
              <a:rPr lang="en-US"/>
              <a:t>Bullet 1 (Interstate 10pt)</a:t>
            </a:r>
          </a:p>
          <a:p>
            <a:pPr lvl="4"/>
            <a:r>
              <a:rPr lang="en-US"/>
              <a:t>Bullet 2 (Interstate 10pt)</a:t>
            </a:r>
          </a:p>
          <a:p>
            <a:pPr lvl="2"/>
            <a:r>
              <a:rPr lang="en-US"/>
              <a:t>Headline 3 (Interstate bold 12pt)</a:t>
            </a:r>
          </a:p>
        </p:txBody>
      </p:sp>
      <p:sp>
        <p:nvSpPr>
          <p:cNvPr id="1048" name="Text Box 121">
            <a:extLst>
              <a:ext uri="{FF2B5EF4-FFF2-40B4-BE49-F238E27FC236}">
                <a16:creationId xmlns:a16="http://schemas.microsoft.com/office/drawing/2014/main" id="{64353B41-79A7-16AA-E803-93187C68AE8B}"/>
              </a:ext>
            </a:extLst>
          </p:cNvPr>
          <p:cNvSpPr txBox="1">
            <a:spLocks noChangeArrowheads="1"/>
          </p:cNvSpPr>
          <p:nvPr userDrawn="1"/>
        </p:nvSpPr>
        <p:spPr bwMode="gray">
          <a:xfrm>
            <a:off x="8730641" y="6522966"/>
            <a:ext cx="1704352" cy="123111"/>
          </a:xfrm>
          <a:prstGeom prst="rect">
            <a:avLst/>
          </a:prstGeom>
          <a:noFill/>
          <a:ln w="12700">
            <a:noFill/>
            <a:miter lim="800000"/>
            <a:headEnd type="none" w="sm" len="sm"/>
            <a:tailEnd type="none" w="sm" len="sm"/>
          </a:ln>
          <a:effectLst/>
        </p:spPr>
        <p:txBody>
          <a:bodyPr wrap="square" lIns="0" tIns="0" rIns="0" bIns="0"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90201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chemeClr val="tx2"/>
                </a:solidFill>
                <a:effectLst/>
                <a:uLnTx/>
                <a:uFillTx/>
              </a:rPr>
              <a:t>Confidential — All Rights Reserved</a:t>
            </a:r>
          </a:p>
        </p:txBody>
      </p:sp>
      <p:sp>
        <p:nvSpPr>
          <p:cNvPr id="1050" name="Footer Placeholder 2">
            <a:extLst>
              <a:ext uri="{FF2B5EF4-FFF2-40B4-BE49-F238E27FC236}">
                <a16:creationId xmlns:a16="http://schemas.microsoft.com/office/drawing/2014/main" id="{C5CFCA6E-0A66-661B-2060-C698D3287C28}"/>
              </a:ext>
            </a:extLst>
          </p:cNvPr>
          <p:cNvSpPr txBox="1">
            <a:spLocks/>
          </p:cNvSpPr>
          <p:nvPr userDrawn="1"/>
        </p:nvSpPr>
        <p:spPr>
          <a:xfrm>
            <a:off x="1293844" y="6522966"/>
            <a:ext cx="1998945" cy="123111"/>
          </a:xfrm>
          <a:prstGeom prst="rect">
            <a:avLst/>
          </a:prstGeom>
        </p:spPr>
        <p:txBody>
          <a:bodyPr wrap="none" lIns="0" tIns="0" rIns="0" bIns="0">
            <a:spAutoFit/>
          </a:bodyPr>
          <a:lstStyle>
            <a:defPPr>
              <a:defRPr lang="en-US"/>
            </a:defPPr>
            <a:lvl1pPr marL="0" algn="l" defTabSz="457200" rtl="0" eaLnBrk="1" latinLnBrk="0" hangingPunct="1">
              <a:defRPr sz="800" kern="1200">
                <a:solidFill>
                  <a:schemeClr val="bg1"/>
                </a:solidFill>
                <a:latin typeface="EYInterstate Regular"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r>
              <a:rPr lang="en-IN" dirty="0">
                <a:solidFill>
                  <a:schemeClr val="tx2"/>
                </a:solidFill>
                <a:latin typeface="EYInterstate Light"/>
              </a:rPr>
              <a:t>[CLIENT] : Healthcare Planning Consultant </a:t>
            </a:r>
          </a:p>
        </p:txBody>
      </p:sp>
      <p:grpSp>
        <p:nvGrpSpPr>
          <p:cNvPr id="1051" name="Group 1050">
            <a:extLst>
              <a:ext uri="{FF2B5EF4-FFF2-40B4-BE49-F238E27FC236}">
                <a16:creationId xmlns:a16="http://schemas.microsoft.com/office/drawing/2014/main" id="{60E6A3F6-E177-4A53-4A1D-95D8EA2CF981}"/>
              </a:ext>
            </a:extLst>
          </p:cNvPr>
          <p:cNvGrpSpPr/>
          <p:nvPr userDrawn="1"/>
        </p:nvGrpSpPr>
        <p:grpSpPr>
          <a:xfrm>
            <a:off x="3774640" y="6551306"/>
            <a:ext cx="452788" cy="66431"/>
            <a:chOff x="1585721" y="10286999"/>
            <a:chExt cx="799526" cy="117303"/>
          </a:xfrm>
        </p:grpSpPr>
        <p:sp>
          <p:nvSpPr>
            <p:cNvPr id="1067" name="Freeform: Shape 1066">
              <a:extLst>
                <a:ext uri="{FF2B5EF4-FFF2-40B4-BE49-F238E27FC236}">
                  <a16:creationId xmlns:a16="http://schemas.microsoft.com/office/drawing/2014/main" id="{EFD981E3-302E-99AD-9DD5-B24FCD978070}"/>
                </a:ext>
              </a:extLst>
            </p:cNvPr>
            <p:cNvSpPr/>
            <p:nvPr userDrawn="1"/>
          </p:nvSpPr>
          <p:spPr>
            <a:xfrm>
              <a:off x="2069394" y="10296525"/>
              <a:ext cx="98250" cy="98250"/>
            </a:xfrm>
            <a:custGeom>
              <a:avLst/>
              <a:gdLst>
                <a:gd name="connsiteX0" fmla="*/ 39387 w 39387"/>
                <a:gd name="connsiteY0" fmla="*/ 19694 h 39387"/>
                <a:gd name="connsiteX1" fmla="*/ 19694 w 39387"/>
                <a:gd name="connsiteY1" fmla="*/ 39387 h 39387"/>
                <a:gd name="connsiteX2" fmla="*/ 0 w 39387"/>
                <a:gd name="connsiteY2" fmla="*/ 19694 h 39387"/>
                <a:gd name="connsiteX3" fmla="*/ 19694 w 39387"/>
                <a:gd name="connsiteY3" fmla="*/ 0 h 39387"/>
                <a:gd name="connsiteX4" fmla="*/ 39387 w 39387"/>
                <a:gd name="connsiteY4" fmla="*/ 19694 h 39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87" h="39387">
                  <a:moveTo>
                    <a:pt x="39387" y="19694"/>
                  </a:moveTo>
                  <a:cubicBezTo>
                    <a:pt x="39387" y="30570"/>
                    <a:pt x="30570" y="39387"/>
                    <a:pt x="19694" y="39387"/>
                  </a:cubicBezTo>
                  <a:cubicBezTo>
                    <a:pt x="8817" y="39387"/>
                    <a:pt x="0" y="30570"/>
                    <a:pt x="0" y="19694"/>
                  </a:cubicBezTo>
                  <a:cubicBezTo>
                    <a:pt x="0" y="8817"/>
                    <a:pt x="8817" y="0"/>
                    <a:pt x="19694" y="0"/>
                  </a:cubicBezTo>
                  <a:cubicBezTo>
                    <a:pt x="30570" y="0"/>
                    <a:pt x="39387" y="8817"/>
                    <a:pt x="39387" y="19694"/>
                  </a:cubicBezTo>
                  <a:close/>
                </a:path>
              </a:pathLst>
            </a:custGeom>
            <a:solidFill>
              <a:srgbClr val="2E2E38"/>
            </a:solidFill>
            <a:ln w="3821"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068" name="Freeform: Shape 1067">
              <a:extLst>
                <a:ext uri="{FF2B5EF4-FFF2-40B4-BE49-F238E27FC236}">
                  <a16:creationId xmlns:a16="http://schemas.microsoft.com/office/drawing/2014/main" id="{0B7943D6-AD5D-1462-FF30-FE7D64A54696}"/>
                </a:ext>
              </a:extLst>
            </p:cNvPr>
            <p:cNvSpPr/>
            <p:nvPr userDrawn="1"/>
          </p:nvSpPr>
          <p:spPr>
            <a:xfrm>
              <a:off x="1889766" y="10305987"/>
              <a:ext cx="79327" cy="79327"/>
            </a:xfrm>
            <a:custGeom>
              <a:avLst/>
              <a:gdLst>
                <a:gd name="connsiteX0" fmla="*/ 31801 w 31801"/>
                <a:gd name="connsiteY0" fmla="*/ 15901 h 31801"/>
                <a:gd name="connsiteX1" fmla="*/ 15901 w 31801"/>
                <a:gd name="connsiteY1" fmla="*/ 0 h 31801"/>
                <a:gd name="connsiteX2" fmla="*/ 0 w 31801"/>
                <a:gd name="connsiteY2" fmla="*/ 15901 h 31801"/>
                <a:gd name="connsiteX3" fmla="*/ 15901 w 31801"/>
                <a:gd name="connsiteY3" fmla="*/ 31801 h 31801"/>
                <a:gd name="connsiteX4" fmla="*/ 31801 w 31801"/>
                <a:gd name="connsiteY4" fmla="*/ 15901 h 31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01" h="31801">
                  <a:moveTo>
                    <a:pt x="31801" y="15901"/>
                  </a:moveTo>
                  <a:cubicBezTo>
                    <a:pt x="31801" y="7127"/>
                    <a:pt x="24675" y="0"/>
                    <a:pt x="15901" y="0"/>
                  </a:cubicBezTo>
                  <a:cubicBezTo>
                    <a:pt x="7126" y="0"/>
                    <a:pt x="0" y="7127"/>
                    <a:pt x="0" y="15901"/>
                  </a:cubicBezTo>
                  <a:cubicBezTo>
                    <a:pt x="0" y="24675"/>
                    <a:pt x="7126" y="31801"/>
                    <a:pt x="15901" y="31801"/>
                  </a:cubicBezTo>
                  <a:cubicBezTo>
                    <a:pt x="24675" y="31801"/>
                    <a:pt x="31801" y="24675"/>
                    <a:pt x="31801" y="15901"/>
                  </a:cubicBezTo>
                  <a:close/>
                </a:path>
              </a:pathLst>
            </a:custGeom>
            <a:solidFill>
              <a:srgbClr val="747480"/>
            </a:solidFill>
            <a:ln w="3821"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069" name="Freeform: Shape 1068">
              <a:extLst>
                <a:ext uri="{FF2B5EF4-FFF2-40B4-BE49-F238E27FC236}">
                  <a16:creationId xmlns:a16="http://schemas.microsoft.com/office/drawing/2014/main" id="{9720EECD-BDC8-5B22-D2BA-B288560B8B2A}"/>
                </a:ext>
              </a:extLst>
            </p:cNvPr>
            <p:cNvSpPr/>
            <p:nvPr userDrawn="1"/>
          </p:nvSpPr>
          <p:spPr>
            <a:xfrm>
              <a:off x="1731741" y="10316788"/>
              <a:ext cx="57724" cy="57724"/>
            </a:xfrm>
            <a:custGeom>
              <a:avLst/>
              <a:gdLst>
                <a:gd name="connsiteX0" fmla="*/ 23142 w 23141"/>
                <a:gd name="connsiteY0" fmla="*/ 11571 h 23141"/>
                <a:gd name="connsiteX1" fmla="*/ 11571 w 23141"/>
                <a:gd name="connsiteY1" fmla="*/ 0 h 23141"/>
                <a:gd name="connsiteX2" fmla="*/ 0 w 23141"/>
                <a:gd name="connsiteY2" fmla="*/ 11571 h 23141"/>
                <a:gd name="connsiteX3" fmla="*/ 11571 w 23141"/>
                <a:gd name="connsiteY3" fmla="*/ 23142 h 23141"/>
                <a:gd name="connsiteX4" fmla="*/ 23142 w 23141"/>
                <a:gd name="connsiteY4" fmla="*/ 11571 h 23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1" h="23141">
                  <a:moveTo>
                    <a:pt x="23142" y="11571"/>
                  </a:moveTo>
                  <a:cubicBezTo>
                    <a:pt x="23142" y="5172"/>
                    <a:pt x="17969" y="0"/>
                    <a:pt x="11571" y="0"/>
                  </a:cubicBezTo>
                  <a:cubicBezTo>
                    <a:pt x="5172" y="0"/>
                    <a:pt x="0" y="5172"/>
                    <a:pt x="0" y="11571"/>
                  </a:cubicBezTo>
                  <a:cubicBezTo>
                    <a:pt x="0" y="17970"/>
                    <a:pt x="5172" y="23142"/>
                    <a:pt x="11571" y="23142"/>
                  </a:cubicBezTo>
                  <a:cubicBezTo>
                    <a:pt x="17969" y="23142"/>
                    <a:pt x="23142" y="17970"/>
                    <a:pt x="23142" y="11571"/>
                  </a:cubicBezTo>
                  <a:close/>
                </a:path>
              </a:pathLst>
            </a:custGeom>
            <a:solidFill>
              <a:srgbClr val="C4C4CD"/>
            </a:solidFill>
            <a:ln w="3821"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070" name="Freeform: Shape 1069">
              <a:extLst>
                <a:ext uri="{FF2B5EF4-FFF2-40B4-BE49-F238E27FC236}">
                  <a16:creationId xmlns:a16="http://schemas.microsoft.com/office/drawing/2014/main" id="{0C2EFD92-9B87-131E-BFB4-EA04A0FF5677}"/>
                </a:ext>
              </a:extLst>
            </p:cNvPr>
            <p:cNvSpPr/>
            <p:nvPr userDrawn="1"/>
          </p:nvSpPr>
          <p:spPr>
            <a:xfrm>
              <a:off x="1585721" y="10322791"/>
              <a:ext cx="45719" cy="45719"/>
            </a:xfrm>
            <a:custGeom>
              <a:avLst/>
              <a:gdLst>
                <a:gd name="connsiteX0" fmla="*/ 14406 w 14406"/>
                <a:gd name="connsiteY0" fmla="*/ 7203 h 14406"/>
                <a:gd name="connsiteX1" fmla="*/ 7203 w 14406"/>
                <a:gd name="connsiteY1" fmla="*/ 0 h 14406"/>
                <a:gd name="connsiteX2" fmla="*/ 0 w 14406"/>
                <a:gd name="connsiteY2" fmla="*/ 7203 h 14406"/>
                <a:gd name="connsiteX3" fmla="*/ 7203 w 14406"/>
                <a:gd name="connsiteY3" fmla="*/ 14406 h 14406"/>
                <a:gd name="connsiteX4" fmla="*/ 14406 w 14406"/>
                <a:gd name="connsiteY4" fmla="*/ 7203 h 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06" h="14406">
                  <a:moveTo>
                    <a:pt x="14406" y="7203"/>
                  </a:moveTo>
                  <a:cubicBezTo>
                    <a:pt x="14406" y="3218"/>
                    <a:pt x="11188" y="0"/>
                    <a:pt x="7203" y="0"/>
                  </a:cubicBezTo>
                  <a:cubicBezTo>
                    <a:pt x="3218" y="0"/>
                    <a:pt x="0" y="3218"/>
                    <a:pt x="0" y="7203"/>
                  </a:cubicBezTo>
                  <a:cubicBezTo>
                    <a:pt x="0" y="11188"/>
                    <a:pt x="3218" y="14406"/>
                    <a:pt x="7203" y="14406"/>
                  </a:cubicBezTo>
                  <a:cubicBezTo>
                    <a:pt x="11188" y="14406"/>
                    <a:pt x="14406" y="11188"/>
                    <a:pt x="14406" y="7203"/>
                  </a:cubicBezTo>
                  <a:close/>
                </a:path>
              </a:pathLst>
            </a:custGeom>
            <a:solidFill>
              <a:srgbClr val="F5F5FA"/>
            </a:solidFill>
            <a:ln w="3821"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071" name="Freeform: Shape 1070">
              <a:extLst>
                <a:ext uri="{FF2B5EF4-FFF2-40B4-BE49-F238E27FC236}">
                  <a16:creationId xmlns:a16="http://schemas.microsoft.com/office/drawing/2014/main" id="{C5309ECD-5C19-EA03-5701-EBC86BE95018}"/>
                </a:ext>
              </a:extLst>
            </p:cNvPr>
            <p:cNvSpPr/>
            <p:nvPr userDrawn="1"/>
          </p:nvSpPr>
          <p:spPr>
            <a:xfrm>
              <a:off x="2267944" y="10286999"/>
              <a:ext cx="117303" cy="117303"/>
            </a:xfrm>
            <a:custGeom>
              <a:avLst/>
              <a:gdLst>
                <a:gd name="connsiteX0" fmla="*/ 39387 w 39387"/>
                <a:gd name="connsiteY0" fmla="*/ 19694 h 39387"/>
                <a:gd name="connsiteX1" fmla="*/ 19694 w 39387"/>
                <a:gd name="connsiteY1" fmla="*/ 39387 h 39387"/>
                <a:gd name="connsiteX2" fmla="*/ 0 w 39387"/>
                <a:gd name="connsiteY2" fmla="*/ 19694 h 39387"/>
                <a:gd name="connsiteX3" fmla="*/ 19694 w 39387"/>
                <a:gd name="connsiteY3" fmla="*/ 0 h 39387"/>
                <a:gd name="connsiteX4" fmla="*/ 39387 w 39387"/>
                <a:gd name="connsiteY4" fmla="*/ 19694 h 39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87" h="39387">
                  <a:moveTo>
                    <a:pt x="39387" y="19694"/>
                  </a:moveTo>
                  <a:cubicBezTo>
                    <a:pt x="39387" y="30570"/>
                    <a:pt x="30570" y="39387"/>
                    <a:pt x="19694" y="39387"/>
                  </a:cubicBezTo>
                  <a:cubicBezTo>
                    <a:pt x="8817" y="39387"/>
                    <a:pt x="0" y="30570"/>
                    <a:pt x="0" y="19694"/>
                  </a:cubicBezTo>
                  <a:cubicBezTo>
                    <a:pt x="0" y="8817"/>
                    <a:pt x="8817" y="0"/>
                    <a:pt x="19694" y="0"/>
                  </a:cubicBezTo>
                  <a:cubicBezTo>
                    <a:pt x="30570" y="0"/>
                    <a:pt x="39387" y="8817"/>
                    <a:pt x="39387" y="19694"/>
                  </a:cubicBezTo>
                  <a:close/>
                </a:path>
              </a:pathLst>
            </a:custGeom>
            <a:solidFill>
              <a:srgbClr val="1A9AFA"/>
            </a:solidFill>
            <a:ln w="3821"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grpSp>
      <p:cxnSp>
        <p:nvCxnSpPr>
          <p:cNvPr id="1052" name="Straight Connector 1051">
            <a:extLst>
              <a:ext uri="{FF2B5EF4-FFF2-40B4-BE49-F238E27FC236}">
                <a16:creationId xmlns:a16="http://schemas.microsoft.com/office/drawing/2014/main" id="{5199626C-FDB8-500F-E10E-83ED9014DFD2}"/>
              </a:ext>
            </a:extLst>
          </p:cNvPr>
          <p:cNvCxnSpPr>
            <a:cxnSpLocks/>
          </p:cNvCxnSpPr>
          <p:nvPr userDrawn="1"/>
        </p:nvCxnSpPr>
        <p:spPr bwMode="auto">
          <a:xfrm flipH="1">
            <a:off x="4227428" y="6584521"/>
            <a:ext cx="4563338" cy="0"/>
          </a:xfrm>
          <a:prstGeom prst="line">
            <a:avLst/>
          </a:prstGeom>
          <a:solidFill>
            <a:srgbClr val="7F7E82"/>
          </a:solidFill>
          <a:ln w="9525" cap="flat" cmpd="sng" algn="ctr">
            <a:solidFill>
              <a:srgbClr val="1A9AFA"/>
            </a:solidFill>
            <a:prstDash val="solid"/>
            <a:round/>
            <a:headEnd type="none" w="med" len="med"/>
            <a:tailEnd type="none" w="med" len="med"/>
          </a:ln>
          <a:effectLst/>
        </p:spPr>
      </p:cxnSp>
      <p:grpSp>
        <p:nvGrpSpPr>
          <p:cNvPr id="1053" name="Graphic 4">
            <a:extLst>
              <a:ext uri="{FF2B5EF4-FFF2-40B4-BE49-F238E27FC236}">
                <a16:creationId xmlns:a16="http://schemas.microsoft.com/office/drawing/2014/main" id="{59078320-656E-0E26-9679-88CAFA6FBDD6}"/>
              </a:ext>
            </a:extLst>
          </p:cNvPr>
          <p:cNvGrpSpPr>
            <a:grpSpLocks noChangeAspect="1"/>
          </p:cNvGrpSpPr>
          <p:nvPr userDrawn="1"/>
        </p:nvGrpSpPr>
        <p:grpSpPr bwMode="invGray">
          <a:xfrm>
            <a:off x="10526389" y="6345164"/>
            <a:ext cx="964339" cy="310870"/>
            <a:chOff x="9673094" y="5359719"/>
            <a:chExt cx="4313873" cy="1390650"/>
          </a:xfrm>
        </p:grpSpPr>
        <p:grpSp>
          <p:nvGrpSpPr>
            <p:cNvPr id="1054" name="Graphic 4">
              <a:extLst>
                <a:ext uri="{FF2B5EF4-FFF2-40B4-BE49-F238E27FC236}">
                  <a16:creationId xmlns:a16="http://schemas.microsoft.com/office/drawing/2014/main" id="{F25DD05F-F092-C1F1-7146-CAE795D26E93}"/>
                </a:ext>
              </a:extLst>
            </p:cNvPr>
            <p:cNvGrpSpPr/>
            <p:nvPr userDrawn="1"/>
          </p:nvGrpSpPr>
          <p:grpSpPr bwMode="invGray">
            <a:xfrm>
              <a:off x="11025644" y="6244592"/>
              <a:ext cx="2961323" cy="505777"/>
              <a:chOff x="11025644" y="6244592"/>
              <a:chExt cx="2961323" cy="505777"/>
            </a:xfrm>
            <a:solidFill>
              <a:srgbClr val="1A9AFA"/>
            </a:solidFill>
          </p:grpSpPr>
          <p:sp>
            <p:nvSpPr>
              <p:cNvPr id="1058" name="Freeform 16">
                <a:extLst>
                  <a:ext uri="{FF2B5EF4-FFF2-40B4-BE49-F238E27FC236}">
                    <a16:creationId xmlns:a16="http://schemas.microsoft.com/office/drawing/2014/main" id="{CFD3B391-B137-7AA9-2CEB-30B87104BADC}"/>
                  </a:ext>
                </a:extLst>
              </p:cNvPr>
              <p:cNvSpPr/>
              <p:nvPr userDrawn="1"/>
            </p:nvSpPr>
            <p:spPr bwMode="invGray">
              <a:xfrm>
                <a:off x="11025644" y="6264594"/>
                <a:ext cx="352425" cy="477202"/>
              </a:xfrm>
              <a:custGeom>
                <a:avLst/>
                <a:gdLst>
                  <a:gd name="connsiteX0" fmla="*/ 280035 w 352425"/>
                  <a:gd name="connsiteY0" fmla="*/ 149542 h 477202"/>
                  <a:gd name="connsiteX1" fmla="*/ 274320 w 352425"/>
                  <a:gd name="connsiteY1" fmla="*/ 114300 h 477202"/>
                  <a:gd name="connsiteX2" fmla="*/ 258128 w 352425"/>
                  <a:gd name="connsiteY2" fmla="*/ 88583 h 477202"/>
                  <a:gd name="connsiteX3" fmla="*/ 232410 w 352425"/>
                  <a:gd name="connsiteY3" fmla="*/ 72390 h 477202"/>
                  <a:gd name="connsiteX4" fmla="*/ 199072 w 352425"/>
                  <a:gd name="connsiteY4" fmla="*/ 66675 h 477202"/>
                  <a:gd name="connsiteX5" fmla="*/ 70485 w 352425"/>
                  <a:gd name="connsiteY5" fmla="*/ 66675 h 477202"/>
                  <a:gd name="connsiteX6" fmla="*/ 70485 w 352425"/>
                  <a:gd name="connsiteY6" fmla="*/ 231458 h 477202"/>
                  <a:gd name="connsiteX7" fmla="*/ 199072 w 352425"/>
                  <a:gd name="connsiteY7" fmla="*/ 231458 h 477202"/>
                  <a:gd name="connsiteX8" fmla="*/ 260985 w 352425"/>
                  <a:gd name="connsiteY8" fmla="*/ 209550 h 477202"/>
                  <a:gd name="connsiteX9" fmla="*/ 280035 w 352425"/>
                  <a:gd name="connsiteY9" fmla="*/ 149542 h 477202"/>
                  <a:gd name="connsiteX10" fmla="*/ 352425 w 352425"/>
                  <a:gd name="connsiteY10" fmla="*/ 149542 h 477202"/>
                  <a:gd name="connsiteX11" fmla="*/ 340995 w 352425"/>
                  <a:gd name="connsiteY11" fmla="*/ 214313 h 477202"/>
                  <a:gd name="connsiteX12" fmla="*/ 308610 w 352425"/>
                  <a:gd name="connsiteY12" fmla="*/ 260985 h 477202"/>
                  <a:gd name="connsiteX13" fmla="*/ 259080 w 352425"/>
                  <a:gd name="connsiteY13" fmla="*/ 289560 h 477202"/>
                  <a:gd name="connsiteX14" fmla="*/ 195263 w 352425"/>
                  <a:gd name="connsiteY14" fmla="*/ 299085 h 477202"/>
                  <a:gd name="connsiteX15" fmla="*/ 70485 w 352425"/>
                  <a:gd name="connsiteY15" fmla="*/ 299085 h 477202"/>
                  <a:gd name="connsiteX16" fmla="*/ 70485 w 352425"/>
                  <a:gd name="connsiteY16" fmla="*/ 477203 h 477202"/>
                  <a:gd name="connsiteX17" fmla="*/ 0 w 352425"/>
                  <a:gd name="connsiteY17" fmla="*/ 477203 h 477202"/>
                  <a:gd name="connsiteX18" fmla="*/ 0 w 352425"/>
                  <a:gd name="connsiteY18" fmla="*/ 0 h 477202"/>
                  <a:gd name="connsiteX19" fmla="*/ 200025 w 352425"/>
                  <a:gd name="connsiteY19" fmla="*/ 0 h 477202"/>
                  <a:gd name="connsiteX20" fmla="*/ 260985 w 352425"/>
                  <a:gd name="connsiteY20" fmla="*/ 9525 h 477202"/>
                  <a:gd name="connsiteX21" fmla="*/ 309563 w 352425"/>
                  <a:gd name="connsiteY21" fmla="*/ 38100 h 477202"/>
                  <a:gd name="connsiteX22" fmla="*/ 341947 w 352425"/>
                  <a:gd name="connsiteY22" fmla="*/ 84773 h 477202"/>
                  <a:gd name="connsiteX23" fmla="*/ 352425 w 352425"/>
                  <a:gd name="connsiteY23" fmla="*/ 149542 h 47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2425" h="477202">
                    <a:moveTo>
                      <a:pt x="280035" y="149542"/>
                    </a:moveTo>
                    <a:cubicBezTo>
                      <a:pt x="280035" y="136208"/>
                      <a:pt x="278130" y="124778"/>
                      <a:pt x="274320" y="114300"/>
                    </a:cubicBezTo>
                    <a:cubicBezTo>
                      <a:pt x="270510" y="103823"/>
                      <a:pt x="264795" y="95250"/>
                      <a:pt x="258128" y="88583"/>
                    </a:cubicBezTo>
                    <a:cubicBezTo>
                      <a:pt x="251460" y="81915"/>
                      <a:pt x="242888" y="76200"/>
                      <a:pt x="232410" y="72390"/>
                    </a:cubicBezTo>
                    <a:cubicBezTo>
                      <a:pt x="221932" y="68580"/>
                      <a:pt x="211455" y="66675"/>
                      <a:pt x="199072" y="66675"/>
                    </a:cubicBezTo>
                    <a:lnTo>
                      <a:pt x="70485" y="66675"/>
                    </a:lnTo>
                    <a:lnTo>
                      <a:pt x="70485" y="231458"/>
                    </a:lnTo>
                    <a:lnTo>
                      <a:pt x="199072" y="231458"/>
                    </a:lnTo>
                    <a:cubicBezTo>
                      <a:pt x="226695" y="231458"/>
                      <a:pt x="246697" y="223838"/>
                      <a:pt x="260985" y="209550"/>
                    </a:cubicBezTo>
                    <a:cubicBezTo>
                      <a:pt x="272415" y="196215"/>
                      <a:pt x="280035" y="175260"/>
                      <a:pt x="280035" y="149542"/>
                    </a:cubicBezTo>
                    <a:moveTo>
                      <a:pt x="352425" y="149542"/>
                    </a:moveTo>
                    <a:cubicBezTo>
                      <a:pt x="352425" y="174308"/>
                      <a:pt x="348615" y="196215"/>
                      <a:pt x="340995" y="214313"/>
                    </a:cubicBezTo>
                    <a:cubicBezTo>
                      <a:pt x="333375" y="233363"/>
                      <a:pt x="321945" y="248603"/>
                      <a:pt x="308610" y="260985"/>
                    </a:cubicBezTo>
                    <a:cubicBezTo>
                      <a:pt x="294322" y="273367"/>
                      <a:pt x="278130" y="282892"/>
                      <a:pt x="259080" y="289560"/>
                    </a:cubicBezTo>
                    <a:cubicBezTo>
                      <a:pt x="240030" y="296228"/>
                      <a:pt x="218122" y="299085"/>
                      <a:pt x="195263" y="299085"/>
                    </a:cubicBezTo>
                    <a:lnTo>
                      <a:pt x="70485" y="299085"/>
                    </a:lnTo>
                    <a:lnTo>
                      <a:pt x="70485" y="477203"/>
                    </a:lnTo>
                    <a:lnTo>
                      <a:pt x="0" y="477203"/>
                    </a:lnTo>
                    <a:lnTo>
                      <a:pt x="0" y="0"/>
                    </a:lnTo>
                    <a:lnTo>
                      <a:pt x="200025" y="0"/>
                    </a:lnTo>
                    <a:cubicBezTo>
                      <a:pt x="221932" y="0"/>
                      <a:pt x="241935" y="2858"/>
                      <a:pt x="260985" y="9525"/>
                    </a:cubicBezTo>
                    <a:cubicBezTo>
                      <a:pt x="280035" y="16192"/>
                      <a:pt x="296228" y="24765"/>
                      <a:pt x="309563" y="38100"/>
                    </a:cubicBezTo>
                    <a:cubicBezTo>
                      <a:pt x="322897" y="50483"/>
                      <a:pt x="334328" y="65723"/>
                      <a:pt x="341947" y="84773"/>
                    </a:cubicBezTo>
                    <a:cubicBezTo>
                      <a:pt x="348615" y="103823"/>
                      <a:pt x="352425" y="125730"/>
                      <a:pt x="352425" y="149542"/>
                    </a:cubicBezTo>
                  </a:path>
                </a:pathLst>
              </a:custGeom>
              <a:solidFill>
                <a:srgbClr val="1A9AFA"/>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59" name="Freeform 17">
                <a:extLst>
                  <a:ext uri="{FF2B5EF4-FFF2-40B4-BE49-F238E27FC236}">
                    <a16:creationId xmlns:a16="http://schemas.microsoft.com/office/drawing/2014/main" id="{42DB89B4-3D7C-5970-C536-2D5F3CBA866F}"/>
                  </a:ext>
                </a:extLst>
              </p:cNvPr>
              <p:cNvSpPr/>
              <p:nvPr userDrawn="1"/>
            </p:nvSpPr>
            <p:spPr bwMode="invGray">
              <a:xfrm>
                <a:off x="11399976" y="6377942"/>
                <a:ext cx="292417" cy="372427"/>
              </a:xfrm>
              <a:custGeom>
                <a:avLst/>
                <a:gdLst>
                  <a:gd name="connsiteX0" fmla="*/ 223838 w 292417"/>
                  <a:gd name="connsiteY0" fmla="*/ 211455 h 372427"/>
                  <a:gd name="connsiteX1" fmla="*/ 205740 w 292417"/>
                  <a:gd name="connsiteY1" fmla="*/ 203835 h 372427"/>
                  <a:gd name="connsiteX2" fmla="*/ 189548 w 292417"/>
                  <a:gd name="connsiteY2" fmla="*/ 199072 h 372427"/>
                  <a:gd name="connsiteX3" fmla="*/ 168593 w 292417"/>
                  <a:gd name="connsiteY3" fmla="*/ 196215 h 372427"/>
                  <a:gd name="connsiteX4" fmla="*/ 141923 w 292417"/>
                  <a:gd name="connsiteY4" fmla="*/ 195263 h 372427"/>
                  <a:gd name="connsiteX5" fmla="*/ 88583 w 292417"/>
                  <a:gd name="connsiteY5" fmla="*/ 209550 h 372427"/>
                  <a:gd name="connsiteX6" fmla="*/ 68580 w 292417"/>
                  <a:gd name="connsiteY6" fmla="*/ 248602 h 372427"/>
                  <a:gd name="connsiteX7" fmla="*/ 74295 w 292417"/>
                  <a:gd name="connsiteY7" fmla="*/ 275272 h 372427"/>
                  <a:gd name="connsiteX8" fmla="*/ 88583 w 292417"/>
                  <a:gd name="connsiteY8" fmla="*/ 293370 h 372427"/>
                  <a:gd name="connsiteX9" fmla="*/ 108585 w 292417"/>
                  <a:gd name="connsiteY9" fmla="*/ 303847 h 372427"/>
                  <a:gd name="connsiteX10" fmla="*/ 137160 w 292417"/>
                  <a:gd name="connsiteY10" fmla="*/ 307657 h 372427"/>
                  <a:gd name="connsiteX11" fmla="*/ 163830 w 292417"/>
                  <a:gd name="connsiteY11" fmla="*/ 303847 h 372427"/>
                  <a:gd name="connsiteX12" fmla="*/ 188595 w 292417"/>
                  <a:gd name="connsiteY12" fmla="*/ 293370 h 372427"/>
                  <a:gd name="connsiteX13" fmla="*/ 208598 w 292417"/>
                  <a:gd name="connsiteY13" fmla="*/ 279082 h 372427"/>
                  <a:gd name="connsiteX14" fmla="*/ 223838 w 292417"/>
                  <a:gd name="connsiteY14" fmla="*/ 262890 h 372427"/>
                  <a:gd name="connsiteX15" fmla="*/ 223838 w 292417"/>
                  <a:gd name="connsiteY15" fmla="*/ 211455 h 372427"/>
                  <a:gd name="connsiteX16" fmla="*/ 223838 w 292417"/>
                  <a:gd name="connsiteY16" fmla="*/ 364807 h 372427"/>
                  <a:gd name="connsiteX17" fmla="*/ 223838 w 292417"/>
                  <a:gd name="connsiteY17" fmla="*/ 329565 h 372427"/>
                  <a:gd name="connsiteX18" fmla="*/ 200978 w 292417"/>
                  <a:gd name="connsiteY18" fmla="*/ 347663 h 372427"/>
                  <a:gd name="connsiteX19" fmla="*/ 181928 w 292417"/>
                  <a:gd name="connsiteY19" fmla="*/ 359092 h 372427"/>
                  <a:gd name="connsiteX20" fmla="*/ 157163 w 292417"/>
                  <a:gd name="connsiteY20" fmla="*/ 368617 h 372427"/>
                  <a:gd name="connsiteX21" fmla="*/ 124778 w 292417"/>
                  <a:gd name="connsiteY21" fmla="*/ 372427 h 372427"/>
                  <a:gd name="connsiteX22" fmla="*/ 80963 w 292417"/>
                  <a:gd name="connsiteY22" fmla="*/ 365760 h 372427"/>
                  <a:gd name="connsiteX23" fmla="*/ 40958 w 292417"/>
                  <a:gd name="connsiteY23" fmla="*/ 344805 h 372427"/>
                  <a:gd name="connsiteX24" fmla="*/ 11430 w 292417"/>
                  <a:gd name="connsiteY24" fmla="*/ 307657 h 372427"/>
                  <a:gd name="connsiteX25" fmla="*/ 0 w 292417"/>
                  <a:gd name="connsiteY25" fmla="*/ 251460 h 372427"/>
                  <a:gd name="connsiteX26" fmla="*/ 10478 w 292417"/>
                  <a:gd name="connsiteY26" fmla="*/ 200025 h 372427"/>
                  <a:gd name="connsiteX27" fmla="*/ 40005 w 292417"/>
                  <a:gd name="connsiteY27" fmla="*/ 163830 h 372427"/>
                  <a:gd name="connsiteX28" fmla="*/ 85725 w 292417"/>
                  <a:gd name="connsiteY28" fmla="*/ 142875 h 372427"/>
                  <a:gd name="connsiteX29" fmla="*/ 141923 w 292417"/>
                  <a:gd name="connsiteY29" fmla="*/ 136207 h 372427"/>
                  <a:gd name="connsiteX30" fmla="*/ 189548 w 292417"/>
                  <a:gd name="connsiteY30" fmla="*/ 140017 h 372427"/>
                  <a:gd name="connsiteX31" fmla="*/ 221933 w 292417"/>
                  <a:gd name="connsiteY31" fmla="*/ 149542 h 372427"/>
                  <a:gd name="connsiteX32" fmla="*/ 221933 w 292417"/>
                  <a:gd name="connsiteY32" fmla="*/ 122872 h 372427"/>
                  <a:gd name="connsiteX33" fmla="*/ 204788 w 292417"/>
                  <a:gd name="connsiteY33" fmla="*/ 78105 h 372427"/>
                  <a:gd name="connsiteX34" fmla="*/ 154305 w 292417"/>
                  <a:gd name="connsiteY34" fmla="*/ 62865 h 372427"/>
                  <a:gd name="connsiteX35" fmla="*/ 104775 w 292417"/>
                  <a:gd name="connsiteY35" fmla="*/ 68580 h 372427"/>
                  <a:gd name="connsiteX36" fmla="*/ 61913 w 292417"/>
                  <a:gd name="connsiteY36" fmla="*/ 85725 h 372427"/>
                  <a:gd name="connsiteX37" fmla="*/ 34290 w 292417"/>
                  <a:gd name="connsiteY37" fmla="*/ 32385 h 372427"/>
                  <a:gd name="connsiteX38" fmla="*/ 89535 w 292417"/>
                  <a:gd name="connsiteY38" fmla="*/ 8572 h 372427"/>
                  <a:gd name="connsiteX39" fmla="*/ 157163 w 292417"/>
                  <a:gd name="connsiteY39" fmla="*/ 0 h 372427"/>
                  <a:gd name="connsiteX40" fmla="*/ 212408 w 292417"/>
                  <a:gd name="connsiteY40" fmla="*/ 7620 h 372427"/>
                  <a:gd name="connsiteX41" fmla="*/ 255270 w 292417"/>
                  <a:gd name="connsiteY41" fmla="*/ 29527 h 372427"/>
                  <a:gd name="connsiteX42" fmla="*/ 282893 w 292417"/>
                  <a:gd name="connsiteY42" fmla="*/ 67627 h 372427"/>
                  <a:gd name="connsiteX43" fmla="*/ 292418 w 292417"/>
                  <a:gd name="connsiteY43" fmla="*/ 120967 h 372427"/>
                  <a:gd name="connsiteX44" fmla="*/ 292418 w 292417"/>
                  <a:gd name="connsiteY44" fmla="*/ 366713 h 372427"/>
                  <a:gd name="connsiteX45" fmla="*/ 223838 w 292417"/>
                  <a:gd name="connsiteY45" fmla="*/ 366713 h 372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92417" h="372427">
                    <a:moveTo>
                      <a:pt x="223838" y="211455"/>
                    </a:moveTo>
                    <a:cubicBezTo>
                      <a:pt x="217170" y="208597"/>
                      <a:pt x="211455" y="205740"/>
                      <a:pt x="205740" y="203835"/>
                    </a:cubicBezTo>
                    <a:cubicBezTo>
                      <a:pt x="200025" y="201930"/>
                      <a:pt x="195263" y="200977"/>
                      <a:pt x="189548" y="199072"/>
                    </a:cubicBezTo>
                    <a:cubicBezTo>
                      <a:pt x="183833" y="198120"/>
                      <a:pt x="177165" y="197167"/>
                      <a:pt x="168593" y="196215"/>
                    </a:cubicBezTo>
                    <a:cubicBezTo>
                      <a:pt x="160020" y="195263"/>
                      <a:pt x="151448" y="195263"/>
                      <a:pt x="141923" y="195263"/>
                    </a:cubicBezTo>
                    <a:cubicBezTo>
                      <a:pt x="119063" y="195263"/>
                      <a:pt x="100965" y="200025"/>
                      <a:pt x="88583" y="209550"/>
                    </a:cubicBezTo>
                    <a:cubicBezTo>
                      <a:pt x="75248" y="219075"/>
                      <a:pt x="68580" y="232410"/>
                      <a:pt x="68580" y="248602"/>
                    </a:cubicBezTo>
                    <a:cubicBezTo>
                      <a:pt x="68580" y="259080"/>
                      <a:pt x="70485" y="268605"/>
                      <a:pt x="74295" y="275272"/>
                    </a:cubicBezTo>
                    <a:cubicBezTo>
                      <a:pt x="78105" y="282892"/>
                      <a:pt x="82868" y="288607"/>
                      <a:pt x="88583" y="293370"/>
                    </a:cubicBezTo>
                    <a:cubicBezTo>
                      <a:pt x="94298" y="298132"/>
                      <a:pt x="100965" y="301942"/>
                      <a:pt x="108585" y="303847"/>
                    </a:cubicBezTo>
                    <a:cubicBezTo>
                      <a:pt x="116205" y="305752"/>
                      <a:pt x="125730" y="307657"/>
                      <a:pt x="137160" y="307657"/>
                    </a:cubicBezTo>
                    <a:cubicBezTo>
                      <a:pt x="146685" y="307657"/>
                      <a:pt x="155258" y="306705"/>
                      <a:pt x="163830" y="303847"/>
                    </a:cubicBezTo>
                    <a:cubicBezTo>
                      <a:pt x="172403" y="300990"/>
                      <a:pt x="180975" y="298132"/>
                      <a:pt x="188595" y="293370"/>
                    </a:cubicBezTo>
                    <a:cubicBezTo>
                      <a:pt x="196215" y="288607"/>
                      <a:pt x="202883" y="283845"/>
                      <a:pt x="208598" y="279082"/>
                    </a:cubicBezTo>
                    <a:cubicBezTo>
                      <a:pt x="214313" y="273367"/>
                      <a:pt x="220028" y="268605"/>
                      <a:pt x="223838" y="262890"/>
                    </a:cubicBezTo>
                    <a:lnTo>
                      <a:pt x="223838" y="211455"/>
                    </a:lnTo>
                    <a:close/>
                    <a:moveTo>
                      <a:pt x="223838" y="364807"/>
                    </a:moveTo>
                    <a:lnTo>
                      <a:pt x="223838" y="329565"/>
                    </a:lnTo>
                    <a:cubicBezTo>
                      <a:pt x="214313" y="338138"/>
                      <a:pt x="207645" y="343852"/>
                      <a:pt x="200978" y="347663"/>
                    </a:cubicBezTo>
                    <a:cubicBezTo>
                      <a:pt x="195263" y="351472"/>
                      <a:pt x="188595" y="355282"/>
                      <a:pt x="181928" y="359092"/>
                    </a:cubicBezTo>
                    <a:cubicBezTo>
                      <a:pt x="175260" y="362902"/>
                      <a:pt x="167640" y="365760"/>
                      <a:pt x="157163" y="368617"/>
                    </a:cubicBezTo>
                    <a:cubicBezTo>
                      <a:pt x="147638" y="371475"/>
                      <a:pt x="136208" y="372427"/>
                      <a:pt x="124778" y="372427"/>
                    </a:cubicBezTo>
                    <a:cubicBezTo>
                      <a:pt x="110490" y="372427"/>
                      <a:pt x="96203" y="370522"/>
                      <a:pt x="80963" y="365760"/>
                    </a:cubicBezTo>
                    <a:cubicBezTo>
                      <a:pt x="65723" y="360997"/>
                      <a:pt x="53340" y="354330"/>
                      <a:pt x="40958" y="344805"/>
                    </a:cubicBezTo>
                    <a:cubicBezTo>
                      <a:pt x="29528" y="335280"/>
                      <a:pt x="19050" y="322897"/>
                      <a:pt x="11430" y="307657"/>
                    </a:cubicBezTo>
                    <a:cubicBezTo>
                      <a:pt x="3810" y="292417"/>
                      <a:pt x="0" y="273367"/>
                      <a:pt x="0" y="251460"/>
                    </a:cubicBezTo>
                    <a:cubicBezTo>
                      <a:pt x="0" y="231457"/>
                      <a:pt x="3810" y="214313"/>
                      <a:pt x="10478" y="200025"/>
                    </a:cubicBezTo>
                    <a:cubicBezTo>
                      <a:pt x="18098" y="185738"/>
                      <a:pt x="27623" y="173355"/>
                      <a:pt x="40005" y="163830"/>
                    </a:cubicBezTo>
                    <a:cubicBezTo>
                      <a:pt x="52388" y="154305"/>
                      <a:pt x="67628" y="147638"/>
                      <a:pt x="85725" y="142875"/>
                    </a:cubicBezTo>
                    <a:cubicBezTo>
                      <a:pt x="102870" y="138113"/>
                      <a:pt x="121920" y="136207"/>
                      <a:pt x="141923" y="136207"/>
                    </a:cubicBezTo>
                    <a:cubicBezTo>
                      <a:pt x="160973" y="136207"/>
                      <a:pt x="176213" y="137160"/>
                      <a:pt x="189548" y="140017"/>
                    </a:cubicBezTo>
                    <a:cubicBezTo>
                      <a:pt x="202883" y="142875"/>
                      <a:pt x="213360" y="145732"/>
                      <a:pt x="221933" y="149542"/>
                    </a:cubicBezTo>
                    <a:lnTo>
                      <a:pt x="221933" y="122872"/>
                    </a:lnTo>
                    <a:cubicBezTo>
                      <a:pt x="221933" y="102870"/>
                      <a:pt x="216218" y="88582"/>
                      <a:pt x="204788" y="78105"/>
                    </a:cubicBezTo>
                    <a:cubicBezTo>
                      <a:pt x="193358" y="67627"/>
                      <a:pt x="176213" y="62865"/>
                      <a:pt x="154305" y="62865"/>
                    </a:cubicBezTo>
                    <a:cubicBezTo>
                      <a:pt x="136208" y="62865"/>
                      <a:pt x="119063" y="64770"/>
                      <a:pt x="104775" y="68580"/>
                    </a:cubicBezTo>
                    <a:cubicBezTo>
                      <a:pt x="89535" y="72390"/>
                      <a:pt x="75248" y="78105"/>
                      <a:pt x="61913" y="85725"/>
                    </a:cubicBezTo>
                    <a:lnTo>
                      <a:pt x="34290" y="32385"/>
                    </a:lnTo>
                    <a:cubicBezTo>
                      <a:pt x="51435" y="21907"/>
                      <a:pt x="69533" y="13335"/>
                      <a:pt x="89535" y="8572"/>
                    </a:cubicBezTo>
                    <a:cubicBezTo>
                      <a:pt x="109538" y="2857"/>
                      <a:pt x="131445" y="0"/>
                      <a:pt x="157163" y="0"/>
                    </a:cubicBezTo>
                    <a:cubicBezTo>
                      <a:pt x="177165" y="0"/>
                      <a:pt x="195263" y="2857"/>
                      <a:pt x="212408" y="7620"/>
                    </a:cubicBezTo>
                    <a:cubicBezTo>
                      <a:pt x="228600" y="12382"/>
                      <a:pt x="242888" y="20002"/>
                      <a:pt x="255270" y="29527"/>
                    </a:cubicBezTo>
                    <a:cubicBezTo>
                      <a:pt x="266700" y="39052"/>
                      <a:pt x="276225" y="52388"/>
                      <a:pt x="282893" y="67627"/>
                    </a:cubicBezTo>
                    <a:cubicBezTo>
                      <a:pt x="289560" y="82867"/>
                      <a:pt x="292418" y="100013"/>
                      <a:pt x="292418" y="120967"/>
                    </a:cubicBezTo>
                    <a:lnTo>
                      <a:pt x="292418" y="366713"/>
                    </a:lnTo>
                    <a:lnTo>
                      <a:pt x="223838" y="366713"/>
                    </a:lnTo>
                    <a:close/>
                  </a:path>
                </a:pathLst>
              </a:custGeom>
              <a:solidFill>
                <a:srgbClr val="1A9AFA"/>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60" name="Freeform 18">
                <a:extLst>
                  <a:ext uri="{FF2B5EF4-FFF2-40B4-BE49-F238E27FC236}">
                    <a16:creationId xmlns:a16="http://schemas.microsoft.com/office/drawing/2014/main" id="{D93E88A7-081E-3803-F892-0951BA237A4B}"/>
                  </a:ext>
                </a:extLst>
              </p:cNvPr>
              <p:cNvSpPr/>
              <p:nvPr userDrawn="1"/>
            </p:nvSpPr>
            <p:spPr bwMode="invGray">
              <a:xfrm>
                <a:off x="11760974" y="6378894"/>
                <a:ext cx="213359" cy="364807"/>
              </a:xfrm>
              <a:custGeom>
                <a:avLst/>
                <a:gdLst>
                  <a:gd name="connsiteX0" fmla="*/ 194310 w 213359"/>
                  <a:gd name="connsiteY0" fmla="*/ 80010 h 364807"/>
                  <a:gd name="connsiteX1" fmla="*/ 170497 w 213359"/>
                  <a:gd name="connsiteY1" fmla="*/ 70485 h 364807"/>
                  <a:gd name="connsiteX2" fmla="*/ 140970 w 213359"/>
                  <a:gd name="connsiteY2" fmla="*/ 67628 h 364807"/>
                  <a:gd name="connsiteX3" fmla="*/ 88582 w 213359"/>
                  <a:gd name="connsiteY3" fmla="*/ 90488 h 364807"/>
                  <a:gd name="connsiteX4" fmla="*/ 70485 w 213359"/>
                  <a:gd name="connsiteY4" fmla="*/ 160020 h 364807"/>
                  <a:gd name="connsiteX5" fmla="*/ 70485 w 213359"/>
                  <a:gd name="connsiteY5" fmla="*/ 364808 h 364807"/>
                  <a:gd name="connsiteX6" fmla="*/ 0 w 213359"/>
                  <a:gd name="connsiteY6" fmla="*/ 364808 h 364807"/>
                  <a:gd name="connsiteX7" fmla="*/ 0 w 213359"/>
                  <a:gd name="connsiteY7" fmla="*/ 6667 h 364807"/>
                  <a:gd name="connsiteX8" fmla="*/ 70485 w 213359"/>
                  <a:gd name="connsiteY8" fmla="*/ 6667 h 364807"/>
                  <a:gd name="connsiteX9" fmla="*/ 70485 w 213359"/>
                  <a:gd name="connsiteY9" fmla="*/ 40958 h 364807"/>
                  <a:gd name="connsiteX10" fmla="*/ 84772 w 213359"/>
                  <a:gd name="connsiteY10" fmla="*/ 24765 h 364807"/>
                  <a:gd name="connsiteX11" fmla="*/ 103822 w 213359"/>
                  <a:gd name="connsiteY11" fmla="*/ 11430 h 364807"/>
                  <a:gd name="connsiteX12" fmla="*/ 126682 w 213359"/>
                  <a:gd name="connsiteY12" fmla="*/ 2858 h 364807"/>
                  <a:gd name="connsiteX13" fmla="*/ 152400 w 213359"/>
                  <a:gd name="connsiteY13" fmla="*/ 0 h 364807"/>
                  <a:gd name="connsiteX14" fmla="*/ 188595 w 213359"/>
                  <a:gd name="connsiteY14" fmla="*/ 3810 h 364807"/>
                  <a:gd name="connsiteX15" fmla="*/ 213360 w 213359"/>
                  <a:gd name="connsiteY15" fmla="*/ 15240 h 364807"/>
                  <a:gd name="connsiteX16" fmla="*/ 194310 w 213359"/>
                  <a:gd name="connsiteY16" fmla="*/ 80010 h 364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3359" h="364807">
                    <a:moveTo>
                      <a:pt x="194310" y="80010"/>
                    </a:moveTo>
                    <a:cubicBezTo>
                      <a:pt x="186690" y="76200"/>
                      <a:pt x="179070" y="72390"/>
                      <a:pt x="170497" y="70485"/>
                    </a:cubicBezTo>
                    <a:cubicBezTo>
                      <a:pt x="161925" y="68580"/>
                      <a:pt x="152400" y="67628"/>
                      <a:pt x="140970" y="67628"/>
                    </a:cubicBezTo>
                    <a:cubicBezTo>
                      <a:pt x="118110" y="67628"/>
                      <a:pt x="100965" y="75248"/>
                      <a:pt x="88582" y="90488"/>
                    </a:cubicBezTo>
                    <a:cubicBezTo>
                      <a:pt x="76200" y="105728"/>
                      <a:pt x="70485" y="128588"/>
                      <a:pt x="70485" y="160020"/>
                    </a:cubicBezTo>
                    <a:lnTo>
                      <a:pt x="70485" y="364808"/>
                    </a:lnTo>
                    <a:lnTo>
                      <a:pt x="0" y="364808"/>
                    </a:lnTo>
                    <a:lnTo>
                      <a:pt x="0" y="6667"/>
                    </a:lnTo>
                    <a:lnTo>
                      <a:pt x="70485" y="6667"/>
                    </a:lnTo>
                    <a:lnTo>
                      <a:pt x="70485" y="40958"/>
                    </a:lnTo>
                    <a:cubicBezTo>
                      <a:pt x="74295" y="35242"/>
                      <a:pt x="79057" y="29528"/>
                      <a:pt x="84772" y="24765"/>
                    </a:cubicBezTo>
                    <a:cubicBezTo>
                      <a:pt x="90488" y="20003"/>
                      <a:pt x="97155" y="15240"/>
                      <a:pt x="103822" y="11430"/>
                    </a:cubicBezTo>
                    <a:cubicBezTo>
                      <a:pt x="110490" y="7620"/>
                      <a:pt x="118110" y="4763"/>
                      <a:pt x="126682" y="2858"/>
                    </a:cubicBezTo>
                    <a:cubicBezTo>
                      <a:pt x="134302" y="953"/>
                      <a:pt x="142875" y="0"/>
                      <a:pt x="152400" y="0"/>
                    </a:cubicBezTo>
                    <a:cubicBezTo>
                      <a:pt x="166688" y="0"/>
                      <a:pt x="179070" y="953"/>
                      <a:pt x="188595" y="3810"/>
                    </a:cubicBezTo>
                    <a:cubicBezTo>
                      <a:pt x="198120" y="6667"/>
                      <a:pt x="206692" y="10478"/>
                      <a:pt x="213360" y="15240"/>
                    </a:cubicBezTo>
                    <a:lnTo>
                      <a:pt x="194310" y="80010"/>
                    </a:lnTo>
                    <a:close/>
                  </a:path>
                </a:pathLst>
              </a:custGeom>
              <a:solidFill>
                <a:srgbClr val="1A9AFA"/>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61" name="Freeform 19">
                <a:extLst>
                  <a:ext uri="{FF2B5EF4-FFF2-40B4-BE49-F238E27FC236}">
                    <a16:creationId xmlns:a16="http://schemas.microsoft.com/office/drawing/2014/main" id="{3355FCEF-A85F-96E6-592C-BCD0AA4CB3FF}"/>
                  </a:ext>
                </a:extLst>
              </p:cNvPr>
              <p:cNvSpPr/>
              <p:nvPr userDrawn="1"/>
            </p:nvSpPr>
            <p:spPr bwMode="invGray">
              <a:xfrm>
                <a:off x="12015291" y="6245544"/>
                <a:ext cx="208597" cy="504825"/>
              </a:xfrm>
              <a:custGeom>
                <a:avLst/>
                <a:gdLst>
                  <a:gd name="connsiteX0" fmla="*/ 200025 w 208597"/>
                  <a:gd name="connsiteY0" fmla="*/ 487680 h 504825"/>
                  <a:gd name="connsiteX1" fmla="*/ 169545 w 208597"/>
                  <a:gd name="connsiteY1" fmla="*/ 500063 h 504825"/>
                  <a:gd name="connsiteX2" fmla="*/ 131445 w 208597"/>
                  <a:gd name="connsiteY2" fmla="*/ 504825 h 504825"/>
                  <a:gd name="connsiteX3" fmla="*/ 99060 w 208597"/>
                  <a:gd name="connsiteY3" fmla="*/ 500063 h 504825"/>
                  <a:gd name="connsiteX4" fmla="*/ 74295 w 208597"/>
                  <a:gd name="connsiteY4" fmla="*/ 483870 h 504825"/>
                  <a:gd name="connsiteX5" fmla="*/ 57150 w 208597"/>
                  <a:gd name="connsiteY5" fmla="*/ 454342 h 504825"/>
                  <a:gd name="connsiteX6" fmla="*/ 51435 w 208597"/>
                  <a:gd name="connsiteY6" fmla="*/ 410528 h 504825"/>
                  <a:gd name="connsiteX7" fmla="*/ 51435 w 208597"/>
                  <a:gd name="connsiteY7" fmla="*/ 202883 h 504825"/>
                  <a:gd name="connsiteX8" fmla="*/ 0 w 208597"/>
                  <a:gd name="connsiteY8" fmla="*/ 202883 h 504825"/>
                  <a:gd name="connsiteX9" fmla="*/ 0 w 208597"/>
                  <a:gd name="connsiteY9" fmla="*/ 139065 h 504825"/>
                  <a:gd name="connsiteX10" fmla="*/ 51435 w 208597"/>
                  <a:gd name="connsiteY10" fmla="*/ 139065 h 504825"/>
                  <a:gd name="connsiteX11" fmla="*/ 51435 w 208597"/>
                  <a:gd name="connsiteY11" fmla="*/ 37148 h 504825"/>
                  <a:gd name="connsiteX12" fmla="*/ 120015 w 208597"/>
                  <a:gd name="connsiteY12" fmla="*/ 0 h 504825"/>
                  <a:gd name="connsiteX13" fmla="*/ 120015 w 208597"/>
                  <a:gd name="connsiteY13" fmla="*/ 139065 h 504825"/>
                  <a:gd name="connsiteX14" fmla="*/ 208597 w 208597"/>
                  <a:gd name="connsiteY14" fmla="*/ 139065 h 504825"/>
                  <a:gd name="connsiteX15" fmla="*/ 208597 w 208597"/>
                  <a:gd name="connsiteY15" fmla="*/ 202883 h 504825"/>
                  <a:gd name="connsiteX16" fmla="*/ 120015 w 208597"/>
                  <a:gd name="connsiteY16" fmla="*/ 202883 h 504825"/>
                  <a:gd name="connsiteX17" fmla="*/ 120015 w 208597"/>
                  <a:gd name="connsiteY17" fmla="*/ 397192 h 504825"/>
                  <a:gd name="connsiteX18" fmla="*/ 121920 w 208597"/>
                  <a:gd name="connsiteY18" fmla="*/ 418148 h 504825"/>
                  <a:gd name="connsiteX19" fmla="*/ 128588 w 208597"/>
                  <a:gd name="connsiteY19" fmla="*/ 431483 h 504825"/>
                  <a:gd name="connsiteX20" fmla="*/ 140018 w 208597"/>
                  <a:gd name="connsiteY20" fmla="*/ 438150 h 504825"/>
                  <a:gd name="connsiteX21" fmla="*/ 156210 w 208597"/>
                  <a:gd name="connsiteY21" fmla="*/ 440055 h 504825"/>
                  <a:gd name="connsiteX22" fmla="*/ 183833 w 208597"/>
                  <a:gd name="connsiteY22" fmla="*/ 435292 h 504825"/>
                  <a:gd name="connsiteX23" fmla="*/ 207645 w 208597"/>
                  <a:gd name="connsiteY23" fmla="*/ 425767 h 504825"/>
                  <a:gd name="connsiteX24" fmla="*/ 200025 w 208597"/>
                  <a:gd name="connsiteY24" fmla="*/ 48768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8597" h="504825">
                    <a:moveTo>
                      <a:pt x="200025" y="487680"/>
                    </a:moveTo>
                    <a:cubicBezTo>
                      <a:pt x="191453" y="492442"/>
                      <a:pt x="180975" y="496253"/>
                      <a:pt x="169545" y="500063"/>
                    </a:cubicBezTo>
                    <a:cubicBezTo>
                      <a:pt x="158115" y="502920"/>
                      <a:pt x="144780" y="504825"/>
                      <a:pt x="131445" y="504825"/>
                    </a:cubicBezTo>
                    <a:cubicBezTo>
                      <a:pt x="119063" y="504825"/>
                      <a:pt x="108585" y="502920"/>
                      <a:pt x="99060" y="500063"/>
                    </a:cubicBezTo>
                    <a:cubicBezTo>
                      <a:pt x="89535" y="496253"/>
                      <a:pt x="81915" y="491490"/>
                      <a:pt x="74295" y="483870"/>
                    </a:cubicBezTo>
                    <a:cubicBezTo>
                      <a:pt x="66675" y="476250"/>
                      <a:pt x="60960" y="466725"/>
                      <a:pt x="57150" y="454342"/>
                    </a:cubicBezTo>
                    <a:cubicBezTo>
                      <a:pt x="53340" y="441960"/>
                      <a:pt x="51435" y="427673"/>
                      <a:pt x="51435" y="410528"/>
                    </a:cubicBezTo>
                    <a:lnTo>
                      <a:pt x="51435" y="202883"/>
                    </a:lnTo>
                    <a:lnTo>
                      <a:pt x="0" y="202883"/>
                    </a:lnTo>
                    <a:lnTo>
                      <a:pt x="0" y="139065"/>
                    </a:lnTo>
                    <a:lnTo>
                      <a:pt x="51435" y="139065"/>
                    </a:lnTo>
                    <a:lnTo>
                      <a:pt x="51435" y="37148"/>
                    </a:lnTo>
                    <a:lnTo>
                      <a:pt x="120015" y="0"/>
                    </a:lnTo>
                    <a:lnTo>
                      <a:pt x="120015" y="139065"/>
                    </a:lnTo>
                    <a:lnTo>
                      <a:pt x="208597" y="139065"/>
                    </a:lnTo>
                    <a:lnTo>
                      <a:pt x="208597" y="202883"/>
                    </a:lnTo>
                    <a:lnTo>
                      <a:pt x="120015" y="202883"/>
                    </a:lnTo>
                    <a:lnTo>
                      <a:pt x="120015" y="397192"/>
                    </a:lnTo>
                    <a:cubicBezTo>
                      <a:pt x="120015" y="405765"/>
                      <a:pt x="120968" y="412433"/>
                      <a:pt x="121920" y="418148"/>
                    </a:cubicBezTo>
                    <a:cubicBezTo>
                      <a:pt x="123825" y="423863"/>
                      <a:pt x="125730" y="427673"/>
                      <a:pt x="128588" y="431483"/>
                    </a:cubicBezTo>
                    <a:cubicBezTo>
                      <a:pt x="131445" y="434340"/>
                      <a:pt x="135255" y="437198"/>
                      <a:pt x="140018" y="438150"/>
                    </a:cubicBezTo>
                    <a:cubicBezTo>
                      <a:pt x="144780" y="439103"/>
                      <a:pt x="150495" y="440055"/>
                      <a:pt x="156210" y="440055"/>
                    </a:cubicBezTo>
                    <a:cubicBezTo>
                      <a:pt x="165735" y="440055"/>
                      <a:pt x="174308" y="438150"/>
                      <a:pt x="183833" y="435292"/>
                    </a:cubicBezTo>
                    <a:cubicBezTo>
                      <a:pt x="193358" y="432435"/>
                      <a:pt x="200978" y="428625"/>
                      <a:pt x="207645" y="425767"/>
                    </a:cubicBezTo>
                    <a:lnTo>
                      <a:pt x="200025" y="487680"/>
                    </a:lnTo>
                    <a:close/>
                  </a:path>
                </a:pathLst>
              </a:custGeom>
              <a:solidFill>
                <a:srgbClr val="1A9AFA"/>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62" name="Freeform 20">
                <a:extLst>
                  <a:ext uri="{FF2B5EF4-FFF2-40B4-BE49-F238E27FC236}">
                    <a16:creationId xmlns:a16="http://schemas.microsoft.com/office/drawing/2014/main" id="{61B287E8-B72B-D268-8429-C4416189BC6C}"/>
                  </a:ext>
                </a:extLst>
              </p:cNvPr>
              <p:cNvSpPr/>
              <p:nvPr userDrawn="1"/>
            </p:nvSpPr>
            <p:spPr bwMode="invGray">
              <a:xfrm>
                <a:off x="12286754" y="6244592"/>
                <a:ext cx="287655" cy="498157"/>
              </a:xfrm>
              <a:custGeom>
                <a:avLst/>
                <a:gdLst>
                  <a:gd name="connsiteX0" fmla="*/ 219075 w 287655"/>
                  <a:gd name="connsiteY0" fmla="*/ 498157 h 498157"/>
                  <a:gd name="connsiteX1" fmla="*/ 219075 w 287655"/>
                  <a:gd name="connsiteY1" fmla="*/ 295275 h 498157"/>
                  <a:gd name="connsiteX2" fmla="*/ 200978 w 287655"/>
                  <a:gd name="connsiteY2" fmla="*/ 220980 h 498157"/>
                  <a:gd name="connsiteX3" fmla="*/ 144780 w 287655"/>
                  <a:gd name="connsiteY3" fmla="*/ 196215 h 498157"/>
                  <a:gd name="connsiteX4" fmla="*/ 114300 w 287655"/>
                  <a:gd name="connsiteY4" fmla="*/ 201930 h 498157"/>
                  <a:gd name="connsiteX5" fmla="*/ 90488 w 287655"/>
                  <a:gd name="connsiteY5" fmla="*/ 220027 h 498157"/>
                  <a:gd name="connsiteX6" fmla="*/ 75247 w 287655"/>
                  <a:gd name="connsiteY6" fmla="*/ 248602 h 498157"/>
                  <a:gd name="connsiteX7" fmla="*/ 70485 w 287655"/>
                  <a:gd name="connsiteY7" fmla="*/ 287655 h 498157"/>
                  <a:gd name="connsiteX8" fmla="*/ 70485 w 287655"/>
                  <a:gd name="connsiteY8" fmla="*/ 497205 h 498157"/>
                  <a:gd name="connsiteX9" fmla="*/ 0 w 287655"/>
                  <a:gd name="connsiteY9" fmla="*/ 497205 h 498157"/>
                  <a:gd name="connsiteX10" fmla="*/ 0 w 287655"/>
                  <a:gd name="connsiteY10" fmla="*/ 37147 h 498157"/>
                  <a:gd name="connsiteX11" fmla="*/ 70485 w 287655"/>
                  <a:gd name="connsiteY11" fmla="*/ 0 h 498157"/>
                  <a:gd name="connsiteX12" fmla="*/ 70485 w 287655"/>
                  <a:gd name="connsiteY12" fmla="*/ 173355 h 498157"/>
                  <a:gd name="connsiteX13" fmla="*/ 86678 w 287655"/>
                  <a:gd name="connsiteY13" fmla="*/ 156210 h 498157"/>
                  <a:gd name="connsiteX14" fmla="*/ 107633 w 287655"/>
                  <a:gd name="connsiteY14" fmla="*/ 142875 h 498157"/>
                  <a:gd name="connsiteX15" fmla="*/ 132397 w 287655"/>
                  <a:gd name="connsiteY15" fmla="*/ 134302 h 498157"/>
                  <a:gd name="connsiteX16" fmla="*/ 160020 w 287655"/>
                  <a:gd name="connsiteY16" fmla="*/ 131445 h 498157"/>
                  <a:gd name="connsiteX17" fmla="*/ 216218 w 287655"/>
                  <a:gd name="connsiteY17" fmla="*/ 141922 h 498157"/>
                  <a:gd name="connsiteX18" fmla="*/ 256222 w 287655"/>
                  <a:gd name="connsiteY18" fmla="*/ 172402 h 498157"/>
                  <a:gd name="connsiteX19" fmla="*/ 280035 w 287655"/>
                  <a:gd name="connsiteY19" fmla="*/ 223838 h 498157"/>
                  <a:gd name="connsiteX20" fmla="*/ 287655 w 287655"/>
                  <a:gd name="connsiteY20" fmla="*/ 292417 h 498157"/>
                  <a:gd name="connsiteX21" fmla="*/ 287655 w 287655"/>
                  <a:gd name="connsiteY21" fmla="*/ 497205 h 498157"/>
                  <a:gd name="connsiteX22" fmla="*/ 219075 w 287655"/>
                  <a:gd name="connsiteY22" fmla="*/ 497205 h 49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655" h="498157">
                    <a:moveTo>
                      <a:pt x="219075" y="498157"/>
                    </a:moveTo>
                    <a:lnTo>
                      <a:pt x="219075" y="295275"/>
                    </a:lnTo>
                    <a:cubicBezTo>
                      <a:pt x="219075" y="261938"/>
                      <a:pt x="213360" y="237172"/>
                      <a:pt x="200978" y="220980"/>
                    </a:cubicBezTo>
                    <a:cubicBezTo>
                      <a:pt x="189547" y="204788"/>
                      <a:pt x="170497" y="196215"/>
                      <a:pt x="144780" y="196215"/>
                    </a:cubicBezTo>
                    <a:cubicBezTo>
                      <a:pt x="134303" y="196215"/>
                      <a:pt x="123825" y="198120"/>
                      <a:pt x="114300" y="201930"/>
                    </a:cubicBezTo>
                    <a:cubicBezTo>
                      <a:pt x="104775" y="205740"/>
                      <a:pt x="97155" y="211455"/>
                      <a:pt x="90488" y="220027"/>
                    </a:cubicBezTo>
                    <a:cubicBezTo>
                      <a:pt x="83820" y="228600"/>
                      <a:pt x="79058" y="238125"/>
                      <a:pt x="75247" y="248602"/>
                    </a:cubicBezTo>
                    <a:cubicBezTo>
                      <a:pt x="72390" y="260032"/>
                      <a:pt x="70485" y="272415"/>
                      <a:pt x="70485" y="287655"/>
                    </a:cubicBezTo>
                    <a:lnTo>
                      <a:pt x="70485" y="497205"/>
                    </a:lnTo>
                    <a:lnTo>
                      <a:pt x="0" y="497205"/>
                    </a:lnTo>
                    <a:lnTo>
                      <a:pt x="0" y="37147"/>
                    </a:lnTo>
                    <a:lnTo>
                      <a:pt x="70485" y="0"/>
                    </a:lnTo>
                    <a:lnTo>
                      <a:pt x="70485" y="173355"/>
                    </a:lnTo>
                    <a:cubicBezTo>
                      <a:pt x="75247" y="166688"/>
                      <a:pt x="80010" y="160972"/>
                      <a:pt x="86678" y="156210"/>
                    </a:cubicBezTo>
                    <a:cubicBezTo>
                      <a:pt x="93345" y="151447"/>
                      <a:pt x="100013" y="146685"/>
                      <a:pt x="107633" y="142875"/>
                    </a:cubicBezTo>
                    <a:cubicBezTo>
                      <a:pt x="115253" y="139065"/>
                      <a:pt x="123825" y="136207"/>
                      <a:pt x="132397" y="134302"/>
                    </a:cubicBezTo>
                    <a:cubicBezTo>
                      <a:pt x="140970" y="132397"/>
                      <a:pt x="150495" y="131445"/>
                      <a:pt x="160020" y="131445"/>
                    </a:cubicBezTo>
                    <a:cubicBezTo>
                      <a:pt x="181928" y="131445"/>
                      <a:pt x="200025" y="135255"/>
                      <a:pt x="216218" y="141922"/>
                    </a:cubicBezTo>
                    <a:cubicBezTo>
                      <a:pt x="232410" y="148590"/>
                      <a:pt x="244793" y="159067"/>
                      <a:pt x="256222" y="172402"/>
                    </a:cubicBezTo>
                    <a:cubicBezTo>
                      <a:pt x="266700" y="185738"/>
                      <a:pt x="275272" y="202882"/>
                      <a:pt x="280035" y="223838"/>
                    </a:cubicBezTo>
                    <a:cubicBezTo>
                      <a:pt x="284797" y="244792"/>
                      <a:pt x="287655" y="267652"/>
                      <a:pt x="287655" y="292417"/>
                    </a:cubicBezTo>
                    <a:lnTo>
                      <a:pt x="287655" y="497205"/>
                    </a:lnTo>
                    <a:lnTo>
                      <a:pt x="219075" y="497205"/>
                    </a:lnTo>
                    <a:close/>
                  </a:path>
                </a:pathLst>
              </a:custGeom>
              <a:solidFill>
                <a:srgbClr val="1A9AFA"/>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63" name="Freeform 21">
                <a:extLst>
                  <a:ext uri="{FF2B5EF4-FFF2-40B4-BE49-F238E27FC236}">
                    <a16:creationId xmlns:a16="http://schemas.microsoft.com/office/drawing/2014/main" id="{F5166AC8-B2A5-8679-C42A-078A4BE6A697}"/>
                  </a:ext>
                </a:extLst>
              </p:cNvPr>
              <p:cNvSpPr/>
              <p:nvPr userDrawn="1"/>
            </p:nvSpPr>
            <p:spPr bwMode="invGray">
              <a:xfrm>
                <a:off x="12627749" y="6376036"/>
                <a:ext cx="308609" cy="374332"/>
              </a:xfrm>
              <a:custGeom>
                <a:avLst/>
                <a:gdLst>
                  <a:gd name="connsiteX0" fmla="*/ 237172 w 308609"/>
                  <a:gd name="connsiteY0" fmla="*/ 154305 h 374332"/>
                  <a:gd name="connsiteX1" fmla="*/ 230505 w 308609"/>
                  <a:gd name="connsiteY1" fmla="*/ 120015 h 374332"/>
                  <a:gd name="connsiteX2" fmla="*/ 215265 w 308609"/>
                  <a:gd name="connsiteY2" fmla="*/ 91440 h 374332"/>
                  <a:gd name="connsiteX3" fmla="*/ 189547 w 308609"/>
                  <a:gd name="connsiteY3" fmla="*/ 72390 h 374332"/>
                  <a:gd name="connsiteX4" fmla="*/ 152400 w 308609"/>
                  <a:gd name="connsiteY4" fmla="*/ 64770 h 374332"/>
                  <a:gd name="connsiteX5" fmla="*/ 120015 w 308609"/>
                  <a:gd name="connsiteY5" fmla="*/ 70485 h 374332"/>
                  <a:gd name="connsiteX6" fmla="*/ 96202 w 308609"/>
                  <a:gd name="connsiteY6" fmla="*/ 87630 h 374332"/>
                  <a:gd name="connsiteX7" fmla="*/ 80010 w 308609"/>
                  <a:gd name="connsiteY7" fmla="*/ 115253 h 374332"/>
                  <a:gd name="connsiteX8" fmla="*/ 71438 w 308609"/>
                  <a:gd name="connsiteY8" fmla="*/ 153353 h 374332"/>
                  <a:gd name="connsiteX9" fmla="*/ 237172 w 308609"/>
                  <a:gd name="connsiteY9" fmla="*/ 153353 h 374332"/>
                  <a:gd name="connsiteX10" fmla="*/ 308610 w 308609"/>
                  <a:gd name="connsiteY10" fmla="*/ 180023 h 374332"/>
                  <a:gd name="connsiteX11" fmla="*/ 307657 w 308609"/>
                  <a:gd name="connsiteY11" fmla="*/ 198120 h 374332"/>
                  <a:gd name="connsiteX12" fmla="*/ 306705 w 308609"/>
                  <a:gd name="connsiteY12" fmla="*/ 212408 h 374332"/>
                  <a:gd name="connsiteX13" fmla="*/ 69532 w 308609"/>
                  <a:gd name="connsiteY13" fmla="*/ 212408 h 374332"/>
                  <a:gd name="connsiteX14" fmla="*/ 80963 w 308609"/>
                  <a:gd name="connsiteY14" fmla="*/ 257175 h 374332"/>
                  <a:gd name="connsiteX15" fmla="*/ 100965 w 308609"/>
                  <a:gd name="connsiteY15" fmla="*/ 287655 h 374332"/>
                  <a:gd name="connsiteX16" fmla="*/ 128588 w 308609"/>
                  <a:gd name="connsiteY16" fmla="*/ 305753 h 374332"/>
                  <a:gd name="connsiteX17" fmla="*/ 160020 w 308609"/>
                  <a:gd name="connsiteY17" fmla="*/ 311468 h 374332"/>
                  <a:gd name="connsiteX18" fmla="*/ 181927 w 308609"/>
                  <a:gd name="connsiteY18" fmla="*/ 309563 h 374332"/>
                  <a:gd name="connsiteX19" fmla="*/ 201930 w 308609"/>
                  <a:gd name="connsiteY19" fmla="*/ 303848 h 374332"/>
                  <a:gd name="connsiteX20" fmla="*/ 219075 w 308609"/>
                  <a:gd name="connsiteY20" fmla="*/ 295275 h 374332"/>
                  <a:gd name="connsiteX21" fmla="*/ 238125 w 308609"/>
                  <a:gd name="connsiteY21" fmla="*/ 282893 h 374332"/>
                  <a:gd name="connsiteX22" fmla="*/ 280035 w 308609"/>
                  <a:gd name="connsiteY22" fmla="*/ 327660 h 374332"/>
                  <a:gd name="connsiteX23" fmla="*/ 254317 w 308609"/>
                  <a:gd name="connsiteY23" fmla="*/ 347663 h 374332"/>
                  <a:gd name="connsiteX24" fmla="*/ 227647 w 308609"/>
                  <a:gd name="connsiteY24" fmla="*/ 361950 h 374332"/>
                  <a:gd name="connsiteX25" fmla="*/ 195263 w 308609"/>
                  <a:gd name="connsiteY25" fmla="*/ 371475 h 374332"/>
                  <a:gd name="connsiteX26" fmla="*/ 155257 w 308609"/>
                  <a:gd name="connsiteY26" fmla="*/ 374333 h 374332"/>
                  <a:gd name="connsiteX27" fmla="*/ 111442 w 308609"/>
                  <a:gd name="connsiteY27" fmla="*/ 367665 h 374332"/>
                  <a:gd name="connsiteX28" fmla="*/ 75247 w 308609"/>
                  <a:gd name="connsiteY28" fmla="*/ 350520 h 374332"/>
                  <a:gd name="connsiteX29" fmla="*/ 46672 w 308609"/>
                  <a:gd name="connsiteY29" fmla="*/ 326708 h 374332"/>
                  <a:gd name="connsiteX30" fmla="*/ 22860 w 308609"/>
                  <a:gd name="connsiteY30" fmla="*/ 292418 h 374332"/>
                  <a:gd name="connsiteX31" fmla="*/ 5715 w 308609"/>
                  <a:gd name="connsiteY31" fmla="*/ 244793 h 374332"/>
                  <a:gd name="connsiteX32" fmla="*/ 0 w 308609"/>
                  <a:gd name="connsiteY32" fmla="*/ 187643 h 374332"/>
                  <a:gd name="connsiteX33" fmla="*/ 11430 w 308609"/>
                  <a:gd name="connsiteY33" fmla="*/ 107633 h 374332"/>
                  <a:gd name="connsiteX34" fmla="*/ 43815 w 308609"/>
                  <a:gd name="connsiteY34" fmla="*/ 48578 h 374332"/>
                  <a:gd name="connsiteX35" fmla="*/ 93345 w 308609"/>
                  <a:gd name="connsiteY35" fmla="*/ 12383 h 374332"/>
                  <a:gd name="connsiteX36" fmla="*/ 157163 w 308609"/>
                  <a:gd name="connsiteY36" fmla="*/ 0 h 374332"/>
                  <a:gd name="connsiteX37" fmla="*/ 223838 w 308609"/>
                  <a:gd name="connsiteY37" fmla="*/ 14288 h 374332"/>
                  <a:gd name="connsiteX38" fmla="*/ 270510 w 308609"/>
                  <a:gd name="connsiteY38" fmla="*/ 53340 h 374332"/>
                  <a:gd name="connsiteX39" fmla="*/ 298132 w 308609"/>
                  <a:gd name="connsiteY39" fmla="*/ 110490 h 374332"/>
                  <a:gd name="connsiteX40" fmla="*/ 308610 w 308609"/>
                  <a:gd name="connsiteY40" fmla="*/ 180023 h 37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08609" h="374332">
                    <a:moveTo>
                      <a:pt x="237172" y="154305"/>
                    </a:moveTo>
                    <a:cubicBezTo>
                      <a:pt x="236220" y="141923"/>
                      <a:pt x="234315" y="130493"/>
                      <a:pt x="230505" y="120015"/>
                    </a:cubicBezTo>
                    <a:cubicBezTo>
                      <a:pt x="226695" y="109538"/>
                      <a:pt x="221932" y="100013"/>
                      <a:pt x="215265" y="91440"/>
                    </a:cubicBezTo>
                    <a:cubicBezTo>
                      <a:pt x="208597" y="82868"/>
                      <a:pt x="200025" y="77153"/>
                      <a:pt x="189547" y="72390"/>
                    </a:cubicBezTo>
                    <a:cubicBezTo>
                      <a:pt x="179070" y="67628"/>
                      <a:pt x="166688" y="64770"/>
                      <a:pt x="152400" y="64770"/>
                    </a:cubicBezTo>
                    <a:cubicBezTo>
                      <a:pt x="140017" y="64770"/>
                      <a:pt x="129540" y="66675"/>
                      <a:pt x="120015" y="70485"/>
                    </a:cubicBezTo>
                    <a:cubicBezTo>
                      <a:pt x="110490" y="74295"/>
                      <a:pt x="102870" y="80010"/>
                      <a:pt x="96202" y="87630"/>
                    </a:cubicBezTo>
                    <a:cubicBezTo>
                      <a:pt x="89535" y="95250"/>
                      <a:pt x="83820" y="104775"/>
                      <a:pt x="80010" y="115253"/>
                    </a:cubicBezTo>
                    <a:cubicBezTo>
                      <a:pt x="75247" y="126683"/>
                      <a:pt x="72390" y="139065"/>
                      <a:pt x="71438" y="153353"/>
                    </a:cubicBezTo>
                    <a:lnTo>
                      <a:pt x="237172" y="153353"/>
                    </a:lnTo>
                    <a:close/>
                    <a:moveTo>
                      <a:pt x="308610" y="180023"/>
                    </a:moveTo>
                    <a:cubicBezTo>
                      <a:pt x="308610" y="186690"/>
                      <a:pt x="308610" y="192405"/>
                      <a:pt x="307657" y="198120"/>
                    </a:cubicBezTo>
                    <a:cubicBezTo>
                      <a:pt x="307657" y="203835"/>
                      <a:pt x="306705" y="208598"/>
                      <a:pt x="306705" y="212408"/>
                    </a:cubicBezTo>
                    <a:lnTo>
                      <a:pt x="69532" y="212408"/>
                    </a:lnTo>
                    <a:cubicBezTo>
                      <a:pt x="71438" y="229553"/>
                      <a:pt x="75247" y="244793"/>
                      <a:pt x="80963" y="257175"/>
                    </a:cubicBezTo>
                    <a:cubicBezTo>
                      <a:pt x="86677" y="269558"/>
                      <a:pt x="93345" y="280035"/>
                      <a:pt x="100965" y="287655"/>
                    </a:cubicBezTo>
                    <a:cubicBezTo>
                      <a:pt x="108585" y="295275"/>
                      <a:pt x="118110" y="301943"/>
                      <a:pt x="128588" y="305753"/>
                    </a:cubicBezTo>
                    <a:cubicBezTo>
                      <a:pt x="139065" y="309563"/>
                      <a:pt x="149542" y="311468"/>
                      <a:pt x="160020" y="311468"/>
                    </a:cubicBezTo>
                    <a:cubicBezTo>
                      <a:pt x="167640" y="311468"/>
                      <a:pt x="175260" y="310515"/>
                      <a:pt x="181927" y="309563"/>
                    </a:cubicBezTo>
                    <a:cubicBezTo>
                      <a:pt x="188595" y="308610"/>
                      <a:pt x="195263" y="306705"/>
                      <a:pt x="201930" y="303848"/>
                    </a:cubicBezTo>
                    <a:cubicBezTo>
                      <a:pt x="208597" y="300990"/>
                      <a:pt x="214313" y="298133"/>
                      <a:pt x="219075" y="295275"/>
                    </a:cubicBezTo>
                    <a:cubicBezTo>
                      <a:pt x="223838" y="292418"/>
                      <a:pt x="230505" y="288608"/>
                      <a:pt x="238125" y="282893"/>
                    </a:cubicBezTo>
                    <a:lnTo>
                      <a:pt x="280035" y="327660"/>
                    </a:lnTo>
                    <a:cubicBezTo>
                      <a:pt x="271463" y="336233"/>
                      <a:pt x="262890" y="342900"/>
                      <a:pt x="254317" y="347663"/>
                    </a:cubicBezTo>
                    <a:cubicBezTo>
                      <a:pt x="245745" y="352425"/>
                      <a:pt x="237172" y="357188"/>
                      <a:pt x="227647" y="361950"/>
                    </a:cubicBezTo>
                    <a:cubicBezTo>
                      <a:pt x="218122" y="365760"/>
                      <a:pt x="207645" y="369570"/>
                      <a:pt x="195263" y="371475"/>
                    </a:cubicBezTo>
                    <a:cubicBezTo>
                      <a:pt x="182880" y="373380"/>
                      <a:pt x="170497" y="374333"/>
                      <a:pt x="155257" y="374333"/>
                    </a:cubicBezTo>
                    <a:cubicBezTo>
                      <a:pt x="140017" y="374333"/>
                      <a:pt x="124777" y="372428"/>
                      <a:pt x="111442" y="367665"/>
                    </a:cubicBezTo>
                    <a:cubicBezTo>
                      <a:pt x="98107" y="362903"/>
                      <a:pt x="85725" y="358140"/>
                      <a:pt x="75247" y="350520"/>
                    </a:cubicBezTo>
                    <a:cubicBezTo>
                      <a:pt x="64770" y="343853"/>
                      <a:pt x="55245" y="335280"/>
                      <a:pt x="46672" y="326708"/>
                    </a:cubicBezTo>
                    <a:cubicBezTo>
                      <a:pt x="38100" y="318135"/>
                      <a:pt x="30480" y="305753"/>
                      <a:pt x="22860" y="292418"/>
                    </a:cubicBezTo>
                    <a:cubicBezTo>
                      <a:pt x="15240" y="278130"/>
                      <a:pt x="9525" y="262890"/>
                      <a:pt x="5715" y="244793"/>
                    </a:cubicBezTo>
                    <a:cubicBezTo>
                      <a:pt x="1905" y="227648"/>
                      <a:pt x="0" y="208598"/>
                      <a:pt x="0" y="187643"/>
                    </a:cubicBezTo>
                    <a:cubicBezTo>
                      <a:pt x="0" y="157163"/>
                      <a:pt x="3810" y="130493"/>
                      <a:pt x="11430" y="107633"/>
                    </a:cubicBezTo>
                    <a:cubicBezTo>
                      <a:pt x="19050" y="84773"/>
                      <a:pt x="29527" y="64770"/>
                      <a:pt x="43815" y="48578"/>
                    </a:cubicBezTo>
                    <a:cubicBezTo>
                      <a:pt x="57150" y="32385"/>
                      <a:pt x="74295" y="20955"/>
                      <a:pt x="93345" y="12383"/>
                    </a:cubicBezTo>
                    <a:cubicBezTo>
                      <a:pt x="112395" y="3810"/>
                      <a:pt x="134302" y="0"/>
                      <a:pt x="157163" y="0"/>
                    </a:cubicBezTo>
                    <a:cubicBezTo>
                      <a:pt x="182880" y="0"/>
                      <a:pt x="204788" y="4763"/>
                      <a:pt x="223838" y="14288"/>
                    </a:cubicBezTo>
                    <a:cubicBezTo>
                      <a:pt x="242888" y="23813"/>
                      <a:pt x="258127" y="37148"/>
                      <a:pt x="270510" y="53340"/>
                    </a:cubicBezTo>
                    <a:cubicBezTo>
                      <a:pt x="282892" y="69533"/>
                      <a:pt x="292417" y="88583"/>
                      <a:pt x="298132" y="110490"/>
                    </a:cubicBezTo>
                    <a:cubicBezTo>
                      <a:pt x="304800" y="133350"/>
                      <a:pt x="308610" y="156210"/>
                      <a:pt x="308610" y="180023"/>
                    </a:cubicBezTo>
                  </a:path>
                </a:pathLst>
              </a:custGeom>
              <a:solidFill>
                <a:srgbClr val="1A9AFA"/>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64" name="Freeform 22">
                <a:extLst>
                  <a:ext uri="{FF2B5EF4-FFF2-40B4-BE49-F238E27FC236}">
                    <a16:creationId xmlns:a16="http://schemas.microsoft.com/office/drawing/2014/main" id="{A4312B0A-B497-EE2B-DD91-44D120D08F93}"/>
                  </a:ext>
                </a:extLst>
              </p:cNvPr>
              <p:cNvSpPr/>
              <p:nvPr userDrawn="1"/>
            </p:nvSpPr>
            <p:spPr bwMode="invGray">
              <a:xfrm>
                <a:off x="12987794" y="6376989"/>
                <a:ext cx="287655" cy="365759"/>
              </a:xfrm>
              <a:custGeom>
                <a:avLst/>
                <a:gdLst>
                  <a:gd name="connsiteX0" fmla="*/ 218122 w 287655"/>
                  <a:gd name="connsiteY0" fmla="*/ 365760 h 365759"/>
                  <a:gd name="connsiteX1" fmla="*/ 218122 w 287655"/>
                  <a:gd name="connsiteY1" fmla="*/ 162878 h 365759"/>
                  <a:gd name="connsiteX2" fmla="*/ 200978 w 287655"/>
                  <a:gd name="connsiteY2" fmla="*/ 89535 h 365759"/>
                  <a:gd name="connsiteX3" fmla="*/ 144780 w 287655"/>
                  <a:gd name="connsiteY3" fmla="*/ 64770 h 365759"/>
                  <a:gd name="connsiteX4" fmla="*/ 113347 w 287655"/>
                  <a:gd name="connsiteY4" fmla="*/ 70485 h 365759"/>
                  <a:gd name="connsiteX5" fmla="*/ 89535 w 287655"/>
                  <a:gd name="connsiteY5" fmla="*/ 89535 h 365759"/>
                  <a:gd name="connsiteX6" fmla="*/ 75247 w 287655"/>
                  <a:gd name="connsiteY6" fmla="*/ 119063 h 365759"/>
                  <a:gd name="connsiteX7" fmla="*/ 70485 w 287655"/>
                  <a:gd name="connsiteY7" fmla="*/ 156210 h 365759"/>
                  <a:gd name="connsiteX8" fmla="*/ 70485 w 287655"/>
                  <a:gd name="connsiteY8" fmla="*/ 365760 h 365759"/>
                  <a:gd name="connsiteX9" fmla="*/ 0 w 287655"/>
                  <a:gd name="connsiteY9" fmla="*/ 365760 h 365759"/>
                  <a:gd name="connsiteX10" fmla="*/ 0 w 287655"/>
                  <a:gd name="connsiteY10" fmla="*/ 7620 h 365759"/>
                  <a:gd name="connsiteX11" fmla="*/ 70485 w 287655"/>
                  <a:gd name="connsiteY11" fmla="*/ 7620 h 365759"/>
                  <a:gd name="connsiteX12" fmla="*/ 70485 w 287655"/>
                  <a:gd name="connsiteY12" fmla="*/ 41910 h 365759"/>
                  <a:gd name="connsiteX13" fmla="*/ 86678 w 287655"/>
                  <a:gd name="connsiteY13" fmla="*/ 24765 h 365759"/>
                  <a:gd name="connsiteX14" fmla="*/ 107632 w 287655"/>
                  <a:gd name="connsiteY14" fmla="*/ 11430 h 365759"/>
                  <a:gd name="connsiteX15" fmla="*/ 132397 w 287655"/>
                  <a:gd name="connsiteY15" fmla="*/ 2858 h 365759"/>
                  <a:gd name="connsiteX16" fmla="*/ 160020 w 287655"/>
                  <a:gd name="connsiteY16" fmla="*/ 0 h 365759"/>
                  <a:gd name="connsiteX17" fmla="*/ 216218 w 287655"/>
                  <a:gd name="connsiteY17" fmla="*/ 10478 h 365759"/>
                  <a:gd name="connsiteX18" fmla="*/ 256222 w 287655"/>
                  <a:gd name="connsiteY18" fmla="*/ 40958 h 365759"/>
                  <a:gd name="connsiteX19" fmla="*/ 280035 w 287655"/>
                  <a:gd name="connsiteY19" fmla="*/ 90488 h 365759"/>
                  <a:gd name="connsiteX20" fmla="*/ 287655 w 287655"/>
                  <a:gd name="connsiteY20" fmla="*/ 160972 h 365759"/>
                  <a:gd name="connsiteX21" fmla="*/ 287655 w 287655"/>
                  <a:gd name="connsiteY21" fmla="*/ 365760 h 365759"/>
                  <a:gd name="connsiteX22" fmla="*/ 218122 w 287655"/>
                  <a:gd name="connsiteY22" fmla="*/ 365760 h 36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655" h="365759">
                    <a:moveTo>
                      <a:pt x="218122" y="365760"/>
                    </a:moveTo>
                    <a:lnTo>
                      <a:pt x="218122" y="162878"/>
                    </a:lnTo>
                    <a:cubicBezTo>
                      <a:pt x="218122" y="130492"/>
                      <a:pt x="212407" y="105728"/>
                      <a:pt x="200978" y="89535"/>
                    </a:cubicBezTo>
                    <a:cubicBezTo>
                      <a:pt x="189547" y="73342"/>
                      <a:pt x="170497" y="64770"/>
                      <a:pt x="144780" y="64770"/>
                    </a:cubicBezTo>
                    <a:cubicBezTo>
                      <a:pt x="133350" y="64770"/>
                      <a:pt x="122872" y="66675"/>
                      <a:pt x="113347" y="70485"/>
                    </a:cubicBezTo>
                    <a:cubicBezTo>
                      <a:pt x="103822" y="74295"/>
                      <a:pt x="96203" y="80963"/>
                      <a:pt x="89535" y="89535"/>
                    </a:cubicBezTo>
                    <a:cubicBezTo>
                      <a:pt x="82868" y="98108"/>
                      <a:pt x="78105" y="107633"/>
                      <a:pt x="75247" y="119063"/>
                    </a:cubicBezTo>
                    <a:cubicBezTo>
                      <a:pt x="72390" y="130492"/>
                      <a:pt x="70485" y="142875"/>
                      <a:pt x="70485" y="156210"/>
                    </a:cubicBezTo>
                    <a:lnTo>
                      <a:pt x="70485" y="365760"/>
                    </a:lnTo>
                    <a:lnTo>
                      <a:pt x="0" y="365760"/>
                    </a:lnTo>
                    <a:lnTo>
                      <a:pt x="0" y="7620"/>
                    </a:lnTo>
                    <a:lnTo>
                      <a:pt x="70485" y="7620"/>
                    </a:lnTo>
                    <a:lnTo>
                      <a:pt x="70485" y="41910"/>
                    </a:lnTo>
                    <a:cubicBezTo>
                      <a:pt x="75247" y="35242"/>
                      <a:pt x="80010" y="29528"/>
                      <a:pt x="86678" y="24765"/>
                    </a:cubicBezTo>
                    <a:cubicBezTo>
                      <a:pt x="93345" y="20003"/>
                      <a:pt x="100013" y="15240"/>
                      <a:pt x="107632" y="11430"/>
                    </a:cubicBezTo>
                    <a:cubicBezTo>
                      <a:pt x="115253" y="7620"/>
                      <a:pt x="123825" y="4763"/>
                      <a:pt x="132397" y="2858"/>
                    </a:cubicBezTo>
                    <a:cubicBezTo>
                      <a:pt x="140970" y="953"/>
                      <a:pt x="150495" y="0"/>
                      <a:pt x="160020" y="0"/>
                    </a:cubicBezTo>
                    <a:cubicBezTo>
                      <a:pt x="181928" y="0"/>
                      <a:pt x="200025" y="3810"/>
                      <a:pt x="216218" y="10478"/>
                    </a:cubicBezTo>
                    <a:cubicBezTo>
                      <a:pt x="232410" y="17145"/>
                      <a:pt x="245745" y="27622"/>
                      <a:pt x="256222" y="40958"/>
                    </a:cubicBezTo>
                    <a:cubicBezTo>
                      <a:pt x="266700" y="54292"/>
                      <a:pt x="274320" y="70485"/>
                      <a:pt x="280035" y="90488"/>
                    </a:cubicBezTo>
                    <a:cubicBezTo>
                      <a:pt x="285750" y="110490"/>
                      <a:pt x="287655" y="134303"/>
                      <a:pt x="287655" y="160972"/>
                    </a:cubicBezTo>
                    <a:lnTo>
                      <a:pt x="287655" y="365760"/>
                    </a:lnTo>
                    <a:lnTo>
                      <a:pt x="218122" y="365760"/>
                    </a:lnTo>
                    <a:close/>
                  </a:path>
                </a:pathLst>
              </a:custGeom>
              <a:solidFill>
                <a:srgbClr val="1A9AFA"/>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65" name="Freeform 23">
                <a:extLst>
                  <a:ext uri="{FF2B5EF4-FFF2-40B4-BE49-F238E27FC236}">
                    <a16:creationId xmlns:a16="http://schemas.microsoft.com/office/drawing/2014/main" id="{2496276B-2BF1-1E5F-52B3-5D8BD48D654B}"/>
                  </a:ext>
                </a:extLst>
              </p:cNvPr>
              <p:cNvSpPr/>
              <p:nvPr userDrawn="1"/>
            </p:nvSpPr>
            <p:spPr bwMode="invGray">
              <a:xfrm>
                <a:off x="13327837" y="6376036"/>
                <a:ext cx="320039" cy="374332"/>
              </a:xfrm>
              <a:custGeom>
                <a:avLst/>
                <a:gdLst>
                  <a:gd name="connsiteX0" fmla="*/ 248602 w 320039"/>
                  <a:gd name="connsiteY0" fmla="*/ 187643 h 374332"/>
                  <a:gd name="connsiteX1" fmla="*/ 241935 w 320039"/>
                  <a:gd name="connsiteY1" fmla="*/ 138113 h 374332"/>
                  <a:gd name="connsiteX2" fmla="*/ 223838 w 320039"/>
                  <a:gd name="connsiteY2" fmla="*/ 100013 h 374332"/>
                  <a:gd name="connsiteX3" fmla="*/ 195263 w 320039"/>
                  <a:gd name="connsiteY3" fmla="*/ 76200 h 374332"/>
                  <a:gd name="connsiteX4" fmla="*/ 157163 w 320039"/>
                  <a:gd name="connsiteY4" fmla="*/ 67628 h 374332"/>
                  <a:gd name="connsiteX5" fmla="*/ 120967 w 320039"/>
                  <a:gd name="connsiteY5" fmla="*/ 76200 h 374332"/>
                  <a:gd name="connsiteX6" fmla="*/ 94297 w 320039"/>
                  <a:gd name="connsiteY6" fmla="*/ 100013 h 374332"/>
                  <a:gd name="connsiteX7" fmla="*/ 77152 w 320039"/>
                  <a:gd name="connsiteY7" fmla="*/ 137160 h 374332"/>
                  <a:gd name="connsiteX8" fmla="*/ 71438 w 320039"/>
                  <a:gd name="connsiteY8" fmla="*/ 185738 h 374332"/>
                  <a:gd name="connsiteX9" fmla="*/ 78105 w 320039"/>
                  <a:gd name="connsiteY9" fmla="*/ 238125 h 374332"/>
                  <a:gd name="connsiteX10" fmla="*/ 96202 w 320039"/>
                  <a:gd name="connsiteY10" fmla="*/ 276225 h 374332"/>
                  <a:gd name="connsiteX11" fmla="*/ 124777 w 320039"/>
                  <a:gd name="connsiteY11" fmla="*/ 299085 h 374332"/>
                  <a:gd name="connsiteX12" fmla="*/ 160972 w 320039"/>
                  <a:gd name="connsiteY12" fmla="*/ 306705 h 374332"/>
                  <a:gd name="connsiteX13" fmla="*/ 197167 w 320039"/>
                  <a:gd name="connsiteY13" fmla="*/ 297180 h 374332"/>
                  <a:gd name="connsiteX14" fmla="*/ 224790 w 320039"/>
                  <a:gd name="connsiteY14" fmla="*/ 271463 h 374332"/>
                  <a:gd name="connsiteX15" fmla="*/ 242888 w 320039"/>
                  <a:gd name="connsiteY15" fmla="*/ 233363 h 374332"/>
                  <a:gd name="connsiteX16" fmla="*/ 248602 w 320039"/>
                  <a:gd name="connsiteY16" fmla="*/ 187643 h 374332"/>
                  <a:gd name="connsiteX17" fmla="*/ 320040 w 320039"/>
                  <a:gd name="connsiteY17" fmla="*/ 185738 h 374332"/>
                  <a:gd name="connsiteX18" fmla="*/ 307657 w 320039"/>
                  <a:gd name="connsiteY18" fmla="*/ 265748 h 374332"/>
                  <a:gd name="connsiteX19" fmla="*/ 273367 w 320039"/>
                  <a:gd name="connsiteY19" fmla="*/ 324803 h 374332"/>
                  <a:gd name="connsiteX20" fmla="*/ 221932 w 320039"/>
                  <a:gd name="connsiteY20" fmla="*/ 361950 h 374332"/>
                  <a:gd name="connsiteX21" fmla="*/ 158115 w 320039"/>
                  <a:gd name="connsiteY21" fmla="*/ 374333 h 374332"/>
                  <a:gd name="connsiteX22" fmla="*/ 95250 w 320039"/>
                  <a:gd name="connsiteY22" fmla="*/ 360998 h 374332"/>
                  <a:gd name="connsiteX23" fmla="*/ 45720 w 320039"/>
                  <a:gd name="connsiteY23" fmla="*/ 322898 h 374332"/>
                  <a:gd name="connsiteX24" fmla="*/ 12382 w 320039"/>
                  <a:gd name="connsiteY24" fmla="*/ 263843 h 374332"/>
                  <a:gd name="connsiteX25" fmla="*/ 0 w 320039"/>
                  <a:gd name="connsiteY25" fmla="*/ 187643 h 374332"/>
                  <a:gd name="connsiteX26" fmla="*/ 12382 w 320039"/>
                  <a:gd name="connsiteY26" fmla="*/ 108585 h 374332"/>
                  <a:gd name="connsiteX27" fmla="*/ 45720 w 320039"/>
                  <a:gd name="connsiteY27" fmla="*/ 49530 h 374332"/>
                  <a:gd name="connsiteX28" fmla="*/ 96202 w 320039"/>
                  <a:gd name="connsiteY28" fmla="*/ 12383 h 374332"/>
                  <a:gd name="connsiteX29" fmla="*/ 159067 w 320039"/>
                  <a:gd name="connsiteY29" fmla="*/ 0 h 374332"/>
                  <a:gd name="connsiteX30" fmla="*/ 222885 w 320039"/>
                  <a:gd name="connsiteY30" fmla="*/ 13335 h 374332"/>
                  <a:gd name="connsiteX31" fmla="*/ 273367 w 320039"/>
                  <a:gd name="connsiteY31" fmla="*/ 50483 h 374332"/>
                  <a:gd name="connsiteX32" fmla="*/ 306705 w 320039"/>
                  <a:gd name="connsiteY32" fmla="*/ 108585 h 374332"/>
                  <a:gd name="connsiteX33" fmla="*/ 320040 w 320039"/>
                  <a:gd name="connsiteY33" fmla="*/ 185738 h 37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0039" h="374332">
                    <a:moveTo>
                      <a:pt x="248602" y="187643"/>
                    </a:moveTo>
                    <a:cubicBezTo>
                      <a:pt x="248602" y="169545"/>
                      <a:pt x="246697" y="153353"/>
                      <a:pt x="241935" y="138113"/>
                    </a:cubicBezTo>
                    <a:cubicBezTo>
                      <a:pt x="238125" y="123825"/>
                      <a:pt x="231457" y="110490"/>
                      <a:pt x="223838" y="100013"/>
                    </a:cubicBezTo>
                    <a:cubicBezTo>
                      <a:pt x="216217" y="89535"/>
                      <a:pt x="206692" y="81915"/>
                      <a:pt x="195263" y="76200"/>
                    </a:cubicBezTo>
                    <a:cubicBezTo>
                      <a:pt x="183832" y="70485"/>
                      <a:pt x="171450" y="67628"/>
                      <a:pt x="157163" y="67628"/>
                    </a:cubicBezTo>
                    <a:cubicBezTo>
                      <a:pt x="143827" y="67628"/>
                      <a:pt x="131445" y="70485"/>
                      <a:pt x="120967" y="76200"/>
                    </a:cubicBezTo>
                    <a:cubicBezTo>
                      <a:pt x="110490" y="81915"/>
                      <a:pt x="100965" y="89535"/>
                      <a:pt x="94297" y="100013"/>
                    </a:cubicBezTo>
                    <a:cubicBezTo>
                      <a:pt x="86677" y="110490"/>
                      <a:pt x="80963" y="122873"/>
                      <a:pt x="77152" y="137160"/>
                    </a:cubicBezTo>
                    <a:cubicBezTo>
                      <a:pt x="73342" y="151448"/>
                      <a:pt x="71438" y="167640"/>
                      <a:pt x="71438" y="185738"/>
                    </a:cubicBezTo>
                    <a:cubicBezTo>
                      <a:pt x="71438" y="205740"/>
                      <a:pt x="73342" y="222885"/>
                      <a:pt x="78105" y="238125"/>
                    </a:cubicBezTo>
                    <a:cubicBezTo>
                      <a:pt x="82867" y="253365"/>
                      <a:pt x="88582" y="265748"/>
                      <a:pt x="96202" y="276225"/>
                    </a:cubicBezTo>
                    <a:cubicBezTo>
                      <a:pt x="103822" y="286703"/>
                      <a:pt x="113347" y="294323"/>
                      <a:pt x="124777" y="299085"/>
                    </a:cubicBezTo>
                    <a:cubicBezTo>
                      <a:pt x="136207" y="304800"/>
                      <a:pt x="147638" y="306705"/>
                      <a:pt x="160972" y="306705"/>
                    </a:cubicBezTo>
                    <a:cubicBezTo>
                      <a:pt x="174307" y="306705"/>
                      <a:pt x="186690" y="303848"/>
                      <a:pt x="197167" y="297180"/>
                    </a:cubicBezTo>
                    <a:cubicBezTo>
                      <a:pt x="207645" y="290513"/>
                      <a:pt x="217170" y="281940"/>
                      <a:pt x="224790" y="271463"/>
                    </a:cubicBezTo>
                    <a:cubicBezTo>
                      <a:pt x="232410" y="260985"/>
                      <a:pt x="238125" y="247650"/>
                      <a:pt x="242888" y="233363"/>
                    </a:cubicBezTo>
                    <a:cubicBezTo>
                      <a:pt x="246697" y="220028"/>
                      <a:pt x="248602" y="203835"/>
                      <a:pt x="248602" y="187643"/>
                    </a:cubicBezTo>
                    <a:moveTo>
                      <a:pt x="320040" y="185738"/>
                    </a:moveTo>
                    <a:cubicBezTo>
                      <a:pt x="320040" y="215265"/>
                      <a:pt x="316230" y="241935"/>
                      <a:pt x="307657" y="265748"/>
                    </a:cubicBezTo>
                    <a:cubicBezTo>
                      <a:pt x="299085" y="288608"/>
                      <a:pt x="287655" y="308610"/>
                      <a:pt x="273367" y="324803"/>
                    </a:cubicBezTo>
                    <a:cubicBezTo>
                      <a:pt x="259080" y="340995"/>
                      <a:pt x="241935" y="353378"/>
                      <a:pt x="221932" y="361950"/>
                    </a:cubicBezTo>
                    <a:cubicBezTo>
                      <a:pt x="201930" y="370523"/>
                      <a:pt x="180975" y="374333"/>
                      <a:pt x="158115" y="374333"/>
                    </a:cubicBezTo>
                    <a:cubicBezTo>
                      <a:pt x="135255" y="374333"/>
                      <a:pt x="114300" y="369570"/>
                      <a:pt x="95250" y="360998"/>
                    </a:cubicBezTo>
                    <a:cubicBezTo>
                      <a:pt x="76200" y="352425"/>
                      <a:pt x="59055" y="339090"/>
                      <a:pt x="45720" y="322898"/>
                    </a:cubicBezTo>
                    <a:cubicBezTo>
                      <a:pt x="31432" y="306705"/>
                      <a:pt x="20955" y="286703"/>
                      <a:pt x="12382" y="263843"/>
                    </a:cubicBezTo>
                    <a:cubicBezTo>
                      <a:pt x="4763" y="240983"/>
                      <a:pt x="0" y="215265"/>
                      <a:pt x="0" y="187643"/>
                    </a:cubicBezTo>
                    <a:cubicBezTo>
                      <a:pt x="0" y="158115"/>
                      <a:pt x="3810" y="132398"/>
                      <a:pt x="12382" y="108585"/>
                    </a:cubicBezTo>
                    <a:cubicBezTo>
                      <a:pt x="20955" y="85725"/>
                      <a:pt x="31432" y="65723"/>
                      <a:pt x="45720" y="49530"/>
                    </a:cubicBezTo>
                    <a:cubicBezTo>
                      <a:pt x="60007" y="33338"/>
                      <a:pt x="77152" y="20955"/>
                      <a:pt x="96202" y="12383"/>
                    </a:cubicBezTo>
                    <a:cubicBezTo>
                      <a:pt x="115252" y="3810"/>
                      <a:pt x="136207" y="0"/>
                      <a:pt x="159067" y="0"/>
                    </a:cubicBezTo>
                    <a:cubicBezTo>
                      <a:pt x="181927" y="0"/>
                      <a:pt x="202882" y="4763"/>
                      <a:pt x="222885" y="13335"/>
                    </a:cubicBezTo>
                    <a:cubicBezTo>
                      <a:pt x="241935" y="21908"/>
                      <a:pt x="259080" y="34290"/>
                      <a:pt x="273367" y="50483"/>
                    </a:cubicBezTo>
                    <a:cubicBezTo>
                      <a:pt x="287655" y="66675"/>
                      <a:pt x="299085" y="85725"/>
                      <a:pt x="306705" y="108585"/>
                    </a:cubicBezTo>
                    <a:cubicBezTo>
                      <a:pt x="315277" y="132398"/>
                      <a:pt x="320040" y="158115"/>
                      <a:pt x="320040" y="185738"/>
                    </a:cubicBezTo>
                  </a:path>
                </a:pathLst>
              </a:custGeom>
              <a:solidFill>
                <a:srgbClr val="1A9AFA"/>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66" name="Freeform 24">
                <a:extLst>
                  <a:ext uri="{FF2B5EF4-FFF2-40B4-BE49-F238E27FC236}">
                    <a16:creationId xmlns:a16="http://schemas.microsoft.com/office/drawing/2014/main" id="{605035EA-3472-30F3-DF35-34B4E9DEA33D}"/>
                  </a:ext>
                </a:extLst>
              </p:cNvPr>
              <p:cNvSpPr/>
              <p:nvPr userDrawn="1"/>
            </p:nvSpPr>
            <p:spPr bwMode="invGray">
              <a:xfrm>
                <a:off x="13699312" y="6376989"/>
                <a:ext cx="287655" cy="365759"/>
              </a:xfrm>
              <a:custGeom>
                <a:avLst/>
                <a:gdLst>
                  <a:gd name="connsiteX0" fmla="*/ 218122 w 287655"/>
                  <a:gd name="connsiteY0" fmla="*/ 365760 h 365759"/>
                  <a:gd name="connsiteX1" fmla="*/ 218122 w 287655"/>
                  <a:gd name="connsiteY1" fmla="*/ 162878 h 365759"/>
                  <a:gd name="connsiteX2" fmla="*/ 200977 w 287655"/>
                  <a:gd name="connsiteY2" fmla="*/ 89535 h 365759"/>
                  <a:gd name="connsiteX3" fmla="*/ 144780 w 287655"/>
                  <a:gd name="connsiteY3" fmla="*/ 64770 h 365759"/>
                  <a:gd name="connsiteX4" fmla="*/ 113347 w 287655"/>
                  <a:gd name="connsiteY4" fmla="*/ 70485 h 365759"/>
                  <a:gd name="connsiteX5" fmla="*/ 89535 w 287655"/>
                  <a:gd name="connsiteY5" fmla="*/ 89535 h 365759"/>
                  <a:gd name="connsiteX6" fmla="*/ 75247 w 287655"/>
                  <a:gd name="connsiteY6" fmla="*/ 119063 h 365759"/>
                  <a:gd name="connsiteX7" fmla="*/ 70485 w 287655"/>
                  <a:gd name="connsiteY7" fmla="*/ 156210 h 365759"/>
                  <a:gd name="connsiteX8" fmla="*/ 70485 w 287655"/>
                  <a:gd name="connsiteY8" fmla="*/ 365760 h 365759"/>
                  <a:gd name="connsiteX9" fmla="*/ 0 w 287655"/>
                  <a:gd name="connsiteY9" fmla="*/ 365760 h 365759"/>
                  <a:gd name="connsiteX10" fmla="*/ 0 w 287655"/>
                  <a:gd name="connsiteY10" fmla="*/ 7620 h 365759"/>
                  <a:gd name="connsiteX11" fmla="*/ 70485 w 287655"/>
                  <a:gd name="connsiteY11" fmla="*/ 7620 h 365759"/>
                  <a:gd name="connsiteX12" fmla="*/ 70485 w 287655"/>
                  <a:gd name="connsiteY12" fmla="*/ 41910 h 365759"/>
                  <a:gd name="connsiteX13" fmla="*/ 86677 w 287655"/>
                  <a:gd name="connsiteY13" fmla="*/ 24765 h 365759"/>
                  <a:gd name="connsiteX14" fmla="*/ 107632 w 287655"/>
                  <a:gd name="connsiteY14" fmla="*/ 11430 h 365759"/>
                  <a:gd name="connsiteX15" fmla="*/ 132397 w 287655"/>
                  <a:gd name="connsiteY15" fmla="*/ 2858 h 365759"/>
                  <a:gd name="connsiteX16" fmla="*/ 160020 w 287655"/>
                  <a:gd name="connsiteY16" fmla="*/ 0 h 365759"/>
                  <a:gd name="connsiteX17" fmla="*/ 216218 w 287655"/>
                  <a:gd name="connsiteY17" fmla="*/ 10478 h 365759"/>
                  <a:gd name="connsiteX18" fmla="*/ 256222 w 287655"/>
                  <a:gd name="connsiteY18" fmla="*/ 40958 h 365759"/>
                  <a:gd name="connsiteX19" fmla="*/ 280035 w 287655"/>
                  <a:gd name="connsiteY19" fmla="*/ 90488 h 365759"/>
                  <a:gd name="connsiteX20" fmla="*/ 287655 w 287655"/>
                  <a:gd name="connsiteY20" fmla="*/ 160972 h 365759"/>
                  <a:gd name="connsiteX21" fmla="*/ 287655 w 287655"/>
                  <a:gd name="connsiteY21" fmla="*/ 365760 h 365759"/>
                  <a:gd name="connsiteX22" fmla="*/ 218122 w 287655"/>
                  <a:gd name="connsiteY22" fmla="*/ 365760 h 36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655" h="365759">
                    <a:moveTo>
                      <a:pt x="218122" y="365760"/>
                    </a:moveTo>
                    <a:lnTo>
                      <a:pt x="218122" y="162878"/>
                    </a:lnTo>
                    <a:cubicBezTo>
                      <a:pt x="218122" y="130492"/>
                      <a:pt x="212407" y="105728"/>
                      <a:pt x="200977" y="89535"/>
                    </a:cubicBezTo>
                    <a:cubicBezTo>
                      <a:pt x="189547" y="73342"/>
                      <a:pt x="170497" y="64770"/>
                      <a:pt x="144780" y="64770"/>
                    </a:cubicBezTo>
                    <a:cubicBezTo>
                      <a:pt x="133350" y="64770"/>
                      <a:pt x="122872" y="66675"/>
                      <a:pt x="113347" y="70485"/>
                    </a:cubicBezTo>
                    <a:cubicBezTo>
                      <a:pt x="103822" y="74295"/>
                      <a:pt x="96202" y="80963"/>
                      <a:pt x="89535" y="89535"/>
                    </a:cubicBezTo>
                    <a:cubicBezTo>
                      <a:pt x="82868" y="98108"/>
                      <a:pt x="78105" y="107633"/>
                      <a:pt x="75247" y="119063"/>
                    </a:cubicBezTo>
                    <a:cubicBezTo>
                      <a:pt x="72390" y="130492"/>
                      <a:pt x="70485" y="142875"/>
                      <a:pt x="70485" y="156210"/>
                    </a:cubicBezTo>
                    <a:lnTo>
                      <a:pt x="70485" y="365760"/>
                    </a:lnTo>
                    <a:lnTo>
                      <a:pt x="0" y="365760"/>
                    </a:lnTo>
                    <a:lnTo>
                      <a:pt x="0" y="7620"/>
                    </a:lnTo>
                    <a:lnTo>
                      <a:pt x="70485" y="7620"/>
                    </a:lnTo>
                    <a:lnTo>
                      <a:pt x="70485" y="41910"/>
                    </a:lnTo>
                    <a:cubicBezTo>
                      <a:pt x="75247" y="35242"/>
                      <a:pt x="80010" y="29528"/>
                      <a:pt x="86677" y="24765"/>
                    </a:cubicBezTo>
                    <a:cubicBezTo>
                      <a:pt x="93345" y="20003"/>
                      <a:pt x="100013" y="15240"/>
                      <a:pt x="107632" y="11430"/>
                    </a:cubicBezTo>
                    <a:cubicBezTo>
                      <a:pt x="115252" y="7620"/>
                      <a:pt x="123825" y="4763"/>
                      <a:pt x="132397" y="2858"/>
                    </a:cubicBezTo>
                    <a:cubicBezTo>
                      <a:pt x="140970" y="953"/>
                      <a:pt x="150495" y="0"/>
                      <a:pt x="160020" y="0"/>
                    </a:cubicBezTo>
                    <a:cubicBezTo>
                      <a:pt x="181927" y="0"/>
                      <a:pt x="200025" y="3810"/>
                      <a:pt x="216218" y="10478"/>
                    </a:cubicBezTo>
                    <a:cubicBezTo>
                      <a:pt x="232410" y="17145"/>
                      <a:pt x="245745" y="27622"/>
                      <a:pt x="256222" y="40958"/>
                    </a:cubicBezTo>
                    <a:cubicBezTo>
                      <a:pt x="266700" y="54292"/>
                      <a:pt x="274320" y="70485"/>
                      <a:pt x="280035" y="90488"/>
                    </a:cubicBezTo>
                    <a:cubicBezTo>
                      <a:pt x="285750" y="110490"/>
                      <a:pt x="287655" y="134303"/>
                      <a:pt x="287655" y="160972"/>
                    </a:cubicBezTo>
                    <a:lnTo>
                      <a:pt x="287655" y="365760"/>
                    </a:lnTo>
                    <a:lnTo>
                      <a:pt x="218122" y="365760"/>
                    </a:lnTo>
                    <a:close/>
                  </a:path>
                </a:pathLst>
              </a:custGeom>
              <a:solidFill>
                <a:srgbClr val="1A9AFA"/>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grpSp>
          <p:nvGrpSpPr>
            <p:cNvPr id="1055" name="Graphic 4">
              <a:extLst>
                <a:ext uri="{FF2B5EF4-FFF2-40B4-BE49-F238E27FC236}">
                  <a16:creationId xmlns:a16="http://schemas.microsoft.com/office/drawing/2014/main" id="{B7B2AF10-14D4-95F9-21D5-F44FE702FA36}"/>
                </a:ext>
              </a:extLst>
            </p:cNvPr>
            <p:cNvGrpSpPr/>
            <p:nvPr userDrawn="1"/>
          </p:nvGrpSpPr>
          <p:grpSpPr bwMode="invGray">
            <a:xfrm>
              <a:off x="9673094" y="5359719"/>
              <a:ext cx="1351597" cy="1383029"/>
              <a:chOff x="9673094" y="5359719"/>
              <a:chExt cx="1351597" cy="1383029"/>
            </a:xfrm>
          </p:grpSpPr>
          <p:sp>
            <p:nvSpPr>
              <p:cNvPr id="1056" name="Freeform 10">
                <a:extLst>
                  <a:ext uri="{FF2B5EF4-FFF2-40B4-BE49-F238E27FC236}">
                    <a16:creationId xmlns:a16="http://schemas.microsoft.com/office/drawing/2014/main" id="{A98835D8-4B51-58D1-EF97-20B7104BA5E9}"/>
                  </a:ext>
                </a:extLst>
              </p:cNvPr>
              <p:cNvSpPr/>
              <p:nvPr userDrawn="1"/>
            </p:nvSpPr>
            <p:spPr bwMode="invGray">
              <a:xfrm>
                <a:off x="9673094" y="5359719"/>
                <a:ext cx="1351597" cy="493394"/>
              </a:xfrm>
              <a:custGeom>
                <a:avLst/>
                <a:gdLst>
                  <a:gd name="connsiteX0" fmla="*/ 1351598 w 1351597"/>
                  <a:gd name="connsiteY0" fmla="*/ 0 h 493394"/>
                  <a:gd name="connsiteX1" fmla="*/ 0 w 1351597"/>
                  <a:gd name="connsiteY1" fmla="*/ 493395 h 493394"/>
                  <a:gd name="connsiteX2" fmla="*/ 1351598 w 1351597"/>
                  <a:gd name="connsiteY2" fmla="*/ 255270 h 493394"/>
                  <a:gd name="connsiteX3" fmla="*/ 1351598 w 1351597"/>
                  <a:gd name="connsiteY3" fmla="*/ 0 h 493394"/>
                </a:gdLst>
                <a:ahLst/>
                <a:cxnLst>
                  <a:cxn ang="0">
                    <a:pos x="connsiteX0" y="connsiteY0"/>
                  </a:cxn>
                  <a:cxn ang="0">
                    <a:pos x="connsiteX1" y="connsiteY1"/>
                  </a:cxn>
                  <a:cxn ang="0">
                    <a:pos x="connsiteX2" y="connsiteY2"/>
                  </a:cxn>
                  <a:cxn ang="0">
                    <a:pos x="connsiteX3" y="connsiteY3"/>
                  </a:cxn>
                </a:cxnLst>
                <a:rect l="l" t="t" r="r" b="b"/>
                <a:pathLst>
                  <a:path w="1351597" h="493394">
                    <a:moveTo>
                      <a:pt x="1351598" y="0"/>
                    </a:moveTo>
                    <a:lnTo>
                      <a:pt x="0" y="493395"/>
                    </a:lnTo>
                    <a:lnTo>
                      <a:pt x="1351598" y="255270"/>
                    </a:lnTo>
                    <a:lnTo>
                      <a:pt x="1351598" y="0"/>
                    </a:lnTo>
                    <a:close/>
                  </a:path>
                </a:pathLst>
              </a:custGeom>
              <a:solidFill>
                <a:srgbClr val="FFE60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57" name="Freeform 12">
                <a:extLst>
                  <a:ext uri="{FF2B5EF4-FFF2-40B4-BE49-F238E27FC236}">
                    <a16:creationId xmlns:a16="http://schemas.microsoft.com/office/drawing/2014/main" id="{CAF1FD36-C6D8-CED7-10AA-C2A9C1BC3DD9}"/>
                  </a:ext>
                </a:extLst>
              </p:cNvPr>
              <p:cNvSpPr/>
              <p:nvPr userDrawn="1"/>
            </p:nvSpPr>
            <p:spPr bwMode="invGray">
              <a:xfrm>
                <a:off x="9684524" y="6058854"/>
                <a:ext cx="1135379" cy="683894"/>
              </a:xfrm>
              <a:custGeom>
                <a:avLst/>
                <a:gdLst>
                  <a:gd name="connsiteX0" fmla="*/ 911543 w 1135379"/>
                  <a:gd name="connsiteY0" fmla="*/ 0 h 683894"/>
                  <a:gd name="connsiteX1" fmla="*/ 795338 w 1135379"/>
                  <a:gd name="connsiteY1" fmla="*/ 222885 h 683894"/>
                  <a:gd name="connsiteX2" fmla="*/ 679133 w 1135379"/>
                  <a:gd name="connsiteY2" fmla="*/ 0 h 683894"/>
                  <a:gd name="connsiteX3" fmla="*/ 452438 w 1135379"/>
                  <a:gd name="connsiteY3" fmla="*/ 0 h 683894"/>
                  <a:gd name="connsiteX4" fmla="*/ 691515 w 1135379"/>
                  <a:gd name="connsiteY4" fmla="*/ 413385 h 683894"/>
                  <a:gd name="connsiteX5" fmla="*/ 691515 w 1135379"/>
                  <a:gd name="connsiteY5" fmla="*/ 683895 h 683894"/>
                  <a:gd name="connsiteX6" fmla="*/ 896303 w 1135379"/>
                  <a:gd name="connsiteY6" fmla="*/ 683895 h 683894"/>
                  <a:gd name="connsiteX7" fmla="*/ 896303 w 1135379"/>
                  <a:gd name="connsiteY7" fmla="*/ 413385 h 683894"/>
                  <a:gd name="connsiteX8" fmla="*/ 1135380 w 1135379"/>
                  <a:gd name="connsiteY8" fmla="*/ 0 h 683894"/>
                  <a:gd name="connsiteX9" fmla="*/ 911543 w 1135379"/>
                  <a:gd name="connsiteY9" fmla="*/ 0 h 683894"/>
                  <a:gd name="connsiteX10" fmla="*/ 0 w 1135379"/>
                  <a:gd name="connsiteY10" fmla="*/ 0 h 683894"/>
                  <a:gd name="connsiteX11" fmla="*/ 0 w 1135379"/>
                  <a:gd name="connsiteY11" fmla="*/ 683895 h 683894"/>
                  <a:gd name="connsiteX12" fmla="*/ 546735 w 1135379"/>
                  <a:gd name="connsiteY12" fmla="*/ 683895 h 683894"/>
                  <a:gd name="connsiteX13" fmla="*/ 546735 w 1135379"/>
                  <a:gd name="connsiteY13" fmla="*/ 526732 h 683894"/>
                  <a:gd name="connsiteX14" fmla="*/ 204788 w 1135379"/>
                  <a:gd name="connsiteY14" fmla="*/ 526732 h 683894"/>
                  <a:gd name="connsiteX15" fmla="*/ 204788 w 1135379"/>
                  <a:gd name="connsiteY15" fmla="*/ 414338 h 683894"/>
                  <a:gd name="connsiteX16" fmla="*/ 452438 w 1135379"/>
                  <a:gd name="connsiteY16" fmla="*/ 414338 h 683894"/>
                  <a:gd name="connsiteX17" fmla="*/ 452438 w 1135379"/>
                  <a:gd name="connsiteY17" fmla="*/ 270510 h 683894"/>
                  <a:gd name="connsiteX18" fmla="*/ 204788 w 1135379"/>
                  <a:gd name="connsiteY18" fmla="*/ 270510 h 683894"/>
                  <a:gd name="connsiteX19" fmla="*/ 204788 w 1135379"/>
                  <a:gd name="connsiteY19" fmla="*/ 157163 h 683894"/>
                  <a:gd name="connsiteX20" fmla="*/ 479108 w 1135379"/>
                  <a:gd name="connsiteY20" fmla="*/ 157163 h 683894"/>
                  <a:gd name="connsiteX21" fmla="*/ 388620 w 1135379"/>
                  <a:gd name="connsiteY21" fmla="*/ 0 h 683894"/>
                  <a:gd name="connsiteX22" fmla="*/ 0 w 1135379"/>
                  <a:gd name="connsiteY22" fmla="*/ 0 h 68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35379" h="683894">
                    <a:moveTo>
                      <a:pt x="911543" y="0"/>
                    </a:moveTo>
                    <a:lnTo>
                      <a:pt x="795338" y="222885"/>
                    </a:lnTo>
                    <a:lnTo>
                      <a:pt x="679133" y="0"/>
                    </a:lnTo>
                    <a:lnTo>
                      <a:pt x="452438" y="0"/>
                    </a:lnTo>
                    <a:lnTo>
                      <a:pt x="691515" y="413385"/>
                    </a:lnTo>
                    <a:lnTo>
                      <a:pt x="691515" y="683895"/>
                    </a:lnTo>
                    <a:lnTo>
                      <a:pt x="896303" y="683895"/>
                    </a:lnTo>
                    <a:lnTo>
                      <a:pt x="896303" y="413385"/>
                    </a:lnTo>
                    <a:lnTo>
                      <a:pt x="1135380" y="0"/>
                    </a:lnTo>
                    <a:lnTo>
                      <a:pt x="911543" y="0"/>
                    </a:lnTo>
                    <a:close/>
                    <a:moveTo>
                      <a:pt x="0" y="0"/>
                    </a:moveTo>
                    <a:lnTo>
                      <a:pt x="0" y="683895"/>
                    </a:lnTo>
                    <a:lnTo>
                      <a:pt x="546735" y="683895"/>
                    </a:lnTo>
                    <a:lnTo>
                      <a:pt x="546735" y="526732"/>
                    </a:lnTo>
                    <a:lnTo>
                      <a:pt x="204788" y="526732"/>
                    </a:lnTo>
                    <a:lnTo>
                      <a:pt x="204788" y="414338"/>
                    </a:lnTo>
                    <a:lnTo>
                      <a:pt x="452438" y="414338"/>
                    </a:lnTo>
                    <a:lnTo>
                      <a:pt x="452438" y="270510"/>
                    </a:lnTo>
                    <a:lnTo>
                      <a:pt x="204788" y="270510"/>
                    </a:lnTo>
                    <a:lnTo>
                      <a:pt x="204788" y="157163"/>
                    </a:lnTo>
                    <a:lnTo>
                      <a:pt x="479108" y="157163"/>
                    </a:lnTo>
                    <a:lnTo>
                      <a:pt x="388620" y="0"/>
                    </a:lnTo>
                    <a:lnTo>
                      <a:pt x="0" y="0"/>
                    </a:lnTo>
                    <a:close/>
                  </a:path>
                </a:pathLst>
              </a:custGeom>
              <a:solidFill>
                <a:schemeClr val="tx1"/>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grpSp>
      <p:sp>
        <p:nvSpPr>
          <p:cNvPr id="6" name="Text Box 121">
            <a:extLst>
              <a:ext uri="{FF2B5EF4-FFF2-40B4-BE49-F238E27FC236}">
                <a16:creationId xmlns:a16="http://schemas.microsoft.com/office/drawing/2014/main" id="{8DF96C35-F125-9A00-88C8-C14F6D058D39}"/>
              </a:ext>
            </a:extLst>
          </p:cNvPr>
          <p:cNvSpPr txBox="1">
            <a:spLocks noChangeArrowheads="1"/>
          </p:cNvSpPr>
          <p:nvPr userDrawn="1"/>
        </p:nvSpPr>
        <p:spPr bwMode="gray">
          <a:xfrm>
            <a:off x="1004494" y="6522966"/>
            <a:ext cx="255354" cy="123111"/>
          </a:xfrm>
          <a:prstGeom prst="rect">
            <a:avLst/>
          </a:prstGeom>
          <a:solidFill>
            <a:schemeClr val="bg1"/>
          </a:solidFill>
          <a:ln w="12700">
            <a:noFill/>
            <a:miter lim="800000"/>
            <a:headEnd type="none" w="sm" len="sm"/>
            <a:tailEnd type="none" w="sm" len="sm"/>
          </a:ln>
          <a:effectLst/>
        </p:spPr>
        <p:txBody>
          <a:bodyPr wrap="square" lIns="0" tIns="0" rIns="0" bIns="0" anchor="b">
            <a:spAutoFit/>
          </a:bodyPr>
          <a:lstStyle/>
          <a:p>
            <a:pPr marL="0" marR="0" lvl="0" indent="0" algn="ctr" defTabSz="902010" rtl="0" eaLnBrk="1" fontAlgn="base" latinLnBrk="0" hangingPunct="1">
              <a:lnSpc>
                <a:spcPct val="100000"/>
              </a:lnSpc>
              <a:spcBef>
                <a:spcPct val="0"/>
              </a:spcBef>
              <a:spcAft>
                <a:spcPct val="0"/>
              </a:spcAft>
              <a:buClrTx/>
              <a:buSzTx/>
              <a:buFontTx/>
              <a:buNone/>
              <a:tabLst/>
              <a:defRPr/>
            </a:pPr>
            <a:fld id="{2ED390AD-E177-4AD8-B0DF-CC72DC7E0383}" type="slidenum">
              <a:rPr kumimoji="0" lang="en-US" sz="800" b="0" i="0" u="none" strike="noStrike" kern="1200" cap="none" spc="0" normalizeH="0" baseline="0" noProof="0" smtClean="0">
                <a:ln>
                  <a:noFill/>
                </a:ln>
                <a:solidFill>
                  <a:srgbClr val="000000"/>
                </a:solidFill>
                <a:effectLst/>
                <a:uLnTx/>
                <a:uFillTx/>
                <a:latin typeface="EYInterstate Light" panose="02000506000000020004" pitchFamily="2" charset="0"/>
                <a:ea typeface="+mn-ea"/>
                <a:cs typeface="Arial" charset="0"/>
              </a:rPr>
              <a:pPr marL="0" marR="0" lvl="0" indent="0" algn="ctr" defTabSz="90201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EYInterstate Light" panose="02000506000000020004" pitchFamily="2" charset="0"/>
              <a:ea typeface="+mn-ea"/>
              <a:cs typeface="Arial" charset="0"/>
            </a:endParaRPr>
          </a:p>
        </p:txBody>
      </p:sp>
    </p:spTree>
    <p:extLst>
      <p:ext uri="{BB962C8B-B14F-4D97-AF65-F5344CB8AC3E}">
        <p14:creationId xmlns:p14="http://schemas.microsoft.com/office/powerpoint/2010/main" val="3301409648"/>
      </p:ext>
    </p:extLst>
  </p:cSld>
  <p:clrMap bg1="lt1" tx1="dk1" bg2="lt2" tx2="dk2" accent1="accent1" accent2="accent2" accent3="accent3" accent4="accent4" accent5="accent5" accent6="accent6" hlink="hlink" folHlink="folHlink"/>
  <p:sldLayoutIdLst>
    <p:sldLayoutId id="2147483785" r:id="rId1"/>
    <p:sldLayoutId id="2147483863" r:id="rId2"/>
    <p:sldLayoutId id="2147483786" r:id="rId3"/>
    <p:sldLayoutId id="2147483965" r:id="rId4"/>
    <p:sldLayoutId id="2147483791" r:id="rId5"/>
    <p:sldLayoutId id="2147483792" r:id="rId6"/>
    <p:sldLayoutId id="2147483818" r:id="rId7"/>
    <p:sldLayoutId id="2147483803" r:id="rId8"/>
    <p:sldLayoutId id="2147484106" r:id="rId9"/>
  </p:sldLayoutIdLst>
  <p:hf sldNum="0" hdr="0" dt="0"/>
  <p:txStyles>
    <p:titleStyle>
      <a:lvl1pPr algn="l" defTabSz="902010" rtl="0" eaLnBrk="1" fontAlgn="base" hangingPunct="1">
        <a:lnSpc>
          <a:spcPct val="85000"/>
        </a:lnSpc>
        <a:spcBef>
          <a:spcPct val="0"/>
        </a:spcBef>
        <a:spcAft>
          <a:spcPct val="0"/>
        </a:spcAft>
        <a:defRPr sz="2199" baseline="0">
          <a:solidFill>
            <a:schemeClr val="tx1"/>
          </a:solidFill>
          <a:latin typeface="EYInterstate Light" panose="02000506000000020004" pitchFamily="2" charset="0"/>
          <a:ea typeface="+mj-ea"/>
          <a:cs typeface="+mj-cs"/>
        </a:defRPr>
      </a:lvl1pPr>
      <a:lvl2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2pPr>
      <a:lvl3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3pPr>
      <a:lvl4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4pPr>
      <a:lvl5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5pPr>
      <a:lvl6pPr marL="414323"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6pPr>
      <a:lvl7pPr marL="828639"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7pPr>
      <a:lvl8pPr marL="1242960"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8pPr>
      <a:lvl9pPr marL="1657279"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9pPr>
    </p:titleStyle>
    <p:bodyStyle>
      <a:lvl1pPr algn="l" defTabSz="902010" rtl="0" eaLnBrk="1" fontAlgn="base" hangingPunct="1">
        <a:spcBef>
          <a:spcPct val="0"/>
        </a:spcBef>
        <a:spcAft>
          <a:spcPct val="40000"/>
        </a:spcAft>
        <a:buClr>
          <a:srgbClr val="FFD200"/>
        </a:buClr>
        <a:buSzPct val="75000"/>
        <a:buFont typeface="Arial Unicode MS" pitchFamily="34" charset="-128"/>
        <a:tabLst>
          <a:tab pos="1463068" algn="l"/>
          <a:tab pos="2926135" algn="l"/>
          <a:tab pos="4228080" algn="r"/>
        </a:tabLst>
        <a:defRPr sz="999" baseline="0">
          <a:solidFill>
            <a:schemeClr val="tx1"/>
          </a:solidFill>
          <a:latin typeface="EYInterstate Light" panose="02000506000000020004" pitchFamily="2" charset="0"/>
          <a:ea typeface="+mn-ea"/>
          <a:cs typeface="+mn-cs"/>
        </a:defRPr>
      </a:lvl1pPr>
      <a:lvl2pPr marL="1439" algn="l" defTabSz="902010" rtl="0" eaLnBrk="1" fontAlgn="base" hangingPunct="1">
        <a:spcBef>
          <a:spcPct val="20000"/>
        </a:spcBef>
        <a:spcAft>
          <a:spcPct val="40000"/>
        </a:spcAft>
        <a:buClr>
          <a:srgbClr val="FFD200"/>
        </a:buClr>
        <a:buSzPct val="75000"/>
        <a:buFont typeface="Arial Unicode MS" pitchFamily="34" charset="-128"/>
        <a:tabLst>
          <a:tab pos="1463068" algn="l"/>
          <a:tab pos="2926135" algn="l"/>
          <a:tab pos="4228080" algn="r"/>
        </a:tabLst>
        <a:defRPr sz="1399" b="1" baseline="0">
          <a:solidFill>
            <a:schemeClr val="tx1"/>
          </a:solidFill>
          <a:latin typeface="EYInterstate Light" panose="02000506000000020004" pitchFamily="2" charset="0"/>
          <a:cs typeface="+mn-cs"/>
        </a:defRPr>
      </a:lvl2pPr>
      <a:lvl3pPr marL="2879" algn="l" defTabSz="902010" rtl="0" eaLnBrk="1" fontAlgn="base" hangingPunct="1">
        <a:spcBef>
          <a:spcPts val="100"/>
        </a:spcBef>
        <a:spcAft>
          <a:spcPts val="400"/>
        </a:spcAft>
        <a:buClr>
          <a:schemeClr val="tx2"/>
        </a:buClr>
        <a:buSzPct val="75000"/>
        <a:buFont typeface="Arial Unicode MS" pitchFamily="34" charset="-128"/>
        <a:tabLst>
          <a:tab pos="1463068" algn="l"/>
          <a:tab pos="2926135" algn="l"/>
          <a:tab pos="4228080" algn="r"/>
        </a:tabLst>
        <a:defRPr sz="1199" b="1" baseline="0">
          <a:solidFill>
            <a:srgbClr val="747480"/>
          </a:solidFill>
          <a:latin typeface="EYInterstate Light" panose="02000506000000020004" pitchFamily="2" charset="0"/>
          <a:cs typeface="+mn-cs"/>
        </a:defRPr>
      </a:lvl3pPr>
      <a:lvl4pPr marL="172632" indent="-168317" algn="l" defTabSz="902010" rtl="0" eaLnBrk="1" fontAlgn="base" hangingPunct="1">
        <a:spcBef>
          <a:spcPts val="100"/>
        </a:spcBef>
        <a:spcAft>
          <a:spcPts val="4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4pPr>
      <a:lvl5pPr marL="319372" indent="-145299" algn="l" defTabSz="902010" rtl="0" eaLnBrk="1" fontAlgn="base" hangingPunct="1">
        <a:spcBef>
          <a:spcPts val="100"/>
        </a:spcBef>
        <a:spcAft>
          <a:spcPts val="4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5pPr>
      <a:lvl6pPr marL="73369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6pPr>
      <a:lvl7pPr marL="114801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7pPr>
      <a:lvl8pPr marL="156233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8pPr>
      <a:lvl9pPr marL="1976651"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9pPr>
    </p:bodyStyle>
    <p:otherStyle>
      <a:defPPr>
        <a:defRPr lang="en-US"/>
      </a:defPPr>
      <a:lvl1pPr marL="0" algn="l" defTabSz="828639" rtl="0" eaLnBrk="1" latinLnBrk="0" hangingPunct="1">
        <a:defRPr sz="1632" kern="1200">
          <a:solidFill>
            <a:schemeClr val="tx1"/>
          </a:solidFill>
          <a:latin typeface="+mn-lt"/>
          <a:ea typeface="+mn-ea"/>
          <a:cs typeface="+mn-cs"/>
        </a:defRPr>
      </a:lvl1pPr>
      <a:lvl2pPr marL="414323" algn="l" defTabSz="828639" rtl="0" eaLnBrk="1" latinLnBrk="0" hangingPunct="1">
        <a:defRPr sz="1632" kern="1200">
          <a:solidFill>
            <a:schemeClr val="tx1"/>
          </a:solidFill>
          <a:latin typeface="+mn-lt"/>
          <a:ea typeface="+mn-ea"/>
          <a:cs typeface="+mn-cs"/>
        </a:defRPr>
      </a:lvl2pPr>
      <a:lvl3pPr marL="828639" algn="l" defTabSz="828639" rtl="0" eaLnBrk="1" latinLnBrk="0" hangingPunct="1">
        <a:defRPr sz="1632" kern="1200">
          <a:solidFill>
            <a:schemeClr val="tx1"/>
          </a:solidFill>
          <a:latin typeface="+mn-lt"/>
          <a:ea typeface="+mn-ea"/>
          <a:cs typeface="+mn-cs"/>
        </a:defRPr>
      </a:lvl3pPr>
      <a:lvl4pPr marL="1242960" algn="l" defTabSz="828639" rtl="0" eaLnBrk="1" latinLnBrk="0" hangingPunct="1">
        <a:defRPr sz="1632" kern="1200">
          <a:solidFill>
            <a:schemeClr val="tx1"/>
          </a:solidFill>
          <a:latin typeface="+mn-lt"/>
          <a:ea typeface="+mn-ea"/>
          <a:cs typeface="+mn-cs"/>
        </a:defRPr>
      </a:lvl4pPr>
      <a:lvl5pPr marL="1657279" algn="l" defTabSz="828639" rtl="0" eaLnBrk="1" latinLnBrk="0" hangingPunct="1">
        <a:defRPr sz="1632" kern="1200">
          <a:solidFill>
            <a:schemeClr val="tx1"/>
          </a:solidFill>
          <a:latin typeface="+mn-lt"/>
          <a:ea typeface="+mn-ea"/>
          <a:cs typeface="+mn-cs"/>
        </a:defRPr>
      </a:lvl5pPr>
      <a:lvl6pPr marL="2071601" algn="l" defTabSz="828639" rtl="0" eaLnBrk="1" latinLnBrk="0" hangingPunct="1">
        <a:defRPr sz="1632" kern="1200">
          <a:solidFill>
            <a:schemeClr val="tx1"/>
          </a:solidFill>
          <a:latin typeface="+mn-lt"/>
          <a:ea typeface="+mn-ea"/>
          <a:cs typeface="+mn-cs"/>
        </a:defRPr>
      </a:lvl6pPr>
      <a:lvl7pPr marL="2485921" algn="l" defTabSz="828639" rtl="0" eaLnBrk="1" latinLnBrk="0" hangingPunct="1">
        <a:defRPr sz="1632" kern="1200">
          <a:solidFill>
            <a:schemeClr val="tx1"/>
          </a:solidFill>
          <a:latin typeface="+mn-lt"/>
          <a:ea typeface="+mn-ea"/>
          <a:cs typeface="+mn-cs"/>
        </a:defRPr>
      </a:lvl7pPr>
      <a:lvl8pPr marL="2900241" algn="l" defTabSz="828639" rtl="0" eaLnBrk="1" latinLnBrk="0" hangingPunct="1">
        <a:defRPr sz="1632" kern="1200">
          <a:solidFill>
            <a:schemeClr val="tx1"/>
          </a:solidFill>
          <a:latin typeface="+mn-lt"/>
          <a:ea typeface="+mn-ea"/>
          <a:cs typeface="+mn-cs"/>
        </a:defRPr>
      </a:lvl8pPr>
      <a:lvl9pPr marL="3314561" algn="l" defTabSz="828639" rtl="0" eaLnBrk="1" latinLnBrk="0" hangingPunct="1">
        <a:defRPr sz="163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userDrawn="1">
          <p15:clr>
            <a:srgbClr val="F26B43"/>
          </p15:clr>
        </p15:guide>
        <p15:guide id="2" pos="432" userDrawn="1">
          <p15:clr>
            <a:srgbClr val="F26B43"/>
          </p15:clr>
        </p15:guide>
        <p15:guide id="3" pos="7250">
          <p15:clr>
            <a:srgbClr val="F26B43"/>
          </p15:clr>
        </p15:guide>
        <p15:guide id="4" orient="horz" pos="3952" userDrawn="1">
          <p15:clr>
            <a:srgbClr val="F26B43"/>
          </p15:clr>
        </p15:guide>
        <p15:guide id="5" orient="horz" pos="6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88929832-4F30-66DD-635B-F3C73382FECF}"/>
              </a:ext>
            </a:extLst>
          </p:cNvPr>
          <p:cNvGraphicFramePr>
            <a:graphicFrameLocks noChangeAspect="1"/>
          </p:cNvGraphicFramePr>
          <p:nvPr userDrawn="1">
            <p:custDataLst>
              <p:tags r:id="rId9"/>
            </p:custDataLst>
            <p:extLst>
              <p:ext uri="{D42A27DB-BD31-4B8C-83A1-F6EECF244321}">
                <p14:modId xmlns:p14="http://schemas.microsoft.com/office/powerpoint/2010/main" val="27500668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95" imgH="396" progId="TCLayout.ActiveDocument.1">
                  <p:embed/>
                </p:oleObj>
              </mc:Choice>
              <mc:Fallback>
                <p:oleObj name="think-cell Slide" r:id="rId10" imgW="395" imgH="396" progId="TCLayout.ActiveDocument.1">
                  <p:embed/>
                  <p:pic>
                    <p:nvPicPr>
                      <p:cNvPr id="7" name="think-cell data - do not delete" hidden="1">
                        <a:extLst>
                          <a:ext uri="{FF2B5EF4-FFF2-40B4-BE49-F238E27FC236}">
                            <a16:creationId xmlns:a16="http://schemas.microsoft.com/office/drawing/2014/main" id="{88929832-4F30-66DD-635B-F3C73382FECF}"/>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85523" y="369888"/>
            <a:ext cx="11224347" cy="470898"/>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485523" y="1411287"/>
            <a:ext cx="11224347" cy="4638675"/>
          </a:xfrm>
          <a:prstGeom prst="rect">
            <a:avLst/>
          </a:prstGeom>
        </p:spPr>
        <p:txBody>
          <a:bodyPr vert="horz" lIns="0" tIns="0" rIns="0" bIns="0" rtlCol="0" anchor="t" anchorCtr="0">
            <a:noAutofit/>
          </a:bodyPr>
          <a:lstStyle/>
          <a:p>
            <a:r>
              <a:rPr lang="en-US"/>
              <a:t>First level text style </a:t>
            </a:r>
            <a:r>
              <a:rPr lang="en-US" err="1"/>
              <a:t>EYInterstate</a:t>
            </a:r>
            <a:r>
              <a:rPr lang="en-US"/>
              <a:t> Light </a:t>
            </a:r>
            <a:r>
              <a:rPr lang="en-US" err="1"/>
              <a:t>20pt</a:t>
            </a:r>
            <a:endParaRPr lang="en-US"/>
          </a:p>
          <a:p>
            <a:pPr lvl="1"/>
            <a:r>
              <a:rPr lang="en-US"/>
              <a:t>Second level text style </a:t>
            </a:r>
            <a:r>
              <a:rPr lang="en-US" err="1"/>
              <a:t>EYInterstate</a:t>
            </a:r>
            <a:r>
              <a:rPr lang="en-US"/>
              <a:t> Light </a:t>
            </a:r>
            <a:r>
              <a:rPr lang="en-US" err="1"/>
              <a:t>20pt</a:t>
            </a:r>
            <a:endParaRPr lang="en-US"/>
          </a:p>
          <a:p>
            <a:pPr lvl="2"/>
            <a:r>
              <a:rPr lang="en-US"/>
              <a:t>Third level text style </a:t>
            </a:r>
            <a:r>
              <a:rPr lang="en-US" err="1"/>
              <a:t>EYInterstate</a:t>
            </a:r>
            <a:r>
              <a:rPr lang="en-US"/>
              <a:t> Light </a:t>
            </a:r>
            <a:r>
              <a:rPr lang="en-US" err="1"/>
              <a:t>18pt</a:t>
            </a:r>
            <a:endParaRPr lang="en-US"/>
          </a:p>
          <a:p>
            <a:pPr lvl="3"/>
            <a:r>
              <a:rPr lang="en-US"/>
              <a:t>Fourth level text style </a:t>
            </a:r>
            <a:r>
              <a:rPr lang="en-US" err="1"/>
              <a:t>EYInterstate</a:t>
            </a:r>
            <a:r>
              <a:rPr lang="en-US"/>
              <a:t> Light </a:t>
            </a:r>
            <a:r>
              <a:rPr lang="en-US" err="1"/>
              <a:t>16pt</a:t>
            </a:r>
            <a:endParaRPr lang="en-US"/>
          </a:p>
          <a:p>
            <a:pPr lvl="4"/>
            <a:r>
              <a:rPr lang="en-US"/>
              <a:t>Fifth level text style </a:t>
            </a:r>
            <a:r>
              <a:rPr lang="en-US" err="1"/>
              <a:t>EYInterstate</a:t>
            </a:r>
            <a:r>
              <a:rPr lang="en-US"/>
              <a:t> Light </a:t>
            </a:r>
            <a:r>
              <a:rPr lang="en-US" err="1"/>
              <a:t>16pt</a:t>
            </a:r>
            <a:endParaRPr lang="en-US"/>
          </a:p>
          <a:p>
            <a:pPr lvl="5"/>
            <a:r>
              <a:rPr lang="en-US"/>
              <a:t>Sixth level text style </a:t>
            </a:r>
            <a:r>
              <a:rPr lang="en-US" err="1"/>
              <a:t>EYInterstate</a:t>
            </a:r>
            <a:r>
              <a:rPr lang="en-US"/>
              <a:t> Light </a:t>
            </a:r>
            <a:r>
              <a:rPr lang="en-US" err="1"/>
              <a:t>14pt</a:t>
            </a:r>
            <a:endParaRPr lang="en-US"/>
          </a:p>
          <a:p>
            <a:pPr lvl="6"/>
            <a:r>
              <a:rPr lang="en-US"/>
              <a:t>Seventh level text style </a:t>
            </a:r>
            <a:r>
              <a:rPr lang="en-US" err="1"/>
              <a:t>EYInterstate</a:t>
            </a:r>
            <a:r>
              <a:rPr lang="en-US"/>
              <a:t> Light </a:t>
            </a:r>
            <a:r>
              <a:rPr lang="en-US" err="1"/>
              <a:t>14pt</a:t>
            </a:r>
            <a:endParaRPr lang="en-US"/>
          </a:p>
          <a:p>
            <a:pPr lvl="7"/>
            <a:r>
              <a:rPr lang="en-US"/>
              <a:t>Eighth level text style </a:t>
            </a:r>
            <a:r>
              <a:rPr lang="en-US" err="1"/>
              <a:t>EYInterstate</a:t>
            </a:r>
            <a:r>
              <a:rPr lang="en-US"/>
              <a:t> Light </a:t>
            </a:r>
            <a:r>
              <a:rPr lang="en-US" err="1"/>
              <a:t>12pt</a:t>
            </a:r>
            <a:endParaRPr lang="en-US"/>
          </a:p>
          <a:p>
            <a:pPr lvl="8"/>
            <a:r>
              <a:rPr lang="en-US"/>
              <a:t>Nineth level text style </a:t>
            </a:r>
            <a:r>
              <a:rPr lang="en-US" err="1"/>
              <a:t>EYInterstate</a:t>
            </a:r>
            <a:r>
              <a:rPr lang="en-US"/>
              <a:t> Light </a:t>
            </a:r>
            <a:r>
              <a:rPr lang="en-US" err="1"/>
              <a:t>12pt</a:t>
            </a:r>
            <a:endParaRPr lang="en-US"/>
          </a:p>
        </p:txBody>
      </p:sp>
      <p:sp>
        <p:nvSpPr>
          <p:cNvPr id="12" name="Slide Number Placeholder">
            <a:extLst>
              <a:ext uri="{FF2B5EF4-FFF2-40B4-BE49-F238E27FC236}">
                <a16:creationId xmlns:a16="http://schemas.microsoft.com/office/drawing/2014/main" id="{ED74E7B3-73BA-6CBF-F361-5C4836CC1A2A}"/>
              </a:ext>
            </a:extLst>
          </p:cNvPr>
          <p:cNvSpPr>
            <a:spLocks noGrp="1"/>
          </p:cNvSpPr>
          <p:nvPr>
            <p:ph type="sldNum" sz="quarter" idx="4"/>
          </p:nvPr>
        </p:nvSpPr>
        <p:spPr>
          <a:xfrm>
            <a:off x="485747" y="6437115"/>
            <a:ext cx="509098"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a:p>
        </p:txBody>
      </p:sp>
      <p:sp>
        <p:nvSpPr>
          <p:cNvPr id="14" name="Date Placeholder">
            <a:extLst>
              <a:ext uri="{FF2B5EF4-FFF2-40B4-BE49-F238E27FC236}">
                <a16:creationId xmlns:a16="http://schemas.microsoft.com/office/drawing/2014/main" id="{F72B6F9D-B29D-E927-36D7-47D672109207}"/>
              </a:ext>
            </a:extLst>
          </p:cNvPr>
          <p:cNvSpPr>
            <a:spLocks noGrp="1"/>
          </p:cNvSpPr>
          <p:nvPr>
            <p:ph type="dt" sz="half" idx="2"/>
          </p:nvPr>
        </p:nvSpPr>
        <p:spPr>
          <a:xfrm>
            <a:off x="994845" y="6437115"/>
            <a:ext cx="1275686"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endParaRPr lang="en-US"/>
          </a:p>
        </p:txBody>
      </p:sp>
      <p:sp>
        <p:nvSpPr>
          <p:cNvPr id="15" name="Footer Placeholder">
            <a:extLst>
              <a:ext uri="{FF2B5EF4-FFF2-40B4-BE49-F238E27FC236}">
                <a16:creationId xmlns:a16="http://schemas.microsoft.com/office/drawing/2014/main" id="{F3C10C79-9BC5-0699-5C8C-F8347F46437D}"/>
              </a:ext>
            </a:extLst>
          </p:cNvPr>
          <p:cNvSpPr>
            <a:spLocks noGrp="1"/>
          </p:cNvSpPr>
          <p:nvPr>
            <p:ph type="ftr" sz="quarter" idx="3"/>
          </p:nvPr>
        </p:nvSpPr>
        <p:spPr>
          <a:xfrm>
            <a:off x="2270531" y="6437115"/>
            <a:ext cx="3825470" cy="123111"/>
          </a:xfrm>
          <a:prstGeom prst="rect">
            <a:avLst/>
          </a:prstGeom>
        </p:spPr>
        <p:txBody>
          <a:bodyPr vert="horz" lIns="0" tIns="0" rIns="0" bIns="0" rtlCol="0" anchor="t">
            <a:sp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a</a:t>
            </a:r>
          </a:p>
        </p:txBody>
      </p:sp>
      <p:grpSp>
        <p:nvGrpSpPr>
          <p:cNvPr id="4" name="Graphic 4">
            <a:extLst>
              <a:ext uri="{FF2B5EF4-FFF2-40B4-BE49-F238E27FC236}">
                <a16:creationId xmlns:a16="http://schemas.microsoft.com/office/drawing/2014/main" id="{6716E57F-31FE-1E75-C073-C82A54C79552}"/>
              </a:ext>
            </a:extLst>
          </p:cNvPr>
          <p:cNvGrpSpPr>
            <a:grpSpLocks noChangeAspect="1"/>
          </p:cNvGrpSpPr>
          <p:nvPr userDrawn="1"/>
        </p:nvGrpSpPr>
        <p:grpSpPr bwMode="invGray">
          <a:xfrm>
            <a:off x="10864485" y="6275796"/>
            <a:ext cx="1105573" cy="356400"/>
            <a:chOff x="9673094" y="5359719"/>
            <a:chExt cx="4313872" cy="1390649"/>
          </a:xfrm>
        </p:grpSpPr>
        <p:grpSp>
          <p:nvGrpSpPr>
            <p:cNvPr id="5" name="Graphic 4">
              <a:extLst>
                <a:ext uri="{FF2B5EF4-FFF2-40B4-BE49-F238E27FC236}">
                  <a16:creationId xmlns:a16="http://schemas.microsoft.com/office/drawing/2014/main" id="{91C9F0CF-C790-0C00-A253-B9F93D4EE0D5}"/>
                </a:ext>
              </a:extLst>
            </p:cNvPr>
            <p:cNvGrpSpPr/>
            <p:nvPr/>
          </p:nvGrpSpPr>
          <p:grpSpPr bwMode="invGray">
            <a:xfrm>
              <a:off x="11025644" y="6244592"/>
              <a:ext cx="2961322" cy="505777"/>
              <a:chOff x="11025644" y="6244592"/>
              <a:chExt cx="2961322" cy="505777"/>
            </a:xfrm>
            <a:solidFill>
              <a:srgbClr val="1A9AFA"/>
            </a:solidFill>
          </p:grpSpPr>
          <p:sp>
            <p:nvSpPr>
              <p:cNvPr id="16" name="Freeform 15">
                <a:extLst>
                  <a:ext uri="{FF2B5EF4-FFF2-40B4-BE49-F238E27FC236}">
                    <a16:creationId xmlns:a16="http://schemas.microsoft.com/office/drawing/2014/main" id="{BDAEF2F6-2199-8B7C-514D-2E1EC340B3A1}"/>
                  </a:ext>
                </a:extLst>
              </p:cNvPr>
              <p:cNvSpPr/>
              <p:nvPr/>
            </p:nvSpPr>
            <p:spPr bwMode="invGray">
              <a:xfrm>
                <a:off x="11025644" y="6264594"/>
                <a:ext cx="352425" cy="477202"/>
              </a:xfrm>
              <a:custGeom>
                <a:avLst/>
                <a:gdLst>
                  <a:gd name="connsiteX0" fmla="*/ 280035 w 352425"/>
                  <a:gd name="connsiteY0" fmla="*/ 149542 h 477202"/>
                  <a:gd name="connsiteX1" fmla="*/ 274320 w 352425"/>
                  <a:gd name="connsiteY1" fmla="*/ 114300 h 477202"/>
                  <a:gd name="connsiteX2" fmla="*/ 258128 w 352425"/>
                  <a:gd name="connsiteY2" fmla="*/ 88583 h 477202"/>
                  <a:gd name="connsiteX3" fmla="*/ 232410 w 352425"/>
                  <a:gd name="connsiteY3" fmla="*/ 72390 h 477202"/>
                  <a:gd name="connsiteX4" fmla="*/ 199072 w 352425"/>
                  <a:gd name="connsiteY4" fmla="*/ 66675 h 477202"/>
                  <a:gd name="connsiteX5" fmla="*/ 70485 w 352425"/>
                  <a:gd name="connsiteY5" fmla="*/ 66675 h 477202"/>
                  <a:gd name="connsiteX6" fmla="*/ 70485 w 352425"/>
                  <a:gd name="connsiteY6" fmla="*/ 231458 h 477202"/>
                  <a:gd name="connsiteX7" fmla="*/ 199072 w 352425"/>
                  <a:gd name="connsiteY7" fmla="*/ 231458 h 477202"/>
                  <a:gd name="connsiteX8" fmla="*/ 260985 w 352425"/>
                  <a:gd name="connsiteY8" fmla="*/ 209550 h 477202"/>
                  <a:gd name="connsiteX9" fmla="*/ 280035 w 352425"/>
                  <a:gd name="connsiteY9" fmla="*/ 149542 h 477202"/>
                  <a:gd name="connsiteX10" fmla="*/ 352425 w 352425"/>
                  <a:gd name="connsiteY10" fmla="*/ 149542 h 477202"/>
                  <a:gd name="connsiteX11" fmla="*/ 340995 w 352425"/>
                  <a:gd name="connsiteY11" fmla="*/ 214313 h 477202"/>
                  <a:gd name="connsiteX12" fmla="*/ 308610 w 352425"/>
                  <a:gd name="connsiteY12" fmla="*/ 260985 h 477202"/>
                  <a:gd name="connsiteX13" fmla="*/ 259080 w 352425"/>
                  <a:gd name="connsiteY13" fmla="*/ 289560 h 477202"/>
                  <a:gd name="connsiteX14" fmla="*/ 195263 w 352425"/>
                  <a:gd name="connsiteY14" fmla="*/ 299085 h 477202"/>
                  <a:gd name="connsiteX15" fmla="*/ 70485 w 352425"/>
                  <a:gd name="connsiteY15" fmla="*/ 299085 h 477202"/>
                  <a:gd name="connsiteX16" fmla="*/ 70485 w 352425"/>
                  <a:gd name="connsiteY16" fmla="*/ 477203 h 477202"/>
                  <a:gd name="connsiteX17" fmla="*/ 0 w 352425"/>
                  <a:gd name="connsiteY17" fmla="*/ 477203 h 477202"/>
                  <a:gd name="connsiteX18" fmla="*/ 0 w 352425"/>
                  <a:gd name="connsiteY18" fmla="*/ 0 h 477202"/>
                  <a:gd name="connsiteX19" fmla="*/ 200025 w 352425"/>
                  <a:gd name="connsiteY19" fmla="*/ 0 h 477202"/>
                  <a:gd name="connsiteX20" fmla="*/ 260985 w 352425"/>
                  <a:gd name="connsiteY20" fmla="*/ 9525 h 477202"/>
                  <a:gd name="connsiteX21" fmla="*/ 309563 w 352425"/>
                  <a:gd name="connsiteY21" fmla="*/ 38100 h 477202"/>
                  <a:gd name="connsiteX22" fmla="*/ 341947 w 352425"/>
                  <a:gd name="connsiteY22" fmla="*/ 84773 h 477202"/>
                  <a:gd name="connsiteX23" fmla="*/ 352425 w 352425"/>
                  <a:gd name="connsiteY23" fmla="*/ 149542 h 47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2425" h="477202">
                    <a:moveTo>
                      <a:pt x="280035" y="149542"/>
                    </a:moveTo>
                    <a:cubicBezTo>
                      <a:pt x="280035" y="136208"/>
                      <a:pt x="278130" y="124778"/>
                      <a:pt x="274320" y="114300"/>
                    </a:cubicBezTo>
                    <a:cubicBezTo>
                      <a:pt x="270510" y="103823"/>
                      <a:pt x="264795" y="95250"/>
                      <a:pt x="258128" y="88583"/>
                    </a:cubicBezTo>
                    <a:cubicBezTo>
                      <a:pt x="251460" y="81915"/>
                      <a:pt x="242888" y="76200"/>
                      <a:pt x="232410" y="72390"/>
                    </a:cubicBezTo>
                    <a:cubicBezTo>
                      <a:pt x="221932" y="68580"/>
                      <a:pt x="211455" y="66675"/>
                      <a:pt x="199072" y="66675"/>
                    </a:cubicBezTo>
                    <a:lnTo>
                      <a:pt x="70485" y="66675"/>
                    </a:lnTo>
                    <a:lnTo>
                      <a:pt x="70485" y="231458"/>
                    </a:lnTo>
                    <a:lnTo>
                      <a:pt x="199072" y="231458"/>
                    </a:lnTo>
                    <a:cubicBezTo>
                      <a:pt x="226695" y="231458"/>
                      <a:pt x="246697" y="223838"/>
                      <a:pt x="260985" y="209550"/>
                    </a:cubicBezTo>
                    <a:cubicBezTo>
                      <a:pt x="272415" y="196215"/>
                      <a:pt x="280035" y="175260"/>
                      <a:pt x="280035" y="149542"/>
                    </a:cubicBezTo>
                    <a:moveTo>
                      <a:pt x="352425" y="149542"/>
                    </a:moveTo>
                    <a:cubicBezTo>
                      <a:pt x="352425" y="174308"/>
                      <a:pt x="348615" y="196215"/>
                      <a:pt x="340995" y="214313"/>
                    </a:cubicBezTo>
                    <a:cubicBezTo>
                      <a:pt x="333375" y="233363"/>
                      <a:pt x="321945" y="248603"/>
                      <a:pt x="308610" y="260985"/>
                    </a:cubicBezTo>
                    <a:cubicBezTo>
                      <a:pt x="294322" y="273367"/>
                      <a:pt x="278130" y="282892"/>
                      <a:pt x="259080" y="289560"/>
                    </a:cubicBezTo>
                    <a:cubicBezTo>
                      <a:pt x="240030" y="296228"/>
                      <a:pt x="218122" y="299085"/>
                      <a:pt x="195263" y="299085"/>
                    </a:cubicBezTo>
                    <a:lnTo>
                      <a:pt x="70485" y="299085"/>
                    </a:lnTo>
                    <a:lnTo>
                      <a:pt x="70485" y="477203"/>
                    </a:lnTo>
                    <a:lnTo>
                      <a:pt x="0" y="477203"/>
                    </a:lnTo>
                    <a:lnTo>
                      <a:pt x="0" y="0"/>
                    </a:lnTo>
                    <a:lnTo>
                      <a:pt x="200025" y="0"/>
                    </a:lnTo>
                    <a:cubicBezTo>
                      <a:pt x="221932" y="0"/>
                      <a:pt x="241935" y="2858"/>
                      <a:pt x="260985" y="9525"/>
                    </a:cubicBezTo>
                    <a:cubicBezTo>
                      <a:pt x="280035" y="16192"/>
                      <a:pt x="296228" y="24765"/>
                      <a:pt x="309563" y="38100"/>
                    </a:cubicBezTo>
                    <a:cubicBezTo>
                      <a:pt x="322897" y="50483"/>
                      <a:pt x="334328" y="65723"/>
                      <a:pt x="341947" y="84773"/>
                    </a:cubicBezTo>
                    <a:cubicBezTo>
                      <a:pt x="348615" y="103823"/>
                      <a:pt x="352425" y="125730"/>
                      <a:pt x="352425" y="149542"/>
                    </a:cubicBezTo>
                  </a:path>
                </a:pathLst>
              </a:custGeom>
              <a:solidFill>
                <a:srgbClr val="1A9AFA"/>
              </a:solidFill>
              <a:ln w="952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A935B3D6-1A6F-5DB1-368A-8BC08340CC77}"/>
                  </a:ext>
                </a:extLst>
              </p:cNvPr>
              <p:cNvSpPr/>
              <p:nvPr/>
            </p:nvSpPr>
            <p:spPr bwMode="invGray">
              <a:xfrm>
                <a:off x="11399976" y="6377942"/>
                <a:ext cx="292417" cy="372427"/>
              </a:xfrm>
              <a:custGeom>
                <a:avLst/>
                <a:gdLst>
                  <a:gd name="connsiteX0" fmla="*/ 223838 w 292417"/>
                  <a:gd name="connsiteY0" fmla="*/ 211455 h 372427"/>
                  <a:gd name="connsiteX1" fmla="*/ 205740 w 292417"/>
                  <a:gd name="connsiteY1" fmla="*/ 203835 h 372427"/>
                  <a:gd name="connsiteX2" fmla="*/ 189548 w 292417"/>
                  <a:gd name="connsiteY2" fmla="*/ 199072 h 372427"/>
                  <a:gd name="connsiteX3" fmla="*/ 168593 w 292417"/>
                  <a:gd name="connsiteY3" fmla="*/ 196215 h 372427"/>
                  <a:gd name="connsiteX4" fmla="*/ 141923 w 292417"/>
                  <a:gd name="connsiteY4" fmla="*/ 195263 h 372427"/>
                  <a:gd name="connsiteX5" fmla="*/ 88583 w 292417"/>
                  <a:gd name="connsiteY5" fmla="*/ 209550 h 372427"/>
                  <a:gd name="connsiteX6" fmla="*/ 68580 w 292417"/>
                  <a:gd name="connsiteY6" fmla="*/ 248602 h 372427"/>
                  <a:gd name="connsiteX7" fmla="*/ 74295 w 292417"/>
                  <a:gd name="connsiteY7" fmla="*/ 275272 h 372427"/>
                  <a:gd name="connsiteX8" fmla="*/ 88583 w 292417"/>
                  <a:gd name="connsiteY8" fmla="*/ 293370 h 372427"/>
                  <a:gd name="connsiteX9" fmla="*/ 108585 w 292417"/>
                  <a:gd name="connsiteY9" fmla="*/ 303847 h 372427"/>
                  <a:gd name="connsiteX10" fmla="*/ 137160 w 292417"/>
                  <a:gd name="connsiteY10" fmla="*/ 307657 h 372427"/>
                  <a:gd name="connsiteX11" fmla="*/ 163830 w 292417"/>
                  <a:gd name="connsiteY11" fmla="*/ 303847 h 372427"/>
                  <a:gd name="connsiteX12" fmla="*/ 188595 w 292417"/>
                  <a:gd name="connsiteY12" fmla="*/ 293370 h 372427"/>
                  <a:gd name="connsiteX13" fmla="*/ 208598 w 292417"/>
                  <a:gd name="connsiteY13" fmla="*/ 279082 h 372427"/>
                  <a:gd name="connsiteX14" fmla="*/ 223838 w 292417"/>
                  <a:gd name="connsiteY14" fmla="*/ 262890 h 372427"/>
                  <a:gd name="connsiteX15" fmla="*/ 223838 w 292417"/>
                  <a:gd name="connsiteY15" fmla="*/ 211455 h 372427"/>
                  <a:gd name="connsiteX16" fmla="*/ 223838 w 292417"/>
                  <a:gd name="connsiteY16" fmla="*/ 364807 h 372427"/>
                  <a:gd name="connsiteX17" fmla="*/ 223838 w 292417"/>
                  <a:gd name="connsiteY17" fmla="*/ 329565 h 372427"/>
                  <a:gd name="connsiteX18" fmla="*/ 200978 w 292417"/>
                  <a:gd name="connsiteY18" fmla="*/ 347663 h 372427"/>
                  <a:gd name="connsiteX19" fmla="*/ 181928 w 292417"/>
                  <a:gd name="connsiteY19" fmla="*/ 359092 h 372427"/>
                  <a:gd name="connsiteX20" fmla="*/ 157163 w 292417"/>
                  <a:gd name="connsiteY20" fmla="*/ 368617 h 372427"/>
                  <a:gd name="connsiteX21" fmla="*/ 124778 w 292417"/>
                  <a:gd name="connsiteY21" fmla="*/ 372427 h 372427"/>
                  <a:gd name="connsiteX22" fmla="*/ 80963 w 292417"/>
                  <a:gd name="connsiteY22" fmla="*/ 365760 h 372427"/>
                  <a:gd name="connsiteX23" fmla="*/ 40958 w 292417"/>
                  <a:gd name="connsiteY23" fmla="*/ 344805 h 372427"/>
                  <a:gd name="connsiteX24" fmla="*/ 11430 w 292417"/>
                  <a:gd name="connsiteY24" fmla="*/ 307657 h 372427"/>
                  <a:gd name="connsiteX25" fmla="*/ 0 w 292417"/>
                  <a:gd name="connsiteY25" fmla="*/ 251460 h 372427"/>
                  <a:gd name="connsiteX26" fmla="*/ 10478 w 292417"/>
                  <a:gd name="connsiteY26" fmla="*/ 200025 h 372427"/>
                  <a:gd name="connsiteX27" fmla="*/ 40005 w 292417"/>
                  <a:gd name="connsiteY27" fmla="*/ 163830 h 372427"/>
                  <a:gd name="connsiteX28" fmla="*/ 85725 w 292417"/>
                  <a:gd name="connsiteY28" fmla="*/ 142875 h 372427"/>
                  <a:gd name="connsiteX29" fmla="*/ 141923 w 292417"/>
                  <a:gd name="connsiteY29" fmla="*/ 136207 h 372427"/>
                  <a:gd name="connsiteX30" fmla="*/ 189548 w 292417"/>
                  <a:gd name="connsiteY30" fmla="*/ 140017 h 372427"/>
                  <a:gd name="connsiteX31" fmla="*/ 221933 w 292417"/>
                  <a:gd name="connsiteY31" fmla="*/ 149542 h 372427"/>
                  <a:gd name="connsiteX32" fmla="*/ 221933 w 292417"/>
                  <a:gd name="connsiteY32" fmla="*/ 122872 h 372427"/>
                  <a:gd name="connsiteX33" fmla="*/ 204788 w 292417"/>
                  <a:gd name="connsiteY33" fmla="*/ 78105 h 372427"/>
                  <a:gd name="connsiteX34" fmla="*/ 154305 w 292417"/>
                  <a:gd name="connsiteY34" fmla="*/ 62865 h 372427"/>
                  <a:gd name="connsiteX35" fmla="*/ 104775 w 292417"/>
                  <a:gd name="connsiteY35" fmla="*/ 68580 h 372427"/>
                  <a:gd name="connsiteX36" fmla="*/ 61913 w 292417"/>
                  <a:gd name="connsiteY36" fmla="*/ 85725 h 372427"/>
                  <a:gd name="connsiteX37" fmla="*/ 34290 w 292417"/>
                  <a:gd name="connsiteY37" fmla="*/ 32385 h 372427"/>
                  <a:gd name="connsiteX38" fmla="*/ 89535 w 292417"/>
                  <a:gd name="connsiteY38" fmla="*/ 8572 h 372427"/>
                  <a:gd name="connsiteX39" fmla="*/ 157163 w 292417"/>
                  <a:gd name="connsiteY39" fmla="*/ 0 h 372427"/>
                  <a:gd name="connsiteX40" fmla="*/ 212408 w 292417"/>
                  <a:gd name="connsiteY40" fmla="*/ 7620 h 372427"/>
                  <a:gd name="connsiteX41" fmla="*/ 255270 w 292417"/>
                  <a:gd name="connsiteY41" fmla="*/ 29527 h 372427"/>
                  <a:gd name="connsiteX42" fmla="*/ 282893 w 292417"/>
                  <a:gd name="connsiteY42" fmla="*/ 67627 h 372427"/>
                  <a:gd name="connsiteX43" fmla="*/ 292418 w 292417"/>
                  <a:gd name="connsiteY43" fmla="*/ 120967 h 372427"/>
                  <a:gd name="connsiteX44" fmla="*/ 292418 w 292417"/>
                  <a:gd name="connsiteY44" fmla="*/ 366713 h 372427"/>
                  <a:gd name="connsiteX45" fmla="*/ 223838 w 292417"/>
                  <a:gd name="connsiteY45" fmla="*/ 366713 h 372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92417" h="372427">
                    <a:moveTo>
                      <a:pt x="223838" y="211455"/>
                    </a:moveTo>
                    <a:cubicBezTo>
                      <a:pt x="217170" y="208597"/>
                      <a:pt x="211455" y="205740"/>
                      <a:pt x="205740" y="203835"/>
                    </a:cubicBezTo>
                    <a:cubicBezTo>
                      <a:pt x="200025" y="201930"/>
                      <a:pt x="195263" y="200977"/>
                      <a:pt x="189548" y="199072"/>
                    </a:cubicBezTo>
                    <a:cubicBezTo>
                      <a:pt x="183833" y="198120"/>
                      <a:pt x="177165" y="197167"/>
                      <a:pt x="168593" y="196215"/>
                    </a:cubicBezTo>
                    <a:cubicBezTo>
                      <a:pt x="160020" y="195263"/>
                      <a:pt x="151448" y="195263"/>
                      <a:pt x="141923" y="195263"/>
                    </a:cubicBezTo>
                    <a:cubicBezTo>
                      <a:pt x="119063" y="195263"/>
                      <a:pt x="100965" y="200025"/>
                      <a:pt x="88583" y="209550"/>
                    </a:cubicBezTo>
                    <a:cubicBezTo>
                      <a:pt x="75248" y="219075"/>
                      <a:pt x="68580" y="232410"/>
                      <a:pt x="68580" y="248602"/>
                    </a:cubicBezTo>
                    <a:cubicBezTo>
                      <a:pt x="68580" y="259080"/>
                      <a:pt x="70485" y="268605"/>
                      <a:pt x="74295" y="275272"/>
                    </a:cubicBezTo>
                    <a:cubicBezTo>
                      <a:pt x="78105" y="282892"/>
                      <a:pt x="82868" y="288607"/>
                      <a:pt x="88583" y="293370"/>
                    </a:cubicBezTo>
                    <a:cubicBezTo>
                      <a:pt x="94298" y="298132"/>
                      <a:pt x="100965" y="301942"/>
                      <a:pt x="108585" y="303847"/>
                    </a:cubicBezTo>
                    <a:cubicBezTo>
                      <a:pt x="116205" y="305752"/>
                      <a:pt x="125730" y="307657"/>
                      <a:pt x="137160" y="307657"/>
                    </a:cubicBezTo>
                    <a:cubicBezTo>
                      <a:pt x="146685" y="307657"/>
                      <a:pt x="155258" y="306705"/>
                      <a:pt x="163830" y="303847"/>
                    </a:cubicBezTo>
                    <a:cubicBezTo>
                      <a:pt x="172403" y="300990"/>
                      <a:pt x="180975" y="298132"/>
                      <a:pt x="188595" y="293370"/>
                    </a:cubicBezTo>
                    <a:cubicBezTo>
                      <a:pt x="196215" y="288607"/>
                      <a:pt x="202883" y="283845"/>
                      <a:pt x="208598" y="279082"/>
                    </a:cubicBezTo>
                    <a:cubicBezTo>
                      <a:pt x="214313" y="273367"/>
                      <a:pt x="220028" y="268605"/>
                      <a:pt x="223838" y="262890"/>
                    </a:cubicBezTo>
                    <a:lnTo>
                      <a:pt x="223838" y="211455"/>
                    </a:lnTo>
                    <a:close/>
                    <a:moveTo>
                      <a:pt x="223838" y="364807"/>
                    </a:moveTo>
                    <a:lnTo>
                      <a:pt x="223838" y="329565"/>
                    </a:lnTo>
                    <a:cubicBezTo>
                      <a:pt x="214313" y="338138"/>
                      <a:pt x="207645" y="343852"/>
                      <a:pt x="200978" y="347663"/>
                    </a:cubicBezTo>
                    <a:cubicBezTo>
                      <a:pt x="195263" y="351472"/>
                      <a:pt x="188595" y="355282"/>
                      <a:pt x="181928" y="359092"/>
                    </a:cubicBezTo>
                    <a:cubicBezTo>
                      <a:pt x="175260" y="362902"/>
                      <a:pt x="167640" y="365760"/>
                      <a:pt x="157163" y="368617"/>
                    </a:cubicBezTo>
                    <a:cubicBezTo>
                      <a:pt x="147638" y="371475"/>
                      <a:pt x="136208" y="372427"/>
                      <a:pt x="124778" y="372427"/>
                    </a:cubicBezTo>
                    <a:cubicBezTo>
                      <a:pt x="110490" y="372427"/>
                      <a:pt x="96203" y="370522"/>
                      <a:pt x="80963" y="365760"/>
                    </a:cubicBezTo>
                    <a:cubicBezTo>
                      <a:pt x="65723" y="360997"/>
                      <a:pt x="53340" y="354330"/>
                      <a:pt x="40958" y="344805"/>
                    </a:cubicBezTo>
                    <a:cubicBezTo>
                      <a:pt x="29528" y="335280"/>
                      <a:pt x="19050" y="322897"/>
                      <a:pt x="11430" y="307657"/>
                    </a:cubicBezTo>
                    <a:cubicBezTo>
                      <a:pt x="3810" y="292417"/>
                      <a:pt x="0" y="273367"/>
                      <a:pt x="0" y="251460"/>
                    </a:cubicBezTo>
                    <a:cubicBezTo>
                      <a:pt x="0" y="231457"/>
                      <a:pt x="3810" y="214313"/>
                      <a:pt x="10478" y="200025"/>
                    </a:cubicBezTo>
                    <a:cubicBezTo>
                      <a:pt x="18098" y="185738"/>
                      <a:pt x="27623" y="173355"/>
                      <a:pt x="40005" y="163830"/>
                    </a:cubicBezTo>
                    <a:cubicBezTo>
                      <a:pt x="52388" y="154305"/>
                      <a:pt x="67628" y="147638"/>
                      <a:pt x="85725" y="142875"/>
                    </a:cubicBezTo>
                    <a:cubicBezTo>
                      <a:pt x="102870" y="138113"/>
                      <a:pt x="121920" y="136207"/>
                      <a:pt x="141923" y="136207"/>
                    </a:cubicBezTo>
                    <a:cubicBezTo>
                      <a:pt x="160973" y="136207"/>
                      <a:pt x="176213" y="137160"/>
                      <a:pt x="189548" y="140017"/>
                    </a:cubicBezTo>
                    <a:cubicBezTo>
                      <a:pt x="202883" y="142875"/>
                      <a:pt x="213360" y="145732"/>
                      <a:pt x="221933" y="149542"/>
                    </a:cubicBezTo>
                    <a:lnTo>
                      <a:pt x="221933" y="122872"/>
                    </a:lnTo>
                    <a:cubicBezTo>
                      <a:pt x="221933" y="102870"/>
                      <a:pt x="216218" y="88582"/>
                      <a:pt x="204788" y="78105"/>
                    </a:cubicBezTo>
                    <a:cubicBezTo>
                      <a:pt x="193358" y="67627"/>
                      <a:pt x="176213" y="62865"/>
                      <a:pt x="154305" y="62865"/>
                    </a:cubicBezTo>
                    <a:cubicBezTo>
                      <a:pt x="136208" y="62865"/>
                      <a:pt x="119063" y="64770"/>
                      <a:pt x="104775" y="68580"/>
                    </a:cubicBezTo>
                    <a:cubicBezTo>
                      <a:pt x="89535" y="72390"/>
                      <a:pt x="75248" y="78105"/>
                      <a:pt x="61913" y="85725"/>
                    </a:cubicBezTo>
                    <a:lnTo>
                      <a:pt x="34290" y="32385"/>
                    </a:lnTo>
                    <a:cubicBezTo>
                      <a:pt x="51435" y="21907"/>
                      <a:pt x="69533" y="13335"/>
                      <a:pt x="89535" y="8572"/>
                    </a:cubicBezTo>
                    <a:cubicBezTo>
                      <a:pt x="109538" y="2857"/>
                      <a:pt x="131445" y="0"/>
                      <a:pt x="157163" y="0"/>
                    </a:cubicBezTo>
                    <a:cubicBezTo>
                      <a:pt x="177165" y="0"/>
                      <a:pt x="195263" y="2857"/>
                      <a:pt x="212408" y="7620"/>
                    </a:cubicBezTo>
                    <a:cubicBezTo>
                      <a:pt x="228600" y="12382"/>
                      <a:pt x="242888" y="20002"/>
                      <a:pt x="255270" y="29527"/>
                    </a:cubicBezTo>
                    <a:cubicBezTo>
                      <a:pt x="266700" y="39052"/>
                      <a:pt x="276225" y="52388"/>
                      <a:pt x="282893" y="67627"/>
                    </a:cubicBezTo>
                    <a:cubicBezTo>
                      <a:pt x="289560" y="82867"/>
                      <a:pt x="292418" y="100013"/>
                      <a:pt x="292418" y="120967"/>
                    </a:cubicBezTo>
                    <a:lnTo>
                      <a:pt x="292418" y="366713"/>
                    </a:lnTo>
                    <a:lnTo>
                      <a:pt x="223838" y="366713"/>
                    </a:lnTo>
                    <a:close/>
                  </a:path>
                </a:pathLst>
              </a:custGeom>
              <a:solidFill>
                <a:srgbClr val="1A9AFA"/>
              </a:solidFill>
              <a:ln w="952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C03FEEE2-1C92-6549-AAEB-C4D5C0122371}"/>
                  </a:ext>
                </a:extLst>
              </p:cNvPr>
              <p:cNvSpPr/>
              <p:nvPr/>
            </p:nvSpPr>
            <p:spPr bwMode="invGray">
              <a:xfrm>
                <a:off x="11760974" y="6378894"/>
                <a:ext cx="213359" cy="364807"/>
              </a:xfrm>
              <a:custGeom>
                <a:avLst/>
                <a:gdLst>
                  <a:gd name="connsiteX0" fmla="*/ 194310 w 213359"/>
                  <a:gd name="connsiteY0" fmla="*/ 80010 h 364807"/>
                  <a:gd name="connsiteX1" fmla="*/ 170497 w 213359"/>
                  <a:gd name="connsiteY1" fmla="*/ 70485 h 364807"/>
                  <a:gd name="connsiteX2" fmla="*/ 140970 w 213359"/>
                  <a:gd name="connsiteY2" fmla="*/ 67628 h 364807"/>
                  <a:gd name="connsiteX3" fmla="*/ 88582 w 213359"/>
                  <a:gd name="connsiteY3" fmla="*/ 90488 h 364807"/>
                  <a:gd name="connsiteX4" fmla="*/ 70485 w 213359"/>
                  <a:gd name="connsiteY4" fmla="*/ 160020 h 364807"/>
                  <a:gd name="connsiteX5" fmla="*/ 70485 w 213359"/>
                  <a:gd name="connsiteY5" fmla="*/ 364808 h 364807"/>
                  <a:gd name="connsiteX6" fmla="*/ 0 w 213359"/>
                  <a:gd name="connsiteY6" fmla="*/ 364808 h 364807"/>
                  <a:gd name="connsiteX7" fmla="*/ 0 w 213359"/>
                  <a:gd name="connsiteY7" fmla="*/ 6667 h 364807"/>
                  <a:gd name="connsiteX8" fmla="*/ 70485 w 213359"/>
                  <a:gd name="connsiteY8" fmla="*/ 6667 h 364807"/>
                  <a:gd name="connsiteX9" fmla="*/ 70485 w 213359"/>
                  <a:gd name="connsiteY9" fmla="*/ 40958 h 364807"/>
                  <a:gd name="connsiteX10" fmla="*/ 84772 w 213359"/>
                  <a:gd name="connsiteY10" fmla="*/ 24765 h 364807"/>
                  <a:gd name="connsiteX11" fmla="*/ 103822 w 213359"/>
                  <a:gd name="connsiteY11" fmla="*/ 11430 h 364807"/>
                  <a:gd name="connsiteX12" fmla="*/ 126682 w 213359"/>
                  <a:gd name="connsiteY12" fmla="*/ 2858 h 364807"/>
                  <a:gd name="connsiteX13" fmla="*/ 152400 w 213359"/>
                  <a:gd name="connsiteY13" fmla="*/ 0 h 364807"/>
                  <a:gd name="connsiteX14" fmla="*/ 188595 w 213359"/>
                  <a:gd name="connsiteY14" fmla="*/ 3810 h 364807"/>
                  <a:gd name="connsiteX15" fmla="*/ 213360 w 213359"/>
                  <a:gd name="connsiteY15" fmla="*/ 15240 h 364807"/>
                  <a:gd name="connsiteX16" fmla="*/ 194310 w 213359"/>
                  <a:gd name="connsiteY16" fmla="*/ 80010 h 364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3359" h="364807">
                    <a:moveTo>
                      <a:pt x="194310" y="80010"/>
                    </a:moveTo>
                    <a:cubicBezTo>
                      <a:pt x="186690" y="76200"/>
                      <a:pt x="179070" y="72390"/>
                      <a:pt x="170497" y="70485"/>
                    </a:cubicBezTo>
                    <a:cubicBezTo>
                      <a:pt x="161925" y="68580"/>
                      <a:pt x="152400" y="67628"/>
                      <a:pt x="140970" y="67628"/>
                    </a:cubicBezTo>
                    <a:cubicBezTo>
                      <a:pt x="118110" y="67628"/>
                      <a:pt x="100965" y="75248"/>
                      <a:pt x="88582" y="90488"/>
                    </a:cubicBezTo>
                    <a:cubicBezTo>
                      <a:pt x="76200" y="105728"/>
                      <a:pt x="70485" y="128588"/>
                      <a:pt x="70485" y="160020"/>
                    </a:cubicBezTo>
                    <a:lnTo>
                      <a:pt x="70485" y="364808"/>
                    </a:lnTo>
                    <a:lnTo>
                      <a:pt x="0" y="364808"/>
                    </a:lnTo>
                    <a:lnTo>
                      <a:pt x="0" y="6667"/>
                    </a:lnTo>
                    <a:lnTo>
                      <a:pt x="70485" y="6667"/>
                    </a:lnTo>
                    <a:lnTo>
                      <a:pt x="70485" y="40958"/>
                    </a:lnTo>
                    <a:cubicBezTo>
                      <a:pt x="74295" y="35242"/>
                      <a:pt x="79057" y="29528"/>
                      <a:pt x="84772" y="24765"/>
                    </a:cubicBezTo>
                    <a:cubicBezTo>
                      <a:pt x="90488" y="20003"/>
                      <a:pt x="97155" y="15240"/>
                      <a:pt x="103822" y="11430"/>
                    </a:cubicBezTo>
                    <a:cubicBezTo>
                      <a:pt x="110490" y="7620"/>
                      <a:pt x="118110" y="4763"/>
                      <a:pt x="126682" y="2858"/>
                    </a:cubicBezTo>
                    <a:cubicBezTo>
                      <a:pt x="134302" y="953"/>
                      <a:pt x="142875" y="0"/>
                      <a:pt x="152400" y="0"/>
                    </a:cubicBezTo>
                    <a:cubicBezTo>
                      <a:pt x="166688" y="0"/>
                      <a:pt x="179070" y="953"/>
                      <a:pt x="188595" y="3810"/>
                    </a:cubicBezTo>
                    <a:cubicBezTo>
                      <a:pt x="198120" y="6667"/>
                      <a:pt x="206692" y="10478"/>
                      <a:pt x="213360" y="15240"/>
                    </a:cubicBezTo>
                    <a:lnTo>
                      <a:pt x="194310" y="80010"/>
                    </a:lnTo>
                    <a:close/>
                  </a:path>
                </a:pathLst>
              </a:custGeom>
              <a:solidFill>
                <a:srgbClr val="1A9AFA"/>
              </a:solidFill>
              <a:ln w="952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39C37524-D492-DDA5-EDBC-F7EBF26AADDF}"/>
                  </a:ext>
                </a:extLst>
              </p:cNvPr>
              <p:cNvSpPr/>
              <p:nvPr/>
            </p:nvSpPr>
            <p:spPr bwMode="invGray">
              <a:xfrm>
                <a:off x="12015291" y="6245544"/>
                <a:ext cx="208597" cy="504825"/>
              </a:xfrm>
              <a:custGeom>
                <a:avLst/>
                <a:gdLst>
                  <a:gd name="connsiteX0" fmla="*/ 200025 w 208597"/>
                  <a:gd name="connsiteY0" fmla="*/ 487680 h 504825"/>
                  <a:gd name="connsiteX1" fmla="*/ 169545 w 208597"/>
                  <a:gd name="connsiteY1" fmla="*/ 500063 h 504825"/>
                  <a:gd name="connsiteX2" fmla="*/ 131445 w 208597"/>
                  <a:gd name="connsiteY2" fmla="*/ 504825 h 504825"/>
                  <a:gd name="connsiteX3" fmla="*/ 99060 w 208597"/>
                  <a:gd name="connsiteY3" fmla="*/ 500063 h 504825"/>
                  <a:gd name="connsiteX4" fmla="*/ 74295 w 208597"/>
                  <a:gd name="connsiteY4" fmla="*/ 483870 h 504825"/>
                  <a:gd name="connsiteX5" fmla="*/ 57150 w 208597"/>
                  <a:gd name="connsiteY5" fmla="*/ 454342 h 504825"/>
                  <a:gd name="connsiteX6" fmla="*/ 51435 w 208597"/>
                  <a:gd name="connsiteY6" fmla="*/ 410528 h 504825"/>
                  <a:gd name="connsiteX7" fmla="*/ 51435 w 208597"/>
                  <a:gd name="connsiteY7" fmla="*/ 202883 h 504825"/>
                  <a:gd name="connsiteX8" fmla="*/ 0 w 208597"/>
                  <a:gd name="connsiteY8" fmla="*/ 202883 h 504825"/>
                  <a:gd name="connsiteX9" fmla="*/ 0 w 208597"/>
                  <a:gd name="connsiteY9" fmla="*/ 139065 h 504825"/>
                  <a:gd name="connsiteX10" fmla="*/ 51435 w 208597"/>
                  <a:gd name="connsiteY10" fmla="*/ 139065 h 504825"/>
                  <a:gd name="connsiteX11" fmla="*/ 51435 w 208597"/>
                  <a:gd name="connsiteY11" fmla="*/ 37148 h 504825"/>
                  <a:gd name="connsiteX12" fmla="*/ 120015 w 208597"/>
                  <a:gd name="connsiteY12" fmla="*/ 0 h 504825"/>
                  <a:gd name="connsiteX13" fmla="*/ 120015 w 208597"/>
                  <a:gd name="connsiteY13" fmla="*/ 139065 h 504825"/>
                  <a:gd name="connsiteX14" fmla="*/ 208597 w 208597"/>
                  <a:gd name="connsiteY14" fmla="*/ 139065 h 504825"/>
                  <a:gd name="connsiteX15" fmla="*/ 208597 w 208597"/>
                  <a:gd name="connsiteY15" fmla="*/ 202883 h 504825"/>
                  <a:gd name="connsiteX16" fmla="*/ 120015 w 208597"/>
                  <a:gd name="connsiteY16" fmla="*/ 202883 h 504825"/>
                  <a:gd name="connsiteX17" fmla="*/ 120015 w 208597"/>
                  <a:gd name="connsiteY17" fmla="*/ 397192 h 504825"/>
                  <a:gd name="connsiteX18" fmla="*/ 121920 w 208597"/>
                  <a:gd name="connsiteY18" fmla="*/ 418148 h 504825"/>
                  <a:gd name="connsiteX19" fmla="*/ 128588 w 208597"/>
                  <a:gd name="connsiteY19" fmla="*/ 431483 h 504825"/>
                  <a:gd name="connsiteX20" fmla="*/ 140018 w 208597"/>
                  <a:gd name="connsiteY20" fmla="*/ 438150 h 504825"/>
                  <a:gd name="connsiteX21" fmla="*/ 156210 w 208597"/>
                  <a:gd name="connsiteY21" fmla="*/ 440055 h 504825"/>
                  <a:gd name="connsiteX22" fmla="*/ 183833 w 208597"/>
                  <a:gd name="connsiteY22" fmla="*/ 435292 h 504825"/>
                  <a:gd name="connsiteX23" fmla="*/ 207645 w 208597"/>
                  <a:gd name="connsiteY23" fmla="*/ 425767 h 504825"/>
                  <a:gd name="connsiteX24" fmla="*/ 200025 w 208597"/>
                  <a:gd name="connsiteY24" fmla="*/ 48768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8597" h="504825">
                    <a:moveTo>
                      <a:pt x="200025" y="487680"/>
                    </a:moveTo>
                    <a:cubicBezTo>
                      <a:pt x="191453" y="492442"/>
                      <a:pt x="180975" y="496253"/>
                      <a:pt x="169545" y="500063"/>
                    </a:cubicBezTo>
                    <a:cubicBezTo>
                      <a:pt x="158115" y="502920"/>
                      <a:pt x="144780" y="504825"/>
                      <a:pt x="131445" y="504825"/>
                    </a:cubicBezTo>
                    <a:cubicBezTo>
                      <a:pt x="119063" y="504825"/>
                      <a:pt x="108585" y="502920"/>
                      <a:pt x="99060" y="500063"/>
                    </a:cubicBezTo>
                    <a:cubicBezTo>
                      <a:pt x="89535" y="496253"/>
                      <a:pt x="81915" y="491490"/>
                      <a:pt x="74295" y="483870"/>
                    </a:cubicBezTo>
                    <a:cubicBezTo>
                      <a:pt x="66675" y="476250"/>
                      <a:pt x="60960" y="466725"/>
                      <a:pt x="57150" y="454342"/>
                    </a:cubicBezTo>
                    <a:cubicBezTo>
                      <a:pt x="53340" y="441960"/>
                      <a:pt x="51435" y="427673"/>
                      <a:pt x="51435" y="410528"/>
                    </a:cubicBezTo>
                    <a:lnTo>
                      <a:pt x="51435" y="202883"/>
                    </a:lnTo>
                    <a:lnTo>
                      <a:pt x="0" y="202883"/>
                    </a:lnTo>
                    <a:lnTo>
                      <a:pt x="0" y="139065"/>
                    </a:lnTo>
                    <a:lnTo>
                      <a:pt x="51435" y="139065"/>
                    </a:lnTo>
                    <a:lnTo>
                      <a:pt x="51435" y="37148"/>
                    </a:lnTo>
                    <a:lnTo>
                      <a:pt x="120015" y="0"/>
                    </a:lnTo>
                    <a:lnTo>
                      <a:pt x="120015" y="139065"/>
                    </a:lnTo>
                    <a:lnTo>
                      <a:pt x="208597" y="139065"/>
                    </a:lnTo>
                    <a:lnTo>
                      <a:pt x="208597" y="202883"/>
                    </a:lnTo>
                    <a:lnTo>
                      <a:pt x="120015" y="202883"/>
                    </a:lnTo>
                    <a:lnTo>
                      <a:pt x="120015" y="397192"/>
                    </a:lnTo>
                    <a:cubicBezTo>
                      <a:pt x="120015" y="405765"/>
                      <a:pt x="120968" y="412433"/>
                      <a:pt x="121920" y="418148"/>
                    </a:cubicBezTo>
                    <a:cubicBezTo>
                      <a:pt x="123825" y="423863"/>
                      <a:pt x="125730" y="427673"/>
                      <a:pt x="128588" y="431483"/>
                    </a:cubicBezTo>
                    <a:cubicBezTo>
                      <a:pt x="131445" y="434340"/>
                      <a:pt x="135255" y="437198"/>
                      <a:pt x="140018" y="438150"/>
                    </a:cubicBezTo>
                    <a:cubicBezTo>
                      <a:pt x="144780" y="439103"/>
                      <a:pt x="150495" y="440055"/>
                      <a:pt x="156210" y="440055"/>
                    </a:cubicBezTo>
                    <a:cubicBezTo>
                      <a:pt x="165735" y="440055"/>
                      <a:pt x="174308" y="438150"/>
                      <a:pt x="183833" y="435292"/>
                    </a:cubicBezTo>
                    <a:cubicBezTo>
                      <a:pt x="193358" y="432435"/>
                      <a:pt x="200978" y="428625"/>
                      <a:pt x="207645" y="425767"/>
                    </a:cubicBezTo>
                    <a:lnTo>
                      <a:pt x="200025" y="487680"/>
                    </a:lnTo>
                    <a:close/>
                  </a:path>
                </a:pathLst>
              </a:custGeom>
              <a:solidFill>
                <a:srgbClr val="1A9AFA"/>
              </a:solidFill>
              <a:ln w="952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D352AD05-046D-B966-F224-24662858C2BA}"/>
                  </a:ext>
                </a:extLst>
              </p:cNvPr>
              <p:cNvSpPr/>
              <p:nvPr/>
            </p:nvSpPr>
            <p:spPr bwMode="invGray">
              <a:xfrm>
                <a:off x="12286754" y="6244592"/>
                <a:ext cx="287655" cy="498157"/>
              </a:xfrm>
              <a:custGeom>
                <a:avLst/>
                <a:gdLst>
                  <a:gd name="connsiteX0" fmla="*/ 219075 w 287655"/>
                  <a:gd name="connsiteY0" fmla="*/ 498157 h 498157"/>
                  <a:gd name="connsiteX1" fmla="*/ 219075 w 287655"/>
                  <a:gd name="connsiteY1" fmla="*/ 295275 h 498157"/>
                  <a:gd name="connsiteX2" fmla="*/ 200978 w 287655"/>
                  <a:gd name="connsiteY2" fmla="*/ 220980 h 498157"/>
                  <a:gd name="connsiteX3" fmla="*/ 144780 w 287655"/>
                  <a:gd name="connsiteY3" fmla="*/ 196215 h 498157"/>
                  <a:gd name="connsiteX4" fmla="*/ 114300 w 287655"/>
                  <a:gd name="connsiteY4" fmla="*/ 201930 h 498157"/>
                  <a:gd name="connsiteX5" fmla="*/ 90488 w 287655"/>
                  <a:gd name="connsiteY5" fmla="*/ 220027 h 498157"/>
                  <a:gd name="connsiteX6" fmla="*/ 75247 w 287655"/>
                  <a:gd name="connsiteY6" fmla="*/ 248602 h 498157"/>
                  <a:gd name="connsiteX7" fmla="*/ 70485 w 287655"/>
                  <a:gd name="connsiteY7" fmla="*/ 287655 h 498157"/>
                  <a:gd name="connsiteX8" fmla="*/ 70485 w 287655"/>
                  <a:gd name="connsiteY8" fmla="*/ 497205 h 498157"/>
                  <a:gd name="connsiteX9" fmla="*/ 0 w 287655"/>
                  <a:gd name="connsiteY9" fmla="*/ 497205 h 498157"/>
                  <a:gd name="connsiteX10" fmla="*/ 0 w 287655"/>
                  <a:gd name="connsiteY10" fmla="*/ 37147 h 498157"/>
                  <a:gd name="connsiteX11" fmla="*/ 70485 w 287655"/>
                  <a:gd name="connsiteY11" fmla="*/ 0 h 498157"/>
                  <a:gd name="connsiteX12" fmla="*/ 70485 w 287655"/>
                  <a:gd name="connsiteY12" fmla="*/ 173355 h 498157"/>
                  <a:gd name="connsiteX13" fmla="*/ 86678 w 287655"/>
                  <a:gd name="connsiteY13" fmla="*/ 156210 h 498157"/>
                  <a:gd name="connsiteX14" fmla="*/ 107633 w 287655"/>
                  <a:gd name="connsiteY14" fmla="*/ 142875 h 498157"/>
                  <a:gd name="connsiteX15" fmla="*/ 132397 w 287655"/>
                  <a:gd name="connsiteY15" fmla="*/ 134302 h 498157"/>
                  <a:gd name="connsiteX16" fmla="*/ 160020 w 287655"/>
                  <a:gd name="connsiteY16" fmla="*/ 131445 h 498157"/>
                  <a:gd name="connsiteX17" fmla="*/ 216218 w 287655"/>
                  <a:gd name="connsiteY17" fmla="*/ 141922 h 498157"/>
                  <a:gd name="connsiteX18" fmla="*/ 256222 w 287655"/>
                  <a:gd name="connsiteY18" fmla="*/ 172402 h 498157"/>
                  <a:gd name="connsiteX19" fmla="*/ 280035 w 287655"/>
                  <a:gd name="connsiteY19" fmla="*/ 223838 h 498157"/>
                  <a:gd name="connsiteX20" fmla="*/ 287655 w 287655"/>
                  <a:gd name="connsiteY20" fmla="*/ 292417 h 498157"/>
                  <a:gd name="connsiteX21" fmla="*/ 287655 w 287655"/>
                  <a:gd name="connsiteY21" fmla="*/ 497205 h 498157"/>
                  <a:gd name="connsiteX22" fmla="*/ 219075 w 287655"/>
                  <a:gd name="connsiteY22" fmla="*/ 497205 h 49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655" h="498157">
                    <a:moveTo>
                      <a:pt x="219075" y="498157"/>
                    </a:moveTo>
                    <a:lnTo>
                      <a:pt x="219075" y="295275"/>
                    </a:lnTo>
                    <a:cubicBezTo>
                      <a:pt x="219075" y="261938"/>
                      <a:pt x="213360" y="237172"/>
                      <a:pt x="200978" y="220980"/>
                    </a:cubicBezTo>
                    <a:cubicBezTo>
                      <a:pt x="189547" y="204788"/>
                      <a:pt x="170497" y="196215"/>
                      <a:pt x="144780" y="196215"/>
                    </a:cubicBezTo>
                    <a:cubicBezTo>
                      <a:pt x="134303" y="196215"/>
                      <a:pt x="123825" y="198120"/>
                      <a:pt x="114300" y="201930"/>
                    </a:cubicBezTo>
                    <a:cubicBezTo>
                      <a:pt x="104775" y="205740"/>
                      <a:pt x="97155" y="211455"/>
                      <a:pt x="90488" y="220027"/>
                    </a:cubicBezTo>
                    <a:cubicBezTo>
                      <a:pt x="83820" y="228600"/>
                      <a:pt x="79058" y="238125"/>
                      <a:pt x="75247" y="248602"/>
                    </a:cubicBezTo>
                    <a:cubicBezTo>
                      <a:pt x="72390" y="260032"/>
                      <a:pt x="70485" y="272415"/>
                      <a:pt x="70485" y="287655"/>
                    </a:cubicBezTo>
                    <a:lnTo>
                      <a:pt x="70485" y="497205"/>
                    </a:lnTo>
                    <a:lnTo>
                      <a:pt x="0" y="497205"/>
                    </a:lnTo>
                    <a:lnTo>
                      <a:pt x="0" y="37147"/>
                    </a:lnTo>
                    <a:lnTo>
                      <a:pt x="70485" y="0"/>
                    </a:lnTo>
                    <a:lnTo>
                      <a:pt x="70485" y="173355"/>
                    </a:lnTo>
                    <a:cubicBezTo>
                      <a:pt x="75247" y="166688"/>
                      <a:pt x="80010" y="160972"/>
                      <a:pt x="86678" y="156210"/>
                    </a:cubicBezTo>
                    <a:cubicBezTo>
                      <a:pt x="93345" y="151447"/>
                      <a:pt x="100013" y="146685"/>
                      <a:pt x="107633" y="142875"/>
                    </a:cubicBezTo>
                    <a:cubicBezTo>
                      <a:pt x="115253" y="139065"/>
                      <a:pt x="123825" y="136207"/>
                      <a:pt x="132397" y="134302"/>
                    </a:cubicBezTo>
                    <a:cubicBezTo>
                      <a:pt x="140970" y="132397"/>
                      <a:pt x="150495" y="131445"/>
                      <a:pt x="160020" y="131445"/>
                    </a:cubicBezTo>
                    <a:cubicBezTo>
                      <a:pt x="181928" y="131445"/>
                      <a:pt x="200025" y="135255"/>
                      <a:pt x="216218" y="141922"/>
                    </a:cubicBezTo>
                    <a:cubicBezTo>
                      <a:pt x="232410" y="148590"/>
                      <a:pt x="244793" y="159067"/>
                      <a:pt x="256222" y="172402"/>
                    </a:cubicBezTo>
                    <a:cubicBezTo>
                      <a:pt x="266700" y="185738"/>
                      <a:pt x="275272" y="202882"/>
                      <a:pt x="280035" y="223838"/>
                    </a:cubicBezTo>
                    <a:cubicBezTo>
                      <a:pt x="284797" y="244792"/>
                      <a:pt x="287655" y="267652"/>
                      <a:pt x="287655" y="292417"/>
                    </a:cubicBezTo>
                    <a:lnTo>
                      <a:pt x="287655" y="497205"/>
                    </a:lnTo>
                    <a:lnTo>
                      <a:pt x="219075" y="497205"/>
                    </a:lnTo>
                    <a:close/>
                  </a:path>
                </a:pathLst>
              </a:custGeom>
              <a:solidFill>
                <a:srgbClr val="1A9AFA"/>
              </a:solidFill>
              <a:ln w="952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2742474B-4533-B1BC-111C-65EDF93AF0B3}"/>
                  </a:ext>
                </a:extLst>
              </p:cNvPr>
              <p:cNvSpPr/>
              <p:nvPr/>
            </p:nvSpPr>
            <p:spPr bwMode="invGray">
              <a:xfrm>
                <a:off x="12627749" y="6376036"/>
                <a:ext cx="308609" cy="374332"/>
              </a:xfrm>
              <a:custGeom>
                <a:avLst/>
                <a:gdLst>
                  <a:gd name="connsiteX0" fmla="*/ 237172 w 308609"/>
                  <a:gd name="connsiteY0" fmla="*/ 154305 h 374332"/>
                  <a:gd name="connsiteX1" fmla="*/ 230505 w 308609"/>
                  <a:gd name="connsiteY1" fmla="*/ 120015 h 374332"/>
                  <a:gd name="connsiteX2" fmla="*/ 215265 w 308609"/>
                  <a:gd name="connsiteY2" fmla="*/ 91440 h 374332"/>
                  <a:gd name="connsiteX3" fmla="*/ 189547 w 308609"/>
                  <a:gd name="connsiteY3" fmla="*/ 72390 h 374332"/>
                  <a:gd name="connsiteX4" fmla="*/ 152400 w 308609"/>
                  <a:gd name="connsiteY4" fmla="*/ 64770 h 374332"/>
                  <a:gd name="connsiteX5" fmla="*/ 120015 w 308609"/>
                  <a:gd name="connsiteY5" fmla="*/ 70485 h 374332"/>
                  <a:gd name="connsiteX6" fmla="*/ 96202 w 308609"/>
                  <a:gd name="connsiteY6" fmla="*/ 87630 h 374332"/>
                  <a:gd name="connsiteX7" fmla="*/ 80010 w 308609"/>
                  <a:gd name="connsiteY7" fmla="*/ 115253 h 374332"/>
                  <a:gd name="connsiteX8" fmla="*/ 71438 w 308609"/>
                  <a:gd name="connsiteY8" fmla="*/ 153353 h 374332"/>
                  <a:gd name="connsiteX9" fmla="*/ 237172 w 308609"/>
                  <a:gd name="connsiteY9" fmla="*/ 153353 h 374332"/>
                  <a:gd name="connsiteX10" fmla="*/ 308610 w 308609"/>
                  <a:gd name="connsiteY10" fmla="*/ 180023 h 374332"/>
                  <a:gd name="connsiteX11" fmla="*/ 307657 w 308609"/>
                  <a:gd name="connsiteY11" fmla="*/ 198120 h 374332"/>
                  <a:gd name="connsiteX12" fmla="*/ 306705 w 308609"/>
                  <a:gd name="connsiteY12" fmla="*/ 212408 h 374332"/>
                  <a:gd name="connsiteX13" fmla="*/ 69532 w 308609"/>
                  <a:gd name="connsiteY13" fmla="*/ 212408 h 374332"/>
                  <a:gd name="connsiteX14" fmla="*/ 80963 w 308609"/>
                  <a:gd name="connsiteY14" fmla="*/ 257175 h 374332"/>
                  <a:gd name="connsiteX15" fmla="*/ 100965 w 308609"/>
                  <a:gd name="connsiteY15" fmla="*/ 287655 h 374332"/>
                  <a:gd name="connsiteX16" fmla="*/ 128588 w 308609"/>
                  <a:gd name="connsiteY16" fmla="*/ 305753 h 374332"/>
                  <a:gd name="connsiteX17" fmla="*/ 160020 w 308609"/>
                  <a:gd name="connsiteY17" fmla="*/ 311468 h 374332"/>
                  <a:gd name="connsiteX18" fmla="*/ 181927 w 308609"/>
                  <a:gd name="connsiteY18" fmla="*/ 309563 h 374332"/>
                  <a:gd name="connsiteX19" fmla="*/ 201930 w 308609"/>
                  <a:gd name="connsiteY19" fmla="*/ 303848 h 374332"/>
                  <a:gd name="connsiteX20" fmla="*/ 219075 w 308609"/>
                  <a:gd name="connsiteY20" fmla="*/ 295275 h 374332"/>
                  <a:gd name="connsiteX21" fmla="*/ 238125 w 308609"/>
                  <a:gd name="connsiteY21" fmla="*/ 282893 h 374332"/>
                  <a:gd name="connsiteX22" fmla="*/ 280035 w 308609"/>
                  <a:gd name="connsiteY22" fmla="*/ 327660 h 374332"/>
                  <a:gd name="connsiteX23" fmla="*/ 254317 w 308609"/>
                  <a:gd name="connsiteY23" fmla="*/ 347663 h 374332"/>
                  <a:gd name="connsiteX24" fmla="*/ 227647 w 308609"/>
                  <a:gd name="connsiteY24" fmla="*/ 361950 h 374332"/>
                  <a:gd name="connsiteX25" fmla="*/ 195263 w 308609"/>
                  <a:gd name="connsiteY25" fmla="*/ 371475 h 374332"/>
                  <a:gd name="connsiteX26" fmla="*/ 155257 w 308609"/>
                  <a:gd name="connsiteY26" fmla="*/ 374333 h 374332"/>
                  <a:gd name="connsiteX27" fmla="*/ 111442 w 308609"/>
                  <a:gd name="connsiteY27" fmla="*/ 367665 h 374332"/>
                  <a:gd name="connsiteX28" fmla="*/ 75247 w 308609"/>
                  <a:gd name="connsiteY28" fmla="*/ 350520 h 374332"/>
                  <a:gd name="connsiteX29" fmla="*/ 46672 w 308609"/>
                  <a:gd name="connsiteY29" fmla="*/ 326708 h 374332"/>
                  <a:gd name="connsiteX30" fmla="*/ 22860 w 308609"/>
                  <a:gd name="connsiteY30" fmla="*/ 292418 h 374332"/>
                  <a:gd name="connsiteX31" fmla="*/ 5715 w 308609"/>
                  <a:gd name="connsiteY31" fmla="*/ 244793 h 374332"/>
                  <a:gd name="connsiteX32" fmla="*/ 0 w 308609"/>
                  <a:gd name="connsiteY32" fmla="*/ 187643 h 374332"/>
                  <a:gd name="connsiteX33" fmla="*/ 11430 w 308609"/>
                  <a:gd name="connsiteY33" fmla="*/ 107633 h 374332"/>
                  <a:gd name="connsiteX34" fmla="*/ 43815 w 308609"/>
                  <a:gd name="connsiteY34" fmla="*/ 48578 h 374332"/>
                  <a:gd name="connsiteX35" fmla="*/ 93345 w 308609"/>
                  <a:gd name="connsiteY35" fmla="*/ 12383 h 374332"/>
                  <a:gd name="connsiteX36" fmla="*/ 157163 w 308609"/>
                  <a:gd name="connsiteY36" fmla="*/ 0 h 374332"/>
                  <a:gd name="connsiteX37" fmla="*/ 223838 w 308609"/>
                  <a:gd name="connsiteY37" fmla="*/ 14288 h 374332"/>
                  <a:gd name="connsiteX38" fmla="*/ 270510 w 308609"/>
                  <a:gd name="connsiteY38" fmla="*/ 53340 h 374332"/>
                  <a:gd name="connsiteX39" fmla="*/ 298132 w 308609"/>
                  <a:gd name="connsiteY39" fmla="*/ 110490 h 374332"/>
                  <a:gd name="connsiteX40" fmla="*/ 308610 w 308609"/>
                  <a:gd name="connsiteY40" fmla="*/ 180023 h 37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08609" h="374332">
                    <a:moveTo>
                      <a:pt x="237172" y="154305"/>
                    </a:moveTo>
                    <a:cubicBezTo>
                      <a:pt x="236220" y="141923"/>
                      <a:pt x="234315" y="130493"/>
                      <a:pt x="230505" y="120015"/>
                    </a:cubicBezTo>
                    <a:cubicBezTo>
                      <a:pt x="226695" y="109538"/>
                      <a:pt x="221932" y="100013"/>
                      <a:pt x="215265" y="91440"/>
                    </a:cubicBezTo>
                    <a:cubicBezTo>
                      <a:pt x="208597" y="82868"/>
                      <a:pt x="200025" y="77153"/>
                      <a:pt x="189547" y="72390"/>
                    </a:cubicBezTo>
                    <a:cubicBezTo>
                      <a:pt x="179070" y="67628"/>
                      <a:pt x="166688" y="64770"/>
                      <a:pt x="152400" y="64770"/>
                    </a:cubicBezTo>
                    <a:cubicBezTo>
                      <a:pt x="140017" y="64770"/>
                      <a:pt x="129540" y="66675"/>
                      <a:pt x="120015" y="70485"/>
                    </a:cubicBezTo>
                    <a:cubicBezTo>
                      <a:pt x="110490" y="74295"/>
                      <a:pt x="102870" y="80010"/>
                      <a:pt x="96202" y="87630"/>
                    </a:cubicBezTo>
                    <a:cubicBezTo>
                      <a:pt x="89535" y="95250"/>
                      <a:pt x="83820" y="104775"/>
                      <a:pt x="80010" y="115253"/>
                    </a:cubicBezTo>
                    <a:cubicBezTo>
                      <a:pt x="75247" y="126683"/>
                      <a:pt x="72390" y="139065"/>
                      <a:pt x="71438" y="153353"/>
                    </a:cubicBezTo>
                    <a:lnTo>
                      <a:pt x="237172" y="153353"/>
                    </a:lnTo>
                    <a:close/>
                    <a:moveTo>
                      <a:pt x="308610" y="180023"/>
                    </a:moveTo>
                    <a:cubicBezTo>
                      <a:pt x="308610" y="186690"/>
                      <a:pt x="308610" y="192405"/>
                      <a:pt x="307657" y="198120"/>
                    </a:cubicBezTo>
                    <a:cubicBezTo>
                      <a:pt x="307657" y="203835"/>
                      <a:pt x="306705" y="208598"/>
                      <a:pt x="306705" y="212408"/>
                    </a:cubicBezTo>
                    <a:lnTo>
                      <a:pt x="69532" y="212408"/>
                    </a:lnTo>
                    <a:cubicBezTo>
                      <a:pt x="71438" y="229553"/>
                      <a:pt x="75247" y="244793"/>
                      <a:pt x="80963" y="257175"/>
                    </a:cubicBezTo>
                    <a:cubicBezTo>
                      <a:pt x="86677" y="269558"/>
                      <a:pt x="93345" y="280035"/>
                      <a:pt x="100965" y="287655"/>
                    </a:cubicBezTo>
                    <a:cubicBezTo>
                      <a:pt x="108585" y="295275"/>
                      <a:pt x="118110" y="301943"/>
                      <a:pt x="128588" y="305753"/>
                    </a:cubicBezTo>
                    <a:cubicBezTo>
                      <a:pt x="139065" y="309563"/>
                      <a:pt x="149542" y="311468"/>
                      <a:pt x="160020" y="311468"/>
                    </a:cubicBezTo>
                    <a:cubicBezTo>
                      <a:pt x="167640" y="311468"/>
                      <a:pt x="175260" y="310515"/>
                      <a:pt x="181927" y="309563"/>
                    </a:cubicBezTo>
                    <a:cubicBezTo>
                      <a:pt x="188595" y="308610"/>
                      <a:pt x="195263" y="306705"/>
                      <a:pt x="201930" y="303848"/>
                    </a:cubicBezTo>
                    <a:cubicBezTo>
                      <a:pt x="208597" y="300990"/>
                      <a:pt x="214313" y="298133"/>
                      <a:pt x="219075" y="295275"/>
                    </a:cubicBezTo>
                    <a:cubicBezTo>
                      <a:pt x="223838" y="292418"/>
                      <a:pt x="230505" y="288608"/>
                      <a:pt x="238125" y="282893"/>
                    </a:cubicBezTo>
                    <a:lnTo>
                      <a:pt x="280035" y="327660"/>
                    </a:lnTo>
                    <a:cubicBezTo>
                      <a:pt x="271463" y="336233"/>
                      <a:pt x="262890" y="342900"/>
                      <a:pt x="254317" y="347663"/>
                    </a:cubicBezTo>
                    <a:cubicBezTo>
                      <a:pt x="245745" y="352425"/>
                      <a:pt x="237172" y="357188"/>
                      <a:pt x="227647" y="361950"/>
                    </a:cubicBezTo>
                    <a:cubicBezTo>
                      <a:pt x="218122" y="365760"/>
                      <a:pt x="207645" y="369570"/>
                      <a:pt x="195263" y="371475"/>
                    </a:cubicBezTo>
                    <a:cubicBezTo>
                      <a:pt x="182880" y="373380"/>
                      <a:pt x="170497" y="374333"/>
                      <a:pt x="155257" y="374333"/>
                    </a:cubicBezTo>
                    <a:cubicBezTo>
                      <a:pt x="140017" y="374333"/>
                      <a:pt x="124777" y="372428"/>
                      <a:pt x="111442" y="367665"/>
                    </a:cubicBezTo>
                    <a:cubicBezTo>
                      <a:pt x="98107" y="362903"/>
                      <a:pt x="85725" y="358140"/>
                      <a:pt x="75247" y="350520"/>
                    </a:cubicBezTo>
                    <a:cubicBezTo>
                      <a:pt x="64770" y="343853"/>
                      <a:pt x="55245" y="335280"/>
                      <a:pt x="46672" y="326708"/>
                    </a:cubicBezTo>
                    <a:cubicBezTo>
                      <a:pt x="38100" y="318135"/>
                      <a:pt x="30480" y="305753"/>
                      <a:pt x="22860" y="292418"/>
                    </a:cubicBezTo>
                    <a:cubicBezTo>
                      <a:pt x="15240" y="278130"/>
                      <a:pt x="9525" y="262890"/>
                      <a:pt x="5715" y="244793"/>
                    </a:cubicBezTo>
                    <a:cubicBezTo>
                      <a:pt x="1905" y="227648"/>
                      <a:pt x="0" y="208598"/>
                      <a:pt x="0" y="187643"/>
                    </a:cubicBezTo>
                    <a:cubicBezTo>
                      <a:pt x="0" y="157163"/>
                      <a:pt x="3810" y="130493"/>
                      <a:pt x="11430" y="107633"/>
                    </a:cubicBezTo>
                    <a:cubicBezTo>
                      <a:pt x="19050" y="84773"/>
                      <a:pt x="29527" y="64770"/>
                      <a:pt x="43815" y="48578"/>
                    </a:cubicBezTo>
                    <a:cubicBezTo>
                      <a:pt x="57150" y="32385"/>
                      <a:pt x="74295" y="20955"/>
                      <a:pt x="93345" y="12383"/>
                    </a:cubicBezTo>
                    <a:cubicBezTo>
                      <a:pt x="112395" y="3810"/>
                      <a:pt x="134302" y="0"/>
                      <a:pt x="157163" y="0"/>
                    </a:cubicBezTo>
                    <a:cubicBezTo>
                      <a:pt x="182880" y="0"/>
                      <a:pt x="204788" y="4763"/>
                      <a:pt x="223838" y="14288"/>
                    </a:cubicBezTo>
                    <a:cubicBezTo>
                      <a:pt x="242888" y="23813"/>
                      <a:pt x="258127" y="37148"/>
                      <a:pt x="270510" y="53340"/>
                    </a:cubicBezTo>
                    <a:cubicBezTo>
                      <a:pt x="282892" y="69533"/>
                      <a:pt x="292417" y="88583"/>
                      <a:pt x="298132" y="110490"/>
                    </a:cubicBezTo>
                    <a:cubicBezTo>
                      <a:pt x="304800" y="133350"/>
                      <a:pt x="308610" y="156210"/>
                      <a:pt x="308610" y="180023"/>
                    </a:cubicBezTo>
                  </a:path>
                </a:pathLst>
              </a:custGeom>
              <a:solidFill>
                <a:srgbClr val="1A9AFA"/>
              </a:solidFill>
              <a:ln w="952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7DCF3435-BB0F-84FD-5521-7A7C31432A8D}"/>
                  </a:ext>
                </a:extLst>
              </p:cNvPr>
              <p:cNvSpPr/>
              <p:nvPr/>
            </p:nvSpPr>
            <p:spPr bwMode="invGray">
              <a:xfrm>
                <a:off x="12987794" y="6376989"/>
                <a:ext cx="287655" cy="365759"/>
              </a:xfrm>
              <a:custGeom>
                <a:avLst/>
                <a:gdLst>
                  <a:gd name="connsiteX0" fmla="*/ 218122 w 287655"/>
                  <a:gd name="connsiteY0" fmla="*/ 365760 h 365759"/>
                  <a:gd name="connsiteX1" fmla="*/ 218122 w 287655"/>
                  <a:gd name="connsiteY1" fmla="*/ 162878 h 365759"/>
                  <a:gd name="connsiteX2" fmla="*/ 200978 w 287655"/>
                  <a:gd name="connsiteY2" fmla="*/ 89535 h 365759"/>
                  <a:gd name="connsiteX3" fmla="*/ 144780 w 287655"/>
                  <a:gd name="connsiteY3" fmla="*/ 64770 h 365759"/>
                  <a:gd name="connsiteX4" fmla="*/ 113347 w 287655"/>
                  <a:gd name="connsiteY4" fmla="*/ 70485 h 365759"/>
                  <a:gd name="connsiteX5" fmla="*/ 89535 w 287655"/>
                  <a:gd name="connsiteY5" fmla="*/ 89535 h 365759"/>
                  <a:gd name="connsiteX6" fmla="*/ 75247 w 287655"/>
                  <a:gd name="connsiteY6" fmla="*/ 119063 h 365759"/>
                  <a:gd name="connsiteX7" fmla="*/ 70485 w 287655"/>
                  <a:gd name="connsiteY7" fmla="*/ 156210 h 365759"/>
                  <a:gd name="connsiteX8" fmla="*/ 70485 w 287655"/>
                  <a:gd name="connsiteY8" fmla="*/ 365760 h 365759"/>
                  <a:gd name="connsiteX9" fmla="*/ 0 w 287655"/>
                  <a:gd name="connsiteY9" fmla="*/ 365760 h 365759"/>
                  <a:gd name="connsiteX10" fmla="*/ 0 w 287655"/>
                  <a:gd name="connsiteY10" fmla="*/ 7620 h 365759"/>
                  <a:gd name="connsiteX11" fmla="*/ 70485 w 287655"/>
                  <a:gd name="connsiteY11" fmla="*/ 7620 h 365759"/>
                  <a:gd name="connsiteX12" fmla="*/ 70485 w 287655"/>
                  <a:gd name="connsiteY12" fmla="*/ 41910 h 365759"/>
                  <a:gd name="connsiteX13" fmla="*/ 86678 w 287655"/>
                  <a:gd name="connsiteY13" fmla="*/ 24765 h 365759"/>
                  <a:gd name="connsiteX14" fmla="*/ 107632 w 287655"/>
                  <a:gd name="connsiteY14" fmla="*/ 11430 h 365759"/>
                  <a:gd name="connsiteX15" fmla="*/ 132397 w 287655"/>
                  <a:gd name="connsiteY15" fmla="*/ 2858 h 365759"/>
                  <a:gd name="connsiteX16" fmla="*/ 160020 w 287655"/>
                  <a:gd name="connsiteY16" fmla="*/ 0 h 365759"/>
                  <a:gd name="connsiteX17" fmla="*/ 216218 w 287655"/>
                  <a:gd name="connsiteY17" fmla="*/ 10478 h 365759"/>
                  <a:gd name="connsiteX18" fmla="*/ 256222 w 287655"/>
                  <a:gd name="connsiteY18" fmla="*/ 40958 h 365759"/>
                  <a:gd name="connsiteX19" fmla="*/ 280035 w 287655"/>
                  <a:gd name="connsiteY19" fmla="*/ 90488 h 365759"/>
                  <a:gd name="connsiteX20" fmla="*/ 287655 w 287655"/>
                  <a:gd name="connsiteY20" fmla="*/ 160972 h 365759"/>
                  <a:gd name="connsiteX21" fmla="*/ 287655 w 287655"/>
                  <a:gd name="connsiteY21" fmla="*/ 365760 h 365759"/>
                  <a:gd name="connsiteX22" fmla="*/ 218122 w 287655"/>
                  <a:gd name="connsiteY22" fmla="*/ 365760 h 36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655" h="365759">
                    <a:moveTo>
                      <a:pt x="218122" y="365760"/>
                    </a:moveTo>
                    <a:lnTo>
                      <a:pt x="218122" y="162878"/>
                    </a:lnTo>
                    <a:cubicBezTo>
                      <a:pt x="218122" y="130492"/>
                      <a:pt x="212407" y="105728"/>
                      <a:pt x="200978" y="89535"/>
                    </a:cubicBezTo>
                    <a:cubicBezTo>
                      <a:pt x="189547" y="73342"/>
                      <a:pt x="170497" y="64770"/>
                      <a:pt x="144780" y="64770"/>
                    </a:cubicBezTo>
                    <a:cubicBezTo>
                      <a:pt x="133350" y="64770"/>
                      <a:pt x="122872" y="66675"/>
                      <a:pt x="113347" y="70485"/>
                    </a:cubicBezTo>
                    <a:cubicBezTo>
                      <a:pt x="103822" y="74295"/>
                      <a:pt x="96203" y="80963"/>
                      <a:pt x="89535" y="89535"/>
                    </a:cubicBezTo>
                    <a:cubicBezTo>
                      <a:pt x="82868" y="98108"/>
                      <a:pt x="78105" y="107633"/>
                      <a:pt x="75247" y="119063"/>
                    </a:cubicBezTo>
                    <a:cubicBezTo>
                      <a:pt x="72390" y="130492"/>
                      <a:pt x="70485" y="142875"/>
                      <a:pt x="70485" y="156210"/>
                    </a:cubicBezTo>
                    <a:lnTo>
                      <a:pt x="70485" y="365760"/>
                    </a:lnTo>
                    <a:lnTo>
                      <a:pt x="0" y="365760"/>
                    </a:lnTo>
                    <a:lnTo>
                      <a:pt x="0" y="7620"/>
                    </a:lnTo>
                    <a:lnTo>
                      <a:pt x="70485" y="7620"/>
                    </a:lnTo>
                    <a:lnTo>
                      <a:pt x="70485" y="41910"/>
                    </a:lnTo>
                    <a:cubicBezTo>
                      <a:pt x="75247" y="35242"/>
                      <a:pt x="80010" y="29528"/>
                      <a:pt x="86678" y="24765"/>
                    </a:cubicBezTo>
                    <a:cubicBezTo>
                      <a:pt x="93345" y="20003"/>
                      <a:pt x="100013" y="15240"/>
                      <a:pt x="107632" y="11430"/>
                    </a:cubicBezTo>
                    <a:cubicBezTo>
                      <a:pt x="115253" y="7620"/>
                      <a:pt x="123825" y="4763"/>
                      <a:pt x="132397" y="2858"/>
                    </a:cubicBezTo>
                    <a:cubicBezTo>
                      <a:pt x="140970" y="953"/>
                      <a:pt x="150495" y="0"/>
                      <a:pt x="160020" y="0"/>
                    </a:cubicBezTo>
                    <a:cubicBezTo>
                      <a:pt x="181928" y="0"/>
                      <a:pt x="200025" y="3810"/>
                      <a:pt x="216218" y="10478"/>
                    </a:cubicBezTo>
                    <a:cubicBezTo>
                      <a:pt x="232410" y="17145"/>
                      <a:pt x="245745" y="27622"/>
                      <a:pt x="256222" y="40958"/>
                    </a:cubicBezTo>
                    <a:cubicBezTo>
                      <a:pt x="266700" y="54292"/>
                      <a:pt x="274320" y="70485"/>
                      <a:pt x="280035" y="90488"/>
                    </a:cubicBezTo>
                    <a:cubicBezTo>
                      <a:pt x="285750" y="110490"/>
                      <a:pt x="287655" y="134303"/>
                      <a:pt x="287655" y="160972"/>
                    </a:cubicBezTo>
                    <a:lnTo>
                      <a:pt x="287655" y="365760"/>
                    </a:lnTo>
                    <a:lnTo>
                      <a:pt x="218122" y="365760"/>
                    </a:lnTo>
                    <a:close/>
                  </a:path>
                </a:pathLst>
              </a:custGeom>
              <a:solidFill>
                <a:srgbClr val="1A9AFA"/>
              </a:solidFill>
              <a:ln w="952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C17376AD-769C-D707-9A33-D895C9805FA7}"/>
                  </a:ext>
                </a:extLst>
              </p:cNvPr>
              <p:cNvSpPr/>
              <p:nvPr/>
            </p:nvSpPr>
            <p:spPr bwMode="invGray">
              <a:xfrm>
                <a:off x="13327837" y="6376036"/>
                <a:ext cx="320039" cy="374332"/>
              </a:xfrm>
              <a:custGeom>
                <a:avLst/>
                <a:gdLst>
                  <a:gd name="connsiteX0" fmla="*/ 248602 w 320039"/>
                  <a:gd name="connsiteY0" fmla="*/ 187643 h 374332"/>
                  <a:gd name="connsiteX1" fmla="*/ 241935 w 320039"/>
                  <a:gd name="connsiteY1" fmla="*/ 138113 h 374332"/>
                  <a:gd name="connsiteX2" fmla="*/ 223838 w 320039"/>
                  <a:gd name="connsiteY2" fmla="*/ 100013 h 374332"/>
                  <a:gd name="connsiteX3" fmla="*/ 195263 w 320039"/>
                  <a:gd name="connsiteY3" fmla="*/ 76200 h 374332"/>
                  <a:gd name="connsiteX4" fmla="*/ 157163 w 320039"/>
                  <a:gd name="connsiteY4" fmla="*/ 67628 h 374332"/>
                  <a:gd name="connsiteX5" fmla="*/ 120967 w 320039"/>
                  <a:gd name="connsiteY5" fmla="*/ 76200 h 374332"/>
                  <a:gd name="connsiteX6" fmla="*/ 94297 w 320039"/>
                  <a:gd name="connsiteY6" fmla="*/ 100013 h 374332"/>
                  <a:gd name="connsiteX7" fmla="*/ 77152 w 320039"/>
                  <a:gd name="connsiteY7" fmla="*/ 137160 h 374332"/>
                  <a:gd name="connsiteX8" fmla="*/ 71438 w 320039"/>
                  <a:gd name="connsiteY8" fmla="*/ 185738 h 374332"/>
                  <a:gd name="connsiteX9" fmla="*/ 78105 w 320039"/>
                  <a:gd name="connsiteY9" fmla="*/ 238125 h 374332"/>
                  <a:gd name="connsiteX10" fmla="*/ 96202 w 320039"/>
                  <a:gd name="connsiteY10" fmla="*/ 276225 h 374332"/>
                  <a:gd name="connsiteX11" fmla="*/ 124777 w 320039"/>
                  <a:gd name="connsiteY11" fmla="*/ 299085 h 374332"/>
                  <a:gd name="connsiteX12" fmla="*/ 160972 w 320039"/>
                  <a:gd name="connsiteY12" fmla="*/ 306705 h 374332"/>
                  <a:gd name="connsiteX13" fmla="*/ 197167 w 320039"/>
                  <a:gd name="connsiteY13" fmla="*/ 297180 h 374332"/>
                  <a:gd name="connsiteX14" fmla="*/ 224790 w 320039"/>
                  <a:gd name="connsiteY14" fmla="*/ 271463 h 374332"/>
                  <a:gd name="connsiteX15" fmla="*/ 242888 w 320039"/>
                  <a:gd name="connsiteY15" fmla="*/ 233363 h 374332"/>
                  <a:gd name="connsiteX16" fmla="*/ 248602 w 320039"/>
                  <a:gd name="connsiteY16" fmla="*/ 187643 h 374332"/>
                  <a:gd name="connsiteX17" fmla="*/ 320040 w 320039"/>
                  <a:gd name="connsiteY17" fmla="*/ 185738 h 374332"/>
                  <a:gd name="connsiteX18" fmla="*/ 307657 w 320039"/>
                  <a:gd name="connsiteY18" fmla="*/ 265748 h 374332"/>
                  <a:gd name="connsiteX19" fmla="*/ 273367 w 320039"/>
                  <a:gd name="connsiteY19" fmla="*/ 324803 h 374332"/>
                  <a:gd name="connsiteX20" fmla="*/ 221932 w 320039"/>
                  <a:gd name="connsiteY20" fmla="*/ 361950 h 374332"/>
                  <a:gd name="connsiteX21" fmla="*/ 158115 w 320039"/>
                  <a:gd name="connsiteY21" fmla="*/ 374333 h 374332"/>
                  <a:gd name="connsiteX22" fmla="*/ 95250 w 320039"/>
                  <a:gd name="connsiteY22" fmla="*/ 360998 h 374332"/>
                  <a:gd name="connsiteX23" fmla="*/ 45720 w 320039"/>
                  <a:gd name="connsiteY23" fmla="*/ 322898 h 374332"/>
                  <a:gd name="connsiteX24" fmla="*/ 12382 w 320039"/>
                  <a:gd name="connsiteY24" fmla="*/ 263843 h 374332"/>
                  <a:gd name="connsiteX25" fmla="*/ 0 w 320039"/>
                  <a:gd name="connsiteY25" fmla="*/ 187643 h 374332"/>
                  <a:gd name="connsiteX26" fmla="*/ 12382 w 320039"/>
                  <a:gd name="connsiteY26" fmla="*/ 108585 h 374332"/>
                  <a:gd name="connsiteX27" fmla="*/ 45720 w 320039"/>
                  <a:gd name="connsiteY27" fmla="*/ 49530 h 374332"/>
                  <a:gd name="connsiteX28" fmla="*/ 96202 w 320039"/>
                  <a:gd name="connsiteY28" fmla="*/ 12383 h 374332"/>
                  <a:gd name="connsiteX29" fmla="*/ 159067 w 320039"/>
                  <a:gd name="connsiteY29" fmla="*/ 0 h 374332"/>
                  <a:gd name="connsiteX30" fmla="*/ 222885 w 320039"/>
                  <a:gd name="connsiteY30" fmla="*/ 13335 h 374332"/>
                  <a:gd name="connsiteX31" fmla="*/ 273367 w 320039"/>
                  <a:gd name="connsiteY31" fmla="*/ 50483 h 374332"/>
                  <a:gd name="connsiteX32" fmla="*/ 306705 w 320039"/>
                  <a:gd name="connsiteY32" fmla="*/ 108585 h 374332"/>
                  <a:gd name="connsiteX33" fmla="*/ 320040 w 320039"/>
                  <a:gd name="connsiteY33" fmla="*/ 185738 h 37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0039" h="374332">
                    <a:moveTo>
                      <a:pt x="248602" y="187643"/>
                    </a:moveTo>
                    <a:cubicBezTo>
                      <a:pt x="248602" y="169545"/>
                      <a:pt x="246697" y="153353"/>
                      <a:pt x="241935" y="138113"/>
                    </a:cubicBezTo>
                    <a:cubicBezTo>
                      <a:pt x="238125" y="123825"/>
                      <a:pt x="231457" y="110490"/>
                      <a:pt x="223838" y="100013"/>
                    </a:cubicBezTo>
                    <a:cubicBezTo>
                      <a:pt x="216217" y="89535"/>
                      <a:pt x="206692" y="81915"/>
                      <a:pt x="195263" y="76200"/>
                    </a:cubicBezTo>
                    <a:cubicBezTo>
                      <a:pt x="183832" y="70485"/>
                      <a:pt x="171450" y="67628"/>
                      <a:pt x="157163" y="67628"/>
                    </a:cubicBezTo>
                    <a:cubicBezTo>
                      <a:pt x="143827" y="67628"/>
                      <a:pt x="131445" y="70485"/>
                      <a:pt x="120967" y="76200"/>
                    </a:cubicBezTo>
                    <a:cubicBezTo>
                      <a:pt x="110490" y="81915"/>
                      <a:pt x="100965" y="89535"/>
                      <a:pt x="94297" y="100013"/>
                    </a:cubicBezTo>
                    <a:cubicBezTo>
                      <a:pt x="86677" y="110490"/>
                      <a:pt x="80963" y="122873"/>
                      <a:pt x="77152" y="137160"/>
                    </a:cubicBezTo>
                    <a:cubicBezTo>
                      <a:pt x="73342" y="151448"/>
                      <a:pt x="71438" y="167640"/>
                      <a:pt x="71438" y="185738"/>
                    </a:cubicBezTo>
                    <a:cubicBezTo>
                      <a:pt x="71438" y="205740"/>
                      <a:pt x="73342" y="222885"/>
                      <a:pt x="78105" y="238125"/>
                    </a:cubicBezTo>
                    <a:cubicBezTo>
                      <a:pt x="82867" y="253365"/>
                      <a:pt x="88582" y="265748"/>
                      <a:pt x="96202" y="276225"/>
                    </a:cubicBezTo>
                    <a:cubicBezTo>
                      <a:pt x="103822" y="286703"/>
                      <a:pt x="113347" y="294323"/>
                      <a:pt x="124777" y="299085"/>
                    </a:cubicBezTo>
                    <a:cubicBezTo>
                      <a:pt x="136207" y="304800"/>
                      <a:pt x="147638" y="306705"/>
                      <a:pt x="160972" y="306705"/>
                    </a:cubicBezTo>
                    <a:cubicBezTo>
                      <a:pt x="174307" y="306705"/>
                      <a:pt x="186690" y="303848"/>
                      <a:pt x="197167" y="297180"/>
                    </a:cubicBezTo>
                    <a:cubicBezTo>
                      <a:pt x="207645" y="290513"/>
                      <a:pt x="217170" y="281940"/>
                      <a:pt x="224790" y="271463"/>
                    </a:cubicBezTo>
                    <a:cubicBezTo>
                      <a:pt x="232410" y="260985"/>
                      <a:pt x="238125" y="247650"/>
                      <a:pt x="242888" y="233363"/>
                    </a:cubicBezTo>
                    <a:cubicBezTo>
                      <a:pt x="246697" y="220028"/>
                      <a:pt x="248602" y="203835"/>
                      <a:pt x="248602" y="187643"/>
                    </a:cubicBezTo>
                    <a:moveTo>
                      <a:pt x="320040" y="185738"/>
                    </a:moveTo>
                    <a:cubicBezTo>
                      <a:pt x="320040" y="215265"/>
                      <a:pt x="316230" y="241935"/>
                      <a:pt x="307657" y="265748"/>
                    </a:cubicBezTo>
                    <a:cubicBezTo>
                      <a:pt x="299085" y="288608"/>
                      <a:pt x="287655" y="308610"/>
                      <a:pt x="273367" y="324803"/>
                    </a:cubicBezTo>
                    <a:cubicBezTo>
                      <a:pt x="259080" y="340995"/>
                      <a:pt x="241935" y="353378"/>
                      <a:pt x="221932" y="361950"/>
                    </a:cubicBezTo>
                    <a:cubicBezTo>
                      <a:pt x="201930" y="370523"/>
                      <a:pt x="180975" y="374333"/>
                      <a:pt x="158115" y="374333"/>
                    </a:cubicBezTo>
                    <a:cubicBezTo>
                      <a:pt x="135255" y="374333"/>
                      <a:pt x="114300" y="369570"/>
                      <a:pt x="95250" y="360998"/>
                    </a:cubicBezTo>
                    <a:cubicBezTo>
                      <a:pt x="76200" y="352425"/>
                      <a:pt x="59055" y="339090"/>
                      <a:pt x="45720" y="322898"/>
                    </a:cubicBezTo>
                    <a:cubicBezTo>
                      <a:pt x="31432" y="306705"/>
                      <a:pt x="20955" y="286703"/>
                      <a:pt x="12382" y="263843"/>
                    </a:cubicBezTo>
                    <a:cubicBezTo>
                      <a:pt x="4763" y="240983"/>
                      <a:pt x="0" y="215265"/>
                      <a:pt x="0" y="187643"/>
                    </a:cubicBezTo>
                    <a:cubicBezTo>
                      <a:pt x="0" y="158115"/>
                      <a:pt x="3810" y="132398"/>
                      <a:pt x="12382" y="108585"/>
                    </a:cubicBezTo>
                    <a:cubicBezTo>
                      <a:pt x="20955" y="85725"/>
                      <a:pt x="31432" y="65723"/>
                      <a:pt x="45720" y="49530"/>
                    </a:cubicBezTo>
                    <a:cubicBezTo>
                      <a:pt x="60007" y="33338"/>
                      <a:pt x="77152" y="20955"/>
                      <a:pt x="96202" y="12383"/>
                    </a:cubicBezTo>
                    <a:cubicBezTo>
                      <a:pt x="115252" y="3810"/>
                      <a:pt x="136207" y="0"/>
                      <a:pt x="159067" y="0"/>
                    </a:cubicBezTo>
                    <a:cubicBezTo>
                      <a:pt x="181927" y="0"/>
                      <a:pt x="202882" y="4763"/>
                      <a:pt x="222885" y="13335"/>
                    </a:cubicBezTo>
                    <a:cubicBezTo>
                      <a:pt x="241935" y="21908"/>
                      <a:pt x="259080" y="34290"/>
                      <a:pt x="273367" y="50483"/>
                    </a:cubicBezTo>
                    <a:cubicBezTo>
                      <a:pt x="287655" y="66675"/>
                      <a:pt x="299085" y="85725"/>
                      <a:pt x="306705" y="108585"/>
                    </a:cubicBezTo>
                    <a:cubicBezTo>
                      <a:pt x="315277" y="132398"/>
                      <a:pt x="320040" y="158115"/>
                      <a:pt x="320040" y="185738"/>
                    </a:cubicBezTo>
                  </a:path>
                </a:pathLst>
              </a:custGeom>
              <a:solidFill>
                <a:srgbClr val="1A9AFA"/>
              </a:solidFill>
              <a:ln w="952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683DE02F-0F52-C06F-4937-3BB6A6495536}"/>
                  </a:ext>
                </a:extLst>
              </p:cNvPr>
              <p:cNvSpPr/>
              <p:nvPr/>
            </p:nvSpPr>
            <p:spPr bwMode="invGray">
              <a:xfrm>
                <a:off x="13699312" y="6376989"/>
                <a:ext cx="287655" cy="365759"/>
              </a:xfrm>
              <a:custGeom>
                <a:avLst/>
                <a:gdLst>
                  <a:gd name="connsiteX0" fmla="*/ 218122 w 287655"/>
                  <a:gd name="connsiteY0" fmla="*/ 365760 h 365759"/>
                  <a:gd name="connsiteX1" fmla="*/ 218122 w 287655"/>
                  <a:gd name="connsiteY1" fmla="*/ 162878 h 365759"/>
                  <a:gd name="connsiteX2" fmla="*/ 200977 w 287655"/>
                  <a:gd name="connsiteY2" fmla="*/ 89535 h 365759"/>
                  <a:gd name="connsiteX3" fmla="*/ 144780 w 287655"/>
                  <a:gd name="connsiteY3" fmla="*/ 64770 h 365759"/>
                  <a:gd name="connsiteX4" fmla="*/ 113347 w 287655"/>
                  <a:gd name="connsiteY4" fmla="*/ 70485 h 365759"/>
                  <a:gd name="connsiteX5" fmla="*/ 89535 w 287655"/>
                  <a:gd name="connsiteY5" fmla="*/ 89535 h 365759"/>
                  <a:gd name="connsiteX6" fmla="*/ 75247 w 287655"/>
                  <a:gd name="connsiteY6" fmla="*/ 119063 h 365759"/>
                  <a:gd name="connsiteX7" fmla="*/ 70485 w 287655"/>
                  <a:gd name="connsiteY7" fmla="*/ 156210 h 365759"/>
                  <a:gd name="connsiteX8" fmla="*/ 70485 w 287655"/>
                  <a:gd name="connsiteY8" fmla="*/ 365760 h 365759"/>
                  <a:gd name="connsiteX9" fmla="*/ 0 w 287655"/>
                  <a:gd name="connsiteY9" fmla="*/ 365760 h 365759"/>
                  <a:gd name="connsiteX10" fmla="*/ 0 w 287655"/>
                  <a:gd name="connsiteY10" fmla="*/ 7620 h 365759"/>
                  <a:gd name="connsiteX11" fmla="*/ 70485 w 287655"/>
                  <a:gd name="connsiteY11" fmla="*/ 7620 h 365759"/>
                  <a:gd name="connsiteX12" fmla="*/ 70485 w 287655"/>
                  <a:gd name="connsiteY12" fmla="*/ 41910 h 365759"/>
                  <a:gd name="connsiteX13" fmla="*/ 86677 w 287655"/>
                  <a:gd name="connsiteY13" fmla="*/ 24765 h 365759"/>
                  <a:gd name="connsiteX14" fmla="*/ 107632 w 287655"/>
                  <a:gd name="connsiteY14" fmla="*/ 11430 h 365759"/>
                  <a:gd name="connsiteX15" fmla="*/ 132397 w 287655"/>
                  <a:gd name="connsiteY15" fmla="*/ 2858 h 365759"/>
                  <a:gd name="connsiteX16" fmla="*/ 160020 w 287655"/>
                  <a:gd name="connsiteY16" fmla="*/ 0 h 365759"/>
                  <a:gd name="connsiteX17" fmla="*/ 216218 w 287655"/>
                  <a:gd name="connsiteY17" fmla="*/ 10478 h 365759"/>
                  <a:gd name="connsiteX18" fmla="*/ 256222 w 287655"/>
                  <a:gd name="connsiteY18" fmla="*/ 40958 h 365759"/>
                  <a:gd name="connsiteX19" fmla="*/ 280035 w 287655"/>
                  <a:gd name="connsiteY19" fmla="*/ 90488 h 365759"/>
                  <a:gd name="connsiteX20" fmla="*/ 287655 w 287655"/>
                  <a:gd name="connsiteY20" fmla="*/ 160972 h 365759"/>
                  <a:gd name="connsiteX21" fmla="*/ 287655 w 287655"/>
                  <a:gd name="connsiteY21" fmla="*/ 365760 h 365759"/>
                  <a:gd name="connsiteX22" fmla="*/ 218122 w 287655"/>
                  <a:gd name="connsiteY22" fmla="*/ 365760 h 36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655" h="365759">
                    <a:moveTo>
                      <a:pt x="218122" y="365760"/>
                    </a:moveTo>
                    <a:lnTo>
                      <a:pt x="218122" y="162878"/>
                    </a:lnTo>
                    <a:cubicBezTo>
                      <a:pt x="218122" y="130492"/>
                      <a:pt x="212407" y="105728"/>
                      <a:pt x="200977" y="89535"/>
                    </a:cubicBezTo>
                    <a:cubicBezTo>
                      <a:pt x="189547" y="73342"/>
                      <a:pt x="170497" y="64770"/>
                      <a:pt x="144780" y="64770"/>
                    </a:cubicBezTo>
                    <a:cubicBezTo>
                      <a:pt x="133350" y="64770"/>
                      <a:pt x="122872" y="66675"/>
                      <a:pt x="113347" y="70485"/>
                    </a:cubicBezTo>
                    <a:cubicBezTo>
                      <a:pt x="103822" y="74295"/>
                      <a:pt x="96202" y="80963"/>
                      <a:pt x="89535" y="89535"/>
                    </a:cubicBezTo>
                    <a:cubicBezTo>
                      <a:pt x="82868" y="98108"/>
                      <a:pt x="78105" y="107633"/>
                      <a:pt x="75247" y="119063"/>
                    </a:cubicBezTo>
                    <a:cubicBezTo>
                      <a:pt x="72390" y="130492"/>
                      <a:pt x="70485" y="142875"/>
                      <a:pt x="70485" y="156210"/>
                    </a:cubicBezTo>
                    <a:lnTo>
                      <a:pt x="70485" y="365760"/>
                    </a:lnTo>
                    <a:lnTo>
                      <a:pt x="0" y="365760"/>
                    </a:lnTo>
                    <a:lnTo>
                      <a:pt x="0" y="7620"/>
                    </a:lnTo>
                    <a:lnTo>
                      <a:pt x="70485" y="7620"/>
                    </a:lnTo>
                    <a:lnTo>
                      <a:pt x="70485" y="41910"/>
                    </a:lnTo>
                    <a:cubicBezTo>
                      <a:pt x="75247" y="35242"/>
                      <a:pt x="80010" y="29528"/>
                      <a:pt x="86677" y="24765"/>
                    </a:cubicBezTo>
                    <a:cubicBezTo>
                      <a:pt x="93345" y="20003"/>
                      <a:pt x="100013" y="15240"/>
                      <a:pt x="107632" y="11430"/>
                    </a:cubicBezTo>
                    <a:cubicBezTo>
                      <a:pt x="115252" y="7620"/>
                      <a:pt x="123825" y="4763"/>
                      <a:pt x="132397" y="2858"/>
                    </a:cubicBezTo>
                    <a:cubicBezTo>
                      <a:pt x="140970" y="953"/>
                      <a:pt x="150495" y="0"/>
                      <a:pt x="160020" y="0"/>
                    </a:cubicBezTo>
                    <a:cubicBezTo>
                      <a:pt x="181927" y="0"/>
                      <a:pt x="200025" y="3810"/>
                      <a:pt x="216218" y="10478"/>
                    </a:cubicBezTo>
                    <a:cubicBezTo>
                      <a:pt x="232410" y="17145"/>
                      <a:pt x="245745" y="27622"/>
                      <a:pt x="256222" y="40958"/>
                    </a:cubicBezTo>
                    <a:cubicBezTo>
                      <a:pt x="266700" y="54292"/>
                      <a:pt x="274320" y="70485"/>
                      <a:pt x="280035" y="90488"/>
                    </a:cubicBezTo>
                    <a:cubicBezTo>
                      <a:pt x="285750" y="110490"/>
                      <a:pt x="287655" y="134303"/>
                      <a:pt x="287655" y="160972"/>
                    </a:cubicBezTo>
                    <a:lnTo>
                      <a:pt x="287655" y="365760"/>
                    </a:lnTo>
                    <a:lnTo>
                      <a:pt x="218122" y="365760"/>
                    </a:lnTo>
                    <a:close/>
                  </a:path>
                </a:pathLst>
              </a:custGeom>
              <a:solidFill>
                <a:srgbClr val="1A9AFA"/>
              </a:solidFill>
              <a:ln w="9525" cap="flat">
                <a:noFill/>
                <a:prstDash val="solid"/>
                <a:miter/>
              </a:ln>
            </p:spPr>
            <p:txBody>
              <a:bodyPr rtlCol="0" anchor="ctr"/>
              <a:lstStyle/>
              <a:p>
                <a:endParaRPr lang="en-US"/>
              </a:p>
            </p:txBody>
          </p:sp>
        </p:grpSp>
        <p:grpSp>
          <p:nvGrpSpPr>
            <p:cNvPr id="9" name="Graphic 4">
              <a:extLst>
                <a:ext uri="{FF2B5EF4-FFF2-40B4-BE49-F238E27FC236}">
                  <a16:creationId xmlns:a16="http://schemas.microsoft.com/office/drawing/2014/main" id="{6CC3E470-B2B6-B970-9B92-CF3C3B78599D}"/>
                </a:ext>
              </a:extLst>
            </p:cNvPr>
            <p:cNvGrpSpPr/>
            <p:nvPr/>
          </p:nvGrpSpPr>
          <p:grpSpPr bwMode="invGray">
            <a:xfrm>
              <a:off x="9673094" y="5359719"/>
              <a:ext cx="1351597" cy="1383029"/>
              <a:chOff x="9673094" y="5359719"/>
              <a:chExt cx="1351597" cy="1383029"/>
            </a:xfrm>
          </p:grpSpPr>
          <p:sp>
            <p:nvSpPr>
              <p:cNvPr id="10" name="Freeform 9">
                <a:extLst>
                  <a:ext uri="{FF2B5EF4-FFF2-40B4-BE49-F238E27FC236}">
                    <a16:creationId xmlns:a16="http://schemas.microsoft.com/office/drawing/2014/main" id="{46818AF8-F03C-6ECB-3CB0-F6FAF76ACAA5}"/>
                  </a:ext>
                </a:extLst>
              </p:cNvPr>
              <p:cNvSpPr/>
              <p:nvPr/>
            </p:nvSpPr>
            <p:spPr bwMode="invGray">
              <a:xfrm>
                <a:off x="9673094" y="5359719"/>
                <a:ext cx="1351597" cy="493394"/>
              </a:xfrm>
              <a:custGeom>
                <a:avLst/>
                <a:gdLst>
                  <a:gd name="connsiteX0" fmla="*/ 1351598 w 1351597"/>
                  <a:gd name="connsiteY0" fmla="*/ 0 h 493394"/>
                  <a:gd name="connsiteX1" fmla="*/ 0 w 1351597"/>
                  <a:gd name="connsiteY1" fmla="*/ 493395 h 493394"/>
                  <a:gd name="connsiteX2" fmla="*/ 1351598 w 1351597"/>
                  <a:gd name="connsiteY2" fmla="*/ 255270 h 493394"/>
                  <a:gd name="connsiteX3" fmla="*/ 1351598 w 1351597"/>
                  <a:gd name="connsiteY3" fmla="*/ 0 h 493394"/>
                </a:gdLst>
                <a:ahLst/>
                <a:cxnLst>
                  <a:cxn ang="0">
                    <a:pos x="connsiteX0" y="connsiteY0"/>
                  </a:cxn>
                  <a:cxn ang="0">
                    <a:pos x="connsiteX1" y="connsiteY1"/>
                  </a:cxn>
                  <a:cxn ang="0">
                    <a:pos x="connsiteX2" y="connsiteY2"/>
                  </a:cxn>
                  <a:cxn ang="0">
                    <a:pos x="connsiteX3" y="connsiteY3"/>
                  </a:cxn>
                </a:cxnLst>
                <a:rect l="l" t="t" r="r" b="b"/>
                <a:pathLst>
                  <a:path w="1351597" h="493394">
                    <a:moveTo>
                      <a:pt x="1351598" y="0"/>
                    </a:moveTo>
                    <a:lnTo>
                      <a:pt x="0" y="493395"/>
                    </a:lnTo>
                    <a:lnTo>
                      <a:pt x="1351598" y="255270"/>
                    </a:lnTo>
                    <a:lnTo>
                      <a:pt x="1351598" y="0"/>
                    </a:lnTo>
                    <a:close/>
                  </a:path>
                </a:pathLst>
              </a:custGeom>
              <a:solidFill>
                <a:srgbClr val="FFE600"/>
              </a:solidFill>
              <a:ln w="9525"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8C5F8729-400F-47B9-2B38-0AFF815620C1}"/>
                  </a:ext>
                </a:extLst>
              </p:cNvPr>
              <p:cNvSpPr/>
              <p:nvPr/>
            </p:nvSpPr>
            <p:spPr bwMode="invGray">
              <a:xfrm>
                <a:off x="9684524" y="6058854"/>
                <a:ext cx="1135379" cy="683894"/>
              </a:xfrm>
              <a:custGeom>
                <a:avLst/>
                <a:gdLst>
                  <a:gd name="connsiteX0" fmla="*/ 911543 w 1135379"/>
                  <a:gd name="connsiteY0" fmla="*/ 0 h 683894"/>
                  <a:gd name="connsiteX1" fmla="*/ 795338 w 1135379"/>
                  <a:gd name="connsiteY1" fmla="*/ 222885 h 683894"/>
                  <a:gd name="connsiteX2" fmla="*/ 679133 w 1135379"/>
                  <a:gd name="connsiteY2" fmla="*/ 0 h 683894"/>
                  <a:gd name="connsiteX3" fmla="*/ 452438 w 1135379"/>
                  <a:gd name="connsiteY3" fmla="*/ 0 h 683894"/>
                  <a:gd name="connsiteX4" fmla="*/ 691515 w 1135379"/>
                  <a:gd name="connsiteY4" fmla="*/ 413385 h 683894"/>
                  <a:gd name="connsiteX5" fmla="*/ 691515 w 1135379"/>
                  <a:gd name="connsiteY5" fmla="*/ 683895 h 683894"/>
                  <a:gd name="connsiteX6" fmla="*/ 896303 w 1135379"/>
                  <a:gd name="connsiteY6" fmla="*/ 683895 h 683894"/>
                  <a:gd name="connsiteX7" fmla="*/ 896303 w 1135379"/>
                  <a:gd name="connsiteY7" fmla="*/ 413385 h 683894"/>
                  <a:gd name="connsiteX8" fmla="*/ 1135380 w 1135379"/>
                  <a:gd name="connsiteY8" fmla="*/ 0 h 683894"/>
                  <a:gd name="connsiteX9" fmla="*/ 911543 w 1135379"/>
                  <a:gd name="connsiteY9" fmla="*/ 0 h 683894"/>
                  <a:gd name="connsiteX10" fmla="*/ 0 w 1135379"/>
                  <a:gd name="connsiteY10" fmla="*/ 0 h 683894"/>
                  <a:gd name="connsiteX11" fmla="*/ 0 w 1135379"/>
                  <a:gd name="connsiteY11" fmla="*/ 683895 h 683894"/>
                  <a:gd name="connsiteX12" fmla="*/ 546735 w 1135379"/>
                  <a:gd name="connsiteY12" fmla="*/ 683895 h 683894"/>
                  <a:gd name="connsiteX13" fmla="*/ 546735 w 1135379"/>
                  <a:gd name="connsiteY13" fmla="*/ 526732 h 683894"/>
                  <a:gd name="connsiteX14" fmla="*/ 204788 w 1135379"/>
                  <a:gd name="connsiteY14" fmla="*/ 526732 h 683894"/>
                  <a:gd name="connsiteX15" fmla="*/ 204788 w 1135379"/>
                  <a:gd name="connsiteY15" fmla="*/ 414338 h 683894"/>
                  <a:gd name="connsiteX16" fmla="*/ 452438 w 1135379"/>
                  <a:gd name="connsiteY16" fmla="*/ 414338 h 683894"/>
                  <a:gd name="connsiteX17" fmla="*/ 452438 w 1135379"/>
                  <a:gd name="connsiteY17" fmla="*/ 270510 h 683894"/>
                  <a:gd name="connsiteX18" fmla="*/ 204788 w 1135379"/>
                  <a:gd name="connsiteY18" fmla="*/ 270510 h 683894"/>
                  <a:gd name="connsiteX19" fmla="*/ 204788 w 1135379"/>
                  <a:gd name="connsiteY19" fmla="*/ 157163 h 683894"/>
                  <a:gd name="connsiteX20" fmla="*/ 479108 w 1135379"/>
                  <a:gd name="connsiteY20" fmla="*/ 157163 h 683894"/>
                  <a:gd name="connsiteX21" fmla="*/ 388620 w 1135379"/>
                  <a:gd name="connsiteY21" fmla="*/ 0 h 683894"/>
                  <a:gd name="connsiteX22" fmla="*/ 0 w 1135379"/>
                  <a:gd name="connsiteY22" fmla="*/ 0 h 68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35379" h="683894">
                    <a:moveTo>
                      <a:pt x="911543" y="0"/>
                    </a:moveTo>
                    <a:lnTo>
                      <a:pt x="795338" y="222885"/>
                    </a:lnTo>
                    <a:lnTo>
                      <a:pt x="679133" y="0"/>
                    </a:lnTo>
                    <a:lnTo>
                      <a:pt x="452438" y="0"/>
                    </a:lnTo>
                    <a:lnTo>
                      <a:pt x="691515" y="413385"/>
                    </a:lnTo>
                    <a:lnTo>
                      <a:pt x="691515" y="683895"/>
                    </a:lnTo>
                    <a:lnTo>
                      <a:pt x="896303" y="683895"/>
                    </a:lnTo>
                    <a:lnTo>
                      <a:pt x="896303" y="413385"/>
                    </a:lnTo>
                    <a:lnTo>
                      <a:pt x="1135380" y="0"/>
                    </a:lnTo>
                    <a:lnTo>
                      <a:pt x="911543" y="0"/>
                    </a:lnTo>
                    <a:close/>
                    <a:moveTo>
                      <a:pt x="0" y="0"/>
                    </a:moveTo>
                    <a:lnTo>
                      <a:pt x="0" y="683895"/>
                    </a:lnTo>
                    <a:lnTo>
                      <a:pt x="546735" y="683895"/>
                    </a:lnTo>
                    <a:lnTo>
                      <a:pt x="546735" y="526732"/>
                    </a:lnTo>
                    <a:lnTo>
                      <a:pt x="204788" y="526732"/>
                    </a:lnTo>
                    <a:lnTo>
                      <a:pt x="204788" y="414338"/>
                    </a:lnTo>
                    <a:lnTo>
                      <a:pt x="452438" y="414338"/>
                    </a:lnTo>
                    <a:lnTo>
                      <a:pt x="452438" y="270510"/>
                    </a:lnTo>
                    <a:lnTo>
                      <a:pt x="204788" y="270510"/>
                    </a:lnTo>
                    <a:lnTo>
                      <a:pt x="204788" y="157163"/>
                    </a:lnTo>
                    <a:lnTo>
                      <a:pt x="479108" y="157163"/>
                    </a:lnTo>
                    <a:lnTo>
                      <a:pt x="388620" y="0"/>
                    </a:lnTo>
                    <a:lnTo>
                      <a:pt x="0" y="0"/>
                    </a:lnTo>
                    <a:close/>
                  </a:path>
                </a:pathLst>
              </a:custGeom>
              <a:solidFill>
                <a:srgbClr val="FFFFFF"/>
              </a:solidFill>
              <a:ln w="952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164978766"/>
      </p:ext>
    </p:extLst>
  </p:cSld>
  <p:clrMap bg1="lt1" tx1="dk1" bg2="lt2" tx2="dk2" accent1="accent1" accent2="accent2" accent3="accent3" accent4="accent4" accent5="accent5" accent6="accent6" hlink="hlink" folHlink="folHlink"/>
  <p:sldLayoutIdLst>
    <p:sldLayoutId id="2147484088" r:id="rId1"/>
    <p:sldLayoutId id="2147484097" r:id="rId2"/>
    <p:sldLayoutId id="2147484104" r:id="rId3"/>
    <p:sldLayoutId id="2147484160" r:id="rId4"/>
    <p:sldLayoutId id="2147484161" r:id="rId5"/>
    <p:sldLayoutId id="2147484126" r:id="rId6"/>
    <p:sldLayoutId id="2147484155" r:id="rId7"/>
  </p:sldLayoutIdLst>
  <p:hf sldNum="0" hdr="0" dt="0"/>
  <p:txStyles>
    <p:titleStyle>
      <a:lvl1pPr algn="l" defTabSz="914400" rtl="0" eaLnBrk="1" latinLnBrk="0" hangingPunct="1">
        <a:lnSpc>
          <a:spcPct val="85000"/>
        </a:lnSpc>
        <a:spcBef>
          <a:spcPct val="0"/>
        </a:spcBef>
        <a:buNone/>
        <a:defRPr sz="3600" b="1" i="0" kern="1200">
          <a:solidFill>
            <a:schemeClr val="tx2"/>
          </a:solidFill>
          <a:latin typeface="+mj-lt"/>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2268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9" pos="7378">
          <p15:clr>
            <a:srgbClr val="F26B43"/>
          </p15:clr>
        </p15:guide>
        <p15:guide id="35" pos="302">
          <p15:clr>
            <a:srgbClr val="F26B43"/>
          </p15:clr>
        </p15:guide>
        <p15:guide id="36" orient="horz" pos="210">
          <p15:clr>
            <a:srgbClr val="F26B43"/>
          </p15:clr>
        </p15:guide>
        <p15:guide id="37" orient="horz" pos="527">
          <p15:clr>
            <a:srgbClr val="F26B43"/>
          </p15:clr>
        </p15:guide>
        <p15:guide id="38" orient="horz" pos="890">
          <p15:clr>
            <a:srgbClr val="F26B43"/>
          </p15:clr>
        </p15:guide>
        <p15:guide id="39" orient="horz" pos="383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8DE8EEA9-1BE2-99F2-2FFC-DE34F9313F9D}"/>
              </a:ext>
            </a:extLst>
          </p:cNvPr>
          <p:cNvGraphicFramePr>
            <a:graphicFrameLocks noChangeAspect="1"/>
          </p:cNvGraphicFramePr>
          <p:nvPr userDrawn="1">
            <p:custDataLst>
              <p:tags r:id="rId9"/>
            </p:custDataLst>
            <p:extLst>
              <p:ext uri="{D42A27DB-BD31-4B8C-83A1-F6EECF244321}">
                <p14:modId xmlns:p14="http://schemas.microsoft.com/office/powerpoint/2010/main" val="14835622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95" imgH="396" progId="TCLayout.ActiveDocument.1">
                  <p:embed/>
                </p:oleObj>
              </mc:Choice>
              <mc:Fallback>
                <p:oleObj name="think-cell Slide" r:id="rId10" imgW="395" imgH="396" progId="TCLayout.ActiveDocument.1">
                  <p:embed/>
                  <p:pic>
                    <p:nvPicPr>
                      <p:cNvPr id="13" name="think-cell data - do not delete" hidden="1">
                        <a:extLst>
                          <a:ext uri="{FF2B5EF4-FFF2-40B4-BE49-F238E27FC236}">
                            <a16:creationId xmlns:a16="http://schemas.microsoft.com/office/drawing/2014/main" id="{8DE8EEA9-1BE2-99F2-2FFC-DE34F9313F9D}"/>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1026" name="Rectangle 2"/>
          <p:cNvSpPr>
            <a:spLocks noGrp="1" noChangeArrowheads="1"/>
          </p:cNvSpPr>
          <p:nvPr userDrawn="1">
            <p:ph type="title"/>
          </p:nvPr>
        </p:nvSpPr>
        <p:spPr bwMode="gray">
          <a:xfrm>
            <a:off x="701365" y="273717"/>
            <a:ext cx="10789269" cy="792000"/>
          </a:xfrm>
          <a:prstGeom prst="rect">
            <a:avLst/>
          </a:prstGeom>
          <a:noFill/>
          <a:ln w="9525">
            <a:noFill/>
            <a:miter lim="800000"/>
            <a:headEnd/>
            <a:tailEnd/>
          </a:ln>
          <a:effectLst/>
        </p:spPr>
        <p:txBody>
          <a:bodyPr vert="horz" wrap="square" lIns="0" tIns="0" rIns="0" bIns="36000" numCol="1" anchor="b" anchorCtr="0" compatLnSpc="1">
            <a:prstTxWarp prst="textNoShape">
              <a:avLst/>
            </a:prstTxWarp>
          </a:bodyPr>
          <a:lstStyle/>
          <a:p>
            <a:pPr lvl="0"/>
            <a:r>
              <a:rPr lang="en-US"/>
              <a:t>Headline 1 (Interstate 22pt)</a:t>
            </a:r>
          </a:p>
        </p:txBody>
      </p:sp>
      <p:sp>
        <p:nvSpPr>
          <p:cNvPr id="1027" name="Rectangle 3"/>
          <p:cNvSpPr>
            <a:spLocks noGrp="1" noChangeArrowheads="1"/>
          </p:cNvSpPr>
          <p:nvPr userDrawn="1">
            <p:ph type="body" idx="1"/>
          </p:nvPr>
        </p:nvSpPr>
        <p:spPr bwMode="gray">
          <a:xfrm>
            <a:off x="699555" y="1291281"/>
            <a:ext cx="10789269" cy="4968000"/>
          </a:xfrm>
          <a:prstGeom prst="rect">
            <a:avLst/>
          </a:prstGeom>
          <a:noFill/>
          <a:ln w="9525">
            <a:noFill/>
            <a:miter lim="800000"/>
            <a:headEnd/>
            <a:tailEnd/>
          </a:ln>
          <a:effectLst/>
        </p:spPr>
        <p:txBody>
          <a:bodyPr vert="horz" wrap="square" lIns="0" tIns="0" rIns="71975" bIns="0" numCol="1" anchor="t" anchorCtr="0" compatLnSpc="1">
            <a:prstTxWarp prst="textNoShape">
              <a:avLst/>
            </a:prstTxWarp>
          </a:bodyPr>
          <a:lstStyle/>
          <a:p>
            <a:pPr lvl="0"/>
            <a:r>
              <a:rPr lang="en-US"/>
              <a:t>Body text (Interstate 10pt)</a:t>
            </a:r>
          </a:p>
          <a:p>
            <a:pPr lvl="1"/>
            <a:r>
              <a:rPr lang="en-US"/>
              <a:t>Headline 2 (Interstate bold 14pt)</a:t>
            </a:r>
          </a:p>
          <a:p>
            <a:pPr lvl="3"/>
            <a:r>
              <a:rPr lang="en-US"/>
              <a:t>Bullet 1 (Interstate 10pt)</a:t>
            </a:r>
          </a:p>
          <a:p>
            <a:pPr lvl="4"/>
            <a:r>
              <a:rPr lang="en-US"/>
              <a:t>Bullet 2 (Interstate 10pt)</a:t>
            </a:r>
          </a:p>
          <a:p>
            <a:pPr lvl="2"/>
            <a:r>
              <a:rPr lang="en-US"/>
              <a:t>Headline 3 (Interstate bold 12pt)</a:t>
            </a:r>
          </a:p>
        </p:txBody>
      </p:sp>
      <p:sp>
        <p:nvSpPr>
          <p:cNvPr id="3" name="Text Box 121">
            <a:extLst>
              <a:ext uri="{FF2B5EF4-FFF2-40B4-BE49-F238E27FC236}">
                <a16:creationId xmlns:a16="http://schemas.microsoft.com/office/drawing/2014/main" id="{64F04876-C6DA-5108-CA05-450DFAF9C2AC}"/>
              </a:ext>
            </a:extLst>
          </p:cNvPr>
          <p:cNvSpPr txBox="1">
            <a:spLocks noChangeArrowheads="1"/>
          </p:cNvSpPr>
          <p:nvPr userDrawn="1"/>
        </p:nvSpPr>
        <p:spPr bwMode="gray">
          <a:xfrm>
            <a:off x="8536943" y="6509460"/>
            <a:ext cx="2500630" cy="123111"/>
          </a:xfrm>
          <a:prstGeom prst="rect">
            <a:avLst/>
          </a:prstGeom>
          <a:noFill/>
          <a:ln w="12700">
            <a:noFill/>
            <a:miter lim="800000"/>
            <a:headEnd type="none" w="sm" len="sm"/>
            <a:tailEnd type="none" w="sm" len="sm"/>
          </a:ln>
          <a:effectLst/>
        </p:spPr>
        <p:txBody>
          <a:bodyPr wrap="square" lIns="0" tIns="0" rIns="0" bIns="0" anchor="b">
            <a:spAutoFit/>
          </a:bodyPr>
          <a:lstStyle/>
          <a:p>
            <a:pPr algn="r" defTabSz="902010"/>
            <a:r>
              <a:rPr lang="en-US" sz="800" b="0" baseline="0">
                <a:solidFill>
                  <a:schemeClr val="tx1"/>
                </a:solidFill>
                <a:latin typeface="EYInterstate Light" panose="02000506000000020004" pitchFamily="2" charset="0"/>
              </a:rPr>
              <a:t>Confidential — All Rights Reserved</a:t>
            </a:r>
          </a:p>
        </p:txBody>
      </p:sp>
      <p:sp>
        <p:nvSpPr>
          <p:cNvPr id="4" name="Text Box 121">
            <a:extLst>
              <a:ext uri="{FF2B5EF4-FFF2-40B4-BE49-F238E27FC236}">
                <a16:creationId xmlns:a16="http://schemas.microsoft.com/office/drawing/2014/main" id="{EB4195A1-0BC3-A969-F4BF-4C0783071B87}"/>
              </a:ext>
            </a:extLst>
          </p:cNvPr>
          <p:cNvSpPr txBox="1">
            <a:spLocks noChangeArrowheads="1"/>
          </p:cNvSpPr>
          <p:nvPr userDrawn="1"/>
        </p:nvSpPr>
        <p:spPr bwMode="gray">
          <a:xfrm>
            <a:off x="1039340" y="6516012"/>
            <a:ext cx="255354" cy="123111"/>
          </a:xfrm>
          <a:prstGeom prst="rect">
            <a:avLst/>
          </a:prstGeom>
          <a:solidFill>
            <a:schemeClr val="bg1"/>
          </a:solidFill>
          <a:ln w="12700">
            <a:noFill/>
            <a:miter lim="800000"/>
            <a:headEnd type="none" w="sm" len="sm"/>
            <a:tailEnd type="none" w="sm" len="sm"/>
          </a:ln>
          <a:effectLst/>
        </p:spPr>
        <p:txBody>
          <a:bodyPr wrap="square" lIns="0" tIns="0" rIns="0" bIns="0" anchor="b">
            <a:spAutoFit/>
          </a:bodyPr>
          <a:lstStyle/>
          <a:p>
            <a:pPr algn="ctr" defTabSz="902010"/>
            <a:fld id="{2ED390AD-E177-4AD8-B0DF-CC72DC7E0383}" type="slidenum">
              <a:rPr lang="en-US" sz="800" b="0" baseline="0" smtClean="0">
                <a:solidFill>
                  <a:schemeClr val="tx2"/>
                </a:solidFill>
                <a:latin typeface="EYInterstate Light" panose="02000506000000020004" pitchFamily="2" charset="0"/>
              </a:rPr>
              <a:pPr algn="ctr" defTabSz="902010"/>
              <a:t>‹#›</a:t>
            </a:fld>
            <a:endParaRPr lang="en-US" sz="800" b="0" baseline="0">
              <a:solidFill>
                <a:schemeClr val="tx2"/>
              </a:solidFill>
              <a:latin typeface="EYInterstate Light" panose="02000506000000020004" pitchFamily="2" charset="0"/>
            </a:endParaRPr>
          </a:p>
        </p:txBody>
      </p:sp>
      <p:sp>
        <p:nvSpPr>
          <p:cNvPr id="5" name="Footer Placeholder 2">
            <a:extLst>
              <a:ext uri="{FF2B5EF4-FFF2-40B4-BE49-F238E27FC236}">
                <a16:creationId xmlns:a16="http://schemas.microsoft.com/office/drawing/2014/main" id="{F50CB8F6-DF7F-F70E-1D22-89646850C042}"/>
              </a:ext>
            </a:extLst>
          </p:cNvPr>
          <p:cNvSpPr txBox="1">
            <a:spLocks/>
          </p:cNvSpPr>
          <p:nvPr userDrawn="1"/>
        </p:nvSpPr>
        <p:spPr>
          <a:xfrm>
            <a:off x="1328690" y="6511723"/>
            <a:ext cx="4209486" cy="123111"/>
          </a:xfrm>
          <a:prstGeom prst="rect">
            <a:avLst/>
          </a:prstGeom>
        </p:spPr>
        <p:txBody>
          <a:bodyPr wrap="none" lIns="0" tIns="0" rIns="0" bIns="0">
            <a:spAutoFit/>
          </a:bodyPr>
          <a:lstStyle>
            <a:defPPr>
              <a:defRPr lang="en-US"/>
            </a:defPPr>
            <a:lvl1pPr>
              <a:defRPr sz="800">
                <a:solidFill>
                  <a:schemeClr val="bg1"/>
                </a:solidFill>
                <a:latin typeface="EYInterstate Regular"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r>
              <a:rPr lang="en-US">
                <a:solidFill>
                  <a:schemeClr val="tx1"/>
                </a:solidFill>
                <a:latin typeface="EYInterstate Light"/>
              </a:rPr>
              <a:t>Technical Advisory for Cardiac Center of Excellence PPP Evaluation and RFP Management </a:t>
            </a:r>
          </a:p>
        </p:txBody>
      </p:sp>
      <p:cxnSp>
        <p:nvCxnSpPr>
          <p:cNvPr id="6" name="Straight Connector 5">
            <a:extLst>
              <a:ext uri="{FF2B5EF4-FFF2-40B4-BE49-F238E27FC236}">
                <a16:creationId xmlns:a16="http://schemas.microsoft.com/office/drawing/2014/main" id="{73E8FFD8-E07C-1C9E-2491-9C5444BA7500}"/>
              </a:ext>
            </a:extLst>
          </p:cNvPr>
          <p:cNvCxnSpPr>
            <a:cxnSpLocks/>
          </p:cNvCxnSpPr>
          <p:nvPr userDrawn="1"/>
        </p:nvCxnSpPr>
        <p:spPr>
          <a:xfrm flipH="1">
            <a:off x="6140116" y="6573245"/>
            <a:ext cx="3288484" cy="0"/>
          </a:xfrm>
          <a:prstGeom prst="line">
            <a:avLst/>
          </a:prstGeom>
          <a:noFill/>
          <a:ln w="3175" cap="flat" cmpd="sng" algn="ctr">
            <a:solidFill>
              <a:srgbClr val="747480">
                <a:alpha val="76000"/>
              </a:srgbClr>
            </a:solidFill>
            <a:prstDash val="solid"/>
            <a:round/>
            <a:headEnd type="none" w="med" len="med"/>
            <a:tailEnd type="none" w="med" len="med"/>
          </a:ln>
          <a:effectLst/>
        </p:spPr>
      </p:cxnSp>
      <p:grpSp>
        <p:nvGrpSpPr>
          <p:cNvPr id="8" name="Group 4">
            <a:extLst>
              <a:ext uri="{FF2B5EF4-FFF2-40B4-BE49-F238E27FC236}">
                <a16:creationId xmlns:a16="http://schemas.microsoft.com/office/drawing/2014/main" id="{D599D05C-6DBE-AD43-0EE4-8F6C64C353CF}"/>
              </a:ext>
            </a:extLst>
          </p:cNvPr>
          <p:cNvGrpSpPr>
            <a:grpSpLocks noChangeAspect="1"/>
          </p:cNvGrpSpPr>
          <p:nvPr userDrawn="1"/>
        </p:nvGrpSpPr>
        <p:grpSpPr bwMode="auto">
          <a:xfrm>
            <a:off x="11195955" y="6344885"/>
            <a:ext cx="303213" cy="311150"/>
            <a:chOff x="7110" y="4004"/>
            <a:chExt cx="191" cy="196"/>
          </a:xfrm>
        </p:grpSpPr>
        <p:sp>
          <p:nvSpPr>
            <p:cNvPr id="9" name="Freeform 5">
              <a:extLst>
                <a:ext uri="{FF2B5EF4-FFF2-40B4-BE49-F238E27FC236}">
                  <a16:creationId xmlns:a16="http://schemas.microsoft.com/office/drawing/2014/main" id="{17B3DFF1-49FC-8AAF-2C28-53300FBC19A6}"/>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endParaRPr>
            </a:p>
          </p:txBody>
        </p:sp>
        <p:sp>
          <p:nvSpPr>
            <p:cNvPr id="10" name="Freeform 6">
              <a:extLst>
                <a:ext uri="{FF2B5EF4-FFF2-40B4-BE49-F238E27FC236}">
                  <a16:creationId xmlns:a16="http://schemas.microsoft.com/office/drawing/2014/main" id="{B94FCB94-4CF6-CDCB-5FA2-F0948127E4CA}"/>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endParaRPr>
            </a:p>
          </p:txBody>
        </p:sp>
        <p:sp>
          <p:nvSpPr>
            <p:cNvPr id="12" name="Freeform 7">
              <a:extLst>
                <a:ext uri="{FF2B5EF4-FFF2-40B4-BE49-F238E27FC236}">
                  <a16:creationId xmlns:a16="http://schemas.microsoft.com/office/drawing/2014/main" id="{8A3879C9-6492-D0AB-22B6-9B51E72A9B52}"/>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endParaRPr>
            </a:p>
          </p:txBody>
        </p:sp>
      </p:grpSp>
      <p:grpSp>
        <p:nvGrpSpPr>
          <p:cNvPr id="2" name="Group 1">
            <a:extLst>
              <a:ext uri="{FF2B5EF4-FFF2-40B4-BE49-F238E27FC236}">
                <a16:creationId xmlns:a16="http://schemas.microsoft.com/office/drawing/2014/main" id="{CE5E4072-F533-F747-7B39-F871BF32505C}"/>
              </a:ext>
            </a:extLst>
          </p:cNvPr>
          <p:cNvGrpSpPr/>
          <p:nvPr userDrawn="1"/>
        </p:nvGrpSpPr>
        <p:grpSpPr>
          <a:xfrm>
            <a:off x="5583098" y="6542649"/>
            <a:ext cx="452788" cy="66431"/>
            <a:chOff x="1585721" y="10286999"/>
            <a:chExt cx="799526" cy="117303"/>
          </a:xfrm>
        </p:grpSpPr>
        <p:sp>
          <p:nvSpPr>
            <p:cNvPr id="11" name="Freeform: Shape 10">
              <a:extLst>
                <a:ext uri="{FF2B5EF4-FFF2-40B4-BE49-F238E27FC236}">
                  <a16:creationId xmlns:a16="http://schemas.microsoft.com/office/drawing/2014/main" id="{654D5DBB-E240-248A-AD45-CA1F3BA49919}"/>
                </a:ext>
              </a:extLst>
            </p:cNvPr>
            <p:cNvSpPr/>
            <p:nvPr/>
          </p:nvSpPr>
          <p:spPr>
            <a:xfrm>
              <a:off x="2069394" y="10296525"/>
              <a:ext cx="98250" cy="98250"/>
            </a:xfrm>
            <a:custGeom>
              <a:avLst/>
              <a:gdLst>
                <a:gd name="connsiteX0" fmla="*/ 39387 w 39387"/>
                <a:gd name="connsiteY0" fmla="*/ 19694 h 39387"/>
                <a:gd name="connsiteX1" fmla="*/ 19694 w 39387"/>
                <a:gd name="connsiteY1" fmla="*/ 39387 h 39387"/>
                <a:gd name="connsiteX2" fmla="*/ 0 w 39387"/>
                <a:gd name="connsiteY2" fmla="*/ 19694 h 39387"/>
                <a:gd name="connsiteX3" fmla="*/ 19694 w 39387"/>
                <a:gd name="connsiteY3" fmla="*/ 0 h 39387"/>
                <a:gd name="connsiteX4" fmla="*/ 39387 w 39387"/>
                <a:gd name="connsiteY4" fmla="*/ 19694 h 39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87" h="39387">
                  <a:moveTo>
                    <a:pt x="39387" y="19694"/>
                  </a:moveTo>
                  <a:cubicBezTo>
                    <a:pt x="39387" y="30570"/>
                    <a:pt x="30570" y="39387"/>
                    <a:pt x="19694" y="39387"/>
                  </a:cubicBezTo>
                  <a:cubicBezTo>
                    <a:pt x="8817" y="39387"/>
                    <a:pt x="0" y="30570"/>
                    <a:pt x="0" y="19694"/>
                  </a:cubicBezTo>
                  <a:cubicBezTo>
                    <a:pt x="0" y="8817"/>
                    <a:pt x="8817" y="0"/>
                    <a:pt x="19694" y="0"/>
                  </a:cubicBezTo>
                  <a:cubicBezTo>
                    <a:pt x="30570" y="0"/>
                    <a:pt x="39387" y="8817"/>
                    <a:pt x="39387" y="19694"/>
                  </a:cubicBezTo>
                  <a:close/>
                </a:path>
              </a:pathLst>
            </a:custGeom>
            <a:solidFill>
              <a:srgbClr val="24AEB3"/>
            </a:solidFill>
            <a:ln w="3821"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70E4AAC7-3528-AB57-8195-5C1C90B05DAE}"/>
                </a:ext>
              </a:extLst>
            </p:cNvPr>
            <p:cNvSpPr/>
            <p:nvPr/>
          </p:nvSpPr>
          <p:spPr>
            <a:xfrm>
              <a:off x="1889766" y="10305987"/>
              <a:ext cx="79327" cy="79327"/>
            </a:xfrm>
            <a:custGeom>
              <a:avLst/>
              <a:gdLst>
                <a:gd name="connsiteX0" fmla="*/ 31801 w 31801"/>
                <a:gd name="connsiteY0" fmla="*/ 15901 h 31801"/>
                <a:gd name="connsiteX1" fmla="*/ 15901 w 31801"/>
                <a:gd name="connsiteY1" fmla="*/ 0 h 31801"/>
                <a:gd name="connsiteX2" fmla="*/ 0 w 31801"/>
                <a:gd name="connsiteY2" fmla="*/ 15901 h 31801"/>
                <a:gd name="connsiteX3" fmla="*/ 15901 w 31801"/>
                <a:gd name="connsiteY3" fmla="*/ 31801 h 31801"/>
                <a:gd name="connsiteX4" fmla="*/ 31801 w 31801"/>
                <a:gd name="connsiteY4" fmla="*/ 15901 h 31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01" h="31801">
                  <a:moveTo>
                    <a:pt x="31801" y="15901"/>
                  </a:moveTo>
                  <a:cubicBezTo>
                    <a:pt x="31801" y="7127"/>
                    <a:pt x="24675" y="0"/>
                    <a:pt x="15901" y="0"/>
                  </a:cubicBezTo>
                  <a:cubicBezTo>
                    <a:pt x="7126" y="0"/>
                    <a:pt x="0" y="7127"/>
                    <a:pt x="0" y="15901"/>
                  </a:cubicBezTo>
                  <a:cubicBezTo>
                    <a:pt x="0" y="24675"/>
                    <a:pt x="7126" y="31801"/>
                    <a:pt x="15901" y="31801"/>
                  </a:cubicBezTo>
                  <a:cubicBezTo>
                    <a:pt x="24675" y="31801"/>
                    <a:pt x="31801" y="24675"/>
                    <a:pt x="31801" y="15901"/>
                  </a:cubicBezTo>
                  <a:close/>
                </a:path>
              </a:pathLst>
            </a:custGeom>
            <a:solidFill>
              <a:srgbClr val="04C56D"/>
            </a:solidFill>
            <a:ln w="3821"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E5E6C67-B717-7F04-AC32-7CFF5BA18092}"/>
                </a:ext>
              </a:extLst>
            </p:cNvPr>
            <p:cNvSpPr/>
            <p:nvPr/>
          </p:nvSpPr>
          <p:spPr>
            <a:xfrm>
              <a:off x="1731741" y="10316788"/>
              <a:ext cx="57724" cy="57724"/>
            </a:xfrm>
            <a:custGeom>
              <a:avLst/>
              <a:gdLst>
                <a:gd name="connsiteX0" fmla="*/ 23142 w 23141"/>
                <a:gd name="connsiteY0" fmla="*/ 11571 h 23141"/>
                <a:gd name="connsiteX1" fmla="*/ 11571 w 23141"/>
                <a:gd name="connsiteY1" fmla="*/ 0 h 23141"/>
                <a:gd name="connsiteX2" fmla="*/ 0 w 23141"/>
                <a:gd name="connsiteY2" fmla="*/ 11571 h 23141"/>
                <a:gd name="connsiteX3" fmla="*/ 11571 w 23141"/>
                <a:gd name="connsiteY3" fmla="*/ 23142 h 23141"/>
                <a:gd name="connsiteX4" fmla="*/ 23142 w 23141"/>
                <a:gd name="connsiteY4" fmla="*/ 11571 h 23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1" h="23141">
                  <a:moveTo>
                    <a:pt x="23142" y="11571"/>
                  </a:moveTo>
                  <a:cubicBezTo>
                    <a:pt x="23142" y="5172"/>
                    <a:pt x="17969" y="0"/>
                    <a:pt x="11571" y="0"/>
                  </a:cubicBezTo>
                  <a:cubicBezTo>
                    <a:pt x="5172" y="0"/>
                    <a:pt x="0" y="5172"/>
                    <a:pt x="0" y="11571"/>
                  </a:cubicBezTo>
                  <a:cubicBezTo>
                    <a:pt x="0" y="17970"/>
                    <a:pt x="5172" y="23142"/>
                    <a:pt x="11571" y="23142"/>
                  </a:cubicBezTo>
                  <a:cubicBezTo>
                    <a:pt x="17969" y="23142"/>
                    <a:pt x="23142" y="17970"/>
                    <a:pt x="23142" y="11571"/>
                  </a:cubicBezTo>
                  <a:close/>
                </a:path>
              </a:pathLst>
            </a:custGeom>
            <a:solidFill>
              <a:srgbClr val="B3DD1E"/>
            </a:solidFill>
            <a:ln w="3821"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CC96097-9E6E-DBAC-84F9-1BE16351F9D5}"/>
                </a:ext>
              </a:extLst>
            </p:cNvPr>
            <p:cNvSpPr/>
            <p:nvPr/>
          </p:nvSpPr>
          <p:spPr>
            <a:xfrm>
              <a:off x="1585721" y="10322791"/>
              <a:ext cx="45719" cy="45719"/>
            </a:xfrm>
            <a:custGeom>
              <a:avLst/>
              <a:gdLst>
                <a:gd name="connsiteX0" fmla="*/ 14406 w 14406"/>
                <a:gd name="connsiteY0" fmla="*/ 7203 h 14406"/>
                <a:gd name="connsiteX1" fmla="*/ 7203 w 14406"/>
                <a:gd name="connsiteY1" fmla="*/ 0 h 14406"/>
                <a:gd name="connsiteX2" fmla="*/ 0 w 14406"/>
                <a:gd name="connsiteY2" fmla="*/ 7203 h 14406"/>
                <a:gd name="connsiteX3" fmla="*/ 7203 w 14406"/>
                <a:gd name="connsiteY3" fmla="*/ 14406 h 14406"/>
                <a:gd name="connsiteX4" fmla="*/ 14406 w 14406"/>
                <a:gd name="connsiteY4" fmla="*/ 7203 h 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06" h="14406">
                  <a:moveTo>
                    <a:pt x="14406" y="7203"/>
                  </a:moveTo>
                  <a:cubicBezTo>
                    <a:pt x="14406" y="3218"/>
                    <a:pt x="11188" y="0"/>
                    <a:pt x="7203" y="0"/>
                  </a:cubicBezTo>
                  <a:cubicBezTo>
                    <a:pt x="3218" y="0"/>
                    <a:pt x="0" y="3218"/>
                    <a:pt x="0" y="7203"/>
                  </a:cubicBezTo>
                  <a:cubicBezTo>
                    <a:pt x="0" y="11188"/>
                    <a:pt x="3218" y="14406"/>
                    <a:pt x="7203" y="14406"/>
                  </a:cubicBezTo>
                  <a:cubicBezTo>
                    <a:pt x="11188" y="14406"/>
                    <a:pt x="14406" y="11188"/>
                    <a:pt x="14406" y="7203"/>
                  </a:cubicBezTo>
                  <a:close/>
                </a:path>
              </a:pathLst>
            </a:custGeom>
            <a:solidFill>
              <a:srgbClr val="FFE600"/>
            </a:solidFill>
            <a:ln w="3821"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38D70A3-9D97-9A2D-01B7-47462124F6F5}"/>
                </a:ext>
              </a:extLst>
            </p:cNvPr>
            <p:cNvSpPr/>
            <p:nvPr userDrawn="1"/>
          </p:nvSpPr>
          <p:spPr>
            <a:xfrm>
              <a:off x="2267944" y="10286999"/>
              <a:ext cx="117303" cy="117303"/>
            </a:xfrm>
            <a:custGeom>
              <a:avLst/>
              <a:gdLst>
                <a:gd name="connsiteX0" fmla="*/ 39387 w 39387"/>
                <a:gd name="connsiteY0" fmla="*/ 19694 h 39387"/>
                <a:gd name="connsiteX1" fmla="*/ 19694 w 39387"/>
                <a:gd name="connsiteY1" fmla="*/ 39387 h 39387"/>
                <a:gd name="connsiteX2" fmla="*/ 0 w 39387"/>
                <a:gd name="connsiteY2" fmla="*/ 19694 h 39387"/>
                <a:gd name="connsiteX3" fmla="*/ 19694 w 39387"/>
                <a:gd name="connsiteY3" fmla="*/ 0 h 39387"/>
                <a:gd name="connsiteX4" fmla="*/ 39387 w 39387"/>
                <a:gd name="connsiteY4" fmla="*/ 19694 h 39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87" h="39387">
                  <a:moveTo>
                    <a:pt x="39387" y="19694"/>
                  </a:moveTo>
                  <a:cubicBezTo>
                    <a:pt x="39387" y="30570"/>
                    <a:pt x="30570" y="39387"/>
                    <a:pt x="19694" y="39387"/>
                  </a:cubicBezTo>
                  <a:cubicBezTo>
                    <a:pt x="8817" y="39387"/>
                    <a:pt x="0" y="30570"/>
                    <a:pt x="0" y="19694"/>
                  </a:cubicBezTo>
                  <a:cubicBezTo>
                    <a:pt x="0" y="8817"/>
                    <a:pt x="8817" y="0"/>
                    <a:pt x="19694" y="0"/>
                  </a:cubicBezTo>
                  <a:cubicBezTo>
                    <a:pt x="30570" y="0"/>
                    <a:pt x="39387" y="8817"/>
                    <a:pt x="39387" y="19694"/>
                  </a:cubicBezTo>
                  <a:close/>
                </a:path>
              </a:pathLst>
            </a:custGeom>
            <a:solidFill>
              <a:srgbClr val="4696FF"/>
            </a:solidFill>
            <a:ln w="3821" cap="flat">
              <a:noFill/>
              <a:prstDash val="solid"/>
              <a:miter/>
            </a:ln>
          </p:spPr>
          <p:txBody>
            <a:bodyPr rtlCol="0" anchor="ctr"/>
            <a:lstStyle/>
            <a:p>
              <a:endParaRPr lang="en-US"/>
            </a:p>
          </p:txBody>
        </p:sp>
      </p:grpSp>
      <p:sp>
        <p:nvSpPr>
          <p:cNvPr id="25" name="Graphic 23">
            <a:extLst>
              <a:ext uri="{FF2B5EF4-FFF2-40B4-BE49-F238E27FC236}">
                <a16:creationId xmlns:a16="http://schemas.microsoft.com/office/drawing/2014/main" id="{735B98B6-ECC0-B4AD-7766-7D242421289B}"/>
              </a:ext>
            </a:extLst>
          </p:cNvPr>
          <p:cNvSpPr/>
          <p:nvPr/>
        </p:nvSpPr>
        <p:spPr>
          <a:xfrm>
            <a:off x="699530" y="6516012"/>
            <a:ext cx="324213" cy="143560"/>
          </a:xfrm>
          <a:custGeom>
            <a:avLst/>
            <a:gdLst>
              <a:gd name="connsiteX0" fmla="*/ 24 w 324213"/>
              <a:gd name="connsiteY0" fmla="*/ 40709 h 143560"/>
              <a:gd name="connsiteX1" fmla="*/ 9563 w 324213"/>
              <a:gd name="connsiteY1" fmla="*/ 15247 h 143560"/>
              <a:gd name="connsiteX2" fmla="*/ 31224 w 324213"/>
              <a:gd name="connsiteY2" fmla="*/ 1476 h 143560"/>
              <a:gd name="connsiteX3" fmla="*/ 44564 w 324213"/>
              <a:gd name="connsiteY3" fmla="*/ 42 h 143560"/>
              <a:gd name="connsiteX4" fmla="*/ 66225 w 324213"/>
              <a:gd name="connsiteY4" fmla="*/ 7214 h 143560"/>
              <a:gd name="connsiteX5" fmla="*/ 78274 w 324213"/>
              <a:gd name="connsiteY5" fmla="*/ 18547 h 143560"/>
              <a:gd name="connsiteX6" fmla="*/ 89750 w 324213"/>
              <a:gd name="connsiteY6" fmla="*/ 7645 h 143560"/>
              <a:gd name="connsiteX7" fmla="*/ 105673 w 324213"/>
              <a:gd name="connsiteY7" fmla="*/ 831 h 143560"/>
              <a:gd name="connsiteX8" fmla="*/ 116073 w 324213"/>
              <a:gd name="connsiteY8" fmla="*/ 42 h 143560"/>
              <a:gd name="connsiteX9" fmla="*/ 141391 w 324213"/>
              <a:gd name="connsiteY9" fmla="*/ 9581 h 143560"/>
              <a:gd name="connsiteX10" fmla="*/ 155449 w 324213"/>
              <a:gd name="connsiteY10" fmla="*/ 32389 h 143560"/>
              <a:gd name="connsiteX11" fmla="*/ 156525 w 324213"/>
              <a:gd name="connsiteY11" fmla="*/ 45945 h 143560"/>
              <a:gd name="connsiteX12" fmla="*/ 156525 w 324213"/>
              <a:gd name="connsiteY12" fmla="*/ 46375 h 143560"/>
              <a:gd name="connsiteX13" fmla="*/ 156166 w 324213"/>
              <a:gd name="connsiteY13" fmla="*/ 51468 h 143560"/>
              <a:gd name="connsiteX14" fmla="*/ 155234 w 324213"/>
              <a:gd name="connsiteY14" fmla="*/ 58497 h 143560"/>
              <a:gd name="connsiteX15" fmla="*/ 152795 w 324213"/>
              <a:gd name="connsiteY15" fmla="*/ 67677 h 143560"/>
              <a:gd name="connsiteX16" fmla="*/ 320125 w 324213"/>
              <a:gd name="connsiteY16" fmla="*/ 70618 h 143560"/>
              <a:gd name="connsiteX17" fmla="*/ 324214 w 324213"/>
              <a:gd name="connsiteY17" fmla="*/ 74706 h 143560"/>
              <a:gd name="connsiteX18" fmla="*/ 320125 w 324213"/>
              <a:gd name="connsiteY18" fmla="*/ 78794 h 143560"/>
              <a:gd name="connsiteX19" fmla="*/ 117364 w 324213"/>
              <a:gd name="connsiteY19" fmla="*/ 75854 h 143560"/>
              <a:gd name="connsiteX20" fmla="*/ 113777 w 324213"/>
              <a:gd name="connsiteY20" fmla="*/ 73702 h 143560"/>
              <a:gd name="connsiteX21" fmla="*/ 104023 w 324213"/>
              <a:gd name="connsiteY21" fmla="*/ 55699 h 143560"/>
              <a:gd name="connsiteX22" fmla="*/ 97353 w 324213"/>
              <a:gd name="connsiteY22" fmla="*/ 98805 h 143560"/>
              <a:gd name="connsiteX23" fmla="*/ 93623 w 324213"/>
              <a:gd name="connsiteY23" fmla="*/ 102248 h 143560"/>
              <a:gd name="connsiteX24" fmla="*/ 93265 w 324213"/>
              <a:gd name="connsiteY24" fmla="*/ 102248 h 143560"/>
              <a:gd name="connsiteX25" fmla="*/ 89392 w 324213"/>
              <a:gd name="connsiteY25" fmla="*/ 99451 h 143560"/>
              <a:gd name="connsiteX26" fmla="*/ 79207 w 324213"/>
              <a:gd name="connsiteY26" fmla="*/ 68897 h 143560"/>
              <a:gd name="connsiteX27" fmla="*/ 75119 w 324213"/>
              <a:gd name="connsiteY27" fmla="*/ 74204 h 143560"/>
              <a:gd name="connsiteX28" fmla="*/ 71891 w 324213"/>
              <a:gd name="connsiteY28" fmla="*/ 75782 h 143560"/>
              <a:gd name="connsiteX29" fmla="*/ 37249 w 324213"/>
              <a:gd name="connsiteY29" fmla="*/ 75782 h 143560"/>
              <a:gd name="connsiteX30" fmla="*/ 33160 w 324213"/>
              <a:gd name="connsiteY30" fmla="*/ 71694 h 143560"/>
              <a:gd name="connsiteX31" fmla="*/ 37249 w 324213"/>
              <a:gd name="connsiteY31" fmla="*/ 67605 h 143560"/>
              <a:gd name="connsiteX32" fmla="*/ 69883 w 324213"/>
              <a:gd name="connsiteY32" fmla="*/ 67605 h 143560"/>
              <a:gd name="connsiteX33" fmla="*/ 77485 w 324213"/>
              <a:gd name="connsiteY33" fmla="*/ 57779 h 143560"/>
              <a:gd name="connsiteX34" fmla="*/ 81430 w 324213"/>
              <a:gd name="connsiteY34" fmla="*/ 56273 h 143560"/>
              <a:gd name="connsiteX35" fmla="*/ 84658 w 324213"/>
              <a:gd name="connsiteY35" fmla="*/ 58999 h 143560"/>
              <a:gd name="connsiteX36" fmla="*/ 91902 w 324213"/>
              <a:gd name="connsiteY36" fmla="*/ 80731 h 143560"/>
              <a:gd name="connsiteX37" fmla="*/ 97855 w 324213"/>
              <a:gd name="connsiteY37" fmla="*/ 42359 h 143560"/>
              <a:gd name="connsiteX38" fmla="*/ 101226 w 324213"/>
              <a:gd name="connsiteY38" fmla="*/ 38916 h 143560"/>
              <a:gd name="connsiteX39" fmla="*/ 105529 w 324213"/>
              <a:gd name="connsiteY39" fmla="*/ 40996 h 143560"/>
              <a:gd name="connsiteX40" fmla="*/ 119946 w 324213"/>
              <a:gd name="connsiteY40" fmla="*/ 67534 h 143560"/>
              <a:gd name="connsiteX41" fmla="*/ 144116 w 324213"/>
              <a:gd name="connsiteY41" fmla="*/ 67534 h 143560"/>
              <a:gd name="connsiteX42" fmla="*/ 147272 w 324213"/>
              <a:gd name="connsiteY42" fmla="*/ 56919 h 143560"/>
              <a:gd name="connsiteX43" fmla="*/ 148133 w 324213"/>
              <a:gd name="connsiteY43" fmla="*/ 50464 h 143560"/>
              <a:gd name="connsiteX44" fmla="*/ 148420 w 324213"/>
              <a:gd name="connsiteY44" fmla="*/ 45945 h 143560"/>
              <a:gd name="connsiteX45" fmla="*/ 148420 w 324213"/>
              <a:gd name="connsiteY45" fmla="*/ 45515 h 143560"/>
              <a:gd name="connsiteX46" fmla="*/ 147559 w 324213"/>
              <a:gd name="connsiteY46" fmla="*/ 34182 h 143560"/>
              <a:gd name="connsiteX47" fmla="*/ 136299 w 324213"/>
              <a:gd name="connsiteY47" fmla="*/ 15821 h 143560"/>
              <a:gd name="connsiteX48" fmla="*/ 115786 w 324213"/>
              <a:gd name="connsiteY48" fmla="*/ 8147 h 143560"/>
              <a:gd name="connsiteX49" fmla="*/ 107466 w 324213"/>
              <a:gd name="connsiteY49" fmla="*/ 8792 h 143560"/>
              <a:gd name="connsiteX50" fmla="*/ 94556 w 324213"/>
              <a:gd name="connsiteY50" fmla="*/ 14315 h 143560"/>
              <a:gd name="connsiteX51" fmla="*/ 83008 w 324213"/>
              <a:gd name="connsiteY51" fmla="*/ 26293 h 143560"/>
              <a:gd name="connsiteX52" fmla="*/ 82291 w 324213"/>
              <a:gd name="connsiteY52" fmla="*/ 27369 h 143560"/>
              <a:gd name="connsiteX53" fmla="*/ 78561 w 324213"/>
              <a:gd name="connsiteY53" fmla="*/ 33250 h 143560"/>
              <a:gd name="connsiteX54" fmla="*/ 75047 w 324213"/>
              <a:gd name="connsiteY54" fmla="*/ 28014 h 143560"/>
              <a:gd name="connsiteX55" fmla="*/ 74330 w 324213"/>
              <a:gd name="connsiteY55" fmla="*/ 26938 h 143560"/>
              <a:gd name="connsiteX56" fmla="*/ 73325 w 324213"/>
              <a:gd name="connsiteY56" fmla="*/ 25432 h 143560"/>
              <a:gd name="connsiteX57" fmla="*/ 61850 w 324213"/>
              <a:gd name="connsiteY57" fmla="*/ 13956 h 143560"/>
              <a:gd name="connsiteX58" fmla="*/ 44349 w 324213"/>
              <a:gd name="connsiteY58" fmla="*/ 8147 h 143560"/>
              <a:gd name="connsiteX59" fmla="*/ 33591 w 324213"/>
              <a:gd name="connsiteY59" fmla="*/ 9223 h 143560"/>
              <a:gd name="connsiteX60" fmla="*/ 16162 w 324213"/>
              <a:gd name="connsiteY60" fmla="*/ 20268 h 143560"/>
              <a:gd name="connsiteX61" fmla="*/ 8488 w 324213"/>
              <a:gd name="connsiteY61" fmla="*/ 40853 h 143560"/>
              <a:gd name="connsiteX62" fmla="*/ 8774 w 324213"/>
              <a:gd name="connsiteY62" fmla="*/ 50535 h 143560"/>
              <a:gd name="connsiteX63" fmla="*/ 9850 w 324213"/>
              <a:gd name="connsiteY63" fmla="*/ 58066 h 143560"/>
              <a:gd name="connsiteX64" fmla="*/ 14225 w 324213"/>
              <a:gd name="connsiteY64" fmla="*/ 70761 h 143560"/>
              <a:gd name="connsiteX65" fmla="*/ 23908 w 324213"/>
              <a:gd name="connsiteY65" fmla="*/ 84389 h 143560"/>
              <a:gd name="connsiteX66" fmla="*/ 38324 w 324213"/>
              <a:gd name="connsiteY66" fmla="*/ 98303 h 143560"/>
              <a:gd name="connsiteX67" fmla="*/ 44923 w 324213"/>
              <a:gd name="connsiteY67" fmla="*/ 104041 h 143560"/>
              <a:gd name="connsiteX68" fmla="*/ 51020 w 324213"/>
              <a:gd name="connsiteY68" fmla="*/ 109349 h 143560"/>
              <a:gd name="connsiteX69" fmla="*/ 57546 w 324213"/>
              <a:gd name="connsiteY69" fmla="*/ 115015 h 143560"/>
              <a:gd name="connsiteX70" fmla="*/ 67444 w 324213"/>
              <a:gd name="connsiteY70" fmla="*/ 123837 h 143560"/>
              <a:gd name="connsiteX71" fmla="*/ 76194 w 324213"/>
              <a:gd name="connsiteY71" fmla="*/ 131870 h 143560"/>
              <a:gd name="connsiteX72" fmla="*/ 78346 w 324213"/>
              <a:gd name="connsiteY72" fmla="*/ 133806 h 143560"/>
              <a:gd name="connsiteX73" fmla="*/ 81717 w 324213"/>
              <a:gd name="connsiteY73" fmla="*/ 130650 h 143560"/>
              <a:gd name="connsiteX74" fmla="*/ 92189 w 324213"/>
              <a:gd name="connsiteY74" fmla="*/ 121111 h 143560"/>
              <a:gd name="connsiteX75" fmla="*/ 122599 w 324213"/>
              <a:gd name="connsiteY75" fmla="*/ 93569 h 143560"/>
              <a:gd name="connsiteX76" fmla="*/ 128409 w 324213"/>
              <a:gd name="connsiteY76" fmla="*/ 93928 h 143560"/>
              <a:gd name="connsiteX77" fmla="*/ 128050 w 324213"/>
              <a:gd name="connsiteY77" fmla="*/ 99738 h 143560"/>
              <a:gd name="connsiteX78" fmla="*/ 97711 w 324213"/>
              <a:gd name="connsiteY78" fmla="*/ 127208 h 143560"/>
              <a:gd name="connsiteX79" fmla="*/ 87240 w 324213"/>
              <a:gd name="connsiteY79" fmla="*/ 136747 h 143560"/>
              <a:gd name="connsiteX80" fmla="*/ 83367 w 324213"/>
              <a:gd name="connsiteY80" fmla="*/ 140333 h 143560"/>
              <a:gd name="connsiteX81" fmla="*/ 81789 w 324213"/>
              <a:gd name="connsiteY81" fmla="*/ 141839 h 143560"/>
              <a:gd name="connsiteX82" fmla="*/ 78418 w 324213"/>
              <a:gd name="connsiteY82" fmla="*/ 143561 h 143560"/>
              <a:gd name="connsiteX83" fmla="*/ 78274 w 324213"/>
              <a:gd name="connsiteY83" fmla="*/ 143561 h 143560"/>
              <a:gd name="connsiteX84" fmla="*/ 73469 w 324213"/>
              <a:gd name="connsiteY84" fmla="*/ 140620 h 143560"/>
              <a:gd name="connsiteX85" fmla="*/ 73039 w 324213"/>
              <a:gd name="connsiteY85" fmla="*/ 140118 h 143560"/>
              <a:gd name="connsiteX86" fmla="*/ 70600 w 324213"/>
              <a:gd name="connsiteY86" fmla="*/ 137895 h 143560"/>
              <a:gd name="connsiteX87" fmla="*/ 61921 w 324213"/>
              <a:gd name="connsiteY87" fmla="*/ 129933 h 143560"/>
              <a:gd name="connsiteX88" fmla="*/ 52095 w 324213"/>
              <a:gd name="connsiteY88" fmla="*/ 121183 h 143560"/>
              <a:gd name="connsiteX89" fmla="*/ 45640 w 324213"/>
              <a:gd name="connsiteY89" fmla="*/ 115517 h 143560"/>
              <a:gd name="connsiteX90" fmla="*/ 39472 w 324213"/>
              <a:gd name="connsiteY90" fmla="*/ 110209 h 143560"/>
              <a:gd name="connsiteX91" fmla="*/ 32802 w 324213"/>
              <a:gd name="connsiteY91" fmla="*/ 104400 h 143560"/>
              <a:gd name="connsiteX92" fmla="*/ 17740 w 324213"/>
              <a:gd name="connsiteY92" fmla="*/ 89840 h 143560"/>
              <a:gd name="connsiteX93" fmla="*/ 6838 w 324213"/>
              <a:gd name="connsiteY93" fmla="*/ 74491 h 143560"/>
              <a:gd name="connsiteX94" fmla="*/ 1674 w 324213"/>
              <a:gd name="connsiteY94" fmla="*/ 59572 h 143560"/>
              <a:gd name="connsiteX95" fmla="*/ 455 w 324213"/>
              <a:gd name="connsiteY95" fmla="*/ 51396 h 143560"/>
              <a:gd name="connsiteX96" fmla="*/ 24 w 324213"/>
              <a:gd name="connsiteY96" fmla="*/ 40709 h 14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24213" h="143560">
                <a:moveTo>
                  <a:pt x="24" y="40709"/>
                </a:moveTo>
                <a:cubicBezTo>
                  <a:pt x="455" y="31027"/>
                  <a:pt x="3610" y="22420"/>
                  <a:pt x="9563" y="15247"/>
                </a:cubicBezTo>
                <a:cubicBezTo>
                  <a:pt x="15158" y="8434"/>
                  <a:pt x="22474" y="3772"/>
                  <a:pt x="31224" y="1476"/>
                </a:cubicBezTo>
                <a:cubicBezTo>
                  <a:pt x="35599" y="329"/>
                  <a:pt x="40046" y="-101"/>
                  <a:pt x="44564" y="42"/>
                </a:cubicBezTo>
                <a:cubicBezTo>
                  <a:pt x="52311" y="401"/>
                  <a:pt x="59626" y="2839"/>
                  <a:pt x="66225" y="7214"/>
                </a:cubicBezTo>
                <a:cubicBezTo>
                  <a:pt x="70743" y="10227"/>
                  <a:pt x="74832" y="14028"/>
                  <a:pt x="78274" y="18547"/>
                </a:cubicBezTo>
                <a:cubicBezTo>
                  <a:pt x="81574" y="14243"/>
                  <a:pt x="85447" y="10514"/>
                  <a:pt x="89750" y="7645"/>
                </a:cubicBezTo>
                <a:cubicBezTo>
                  <a:pt x="94627" y="4274"/>
                  <a:pt x="100007" y="2050"/>
                  <a:pt x="105673" y="831"/>
                </a:cubicBezTo>
                <a:cubicBezTo>
                  <a:pt x="109044" y="114"/>
                  <a:pt x="112558" y="-101"/>
                  <a:pt x="116073" y="42"/>
                </a:cubicBezTo>
                <a:cubicBezTo>
                  <a:pt x="125755" y="472"/>
                  <a:pt x="134290" y="3700"/>
                  <a:pt x="141391" y="9581"/>
                </a:cubicBezTo>
                <a:cubicBezTo>
                  <a:pt x="148492" y="15463"/>
                  <a:pt x="153225" y="23137"/>
                  <a:pt x="155449" y="32389"/>
                </a:cubicBezTo>
                <a:cubicBezTo>
                  <a:pt x="156381" y="36406"/>
                  <a:pt x="156740" y="40709"/>
                  <a:pt x="156525" y="45945"/>
                </a:cubicBezTo>
                <a:lnTo>
                  <a:pt x="156525" y="46375"/>
                </a:lnTo>
                <a:cubicBezTo>
                  <a:pt x="156453" y="48025"/>
                  <a:pt x="156381" y="49746"/>
                  <a:pt x="156166" y="51468"/>
                </a:cubicBezTo>
                <a:cubicBezTo>
                  <a:pt x="155879" y="54193"/>
                  <a:pt x="155592" y="56417"/>
                  <a:pt x="155234" y="58497"/>
                </a:cubicBezTo>
                <a:cubicBezTo>
                  <a:pt x="154660" y="61652"/>
                  <a:pt x="153871" y="64737"/>
                  <a:pt x="152795" y="67677"/>
                </a:cubicBezTo>
                <a:lnTo>
                  <a:pt x="320125" y="70618"/>
                </a:lnTo>
                <a:cubicBezTo>
                  <a:pt x="322421" y="70618"/>
                  <a:pt x="324214" y="72483"/>
                  <a:pt x="324214" y="74706"/>
                </a:cubicBezTo>
                <a:cubicBezTo>
                  <a:pt x="324214" y="77001"/>
                  <a:pt x="322349" y="78794"/>
                  <a:pt x="320125" y="78794"/>
                </a:cubicBezTo>
                <a:lnTo>
                  <a:pt x="117364" y="75854"/>
                </a:lnTo>
                <a:cubicBezTo>
                  <a:pt x="115857" y="75854"/>
                  <a:pt x="114495" y="74993"/>
                  <a:pt x="113777" y="73702"/>
                </a:cubicBezTo>
                <a:lnTo>
                  <a:pt x="104023" y="55699"/>
                </a:lnTo>
                <a:lnTo>
                  <a:pt x="97353" y="98805"/>
                </a:lnTo>
                <a:cubicBezTo>
                  <a:pt x="97066" y="100670"/>
                  <a:pt x="95560" y="102104"/>
                  <a:pt x="93623" y="102248"/>
                </a:cubicBezTo>
                <a:cubicBezTo>
                  <a:pt x="93480" y="102248"/>
                  <a:pt x="93408" y="102248"/>
                  <a:pt x="93265" y="102248"/>
                </a:cubicBezTo>
                <a:cubicBezTo>
                  <a:pt x="91543" y="102248"/>
                  <a:pt x="89965" y="101100"/>
                  <a:pt x="89392" y="99451"/>
                </a:cubicBezTo>
                <a:lnTo>
                  <a:pt x="79207" y="68897"/>
                </a:lnTo>
                <a:lnTo>
                  <a:pt x="75119" y="74204"/>
                </a:lnTo>
                <a:cubicBezTo>
                  <a:pt x="74330" y="75208"/>
                  <a:pt x="73110" y="75782"/>
                  <a:pt x="71891" y="75782"/>
                </a:cubicBezTo>
                <a:lnTo>
                  <a:pt x="37249" y="75782"/>
                </a:lnTo>
                <a:cubicBezTo>
                  <a:pt x="34953" y="75782"/>
                  <a:pt x="33160" y="73917"/>
                  <a:pt x="33160" y="71694"/>
                </a:cubicBezTo>
                <a:cubicBezTo>
                  <a:pt x="33160" y="69470"/>
                  <a:pt x="35025" y="67605"/>
                  <a:pt x="37249" y="67605"/>
                </a:cubicBezTo>
                <a:lnTo>
                  <a:pt x="69883" y="67605"/>
                </a:lnTo>
                <a:cubicBezTo>
                  <a:pt x="69883" y="67605"/>
                  <a:pt x="77485" y="57779"/>
                  <a:pt x="77485" y="57779"/>
                </a:cubicBezTo>
                <a:cubicBezTo>
                  <a:pt x="78418" y="56560"/>
                  <a:pt x="79924" y="55986"/>
                  <a:pt x="81430" y="56273"/>
                </a:cubicBezTo>
                <a:cubicBezTo>
                  <a:pt x="82936" y="56560"/>
                  <a:pt x="84156" y="57564"/>
                  <a:pt x="84658" y="58999"/>
                </a:cubicBezTo>
                <a:lnTo>
                  <a:pt x="91902" y="80731"/>
                </a:lnTo>
                <a:lnTo>
                  <a:pt x="97855" y="42359"/>
                </a:lnTo>
                <a:cubicBezTo>
                  <a:pt x="98142" y="40637"/>
                  <a:pt x="99504" y="39275"/>
                  <a:pt x="101226" y="38916"/>
                </a:cubicBezTo>
                <a:cubicBezTo>
                  <a:pt x="102947" y="38629"/>
                  <a:pt x="104669" y="39490"/>
                  <a:pt x="105529" y="40996"/>
                </a:cubicBezTo>
                <a:lnTo>
                  <a:pt x="119946" y="67534"/>
                </a:lnTo>
                <a:lnTo>
                  <a:pt x="144116" y="67534"/>
                </a:lnTo>
                <a:cubicBezTo>
                  <a:pt x="145551" y="64091"/>
                  <a:pt x="146627" y="60577"/>
                  <a:pt x="147272" y="56919"/>
                </a:cubicBezTo>
                <a:cubicBezTo>
                  <a:pt x="147631" y="54982"/>
                  <a:pt x="147918" y="52974"/>
                  <a:pt x="148133" y="50464"/>
                </a:cubicBezTo>
                <a:cubicBezTo>
                  <a:pt x="148276" y="49029"/>
                  <a:pt x="148348" y="47523"/>
                  <a:pt x="148420" y="45945"/>
                </a:cubicBezTo>
                <a:lnTo>
                  <a:pt x="148420" y="45515"/>
                </a:lnTo>
                <a:cubicBezTo>
                  <a:pt x="148635" y="40996"/>
                  <a:pt x="148420" y="37410"/>
                  <a:pt x="147559" y="34182"/>
                </a:cubicBezTo>
                <a:cubicBezTo>
                  <a:pt x="145766" y="26580"/>
                  <a:pt x="142108" y="20555"/>
                  <a:pt x="136299" y="15821"/>
                </a:cubicBezTo>
                <a:cubicBezTo>
                  <a:pt x="130489" y="11016"/>
                  <a:pt x="123819" y="8505"/>
                  <a:pt x="115786" y="8147"/>
                </a:cubicBezTo>
                <a:cubicBezTo>
                  <a:pt x="112988" y="8003"/>
                  <a:pt x="110191" y="8218"/>
                  <a:pt x="107466" y="8792"/>
                </a:cubicBezTo>
                <a:cubicBezTo>
                  <a:pt x="102875" y="9725"/>
                  <a:pt x="98500" y="11589"/>
                  <a:pt x="94556" y="14315"/>
                </a:cubicBezTo>
                <a:cubicBezTo>
                  <a:pt x="90037" y="17399"/>
                  <a:pt x="86236" y="21344"/>
                  <a:pt x="83008" y="26293"/>
                </a:cubicBezTo>
                <a:cubicBezTo>
                  <a:pt x="82793" y="26651"/>
                  <a:pt x="82578" y="27010"/>
                  <a:pt x="82291" y="27369"/>
                </a:cubicBezTo>
                <a:lnTo>
                  <a:pt x="78561" y="33250"/>
                </a:lnTo>
                <a:lnTo>
                  <a:pt x="75047" y="28014"/>
                </a:lnTo>
                <a:lnTo>
                  <a:pt x="74330" y="26938"/>
                </a:lnTo>
                <a:cubicBezTo>
                  <a:pt x="74043" y="26436"/>
                  <a:pt x="73684" y="25934"/>
                  <a:pt x="73325" y="25432"/>
                </a:cubicBezTo>
                <a:cubicBezTo>
                  <a:pt x="70098" y="20770"/>
                  <a:pt x="66225" y="16897"/>
                  <a:pt x="61850" y="13956"/>
                </a:cubicBezTo>
                <a:cubicBezTo>
                  <a:pt x="56470" y="10442"/>
                  <a:pt x="50589" y="8434"/>
                  <a:pt x="44349" y="8147"/>
                </a:cubicBezTo>
                <a:cubicBezTo>
                  <a:pt x="40620" y="7932"/>
                  <a:pt x="37033" y="8362"/>
                  <a:pt x="33591" y="9223"/>
                </a:cubicBezTo>
                <a:cubicBezTo>
                  <a:pt x="26418" y="11087"/>
                  <a:pt x="20752" y="14745"/>
                  <a:pt x="16162" y="20268"/>
                </a:cubicBezTo>
                <a:cubicBezTo>
                  <a:pt x="11428" y="26078"/>
                  <a:pt x="8846" y="32963"/>
                  <a:pt x="8488" y="40853"/>
                </a:cubicBezTo>
                <a:cubicBezTo>
                  <a:pt x="8344" y="44008"/>
                  <a:pt x="8488" y="47308"/>
                  <a:pt x="8774" y="50535"/>
                </a:cubicBezTo>
                <a:cubicBezTo>
                  <a:pt x="9061" y="53117"/>
                  <a:pt x="9420" y="55628"/>
                  <a:pt x="9850" y="58066"/>
                </a:cubicBezTo>
                <a:cubicBezTo>
                  <a:pt x="10639" y="62370"/>
                  <a:pt x="12145" y="66673"/>
                  <a:pt x="14225" y="70761"/>
                </a:cubicBezTo>
                <a:cubicBezTo>
                  <a:pt x="16521" y="75208"/>
                  <a:pt x="19676" y="79655"/>
                  <a:pt x="23908" y="84389"/>
                </a:cubicBezTo>
                <a:cubicBezTo>
                  <a:pt x="28498" y="89409"/>
                  <a:pt x="33519" y="94071"/>
                  <a:pt x="38324" y="98303"/>
                </a:cubicBezTo>
                <a:cubicBezTo>
                  <a:pt x="40476" y="100240"/>
                  <a:pt x="42700" y="102176"/>
                  <a:pt x="44923" y="104041"/>
                </a:cubicBezTo>
                <a:lnTo>
                  <a:pt x="51020" y="109349"/>
                </a:lnTo>
                <a:cubicBezTo>
                  <a:pt x="53171" y="111213"/>
                  <a:pt x="55395" y="113150"/>
                  <a:pt x="57546" y="115015"/>
                </a:cubicBezTo>
                <a:cubicBezTo>
                  <a:pt x="60630" y="117668"/>
                  <a:pt x="64073" y="120753"/>
                  <a:pt x="67444" y="123837"/>
                </a:cubicBezTo>
                <a:cubicBezTo>
                  <a:pt x="70385" y="126490"/>
                  <a:pt x="73325" y="129216"/>
                  <a:pt x="76194" y="131870"/>
                </a:cubicBezTo>
                <a:lnTo>
                  <a:pt x="78346" y="133806"/>
                </a:lnTo>
                <a:cubicBezTo>
                  <a:pt x="79422" y="132730"/>
                  <a:pt x="80570" y="131726"/>
                  <a:pt x="81717" y="130650"/>
                </a:cubicBezTo>
                <a:cubicBezTo>
                  <a:pt x="83367" y="129144"/>
                  <a:pt x="87312" y="125558"/>
                  <a:pt x="92189" y="121111"/>
                </a:cubicBezTo>
                <a:cubicBezTo>
                  <a:pt x="103378" y="110926"/>
                  <a:pt x="118798" y="96940"/>
                  <a:pt x="122599" y="93569"/>
                </a:cubicBezTo>
                <a:cubicBezTo>
                  <a:pt x="124321" y="92063"/>
                  <a:pt x="126903" y="92207"/>
                  <a:pt x="128409" y="93928"/>
                </a:cubicBezTo>
                <a:cubicBezTo>
                  <a:pt x="129915" y="95649"/>
                  <a:pt x="129772" y="98231"/>
                  <a:pt x="128050" y="99738"/>
                </a:cubicBezTo>
                <a:cubicBezTo>
                  <a:pt x="124321" y="103037"/>
                  <a:pt x="108972" y="117023"/>
                  <a:pt x="97711" y="127208"/>
                </a:cubicBezTo>
                <a:cubicBezTo>
                  <a:pt x="92834" y="131655"/>
                  <a:pt x="88889" y="135241"/>
                  <a:pt x="87240" y="136747"/>
                </a:cubicBezTo>
                <a:cubicBezTo>
                  <a:pt x="85949" y="137895"/>
                  <a:pt x="84658" y="139114"/>
                  <a:pt x="83367" y="140333"/>
                </a:cubicBezTo>
                <a:cubicBezTo>
                  <a:pt x="82865" y="140835"/>
                  <a:pt x="82363" y="141337"/>
                  <a:pt x="81789" y="141839"/>
                </a:cubicBezTo>
                <a:cubicBezTo>
                  <a:pt x="80641" y="143346"/>
                  <a:pt x="79063" y="143561"/>
                  <a:pt x="78418" y="143561"/>
                </a:cubicBezTo>
                <a:lnTo>
                  <a:pt x="78274" y="143561"/>
                </a:lnTo>
                <a:cubicBezTo>
                  <a:pt x="75692" y="143561"/>
                  <a:pt x="74258" y="141624"/>
                  <a:pt x="73469" y="140620"/>
                </a:cubicBezTo>
                <a:cubicBezTo>
                  <a:pt x="73325" y="140405"/>
                  <a:pt x="73182" y="140261"/>
                  <a:pt x="73039" y="140118"/>
                </a:cubicBezTo>
                <a:lnTo>
                  <a:pt x="70600" y="137895"/>
                </a:lnTo>
                <a:cubicBezTo>
                  <a:pt x="67731" y="135241"/>
                  <a:pt x="64790" y="132515"/>
                  <a:pt x="61921" y="129933"/>
                </a:cubicBezTo>
                <a:cubicBezTo>
                  <a:pt x="58550" y="126921"/>
                  <a:pt x="55108" y="123908"/>
                  <a:pt x="52095" y="121183"/>
                </a:cubicBezTo>
                <a:cubicBezTo>
                  <a:pt x="49944" y="119318"/>
                  <a:pt x="47792" y="117382"/>
                  <a:pt x="45640" y="115517"/>
                </a:cubicBezTo>
                <a:lnTo>
                  <a:pt x="39472" y="110209"/>
                </a:lnTo>
                <a:cubicBezTo>
                  <a:pt x="37249" y="108273"/>
                  <a:pt x="35025" y="106336"/>
                  <a:pt x="32802" y="104400"/>
                </a:cubicBezTo>
                <a:cubicBezTo>
                  <a:pt x="27853" y="100025"/>
                  <a:pt x="22617" y="95219"/>
                  <a:pt x="17740" y="89840"/>
                </a:cubicBezTo>
                <a:cubicBezTo>
                  <a:pt x="13006" y="84604"/>
                  <a:pt x="9420" y="79583"/>
                  <a:pt x="6838" y="74491"/>
                </a:cubicBezTo>
                <a:cubicBezTo>
                  <a:pt x="4399" y="69685"/>
                  <a:pt x="2678" y="64665"/>
                  <a:pt x="1674" y="59572"/>
                </a:cubicBezTo>
                <a:cubicBezTo>
                  <a:pt x="1172" y="56919"/>
                  <a:pt x="741" y="54193"/>
                  <a:pt x="455" y="51396"/>
                </a:cubicBezTo>
                <a:cubicBezTo>
                  <a:pt x="24" y="47953"/>
                  <a:pt x="-47" y="44295"/>
                  <a:pt x="24" y="40709"/>
                </a:cubicBezTo>
                <a:close/>
              </a:path>
            </a:pathLst>
          </a:custGeom>
          <a:gradFill>
            <a:gsLst>
              <a:gs pos="0">
                <a:srgbClr val="FFE600"/>
              </a:gs>
              <a:gs pos="58000">
                <a:srgbClr val="00C864"/>
              </a:gs>
              <a:gs pos="100000">
                <a:srgbClr val="4398F7"/>
              </a:gs>
            </a:gsLst>
            <a:lin ang="0" scaled="1"/>
          </a:gradFill>
          <a:ln w="6985" cap="flat">
            <a:noFill/>
            <a:prstDash val="solid"/>
            <a:miter/>
          </a:ln>
        </p:spPr>
        <p:txBody>
          <a:bodyPr rtlCol="0" anchor="ctr"/>
          <a:lstStyle/>
          <a:p>
            <a:endParaRPr lang="en-US"/>
          </a:p>
        </p:txBody>
      </p:sp>
    </p:spTree>
    <p:extLst>
      <p:ext uri="{BB962C8B-B14F-4D97-AF65-F5344CB8AC3E}">
        <p14:creationId xmlns:p14="http://schemas.microsoft.com/office/powerpoint/2010/main" val="2434572635"/>
      </p:ext>
    </p:extLst>
  </p:cSld>
  <p:clrMap bg1="lt1" tx1="dk1" bg2="lt2" tx2="dk2" accent1="accent1" accent2="accent2" accent3="accent3" accent4="accent4" accent5="accent5" accent6="accent6" hlink="hlink" folHlink="folHlink"/>
  <p:sldLayoutIdLst>
    <p:sldLayoutId id="2147484163" r:id="rId1"/>
    <p:sldLayoutId id="2147484164" r:id="rId2"/>
    <p:sldLayoutId id="2147484165" r:id="rId3"/>
    <p:sldLayoutId id="2147484166" r:id="rId4"/>
    <p:sldLayoutId id="2147484167" r:id="rId5"/>
    <p:sldLayoutId id="2147484168" r:id="rId6"/>
    <p:sldLayoutId id="2147484169" r:id="rId7"/>
  </p:sldLayoutIdLst>
  <p:hf sldNum="0" hdr="0" dt="0"/>
  <p:txStyles>
    <p:titleStyle>
      <a:lvl1pPr algn="l" defTabSz="902010" rtl="0" eaLnBrk="1" fontAlgn="base" hangingPunct="1">
        <a:lnSpc>
          <a:spcPct val="85000"/>
        </a:lnSpc>
        <a:spcBef>
          <a:spcPct val="0"/>
        </a:spcBef>
        <a:spcAft>
          <a:spcPct val="0"/>
        </a:spcAft>
        <a:defRPr sz="2199" baseline="0">
          <a:solidFill>
            <a:schemeClr val="tx1"/>
          </a:solidFill>
          <a:latin typeface="EYInterstate Light" panose="02000506000000020004" pitchFamily="2" charset="0"/>
          <a:ea typeface="+mj-ea"/>
          <a:cs typeface="+mj-cs"/>
        </a:defRPr>
      </a:lvl1pPr>
      <a:lvl2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2pPr>
      <a:lvl3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3pPr>
      <a:lvl4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4pPr>
      <a:lvl5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5pPr>
      <a:lvl6pPr marL="414323"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6pPr>
      <a:lvl7pPr marL="828639"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7pPr>
      <a:lvl8pPr marL="1242960"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8pPr>
      <a:lvl9pPr marL="1657279"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9pPr>
    </p:titleStyle>
    <p:bodyStyle>
      <a:lvl1pPr algn="l" defTabSz="902010" rtl="0" eaLnBrk="1" fontAlgn="base" hangingPunct="1">
        <a:spcBef>
          <a:spcPct val="0"/>
        </a:spcBef>
        <a:spcAft>
          <a:spcPct val="40000"/>
        </a:spcAft>
        <a:buClr>
          <a:srgbClr val="FFD200"/>
        </a:buClr>
        <a:buSzPct val="75000"/>
        <a:buFont typeface="Arial Unicode MS" pitchFamily="34" charset="-128"/>
        <a:tabLst>
          <a:tab pos="1463068" algn="l"/>
          <a:tab pos="2926135" algn="l"/>
          <a:tab pos="4228080" algn="r"/>
        </a:tabLst>
        <a:defRPr sz="999" baseline="0">
          <a:solidFill>
            <a:schemeClr val="tx1"/>
          </a:solidFill>
          <a:latin typeface="EYInterstate Light" panose="02000506000000020004" pitchFamily="2" charset="0"/>
          <a:ea typeface="+mn-ea"/>
          <a:cs typeface="+mn-cs"/>
        </a:defRPr>
      </a:lvl1pPr>
      <a:lvl2pPr marL="1439" algn="l" defTabSz="902010" rtl="0" eaLnBrk="1" fontAlgn="base" hangingPunct="1">
        <a:spcBef>
          <a:spcPct val="20000"/>
        </a:spcBef>
        <a:spcAft>
          <a:spcPct val="40000"/>
        </a:spcAft>
        <a:buClr>
          <a:srgbClr val="FFD200"/>
        </a:buClr>
        <a:buSzPct val="75000"/>
        <a:buFont typeface="Arial Unicode MS" pitchFamily="34" charset="-128"/>
        <a:tabLst>
          <a:tab pos="1463068" algn="l"/>
          <a:tab pos="2926135" algn="l"/>
          <a:tab pos="4228080" algn="r"/>
        </a:tabLst>
        <a:defRPr sz="1399" b="1" baseline="0">
          <a:solidFill>
            <a:schemeClr val="tx1"/>
          </a:solidFill>
          <a:latin typeface="EYInterstate Light" panose="02000506000000020004" pitchFamily="2" charset="0"/>
          <a:cs typeface="+mn-cs"/>
        </a:defRPr>
      </a:lvl2pPr>
      <a:lvl3pPr marL="2879"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defRPr sz="1199" b="1" baseline="0">
          <a:solidFill>
            <a:srgbClr val="747480"/>
          </a:solidFill>
          <a:latin typeface="EYInterstate Light" panose="02000506000000020004" pitchFamily="2" charset="0"/>
          <a:cs typeface="+mn-cs"/>
        </a:defRPr>
      </a:lvl3pPr>
      <a:lvl4pPr marL="172632" indent="-168317"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4pPr>
      <a:lvl5pPr marL="319372" indent="-145299"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5pPr>
      <a:lvl6pPr marL="73369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6pPr>
      <a:lvl7pPr marL="114801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7pPr>
      <a:lvl8pPr marL="156233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8pPr>
      <a:lvl9pPr marL="1976651"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9pPr>
    </p:bodyStyle>
    <p:otherStyle>
      <a:defPPr>
        <a:defRPr lang="en-US"/>
      </a:defPPr>
      <a:lvl1pPr marL="0" algn="l" defTabSz="828639" rtl="0" eaLnBrk="1" latinLnBrk="0" hangingPunct="1">
        <a:defRPr sz="1632" kern="1200">
          <a:solidFill>
            <a:schemeClr val="tx1"/>
          </a:solidFill>
          <a:latin typeface="+mn-lt"/>
          <a:ea typeface="+mn-ea"/>
          <a:cs typeface="+mn-cs"/>
        </a:defRPr>
      </a:lvl1pPr>
      <a:lvl2pPr marL="414323" algn="l" defTabSz="828639" rtl="0" eaLnBrk="1" latinLnBrk="0" hangingPunct="1">
        <a:defRPr sz="1632" kern="1200">
          <a:solidFill>
            <a:schemeClr val="tx1"/>
          </a:solidFill>
          <a:latin typeface="+mn-lt"/>
          <a:ea typeface="+mn-ea"/>
          <a:cs typeface="+mn-cs"/>
        </a:defRPr>
      </a:lvl2pPr>
      <a:lvl3pPr marL="828639" algn="l" defTabSz="828639" rtl="0" eaLnBrk="1" latinLnBrk="0" hangingPunct="1">
        <a:defRPr sz="1632" kern="1200">
          <a:solidFill>
            <a:schemeClr val="tx1"/>
          </a:solidFill>
          <a:latin typeface="+mn-lt"/>
          <a:ea typeface="+mn-ea"/>
          <a:cs typeface="+mn-cs"/>
        </a:defRPr>
      </a:lvl3pPr>
      <a:lvl4pPr marL="1242960" algn="l" defTabSz="828639" rtl="0" eaLnBrk="1" latinLnBrk="0" hangingPunct="1">
        <a:defRPr sz="1632" kern="1200">
          <a:solidFill>
            <a:schemeClr val="tx1"/>
          </a:solidFill>
          <a:latin typeface="+mn-lt"/>
          <a:ea typeface="+mn-ea"/>
          <a:cs typeface="+mn-cs"/>
        </a:defRPr>
      </a:lvl4pPr>
      <a:lvl5pPr marL="1657279" algn="l" defTabSz="828639" rtl="0" eaLnBrk="1" latinLnBrk="0" hangingPunct="1">
        <a:defRPr sz="1632" kern="1200">
          <a:solidFill>
            <a:schemeClr val="tx1"/>
          </a:solidFill>
          <a:latin typeface="+mn-lt"/>
          <a:ea typeface="+mn-ea"/>
          <a:cs typeface="+mn-cs"/>
        </a:defRPr>
      </a:lvl5pPr>
      <a:lvl6pPr marL="2071601" algn="l" defTabSz="828639" rtl="0" eaLnBrk="1" latinLnBrk="0" hangingPunct="1">
        <a:defRPr sz="1632" kern="1200">
          <a:solidFill>
            <a:schemeClr val="tx1"/>
          </a:solidFill>
          <a:latin typeface="+mn-lt"/>
          <a:ea typeface="+mn-ea"/>
          <a:cs typeface="+mn-cs"/>
        </a:defRPr>
      </a:lvl6pPr>
      <a:lvl7pPr marL="2485921" algn="l" defTabSz="828639" rtl="0" eaLnBrk="1" latinLnBrk="0" hangingPunct="1">
        <a:defRPr sz="1632" kern="1200">
          <a:solidFill>
            <a:schemeClr val="tx1"/>
          </a:solidFill>
          <a:latin typeface="+mn-lt"/>
          <a:ea typeface="+mn-ea"/>
          <a:cs typeface="+mn-cs"/>
        </a:defRPr>
      </a:lvl7pPr>
      <a:lvl8pPr marL="2900241" algn="l" defTabSz="828639" rtl="0" eaLnBrk="1" latinLnBrk="0" hangingPunct="1">
        <a:defRPr sz="1632" kern="1200">
          <a:solidFill>
            <a:schemeClr val="tx1"/>
          </a:solidFill>
          <a:latin typeface="+mn-lt"/>
          <a:ea typeface="+mn-ea"/>
          <a:cs typeface="+mn-cs"/>
        </a:defRPr>
      </a:lvl8pPr>
      <a:lvl9pPr marL="3314561" algn="l" defTabSz="828639" rtl="0" eaLnBrk="1" latinLnBrk="0" hangingPunct="1">
        <a:defRPr sz="163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432">
          <p15:clr>
            <a:srgbClr val="F26B43"/>
          </p15:clr>
        </p15:guide>
        <p15:guide id="3" pos="7250">
          <p15:clr>
            <a:srgbClr val="F26B43"/>
          </p15:clr>
        </p15:guide>
        <p15:guide id="4" orient="horz" pos="3936">
          <p15:clr>
            <a:srgbClr val="F26B43"/>
          </p15:clr>
        </p15:guide>
        <p15:guide id="5" orient="horz" pos="67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DA1CBAB-9976-2DBE-64C2-31B587489C8A}"/>
              </a:ext>
            </a:extLst>
          </p:cNvPr>
          <p:cNvGraphicFramePr>
            <a:graphicFrameLocks noChangeAspect="1"/>
          </p:cNvGraphicFramePr>
          <p:nvPr userDrawn="1">
            <p:custDataLst>
              <p:tags r:id="rId3"/>
            </p:custDataLst>
            <p:extLst>
              <p:ext uri="{D42A27DB-BD31-4B8C-83A1-F6EECF244321}">
                <p14:modId xmlns:p14="http://schemas.microsoft.com/office/powerpoint/2010/main" val="2563824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3" name="think-cell data - do not delete" hidden="1">
                        <a:extLst>
                          <a:ext uri="{FF2B5EF4-FFF2-40B4-BE49-F238E27FC236}">
                            <a16:creationId xmlns:a16="http://schemas.microsoft.com/office/drawing/2014/main" id="{4DA1CBAB-9976-2DBE-64C2-31B587489C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2" name="Picture 1" descr="A colorful lights and dots&#10;&#10;Description automatically generated with medium confidence">
            <a:extLst>
              <a:ext uri="{FF2B5EF4-FFF2-40B4-BE49-F238E27FC236}">
                <a16:creationId xmlns:a16="http://schemas.microsoft.com/office/drawing/2014/main" id="{44EDD606-B646-2761-55C1-AED4D2E2104D}"/>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47847" y="0"/>
            <a:ext cx="12237773" cy="6858000"/>
          </a:xfrm>
          <a:prstGeom prst="rect">
            <a:avLst/>
          </a:prstGeom>
        </p:spPr>
      </p:pic>
    </p:spTree>
    <p:extLst>
      <p:ext uri="{BB962C8B-B14F-4D97-AF65-F5344CB8AC3E}">
        <p14:creationId xmlns:p14="http://schemas.microsoft.com/office/powerpoint/2010/main" val="443723224"/>
      </p:ext>
    </p:extLst>
  </p:cSld>
  <p:clrMap bg1="lt1" tx1="dk1" bg2="lt2" tx2="dk2" accent1="accent1" accent2="accent2" accent3="accent3" accent4="accent4" accent5="accent5" accent6="accent6" hlink="hlink" folHlink="folHlink"/>
  <p:sldLayoutIdLst>
    <p:sldLayoutId id="2147484172"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13.xml"/><Relationship Id="rId1" Type="http://schemas.openxmlformats.org/officeDocument/2006/relationships/tags" Target="../tags/tag7.xml"/><Relationship Id="rId5" Type="http://schemas.openxmlformats.org/officeDocument/2006/relationships/image" Target="../media/image6.emf"/><Relationship Id="rId4" Type="http://schemas.openxmlformats.org/officeDocument/2006/relationships/oleObject" Target="../embeddings/oleObject5.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slide" Target="slide16.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slide" Target="slide23.xml"/><Relationship Id="rId5" Type="http://schemas.openxmlformats.org/officeDocument/2006/relationships/slide" Target="slide12.xml"/><Relationship Id="rId4" Type="http://schemas.openxmlformats.org/officeDocument/2006/relationships/slide" Target="slide5.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8.svg"/><Relationship Id="rId2" Type="http://schemas.openxmlformats.org/officeDocument/2006/relationships/slideLayout" Target="../slideLayouts/slideLayout3.xml"/><Relationship Id="rId1" Type="http://schemas.openxmlformats.org/officeDocument/2006/relationships/tags" Target="../tags/tag8.xml"/><Relationship Id="rId6" Type="http://schemas.openxmlformats.org/officeDocument/2006/relationships/image" Target="../media/image17.png"/><Relationship Id="rId5" Type="http://schemas.openxmlformats.org/officeDocument/2006/relationships/image" Target="../media/image1.emf"/><Relationship Id="rId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3.xml"/><Relationship Id="rId1" Type="http://schemas.openxmlformats.org/officeDocument/2006/relationships/tags" Target="../tags/tag9.xml"/><Relationship Id="rId4" Type="http://schemas.openxmlformats.org/officeDocument/2006/relationships/image" Target="../media/image19.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9.xml"/><Relationship Id="rId1" Type="http://schemas.openxmlformats.org/officeDocument/2006/relationships/tags" Target="../tags/tag10.xml"/><Relationship Id="rId5" Type="http://schemas.openxmlformats.org/officeDocument/2006/relationships/image" Target="../media/image19.emf"/><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3.xml"/><Relationship Id="rId1" Type="http://schemas.openxmlformats.org/officeDocument/2006/relationships/tags" Target="../tags/tag11.xml"/><Relationship Id="rId4" Type="http://schemas.openxmlformats.org/officeDocument/2006/relationships/image" Target="../media/image19.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3.xml"/><Relationship Id="rId1" Type="http://schemas.openxmlformats.org/officeDocument/2006/relationships/tags" Target="../tags/tag13.xml"/><Relationship Id="rId4" Type="http://schemas.openxmlformats.org/officeDocument/2006/relationships/image" Target="../media/image1.emf"/></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oleObject" Target="../embeddings/oleObject12.bin"/><Relationship Id="rId7"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emf"/></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oleObject" Target="../embeddings/oleObject13.bin"/><Relationship Id="rId7" Type="http://schemas.openxmlformats.org/officeDocument/2006/relationships/image" Target="../media/image26.png"/><Relationship Id="rId2" Type="http://schemas.openxmlformats.org/officeDocument/2006/relationships/slideLayout" Target="../slideLayouts/slideLayout3.xml"/><Relationship Id="rId1" Type="http://schemas.openxmlformats.org/officeDocument/2006/relationships/tags" Target="../tags/tag15.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19.emf"/><Relationship Id="rId9"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8.png"/><Relationship Id="rId18" Type="http://schemas.openxmlformats.org/officeDocument/2006/relationships/image" Target="../media/image43.svg"/><Relationship Id="rId3" Type="http://schemas.openxmlformats.org/officeDocument/2006/relationships/oleObject" Target="../embeddings/oleObject14.bin"/><Relationship Id="rId7" Type="http://schemas.openxmlformats.org/officeDocument/2006/relationships/image" Target="../media/image32.png"/><Relationship Id="rId12" Type="http://schemas.openxmlformats.org/officeDocument/2006/relationships/image" Target="../media/image37.svg"/><Relationship Id="rId17" Type="http://schemas.openxmlformats.org/officeDocument/2006/relationships/image" Target="../media/image42.png"/><Relationship Id="rId2" Type="http://schemas.openxmlformats.org/officeDocument/2006/relationships/slideLayout" Target="../slideLayouts/slideLayout3.xml"/><Relationship Id="rId16" Type="http://schemas.openxmlformats.org/officeDocument/2006/relationships/image" Target="../media/image41.svg"/><Relationship Id="rId1" Type="http://schemas.openxmlformats.org/officeDocument/2006/relationships/tags" Target="../tags/tag16.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svg"/><Relationship Id="rId4" Type="http://schemas.openxmlformats.org/officeDocument/2006/relationships/image" Target="../media/image1.emf"/><Relationship Id="rId9" Type="http://schemas.openxmlformats.org/officeDocument/2006/relationships/image" Target="../media/image34.png"/><Relationship Id="rId14" Type="http://schemas.openxmlformats.org/officeDocument/2006/relationships/image" Target="../media/image39.svg"/></Relationships>
</file>

<file path=ppt/slides/_rels/slide1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oleObject" Target="../embeddings/oleObject15.bin"/><Relationship Id="rId7" Type="http://schemas.openxmlformats.org/officeDocument/2006/relationships/image" Target="../media/image46.png"/><Relationship Id="rId2" Type="http://schemas.openxmlformats.org/officeDocument/2006/relationships/slideLayout" Target="../slideLayouts/slideLayout3.xml"/><Relationship Id="rId1" Type="http://schemas.openxmlformats.org/officeDocument/2006/relationships/tags" Target="../tags/tag17.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6.emf"/><Relationship Id="rId9" Type="http://schemas.openxmlformats.org/officeDocument/2006/relationships/image" Target="../media/image48.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52.svg"/><Relationship Id="rId4" Type="http://schemas.openxmlformats.org/officeDocument/2006/relationships/image" Target="../media/image51.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3.xml"/><Relationship Id="rId1" Type="http://schemas.openxmlformats.org/officeDocument/2006/relationships/tags" Target="../tags/tag18.xml"/><Relationship Id="rId4" Type="http://schemas.openxmlformats.org/officeDocument/2006/relationships/image" Target="../media/image6.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svg"/><Relationship Id="rId3" Type="http://schemas.openxmlformats.org/officeDocument/2006/relationships/notesSlide" Target="../notesSlides/notesSlide13.xml"/><Relationship Id="rId7" Type="http://schemas.openxmlformats.org/officeDocument/2006/relationships/image" Target="../media/image54.svg"/><Relationship Id="rId12" Type="http://schemas.openxmlformats.org/officeDocument/2006/relationships/image" Target="../media/image59.png"/><Relationship Id="rId17" Type="http://schemas.openxmlformats.org/officeDocument/2006/relationships/image" Target="../media/image64.svg"/><Relationship Id="rId2" Type="http://schemas.openxmlformats.org/officeDocument/2006/relationships/slideLayout" Target="../slideLayouts/slideLayout3.xml"/><Relationship Id="rId16" Type="http://schemas.openxmlformats.org/officeDocument/2006/relationships/image" Target="../media/image63.png"/><Relationship Id="rId1" Type="http://schemas.openxmlformats.org/officeDocument/2006/relationships/tags" Target="../tags/tag19.xml"/><Relationship Id="rId6" Type="http://schemas.openxmlformats.org/officeDocument/2006/relationships/image" Target="../media/image53.png"/><Relationship Id="rId11" Type="http://schemas.openxmlformats.org/officeDocument/2006/relationships/image" Target="../media/image58.svg"/><Relationship Id="rId5" Type="http://schemas.openxmlformats.org/officeDocument/2006/relationships/image" Target="../media/image1.emf"/><Relationship Id="rId15" Type="http://schemas.openxmlformats.org/officeDocument/2006/relationships/image" Target="../media/image62.svg"/><Relationship Id="rId10" Type="http://schemas.openxmlformats.org/officeDocument/2006/relationships/image" Target="../media/image57.png"/><Relationship Id="rId4" Type="http://schemas.openxmlformats.org/officeDocument/2006/relationships/oleObject" Target="../embeddings/oleObject17.bin"/><Relationship Id="rId9" Type="http://schemas.openxmlformats.org/officeDocument/2006/relationships/image" Target="../media/image56.svg"/><Relationship Id="rId14" Type="http://schemas.openxmlformats.org/officeDocument/2006/relationships/image" Target="../media/image6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20.xml"/><Relationship Id="rId5" Type="http://schemas.openxmlformats.org/officeDocument/2006/relationships/image" Target="../media/image1.emf"/><Relationship Id="rId4" Type="http://schemas.openxmlformats.org/officeDocument/2006/relationships/oleObject" Target="../embeddings/oleObject18.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21.xml"/><Relationship Id="rId5" Type="http://schemas.openxmlformats.org/officeDocument/2006/relationships/image" Target="../media/image1.emf"/><Relationship Id="rId4" Type="http://schemas.openxmlformats.org/officeDocument/2006/relationships/oleObject" Target="../embeddings/oleObject19.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3.xml"/><Relationship Id="rId1" Type="http://schemas.openxmlformats.org/officeDocument/2006/relationships/tags" Target="../tags/tag22.xml"/><Relationship Id="rId4" Type="http://schemas.openxmlformats.org/officeDocument/2006/relationships/image" Target="../media/image6.emf"/></Relationships>
</file>

<file path=ppt/slides/_rels/slide3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12C838E-AA43-60EB-7DDF-055FB9DA7801}"/>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A533401-F9A6-E650-2108-4DE0CD2387CB}"/>
              </a:ext>
            </a:extLst>
          </p:cNvPr>
          <p:cNvGraphicFramePr>
            <a:graphicFrameLocks noChangeAspect="1"/>
          </p:cNvGraphicFramePr>
          <p:nvPr>
            <p:custDataLst>
              <p:tags r:id="rId1"/>
            </p:custDataLst>
            <p:extLst>
              <p:ext uri="{D42A27DB-BD31-4B8C-83A1-F6EECF244321}">
                <p14:modId xmlns:p14="http://schemas.microsoft.com/office/powerpoint/2010/main" val="3404523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3" name="think-cell data - do not delete" hidden="1">
                        <a:extLst>
                          <a:ext uri="{FF2B5EF4-FFF2-40B4-BE49-F238E27FC236}">
                            <a16:creationId xmlns:a16="http://schemas.microsoft.com/office/drawing/2014/main" id="{1A533401-F9A6-E650-2108-4DE0CD2387C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F50EBF28-B09B-586A-CFC0-1DBB122255CD}"/>
              </a:ext>
            </a:extLst>
          </p:cNvPr>
          <p:cNvSpPr>
            <a:spLocks noGrp="1"/>
          </p:cNvSpPr>
          <p:nvPr>
            <p:ph type="title"/>
          </p:nvPr>
        </p:nvSpPr>
        <p:spPr/>
        <p:txBody>
          <a:bodyPr vert="horz"/>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1" i="0" u="none" strike="noStrike" kern="1200" cap="none" spc="0" normalizeH="0" baseline="0" noProof="0" dirty="0">
                <a:ln>
                  <a:noFill/>
                </a:ln>
                <a:solidFill>
                  <a:prstClr val="white"/>
                </a:solidFill>
                <a:effectLst/>
                <a:uLnTx/>
                <a:uFillTx/>
                <a:latin typeface="EYInterstate Light"/>
                <a:ea typeface="+mn-ea"/>
                <a:cs typeface="+mn-cs"/>
              </a:rPr>
              <a:t>[CLIENT] ([CLIENT])</a:t>
            </a:r>
            <a:br>
              <a:rPr kumimoji="0" lang="en-US" sz="3400" b="1" i="0" u="none" strike="noStrike" kern="1200" cap="none" spc="0" normalizeH="0" baseline="0" noProof="0" dirty="0">
                <a:ln>
                  <a:noFill/>
                </a:ln>
                <a:solidFill>
                  <a:prstClr val="white"/>
                </a:solidFill>
                <a:effectLst/>
                <a:uLnTx/>
                <a:uFillTx/>
                <a:latin typeface="EYInterstate Light"/>
                <a:ea typeface="+mn-ea"/>
                <a:cs typeface="+mn-cs"/>
              </a:rPr>
            </a:br>
            <a:r>
              <a:rPr kumimoji="0" lang="en-US" sz="2000" b="0" i="0" u="none" strike="noStrike" kern="1200" cap="none" spc="0" normalizeH="0" baseline="0" noProof="0" dirty="0">
                <a:ln>
                  <a:noFill/>
                </a:ln>
                <a:solidFill>
                  <a:prstClr val="white"/>
                </a:solidFill>
                <a:effectLst/>
                <a:uLnTx/>
                <a:uFillTx/>
                <a:latin typeface="EYInterstate Light"/>
                <a:ea typeface="+mn-ea"/>
                <a:cs typeface="+mn-cs"/>
              </a:rPr>
              <a:t>Healthcare Planning Consultant </a:t>
            </a:r>
            <a:endParaRPr kumimoji="0" lang="en-US" sz="1600" b="0" i="0" u="none" strike="noStrike" kern="1200" cap="none" spc="0" normalizeH="0" baseline="0" noProof="0" dirty="0">
              <a:ln>
                <a:noFill/>
              </a:ln>
              <a:solidFill>
                <a:prstClr val="white"/>
              </a:solidFill>
              <a:effectLst/>
              <a:uLnTx/>
              <a:uFillTx/>
              <a:latin typeface="EYInterstate Light"/>
              <a:ea typeface="+mn-ea"/>
              <a:cs typeface="+mn-cs"/>
            </a:endParaRPr>
          </a:p>
        </p:txBody>
      </p:sp>
      <p:sp>
        <p:nvSpPr>
          <p:cNvPr id="4" name="Text Placeholder 3">
            <a:extLst>
              <a:ext uri="{FF2B5EF4-FFF2-40B4-BE49-F238E27FC236}">
                <a16:creationId xmlns:a16="http://schemas.microsoft.com/office/drawing/2014/main" id="{435A3A85-C580-8637-6C86-ABE9D96712C1}"/>
              </a:ext>
            </a:extLst>
          </p:cNvPr>
          <p:cNvSpPr>
            <a:spLocks noGrp="1"/>
          </p:cNvSpPr>
          <p:nvPr>
            <p:ph type="body" sz="quarter" idx="10"/>
          </p:nvPr>
        </p:nvSpPr>
        <p:spPr/>
        <p:txBody>
          <a:bodyPr/>
          <a:lstStyle/>
          <a:p>
            <a:r>
              <a:rPr lang="en-US"/>
              <a:t>27 Aug 2025</a:t>
            </a:r>
          </a:p>
        </p:txBody>
      </p:sp>
      <p:sp>
        <p:nvSpPr>
          <p:cNvPr id="6" name="Subtitle 2">
            <a:extLst>
              <a:ext uri="{FF2B5EF4-FFF2-40B4-BE49-F238E27FC236}">
                <a16:creationId xmlns:a16="http://schemas.microsoft.com/office/drawing/2014/main" id="{AE97116A-BAF8-67C5-E469-DA82374A75FF}"/>
              </a:ext>
            </a:extLst>
          </p:cNvPr>
          <p:cNvSpPr>
            <a:spLocks noGrp="1"/>
          </p:cNvSpPr>
          <p:nvPr>
            <p:ph type="subTitle" idx="1"/>
          </p:nvPr>
        </p:nvSpPr>
        <p:spPr>
          <a:xfrm>
            <a:off x="889762" y="3965193"/>
            <a:ext cx="4907628" cy="511939"/>
          </a:xfrm>
        </p:spPr>
        <p:txBody>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lang="en-US">
                <a:solidFill>
                  <a:prstClr val="white"/>
                </a:solidFill>
                <a:latin typeface="EYInterstate Light"/>
              </a:rPr>
              <a:t>Tender Number: SR186960679</a:t>
            </a:r>
          </a:p>
          <a:p>
            <a:pPr marL="0" marR="0" lvl="0" indent="0" algn="l" defTabSz="457200" rtl="0" eaLnBrk="1" fontAlgn="auto" latinLnBrk="0" hangingPunct="1">
              <a:lnSpc>
                <a:spcPct val="100000"/>
              </a:lnSpc>
              <a:spcBef>
                <a:spcPts val="600"/>
              </a:spcBef>
              <a:spcAft>
                <a:spcPts val="0"/>
              </a:spcAft>
              <a:buClrTx/>
              <a:buSzTx/>
              <a:buFontTx/>
              <a:buNone/>
              <a:tabLst/>
              <a:defRPr/>
            </a:pPr>
            <a:r>
              <a:rPr lang="en-US">
                <a:solidFill>
                  <a:prstClr val="white"/>
                </a:solidFill>
                <a:latin typeface="EYInterstate Light"/>
              </a:rPr>
              <a:t>Request for Information</a:t>
            </a:r>
          </a:p>
        </p:txBody>
      </p:sp>
    </p:spTree>
    <p:extLst>
      <p:ext uri="{BB962C8B-B14F-4D97-AF65-F5344CB8AC3E}">
        <p14:creationId xmlns:p14="http://schemas.microsoft.com/office/powerpoint/2010/main" val="2364321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D4B19-5521-CE84-CC52-DFC4E8394ECC}"/>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7DD1E6BE-4700-B4D3-C3FD-953B2D7DEC19}"/>
              </a:ext>
            </a:extLst>
          </p:cNvPr>
          <p:cNvSpPr>
            <a:spLocks noGrp="1"/>
          </p:cNvSpPr>
          <p:nvPr>
            <p:ph type="body" sz="quarter" idx="10"/>
          </p:nvPr>
        </p:nvSpPr>
        <p:spPr>
          <a:xfrm>
            <a:off x="2962087" y="3078124"/>
            <a:ext cx="8545736" cy="3121226"/>
          </a:xfrm>
        </p:spPr>
        <p:txBody>
          <a:bodyPr/>
          <a:lstStyle/>
          <a:p>
            <a:pPr>
              <a:spcAft>
                <a:spcPts val="600"/>
              </a:spcAft>
            </a:pPr>
            <a:r>
              <a:rPr lang="en-US" sz="1000" dirty="0">
                <a:latin typeface="EYInterstate Light"/>
              </a:rPr>
              <a:t>Dear Sir,</a:t>
            </a:r>
          </a:p>
          <a:p>
            <a:pPr>
              <a:spcAft>
                <a:spcPts val="600"/>
              </a:spcAft>
            </a:pPr>
            <a:r>
              <a:rPr lang="en-US" sz="1000" dirty="0">
                <a:latin typeface="EYInterstate Light"/>
              </a:rPr>
              <a:t>Thank you for inviting  ('') to provide consulting services to The [CLIENT] (‘[CLIENT]’)  to </a:t>
            </a:r>
            <a:r>
              <a:rPr lang="en-US" dirty="0"/>
              <a:t>privatize multiple healthcare assets, </a:t>
            </a:r>
            <a:r>
              <a:rPr lang="en-IN" sz="1000" dirty="0">
                <a:latin typeface="EYInterstate Light"/>
              </a:rPr>
              <a:t>to review and manage the process of tendering these opportunities out to market</a:t>
            </a:r>
            <a:r>
              <a:rPr lang="en-US" sz="1000" dirty="0">
                <a:latin typeface="EYInterstate Light"/>
              </a:rPr>
              <a:t>. We are delighted to have the opportunity to work with you and build a long-standing relationship.</a:t>
            </a:r>
            <a:endParaRPr lang="en-US" sz="1000" dirty="0"/>
          </a:p>
          <a:p>
            <a:pPr>
              <a:spcAft>
                <a:spcPts val="600"/>
              </a:spcAft>
            </a:pPr>
            <a:r>
              <a:rPr lang="en-US" sz="1000" dirty="0">
                <a:latin typeface="EYInterstate Light"/>
              </a:rPr>
              <a:t>We have put together a Consortium of  and [COMPANY]who are well qualified and uniquely placed to advise you on these important Projects. Firstly, we have a long-standing presence in the Saudi market and have an existing working relationship with [CLIENT] . Secondly, we are very experienced in Healthcare projects across the GCC and have been able to deliver many of these projects to a successful conclusion. Finally, [COMPANY]are unique since they are not only a traditional  technical advisor but also  have hands on operational  experience of providing clinical services across the full spectrum of Health services.  We believe the combined experience and credentials of our consortium means we are best placed to help you deliver these Projects smoothly and efficiently. </a:t>
            </a:r>
          </a:p>
          <a:p>
            <a:pPr>
              <a:spcAft>
                <a:spcPts val="600"/>
              </a:spcAft>
            </a:pPr>
            <a:r>
              <a:rPr lang="en-IN" sz="1000" dirty="0">
                <a:latin typeface="EYInterstate Light"/>
              </a:rPr>
              <a:t>This response is provided solely for discussion purposes as part of the RFI process. Further discussions are required to clarify the necessary updates to the RFP in order to provide more accurate pricing. Additionally, finalization of complete risk and compliance requirements, along with mutual agreement on contractual terms, will be necessary prior to entering into any formal agreement.</a:t>
            </a:r>
            <a:endParaRPr lang="en-US" sz="1000" dirty="0">
              <a:latin typeface="EYInterstate Light"/>
            </a:endParaRPr>
          </a:p>
          <a:p>
            <a:pPr>
              <a:spcAft>
                <a:spcPts val="600"/>
              </a:spcAft>
            </a:pPr>
            <a:r>
              <a:rPr lang="en-US" sz="1000" dirty="0">
                <a:latin typeface="EYInterstate Light"/>
              </a:rPr>
              <a:t>We welcome the opportunity to discuss this proposal with you in greater detail and are committed in supporting you on these important Projects. Please do not hesitate to contact us if you have any questions or require any clarifications regarding our proposal.</a:t>
            </a:r>
          </a:p>
          <a:p>
            <a:pPr>
              <a:spcAft>
                <a:spcPts val="600"/>
              </a:spcAft>
            </a:pPr>
            <a:endParaRPr lang="en-US" sz="1000" dirty="0">
              <a:solidFill>
                <a:srgbClr val="FF0000"/>
              </a:solidFill>
            </a:endParaRPr>
          </a:p>
        </p:txBody>
      </p:sp>
      <p:sp>
        <p:nvSpPr>
          <p:cNvPr id="11" name="Rectangle: Top Corners One Rounded and One Snipped 10">
            <a:extLst>
              <a:ext uri="{FF2B5EF4-FFF2-40B4-BE49-F238E27FC236}">
                <a16:creationId xmlns:a16="http://schemas.microsoft.com/office/drawing/2014/main" id="{27068D4A-BA56-B290-A379-5E7AD513CFDD}"/>
              </a:ext>
            </a:extLst>
          </p:cNvPr>
          <p:cNvSpPr/>
          <p:nvPr/>
        </p:nvSpPr>
        <p:spPr bwMode="auto">
          <a:xfrm>
            <a:off x="690563" y="1709059"/>
            <a:ext cx="2081212" cy="4556924"/>
          </a:xfrm>
          <a:prstGeom prst="snipRoundRect">
            <a:avLst/>
          </a:prstGeom>
          <a:gradFill>
            <a:gsLst>
              <a:gs pos="31000">
                <a:srgbClr val="188CE5">
                  <a:lumMod val="99000"/>
                  <a:alpha val="41000"/>
                </a:srgbClr>
              </a:gs>
              <a:gs pos="80000">
                <a:schemeClr val="bg1">
                  <a:alpha val="42000"/>
                </a:schemeClr>
              </a:gs>
              <a:gs pos="0">
                <a:srgbClr val="27ACAA">
                  <a:alpha val="55000"/>
                </a:srgbClr>
              </a:gs>
            </a:gsLst>
            <a:lin ang="5400000" scaled="1"/>
          </a:gra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rtl="0"/>
            <a:endParaRPr lang="en-US" b="1"/>
          </a:p>
        </p:txBody>
      </p:sp>
      <p:sp>
        <p:nvSpPr>
          <p:cNvPr id="15" name="Text Placeholder 16">
            <a:extLst>
              <a:ext uri="{FF2B5EF4-FFF2-40B4-BE49-F238E27FC236}">
                <a16:creationId xmlns:a16="http://schemas.microsoft.com/office/drawing/2014/main" id="{3CB041B0-ADBA-00E9-FF11-7BB48336BF6E}"/>
              </a:ext>
            </a:extLst>
          </p:cNvPr>
          <p:cNvSpPr txBox="1">
            <a:spLocks/>
          </p:cNvSpPr>
          <p:nvPr/>
        </p:nvSpPr>
        <p:spPr bwMode="gray">
          <a:xfrm>
            <a:off x="766763" y="1905310"/>
            <a:ext cx="2081213" cy="814482"/>
          </a:xfrm>
          <a:prstGeom prst="rect">
            <a:avLst/>
          </a:prstGeom>
          <a:noFill/>
          <a:ln w="9525">
            <a:noFill/>
            <a:miter lim="800000"/>
            <a:headEnd/>
            <a:tailEnd/>
          </a:ln>
          <a:effectLst/>
        </p:spPr>
        <p:txBody>
          <a:bodyPr vert="horz" wrap="square" lIns="36000" tIns="0" rIns="71975" bIns="0" numCol="1" anchor="t" anchorCtr="0" compatLnSpc="1">
            <a:prstTxWarp prst="textNoShape">
              <a:avLst/>
            </a:prstTxWarp>
          </a:bodyPr>
          <a:lstStyle>
            <a:lvl1pPr marL="0" indent="0" algn="l" defTabSz="994361" rtl="0" eaLnBrk="1" fontAlgn="base" hangingPunct="1">
              <a:spcBef>
                <a:spcPts val="0"/>
              </a:spcBef>
              <a:spcAft>
                <a:spcPts val="0"/>
              </a:spcAft>
              <a:buClr>
                <a:srgbClr val="000000"/>
              </a:buClr>
              <a:buSzPct val="100000"/>
              <a:buFont typeface="Arial" pitchFamily="34" charset="0"/>
              <a:buNone/>
              <a:tabLst>
                <a:tab pos="442466" algn="l"/>
              </a:tabLst>
              <a:defRPr sz="1000" b="1">
                <a:solidFill>
                  <a:schemeClr val="accent2"/>
                </a:solidFill>
                <a:latin typeface="+mn-lt"/>
                <a:ea typeface="+mn-ea"/>
                <a:cs typeface="+mn-cs"/>
              </a:defRPr>
            </a:lvl1pPr>
            <a:lvl2pPr marL="1588" algn="l" defTabSz="995012" rtl="0" eaLnBrk="1" fontAlgn="base" hangingPunct="1">
              <a:spcBef>
                <a:spcPts val="0"/>
              </a:spcBef>
              <a:spcAft>
                <a:spcPts val="0"/>
              </a:spcAft>
              <a:buClr>
                <a:srgbClr val="FFD200"/>
              </a:buClr>
              <a:buSzPct val="75000"/>
              <a:buFont typeface="Arial Unicode MS" pitchFamily="34" charset="-128"/>
              <a:tabLst>
                <a:tab pos="634362" algn="l"/>
                <a:tab pos="3225722" algn="l"/>
                <a:tab pos="4660962" algn="r"/>
              </a:tabLst>
              <a:defRPr sz="800" b="0">
                <a:solidFill>
                  <a:schemeClr val="bg1"/>
                </a:solidFill>
                <a:latin typeface="+mn-lt"/>
                <a:cs typeface="+mn-cs"/>
              </a:defRPr>
            </a:lvl2pPr>
            <a:lvl3pPr marL="3175" algn="l" defTabSz="995012" rtl="0" eaLnBrk="1" fontAlgn="base" hangingPunct="1">
              <a:spcBef>
                <a:spcPct val="20000"/>
              </a:spcBef>
              <a:spcAft>
                <a:spcPct val="40000"/>
              </a:spcAft>
              <a:buClr>
                <a:schemeClr val="tx2"/>
              </a:buClr>
              <a:buSzPct val="75000"/>
              <a:buFont typeface="Arial Unicode MS" pitchFamily="34" charset="-128"/>
              <a:tabLst>
                <a:tab pos="1613918" algn="l"/>
                <a:tab pos="3227837" algn="l"/>
                <a:tab pos="4664017" algn="r"/>
              </a:tabLst>
              <a:defRPr sz="1200" b="1" baseline="0">
                <a:solidFill>
                  <a:srgbClr val="808080"/>
                </a:solidFill>
                <a:latin typeface="+mn-lt"/>
                <a:cs typeface="+mn-cs"/>
              </a:defRPr>
            </a:lvl3pPr>
            <a:lvl4pPr marL="190432" indent="-185672"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800">
                <a:solidFill>
                  <a:schemeClr val="tx1"/>
                </a:solidFill>
                <a:latin typeface="+mn-lt"/>
                <a:cs typeface="+mn-cs"/>
              </a:defRPr>
            </a:lvl4pPr>
            <a:lvl5pPr marL="352301" indent="-160281"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800">
                <a:solidFill>
                  <a:schemeClr val="tx1"/>
                </a:solidFill>
                <a:latin typeface="+mn-lt"/>
                <a:cs typeface="+mn-cs"/>
              </a:defRPr>
            </a:lvl5pPr>
            <a:lvl6pPr marL="809339"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100">
                <a:solidFill>
                  <a:schemeClr val="tx1"/>
                </a:solidFill>
                <a:latin typeface="+mn-lt"/>
                <a:cs typeface="+mn-cs"/>
              </a:defRPr>
            </a:lvl6pPr>
            <a:lvl7pPr marL="1266378"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100">
                <a:solidFill>
                  <a:schemeClr val="tx1"/>
                </a:solidFill>
                <a:latin typeface="+mn-lt"/>
                <a:cs typeface="+mn-cs"/>
              </a:defRPr>
            </a:lvl7pPr>
            <a:lvl8pPr marL="1723416"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100">
                <a:solidFill>
                  <a:schemeClr val="tx1"/>
                </a:solidFill>
                <a:latin typeface="+mn-lt"/>
                <a:cs typeface="+mn-cs"/>
              </a:defRPr>
            </a:lvl8pPr>
            <a:lvl9pPr marL="2180455"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100">
                <a:solidFill>
                  <a:schemeClr val="tx1"/>
                </a:solidFill>
                <a:latin typeface="+mn-lt"/>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chemeClr val="tx1"/>
              </a:solidFill>
              <a:effectLst/>
              <a:uLnTx/>
              <a:uFillTx/>
              <a:latin typeface="EYInterstate Light"/>
              <a:ea typeface="+mn-ea"/>
              <a:cs typeface="Arial"/>
            </a:endParaRPr>
          </a:p>
        </p:txBody>
      </p:sp>
      <p:sp>
        <p:nvSpPr>
          <p:cNvPr id="16" name="TextBox 15">
            <a:extLst>
              <a:ext uri="{FF2B5EF4-FFF2-40B4-BE49-F238E27FC236}">
                <a16:creationId xmlns:a16="http://schemas.microsoft.com/office/drawing/2014/main" id="{DC8A3275-5EC6-21FB-86D6-27F872AA089E}"/>
              </a:ext>
            </a:extLst>
          </p:cNvPr>
          <p:cNvSpPr txBox="1"/>
          <p:nvPr/>
        </p:nvSpPr>
        <p:spPr>
          <a:xfrm>
            <a:off x="9934205" y="2081160"/>
            <a:ext cx="1573618" cy="246221"/>
          </a:xfrm>
          <a:prstGeom prst="rect">
            <a:avLst/>
          </a:prstGeom>
          <a:noFill/>
        </p:spPr>
        <p:txBody>
          <a:bodyPr wrap="square" lIns="91440" tIns="45720" rIns="91440" bIns="45720" anchor="t">
            <a:spAutoFit/>
          </a:bodyPr>
          <a:lstStyle/>
          <a:p>
            <a:pPr algn="r"/>
            <a:r>
              <a:rPr lang="en-US" sz="1000" b="1"/>
              <a:t>19 May 2025</a:t>
            </a:r>
            <a:endParaRPr lang="en-AE" sz="1000" b="1"/>
          </a:p>
        </p:txBody>
      </p:sp>
      <p:sp>
        <p:nvSpPr>
          <p:cNvPr id="2" name="Text Placeholder 16">
            <a:extLst>
              <a:ext uri="{FF2B5EF4-FFF2-40B4-BE49-F238E27FC236}">
                <a16:creationId xmlns:a16="http://schemas.microsoft.com/office/drawing/2014/main" id="{AD8B43C1-BF9C-40C9-CD84-753564E3A5FF}"/>
              </a:ext>
            </a:extLst>
          </p:cNvPr>
          <p:cNvSpPr txBox="1">
            <a:spLocks/>
          </p:cNvSpPr>
          <p:nvPr/>
        </p:nvSpPr>
        <p:spPr bwMode="gray">
          <a:xfrm>
            <a:off x="766763" y="2954215"/>
            <a:ext cx="2081212" cy="814482"/>
          </a:xfrm>
          <a:prstGeom prst="rect">
            <a:avLst/>
          </a:prstGeom>
          <a:noFill/>
          <a:ln w="9525">
            <a:noFill/>
            <a:miter lim="800000"/>
            <a:headEnd/>
            <a:tailEnd/>
          </a:ln>
          <a:effectLst/>
        </p:spPr>
        <p:txBody>
          <a:bodyPr vert="horz" wrap="square" lIns="36000" tIns="0" rIns="71975" bIns="0" numCol="1" anchor="t" anchorCtr="0" compatLnSpc="1">
            <a:prstTxWarp prst="textNoShape">
              <a:avLst/>
            </a:prstTxWarp>
          </a:bodyPr>
          <a:lstStyle>
            <a:lvl1pPr marL="0" indent="0" algn="l" defTabSz="994361" rtl="0" eaLnBrk="1" fontAlgn="base" hangingPunct="1">
              <a:spcBef>
                <a:spcPts val="0"/>
              </a:spcBef>
              <a:spcAft>
                <a:spcPts val="0"/>
              </a:spcAft>
              <a:buClr>
                <a:srgbClr val="000000"/>
              </a:buClr>
              <a:buSzPct val="100000"/>
              <a:buFont typeface="Arial" pitchFamily="34" charset="0"/>
              <a:buNone/>
              <a:tabLst>
                <a:tab pos="442466" algn="l"/>
              </a:tabLst>
              <a:defRPr sz="1000" b="1">
                <a:solidFill>
                  <a:schemeClr val="accent2"/>
                </a:solidFill>
                <a:latin typeface="+mn-lt"/>
                <a:ea typeface="+mn-ea"/>
                <a:cs typeface="+mn-cs"/>
              </a:defRPr>
            </a:lvl1pPr>
            <a:lvl2pPr marL="1588" algn="l" defTabSz="995012" rtl="0" eaLnBrk="1" fontAlgn="base" hangingPunct="1">
              <a:spcBef>
                <a:spcPts val="0"/>
              </a:spcBef>
              <a:spcAft>
                <a:spcPts val="0"/>
              </a:spcAft>
              <a:buClr>
                <a:srgbClr val="FFD200"/>
              </a:buClr>
              <a:buSzPct val="75000"/>
              <a:buFont typeface="Arial Unicode MS" pitchFamily="34" charset="-128"/>
              <a:tabLst>
                <a:tab pos="634362" algn="l"/>
                <a:tab pos="3225722" algn="l"/>
                <a:tab pos="4660962" algn="r"/>
              </a:tabLst>
              <a:defRPr sz="800" b="0">
                <a:solidFill>
                  <a:schemeClr val="bg1"/>
                </a:solidFill>
                <a:latin typeface="+mn-lt"/>
                <a:cs typeface="+mn-cs"/>
              </a:defRPr>
            </a:lvl2pPr>
            <a:lvl3pPr marL="3175" algn="l" defTabSz="995012" rtl="0" eaLnBrk="1" fontAlgn="base" hangingPunct="1">
              <a:spcBef>
                <a:spcPct val="20000"/>
              </a:spcBef>
              <a:spcAft>
                <a:spcPct val="40000"/>
              </a:spcAft>
              <a:buClr>
                <a:schemeClr val="tx2"/>
              </a:buClr>
              <a:buSzPct val="75000"/>
              <a:buFont typeface="Arial Unicode MS" pitchFamily="34" charset="-128"/>
              <a:tabLst>
                <a:tab pos="1613918" algn="l"/>
                <a:tab pos="3227837" algn="l"/>
                <a:tab pos="4664017" algn="r"/>
              </a:tabLst>
              <a:defRPr sz="1200" b="1" baseline="0">
                <a:solidFill>
                  <a:srgbClr val="808080"/>
                </a:solidFill>
                <a:latin typeface="+mn-lt"/>
                <a:cs typeface="+mn-cs"/>
              </a:defRPr>
            </a:lvl3pPr>
            <a:lvl4pPr marL="190432" indent="-185672"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800">
                <a:solidFill>
                  <a:schemeClr val="tx1"/>
                </a:solidFill>
                <a:latin typeface="+mn-lt"/>
                <a:cs typeface="+mn-cs"/>
              </a:defRPr>
            </a:lvl4pPr>
            <a:lvl5pPr marL="352301" indent="-160281" algn="l" defTabSz="995012" rtl="0" eaLnBrk="1" fontAlgn="base" hangingPunct="1">
              <a:spcBef>
                <a:spcPct val="0"/>
              </a:spcBef>
              <a:spcAft>
                <a:spcPct val="40000"/>
              </a:spcAft>
              <a:buClr>
                <a:schemeClr val="tx1"/>
              </a:buClr>
              <a:buSzPct val="100000"/>
              <a:buFont typeface="EYInterstate" pitchFamily="2" charset="0"/>
              <a:buChar char="•"/>
              <a:tabLst>
                <a:tab pos="1613918" algn="l"/>
                <a:tab pos="3227837" algn="l"/>
                <a:tab pos="4664017" algn="r"/>
              </a:tabLst>
              <a:defRPr sz="800">
                <a:solidFill>
                  <a:schemeClr val="tx1"/>
                </a:solidFill>
                <a:latin typeface="+mn-lt"/>
                <a:cs typeface="+mn-cs"/>
              </a:defRPr>
            </a:lvl5pPr>
            <a:lvl6pPr marL="809339"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100">
                <a:solidFill>
                  <a:schemeClr val="tx1"/>
                </a:solidFill>
                <a:latin typeface="+mn-lt"/>
                <a:cs typeface="+mn-cs"/>
              </a:defRPr>
            </a:lvl6pPr>
            <a:lvl7pPr marL="1266378"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100">
                <a:solidFill>
                  <a:schemeClr val="tx1"/>
                </a:solidFill>
                <a:latin typeface="+mn-lt"/>
                <a:cs typeface="+mn-cs"/>
              </a:defRPr>
            </a:lvl7pPr>
            <a:lvl8pPr marL="1723416"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100">
                <a:solidFill>
                  <a:schemeClr val="tx1"/>
                </a:solidFill>
                <a:latin typeface="+mn-lt"/>
                <a:cs typeface="+mn-cs"/>
              </a:defRPr>
            </a:lvl8pPr>
            <a:lvl9pPr marL="2180455" indent="-160281" algn="l" defTabSz="995012" rtl="0" eaLnBrk="1" fontAlgn="base" hangingPunct="1">
              <a:spcBef>
                <a:spcPct val="0"/>
              </a:spcBef>
              <a:spcAft>
                <a:spcPct val="40000"/>
              </a:spcAft>
              <a:buClr>
                <a:schemeClr val="tx1"/>
              </a:buClr>
              <a:buSzPct val="75000"/>
              <a:buFont typeface="EYInterstate" pitchFamily="2" charset="0"/>
              <a:buChar char="►"/>
              <a:tabLst>
                <a:tab pos="1613918" algn="l"/>
                <a:tab pos="3227837" algn="l"/>
                <a:tab pos="4664017" algn="r"/>
              </a:tabLst>
              <a:defRPr sz="1100">
                <a:solidFill>
                  <a:schemeClr val="tx1"/>
                </a:solidFill>
                <a:latin typeface="+mn-lt"/>
                <a:cs typeface="+mn-cs"/>
              </a:defRPr>
            </a:lvl9pPr>
          </a:lstStyle>
          <a:p>
            <a:pPr marR="0">
              <a:lnSpc>
                <a:spcPct val="100000"/>
              </a:lnSpc>
              <a:defRPr/>
            </a:pPr>
            <a:endParaRPr lang="en-US" sz="900" b="0" i="0" u="none" strike="noStrike" kern="0" cap="none" spc="0" normalizeH="0" baseline="0" noProof="0" dirty="0">
              <a:ln>
                <a:noFill/>
              </a:ln>
              <a:solidFill>
                <a:schemeClr val="tx2"/>
              </a:solidFill>
              <a:effectLst/>
              <a:uLnTx/>
              <a:uFillTx/>
              <a:latin typeface="EYInterstate Light"/>
              <a:cs typeface="Arial"/>
            </a:endParaRPr>
          </a:p>
        </p:txBody>
      </p:sp>
      <p:sp>
        <p:nvSpPr>
          <p:cNvPr id="19" name="Text Placeholder 8">
            <a:extLst>
              <a:ext uri="{FF2B5EF4-FFF2-40B4-BE49-F238E27FC236}">
                <a16:creationId xmlns:a16="http://schemas.microsoft.com/office/drawing/2014/main" id="{3C27091B-AA1B-81E5-D32C-F59C46158083}"/>
              </a:ext>
            </a:extLst>
          </p:cNvPr>
          <p:cNvSpPr txBox="1">
            <a:spLocks/>
          </p:cNvSpPr>
          <p:nvPr/>
        </p:nvSpPr>
        <p:spPr bwMode="gray">
          <a:xfrm>
            <a:off x="2962087" y="1592707"/>
            <a:ext cx="8525833" cy="1361508"/>
          </a:xfrm>
          <a:prstGeom prst="rect">
            <a:avLst/>
          </a:prstGeom>
          <a:solidFill>
            <a:schemeClr val="bg1"/>
          </a:solidFill>
          <a:ln w="9525">
            <a:noFill/>
            <a:miter lim="800000"/>
            <a:headEnd/>
            <a:tailEnd/>
          </a:ln>
          <a:effectLst/>
        </p:spPr>
        <p:txBody>
          <a:bodyPr vert="horz" wrap="square" lIns="0" tIns="0" rIns="71975" bIns="0" numCol="1" anchor="t" anchorCtr="0" compatLnSpc="1">
            <a:prstTxWarp prst="textNoShape">
              <a:avLst/>
            </a:prstTxWarp>
          </a:bodyPr>
          <a:lstStyle>
            <a:lvl1pPr algn="l" defTabSz="902010" rtl="0" eaLnBrk="1" fontAlgn="base" hangingPunct="1">
              <a:spcBef>
                <a:spcPct val="0"/>
              </a:spcBef>
              <a:spcAft>
                <a:spcPct val="40000"/>
              </a:spcAft>
              <a:buClr>
                <a:srgbClr val="FFD200"/>
              </a:buClr>
              <a:buSzPct val="75000"/>
              <a:buFont typeface="Arial Unicode MS" pitchFamily="34" charset="-128"/>
              <a:tabLst>
                <a:tab pos="1463068" algn="l"/>
                <a:tab pos="2926135" algn="l"/>
                <a:tab pos="4228080" algn="r"/>
              </a:tabLst>
              <a:defRPr sz="1199" b="1" baseline="0">
                <a:solidFill>
                  <a:schemeClr val="tx1"/>
                </a:solidFill>
                <a:latin typeface="EYInterstate Light" panose="02000506000000020004" pitchFamily="2" charset="0"/>
                <a:ea typeface="+mn-ea"/>
                <a:cs typeface="+mn-cs"/>
              </a:defRPr>
            </a:lvl1pPr>
            <a:lvl2pPr marL="1439" algn="l" defTabSz="902010" rtl="0" eaLnBrk="1" fontAlgn="base" hangingPunct="1">
              <a:spcBef>
                <a:spcPts val="200"/>
              </a:spcBef>
              <a:spcAft>
                <a:spcPts val="200"/>
              </a:spcAft>
              <a:buClr>
                <a:srgbClr val="FFD200"/>
              </a:buClr>
              <a:buSzPct val="75000"/>
              <a:buFont typeface="Arial Unicode MS" pitchFamily="34" charset="-128"/>
              <a:tabLst>
                <a:tab pos="1463068" algn="l"/>
                <a:tab pos="2926135" algn="l"/>
                <a:tab pos="4228080" algn="r"/>
              </a:tabLst>
              <a:defRPr sz="900" b="0" baseline="0">
                <a:solidFill>
                  <a:schemeClr val="tx1"/>
                </a:solidFill>
                <a:latin typeface="EYInterstate Light" panose="02000506000000020004" pitchFamily="2" charset="0"/>
                <a:cs typeface="+mn-cs"/>
              </a:defRPr>
            </a:lvl2pPr>
            <a:lvl3pPr marL="3173" marR="0" indent="0" algn="l" defTabSz="994514" rtl="0" eaLnBrk="1" fontAlgn="base" latinLnBrk="0" hangingPunct="1">
              <a:lnSpc>
                <a:spcPct val="100000"/>
              </a:lnSpc>
              <a:spcBef>
                <a:spcPct val="0"/>
              </a:spcBef>
              <a:spcAft>
                <a:spcPct val="40000"/>
              </a:spcAft>
              <a:buClr>
                <a:srgbClr val="FFD200"/>
              </a:buClr>
              <a:buSzPct val="75000"/>
              <a:buFont typeface="Arial Unicode MS" pitchFamily="34" charset="-128"/>
              <a:buNone/>
              <a:tabLst>
                <a:tab pos="1613111" algn="l"/>
                <a:tab pos="3226223" algn="l"/>
                <a:tab pos="4661685" algn="r"/>
              </a:tabLst>
              <a:defRPr kumimoji="0" lang="en-US" sz="1299" b="1" i="0" u="none" strike="noStrike" kern="0" cap="none" spc="0" normalizeH="0" baseline="0" noProof="0">
                <a:ln>
                  <a:noFill/>
                </a:ln>
                <a:solidFill>
                  <a:srgbClr val="7F7E82"/>
                </a:solidFill>
                <a:effectLst/>
                <a:uLnTx/>
                <a:uFillTx/>
                <a:latin typeface="EYInterstate Light" panose="02000506000000020004" pitchFamily="2" charset="0"/>
                <a:cs typeface="+mn-cs"/>
              </a:defRPr>
            </a:lvl3pPr>
            <a:lvl4pPr marL="0" indent="4759" algn="l" defTabSz="902010" rtl="0" eaLnBrk="1" fontAlgn="base" hangingPunct="1">
              <a:spcBef>
                <a:spcPts val="100"/>
              </a:spcBef>
              <a:spcAft>
                <a:spcPts val="400"/>
              </a:spcAft>
              <a:buClr>
                <a:schemeClr val="tx1"/>
              </a:buClr>
              <a:buSzPct val="100000"/>
              <a:buFont typeface="EYInterstate" pitchFamily="2" charset="0"/>
              <a:buNone/>
              <a:tabLst>
                <a:tab pos="1463068" algn="l"/>
                <a:tab pos="2926135" algn="l"/>
                <a:tab pos="4228080" algn="r"/>
              </a:tabLst>
              <a:defRPr sz="999" baseline="0">
                <a:solidFill>
                  <a:schemeClr val="tx1"/>
                </a:solidFill>
                <a:latin typeface="EYInterstate Light" panose="02000506000000020004" pitchFamily="2" charset="0"/>
                <a:cs typeface="+mn-cs"/>
              </a:defRPr>
            </a:lvl4pPr>
            <a:lvl5pPr marL="319372" indent="-145299" algn="l" defTabSz="902010" rtl="0" eaLnBrk="1" fontAlgn="base" hangingPunct="1">
              <a:spcBef>
                <a:spcPts val="100"/>
              </a:spcBef>
              <a:spcAft>
                <a:spcPts val="4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5pPr>
            <a:lvl6pPr marL="73369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6pPr>
            <a:lvl7pPr marL="114801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7pPr>
            <a:lvl8pPr marL="156233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8pPr>
            <a:lvl9pPr marL="1976651"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9pPr>
          </a:lstStyle>
          <a:p>
            <a:pPr defTabSz="994813" fontAlgn="auto">
              <a:spcBef>
                <a:spcPts val="0"/>
              </a:spcBef>
              <a:spcAft>
                <a:spcPts val="600"/>
              </a:spcAft>
              <a:buClrTx/>
              <a:buSzTx/>
              <a:buFontTx/>
              <a:buNone/>
              <a:tabLst>
                <a:tab pos="1613595" algn="l"/>
                <a:tab pos="3227191" algn="l"/>
                <a:tab pos="4663084" algn="r"/>
              </a:tabLst>
              <a:defRPr/>
            </a:pPr>
            <a:r>
              <a:rPr lang="en-US" sz="1100" kern="0" dirty="0">
                <a:latin typeface="EYInterstate Light"/>
                <a:cs typeface="Arial"/>
              </a:rPr>
              <a:t>To:  [NAME]</a:t>
            </a:r>
          </a:p>
          <a:p>
            <a:pPr defTabSz="994813" fontAlgn="auto">
              <a:spcBef>
                <a:spcPts val="0"/>
              </a:spcBef>
              <a:spcAft>
                <a:spcPts val="0"/>
              </a:spcAft>
              <a:buClrTx/>
              <a:buSzTx/>
              <a:buFontTx/>
              <a:buNone/>
              <a:tabLst>
                <a:tab pos="1613595" algn="l"/>
                <a:tab pos="3227191" algn="l"/>
                <a:tab pos="4663084" algn="r"/>
              </a:tabLst>
              <a:defRPr/>
            </a:pPr>
            <a:r>
              <a:rPr lang="en-US" sz="1100" kern="0" dirty="0" err="1">
                <a:latin typeface="EYInterstate Light"/>
                <a:cs typeface="Arial"/>
              </a:rPr>
              <a:t>Invstestment</a:t>
            </a:r>
            <a:r>
              <a:rPr lang="en-US" sz="1100" kern="0" dirty="0">
                <a:latin typeface="EYInterstate Light"/>
                <a:cs typeface="Arial"/>
              </a:rPr>
              <a:t> &amp; Partnership</a:t>
            </a:r>
          </a:p>
          <a:p>
            <a:pPr defTabSz="994813" fontAlgn="auto">
              <a:spcBef>
                <a:spcPts val="0"/>
              </a:spcBef>
              <a:spcAft>
                <a:spcPts val="0"/>
              </a:spcAft>
              <a:buClrTx/>
              <a:buSzTx/>
              <a:buFontTx/>
              <a:buNone/>
              <a:tabLst>
                <a:tab pos="1613595" algn="l"/>
                <a:tab pos="3227191" algn="l"/>
                <a:tab pos="4663084" algn="r"/>
              </a:tabLst>
              <a:defRPr/>
            </a:pPr>
            <a:r>
              <a:rPr lang="en-US" sz="1000" b="0" kern="0" dirty="0">
                <a:latin typeface="EYInterstate Light"/>
                <a:cs typeface="Arial"/>
              </a:rPr>
              <a:t>[CLIENT]</a:t>
            </a:r>
          </a:p>
          <a:p>
            <a:pPr defTabSz="994813" fontAlgn="auto">
              <a:spcBef>
                <a:spcPts val="0"/>
              </a:spcBef>
              <a:spcAft>
                <a:spcPts val="0"/>
              </a:spcAft>
              <a:buClrTx/>
              <a:buSzTx/>
              <a:buFontTx/>
              <a:buNone/>
              <a:tabLst>
                <a:tab pos="1613595" algn="l"/>
                <a:tab pos="3227191" algn="l"/>
                <a:tab pos="4663084" algn="r"/>
              </a:tabLst>
              <a:defRPr/>
            </a:pPr>
            <a:r>
              <a:rPr lang="en-US" sz="1000" b="0" kern="0" dirty="0">
                <a:latin typeface="EYInterstate Light"/>
                <a:cs typeface="Arial"/>
              </a:rPr>
              <a:t>[ADDRESS]</a:t>
            </a:r>
          </a:p>
          <a:p>
            <a:pPr defTabSz="994813" fontAlgn="auto">
              <a:spcBef>
                <a:spcPts val="0"/>
              </a:spcBef>
              <a:spcAft>
                <a:spcPts val="600"/>
              </a:spcAft>
              <a:buClrTx/>
              <a:buSzTx/>
              <a:buFontTx/>
              <a:buNone/>
              <a:tabLst>
                <a:tab pos="1613595" algn="l"/>
                <a:tab pos="3227191" algn="l"/>
                <a:tab pos="4663084" algn="r"/>
              </a:tabLst>
              <a:defRPr/>
            </a:pPr>
            <a:r>
              <a:rPr lang="en-US" sz="1000" b="0" kern="0" dirty="0">
                <a:latin typeface="EYInterstate Light"/>
                <a:cs typeface="Arial"/>
              </a:rPr>
              <a:t>Telephone: [PHONE]</a:t>
            </a:r>
          </a:p>
          <a:p>
            <a:pPr defTabSz="994813" fontAlgn="auto">
              <a:spcBef>
                <a:spcPts val="0"/>
              </a:spcBef>
              <a:spcAft>
                <a:spcPts val="600"/>
              </a:spcAft>
              <a:buClrTx/>
              <a:buSzTx/>
              <a:buFontTx/>
              <a:buNone/>
              <a:tabLst>
                <a:tab pos="1613595" algn="l"/>
                <a:tab pos="3227191" algn="l"/>
                <a:tab pos="4663084" algn="r"/>
              </a:tabLst>
              <a:defRPr/>
            </a:pPr>
            <a:r>
              <a:rPr lang="en-US" sz="1000" b="0" kern="0" dirty="0">
                <a:cs typeface="Arial"/>
              </a:rPr>
              <a:t>Tender Ref: </a:t>
            </a:r>
            <a:r>
              <a:rPr lang="en-US" sz="1000" b="0" kern="0" dirty="0"/>
              <a:t>XXXXXXXXXX</a:t>
            </a:r>
            <a:endParaRPr lang="en-US" sz="1000" b="0" kern="0" dirty="0">
              <a:cs typeface="Arial"/>
            </a:endParaRPr>
          </a:p>
          <a:p>
            <a:pPr defTabSz="457200" fontAlgn="auto">
              <a:spcBef>
                <a:spcPts val="0"/>
              </a:spcBef>
              <a:spcAft>
                <a:spcPts val="0"/>
              </a:spcAft>
              <a:buClrTx/>
              <a:buSzTx/>
              <a:buFontTx/>
              <a:buNone/>
              <a:tabLst/>
              <a:defRPr/>
            </a:pPr>
            <a:r>
              <a:rPr lang="en-US" sz="1000" b="0" kern="0" dirty="0">
                <a:cs typeface="Arial"/>
              </a:rPr>
              <a:t>Tender Name: RFI Healthcare Planning Consultant</a:t>
            </a:r>
            <a:endParaRPr lang="en-US" sz="1000" b="0" kern="0" dirty="0">
              <a:solidFill>
                <a:srgbClr val="FF0000"/>
              </a:solidFill>
              <a:cs typeface="Arial"/>
            </a:endParaRPr>
          </a:p>
        </p:txBody>
      </p:sp>
      <p:sp>
        <p:nvSpPr>
          <p:cNvPr id="20" name="TextBox 19">
            <a:extLst>
              <a:ext uri="{FF2B5EF4-FFF2-40B4-BE49-F238E27FC236}">
                <a16:creationId xmlns:a16="http://schemas.microsoft.com/office/drawing/2014/main" id="{AFBA5BB3-F5D1-6247-1D8D-D054C56CEE18}"/>
              </a:ext>
            </a:extLst>
          </p:cNvPr>
          <p:cNvSpPr txBox="1"/>
          <p:nvPr/>
        </p:nvSpPr>
        <p:spPr>
          <a:xfrm>
            <a:off x="10086605" y="2233560"/>
            <a:ext cx="1573618" cy="246221"/>
          </a:xfrm>
          <a:prstGeom prst="rect">
            <a:avLst/>
          </a:prstGeom>
          <a:noFill/>
        </p:spPr>
        <p:txBody>
          <a:bodyPr wrap="square" lIns="91440" tIns="45720" rIns="91440" bIns="4572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1000" b="1" dirty="0">
                <a:solidFill>
                  <a:srgbClr val="000000"/>
                </a:solidFill>
                <a:latin typeface="EYInterstate Light"/>
                <a:cs typeface="Arial"/>
              </a:rPr>
              <a:t>[DATE]</a:t>
            </a:r>
            <a:endParaRPr kumimoji="0" lang="en-AE" sz="1000" b="1" i="0" u="none" strike="noStrike" kern="1200" cap="none" spc="0" normalizeH="0" baseline="0" noProof="0" dirty="0">
              <a:ln>
                <a:noFill/>
              </a:ln>
              <a:solidFill>
                <a:srgbClr val="000000"/>
              </a:solidFill>
              <a:effectLst/>
              <a:uLnTx/>
              <a:uFillTx/>
              <a:latin typeface="EYInterstate Light"/>
              <a:ea typeface="+mn-ea"/>
              <a:cs typeface="Arial"/>
            </a:endParaRPr>
          </a:p>
        </p:txBody>
      </p:sp>
    </p:spTree>
    <p:extLst>
      <p:ext uri="{BB962C8B-B14F-4D97-AF65-F5344CB8AC3E}">
        <p14:creationId xmlns:p14="http://schemas.microsoft.com/office/powerpoint/2010/main" val="1989810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CF143-2613-8530-7584-2CA87A5591C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D4996A9-C7D6-B5D9-D2AB-71D25354FA62}"/>
              </a:ext>
            </a:extLst>
          </p:cNvPr>
          <p:cNvSpPr>
            <a:spLocks/>
          </p:cNvSpPr>
          <p:nvPr/>
        </p:nvSpPr>
        <p:spPr bwMode="auto">
          <a:xfrm>
            <a:off x="5744481" y="0"/>
            <a:ext cx="6447519" cy="6858000"/>
          </a:xfrm>
          <a:prstGeom prst="rect">
            <a:avLst/>
          </a:prstGeom>
          <a:blipFill>
            <a:blip r:embed="rId3">
              <a:duotone>
                <a:prstClr val="black"/>
                <a:srgbClr val="1A9AFA">
                  <a:tint val="45000"/>
                  <a:satMod val="400000"/>
                </a:srgbClr>
              </a:duotone>
              <a:alphaModFix amt="35000"/>
            </a:blip>
            <a:srcRect/>
            <a:stretch>
              <a:fillRect l="-125328"/>
            </a:stretch>
          </a:blip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a:ln>
                <a:noFill/>
              </a:ln>
              <a:solidFill>
                <a:srgbClr val="000000"/>
              </a:solidFill>
              <a:effectLst/>
              <a:uLnTx/>
              <a:uFillTx/>
              <a:latin typeface="EYInterstate Light"/>
              <a:ea typeface="+mn-ea"/>
              <a:cs typeface="Arial"/>
            </a:endParaRPr>
          </a:p>
        </p:txBody>
      </p:sp>
      <p:sp>
        <p:nvSpPr>
          <p:cNvPr id="4" name="Rectangle 3">
            <a:extLst>
              <a:ext uri="{FF2B5EF4-FFF2-40B4-BE49-F238E27FC236}">
                <a16:creationId xmlns:a16="http://schemas.microsoft.com/office/drawing/2014/main" id="{63A70FAC-9918-A853-CE76-27A5A4BB6B09}"/>
              </a:ext>
            </a:extLst>
          </p:cNvPr>
          <p:cNvSpPr>
            <a:spLocks/>
          </p:cNvSpPr>
          <p:nvPr/>
        </p:nvSpPr>
        <p:spPr bwMode="auto">
          <a:xfrm>
            <a:off x="5744481" y="0"/>
            <a:ext cx="6447519" cy="6858000"/>
          </a:xfrm>
          <a:prstGeom prst="rect">
            <a:avLst/>
          </a:prstGeom>
          <a:gradFill flip="none" rotWithShape="1">
            <a:gsLst>
              <a:gs pos="0">
                <a:schemeClr val="bg1"/>
              </a:gs>
              <a:gs pos="100000">
                <a:srgbClr val="4398F7">
                  <a:alpha val="0"/>
                </a:srgbClr>
              </a:gs>
            </a:gsLst>
            <a:lin ang="0" scaled="1"/>
            <a:tileRect/>
          </a:gra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a:ln>
                <a:noFill/>
              </a:ln>
              <a:solidFill>
                <a:srgbClr val="000000"/>
              </a:solidFill>
              <a:effectLst/>
              <a:uLnTx/>
              <a:uFillTx/>
              <a:latin typeface="EYInterstate Light"/>
              <a:ea typeface="+mn-ea"/>
              <a:cs typeface="Arial"/>
            </a:endParaRPr>
          </a:p>
        </p:txBody>
      </p:sp>
      <p:sp>
        <p:nvSpPr>
          <p:cNvPr id="6" name="Text Placeholder 6">
            <a:extLst>
              <a:ext uri="{FF2B5EF4-FFF2-40B4-BE49-F238E27FC236}">
                <a16:creationId xmlns:a16="http://schemas.microsoft.com/office/drawing/2014/main" id="{AC7F8A48-5C90-AA3F-52CB-E628E8F7BF0C}"/>
              </a:ext>
            </a:extLst>
          </p:cNvPr>
          <p:cNvSpPr txBox="1">
            <a:spLocks/>
          </p:cNvSpPr>
          <p:nvPr/>
        </p:nvSpPr>
        <p:spPr>
          <a:xfrm>
            <a:off x="680421" y="690881"/>
            <a:ext cx="7394575" cy="447040"/>
          </a:xfrm>
          <a:prstGeom prst="rect">
            <a:avLst/>
          </a:prstGeom>
        </p:spPr>
        <p:txBody>
          <a:bodyPr vert="horz" lIns="0" tIns="0" rIns="0" bIns="0" rtlCol="0" anchor="t" anchorCtr="0">
            <a:noAutofit/>
          </a:bodyPr>
          <a:lstStyle>
            <a:lvl1pPr marL="0" indent="0" algn="l" defTabSz="914400" rtl="0" eaLnBrk="1" latinLnBrk="0" hangingPunct="1">
              <a:lnSpc>
                <a:spcPct val="85000"/>
              </a:lnSpc>
              <a:spcBef>
                <a:spcPts val="400"/>
              </a:spcBef>
              <a:spcAft>
                <a:spcPts val="400"/>
              </a:spcAft>
              <a:buClr>
                <a:schemeClr val="tx2"/>
              </a:buClr>
              <a:buSzPct val="100000"/>
              <a:buFont typeface="Wingdings" pitchFamily="2" charset="2"/>
              <a:buNone/>
              <a:defRPr lang="en-US" sz="2400" b="1" i="0" kern="1200" dirty="0">
                <a:solidFill>
                  <a:schemeClr val="tx2"/>
                </a:solidFill>
                <a:latin typeface="+mj-lt"/>
                <a:ea typeface="+mj-ea"/>
                <a:cs typeface="Arial" pitchFamily="34" charset="0"/>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2268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9pPr>
          </a:lstStyle>
          <a:p>
            <a:pPr marL="0" marR="0" lvl="0" indent="0" algn="l" defTabSz="914400" rtl="0" eaLnBrk="1" fontAlgn="auto" latinLnBrk="0" hangingPunct="1">
              <a:lnSpc>
                <a:spcPct val="85000"/>
              </a:lnSpc>
              <a:spcBef>
                <a:spcPts val="400"/>
              </a:spcBef>
              <a:spcAft>
                <a:spcPts val="400"/>
              </a:spcAft>
              <a:buClr>
                <a:srgbClr val="1A9AFA"/>
              </a:buClr>
              <a:buSzPct val="100000"/>
              <a:buFont typeface="Wingdings" pitchFamily="2" charset="2"/>
              <a:buNone/>
              <a:tabLst/>
              <a:defRPr/>
            </a:pPr>
            <a:r>
              <a:rPr kumimoji="0" lang="en-IN" sz="3600" b="0" i="0" u="none" strike="noStrike" kern="1200" cap="none" spc="0" normalizeH="0" baseline="0" noProof="0">
                <a:ln>
                  <a:noFill/>
                </a:ln>
                <a:solidFill>
                  <a:srgbClr val="1A9AFA"/>
                </a:solidFill>
                <a:effectLst/>
                <a:uLnTx/>
                <a:uFillTx/>
                <a:latin typeface="EYInterstate Light"/>
                <a:ea typeface="+mj-ea"/>
                <a:cs typeface="Arial" pitchFamily="34" charset="0"/>
              </a:rPr>
              <a:t>Table of Contents</a:t>
            </a:r>
          </a:p>
          <a:p>
            <a:pPr marL="0" marR="0" lvl="0" indent="0" algn="l" defTabSz="914400" rtl="0" eaLnBrk="1" fontAlgn="auto" latinLnBrk="0" hangingPunct="1">
              <a:lnSpc>
                <a:spcPct val="85000"/>
              </a:lnSpc>
              <a:spcBef>
                <a:spcPts val="400"/>
              </a:spcBef>
              <a:spcAft>
                <a:spcPts val="400"/>
              </a:spcAft>
              <a:buClr>
                <a:srgbClr val="1A9AFA"/>
              </a:buClr>
              <a:buSzPct val="100000"/>
              <a:buFont typeface="Wingdings" pitchFamily="2" charset="2"/>
              <a:buNone/>
              <a:tabLst/>
              <a:defRPr/>
            </a:pPr>
            <a:endParaRPr kumimoji="0" lang="en-IN" sz="3600" b="0" i="0" u="none" strike="noStrike" kern="1200" cap="none" spc="0" normalizeH="0" baseline="0" noProof="0">
              <a:ln>
                <a:noFill/>
              </a:ln>
              <a:solidFill>
                <a:srgbClr val="1A9AFA"/>
              </a:solidFill>
              <a:effectLst/>
              <a:uLnTx/>
              <a:uFillTx/>
              <a:latin typeface="EYInterstate Light"/>
              <a:ea typeface="+mj-ea"/>
              <a:cs typeface="Arial" pitchFamily="34" charset="0"/>
            </a:endParaRPr>
          </a:p>
        </p:txBody>
      </p:sp>
      <p:sp>
        <p:nvSpPr>
          <p:cNvPr id="5" name="object 11">
            <a:hlinkClick r:id="rId4" action="ppaction://hlinksldjump"/>
            <a:extLst>
              <a:ext uri="{FF2B5EF4-FFF2-40B4-BE49-F238E27FC236}">
                <a16:creationId xmlns:a16="http://schemas.microsoft.com/office/drawing/2014/main" id="{C24340E8-EC2B-1874-33B9-2EBBC02DB6E6}"/>
              </a:ext>
            </a:extLst>
          </p:cNvPr>
          <p:cNvSpPr txBox="1"/>
          <p:nvPr/>
        </p:nvSpPr>
        <p:spPr>
          <a:xfrm>
            <a:off x="1047095" y="1503000"/>
            <a:ext cx="800793" cy="615944"/>
          </a:xfrm>
          <a:prstGeom prst="rect">
            <a:avLst/>
          </a:prstGeom>
        </p:spPr>
        <p:txBody>
          <a:bodyPr vert="horz" wrap="square" lIns="0" tIns="7913" rIns="0" bIns="0" rtlCol="0">
            <a:spAutoFit/>
          </a:bodyPr>
          <a:lstStyle/>
          <a:p>
            <a:pPr marL="7913" algn="r" defTabSz="914357">
              <a:spcBef>
                <a:spcPts val="62"/>
              </a:spcBef>
            </a:pPr>
            <a:r>
              <a:rPr lang="fr-FR" sz="3951" b="1" spc="-4">
                <a:cs typeface="EYInterstate Light"/>
              </a:rPr>
              <a:t>01</a:t>
            </a:r>
            <a:endParaRPr lang="fr-FR" sz="3951" b="1">
              <a:cs typeface="EYInterstate Light"/>
            </a:endParaRPr>
          </a:p>
        </p:txBody>
      </p:sp>
      <p:sp>
        <p:nvSpPr>
          <p:cNvPr id="7" name="object 12">
            <a:hlinkClick r:id="rId4" action="ppaction://hlinksldjump"/>
            <a:extLst>
              <a:ext uri="{FF2B5EF4-FFF2-40B4-BE49-F238E27FC236}">
                <a16:creationId xmlns:a16="http://schemas.microsoft.com/office/drawing/2014/main" id="{B3DC218F-2FEF-69C3-23B5-37E0EB18326A}"/>
              </a:ext>
            </a:extLst>
          </p:cNvPr>
          <p:cNvSpPr txBox="1"/>
          <p:nvPr/>
        </p:nvSpPr>
        <p:spPr>
          <a:xfrm>
            <a:off x="2116703" y="1690651"/>
            <a:ext cx="2745565" cy="246221"/>
          </a:xfrm>
          <a:prstGeom prst="rect">
            <a:avLst/>
          </a:prstGeom>
        </p:spPr>
        <p:txBody>
          <a:bodyPr vert="horz" wrap="square" lIns="0" tIns="0" rIns="0" bIns="0" rtlCol="0" anchor="ctr" anchorCtr="0">
            <a:spAutoFit/>
          </a:bodyPr>
          <a:lstStyle/>
          <a:p>
            <a:pPr marL="7913" defTabSz="914357">
              <a:spcBef>
                <a:spcPts val="62"/>
              </a:spcBef>
            </a:pPr>
            <a:r>
              <a:rPr lang="en-US" sz="1600" spc="-10" dirty="0">
                <a:cs typeface="EYInterstate Light"/>
              </a:rPr>
              <a:t>Why  and Our Point of View</a:t>
            </a:r>
          </a:p>
        </p:txBody>
      </p:sp>
      <p:sp>
        <p:nvSpPr>
          <p:cNvPr id="9" name="object 5">
            <a:extLst>
              <a:ext uri="{FF2B5EF4-FFF2-40B4-BE49-F238E27FC236}">
                <a16:creationId xmlns:a16="http://schemas.microsoft.com/office/drawing/2014/main" id="{24B02EE4-B966-0C48-55D5-BD946EF1C11E}"/>
              </a:ext>
            </a:extLst>
          </p:cNvPr>
          <p:cNvSpPr/>
          <p:nvPr/>
        </p:nvSpPr>
        <p:spPr>
          <a:xfrm rot="16200000">
            <a:off x="1789335" y="1813762"/>
            <a:ext cx="375076" cy="0"/>
          </a:xfrm>
          <a:custGeom>
            <a:avLst/>
            <a:gdLst/>
            <a:ahLst/>
            <a:cxnLst/>
            <a:rect l="l" t="t" r="r" b="b"/>
            <a:pathLst>
              <a:path w="601980">
                <a:moveTo>
                  <a:pt x="0" y="0"/>
                </a:moveTo>
                <a:lnTo>
                  <a:pt x="601713" y="0"/>
                </a:lnTo>
              </a:path>
            </a:pathLst>
          </a:custGeom>
          <a:noFill/>
          <a:ln w="19050">
            <a:gradFill flip="none" rotWithShape="1">
              <a:gsLst>
                <a:gs pos="0">
                  <a:srgbClr val="FFE600"/>
                </a:gs>
                <a:gs pos="100000">
                  <a:srgbClr val="4398F7"/>
                </a:gs>
                <a:gs pos="58000">
                  <a:srgbClr val="00C864"/>
                </a:gs>
              </a:gsLst>
              <a:lin ang="9000000" scaled="0"/>
              <a:tileRect/>
            </a:gra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798" b="0" i="0" u="none" strike="noStrike" kern="0" cap="none" spc="0" normalizeH="0" baseline="0" noProof="0">
              <a:ln>
                <a:noFill/>
              </a:ln>
              <a:effectLst/>
              <a:uLnTx/>
              <a:uFillTx/>
            </a:endParaRPr>
          </a:p>
        </p:txBody>
      </p:sp>
      <p:sp>
        <p:nvSpPr>
          <p:cNvPr id="10" name="object 11">
            <a:hlinkClick r:id="rId5" action="ppaction://hlinksldjump"/>
            <a:extLst>
              <a:ext uri="{FF2B5EF4-FFF2-40B4-BE49-F238E27FC236}">
                <a16:creationId xmlns:a16="http://schemas.microsoft.com/office/drawing/2014/main" id="{D3548D96-884D-8FD1-8FEE-B4BB5209DABA}"/>
              </a:ext>
            </a:extLst>
          </p:cNvPr>
          <p:cNvSpPr txBox="1"/>
          <p:nvPr/>
        </p:nvSpPr>
        <p:spPr>
          <a:xfrm>
            <a:off x="1036250" y="2463714"/>
            <a:ext cx="800793" cy="615944"/>
          </a:xfrm>
          <a:prstGeom prst="rect">
            <a:avLst/>
          </a:prstGeom>
        </p:spPr>
        <p:txBody>
          <a:bodyPr vert="horz" wrap="square" lIns="0" tIns="7913" rIns="0" bIns="0" rtlCol="0">
            <a:spAutoFit/>
          </a:bodyPr>
          <a:lstStyle/>
          <a:p>
            <a:pPr marL="7913" algn="r" defTabSz="914357">
              <a:spcBef>
                <a:spcPts val="62"/>
              </a:spcBef>
            </a:pPr>
            <a:r>
              <a:rPr lang="fr-FR" sz="3951" b="1" spc="-4">
                <a:cs typeface="EYInterstate Light"/>
              </a:rPr>
              <a:t>02</a:t>
            </a:r>
            <a:endParaRPr lang="fr-FR" sz="3951" b="1">
              <a:cs typeface="EYInterstate Light"/>
            </a:endParaRPr>
          </a:p>
        </p:txBody>
      </p:sp>
      <p:sp>
        <p:nvSpPr>
          <p:cNvPr id="11" name="object 12">
            <a:hlinkClick r:id="rId5" action="ppaction://hlinksldjump"/>
            <a:extLst>
              <a:ext uri="{FF2B5EF4-FFF2-40B4-BE49-F238E27FC236}">
                <a16:creationId xmlns:a16="http://schemas.microsoft.com/office/drawing/2014/main" id="{EBE7EE90-B22C-9A9B-0926-1406BFDBA380}"/>
              </a:ext>
            </a:extLst>
          </p:cNvPr>
          <p:cNvSpPr txBox="1"/>
          <p:nvPr/>
        </p:nvSpPr>
        <p:spPr>
          <a:xfrm>
            <a:off x="2116704" y="2595334"/>
            <a:ext cx="2214936" cy="246221"/>
          </a:xfrm>
          <a:prstGeom prst="rect">
            <a:avLst/>
          </a:prstGeom>
        </p:spPr>
        <p:txBody>
          <a:bodyPr vert="horz" wrap="square" lIns="0" tIns="0" rIns="0" bIns="0" rtlCol="0" anchor="ctr" anchorCtr="0">
            <a:spAutoFit/>
          </a:bodyPr>
          <a:lstStyle/>
          <a:p>
            <a:pPr marL="7913" defTabSz="914357">
              <a:spcBef>
                <a:spcPts val="62"/>
              </a:spcBef>
            </a:pPr>
            <a:r>
              <a:rPr lang="en-US" sz="1600" spc="-10">
                <a:cs typeface="EYInterstate Light"/>
              </a:rPr>
              <a:t>Our Experiences</a:t>
            </a:r>
          </a:p>
        </p:txBody>
      </p:sp>
      <p:sp>
        <p:nvSpPr>
          <p:cNvPr id="12" name="object 5">
            <a:extLst>
              <a:ext uri="{FF2B5EF4-FFF2-40B4-BE49-F238E27FC236}">
                <a16:creationId xmlns:a16="http://schemas.microsoft.com/office/drawing/2014/main" id="{331DD0DE-E22C-B435-768E-B6210C6F2CB2}"/>
              </a:ext>
            </a:extLst>
          </p:cNvPr>
          <p:cNvSpPr/>
          <p:nvPr/>
        </p:nvSpPr>
        <p:spPr>
          <a:xfrm rot="16200000">
            <a:off x="1789335" y="2724726"/>
            <a:ext cx="375076" cy="0"/>
          </a:xfrm>
          <a:custGeom>
            <a:avLst/>
            <a:gdLst/>
            <a:ahLst/>
            <a:cxnLst/>
            <a:rect l="l" t="t" r="r" b="b"/>
            <a:pathLst>
              <a:path w="601980">
                <a:moveTo>
                  <a:pt x="0" y="0"/>
                </a:moveTo>
                <a:lnTo>
                  <a:pt x="601713" y="0"/>
                </a:lnTo>
              </a:path>
            </a:pathLst>
          </a:custGeom>
          <a:noFill/>
          <a:ln w="19050">
            <a:gradFill flip="none" rotWithShape="1">
              <a:gsLst>
                <a:gs pos="0">
                  <a:srgbClr val="FFE600"/>
                </a:gs>
                <a:gs pos="100000">
                  <a:srgbClr val="4398F7"/>
                </a:gs>
                <a:gs pos="58000">
                  <a:srgbClr val="00C864"/>
                </a:gs>
              </a:gsLst>
              <a:lin ang="9000000" scaled="0"/>
              <a:tileRect/>
            </a:gra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798" b="0" i="0" u="none" strike="noStrike" kern="0" cap="none" spc="0" normalizeH="0" baseline="0" noProof="0">
              <a:ln>
                <a:noFill/>
              </a:ln>
              <a:effectLst/>
              <a:uLnTx/>
              <a:uFillTx/>
            </a:endParaRPr>
          </a:p>
        </p:txBody>
      </p:sp>
      <p:sp>
        <p:nvSpPr>
          <p:cNvPr id="13" name="object 11">
            <a:hlinkClick r:id="rId6" action="ppaction://hlinksldjump"/>
            <a:extLst>
              <a:ext uri="{FF2B5EF4-FFF2-40B4-BE49-F238E27FC236}">
                <a16:creationId xmlns:a16="http://schemas.microsoft.com/office/drawing/2014/main" id="{231E179C-F7EB-3885-C279-100B8902DDB0}"/>
              </a:ext>
            </a:extLst>
          </p:cNvPr>
          <p:cNvSpPr txBox="1"/>
          <p:nvPr/>
        </p:nvSpPr>
        <p:spPr>
          <a:xfrm>
            <a:off x="1047095" y="3318092"/>
            <a:ext cx="800793" cy="615944"/>
          </a:xfrm>
          <a:prstGeom prst="rect">
            <a:avLst/>
          </a:prstGeom>
        </p:spPr>
        <p:txBody>
          <a:bodyPr vert="horz" wrap="square" lIns="0" tIns="7913" rIns="0" bIns="0" rtlCol="0">
            <a:spAutoFit/>
          </a:bodyPr>
          <a:lstStyle/>
          <a:p>
            <a:pPr marL="7913" algn="r" defTabSz="914357">
              <a:spcBef>
                <a:spcPts val="62"/>
              </a:spcBef>
            </a:pPr>
            <a:r>
              <a:rPr lang="fr-FR" sz="3951" b="1" spc="-4">
                <a:cs typeface="EYInterstate Light"/>
              </a:rPr>
              <a:t>03</a:t>
            </a:r>
            <a:endParaRPr lang="fr-FR" sz="3951" b="1">
              <a:cs typeface="EYInterstate Light"/>
            </a:endParaRPr>
          </a:p>
        </p:txBody>
      </p:sp>
      <p:sp>
        <p:nvSpPr>
          <p:cNvPr id="14" name="object 12">
            <a:hlinkClick r:id="rId6" action="ppaction://hlinksldjump"/>
            <a:extLst>
              <a:ext uri="{FF2B5EF4-FFF2-40B4-BE49-F238E27FC236}">
                <a16:creationId xmlns:a16="http://schemas.microsoft.com/office/drawing/2014/main" id="{C6A3E89E-4DE4-0983-1B7D-F2C7651E6436}"/>
              </a:ext>
            </a:extLst>
          </p:cNvPr>
          <p:cNvSpPr txBox="1"/>
          <p:nvPr/>
        </p:nvSpPr>
        <p:spPr>
          <a:xfrm>
            <a:off x="2116703" y="3503722"/>
            <a:ext cx="3395400" cy="505267"/>
          </a:xfrm>
          <a:prstGeom prst="rect">
            <a:avLst/>
          </a:prstGeom>
        </p:spPr>
        <p:txBody>
          <a:bodyPr vert="horz" wrap="square" lIns="0" tIns="0" rIns="0" bIns="0" rtlCol="0" anchor="ctr" anchorCtr="0">
            <a:spAutoFit/>
          </a:bodyPr>
          <a:lstStyle/>
          <a:p>
            <a:pPr marL="7913" defTabSz="914357">
              <a:spcBef>
                <a:spcPts val="62"/>
              </a:spcBef>
            </a:pPr>
            <a:r>
              <a:rPr lang="en-US" sz="1600" spc="-10">
                <a:cs typeface="EYInterstate Light"/>
              </a:rPr>
              <a:t>Our Team</a:t>
            </a:r>
          </a:p>
          <a:p>
            <a:pPr marL="7913" defTabSz="914357">
              <a:spcBef>
                <a:spcPts val="62"/>
              </a:spcBef>
            </a:pPr>
            <a:endParaRPr lang="en-US" sz="1600" spc="-10">
              <a:cs typeface="EYInterstate Light"/>
            </a:endParaRPr>
          </a:p>
        </p:txBody>
      </p:sp>
      <p:sp>
        <p:nvSpPr>
          <p:cNvPr id="15" name="object 5">
            <a:extLst>
              <a:ext uri="{FF2B5EF4-FFF2-40B4-BE49-F238E27FC236}">
                <a16:creationId xmlns:a16="http://schemas.microsoft.com/office/drawing/2014/main" id="{8F215228-B0C2-70EA-1D08-2354A8543D6E}"/>
              </a:ext>
            </a:extLst>
          </p:cNvPr>
          <p:cNvSpPr/>
          <p:nvPr/>
        </p:nvSpPr>
        <p:spPr>
          <a:xfrm rot="16200000">
            <a:off x="1789335" y="3632198"/>
            <a:ext cx="375076" cy="0"/>
          </a:xfrm>
          <a:custGeom>
            <a:avLst/>
            <a:gdLst/>
            <a:ahLst/>
            <a:cxnLst/>
            <a:rect l="l" t="t" r="r" b="b"/>
            <a:pathLst>
              <a:path w="601980">
                <a:moveTo>
                  <a:pt x="0" y="0"/>
                </a:moveTo>
                <a:lnTo>
                  <a:pt x="601713" y="0"/>
                </a:lnTo>
              </a:path>
            </a:pathLst>
          </a:custGeom>
          <a:noFill/>
          <a:ln w="19050">
            <a:gradFill flip="none" rotWithShape="1">
              <a:gsLst>
                <a:gs pos="0">
                  <a:srgbClr val="FFE600"/>
                </a:gs>
                <a:gs pos="100000">
                  <a:srgbClr val="4398F7"/>
                </a:gs>
                <a:gs pos="58000">
                  <a:srgbClr val="00C864"/>
                </a:gs>
              </a:gsLst>
              <a:lin ang="9000000" scaled="0"/>
              <a:tileRect/>
            </a:gra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798" b="0" i="0" u="none" strike="noStrike" kern="0" cap="none" spc="0" normalizeH="0" baseline="0" noProof="0">
              <a:ln>
                <a:noFill/>
              </a:ln>
              <a:effectLst/>
              <a:uLnTx/>
              <a:uFillTx/>
            </a:endParaRPr>
          </a:p>
        </p:txBody>
      </p:sp>
      <p:sp>
        <p:nvSpPr>
          <p:cNvPr id="17" name="TextBox 16">
            <a:hlinkClick r:id="rId4" action="ppaction://hlinksldjump"/>
            <a:extLst>
              <a:ext uri="{FF2B5EF4-FFF2-40B4-BE49-F238E27FC236}">
                <a16:creationId xmlns:a16="http://schemas.microsoft.com/office/drawing/2014/main" id="{721DAD1C-3405-24C0-6FA3-A1974FFA465C}"/>
              </a:ext>
            </a:extLst>
          </p:cNvPr>
          <p:cNvSpPr txBox="1"/>
          <p:nvPr/>
        </p:nvSpPr>
        <p:spPr>
          <a:xfrm>
            <a:off x="5061299" y="1679404"/>
            <a:ext cx="706169" cy="307777"/>
          </a:xfrm>
          <a:prstGeom prst="rect">
            <a:avLst/>
          </a:prstGeom>
          <a:noFill/>
        </p:spPr>
        <p:txBody>
          <a:bodyPr wrap="square">
            <a:spAutoFit/>
          </a:bodyPr>
          <a:lstStyle/>
          <a:p>
            <a:pPr marL="0" marR="0" lvl="0" indent="0" defTabSz="914357" eaLnBrk="1" fontAlgn="auto" latinLnBrk="0" hangingPunct="1">
              <a:lnSpc>
                <a:spcPct val="100000"/>
              </a:lnSpc>
              <a:spcBef>
                <a:spcPts val="0"/>
              </a:spcBef>
              <a:spcAft>
                <a:spcPts val="0"/>
              </a:spcAft>
              <a:buClrTx/>
              <a:buSzTx/>
              <a:buFontTx/>
              <a:buNone/>
              <a:tabLst/>
              <a:defRPr/>
            </a:pPr>
            <a:r>
              <a:rPr kumimoji="0" lang="fr-FR" sz="1400" b="0" i="0" u="none" strike="noStrike" kern="0" cap="none" spc="-10" normalizeH="0" baseline="0" noProof="0">
                <a:ln>
                  <a:noFill/>
                </a:ln>
                <a:effectLst/>
                <a:uLnTx/>
                <a:uFillTx/>
              </a:rPr>
              <a:t>05</a:t>
            </a:r>
            <a:endParaRPr kumimoji="0" lang="en-US" sz="1400" b="0" i="0" u="none" strike="noStrike" kern="0" cap="none" spc="-10" normalizeH="0" baseline="0" noProof="0">
              <a:ln>
                <a:noFill/>
              </a:ln>
              <a:effectLst/>
              <a:uLnTx/>
              <a:uFillTx/>
            </a:endParaRPr>
          </a:p>
        </p:txBody>
      </p:sp>
      <p:sp>
        <p:nvSpPr>
          <p:cNvPr id="18" name="TextBox 17">
            <a:extLst>
              <a:ext uri="{FF2B5EF4-FFF2-40B4-BE49-F238E27FC236}">
                <a16:creationId xmlns:a16="http://schemas.microsoft.com/office/drawing/2014/main" id="{DCA347B4-A1C4-947C-DEF7-4507F5A04E89}"/>
              </a:ext>
            </a:extLst>
          </p:cNvPr>
          <p:cNvSpPr txBox="1"/>
          <p:nvPr/>
        </p:nvSpPr>
        <p:spPr>
          <a:xfrm>
            <a:off x="5061299" y="2581565"/>
            <a:ext cx="706169" cy="307777"/>
          </a:xfrm>
          <a:prstGeom prst="rect">
            <a:avLst/>
          </a:prstGeom>
          <a:noFill/>
        </p:spPr>
        <p:txBody>
          <a:bodyPr wrap="square">
            <a:spAutoFit/>
          </a:bodyPr>
          <a:lstStyle/>
          <a:p>
            <a:pPr marL="0" marR="0" lvl="0" indent="0" defTabSz="914357" eaLnBrk="1" fontAlgn="auto" latinLnBrk="0" hangingPunct="1">
              <a:lnSpc>
                <a:spcPct val="100000"/>
              </a:lnSpc>
              <a:spcBef>
                <a:spcPts val="0"/>
              </a:spcBef>
              <a:spcAft>
                <a:spcPts val="0"/>
              </a:spcAft>
              <a:buClrTx/>
              <a:buSzTx/>
              <a:buFontTx/>
              <a:buNone/>
              <a:tabLst/>
              <a:defRPr/>
            </a:pPr>
            <a:r>
              <a:rPr kumimoji="0" lang="fr-FR" sz="1400" b="0" i="0" u="none" strike="noStrike" kern="0" cap="none" spc="-10" normalizeH="0" baseline="0" noProof="0">
                <a:ln>
                  <a:noFill/>
                </a:ln>
                <a:effectLst/>
                <a:uLnTx/>
                <a:uFillTx/>
              </a:rPr>
              <a:t>16</a:t>
            </a:r>
            <a:endParaRPr kumimoji="0" lang="en-US" sz="1400" b="0" i="0" u="none" strike="noStrike" kern="0" cap="none" spc="-10" normalizeH="0" baseline="0" noProof="0">
              <a:ln>
                <a:noFill/>
              </a:ln>
              <a:effectLst/>
              <a:uLnTx/>
              <a:uFillTx/>
            </a:endParaRPr>
          </a:p>
        </p:txBody>
      </p:sp>
      <p:sp>
        <p:nvSpPr>
          <p:cNvPr id="19" name="TextBox 18">
            <a:extLst>
              <a:ext uri="{FF2B5EF4-FFF2-40B4-BE49-F238E27FC236}">
                <a16:creationId xmlns:a16="http://schemas.microsoft.com/office/drawing/2014/main" id="{10707F4D-762D-A072-57AF-60BA9EBE7BFF}"/>
              </a:ext>
            </a:extLst>
          </p:cNvPr>
          <p:cNvSpPr txBox="1"/>
          <p:nvPr/>
        </p:nvSpPr>
        <p:spPr>
          <a:xfrm>
            <a:off x="5061299" y="3493362"/>
            <a:ext cx="706169" cy="307777"/>
          </a:xfrm>
          <a:prstGeom prst="rect">
            <a:avLst/>
          </a:prstGeom>
          <a:noFill/>
        </p:spPr>
        <p:txBody>
          <a:bodyPr wrap="square">
            <a:spAutoFit/>
          </a:bodyPr>
          <a:lstStyle/>
          <a:p>
            <a:pPr marL="0" marR="0" lvl="0" indent="0" defTabSz="914357" eaLnBrk="1" fontAlgn="auto" latinLnBrk="0" hangingPunct="1">
              <a:lnSpc>
                <a:spcPct val="100000"/>
              </a:lnSpc>
              <a:spcBef>
                <a:spcPts val="0"/>
              </a:spcBef>
              <a:spcAft>
                <a:spcPts val="0"/>
              </a:spcAft>
              <a:buClrTx/>
              <a:buSzTx/>
              <a:buFontTx/>
              <a:buNone/>
              <a:tabLst/>
              <a:defRPr/>
            </a:pPr>
            <a:r>
              <a:rPr kumimoji="0" lang="fr-FR" sz="1400" b="0" i="0" u="none" strike="noStrike" kern="0" cap="none" spc="-10" normalizeH="0" baseline="0" noProof="0">
                <a:ln>
                  <a:noFill/>
                </a:ln>
                <a:effectLst/>
                <a:uLnTx/>
                <a:uFillTx/>
              </a:rPr>
              <a:t>20</a:t>
            </a:r>
            <a:endParaRPr kumimoji="0" lang="en-US" sz="1400" b="0" i="0" u="none" strike="noStrike" kern="0" cap="none" spc="-10" normalizeH="0" baseline="0" noProof="0">
              <a:ln>
                <a:noFill/>
              </a:ln>
              <a:effectLst/>
              <a:uLnTx/>
              <a:uFillTx/>
            </a:endParaRPr>
          </a:p>
        </p:txBody>
      </p:sp>
      <p:sp>
        <p:nvSpPr>
          <p:cNvPr id="20" name="object 11">
            <a:hlinkClick r:id="rId7" action="ppaction://hlinksldjump"/>
            <a:extLst>
              <a:ext uri="{FF2B5EF4-FFF2-40B4-BE49-F238E27FC236}">
                <a16:creationId xmlns:a16="http://schemas.microsoft.com/office/drawing/2014/main" id="{5E34CFEE-CC58-468F-1E13-495E20832840}"/>
              </a:ext>
            </a:extLst>
          </p:cNvPr>
          <p:cNvSpPr txBox="1"/>
          <p:nvPr/>
        </p:nvSpPr>
        <p:spPr>
          <a:xfrm>
            <a:off x="1040745" y="4111955"/>
            <a:ext cx="800793" cy="615944"/>
          </a:xfrm>
          <a:prstGeom prst="rect">
            <a:avLst/>
          </a:prstGeom>
        </p:spPr>
        <p:txBody>
          <a:bodyPr vert="horz" wrap="square" lIns="0" tIns="7913" rIns="0" bIns="0" rtlCol="0">
            <a:spAutoFit/>
          </a:bodyPr>
          <a:lstStyle/>
          <a:p>
            <a:pPr marL="7913" algn="r" defTabSz="914357">
              <a:spcBef>
                <a:spcPts val="62"/>
              </a:spcBef>
            </a:pPr>
            <a:r>
              <a:rPr lang="fr-FR" sz="3951" b="1" spc="-4">
                <a:cs typeface="EYInterstate Light"/>
              </a:rPr>
              <a:t>04</a:t>
            </a:r>
            <a:endParaRPr lang="fr-FR" sz="3951" b="1">
              <a:cs typeface="EYInterstate Light"/>
            </a:endParaRPr>
          </a:p>
        </p:txBody>
      </p:sp>
      <p:sp>
        <p:nvSpPr>
          <p:cNvPr id="21" name="object 12">
            <a:hlinkClick r:id="rId7" action="ppaction://hlinksldjump"/>
            <a:extLst>
              <a:ext uri="{FF2B5EF4-FFF2-40B4-BE49-F238E27FC236}">
                <a16:creationId xmlns:a16="http://schemas.microsoft.com/office/drawing/2014/main" id="{11C0815F-69C1-3BD8-A783-D4BD2027760E}"/>
              </a:ext>
            </a:extLst>
          </p:cNvPr>
          <p:cNvSpPr txBox="1"/>
          <p:nvPr/>
        </p:nvSpPr>
        <p:spPr>
          <a:xfrm>
            <a:off x="2116037" y="4344290"/>
            <a:ext cx="3065875" cy="246221"/>
          </a:xfrm>
          <a:prstGeom prst="rect">
            <a:avLst/>
          </a:prstGeom>
        </p:spPr>
        <p:txBody>
          <a:bodyPr vert="horz" wrap="square" lIns="0" tIns="0" rIns="0" bIns="0" rtlCol="0" anchor="ctr" anchorCtr="0">
            <a:spAutoFit/>
          </a:bodyPr>
          <a:lstStyle/>
          <a:p>
            <a:pPr marL="7913" defTabSz="914357">
              <a:spcBef>
                <a:spcPts val="62"/>
              </a:spcBef>
            </a:pPr>
            <a:r>
              <a:rPr lang="en-US" sz="1600" spc="-10">
                <a:cs typeface="EYInterstate Light"/>
              </a:rPr>
              <a:t>Methodology</a:t>
            </a:r>
          </a:p>
        </p:txBody>
      </p:sp>
      <p:sp>
        <p:nvSpPr>
          <p:cNvPr id="22" name="object 5">
            <a:extLst>
              <a:ext uri="{FF2B5EF4-FFF2-40B4-BE49-F238E27FC236}">
                <a16:creationId xmlns:a16="http://schemas.microsoft.com/office/drawing/2014/main" id="{6FFE952C-E78F-0235-5F98-415BCC2D3858}"/>
              </a:ext>
            </a:extLst>
          </p:cNvPr>
          <p:cNvSpPr/>
          <p:nvPr/>
        </p:nvSpPr>
        <p:spPr>
          <a:xfrm rot="16200000">
            <a:off x="1816349" y="4473850"/>
            <a:ext cx="375076" cy="0"/>
          </a:xfrm>
          <a:custGeom>
            <a:avLst/>
            <a:gdLst/>
            <a:ahLst/>
            <a:cxnLst/>
            <a:rect l="l" t="t" r="r" b="b"/>
            <a:pathLst>
              <a:path w="601980">
                <a:moveTo>
                  <a:pt x="0" y="0"/>
                </a:moveTo>
                <a:lnTo>
                  <a:pt x="601713" y="0"/>
                </a:lnTo>
              </a:path>
            </a:pathLst>
          </a:custGeom>
          <a:noFill/>
          <a:ln w="19050">
            <a:gradFill flip="none" rotWithShape="1">
              <a:gsLst>
                <a:gs pos="0">
                  <a:srgbClr val="FFE600"/>
                </a:gs>
                <a:gs pos="100000">
                  <a:srgbClr val="4398F7"/>
                </a:gs>
                <a:gs pos="58000">
                  <a:srgbClr val="00C864"/>
                </a:gs>
              </a:gsLst>
              <a:lin ang="9000000" scaled="0"/>
              <a:tileRect/>
            </a:gra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798" b="0" i="0" u="none" strike="noStrike" kern="0" cap="none" spc="0" normalizeH="0" baseline="0" noProof="0">
              <a:ln>
                <a:noFill/>
              </a:ln>
              <a:effectLst/>
              <a:uLnTx/>
              <a:uFillTx/>
            </a:endParaRPr>
          </a:p>
        </p:txBody>
      </p:sp>
      <p:sp>
        <p:nvSpPr>
          <p:cNvPr id="26" name="TextBox 25">
            <a:extLst>
              <a:ext uri="{FF2B5EF4-FFF2-40B4-BE49-F238E27FC236}">
                <a16:creationId xmlns:a16="http://schemas.microsoft.com/office/drawing/2014/main" id="{525CC7B5-8B91-44C5-AA84-C3139B6C8042}"/>
              </a:ext>
            </a:extLst>
          </p:cNvPr>
          <p:cNvSpPr txBox="1"/>
          <p:nvPr/>
        </p:nvSpPr>
        <p:spPr>
          <a:xfrm>
            <a:off x="5035354" y="4348683"/>
            <a:ext cx="706169" cy="307777"/>
          </a:xfrm>
          <a:prstGeom prst="rect">
            <a:avLst/>
          </a:prstGeom>
          <a:noFill/>
        </p:spPr>
        <p:txBody>
          <a:bodyPr wrap="square">
            <a:spAutoFit/>
          </a:bodyPr>
          <a:lstStyle/>
          <a:p>
            <a:pPr marL="0" marR="0" lvl="0" indent="0" defTabSz="914357" eaLnBrk="1" fontAlgn="auto" latinLnBrk="0" hangingPunct="1">
              <a:lnSpc>
                <a:spcPct val="100000"/>
              </a:lnSpc>
              <a:spcBef>
                <a:spcPts val="0"/>
              </a:spcBef>
              <a:spcAft>
                <a:spcPts val="0"/>
              </a:spcAft>
              <a:buClrTx/>
              <a:buSzTx/>
              <a:buFontTx/>
              <a:buNone/>
              <a:tabLst/>
              <a:defRPr/>
            </a:pPr>
            <a:r>
              <a:rPr kumimoji="0" lang="fr-FR" sz="1400" b="0" i="0" u="none" strike="noStrike" kern="0" cap="none" spc="-10" normalizeH="0" baseline="0" noProof="0">
                <a:ln>
                  <a:noFill/>
                </a:ln>
                <a:effectLst/>
                <a:uLnTx/>
                <a:uFillTx/>
              </a:rPr>
              <a:t>29</a:t>
            </a:r>
            <a:endParaRPr kumimoji="0" lang="en-US" sz="1400" b="0" i="0" u="none" strike="noStrike" kern="0" cap="none" spc="-10" normalizeH="0" baseline="0" noProof="0">
              <a:ln>
                <a:noFill/>
              </a:ln>
              <a:effectLst/>
              <a:uLnTx/>
              <a:uFillTx/>
            </a:endParaRPr>
          </a:p>
        </p:txBody>
      </p:sp>
      <p:cxnSp>
        <p:nvCxnSpPr>
          <p:cNvPr id="28" name="Straight Connector 27">
            <a:extLst>
              <a:ext uri="{FF2B5EF4-FFF2-40B4-BE49-F238E27FC236}">
                <a16:creationId xmlns:a16="http://schemas.microsoft.com/office/drawing/2014/main" id="{68D3EB11-7AF0-5B6F-9E1D-54190ECED023}"/>
              </a:ext>
            </a:extLst>
          </p:cNvPr>
          <p:cNvCxnSpPr>
            <a:cxnSpLocks/>
          </p:cNvCxnSpPr>
          <p:nvPr/>
        </p:nvCxnSpPr>
        <p:spPr>
          <a:xfrm>
            <a:off x="1976873" y="2240786"/>
            <a:ext cx="3395400" cy="0"/>
          </a:xfrm>
          <a:prstGeom prst="line">
            <a:avLst/>
          </a:prstGeom>
          <a:noFill/>
          <a:ln w="9525" cap="flat" cmpd="sng" algn="ctr">
            <a:solidFill>
              <a:srgbClr val="1A9AFA"/>
            </a:solidFill>
            <a:prstDash val="dash"/>
            <a:miter lim="800000"/>
          </a:ln>
          <a:effectLst/>
        </p:spPr>
      </p:cxnSp>
      <p:cxnSp>
        <p:nvCxnSpPr>
          <p:cNvPr id="29" name="Straight Connector 28">
            <a:extLst>
              <a:ext uri="{FF2B5EF4-FFF2-40B4-BE49-F238E27FC236}">
                <a16:creationId xmlns:a16="http://schemas.microsoft.com/office/drawing/2014/main" id="{039CDB2F-AD6C-EDA6-9E92-294D8EEA5AFA}"/>
              </a:ext>
            </a:extLst>
          </p:cNvPr>
          <p:cNvCxnSpPr>
            <a:cxnSpLocks/>
          </p:cNvCxnSpPr>
          <p:nvPr/>
        </p:nvCxnSpPr>
        <p:spPr>
          <a:xfrm>
            <a:off x="1976873" y="3172638"/>
            <a:ext cx="3395400" cy="0"/>
          </a:xfrm>
          <a:prstGeom prst="line">
            <a:avLst/>
          </a:prstGeom>
          <a:noFill/>
          <a:ln w="9525" cap="flat" cmpd="sng" algn="ctr">
            <a:solidFill>
              <a:srgbClr val="1A9AFA"/>
            </a:solidFill>
            <a:prstDash val="dash"/>
            <a:miter lim="800000"/>
          </a:ln>
          <a:effectLst/>
        </p:spPr>
      </p:cxnSp>
      <p:cxnSp>
        <p:nvCxnSpPr>
          <p:cNvPr id="30" name="Straight Connector 29">
            <a:extLst>
              <a:ext uri="{FF2B5EF4-FFF2-40B4-BE49-F238E27FC236}">
                <a16:creationId xmlns:a16="http://schemas.microsoft.com/office/drawing/2014/main" id="{AA1B1460-3CA5-1F4A-8AF6-F8F082245D42}"/>
              </a:ext>
            </a:extLst>
          </p:cNvPr>
          <p:cNvCxnSpPr>
            <a:cxnSpLocks/>
          </p:cNvCxnSpPr>
          <p:nvPr/>
        </p:nvCxnSpPr>
        <p:spPr>
          <a:xfrm>
            <a:off x="1976873" y="4119696"/>
            <a:ext cx="3395400" cy="0"/>
          </a:xfrm>
          <a:prstGeom prst="line">
            <a:avLst/>
          </a:prstGeom>
          <a:noFill/>
          <a:ln w="9525" cap="flat" cmpd="sng" algn="ctr">
            <a:solidFill>
              <a:srgbClr val="1A9AFA"/>
            </a:solidFill>
            <a:prstDash val="dash"/>
            <a:miter lim="800000"/>
          </a:ln>
          <a:effectLst/>
        </p:spPr>
      </p:cxnSp>
      <p:cxnSp>
        <p:nvCxnSpPr>
          <p:cNvPr id="37" name="Straight Connector 36">
            <a:extLst>
              <a:ext uri="{FF2B5EF4-FFF2-40B4-BE49-F238E27FC236}">
                <a16:creationId xmlns:a16="http://schemas.microsoft.com/office/drawing/2014/main" id="{808E4A70-9989-58EC-071B-5496E5AB137A}"/>
              </a:ext>
            </a:extLst>
          </p:cNvPr>
          <p:cNvCxnSpPr>
            <a:cxnSpLocks/>
          </p:cNvCxnSpPr>
          <p:nvPr/>
        </p:nvCxnSpPr>
        <p:spPr>
          <a:xfrm>
            <a:off x="1976873" y="4919796"/>
            <a:ext cx="3395400" cy="0"/>
          </a:xfrm>
          <a:prstGeom prst="line">
            <a:avLst/>
          </a:prstGeom>
          <a:noFill/>
          <a:ln w="9525" cap="flat" cmpd="sng" algn="ctr">
            <a:solidFill>
              <a:srgbClr val="1A9AFA"/>
            </a:solidFill>
            <a:prstDash val="dash"/>
            <a:miter lim="800000"/>
          </a:ln>
          <a:effectLst/>
        </p:spPr>
      </p:cxnSp>
      <p:sp>
        <p:nvSpPr>
          <p:cNvPr id="2" name="object 11">
            <a:hlinkClick r:id="" action="ppaction://noaction"/>
            <a:extLst>
              <a:ext uri="{FF2B5EF4-FFF2-40B4-BE49-F238E27FC236}">
                <a16:creationId xmlns:a16="http://schemas.microsoft.com/office/drawing/2014/main" id="{3FD9AE1A-0CF1-202F-DEF6-DBC5B3D05ADC}"/>
              </a:ext>
            </a:extLst>
          </p:cNvPr>
          <p:cNvSpPr txBox="1"/>
          <p:nvPr/>
        </p:nvSpPr>
        <p:spPr>
          <a:xfrm>
            <a:off x="1040744" y="5039055"/>
            <a:ext cx="800793" cy="615944"/>
          </a:xfrm>
          <a:prstGeom prst="rect">
            <a:avLst/>
          </a:prstGeom>
        </p:spPr>
        <p:txBody>
          <a:bodyPr vert="horz" wrap="square" lIns="0" tIns="7913" rIns="0" bIns="0" rtlCol="0">
            <a:spAutoFit/>
          </a:bodyPr>
          <a:lstStyle/>
          <a:p>
            <a:pPr marL="7913" algn="r" defTabSz="914357">
              <a:spcBef>
                <a:spcPts val="62"/>
              </a:spcBef>
            </a:pPr>
            <a:r>
              <a:rPr lang="fr-FR" sz="3951" b="1" spc="-4">
                <a:cs typeface="EYInterstate Light"/>
              </a:rPr>
              <a:t>05</a:t>
            </a:r>
            <a:endParaRPr lang="fr-FR" sz="3951" b="1">
              <a:cs typeface="EYInterstate Light"/>
            </a:endParaRPr>
          </a:p>
        </p:txBody>
      </p:sp>
      <p:sp>
        <p:nvSpPr>
          <p:cNvPr id="8" name="object 5">
            <a:extLst>
              <a:ext uri="{FF2B5EF4-FFF2-40B4-BE49-F238E27FC236}">
                <a16:creationId xmlns:a16="http://schemas.microsoft.com/office/drawing/2014/main" id="{93D00C04-502E-D8A2-0475-1658DE4C96A0}"/>
              </a:ext>
            </a:extLst>
          </p:cNvPr>
          <p:cNvSpPr/>
          <p:nvPr/>
        </p:nvSpPr>
        <p:spPr>
          <a:xfrm rot="16200000">
            <a:off x="1816349" y="5296017"/>
            <a:ext cx="375076" cy="0"/>
          </a:xfrm>
          <a:custGeom>
            <a:avLst/>
            <a:gdLst/>
            <a:ahLst/>
            <a:cxnLst/>
            <a:rect l="l" t="t" r="r" b="b"/>
            <a:pathLst>
              <a:path w="601980">
                <a:moveTo>
                  <a:pt x="0" y="0"/>
                </a:moveTo>
                <a:lnTo>
                  <a:pt x="601713" y="0"/>
                </a:lnTo>
              </a:path>
            </a:pathLst>
          </a:custGeom>
          <a:noFill/>
          <a:ln w="19050">
            <a:gradFill flip="none" rotWithShape="1">
              <a:gsLst>
                <a:gs pos="0">
                  <a:srgbClr val="FFE600"/>
                </a:gs>
                <a:gs pos="100000">
                  <a:srgbClr val="4398F7"/>
                </a:gs>
                <a:gs pos="58000">
                  <a:srgbClr val="00C864"/>
                </a:gs>
              </a:gsLst>
              <a:lin ang="9000000" scaled="0"/>
              <a:tileRect/>
            </a:gra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798" b="0" i="0" u="none" strike="noStrike" kern="0" cap="none" spc="0" normalizeH="0" baseline="0" noProof="0">
              <a:ln>
                <a:noFill/>
              </a:ln>
              <a:effectLst/>
              <a:uLnTx/>
              <a:uFillTx/>
            </a:endParaRPr>
          </a:p>
        </p:txBody>
      </p:sp>
      <p:cxnSp>
        <p:nvCxnSpPr>
          <p:cNvPr id="16" name="Straight Connector 15">
            <a:extLst>
              <a:ext uri="{FF2B5EF4-FFF2-40B4-BE49-F238E27FC236}">
                <a16:creationId xmlns:a16="http://schemas.microsoft.com/office/drawing/2014/main" id="{C0348D9B-09E9-CC5B-2765-4585626AFD49}"/>
              </a:ext>
            </a:extLst>
          </p:cNvPr>
          <p:cNvCxnSpPr>
            <a:cxnSpLocks/>
          </p:cNvCxnSpPr>
          <p:nvPr/>
        </p:nvCxnSpPr>
        <p:spPr>
          <a:xfrm>
            <a:off x="1976873" y="5654999"/>
            <a:ext cx="3395400" cy="0"/>
          </a:xfrm>
          <a:prstGeom prst="line">
            <a:avLst/>
          </a:prstGeom>
          <a:noFill/>
          <a:ln w="9525" cap="flat" cmpd="sng" algn="ctr">
            <a:solidFill>
              <a:srgbClr val="1A9AFA"/>
            </a:solidFill>
            <a:prstDash val="dash"/>
            <a:miter lim="800000"/>
          </a:ln>
          <a:effectLst/>
        </p:spPr>
      </p:cxnSp>
      <p:sp>
        <p:nvSpPr>
          <p:cNvPr id="24" name="object 12">
            <a:hlinkClick r:id="rId7" action="ppaction://hlinksldjump"/>
            <a:extLst>
              <a:ext uri="{FF2B5EF4-FFF2-40B4-BE49-F238E27FC236}">
                <a16:creationId xmlns:a16="http://schemas.microsoft.com/office/drawing/2014/main" id="{E9ADE68C-98AE-014C-AAA8-2432F10692E2}"/>
              </a:ext>
            </a:extLst>
          </p:cNvPr>
          <p:cNvSpPr txBox="1"/>
          <p:nvPr/>
        </p:nvSpPr>
        <p:spPr>
          <a:xfrm>
            <a:off x="2116036" y="5163586"/>
            <a:ext cx="3065875" cy="246221"/>
          </a:xfrm>
          <a:prstGeom prst="rect">
            <a:avLst/>
          </a:prstGeom>
        </p:spPr>
        <p:txBody>
          <a:bodyPr vert="horz" wrap="square" lIns="0" tIns="0" rIns="0" bIns="0" rtlCol="0" anchor="ctr" anchorCtr="0">
            <a:spAutoFit/>
          </a:bodyPr>
          <a:lstStyle/>
          <a:p>
            <a:pPr marL="7913" defTabSz="914357">
              <a:spcBef>
                <a:spcPts val="62"/>
              </a:spcBef>
            </a:pPr>
            <a:r>
              <a:rPr lang="en-US" sz="1600" spc="-10">
                <a:cs typeface="EYInterstate Light"/>
              </a:rPr>
              <a:t>Financial proposal </a:t>
            </a:r>
          </a:p>
        </p:txBody>
      </p:sp>
      <p:sp>
        <p:nvSpPr>
          <p:cNvPr id="25" name="TextBox 24">
            <a:extLst>
              <a:ext uri="{FF2B5EF4-FFF2-40B4-BE49-F238E27FC236}">
                <a16:creationId xmlns:a16="http://schemas.microsoft.com/office/drawing/2014/main" id="{10ACF4B5-5763-9B74-74BE-6408A88A5EFD}"/>
              </a:ext>
            </a:extLst>
          </p:cNvPr>
          <p:cNvSpPr txBox="1"/>
          <p:nvPr/>
        </p:nvSpPr>
        <p:spPr>
          <a:xfrm>
            <a:off x="5035354" y="5130085"/>
            <a:ext cx="706169" cy="307777"/>
          </a:xfrm>
          <a:prstGeom prst="rect">
            <a:avLst/>
          </a:prstGeom>
          <a:noFill/>
        </p:spPr>
        <p:txBody>
          <a:bodyPr wrap="square">
            <a:spAutoFit/>
          </a:bodyPr>
          <a:lstStyle/>
          <a:p>
            <a:pPr marL="0" marR="0" lvl="0" indent="0" defTabSz="914357" eaLnBrk="1" fontAlgn="auto" latinLnBrk="0" hangingPunct="1">
              <a:lnSpc>
                <a:spcPct val="100000"/>
              </a:lnSpc>
              <a:spcBef>
                <a:spcPts val="0"/>
              </a:spcBef>
              <a:spcAft>
                <a:spcPts val="0"/>
              </a:spcAft>
              <a:buClrTx/>
              <a:buSzTx/>
              <a:buFontTx/>
              <a:buNone/>
              <a:tabLst/>
              <a:defRPr/>
            </a:pPr>
            <a:r>
              <a:rPr lang="fr-FR" sz="1400" kern="0" spc="-10"/>
              <a:t>35</a:t>
            </a:r>
            <a:endParaRPr kumimoji="0" lang="en-US" sz="1400" b="0" i="0" u="none" strike="noStrike" kern="0" cap="none" spc="-10" normalizeH="0" baseline="0" noProof="0">
              <a:ln>
                <a:noFill/>
              </a:ln>
              <a:effectLst/>
              <a:uLnTx/>
              <a:uFillTx/>
            </a:endParaRPr>
          </a:p>
        </p:txBody>
      </p:sp>
    </p:spTree>
    <p:extLst>
      <p:ext uri="{BB962C8B-B14F-4D97-AF65-F5344CB8AC3E}">
        <p14:creationId xmlns:p14="http://schemas.microsoft.com/office/powerpoint/2010/main" val="1682412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mputer with a transparent screen&#10;&#10;Description automatically generated">
            <a:extLst>
              <a:ext uri="{FF2B5EF4-FFF2-40B4-BE49-F238E27FC236}">
                <a16:creationId xmlns:a16="http://schemas.microsoft.com/office/drawing/2014/main" id="{09A55886-4C0A-9D8C-7C04-09655120805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2885435-725D-4319-4C36-762EA73FD4C8}"/>
              </a:ext>
            </a:extLst>
          </p:cNvPr>
          <p:cNvSpPr/>
          <p:nvPr/>
        </p:nvSpPr>
        <p:spPr>
          <a:xfrm>
            <a:off x="0" y="0"/>
            <a:ext cx="12192000" cy="6858000"/>
          </a:xfrm>
          <a:prstGeom prst="rect">
            <a:avLst/>
          </a:prstGeom>
          <a:gradFill>
            <a:gsLst>
              <a:gs pos="0">
                <a:schemeClr val="tx1">
                  <a:alpha val="50000"/>
                </a:schemeClr>
              </a:gs>
              <a:gs pos="100000">
                <a:schemeClr val="tx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8B8129A-5FAB-E16E-AD7A-AA691FA686D8}"/>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0" y="2809949"/>
            <a:ext cx="12192000" cy="4048051"/>
          </a:xfrm>
          <a:prstGeom prst="rect">
            <a:avLst/>
          </a:prstGeom>
        </p:spPr>
      </p:pic>
      <p:sp>
        <p:nvSpPr>
          <p:cNvPr id="4" name="TextBox 3">
            <a:extLst>
              <a:ext uri="{FF2B5EF4-FFF2-40B4-BE49-F238E27FC236}">
                <a16:creationId xmlns:a16="http://schemas.microsoft.com/office/drawing/2014/main" id="{05FE1BD4-5D0D-CFF2-6A70-4BDDEAC89CBD}"/>
              </a:ext>
            </a:extLst>
          </p:cNvPr>
          <p:cNvSpPr txBox="1"/>
          <p:nvPr/>
        </p:nvSpPr>
        <p:spPr>
          <a:xfrm>
            <a:off x="574517" y="1091996"/>
            <a:ext cx="1046480" cy="923330"/>
          </a:xfrm>
          <a:prstGeom prst="rect">
            <a:avLst/>
          </a:prstGeom>
          <a:noFill/>
        </p:spPr>
        <p:txBody>
          <a:bodyPr wrap="square" rtlCol="0">
            <a:spAutoFit/>
          </a:bodyPr>
          <a:lstStyle/>
          <a:p>
            <a:r>
              <a:rPr lang="en-US" sz="5400" b="1">
                <a:solidFill>
                  <a:schemeClr val="bg1"/>
                </a:solidFill>
                <a:latin typeface="EYInterstate Light" panose="02000506000000020004" pitchFamily="2" charset="0"/>
              </a:rPr>
              <a:t>01</a:t>
            </a:r>
          </a:p>
        </p:txBody>
      </p:sp>
      <p:sp>
        <p:nvSpPr>
          <p:cNvPr id="5" name="TextBox 4">
            <a:extLst>
              <a:ext uri="{FF2B5EF4-FFF2-40B4-BE49-F238E27FC236}">
                <a16:creationId xmlns:a16="http://schemas.microsoft.com/office/drawing/2014/main" id="{C587EF18-67AD-1B9A-79D5-974315C728A3}"/>
              </a:ext>
            </a:extLst>
          </p:cNvPr>
          <p:cNvSpPr txBox="1"/>
          <p:nvPr/>
        </p:nvSpPr>
        <p:spPr>
          <a:xfrm>
            <a:off x="574516" y="2186580"/>
            <a:ext cx="9255284" cy="584775"/>
          </a:xfrm>
          <a:prstGeom prst="rect">
            <a:avLst/>
          </a:prstGeom>
          <a:noFill/>
        </p:spPr>
        <p:txBody>
          <a:bodyPr wrap="square" lIns="91440" tIns="45720" rIns="91440" bIns="45720" rtlCol="0" anchor="t">
            <a:spAutoFit/>
          </a:bodyPr>
          <a:lstStyle/>
          <a:p>
            <a:r>
              <a:rPr lang="en-US" sz="3200" b="1" dirty="0">
                <a:solidFill>
                  <a:schemeClr val="bg1"/>
                </a:solidFill>
                <a:latin typeface="EYInterstate Light"/>
              </a:rPr>
              <a:t>Why  and Our Point of View</a:t>
            </a:r>
          </a:p>
        </p:txBody>
      </p:sp>
      <p:cxnSp>
        <p:nvCxnSpPr>
          <p:cNvPr id="6" name="Straight Connector 5">
            <a:extLst>
              <a:ext uri="{FF2B5EF4-FFF2-40B4-BE49-F238E27FC236}">
                <a16:creationId xmlns:a16="http://schemas.microsoft.com/office/drawing/2014/main" id="{A38BB7A1-A221-BA82-6893-D386DC17FF8E}"/>
              </a:ext>
            </a:extLst>
          </p:cNvPr>
          <p:cNvCxnSpPr>
            <a:cxnSpLocks/>
          </p:cNvCxnSpPr>
          <p:nvPr/>
        </p:nvCxnSpPr>
        <p:spPr bwMode="auto">
          <a:xfrm>
            <a:off x="713186" y="2015326"/>
            <a:ext cx="1092200" cy="0"/>
          </a:xfrm>
          <a:prstGeom prst="line">
            <a:avLst/>
          </a:prstGeom>
          <a:noFill/>
          <a:ln w="31750">
            <a:gradFill flip="none" rotWithShape="1">
              <a:gsLst>
                <a:gs pos="0">
                  <a:srgbClr val="33FCFE"/>
                </a:gs>
                <a:gs pos="100000">
                  <a:srgbClr val="4398F7"/>
                </a:gs>
              </a:gsLst>
              <a:lin ang="10800000" scaled="1"/>
              <a:tileRect/>
            </a:gradFill>
            <a:round/>
            <a:headEnd/>
            <a:tailEnd/>
          </a:ln>
          <a:effectLst/>
        </p:spPr>
      </p:cxnSp>
    </p:spTree>
    <p:extLst>
      <p:ext uri="{BB962C8B-B14F-4D97-AF65-F5344CB8AC3E}">
        <p14:creationId xmlns:p14="http://schemas.microsoft.com/office/powerpoint/2010/main" val="3814169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27608-3798-9546-425F-1C1B55C27994}"/>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A4007B0-578A-1C76-9AA6-D80EF4EF59B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3" name="think-cell data - do not delete" hidden="1">
                        <a:extLst>
                          <a:ext uri="{FF2B5EF4-FFF2-40B4-BE49-F238E27FC236}">
                            <a16:creationId xmlns:a16="http://schemas.microsoft.com/office/drawing/2014/main" id="{8A4007B0-578A-1C76-9AA6-D80EF4EF59B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3" name="Title 1">
            <a:extLst>
              <a:ext uri="{FF2B5EF4-FFF2-40B4-BE49-F238E27FC236}">
                <a16:creationId xmlns:a16="http://schemas.microsoft.com/office/drawing/2014/main" id="{302DCCC9-BB1F-74E2-09E0-AA6AF45780B0}"/>
              </a:ext>
            </a:extLst>
          </p:cNvPr>
          <p:cNvSpPr txBox="1">
            <a:spLocks/>
          </p:cNvSpPr>
          <p:nvPr/>
        </p:nvSpPr>
        <p:spPr bwMode="gray">
          <a:xfrm>
            <a:off x="689863" y="200565"/>
            <a:ext cx="10789269" cy="792000"/>
          </a:xfrm>
          <a:prstGeom prst="rect">
            <a:avLst/>
          </a:prstGeom>
          <a:noFill/>
          <a:ln w="9525">
            <a:noFill/>
            <a:miter lim="800000"/>
            <a:headEnd/>
            <a:tailEnd/>
          </a:ln>
          <a:effectLst/>
        </p:spPr>
        <p:txBody>
          <a:bodyPr vert="horz" wrap="square" lIns="0" tIns="0" rIns="0" bIns="36000" numCol="1" anchor="b" anchorCtr="0" compatLnSpc="1">
            <a:prstTxWarp prst="textNoShape">
              <a:avLst/>
            </a:prstTxWarp>
          </a:bodyPr>
          <a:lstStyle>
            <a:lvl1pPr algn="l" defTabSz="902010" rtl="0" eaLnBrk="1" fontAlgn="base" hangingPunct="1">
              <a:lnSpc>
                <a:spcPct val="85000"/>
              </a:lnSpc>
              <a:spcBef>
                <a:spcPct val="0"/>
              </a:spcBef>
              <a:spcAft>
                <a:spcPct val="0"/>
              </a:spcAft>
              <a:defRPr sz="2199" baseline="0">
                <a:solidFill>
                  <a:schemeClr val="tx1"/>
                </a:solidFill>
                <a:latin typeface="EYInterstate Light" panose="02000506000000020004" pitchFamily="2" charset="0"/>
                <a:ea typeface="+mj-ea"/>
                <a:cs typeface="+mj-cs"/>
              </a:defRPr>
            </a:lvl1pPr>
            <a:lvl2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2pPr>
            <a:lvl3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3pPr>
            <a:lvl4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4pPr>
            <a:lvl5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5pPr>
            <a:lvl6pPr marL="414323"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6pPr>
            <a:lvl7pPr marL="828639"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7pPr>
            <a:lvl8pPr marL="1242960"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8pPr>
            <a:lvl9pPr marL="1657279"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9pPr>
          </a:lstStyle>
          <a:p>
            <a:pPr marL="0" marR="0" lvl="0" indent="0" algn="l" defTabSz="902010" rtl="0" eaLnBrk="1" fontAlgn="base" latinLnBrk="0" hangingPunct="1">
              <a:lnSpc>
                <a:spcPct val="85000"/>
              </a:lnSpc>
              <a:spcBef>
                <a:spcPct val="0"/>
              </a:spcBef>
              <a:spcAft>
                <a:spcPct val="0"/>
              </a:spcAft>
              <a:buClrTx/>
              <a:buSzTx/>
              <a:buFontTx/>
              <a:buNone/>
              <a:tabLst/>
              <a:defRPr/>
            </a:pPr>
            <a:endParaRPr kumimoji="0" lang="en-US" sz="2199" b="0" i="0" u="none" strike="noStrike" kern="0" cap="none" spc="0" normalizeH="0" baseline="0" noProof="0">
              <a:ln>
                <a:noFill/>
              </a:ln>
              <a:solidFill>
                <a:srgbClr val="000000"/>
              </a:solidFill>
              <a:effectLst/>
              <a:uLnTx/>
              <a:uFillTx/>
              <a:latin typeface="EYInterstate Light" panose="02000506000000020004" pitchFamily="2" charset="0"/>
              <a:ea typeface="+mj-ea"/>
              <a:cs typeface="Arial"/>
            </a:endParaRPr>
          </a:p>
        </p:txBody>
      </p:sp>
      <p:sp>
        <p:nvSpPr>
          <p:cNvPr id="67" name="Rectangle: Rounded Corners 66">
            <a:extLst>
              <a:ext uri="{FF2B5EF4-FFF2-40B4-BE49-F238E27FC236}">
                <a16:creationId xmlns:a16="http://schemas.microsoft.com/office/drawing/2014/main" id="{E7BFEBB7-F5F1-D8F1-0735-7B569D4E8933}"/>
              </a:ext>
            </a:extLst>
          </p:cNvPr>
          <p:cNvSpPr/>
          <p:nvPr/>
        </p:nvSpPr>
        <p:spPr>
          <a:xfrm flipH="1">
            <a:off x="4398388" y="2046248"/>
            <a:ext cx="3381153" cy="494237"/>
          </a:xfrm>
          <a:prstGeom prst="roundRect">
            <a:avLst>
              <a:gd name="adj" fmla="val 50000"/>
            </a:avLst>
          </a:prstGeom>
          <a:solidFill>
            <a:srgbClr val="1A9AFA"/>
          </a:solidFill>
          <a:ln w="38100" cap="flat" cmpd="sng" algn="ctr">
            <a:solidFill>
              <a:srgbClr val="1D9BFA">
                <a:alpha val="20000"/>
              </a:srgbClr>
            </a:solidFill>
            <a:prstDash val="solid"/>
            <a:miter lim="800000"/>
          </a:ln>
          <a:effectLst/>
        </p:spPr>
        <p:txBody>
          <a:bodyPr lIns="91440" tIns="91440" rIns="91440" bIns="91440" rtlCol="0" anchor="ctr"/>
          <a:lstStyle/>
          <a:p>
            <a:pPr algn="ctr" defTabSz="829544">
              <a:defRPr/>
            </a:pPr>
            <a:r>
              <a:rPr kumimoji="0" lang="en-US" sz="1200" b="0" u="none" strike="noStrike" kern="0" cap="none" spc="0" normalizeH="0" baseline="0" noProof="0">
                <a:ln>
                  <a:noFill/>
                </a:ln>
                <a:solidFill>
                  <a:schemeClr val="bg1"/>
                </a:solidFill>
                <a:effectLst/>
                <a:uLnTx/>
                <a:uFillTx/>
                <a:latin typeface="EYInterstate Light"/>
                <a:ea typeface="+mn-ea"/>
                <a:cs typeface="Arial"/>
              </a:rPr>
              <a:t>A </a:t>
            </a:r>
            <a:r>
              <a:rPr kumimoji="0" lang="en-US" sz="1200" b="1" u="none" strike="noStrike" kern="0" cap="none" spc="0" normalizeH="0" baseline="0" noProof="0">
                <a:ln>
                  <a:noFill/>
                </a:ln>
                <a:solidFill>
                  <a:schemeClr val="bg1"/>
                </a:solidFill>
                <a:effectLst/>
                <a:uLnTx/>
                <a:uFillTx/>
                <a:latin typeface="EYInterstate Light"/>
                <a:ea typeface="+mn-ea"/>
                <a:cs typeface="Arial"/>
              </a:rPr>
              <a:t>highly integrated consortium </a:t>
            </a:r>
            <a:r>
              <a:rPr kumimoji="0" lang="en-US" sz="1200" b="0" u="none" strike="noStrike" kern="0" cap="none" spc="0" normalizeH="0" baseline="0" noProof="0">
                <a:ln>
                  <a:noFill/>
                </a:ln>
                <a:solidFill>
                  <a:schemeClr val="bg1"/>
                </a:solidFill>
                <a:effectLst/>
                <a:uLnTx/>
                <a:uFillTx/>
                <a:latin typeface="EYInterstate Light"/>
                <a:ea typeface="+mn-ea"/>
                <a:cs typeface="Arial"/>
              </a:rPr>
              <a:t>which can address the </a:t>
            </a:r>
            <a:r>
              <a:rPr lang="en-US" sz="1200" kern="0">
                <a:solidFill>
                  <a:schemeClr val="bg1"/>
                </a:solidFill>
                <a:latin typeface="EYInterstate Light"/>
                <a:cs typeface="Arial"/>
              </a:rPr>
              <a:t>financial and technical </a:t>
            </a:r>
            <a:r>
              <a:rPr kumimoji="0" lang="en-US" sz="1200" b="0" u="none" strike="noStrike" kern="0" cap="none" spc="0" normalizeH="0" baseline="0" noProof="0">
                <a:ln>
                  <a:noFill/>
                </a:ln>
                <a:solidFill>
                  <a:schemeClr val="bg1"/>
                </a:solidFill>
                <a:effectLst/>
                <a:uLnTx/>
                <a:uFillTx/>
                <a:latin typeface="EYInterstate Light"/>
                <a:ea typeface="+mn-ea"/>
                <a:cs typeface="Arial"/>
              </a:rPr>
              <a:t>scope</a:t>
            </a:r>
          </a:p>
        </p:txBody>
      </p:sp>
      <p:sp>
        <p:nvSpPr>
          <p:cNvPr id="92" name="Title 91">
            <a:extLst>
              <a:ext uri="{FF2B5EF4-FFF2-40B4-BE49-F238E27FC236}">
                <a16:creationId xmlns:a16="http://schemas.microsoft.com/office/drawing/2014/main" id="{A9F833FB-09BB-9799-B885-0E5FC056FDA6}"/>
              </a:ext>
            </a:extLst>
          </p:cNvPr>
          <p:cNvSpPr>
            <a:spLocks noGrp="1"/>
          </p:cNvSpPr>
          <p:nvPr>
            <p:ph type="title"/>
          </p:nvPr>
        </p:nvSpPr>
        <p:spPr/>
        <p:txBody>
          <a:bodyPr vert="horz"/>
          <a:lstStyle/>
          <a:p>
            <a:r>
              <a:rPr lang="en-US" sz="2200">
                <a:latin typeface="+mn-lt"/>
              </a:rPr>
              <a:t>Why Our Consortium</a:t>
            </a:r>
            <a:br>
              <a:rPr lang="en-US" sz="2200">
                <a:latin typeface="+mn-lt"/>
              </a:rPr>
            </a:br>
            <a:r>
              <a:rPr lang="en-US" sz="1600"/>
              <a:t>Introduction</a:t>
            </a:r>
            <a:endParaRPr lang="en-IN" sz="1800"/>
          </a:p>
        </p:txBody>
      </p:sp>
      <p:sp>
        <p:nvSpPr>
          <p:cNvPr id="2" name="Rectangle: Rounded Corners 1">
            <a:extLst>
              <a:ext uri="{FF2B5EF4-FFF2-40B4-BE49-F238E27FC236}">
                <a16:creationId xmlns:a16="http://schemas.microsoft.com/office/drawing/2014/main" id="{FC1EF7DA-8AA5-355E-1F07-57D790DFE0CA}"/>
              </a:ext>
            </a:extLst>
          </p:cNvPr>
          <p:cNvSpPr>
            <a:spLocks/>
          </p:cNvSpPr>
          <p:nvPr/>
        </p:nvSpPr>
        <p:spPr bwMode="auto">
          <a:xfrm>
            <a:off x="691236" y="1305023"/>
            <a:ext cx="10819865" cy="501919"/>
          </a:xfrm>
          <a:prstGeom prst="roundRect">
            <a:avLst/>
          </a:prstGeom>
          <a:solidFill>
            <a:srgbClr val="D2D2DA"/>
          </a:solidFill>
          <a:ln w="9525" cap="flat" cmpd="sng" algn="ctr">
            <a:noFill/>
            <a:prstDash val="solid"/>
            <a:round/>
            <a:headEnd type="none" w="med" len="med"/>
            <a:tailEnd type="none" w="med" len="med"/>
          </a:ln>
          <a:effectLst/>
        </p:spPr>
        <p:txBody>
          <a:bodyPr vert="horz" wrap="square" lIns="65368" tIns="0" rIns="65368" bIns="0" numCol="1" rtlCol="0" anchor="ctr" anchorCtr="0" compatLnSpc="1">
            <a:prstTxWarp prst="textNoShape">
              <a:avLst/>
            </a:prstTxWarp>
          </a:bodyPr>
          <a:lstStyle/>
          <a:p>
            <a:pPr marL="0" marR="0" lvl="0" indent="0" algn="l" defTabSz="830208" rtl="0" eaLnBrk="1" fontAlgn="auto" latinLnBrk="0" hangingPunct="1">
              <a:lnSpc>
                <a:spcPct val="100000"/>
              </a:lnSpc>
              <a:spcBef>
                <a:spcPts val="0"/>
              </a:spcBef>
              <a:spcAft>
                <a:spcPts val="0"/>
              </a:spcAft>
              <a:buClrTx/>
              <a:buSzTx/>
              <a:buFont typeface="EYInterstate Light" panose="02000506000000020004" pitchFamily="2" charset="0"/>
              <a:buNone/>
              <a:tabLst/>
              <a:defRPr/>
            </a:pPr>
            <a:r>
              <a:rPr kumimoji="0" lang="en-IN" sz="1200" b="1" i="0" u="none" strike="noStrike" kern="1200" cap="none" spc="0" normalizeH="0" baseline="0" noProof="0" dirty="0">
                <a:ln>
                  <a:noFill/>
                </a:ln>
                <a:effectLst/>
                <a:uLnTx/>
                <a:uFillTx/>
                <a:latin typeface="EYInterstate Light" panose="02000506000000020004" pitchFamily="2" charset="0"/>
                <a:ea typeface="+mn-ea"/>
                <a:cs typeface="Arial"/>
              </a:rPr>
              <a:t> </a:t>
            </a:r>
            <a:r>
              <a:rPr kumimoji="0" lang="en-IN" sz="1200" b="0" i="0" u="none" strike="noStrike" kern="1200" cap="none" spc="0" normalizeH="0" baseline="0" noProof="0" dirty="0">
                <a:ln>
                  <a:noFill/>
                </a:ln>
                <a:effectLst/>
                <a:uLnTx/>
                <a:uFillTx/>
                <a:latin typeface="EYInterstate Light" panose="02000506000000020004" pitchFamily="2" charset="0"/>
                <a:ea typeface="+mn-ea"/>
                <a:cs typeface="Arial"/>
              </a:rPr>
              <a:t>is partnering with </a:t>
            </a:r>
            <a:r>
              <a:rPr kumimoji="0" lang="en-IN" sz="1200" b="1" i="0" u="none" strike="noStrike" kern="1200" cap="none" spc="0" normalizeH="0" baseline="0" noProof="0" dirty="0">
                <a:ln>
                  <a:noFill/>
                </a:ln>
                <a:effectLst/>
                <a:uLnTx/>
                <a:uFillTx/>
                <a:latin typeface="EYInterstate Light" panose="02000506000000020004" pitchFamily="2" charset="0"/>
                <a:ea typeface="+mn-ea"/>
                <a:cs typeface="Arial"/>
              </a:rPr>
              <a:t>[COMPANY]</a:t>
            </a:r>
            <a:r>
              <a:rPr kumimoji="0" lang="en-IN" sz="1200" b="0" i="0" u="none" strike="noStrike" kern="1200" cap="none" spc="0" normalizeH="0" baseline="0" noProof="0" dirty="0">
                <a:ln>
                  <a:noFill/>
                </a:ln>
                <a:effectLst/>
                <a:uLnTx/>
                <a:uFillTx/>
                <a:latin typeface="EYInterstate Light" panose="02000506000000020004" pitchFamily="2" charset="0"/>
                <a:ea typeface="+mn-ea"/>
                <a:cs typeface="Arial"/>
              </a:rPr>
              <a:t>as technical advisor to bring together an advisory team with a wealth of experience in advising procurers, developers, lenders, suppliers, governments and regulators on healthcare Public Private Partnership (PPP) projects in the MENA region and globally. </a:t>
            </a:r>
            <a:endParaRPr kumimoji="0" lang="en-US" sz="1200" b="0" i="0" u="none" strike="noStrike" kern="1200" cap="none" spc="0" normalizeH="0" baseline="0" noProof="0" dirty="0">
              <a:ln>
                <a:noFill/>
              </a:ln>
              <a:effectLst/>
              <a:uLnTx/>
              <a:uFillTx/>
              <a:latin typeface="EYInterstate Light" panose="02000506000000020004" pitchFamily="2" charset="0"/>
              <a:ea typeface="+mn-ea"/>
              <a:cs typeface="Arial"/>
            </a:endParaRPr>
          </a:p>
        </p:txBody>
      </p:sp>
      <p:sp>
        <p:nvSpPr>
          <p:cNvPr id="18" name="Oval 17">
            <a:extLst>
              <a:ext uri="{FF2B5EF4-FFF2-40B4-BE49-F238E27FC236}">
                <a16:creationId xmlns:a16="http://schemas.microsoft.com/office/drawing/2014/main" id="{39434435-C1A5-6BDC-A1CC-955D67D362B3}"/>
              </a:ext>
            </a:extLst>
          </p:cNvPr>
          <p:cNvSpPr/>
          <p:nvPr/>
        </p:nvSpPr>
        <p:spPr>
          <a:xfrm>
            <a:off x="3933285" y="2899640"/>
            <a:ext cx="2653337" cy="2653337"/>
          </a:xfrm>
          <a:prstGeom prst="ellipse">
            <a:avLst/>
          </a:prstGeom>
          <a:solidFill>
            <a:srgbClr val="FFFFFF"/>
          </a:solidFill>
          <a:ln w="12700" cap="flat" cmpd="sng" algn="ctr">
            <a:solidFill>
              <a:srgbClr val="35A4E8"/>
            </a:solidFill>
            <a:prstDash val="solid"/>
            <a:miter lim="800000"/>
          </a:ln>
          <a:effectLst>
            <a:outerShdw blurRad="381000" dist="266700" dir="27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E63239EE-4274-9D7E-F84D-AA87CD714121}"/>
              </a:ext>
            </a:extLst>
          </p:cNvPr>
          <p:cNvSpPr/>
          <p:nvPr/>
        </p:nvSpPr>
        <p:spPr>
          <a:xfrm>
            <a:off x="5744743" y="2899640"/>
            <a:ext cx="2653337" cy="2653337"/>
          </a:xfrm>
          <a:prstGeom prst="ellipse">
            <a:avLst/>
          </a:prstGeom>
          <a:solidFill>
            <a:schemeClr val="accent1">
              <a:lumMod val="20000"/>
              <a:lumOff val="80000"/>
            </a:schemeClr>
          </a:solidFill>
          <a:ln w="12700" cap="flat" cmpd="sng" algn="ctr">
            <a:noFill/>
            <a:prstDash val="solid"/>
            <a:miter lim="800000"/>
          </a:ln>
          <a:effectLst>
            <a:outerShdw blurRad="381000" dist="266700" dir="27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AD1C7B2A-1186-C1E5-8695-3BF61F77B67B}"/>
              </a:ext>
            </a:extLst>
          </p:cNvPr>
          <p:cNvSpPr/>
          <p:nvPr/>
        </p:nvSpPr>
        <p:spPr>
          <a:xfrm>
            <a:off x="5744743" y="3258795"/>
            <a:ext cx="841878" cy="1935027"/>
          </a:xfrm>
          <a:custGeom>
            <a:avLst/>
            <a:gdLst>
              <a:gd name="connsiteX0" fmla="*/ 561252 w 1122504"/>
              <a:gd name="connsiteY0" fmla="*/ 0 h 2580036"/>
              <a:gd name="connsiteX1" fmla="*/ 604408 w 1122504"/>
              <a:gd name="connsiteY1" fmla="*/ 39223 h 2580036"/>
              <a:gd name="connsiteX2" fmla="*/ 1122504 w 1122504"/>
              <a:gd name="connsiteY2" fmla="*/ 1290018 h 2580036"/>
              <a:gd name="connsiteX3" fmla="*/ 604408 w 1122504"/>
              <a:gd name="connsiteY3" fmla="*/ 2540813 h 2580036"/>
              <a:gd name="connsiteX4" fmla="*/ 561252 w 1122504"/>
              <a:gd name="connsiteY4" fmla="*/ 2580036 h 2580036"/>
              <a:gd name="connsiteX5" fmla="*/ 518096 w 1122504"/>
              <a:gd name="connsiteY5" fmla="*/ 2540813 h 2580036"/>
              <a:gd name="connsiteX6" fmla="*/ 0 w 1122504"/>
              <a:gd name="connsiteY6" fmla="*/ 1290018 h 2580036"/>
              <a:gd name="connsiteX7" fmla="*/ 518096 w 1122504"/>
              <a:gd name="connsiteY7" fmla="*/ 39223 h 258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2504" h="2580036">
                <a:moveTo>
                  <a:pt x="561252" y="0"/>
                </a:moveTo>
                <a:lnTo>
                  <a:pt x="604408" y="39223"/>
                </a:lnTo>
                <a:cubicBezTo>
                  <a:pt x="924515" y="359329"/>
                  <a:pt x="1122504" y="801552"/>
                  <a:pt x="1122504" y="1290018"/>
                </a:cubicBezTo>
                <a:cubicBezTo>
                  <a:pt x="1122504" y="1778484"/>
                  <a:pt x="924515" y="2220707"/>
                  <a:pt x="604408" y="2540813"/>
                </a:cubicBezTo>
                <a:lnTo>
                  <a:pt x="561252" y="2580036"/>
                </a:lnTo>
                <a:lnTo>
                  <a:pt x="518096" y="2540813"/>
                </a:lnTo>
                <a:cubicBezTo>
                  <a:pt x="197990" y="2220707"/>
                  <a:pt x="0" y="1778484"/>
                  <a:pt x="0" y="1290018"/>
                </a:cubicBezTo>
                <a:cubicBezTo>
                  <a:pt x="0" y="801552"/>
                  <a:pt x="197990" y="359329"/>
                  <a:pt x="518096" y="39223"/>
                </a:cubicBezTo>
                <a:close/>
              </a:path>
            </a:pathLst>
          </a:custGeom>
          <a:solidFill>
            <a:srgbClr val="F2F2F2">
              <a:lumMod val="50000"/>
            </a:srgbClr>
          </a:solidFill>
          <a:ln w="12700" cap="flat" cmpd="sng" algn="ctr">
            <a:solidFill>
              <a:srgbClr val="F2F2F2"/>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id="{BB46C207-757A-B712-77B5-BE5880ADCF1E}"/>
              </a:ext>
            </a:extLst>
          </p:cNvPr>
          <p:cNvSpPr txBox="1"/>
          <p:nvPr/>
        </p:nvSpPr>
        <p:spPr>
          <a:xfrm>
            <a:off x="701366" y="3541696"/>
            <a:ext cx="2945212" cy="1546577"/>
          </a:xfrm>
          <a:prstGeom prst="rect">
            <a:avLst/>
          </a:prstGeom>
          <a:noFill/>
        </p:spPr>
        <p:txBody>
          <a:bodyPr wrap="square" lIns="0" rIns="0" rtlCol="0" anchor="t">
            <a:spAutoFit/>
          </a:bodyPr>
          <a:lstStyle/>
          <a:p>
            <a:pPr marL="171450" indent="-171450" defTabSz="914400">
              <a:buFont typeface="Wingdings" panose="05000000000000000000" pitchFamily="2" charset="2"/>
              <a:buChar char="ü"/>
            </a:pPr>
            <a:r>
              <a:rPr lang="en-IN" sz="1050" noProof="1">
                <a:solidFill>
                  <a:srgbClr val="000000">
                    <a:lumMod val="65000"/>
                    <a:lumOff val="35000"/>
                  </a:srgbClr>
                </a:solidFill>
              </a:rPr>
              <a:t>’s Infrastructure and Project Finance team has been a trusted partner on PPP projects in the region and in KSA</a:t>
            </a:r>
          </a:p>
          <a:p>
            <a:pPr defTabSz="914400"/>
            <a:endParaRPr lang="en-IN" sz="1050" noProof="1">
              <a:solidFill>
                <a:srgbClr val="000000">
                  <a:lumMod val="65000"/>
                  <a:lumOff val="35000"/>
                </a:srgbClr>
              </a:solidFill>
            </a:endParaRPr>
          </a:p>
          <a:p>
            <a:pPr marL="171450" indent="-171450" defTabSz="914400">
              <a:buFont typeface="Wingdings" panose="05000000000000000000" pitchFamily="2" charset="2"/>
              <a:buChar char="ü"/>
            </a:pPr>
            <a:r>
              <a:rPr lang="en-IN" sz="1050" noProof="1">
                <a:solidFill>
                  <a:srgbClr val="000000">
                    <a:lumMod val="65000"/>
                    <a:lumOff val="35000"/>
                  </a:srgbClr>
                </a:solidFill>
              </a:rPr>
              <a:t>We have supported many government and private clients in developing business cases and procurement assistance on key projects involving private sector partnerships, many of which have reached successful closure</a:t>
            </a:r>
          </a:p>
        </p:txBody>
      </p:sp>
      <p:pic>
        <p:nvPicPr>
          <p:cNvPr id="41" name="Graphic 40" descr="Handshake with solid fill">
            <a:extLst>
              <a:ext uri="{FF2B5EF4-FFF2-40B4-BE49-F238E27FC236}">
                <a16:creationId xmlns:a16="http://schemas.microsoft.com/office/drawing/2014/main" id="{397C9607-9E87-AC19-CAE0-D1E8220E610F}"/>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5886464" y="3947090"/>
            <a:ext cx="558437" cy="558437"/>
          </a:xfrm>
          <a:prstGeom prst="rect">
            <a:avLst/>
          </a:prstGeom>
        </p:spPr>
      </p:pic>
      <p:sp>
        <p:nvSpPr>
          <p:cNvPr id="52" name="TextBox 51">
            <a:extLst>
              <a:ext uri="{FF2B5EF4-FFF2-40B4-BE49-F238E27FC236}">
                <a16:creationId xmlns:a16="http://schemas.microsoft.com/office/drawing/2014/main" id="{9A57BEDA-69DB-85A2-C0E3-DEAA70EDC2F4}"/>
              </a:ext>
            </a:extLst>
          </p:cNvPr>
          <p:cNvSpPr txBox="1"/>
          <p:nvPr/>
        </p:nvSpPr>
        <p:spPr>
          <a:xfrm>
            <a:off x="8610198" y="3539634"/>
            <a:ext cx="2945212" cy="2031325"/>
          </a:xfrm>
          <a:prstGeom prst="rect">
            <a:avLst/>
          </a:prstGeom>
          <a:noFill/>
        </p:spPr>
        <p:txBody>
          <a:bodyPr wrap="square" lIns="0" rIns="0" rtlCol="0" anchor="t">
            <a:spAutoFit/>
          </a:bodyPr>
          <a:lstStyle/>
          <a:p>
            <a:pPr marL="171450" indent="-171450" defTabSz="914400">
              <a:buFont typeface="Wingdings" panose="05000000000000000000" pitchFamily="2" charset="2"/>
              <a:buChar char="ü"/>
            </a:pPr>
            <a:r>
              <a:rPr lang="en-IN" sz="1050" noProof="1">
                <a:solidFill>
                  <a:srgbClr val="000000">
                    <a:lumMod val="65000"/>
                    <a:lumOff val="35000"/>
                  </a:srgbClr>
                </a:solidFill>
              </a:rPr>
              <a:t>[COMPANY](‘[COMPANY]’) is a well know operator of hospitals across the United States and the Global Health Care Service team collaborates with governments, private providers, and investors to develop world-class health care facilities </a:t>
            </a:r>
          </a:p>
          <a:p>
            <a:pPr defTabSz="914400"/>
            <a:endParaRPr lang="en-IN" sz="1050" noProof="1">
              <a:solidFill>
                <a:srgbClr val="000000">
                  <a:lumMod val="65000"/>
                  <a:lumOff val="35000"/>
                </a:srgbClr>
              </a:solidFill>
            </a:endParaRPr>
          </a:p>
          <a:p>
            <a:pPr marL="171450" indent="-171450" defTabSz="914400">
              <a:buFont typeface="Wingdings" panose="05000000000000000000" pitchFamily="2" charset="2"/>
              <a:buChar char="ü"/>
            </a:pPr>
            <a:r>
              <a:rPr lang="en-IN" sz="1050" noProof="1">
                <a:solidFill>
                  <a:srgbClr val="000000">
                    <a:lumMod val="65000"/>
                    <a:lumOff val="35000"/>
                  </a:srgbClr>
                </a:solidFill>
              </a:rPr>
              <a:t>[COMPANY] has provided strategic advisory and management services, specializing in hospital development, clinical operations, business planning, and health system transformation.</a:t>
            </a:r>
          </a:p>
        </p:txBody>
      </p:sp>
    </p:spTree>
    <p:extLst>
      <p:ext uri="{BB962C8B-B14F-4D97-AF65-F5344CB8AC3E}">
        <p14:creationId xmlns:p14="http://schemas.microsoft.com/office/powerpoint/2010/main" val="3036448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09BA9-69F9-BD5D-826E-EB66FA57CF0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80D8B8A-0D99-6DF4-C08A-B626934A1541}"/>
              </a:ext>
            </a:extLst>
          </p:cNvPr>
          <p:cNvGraphicFramePr>
            <a:graphicFrameLocks noChangeAspect="1"/>
          </p:cNvGraphicFramePr>
          <p:nvPr>
            <p:custDataLst>
              <p:tags r:id="rId1"/>
            </p:custDataLst>
            <p:extLst>
              <p:ext uri="{D42A27DB-BD31-4B8C-83A1-F6EECF244321}">
                <p14:modId xmlns:p14="http://schemas.microsoft.com/office/powerpoint/2010/main" val="4205440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6" imgH="486" progId="TCLayout.ActiveDocument.1">
                  <p:embed/>
                </p:oleObj>
              </mc:Choice>
              <mc:Fallback>
                <p:oleObj name="think-cell Slide" r:id="rId3" imgW="486" imgH="486" progId="TCLayout.ActiveDocument.1">
                  <p:embed/>
                  <p:pic>
                    <p:nvPicPr>
                      <p:cNvPr id="8" name="think-cell data - do not delete" hidden="1">
                        <a:extLst>
                          <a:ext uri="{FF2B5EF4-FFF2-40B4-BE49-F238E27FC236}">
                            <a16:creationId xmlns:a16="http://schemas.microsoft.com/office/drawing/2014/main" id="{980D8B8A-0D99-6DF4-C08A-B626934A154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8" name="Title 27">
            <a:extLst>
              <a:ext uri="{FF2B5EF4-FFF2-40B4-BE49-F238E27FC236}">
                <a16:creationId xmlns:a16="http://schemas.microsoft.com/office/drawing/2014/main" id="{7BFE0A6C-26C4-4444-7E9D-0C740A32767D}"/>
              </a:ext>
            </a:extLst>
          </p:cNvPr>
          <p:cNvSpPr>
            <a:spLocks noGrp="1"/>
          </p:cNvSpPr>
          <p:nvPr>
            <p:ph type="title"/>
          </p:nvPr>
        </p:nvSpPr>
        <p:spPr/>
        <p:txBody>
          <a:bodyPr vert="horz"/>
          <a:lstStyle/>
          <a:p>
            <a:r>
              <a:rPr lang="en-US" sz="2200"/>
              <a:t>Why Our Consortium</a:t>
            </a:r>
            <a:br>
              <a:rPr lang="en-US" sz="2200"/>
            </a:br>
            <a:r>
              <a:rPr lang="en-US" sz="1600"/>
              <a:t>Our unique value proposition</a:t>
            </a:r>
            <a:endParaRPr lang="en-IN" sz="1600"/>
          </a:p>
        </p:txBody>
      </p:sp>
      <p:grpSp>
        <p:nvGrpSpPr>
          <p:cNvPr id="4" name="Group 3">
            <a:extLst>
              <a:ext uri="{FF2B5EF4-FFF2-40B4-BE49-F238E27FC236}">
                <a16:creationId xmlns:a16="http://schemas.microsoft.com/office/drawing/2014/main" id="{544B9FBE-943F-8B97-1074-D8867CDF68A1}"/>
              </a:ext>
            </a:extLst>
          </p:cNvPr>
          <p:cNvGrpSpPr/>
          <p:nvPr/>
        </p:nvGrpSpPr>
        <p:grpSpPr>
          <a:xfrm>
            <a:off x="752569" y="2310697"/>
            <a:ext cx="2604975" cy="3925599"/>
            <a:chOff x="752569" y="2310697"/>
            <a:chExt cx="2604975" cy="3925599"/>
          </a:xfrm>
        </p:grpSpPr>
        <p:sp>
          <p:nvSpPr>
            <p:cNvPr id="65" name="Rectangle: Rounded Corners 64">
              <a:extLst>
                <a:ext uri="{FF2B5EF4-FFF2-40B4-BE49-F238E27FC236}">
                  <a16:creationId xmlns:a16="http://schemas.microsoft.com/office/drawing/2014/main" id="{6B079C5B-782F-B3FF-8853-6DD1889C8412}"/>
                </a:ext>
              </a:extLst>
            </p:cNvPr>
            <p:cNvSpPr>
              <a:spLocks/>
            </p:cNvSpPr>
            <p:nvPr/>
          </p:nvSpPr>
          <p:spPr>
            <a:xfrm>
              <a:off x="794293" y="2559561"/>
              <a:ext cx="2563251" cy="3676735"/>
            </a:xfrm>
            <a:prstGeom prst="roundRect">
              <a:avLst>
                <a:gd name="adj" fmla="val 9511"/>
              </a:avLst>
            </a:prstGeom>
            <a:solidFill>
              <a:schemeClr val="bg1"/>
            </a:solidFill>
            <a:ln w="19050">
              <a:gradFill>
                <a:gsLst>
                  <a:gs pos="50000">
                    <a:srgbClr val="2AB0B0"/>
                  </a:gs>
                  <a:gs pos="0">
                    <a:srgbClr val="00A6E1"/>
                  </a:gs>
                  <a:gs pos="100000">
                    <a:srgbClr val="747480"/>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endParaRPr>
            </a:p>
          </p:txBody>
        </p:sp>
        <p:sp>
          <p:nvSpPr>
            <p:cNvPr id="79" name="Rectangle: Top Corners Rounded 78">
              <a:extLst>
                <a:ext uri="{FF2B5EF4-FFF2-40B4-BE49-F238E27FC236}">
                  <a16:creationId xmlns:a16="http://schemas.microsoft.com/office/drawing/2014/main" id="{43A24E59-847D-EFAC-384E-2AE482E9E4E5}"/>
                </a:ext>
              </a:extLst>
            </p:cNvPr>
            <p:cNvSpPr>
              <a:spLocks/>
            </p:cNvSpPr>
            <p:nvPr/>
          </p:nvSpPr>
          <p:spPr bwMode="auto">
            <a:xfrm>
              <a:off x="801033" y="2559561"/>
              <a:ext cx="2556511" cy="858521"/>
            </a:xfrm>
            <a:prstGeom prst="round2SameRect">
              <a:avLst>
                <a:gd name="adj1" fmla="val 25225"/>
                <a:gd name="adj2" fmla="val 0"/>
              </a:avLst>
            </a:prstGeom>
            <a:solidFill>
              <a:srgbClr val="35A4E8"/>
            </a:solidFill>
            <a:ln w="9525" cap="flat" cmpd="sng" algn="ctr">
              <a:noFill/>
              <a:prstDash val="solid"/>
              <a:round/>
              <a:headEnd type="none" w="med" len="med"/>
              <a:tailEnd type="none" w="med" len="med"/>
            </a:ln>
            <a:effectLst/>
          </p:spPr>
          <p:txBody>
            <a:bodyPr vert="horz" wrap="none" lIns="576000" tIns="216000" rIns="54000" bIns="54000" numCol="1" rtlCol="0" anchor="t"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srgbClr val="FFFFFF"/>
                  </a:solidFill>
                  <a:effectLst/>
                  <a:uLnTx/>
                  <a:uFillTx/>
                  <a:latin typeface="EYInterstate Light" panose="02000506000000020004" pitchFamily="2" charset="0"/>
                  <a:ea typeface="+mn-ea"/>
                  <a:cs typeface="Arial"/>
                </a:rPr>
                <a:t>We have worked </a:t>
              </a:r>
            </a:p>
            <a:p>
              <a:pPr marL="0" marR="0" lvl="0" indent="0" algn="l" defTabSz="995363"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srgbClr val="FFFFFF"/>
                  </a:solidFill>
                  <a:effectLst/>
                  <a:uLnTx/>
                  <a:uFillTx/>
                  <a:latin typeface="EYInterstate Light" panose="02000506000000020004" pitchFamily="2" charset="0"/>
                  <a:ea typeface="+mn-ea"/>
                  <a:cs typeface="Arial"/>
                </a:rPr>
                <a:t>with </a:t>
              </a:r>
              <a:r>
                <a:rPr lang="en-IN" sz="1200" b="1" dirty="0">
                  <a:solidFill>
                    <a:srgbClr val="FFFFFF"/>
                  </a:solidFill>
                  <a:latin typeface="EYInterstate Light" panose="02000506000000020004" pitchFamily="2" charset="0"/>
                  <a:cs typeface="Arial"/>
                </a:rPr>
                <a:t>[CLIENT]</a:t>
              </a:r>
            </a:p>
            <a:p>
              <a:pPr marL="0" marR="0" lvl="0" indent="0" algn="l" defTabSz="995363"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srgbClr val="FFFFFF"/>
                  </a:solidFill>
                  <a:effectLst/>
                  <a:uLnTx/>
                  <a:uFillTx/>
                  <a:latin typeface="EYInterstate Light" panose="02000506000000020004" pitchFamily="2" charset="0"/>
                  <a:ea typeface="+mn-ea"/>
                  <a:cs typeface="Arial"/>
                </a:rPr>
                <a:t>before</a:t>
              </a:r>
            </a:p>
          </p:txBody>
        </p:sp>
        <p:sp>
          <p:nvSpPr>
            <p:cNvPr id="95" name="Text Placeholder 9">
              <a:extLst>
                <a:ext uri="{FF2B5EF4-FFF2-40B4-BE49-F238E27FC236}">
                  <a16:creationId xmlns:a16="http://schemas.microsoft.com/office/drawing/2014/main" id="{706C7756-40BF-2889-3A92-F27133D034D4}"/>
                </a:ext>
              </a:extLst>
            </p:cNvPr>
            <p:cNvSpPr txBox="1">
              <a:spLocks/>
            </p:cNvSpPr>
            <p:nvPr/>
          </p:nvSpPr>
          <p:spPr>
            <a:xfrm>
              <a:off x="752569" y="2745404"/>
              <a:ext cx="535985" cy="651342"/>
            </a:xfrm>
            <a:prstGeom prst="rect">
              <a:avLst/>
            </a:prstGeom>
            <a:effectLst/>
          </p:spPr>
          <p:txBody>
            <a:bodyPr wrap="square" anchor="ctr">
              <a:noAutofit/>
            </a:bodyPr>
            <a:lstStyle>
              <a:lvl1pPr marL="0" indent="0" algn="l" defTabSz="913340" rtl="0" eaLnBrk="1" latinLnBrk="0" hangingPunct="1">
                <a:spcBef>
                  <a:spcPct val="20000"/>
                </a:spcBef>
                <a:buClr>
                  <a:srgbClr val="00B7E6"/>
                </a:buClr>
                <a:buSzPct val="100000"/>
                <a:buFont typeface="EYInterstate Light" panose="02000506000000020004" pitchFamily="2" charset="0"/>
                <a:buNone/>
                <a:defRPr sz="13200" kern="1200">
                  <a:solidFill>
                    <a:schemeClr val="bg1"/>
                  </a:solidFill>
                  <a:latin typeface="EYInterstate Light" panose="02000506000000020004" pitchFamily="2" charset="0"/>
                  <a:ea typeface="+mn-ea"/>
                  <a:cs typeface="+mn-cs"/>
                </a:defRPr>
              </a:lvl1pPr>
              <a:lvl2pPr marL="712405" indent="-356203" algn="l" defTabSz="913340" rtl="0" eaLnBrk="1" latinLnBrk="0" hangingPunct="1">
                <a:spcBef>
                  <a:spcPct val="20000"/>
                </a:spcBef>
                <a:buClr>
                  <a:srgbClr val="00B7E6"/>
                </a:buClr>
                <a:buSzPct val="100000"/>
                <a:buFont typeface="EYInterstate Light" panose="02000506000000020004" pitchFamily="2" charset="0"/>
                <a:buChar char="•"/>
                <a:defRPr sz="1798" kern="1200">
                  <a:solidFill>
                    <a:schemeClr val="bg1"/>
                  </a:solidFill>
                  <a:latin typeface="EYInterstate Light" panose="02000506000000020004" pitchFamily="2" charset="0"/>
                  <a:ea typeface="+mn-ea"/>
                  <a:cs typeface="+mn-cs"/>
                </a:defRPr>
              </a:lvl2pPr>
              <a:lvl3pPr marL="1068608" indent="-356203" algn="l" defTabSz="913340" rtl="0" eaLnBrk="1" latinLnBrk="0" hangingPunct="1">
                <a:spcBef>
                  <a:spcPct val="20000"/>
                </a:spcBef>
                <a:buClr>
                  <a:srgbClr val="00B7E6"/>
                </a:buClr>
                <a:buSzPct val="100000"/>
                <a:buFont typeface="EYInterstate Light" panose="02000506000000020004" pitchFamily="2" charset="0"/>
                <a:buChar char="•"/>
                <a:defRPr sz="1598" kern="1200">
                  <a:solidFill>
                    <a:schemeClr val="bg1"/>
                  </a:solidFill>
                  <a:latin typeface="EYInterstate Light" panose="02000506000000020004" pitchFamily="2" charset="0"/>
                  <a:ea typeface="+mn-ea"/>
                  <a:cs typeface="+mn-cs"/>
                </a:defRPr>
              </a:lvl3pPr>
              <a:lvl4pPr marL="1424810" indent="-356203" algn="l" defTabSz="913340" rtl="0" eaLnBrk="1" latinLnBrk="0" hangingPunct="1">
                <a:spcBef>
                  <a:spcPct val="20000"/>
                </a:spcBef>
                <a:buClr>
                  <a:srgbClr val="00B7E6"/>
                </a:buClr>
                <a:buSzPct val="100000"/>
                <a:buFont typeface="EYInterstate Light" panose="02000506000000020004" pitchFamily="2" charset="0"/>
                <a:buChar char="•"/>
                <a:defRPr sz="1398" kern="1200">
                  <a:solidFill>
                    <a:schemeClr val="bg1"/>
                  </a:solidFill>
                  <a:latin typeface="EYInterstate Light" panose="02000506000000020004" pitchFamily="2" charset="0"/>
                  <a:ea typeface="+mn-ea"/>
                  <a:cs typeface="+mn-cs"/>
                </a:defRPr>
              </a:lvl4pPr>
              <a:lvl5pPr marL="1781012" indent="-356203" algn="l" defTabSz="913340" rtl="0" eaLnBrk="1" latinLnBrk="0" hangingPunct="1">
                <a:spcBef>
                  <a:spcPct val="20000"/>
                </a:spcBef>
                <a:buClr>
                  <a:srgbClr val="00B7E6"/>
                </a:buClr>
                <a:buSzPct val="100000"/>
                <a:buFont typeface="EYInterstate Light" panose="02000506000000020004" pitchFamily="2" charset="0"/>
                <a:buChar char="•"/>
                <a:defRPr sz="1199" kern="1200">
                  <a:solidFill>
                    <a:schemeClr val="bg1"/>
                  </a:solidFill>
                  <a:latin typeface="EYInterstate Light" panose="02000506000000020004" pitchFamily="2" charset="0"/>
                  <a:ea typeface="+mn-ea"/>
                  <a:cs typeface="+mn-cs"/>
                </a:defRPr>
              </a:lvl5pPr>
              <a:lvl6pPr marL="2511684"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6pPr>
              <a:lvl7pPr marL="2968354"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7pPr>
              <a:lvl8pPr marL="3425023"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8pPr>
              <a:lvl9pPr marL="3881693"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9pPr>
            </a:lstStyle>
            <a:p>
              <a:pPr marL="0" marR="0" lvl="0" indent="0" algn="l" defTabSz="913340" rtl="0" eaLnBrk="1" fontAlgn="auto" latinLnBrk="0" hangingPunct="1">
                <a:lnSpc>
                  <a:spcPct val="100000"/>
                </a:lnSpc>
                <a:spcBef>
                  <a:spcPct val="20000"/>
                </a:spcBef>
                <a:spcAft>
                  <a:spcPts val="0"/>
                </a:spcAft>
                <a:buClr>
                  <a:srgbClr val="00B7E6"/>
                </a:buClr>
                <a:buSzPct val="100000"/>
                <a:buFont typeface="EYInterstate Light" panose="02000506000000020004" pitchFamily="2" charset="0"/>
                <a:buNone/>
                <a:tabLst/>
                <a:defRPr/>
              </a:pPr>
              <a:r>
                <a:rPr kumimoji="0" lang="en-GB" sz="4800" b="1" i="0" u="none" strike="noStrike" kern="1200" cap="none" spc="0" normalizeH="0" baseline="0" noProof="0">
                  <a:ln>
                    <a:noFill/>
                  </a:ln>
                  <a:gradFill>
                    <a:gsLst>
                      <a:gs pos="0">
                        <a:srgbClr val="FFFFFF"/>
                      </a:gs>
                      <a:gs pos="100000">
                        <a:srgbClr val="FFFFFF">
                          <a:alpha val="0"/>
                        </a:srgbClr>
                      </a:gs>
                    </a:gsLst>
                    <a:lin ang="5400000" scaled="1"/>
                  </a:gradFill>
                  <a:effectLst/>
                  <a:uLnTx/>
                  <a:uFillTx/>
                  <a:latin typeface="EYInterstate Light" panose="02000506000000020004" pitchFamily="2" charset="0"/>
                  <a:ea typeface="+mn-ea"/>
                  <a:cs typeface="Arial"/>
                </a:rPr>
                <a:t>A</a:t>
              </a:r>
              <a:endParaRPr kumimoji="0" lang="en-US" sz="4800" b="1" i="0" u="none" strike="noStrike" kern="1200" cap="none" spc="0" normalizeH="0" baseline="0" noProof="0">
                <a:ln>
                  <a:noFill/>
                </a:ln>
                <a:gradFill>
                  <a:gsLst>
                    <a:gs pos="0">
                      <a:srgbClr val="FFFFFF"/>
                    </a:gs>
                    <a:gs pos="100000">
                      <a:srgbClr val="FFFFFF">
                        <a:alpha val="0"/>
                      </a:srgbClr>
                    </a:gs>
                  </a:gsLst>
                  <a:lin ang="5400000" scaled="1"/>
                </a:gradFill>
                <a:effectLst/>
                <a:uLnTx/>
                <a:uFillTx/>
                <a:latin typeface="EYInterstate Light" panose="02000506000000020004" pitchFamily="2" charset="0"/>
                <a:ea typeface="+mn-ea"/>
                <a:cs typeface="Arial"/>
              </a:endParaRPr>
            </a:p>
          </p:txBody>
        </p:sp>
        <p:sp>
          <p:nvSpPr>
            <p:cNvPr id="96" name="Rectangle 95">
              <a:extLst>
                <a:ext uri="{FF2B5EF4-FFF2-40B4-BE49-F238E27FC236}">
                  <a16:creationId xmlns:a16="http://schemas.microsoft.com/office/drawing/2014/main" id="{D7259269-EA5B-077D-9F82-AA279EF5C22A}"/>
                </a:ext>
              </a:extLst>
            </p:cNvPr>
            <p:cNvSpPr/>
            <p:nvPr/>
          </p:nvSpPr>
          <p:spPr bwMode="auto">
            <a:xfrm>
              <a:off x="849489" y="3500121"/>
              <a:ext cx="2453139" cy="2427367"/>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808080"/>
                  </a:solidFill>
                </a14:hiddenFill>
              </a:ext>
            </a:extLst>
          </p:spPr>
          <p:txBody>
            <a:bodyPr vert="horz" wrap="square" lIns="54000" tIns="54000" rIns="54000" bIns="54000" numCol="1" rtlCol="0" anchor="t" anchorCtr="0" compatLnSpc="1">
              <a:prstTxWarp prst="textNoShape">
                <a:avLst/>
              </a:prstTxWarp>
            </a:bodyPr>
            <a:lstStyle/>
            <a:p>
              <a:pPr marL="0" marR="0" lvl="0" indent="0" algn="just" defTabSz="995363"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EYInterstate Light" panose="02000506000000020004" pitchFamily="2" charset="0"/>
                  <a:ea typeface="+mn-ea"/>
                  <a:cs typeface="Arial"/>
                </a:rPr>
                <a:t>Our </a:t>
              </a:r>
              <a:r>
                <a:rPr lang="en-IN" sz="1100" dirty="0">
                  <a:solidFill>
                    <a:srgbClr val="000000"/>
                  </a:solidFill>
                  <a:latin typeface="EYInterstate Light" panose="02000506000000020004" pitchFamily="2" charset="0"/>
                  <a:cs typeface="Arial"/>
                </a:rPr>
                <a:t>senior</a:t>
              </a:r>
              <a:r>
                <a:rPr kumimoji="0" lang="en-IN" sz="1100" b="0" i="0" u="none" strike="noStrike" kern="1200" cap="none" spc="0" normalizeH="0" baseline="0" noProof="0" dirty="0">
                  <a:ln>
                    <a:noFill/>
                  </a:ln>
                  <a:solidFill>
                    <a:srgbClr val="000000"/>
                  </a:solidFill>
                  <a:effectLst/>
                  <a:uLnTx/>
                  <a:uFillTx/>
                  <a:latin typeface="EYInterstate Light" panose="02000506000000020004" pitchFamily="2" charset="0"/>
                  <a:ea typeface="+mn-ea"/>
                  <a:cs typeface="Arial"/>
                </a:rPr>
                <a:t> team members have previously worked with </a:t>
              </a:r>
              <a:r>
                <a:rPr lang="en-IN" sz="1100" dirty="0">
                  <a:solidFill>
                    <a:srgbClr val="000000"/>
                  </a:solidFill>
                  <a:latin typeface="EYInterstate Light" panose="02000506000000020004" pitchFamily="2" charset="0"/>
                  <a:cs typeface="Arial"/>
                </a:rPr>
                <a:t>[CLIENT]</a:t>
              </a:r>
              <a:r>
                <a:rPr kumimoji="0" lang="en-IN" sz="1100" b="0" i="0" u="none" strike="noStrike" kern="1200" cap="none" spc="0" normalizeH="0" baseline="0" noProof="0" dirty="0">
                  <a:ln>
                    <a:noFill/>
                  </a:ln>
                  <a:solidFill>
                    <a:srgbClr val="000000"/>
                  </a:solidFill>
                  <a:effectLst/>
                  <a:uLnTx/>
                  <a:uFillTx/>
                  <a:latin typeface="EYInterstate Light" panose="02000506000000020004" pitchFamily="2" charset="0"/>
                  <a:ea typeface="+mn-ea"/>
                  <a:cs typeface="Arial"/>
                </a:rPr>
                <a:t> on various engagements and we are  familiar with the strategy, priorities and most importantly the way you work both on a day to day level and the approvals processes. </a:t>
              </a:r>
              <a:endParaRPr lang="en-IN" sz="1100" dirty="0">
                <a:solidFill>
                  <a:srgbClr val="000000"/>
                </a:solidFill>
                <a:latin typeface="EYInterstate Light" panose="02000506000000020004" pitchFamily="2" charset="0"/>
                <a:cs typeface="Arial"/>
              </a:endParaRPr>
            </a:p>
            <a:p>
              <a:pPr marL="0" marR="0" lvl="0" indent="0" algn="just" defTabSz="995363"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uLnTx/>
                <a:uFillTx/>
                <a:latin typeface="EYInterstate Light" panose="02000506000000020004" pitchFamily="2" charset="0"/>
                <a:ea typeface="+mn-ea"/>
                <a:cs typeface="Arial"/>
              </a:endParaRPr>
            </a:p>
            <a:p>
              <a:pPr marL="0" marR="0" lvl="0" indent="0" algn="just" defTabSz="995363" rtl="0" eaLnBrk="1" fontAlgn="auto" latinLnBrk="0" hangingPunct="1">
                <a:lnSpc>
                  <a:spcPct val="100000"/>
                </a:lnSpc>
                <a:spcBef>
                  <a:spcPts val="0"/>
                </a:spcBef>
                <a:spcAft>
                  <a:spcPts val="0"/>
                </a:spcAft>
                <a:buClrTx/>
                <a:buSzTx/>
                <a:buFontTx/>
                <a:buNone/>
                <a:tabLst/>
                <a:defRPr/>
              </a:pPr>
              <a:r>
                <a:rPr lang="en-IN" sz="1100" dirty="0">
                  <a:solidFill>
                    <a:srgbClr val="000000"/>
                  </a:solidFill>
                  <a:latin typeface="EYInterstate Light" panose="02000506000000020004" pitchFamily="2" charset="0"/>
                  <a:cs typeface="Arial"/>
                </a:rPr>
                <a:t>For example,  is currently advising [CLIENT] on developing a </a:t>
              </a:r>
              <a:r>
                <a:rPr lang="en-US" sz="1100" dirty="0">
                  <a:solidFill>
                    <a:srgbClr val="000000"/>
                  </a:solidFill>
                  <a:latin typeface="EYInterstate Light" panose="02000506000000020004" pitchFamily="2" charset="0"/>
                  <a:cs typeface="Arial"/>
                </a:rPr>
                <a:t>Strategic Consulting Services Framework Agreement</a:t>
              </a:r>
              <a:endParaRPr lang="en-IN" sz="1100" dirty="0">
                <a:solidFill>
                  <a:srgbClr val="000000"/>
                </a:solidFill>
                <a:latin typeface="EYInterstate Light" panose="02000506000000020004" pitchFamily="2" charset="0"/>
                <a:cs typeface="Arial"/>
              </a:endParaRPr>
            </a:p>
          </p:txBody>
        </p:sp>
        <p:grpSp>
          <p:nvGrpSpPr>
            <p:cNvPr id="156" name="Group 155">
              <a:extLst>
                <a:ext uri="{FF2B5EF4-FFF2-40B4-BE49-F238E27FC236}">
                  <a16:creationId xmlns:a16="http://schemas.microsoft.com/office/drawing/2014/main" id="{07100A20-F69D-7E30-C1F9-2D48A8A1E2DE}"/>
                </a:ext>
              </a:extLst>
            </p:cNvPr>
            <p:cNvGrpSpPr/>
            <p:nvPr/>
          </p:nvGrpSpPr>
          <p:grpSpPr>
            <a:xfrm>
              <a:off x="2575195" y="2310697"/>
              <a:ext cx="685800" cy="685800"/>
              <a:chOff x="2575195" y="2149874"/>
              <a:chExt cx="685800" cy="685800"/>
            </a:xfrm>
          </p:grpSpPr>
          <p:sp>
            <p:nvSpPr>
              <p:cNvPr id="81" name="Oval 80">
                <a:extLst>
                  <a:ext uri="{FF2B5EF4-FFF2-40B4-BE49-F238E27FC236}">
                    <a16:creationId xmlns:a16="http://schemas.microsoft.com/office/drawing/2014/main" id="{E3B8D28C-E631-1175-3EFE-D89E786209D9}"/>
                  </a:ext>
                </a:extLst>
              </p:cNvPr>
              <p:cNvSpPr/>
              <p:nvPr/>
            </p:nvSpPr>
            <p:spPr bwMode="auto">
              <a:xfrm>
                <a:off x="2575195" y="2149874"/>
                <a:ext cx="685800" cy="685800"/>
              </a:xfrm>
              <a:prstGeom prst="ellipse">
                <a:avLst/>
              </a:prstGeom>
              <a:solidFill>
                <a:srgbClr val="FFFFFF"/>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a:ln>
                    <a:noFill/>
                  </a:ln>
                  <a:solidFill>
                    <a:srgbClr val="000000"/>
                  </a:solidFill>
                  <a:effectLst/>
                  <a:uLnTx/>
                  <a:uFillTx/>
                  <a:latin typeface="EYInterstate Light" panose="02000506000000020004" pitchFamily="2" charset="0"/>
                  <a:ea typeface="+mn-ea"/>
                  <a:cs typeface="Arial"/>
                </a:endParaRPr>
              </a:p>
            </p:txBody>
          </p:sp>
          <p:grpSp>
            <p:nvGrpSpPr>
              <p:cNvPr id="71" name="Group 70">
                <a:extLst>
                  <a:ext uri="{FF2B5EF4-FFF2-40B4-BE49-F238E27FC236}">
                    <a16:creationId xmlns:a16="http://schemas.microsoft.com/office/drawing/2014/main" id="{686AE6A7-A2C4-8A9E-A7DE-7A04CD647C91}"/>
                  </a:ext>
                </a:extLst>
              </p:cNvPr>
              <p:cNvGrpSpPr/>
              <p:nvPr/>
            </p:nvGrpSpPr>
            <p:grpSpPr>
              <a:xfrm>
                <a:off x="2613913" y="2209252"/>
                <a:ext cx="571522" cy="582285"/>
                <a:chOff x="3148735" y="1214336"/>
                <a:chExt cx="565854" cy="576514"/>
              </a:xfrm>
            </p:grpSpPr>
            <p:sp>
              <p:nvSpPr>
                <p:cNvPr id="74" name="Rectangle: Rounded Corners 73">
                  <a:extLst>
                    <a:ext uri="{FF2B5EF4-FFF2-40B4-BE49-F238E27FC236}">
                      <a16:creationId xmlns:a16="http://schemas.microsoft.com/office/drawing/2014/main" id="{BC1C6A1B-36BB-38C7-F032-C69F53D00844}"/>
                    </a:ext>
                  </a:extLst>
                </p:cNvPr>
                <p:cNvSpPr/>
                <p:nvPr/>
              </p:nvSpPr>
              <p:spPr>
                <a:xfrm>
                  <a:off x="3175814" y="1214336"/>
                  <a:ext cx="532933" cy="532934"/>
                </a:xfrm>
                <a:prstGeom prst="roundRect">
                  <a:avLst>
                    <a:gd name="adj" fmla="val 50000"/>
                  </a:avLst>
                </a:prstGeom>
                <a:solidFill>
                  <a:srgbClr val="FFFFFF"/>
                </a:solidFill>
                <a:ln w="25400" cap="flat" cmpd="sng" algn="ctr">
                  <a:solidFill>
                    <a:schemeClr val="bg1"/>
                  </a:solidFill>
                  <a:prstDash val="solid"/>
                </a:ln>
                <a:effectLst>
                  <a:outerShdw blurRad="127000" dist="76200" dir="2700000" algn="tl" rotWithShape="0">
                    <a:prstClr val="black">
                      <a:alpha val="16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a:endParaRPr>
                </a:p>
              </p:txBody>
            </p:sp>
            <p:grpSp>
              <p:nvGrpSpPr>
                <p:cNvPr id="75" name="Group 74">
                  <a:extLst>
                    <a:ext uri="{FF2B5EF4-FFF2-40B4-BE49-F238E27FC236}">
                      <a16:creationId xmlns:a16="http://schemas.microsoft.com/office/drawing/2014/main" id="{1AD9C648-1644-6226-62C4-CAB9FB4448A0}"/>
                    </a:ext>
                  </a:extLst>
                </p:cNvPr>
                <p:cNvGrpSpPr/>
                <p:nvPr/>
              </p:nvGrpSpPr>
              <p:grpSpPr>
                <a:xfrm>
                  <a:off x="3148735" y="1224988"/>
                  <a:ext cx="565854" cy="565862"/>
                  <a:chOff x="458004" y="2935727"/>
                  <a:chExt cx="677228" cy="677238"/>
                </a:xfrm>
              </p:grpSpPr>
              <p:sp>
                <p:nvSpPr>
                  <p:cNvPr id="76" name="Freeform: Shape 75">
                    <a:extLst>
                      <a:ext uri="{FF2B5EF4-FFF2-40B4-BE49-F238E27FC236}">
                        <a16:creationId xmlns:a16="http://schemas.microsoft.com/office/drawing/2014/main" id="{4C5AA041-55DF-959D-C65B-A3D265D96EBC}"/>
                      </a:ext>
                    </a:extLst>
                  </p:cNvPr>
                  <p:cNvSpPr/>
                  <p:nvPr/>
                </p:nvSpPr>
                <p:spPr>
                  <a:xfrm rot="21079199">
                    <a:off x="513033" y="2935727"/>
                    <a:ext cx="622173" cy="622173"/>
                  </a:xfrm>
                  <a:custGeom>
                    <a:avLst/>
                    <a:gdLst>
                      <a:gd name="connsiteX0" fmla="*/ 622173 w 622173"/>
                      <a:gd name="connsiteY0" fmla="*/ 311087 h 622173"/>
                      <a:gd name="connsiteX1" fmla="*/ 311087 w 622173"/>
                      <a:gd name="connsiteY1" fmla="*/ 622173 h 622173"/>
                      <a:gd name="connsiteX2" fmla="*/ 0 w 622173"/>
                      <a:gd name="connsiteY2" fmla="*/ 311087 h 622173"/>
                      <a:gd name="connsiteX3" fmla="*/ 311087 w 622173"/>
                      <a:gd name="connsiteY3" fmla="*/ 0 h 622173"/>
                      <a:gd name="connsiteX4" fmla="*/ 622173 w 622173"/>
                      <a:gd name="connsiteY4" fmla="*/ 311087 h 622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173" h="622173">
                        <a:moveTo>
                          <a:pt x="622173" y="311087"/>
                        </a:moveTo>
                        <a:cubicBezTo>
                          <a:pt x="622173" y="482895"/>
                          <a:pt x="482895" y="622173"/>
                          <a:pt x="311087" y="622173"/>
                        </a:cubicBezTo>
                        <a:cubicBezTo>
                          <a:pt x="139278" y="622173"/>
                          <a:pt x="0" y="482895"/>
                          <a:pt x="0" y="311087"/>
                        </a:cubicBezTo>
                        <a:cubicBezTo>
                          <a:pt x="0" y="139278"/>
                          <a:pt x="139278" y="0"/>
                          <a:pt x="311087" y="0"/>
                        </a:cubicBezTo>
                        <a:cubicBezTo>
                          <a:pt x="482895" y="0"/>
                          <a:pt x="622173" y="139278"/>
                          <a:pt x="622173" y="311087"/>
                        </a:cubicBezTo>
                        <a:close/>
                      </a:path>
                    </a:pathLst>
                  </a:custGeom>
                  <a:noFill/>
                  <a:ln w="9525" cap="flat">
                    <a:solidFill>
                      <a:srgbClr val="747480"/>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charset="0"/>
                    </a:endParaRPr>
                  </a:p>
                </p:txBody>
              </p:sp>
              <p:sp>
                <p:nvSpPr>
                  <p:cNvPr id="77" name="Freeform: Shape 76">
                    <a:extLst>
                      <a:ext uri="{FF2B5EF4-FFF2-40B4-BE49-F238E27FC236}">
                        <a16:creationId xmlns:a16="http://schemas.microsoft.com/office/drawing/2014/main" id="{99A8B06B-9275-B7C6-592C-29419BE2B92D}"/>
                      </a:ext>
                    </a:extLst>
                  </p:cNvPr>
                  <p:cNvSpPr/>
                  <p:nvPr/>
                </p:nvSpPr>
                <p:spPr>
                  <a:xfrm>
                    <a:off x="714704" y="2935740"/>
                    <a:ext cx="420528" cy="509206"/>
                  </a:xfrm>
                  <a:custGeom>
                    <a:avLst/>
                    <a:gdLst>
                      <a:gd name="connsiteX0" fmla="*/ 349282 w 420528"/>
                      <a:gd name="connsiteY0" fmla="*/ 509207 h 509206"/>
                      <a:gd name="connsiteX1" fmla="*/ 420529 w 420528"/>
                      <a:gd name="connsiteY1" fmla="*/ 311087 h 509206"/>
                      <a:gd name="connsiteX2" fmla="*/ 109442 w 420528"/>
                      <a:gd name="connsiteY2" fmla="*/ 0 h 509206"/>
                      <a:gd name="connsiteX3" fmla="*/ 0 w 420528"/>
                      <a:gd name="connsiteY3" fmla="*/ 19812 h 509206"/>
                    </a:gdLst>
                    <a:ahLst/>
                    <a:cxnLst>
                      <a:cxn ang="0">
                        <a:pos x="connsiteX0" y="connsiteY0"/>
                      </a:cxn>
                      <a:cxn ang="0">
                        <a:pos x="connsiteX1" y="connsiteY1"/>
                      </a:cxn>
                      <a:cxn ang="0">
                        <a:pos x="connsiteX2" y="connsiteY2"/>
                      </a:cxn>
                      <a:cxn ang="0">
                        <a:pos x="connsiteX3" y="connsiteY3"/>
                      </a:cxn>
                    </a:cxnLst>
                    <a:rect l="l" t="t" r="r" b="b"/>
                    <a:pathLst>
                      <a:path w="420528" h="509206">
                        <a:moveTo>
                          <a:pt x="349282" y="509207"/>
                        </a:moveTo>
                        <a:cubicBezTo>
                          <a:pt x="393764" y="455390"/>
                          <a:pt x="420529" y="386334"/>
                          <a:pt x="420529" y="311087"/>
                        </a:cubicBezTo>
                        <a:cubicBezTo>
                          <a:pt x="420529" y="139256"/>
                          <a:pt x="281273" y="0"/>
                          <a:pt x="109442" y="0"/>
                        </a:cubicBezTo>
                        <a:cubicBezTo>
                          <a:pt x="70961" y="0"/>
                          <a:pt x="34004" y="6953"/>
                          <a:pt x="0" y="19812"/>
                        </a:cubicBezTo>
                      </a:path>
                    </a:pathLst>
                  </a:custGeom>
                  <a:noFill/>
                  <a:ln w="47625" cap="flat">
                    <a:solidFill>
                      <a:srgbClr val="1A9AFA"/>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charset="0"/>
                    </a:endParaRPr>
                  </a:p>
                </p:txBody>
              </p:sp>
              <p:sp>
                <p:nvSpPr>
                  <p:cNvPr id="78" name="Freeform: Shape 77">
                    <a:extLst>
                      <a:ext uri="{FF2B5EF4-FFF2-40B4-BE49-F238E27FC236}">
                        <a16:creationId xmlns:a16="http://schemas.microsoft.com/office/drawing/2014/main" id="{E4E1E739-9E51-18EA-2C05-DDF0F338A500}"/>
                      </a:ext>
                    </a:extLst>
                  </p:cNvPr>
                  <p:cNvSpPr/>
                  <p:nvPr/>
                </p:nvSpPr>
                <p:spPr>
                  <a:xfrm>
                    <a:off x="458004" y="3127856"/>
                    <a:ext cx="428339" cy="485109"/>
                  </a:xfrm>
                  <a:custGeom>
                    <a:avLst/>
                    <a:gdLst>
                      <a:gd name="connsiteX0" fmla="*/ 19717 w 428339"/>
                      <a:gd name="connsiteY0" fmla="*/ 0 h 485108"/>
                      <a:gd name="connsiteX1" fmla="*/ 0 w 428339"/>
                      <a:gd name="connsiteY1" fmla="*/ 118967 h 485108"/>
                      <a:gd name="connsiteX2" fmla="*/ 366141 w 428339"/>
                      <a:gd name="connsiteY2" fmla="*/ 485108 h 485108"/>
                      <a:gd name="connsiteX3" fmla="*/ 428339 w 428339"/>
                      <a:gd name="connsiteY3" fmla="*/ 479870 h 485108"/>
                    </a:gdLst>
                    <a:ahLst/>
                    <a:cxnLst>
                      <a:cxn ang="0">
                        <a:pos x="connsiteX0" y="connsiteY0"/>
                      </a:cxn>
                      <a:cxn ang="0">
                        <a:pos x="connsiteX1" y="connsiteY1"/>
                      </a:cxn>
                      <a:cxn ang="0">
                        <a:pos x="connsiteX2" y="connsiteY2"/>
                      </a:cxn>
                      <a:cxn ang="0">
                        <a:pos x="connsiteX3" y="connsiteY3"/>
                      </a:cxn>
                    </a:cxnLst>
                    <a:rect l="l" t="t" r="r" b="b"/>
                    <a:pathLst>
                      <a:path w="428339" h="485108">
                        <a:moveTo>
                          <a:pt x="19717" y="0"/>
                        </a:moveTo>
                        <a:cubicBezTo>
                          <a:pt x="6953" y="37338"/>
                          <a:pt x="0" y="77343"/>
                          <a:pt x="0" y="118967"/>
                        </a:cubicBezTo>
                        <a:cubicBezTo>
                          <a:pt x="0" y="321183"/>
                          <a:pt x="163925" y="485108"/>
                          <a:pt x="366141" y="485108"/>
                        </a:cubicBezTo>
                        <a:cubicBezTo>
                          <a:pt x="387382" y="485108"/>
                          <a:pt x="408146" y="483299"/>
                          <a:pt x="428339" y="479870"/>
                        </a:cubicBezTo>
                      </a:path>
                    </a:pathLst>
                  </a:custGeom>
                  <a:noFill/>
                  <a:ln w="28575" cap="flat">
                    <a:solidFill>
                      <a:srgbClr val="C4C4CD"/>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charset="0"/>
                    </a:endParaRPr>
                  </a:p>
                </p:txBody>
              </p:sp>
            </p:grpSp>
          </p:grpSp>
        </p:grpSp>
      </p:grpSp>
      <p:grpSp>
        <p:nvGrpSpPr>
          <p:cNvPr id="10" name="Group 9">
            <a:extLst>
              <a:ext uri="{FF2B5EF4-FFF2-40B4-BE49-F238E27FC236}">
                <a16:creationId xmlns:a16="http://schemas.microsoft.com/office/drawing/2014/main" id="{03F9B8C2-A623-EE34-D343-7C2779D73CC5}"/>
              </a:ext>
            </a:extLst>
          </p:cNvPr>
          <p:cNvGrpSpPr/>
          <p:nvPr/>
        </p:nvGrpSpPr>
        <p:grpSpPr>
          <a:xfrm>
            <a:off x="6169348" y="2310697"/>
            <a:ext cx="2563251" cy="3948583"/>
            <a:chOff x="6146414" y="2310697"/>
            <a:chExt cx="2563251" cy="3948583"/>
          </a:xfrm>
        </p:grpSpPr>
        <p:sp>
          <p:nvSpPr>
            <p:cNvPr id="67" name="Rectangle: Rounded Corners 66">
              <a:extLst>
                <a:ext uri="{FF2B5EF4-FFF2-40B4-BE49-F238E27FC236}">
                  <a16:creationId xmlns:a16="http://schemas.microsoft.com/office/drawing/2014/main" id="{61A86EF9-03A6-41CC-DA68-62725E66F251}"/>
                </a:ext>
              </a:extLst>
            </p:cNvPr>
            <p:cNvSpPr>
              <a:spLocks/>
            </p:cNvSpPr>
            <p:nvPr/>
          </p:nvSpPr>
          <p:spPr>
            <a:xfrm>
              <a:off x="6146414" y="2582545"/>
              <a:ext cx="2563251" cy="3676735"/>
            </a:xfrm>
            <a:prstGeom prst="roundRect">
              <a:avLst>
                <a:gd name="adj" fmla="val 9511"/>
              </a:avLst>
            </a:prstGeom>
            <a:solidFill>
              <a:schemeClr val="bg1"/>
            </a:solidFill>
            <a:ln w="19050">
              <a:gradFill>
                <a:gsLst>
                  <a:gs pos="50000">
                    <a:srgbClr val="2AB0B0"/>
                  </a:gs>
                  <a:gs pos="0">
                    <a:srgbClr val="00A6E1"/>
                  </a:gs>
                  <a:gs pos="100000">
                    <a:srgbClr val="747480"/>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endParaRPr>
            </a:p>
          </p:txBody>
        </p:sp>
        <p:sp>
          <p:nvSpPr>
            <p:cNvPr id="119" name="Rectangle: Top Corners Rounded 118">
              <a:extLst>
                <a:ext uri="{FF2B5EF4-FFF2-40B4-BE49-F238E27FC236}">
                  <a16:creationId xmlns:a16="http://schemas.microsoft.com/office/drawing/2014/main" id="{25085C86-D06F-6A9F-81E7-549DE14C2E6C}"/>
                </a:ext>
              </a:extLst>
            </p:cNvPr>
            <p:cNvSpPr>
              <a:spLocks/>
            </p:cNvSpPr>
            <p:nvPr/>
          </p:nvSpPr>
          <p:spPr bwMode="auto">
            <a:xfrm>
              <a:off x="6153154" y="2585719"/>
              <a:ext cx="2556511" cy="858521"/>
            </a:xfrm>
            <a:prstGeom prst="round2SameRect">
              <a:avLst>
                <a:gd name="adj1" fmla="val 25225"/>
                <a:gd name="adj2" fmla="val 0"/>
              </a:avLst>
            </a:prstGeom>
            <a:solidFill>
              <a:srgbClr val="35A4E8"/>
            </a:solidFill>
            <a:ln w="9525" cap="flat" cmpd="sng" algn="ctr">
              <a:noFill/>
              <a:prstDash val="solid"/>
              <a:round/>
              <a:headEnd type="none" w="med" len="med"/>
              <a:tailEnd type="none" w="med" len="med"/>
            </a:ln>
            <a:effectLst/>
          </p:spPr>
          <p:txBody>
            <a:bodyPr vert="horz" wrap="none" lIns="576000" tIns="216000" rIns="54000" bIns="54000" numCol="1" rtlCol="0" anchor="t"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rPr>
                <a:t>We have a team </a:t>
              </a:r>
              <a:br>
                <a:rPr kumimoji="0" lang="en-IN" sz="1200" b="1"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rPr>
              </a:br>
              <a:r>
                <a:rPr kumimoji="0" lang="en-IN" sz="1200" b="1"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rPr>
                <a:t>on the ground in the </a:t>
              </a:r>
            </a:p>
            <a:p>
              <a:pPr marL="0" marR="0" lvl="0" indent="0" algn="l" defTabSz="995363"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rPr>
                <a:t>Kingdom</a:t>
              </a:r>
            </a:p>
          </p:txBody>
        </p:sp>
        <p:sp>
          <p:nvSpPr>
            <p:cNvPr id="120" name="Text Placeholder 9">
              <a:extLst>
                <a:ext uri="{FF2B5EF4-FFF2-40B4-BE49-F238E27FC236}">
                  <a16:creationId xmlns:a16="http://schemas.microsoft.com/office/drawing/2014/main" id="{D4E1A65D-B1C5-2E94-743E-9FFF2C9DE51D}"/>
                </a:ext>
              </a:extLst>
            </p:cNvPr>
            <p:cNvSpPr txBox="1">
              <a:spLocks/>
            </p:cNvSpPr>
            <p:nvPr/>
          </p:nvSpPr>
          <p:spPr>
            <a:xfrm>
              <a:off x="6147534" y="2745404"/>
              <a:ext cx="535985" cy="651342"/>
            </a:xfrm>
            <a:prstGeom prst="rect">
              <a:avLst/>
            </a:prstGeom>
            <a:effectLst/>
          </p:spPr>
          <p:txBody>
            <a:bodyPr wrap="square" anchor="ctr">
              <a:noAutofit/>
            </a:bodyPr>
            <a:lstStyle>
              <a:lvl1pPr marL="0" indent="0" algn="l" defTabSz="913340" rtl="0" eaLnBrk="1" latinLnBrk="0" hangingPunct="1">
                <a:spcBef>
                  <a:spcPct val="20000"/>
                </a:spcBef>
                <a:buClr>
                  <a:srgbClr val="00B7E6"/>
                </a:buClr>
                <a:buSzPct val="100000"/>
                <a:buFont typeface="EYInterstate Light" panose="02000506000000020004" pitchFamily="2" charset="0"/>
                <a:buNone/>
                <a:defRPr sz="13200" kern="1200">
                  <a:solidFill>
                    <a:schemeClr val="bg1"/>
                  </a:solidFill>
                  <a:latin typeface="EYInterstate Light" panose="02000506000000020004" pitchFamily="2" charset="0"/>
                  <a:ea typeface="+mn-ea"/>
                  <a:cs typeface="+mn-cs"/>
                </a:defRPr>
              </a:lvl1pPr>
              <a:lvl2pPr marL="712405" indent="-356203" algn="l" defTabSz="913340" rtl="0" eaLnBrk="1" latinLnBrk="0" hangingPunct="1">
                <a:spcBef>
                  <a:spcPct val="20000"/>
                </a:spcBef>
                <a:buClr>
                  <a:srgbClr val="00B7E6"/>
                </a:buClr>
                <a:buSzPct val="100000"/>
                <a:buFont typeface="EYInterstate Light" panose="02000506000000020004" pitchFamily="2" charset="0"/>
                <a:buChar char="•"/>
                <a:defRPr sz="1798" kern="1200">
                  <a:solidFill>
                    <a:schemeClr val="bg1"/>
                  </a:solidFill>
                  <a:latin typeface="EYInterstate Light" panose="02000506000000020004" pitchFamily="2" charset="0"/>
                  <a:ea typeface="+mn-ea"/>
                  <a:cs typeface="+mn-cs"/>
                </a:defRPr>
              </a:lvl2pPr>
              <a:lvl3pPr marL="1068608" indent="-356203" algn="l" defTabSz="913340" rtl="0" eaLnBrk="1" latinLnBrk="0" hangingPunct="1">
                <a:spcBef>
                  <a:spcPct val="20000"/>
                </a:spcBef>
                <a:buClr>
                  <a:srgbClr val="00B7E6"/>
                </a:buClr>
                <a:buSzPct val="100000"/>
                <a:buFont typeface="EYInterstate Light" panose="02000506000000020004" pitchFamily="2" charset="0"/>
                <a:buChar char="•"/>
                <a:defRPr sz="1598" kern="1200">
                  <a:solidFill>
                    <a:schemeClr val="bg1"/>
                  </a:solidFill>
                  <a:latin typeface="EYInterstate Light" panose="02000506000000020004" pitchFamily="2" charset="0"/>
                  <a:ea typeface="+mn-ea"/>
                  <a:cs typeface="+mn-cs"/>
                </a:defRPr>
              </a:lvl3pPr>
              <a:lvl4pPr marL="1424810" indent="-356203" algn="l" defTabSz="913340" rtl="0" eaLnBrk="1" latinLnBrk="0" hangingPunct="1">
                <a:spcBef>
                  <a:spcPct val="20000"/>
                </a:spcBef>
                <a:buClr>
                  <a:srgbClr val="00B7E6"/>
                </a:buClr>
                <a:buSzPct val="100000"/>
                <a:buFont typeface="EYInterstate Light" panose="02000506000000020004" pitchFamily="2" charset="0"/>
                <a:buChar char="•"/>
                <a:defRPr sz="1398" kern="1200">
                  <a:solidFill>
                    <a:schemeClr val="bg1"/>
                  </a:solidFill>
                  <a:latin typeface="EYInterstate Light" panose="02000506000000020004" pitchFamily="2" charset="0"/>
                  <a:ea typeface="+mn-ea"/>
                  <a:cs typeface="+mn-cs"/>
                </a:defRPr>
              </a:lvl4pPr>
              <a:lvl5pPr marL="1781012" indent="-356203" algn="l" defTabSz="913340" rtl="0" eaLnBrk="1" latinLnBrk="0" hangingPunct="1">
                <a:spcBef>
                  <a:spcPct val="20000"/>
                </a:spcBef>
                <a:buClr>
                  <a:srgbClr val="00B7E6"/>
                </a:buClr>
                <a:buSzPct val="100000"/>
                <a:buFont typeface="EYInterstate Light" panose="02000506000000020004" pitchFamily="2" charset="0"/>
                <a:buChar char="•"/>
                <a:defRPr sz="1199" kern="1200">
                  <a:solidFill>
                    <a:schemeClr val="bg1"/>
                  </a:solidFill>
                  <a:latin typeface="EYInterstate Light" panose="02000506000000020004" pitchFamily="2" charset="0"/>
                  <a:ea typeface="+mn-ea"/>
                  <a:cs typeface="+mn-cs"/>
                </a:defRPr>
              </a:lvl5pPr>
              <a:lvl6pPr marL="2511684"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6pPr>
              <a:lvl7pPr marL="2968354"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7pPr>
              <a:lvl8pPr marL="3425023"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8pPr>
              <a:lvl9pPr marL="3881693"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9pPr>
            </a:lstStyle>
            <a:p>
              <a:pPr marL="0" marR="0" lvl="0" indent="0" algn="l" defTabSz="913340" rtl="0" eaLnBrk="1" fontAlgn="auto" latinLnBrk="0" hangingPunct="1">
                <a:lnSpc>
                  <a:spcPct val="100000"/>
                </a:lnSpc>
                <a:spcBef>
                  <a:spcPct val="20000"/>
                </a:spcBef>
                <a:spcAft>
                  <a:spcPts val="0"/>
                </a:spcAft>
                <a:buClr>
                  <a:srgbClr val="00B7E6"/>
                </a:buClr>
                <a:buSzPct val="100000"/>
                <a:buFont typeface="EYInterstate Light" panose="02000506000000020004" pitchFamily="2" charset="0"/>
                <a:buNone/>
                <a:tabLst/>
                <a:defRPr/>
              </a:pPr>
              <a:r>
                <a:rPr kumimoji="0" lang="en-GB" sz="4800" b="1" i="0" u="none" strike="noStrike" kern="1200" cap="none" spc="0" normalizeH="0" baseline="0" noProof="0">
                  <a:ln>
                    <a:noFill/>
                  </a:ln>
                  <a:gradFill>
                    <a:gsLst>
                      <a:gs pos="0">
                        <a:srgbClr val="FFFFFF"/>
                      </a:gs>
                      <a:gs pos="100000">
                        <a:srgbClr val="FFFFFF">
                          <a:alpha val="0"/>
                        </a:srgbClr>
                      </a:gs>
                    </a:gsLst>
                    <a:lin ang="5400000" scaled="1"/>
                  </a:gradFill>
                  <a:effectLst/>
                  <a:uLnTx/>
                  <a:uFillTx/>
                  <a:latin typeface="EYInterstate Light" panose="02000506000000020004" pitchFamily="2" charset="0"/>
                  <a:ea typeface="+mn-ea"/>
                  <a:cs typeface="Arial"/>
                </a:rPr>
                <a:t>C</a:t>
              </a:r>
              <a:endParaRPr kumimoji="0" lang="en-US" sz="4800" b="1" i="0" u="none" strike="noStrike" kern="1200" cap="none" spc="0" normalizeH="0" baseline="0" noProof="0">
                <a:ln>
                  <a:noFill/>
                </a:ln>
                <a:gradFill>
                  <a:gsLst>
                    <a:gs pos="0">
                      <a:srgbClr val="FFFFFF"/>
                    </a:gs>
                    <a:gs pos="100000">
                      <a:srgbClr val="FFFFFF">
                        <a:alpha val="0"/>
                      </a:srgbClr>
                    </a:gs>
                  </a:gsLst>
                  <a:lin ang="5400000" scaled="1"/>
                </a:gradFill>
                <a:effectLst/>
                <a:uLnTx/>
                <a:uFillTx/>
                <a:latin typeface="EYInterstate Light" panose="02000506000000020004" pitchFamily="2" charset="0"/>
                <a:ea typeface="+mn-ea"/>
                <a:cs typeface="Arial"/>
              </a:endParaRPr>
            </a:p>
          </p:txBody>
        </p:sp>
        <p:sp>
          <p:nvSpPr>
            <p:cNvPr id="121" name="Rectangle 120">
              <a:extLst>
                <a:ext uri="{FF2B5EF4-FFF2-40B4-BE49-F238E27FC236}">
                  <a16:creationId xmlns:a16="http://schemas.microsoft.com/office/drawing/2014/main" id="{FA6F4742-EBF4-DA2C-3223-761FC4C2BCDC}"/>
                </a:ext>
              </a:extLst>
            </p:cNvPr>
            <p:cNvSpPr/>
            <p:nvPr/>
          </p:nvSpPr>
          <p:spPr bwMode="auto">
            <a:xfrm>
              <a:off x="6192753" y="3491815"/>
              <a:ext cx="2505333" cy="2525709"/>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808080"/>
                  </a:solidFill>
                </a14:hiddenFill>
              </a:ext>
            </a:extLst>
          </p:spPr>
          <p:txBody>
            <a:bodyPr vert="horz" wrap="square" lIns="54000" tIns="54000" rIns="54000" bIns="54000" numCol="1" rtlCol="0" anchor="t" anchorCtr="0" compatLnSpc="1">
              <a:prstTxWarp prst="textNoShape">
                <a:avLst/>
              </a:prstTxWarp>
            </a:bodyPr>
            <a:lstStyle/>
            <a:p>
              <a:pPr marL="0" marR="0" lvl="0" indent="0" algn="just" defTabSz="995363"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EYInterstate Light" panose="02000506000000020004" pitchFamily="2" charset="0"/>
                  <a:ea typeface="+mn-ea"/>
                  <a:cs typeface="Arial"/>
                </a:rPr>
                <a:t> has been committed to the KSA market for many years and we have deep experience of working with the key players as well a large dedicated team on the ground.  </a:t>
              </a:r>
            </a:p>
            <a:p>
              <a:pPr marL="0" marR="0" lvl="0" indent="0" algn="just" defTabSz="995363" rtl="0" eaLnBrk="1" fontAlgn="auto" latinLnBrk="0" hangingPunct="1">
                <a:lnSpc>
                  <a:spcPct val="100000"/>
                </a:lnSpc>
                <a:spcBef>
                  <a:spcPts val="0"/>
                </a:spcBef>
                <a:spcAft>
                  <a:spcPts val="0"/>
                </a:spcAft>
                <a:buClrTx/>
                <a:buSzTx/>
                <a:buFontTx/>
                <a:buNone/>
                <a:tabLst/>
                <a:defRPr/>
              </a:pPr>
              <a:endParaRPr lang="en-IN" sz="1100" dirty="0">
                <a:solidFill>
                  <a:srgbClr val="000000"/>
                </a:solidFill>
                <a:latin typeface="EYInterstate Light" panose="02000506000000020004" pitchFamily="2" charset="0"/>
                <a:cs typeface="Arial"/>
              </a:endParaRPr>
            </a:p>
            <a:p>
              <a:pPr marL="0" marR="0" lvl="0" indent="0" algn="just" defTabSz="995363"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EYInterstate Light" panose="02000506000000020004" pitchFamily="2" charset="0"/>
                  <a:ea typeface="+mn-ea"/>
                  <a:cs typeface="Arial"/>
                </a:rPr>
                <a:t>More specifically  Infrastructure Advisory team </a:t>
              </a:r>
              <a:r>
                <a:rPr lang="en-IN" sz="1100" dirty="0">
                  <a:solidFill>
                    <a:srgbClr val="000000"/>
                  </a:solidFill>
                  <a:latin typeface="EYInterstate Light" panose="02000506000000020004" pitchFamily="2" charset="0"/>
                  <a:cs typeface="Arial"/>
                </a:rPr>
                <a:t>has a dedicated team</a:t>
              </a:r>
              <a:r>
                <a:rPr kumimoji="0" lang="en-IN" sz="1100" b="0" i="0" u="none" strike="noStrike" kern="1200" cap="none" spc="0" normalizeH="0" baseline="0" noProof="0" dirty="0">
                  <a:ln>
                    <a:noFill/>
                  </a:ln>
                  <a:solidFill>
                    <a:srgbClr val="000000"/>
                  </a:solidFill>
                  <a:effectLst/>
                  <a:uLnTx/>
                  <a:uFillTx/>
                  <a:latin typeface="EYInterstate Light" panose="02000506000000020004" pitchFamily="2" charset="0"/>
                  <a:ea typeface="+mn-ea"/>
                  <a:cs typeface="Arial"/>
                </a:rPr>
                <a:t> who </a:t>
              </a:r>
              <a:r>
                <a:rPr lang="en-IN" sz="1100" dirty="0">
                  <a:solidFill>
                    <a:srgbClr val="000000"/>
                  </a:solidFill>
                  <a:latin typeface="EYInterstate Light" panose="02000506000000020004" pitchFamily="2" charset="0"/>
                  <a:cs typeface="Arial"/>
                </a:rPr>
                <a:t>is</a:t>
              </a:r>
              <a:r>
                <a:rPr kumimoji="0" lang="en-IN" sz="1100" b="0" i="0" u="none" strike="noStrike" kern="1200" cap="none" spc="0" normalizeH="0" baseline="0" noProof="0" dirty="0">
                  <a:ln>
                    <a:noFill/>
                  </a:ln>
                  <a:solidFill>
                    <a:srgbClr val="000000"/>
                  </a:solidFill>
                  <a:effectLst/>
                  <a:uLnTx/>
                  <a:uFillTx/>
                  <a:latin typeface="EYInterstate Light" panose="02000506000000020004" pitchFamily="2" charset="0"/>
                  <a:ea typeface="+mn-ea"/>
                  <a:cs typeface="Arial"/>
                </a:rPr>
                <a:t> available to you on the ground.</a:t>
              </a:r>
              <a:endParaRPr lang="en-IN" sz="1100" dirty="0">
                <a:solidFill>
                  <a:srgbClr val="000000"/>
                </a:solidFill>
                <a:latin typeface="EYInterstate Light" panose="02000506000000020004" pitchFamily="2" charset="0"/>
                <a:cs typeface="Arial"/>
              </a:endParaRPr>
            </a:p>
            <a:p>
              <a:pPr marL="0" marR="0" lvl="0" indent="0" algn="just" defTabSz="995363"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0000"/>
                </a:solidFill>
                <a:effectLst/>
                <a:uLnTx/>
                <a:uFillTx/>
                <a:latin typeface="EYInterstate Light" panose="02000506000000020004" pitchFamily="2" charset="0"/>
                <a:ea typeface="+mn-ea"/>
                <a:cs typeface="Arial"/>
              </a:endParaRPr>
            </a:p>
          </p:txBody>
        </p:sp>
        <p:grpSp>
          <p:nvGrpSpPr>
            <p:cNvPr id="200" name="Group 199">
              <a:extLst>
                <a:ext uri="{FF2B5EF4-FFF2-40B4-BE49-F238E27FC236}">
                  <a16:creationId xmlns:a16="http://schemas.microsoft.com/office/drawing/2014/main" id="{DD3F197F-3F17-8240-B6C5-1BDDA9BBCEB6}"/>
                </a:ext>
              </a:extLst>
            </p:cNvPr>
            <p:cNvGrpSpPr/>
            <p:nvPr/>
          </p:nvGrpSpPr>
          <p:grpSpPr>
            <a:xfrm>
              <a:off x="7938191" y="2310697"/>
              <a:ext cx="685800" cy="685800"/>
              <a:chOff x="7938191" y="2149874"/>
              <a:chExt cx="685800" cy="685800"/>
            </a:xfrm>
          </p:grpSpPr>
          <p:sp>
            <p:nvSpPr>
              <p:cNvPr id="137" name="Oval 136">
                <a:extLst>
                  <a:ext uri="{FF2B5EF4-FFF2-40B4-BE49-F238E27FC236}">
                    <a16:creationId xmlns:a16="http://schemas.microsoft.com/office/drawing/2014/main" id="{FF4D3B3E-A958-121D-9EE4-0CED2C6BCFDA}"/>
                  </a:ext>
                </a:extLst>
              </p:cNvPr>
              <p:cNvSpPr/>
              <p:nvPr/>
            </p:nvSpPr>
            <p:spPr bwMode="auto">
              <a:xfrm>
                <a:off x="7938191" y="2149874"/>
                <a:ext cx="685800" cy="685800"/>
              </a:xfrm>
              <a:prstGeom prst="ellipse">
                <a:avLst/>
              </a:prstGeom>
              <a:solidFill>
                <a:srgbClr val="FFFFFF"/>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a:ln>
                    <a:noFill/>
                  </a:ln>
                  <a:solidFill>
                    <a:srgbClr val="000000"/>
                  </a:solidFill>
                  <a:effectLst/>
                  <a:uLnTx/>
                  <a:uFillTx/>
                  <a:latin typeface="EYInterstate Light" panose="02000506000000020004" pitchFamily="2" charset="0"/>
                  <a:ea typeface="+mn-ea"/>
                  <a:cs typeface="Arial"/>
                </a:endParaRPr>
              </a:p>
            </p:txBody>
          </p:sp>
          <p:grpSp>
            <p:nvGrpSpPr>
              <p:cNvPr id="139" name="Group 138">
                <a:extLst>
                  <a:ext uri="{FF2B5EF4-FFF2-40B4-BE49-F238E27FC236}">
                    <a16:creationId xmlns:a16="http://schemas.microsoft.com/office/drawing/2014/main" id="{D7AC756F-F345-31ED-9451-156D0704600A}"/>
                  </a:ext>
                </a:extLst>
              </p:cNvPr>
              <p:cNvGrpSpPr/>
              <p:nvPr/>
            </p:nvGrpSpPr>
            <p:grpSpPr>
              <a:xfrm>
                <a:off x="7976909" y="2209252"/>
                <a:ext cx="571522" cy="582285"/>
                <a:chOff x="3148735" y="1214336"/>
                <a:chExt cx="565854" cy="576514"/>
              </a:xfrm>
            </p:grpSpPr>
            <p:sp>
              <p:nvSpPr>
                <p:cNvPr id="141" name="Rectangle: Rounded Corners 140">
                  <a:extLst>
                    <a:ext uri="{FF2B5EF4-FFF2-40B4-BE49-F238E27FC236}">
                      <a16:creationId xmlns:a16="http://schemas.microsoft.com/office/drawing/2014/main" id="{41960FF1-1BAD-7884-7FF7-FCAB3D8690B4}"/>
                    </a:ext>
                  </a:extLst>
                </p:cNvPr>
                <p:cNvSpPr/>
                <p:nvPr/>
              </p:nvSpPr>
              <p:spPr>
                <a:xfrm>
                  <a:off x="3175814" y="1214336"/>
                  <a:ext cx="532933" cy="532934"/>
                </a:xfrm>
                <a:prstGeom prst="roundRect">
                  <a:avLst>
                    <a:gd name="adj" fmla="val 50000"/>
                  </a:avLst>
                </a:prstGeom>
                <a:solidFill>
                  <a:srgbClr val="FFFFFF"/>
                </a:solidFill>
                <a:ln w="25400" cap="flat" cmpd="sng" algn="ctr">
                  <a:solidFill>
                    <a:schemeClr val="bg1"/>
                  </a:solidFill>
                  <a:prstDash val="solid"/>
                </a:ln>
                <a:effectLst>
                  <a:outerShdw blurRad="127000" dist="76200" dir="2700000" algn="tl" rotWithShape="0">
                    <a:prstClr val="black">
                      <a:alpha val="16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a:endParaRPr>
                </a:p>
              </p:txBody>
            </p:sp>
            <p:grpSp>
              <p:nvGrpSpPr>
                <p:cNvPr id="142" name="Group 141">
                  <a:extLst>
                    <a:ext uri="{FF2B5EF4-FFF2-40B4-BE49-F238E27FC236}">
                      <a16:creationId xmlns:a16="http://schemas.microsoft.com/office/drawing/2014/main" id="{E55985CD-0C7A-6C00-7A13-5D282724F7EA}"/>
                    </a:ext>
                  </a:extLst>
                </p:cNvPr>
                <p:cNvGrpSpPr/>
                <p:nvPr/>
              </p:nvGrpSpPr>
              <p:grpSpPr>
                <a:xfrm>
                  <a:off x="3148735" y="1224988"/>
                  <a:ext cx="565854" cy="565862"/>
                  <a:chOff x="458004" y="2935727"/>
                  <a:chExt cx="677228" cy="677238"/>
                </a:xfrm>
              </p:grpSpPr>
              <p:sp>
                <p:nvSpPr>
                  <p:cNvPr id="143" name="Freeform: Shape 142">
                    <a:extLst>
                      <a:ext uri="{FF2B5EF4-FFF2-40B4-BE49-F238E27FC236}">
                        <a16:creationId xmlns:a16="http://schemas.microsoft.com/office/drawing/2014/main" id="{C8514334-0B98-8E49-4E50-432451C82CFC}"/>
                      </a:ext>
                    </a:extLst>
                  </p:cNvPr>
                  <p:cNvSpPr/>
                  <p:nvPr/>
                </p:nvSpPr>
                <p:spPr>
                  <a:xfrm rot="21079199">
                    <a:off x="513033" y="2935727"/>
                    <a:ext cx="622173" cy="622173"/>
                  </a:xfrm>
                  <a:custGeom>
                    <a:avLst/>
                    <a:gdLst>
                      <a:gd name="connsiteX0" fmla="*/ 622173 w 622173"/>
                      <a:gd name="connsiteY0" fmla="*/ 311087 h 622173"/>
                      <a:gd name="connsiteX1" fmla="*/ 311087 w 622173"/>
                      <a:gd name="connsiteY1" fmla="*/ 622173 h 622173"/>
                      <a:gd name="connsiteX2" fmla="*/ 0 w 622173"/>
                      <a:gd name="connsiteY2" fmla="*/ 311087 h 622173"/>
                      <a:gd name="connsiteX3" fmla="*/ 311087 w 622173"/>
                      <a:gd name="connsiteY3" fmla="*/ 0 h 622173"/>
                      <a:gd name="connsiteX4" fmla="*/ 622173 w 622173"/>
                      <a:gd name="connsiteY4" fmla="*/ 311087 h 622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173" h="622173">
                        <a:moveTo>
                          <a:pt x="622173" y="311087"/>
                        </a:moveTo>
                        <a:cubicBezTo>
                          <a:pt x="622173" y="482895"/>
                          <a:pt x="482895" y="622173"/>
                          <a:pt x="311087" y="622173"/>
                        </a:cubicBezTo>
                        <a:cubicBezTo>
                          <a:pt x="139278" y="622173"/>
                          <a:pt x="0" y="482895"/>
                          <a:pt x="0" y="311087"/>
                        </a:cubicBezTo>
                        <a:cubicBezTo>
                          <a:pt x="0" y="139278"/>
                          <a:pt x="139278" y="0"/>
                          <a:pt x="311087" y="0"/>
                        </a:cubicBezTo>
                        <a:cubicBezTo>
                          <a:pt x="482895" y="0"/>
                          <a:pt x="622173" y="139278"/>
                          <a:pt x="622173" y="311087"/>
                        </a:cubicBezTo>
                        <a:close/>
                      </a:path>
                    </a:pathLst>
                  </a:custGeom>
                  <a:noFill/>
                  <a:ln w="9525" cap="flat">
                    <a:solidFill>
                      <a:srgbClr val="747480"/>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charset="0"/>
                    </a:endParaRPr>
                  </a:p>
                </p:txBody>
              </p:sp>
              <p:sp>
                <p:nvSpPr>
                  <p:cNvPr id="144" name="Freeform: Shape 143">
                    <a:extLst>
                      <a:ext uri="{FF2B5EF4-FFF2-40B4-BE49-F238E27FC236}">
                        <a16:creationId xmlns:a16="http://schemas.microsoft.com/office/drawing/2014/main" id="{2320BB0D-3F59-335F-1F43-D814BB0B0482}"/>
                      </a:ext>
                    </a:extLst>
                  </p:cNvPr>
                  <p:cNvSpPr/>
                  <p:nvPr/>
                </p:nvSpPr>
                <p:spPr>
                  <a:xfrm>
                    <a:off x="714704" y="2935740"/>
                    <a:ext cx="420528" cy="509206"/>
                  </a:xfrm>
                  <a:custGeom>
                    <a:avLst/>
                    <a:gdLst>
                      <a:gd name="connsiteX0" fmla="*/ 349282 w 420528"/>
                      <a:gd name="connsiteY0" fmla="*/ 509207 h 509206"/>
                      <a:gd name="connsiteX1" fmla="*/ 420529 w 420528"/>
                      <a:gd name="connsiteY1" fmla="*/ 311087 h 509206"/>
                      <a:gd name="connsiteX2" fmla="*/ 109442 w 420528"/>
                      <a:gd name="connsiteY2" fmla="*/ 0 h 509206"/>
                      <a:gd name="connsiteX3" fmla="*/ 0 w 420528"/>
                      <a:gd name="connsiteY3" fmla="*/ 19812 h 509206"/>
                    </a:gdLst>
                    <a:ahLst/>
                    <a:cxnLst>
                      <a:cxn ang="0">
                        <a:pos x="connsiteX0" y="connsiteY0"/>
                      </a:cxn>
                      <a:cxn ang="0">
                        <a:pos x="connsiteX1" y="connsiteY1"/>
                      </a:cxn>
                      <a:cxn ang="0">
                        <a:pos x="connsiteX2" y="connsiteY2"/>
                      </a:cxn>
                      <a:cxn ang="0">
                        <a:pos x="connsiteX3" y="connsiteY3"/>
                      </a:cxn>
                    </a:cxnLst>
                    <a:rect l="l" t="t" r="r" b="b"/>
                    <a:pathLst>
                      <a:path w="420528" h="509206">
                        <a:moveTo>
                          <a:pt x="349282" y="509207"/>
                        </a:moveTo>
                        <a:cubicBezTo>
                          <a:pt x="393764" y="455390"/>
                          <a:pt x="420529" y="386334"/>
                          <a:pt x="420529" y="311087"/>
                        </a:cubicBezTo>
                        <a:cubicBezTo>
                          <a:pt x="420529" y="139256"/>
                          <a:pt x="281273" y="0"/>
                          <a:pt x="109442" y="0"/>
                        </a:cubicBezTo>
                        <a:cubicBezTo>
                          <a:pt x="70961" y="0"/>
                          <a:pt x="34004" y="6953"/>
                          <a:pt x="0" y="19812"/>
                        </a:cubicBezTo>
                      </a:path>
                    </a:pathLst>
                  </a:custGeom>
                  <a:noFill/>
                  <a:ln w="47625" cap="flat">
                    <a:solidFill>
                      <a:srgbClr val="1A9AFA"/>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charset="0"/>
                    </a:endParaRPr>
                  </a:p>
                </p:txBody>
              </p:sp>
              <p:sp>
                <p:nvSpPr>
                  <p:cNvPr id="145" name="Freeform: Shape 144">
                    <a:extLst>
                      <a:ext uri="{FF2B5EF4-FFF2-40B4-BE49-F238E27FC236}">
                        <a16:creationId xmlns:a16="http://schemas.microsoft.com/office/drawing/2014/main" id="{C4080294-AFFD-1DC8-8B05-EB8B219A1014}"/>
                      </a:ext>
                    </a:extLst>
                  </p:cNvPr>
                  <p:cNvSpPr/>
                  <p:nvPr/>
                </p:nvSpPr>
                <p:spPr>
                  <a:xfrm>
                    <a:off x="458004" y="3127856"/>
                    <a:ext cx="428339" cy="485109"/>
                  </a:xfrm>
                  <a:custGeom>
                    <a:avLst/>
                    <a:gdLst>
                      <a:gd name="connsiteX0" fmla="*/ 19717 w 428339"/>
                      <a:gd name="connsiteY0" fmla="*/ 0 h 485108"/>
                      <a:gd name="connsiteX1" fmla="*/ 0 w 428339"/>
                      <a:gd name="connsiteY1" fmla="*/ 118967 h 485108"/>
                      <a:gd name="connsiteX2" fmla="*/ 366141 w 428339"/>
                      <a:gd name="connsiteY2" fmla="*/ 485108 h 485108"/>
                      <a:gd name="connsiteX3" fmla="*/ 428339 w 428339"/>
                      <a:gd name="connsiteY3" fmla="*/ 479870 h 485108"/>
                    </a:gdLst>
                    <a:ahLst/>
                    <a:cxnLst>
                      <a:cxn ang="0">
                        <a:pos x="connsiteX0" y="connsiteY0"/>
                      </a:cxn>
                      <a:cxn ang="0">
                        <a:pos x="connsiteX1" y="connsiteY1"/>
                      </a:cxn>
                      <a:cxn ang="0">
                        <a:pos x="connsiteX2" y="connsiteY2"/>
                      </a:cxn>
                      <a:cxn ang="0">
                        <a:pos x="connsiteX3" y="connsiteY3"/>
                      </a:cxn>
                    </a:cxnLst>
                    <a:rect l="l" t="t" r="r" b="b"/>
                    <a:pathLst>
                      <a:path w="428339" h="485108">
                        <a:moveTo>
                          <a:pt x="19717" y="0"/>
                        </a:moveTo>
                        <a:cubicBezTo>
                          <a:pt x="6953" y="37338"/>
                          <a:pt x="0" y="77343"/>
                          <a:pt x="0" y="118967"/>
                        </a:cubicBezTo>
                        <a:cubicBezTo>
                          <a:pt x="0" y="321183"/>
                          <a:pt x="163925" y="485108"/>
                          <a:pt x="366141" y="485108"/>
                        </a:cubicBezTo>
                        <a:cubicBezTo>
                          <a:pt x="387382" y="485108"/>
                          <a:pt x="408146" y="483299"/>
                          <a:pt x="428339" y="479870"/>
                        </a:cubicBezTo>
                      </a:path>
                    </a:pathLst>
                  </a:custGeom>
                  <a:noFill/>
                  <a:ln w="28575" cap="flat">
                    <a:solidFill>
                      <a:srgbClr val="C4C4CD"/>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charset="0"/>
                    </a:endParaRPr>
                  </a:p>
                </p:txBody>
              </p:sp>
            </p:grpSp>
          </p:grpSp>
        </p:grpSp>
      </p:grpSp>
      <p:grpSp>
        <p:nvGrpSpPr>
          <p:cNvPr id="2" name="Group 1">
            <a:extLst>
              <a:ext uri="{FF2B5EF4-FFF2-40B4-BE49-F238E27FC236}">
                <a16:creationId xmlns:a16="http://schemas.microsoft.com/office/drawing/2014/main" id="{09791DDA-2411-220A-A595-FA332309A988}"/>
              </a:ext>
            </a:extLst>
          </p:cNvPr>
          <p:cNvGrpSpPr/>
          <p:nvPr/>
        </p:nvGrpSpPr>
        <p:grpSpPr>
          <a:xfrm>
            <a:off x="8870748" y="2310697"/>
            <a:ext cx="2563251" cy="3948583"/>
            <a:chOff x="8870748" y="2310697"/>
            <a:chExt cx="2563251" cy="3948583"/>
          </a:xfrm>
        </p:grpSpPr>
        <p:sp>
          <p:nvSpPr>
            <p:cNvPr id="68" name="Rectangle: Rounded Corners 67">
              <a:extLst>
                <a:ext uri="{FF2B5EF4-FFF2-40B4-BE49-F238E27FC236}">
                  <a16:creationId xmlns:a16="http://schemas.microsoft.com/office/drawing/2014/main" id="{E240543C-C809-1B8A-0358-1592424E0BA7}"/>
                </a:ext>
              </a:extLst>
            </p:cNvPr>
            <p:cNvSpPr>
              <a:spLocks/>
            </p:cNvSpPr>
            <p:nvPr/>
          </p:nvSpPr>
          <p:spPr>
            <a:xfrm>
              <a:off x="8870748" y="2582545"/>
              <a:ext cx="2563251" cy="3676735"/>
            </a:xfrm>
            <a:prstGeom prst="roundRect">
              <a:avLst>
                <a:gd name="adj" fmla="val 9511"/>
              </a:avLst>
            </a:prstGeom>
            <a:solidFill>
              <a:schemeClr val="bg1"/>
            </a:solidFill>
            <a:ln w="19050">
              <a:gradFill>
                <a:gsLst>
                  <a:gs pos="50000">
                    <a:srgbClr val="2AB0B0"/>
                  </a:gs>
                  <a:gs pos="0">
                    <a:srgbClr val="00A6E1"/>
                  </a:gs>
                  <a:gs pos="100000">
                    <a:srgbClr val="747480"/>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endParaRPr>
            </a:p>
          </p:txBody>
        </p:sp>
        <p:sp>
          <p:nvSpPr>
            <p:cNvPr id="123" name="Rectangle: Top Corners Rounded 122">
              <a:extLst>
                <a:ext uri="{FF2B5EF4-FFF2-40B4-BE49-F238E27FC236}">
                  <a16:creationId xmlns:a16="http://schemas.microsoft.com/office/drawing/2014/main" id="{623DED84-335C-C7BF-8CA5-CD9D95F6BFB1}"/>
                </a:ext>
              </a:extLst>
            </p:cNvPr>
            <p:cNvSpPr>
              <a:spLocks/>
            </p:cNvSpPr>
            <p:nvPr/>
          </p:nvSpPr>
          <p:spPr bwMode="auto">
            <a:xfrm>
              <a:off x="8877488" y="2585719"/>
              <a:ext cx="2556511" cy="858521"/>
            </a:xfrm>
            <a:prstGeom prst="round2SameRect">
              <a:avLst>
                <a:gd name="adj1" fmla="val 25225"/>
                <a:gd name="adj2" fmla="val 0"/>
              </a:avLst>
            </a:prstGeom>
            <a:solidFill>
              <a:srgbClr val="35A4E8"/>
            </a:solidFill>
            <a:ln w="9525" cap="flat" cmpd="sng" algn="ctr">
              <a:noFill/>
              <a:prstDash val="solid"/>
              <a:round/>
              <a:headEnd type="none" w="med" len="med"/>
              <a:tailEnd type="none" w="med" len="med"/>
            </a:ln>
            <a:effectLst/>
          </p:spPr>
          <p:txBody>
            <a:bodyPr vert="horz" wrap="none" lIns="576000" tIns="216000" rIns="54000" bIns="54000" numCol="1" rtlCol="0" anchor="t"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rPr>
                <a:t>Our consortium </a:t>
              </a:r>
              <a:br>
                <a:rPr kumimoji="0" lang="en-IN" sz="1200" b="1"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rPr>
              </a:br>
              <a:r>
                <a:rPr kumimoji="0" lang="en-IN" sz="1200" b="1"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rPr>
                <a:t>includes an internationally </a:t>
              </a:r>
              <a:br>
                <a:rPr kumimoji="0" lang="en-IN" sz="1200" b="1"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rPr>
              </a:br>
              <a:r>
                <a:rPr kumimoji="0" lang="en-IN" sz="1200" b="1"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rPr>
                <a:t>renowned clinical operator </a:t>
              </a:r>
            </a:p>
          </p:txBody>
        </p:sp>
        <p:sp>
          <p:nvSpPr>
            <p:cNvPr id="124" name="Text Placeholder 9">
              <a:extLst>
                <a:ext uri="{FF2B5EF4-FFF2-40B4-BE49-F238E27FC236}">
                  <a16:creationId xmlns:a16="http://schemas.microsoft.com/office/drawing/2014/main" id="{D137DF63-9F29-DF12-6E34-340D6230380A}"/>
                </a:ext>
              </a:extLst>
            </p:cNvPr>
            <p:cNvSpPr txBox="1">
              <a:spLocks/>
            </p:cNvSpPr>
            <p:nvPr/>
          </p:nvSpPr>
          <p:spPr>
            <a:xfrm>
              <a:off x="8871868" y="2745404"/>
              <a:ext cx="535985" cy="651342"/>
            </a:xfrm>
            <a:prstGeom prst="rect">
              <a:avLst/>
            </a:prstGeom>
            <a:effectLst/>
          </p:spPr>
          <p:txBody>
            <a:bodyPr wrap="square" anchor="ctr">
              <a:noAutofit/>
            </a:bodyPr>
            <a:lstStyle>
              <a:lvl1pPr marL="0" indent="0" algn="l" defTabSz="913340" rtl="0" eaLnBrk="1" latinLnBrk="0" hangingPunct="1">
                <a:spcBef>
                  <a:spcPct val="20000"/>
                </a:spcBef>
                <a:buClr>
                  <a:srgbClr val="00B7E6"/>
                </a:buClr>
                <a:buSzPct val="100000"/>
                <a:buFont typeface="EYInterstate Light" panose="02000506000000020004" pitchFamily="2" charset="0"/>
                <a:buNone/>
                <a:defRPr sz="13200" kern="1200">
                  <a:solidFill>
                    <a:schemeClr val="bg1"/>
                  </a:solidFill>
                  <a:latin typeface="EYInterstate Light" panose="02000506000000020004" pitchFamily="2" charset="0"/>
                  <a:ea typeface="+mn-ea"/>
                  <a:cs typeface="+mn-cs"/>
                </a:defRPr>
              </a:lvl1pPr>
              <a:lvl2pPr marL="712405" indent="-356203" algn="l" defTabSz="913340" rtl="0" eaLnBrk="1" latinLnBrk="0" hangingPunct="1">
                <a:spcBef>
                  <a:spcPct val="20000"/>
                </a:spcBef>
                <a:buClr>
                  <a:srgbClr val="00B7E6"/>
                </a:buClr>
                <a:buSzPct val="100000"/>
                <a:buFont typeface="EYInterstate Light" panose="02000506000000020004" pitchFamily="2" charset="0"/>
                <a:buChar char="•"/>
                <a:defRPr sz="1798" kern="1200">
                  <a:solidFill>
                    <a:schemeClr val="bg1"/>
                  </a:solidFill>
                  <a:latin typeface="EYInterstate Light" panose="02000506000000020004" pitchFamily="2" charset="0"/>
                  <a:ea typeface="+mn-ea"/>
                  <a:cs typeface="+mn-cs"/>
                </a:defRPr>
              </a:lvl2pPr>
              <a:lvl3pPr marL="1068608" indent="-356203" algn="l" defTabSz="913340" rtl="0" eaLnBrk="1" latinLnBrk="0" hangingPunct="1">
                <a:spcBef>
                  <a:spcPct val="20000"/>
                </a:spcBef>
                <a:buClr>
                  <a:srgbClr val="00B7E6"/>
                </a:buClr>
                <a:buSzPct val="100000"/>
                <a:buFont typeface="EYInterstate Light" panose="02000506000000020004" pitchFamily="2" charset="0"/>
                <a:buChar char="•"/>
                <a:defRPr sz="1598" kern="1200">
                  <a:solidFill>
                    <a:schemeClr val="bg1"/>
                  </a:solidFill>
                  <a:latin typeface="EYInterstate Light" panose="02000506000000020004" pitchFamily="2" charset="0"/>
                  <a:ea typeface="+mn-ea"/>
                  <a:cs typeface="+mn-cs"/>
                </a:defRPr>
              </a:lvl3pPr>
              <a:lvl4pPr marL="1424810" indent="-356203" algn="l" defTabSz="913340" rtl="0" eaLnBrk="1" latinLnBrk="0" hangingPunct="1">
                <a:spcBef>
                  <a:spcPct val="20000"/>
                </a:spcBef>
                <a:buClr>
                  <a:srgbClr val="00B7E6"/>
                </a:buClr>
                <a:buSzPct val="100000"/>
                <a:buFont typeface="EYInterstate Light" panose="02000506000000020004" pitchFamily="2" charset="0"/>
                <a:buChar char="•"/>
                <a:defRPr sz="1398" kern="1200">
                  <a:solidFill>
                    <a:schemeClr val="bg1"/>
                  </a:solidFill>
                  <a:latin typeface="EYInterstate Light" panose="02000506000000020004" pitchFamily="2" charset="0"/>
                  <a:ea typeface="+mn-ea"/>
                  <a:cs typeface="+mn-cs"/>
                </a:defRPr>
              </a:lvl4pPr>
              <a:lvl5pPr marL="1781012" indent="-356203" algn="l" defTabSz="913340" rtl="0" eaLnBrk="1" latinLnBrk="0" hangingPunct="1">
                <a:spcBef>
                  <a:spcPct val="20000"/>
                </a:spcBef>
                <a:buClr>
                  <a:srgbClr val="00B7E6"/>
                </a:buClr>
                <a:buSzPct val="100000"/>
                <a:buFont typeface="EYInterstate Light" panose="02000506000000020004" pitchFamily="2" charset="0"/>
                <a:buChar char="•"/>
                <a:defRPr sz="1199" kern="1200">
                  <a:solidFill>
                    <a:schemeClr val="bg1"/>
                  </a:solidFill>
                  <a:latin typeface="EYInterstate Light" panose="02000506000000020004" pitchFamily="2" charset="0"/>
                  <a:ea typeface="+mn-ea"/>
                  <a:cs typeface="+mn-cs"/>
                </a:defRPr>
              </a:lvl5pPr>
              <a:lvl6pPr marL="2511684"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6pPr>
              <a:lvl7pPr marL="2968354"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7pPr>
              <a:lvl8pPr marL="3425023"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8pPr>
              <a:lvl9pPr marL="3881693"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9pPr>
            </a:lstStyle>
            <a:p>
              <a:pPr marL="0" marR="0" lvl="0" indent="0" algn="l" defTabSz="913340" rtl="0" eaLnBrk="1" fontAlgn="auto" latinLnBrk="0" hangingPunct="1">
                <a:lnSpc>
                  <a:spcPct val="100000"/>
                </a:lnSpc>
                <a:spcBef>
                  <a:spcPct val="20000"/>
                </a:spcBef>
                <a:spcAft>
                  <a:spcPts val="0"/>
                </a:spcAft>
                <a:buClr>
                  <a:srgbClr val="00B7E6"/>
                </a:buClr>
                <a:buSzPct val="100000"/>
                <a:buFont typeface="EYInterstate Light" panose="02000506000000020004" pitchFamily="2" charset="0"/>
                <a:buNone/>
                <a:tabLst/>
                <a:defRPr/>
              </a:pPr>
              <a:r>
                <a:rPr kumimoji="0" lang="en-GB" sz="4800" b="1" i="0" u="none" strike="noStrike" kern="1200" cap="none" spc="0" normalizeH="0" baseline="0" noProof="0">
                  <a:ln>
                    <a:noFill/>
                  </a:ln>
                  <a:gradFill>
                    <a:gsLst>
                      <a:gs pos="0">
                        <a:srgbClr val="FFFFFF"/>
                      </a:gs>
                      <a:gs pos="100000">
                        <a:srgbClr val="FFFFFF">
                          <a:alpha val="0"/>
                        </a:srgbClr>
                      </a:gs>
                    </a:gsLst>
                    <a:lin ang="5400000" scaled="1"/>
                  </a:gradFill>
                  <a:effectLst/>
                  <a:uLnTx/>
                  <a:uFillTx/>
                  <a:latin typeface="EYInterstate Light" panose="02000506000000020004" pitchFamily="2" charset="0"/>
                  <a:ea typeface="+mn-ea"/>
                  <a:cs typeface="Arial"/>
                </a:rPr>
                <a:t>D</a:t>
              </a:r>
              <a:endParaRPr kumimoji="0" lang="en-US" sz="4800" b="1" i="0" u="none" strike="noStrike" kern="1200" cap="none" spc="0" normalizeH="0" baseline="0" noProof="0">
                <a:ln>
                  <a:noFill/>
                </a:ln>
                <a:gradFill>
                  <a:gsLst>
                    <a:gs pos="0">
                      <a:srgbClr val="FFFFFF"/>
                    </a:gs>
                    <a:gs pos="100000">
                      <a:srgbClr val="FFFFFF">
                        <a:alpha val="0"/>
                      </a:srgbClr>
                    </a:gs>
                  </a:gsLst>
                  <a:lin ang="5400000" scaled="1"/>
                </a:gradFill>
                <a:effectLst/>
                <a:uLnTx/>
                <a:uFillTx/>
                <a:latin typeface="EYInterstate Light" panose="02000506000000020004" pitchFamily="2" charset="0"/>
                <a:ea typeface="+mn-ea"/>
                <a:cs typeface="Arial"/>
              </a:endParaRPr>
            </a:p>
          </p:txBody>
        </p:sp>
        <p:sp>
          <p:nvSpPr>
            <p:cNvPr id="125" name="Rectangle 124">
              <a:extLst>
                <a:ext uri="{FF2B5EF4-FFF2-40B4-BE49-F238E27FC236}">
                  <a16:creationId xmlns:a16="http://schemas.microsoft.com/office/drawing/2014/main" id="{9E89F8C7-61C4-B7A0-5D5D-B2D36AC169F8}"/>
                </a:ext>
              </a:extLst>
            </p:cNvPr>
            <p:cNvSpPr/>
            <p:nvPr/>
          </p:nvSpPr>
          <p:spPr bwMode="auto">
            <a:xfrm>
              <a:off x="8956767" y="3491816"/>
              <a:ext cx="2440940" cy="2052198"/>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808080"/>
                  </a:solidFill>
                </a14:hiddenFill>
              </a:ext>
            </a:extLst>
          </p:spPr>
          <p:txBody>
            <a:bodyPr vert="horz" wrap="square" lIns="54000" tIns="54000" rIns="54000" bIns="54000" numCol="1" rtlCol="0" anchor="t" anchorCtr="0" compatLnSpc="1">
              <a:prstTxWarp prst="textNoShape">
                <a:avLst/>
              </a:prstTxWarp>
              <a:noAutofit/>
            </a:bodyPr>
            <a:lstStyle/>
            <a:p>
              <a:pPr marL="0" marR="0" lvl="0" indent="0" algn="just" defTabSz="995363"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EYInterstate Light" panose="02000506000000020004" pitchFamily="2" charset="0"/>
                  <a:ea typeface="+mn-ea"/>
                  <a:cs typeface="Arial"/>
                </a:rPr>
                <a:t>Our Consortium is unique since our technical advisor Houston </a:t>
              </a:r>
              <a:br>
                <a:rPr kumimoji="0" lang="en-IN" sz="1100" b="0" i="0" u="none" strike="noStrike" kern="1200" cap="none" spc="0" normalizeH="0" baseline="0" noProof="0" dirty="0">
                  <a:ln>
                    <a:noFill/>
                  </a:ln>
                  <a:solidFill>
                    <a:srgbClr val="000000"/>
                  </a:solidFill>
                  <a:effectLst/>
                  <a:uLnTx/>
                  <a:uFillTx/>
                  <a:latin typeface="EYInterstate Light" panose="02000506000000020004" pitchFamily="2" charset="0"/>
                  <a:ea typeface="+mn-ea"/>
                  <a:cs typeface="Arial"/>
                </a:rPr>
              </a:br>
              <a:r>
                <a:rPr kumimoji="0" lang="en-IN" sz="1100" b="0" i="0" u="none" strike="noStrike" kern="1200" cap="none" spc="0" normalizeH="0" baseline="0" noProof="0" dirty="0">
                  <a:ln>
                    <a:noFill/>
                  </a:ln>
                  <a:solidFill>
                    <a:srgbClr val="000000"/>
                  </a:solidFill>
                  <a:effectLst/>
                  <a:uLnTx/>
                  <a:uFillTx/>
                  <a:latin typeface="EYInterstate Light" panose="02000506000000020004" pitchFamily="2" charset="0"/>
                  <a:ea typeface="+mn-ea"/>
                  <a:cs typeface="Arial"/>
                </a:rPr>
                <a:t>Methodist is not only an experienced transaction advisor but also have multiple clinical facilities in the United States. </a:t>
              </a:r>
            </a:p>
            <a:p>
              <a:pPr marL="0" marR="0" lvl="0" indent="0" algn="just" defTabSz="995363" rtl="0" eaLnBrk="1" fontAlgn="auto" latinLnBrk="0" hangingPunct="1">
                <a:lnSpc>
                  <a:spcPct val="100000"/>
                </a:lnSpc>
                <a:spcBef>
                  <a:spcPts val="0"/>
                </a:spcBef>
                <a:spcAft>
                  <a:spcPts val="0"/>
                </a:spcAft>
                <a:buClrTx/>
                <a:buSzTx/>
                <a:buFontTx/>
                <a:buNone/>
                <a:tabLst/>
                <a:defRPr/>
              </a:pPr>
              <a:endParaRPr lang="en-IN" sz="1100" dirty="0">
                <a:solidFill>
                  <a:srgbClr val="000000"/>
                </a:solidFill>
                <a:latin typeface="EYInterstate Light" panose="02000506000000020004" pitchFamily="2" charset="0"/>
                <a:cs typeface="Arial"/>
              </a:endParaRPr>
            </a:p>
            <a:p>
              <a:pPr marL="0" marR="0" lvl="0" indent="0" algn="just" defTabSz="995363"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EYInterstate Light" panose="02000506000000020004" pitchFamily="2" charset="0"/>
                  <a:ea typeface="+mn-ea"/>
                  <a:cs typeface="Arial"/>
                </a:rPr>
                <a:t>They bring a unique perspective of having a wealth of hands-on operational experience and learnings that can be leveraged for these Health projects. </a:t>
              </a:r>
              <a:endParaRPr lang="en-IN" sz="1100" dirty="0">
                <a:solidFill>
                  <a:srgbClr val="000000"/>
                </a:solidFill>
                <a:latin typeface="EYInterstate Light" panose="02000506000000020004" pitchFamily="2" charset="0"/>
                <a:cs typeface="Arial"/>
              </a:endParaRPr>
            </a:p>
          </p:txBody>
        </p:sp>
        <p:grpSp>
          <p:nvGrpSpPr>
            <p:cNvPr id="202" name="Group 201">
              <a:extLst>
                <a:ext uri="{FF2B5EF4-FFF2-40B4-BE49-F238E27FC236}">
                  <a16:creationId xmlns:a16="http://schemas.microsoft.com/office/drawing/2014/main" id="{D77A1743-6F42-5B6E-85D2-6BAB82868C7B}"/>
                </a:ext>
              </a:extLst>
            </p:cNvPr>
            <p:cNvGrpSpPr/>
            <p:nvPr/>
          </p:nvGrpSpPr>
          <p:grpSpPr>
            <a:xfrm>
              <a:off x="10684699" y="2310697"/>
              <a:ext cx="685800" cy="685800"/>
              <a:chOff x="10684699" y="2149874"/>
              <a:chExt cx="685800" cy="685800"/>
            </a:xfrm>
          </p:grpSpPr>
          <p:sp>
            <p:nvSpPr>
              <p:cNvPr id="147" name="Oval 146">
                <a:extLst>
                  <a:ext uri="{FF2B5EF4-FFF2-40B4-BE49-F238E27FC236}">
                    <a16:creationId xmlns:a16="http://schemas.microsoft.com/office/drawing/2014/main" id="{C481A3F7-BB18-5C8E-511A-D0100DE865FB}"/>
                  </a:ext>
                </a:extLst>
              </p:cNvPr>
              <p:cNvSpPr/>
              <p:nvPr/>
            </p:nvSpPr>
            <p:spPr bwMode="auto">
              <a:xfrm>
                <a:off x="10684699" y="2149874"/>
                <a:ext cx="685800" cy="685800"/>
              </a:xfrm>
              <a:prstGeom prst="ellipse">
                <a:avLst/>
              </a:prstGeom>
              <a:solidFill>
                <a:srgbClr val="FFFFFF"/>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a:ln>
                    <a:noFill/>
                  </a:ln>
                  <a:solidFill>
                    <a:srgbClr val="000000"/>
                  </a:solidFill>
                  <a:effectLst/>
                  <a:uLnTx/>
                  <a:uFillTx/>
                  <a:latin typeface="EYInterstate Light" panose="02000506000000020004" pitchFamily="2" charset="0"/>
                  <a:ea typeface="+mn-ea"/>
                  <a:cs typeface="Arial"/>
                </a:endParaRPr>
              </a:p>
            </p:txBody>
          </p:sp>
          <p:grpSp>
            <p:nvGrpSpPr>
              <p:cNvPr id="149" name="Group 148">
                <a:extLst>
                  <a:ext uri="{FF2B5EF4-FFF2-40B4-BE49-F238E27FC236}">
                    <a16:creationId xmlns:a16="http://schemas.microsoft.com/office/drawing/2014/main" id="{58D5E907-8A1D-09C9-7AA4-D33BECE283C3}"/>
                  </a:ext>
                </a:extLst>
              </p:cNvPr>
              <p:cNvGrpSpPr/>
              <p:nvPr/>
            </p:nvGrpSpPr>
            <p:grpSpPr>
              <a:xfrm>
                <a:off x="10723417" y="2209252"/>
                <a:ext cx="571522" cy="582285"/>
                <a:chOff x="3148735" y="1214336"/>
                <a:chExt cx="565854" cy="576514"/>
              </a:xfrm>
            </p:grpSpPr>
            <p:sp>
              <p:nvSpPr>
                <p:cNvPr id="151" name="Rectangle: Rounded Corners 150">
                  <a:extLst>
                    <a:ext uri="{FF2B5EF4-FFF2-40B4-BE49-F238E27FC236}">
                      <a16:creationId xmlns:a16="http://schemas.microsoft.com/office/drawing/2014/main" id="{9EF86865-B6DD-B467-D9F6-DF6BEE733F88}"/>
                    </a:ext>
                  </a:extLst>
                </p:cNvPr>
                <p:cNvSpPr/>
                <p:nvPr/>
              </p:nvSpPr>
              <p:spPr>
                <a:xfrm>
                  <a:off x="3175814" y="1214336"/>
                  <a:ext cx="532933" cy="532934"/>
                </a:xfrm>
                <a:prstGeom prst="roundRect">
                  <a:avLst>
                    <a:gd name="adj" fmla="val 50000"/>
                  </a:avLst>
                </a:prstGeom>
                <a:solidFill>
                  <a:srgbClr val="FFFFFF"/>
                </a:solidFill>
                <a:ln w="25400" cap="flat" cmpd="sng" algn="ctr">
                  <a:solidFill>
                    <a:schemeClr val="bg1"/>
                  </a:solidFill>
                  <a:prstDash val="solid"/>
                </a:ln>
                <a:effectLst>
                  <a:outerShdw blurRad="127000" dist="76200" dir="2700000" algn="tl" rotWithShape="0">
                    <a:prstClr val="black">
                      <a:alpha val="16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a:endParaRPr>
                </a:p>
              </p:txBody>
            </p:sp>
            <p:grpSp>
              <p:nvGrpSpPr>
                <p:cNvPr id="152" name="Group 151">
                  <a:extLst>
                    <a:ext uri="{FF2B5EF4-FFF2-40B4-BE49-F238E27FC236}">
                      <a16:creationId xmlns:a16="http://schemas.microsoft.com/office/drawing/2014/main" id="{6523DF10-4E41-A499-090B-73CC27FAE276}"/>
                    </a:ext>
                  </a:extLst>
                </p:cNvPr>
                <p:cNvGrpSpPr/>
                <p:nvPr/>
              </p:nvGrpSpPr>
              <p:grpSpPr>
                <a:xfrm>
                  <a:off x="3148735" y="1224988"/>
                  <a:ext cx="565854" cy="565862"/>
                  <a:chOff x="458004" y="2935727"/>
                  <a:chExt cx="677228" cy="677238"/>
                </a:xfrm>
              </p:grpSpPr>
              <p:sp>
                <p:nvSpPr>
                  <p:cNvPr id="153" name="Freeform: Shape 152">
                    <a:extLst>
                      <a:ext uri="{FF2B5EF4-FFF2-40B4-BE49-F238E27FC236}">
                        <a16:creationId xmlns:a16="http://schemas.microsoft.com/office/drawing/2014/main" id="{16129825-94F9-6908-A274-6ACD6FFF1E70}"/>
                      </a:ext>
                    </a:extLst>
                  </p:cNvPr>
                  <p:cNvSpPr/>
                  <p:nvPr/>
                </p:nvSpPr>
                <p:spPr>
                  <a:xfrm rot="21079199">
                    <a:off x="513033" y="2935727"/>
                    <a:ext cx="622173" cy="622173"/>
                  </a:xfrm>
                  <a:custGeom>
                    <a:avLst/>
                    <a:gdLst>
                      <a:gd name="connsiteX0" fmla="*/ 622173 w 622173"/>
                      <a:gd name="connsiteY0" fmla="*/ 311087 h 622173"/>
                      <a:gd name="connsiteX1" fmla="*/ 311087 w 622173"/>
                      <a:gd name="connsiteY1" fmla="*/ 622173 h 622173"/>
                      <a:gd name="connsiteX2" fmla="*/ 0 w 622173"/>
                      <a:gd name="connsiteY2" fmla="*/ 311087 h 622173"/>
                      <a:gd name="connsiteX3" fmla="*/ 311087 w 622173"/>
                      <a:gd name="connsiteY3" fmla="*/ 0 h 622173"/>
                      <a:gd name="connsiteX4" fmla="*/ 622173 w 622173"/>
                      <a:gd name="connsiteY4" fmla="*/ 311087 h 622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173" h="622173">
                        <a:moveTo>
                          <a:pt x="622173" y="311087"/>
                        </a:moveTo>
                        <a:cubicBezTo>
                          <a:pt x="622173" y="482895"/>
                          <a:pt x="482895" y="622173"/>
                          <a:pt x="311087" y="622173"/>
                        </a:cubicBezTo>
                        <a:cubicBezTo>
                          <a:pt x="139278" y="622173"/>
                          <a:pt x="0" y="482895"/>
                          <a:pt x="0" y="311087"/>
                        </a:cubicBezTo>
                        <a:cubicBezTo>
                          <a:pt x="0" y="139278"/>
                          <a:pt x="139278" y="0"/>
                          <a:pt x="311087" y="0"/>
                        </a:cubicBezTo>
                        <a:cubicBezTo>
                          <a:pt x="482895" y="0"/>
                          <a:pt x="622173" y="139278"/>
                          <a:pt x="622173" y="311087"/>
                        </a:cubicBezTo>
                        <a:close/>
                      </a:path>
                    </a:pathLst>
                  </a:custGeom>
                  <a:noFill/>
                  <a:ln w="9525" cap="flat">
                    <a:solidFill>
                      <a:srgbClr val="747480"/>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charset="0"/>
                    </a:endParaRPr>
                  </a:p>
                </p:txBody>
              </p:sp>
              <p:sp>
                <p:nvSpPr>
                  <p:cNvPr id="154" name="Freeform: Shape 153">
                    <a:extLst>
                      <a:ext uri="{FF2B5EF4-FFF2-40B4-BE49-F238E27FC236}">
                        <a16:creationId xmlns:a16="http://schemas.microsoft.com/office/drawing/2014/main" id="{D1AD62F5-2F28-879E-D6E8-CA0A3706F3DE}"/>
                      </a:ext>
                    </a:extLst>
                  </p:cNvPr>
                  <p:cNvSpPr/>
                  <p:nvPr/>
                </p:nvSpPr>
                <p:spPr>
                  <a:xfrm>
                    <a:off x="714704" y="2935740"/>
                    <a:ext cx="420528" cy="509206"/>
                  </a:xfrm>
                  <a:custGeom>
                    <a:avLst/>
                    <a:gdLst>
                      <a:gd name="connsiteX0" fmla="*/ 349282 w 420528"/>
                      <a:gd name="connsiteY0" fmla="*/ 509207 h 509206"/>
                      <a:gd name="connsiteX1" fmla="*/ 420529 w 420528"/>
                      <a:gd name="connsiteY1" fmla="*/ 311087 h 509206"/>
                      <a:gd name="connsiteX2" fmla="*/ 109442 w 420528"/>
                      <a:gd name="connsiteY2" fmla="*/ 0 h 509206"/>
                      <a:gd name="connsiteX3" fmla="*/ 0 w 420528"/>
                      <a:gd name="connsiteY3" fmla="*/ 19812 h 509206"/>
                    </a:gdLst>
                    <a:ahLst/>
                    <a:cxnLst>
                      <a:cxn ang="0">
                        <a:pos x="connsiteX0" y="connsiteY0"/>
                      </a:cxn>
                      <a:cxn ang="0">
                        <a:pos x="connsiteX1" y="connsiteY1"/>
                      </a:cxn>
                      <a:cxn ang="0">
                        <a:pos x="connsiteX2" y="connsiteY2"/>
                      </a:cxn>
                      <a:cxn ang="0">
                        <a:pos x="connsiteX3" y="connsiteY3"/>
                      </a:cxn>
                    </a:cxnLst>
                    <a:rect l="l" t="t" r="r" b="b"/>
                    <a:pathLst>
                      <a:path w="420528" h="509206">
                        <a:moveTo>
                          <a:pt x="349282" y="509207"/>
                        </a:moveTo>
                        <a:cubicBezTo>
                          <a:pt x="393764" y="455390"/>
                          <a:pt x="420529" y="386334"/>
                          <a:pt x="420529" y="311087"/>
                        </a:cubicBezTo>
                        <a:cubicBezTo>
                          <a:pt x="420529" y="139256"/>
                          <a:pt x="281273" y="0"/>
                          <a:pt x="109442" y="0"/>
                        </a:cubicBezTo>
                        <a:cubicBezTo>
                          <a:pt x="70961" y="0"/>
                          <a:pt x="34004" y="6953"/>
                          <a:pt x="0" y="19812"/>
                        </a:cubicBezTo>
                      </a:path>
                    </a:pathLst>
                  </a:custGeom>
                  <a:noFill/>
                  <a:ln w="47625" cap="flat">
                    <a:solidFill>
                      <a:srgbClr val="1A9AFA"/>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charset="0"/>
                    </a:endParaRPr>
                  </a:p>
                </p:txBody>
              </p:sp>
              <p:sp>
                <p:nvSpPr>
                  <p:cNvPr id="155" name="Freeform: Shape 154">
                    <a:extLst>
                      <a:ext uri="{FF2B5EF4-FFF2-40B4-BE49-F238E27FC236}">
                        <a16:creationId xmlns:a16="http://schemas.microsoft.com/office/drawing/2014/main" id="{606018FB-98BF-0A9F-55CD-1A2F19FF9EDB}"/>
                      </a:ext>
                    </a:extLst>
                  </p:cNvPr>
                  <p:cNvSpPr/>
                  <p:nvPr/>
                </p:nvSpPr>
                <p:spPr>
                  <a:xfrm>
                    <a:off x="458004" y="3127856"/>
                    <a:ext cx="428339" cy="485109"/>
                  </a:xfrm>
                  <a:custGeom>
                    <a:avLst/>
                    <a:gdLst>
                      <a:gd name="connsiteX0" fmla="*/ 19717 w 428339"/>
                      <a:gd name="connsiteY0" fmla="*/ 0 h 485108"/>
                      <a:gd name="connsiteX1" fmla="*/ 0 w 428339"/>
                      <a:gd name="connsiteY1" fmla="*/ 118967 h 485108"/>
                      <a:gd name="connsiteX2" fmla="*/ 366141 w 428339"/>
                      <a:gd name="connsiteY2" fmla="*/ 485108 h 485108"/>
                      <a:gd name="connsiteX3" fmla="*/ 428339 w 428339"/>
                      <a:gd name="connsiteY3" fmla="*/ 479870 h 485108"/>
                    </a:gdLst>
                    <a:ahLst/>
                    <a:cxnLst>
                      <a:cxn ang="0">
                        <a:pos x="connsiteX0" y="connsiteY0"/>
                      </a:cxn>
                      <a:cxn ang="0">
                        <a:pos x="connsiteX1" y="connsiteY1"/>
                      </a:cxn>
                      <a:cxn ang="0">
                        <a:pos x="connsiteX2" y="connsiteY2"/>
                      </a:cxn>
                      <a:cxn ang="0">
                        <a:pos x="connsiteX3" y="connsiteY3"/>
                      </a:cxn>
                    </a:cxnLst>
                    <a:rect l="l" t="t" r="r" b="b"/>
                    <a:pathLst>
                      <a:path w="428339" h="485108">
                        <a:moveTo>
                          <a:pt x="19717" y="0"/>
                        </a:moveTo>
                        <a:cubicBezTo>
                          <a:pt x="6953" y="37338"/>
                          <a:pt x="0" y="77343"/>
                          <a:pt x="0" y="118967"/>
                        </a:cubicBezTo>
                        <a:cubicBezTo>
                          <a:pt x="0" y="321183"/>
                          <a:pt x="163925" y="485108"/>
                          <a:pt x="366141" y="485108"/>
                        </a:cubicBezTo>
                        <a:cubicBezTo>
                          <a:pt x="387382" y="485108"/>
                          <a:pt x="408146" y="483299"/>
                          <a:pt x="428339" y="479870"/>
                        </a:cubicBezTo>
                      </a:path>
                    </a:pathLst>
                  </a:custGeom>
                  <a:noFill/>
                  <a:ln w="28575" cap="flat">
                    <a:solidFill>
                      <a:srgbClr val="C4C4CD"/>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charset="0"/>
                    </a:endParaRPr>
                  </a:p>
                </p:txBody>
              </p:sp>
            </p:grpSp>
          </p:grpSp>
        </p:grpSp>
      </p:grpSp>
      <p:grpSp>
        <p:nvGrpSpPr>
          <p:cNvPr id="9" name="Group 8">
            <a:extLst>
              <a:ext uri="{FF2B5EF4-FFF2-40B4-BE49-F238E27FC236}">
                <a16:creationId xmlns:a16="http://schemas.microsoft.com/office/drawing/2014/main" id="{81484299-93B6-4662-3BF6-D1190002C3D8}"/>
              </a:ext>
            </a:extLst>
          </p:cNvPr>
          <p:cNvGrpSpPr/>
          <p:nvPr/>
        </p:nvGrpSpPr>
        <p:grpSpPr>
          <a:xfrm>
            <a:off x="3480649" y="2310697"/>
            <a:ext cx="2563251" cy="3948583"/>
            <a:chOff x="3422079" y="2310697"/>
            <a:chExt cx="2563251" cy="3948583"/>
          </a:xfrm>
        </p:grpSpPr>
        <p:sp>
          <p:nvSpPr>
            <p:cNvPr id="66" name="Rectangle: Rounded Corners 65">
              <a:extLst>
                <a:ext uri="{FF2B5EF4-FFF2-40B4-BE49-F238E27FC236}">
                  <a16:creationId xmlns:a16="http://schemas.microsoft.com/office/drawing/2014/main" id="{FE445E99-2E96-4A12-3F3D-0993E8A46157}"/>
                </a:ext>
              </a:extLst>
            </p:cNvPr>
            <p:cNvSpPr>
              <a:spLocks/>
            </p:cNvSpPr>
            <p:nvPr/>
          </p:nvSpPr>
          <p:spPr>
            <a:xfrm>
              <a:off x="3422079" y="2582545"/>
              <a:ext cx="2563251" cy="3676735"/>
            </a:xfrm>
            <a:prstGeom prst="roundRect">
              <a:avLst>
                <a:gd name="adj" fmla="val 9511"/>
              </a:avLst>
            </a:prstGeom>
            <a:solidFill>
              <a:schemeClr val="bg1"/>
            </a:solidFill>
            <a:ln w="19050">
              <a:gradFill>
                <a:gsLst>
                  <a:gs pos="50000">
                    <a:srgbClr val="2AB0B0"/>
                  </a:gs>
                  <a:gs pos="0">
                    <a:srgbClr val="00A6E1"/>
                  </a:gs>
                  <a:gs pos="100000">
                    <a:srgbClr val="747480"/>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endParaRPr>
            </a:p>
          </p:txBody>
        </p:sp>
        <p:sp>
          <p:nvSpPr>
            <p:cNvPr id="114" name="Rectangle: Top Corners Rounded 113">
              <a:extLst>
                <a:ext uri="{FF2B5EF4-FFF2-40B4-BE49-F238E27FC236}">
                  <a16:creationId xmlns:a16="http://schemas.microsoft.com/office/drawing/2014/main" id="{B163A82F-342C-FDA4-E4CE-F85F70287F83}"/>
                </a:ext>
              </a:extLst>
            </p:cNvPr>
            <p:cNvSpPr>
              <a:spLocks/>
            </p:cNvSpPr>
            <p:nvPr/>
          </p:nvSpPr>
          <p:spPr bwMode="auto">
            <a:xfrm>
              <a:off x="3428819" y="2585719"/>
              <a:ext cx="2556511" cy="858521"/>
            </a:xfrm>
            <a:prstGeom prst="round2SameRect">
              <a:avLst>
                <a:gd name="adj1" fmla="val 25225"/>
                <a:gd name="adj2" fmla="val 0"/>
              </a:avLst>
            </a:prstGeom>
            <a:solidFill>
              <a:srgbClr val="35A4E8"/>
            </a:solidFill>
            <a:ln w="9525" cap="flat" cmpd="sng" algn="ctr">
              <a:noFill/>
              <a:prstDash val="solid"/>
              <a:round/>
              <a:headEnd type="none" w="med" len="med"/>
              <a:tailEnd type="none" w="med" len="med"/>
            </a:ln>
            <a:effectLst/>
          </p:spPr>
          <p:txBody>
            <a:bodyPr vert="horz" wrap="none" lIns="576000" tIns="216000" rIns="54000" bIns="54000" numCol="1" rtlCol="0" anchor="t"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rPr>
                <a:t>We understand </a:t>
              </a:r>
            </a:p>
            <a:p>
              <a:pPr marL="0" marR="0" lvl="0" indent="0" algn="l" defTabSz="995363"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rPr>
                <a:t>the Healthcare PPP </a:t>
              </a:r>
              <a:br>
                <a:rPr kumimoji="0" lang="en-IN" sz="1200" b="1"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rPr>
              </a:br>
              <a:r>
                <a:rPr kumimoji="0" lang="en-IN" sz="1200" b="1"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rPr>
                <a:t>sector in MENA</a:t>
              </a:r>
            </a:p>
          </p:txBody>
        </p:sp>
        <p:sp>
          <p:nvSpPr>
            <p:cNvPr id="115" name="Text Placeholder 9">
              <a:extLst>
                <a:ext uri="{FF2B5EF4-FFF2-40B4-BE49-F238E27FC236}">
                  <a16:creationId xmlns:a16="http://schemas.microsoft.com/office/drawing/2014/main" id="{197DF2E3-56E9-4647-140D-908BF25C07AF}"/>
                </a:ext>
              </a:extLst>
            </p:cNvPr>
            <p:cNvSpPr txBox="1">
              <a:spLocks/>
            </p:cNvSpPr>
            <p:nvPr/>
          </p:nvSpPr>
          <p:spPr>
            <a:xfrm>
              <a:off x="3423199" y="2745404"/>
              <a:ext cx="535985" cy="651342"/>
            </a:xfrm>
            <a:prstGeom prst="rect">
              <a:avLst/>
            </a:prstGeom>
            <a:effectLst/>
          </p:spPr>
          <p:txBody>
            <a:bodyPr wrap="square" anchor="ctr">
              <a:noAutofit/>
            </a:bodyPr>
            <a:lstStyle>
              <a:lvl1pPr marL="0" indent="0" algn="l" defTabSz="913340" rtl="0" eaLnBrk="1" latinLnBrk="0" hangingPunct="1">
                <a:spcBef>
                  <a:spcPct val="20000"/>
                </a:spcBef>
                <a:buClr>
                  <a:srgbClr val="00B7E6"/>
                </a:buClr>
                <a:buSzPct val="100000"/>
                <a:buFont typeface="EYInterstate Light" panose="02000506000000020004" pitchFamily="2" charset="0"/>
                <a:buNone/>
                <a:defRPr sz="13200" kern="1200">
                  <a:solidFill>
                    <a:schemeClr val="bg1"/>
                  </a:solidFill>
                  <a:latin typeface="EYInterstate Light" panose="02000506000000020004" pitchFamily="2" charset="0"/>
                  <a:ea typeface="+mn-ea"/>
                  <a:cs typeface="+mn-cs"/>
                </a:defRPr>
              </a:lvl1pPr>
              <a:lvl2pPr marL="712405" indent="-356203" algn="l" defTabSz="913340" rtl="0" eaLnBrk="1" latinLnBrk="0" hangingPunct="1">
                <a:spcBef>
                  <a:spcPct val="20000"/>
                </a:spcBef>
                <a:buClr>
                  <a:srgbClr val="00B7E6"/>
                </a:buClr>
                <a:buSzPct val="100000"/>
                <a:buFont typeface="EYInterstate Light" panose="02000506000000020004" pitchFamily="2" charset="0"/>
                <a:buChar char="•"/>
                <a:defRPr sz="1798" kern="1200">
                  <a:solidFill>
                    <a:schemeClr val="bg1"/>
                  </a:solidFill>
                  <a:latin typeface="EYInterstate Light" panose="02000506000000020004" pitchFamily="2" charset="0"/>
                  <a:ea typeface="+mn-ea"/>
                  <a:cs typeface="+mn-cs"/>
                </a:defRPr>
              </a:lvl2pPr>
              <a:lvl3pPr marL="1068608" indent="-356203" algn="l" defTabSz="913340" rtl="0" eaLnBrk="1" latinLnBrk="0" hangingPunct="1">
                <a:spcBef>
                  <a:spcPct val="20000"/>
                </a:spcBef>
                <a:buClr>
                  <a:srgbClr val="00B7E6"/>
                </a:buClr>
                <a:buSzPct val="100000"/>
                <a:buFont typeface="EYInterstate Light" panose="02000506000000020004" pitchFamily="2" charset="0"/>
                <a:buChar char="•"/>
                <a:defRPr sz="1598" kern="1200">
                  <a:solidFill>
                    <a:schemeClr val="bg1"/>
                  </a:solidFill>
                  <a:latin typeface="EYInterstate Light" panose="02000506000000020004" pitchFamily="2" charset="0"/>
                  <a:ea typeface="+mn-ea"/>
                  <a:cs typeface="+mn-cs"/>
                </a:defRPr>
              </a:lvl3pPr>
              <a:lvl4pPr marL="1424810" indent="-356203" algn="l" defTabSz="913340" rtl="0" eaLnBrk="1" latinLnBrk="0" hangingPunct="1">
                <a:spcBef>
                  <a:spcPct val="20000"/>
                </a:spcBef>
                <a:buClr>
                  <a:srgbClr val="00B7E6"/>
                </a:buClr>
                <a:buSzPct val="100000"/>
                <a:buFont typeface="EYInterstate Light" panose="02000506000000020004" pitchFamily="2" charset="0"/>
                <a:buChar char="•"/>
                <a:defRPr sz="1398" kern="1200">
                  <a:solidFill>
                    <a:schemeClr val="bg1"/>
                  </a:solidFill>
                  <a:latin typeface="EYInterstate Light" panose="02000506000000020004" pitchFamily="2" charset="0"/>
                  <a:ea typeface="+mn-ea"/>
                  <a:cs typeface="+mn-cs"/>
                </a:defRPr>
              </a:lvl4pPr>
              <a:lvl5pPr marL="1781012" indent="-356203" algn="l" defTabSz="913340" rtl="0" eaLnBrk="1" latinLnBrk="0" hangingPunct="1">
                <a:spcBef>
                  <a:spcPct val="20000"/>
                </a:spcBef>
                <a:buClr>
                  <a:srgbClr val="00B7E6"/>
                </a:buClr>
                <a:buSzPct val="100000"/>
                <a:buFont typeface="EYInterstate Light" panose="02000506000000020004" pitchFamily="2" charset="0"/>
                <a:buChar char="•"/>
                <a:defRPr sz="1199" kern="1200">
                  <a:solidFill>
                    <a:schemeClr val="bg1"/>
                  </a:solidFill>
                  <a:latin typeface="EYInterstate Light" panose="02000506000000020004" pitchFamily="2" charset="0"/>
                  <a:ea typeface="+mn-ea"/>
                  <a:cs typeface="+mn-cs"/>
                </a:defRPr>
              </a:lvl5pPr>
              <a:lvl6pPr marL="2511684"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6pPr>
              <a:lvl7pPr marL="2968354"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7pPr>
              <a:lvl8pPr marL="3425023"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8pPr>
              <a:lvl9pPr marL="3881693" indent="-228335" algn="l" defTabSz="913340" rtl="0" eaLnBrk="1" latinLnBrk="0" hangingPunct="1">
                <a:spcBef>
                  <a:spcPct val="20000"/>
                </a:spcBef>
                <a:buFont typeface="Arial" pitchFamily="34" charset="0"/>
                <a:buChar char="•"/>
                <a:defRPr sz="1998" kern="1200">
                  <a:solidFill>
                    <a:schemeClr val="tx1"/>
                  </a:solidFill>
                  <a:latin typeface="+mn-lt"/>
                  <a:ea typeface="+mn-ea"/>
                  <a:cs typeface="+mn-cs"/>
                </a:defRPr>
              </a:lvl9pPr>
            </a:lstStyle>
            <a:p>
              <a:pPr marL="0" marR="0" lvl="0" indent="0" algn="l" defTabSz="913340" rtl="0" eaLnBrk="1" fontAlgn="auto" latinLnBrk="0" hangingPunct="1">
                <a:lnSpc>
                  <a:spcPct val="100000"/>
                </a:lnSpc>
                <a:spcBef>
                  <a:spcPct val="20000"/>
                </a:spcBef>
                <a:spcAft>
                  <a:spcPts val="0"/>
                </a:spcAft>
                <a:buClr>
                  <a:srgbClr val="00B7E6"/>
                </a:buClr>
                <a:buSzPct val="100000"/>
                <a:buFont typeface="EYInterstate Light" panose="02000506000000020004" pitchFamily="2" charset="0"/>
                <a:buNone/>
                <a:tabLst/>
                <a:defRPr/>
              </a:pPr>
              <a:r>
                <a:rPr kumimoji="0" lang="en-GB" sz="4800" b="1" i="0" u="none" strike="noStrike" kern="1200" cap="none" spc="0" normalizeH="0" baseline="0" noProof="0">
                  <a:ln>
                    <a:noFill/>
                  </a:ln>
                  <a:gradFill>
                    <a:gsLst>
                      <a:gs pos="0">
                        <a:srgbClr val="FFFFFF"/>
                      </a:gs>
                      <a:gs pos="100000">
                        <a:srgbClr val="FFFFFF">
                          <a:alpha val="0"/>
                        </a:srgbClr>
                      </a:gs>
                    </a:gsLst>
                    <a:lin ang="5400000" scaled="1"/>
                  </a:gradFill>
                  <a:effectLst/>
                  <a:uLnTx/>
                  <a:uFillTx/>
                  <a:latin typeface="EYInterstate Light" panose="02000506000000020004" pitchFamily="2" charset="0"/>
                  <a:ea typeface="+mn-ea"/>
                  <a:cs typeface="Arial"/>
                </a:rPr>
                <a:t>B</a:t>
              </a:r>
              <a:endParaRPr kumimoji="0" lang="en-US" sz="4800" b="1" i="0" u="none" strike="noStrike" kern="1200" cap="none" spc="0" normalizeH="0" baseline="0" noProof="0">
                <a:ln>
                  <a:noFill/>
                </a:ln>
                <a:gradFill>
                  <a:gsLst>
                    <a:gs pos="0">
                      <a:srgbClr val="FFFFFF"/>
                    </a:gs>
                    <a:gs pos="100000">
                      <a:srgbClr val="FFFFFF">
                        <a:alpha val="0"/>
                      </a:srgbClr>
                    </a:gs>
                  </a:gsLst>
                  <a:lin ang="5400000" scaled="1"/>
                </a:gradFill>
                <a:effectLst/>
                <a:uLnTx/>
                <a:uFillTx/>
                <a:latin typeface="EYInterstate Light" panose="02000506000000020004" pitchFamily="2" charset="0"/>
                <a:ea typeface="+mn-ea"/>
                <a:cs typeface="Arial"/>
              </a:endParaRPr>
            </a:p>
          </p:txBody>
        </p:sp>
        <p:sp>
          <p:nvSpPr>
            <p:cNvPr id="116" name="Rectangle 115">
              <a:extLst>
                <a:ext uri="{FF2B5EF4-FFF2-40B4-BE49-F238E27FC236}">
                  <a16:creationId xmlns:a16="http://schemas.microsoft.com/office/drawing/2014/main" id="{CBAB937A-D586-969C-BCBD-CC87AA4D453F}"/>
                </a:ext>
              </a:extLst>
            </p:cNvPr>
            <p:cNvSpPr/>
            <p:nvPr/>
          </p:nvSpPr>
          <p:spPr bwMode="auto">
            <a:xfrm>
              <a:off x="3480890" y="3500121"/>
              <a:ext cx="2483193" cy="2517404"/>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808080"/>
                  </a:solidFill>
                </a14:hiddenFill>
              </a:ext>
            </a:extLst>
          </p:spPr>
          <p:txBody>
            <a:bodyPr vert="horz" wrap="square" lIns="54000" tIns="54000" rIns="54000" bIns="54000" numCol="1" rtlCol="0" anchor="t" anchorCtr="0" compatLnSpc="1">
              <a:prstTxWarp prst="textNoShape">
                <a:avLst/>
              </a:prstTxWarp>
            </a:bodyPr>
            <a:lstStyle/>
            <a:p>
              <a:pPr marL="0" marR="0" lvl="0" indent="0" algn="just" defTabSz="995363"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EYInterstate Light" panose="02000506000000020004" pitchFamily="2" charset="0"/>
                  <a:ea typeface="+mn-ea"/>
                  <a:cs typeface="Arial"/>
                </a:rPr>
                <a:t>Our team brings deep expertise in the  healthcare sector. </a:t>
              </a:r>
            </a:p>
            <a:p>
              <a:pPr marL="0" marR="0" lvl="0" indent="0" algn="just" defTabSz="995363" rtl="0" eaLnBrk="1" fontAlgn="auto" latinLnBrk="0" hangingPunct="1">
                <a:lnSpc>
                  <a:spcPct val="100000"/>
                </a:lnSpc>
                <a:spcBef>
                  <a:spcPts val="0"/>
                </a:spcBef>
                <a:spcAft>
                  <a:spcPts val="0"/>
                </a:spcAft>
                <a:buClrTx/>
                <a:buSzTx/>
                <a:buFontTx/>
                <a:buNone/>
                <a:tabLst/>
                <a:defRPr/>
              </a:pPr>
              <a:endParaRPr lang="en-IN" sz="1100">
                <a:solidFill>
                  <a:srgbClr val="000000"/>
                </a:solidFill>
                <a:latin typeface="EYInterstate Light" panose="02000506000000020004" pitchFamily="2" charset="0"/>
                <a:cs typeface="Arial"/>
              </a:endParaRPr>
            </a:p>
            <a:p>
              <a:pPr marL="0" marR="0" lvl="0" indent="0" algn="just" defTabSz="995363"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rgbClr val="000000"/>
                  </a:solidFill>
                  <a:effectLst/>
                  <a:uLnTx/>
                  <a:uFillTx/>
                  <a:latin typeface="EYInterstate Light" panose="02000506000000020004" pitchFamily="2" charset="0"/>
                  <a:ea typeface="+mn-ea"/>
                  <a:cs typeface="Arial"/>
                </a:rPr>
                <a:t>We</a:t>
              </a:r>
              <a:r>
                <a:rPr kumimoji="0" lang="en-US" sz="1100" b="0" i="0" u="none" strike="noStrike" kern="1200" cap="none" spc="0" normalizeH="0" baseline="0" noProof="0">
                  <a:ln>
                    <a:noFill/>
                  </a:ln>
                  <a:solidFill>
                    <a:srgbClr val="000000"/>
                  </a:solidFill>
                  <a:effectLst/>
                  <a:uLnTx/>
                  <a:uFillTx/>
                  <a:latin typeface="EYInterstate Light" panose="02000506000000020004" pitchFamily="2" charset="0"/>
                  <a:ea typeface="+mn-ea"/>
                  <a:cs typeface="Arial"/>
                </a:rPr>
                <a:t> are currently working on several live healthcare PPP projects across </a:t>
              </a:r>
              <a:r>
                <a:rPr lang="en-US" sz="1100">
                  <a:solidFill>
                    <a:srgbClr val="000000"/>
                  </a:solidFill>
                  <a:latin typeface="EYInterstate Light" panose="02000506000000020004" pitchFamily="2" charset="0"/>
                  <a:cs typeface="Arial"/>
                </a:rPr>
                <a:t>KSA and the </a:t>
              </a:r>
              <a:r>
                <a:rPr kumimoji="0" lang="en-US" sz="1100" b="0" i="0" u="none" strike="noStrike" kern="1200" cap="none" spc="0" normalizeH="0" baseline="0" noProof="0">
                  <a:ln>
                    <a:noFill/>
                  </a:ln>
                  <a:solidFill>
                    <a:srgbClr val="000000"/>
                  </a:solidFill>
                  <a:effectLst/>
                  <a:uLnTx/>
                  <a:uFillTx/>
                  <a:latin typeface="EYInterstate Light" panose="02000506000000020004" pitchFamily="2" charset="0"/>
                  <a:ea typeface="+mn-ea"/>
                  <a:cs typeface="Arial"/>
                </a:rPr>
                <a:t>MENA region and have closed several PPP transactions including ADNOC Healthcare projects. We are currently advising  Dialysis Services for the MOH in KSA. </a:t>
              </a:r>
            </a:p>
            <a:p>
              <a:pPr marL="0" marR="0" lvl="0" indent="0" algn="just" defTabSz="995363"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000000"/>
                </a:solidFill>
                <a:effectLst/>
                <a:uLnTx/>
                <a:uFillTx/>
                <a:latin typeface="EYInterstate Light" panose="02000506000000020004" pitchFamily="2" charset="0"/>
                <a:ea typeface="+mn-ea"/>
                <a:cs typeface="Arial"/>
              </a:endParaRPr>
            </a:p>
            <a:p>
              <a:pPr marL="0" marR="0" lvl="0" indent="0" algn="just" defTabSz="995363" rtl="0" eaLnBrk="1" fontAlgn="auto" latinLnBrk="0" hangingPunct="1">
                <a:lnSpc>
                  <a:spcPct val="100000"/>
                </a:lnSpc>
                <a:spcBef>
                  <a:spcPts val="0"/>
                </a:spcBef>
                <a:spcAft>
                  <a:spcPts val="0"/>
                </a:spcAft>
                <a:buClrTx/>
                <a:buSzTx/>
                <a:buFontTx/>
                <a:buNone/>
                <a:tabLst/>
                <a:defRPr/>
              </a:pPr>
              <a:endParaRPr lang="en-IN" sz="1000">
                <a:solidFill>
                  <a:srgbClr val="000000"/>
                </a:solidFill>
                <a:latin typeface="EYInterstate Light" panose="02000506000000020004" pitchFamily="2" charset="0"/>
                <a:cs typeface="Arial"/>
              </a:endParaRPr>
            </a:p>
            <a:p>
              <a:pPr marL="0" marR="0" lvl="0" indent="0" algn="just" defTabSz="995363" rtl="0" eaLnBrk="1" fontAlgn="auto" latinLnBrk="0" hangingPunct="1">
                <a:lnSpc>
                  <a:spcPct val="100000"/>
                </a:lnSpc>
                <a:spcBef>
                  <a:spcPts val="0"/>
                </a:spcBef>
                <a:spcAft>
                  <a:spcPts val="0"/>
                </a:spcAft>
                <a:buClrTx/>
                <a:buSzTx/>
                <a:buFontTx/>
                <a:buNone/>
                <a:tabLst/>
                <a:defRPr/>
              </a:pPr>
              <a:endParaRPr lang="en-IN" sz="1000">
                <a:solidFill>
                  <a:srgbClr val="000000"/>
                </a:solidFill>
                <a:latin typeface="EYInterstate Light" panose="02000506000000020004" pitchFamily="2" charset="0"/>
                <a:cs typeface="Arial"/>
              </a:endParaRPr>
            </a:p>
            <a:p>
              <a:pPr marL="0" marR="0" lvl="0" indent="0" algn="just" defTabSz="995363" rtl="0" eaLnBrk="1" fontAlgn="auto" latinLnBrk="0" hangingPunct="1">
                <a:lnSpc>
                  <a:spcPct val="100000"/>
                </a:lnSpc>
                <a:spcBef>
                  <a:spcPts val="0"/>
                </a:spcBef>
                <a:spcAft>
                  <a:spcPts val="0"/>
                </a:spcAft>
                <a:buClrTx/>
                <a:buSzTx/>
                <a:buFontTx/>
                <a:buNone/>
                <a:tabLst/>
                <a:defRPr/>
              </a:pPr>
              <a:endParaRPr lang="en-IN" sz="1000">
                <a:solidFill>
                  <a:srgbClr val="000000"/>
                </a:solidFill>
                <a:latin typeface="EYInterstate Light" panose="02000506000000020004" pitchFamily="2" charset="0"/>
                <a:cs typeface="Arial"/>
              </a:endParaRPr>
            </a:p>
            <a:p>
              <a:pPr marL="0" marR="0" lvl="0" indent="0" algn="just" defTabSz="995363" rtl="0" eaLnBrk="1" fontAlgn="auto" latinLnBrk="0" hangingPunct="1">
                <a:lnSpc>
                  <a:spcPct val="100000"/>
                </a:lnSpc>
                <a:spcBef>
                  <a:spcPts val="0"/>
                </a:spcBef>
                <a:spcAft>
                  <a:spcPts val="0"/>
                </a:spcAft>
                <a:buClrTx/>
                <a:buSzTx/>
                <a:buFontTx/>
                <a:buNone/>
                <a:tabLst/>
                <a:defRPr/>
              </a:pPr>
              <a:endParaRPr lang="en-IN" sz="1000">
                <a:solidFill>
                  <a:srgbClr val="000000"/>
                </a:solidFill>
                <a:latin typeface="EYInterstate Light" panose="02000506000000020004" pitchFamily="2" charset="0"/>
                <a:cs typeface="Arial"/>
              </a:endParaRPr>
            </a:p>
            <a:p>
              <a:pPr marL="0" marR="0" lvl="0" indent="0" algn="just" defTabSz="995363" rtl="0" eaLnBrk="1" fontAlgn="auto" latinLnBrk="0" hangingPunct="1">
                <a:lnSpc>
                  <a:spcPct val="100000"/>
                </a:lnSpc>
                <a:spcBef>
                  <a:spcPts val="0"/>
                </a:spcBef>
                <a:spcAft>
                  <a:spcPts val="0"/>
                </a:spcAft>
                <a:buClrTx/>
                <a:buSzTx/>
                <a:buFontTx/>
                <a:buNone/>
                <a:tabLst/>
                <a:defRPr/>
              </a:pPr>
              <a:br>
                <a:rPr kumimoji="0" lang="en-IN" sz="1000" b="0" i="0" u="none" strike="noStrike" kern="1200" cap="none" spc="0" normalizeH="0" baseline="0" noProof="0">
                  <a:ln>
                    <a:noFill/>
                  </a:ln>
                  <a:solidFill>
                    <a:srgbClr val="000000"/>
                  </a:solidFill>
                  <a:effectLst/>
                  <a:uLnTx/>
                  <a:uFillTx/>
                  <a:latin typeface="EYInterstate Light" panose="02000506000000020004" pitchFamily="2" charset="0"/>
                  <a:ea typeface="+mn-ea"/>
                  <a:cs typeface="Arial"/>
                </a:rPr>
              </a:br>
              <a:endParaRPr kumimoji="0" lang="en-IN" sz="1000" b="0" i="0" u="none" strike="noStrike" kern="1200" cap="none" spc="0" normalizeH="0" baseline="0" noProof="0">
                <a:ln>
                  <a:noFill/>
                </a:ln>
                <a:solidFill>
                  <a:srgbClr val="000000"/>
                </a:solidFill>
                <a:effectLst/>
                <a:uLnTx/>
                <a:uFillTx/>
                <a:latin typeface="EYInterstate Light" panose="02000506000000020004" pitchFamily="2" charset="0"/>
                <a:ea typeface="+mn-ea"/>
                <a:cs typeface="Arial"/>
              </a:endParaRPr>
            </a:p>
          </p:txBody>
        </p:sp>
        <p:grpSp>
          <p:nvGrpSpPr>
            <p:cNvPr id="201" name="Group 200">
              <a:extLst>
                <a:ext uri="{FF2B5EF4-FFF2-40B4-BE49-F238E27FC236}">
                  <a16:creationId xmlns:a16="http://schemas.microsoft.com/office/drawing/2014/main" id="{B9A4F33A-7300-13D3-0816-FE9633F29E81}"/>
                </a:ext>
              </a:extLst>
            </p:cNvPr>
            <p:cNvGrpSpPr/>
            <p:nvPr/>
          </p:nvGrpSpPr>
          <p:grpSpPr>
            <a:xfrm>
              <a:off x="5243246" y="2310697"/>
              <a:ext cx="685800" cy="685800"/>
              <a:chOff x="5243246" y="2149874"/>
              <a:chExt cx="685800" cy="685800"/>
            </a:xfrm>
          </p:grpSpPr>
          <p:sp>
            <p:nvSpPr>
              <p:cNvPr id="127" name="Oval 126">
                <a:extLst>
                  <a:ext uri="{FF2B5EF4-FFF2-40B4-BE49-F238E27FC236}">
                    <a16:creationId xmlns:a16="http://schemas.microsoft.com/office/drawing/2014/main" id="{99573B63-9637-FBE7-5468-28EBDDE1EEE7}"/>
                  </a:ext>
                </a:extLst>
              </p:cNvPr>
              <p:cNvSpPr/>
              <p:nvPr/>
            </p:nvSpPr>
            <p:spPr bwMode="auto">
              <a:xfrm>
                <a:off x="5243246" y="2149874"/>
                <a:ext cx="685800" cy="685800"/>
              </a:xfrm>
              <a:prstGeom prst="ellipse">
                <a:avLst/>
              </a:prstGeom>
              <a:solidFill>
                <a:srgbClr val="FFFFFF"/>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a:ln>
                    <a:noFill/>
                  </a:ln>
                  <a:solidFill>
                    <a:srgbClr val="000000"/>
                  </a:solidFill>
                  <a:effectLst/>
                  <a:uLnTx/>
                  <a:uFillTx/>
                  <a:latin typeface="EYInterstate Light" panose="02000506000000020004" pitchFamily="2" charset="0"/>
                  <a:ea typeface="+mn-ea"/>
                  <a:cs typeface="Arial"/>
                </a:endParaRPr>
              </a:p>
            </p:txBody>
          </p:sp>
          <p:grpSp>
            <p:nvGrpSpPr>
              <p:cNvPr id="129" name="Group 128">
                <a:extLst>
                  <a:ext uri="{FF2B5EF4-FFF2-40B4-BE49-F238E27FC236}">
                    <a16:creationId xmlns:a16="http://schemas.microsoft.com/office/drawing/2014/main" id="{1E932978-6C39-722E-E0EB-C84730649FAC}"/>
                  </a:ext>
                </a:extLst>
              </p:cNvPr>
              <p:cNvGrpSpPr/>
              <p:nvPr/>
            </p:nvGrpSpPr>
            <p:grpSpPr>
              <a:xfrm>
                <a:off x="5281964" y="2209252"/>
                <a:ext cx="571522" cy="582285"/>
                <a:chOff x="3148735" y="1214336"/>
                <a:chExt cx="565854" cy="576514"/>
              </a:xfrm>
            </p:grpSpPr>
            <p:sp>
              <p:nvSpPr>
                <p:cNvPr id="131" name="Rectangle: Rounded Corners 130">
                  <a:extLst>
                    <a:ext uri="{FF2B5EF4-FFF2-40B4-BE49-F238E27FC236}">
                      <a16:creationId xmlns:a16="http://schemas.microsoft.com/office/drawing/2014/main" id="{55B71B49-9D0A-CA5E-C859-EDFFC78C1A4D}"/>
                    </a:ext>
                  </a:extLst>
                </p:cNvPr>
                <p:cNvSpPr/>
                <p:nvPr/>
              </p:nvSpPr>
              <p:spPr>
                <a:xfrm>
                  <a:off x="3175814" y="1214336"/>
                  <a:ext cx="532933" cy="532934"/>
                </a:xfrm>
                <a:prstGeom prst="roundRect">
                  <a:avLst>
                    <a:gd name="adj" fmla="val 50000"/>
                  </a:avLst>
                </a:prstGeom>
                <a:solidFill>
                  <a:srgbClr val="FFFFFF"/>
                </a:solidFill>
                <a:ln w="25400" cap="flat" cmpd="sng" algn="ctr">
                  <a:solidFill>
                    <a:schemeClr val="bg1"/>
                  </a:solidFill>
                  <a:prstDash val="solid"/>
                </a:ln>
                <a:effectLst>
                  <a:outerShdw blurRad="127000" dist="76200" dir="2700000" algn="tl" rotWithShape="0">
                    <a:prstClr val="black">
                      <a:alpha val="16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a:endParaRPr>
                </a:p>
              </p:txBody>
            </p:sp>
            <p:grpSp>
              <p:nvGrpSpPr>
                <p:cNvPr id="132" name="Group 131">
                  <a:extLst>
                    <a:ext uri="{FF2B5EF4-FFF2-40B4-BE49-F238E27FC236}">
                      <a16:creationId xmlns:a16="http://schemas.microsoft.com/office/drawing/2014/main" id="{C94621A8-9852-D1E1-4B89-0BFBE752CD28}"/>
                    </a:ext>
                  </a:extLst>
                </p:cNvPr>
                <p:cNvGrpSpPr/>
                <p:nvPr/>
              </p:nvGrpSpPr>
              <p:grpSpPr>
                <a:xfrm>
                  <a:off x="3148735" y="1224988"/>
                  <a:ext cx="565854" cy="565862"/>
                  <a:chOff x="458004" y="2935727"/>
                  <a:chExt cx="677228" cy="677238"/>
                </a:xfrm>
              </p:grpSpPr>
              <p:sp>
                <p:nvSpPr>
                  <p:cNvPr id="133" name="Freeform: Shape 132">
                    <a:extLst>
                      <a:ext uri="{FF2B5EF4-FFF2-40B4-BE49-F238E27FC236}">
                        <a16:creationId xmlns:a16="http://schemas.microsoft.com/office/drawing/2014/main" id="{F075246A-15EA-815D-E82D-A9205F420558}"/>
                      </a:ext>
                    </a:extLst>
                  </p:cNvPr>
                  <p:cNvSpPr/>
                  <p:nvPr/>
                </p:nvSpPr>
                <p:spPr>
                  <a:xfrm rot="21079199">
                    <a:off x="513033" y="2935727"/>
                    <a:ext cx="622173" cy="622173"/>
                  </a:xfrm>
                  <a:custGeom>
                    <a:avLst/>
                    <a:gdLst>
                      <a:gd name="connsiteX0" fmla="*/ 622173 w 622173"/>
                      <a:gd name="connsiteY0" fmla="*/ 311087 h 622173"/>
                      <a:gd name="connsiteX1" fmla="*/ 311087 w 622173"/>
                      <a:gd name="connsiteY1" fmla="*/ 622173 h 622173"/>
                      <a:gd name="connsiteX2" fmla="*/ 0 w 622173"/>
                      <a:gd name="connsiteY2" fmla="*/ 311087 h 622173"/>
                      <a:gd name="connsiteX3" fmla="*/ 311087 w 622173"/>
                      <a:gd name="connsiteY3" fmla="*/ 0 h 622173"/>
                      <a:gd name="connsiteX4" fmla="*/ 622173 w 622173"/>
                      <a:gd name="connsiteY4" fmla="*/ 311087 h 622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173" h="622173">
                        <a:moveTo>
                          <a:pt x="622173" y="311087"/>
                        </a:moveTo>
                        <a:cubicBezTo>
                          <a:pt x="622173" y="482895"/>
                          <a:pt x="482895" y="622173"/>
                          <a:pt x="311087" y="622173"/>
                        </a:cubicBezTo>
                        <a:cubicBezTo>
                          <a:pt x="139278" y="622173"/>
                          <a:pt x="0" y="482895"/>
                          <a:pt x="0" y="311087"/>
                        </a:cubicBezTo>
                        <a:cubicBezTo>
                          <a:pt x="0" y="139278"/>
                          <a:pt x="139278" y="0"/>
                          <a:pt x="311087" y="0"/>
                        </a:cubicBezTo>
                        <a:cubicBezTo>
                          <a:pt x="482895" y="0"/>
                          <a:pt x="622173" y="139278"/>
                          <a:pt x="622173" y="311087"/>
                        </a:cubicBezTo>
                        <a:close/>
                      </a:path>
                    </a:pathLst>
                  </a:custGeom>
                  <a:noFill/>
                  <a:ln w="9525" cap="flat">
                    <a:solidFill>
                      <a:srgbClr val="747480"/>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charset="0"/>
                    </a:endParaRPr>
                  </a:p>
                </p:txBody>
              </p:sp>
              <p:sp>
                <p:nvSpPr>
                  <p:cNvPr id="134" name="Freeform: Shape 133">
                    <a:extLst>
                      <a:ext uri="{FF2B5EF4-FFF2-40B4-BE49-F238E27FC236}">
                        <a16:creationId xmlns:a16="http://schemas.microsoft.com/office/drawing/2014/main" id="{D2501142-1A10-6D59-BE35-EE424E195557}"/>
                      </a:ext>
                    </a:extLst>
                  </p:cNvPr>
                  <p:cNvSpPr/>
                  <p:nvPr/>
                </p:nvSpPr>
                <p:spPr>
                  <a:xfrm>
                    <a:off x="714704" y="2935740"/>
                    <a:ext cx="420528" cy="509206"/>
                  </a:xfrm>
                  <a:custGeom>
                    <a:avLst/>
                    <a:gdLst>
                      <a:gd name="connsiteX0" fmla="*/ 349282 w 420528"/>
                      <a:gd name="connsiteY0" fmla="*/ 509207 h 509206"/>
                      <a:gd name="connsiteX1" fmla="*/ 420529 w 420528"/>
                      <a:gd name="connsiteY1" fmla="*/ 311087 h 509206"/>
                      <a:gd name="connsiteX2" fmla="*/ 109442 w 420528"/>
                      <a:gd name="connsiteY2" fmla="*/ 0 h 509206"/>
                      <a:gd name="connsiteX3" fmla="*/ 0 w 420528"/>
                      <a:gd name="connsiteY3" fmla="*/ 19812 h 509206"/>
                    </a:gdLst>
                    <a:ahLst/>
                    <a:cxnLst>
                      <a:cxn ang="0">
                        <a:pos x="connsiteX0" y="connsiteY0"/>
                      </a:cxn>
                      <a:cxn ang="0">
                        <a:pos x="connsiteX1" y="connsiteY1"/>
                      </a:cxn>
                      <a:cxn ang="0">
                        <a:pos x="connsiteX2" y="connsiteY2"/>
                      </a:cxn>
                      <a:cxn ang="0">
                        <a:pos x="connsiteX3" y="connsiteY3"/>
                      </a:cxn>
                    </a:cxnLst>
                    <a:rect l="l" t="t" r="r" b="b"/>
                    <a:pathLst>
                      <a:path w="420528" h="509206">
                        <a:moveTo>
                          <a:pt x="349282" y="509207"/>
                        </a:moveTo>
                        <a:cubicBezTo>
                          <a:pt x="393764" y="455390"/>
                          <a:pt x="420529" y="386334"/>
                          <a:pt x="420529" y="311087"/>
                        </a:cubicBezTo>
                        <a:cubicBezTo>
                          <a:pt x="420529" y="139256"/>
                          <a:pt x="281273" y="0"/>
                          <a:pt x="109442" y="0"/>
                        </a:cubicBezTo>
                        <a:cubicBezTo>
                          <a:pt x="70961" y="0"/>
                          <a:pt x="34004" y="6953"/>
                          <a:pt x="0" y="19812"/>
                        </a:cubicBezTo>
                      </a:path>
                    </a:pathLst>
                  </a:custGeom>
                  <a:noFill/>
                  <a:ln w="47625" cap="flat">
                    <a:solidFill>
                      <a:srgbClr val="1A9AFA"/>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charset="0"/>
                    </a:endParaRPr>
                  </a:p>
                </p:txBody>
              </p:sp>
              <p:sp>
                <p:nvSpPr>
                  <p:cNvPr id="135" name="Freeform: Shape 134">
                    <a:extLst>
                      <a:ext uri="{FF2B5EF4-FFF2-40B4-BE49-F238E27FC236}">
                        <a16:creationId xmlns:a16="http://schemas.microsoft.com/office/drawing/2014/main" id="{679A75C1-1A33-3FCF-9557-B6F9EE2E5257}"/>
                      </a:ext>
                    </a:extLst>
                  </p:cNvPr>
                  <p:cNvSpPr/>
                  <p:nvPr/>
                </p:nvSpPr>
                <p:spPr>
                  <a:xfrm>
                    <a:off x="458004" y="3127856"/>
                    <a:ext cx="428339" cy="485109"/>
                  </a:xfrm>
                  <a:custGeom>
                    <a:avLst/>
                    <a:gdLst>
                      <a:gd name="connsiteX0" fmla="*/ 19717 w 428339"/>
                      <a:gd name="connsiteY0" fmla="*/ 0 h 485108"/>
                      <a:gd name="connsiteX1" fmla="*/ 0 w 428339"/>
                      <a:gd name="connsiteY1" fmla="*/ 118967 h 485108"/>
                      <a:gd name="connsiteX2" fmla="*/ 366141 w 428339"/>
                      <a:gd name="connsiteY2" fmla="*/ 485108 h 485108"/>
                      <a:gd name="connsiteX3" fmla="*/ 428339 w 428339"/>
                      <a:gd name="connsiteY3" fmla="*/ 479870 h 485108"/>
                    </a:gdLst>
                    <a:ahLst/>
                    <a:cxnLst>
                      <a:cxn ang="0">
                        <a:pos x="connsiteX0" y="connsiteY0"/>
                      </a:cxn>
                      <a:cxn ang="0">
                        <a:pos x="connsiteX1" y="connsiteY1"/>
                      </a:cxn>
                      <a:cxn ang="0">
                        <a:pos x="connsiteX2" y="connsiteY2"/>
                      </a:cxn>
                      <a:cxn ang="0">
                        <a:pos x="connsiteX3" y="connsiteY3"/>
                      </a:cxn>
                    </a:cxnLst>
                    <a:rect l="l" t="t" r="r" b="b"/>
                    <a:pathLst>
                      <a:path w="428339" h="485108">
                        <a:moveTo>
                          <a:pt x="19717" y="0"/>
                        </a:moveTo>
                        <a:cubicBezTo>
                          <a:pt x="6953" y="37338"/>
                          <a:pt x="0" y="77343"/>
                          <a:pt x="0" y="118967"/>
                        </a:cubicBezTo>
                        <a:cubicBezTo>
                          <a:pt x="0" y="321183"/>
                          <a:pt x="163925" y="485108"/>
                          <a:pt x="366141" y="485108"/>
                        </a:cubicBezTo>
                        <a:cubicBezTo>
                          <a:pt x="387382" y="485108"/>
                          <a:pt x="408146" y="483299"/>
                          <a:pt x="428339" y="479870"/>
                        </a:cubicBezTo>
                      </a:path>
                    </a:pathLst>
                  </a:custGeom>
                  <a:noFill/>
                  <a:ln w="28575" cap="flat">
                    <a:solidFill>
                      <a:srgbClr val="C4C4CD"/>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EYInterstate Light" panose="02000506000000020004" pitchFamily="2" charset="0"/>
                      <a:ea typeface="+mn-ea"/>
                      <a:cs typeface="Arial" charset="0"/>
                    </a:endParaRPr>
                  </a:p>
                </p:txBody>
              </p:sp>
            </p:grpSp>
          </p:grpSp>
        </p:grpSp>
      </p:grpSp>
    </p:spTree>
    <p:extLst>
      <p:ext uri="{BB962C8B-B14F-4D97-AF65-F5344CB8AC3E}">
        <p14:creationId xmlns:p14="http://schemas.microsoft.com/office/powerpoint/2010/main" val="2899729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CB44F-93B1-41D7-135B-D7B4BB99184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9CEBEC6-4E9D-B704-87AF-FD840D747F93}"/>
              </a:ext>
            </a:extLst>
          </p:cNvPr>
          <p:cNvGraphicFramePr>
            <a:graphicFrameLocks noChangeAspect="1"/>
          </p:cNvGraphicFramePr>
          <p:nvPr>
            <p:custDataLst>
              <p:tags r:id="rId1"/>
            </p:custDataLst>
            <p:extLst>
              <p:ext uri="{D42A27DB-BD31-4B8C-83A1-F6EECF244321}">
                <p14:modId xmlns:p14="http://schemas.microsoft.com/office/powerpoint/2010/main" val="2146046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6" imgH="486" progId="TCLayout.ActiveDocument.1">
                  <p:embed/>
                </p:oleObj>
              </mc:Choice>
              <mc:Fallback>
                <p:oleObj name="think-cell Slide" r:id="rId4" imgW="486" imgH="486" progId="TCLayout.ActiveDocument.1">
                  <p:embed/>
                  <p:pic>
                    <p:nvPicPr>
                      <p:cNvPr id="6" name="think-cell data - do not delete" hidden="1">
                        <a:extLst>
                          <a:ext uri="{FF2B5EF4-FFF2-40B4-BE49-F238E27FC236}">
                            <a16:creationId xmlns:a16="http://schemas.microsoft.com/office/drawing/2014/main" id="{B9CEBEC6-4E9D-B704-87AF-FD840D747F9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E52C3-232C-2044-F0BD-C2AA2A13347E}"/>
              </a:ext>
            </a:extLst>
          </p:cNvPr>
          <p:cNvSpPr>
            <a:spLocks noGrp="1"/>
          </p:cNvSpPr>
          <p:nvPr>
            <p:ph type="title"/>
          </p:nvPr>
        </p:nvSpPr>
        <p:spPr>
          <a:xfrm>
            <a:off x="701675" y="273050"/>
            <a:ext cx="10788650" cy="792163"/>
          </a:xfrm>
        </p:spPr>
        <p:txBody>
          <a:bodyPr vert="horz"/>
          <a:lstStyle/>
          <a:p>
            <a:r>
              <a:rPr lang="en-US" sz="2200" dirty="0">
                <a:latin typeface="+mn-lt"/>
              </a:rPr>
              <a:t>A. We worked with [CLIENT] before</a:t>
            </a:r>
            <a:br>
              <a:rPr lang="en-US" sz="2200" dirty="0">
                <a:latin typeface="+mn-lt"/>
              </a:rPr>
            </a:br>
            <a:r>
              <a:rPr lang="en-US" sz="1600" dirty="0"/>
              <a:t>Examples of projects delivered to [CLIENT]</a:t>
            </a:r>
          </a:p>
        </p:txBody>
      </p:sp>
      <p:sp>
        <p:nvSpPr>
          <p:cNvPr id="9" name="Text Placeholder 3">
            <a:extLst>
              <a:ext uri="{FF2B5EF4-FFF2-40B4-BE49-F238E27FC236}">
                <a16:creationId xmlns:a16="http://schemas.microsoft.com/office/drawing/2014/main" id="{7D3F2E51-AA8C-B027-6B43-9717E1F84A9C}"/>
              </a:ext>
            </a:extLst>
          </p:cNvPr>
          <p:cNvSpPr txBox="1">
            <a:spLocks/>
          </p:cNvSpPr>
          <p:nvPr/>
        </p:nvSpPr>
        <p:spPr>
          <a:xfrm>
            <a:off x="719734" y="1149938"/>
            <a:ext cx="10973015" cy="272273"/>
          </a:xfrm>
          <a:prstGeom prst="roundRect">
            <a:avLst/>
          </a:prstGeom>
          <a:solidFill>
            <a:srgbClr val="D2D2DA"/>
          </a:solidFill>
        </p:spPr>
        <p:txBody>
          <a:bodyPr vert="horz" lIns="91440" tIns="45720" rIns="91440" bIns="45720" rtlCol="0" anchor="t" anchorCtr="0">
            <a:spAutoFit/>
          </a:bodyPr>
          <a:lstStyle>
            <a:lvl1pPr marL="0" indent="0" algn="l" defTabSz="913943" rtl="0" eaLnBrk="1" latinLnBrk="0" hangingPunct="1">
              <a:spcBef>
                <a:spcPct val="20000"/>
              </a:spcBef>
              <a:buClr>
                <a:schemeClr val="accent1"/>
              </a:buClr>
              <a:buSzPct val="75000"/>
              <a:buFont typeface="Wingdings 3" panose="05040102010807070707" pitchFamily="18" charset="2"/>
              <a:buNone/>
              <a:defRPr sz="999" kern="1200">
                <a:solidFill>
                  <a:schemeClr val="bg1"/>
                </a:solidFill>
                <a:latin typeface="Arial" panose="020B0604020202020204" pitchFamily="34" charset="0"/>
                <a:ea typeface="+mn-ea"/>
                <a:cs typeface="Arial" panose="020B0604020202020204" pitchFamily="34" charset="0"/>
                <a:sym typeface="Arial" panose="020B0604020202020204" pitchFamily="34" charset="0"/>
              </a:defRPr>
            </a:lvl1pPr>
            <a:lvl2pPr marL="342729"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2pPr>
            <a:lvl3pPr marL="514093"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3pPr>
            <a:lvl4pPr marL="685457"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4pPr>
            <a:lvl5pPr marL="856821"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pPr marL="0" marR="0" lvl="0" indent="0" algn="l" defTabSz="913943" rtl="0" eaLnBrk="1" fontAlgn="auto" latinLnBrk="0" hangingPunct="1">
              <a:lnSpc>
                <a:spcPct val="100000"/>
              </a:lnSpc>
              <a:spcBef>
                <a:spcPct val="20000"/>
              </a:spcBef>
              <a:spcAft>
                <a:spcPts val="0"/>
              </a:spcAft>
              <a:buClr>
                <a:srgbClr val="1A9AFA"/>
              </a:buClr>
              <a:buSzPct val="75000"/>
              <a:buFont typeface="Wingdings 3" panose="05040102010807070707" pitchFamily="18" charset="2"/>
              <a:buNone/>
              <a:tabLst/>
              <a:defRPr/>
            </a:pPr>
            <a:r>
              <a:rPr kumimoji="0" lang="en-US" sz="999" b="0" i="0" u="none" strike="noStrike" kern="1200" cap="none" spc="0" normalizeH="0" baseline="0" noProof="0" dirty="0">
                <a:ln>
                  <a:noFill/>
                </a:ln>
                <a:solidFill>
                  <a:srgbClr val="2E2E38"/>
                </a:solidFill>
                <a:effectLst/>
                <a:uLnTx/>
                <a:uFillTx/>
                <a:latin typeface="Arial" panose="020B0604020202020204" pitchFamily="34" charset="0"/>
                <a:ea typeface="+mn-ea"/>
                <a:cs typeface="Arial" panose="020B0604020202020204" pitchFamily="34" charset="0"/>
                <a:sym typeface="Arial" panose="020B0604020202020204" pitchFamily="34" charset="0"/>
              </a:rPr>
              <a:t> is on the strategic consultancy service agreement of [CLIENT] and has delivered successfully multiple projects</a:t>
            </a:r>
          </a:p>
        </p:txBody>
      </p:sp>
      <p:sp>
        <p:nvSpPr>
          <p:cNvPr id="10" name="Freeform: Shape 9">
            <a:extLst>
              <a:ext uri="{FF2B5EF4-FFF2-40B4-BE49-F238E27FC236}">
                <a16:creationId xmlns:a16="http://schemas.microsoft.com/office/drawing/2014/main" id="{40E52498-72C7-CDED-5B85-55869B44FFA3}"/>
              </a:ext>
            </a:extLst>
          </p:cNvPr>
          <p:cNvSpPr/>
          <p:nvPr/>
        </p:nvSpPr>
        <p:spPr>
          <a:xfrm flipV="1">
            <a:off x="746079" y="1729228"/>
            <a:ext cx="519187" cy="455775"/>
          </a:xfrm>
          <a:custGeom>
            <a:avLst/>
            <a:gdLst>
              <a:gd name="connsiteX0" fmla="*/ 2745806 w 2742100"/>
              <a:gd name="connsiteY0" fmla="*/ 4519279 h 4496057"/>
              <a:gd name="connsiteX1" fmla="*/ 343874 w 2742100"/>
              <a:gd name="connsiteY1" fmla="*/ 4519279 h 4496057"/>
              <a:gd name="connsiteX2" fmla="*/ 0 w 2742100"/>
              <a:gd name="connsiteY2" fmla="*/ 4175404 h 4496057"/>
              <a:gd name="connsiteX3" fmla="*/ 0 w 2742100"/>
              <a:gd name="connsiteY3" fmla="*/ 0 h 4496057"/>
            </a:gdLst>
            <a:ahLst/>
            <a:cxnLst>
              <a:cxn ang="0">
                <a:pos x="connsiteX0" y="connsiteY0"/>
              </a:cxn>
              <a:cxn ang="0">
                <a:pos x="connsiteX1" y="connsiteY1"/>
              </a:cxn>
              <a:cxn ang="0">
                <a:pos x="connsiteX2" y="connsiteY2"/>
              </a:cxn>
              <a:cxn ang="0">
                <a:pos x="connsiteX3" y="connsiteY3"/>
              </a:cxn>
            </a:cxnLst>
            <a:rect l="l" t="t" r="r" b="b"/>
            <a:pathLst>
              <a:path w="2742100" h="4496057">
                <a:moveTo>
                  <a:pt x="2745806" y="4519279"/>
                </a:moveTo>
                <a:lnTo>
                  <a:pt x="343874" y="4519279"/>
                </a:lnTo>
                <a:cubicBezTo>
                  <a:pt x="153904" y="4519279"/>
                  <a:pt x="0" y="4365375"/>
                  <a:pt x="0" y="4175404"/>
                </a:cubicBezTo>
                <a:lnTo>
                  <a:pt x="0" y="0"/>
                </a:lnTo>
              </a:path>
            </a:pathLst>
          </a:custGeom>
          <a:noFill/>
          <a:ln w="38100" cap="rnd">
            <a:solidFill>
              <a:srgbClr val="747480"/>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Arial" panose="020B0604020202020204" pitchFamily="34" charset="0"/>
            </a:endParaRPr>
          </a:p>
        </p:txBody>
      </p:sp>
      <p:sp>
        <p:nvSpPr>
          <p:cNvPr id="11" name="Rectangle: Rounded Corners 10">
            <a:extLst>
              <a:ext uri="{FF2B5EF4-FFF2-40B4-BE49-F238E27FC236}">
                <a16:creationId xmlns:a16="http://schemas.microsoft.com/office/drawing/2014/main" id="{EAC9465C-5EE3-570C-4507-113CAA24004D}"/>
              </a:ext>
            </a:extLst>
          </p:cNvPr>
          <p:cNvSpPr>
            <a:spLocks/>
          </p:cNvSpPr>
          <p:nvPr/>
        </p:nvSpPr>
        <p:spPr>
          <a:xfrm>
            <a:off x="961502" y="1513995"/>
            <a:ext cx="2303038" cy="714933"/>
          </a:xfrm>
          <a:prstGeom prst="roundRect">
            <a:avLst>
              <a:gd name="adj" fmla="val 25696"/>
            </a:avLst>
          </a:prstGeom>
          <a:solidFill>
            <a:srgbClr val="35A4E8"/>
          </a:solidFill>
          <a:ln w="0" cap="flat" cmpd="sng" algn="ctr">
            <a:noFill/>
            <a:prstDash val="solid"/>
          </a:ln>
          <a:effectLst>
            <a:outerShdw blurRad="50800" dist="38100" dir="2700000" algn="tl" rotWithShape="0">
              <a:prstClr val="black">
                <a:alpha val="40000"/>
              </a:prstClr>
            </a:outerShdw>
          </a:effectLst>
        </p:spPr>
        <p:txBody>
          <a:bodyPr lIns="72000" tIns="72000" rIns="72000" bIns="72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IN" sz="1050" b="1" kern="0" dirty="0">
                <a:solidFill>
                  <a:srgbClr val="FFFFFF"/>
                </a:solidFill>
                <a:latin typeface="+mj-lt"/>
              </a:rPr>
              <a:t>[COMPANY]</a:t>
            </a:r>
            <a:endParaRPr kumimoji="0" lang="en-IN" sz="1050" b="1" i="0" u="none" strike="noStrike" kern="0" cap="none" spc="0" normalizeH="0" baseline="0" noProof="0" dirty="0">
              <a:ln>
                <a:noFill/>
              </a:ln>
              <a:solidFill>
                <a:srgbClr val="FFFFFF"/>
              </a:solidFill>
              <a:effectLst/>
              <a:uLnTx/>
              <a:uFillTx/>
              <a:latin typeface="+mj-lt"/>
              <a:ea typeface="+mn-ea"/>
              <a:cs typeface="+mn-cs"/>
            </a:endParaRPr>
          </a:p>
        </p:txBody>
      </p:sp>
      <p:sp>
        <p:nvSpPr>
          <p:cNvPr id="12" name="Rectangle 11">
            <a:extLst>
              <a:ext uri="{FF2B5EF4-FFF2-40B4-BE49-F238E27FC236}">
                <a16:creationId xmlns:a16="http://schemas.microsoft.com/office/drawing/2014/main" id="{8153A9F9-F77E-A1CB-9340-8889D5FE1109}"/>
              </a:ext>
            </a:extLst>
          </p:cNvPr>
          <p:cNvSpPr/>
          <p:nvPr/>
        </p:nvSpPr>
        <p:spPr>
          <a:xfrm>
            <a:off x="961503" y="3428999"/>
            <a:ext cx="2303036" cy="2657138"/>
          </a:xfrm>
          <a:prstGeom prst="rect">
            <a:avLst/>
          </a:prstGeom>
        </p:spPr>
        <p:txBody>
          <a:bodyPr wrap="square" lIns="72000" tIns="0" rIns="0" bIns="0" anchor="t">
            <a:spAutoFit/>
          </a:bodyPr>
          <a:lstStyle/>
          <a:p>
            <a:pPr marL="143510" indent="-143510" defTabSz="913943">
              <a:spcAft>
                <a:spcPts val="200"/>
              </a:spcAft>
              <a:buClr>
                <a:srgbClr val="2E2E38"/>
              </a:buClr>
              <a:buSzPct val="100000"/>
              <a:buFont typeface="EYInterstate" panose="02000503020000020004" pitchFamily="2" charset="0"/>
              <a:buChar char="•"/>
            </a:pPr>
            <a:r>
              <a:rPr lang="en-IN" sz="900" kern="0" dirty="0">
                <a:solidFill>
                  <a:srgbClr val="2E2E38"/>
                </a:solidFill>
              </a:rPr>
              <a:t>We worked closely with [CLIENT] to develop a strategic plan for[COMPANY]in line with Vision 2030. We supported in multiple areas including review of strategic positioning proposal, market assessments, competitive landscape assessments, facilities and space planning, formulation of governance structure, organization structure and operating model, potential demand assessment and financial feasibility. </a:t>
            </a:r>
            <a:endParaRPr lang="en-US" sz="900" dirty="0">
              <a:solidFill>
                <a:srgbClr val="FFFFFF"/>
              </a:solidFill>
            </a:endParaRPr>
          </a:p>
          <a:p>
            <a:pPr marL="143510" indent="-143510" defTabSz="913943">
              <a:spcAft>
                <a:spcPts val="200"/>
              </a:spcAft>
              <a:buClr>
                <a:srgbClr val="2E2E38"/>
              </a:buClr>
              <a:buSzPct val="100000"/>
              <a:buFont typeface="EYInterstate" panose="02000503020000020004" pitchFamily="2" charset="0"/>
              <a:buChar char="•"/>
            </a:pPr>
            <a:r>
              <a:rPr lang="en-IN" sz="900" kern="0" dirty="0">
                <a:solidFill>
                  <a:srgbClr val="2E2E38"/>
                </a:solidFill>
              </a:rPr>
              <a:t> provided a 20-year financial plan outlining capital requirements, revenues and costs details. The plan includes detailed financial indicators which summarize the expected performance and provide scenario analysis.</a:t>
            </a:r>
          </a:p>
        </p:txBody>
      </p:sp>
      <p:cxnSp>
        <p:nvCxnSpPr>
          <p:cNvPr id="14" name="Straight Connector 13">
            <a:extLst>
              <a:ext uri="{FF2B5EF4-FFF2-40B4-BE49-F238E27FC236}">
                <a16:creationId xmlns:a16="http://schemas.microsoft.com/office/drawing/2014/main" id="{48EC15D9-3AA0-8766-6E5D-5EF101ACBAD4}"/>
              </a:ext>
            </a:extLst>
          </p:cNvPr>
          <p:cNvCxnSpPr>
            <a:cxnSpLocks/>
          </p:cNvCxnSpPr>
          <p:nvPr/>
        </p:nvCxnSpPr>
        <p:spPr>
          <a:xfrm flipV="1">
            <a:off x="747234" y="2134204"/>
            <a:ext cx="0" cy="4032000"/>
          </a:xfrm>
          <a:prstGeom prst="line">
            <a:avLst/>
          </a:prstGeom>
          <a:noFill/>
          <a:ln w="3175" cap="flat" cmpd="sng" algn="ctr">
            <a:solidFill>
              <a:srgbClr val="747480"/>
            </a:solidFill>
            <a:prstDash val="solid"/>
            <a:round/>
            <a:headEnd type="oval" w="med" len="med"/>
            <a:tailEnd type="none" w="med" len="med"/>
          </a:ln>
          <a:effectLst/>
        </p:spPr>
      </p:cxnSp>
      <p:sp>
        <p:nvSpPr>
          <p:cNvPr id="15" name="Freeform: Shape 14">
            <a:extLst>
              <a:ext uri="{FF2B5EF4-FFF2-40B4-BE49-F238E27FC236}">
                <a16:creationId xmlns:a16="http://schemas.microsoft.com/office/drawing/2014/main" id="{F7D17472-FE35-33B7-881D-C9CC6AC5BEC2}"/>
              </a:ext>
            </a:extLst>
          </p:cNvPr>
          <p:cNvSpPr/>
          <p:nvPr/>
        </p:nvSpPr>
        <p:spPr>
          <a:xfrm flipV="1">
            <a:off x="3537733" y="1729228"/>
            <a:ext cx="519187" cy="455775"/>
          </a:xfrm>
          <a:custGeom>
            <a:avLst/>
            <a:gdLst>
              <a:gd name="connsiteX0" fmla="*/ 2745806 w 2742100"/>
              <a:gd name="connsiteY0" fmla="*/ 4519279 h 4496057"/>
              <a:gd name="connsiteX1" fmla="*/ 343874 w 2742100"/>
              <a:gd name="connsiteY1" fmla="*/ 4519279 h 4496057"/>
              <a:gd name="connsiteX2" fmla="*/ 0 w 2742100"/>
              <a:gd name="connsiteY2" fmla="*/ 4175404 h 4496057"/>
              <a:gd name="connsiteX3" fmla="*/ 0 w 2742100"/>
              <a:gd name="connsiteY3" fmla="*/ 0 h 4496057"/>
            </a:gdLst>
            <a:ahLst/>
            <a:cxnLst>
              <a:cxn ang="0">
                <a:pos x="connsiteX0" y="connsiteY0"/>
              </a:cxn>
              <a:cxn ang="0">
                <a:pos x="connsiteX1" y="connsiteY1"/>
              </a:cxn>
              <a:cxn ang="0">
                <a:pos x="connsiteX2" y="connsiteY2"/>
              </a:cxn>
              <a:cxn ang="0">
                <a:pos x="connsiteX3" y="connsiteY3"/>
              </a:cxn>
            </a:cxnLst>
            <a:rect l="l" t="t" r="r" b="b"/>
            <a:pathLst>
              <a:path w="2742100" h="4496057">
                <a:moveTo>
                  <a:pt x="2745806" y="4519279"/>
                </a:moveTo>
                <a:lnTo>
                  <a:pt x="343874" y="4519279"/>
                </a:lnTo>
                <a:cubicBezTo>
                  <a:pt x="153904" y="4519279"/>
                  <a:pt x="0" y="4365375"/>
                  <a:pt x="0" y="4175404"/>
                </a:cubicBezTo>
                <a:lnTo>
                  <a:pt x="0" y="0"/>
                </a:lnTo>
              </a:path>
            </a:pathLst>
          </a:custGeom>
          <a:noFill/>
          <a:ln w="38100" cap="rnd">
            <a:solidFill>
              <a:srgbClr val="747480"/>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Arial" panose="020B0604020202020204" pitchFamily="34" charset="0"/>
            </a:endParaRPr>
          </a:p>
        </p:txBody>
      </p:sp>
      <p:sp>
        <p:nvSpPr>
          <p:cNvPr id="16" name="Rectangle: Rounded Corners 15">
            <a:extLst>
              <a:ext uri="{FF2B5EF4-FFF2-40B4-BE49-F238E27FC236}">
                <a16:creationId xmlns:a16="http://schemas.microsoft.com/office/drawing/2014/main" id="{DD0DEB3B-806E-1EE4-3A03-A7B96C5D3366}"/>
              </a:ext>
            </a:extLst>
          </p:cNvPr>
          <p:cNvSpPr>
            <a:spLocks/>
          </p:cNvSpPr>
          <p:nvPr/>
        </p:nvSpPr>
        <p:spPr>
          <a:xfrm>
            <a:off x="3753156" y="1513995"/>
            <a:ext cx="2303038" cy="714933"/>
          </a:xfrm>
          <a:prstGeom prst="roundRect">
            <a:avLst>
              <a:gd name="adj" fmla="val 25696"/>
            </a:avLst>
          </a:prstGeom>
          <a:solidFill>
            <a:srgbClr val="35A4E8"/>
          </a:solidFill>
          <a:ln w="0" cap="flat" cmpd="sng" algn="ctr">
            <a:noFill/>
            <a:prstDash val="solid"/>
          </a:ln>
          <a:effectLst>
            <a:outerShdw blurRad="50800" dist="38100" dir="2700000" algn="tl" rotWithShape="0">
              <a:prstClr val="black">
                <a:alpha val="40000"/>
              </a:prstClr>
            </a:outerShdw>
          </a:effectLst>
        </p:spPr>
        <p:txBody>
          <a:bodyPr lIns="72000" tIns="72000" rIns="72000" bIns="72000" rtlCol="0" anchor="ctr" anchorCtr="0"/>
          <a:lstStyle/>
          <a:p>
            <a:pPr marR="0" lvl="0" indent="0" defTabSz="914400" fontAlgn="auto">
              <a:lnSpc>
                <a:spcPct val="100000"/>
              </a:lnSpc>
              <a:spcBef>
                <a:spcPts val="0"/>
              </a:spcBef>
              <a:spcAft>
                <a:spcPts val="0"/>
              </a:spcAft>
              <a:buClrTx/>
              <a:buSzTx/>
              <a:buFontTx/>
              <a:buNone/>
              <a:tabLst/>
              <a:defRPr/>
            </a:pPr>
            <a:r>
              <a:rPr lang="en-IN" sz="1050" b="1" kern="0" dirty="0">
                <a:solidFill>
                  <a:srgbClr val="FFFFFF"/>
                </a:solidFill>
                <a:latin typeface="+mj-lt"/>
              </a:rPr>
              <a:t>[CLIENT] Strategic Services Transformation Program</a:t>
            </a:r>
          </a:p>
        </p:txBody>
      </p:sp>
      <p:sp>
        <p:nvSpPr>
          <p:cNvPr id="17" name="Rectangle 16">
            <a:extLst>
              <a:ext uri="{FF2B5EF4-FFF2-40B4-BE49-F238E27FC236}">
                <a16:creationId xmlns:a16="http://schemas.microsoft.com/office/drawing/2014/main" id="{134A2947-4A39-5368-1BDA-667A148D3EE1}"/>
              </a:ext>
            </a:extLst>
          </p:cNvPr>
          <p:cNvSpPr/>
          <p:nvPr/>
        </p:nvSpPr>
        <p:spPr>
          <a:xfrm>
            <a:off x="3753157" y="3429000"/>
            <a:ext cx="2303036" cy="2380139"/>
          </a:xfrm>
          <a:prstGeom prst="rect">
            <a:avLst/>
          </a:prstGeom>
        </p:spPr>
        <p:txBody>
          <a:bodyPr wrap="square" lIns="72000" tIns="0" rIns="0" bIns="0" anchor="t">
            <a:spAutoFit/>
          </a:bodyPr>
          <a:lstStyle/>
          <a:p>
            <a:pPr marL="143510" indent="-143510" defTabSz="913943">
              <a:spcAft>
                <a:spcPts val="200"/>
              </a:spcAft>
              <a:buClr>
                <a:srgbClr val="2E2E38"/>
              </a:buClr>
              <a:buSzPct val="100000"/>
              <a:buFont typeface="EYInterstate" panose="02000503020000020004" pitchFamily="2" charset="0"/>
              <a:buChar char="•"/>
            </a:pPr>
            <a:r>
              <a:rPr lang="en-US" sz="900" kern="0" dirty="0">
                <a:solidFill>
                  <a:srgbClr val="2E2E38"/>
                </a:solidFill>
              </a:rPr>
              <a:t>We worked with [CLIENT] to assist in designing and digitizing LAMA services. We have identified leading practices and trends specific to improving municipal services experiences and highlighted service design, digitization, platform trends and practices from leading countries for [CLIENT]’s LAMA services. This has allowed us to develop a purpose-led approach to ensure delivery of long-term value.</a:t>
            </a:r>
          </a:p>
          <a:p>
            <a:pPr marL="143510" indent="-143510" defTabSz="913943">
              <a:spcAft>
                <a:spcPts val="200"/>
              </a:spcAft>
              <a:buClr>
                <a:srgbClr val="2E2E38"/>
              </a:buClr>
              <a:buSzPct val="100000"/>
              <a:buFont typeface="EYInterstate" panose="02000503020000020004" pitchFamily="2" charset="0"/>
              <a:buChar char="•"/>
            </a:pPr>
            <a:r>
              <a:rPr lang="en-US" sz="900" kern="0" dirty="0">
                <a:solidFill>
                  <a:srgbClr val="2E2E38"/>
                </a:solidFill>
              </a:rPr>
              <a:t>We  deployed our integrated, design thinking led, agile approach. Our approach to designing and digitizing LAMA services is future-focused, impact driven, customer centric and result-oriented.</a:t>
            </a:r>
          </a:p>
        </p:txBody>
      </p:sp>
      <p:cxnSp>
        <p:nvCxnSpPr>
          <p:cNvPr id="18" name="Straight Connector 17">
            <a:extLst>
              <a:ext uri="{FF2B5EF4-FFF2-40B4-BE49-F238E27FC236}">
                <a16:creationId xmlns:a16="http://schemas.microsoft.com/office/drawing/2014/main" id="{3E90D110-3DF0-37EB-DBD8-45592BE8483B}"/>
              </a:ext>
            </a:extLst>
          </p:cNvPr>
          <p:cNvCxnSpPr>
            <a:cxnSpLocks/>
          </p:cNvCxnSpPr>
          <p:nvPr/>
        </p:nvCxnSpPr>
        <p:spPr>
          <a:xfrm flipV="1">
            <a:off x="3538888" y="2134204"/>
            <a:ext cx="0" cy="4032000"/>
          </a:xfrm>
          <a:prstGeom prst="line">
            <a:avLst/>
          </a:prstGeom>
          <a:noFill/>
          <a:ln w="3175" cap="flat" cmpd="sng" algn="ctr">
            <a:solidFill>
              <a:srgbClr val="747480"/>
            </a:solidFill>
            <a:prstDash val="solid"/>
            <a:round/>
            <a:headEnd type="oval" w="med" len="med"/>
            <a:tailEnd type="none" w="med" len="med"/>
          </a:ln>
          <a:effectLst/>
        </p:spPr>
      </p:cxnSp>
      <p:sp>
        <p:nvSpPr>
          <p:cNvPr id="19" name="Freeform: Shape 18">
            <a:extLst>
              <a:ext uri="{FF2B5EF4-FFF2-40B4-BE49-F238E27FC236}">
                <a16:creationId xmlns:a16="http://schemas.microsoft.com/office/drawing/2014/main" id="{3ADED379-3CE9-2ECD-8026-E75627558082}"/>
              </a:ext>
            </a:extLst>
          </p:cNvPr>
          <p:cNvSpPr/>
          <p:nvPr/>
        </p:nvSpPr>
        <p:spPr>
          <a:xfrm flipV="1">
            <a:off x="6329387" y="1729228"/>
            <a:ext cx="519187" cy="455775"/>
          </a:xfrm>
          <a:custGeom>
            <a:avLst/>
            <a:gdLst>
              <a:gd name="connsiteX0" fmla="*/ 2745806 w 2742100"/>
              <a:gd name="connsiteY0" fmla="*/ 4519279 h 4496057"/>
              <a:gd name="connsiteX1" fmla="*/ 343874 w 2742100"/>
              <a:gd name="connsiteY1" fmla="*/ 4519279 h 4496057"/>
              <a:gd name="connsiteX2" fmla="*/ 0 w 2742100"/>
              <a:gd name="connsiteY2" fmla="*/ 4175404 h 4496057"/>
              <a:gd name="connsiteX3" fmla="*/ 0 w 2742100"/>
              <a:gd name="connsiteY3" fmla="*/ 0 h 4496057"/>
            </a:gdLst>
            <a:ahLst/>
            <a:cxnLst>
              <a:cxn ang="0">
                <a:pos x="connsiteX0" y="connsiteY0"/>
              </a:cxn>
              <a:cxn ang="0">
                <a:pos x="connsiteX1" y="connsiteY1"/>
              </a:cxn>
              <a:cxn ang="0">
                <a:pos x="connsiteX2" y="connsiteY2"/>
              </a:cxn>
              <a:cxn ang="0">
                <a:pos x="connsiteX3" y="connsiteY3"/>
              </a:cxn>
            </a:cxnLst>
            <a:rect l="l" t="t" r="r" b="b"/>
            <a:pathLst>
              <a:path w="2742100" h="4496057">
                <a:moveTo>
                  <a:pt x="2745806" y="4519279"/>
                </a:moveTo>
                <a:lnTo>
                  <a:pt x="343874" y="4519279"/>
                </a:lnTo>
                <a:cubicBezTo>
                  <a:pt x="153904" y="4519279"/>
                  <a:pt x="0" y="4365375"/>
                  <a:pt x="0" y="4175404"/>
                </a:cubicBezTo>
                <a:lnTo>
                  <a:pt x="0" y="0"/>
                </a:lnTo>
              </a:path>
            </a:pathLst>
          </a:custGeom>
          <a:noFill/>
          <a:ln w="38100" cap="rnd">
            <a:solidFill>
              <a:srgbClr val="747480"/>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Arial" panose="020B0604020202020204" pitchFamily="34" charset="0"/>
            </a:endParaRPr>
          </a:p>
        </p:txBody>
      </p:sp>
      <p:sp>
        <p:nvSpPr>
          <p:cNvPr id="20" name="Rectangle: Rounded Corners 19">
            <a:extLst>
              <a:ext uri="{FF2B5EF4-FFF2-40B4-BE49-F238E27FC236}">
                <a16:creationId xmlns:a16="http://schemas.microsoft.com/office/drawing/2014/main" id="{218B1C73-9C77-4D9E-D37B-6E90D862D674}"/>
              </a:ext>
            </a:extLst>
          </p:cNvPr>
          <p:cNvSpPr>
            <a:spLocks/>
          </p:cNvSpPr>
          <p:nvPr/>
        </p:nvSpPr>
        <p:spPr>
          <a:xfrm>
            <a:off x="6544810" y="1513995"/>
            <a:ext cx="2303038" cy="714933"/>
          </a:xfrm>
          <a:prstGeom prst="roundRect">
            <a:avLst>
              <a:gd name="adj" fmla="val 25696"/>
            </a:avLst>
          </a:prstGeom>
          <a:solidFill>
            <a:srgbClr val="1A9AFA"/>
          </a:solidFill>
          <a:ln w="0" cap="flat" cmpd="sng" algn="ctr">
            <a:noFill/>
            <a:prstDash val="solid"/>
          </a:ln>
          <a:effectLst>
            <a:outerShdw blurRad="50800" dist="38100" dir="2700000" algn="tl" rotWithShape="0">
              <a:prstClr val="black">
                <a:alpha val="40000"/>
              </a:prstClr>
            </a:outerShdw>
          </a:effectLst>
        </p:spPr>
        <p:txBody>
          <a:bodyPr lIns="72000" tIns="72000" rIns="72000" bIns="72000" rtlCol="0" anchor="ctr" anchorCtr="0"/>
          <a:lstStyle/>
          <a:p>
            <a:pPr defTabSz="914400"/>
            <a:r>
              <a:rPr lang="en-US" sz="1050" b="1" kern="0" dirty="0">
                <a:solidFill>
                  <a:srgbClr val="FFFFFF"/>
                </a:solidFill>
                <a:latin typeface="+mj-lt"/>
              </a:rPr>
              <a:t>[CLIENT] Financial statements carve-out and alignment of finance policies with PIF</a:t>
            </a:r>
          </a:p>
        </p:txBody>
      </p:sp>
      <p:sp>
        <p:nvSpPr>
          <p:cNvPr id="21" name="Rectangle 20">
            <a:extLst>
              <a:ext uri="{FF2B5EF4-FFF2-40B4-BE49-F238E27FC236}">
                <a16:creationId xmlns:a16="http://schemas.microsoft.com/office/drawing/2014/main" id="{988D32D8-5A1A-C0AD-A18E-87AC24DBF331}"/>
              </a:ext>
            </a:extLst>
          </p:cNvPr>
          <p:cNvSpPr/>
          <p:nvPr/>
        </p:nvSpPr>
        <p:spPr>
          <a:xfrm>
            <a:off x="6544811" y="3428999"/>
            <a:ext cx="2303036" cy="2785378"/>
          </a:xfrm>
          <a:prstGeom prst="rect">
            <a:avLst/>
          </a:prstGeom>
        </p:spPr>
        <p:txBody>
          <a:bodyPr wrap="square" lIns="72000" tIns="0" rIns="0" bIns="0" anchor="t">
            <a:spAutoFit/>
          </a:bodyPr>
          <a:lstStyle/>
          <a:p>
            <a:pPr marL="143510" indent="-143510" defTabSz="913943">
              <a:spcAft>
                <a:spcPts val="200"/>
              </a:spcAft>
              <a:buClr>
                <a:srgbClr val="2E2E38"/>
              </a:buClr>
              <a:buSzPct val="100000"/>
              <a:buFont typeface="EYInterstate" panose="02000503020000020004" pitchFamily="2" charset="0"/>
              <a:buChar char="•"/>
            </a:pPr>
            <a:r>
              <a:rPr lang="en-US" sz="900" kern="0" dirty="0">
                <a:solidFill>
                  <a:srgbClr val="2E2E38"/>
                </a:solidFill>
              </a:rPr>
              <a:t>Conversion of IPSAS based financial statements of [CLIENT] to IFRS based financials.</a:t>
            </a:r>
          </a:p>
          <a:p>
            <a:pPr marL="143510" indent="-143510" defTabSz="913943">
              <a:spcAft>
                <a:spcPts val="200"/>
              </a:spcAft>
              <a:buClr>
                <a:srgbClr val="2E2E38"/>
              </a:buClr>
              <a:buSzPct val="100000"/>
              <a:buFont typeface="EYInterstate" panose="02000503020000020004" pitchFamily="2" charset="0"/>
              <a:buChar char="•"/>
            </a:pPr>
            <a:r>
              <a:rPr lang="en-US" sz="900" kern="0" dirty="0">
                <a:solidFill>
                  <a:srgbClr val="2E2E38"/>
                </a:solidFill>
              </a:rPr>
              <a:t>Understand the areas to be carve out from management.</a:t>
            </a:r>
          </a:p>
          <a:p>
            <a:pPr marL="143510" indent="-143510" defTabSz="913943">
              <a:spcAft>
                <a:spcPts val="200"/>
              </a:spcAft>
              <a:buClr>
                <a:srgbClr val="2E2E38"/>
              </a:buClr>
              <a:buSzPct val="100000"/>
              <a:buFont typeface="EYInterstate" panose="02000503020000020004" pitchFamily="2" charset="0"/>
              <a:buChar char="•"/>
            </a:pPr>
            <a:r>
              <a:rPr lang="en-US" sz="900" kern="0" dirty="0">
                <a:solidFill>
                  <a:srgbClr val="2E2E38"/>
                </a:solidFill>
              </a:rPr>
              <a:t>Highlight carveout related areas in financial statement.</a:t>
            </a:r>
          </a:p>
          <a:p>
            <a:pPr marL="143510" indent="-143510" defTabSz="913943">
              <a:spcAft>
                <a:spcPts val="200"/>
              </a:spcAft>
              <a:buClr>
                <a:srgbClr val="2E2E38"/>
              </a:buClr>
              <a:buSzPct val="100000"/>
              <a:buFont typeface="EYInterstate" panose="02000503020000020004" pitchFamily="2" charset="0"/>
              <a:buChar char="•"/>
            </a:pPr>
            <a:r>
              <a:rPr lang="en-US" sz="900" kern="0" dirty="0">
                <a:solidFill>
                  <a:srgbClr val="2E2E38"/>
                </a:solidFill>
              </a:rPr>
              <a:t>Draft carve out financial statements and impact of [CLIENT] financial on carve out.</a:t>
            </a:r>
          </a:p>
          <a:p>
            <a:pPr marL="143510" indent="-143510" defTabSz="913943">
              <a:spcAft>
                <a:spcPts val="200"/>
              </a:spcAft>
              <a:buClr>
                <a:srgbClr val="2E2E38"/>
              </a:buClr>
              <a:buSzPct val="100000"/>
              <a:buFont typeface="EYInterstate" panose="02000503020000020004" pitchFamily="2" charset="0"/>
              <a:buChar char="•"/>
            </a:pPr>
            <a:r>
              <a:rPr lang="en-US" sz="900" kern="0" dirty="0">
                <a:solidFill>
                  <a:srgbClr val="2E2E38"/>
                </a:solidFill>
              </a:rPr>
              <a:t>Prepare detailed and stepwise plan (Blueprint) to transfer account balances from DGDA to [CLIENT]. (As part of overall business transfer plan).</a:t>
            </a:r>
          </a:p>
          <a:p>
            <a:pPr marL="143510" indent="-143510" defTabSz="913943">
              <a:spcAft>
                <a:spcPts val="200"/>
              </a:spcAft>
              <a:buClr>
                <a:srgbClr val="2E2E38"/>
              </a:buClr>
              <a:buSzPct val="100000"/>
              <a:buFont typeface="EYInterstate" panose="02000503020000020004" pitchFamily="2" charset="0"/>
              <a:buChar char="•"/>
            </a:pPr>
            <a:r>
              <a:rPr lang="en-US" sz="900" kern="0" dirty="0">
                <a:solidFill>
                  <a:srgbClr val="2E2E38"/>
                </a:solidFill>
              </a:rPr>
              <a:t>Review accounting policies of [CLIENT] and compare with PIF accounting policies and highlight gaps.</a:t>
            </a:r>
          </a:p>
          <a:p>
            <a:pPr marL="143510" indent="-143510" defTabSz="913943">
              <a:spcAft>
                <a:spcPts val="200"/>
              </a:spcAft>
              <a:buClr>
                <a:srgbClr val="2E2E38"/>
              </a:buClr>
              <a:buSzPct val="100000"/>
              <a:buFont typeface="EYInterstate" panose="02000503020000020004" pitchFamily="2" charset="0"/>
              <a:buChar char="•"/>
            </a:pPr>
            <a:r>
              <a:rPr lang="en-US" sz="900" kern="0" dirty="0">
                <a:solidFill>
                  <a:srgbClr val="2E2E38"/>
                </a:solidFill>
              </a:rPr>
              <a:t>Prepare next steps for carving out the business.</a:t>
            </a:r>
          </a:p>
        </p:txBody>
      </p:sp>
      <p:cxnSp>
        <p:nvCxnSpPr>
          <p:cNvPr id="23" name="Straight Connector 22">
            <a:extLst>
              <a:ext uri="{FF2B5EF4-FFF2-40B4-BE49-F238E27FC236}">
                <a16:creationId xmlns:a16="http://schemas.microsoft.com/office/drawing/2014/main" id="{A2ED8AD2-2B4E-CBA1-695D-E39E8F3DE7A8}"/>
              </a:ext>
            </a:extLst>
          </p:cNvPr>
          <p:cNvCxnSpPr>
            <a:cxnSpLocks/>
          </p:cNvCxnSpPr>
          <p:nvPr/>
        </p:nvCxnSpPr>
        <p:spPr>
          <a:xfrm flipV="1">
            <a:off x="6330542" y="2134204"/>
            <a:ext cx="0" cy="4032000"/>
          </a:xfrm>
          <a:prstGeom prst="line">
            <a:avLst/>
          </a:prstGeom>
          <a:noFill/>
          <a:ln w="3175" cap="flat" cmpd="sng" algn="ctr">
            <a:solidFill>
              <a:srgbClr val="747480"/>
            </a:solidFill>
            <a:prstDash val="solid"/>
            <a:round/>
            <a:headEnd type="oval" w="med" len="med"/>
            <a:tailEnd type="none" w="med" len="med"/>
          </a:ln>
          <a:effectLst/>
        </p:spPr>
      </p:cxnSp>
      <p:sp>
        <p:nvSpPr>
          <p:cNvPr id="26" name="Freeform: Shape 25">
            <a:extLst>
              <a:ext uri="{FF2B5EF4-FFF2-40B4-BE49-F238E27FC236}">
                <a16:creationId xmlns:a16="http://schemas.microsoft.com/office/drawing/2014/main" id="{946AF5EC-8A45-5493-BBF0-27E75DD23DB6}"/>
              </a:ext>
            </a:extLst>
          </p:cNvPr>
          <p:cNvSpPr/>
          <p:nvPr/>
        </p:nvSpPr>
        <p:spPr>
          <a:xfrm flipV="1">
            <a:off x="9121042" y="1729228"/>
            <a:ext cx="519187" cy="455775"/>
          </a:xfrm>
          <a:custGeom>
            <a:avLst/>
            <a:gdLst>
              <a:gd name="connsiteX0" fmla="*/ 2745806 w 2742100"/>
              <a:gd name="connsiteY0" fmla="*/ 4519279 h 4496057"/>
              <a:gd name="connsiteX1" fmla="*/ 343874 w 2742100"/>
              <a:gd name="connsiteY1" fmla="*/ 4519279 h 4496057"/>
              <a:gd name="connsiteX2" fmla="*/ 0 w 2742100"/>
              <a:gd name="connsiteY2" fmla="*/ 4175404 h 4496057"/>
              <a:gd name="connsiteX3" fmla="*/ 0 w 2742100"/>
              <a:gd name="connsiteY3" fmla="*/ 0 h 4496057"/>
            </a:gdLst>
            <a:ahLst/>
            <a:cxnLst>
              <a:cxn ang="0">
                <a:pos x="connsiteX0" y="connsiteY0"/>
              </a:cxn>
              <a:cxn ang="0">
                <a:pos x="connsiteX1" y="connsiteY1"/>
              </a:cxn>
              <a:cxn ang="0">
                <a:pos x="connsiteX2" y="connsiteY2"/>
              </a:cxn>
              <a:cxn ang="0">
                <a:pos x="connsiteX3" y="connsiteY3"/>
              </a:cxn>
            </a:cxnLst>
            <a:rect l="l" t="t" r="r" b="b"/>
            <a:pathLst>
              <a:path w="2742100" h="4496057">
                <a:moveTo>
                  <a:pt x="2745806" y="4519279"/>
                </a:moveTo>
                <a:lnTo>
                  <a:pt x="343874" y="4519279"/>
                </a:lnTo>
                <a:cubicBezTo>
                  <a:pt x="153904" y="4519279"/>
                  <a:pt x="0" y="4365375"/>
                  <a:pt x="0" y="4175404"/>
                </a:cubicBezTo>
                <a:lnTo>
                  <a:pt x="0" y="0"/>
                </a:lnTo>
              </a:path>
            </a:pathLst>
          </a:custGeom>
          <a:noFill/>
          <a:ln w="38100" cap="rnd">
            <a:solidFill>
              <a:srgbClr val="747480"/>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Arial" panose="020B0604020202020204" pitchFamily="34" charset="0"/>
            </a:endParaRPr>
          </a:p>
        </p:txBody>
      </p:sp>
      <p:sp>
        <p:nvSpPr>
          <p:cNvPr id="27" name="Rectangle: Rounded Corners 26">
            <a:extLst>
              <a:ext uri="{FF2B5EF4-FFF2-40B4-BE49-F238E27FC236}">
                <a16:creationId xmlns:a16="http://schemas.microsoft.com/office/drawing/2014/main" id="{44F5EBB2-E199-18F2-CC7C-75015348771C}"/>
              </a:ext>
            </a:extLst>
          </p:cNvPr>
          <p:cNvSpPr>
            <a:spLocks/>
          </p:cNvSpPr>
          <p:nvPr/>
        </p:nvSpPr>
        <p:spPr>
          <a:xfrm>
            <a:off x="9336465" y="1513995"/>
            <a:ext cx="2303038" cy="714933"/>
          </a:xfrm>
          <a:prstGeom prst="roundRect">
            <a:avLst>
              <a:gd name="adj" fmla="val 25696"/>
            </a:avLst>
          </a:prstGeom>
          <a:solidFill>
            <a:srgbClr val="35A4E8"/>
          </a:solidFill>
          <a:ln w="0" cap="flat" cmpd="sng" algn="ctr">
            <a:noFill/>
            <a:prstDash val="solid"/>
          </a:ln>
          <a:effectLst>
            <a:outerShdw blurRad="50800" dist="38100" dir="2700000" algn="tl" rotWithShape="0">
              <a:prstClr val="black">
                <a:alpha val="40000"/>
              </a:prstClr>
            </a:outerShdw>
          </a:effectLst>
        </p:spPr>
        <p:txBody>
          <a:bodyPr lIns="72000" tIns="72000" rIns="72000" bIns="72000" rtlCol="0" anchor="ctr" anchorCtr="0"/>
          <a:lstStyle/>
          <a:p>
            <a:pPr defTabSz="914400"/>
            <a:r>
              <a:rPr lang="en-US" sz="1050" b="1" kern="0" dirty="0">
                <a:solidFill>
                  <a:srgbClr val="FFFFFF"/>
                </a:solidFill>
                <a:latin typeface="+mj-lt"/>
              </a:rPr>
              <a:t>Separation and transition from DGDA to [CLIENT]</a:t>
            </a:r>
          </a:p>
        </p:txBody>
      </p:sp>
      <p:sp>
        <p:nvSpPr>
          <p:cNvPr id="28" name="Rectangle 27">
            <a:extLst>
              <a:ext uri="{FF2B5EF4-FFF2-40B4-BE49-F238E27FC236}">
                <a16:creationId xmlns:a16="http://schemas.microsoft.com/office/drawing/2014/main" id="{D20B31B1-D411-4A06-362B-107F87308FEA}"/>
              </a:ext>
            </a:extLst>
          </p:cNvPr>
          <p:cNvSpPr/>
          <p:nvPr/>
        </p:nvSpPr>
        <p:spPr>
          <a:xfrm>
            <a:off x="9336466" y="3429000"/>
            <a:ext cx="2303036" cy="1851789"/>
          </a:xfrm>
          <a:prstGeom prst="rect">
            <a:avLst/>
          </a:prstGeom>
        </p:spPr>
        <p:txBody>
          <a:bodyPr wrap="square" lIns="72000" tIns="0" rIns="0" bIns="0" anchor="t">
            <a:spAutoFit/>
          </a:bodyPr>
          <a:lstStyle/>
          <a:p>
            <a:pPr marL="143510" indent="-143510" defTabSz="913943">
              <a:spcAft>
                <a:spcPts val="200"/>
              </a:spcAft>
              <a:buClr>
                <a:srgbClr val="2E2E38"/>
              </a:buClr>
              <a:buSzPct val="100000"/>
              <a:buFont typeface="EYInterstate" panose="02000503020000020004" pitchFamily="2" charset="0"/>
              <a:buChar char="•"/>
            </a:pPr>
            <a:r>
              <a:rPr lang="en-US" sz="900" kern="0">
                <a:solidFill>
                  <a:srgbClr val="2E2E38"/>
                </a:solidFill>
              </a:rPr>
              <a:t>Establish a clear understanding of the existing strategy and identification of associated risks with the support of various workstreams as well as Client stakeholders.</a:t>
            </a:r>
          </a:p>
          <a:p>
            <a:pPr marL="143510" indent="-143510" defTabSz="913943">
              <a:spcAft>
                <a:spcPts val="200"/>
              </a:spcAft>
              <a:buClr>
                <a:srgbClr val="2E2E38"/>
              </a:buClr>
              <a:buSzPct val="100000"/>
              <a:buFont typeface="EYInterstate" panose="02000503020000020004" pitchFamily="2" charset="0"/>
              <a:buChar char="•"/>
            </a:pPr>
            <a:r>
              <a:rPr lang="en-US" sz="900" kern="0">
                <a:solidFill>
                  <a:srgbClr val="2E2E38"/>
                </a:solidFill>
              </a:rPr>
              <a:t>Ensure close management of all separation and transfer activities to ensure a successful completion of the transaction.</a:t>
            </a:r>
          </a:p>
          <a:p>
            <a:pPr marL="143510" indent="-143510" defTabSz="913943">
              <a:spcAft>
                <a:spcPts val="200"/>
              </a:spcAft>
              <a:buClr>
                <a:srgbClr val="2E2E38"/>
              </a:buClr>
              <a:buSzPct val="100000"/>
              <a:buFont typeface="EYInterstate" panose="02000503020000020004" pitchFamily="2" charset="0"/>
              <a:buChar char="•"/>
            </a:pPr>
            <a:r>
              <a:rPr lang="en-US" sz="900" kern="0">
                <a:solidFill>
                  <a:srgbClr val="2E2E38"/>
                </a:solidFill>
              </a:rPr>
              <a:t>Provided multidisciplinary experts and teams in: Separation Planning Project Management, Finance, Accounting, Legal Advisory, Tax Advisory.</a:t>
            </a:r>
          </a:p>
        </p:txBody>
      </p:sp>
      <p:cxnSp>
        <p:nvCxnSpPr>
          <p:cNvPr id="29" name="Straight Connector 28">
            <a:extLst>
              <a:ext uri="{FF2B5EF4-FFF2-40B4-BE49-F238E27FC236}">
                <a16:creationId xmlns:a16="http://schemas.microsoft.com/office/drawing/2014/main" id="{95CEDACB-92CC-6972-1D64-993A7DFB27A3}"/>
              </a:ext>
            </a:extLst>
          </p:cNvPr>
          <p:cNvCxnSpPr>
            <a:cxnSpLocks/>
          </p:cNvCxnSpPr>
          <p:nvPr/>
        </p:nvCxnSpPr>
        <p:spPr>
          <a:xfrm flipV="1">
            <a:off x="9122197" y="2134204"/>
            <a:ext cx="0" cy="4032000"/>
          </a:xfrm>
          <a:prstGeom prst="line">
            <a:avLst/>
          </a:prstGeom>
          <a:noFill/>
          <a:ln w="3175" cap="flat" cmpd="sng" algn="ctr">
            <a:solidFill>
              <a:srgbClr val="747480"/>
            </a:solidFill>
            <a:prstDash val="solid"/>
            <a:round/>
            <a:headEnd type="oval" w="med" len="med"/>
            <a:tailEnd type="none" w="med" len="med"/>
          </a:ln>
          <a:effectLst/>
        </p:spPr>
      </p:cxnSp>
    </p:spTree>
    <p:extLst>
      <p:ext uri="{BB962C8B-B14F-4D97-AF65-F5344CB8AC3E}">
        <p14:creationId xmlns:p14="http://schemas.microsoft.com/office/powerpoint/2010/main" val="2799000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9142E-284E-5765-2221-883B9EF1CA25}"/>
            </a:ext>
          </a:extLst>
        </p:cNvPr>
        <p:cNvGrpSpPr/>
        <p:nvPr/>
      </p:nvGrpSpPr>
      <p:grpSpPr>
        <a:xfrm>
          <a:off x="0" y="0"/>
          <a:ext cx="0" cy="0"/>
          <a:chOff x="0" y="0"/>
          <a:chExt cx="0" cy="0"/>
        </a:xfrm>
      </p:grpSpPr>
      <p:sp>
        <p:nvSpPr>
          <p:cNvPr id="632" name="Rectangle: Rounded Corners 631">
            <a:extLst>
              <a:ext uri="{FF2B5EF4-FFF2-40B4-BE49-F238E27FC236}">
                <a16:creationId xmlns:a16="http://schemas.microsoft.com/office/drawing/2014/main" id="{96254AB1-A415-A194-702B-0A74F9B872D0}"/>
              </a:ext>
            </a:extLst>
          </p:cNvPr>
          <p:cNvSpPr/>
          <p:nvPr/>
        </p:nvSpPr>
        <p:spPr>
          <a:xfrm>
            <a:off x="701364" y="5434710"/>
            <a:ext cx="10777045" cy="789167"/>
          </a:xfrm>
          <a:prstGeom prst="roundRect">
            <a:avLst>
              <a:gd name="adj" fmla="val 18330"/>
            </a:avLst>
          </a:prstGeom>
          <a:noFill/>
          <a:ln w="6350" cap="flat" cmpd="sng" algn="ctr">
            <a:gradFill>
              <a:gsLst>
                <a:gs pos="0">
                  <a:srgbClr val="42C9C2"/>
                </a:gs>
                <a:gs pos="100000">
                  <a:srgbClr val="42C9C2">
                    <a:alpha val="35000"/>
                  </a:srgbClr>
                </a:gs>
              </a:gsLst>
              <a:lin ang="5400000" scaled="1"/>
            </a:gradFill>
            <a:prstDash val="solid"/>
          </a:ln>
          <a:effectLst/>
        </p:spPr>
        <p:txBody>
          <a:bodyPr tIns="182880" rtlCol="0" anchor="t" anchorCtr="0"/>
          <a:lstStyle/>
          <a:p>
            <a:pPr marL="0" marR="0" lvl="0" indent="0" algn="ctr" defTabSz="913029" rtl="0" eaLnBrk="1" fontAlgn="base" latinLnBrk="0" hangingPunct="1">
              <a:spcBef>
                <a:spcPct val="0"/>
              </a:spcBef>
              <a:spcAft>
                <a:spcPct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EYInterstate Light"/>
              <a:ea typeface="+mn-ea"/>
              <a:cs typeface="Arial"/>
            </a:endParaRPr>
          </a:p>
        </p:txBody>
      </p:sp>
      <p:graphicFrame>
        <p:nvGraphicFramePr>
          <p:cNvPr id="8" name="think-cell data - do not delete" hidden="1">
            <a:extLst>
              <a:ext uri="{FF2B5EF4-FFF2-40B4-BE49-F238E27FC236}">
                <a16:creationId xmlns:a16="http://schemas.microsoft.com/office/drawing/2014/main" id="{960AE7C0-F8F2-2CFB-CE30-47843DFE3EC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6" imgH="486" progId="TCLayout.ActiveDocument.1">
                  <p:embed/>
                </p:oleObj>
              </mc:Choice>
              <mc:Fallback>
                <p:oleObj name="think-cell Slide" r:id="rId3" imgW="486" imgH="486" progId="TCLayout.ActiveDocument.1">
                  <p:embed/>
                  <p:pic>
                    <p:nvPicPr>
                      <p:cNvPr id="8" name="think-cell data - do not delete" hidden="1">
                        <a:extLst>
                          <a:ext uri="{FF2B5EF4-FFF2-40B4-BE49-F238E27FC236}">
                            <a16:creationId xmlns:a16="http://schemas.microsoft.com/office/drawing/2014/main" id="{960AE7C0-F8F2-2CFB-CE30-47843DFE3E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3FF79FEE-CD93-02F4-21F6-D1A3E04B28B8}"/>
              </a:ext>
            </a:extLst>
          </p:cNvPr>
          <p:cNvSpPr>
            <a:spLocks noGrp="1"/>
          </p:cNvSpPr>
          <p:nvPr>
            <p:ph type="title"/>
          </p:nvPr>
        </p:nvSpPr>
        <p:spPr>
          <a:xfrm>
            <a:off x="701366" y="273717"/>
            <a:ext cx="10789269" cy="792000"/>
          </a:xfrm>
        </p:spPr>
        <p:txBody>
          <a:bodyPr/>
          <a:lstStyle/>
          <a:p>
            <a:r>
              <a:rPr lang="en-IN" dirty="0"/>
              <a:t>B. We understand the Healthcare PPP sector in MENA</a:t>
            </a:r>
            <a:br>
              <a:rPr lang="en-IN" dirty="0"/>
            </a:br>
            <a:r>
              <a:rPr lang="en-IN" sz="1600" dirty="0"/>
              <a:t>Proven track record in the region</a:t>
            </a:r>
          </a:p>
        </p:txBody>
      </p:sp>
      <p:sp>
        <p:nvSpPr>
          <p:cNvPr id="3" name="TextBox 2">
            <a:extLst>
              <a:ext uri="{FF2B5EF4-FFF2-40B4-BE49-F238E27FC236}">
                <a16:creationId xmlns:a16="http://schemas.microsoft.com/office/drawing/2014/main" id="{285AC296-40DC-2664-59B9-D61599A4AEDE}"/>
              </a:ext>
            </a:extLst>
          </p:cNvPr>
          <p:cNvSpPr txBox="1">
            <a:spLocks/>
          </p:cNvSpPr>
          <p:nvPr/>
        </p:nvSpPr>
        <p:spPr>
          <a:xfrm>
            <a:off x="685800" y="1295400"/>
            <a:ext cx="10788650" cy="411454"/>
          </a:xfrm>
          <a:prstGeom prst="roundRect">
            <a:avLst/>
          </a:prstGeom>
          <a:solidFill>
            <a:srgbClr val="D2D2DA"/>
          </a:solidFill>
          <a:ln w="63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sz="1200" b="1" i="0" u="none" strike="noStrike" cap="none" spc="0" normalizeH="0" baseline="0">
                <a:ln>
                  <a:noFill/>
                </a:ln>
                <a:solidFill>
                  <a:srgbClr val="000000"/>
                </a:solidFill>
                <a:effectLst/>
                <a:uLnTx/>
                <a:uFillTx/>
                <a:latin typeface="EYInterstate Light" panose="02000506000000020004" pitchFamily="2" charset="0"/>
                <a:cs typeface="Arial"/>
              </a:defRPr>
            </a:lvl1pPr>
          </a:lstStyle>
          <a:p>
            <a:pPr marL="0" marR="0" lvl="0" indent="0" defTabSz="914400" eaLnBrk="1" fontAlgn="auto" latinLnBrk="0" hangingPunct="1">
              <a:lnSpc>
                <a:spcPct val="100000"/>
              </a:lnSpc>
              <a:spcBef>
                <a:spcPts val="0"/>
              </a:spcBef>
              <a:spcAft>
                <a:spcPts val="0"/>
              </a:spcAft>
              <a:buClrTx/>
              <a:buSzTx/>
              <a:buFontTx/>
              <a:buNone/>
              <a:tabLst/>
              <a:defRPr/>
            </a:pPr>
            <a:r>
              <a:rPr lang="en-US" sz="1000" b="0" kern="0" spc="-10"/>
              <a:t>Our Consortium has</a:t>
            </a:r>
            <a:r>
              <a:rPr kumimoji="0" lang="en-US" sz="1000" b="0" i="0" u="none" strike="noStrike" kern="0" cap="none" spc="-10" normalizeH="0" noProof="0">
                <a:ln>
                  <a:noFill/>
                </a:ln>
                <a:solidFill>
                  <a:srgbClr val="000000"/>
                </a:solidFill>
                <a:effectLst/>
                <a:uLnTx/>
                <a:uFillTx/>
                <a:latin typeface="EYInterstate Light" panose="02000506000000020004" pitchFamily="2" charset="0"/>
                <a:cs typeface="Arial"/>
              </a:rPr>
              <a:t> a profound understanding of the healthcare Public-Private Partnership (PPP) landscape in the MENA region, demonstrated through our extensive experience across significant projects, among many others.</a:t>
            </a:r>
          </a:p>
        </p:txBody>
      </p:sp>
      <p:grpSp>
        <p:nvGrpSpPr>
          <p:cNvPr id="11" name="Group 10">
            <a:extLst>
              <a:ext uri="{FF2B5EF4-FFF2-40B4-BE49-F238E27FC236}">
                <a16:creationId xmlns:a16="http://schemas.microsoft.com/office/drawing/2014/main" id="{BBA332B1-2111-B5FB-FEEC-79B1960FC58D}"/>
              </a:ext>
            </a:extLst>
          </p:cNvPr>
          <p:cNvGrpSpPr/>
          <p:nvPr/>
        </p:nvGrpSpPr>
        <p:grpSpPr>
          <a:xfrm>
            <a:off x="6350991" y="1949473"/>
            <a:ext cx="5163655" cy="2592751"/>
            <a:chOff x="2719136" y="2751659"/>
            <a:chExt cx="4507803" cy="2436298"/>
          </a:xfrm>
        </p:grpSpPr>
        <p:grpSp>
          <p:nvGrpSpPr>
            <p:cNvPr id="12" name="Group 11">
              <a:extLst>
                <a:ext uri="{FF2B5EF4-FFF2-40B4-BE49-F238E27FC236}">
                  <a16:creationId xmlns:a16="http://schemas.microsoft.com/office/drawing/2014/main" id="{6E57B44A-2683-1334-AF70-8B5422B02F2D}"/>
                </a:ext>
              </a:extLst>
            </p:cNvPr>
            <p:cNvGrpSpPr/>
            <p:nvPr/>
          </p:nvGrpSpPr>
          <p:grpSpPr>
            <a:xfrm>
              <a:off x="4680775" y="3629725"/>
              <a:ext cx="1092632" cy="436749"/>
              <a:chOff x="4680775" y="3629725"/>
              <a:chExt cx="1092632" cy="436749"/>
            </a:xfrm>
          </p:grpSpPr>
          <p:sp>
            <p:nvSpPr>
              <p:cNvPr id="577" name="Freeform 19">
                <a:extLst>
                  <a:ext uri="{FF2B5EF4-FFF2-40B4-BE49-F238E27FC236}">
                    <a16:creationId xmlns:a16="http://schemas.microsoft.com/office/drawing/2014/main" id="{C6F97091-3182-D2AA-1515-617BFCE00524}"/>
                  </a:ext>
                </a:extLst>
              </p:cNvPr>
              <p:cNvSpPr>
                <a:spLocks/>
              </p:cNvSpPr>
              <p:nvPr/>
            </p:nvSpPr>
            <p:spPr bwMode="auto">
              <a:xfrm>
                <a:off x="5376976" y="3969807"/>
                <a:ext cx="134292" cy="96667"/>
              </a:xfrm>
              <a:custGeom>
                <a:avLst/>
                <a:gdLst/>
                <a:ahLst/>
                <a:cxnLst>
                  <a:cxn ang="0">
                    <a:pos x="0" y="34"/>
                  </a:cxn>
                  <a:cxn ang="0">
                    <a:pos x="2" y="30"/>
                  </a:cxn>
                  <a:cxn ang="0">
                    <a:pos x="4" y="26"/>
                  </a:cxn>
                  <a:cxn ang="0">
                    <a:pos x="6" y="22"/>
                  </a:cxn>
                  <a:cxn ang="0">
                    <a:pos x="10" y="20"/>
                  </a:cxn>
                  <a:cxn ang="0">
                    <a:pos x="14" y="20"/>
                  </a:cxn>
                  <a:cxn ang="0">
                    <a:pos x="14" y="24"/>
                  </a:cxn>
                  <a:cxn ang="0">
                    <a:pos x="22" y="24"/>
                  </a:cxn>
                  <a:cxn ang="0">
                    <a:pos x="46" y="30"/>
                  </a:cxn>
                  <a:cxn ang="0">
                    <a:pos x="56" y="36"/>
                  </a:cxn>
                  <a:cxn ang="0">
                    <a:pos x="118" y="0"/>
                  </a:cxn>
                  <a:cxn ang="0">
                    <a:pos x="132" y="32"/>
                  </a:cxn>
                  <a:cxn ang="0">
                    <a:pos x="136" y="36"/>
                  </a:cxn>
                  <a:cxn ang="0">
                    <a:pos x="132" y="38"/>
                  </a:cxn>
                  <a:cxn ang="0">
                    <a:pos x="126" y="42"/>
                  </a:cxn>
                  <a:cxn ang="0">
                    <a:pos x="126" y="50"/>
                  </a:cxn>
                  <a:cxn ang="0">
                    <a:pos x="116" y="60"/>
                  </a:cxn>
                  <a:cxn ang="0">
                    <a:pos x="98" y="68"/>
                  </a:cxn>
                  <a:cxn ang="0">
                    <a:pos x="86" y="72"/>
                  </a:cxn>
                  <a:cxn ang="0">
                    <a:pos x="76" y="82"/>
                  </a:cxn>
                  <a:cxn ang="0">
                    <a:pos x="70" y="82"/>
                  </a:cxn>
                  <a:cxn ang="0">
                    <a:pos x="66" y="82"/>
                  </a:cxn>
                  <a:cxn ang="0">
                    <a:pos x="60" y="90"/>
                  </a:cxn>
                  <a:cxn ang="0">
                    <a:pos x="46" y="92"/>
                  </a:cxn>
                  <a:cxn ang="0">
                    <a:pos x="36" y="92"/>
                  </a:cxn>
                  <a:cxn ang="0">
                    <a:pos x="32" y="98"/>
                  </a:cxn>
                  <a:cxn ang="0">
                    <a:pos x="24" y="100"/>
                  </a:cxn>
                  <a:cxn ang="0">
                    <a:pos x="16" y="100"/>
                  </a:cxn>
                  <a:cxn ang="0">
                    <a:pos x="6" y="94"/>
                  </a:cxn>
                  <a:cxn ang="0">
                    <a:pos x="6" y="88"/>
                  </a:cxn>
                  <a:cxn ang="0">
                    <a:pos x="2" y="80"/>
                  </a:cxn>
                  <a:cxn ang="0">
                    <a:pos x="2" y="72"/>
                  </a:cxn>
                  <a:cxn ang="0">
                    <a:pos x="0" y="62"/>
                  </a:cxn>
                  <a:cxn ang="0">
                    <a:pos x="0" y="58"/>
                  </a:cxn>
                  <a:cxn ang="0">
                    <a:pos x="0" y="52"/>
                  </a:cxn>
                  <a:cxn ang="0">
                    <a:pos x="0" y="38"/>
                  </a:cxn>
                  <a:cxn ang="0">
                    <a:pos x="0" y="34"/>
                  </a:cxn>
                </a:cxnLst>
                <a:rect l="0" t="0" r="r" b="b"/>
                <a:pathLst>
                  <a:path w="140" h="102">
                    <a:moveTo>
                      <a:pt x="0" y="34"/>
                    </a:moveTo>
                    <a:lnTo>
                      <a:pt x="0" y="34"/>
                    </a:lnTo>
                    <a:lnTo>
                      <a:pt x="0" y="34"/>
                    </a:lnTo>
                    <a:lnTo>
                      <a:pt x="2" y="30"/>
                    </a:lnTo>
                    <a:lnTo>
                      <a:pt x="4" y="28"/>
                    </a:lnTo>
                    <a:lnTo>
                      <a:pt x="4" y="26"/>
                    </a:lnTo>
                    <a:lnTo>
                      <a:pt x="6" y="24"/>
                    </a:lnTo>
                    <a:lnTo>
                      <a:pt x="6" y="22"/>
                    </a:lnTo>
                    <a:lnTo>
                      <a:pt x="8" y="20"/>
                    </a:lnTo>
                    <a:lnTo>
                      <a:pt x="10" y="20"/>
                    </a:lnTo>
                    <a:lnTo>
                      <a:pt x="12" y="20"/>
                    </a:lnTo>
                    <a:lnTo>
                      <a:pt x="14" y="20"/>
                    </a:lnTo>
                    <a:lnTo>
                      <a:pt x="14" y="22"/>
                    </a:lnTo>
                    <a:lnTo>
                      <a:pt x="14" y="24"/>
                    </a:lnTo>
                    <a:lnTo>
                      <a:pt x="18" y="24"/>
                    </a:lnTo>
                    <a:lnTo>
                      <a:pt x="22" y="24"/>
                    </a:lnTo>
                    <a:lnTo>
                      <a:pt x="36" y="26"/>
                    </a:lnTo>
                    <a:lnTo>
                      <a:pt x="46" y="30"/>
                    </a:lnTo>
                    <a:lnTo>
                      <a:pt x="48" y="46"/>
                    </a:lnTo>
                    <a:lnTo>
                      <a:pt x="56" y="36"/>
                    </a:lnTo>
                    <a:lnTo>
                      <a:pt x="72" y="16"/>
                    </a:lnTo>
                    <a:lnTo>
                      <a:pt x="118" y="0"/>
                    </a:lnTo>
                    <a:lnTo>
                      <a:pt x="118" y="4"/>
                    </a:lnTo>
                    <a:lnTo>
                      <a:pt x="132" y="32"/>
                    </a:lnTo>
                    <a:lnTo>
                      <a:pt x="140" y="36"/>
                    </a:lnTo>
                    <a:lnTo>
                      <a:pt x="136" y="36"/>
                    </a:lnTo>
                    <a:lnTo>
                      <a:pt x="134" y="38"/>
                    </a:lnTo>
                    <a:lnTo>
                      <a:pt x="132" y="38"/>
                    </a:lnTo>
                    <a:lnTo>
                      <a:pt x="130" y="38"/>
                    </a:lnTo>
                    <a:lnTo>
                      <a:pt x="126" y="42"/>
                    </a:lnTo>
                    <a:lnTo>
                      <a:pt x="124" y="44"/>
                    </a:lnTo>
                    <a:lnTo>
                      <a:pt x="126" y="50"/>
                    </a:lnTo>
                    <a:lnTo>
                      <a:pt x="122" y="52"/>
                    </a:lnTo>
                    <a:lnTo>
                      <a:pt x="116" y="60"/>
                    </a:lnTo>
                    <a:lnTo>
                      <a:pt x="106" y="64"/>
                    </a:lnTo>
                    <a:lnTo>
                      <a:pt x="98" y="68"/>
                    </a:lnTo>
                    <a:lnTo>
                      <a:pt x="92" y="72"/>
                    </a:lnTo>
                    <a:lnTo>
                      <a:pt x="86" y="72"/>
                    </a:lnTo>
                    <a:lnTo>
                      <a:pt x="76" y="80"/>
                    </a:lnTo>
                    <a:lnTo>
                      <a:pt x="76" y="82"/>
                    </a:lnTo>
                    <a:lnTo>
                      <a:pt x="74" y="82"/>
                    </a:lnTo>
                    <a:lnTo>
                      <a:pt x="70" y="82"/>
                    </a:lnTo>
                    <a:lnTo>
                      <a:pt x="68" y="82"/>
                    </a:lnTo>
                    <a:lnTo>
                      <a:pt x="66" y="82"/>
                    </a:lnTo>
                    <a:lnTo>
                      <a:pt x="66" y="86"/>
                    </a:lnTo>
                    <a:lnTo>
                      <a:pt x="60" y="90"/>
                    </a:lnTo>
                    <a:lnTo>
                      <a:pt x="54" y="92"/>
                    </a:lnTo>
                    <a:lnTo>
                      <a:pt x="46" y="92"/>
                    </a:lnTo>
                    <a:lnTo>
                      <a:pt x="40" y="92"/>
                    </a:lnTo>
                    <a:lnTo>
                      <a:pt x="36" y="92"/>
                    </a:lnTo>
                    <a:lnTo>
                      <a:pt x="34" y="96"/>
                    </a:lnTo>
                    <a:lnTo>
                      <a:pt x="32" y="98"/>
                    </a:lnTo>
                    <a:lnTo>
                      <a:pt x="28" y="100"/>
                    </a:lnTo>
                    <a:lnTo>
                      <a:pt x="24" y="100"/>
                    </a:lnTo>
                    <a:lnTo>
                      <a:pt x="22" y="102"/>
                    </a:lnTo>
                    <a:lnTo>
                      <a:pt x="16" y="100"/>
                    </a:lnTo>
                    <a:lnTo>
                      <a:pt x="8" y="98"/>
                    </a:lnTo>
                    <a:lnTo>
                      <a:pt x="6" y="94"/>
                    </a:lnTo>
                    <a:lnTo>
                      <a:pt x="6" y="90"/>
                    </a:lnTo>
                    <a:lnTo>
                      <a:pt x="6" y="88"/>
                    </a:lnTo>
                    <a:lnTo>
                      <a:pt x="6" y="84"/>
                    </a:lnTo>
                    <a:lnTo>
                      <a:pt x="2" y="80"/>
                    </a:lnTo>
                    <a:lnTo>
                      <a:pt x="2" y="76"/>
                    </a:lnTo>
                    <a:lnTo>
                      <a:pt x="2" y="72"/>
                    </a:lnTo>
                    <a:lnTo>
                      <a:pt x="0" y="64"/>
                    </a:lnTo>
                    <a:lnTo>
                      <a:pt x="0" y="62"/>
                    </a:lnTo>
                    <a:lnTo>
                      <a:pt x="0" y="62"/>
                    </a:lnTo>
                    <a:lnTo>
                      <a:pt x="0" y="58"/>
                    </a:lnTo>
                    <a:lnTo>
                      <a:pt x="0" y="52"/>
                    </a:lnTo>
                    <a:lnTo>
                      <a:pt x="0" y="52"/>
                    </a:lnTo>
                    <a:lnTo>
                      <a:pt x="0" y="44"/>
                    </a:lnTo>
                    <a:lnTo>
                      <a:pt x="0" y="38"/>
                    </a:lnTo>
                    <a:lnTo>
                      <a:pt x="0" y="36"/>
                    </a:lnTo>
                    <a:lnTo>
                      <a:pt x="0" y="34"/>
                    </a:lnTo>
                    <a:lnTo>
                      <a:pt x="0" y="34"/>
                    </a:lnTo>
                    <a:close/>
                  </a:path>
                </a:pathLst>
              </a:custGeom>
              <a:solidFill>
                <a:srgbClr val="747480"/>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578" name="Freeform 33">
                <a:extLst>
                  <a:ext uri="{FF2B5EF4-FFF2-40B4-BE49-F238E27FC236}">
                    <a16:creationId xmlns:a16="http://schemas.microsoft.com/office/drawing/2014/main" id="{1A555C00-8279-E06F-6CF8-5ACECAEAB063}"/>
                  </a:ext>
                </a:extLst>
              </p:cNvPr>
              <p:cNvSpPr>
                <a:spLocks/>
              </p:cNvSpPr>
              <p:nvPr/>
            </p:nvSpPr>
            <p:spPr bwMode="auto">
              <a:xfrm>
                <a:off x="5478658" y="3860290"/>
                <a:ext cx="68064" cy="44191"/>
              </a:xfrm>
              <a:custGeom>
                <a:avLst/>
                <a:gdLst/>
                <a:ahLst/>
                <a:cxnLst>
                  <a:cxn ang="0">
                    <a:pos x="70" y="14"/>
                  </a:cxn>
                  <a:cxn ang="0">
                    <a:pos x="70" y="14"/>
                  </a:cxn>
                  <a:cxn ang="0">
                    <a:pos x="68" y="6"/>
                  </a:cxn>
                  <a:cxn ang="0">
                    <a:pos x="64" y="6"/>
                  </a:cxn>
                  <a:cxn ang="0">
                    <a:pos x="66" y="0"/>
                  </a:cxn>
                  <a:cxn ang="0">
                    <a:pos x="64" y="0"/>
                  </a:cxn>
                  <a:cxn ang="0">
                    <a:pos x="60" y="4"/>
                  </a:cxn>
                  <a:cxn ang="0">
                    <a:pos x="56" y="6"/>
                  </a:cxn>
                  <a:cxn ang="0">
                    <a:pos x="52" y="12"/>
                  </a:cxn>
                  <a:cxn ang="0">
                    <a:pos x="48" y="16"/>
                  </a:cxn>
                  <a:cxn ang="0">
                    <a:pos x="40" y="22"/>
                  </a:cxn>
                  <a:cxn ang="0">
                    <a:pos x="38" y="24"/>
                  </a:cxn>
                  <a:cxn ang="0">
                    <a:pos x="36" y="24"/>
                  </a:cxn>
                  <a:cxn ang="0">
                    <a:pos x="36" y="28"/>
                  </a:cxn>
                  <a:cxn ang="0">
                    <a:pos x="32" y="26"/>
                  </a:cxn>
                  <a:cxn ang="0">
                    <a:pos x="28" y="24"/>
                  </a:cxn>
                  <a:cxn ang="0">
                    <a:pos x="24" y="22"/>
                  </a:cxn>
                  <a:cxn ang="0">
                    <a:pos x="20" y="22"/>
                  </a:cxn>
                  <a:cxn ang="0">
                    <a:pos x="20" y="24"/>
                  </a:cxn>
                  <a:cxn ang="0">
                    <a:pos x="18" y="26"/>
                  </a:cxn>
                  <a:cxn ang="0">
                    <a:pos x="14" y="26"/>
                  </a:cxn>
                  <a:cxn ang="0">
                    <a:pos x="10" y="24"/>
                  </a:cxn>
                  <a:cxn ang="0">
                    <a:pos x="8" y="22"/>
                  </a:cxn>
                  <a:cxn ang="0">
                    <a:pos x="4" y="20"/>
                  </a:cxn>
                  <a:cxn ang="0">
                    <a:pos x="6" y="14"/>
                  </a:cxn>
                  <a:cxn ang="0">
                    <a:pos x="0" y="12"/>
                  </a:cxn>
                  <a:cxn ang="0">
                    <a:pos x="0" y="18"/>
                  </a:cxn>
                  <a:cxn ang="0">
                    <a:pos x="8" y="26"/>
                  </a:cxn>
                  <a:cxn ang="0">
                    <a:pos x="8" y="38"/>
                  </a:cxn>
                  <a:cxn ang="0">
                    <a:pos x="50" y="46"/>
                  </a:cxn>
                  <a:cxn ang="0">
                    <a:pos x="54" y="46"/>
                  </a:cxn>
                  <a:cxn ang="0">
                    <a:pos x="56" y="42"/>
                  </a:cxn>
                  <a:cxn ang="0">
                    <a:pos x="58" y="36"/>
                  </a:cxn>
                  <a:cxn ang="0">
                    <a:pos x="60" y="34"/>
                  </a:cxn>
                  <a:cxn ang="0">
                    <a:pos x="60" y="30"/>
                  </a:cxn>
                  <a:cxn ang="0">
                    <a:pos x="60" y="26"/>
                  </a:cxn>
                  <a:cxn ang="0">
                    <a:pos x="58" y="26"/>
                  </a:cxn>
                  <a:cxn ang="0">
                    <a:pos x="60" y="22"/>
                  </a:cxn>
                  <a:cxn ang="0">
                    <a:pos x="64" y="20"/>
                  </a:cxn>
                  <a:cxn ang="0">
                    <a:pos x="62" y="18"/>
                  </a:cxn>
                  <a:cxn ang="0">
                    <a:pos x="60" y="16"/>
                  </a:cxn>
                  <a:cxn ang="0">
                    <a:pos x="60" y="12"/>
                  </a:cxn>
                  <a:cxn ang="0">
                    <a:pos x="62" y="12"/>
                  </a:cxn>
                  <a:cxn ang="0">
                    <a:pos x="64" y="16"/>
                  </a:cxn>
                  <a:cxn ang="0">
                    <a:pos x="66" y="16"/>
                  </a:cxn>
                  <a:cxn ang="0">
                    <a:pos x="68" y="14"/>
                  </a:cxn>
                  <a:cxn ang="0">
                    <a:pos x="70" y="12"/>
                  </a:cxn>
                  <a:cxn ang="0">
                    <a:pos x="70" y="14"/>
                  </a:cxn>
                  <a:cxn ang="0">
                    <a:pos x="70" y="14"/>
                  </a:cxn>
                </a:cxnLst>
                <a:rect l="0" t="0" r="r" b="b"/>
                <a:pathLst>
                  <a:path w="70" h="46">
                    <a:moveTo>
                      <a:pt x="70" y="14"/>
                    </a:moveTo>
                    <a:lnTo>
                      <a:pt x="70" y="14"/>
                    </a:lnTo>
                    <a:lnTo>
                      <a:pt x="68" y="6"/>
                    </a:lnTo>
                    <a:lnTo>
                      <a:pt x="64" y="6"/>
                    </a:lnTo>
                    <a:lnTo>
                      <a:pt x="66" y="0"/>
                    </a:lnTo>
                    <a:lnTo>
                      <a:pt x="64" y="0"/>
                    </a:lnTo>
                    <a:lnTo>
                      <a:pt x="60" y="4"/>
                    </a:lnTo>
                    <a:lnTo>
                      <a:pt x="56" y="6"/>
                    </a:lnTo>
                    <a:lnTo>
                      <a:pt x="52" y="12"/>
                    </a:lnTo>
                    <a:lnTo>
                      <a:pt x="48" y="16"/>
                    </a:lnTo>
                    <a:lnTo>
                      <a:pt x="40" y="22"/>
                    </a:lnTo>
                    <a:lnTo>
                      <a:pt x="38" y="24"/>
                    </a:lnTo>
                    <a:lnTo>
                      <a:pt x="36" y="24"/>
                    </a:lnTo>
                    <a:lnTo>
                      <a:pt x="36" y="28"/>
                    </a:lnTo>
                    <a:lnTo>
                      <a:pt x="32" y="26"/>
                    </a:lnTo>
                    <a:lnTo>
                      <a:pt x="28" y="24"/>
                    </a:lnTo>
                    <a:lnTo>
                      <a:pt x="24" y="22"/>
                    </a:lnTo>
                    <a:lnTo>
                      <a:pt x="20" y="22"/>
                    </a:lnTo>
                    <a:lnTo>
                      <a:pt x="20" y="24"/>
                    </a:lnTo>
                    <a:lnTo>
                      <a:pt x="18" y="26"/>
                    </a:lnTo>
                    <a:lnTo>
                      <a:pt x="14" y="26"/>
                    </a:lnTo>
                    <a:lnTo>
                      <a:pt x="10" y="24"/>
                    </a:lnTo>
                    <a:lnTo>
                      <a:pt x="8" y="22"/>
                    </a:lnTo>
                    <a:lnTo>
                      <a:pt x="4" y="20"/>
                    </a:lnTo>
                    <a:lnTo>
                      <a:pt x="6" y="14"/>
                    </a:lnTo>
                    <a:lnTo>
                      <a:pt x="0" y="12"/>
                    </a:lnTo>
                    <a:lnTo>
                      <a:pt x="0" y="18"/>
                    </a:lnTo>
                    <a:lnTo>
                      <a:pt x="8" y="26"/>
                    </a:lnTo>
                    <a:lnTo>
                      <a:pt x="8" y="38"/>
                    </a:lnTo>
                    <a:lnTo>
                      <a:pt x="50" y="46"/>
                    </a:lnTo>
                    <a:lnTo>
                      <a:pt x="54" y="46"/>
                    </a:lnTo>
                    <a:lnTo>
                      <a:pt x="56" y="42"/>
                    </a:lnTo>
                    <a:lnTo>
                      <a:pt x="58" y="36"/>
                    </a:lnTo>
                    <a:lnTo>
                      <a:pt x="60" y="34"/>
                    </a:lnTo>
                    <a:lnTo>
                      <a:pt x="60" y="30"/>
                    </a:lnTo>
                    <a:lnTo>
                      <a:pt x="60" y="26"/>
                    </a:lnTo>
                    <a:lnTo>
                      <a:pt x="58" y="26"/>
                    </a:lnTo>
                    <a:lnTo>
                      <a:pt x="60" y="22"/>
                    </a:lnTo>
                    <a:lnTo>
                      <a:pt x="64" y="20"/>
                    </a:lnTo>
                    <a:lnTo>
                      <a:pt x="62" y="18"/>
                    </a:lnTo>
                    <a:lnTo>
                      <a:pt x="60" y="16"/>
                    </a:lnTo>
                    <a:lnTo>
                      <a:pt x="60" y="12"/>
                    </a:lnTo>
                    <a:lnTo>
                      <a:pt x="62" y="12"/>
                    </a:lnTo>
                    <a:lnTo>
                      <a:pt x="64" y="16"/>
                    </a:lnTo>
                    <a:lnTo>
                      <a:pt x="66" y="16"/>
                    </a:lnTo>
                    <a:lnTo>
                      <a:pt x="68" y="14"/>
                    </a:lnTo>
                    <a:lnTo>
                      <a:pt x="70" y="12"/>
                    </a:lnTo>
                    <a:lnTo>
                      <a:pt x="70" y="14"/>
                    </a:lnTo>
                    <a:lnTo>
                      <a:pt x="70" y="14"/>
                    </a:lnTo>
                    <a:close/>
                  </a:path>
                </a:pathLst>
              </a:custGeom>
              <a:solidFill>
                <a:srgbClr val="FFE600"/>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579" name="Freeform 39">
                <a:extLst>
                  <a:ext uri="{FF2B5EF4-FFF2-40B4-BE49-F238E27FC236}">
                    <a16:creationId xmlns:a16="http://schemas.microsoft.com/office/drawing/2014/main" id="{A94AB566-4437-7D93-DC7E-3698E93CC305}"/>
                  </a:ext>
                </a:extLst>
              </p:cNvPr>
              <p:cNvSpPr>
                <a:spLocks/>
              </p:cNvSpPr>
              <p:nvPr/>
            </p:nvSpPr>
            <p:spPr bwMode="auto">
              <a:xfrm>
                <a:off x="4928310" y="3671996"/>
                <a:ext cx="50562" cy="109518"/>
              </a:xfrm>
              <a:custGeom>
                <a:avLst/>
                <a:gdLst/>
                <a:ahLst/>
                <a:cxnLst>
                  <a:cxn ang="0">
                    <a:pos x="52" y="68"/>
                  </a:cxn>
                  <a:cxn ang="0">
                    <a:pos x="42" y="64"/>
                  </a:cxn>
                  <a:cxn ang="0">
                    <a:pos x="40" y="58"/>
                  </a:cxn>
                  <a:cxn ang="0">
                    <a:pos x="46" y="46"/>
                  </a:cxn>
                  <a:cxn ang="0">
                    <a:pos x="48" y="42"/>
                  </a:cxn>
                  <a:cxn ang="0">
                    <a:pos x="46" y="34"/>
                  </a:cxn>
                  <a:cxn ang="0">
                    <a:pos x="44" y="28"/>
                  </a:cxn>
                  <a:cxn ang="0">
                    <a:pos x="50" y="14"/>
                  </a:cxn>
                  <a:cxn ang="0">
                    <a:pos x="52" y="6"/>
                  </a:cxn>
                  <a:cxn ang="0">
                    <a:pos x="46" y="8"/>
                  </a:cxn>
                  <a:cxn ang="0">
                    <a:pos x="40" y="2"/>
                  </a:cxn>
                  <a:cxn ang="0">
                    <a:pos x="38" y="2"/>
                  </a:cxn>
                  <a:cxn ang="0">
                    <a:pos x="36" y="0"/>
                  </a:cxn>
                  <a:cxn ang="0">
                    <a:pos x="26" y="4"/>
                  </a:cxn>
                  <a:cxn ang="0">
                    <a:pos x="8" y="4"/>
                  </a:cxn>
                  <a:cxn ang="0">
                    <a:pos x="8" y="14"/>
                  </a:cxn>
                  <a:cxn ang="0">
                    <a:pos x="12" y="18"/>
                  </a:cxn>
                  <a:cxn ang="0">
                    <a:pos x="12" y="28"/>
                  </a:cxn>
                  <a:cxn ang="0">
                    <a:pos x="14" y="38"/>
                  </a:cxn>
                  <a:cxn ang="0">
                    <a:pos x="12" y="42"/>
                  </a:cxn>
                  <a:cxn ang="0">
                    <a:pos x="8" y="48"/>
                  </a:cxn>
                  <a:cxn ang="0">
                    <a:pos x="0" y="52"/>
                  </a:cxn>
                  <a:cxn ang="0">
                    <a:pos x="2" y="68"/>
                  </a:cxn>
                  <a:cxn ang="0">
                    <a:pos x="6" y="68"/>
                  </a:cxn>
                  <a:cxn ang="0">
                    <a:pos x="10" y="82"/>
                  </a:cxn>
                  <a:cxn ang="0">
                    <a:pos x="20" y="114"/>
                  </a:cxn>
                  <a:cxn ang="0">
                    <a:pos x="26" y="112"/>
                  </a:cxn>
                  <a:cxn ang="0">
                    <a:pos x="28" y="108"/>
                  </a:cxn>
                  <a:cxn ang="0">
                    <a:pos x="32" y="104"/>
                  </a:cxn>
                  <a:cxn ang="0">
                    <a:pos x="30" y="94"/>
                  </a:cxn>
                  <a:cxn ang="0">
                    <a:pos x="32" y="88"/>
                  </a:cxn>
                  <a:cxn ang="0">
                    <a:pos x="40" y="86"/>
                  </a:cxn>
                  <a:cxn ang="0">
                    <a:pos x="46" y="82"/>
                  </a:cxn>
                  <a:cxn ang="0">
                    <a:pos x="48" y="76"/>
                  </a:cxn>
                  <a:cxn ang="0">
                    <a:pos x="52" y="68"/>
                  </a:cxn>
                </a:cxnLst>
                <a:rect l="0" t="0" r="r" b="b"/>
                <a:pathLst>
                  <a:path w="52" h="114">
                    <a:moveTo>
                      <a:pt x="52" y="68"/>
                    </a:moveTo>
                    <a:lnTo>
                      <a:pt x="52" y="68"/>
                    </a:lnTo>
                    <a:lnTo>
                      <a:pt x="46" y="66"/>
                    </a:lnTo>
                    <a:lnTo>
                      <a:pt x="42" y="64"/>
                    </a:lnTo>
                    <a:lnTo>
                      <a:pt x="40" y="62"/>
                    </a:lnTo>
                    <a:lnTo>
                      <a:pt x="40" y="58"/>
                    </a:lnTo>
                    <a:lnTo>
                      <a:pt x="40" y="54"/>
                    </a:lnTo>
                    <a:lnTo>
                      <a:pt x="46" y="46"/>
                    </a:lnTo>
                    <a:lnTo>
                      <a:pt x="46" y="42"/>
                    </a:lnTo>
                    <a:lnTo>
                      <a:pt x="48" y="42"/>
                    </a:lnTo>
                    <a:lnTo>
                      <a:pt x="48" y="38"/>
                    </a:lnTo>
                    <a:lnTo>
                      <a:pt x="46" y="34"/>
                    </a:lnTo>
                    <a:lnTo>
                      <a:pt x="48" y="28"/>
                    </a:lnTo>
                    <a:lnTo>
                      <a:pt x="44" y="28"/>
                    </a:lnTo>
                    <a:lnTo>
                      <a:pt x="44" y="18"/>
                    </a:lnTo>
                    <a:lnTo>
                      <a:pt x="50" y="14"/>
                    </a:lnTo>
                    <a:lnTo>
                      <a:pt x="52" y="8"/>
                    </a:lnTo>
                    <a:lnTo>
                      <a:pt x="52" y="6"/>
                    </a:lnTo>
                    <a:lnTo>
                      <a:pt x="50" y="6"/>
                    </a:lnTo>
                    <a:lnTo>
                      <a:pt x="46" y="8"/>
                    </a:lnTo>
                    <a:lnTo>
                      <a:pt x="42" y="6"/>
                    </a:lnTo>
                    <a:lnTo>
                      <a:pt x="40" y="2"/>
                    </a:lnTo>
                    <a:lnTo>
                      <a:pt x="38" y="0"/>
                    </a:lnTo>
                    <a:lnTo>
                      <a:pt x="38" y="2"/>
                    </a:lnTo>
                    <a:lnTo>
                      <a:pt x="36" y="2"/>
                    </a:lnTo>
                    <a:lnTo>
                      <a:pt x="36" y="0"/>
                    </a:lnTo>
                    <a:lnTo>
                      <a:pt x="30" y="0"/>
                    </a:lnTo>
                    <a:lnTo>
                      <a:pt x="26" y="4"/>
                    </a:lnTo>
                    <a:lnTo>
                      <a:pt x="16" y="4"/>
                    </a:lnTo>
                    <a:lnTo>
                      <a:pt x="8" y="4"/>
                    </a:lnTo>
                    <a:lnTo>
                      <a:pt x="8" y="10"/>
                    </a:lnTo>
                    <a:lnTo>
                      <a:pt x="8" y="14"/>
                    </a:lnTo>
                    <a:lnTo>
                      <a:pt x="10" y="16"/>
                    </a:lnTo>
                    <a:lnTo>
                      <a:pt x="12" y="18"/>
                    </a:lnTo>
                    <a:lnTo>
                      <a:pt x="12" y="22"/>
                    </a:lnTo>
                    <a:lnTo>
                      <a:pt x="12" y="28"/>
                    </a:lnTo>
                    <a:lnTo>
                      <a:pt x="14" y="36"/>
                    </a:lnTo>
                    <a:lnTo>
                      <a:pt x="14" y="38"/>
                    </a:lnTo>
                    <a:lnTo>
                      <a:pt x="12" y="40"/>
                    </a:lnTo>
                    <a:lnTo>
                      <a:pt x="12" y="42"/>
                    </a:lnTo>
                    <a:lnTo>
                      <a:pt x="10" y="42"/>
                    </a:lnTo>
                    <a:lnTo>
                      <a:pt x="8" y="48"/>
                    </a:lnTo>
                    <a:lnTo>
                      <a:pt x="4" y="52"/>
                    </a:lnTo>
                    <a:lnTo>
                      <a:pt x="0" y="52"/>
                    </a:lnTo>
                    <a:lnTo>
                      <a:pt x="0" y="56"/>
                    </a:lnTo>
                    <a:lnTo>
                      <a:pt x="2" y="68"/>
                    </a:lnTo>
                    <a:lnTo>
                      <a:pt x="4" y="68"/>
                    </a:lnTo>
                    <a:lnTo>
                      <a:pt x="6" y="68"/>
                    </a:lnTo>
                    <a:lnTo>
                      <a:pt x="8" y="70"/>
                    </a:lnTo>
                    <a:lnTo>
                      <a:pt x="10" y="82"/>
                    </a:lnTo>
                    <a:lnTo>
                      <a:pt x="16" y="84"/>
                    </a:lnTo>
                    <a:lnTo>
                      <a:pt x="20" y="114"/>
                    </a:lnTo>
                    <a:lnTo>
                      <a:pt x="24" y="114"/>
                    </a:lnTo>
                    <a:lnTo>
                      <a:pt x="26" y="112"/>
                    </a:lnTo>
                    <a:lnTo>
                      <a:pt x="28" y="112"/>
                    </a:lnTo>
                    <a:lnTo>
                      <a:pt x="28" y="108"/>
                    </a:lnTo>
                    <a:lnTo>
                      <a:pt x="30" y="106"/>
                    </a:lnTo>
                    <a:lnTo>
                      <a:pt x="32" y="104"/>
                    </a:lnTo>
                    <a:lnTo>
                      <a:pt x="32" y="102"/>
                    </a:lnTo>
                    <a:lnTo>
                      <a:pt x="30" y="94"/>
                    </a:lnTo>
                    <a:lnTo>
                      <a:pt x="32" y="90"/>
                    </a:lnTo>
                    <a:lnTo>
                      <a:pt x="32" y="88"/>
                    </a:lnTo>
                    <a:lnTo>
                      <a:pt x="36" y="88"/>
                    </a:lnTo>
                    <a:lnTo>
                      <a:pt x="40" y="86"/>
                    </a:lnTo>
                    <a:lnTo>
                      <a:pt x="42" y="86"/>
                    </a:lnTo>
                    <a:lnTo>
                      <a:pt x="46" y="82"/>
                    </a:lnTo>
                    <a:lnTo>
                      <a:pt x="48" y="78"/>
                    </a:lnTo>
                    <a:lnTo>
                      <a:pt x="48" y="76"/>
                    </a:lnTo>
                    <a:lnTo>
                      <a:pt x="48" y="74"/>
                    </a:lnTo>
                    <a:lnTo>
                      <a:pt x="52" y="68"/>
                    </a:lnTo>
                    <a:lnTo>
                      <a:pt x="52" y="68"/>
                    </a:lnTo>
                    <a:close/>
                  </a:path>
                </a:pathLst>
              </a:custGeom>
              <a:solidFill>
                <a:srgbClr val="FFE600"/>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580" name="Freeform 320">
                <a:extLst>
                  <a:ext uri="{FF2B5EF4-FFF2-40B4-BE49-F238E27FC236}">
                    <a16:creationId xmlns:a16="http://schemas.microsoft.com/office/drawing/2014/main" id="{E37942D1-5EB6-CB6E-EBB3-8CA157698754}"/>
                  </a:ext>
                </a:extLst>
              </p:cNvPr>
              <p:cNvSpPr>
                <a:spLocks/>
              </p:cNvSpPr>
              <p:nvPr/>
            </p:nvSpPr>
            <p:spPr bwMode="auto">
              <a:xfrm>
                <a:off x="5392535" y="3629725"/>
                <a:ext cx="243644" cy="240720"/>
              </a:xfrm>
              <a:custGeom>
                <a:avLst/>
                <a:gdLst/>
                <a:ahLst/>
                <a:cxnLst>
                  <a:cxn ang="0">
                    <a:pos x="240" y="224"/>
                  </a:cxn>
                  <a:cxn ang="0">
                    <a:pos x="248" y="212"/>
                  </a:cxn>
                  <a:cxn ang="0">
                    <a:pos x="232" y="186"/>
                  </a:cxn>
                  <a:cxn ang="0">
                    <a:pos x="240" y="150"/>
                  </a:cxn>
                  <a:cxn ang="0">
                    <a:pos x="226" y="138"/>
                  </a:cxn>
                  <a:cxn ang="0">
                    <a:pos x="218" y="112"/>
                  </a:cxn>
                  <a:cxn ang="0">
                    <a:pos x="218" y="92"/>
                  </a:cxn>
                  <a:cxn ang="0">
                    <a:pos x="232" y="78"/>
                  </a:cxn>
                  <a:cxn ang="0">
                    <a:pos x="234" y="56"/>
                  </a:cxn>
                  <a:cxn ang="0">
                    <a:pos x="218" y="42"/>
                  </a:cxn>
                  <a:cxn ang="0">
                    <a:pos x="188" y="26"/>
                  </a:cxn>
                  <a:cxn ang="0">
                    <a:pos x="154" y="26"/>
                  </a:cxn>
                  <a:cxn ang="0">
                    <a:pos x="140" y="34"/>
                  </a:cxn>
                  <a:cxn ang="0">
                    <a:pos x="126" y="52"/>
                  </a:cxn>
                  <a:cxn ang="0">
                    <a:pos x="120" y="48"/>
                  </a:cxn>
                  <a:cxn ang="0">
                    <a:pos x="94" y="52"/>
                  </a:cxn>
                  <a:cxn ang="0">
                    <a:pos x="76" y="38"/>
                  </a:cxn>
                  <a:cxn ang="0">
                    <a:pos x="66" y="38"/>
                  </a:cxn>
                  <a:cxn ang="0">
                    <a:pos x="56" y="14"/>
                  </a:cxn>
                  <a:cxn ang="0">
                    <a:pos x="52" y="6"/>
                  </a:cxn>
                  <a:cxn ang="0">
                    <a:pos x="50" y="2"/>
                  </a:cxn>
                  <a:cxn ang="0">
                    <a:pos x="38" y="10"/>
                  </a:cxn>
                  <a:cxn ang="0">
                    <a:pos x="24" y="10"/>
                  </a:cxn>
                  <a:cxn ang="0">
                    <a:pos x="16" y="2"/>
                  </a:cxn>
                  <a:cxn ang="0">
                    <a:pos x="6" y="2"/>
                  </a:cxn>
                  <a:cxn ang="0">
                    <a:pos x="4" y="14"/>
                  </a:cxn>
                  <a:cxn ang="0">
                    <a:pos x="0" y="24"/>
                  </a:cxn>
                  <a:cxn ang="0">
                    <a:pos x="8" y="40"/>
                  </a:cxn>
                  <a:cxn ang="0">
                    <a:pos x="10" y="54"/>
                  </a:cxn>
                  <a:cxn ang="0">
                    <a:pos x="12" y="56"/>
                  </a:cxn>
                  <a:cxn ang="0">
                    <a:pos x="12" y="62"/>
                  </a:cxn>
                  <a:cxn ang="0">
                    <a:pos x="18" y="68"/>
                  </a:cxn>
                  <a:cxn ang="0">
                    <a:pos x="30" y="70"/>
                  </a:cxn>
                  <a:cxn ang="0">
                    <a:pos x="32" y="74"/>
                  </a:cxn>
                  <a:cxn ang="0">
                    <a:pos x="26" y="76"/>
                  </a:cxn>
                  <a:cxn ang="0">
                    <a:pos x="24" y="84"/>
                  </a:cxn>
                  <a:cxn ang="0">
                    <a:pos x="22" y="90"/>
                  </a:cxn>
                  <a:cxn ang="0">
                    <a:pos x="26" y="102"/>
                  </a:cxn>
                  <a:cxn ang="0">
                    <a:pos x="38" y="112"/>
                  </a:cxn>
                  <a:cxn ang="0">
                    <a:pos x="42" y="122"/>
                  </a:cxn>
                  <a:cxn ang="0">
                    <a:pos x="54" y="136"/>
                  </a:cxn>
                  <a:cxn ang="0">
                    <a:pos x="60" y="152"/>
                  </a:cxn>
                  <a:cxn ang="0">
                    <a:pos x="66" y="166"/>
                  </a:cxn>
                  <a:cxn ang="0">
                    <a:pos x="86" y="180"/>
                  </a:cxn>
                  <a:cxn ang="0">
                    <a:pos x="92" y="192"/>
                  </a:cxn>
                  <a:cxn ang="0">
                    <a:pos x="100" y="202"/>
                  </a:cxn>
                  <a:cxn ang="0">
                    <a:pos x="110" y="214"/>
                  </a:cxn>
                  <a:cxn ang="0">
                    <a:pos x="124" y="228"/>
                  </a:cxn>
                  <a:cxn ang="0">
                    <a:pos x="138" y="230"/>
                  </a:cxn>
                  <a:cxn ang="0">
                    <a:pos x="168" y="224"/>
                  </a:cxn>
                  <a:cxn ang="0">
                    <a:pos x="178" y="246"/>
                  </a:cxn>
                  <a:cxn ang="0">
                    <a:pos x="206" y="250"/>
                  </a:cxn>
                  <a:cxn ang="0">
                    <a:pos x="224" y="254"/>
                  </a:cxn>
                </a:cxnLst>
                <a:rect l="0" t="0" r="r" b="b"/>
                <a:pathLst>
                  <a:path w="254" h="254">
                    <a:moveTo>
                      <a:pt x="224" y="254"/>
                    </a:moveTo>
                    <a:lnTo>
                      <a:pt x="226" y="238"/>
                    </a:lnTo>
                    <a:lnTo>
                      <a:pt x="232" y="226"/>
                    </a:lnTo>
                    <a:lnTo>
                      <a:pt x="240" y="224"/>
                    </a:lnTo>
                    <a:lnTo>
                      <a:pt x="248" y="224"/>
                    </a:lnTo>
                    <a:lnTo>
                      <a:pt x="254" y="220"/>
                    </a:lnTo>
                    <a:lnTo>
                      <a:pt x="254" y="214"/>
                    </a:lnTo>
                    <a:lnTo>
                      <a:pt x="248" y="212"/>
                    </a:lnTo>
                    <a:lnTo>
                      <a:pt x="248" y="204"/>
                    </a:lnTo>
                    <a:lnTo>
                      <a:pt x="244" y="198"/>
                    </a:lnTo>
                    <a:lnTo>
                      <a:pt x="238" y="196"/>
                    </a:lnTo>
                    <a:lnTo>
                      <a:pt x="232" y="186"/>
                    </a:lnTo>
                    <a:lnTo>
                      <a:pt x="232" y="182"/>
                    </a:lnTo>
                    <a:lnTo>
                      <a:pt x="232" y="178"/>
                    </a:lnTo>
                    <a:lnTo>
                      <a:pt x="228" y="166"/>
                    </a:lnTo>
                    <a:lnTo>
                      <a:pt x="240" y="150"/>
                    </a:lnTo>
                    <a:lnTo>
                      <a:pt x="240" y="146"/>
                    </a:lnTo>
                    <a:lnTo>
                      <a:pt x="238" y="142"/>
                    </a:lnTo>
                    <a:lnTo>
                      <a:pt x="228" y="140"/>
                    </a:lnTo>
                    <a:lnTo>
                      <a:pt x="226" y="138"/>
                    </a:lnTo>
                    <a:lnTo>
                      <a:pt x="226" y="130"/>
                    </a:lnTo>
                    <a:lnTo>
                      <a:pt x="224" y="122"/>
                    </a:lnTo>
                    <a:lnTo>
                      <a:pt x="218" y="116"/>
                    </a:lnTo>
                    <a:lnTo>
                      <a:pt x="218" y="112"/>
                    </a:lnTo>
                    <a:lnTo>
                      <a:pt x="222" y="108"/>
                    </a:lnTo>
                    <a:lnTo>
                      <a:pt x="218" y="106"/>
                    </a:lnTo>
                    <a:lnTo>
                      <a:pt x="218" y="102"/>
                    </a:lnTo>
                    <a:lnTo>
                      <a:pt x="218" y="92"/>
                    </a:lnTo>
                    <a:lnTo>
                      <a:pt x="222" y="86"/>
                    </a:lnTo>
                    <a:lnTo>
                      <a:pt x="224" y="84"/>
                    </a:lnTo>
                    <a:lnTo>
                      <a:pt x="230" y="84"/>
                    </a:lnTo>
                    <a:lnTo>
                      <a:pt x="232" y="78"/>
                    </a:lnTo>
                    <a:lnTo>
                      <a:pt x="232" y="72"/>
                    </a:lnTo>
                    <a:lnTo>
                      <a:pt x="234" y="66"/>
                    </a:lnTo>
                    <a:lnTo>
                      <a:pt x="234" y="60"/>
                    </a:lnTo>
                    <a:lnTo>
                      <a:pt x="234" y="56"/>
                    </a:lnTo>
                    <a:lnTo>
                      <a:pt x="228" y="54"/>
                    </a:lnTo>
                    <a:lnTo>
                      <a:pt x="224" y="48"/>
                    </a:lnTo>
                    <a:lnTo>
                      <a:pt x="222" y="44"/>
                    </a:lnTo>
                    <a:lnTo>
                      <a:pt x="218" y="42"/>
                    </a:lnTo>
                    <a:lnTo>
                      <a:pt x="210" y="36"/>
                    </a:lnTo>
                    <a:lnTo>
                      <a:pt x="202" y="32"/>
                    </a:lnTo>
                    <a:lnTo>
                      <a:pt x="192" y="28"/>
                    </a:lnTo>
                    <a:lnTo>
                      <a:pt x="188" y="26"/>
                    </a:lnTo>
                    <a:lnTo>
                      <a:pt x="180" y="26"/>
                    </a:lnTo>
                    <a:lnTo>
                      <a:pt x="166" y="22"/>
                    </a:lnTo>
                    <a:lnTo>
                      <a:pt x="160" y="24"/>
                    </a:lnTo>
                    <a:lnTo>
                      <a:pt x="154" y="26"/>
                    </a:lnTo>
                    <a:lnTo>
                      <a:pt x="146" y="26"/>
                    </a:lnTo>
                    <a:lnTo>
                      <a:pt x="142" y="28"/>
                    </a:lnTo>
                    <a:lnTo>
                      <a:pt x="140" y="32"/>
                    </a:lnTo>
                    <a:lnTo>
                      <a:pt x="140" y="34"/>
                    </a:lnTo>
                    <a:lnTo>
                      <a:pt x="136" y="40"/>
                    </a:lnTo>
                    <a:lnTo>
                      <a:pt x="128" y="40"/>
                    </a:lnTo>
                    <a:lnTo>
                      <a:pt x="128" y="50"/>
                    </a:lnTo>
                    <a:lnTo>
                      <a:pt x="126" y="52"/>
                    </a:lnTo>
                    <a:lnTo>
                      <a:pt x="122" y="52"/>
                    </a:lnTo>
                    <a:lnTo>
                      <a:pt x="120" y="50"/>
                    </a:lnTo>
                    <a:lnTo>
                      <a:pt x="122" y="50"/>
                    </a:lnTo>
                    <a:lnTo>
                      <a:pt x="120" y="48"/>
                    </a:lnTo>
                    <a:lnTo>
                      <a:pt x="116" y="48"/>
                    </a:lnTo>
                    <a:lnTo>
                      <a:pt x="110" y="52"/>
                    </a:lnTo>
                    <a:lnTo>
                      <a:pt x="104" y="56"/>
                    </a:lnTo>
                    <a:lnTo>
                      <a:pt x="94" y="52"/>
                    </a:lnTo>
                    <a:lnTo>
                      <a:pt x="84" y="46"/>
                    </a:lnTo>
                    <a:lnTo>
                      <a:pt x="80" y="40"/>
                    </a:lnTo>
                    <a:lnTo>
                      <a:pt x="76" y="40"/>
                    </a:lnTo>
                    <a:lnTo>
                      <a:pt x="76" y="38"/>
                    </a:lnTo>
                    <a:lnTo>
                      <a:pt x="72" y="40"/>
                    </a:lnTo>
                    <a:lnTo>
                      <a:pt x="70" y="40"/>
                    </a:lnTo>
                    <a:lnTo>
                      <a:pt x="68" y="42"/>
                    </a:lnTo>
                    <a:lnTo>
                      <a:pt x="66" y="38"/>
                    </a:lnTo>
                    <a:lnTo>
                      <a:pt x="64" y="36"/>
                    </a:lnTo>
                    <a:lnTo>
                      <a:pt x="62" y="28"/>
                    </a:lnTo>
                    <a:lnTo>
                      <a:pt x="60" y="18"/>
                    </a:lnTo>
                    <a:lnTo>
                      <a:pt x="56" y="14"/>
                    </a:lnTo>
                    <a:lnTo>
                      <a:pt x="54" y="12"/>
                    </a:lnTo>
                    <a:lnTo>
                      <a:pt x="52" y="10"/>
                    </a:lnTo>
                    <a:lnTo>
                      <a:pt x="52" y="8"/>
                    </a:lnTo>
                    <a:lnTo>
                      <a:pt x="52" y="6"/>
                    </a:lnTo>
                    <a:lnTo>
                      <a:pt x="54" y="4"/>
                    </a:lnTo>
                    <a:lnTo>
                      <a:pt x="54" y="2"/>
                    </a:lnTo>
                    <a:lnTo>
                      <a:pt x="52" y="0"/>
                    </a:lnTo>
                    <a:lnTo>
                      <a:pt x="50" y="2"/>
                    </a:lnTo>
                    <a:lnTo>
                      <a:pt x="48" y="2"/>
                    </a:lnTo>
                    <a:lnTo>
                      <a:pt x="44" y="4"/>
                    </a:lnTo>
                    <a:lnTo>
                      <a:pt x="42" y="8"/>
                    </a:lnTo>
                    <a:lnTo>
                      <a:pt x="38" y="10"/>
                    </a:lnTo>
                    <a:lnTo>
                      <a:pt x="34" y="12"/>
                    </a:lnTo>
                    <a:lnTo>
                      <a:pt x="28" y="14"/>
                    </a:lnTo>
                    <a:lnTo>
                      <a:pt x="26" y="12"/>
                    </a:lnTo>
                    <a:lnTo>
                      <a:pt x="24" y="10"/>
                    </a:lnTo>
                    <a:lnTo>
                      <a:pt x="22" y="8"/>
                    </a:lnTo>
                    <a:lnTo>
                      <a:pt x="18" y="4"/>
                    </a:lnTo>
                    <a:lnTo>
                      <a:pt x="16" y="2"/>
                    </a:lnTo>
                    <a:lnTo>
                      <a:pt x="16" y="2"/>
                    </a:lnTo>
                    <a:lnTo>
                      <a:pt x="14" y="2"/>
                    </a:lnTo>
                    <a:lnTo>
                      <a:pt x="12" y="4"/>
                    </a:lnTo>
                    <a:lnTo>
                      <a:pt x="8" y="2"/>
                    </a:lnTo>
                    <a:lnTo>
                      <a:pt x="6" y="2"/>
                    </a:lnTo>
                    <a:lnTo>
                      <a:pt x="4" y="6"/>
                    </a:lnTo>
                    <a:lnTo>
                      <a:pt x="2" y="8"/>
                    </a:lnTo>
                    <a:lnTo>
                      <a:pt x="4" y="12"/>
                    </a:lnTo>
                    <a:lnTo>
                      <a:pt x="4" y="14"/>
                    </a:lnTo>
                    <a:lnTo>
                      <a:pt x="4" y="16"/>
                    </a:lnTo>
                    <a:lnTo>
                      <a:pt x="4" y="20"/>
                    </a:lnTo>
                    <a:lnTo>
                      <a:pt x="2" y="22"/>
                    </a:lnTo>
                    <a:lnTo>
                      <a:pt x="0" y="24"/>
                    </a:lnTo>
                    <a:lnTo>
                      <a:pt x="2" y="28"/>
                    </a:lnTo>
                    <a:lnTo>
                      <a:pt x="6" y="32"/>
                    </a:lnTo>
                    <a:lnTo>
                      <a:pt x="6" y="36"/>
                    </a:lnTo>
                    <a:lnTo>
                      <a:pt x="8" y="40"/>
                    </a:lnTo>
                    <a:lnTo>
                      <a:pt x="8" y="44"/>
                    </a:lnTo>
                    <a:lnTo>
                      <a:pt x="8" y="46"/>
                    </a:lnTo>
                    <a:lnTo>
                      <a:pt x="10" y="52"/>
                    </a:lnTo>
                    <a:lnTo>
                      <a:pt x="10" y="54"/>
                    </a:lnTo>
                    <a:lnTo>
                      <a:pt x="10" y="56"/>
                    </a:lnTo>
                    <a:lnTo>
                      <a:pt x="8" y="56"/>
                    </a:lnTo>
                    <a:lnTo>
                      <a:pt x="10" y="56"/>
                    </a:lnTo>
                    <a:lnTo>
                      <a:pt x="12" y="56"/>
                    </a:lnTo>
                    <a:lnTo>
                      <a:pt x="12" y="58"/>
                    </a:lnTo>
                    <a:lnTo>
                      <a:pt x="10" y="60"/>
                    </a:lnTo>
                    <a:lnTo>
                      <a:pt x="12" y="60"/>
                    </a:lnTo>
                    <a:lnTo>
                      <a:pt x="12" y="62"/>
                    </a:lnTo>
                    <a:lnTo>
                      <a:pt x="14" y="64"/>
                    </a:lnTo>
                    <a:lnTo>
                      <a:pt x="14" y="66"/>
                    </a:lnTo>
                    <a:lnTo>
                      <a:pt x="18" y="66"/>
                    </a:lnTo>
                    <a:lnTo>
                      <a:pt x="18" y="68"/>
                    </a:lnTo>
                    <a:lnTo>
                      <a:pt x="20" y="68"/>
                    </a:lnTo>
                    <a:lnTo>
                      <a:pt x="22" y="68"/>
                    </a:lnTo>
                    <a:lnTo>
                      <a:pt x="26" y="70"/>
                    </a:lnTo>
                    <a:lnTo>
                      <a:pt x="30" y="70"/>
                    </a:lnTo>
                    <a:lnTo>
                      <a:pt x="32" y="70"/>
                    </a:lnTo>
                    <a:lnTo>
                      <a:pt x="34" y="70"/>
                    </a:lnTo>
                    <a:lnTo>
                      <a:pt x="34" y="72"/>
                    </a:lnTo>
                    <a:lnTo>
                      <a:pt x="32" y="74"/>
                    </a:lnTo>
                    <a:lnTo>
                      <a:pt x="30" y="74"/>
                    </a:lnTo>
                    <a:lnTo>
                      <a:pt x="28" y="74"/>
                    </a:lnTo>
                    <a:lnTo>
                      <a:pt x="26" y="74"/>
                    </a:lnTo>
                    <a:lnTo>
                      <a:pt x="26" y="76"/>
                    </a:lnTo>
                    <a:lnTo>
                      <a:pt x="28" y="80"/>
                    </a:lnTo>
                    <a:lnTo>
                      <a:pt x="28" y="84"/>
                    </a:lnTo>
                    <a:lnTo>
                      <a:pt x="26" y="84"/>
                    </a:lnTo>
                    <a:lnTo>
                      <a:pt x="24" y="84"/>
                    </a:lnTo>
                    <a:lnTo>
                      <a:pt x="22" y="84"/>
                    </a:lnTo>
                    <a:lnTo>
                      <a:pt x="22" y="86"/>
                    </a:lnTo>
                    <a:lnTo>
                      <a:pt x="24" y="88"/>
                    </a:lnTo>
                    <a:lnTo>
                      <a:pt x="22" y="90"/>
                    </a:lnTo>
                    <a:lnTo>
                      <a:pt x="20" y="92"/>
                    </a:lnTo>
                    <a:lnTo>
                      <a:pt x="22" y="96"/>
                    </a:lnTo>
                    <a:lnTo>
                      <a:pt x="24" y="98"/>
                    </a:lnTo>
                    <a:lnTo>
                      <a:pt x="26" y="102"/>
                    </a:lnTo>
                    <a:lnTo>
                      <a:pt x="28" y="104"/>
                    </a:lnTo>
                    <a:lnTo>
                      <a:pt x="28" y="108"/>
                    </a:lnTo>
                    <a:lnTo>
                      <a:pt x="32" y="110"/>
                    </a:lnTo>
                    <a:lnTo>
                      <a:pt x="38" y="112"/>
                    </a:lnTo>
                    <a:lnTo>
                      <a:pt x="42" y="118"/>
                    </a:lnTo>
                    <a:lnTo>
                      <a:pt x="42" y="120"/>
                    </a:lnTo>
                    <a:lnTo>
                      <a:pt x="40" y="122"/>
                    </a:lnTo>
                    <a:lnTo>
                      <a:pt x="42" y="122"/>
                    </a:lnTo>
                    <a:lnTo>
                      <a:pt x="46" y="122"/>
                    </a:lnTo>
                    <a:lnTo>
                      <a:pt x="48" y="124"/>
                    </a:lnTo>
                    <a:lnTo>
                      <a:pt x="52" y="132"/>
                    </a:lnTo>
                    <a:lnTo>
                      <a:pt x="54" y="136"/>
                    </a:lnTo>
                    <a:lnTo>
                      <a:pt x="54" y="140"/>
                    </a:lnTo>
                    <a:lnTo>
                      <a:pt x="54" y="146"/>
                    </a:lnTo>
                    <a:lnTo>
                      <a:pt x="56" y="152"/>
                    </a:lnTo>
                    <a:lnTo>
                      <a:pt x="60" y="152"/>
                    </a:lnTo>
                    <a:lnTo>
                      <a:pt x="60" y="158"/>
                    </a:lnTo>
                    <a:lnTo>
                      <a:pt x="62" y="160"/>
                    </a:lnTo>
                    <a:lnTo>
                      <a:pt x="64" y="162"/>
                    </a:lnTo>
                    <a:lnTo>
                      <a:pt x="66" y="166"/>
                    </a:lnTo>
                    <a:lnTo>
                      <a:pt x="74" y="168"/>
                    </a:lnTo>
                    <a:lnTo>
                      <a:pt x="80" y="166"/>
                    </a:lnTo>
                    <a:lnTo>
                      <a:pt x="86" y="176"/>
                    </a:lnTo>
                    <a:lnTo>
                      <a:pt x="86" y="180"/>
                    </a:lnTo>
                    <a:lnTo>
                      <a:pt x="86" y="182"/>
                    </a:lnTo>
                    <a:lnTo>
                      <a:pt x="90" y="184"/>
                    </a:lnTo>
                    <a:lnTo>
                      <a:pt x="90" y="188"/>
                    </a:lnTo>
                    <a:lnTo>
                      <a:pt x="92" y="192"/>
                    </a:lnTo>
                    <a:lnTo>
                      <a:pt x="94" y="194"/>
                    </a:lnTo>
                    <a:lnTo>
                      <a:pt x="94" y="198"/>
                    </a:lnTo>
                    <a:lnTo>
                      <a:pt x="98" y="200"/>
                    </a:lnTo>
                    <a:lnTo>
                      <a:pt x="100" y="202"/>
                    </a:lnTo>
                    <a:lnTo>
                      <a:pt x="100" y="204"/>
                    </a:lnTo>
                    <a:lnTo>
                      <a:pt x="100" y="208"/>
                    </a:lnTo>
                    <a:lnTo>
                      <a:pt x="106" y="214"/>
                    </a:lnTo>
                    <a:lnTo>
                      <a:pt x="110" y="214"/>
                    </a:lnTo>
                    <a:lnTo>
                      <a:pt x="110" y="218"/>
                    </a:lnTo>
                    <a:lnTo>
                      <a:pt x="116" y="224"/>
                    </a:lnTo>
                    <a:lnTo>
                      <a:pt x="120" y="224"/>
                    </a:lnTo>
                    <a:lnTo>
                      <a:pt x="124" y="228"/>
                    </a:lnTo>
                    <a:lnTo>
                      <a:pt x="128" y="228"/>
                    </a:lnTo>
                    <a:lnTo>
                      <a:pt x="132" y="230"/>
                    </a:lnTo>
                    <a:lnTo>
                      <a:pt x="136" y="232"/>
                    </a:lnTo>
                    <a:lnTo>
                      <a:pt x="138" y="230"/>
                    </a:lnTo>
                    <a:lnTo>
                      <a:pt x="140" y="228"/>
                    </a:lnTo>
                    <a:lnTo>
                      <a:pt x="152" y="224"/>
                    </a:lnTo>
                    <a:lnTo>
                      <a:pt x="162" y="220"/>
                    </a:lnTo>
                    <a:lnTo>
                      <a:pt x="168" y="224"/>
                    </a:lnTo>
                    <a:lnTo>
                      <a:pt x="172" y="228"/>
                    </a:lnTo>
                    <a:lnTo>
                      <a:pt x="172" y="238"/>
                    </a:lnTo>
                    <a:lnTo>
                      <a:pt x="174" y="242"/>
                    </a:lnTo>
                    <a:lnTo>
                      <a:pt x="178" y="246"/>
                    </a:lnTo>
                    <a:lnTo>
                      <a:pt x="186" y="248"/>
                    </a:lnTo>
                    <a:lnTo>
                      <a:pt x="196" y="248"/>
                    </a:lnTo>
                    <a:lnTo>
                      <a:pt x="196" y="250"/>
                    </a:lnTo>
                    <a:lnTo>
                      <a:pt x="206" y="250"/>
                    </a:lnTo>
                    <a:lnTo>
                      <a:pt x="214" y="248"/>
                    </a:lnTo>
                    <a:lnTo>
                      <a:pt x="220" y="252"/>
                    </a:lnTo>
                    <a:lnTo>
                      <a:pt x="220" y="254"/>
                    </a:lnTo>
                    <a:lnTo>
                      <a:pt x="224" y="254"/>
                    </a:lnTo>
                    <a:lnTo>
                      <a:pt x="224" y="254"/>
                    </a:lnTo>
                    <a:close/>
                  </a:path>
                </a:pathLst>
              </a:custGeom>
              <a:solidFill>
                <a:srgbClr val="747480"/>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581" name="Freeform 456">
                <a:extLst>
                  <a:ext uri="{FF2B5EF4-FFF2-40B4-BE49-F238E27FC236}">
                    <a16:creationId xmlns:a16="http://schemas.microsoft.com/office/drawing/2014/main" id="{025EAA98-F183-9DA9-7F68-3DE9AAF65812}"/>
                  </a:ext>
                </a:extLst>
              </p:cNvPr>
              <p:cNvSpPr>
                <a:spLocks/>
              </p:cNvSpPr>
              <p:nvPr/>
            </p:nvSpPr>
            <p:spPr bwMode="auto">
              <a:xfrm>
                <a:off x="4735226" y="3673917"/>
                <a:ext cx="243643" cy="284316"/>
              </a:xfrm>
              <a:custGeom>
                <a:avLst/>
                <a:gdLst/>
                <a:ahLst/>
                <a:cxnLst>
                  <a:cxn ang="0">
                    <a:pos x="176" y="296"/>
                  </a:cxn>
                  <a:cxn ang="0">
                    <a:pos x="146" y="300"/>
                  </a:cxn>
                  <a:cxn ang="0">
                    <a:pos x="144" y="292"/>
                  </a:cxn>
                  <a:cxn ang="0">
                    <a:pos x="144" y="282"/>
                  </a:cxn>
                  <a:cxn ang="0">
                    <a:pos x="130" y="274"/>
                  </a:cxn>
                  <a:cxn ang="0">
                    <a:pos x="44" y="206"/>
                  </a:cxn>
                  <a:cxn ang="0">
                    <a:pos x="0" y="148"/>
                  </a:cxn>
                  <a:cxn ang="0">
                    <a:pos x="14" y="134"/>
                  </a:cxn>
                  <a:cxn ang="0">
                    <a:pos x="32" y="130"/>
                  </a:cxn>
                  <a:cxn ang="0">
                    <a:pos x="40" y="124"/>
                  </a:cxn>
                  <a:cxn ang="0">
                    <a:pos x="54" y="116"/>
                  </a:cxn>
                  <a:cxn ang="0">
                    <a:pos x="62" y="104"/>
                  </a:cxn>
                  <a:cxn ang="0">
                    <a:pos x="72" y="92"/>
                  </a:cxn>
                  <a:cxn ang="0">
                    <a:pos x="76" y="86"/>
                  </a:cxn>
                  <a:cxn ang="0">
                    <a:pos x="82" y="80"/>
                  </a:cxn>
                  <a:cxn ang="0">
                    <a:pos x="88" y="74"/>
                  </a:cxn>
                  <a:cxn ang="0">
                    <a:pos x="84" y="60"/>
                  </a:cxn>
                  <a:cxn ang="0">
                    <a:pos x="78" y="52"/>
                  </a:cxn>
                  <a:cxn ang="0">
                    <a:pos x="80" y="38"/>
                  </a:cxn>
                  <a:cxn ang="0">
                    <a:pos x="80" y="30"/>
                  </a:cxn>
                  <a:cxn ang="0">
                    <a:pos x="90" y="24"/>
                  </a:cxn>
                  <a:cxn ang="0">
                    <a:pos x="100" y="18"/>
                  </a:cxn>
                  <a:cxn ang="0">
                    <a:pos x="110" y="14"/>
                  </a:cxn>
                  <a:cxn ang="0">
                    <a:pos x="120" y="10"/>
                  </a:cxn>
                  <a:cxn ang="0">
                    <a:pos x="130" y="4"/>
                  </a:cxn>
                  <a:cxn ang="0">
                    <a:pos x="146" y="6"/>
                  </a:cxn>
                  <a:cxn ang="0">
                    <a:pos x="164" y="2"/>
                  </a:cxn>
                  <a:cxn ang="0">
                    <a:pos x="176" y="4"/>
                  </a:cxn>
                  <a:cxn ang="0">
                    <a:pos x="186" y="4"/>
                  </a:cxn>
                  <a:cxn ang="0">
                    <a:pos x="196" y="2"/>
                  </a:cxn>
                  <a:cxn ang="0">
                    <a:pos x="202" y="0"/>
                  </a:cxn>
                  <a:cxn ang="0">
                    <a:pos x="208" y="12"/>
                  </a:cxn>
                  <a:cxn ang="0">
                    <a:pos x="212" y="20"/>
                  </a:cxn>
                  <a:cxn ang="0">
                    <a:pos x="212" y="36"/>
                  </a:cxn>
                  <a:cxn ang="0">
                    <a:pos x="210" y="40"/>
                  </a:cxn>
                  <a:cxn ang="0">
                    <a:pos x="200" y="50"/>
                  </a:cxn>
                  <a:cxn ang="0">
                    <a:pos x="204" y="68"/>
                  </a:cxn>
                  <a:cxn ang="0">
                    <a:pos x="210" y="80"/>
                  </a:cxn>
                  <a:cxn ang="0">
                    <a:pos x="218" y="114"/>
                  </a:cxn>
                  <a:cxn ang="0">
                    <a:pos x="220" y="120"/>
                  </a:cxn>
                  <a:cxn ang="0">
                    <a:pos x="222" y="154"/>
                  </a:cxn>
                  <a:cxn ang="0">
                    <a:pos x="222" y="158"/>
                  </a:cxn>
                  <a:cxn ang="0">
                    <a:pos x="220" y="178"/>
                  </a:cxn>
                  <a:cxn ang="0">
                    <a:pos x="212" y="186"/>
                  </a:cxn>
                  <a:cxn ang="0">
                    <a:pos x="222" y="200"/>
                  </a:cxn>
                  <a:cxn ang="0">
                    <a:pos x="226" y="214"/>
                  </a:cxn>
                  <a:cxn ang="0">
                    <a:pos x="240" y="218"/>
                  </a:cxn>
                  <a:cxn ang="0">
                    <a:pos x="246" y="224"/>
                  </a:cxn>
                  <a:cxn ang="0">
                    <a:pos x="254" y="230"/>
                  </a:cxn>
                </a:cxnLst>
                <a:rect l="0" t="0" r="r" b="b"/>
                <a:pathLst>
                  <a:path w="254" h="300">
                    <a:moveTo>
                      <a:pt x="254" y="230"/>
                    </a:moveTo>
                    <a:lnTo>
                      <a:pt x="184" y="282"/>
                    </a:lnTo>
                    <a:lnTo>
                      <a:pt x="176" y="296"/>
                    </a:lnTo>
                    <a:lnTo>
                      <a:pt x="156" y="298"/>
                    </a:lnTo>
                    <a:lnTo>
                      <a:pt x="152" y="300"/>
                    </a:lnTo>
                    <a:lnTo>
                      <a:pt x="146" y="300"/>
                    </a:lnTo>
                    <a:lnTo>
                      <a:pt x="146" y="298"/>
                    </a:lnTo>
                    <a:lnTo>
                      <a:pt x="144" y="294"/>
                    </a:lnTo>
                    <a:lnTo>
                      <a:pt x="144" y="292"/>
                    </a:lnTo>
                    <a:lnTo>
                      <a:pt x="144" y="288"/>
                    </a:lnTo>
                    <a:lnTo>
                      <a:pt x="144" y="284"/>
                    </a:lnTo>
                    <a:lnTo>
                      <a:pt x="144" y="282"/>
                    </a:lnTo>
                    <a:lnTo>
                      <a:pt x="140" y="280"/>
                    </a:lnTo>
                    <a:lnTo>
                      <a:pt x="136" y="278"/>
                    </a:lnTo>
                    <a:lnTo>
                      <a:pt x="130" y="274"/>
                    </a:lnTo>
                    <a:lnTo>
                      <a:pt x="126" y="270"/>
                    </a:lnTo>
                    <a:lnTo>
                      <a:pt x="126" y="268"/>
                    </a:lnTo>
                    <a:lnTo>
                      <a:pt x="44" y="206"/>
                    </a:lnTo>
                    <a:lnTo>
                      <a:pt x="0" y="174"/>
                    </a:lnTo>
                    <a:lnTo>
                      <a:pt x="0" y="162"/>
                    </a:lnTo>
                    <a:lnTo>
                      <a:pt x="0" y="148"/>
                    </a:lnTo>
                    <a:lnTo>
                      <a:pt x="4" y="144"/>
                    </a:lnTo>
                    <a:lnTo>
                      <a:pt x="10" y="136"/>
                    </a:lnTo>
                    <a:lnTo>
                      <a:pt x="14" y="134"/>
                    </a:lnTo>
                    <a:lnTo>
                      <a:pt x="20" y="132"/>
                    </a:lnTo>
                    <a:lnTo>
                      <a:pt x="28" y="130"/>
                    </a:lnTo>
                    <a:lnTo>
                      <a:pt x="32" y="130"/>
                    </a:lnTo>
                    <a:lnTo>
                      <a:pt x="32" y="128"/>
                    </a:lnTo>
                    <a:lnTo>
                      <a:pt x="36" y="124"/>
                    </a:lnTo>
                    <a:lnTo>
                      <a:pt x="40" y="124"/>
                    </a:lnTo>
                    <a:lnTo>
                      <a:pt x="46" y="122"/>
                    </a:lnTo>
                    <a:lnTo>
                      <a:pt x="50" y="120"/>
                    </a:lnTo>
                    <a:lnTo>
                      <a:pt x="54" y="116"/>
                    </a:lnTo>
                    <a:lnTo>
                      <a:pt x="56" y="110"/>
                    </a:lnTo>
                    <a:lnTo>
                      <a:pt x="60" y="104"/>
                    </a:lnTo>
                    <a:lnTo>
                      <a:pt x="62" y="104"/>
                    </a:lnTo>
                    <a:lnTo>
                      <a:pt x="68" y="100"/>
                    </a:lnTo>
                    <a:lnTo>
                      <a:pt x="72" y="96"/>
                    </a:lnTo>
                    <a:lnTo>
                      <a:pt x="72" y="92"/>
                    </a:lnTo>
                    <a:lnTo>
                      <a:pt x="72" y="90"/>
                    </a:lnTo>
                    <a:lnTo>
                      <a:pt x="74" y="88"/>
                    </a:lnTo>
                    <a:lnTo>
                      <a:pt x="76" y="86"/>
                    </a:lnTo>
                    <a:lnTo>
                      <a:pt x="78" y="84"/>
                    </a:lnTo>
                    <a:lnTo>
                      <a:pt x="80" y="82"/>
                    </a:lnTo>
                    <a:lnTo>
                      <a:pt x="82" y="80"/>
                    </a:lnTo>
                    <a:lnTo>
                      <a:pt x="88" y="76"/>
                    </a:lnTo>
                    <a:lnTo>
                      <a:pt x="90" y="74"/>
                    </a:lnTo>
                    <a:lnTo>
                      <a:pt x="88" y="74"/>
                    </a:lnTo>
                    <a:lnTo>
                      <a:pt x="86" y="70"/>
                    </a:lnTo>
                    <a:lnTo>
                      <a:pt x="84" y="66"/>
                    </a:lnTo>
                    <a:lnTo>
                      <a:pt x="84" y="60"/>
                    </a:lnTo>
                    <a:lnTo>
                      <a:pt x="82" y="58"/>
                    </a:lnTo>
                    <a:lnTo>
                      <a:pt x="80" y="56"/>
                    </a:lnTo>
                    <a:lnTo>
                      <a:pt x="78" y="52"/>
                    </a:lnTo>
                    <a:lnTo>
                      <a:pt x="80" y="46"/>
                    </a:lnTo>
                    <a:lnTo>
                      <a:pt x="80" y="42"/>
                    </a:lnTo>
                    <a:lnTo>
                      <a:pt x="80" y="38"/>
                    </a:lnTo>
                    <a:lnTo>
                      <a:pt x="78" y="36"/>
                    </a:lnTo>
                    <a:lnTo>
                      <a:pt x="76" y="32"/>
                    </a:lnTo>
                    <a:lnTo>
                      <a:pt x="80" y="30"/>
                    </a:lnTo>
                    <a:lnTo>
                      <a:pt x="86" y="30"/>
                    </a:lnTo>
                    <a:lnTo>
                      <a:pt x="88" y="28"/>
                    </a:lnTo>
                    <a:lnTo>
                      <a:pt x="90" y="24"/>
                    </a:lnTo>
                    <a:lnTo>
                      <a:pt x="92" y="22"/>
                    </a:lnTo>
                    <a:lnTo>
                      <a:pt x="94" y="18"/>
                    </a:lnTo>
                    <a:lnTo>
                      <a:pt x="100" y="18"/>
                    </a:lnTo>
                    <a:lnTo>
                      <a:pt x="104" y="18"/>
                    </a:lnTo>
                    <a:lnTo>
                      <a:pt x="108" y="16"/>
                    </a:lnTo>
                    <a:lnTo>
                      <a:pt x="110" y="14"/>
                    </a:lnTo>
                    <a:lnTo>
                      <a:pt x="114" y="14"/>
                    </a:lnTo>
                    <a:lnTo>
                      <a:pt x="118" y="14"/>
                    </a:lnTo>
                    <a:lnTo>
                      <a:pt x="120" y="10"/>
                    </a:lnTo>
                    <a:lnTo>
                      <a:pt x="124" y="10"/>
                    </a:lnTo>
                    <a:lnTo>
                      <a:pt x="128" y="8"/>
                    </a:lnTo>
                    <a:lnTo>
                      <a:pt x="130" y="4"/>
                    </a:lnTo>
                    <a:lnTo>
                      <a:pt x="136" y="6"/>
                    </a:lnTo>
                    <a:lnTo>
                      <a:pt x="142" y="6"/>
                    </a:lnTo>
                    <a:lnTo>
                      <a:pt x="146" y="6"/>
                    </a:lnTo>
                    <a:lnTo>
                      <a:pt x="150" y="4"/>
                    </a:lnTo>
                    <a:lnTo>
                      <a:pt x="156" y="2"/>
                    </a:lnTo>
                    <a:lnTo>
                      <a:pt x="164" y="2"/>
                    </a:lnTo>
                    <a:lnTo>
                      <a:pt x="172" y="2"/>
                    </a:lnTo>
                    <a:lnTo>
                      <a:pt x="172" y="4"/>
                    </a:lnTo>
                    <a:lnTo>
                      <a:pt x="176" y="4"/>
                    </a:lnTo>
                    <a:lnTo>
                      <a:pt x="178" y="2"/>
                    </a:lnTo>
                    <a:lnTo>
                      <a:pt x="182" y="4"/>
                    </a:lnTo>
                    <a:lnTo>
                      <a:pt x="186" y="4"/>
                    </a:lnTo>
                    <a:lnTo>
                      <a:pt x="186" y="2"/>
                    </a:lnTo>
                    <a:lnTo>
                      <a:pt x="192" y="0"/>
                    </a:lnTo>
                    <a:lnTo>
                      <a:pt x="196" y="2"/>
                    </a:lnTo>
                    <a:lnTo>
                      <a:pt x="198" y="6"/>
                    </a:lnTo>
                    <a:lnTo>
                      <a:pt x="200" y="6"/>
                    </a:lnTo>
                    <a:lnTo>
                      <a:pt x="202" y="0"/>
                    </a:lnTo>
                    <a:lnTo>
                      <a:pt x="208" y="2"/>
                    </a:lnTo>
                    <a:lnTo>
                      <a:pt x="208" y="8"/>
                    </a:lnTo>
                    <a:lnTo>
                      <a:pt x="208" y="12"/>
                    </a:lnTo>
                    <a:lnTo>
                      <a:pt x="210" y="14"/>
                    </a:lnTo>
                    <a:lnTo>
                      <a:pt x="212" y="16"/>
                    </a:lnTo>
                    <a:lnTo>
                      <a:pt x="212" y="20"/>
                    </a:lnTo>
                    <a:lnTo>
                      <a:pt x="212" y="26"/>
                    </a:lnTo>
                    <a:lnTo>
                      <a:pt x="212" y="34"/>
                    </a:lnTo>
                    <a:lnTo>
                      <a:pt x="212" y="36"/>
                    </a:lnTo>
                    <a:lnTo>
                      <a:pt x="212" y="38"/>
                    </a:lnTo>
                    <a:lnTo>
                      <a:pt x="212" y="40"/>
                    </a:lnTo>
                    <a:lnTo>
                      <a:pt x="210" y="40"/>
                    </a:lnTo>
                    <a:lnTo>
                      <a:pt x="208" y="46"/>
                    </a:lnTo>
                    <a:lnTo>
                      <a:pt x="204" y="50"/>
                    </a:lnTo>
                    <a:lnTo>
                      <a:pt x="200" y="50"/>
                    </a:lnTo>
                    <a:lnTo>
                      <a:pt x="200" y="54"/>
                    </a:lnTo>
                    <a:lnTo>
                      <a:pt x="202" y="68"/>
                    </a:lnTo>
                    <a:lnTo>
                      <a:pt x="204" y="68"/>
                    </a:lnTo>
                    <a:lnTo>
                      <a:pt x="206" y="68"/>
                    </a:lnTo>
                    <a:lnTo>
                      <a:pt x="208" y="70"/>
                    </a:lnTo>
                    <a:lnTo>
                      <a:pt x="210" y="80"/>
                    </a:lnTo>
                    <a:lnTo>
                      <a:pt x="216" y="82"/>
                    </a:lnTo>
                    <a:lnTo>
                      <a:pt x="220" y="112"/>
                    </a:lnTo>
                    <a:lnTo>
                      <a:pt x="218" y="114"/>
                    </a:lnTo>
                    <a:lnTo>
                      <a:pt x="218" y="116"/>
                    </a:lnTo>
                    <a:lnTo>
                      <a:pt x="220" y="118"/>
                    </a:lnTo>
                    <a:lnTo>
                      <a:pt x="220" y="120"/>
                    </a:lnTo>
                    <a:lnTo>
                      <a:pt x="220" y="146"/>
                    </a:lnTo>
                    <a:lnTo>
                      <a:pt x="224" y="152"/>
                    </a:lnTo>
                    <a:lnTo>
                      <a:pt x="222" y="154"/>
                    </a:lnTo>
                    <a:lnTo>
                      <a:pt x="220" y="156"/>
                    </a:lnTo>
                    <a:lnTo>
                      <a:pt x="220" y="158"/>
                    </a:lnTo>
                    <a:lnTo>
                      <a:pt x="222" y="158"/>
                    </a:lnTo>
                    <a:lnTo>
                      <a:pt x="220" y="162"/>
                    </a:lnTo>
                    <a:lnTo>
                      <a:pt x="222" y="168"/>
                    </a:lnTo>
                    <a:lnTo>
                      <a:pt x="220" y="178"/>
                    </a:lnTo>
                    <a:lnTo>
                      <a:pt x="218" y="182"/>
                    </a:lnTo>
                    <a:lnTo>
                      <a:pt x="216" y="184"/>
                    </a:lnTo>
                    <a:lnTo>
                      <a:pt x="212" y="186"/>
                    </a:lnTo>
                    <a:lnTo>
                      <a:pt x="216" y="190"/>
                    </a:lnTo>
                    <a:lnTo>
                      <a:pt x="218" y="194"/>
                    </a:lnTo>
                    <a:lnTo>
                      <a:pt x="222" y="200"/>
                    </a:lnTo>
                    <a:lnTo>
                      <a:pt x="224" y="204"/>
                    </a:lnTo>
                    <a:lnTo>
                      <a:pt x="224" y="208"/>
                    </a:lnTo>
                    <a:lnTo>
                      <a:pt x="226" y="214"/>
                    </a:lnTo>
                    <a:lnTo>
                      <a:pt x="228" y="216"/>
                    </a:lnTo>
                    <a:lnTo>
                      <a:pt x="230" y="216"/>
                    </a:lnTo>
                    <a:lnTo>
                      <a:pt x="240" y="218"/>
                    </a:lnTo>
                    <a:lnTo>
                      <a:pt x="242" y="222"/>
                    </a:lnTo>
                    <a:lnTo>
                      <a:pt x="244" y="224"/>
                    </a:lnTo>
                    <a:lnTo>
                      <a:pt x="246" y="224"/>
                    </a:lnTo>
                    <a:lnTo>
                      <a:pt x="248" y="224"/>
                    </a:lnTo>
                    <a:lnTo>
                      <a:pt x="250" y="226"/>
                    </a:lnTo>
                    <a:lnTo>
                      <a:pt x="254" y="230"/>
                    </a:lnTo>
                    <a:lnTo>
                      <a:pt x="254" y="230"/>
                    </a:lnTo>
                    <a:close/>
                  </a:path>
                </a:pathLst>
              </a:custGeom>
              <a:solidFill>
                <a:srgbClr val="747480"/>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582" name="Freeform 458">
                <a:extLst>
                  <a:ext uri="{FF2B5EF4-FFF2-40B4-BE49-F238E27FC236}">
                    <a16:creationId xmlns:a16="http://schemas.microsoft.com/office/drawing/2014/main" id="{B9F1CA5D-912D-DA79-E919-6AD8AC358250}"/>
                  </a:ext>
                </a:extLst>
              </p:cNvPr>
              <p:cNvSpPr>
                <a:spLocks/>
              </p:cNvSpPr>
              <p:nvPr/>
            </p:nvSpPr>
            <p:spPr bwMode="auto">
              <a:xfrm>
                <a:off x="5289464" y="3668153"/>
                <a:ext cx="82493" cy="85295"/>
              </a:xfrm>
              <a:custGeom>
                <a:avLst/>
                <a:gdLst/>
                <a:ahLst/>
                <a:cxnLst>
                  <a:cxn ang="0">
                    <a:pos x="2" y="30"/>
                  </a:cxn>
                  <a:cxn ang="0">
                    <a:pos x="0" y="38"/>
                  </a:cxn>
                  <a:cxn ang="0">
                    <a:pos x="4" y="46"/>
                  </a:cxn>
                  <a:cxn ang="0">
                    <a:pos x="2" y="48"/>
                  </a:cxn>
                  <a:cxn ang="0">
                    <a:pos x="6" y="54"/>
                  </a:cxn>
                  <a:cxn ang="0">
                    <a:pos x="10" y="50"/>
                  </a:cxn>
                  <a:cxn ang="0">
                    <a:pos x="16" y="52"/>
                  </a:cxn>
                  <a:cxn ang="0">
                    <a:pos x="18" y="54"/>
                  </a:cxn>
                  <a:cxn ang="0">
                    <a:pos x="12" y="66"/>
                  </a:cxn>
                  <a:cxn ang="0">
                    <a:pos x="10" y="74"/>
                  </a:cxn>
                  <a:cxn ang="0">
                    <a:pos x="6" y="78"/>
                  </a:cxn>
                  <a:cxn ang="0">
                    <a:pos x="4" y="90"/>
                  </a:cxn>
                  <a:cxn ang="0">
                    <a:pos x="10" y="86"/>
                  </a:cxn>
                  <a:cxn ang="0">
                    <a:pos x="18" y="88"/>
                  </a:cxn>
                  <a:cxn ang="0">
                    <a:pos x="40" y="74"/>
                  </a:cxn>
                  <a:cxn ang="0">
                    <a:pos x="72" y="50"/>
                  </a:cxn>
                  <a:cxn ang="0">
                    <a:pos x="76" y="40"/>
                  </a:cxn>
                  <a:cxn ang="0">
                    <a:pos x="74" y="32"/>
                  </a:cxn>
                  <a:cxn ang="0">
                    <a:pos x="78" y="28"/>
                  </a:cxn>
                  <a:cxn ang="0">
                    <a:pos x="76" y="20"/>
                  </a:cxn>
                  <a:cxn ang="0">
                    <a:pos x="78" y="16"/>
                  </a:cxn>
                  <a:cxn ang="0">
                    <a:pos x="84" y="10"/>
                  </a:cxn>
                  <a:cxn ang="0">
                    <a:pos x="86" y="4"/>
                  </a:cxn>
                  <a:cxn ang="0">
                    <a:pos x="82" y="0"/>
                  </a:cxn>
                  <a:cxn ang="0">
                    <a:pos x="70" y="4"/>
                  </a:cxn>
                  <a:cxn ang="0">
                    <a:pos x="60" y="6"/>
                  </a:cxn>
                  <a:cxn ang="0">
                    <a:pos x="52" y="6"/>
                  </a:cxn>
                  <a:cxn ang="0">
                    <a:pos x="42" y="10"/>
                  </a:cxn>
                  <a:cxn ang="0">
                    <a:pos x="34" y="12"/>
                  </a:cxn>
                  <a:cxn ang="0">
                    <a:pos x="28" y="12"/>
                  </a:cxn>
                  <a:cxn ang="0">
                    <a:pos x="22" y="16"/>
                  </a:cxn>
                  <a:cxn ang="0">
                    <a:pos x="18" y="14"/>
                  </a:cxn>
                  <a:cxn ang="0">
                    <a:pos x="14" y="14"/>
                  </a:cxn>
                  <a:cxn ang="0">
                    <a:pos x="14" y="18"/>
                  </a:cxn>
                  <a:cxn ang="0">
                    <a:pos x="14" y="24"/>
                  </a:cxn>
                  <a:cxn ang="0">
                    <a:pos x="10" y="26"/>
                  </a:cxn>
                  <a:cxn ang="0">
                    <a:pos x="8" y="30"/>
                  </a:cxn>
                  <a:cxn ang="0">
                    <a:pos x="2" y="30"/>
                  </a:cxn>
                </a:cxnLst>
                <a:rect l="0" t="0" r="r" b="b"/>
                <a:pathLst>
                  <a:path w="86" h="90">
                    <a:moveTo>
                      <a:pt x="2" y="30"/>
                    </a:moveTo>
                    <a:lnTo>
                      <a:pt x="2" y="30"/>
                    </a:lnTo>
                    <a:lnTo>
                      <a:pt x="0" y="34"/>
                    </a:lnTo>
                    <a:lnTo>
                      <a:pt x="0" y="38"/>
                    </a:lnTo>
                    <a:lnTo>
                      <a:pt x="4" y="38"/>
                    </a:lnTo>
                    <a:lnTo>
                      <a:pt x="4" y="46"/>
                    </a:lnTo>
                    <a:lnTo>
                      <a:pt x="2" y="46"/>
                    </a:lnTo>
                    <a:lnTo>
                      <a:pt x="2" y="48"/>
                    </a:lnTo>
                    <a:lnTo>
                      <a:pt x="4" y="50"/>
                    </a:lnTo>
                    <a:lnTo>
                      <a:pt x="6" y="54"/>
                    </a:lnTo>
                    <a:lnTo>
                      <a:pt x="8" y="50"/>
                    </a:lnTo>
                    <a:lnTo>
                      <a:pt x="10" y="50"/>
                    </a:lnTo>
                    <a:lnTo>
                      <a:pt x="12" y="50"/>
                    </a:lnTo>
                    <a:lnTo>
                      <a:pt x="16" y="52"/>
                    </a:lnTo>
                    <a:lnTo>
                      <a:pt x="18" y="52"/>
                    </a:lnTo>
                    <a:lnTo>
                      <a:pt x="18" y="54"/>
                    </a:lnTo>
                    <a:lnTo>
                      <a:pt x="16" y="62"/>
                    </a:lnTo>
                    <a:lnTo>
                      <a:pt x="12" y="66"/>
                    </a:lnTo>
                    <a:lnTo>
                      <a:pt x="10" y="70"/>
                    </a:lnTo>
                    <a:lnTo>
                      <a:pt x="10" y="74"/>
                    </a:lnTo>
                    <a:lnTo>
                      <a:pt x="8" y="76"/>
                    </a:lnTo>
                    <a:lnTo>
                      <a:pt x="6" y="78"/>
                    </a:lnTo>
                    <a:lnTo>
                      <a:pt x="2" y="84"/>
                    </a:lnTo>
                    <a:lnTo>
                      <a:pt x="4" y="90"/>
                    </a:lnTo>
                    <a:lnTo>
                      <a:pt x="6" y="88"/>
                    </a:lnTo>
                    <a:lnTo>
                      <a:pt x="10" y="86"/>
                    </a:lnTo>
                    <a:lnTo>
                      <a:pt x="12" y="86"/>
                    </a:lnTo>
                    <a:lnTo>
                      <a:pt x="18" y="88"/>
                    </a:lnTo>
                    <a:lnTo>
                      <a:pt x="22" y="90"/>
                    </a:lnTo>
                    <a:lnTo>
                      <a:pt x="40" y="74"/>
                    </a:lnTo>
                    <a:lnTo>
                      <a:pt x="68" y="54"/>
                    </a:lnTo>
                    <a:lnTo>
                      <a:pt x="72" y="50"/>
                    </a:lnTo>
                    <a:lnTo>
                      <a:pt x="74" y="42"/>
                    </a:lnTo>
                    <a:lnTo>
                      <a:pt x="76" y="40"/>
                    </a:lnTo>
                    <a:lnTo>
                      <a:pt x="74" y="36"/>
                    </a:lnTo>
                    <a:lnTo>
                      <a:pt x="74" y="32"/>
                    </a:lnTo>
                    <a:lnTo>
                      <a:pt x="74" y="30"/>
                    </a:lnTo>
                    <a:lnTo>
                      <a:pt x="78" y="28"/>
                    </a:lnTo>
                    <a:lnTo>
                      <a:pt x="76" y="24"/>
                    </a:lnTo>
                    <a:lnTo>
                      <a:pt x="76" y="20"/>
                    </a:lnTo>
                    <a:lnTo>
                      <a:pt x="76" y="18"/>
                    </a:lnTo>
                    <a:lnTo>
                      <a:pt x="78" y="16"/>
                    </a:lnTo>
                    <a:lnTo>
                      <a:pt x="82" y="12"/>
                    </a:lnTo>
                    <a:lnTo>
                      <a:pt x="84" y="10"/>
                    </a:lnTo>
                    <a:lnTo>
                      <a:pt x="86" y="6"/>
                    </a:lnTo>
                    <a:lnTo>
                      <a:pt x="86" y="4"/>
                    </a:lnTo>
                    <a:lnTo>
                      <a:pt x="82" y="4"/>
                    </a:lnTo>
                    <a:lnTo>
                      <a:pt x="82" y="0"/>
                    </a:lnTo>
                    <a:lnTo>
                      <a:pt x="76" y="2"/>
                    </a:lnTo>
                    <a:lnTo>
                      <a:pt x="70" y="4"/>
                    </a:lnTo>
                    <a:lnTo>
                      <a:pt x="66" y="6"/>
                    </a:lnTo>
                    <a:lnTo>
                      <a:pt x="60" y="6"/>
                    </a:lnTo>
                    <a:lnTo>
                      <a:pt x="56" y="6"/>
                    </a:lnTo>
                    <a:lnTo>
                      <a:pt x="52" y="6"/>
                    </a:lnTo>
                    <a:lnTo>
                      <a:pt x="46" y="10"/>
                    </a:lnTo>
                    <a:lnTo>
                      <a:pt x="42" y="10"/>
                    </a:lnTo>
                    <a:lnTo>
                      <a:pt x="36" y="12"/>
                    </a:lnTo>
                    <a:lnTo>
                      <a:pt x="34" y="12"/>
                    </a:lnTo>
                    <a:lnTo>
                      <a:pt x="32" y="12"/>
                    </a:lnTo>
                    <a:lnTo>
                      <a:pt x="28" y="12"/>
                    </a:lnTo>
                    <a:lnTo>
                      <a:pt x="24" y="12"/>
                    </a:lnTo>
                    <a:lnTo>
                      <a:pt x="22" y="16"/>
                    </a:lnTo>
                    <a:lnTo>
                      <a:pt x="20" y="16"/>
                    </a:lnTo>
                    <a:lnTo>
                      <a:pt x="18" y="14"/>
                    </a:lnTo>
                    <a:lnTo>
                      <a:pt x="16" y="14"/>
                    </a:lnTo>
                    <a:lnTo>
                      <a:pt x="14" y="14"/>
                    </a:lnTo>
                    <a:lnTo>
                      <a:pt x="14" y="16"/>
                    </a:lnTo>
                    <a:lnTo>
                      <a:pt x="14" y="18"/>
                    </a:lnTo>
                    <a:lnTo>
                      <a:pt x="14" y="22"/>
                    </a:lnTo>
                    <a:lnTo>
                      <a:pt x="14" y="24"/>
                    </a:lnTo>
                    <a:lnTo>
                      <a:pt x="12" y="24"/>
                    </a:lnTo>
                    <a:lnTo>
                      <a:pt x="10" y="26"/>
                    </a:lnTo>
                    <a:lnTo>
                      <a:pt x="8" y="28"/>
                    </a:lnTo>
                    <a:lnTo>
                      <a:pt x="8" y="30"/>
                    </a:lnTo>
                    <a:lnTo>
                      <a:pt x="6" y="30"/>
                    </a:lnTo>
                    <a:lnTo>
                      <a:pt x="2" y="30"/>
                    </a:lnTo>
                    <a:lnTo>
                      <a:pt x="2" y="30"/>
                    </a:lnTo>
                    <a:close/>
                  </a:path>
                </a:pathLst>
              </a:custGeom>
              <a:solidFill>
                <a:srgbClr val="747480"/>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583" name="Freeform 459">
                <a:extLst>
                  <a:ext uri="{FF2B5EF4-FFF2-40B4-BE49-F238E27FC236}">
                    <a16:creationId xmlns:a16="http://schemas.microsoft.com/office/drawing/2014/main" id="{13E8262F-29EE-9E33-1565-D2AECCCB7D64}"/>
                  </a:ext>
                </a:extLst>
              </p:cNvPr>
              <p:cNvSpPr>
                <a:spLocks/>
              </p:cNvSpPr>
              <p:nvPr/>
            </p:nvSpPr>
            <p:spPr bwMode="auto">
              <a:xfrm>
                <a:off x="5275851" y="3762300"/>
                <a:ext cx="262827" cy="248302"/>
              </a:xfrm>
              <a:custGeom>
                <a:avLst/>
                <a:gdLst/>
                <a:ahLst/>
                <a:cxnLst>
                  <a:cxn ang="0">
                    <a:pos x="104" y="250"/>
                  </a:cxn>
                  <a:cxn ang="0">
                    <a:pos x="108" y="246"/>
                  </a:cxn>
                  <a:cxn ang="0">
                    <a:pos x="110" y="242"/>
                  </a:cxn>
                  <a:cxn ang="0">
                    <a:pos x="110" y="238"/>
                  </a:cxn>
                  <a:cxn ang="0">
                    <a:pos x="114" y="236"/>
                  </a:cxn>
                  <a:cxn ang="0">
                    <a:pos x="118" y="236"/>
                  </a:cxn>
                  <a:cxn ang="0">
                    <a:pos x="118" y="240"/>
                  </a:cxn>
                  <a:cxn ang="0">
                    <a:pos x="126" y="240"/>
                  </a:cxn>
                  <a:cxn ang="0">
                    <a:pos x="150" y="246"/>
                  </a:cxn>
                  <a:cxn ang="0">
                    <a:pos x="160" y="254"/>
                  </a:cxn>
                  <a:cxn ang="0">
                    <a:pos x="222" y="216"/>
                  </a:cxn>
                  <a:cxn ang="0">
                    <a:pos x="268" y="192"/>
                  </a:cxn>
                  <a:cxn ang="0">
                    <a:pos x="274" y="158"/>
                  </a:cxn>
                  <a:cxn ang="0">
                    <a:pos x="260" y="148"/>
                  </a:cxn>
                  <a:cxn ang="0">
                    <a:pos x="218" y="128"/>
                  </a:cxn>
                  <a:cxn ang="0">
                    <a:pos x="210" y="114"/>
                  </a:cxn>
                  <a:cxn ang="0">
                    <a:pos x="202" y="110"/>
                  </a:cxn>
                  <a:cxn ang="0">
                    <a:pos x="200" y="106"/>
                  </a:cxn>
                  <a:cxn ang="0">
                    <a:pos x="200" y="92"/>
                  </a:cxn>
                  <a:cxn ang="0">
                    <a:pos x="198" y="86"/>
                  </a:cxn>
                  <a:cxn ang="0">
                    <a:pos x="192" y="80"/>
                  </a:cxn>
                  <a:cxn ang="0">
                    <a:pos x="188" y="78"/>
                  </a:cxn>
                  <a:cxn ang="0">
                    <a:pos x="188" y="72"/>
                  </a:cxn>
                  <a:cxn ang="0">
                    <a:pos x="184" y="68"/>
                  </a:cxn>
                  <a:cxn ang="0">
                    <a:pos x="180" y="64"/>
                  </a:cxn>
                  <a:cxn ang="0">
                    <a:pos x="176" y="50"/>
                  </a:cxn>
                  <a:cxn ang="0">
                    <a:pos x="164" y="50"/>
                  </a:cxn>
                  <a:cxn ang="0">
                    <a:pos x="144" y="40"/>
                  </a:cxn>
                  <a:cxn ang="0">
                    <a:pos x="110" y="32"/>
                  </a:cxn>
                  <a:cxn ang="0">
                    <a:pos x="100" y="24"/>
                  </a:cxn>
                  <a:cxn ang="0">
                    <a:pos x="62" y="0"/>
                  </a:cxn>
                  <a:cxn ang="0">
                    <a:pos x="36" y="10"/>
                  </a:cxn>
                  <a:cxn ang="0">
                    <a:pos x="42" y="24"/>
                  </a:cxn>
                  <a:cxn ang="0">
                    <a:pos x="38" y="28"/>
                  </a:cxn>
                  <a:cxn ang="0">
                    <a:pos x="32" y="34"/>
                  </a:cxn>
                  <a:cxn ang="0">
                    <a:pos x="28" y="38"/>
                  </a:cxn>
                  <a:cxn ang="0">
                    <a:pos x="4" y="46"/>
                  </a:cxn>
                  <a:cxn ang="0">
                    <a:pos x="2" y="54"/>
                  </a:cxn>
                  <a:cxn ang="0">
                    <a:pos x="0" y="58"/>
                  </a:cxn>
                  <a:cxn ang="0">
                    <a:pos x="0" y="62"/>
                  </a:cxn>
                  <a:cxn ang="0">
                    <a:pos x="8" y="64"/>
                  </a:cxn>
                  <a:cxn ang="0">
                    <a:pos x="12" y="70"/>
                  </a:cxn>
                  <a:cxn ang="0">
                    <a:pos x="20" y="82"/>
                  </a:cxn>
                  <a:cxn ang="0">
                    <a:pos x="22" y="88"/>
                  </a:cxn>
                  <a:cxn ang="0">
                    <a:pos x="26" y="94"/>
                  </a:cxn>
                  <a:cxn ang="0">
                    <a:pos x="32" y="98"/>
                  </a:cxn>
                  <a:cxn ang="0">
                    <a:pos x="34" y="100"/>
                  </a:cxn>
                  <a:cxn ang="0">
                    <a:pos x="36" y="110"/>
                  </a:cxn>
                  <a:cxn ang="0">
                    <a:pos x="40" y="120"/>
                  </a:cxn>
                  <a:cxn ang="0">
                    <a:pos x="48" y="128"/>
                  </a:cxn>
                  <a:cxn ang="0">
                    <a:pos x="54" y="146"/>
                  </a:cxn>
                  <a:cxn ang="0">
                    <a:pos x="52" y="162"/>
                  </a:cxn>
                  <a:cxn ang="0">
                    <a:pos x="52" y="168"/>
                  </a:cxn>
                  <a:cxn ang="0">
                    <a:pos x="56" y="176"/>
                  </a:cxn>
                  <a:cxn ang="0">
                    <a:pos x="62" y="190"/>
                  </a:cxn>
                  <a:cxn ang="0">
                    <a:pos x="64" y="196"/>
                  </a:cxn>
                  <a:cxn ang="0">
                    <a:pos x="68" y="200"/>
                  </a:cxn>
                  <a:cxn ang="0">
                    <a:pos x="72" y="198"/>
                  </a:cxn>
                  <a:cxn ang="0">
                    <a:pos x="84" y="212"/>
                  </a:cxn>
                  <a:cxn ang="0">
                    <a:pos x="86" y="220"/>
                  </a:cxn>
                  <a:cxn ang="0">
                    <a:pos x="88" y="228"/>
                  </a:cxn>
                  <a:cxn ang="0">
                    <a:pos x="96" y="236"/>
                  </a:cxn>
                  <a:cxn ang="0">
                    <a:pos x="104" y="250"/>
                  </a:cxn>
                </a:cxnLst>
                <a:rect l="0" t="0" r="r" b="b"/>
                <a:pathLst>
                  <a:path w="274" h="262">
                    <a:moveTo>
                      <a:pt x="104" y="250"/>
                    </a:moveTo>
                    <a:lnTo>
                      <a:pt x="104" y="250"/>
                    </a:lnTo>
                    <a:lnTo>
                      <a:pt x="106" y="250"/>
                    </a:lnTo>
                    <a:lnTo>
                      <a:pt x="108" y="246"/>
                    </a:lnTo>
                    <a:lnTo>
                      <a:pt x="110" y="244"/>
                    </a:lnTo>
                    <a:lnTo>
                      <a:pt x="110" y="242"/>
                    </a:lnTo>
                    <a:lnTo>
                      <a:pt x="110" y="240"/>
                    </a:lnTo>
                    <a:lnTo>
                      <a:pt x="110" y="238"/>
                    </a:lnTo>
                    <a:lnTo>
                      <a:pt x="112" y="236"/>
                    </a:lnTo>
                    <a:lnTo>
                      <a:pt x="114" y="236"/>
                    </a:lnTo>
                    <a:lnTo>
                      <a:pt x="116" y="236"/>
                    </a:lnTo>
                    <a:lnTo>
                      <a:pt x="118" y="236"/>
                    </a:lnTo>
                    <a:lnTo>
                      <a:pt x="118" y="238"/>
                    </a:lnTo>
                    <a:lnTo>
                      <a:pt x="118" y="240"/>
                    </a:lnTo>
                    <a:lnTo>
                      <a:pt x="122" y="240"/>
                    </a:lnTo>
                    <a:lnTo>
                      <a:pt x="126" y="240"/>
                    </a:lnTo>
                    <a:lnTo>
                      <a:pt x="140" y="242"/>
                    </a:lnTo>
                    <a:lnTo>
                      <a:pt x="150" y="246"/>
                    </a:lnTo>
                    <a:lnTo>
                      <a:pt x="152" y="262"/>
                    </a:lnTo>
                    <a:lnTo>
                      <a:pt x="160" y="254"/>
                    </a:lnTo>
                    <a:lnTo>
                      <a:pt x="176" y="232"/>
                    </a:lnTo>
                    <a:lnTo>
                      <a:pt x="222" y="216"/>
                    </a:lnTo>
                    <a:lnTo>
                      <a:pt x="264" y="198"/>
                    </a:lnTo>
                    <a:lnTo>
                      <a:pt x="268" y="192"/>
                    </a:lnTo>
                    <a:lnTo>
                      <a:pt x="270" y="178"/>
                    </a:lnTo>
                    <a:lnTo>
                      <a:pt x="274" y="158"/>
                    </a:lnTo>
                    <a:lnTo>
                      <a:pt x="264" y="148"/>
                    </a:lnTo>
                    <a:lnTo>
                      <a:pt x="260" y="148"/>
                    </a:lnTo>
                    <a:lnTo>
                      <a:pt x="218" y="140"/>
                    </a:lnTo>
                    <a:lnTo>
                      <a:pt x="218" y="128"/>
                    </a:lnTo>
                    <a:lnTo>
                      <a:pt x="210" y="120"/>
                    </a:lnTo>
                    <a:lnTo>
                      <a:pt x="210" y="114"/>
                    </a:lnTo>
                    <a:lnTo>
                      <a:pt x="204" y="110"/>
                    </a:lnTo>
                    <a:lnTo>
                      <a:pt x="202" y="110"/>
                    </a:lnTo>
                    <a:lnTo>
                      <a:pt x="200" y="108"/>
                    </a:lnTo>
                    <a:lnTo>
                      <a:pt x="200" y="106"/>
                    </a:lnTo>
                    <a:lnTo>
                      <a:pt x="200" y="96"/>
                    </a:lnTo>
                    <a:lnTo>
                      <a:pt x="200" y="92"/>
                    </a:lnTo>
                    <a:lnTo>
                      <a:pt x="200" y="86"/>
                    </a:lnTo>
                    <a:lnTo>
                      <a:pt x="198" y="86"/>
                    </a:lnTo>
                    <a:lnTo>
                      <a:pt x="194" y="84"/>
                    </a:lnTo>
                    <a:lnTo>
                      <a:pt x="192" y="80"/>
                    </a:lnTo>
                    <a:lnTo>
                      <a:pt x="190" y="80"/>
                    </a:lnTo>
                    <a:lnTo>
                      <a:pt x="188" y="78"/>
                    </a:lnTo>
                    <a:lnTo>
                      <a:pt x="188" y="76"/>
                    </a:lnTo>
                    <a:lnTo>
                      <a:pt x="188" y="72"/>
                    </a:lnTo>
                    <a:lnTo>
                      <a:pt x="184" y="72"/>
                    </a:lnTo>
                    <a:lnTo>
                      <a:pt x="184" y="68"/>
                    </a:lnTo>
                    <a:lnTo>
                      <a:pt x="180" y="68"/>
                    </a:lnTo>
                    <a:lnTo>
                      <a:pt x="180" y="64"/>
                    </a:lnTo>
                    <a:lnTo>
                      <a:pt x="176" y="54"/>
                    </a:lnTo>
                    <a:lnTo>
                      <a:pt x="176" y="50"/>
                    </a:lnTo>
                    <a:lnTo>
                      <a:pt x="174" y="50"/>
                    </a:lnTo>
                    <a:lnTo>
                      <a:pt x="164" y="50"/>
                    </a:lnTo>
                    <a:lnTo>
                      <a:pt x="162" y="44"/>
                    </a:lnTo>
                    <a:lnTo>
                      <a:pt x="144" y="40"/>
                    </a:lnTo>
                    <a:lnTo>
                      <a:pt x="120" y="38"/>
                    </a:lnTo>
                    <a:lnTo>
                      <a:pt x="110" y="32"/>
                    </a:lnTo>
                    <a:lnTo>
                      <a:pt x="110" y="24"/>
                    </a:lnTo>
                    <a:lnTo>
                      <a:pt x="100" y="24"/>
                    </a:lnTo>
                    <a:lnTo>
                      <a:pt x="100" y="20"/>
                    </a:lnTo>
                    <a:lnTo>
                      <a:pt x="62" y="0"/>
                    </a:lnTo>
                    <a:lnTo>
                      <a:pt x="62" y="2"/>
                    </a:lnTo>
                    <a:lnTo>
                      <a:pt x="36" y="10"/>
                    </a:lnTo>
                    <a:lnTo>
                      <a:pt x="46" y="22"/>
                    </a:lnTo>
                    <a:lnTo>
                      <a:pt x="42" y="24"/>
                    </a:lnTo>
                    <a:lnTo>
                      <a:pt x="40" y="26"/>
                    </a:lnTo>
                    <a:lnTo>
                      <a:pt x="38" y="28"/>
                    </a:lnTo>
                    <a:lnTo>
                      <a:pt x="36" y="30"/>
                    </a:lnTo>
                    <a:lnTo>
                      <a:pt x="32" y="34"/>
                    </a:lnTo>
                    <a:lnTo>
                      <a:pt x="30" y="38"/>
                    </a:lnTo>
                    <a:lnTo>
                      <a:pt x="28" y="38"/>
                    </a:lnTo>
                    <a:lnTo>
                      <a:pt x="18" y="46"/>
                    </a:lnTo>
                    <a:lnTo>
                      <a:pt x="4" y="46"/>
                    </a:lnTo>
                    <a:lnTo>
                      <a:pt x="0" y="54"/>
                    </a:lnTo>
                    <a:lnTo>
                      <a:pt x="2" y="54"/>
                    </a:lnTo>
                    <a:lnTo>
                      <a:pt x="2" y="58"/>
                    </a:lnTo>
                    <a:lnTo>
                      <a:pt x="0" y="58"/>
                    </a:lnTo>
                    <a:lnTo>
                      <a:pt x="0" y="60"/>
                    </a:lnTo>
                    <a:lnTo>
                      <a:pt x="0" y="62"/>
                    </a:lnTo>
                    <a:lnTo>
                      <a:pt x="6" y="64"/>
                    </a:lnTo>
                    <a:lnTo>
                      <a:pt x="8" y="64"/>
                    </a:lnTo>
                    <a:lnTo>
                      <a:pt x="10" y="66"/>
                    </a:lnTo>
                    <a:lnTo>
                      <a:pt x="12" y="70"/>
                    </a:lnTo>
                    <a:lnTo>
                      <a:pt x="16" y="80"/>
                    </a:lnTo>
                    <a:lnTo>
                      <a:pt x="20" y="82"/>
                    </a:lnTo>
                    <a:lnTo>
                      <a:pt x="22" y="84"/>
                    </a:lnTo>
                    <a:lnTo>
                      <a:pt x="22" y="88"/>
                    </a:lnTo>
                    <a:lnTo>
                      <a:pt x="26" y="90"/>
                    </a:lnTo>
                    <a:lnTo>
                      <a:pt x="26" y="94"/>
                    </a:lnTo>
                    <a:lnTo>
                      <a:pt x="30" y="96"/>
                    </a:lnTo>
                    <a:lnTo>
                      <a:pt x="32" y="98"/>
                    </a:lnTo>
                    <a:lnTo>
                      <a:pt x="32" y="100"/>
                    </a:lnTo>
                    <a:lnTo>
                      <a:pt x="34" y="100"/>
                    </a:lnTo>
                    <a:lnTo>
                      <a:pt x="36" y="104"/>
                    </a:lnTo>
                    <a:lnTo>
                      <a:pt x="36" y="110"/>
                    </a:lnTo>
                    <a:lnTo>
                      <a:pt x="38" y="116"/>
                    </a:lnTo>
                    <a:lnTo>
                      <a:pt x="40" y="120"/>
                    </a:lnTo>
                    <a:lnTo>
                      <a:pt x="42" y="120"/>
                    </a:lnTo>
                    <a:lnTo>
                      <a:pt x="48" y="128"/>
                    </a:lnTo>
                    <a:lnTo>
                      <a:pt x="52" y="136"/>
                    </a:lnTo>
                    <a:lnTo>
                      <a:pt x="54" y="146"/>
                    </a:lnTo>
                    <a:lnTo>
                      <a:pt x="56" y="158"/>
                    </a:lnTo>
                    <a:lnTo>
                      <a:pt x="52" y="162"/>
                    </a:lnTo>
                    <a:lnTo>
                      <a:pt x="52" y="164"/>
                    </a:lnTo>
                    <a:lnTo>
                      <a:pt x="52" y="168"/>
                    </a:lnTo>
                    <a:lnTo>
                      <a:pt x="56" y="168"/>
                    </a:lnTo>
                    <a:lnTo>
                      <a:pt x="56" y="176"/>
                    </a:lnTo>
                    <a:lnTo>
                      <a:pt x="58" y="186"/>
                    </a:lnTo>
                    <a:lnTo>
                      <a:pt x="62" y="190"/>
                    </a:lnTo>
                    <a:lnTo>
                      <a:pt x="62" y="194"/>
                    </a:lnTo>
                    <a:lnTo>
                      <a:pt x="64" y="196"/>
                    </a:lnTo>
                    <a:lnTo>
                      <a:pt x="66" y="198"/>
                    </a:lnTo>
                    <a:lnTo>
                      <a:pt x="68" y="200"/>
                    </a:lnTo>
                    <a:lnTo>
                      <a:pt x="70" y="200"/>
                    </a:lnTo>
                    <a:lnTo>
                      <a:pt x="72" y="198"/>
                    </a:lnTo>
                    <a:lnTo>
                      <a:pt x="80" y="206"/>
                    </a:lnTo>
                    <a:lnTo>
                      <a:pt x="84" y="212"/>
                    </a:lnTo>
                    <a:lnTo>
                      <a:pt x="84" y="216"/>
                    </a:lnTo>
                    <a:lnTo>
                      <a:pt x="86" y="220"/>
                    </a:lnTo>
                    <a:lnTo>
                      <a:pt x="88" y="224"/>
                    </a:lnTo>
                    <a:lnTo>
                      <a:pt x="88" y="228"/>
                    </a:lnTo>
                    <a:lnTo>
                      <a:pt x="88" y="232"/>
                    </a:lnTo>
                    <a:lnTo>
                      <a:pt x="96" y="236"/>
                    </a:lnTo>
                    <a:lnTo>
                      <a:pt x="98" y="244"/>
                    </a:lnTo>
                    <a:lnTo>
                      <a:pt x="104" y="250"/>
                    </a:lnTo>
                    <a:lnTo>
                      <a:pt x="104" y="250"/>
                    </a:lnTo>
                    <a:close/>
                  </a:path>
                </a:pathLst>
              </a:custGeom>
              <a:solidFill>
                <a:srgbClr val="747480"/>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584" name="Freeform 460">
                <a:extLst>
                  <a:ext uri="{FF2B5EF4-FFF2-40B4-BE49-F238E27FC236}">
                    <a16:creationId xmlns:a16="http://schemas.microsoft.com/office/drawing/2014/main" id="{363BA2D5-B169-3556-8B5E-AB0B84ADB4A8}"/>
                  </a:ext>
                </a:extLst>
              </p:cNvPr>
              <p:cNvSpPr>
                <a:spLocks noEditPoints="1"/>
              </p:cNvSpPr>
              <p:nvPr/>
            </p:nvSpPr>
            <p:spPr bwMode="auto">
              <a:xfrm>
                <a:off x="5491711" y="3854527"/>
                <a:ext cx="97840" cy="147844"/>
              </a:xfrm>
              <a:custGeom>
                <a:avLst/>
                <a:gdLst/>
                <a:ahLst/>
                <a:cxnLst>
                  <a:cxn ang="0">
                    <a:pos x="54" y="6"/>
                  </a:cxn>
                  <a:cxn ang="0">
                    <a:pos x="56" y="12"/>
                  </a:cxn>
                  <a:cxn ang="0">
                    <a:pos x="52" y="2"/>
                  </a:cxn>
                  <a:cxn ang="0">
                    <a:pos x="52" y="6"/>
                  </a:cxn>
                  <a:cxn ang="0">
                    <a:pos x="58" y="18"/>
                  </a:cxn>
                  <a:cxn ang="0">
                    <a:pos x="66" y="28"/>
                  </a:cxn>
                  <a:cxn ang="0">
                    <a:pos x="72" y="38"/>
                  </a:cxn>
                  <a:cxn ang="0">
                    <a:pos x="84" y="42"/>
                  </a:cxn>
                  <a:cxn ang="0">
                    <a:pos x="90" y="46"/>
                  </a:cxn>
                  <a:cxn ang="0">
                    <a:pos x="96" y="52"/>
                  </a:cxn>
                  <a:cxn ang="0">
                    <a:pos x="96" y="56"/>
                  </a:cxn>
                  <a:cxn ang="0">
                    <a:pos x="102" y="60"/>
                  </a:cxn>
                  <a:cxn ang="0">
                    <a:pos x="98" y="70"/>
                  </a:cxn>
                  <a:cxn ang="0">
                    <a:pos x="96" y="78"/>
                  </a:cxn>
                  <a:cxn ang="0">
                    <a:pos x="92" y="84"/>
                  </a:cxn>
                  <a:cxn ang="0">
                    <a:pos x="86" y="94"/>
                  </a:cxn>
                  <a:cxn ang="0">
                    <a:pos x="86" y="102"/>
                  </a:cxn>
                  <a:cxn ang="0">
                    <a:pos x="78" y="110"/>
                  </a:cxn>
                  <a:cxn ang="0">
                    <a:pos x="72" y="122"/>
                  </a:cxn>
                  <a:cxn ang="0">
                    <a:pos x="66" y="126"/>
                  </a:cxn>
                  <a:cxn ang="0">
                    <a:pos x="62" y="136"/>
                  </a:cxn>
                  <a:cxn ang="0">
                    <a:pos x="46" y="138"/>
                  </a:cxn>
                  <a:cxn ang="0">
                    <a:pos x="42" y="150"/>
                  </a:cxn>
                  <a:cxn ang="0">
                    <a:pos x="32" y="152"/>
                  </a:cxn>
                  <a:cxn ang="0">
                    <a:pos x="26" y="156"/>
                  </a:cxn>
                  <a:cxn ang="0">
                    <a:pos x="14" y="152"/>
                  </a:cxn>
                  <a:cxn ang="0">
                    <a:pos x="0" y="120"/>
                  </a:cxn>
                  <a:cxn ang="0">
                    <a:pos x="46" y="96"/>
                  </a:cxn>
                  <a:cxn ang="0">
                    <a:pos x="52" y="62"/>
                  </a:cxn>
                  <a:cxn ang="0">
                    <a:pos x="44" y="48"/>
                  </a:cxn>
                  <a:cxn ang="0">
                    <a:pos x="48" y="40"/>
                  </a:cxn>
                  <a:cxn ang="0">
                    <a:pos x="48" y="32"/>
                  </a:cxn>
                  <a:cxn ang="0">
                    <a:pos x="48" y="28"/>
                  </a:cxn>
                  <a:cxn ang="0">
                    <a:pos x="50" y="24"/>
                  </a:cxn>
                  <a:cxn ang="0">
                    <a:pos x="48" y="18"/>
                  </a:cxn>
                  <a:cxn ang="0">
                    <a:pos x="52" y="22"/>
                  </a:cxn>
                  <a:cxn ang="0">
                    <a:pos x="56" y="20"/>
                  </a:cxn>
                  <a:cxn ang="0">
                    <a:pos x="58" y="18"/>
                  </a:cxn>
                </a:cxnLst>
                <a:rect l="0" t="0" r="r" b="b"/>
                <a:pathLst>
                  <a:path w="102" h="156">
                    <a:moveTo>
                      <a:pt x="52" y="6"/>
                    </a:moveTo>
                    <a:lnTo>
                      <a:pt x="54" y="6"/>
                    </a:lnTo>
                    <a:lnTo>
                      <a:pt x="52" y="12"/>
                    </a:lnTo>
                    <a:lnTo>
                      <a:pt x="56" y="12"/>
                    </a:lnTo>
                    <a:lnTo>
                      <a:pt x="56" y="0"/>
                    </a:lnTo>
                    <a:lnTo>
                      <a:pt x="52" y="2"/>
                    </a:lnTo>
                    <a:lnTo>
                      <a:pt x="52" y="6"/>
                    </a:lnTo>
                    <a:lnTo>
                      <a:pt x="52" y="6"/>
                    </a:lnTo>
                    <a:close/>
                    <a:moveTo>
                      <a:pt x="58" y="18"/>
                    </a:moveTo>
                    <a:lnTo>
                      <a:pt x="58" y="18"/>
                    </a:lnTo>
                    <a:lnTo>
                      <a:pt x="60" y="24"/>
                    </a:lnTo>
                    <a:lnTo>
                      <a:pt x="66" y="28"/>
                    </a:lnTo>
                    <a:lnTo>
                      <a:pt x="70" y="34"/>
                    </a:lnTo>
                    <a:lnTo>
                      <a:pt x="72" y="38"/>
                    </a:lnTo>
                    <a:lnTo>
                      <a:pt x="76" y="38"/>
                    </a:lnTo>
                    <a:lnTo>
                      <a:pt x="84" y="42"/>
                    </a:lnTo>
                    <a:lnTo>
                      <a:pt x="86" y="44"/>
                    </a:lnTo>
                    <a:lnTo>
                      <a:pt x="90" y="46"/>
                    </a:lnTo>
                    <a:lnTo>
                      <a:pt x="92" y="46"/>
                    </a:lnTo>
                    <a:lnTo>
                      <a:pt x="96" y="52"/>
                    </a:lnTo>
                    <a:lnTo>
                      <a:pt x="96" y="54"/>
                    </a:lnTo>
                    <a:lnTo>
                      <a:pt x="96" y="56"/>
                    </a:lnTo>
                    <a:lnTo>
                      <a:pt x="100" y="58"/>
                    </a:lnTo>
                    <a:lnTo>
                      <a:pt x="102" y="60"/>
                    </a:lnTo>
                    <a:lnTo>
                      <a:pt x="102" y="64"/>
                    </a:lnTo>
                    <a:lnTo>
                      <a:pt x="98" y="70"/>
                    </a:lnTo>
                    <a:lnTo>
                      <a:pt x="98" y="74"/>
                    </a:lnTo>
                    <a:lnTo>
                      <a:pt x="96" y="78"/>
                    </a:lnTo>
                    <a:lnTo>
                      <a:pt x="96" y="80"/>
                    </a:lnTo>
                    <a:lnTo>
                      <a:pt x="92" y="84"/>
                    </a:lnTo>
                    <a:lnTo>
                      <a:pt x="90" y="92"/>
                    </a:lnTo>
                    <a:lnTo>
                      <a:pt x="86" y="94"/>
                    </a:lnTo>
                    <a:lnTo>
                      <a:pt x="86" y="98"/>
                    </a:lnTo>
                    <a:lnTo>
                      <a:pt x="86" y="102"/>
                    </a:lnTo>
                    <a:lnTo>
                      <a:pt x="82" y="100"/>
                    </a:lnTo>
                    <a:lnTo>
                      <a:pt x="78" y="110"/>
                    </a:lnTo>
                    <a:lnTo>
                      <a:pt x="78" y="120"/>
                    </a:lnTo>
                    <a:lnTo>
                      <a:pt x="72" y="122"/>
                    </a:lnTo>
                    <a:lnTo>
                      <a:pt x="66" y="124"/>
                    </a:lnTo>
                    <a:lnTo>
                      <a:pt x="66" y="126"/>
                    </a:lnTo>
                    <a:lnTo>
                      <a:pt x="62" y="132"/>
                    </a:lnTo>
                    <a:lnTo>
                      <a:pt x="62" y="136"/>
                    </a:lnTo>
                    <a:lnTo>
                      <a:pt x="56" y="138"/>
                    </a:lnTo>
                    <a:lnTo>
                      <a:pt x="46" y="138"/>
                    </a:lnTo>
                    <a:lnTo>
                      <a:pt x="44" y="144"/>
                    </a:lnTo>
                    <a:lnTo>
                      <a:pt x="42" y="150"/>
                    </a:lnTo>
                    <a:lnTo>
                      <a:pt x="36" y="150"/>
                    </a:lnTo>
                    <a:lnTo>
                      <a:pt x="32" y="152"/>
                    </a:lnTo>
                    <a:lnTo>
                      <a:pt x="26" y="154"/>
                    </a:lnTo>
                    <a:lnTo>
                      <a:pt x="26" y="156"/>
                    </a:lnTo>
                    <a:lnTo>
                      <a:pt x="22" y="156"/>
                    </a:lnTo>
                    <a:lnTo>
                      <a:pt x="14" y="152"/>
                    </a:lnTo>
                    <a:lnTo>
                      <a:pt x="0" y="124"/>
                    </a:lnTo>
                    <a:lnTo>
                      <a:pt x="0" y="120"/>
                    </a:lnTo>
                    <a:lnTo>
                      <a:pt x="42" y="102"/>
                    </a:lnTo>
                    <a:lnTo>
                      <a:pt x="46" y="96"/>
                    </a:lnTo>
                    <a:lnTo>
                      <a:pt x="48" y="82"/>
                    </a:lnTo>
                    <a:lnTo>
                      <a:pt x="52" y="62"/>
                    </a:lnTo>
                    <a:lnTo>
                      <a:pt x="42" y="52"/>
                    </a:lnTo>
                    <a:lnTo>
                      <a:pt x="44" y="48"/>
                    </a:lnTo>
                    <a:lnTo>
                      <a:pt x="46" y="44"/>
                    </a:lnTo>
                    <a:lnTo>
                      <a:pt x="48" y="40"/>
                    </a:lnTo>
                    <a:lnTo>
                      <a:pt x="48" y="36"/>
                    </a:lnTo>
                    <a:lnTo>
                      <a:pt x="48" y="32"/>
                    </a:lnTo>
                    <a:lnTo>
                      <a:pt x="46" y="32"/>
                    </a:lnTo>
                    <a:lnTo>
                      <a:pt x="48" y="28"/>
                    </a:lnTo>
                    <a:lnTo>
                      <a:pt x="52" y="26"/>
                    </a:lnTo>
                    <a:lnTo>
                      <a:pt x="50" y="24"/>
                    </a:lnTo>
                    <a:lnTo>
                      <a:pt x="48" y="22"/>
                    </a:lnTo>
                    <a:lnTo>
                      <a:pt x="48" y="18"/>
                    </a:lnTo>
                    <a:lnTo>
                      <a:pt x="50" y="18"/>
                    </a:lnTo>
                    <a:lnTo>
                      <a:pt x="52" y="22"/>
                    </a:lnTo>
                    <a:lnTo>
                      <a:pt x="54" y="22"/>
                    </a:lnTo>
                    <a:lnTo>
                      <a:pt x="56" y="20"/>
                    </a:lnTo>
                    <a:lnTo>
                      <a:pt x="58" y="18"/>
                    </a:lnTo>
                    <a:lnTo>
                      <a:pt x="58" y="18"/>
                    </a:lnTo>
                    <a:close/>
                  </a:path>
                </a:pathLst>
              </a:custGeom>
              <a:solidFill>
                <a:srgbClr val="747480"/>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585" name="Freeform 461">
                <a:extLst>
                  <a:ext uri="{FF2B5EF4-FFF2-40B4-BE49-F238E27FC236}">
                    <a16:creationId xmlns:a16="http://schemas.microsoft.com/office/drawing/2014/main" id="{23BEB671-520B-35EF-5E1A-12639031FC0B}"/>
                  </a:ext>
                </a:extLst>
              </p:cNvPr>
              <p:cNvSpPr>
                <a:spLocks/>
              </p:cNvSpPr>
              <p:nvPr/>
            </p:nvSpPr>
            <p:spPr bwMode="auto">
              <a:xfrm>
                <a:off x="4680775" y="3693132"/>
                <a:ext cx="138128" cy="136472"/>
              </a:xfrm>
              <a:custGeom>
                <a:avLst/>
                <a:gdLst/>
                <a:ahLst/>
                <a:cxnLst>
                  <a:cxn ang="0">
                    <a:pos x="132" y="12"/>
                  </a:cxn>
                  <a:cxn ang="0">
                    <a:pos x="126" y="6"/>
                  </a:cxn>
                  <a:cxn ang="0">
                    <a:pos x="122" y="8"/>
                  </a:cxn>
                  <a:cxn ang="0">
                    <a:pos x="114" y="10"/>
                  </a:cxn>
                  <a:cxn ang="0">
                    <a:pos x="104" y="10"/>
                  </a:cxn>
                  <a:cxn ang="0">
                    <a:pos x="96" y="10"/>
                  </a:cxn>
                  <a:cxn ang="0">
                    <a:pos x="92" y="0"/>
                  </a:cxn>
                  <a:cxn ang="0">
                    <a:pos x="84" y="4"/>
                  </a:cxn>
                  <a:cxn ang="0">
                    <a:pos x="82" y="12"/>
                  </a:cxn>
                  <a:cxn ang="0">
                    <a:pos x="80" y="20"/>
                  </a:cxn>
                  <a:cxn ang="0">
                    <a:pos x="74" y="28"/>
                  </a:cxn>
                  <a:cxn ang="0">
                    <a:pos x="66" y="40"/>
                  </a:cxn>
                  <a:cxn ang="0">
                    <a:pos x="52" y="46"/>
                  </a:cxn>
                  <a:cxn ang="0">
                    <a:pos x="38" y="56"/>
                  </a:cxn>
                  <a:cxn ang="0">
                    <a:pos x="36" y="68"/>
                  </a:cxn>
                  <a:cxn ang="0">
                    <a:pos x="32" y="76"/>
                  </a:cxn>
                  <a:cxn ang="0">
                    <a:pos x="34" y="92"/>
                  </a:cxn>
                  <a:cxn ang="0">
                    <a:pos x="34" y="104"/>
                  </a:cxn>
                  <a:cxn ang="0">
                    <a:pos x="32" y="112"/>
                  </a:cxn>
                  <a:cxn ang="0">
                    <a:pos x="22" y="128"/>
                  </a:cxn>
                  <a:cxn ang="0">
                    <a:pos x="14" y="134"/>
                  </a:cxn>
                  <a:cxn ang="0">
                    <a:pos x="4" y="140"/>
                  </a:cxn>
                  <a:cxn ang="0">
                    <a:pos x="56" y="142"/>
                  </a:cxn>
                  <a:cxn ang="0">
                    <a:pos x="60" y="124"/>
                  </a:cxn>
                  <a:cxn ang="0">
                    <a:pos x="70" y="114"/>
                  </a:cxn>
                  <a:cxn ang="0">
                    <a:pos x="84" y="110"/>
                  </a:cxn>
                  <a:cxn ang="0">
                    <a:pos x="88" y="106"/>
                  </a:cxn>
                  <a:cxn ang="0">
                    <a:pos x="96" y="102"/>
                  </a:cxn>
                  <a:cxn ang="0">
                    <a:pos x="106" y="100"/>
                  </a:cxn>
                  <a:cxn ang="0">
                    <a:pos x="112" y="90"/>
                  </a:cxn>
                  <a:cxn ang="0">
                    <a:pos x="118" y="84"/>
                  </a:cxn>
                  <a:cxn ang="0">
                    <a:pos x="128" y="76"/>
                  </a:cxn>
                  <a:cxn ang="0">
                    <a:pos x="128" y="70"/>
                  </a:cxn>
                  <a:cxn ang="0">
                    <a:pos x="132" y="66"/>
                  </a:cxn>
                  <a:cxn ang="0">
                    <a:pos x="136" y="62"/>
                  </a:cxn>
                  <a:cxn ang="0">
                    <a:pos x="142" y="56"/>
                  </a:cxn>
                  <a:cxn ang="0">
                    <a:pos x="142" y="52"/>
                  </a:cxn>
                  <a:cxn ang="0">
                    <a:pos x="138" y="46"/>
                  </a:cxn>
                  <a:cxn ang="0">
                    <a:pos x="136" y="38"/>
                  </a:cxn>
                  <a:cxn ang="0">
                    <a:pos x="134" y="32"/>
                  </a:cxn>
                  <a:cxn ang="0">
                    <a:pos x="136" y="22"/>
                  </a:cxn>
                  <a:cxn ang="0">
                    <a:pos x="134" y="14"/>
                  </a:cxn>
                  <a:cxn ang="0">
                    <a:pos x="132" y="12"/>
                  </a:cxn>
                </a:cxnLst>
                <a:rect l="0" t="0" r="r" b="b"/>
                <a:pathLst>
                  <a:path w="144" h="144">
                    <a:moveTo>
                      <a:pt x="132" y="12"/>
                    </a:moveTo>
                    <a:lnTo>
                      <a:pt x="132" y="12"/>
                    </a:lnTo>
                    <a:lnTo>
                      <a:pt x="126" y="10"/>
                    </a:lnTo>
                    <a:lnTo>
                      <a:pt x="126" y="6"/>
                    </a:lnTo>
                    <a:lnTo>
                      <a:pt x="124" y="6"/>
                    </a:lnTo>
                    <a:lnTo>
                      <a:pt x="122" y="8"/>
                    </a:lnTo>
                    <a:lnTo>
                      <a:pt x="120" y="10"/>
                    </a:lnTo>
                    <a:lnTo>
                      <a:pt x="114" y="10"/>
                    </a:lnTo>
                    <a:lnTo>
                      <a:pt x="108" y="10"/>
                    </a:lnTo>
                    <a:lnTo>
                      <a:pt x="104" y="10"/>
                    </a:lnTo>
                    <a:lnTo>
                      <a:pt x="100" y="12"/>
                    </a:lnTo>
                    <a:lnTo>
                      <a:pt x="96" y="10"/>
                    </a:lnTo>
                    <a:lnTo>
                      <a:pt x="94" y="6"/>
                    </a:lnTo>
                    <a:lnTo>
                      <a:pt x="92" y="0"/>
                    </a:lnTo>
                    <a:lnTo>
                      <a:pt x="88" y="0"/>
                    </a:lnTo>
                    <a:lnTo>
                      <a:pt x="84" y="4"/>
                    </a:lnTo>
                    <a:lnTo>
                      <a:pt x="84" y="8"/>
                    </a:lnTo>
                    <a:lnTo>
                      <a:pt x="82" y="12"/>
                    </a:lnTo>
                    <a:lnTo>
                      <a:pt x="80" y="14"/>
                    </a:lnTo>
                    <a:lnTo>
                      <a:pt x="80" y="20"/>
                    </a:lnTo>
                    <a:lnTo>
                      <a:pt x="78" y="24"/>
                    </a:lnTo>
                    <a:lnTo>
                      <a:pt x="74" y="28"/>
                    </a:lnTo>
                    <a:lnTo>
                      <a:pt x="72" y="34"/>
                    </a:lnTo>
                    <a:lnTo>
                      <a:pt x="66" y="40"/>
                    </a:lnTo>
                    <a:lnTo>
                      <a:pt x="56" y="46"/>
                    </a:lnTo>
                    <a:lnTo>
                      <a:pt x="52" y="46"/>
                    </a:lnTo>
                    <a:lnTo>
                      <a:pt x="44" y="52"/>
                    </a:lnTo>
                    <a:lnTo>
                      <a:pt x="38" y="56"/>
                    </a:lnTo>
                    <a:lnTo>
                      <a:pt x="38" y="64"/>
                    </a:lnTo>
                    <a:lnTo>
                      <a:pt x="36" y="68"/>
                    </a:lnTo>
                    <a:lnTo>
                      <a:pt x="32" y="72"/>
                    </a:lnTo>
                    <a:lnTo>
                      <a:pt x="32" y="76"/>
                    </a:lnTo>
                    <a:lnTo>
                      <a:pt x="32" y="82"/>
                    </a:lnTo>
                    <a:lnTo>
                      <a:pt x="34" y="92"/>
                    </a:lnTo>
                    <a:lnTo>
                      <a:pt x="34" y="102"/>
                    </a:lnTo>
                    <a:lnTo>
                      <a:pt x="34" y="104"/>
                    </a:lnTo>
                    <a:lnTo>
                      <a:pt x="32" y="110"/>
                    </a:lnTo>
                    <a:lnTo>
                      <a:pt x="32" y="112"/>
                    </a:lnTo>
                    <a:lnTo>
                      <a:pt x="26" y="120"/>
                    </a:lnTo>
                    <a:lnTo>
                      <a:pt x="22" y="128"/>
                    </a:lnTo>
                    <a:lnTo>
                      <a:pt x="18" y="128"/>
                    </a:lnTo>
                    <a:lnTo>
                      <a:pt x="14" y="134"/>
                    </a:lnTo>
                    <a:lnTo>
                      <a:pt x="10" y="138"/>
                    </a:lnTo>
                    <a:lnTo>
                      <a:pt x="4" y="140"/>
                    </a:lnTo>
                    <a:lnTo>
                      <a:pt x="0" y="144"/>
                    </a:lnTo>
                    <a:lnTo>
                      <a:pt x="56" y="142"/>
                    </a:lnTo>
                    <a:lnTo>
                      <a:pt x="56" y="128"/>
                    </a:lnTo>
                    <a:lnTo>
                      <a:pt x="60" y="124"/>
                    </a:lnTo>
                    <a:lnTo>
                      <a:pt x="66" y="116"/>
                    </a:lnTo>
                    <a:lnTo>
                      <a:pt x="70" y="114"/>
                    </a:lnTo>
                    <a:lnTo>
                      <a:pt x="76" y="112"/>
                    </a:lnTo>
                    <a:lnTo>
                      <a:pt x="84" y="110"/>
                    </a:lnTo>
                    <a:lnTo>
                      <a:pt x="86" y="108"/>
                    </a:lnTo>
                    <a:lnTo>
                      <a:pt x="88" y="106"/>
                    </a:lnTo>
                    <a:lnTo>
                      <a:pt x="92" y="102"/>
                    </a:lnTo>
                    <a:lnTo>
                      <a:pt x="96" y="102"/>
                    </a:lnTo>
                    <a:lnTo>
                      <a:pt x="102" y="102"/>
                    </a:lnTo>
                    <a:lnTo>
                      <a:pt x="106" y="100"/>
                    </a:lnTo>
                    <a:lnTo>
                      <a:pt x="110" y="96"/>
                    </a:lnTo>
                    <a:lnTo>
                      <a:pt x="112" y="90"/>
                    </a:lnTo>
                    <a:lnTo>
                      <a:pt x="116" y="84"/>
                    </a:lnTo>
                    <a:lnTo>
                      <a:pt x="118" y="84"/>
                    </a:lnTo>
                    <a:lnTo>
                      <a:pt x="124" y="80"/>
                    </a:lnTo>
                    <a:lnTo>
                      <a:pt x="128" y="76"/>
                    </a:lnTo>
                    <a:lnTo>
                      <a:pt x="128" y="72"/>
                    </a:lnTo>
                    <a:lnTo>
                      <a:pt x="128" y="70"/>
                    </a:lnTo>
                    <a:lnTo>
                      <a:pt x="130" y="68"/>
                    </a:lnTo>
                    <a:lnTo>
                      <a:pt x="132" y="66"/>
                    </a:lnTo>
                    <a:lnTo>
                      <a:pt x="134" y="64"/>
                    </a:lnTo>
                    <a:lnTo>
                      <a:pt x="136" y="62"/>
                    </a:lnTo>
                    <a:lnTo>
                      <a:pt x="136" y="60"/>
                    </a:lnTo>
                    <a:lnTo>
                      <a:pt x="142" y="56"/>
                    </a:lnTo>
                    <a:lnTo>
                      <a:pt x="144" y="54"/>
                    </a:lnTo>
                    <a:lnTo>
                      <a:pt x="142" y="52"/>
                    </a:lnTo>
                    <a:lnTo>
                      <a:pt x="140" y="50"/>
                    </a:lnTo>
                    <a:lnTo>
                      <a:pt x="138" y="46"/>
                    </a:lnTo>
                    <a:lnTo>
                      <a:pt x="138" y="40"/>
                    </a:lnTo>
                    <a:lnTo>
                      <a:pt x="136" y="38"/>
                    </a:lnTo>
                    <a:lnTo>
                      <a:pt x="136" y="36"/>
                    </a:lnTo>
                    <a:lnTo>
                      <a:pt x="134" y="32"/>
                    </a:lnTo>
                    <a:lnTo>
                      <a:pt x="136" y="26"/>
                    </a:lnTo>
                    <a:lnTo>
                      <a:pt x="136" y="22"/>
                    </a:lnTo>
                    <a:lnTo>
                      <a:pt x="136" y="18"/>
                    </a:lnTo>
                    <a:lnTo>
                      <a:pt x="134" y="14"/>
                    </a:lnTo>
                    <a:lnTo>
                      <a:pt x="132" y="12"/>
                    </a:lnTo>
                    <a:lnTo>
                      <a:pt x="132" y="12"/>
                    </a:lnTo>
                    <a:close/>
                  </a:path>
                </a:pathLst>
              </a:custGeom>
              <a:solidFill>
                <a:srgbClr val="747480"/>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586" name="Freeform 462">
                <a:extLst>
                  <a:ext uri="{FF2B5EF4-FFF2-40B4-BE49-F238E27FC236}">
                    <a16:creationId xmlns:a16="http://schemas.microsoft.com/office/drawing/2014/main" id="{BD4D2C89-CE52-EE0C-E604-E3721F9EF404}"/>
                  </a:ext>
                </a:extLst>
              </p:cNvPr>
              <p:cNvSpPr>
                <a:spLocks/>
              </p:cNvSpPr>
              <p:nvPr/>
            </p:nvSpPr>
            <p:spPr bwMode="auto">
              <a:xfrm>
                <a:off x="4941364" y="3735401"/>
                <a:ext cx="211029" cy="219870"/>
              </a:xfrm>
              <a:custGeom>
                <a:avLst/>
                <a:gdLst/>
                <a:ahLst/>
                <a:cxnLst>
                  <a:cxn ang="0">
                    <a:pos x="36" y="8"/>
                  </a:cxn>
                  <a:cxn ang="0">
                    <a:pos x="36" y="12"/>
                  </a:cxn>
                  <a:cxn ang="0">
                    <a:pos x="30" y="20"/>
                  </a:cxn>
                  <a:cxn ang="0">
                    <a:pos x="24" y="22"/>
                  </a:cxn>
                  <a:cxn ang="0">
                    <a:pos x="20" y="24"/>
                  </a:cxn>
                  <a:cxn ang="0">
                    <a:pos x="20" y="36"/>
                  </a:cxn>
                  <a:cxn ang="0">
                    <a:pos x="18" y="40"/>
                  </a:cxn>
                  <a:cxn ang="0">
                    <a:pos x="16" y="46"/>
                  </a:cxn>
                  <a:cxn ang="0">
                    <a:pos x="12" y="48"/>
                  </a:cxn>
                  <a:cxn ang="0">
                    <a:pos x="6" y="50"/>
                  </a:cxn>
                  <a:cxn ang="0">
                    <a:pos x="8" y="52"/>
                  </a:cxn>
                  <a:cxn ang="0">
                    <a:pos x="8" y="82"/>
                  </a:cxn>
                  <a:cxn ang="0">
                    <a:pos x="10" y="90"/>
                  </a:cxn>
                  <a:cxn ang="0">
                    <a:pos x="8" y="94"/>
                  </a:cxn>
                  <a:cxn ang="0">
                    <a:pos x="8" y="98"/>
                  </a:cxn>
                  <a:cxn ang="0">
                    <a:pos x="8" y="114"/>
                  </a:cxn>
                  <a:cxn ang="0">
                    <a:pos x="4" y="118"/>
                  </a:cxn>
                  <a:cxn ang="0">
                    <a:pos x="4" y="126"/>
                  </a:cxn>
                  <a:cxn ang="0">
                    <a:pos x="10" y="136"/>
                  </a:cxn>
                  <a:cxn ang="0">
                    <a:pos x="12" y="144"/>
                  </a:cxn>
                  <a:cxn ang="0">
                    <a:pos x="16" y="152"/>
                  </a:cxn>
                  <a:cxn ang="0">
                    <a:pos x="28" y="154"/>
                  </a:cxn>
                  <a:cxn ang="0">
                    <a:pos x="32" y="160"/>
                  </a:cxn>
                  <a:cxn ang="0">
                    <a:pos x="36" y="160"/>
                  </a:cxn>
                  <a:cxn ang="0">
                    <a:pos x="42" y="166"/>
                  </a:cxn>
                  <a:cxn ang="0">
                    <a:pos x="74" y="180"/>
                  </a:cxn>
                  <a:cxn ang="0">
                    <a:pos x="96" y="164"/>
                  </a:cxn>
                  <a:cxn ang="0">
                    <a:pos x="208" y="220"/>
                  </a:cxn>
                  <a:cxn ang="0">
                    <a:pos x="220" y="188"/>
                  </a:cxn>
                  <a:cxn ang="0">
                    <a:pos x="216" y="66"/>
                  </a:cxn>
                  <a:cxn ang="0">
                    <a:pos x="214" y="58"/>
                  </a:cxn>
                  <a:cxn ang="0">
                    <a:pos x="216" y="50"/>
                  </a:cxn>
                  <a:cxn ang="0">
                    <a:pos x="218" y="44"/>
                  </a:cxn>
                  <a:cxn ang="0">
                    <a:pos x="214" y="32"/>
                  </a:cxn>
                  <a:cxn ang="0">
                    <a:pos x="208" y="26"/>
                  </a:cxn>
                  <a:cxn ang="0">
                    <a:pos x="202" y="22"/>
                  </a:cxn>
                  <a:cxn ang="0">
                    <a:pos x="196" y="20"/>
                  </a:cxn>
                  <a:cxn ang="0">
                    <a:pos x="192" y="18"/>
                  </a:cxn>
                  <a:cxn ang="0">
                    <a:pos x="192" y="14"/>
                  </a:cxn>
                  <a:cxn ang="0">
                    <a:pos x="176" y="10"/>
                  </a:cxn>
                  <a:cxn ang="0">
                    <a:pos x="170" y="10"/>
                  </a:cxn>
                  <a:cxn ang="0">
                    <a:pos x="162" y="16"/>
                  </a:cxn>
                  <a:cxn ang="0">
                    <a:pos x="156" y="20"/>
                  </a:cxn>
                  <a:cxn ang="0">
                    <a:pos x="150" y="26"/>
                  </a:cxn>
                  <a:cxn ang="0">
                    <a:pos x="156" y="38"/>
                  </a:cxn>
                  <a:cxn ang="0">
                    <a:pos x="148" y="48"/>
                  </a:cxn>
                  <a:cxn ang="0">
                    <a:pos x="140" y="52"/>
                  </a:cxn>
                  <a:cxn ang="0">
                    <a:pos x="118" y="44"/>
                  </a:cxn>
                  <a:cxn ang="0">
                    <a:pos x="112" y="42"/>
                  </a:cxn>
                  <a:cxn ang="0">
                    <a:pos x="104" y="42"/>
                  </a:cxn>
                  <a:cxn ang="0">
                    <a:pos x="94" y="34"/>
                  </a:cxn>
                  <a:cxn ang="0">
                    <a:pos x="88" y="24"/>
                  </a:cxn>
                  <a:cxn ang="0">
                    <a:pos x="84" y="22"/>
                  </a:cxn>
                  <a:cxn ang="0">
                    <a:pos x="80" y="18"/>
                  </a:cxn>
                  <a:cxn ang="0">
                    <a:pos x="76" y="16"/>
                  </a:cxn>
                  <a:cxn ang="0">
                    <a:pos x="66" y="12"/>
                  </a:cxn>
                  <a:cxn ang="0">
                    <a:pos x="56" y="12"/>
                  </a:cxn>
                  <a:cxn ang="0">
                    <a:pos x="50" y="10"/>
                  </a:cxn>
                  <a:cxn ang="0">
                    <a:pos x="42" y="6"/>
                  </a:cxn>
                  <a:cxn ang="0">
                    <a:pos x="40" y="2"/>
                  </a:cxn>
                  <a:cxn ang="0">
                    <a:pos x="40" y="0"/>
                  </a:cxn>
                </a:cxnLst>
                <a:rect l="0" t="0" r="r" b="b"/>
                <a:pathLst>
                  <a:path w="220" h="232">
                    <a:moveTo>
                      <a:pt x="40" y="0"/>
                    </a:moveTo>
                    <a:lnTo>
                      <a:pt x="36" y="8"/>
                    </a:lnTo>
                    <a:lnTo>
                      <a:pt x="36" y="10"/>
                    </a:lnTo>
                    <a:lnTo>
                      <a:pt x="36" y="12"/>
                    </a:lnTo>
                    <a:lnTo>
                      <a:pt x="34" y="16"/>
                    </a:lnTo>
                    <a:lnTo>
                      <a:pt x="30" y="20"/>
                    </a:lnTo>
                    <a:lnTo>
                      <a:pt x="28" y="20"/>
                    </a:lnTo>
                    <a:lnTo>
                      <a:pt x="24" y="22"/>
                    </a:lnTo>
                    <a:lnTo>
                      <a:pt x="20" y="22"/>
                    </a:lnTo>
                    <a:lnTo>
                      <a:pt x="20" y="24"/>
                    </a:lnTo>
                    <a:lnTo>
                      <a:pt x="18" y="28"/>
                    </a:lnTo>
                    <a:lnTo>
                      <a:pt x="20" y="36"/>
                    </a:lnTo>
                    <a:lnTo>
                      <a:pt x="20" y="38"/>
                    </a:lnTo>
                    <a:lnTo>
                      <a:pt x="18" y="40"/>
                    </a:lnTo>
                    <a:lnTo>
                      <a:pt x="16" y="42"/>
                    </a:lnTo>
                    <a:lnTo>
                      <a:pt x="16" y="46"/>
                    </a:lnTo>
                    <a:lnTo>
                      <a:pt x="14" y="46"/>
                    </a:lnTo>
                    <a:lnTo>
                      <a:pt x="12" y="48"/>
                    </a:lnTo>
                    <a:lnTo>
                      <a:pt x="10" y="48"/>
                    </a:lnTo>
                    <a:lnTo>
                      <a:pt x="6" y="50"/>
                    </a:lnTo>
                    <a:lnTo>
                      <a:pt x="6" y="52"/>
                    </a:lnTo>
                    <a:lnTo>
                      <a:pt x="8" y="52"/>
                    </a:lnTo>
                    <a:lnTo>
                      <a:pt x="8" y="54"/>
                    </a:lnTo>
                    <a:lnTo>
                      <a:pt x="8" y="82"/>
                    </a:lnTo>
                    <a:lnTo>
                      <a:pt x="12" y="88"/>
                    </a:lnTo>
                    <a:lnTo>
                      <a:pt x="10" y="90"/>
                    </a:lnTo>
                    <a:lnTo>
                      <a:pt x="8" y="92"/>
                    </a:lnTo>
                    <a:lnTo>
                      <a:pt x="8" y="94"/>
                    </a:lnTo>
                    <a:lnTo>
                      <a:pt x="10" y="94"/>
                    </a:lnTo>
                    <a:lnTo>
                      <a:pt x="8" y="98"/>
                    </a:lnTo>
                    <a:lnTo>
                      <a:pt x="10" y="104"/>
                    </a:lnTo>
                    <a:lnTo>
                      <a:pt x="8" y="114"/>
                    </a:lnTo>
                    <a:lnTo>
                      <a:pt x="6" y="116"/>
                    </a:lnTo>
                    <a:lnTo>
                      <a:pt x="4" y="118"/>
                    </a:lnTo>
                    <a:lnTo>
                      <a:pt x="0" y="120"/>
                    </a:lnTo>
                    <a:lnTo>
                      <a:pt x="4" y="126"/>
                    </a:lnTo>
                    <a:lnTo>
                      <a:pt x="6" y="130"/>
                    </a:lnTo>
                    <a:lnTo>
                      <a:pt x="10" y="136"/>
                    </a:lnTo>
                    <a:lnTo>
                      <a:pt x="12" y="140"/>
                    </a:lnTo>
                    <a:lnTo>
                      <a:pt x="12" y="144"/>
                    </a:lnTo>
                    <a:lnTo>
                      <a:pt x="14" y="150"/>
                    </a:lnTo>
                    <a:lnTo>
                      <a:pt x="16" y="152"/>
                    </a:lnTo>
                    <a:lnTo>
                      <a:pt x="18" y="152"/>
                    </a:lnTo>
                    <a:lnTo>
                      <a:pt x="28" y="154"/>
                    </a:lnTo>
                    <a:lnTo>
                      <a:pt x="30" y="158"/>
                    </a:lnTo>
                    <a:lnTo>
                      <a:pt x="32" y="160"/>
                    </a:lnTo>
                    <a:lnTo>
                      <a:pt x="34" y="160"/>
                    </a:lnTo>
                    <a:lnTo>
                      <a:pt x="36" y="160"/>
                    </a:lnTo>
                    <a:lnTo>
                      <a:pt x="38" y="162"/>
                    </a:lnTo>
                    <a:lnTo>
                      <a:pt x="42" y="166"/>
                    </a:lnTo>
                    <a:lnTo>
                      <a:pt x="74" y="182"/>
                    </a:lnTo>
                    <a:lnTo>
                      <a:pt x="74" y="180"/>
                    </a:lnTo>
                    <a:lnTo>
                      <a:pt x="84" y="174"/>
                    </a:lnTo>
                    <a:lnTo>
                      <a:pt x="96" y="164"/>
                    </a:lnTo>
                    <a:lnTo>
                      <a:pt x="208" y="232"/>
                    </a:lnTo>
                    <a:lnTo>
                      <a:pt x="208" y="220"/>
                    </a:lnTo>
                    <a:lnTo>
                      <a:pt x="220" y="220"/>
                    </a:lnTo>
                    <a:lnTo>
                      <a:pt x="220" y="188"/>
                    </a:lnTo>
                    <a:lnTo>
                      <a:pt x="220" y="72"/>
                    </a:lnTo>
                    <a:lnTo>
                      <a:pt x="216" y="66"/>
                    </a:lnTo>
                    <a:lnTo>
                      <a:pt x="214" y="64"/>
                    </a:lnTo>
                    <a:lnTo>
                      <a:pt x="214" y="58"/>
                    </a:lnTo>
                    <a:lnTo>
                      <a:pt x="214" y="52"/>
                    </a:lnTo>
                    <a:lnTo>
                      <a:pt x="216" y="50"/>
                    </a:lnTo>
                    <a:lnTo>
                      <a:pt x="218" y="48"/>
                    </a:lnTo>
                    <a:lnTo>
                      <a:pt x="218" y="44"/>
                    </a:lnTo>
                    <a:lnTo>
                      <a:pt x="214" y="38"/>
                    </a:lnTo>
                    <a:lnTo>
                      <a:pt x="214" y="32"/>
                    </a:lnTo>
                    <a:lnTo>
                      <a:pt x="214" y="28"/>
                    </a:lnTo>
                    <a:lnTo>
                      <a:pt x="208" y="26"/>
                    </a:lnTo>
                    <a:lnTo>
                      <a:pt x="208" y="24"/>
                    </a:lnTo>
                    <a:lnTo>
                      <a:pt x="202" y="22"/>
                    </a:lnTo>
                    <a:lnTo>
                      <a:pt x="196" y="24"/>
                    </a:lnTo>
                    <a:lnTo>
                      <a:pt x="196" y="20"/>
                    </a:lnTo>
                    <a:lnTo>
                      <a:pt x="196" y="18"/>
                    </a:lnTo>
                    <a:lnTo>
                      <a:pt x="192" y="18"/>
                    </a:lnTo>
                    <a:lnTo>
                      <a:pt x="192" y="16"/>
                    </a:lnTo>
                    <a:lnTo>
                      <a:pt x="192" y="14"/>
                    </a:lnTo>
                    <a:lnTo>
                      <a:pt x="186" y="14"/>
                    </a:lnTo>
                    <a:lnTo>
                      <a:pt x="176" y="10"/>
                    </a:lnTo>
                    <a:lnTo>
                      <a:pt x="172" y="8"/>
                    </a:lnTo>
                    <a:lnTo>
                      <a:pt x="170" y="10"/>
                    </a:lnTo>
                    <a:lnTo>
                      <a:pt x="166" y="12"/>
                    </a:lnTo>
                    <a:lnTo>
                      <a:pt x="162" y="16"/>
                    </a:lnTo>
                    <a:lnTo>
                      <a:pt x="158" y="16"/>
                    </a:lnTo>
                    <a:lnTo>
                      <a:pt x="156" y="20"/>
                    </a:lnTo>
                    <a:lnTo>
                      <a:pt x="154" y="24"/>
                    </a:lnTo>
                    <a:lnTo>
                      <a:pt x="150" y="26"/>
                    </a:lnTo>
                    <a:lnTo>
                      <a:pt x="154" y="32"/>
                    </a:lnTo>
                    <a:lnTo>
                      <a:pt x="156" y="38"/>
                    </a:lnTo>
                    <a:lnTo>
                      <a:pt x="154" y="42"/>
                    </a:lnTo>
                    <a:lnTo>
                      <a:pt x="148" y="48"/>
                    </a:lnTo>
                    <a:lnTo>
                      <a:pt x="146" y="52"/>
                    </a:lnTo>
                    <a:lnTo>
                      <a:pt x="140" y="52"/>
                    </a:lnTo>
                    <a:lnTo>
                      <a:pt x="132" y="50"/>
                    </a:lnTo>
                    <a:lnTo>
                      <a:pt x="118" y="44"/>
                    </a:lnTo>
                    <a:lnTo>
                      <a:pt x="114" y="44"/>
                    </a:lnTo>
                    <a:lnTo>
                      <a:pt x="112" y="42"/>
                    </a:lnTo>
                    <a:lnTo>
                      <a:pt x="106" y="42"/>
                    </a:lnTo>
                    <a:lnTo>
                      <a:pt x="104" y="42"/>
                    </a:lnTo>
                    <a:lnTo>
                      <a:pt x="100" y="40"/>
                    </a:lnTo>
                    <a:lnTo>
                      <a:pt x="94" y="34"/>
                    </a:lnTo>
                    <a:lnTo>
                      <a:pt x="88" y="28"/>
                    </a:lnTo>
                    <a:lnTo>
                      <a:pt x="88" y="24"/>
                    </a:lnTo>
                    <a:lnTo>
                      <a:pt x="86" y="22"/>
                    </a:lnTo>
                    <a:lnTo>
                      <a:pt x="84" y="22"/>
                    </a:lnTo>
                    <a:lnTo>
                      <a:pt x="84" y="20"/>
                    </a:lnTo>
                    <a:lnTo>
                      <a:pt x="80" y="18"/>
                    </a:lnTo>
                    <a:lnTo>
                      <a:pt x="76" y="18"/>
                    </a:lnTo>
                    <a:lnTo>
                      <a:pt x="76" y="16"/>
                    </a:lnTo>
                    <a:lnTo>
                      <a:pt x="70" y="14"/>
                    </a:lnTo>
                    <a:lnTo>
                      <a:pt x="66" y="12"/>
                    </a:lnTo>
                    <a:lnTo>
                      <a:pt x="58" y="12"/>
                    </a:lnTo>
                    <a:lnTo>
                      <a:pt x="56" y="12"/>
                    </a:lnTo>
                    <a:lnTo>
                      <a:pt x="52" y="12"/>
                    </a:lnTo>
                    <a:lnTo>
                      <a:pt x="50" y="10"/>
                    </a:lnTo>
                    <a:lnTo>
                      <a:pt x="48" y="8"/>
                    </a:lnTo>
                    <a:lnTo>
                      <a:pt x="42" y="6"/>
                    </a:lnTo>
                    <a:lnTo>
                      <a:pt x="40" y="4"/>
                    </a:lnTo>
                    <a:lnTo>
                      <a:pt x="40" y="2"/>
                    </a:lnTo>
                    <a:lnTo>
                      <a:pt x="40" y="0"/>
                    </a:lnTo>
                    <a:lnTo>
                      <a:pt x="40" y="0"/>
                    </a:lnTo>
                    <a:close/>
                  </a:path>
                </a:pathLst>
              </a:custGeom>
              <a:solidFill>
                <a:srgbClr val="747480"/>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587" name="Freeform 463">
                <a:extLst>
                  <a:ext uri="{FF2B5EF4-FFF2-40B4-BE49-F238E27FC236}">
                    <a16:creationId xmlns:a16="http://schemas.microsoft.com/office/drawing/2014/main" id="{DCF5EF34-D32D-1FCC-F838-F9ABBE8CFA25}"/>
                  </a:ext>
                </a:extLst>
              </p:cNvPr>
              <p:cNvSpPr>
                <a:spLocks/>
              </p:cNvSpPr>
              <p:nvPr/>
            </p:nvSpPr>
            <p:spPr bwMode="auto">
              <a:xfrm>
                <a:off x="5278355" y="3741165"/>
                <a:ext cx="56396" cy="65327"/>
              </a:xfrm>
              <a:custGeom>
                <a:avLst/>
                <a:gdLst/>
                <a:ahLst/>
                <a:cxnLst>
                  <a:cxn ang="0">
                    <a:pos x="10" y="22"/>
                  </a:cxn>
                  <a:cxn ang="0">
                    <a:pos x="10" y="22"/>
                  </a:cxn>
                  <a:cxn ang="0">
                    <a:pos x="12" y="20"/>
                  </a:cxn>
                  <a:cxn ang="0">
                    <a:pos x="12" y="18"/>
                  </a:cxn>
                  <a:cxn ang="0">
                    <a:pos x="14" y="14"/>
                  </a:cxn>
                  <a:cxn ang="0">
                    <a:pos x="18" y="10"/>
                  </a:cxn>
                  <a:cxn ang="0">
                    <a:pos x="20" y="10"/>
                  </a:cxn>
                  <a:cxn ang="0">
                    <a:pos x="22" y="10"/>
                  </a:cxn>
                  <a:cxn ang="0">
                    <a:pos x="28" y="12"/>
                  </a:cxn>
                  <a:cxn ang="0">
                    <a:pos x="32" y="14"/>
                  </a:cxn>
                  <a:cxn ang="0">
                    <a:pos x="52" y="0"/>
                  </a:cxn>
                  <a:cxn ang="0">
                    <a:pos x="58" y="22"/>
                  </a:cxn>
                  <a:cxn ang="0">
                    <a:pos x="58" y="24"/>
                  </a:cxn>
                  <a:cxn ang="0">
                    <a:pos x="32" y="32"/>
                  </a:cxn>
                  <a:cxn ang="0">
                    <a:pos x="42" y="46"/>
                  </a:cxn>
                  <a:cxn ang="0">
                    <a:pos x="38" y="48"/>
                  </a:cxn>
                  <a:cxn ang="0">
                    <a:pos x="36" y="50"/>
                  </a:cxn>
                  <a:cxn ang="0">
                    <a:pos x="34" y="52"/>
                  </a:cxn>
                  <a:cxn ang="0">
                    <a:pos x="32" y="52"/>
                  </a:cxn>
                  <a:cxn ang="0">
                    <a:pos x="28" y="56"/>
                  </a:cxn>
                  <a:cxn ang="0">
                    <a:pos x="26" y="60"/>
                  </a:cxn>
                  <a:cxn ang="0">
                    <a:pos x="24" y="60"/>
                  </a:cxn>
                  <a:cxn ang="0">
                    <a:pos x="14" y="68"/>
                  </a:cxn>
                  <a:cxn ang="0">
                    <a:pos x="0" y="68"/>
                  </a:cxn>
                  <a:cxn ang="0">
                    <a:pos x="0" y="66"/>
                  </a:cxn>
                  <a:cxn ang="0">
                    <a:pos x="4" y="60"/>
                  </a:cxn>
                  <a:cxn ang="0">
                    <a:pos x="8" y="54"/>
                  </a:cxn>
                  <a:cxn ang="0">
                    <a:pos x="8" y="52"/>
                  </a:cxn>
                  <a:cxn ang="0">
                    <a:pos x="8" y="46"/>
                  </a:cxn>
                  <a:cxn ang="0">
                    <a:pos x="10" y="42"/>
                  </a:cxn>
                  <a:cxn ang="0">
                    <a:pos x="12" y="36"/>
                  </a:cxn>
                  <a:cxn ang="0">
                    <a:pos x="12" y="30"/>
                  </a:cxn>
                  <a:cxn ang="0">
                    <a:pos x="12" y="28"/>
                  </a:cxn>
                  <a:cxn ang="0">
                    <a:pos x="10" y="22"/>
                  </a:cxn>
                  <a:cxn ang="0">
                    <a:pos x="10" y="22"/>
                  </a:cxn>
                </a:cxnLst>
                <a:rect l="0" t="0" r="r" b="b"/>
                <a:pathLst>
                  <a:path w="58" h="68">
                    <a:moveTo>
                      <a:pt x="10" y="22"/>
                    </a:moveTo>
                    <a:lnTo>
                      <a:pt x="10" y="22"/>
                    </a:lnTo>
                    <a:lnTo>
                      <a:pt x="12" y="20"/>
                    </a:lnTo>
                    <a:lnTo>
                      <a:pt x="12" y="18"/>
                    </a:lnTo>
                    <a:lnTo>
                      <a:pt x="14" y="14"/>
                    </a:lnTo>
                    <a:lnTo>
                      <a:pt x="18" y="10"/>
                    </a:lnTo>
                    <a:lnTo>
                      <a:pt x="20" y="10"/>
                    </a:lnTo>
                    <a:lnTo>
                      <a:pt x="22" y="10"/>
                    </a:lnTo>
                    <a:lnTo>
                      <a:pt x="28" y="12"/>
                    </a:lnTo>
                    <a:lnTo>
                      <a:pt x="32" y="14"/>
                    </a:lnTo>
                    <a:lnTo>
                      <a:pt x="52" y="0"/>
                    </a:lnTo>
                    <a:lnTo>
                      <a:pt x="58" y="22"/>
                    </a:lnTo>
                    <a:lnTo>
                      <a:pt x="58" y="24"/>
                    </a:lnTo>
                    <a:lnTo>
                      <a:pt x="32" y="32"/>
                    </a:lnTo>
                    <a:lnTo>
                      <a:pt x="42" y="46"/>
                    </a:lnTo>
                    <a:lnTo>
                      <a:pt x="38" y="48"/>
                    </a:lnTo>
                    <a:lnTo>
                      <a:pt x="36" y="50"/>
                    </a:lnTo>
                    <a:lnTo>
                      <a:pt x="34" y="52"/>
                    </a:lnTo>
                    <a:lnTo>
                      <a:pt x="32" y="52"/>
                    </a:lnTo>
                    <a:lnTo>
                      <a:pt x="28" y="56"/>
                    </a:lnTo>
                    <a:lnTo>
                      <a:pt x="26" y="60"/>
                    </a:lnTo>
                    <a:lnTo>
                      <a:pt x="24" y="60"/>
                    </a:lnTo>
                    <a:lnTo>
                      <a:pt x="14" y="68"/>
                    </a:lnTo>
                    <a:lnTo>
                      <a:pt x="0" y="68"/>
                    </a:lnTo>
                    <a:lnTo>
                      <a:pt x="0" y="66"/>
                    </a:lnTo>
                    <a:lnTo>
                      <a:pt x="4" y="60"/>
                    </a:lnTo>
                    <a:lnTo>
                      <a:pt x="8" y="54"/>
                    </a:lnTo>
                    <a:lnTo>
                      <a:pt x="8" y="52"/>
                    </a:lnTo>
                    <a:lnTo>
                      <a:pt x="8" y="46"/>
                    </a:lnTo>
                    <a:lnTo>
                      <a:pt x="10" y="42"/>
                    </a:lnTo>
                    <a:lnTo>
                      <a:pt x="12" y="36"/>
                    </a:lnTo>
                    <a:lnTo>
                      <a:pt x="12" y="30"/>
                    </a:lnTo>
                    <a:lnTo>
                      <a:pt x="12" y="28"/>
                    </a:lnTo>
                    <a:lnTo>
                      <a:pt x="10" y="22"/>
                    </a:lnTo>
                    <a:lnTo>
                      <a:pt x="10" y="22"/>
                    </a:lnTo>
                    <a:close/>
                  </a:path>
                </a:pathLst>
              </a:custGeom>
              <a:solidFill>
                <a:srgbClr val="747480"/>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588" name="Freeform 464">
                <a:extLst>
                  <a:ext uri="{FF2B5EF4-FFF2-40B4-BE49-F238E27FC236}">
                    <a16:creationId xmlns:a16="http://schemas.microsoft.com/office/drawing/2014/main" id="{D15B4CAC-E98E-4E01-948D-CD7208069453}"/>
                  </a:ext>
                </a:extLst>
              </p:cNvPr>
              <p:cNvSpPr>
                <a:spLocks/>
              </p:cNvSpPr>
              <p:nvPr/>
            </p:nvSpPr>
            <p:spPr bwMode="auto">
              <a:xfrm>
                <a:off x="5328360" y="3670075"/>
                <a:ext cx="128536" cy="128889"/>
              </a:xfrm>
              <a:custGeom>
                <a:avLst/>
                <a:gdLst/>
                <a:ahLst/>
                <a:cxnLst>
                  <a:cxn ang="0">
                    <a:pos x="132" y="124"/>
                  </a:cxn>
                  <a:cxn ang="0">
                    <a:pos x="128" y="118"/>
                  </a:cxn>
                  <a:cxn ang="0">
                    <a:pos x="128" y="110"/>
                  </a:cxn>
                  <a:cxn ang="0">
                    <a:pos x="122" y="104"/>
                  </a:cxn>
                  <a:cxn ang="0">
                    <a:pos x="122" y="94"/>
                  </a:cxn>
                  <a:cxn ang="0">
                    <a:pos x="114" y="82"/>
                  </a:cxn>
                  <a:cxn ang="0">
                    <a:pos x="108" y="80"/>
                  </a:cxn>
                  <a:cxn ang="0">
                    <a:pos x="108" y="78"/>
                  </a:cxn>
                  <a:cxn ang="0">
                    <a:pos x="104" y="72"/>
                  </a:cxn>
                  <a:cxn ang="0">
                    <a:pos x="94" y="66"/>
                  </a:cxn>
                  <a:cxn ang="0">
                    <a:pos x="92" y="60"/>
                  </a:cxn>
                  <a:cxn ang="0">
                    <a:pos x="88" y="54"/>
                  </a:cxn>
                  <a:cxn ang="0">
                    <a:pos x="88" y="48"/>
                  </a:cxn>
                  <a:cxn ang="0">
                    <a:pos x="88" y="44"/>
                  </a:cxn>
                  <a:cxn ang="0">
                    <a:pos x="90" y="42"/>
                  </a:cxn>
                  <a:cxn ang="0">
                    <a:pos x="94" y="42"/>
                  </a:cxn>
                  <a:cxn ang="0">
                    <a:pos x="92" y="34"/>
                  </a:cxn>
                  <a:cxn ang="0">
                    <a:pos x="94" y="32"/>
                  </a:cxn>
                  <a:cxn ang="0">
                    <a:pos x="98" y="32"/>
                  </a:cxn>
                  <a:cxn ang="0">
                    <a:pos x="100" y="28"/>
                  </a:cxn>
                  <a:cxn ang="0">
                    <a:pos x="96" y="28"/>
                  </a:cxn>
                  <a:cxn ang="0">
                    <a:pos x="88" y="26"/>
                  </a:cxn>
                  <a:cxn ang="0">
                    <a:pos x="84" y="26"/>
                  </a:cxn>
                  <a:cxn ang="0">
                    <a:pos x="80" y="24"/>
                  </a:cxn>
                  <a:cxn ang="0">
                    <a:pos x="78" y="22"/>
                  </a:cxn>
                  <a:cxn ang="0">
                    <a:pos x="76" y="20"/>
                  </a:cxn>
                  <a:cxn ang="0">
                    <a:pos x="78" y="16"/>
                  </a:cxn>
                  <a:cxn ang="0">
                    <a:pos x="74" y="16"/>
                  </a:cxn>
                  <a:cxn ang="0">
                    <a:pos x="76" y="12"/>
                  </a:cxn>
                  <a:cxn ang="0">
                    <a:pos x="74" y="4"/>
                  </a:cxn>
                  <a:cxn ang="0">
                    <a:pos x="64" y="6"/>
                  </a:cxn>
                  <a:cxn ang="0">
                    <a:pos x="60" y="0"/>
                  </a:cxn>
                  <a:cxn ang="0">
                    <a:pos x="56" y="4"/>
                  </a:cxn>
                  <a:cxn ang="0">
                    <a:pos x="52" y="2"/>
                  </a:cxn>
                  <a:cxn ang="0">
                    <a:pos x="46" y="4"/>
                  </a:cxn>
                  <a:cxn ang="0">
                    <a:pos x="44" y="10"/>
                  </a:cxn>
                  <a:cxn ang="0">
                    <a:pos x="38" y="16"/>
                  </a:cxn>
                  <a:cxn ang="0">
                    <a:pos x="36" y="20"/>
                  </a:cxn>
                  <a:cxn ang="0">
                    <a:pos x="38" y="26"/>
                  </a:cxn>
                  <a:cxn ang="0">
                    <a:pos x="34" y="30"/>
                  </a:cxn>
                  <a:cxn ang="0">
                    <a:pos x="36" y="38"/>
                  </a:cxn>
                  <a:cxn ang="0">
                    <a:pos x="32" y="48"/>
                  </a:cxn>
                  <a:cxn ang="0">
                    <a:pos x="0" y="72"/>
                  </a:cxn>
                  <a:cxn ang="0">
                    <a:pos x="46" y="116"/>
                  </a:cxn>
                  <a:cxn ang="0">
                    <a:pos x="56" y="122"/>
                  </a:cxn>
                  <a:cxn ang="0">
                    <a:pos x="66" y="134"/>
                  </a:cxn>
                  <a:cxn ang="0">
                    <a:pos x="96" y="134"/>
                  </a:cxn>
                  <a:cxn ang="0">
                    <a:pos x="108" y="122"/>
                  </a:cxn>
                  <a:cxn ang="0">
                    <a:pos x="112" y="118"/>
                  </a:cxn>
                  <a:cxn ang="0">
                    <a:pos x="122" y="120"/>
                  </a:cxn>
                  <a:cxn ang="0">
                    <a:pos x="128" y="124"/>
                  </a:cxn>
                  <a:cxn ang="0">
                    <a:pos x="132" y="124"/>
                  </a:cxn>
                  <a:cxn ang="0">
                    <a:pos x="134" y="126"/>
                  </a:cxn>
                </a:cxnLst>
                <a:rect l="0" t="0" r="r" b="b"/>
                <a:pathLst>
                  <a:path w="134" h="136">
                    <a:moveTo>
                      <a:pt x="134" y="126"/>
                    </a:moveTo>
                    <a:lnTo>
                      <a:pt x="132" y="124"/>
                    </a:lnTo>
                    <a:lnTo>
                      <a:pt x="130" y="120"/>
                    </a:lnTo>
                    <a:lnTo>
                      <a:pt x="128" y="118"/>
                    </a:lnTo>
                    <a:lnTo>
                      <a:pt x="128" y="116"/>
                    </a:lnTo>
                    <a:lnTo>
                      <a:pt x="128" y="110"/>
                    </a:lnTo>
                    <a:lnTo>
                      <a:pt x="124" y="110"/>
                    </a:lnTo>
                    <a:lnTo>
                      <a:pt x="122" y="104"/>
                    </a:lnTo>
                    <a:lnTo>
                      <a:pt x="122" y="98"/>
                    </a:lnTo>
                    <a:lnTo>
                      <a:pt x="122" y="94"/>
                    </a:lnTo>
                    <a:lnTo>
                      <a:pt x="120" y="90"/>
                    </a:lnTo>
                    <a:lnTo>
                      <a:pt x="114" y="82"/>
                    </a:lnTo>
                    <a:lnTo>
                      <a:pt x="112" y="80"/>
                    </a:lnTo>
                    <a:lnTo>
                      <a:pt x="108" y="80"/>
                    </a:lnTo>
                    <a:lnTo>
                      <a:pt x="106" y="80"/>
                    </a:lnTo>
                    <a:lnTo>
                      <a:pt x="108" y="78"/>
                    </a:lnTo>
                    <a:lnTo>
                      <a:pt x="108" y="76"/>
                    </a:lnTo>
                    <a:lnTo>
                      <a:pt x="104" y="72"/>
                    </a:lnTo>
                    <a:lnTo>
                      <a:pt x="98" y="68"/>
                    </a:lnTo>
                    <a:lnTo>
                      <a:pt x="94" y="66"/>
                    </a:lnTo>
                    <a:lnTo>
                      <a:pt x="94" y="62"/>
                    </a:lnTo>
                    <a:lnTo>
                      <a:pt x="92" y="60"/>
                    </a:lnTo>
                    <a:lnTo>
                      <a:pt x="90" y="56"/>
                    </a:lnTo>
                    <a:lnTo>
                      <a:pt x="88" y="54"/>
                    </a:lnTo>
                    <a:lnTo>
                      <a:pt x="86" y="50"/>
                    </a:lnTo>
                    <a:lnTo>
                      <a:pt x="88" y="48"/>
                    </a:lnTo>
                    <a:lnTo>
                      <a:pt x="90" y="46"/>
                    </a:lnTo>
                    <a:lnTo>
                      <a:pt x="88" y="44"/>
                    </a:lnTo>
                    <a:lnTo>
                      <a:pt x="88" y="42"/>
                    </a:lnTo>
                    <a:lnTo>
                      <a:pt x="90" y="42"/>
                    </a:lnTo>
                    <a:lnTo>
                      <a:pt x="92" y="42"/>
                    </a:lnTo>
                    <a:lnTo>
                      <a:pt x="94" y="42"/>
                    </a:lnTo>
                    <a:lnTo>
                      <a:pt x="94" y="38"/>
                    </a:lnTo>
                    <a:lnTo>
                      <a:pt x="92" y="34"/>
                    </a:lnTo>
                    <a:lnTo>
                      <a:pt x="92" y="32"/>
                    </a:lnTo>
                    <a:lnTo>
                      <a:pt x="94" y="32"/>
                    </a:lnTo>
                    <a:lnTo>
                      <a:pt x="96" y="32"/>
                    </a:lnTo>
                    <a:lnTo>
                      <a:pt x="98" y="32"/>
                    </a:lnTo>
                    <a:lnTo>
                      <a:pt x="100" y="30"/>
                    </a:lnTo>
                    <a:lnTo>
                      <a:pt x="100" y="28"/>
                    </a:lnTo>
                    <a:lnTo>
                      <a:pt x="98" y="28"/>
                    </a:lnTo>
                    <a:lnTo>
                      <a:pt x="96" y="28"/>
                    </a:lnTo>
                    <a:lnTo>
                      <a:pt x="92" y="28"/>
                    </a:lnTo>
                    <a:lnTo>
                      <a:pt x="88" y="26"/>
                    </a:lnTo>
                    <a:lnTo>
                      <a:pt x="86" y="26"/>
                    </a:lnTo>
                    <a:lnTo>
                      <a:pt x="84" y="26"/>
                    </a:lnTo>
                    <a:lnTo>
                      <a:pt x="84" y="24"/>
                    </a:lnTo>
                    <a:lnTo>
                      <a:pt x="80" y="24"/>
                    </a:lnTo>
                    <a:lnTo>
                      <a:pt x="80" y="24"/>
                    </a:lnTo>
                    <a:lnTo>
                      <a:pt x="78" y="22"/>
                    </a:lnTo>
                    <a:lnTo>
                      <a:pt x="78" y="20"/>
                    </a:lnTo>
                    <a:lnTo>
                      <a:pt x="76" y="20"/>
                    </a:lnTo>
                    <a:lnTo>
                      <a:pt x="78" y="18"/>
                    </a:lnTo>
                    <a:lnTo>
                      <a:pt x="78" y="16"/>
                    </a:lnTo>
                    <a:lnTo>
                      <a:pt x="76" y="16"/>
                    </a:lnTo>
                    <a:lnTo>
                      <a:pt x="74" y="16"/>
                    </a:lnTo>
                    <a:lnTo>
                      <a:pt x="76" y="14"/>
                    </a:lnTo>
                    <a:lnTo>
                      <a:pt x="76" y="12"/>
                    </a:lnTo>
                    <a:lnTo>
                      <a:pt x="76" y="10"/>
                    </a:lnTo>
                    <a:lnTo>
                      <a:pt x="74" y="4"/>
                    </a:lnTo>
                    <a:lnTo>
                      <a:pt x="68" y="2"/>
                    </a:lnTo>
                    <a:lnTo>
                      <a:pt x="64" y="6"/>
                    </a:lnTo>
                    <a:lnTo>
                      <a:pt x="62" y="2"/>
                    </a:lnTo>
                    <a:lnTo>
                      <a:pt x="60" y="0"/>
                    </a:lnTo>
                    <a:lnTo>
                      <a:pt x="58" y="4"/>
                    </a:lnTo>
                    <a:lnTo>
                      <a:pt x="56" y="4"/>
                    </a:lnTo>
                    <a:lnTo>
                      <a:pt x="54" y="4"/>
                    </a:lnTo>
                    <a:lnTo>
                      <a:pt x="52" y="2"/>
                    </a:lnTo>
                    <a:lnTo>
                      <a:pt x="50" y="2"/>
                    </a:lnTo>
                    <a:lnTo>
                      <a:pt x="46" y="4"/>
                    </a:lnTo>
                    <a:lnTo>
                      <a:pt x="46" y="6"/>
                    </a:lnTo>
                    <a:lnTo>
                      <a:pt x="44" y="10"/>
                    </a:lnTo>
                    <a:lnTo>
                      <a:pt x="42" y="12"/>
                    </a:lnTo>
                    <a:lnTo>
                      <a:pt x="38" y="16"/>
                    </a:lnTo>
                    <a:lnTo>
                      <a:pt x="36" y="18"/>
                    </a:lnTo>
                    <a:lnTo>
                      <a:pt x="36" y="20"/>
                    </a:lnTo>
                    <a:lnTo>
                      <a:pt x="36" y="24"/>
                    </a:lnTo>
                    <a:lnTo>
                      <a:pt x="38" y="26"/>
                    </a:lnTo>
                    <a:lnTo>
                      <a:pt x="34" y="28"/>
                    </a:lnTo>
                    <a:lnTo>
                      <a:pt x="34" y="30"/>
                    </a:lnTo>
                    <a:lnTo>
                      <a:pt x="34" y="34"/>
                    </a:lnTo>
                    <a:lnTo>
                      <a:pt x="36" y="38"/>
                    </a:lnTo>
                    <a:lnTo>
                      <a:pt x="34" y="40"/>
                    </a:lnTo>
                    <a:lnTo>
                      <a:pt x="32" y="48"/>
                    </a:lnTo>
                    <a:lnTo>
                      <a:pt x="28" y="52"/>
                    </a:lnTo>
                    <a:lnTo>
                      <a:pt x="0" y="72"/>
                    </a:lnTo>
                    <a:lnTo>
                      <a:pt x="8" y="96"/>
                    </a:lnTo>
                    <a:lnTo>
                      <a:pt x="46" y="116"/>
                    </a:lnTo>
                    <a:lnTo>
                      <a:pt x="46" y="122"/>
                    </a:lnTo>
                    <a:lnTo>
                      <a:pt x="56" y="122"/>
                    </a:lnTo>
                    <a:lnTo>
                      <a:pt x="58" y="128"/>
                    </a:lnTo>
                    <a:lnTo>
                      <a:pt x="66" y="134"/>
                    </a:lnTo>
                    <a:lnTo>
                      <a:pt x="90" y="136"/>
                    </a:lnTo>
                    <a:lnTo>
                      <a:pt x="96" y="134"/>
                    </a:lnTo>
                    <a:lnTo>
                      <a:pt x="102" y="128"/>
                    </a:lnTo>
                    <a:lnTo>
                      <a:pt x="108" y="122"/>
                    </a:lnTo>
                    <a:lnTo>
                      <a:pt x="110" y="120"/>
                    </a:lnTo>
                    <a:lnTo>
                      <a:pt x="112" y="118"/>
                    </a:lnTo>
                    <a:lnTo>
                      <a:pt x="120" y="120"/>
                    </a:lnTo>
                    <a:lnTo>
                      <a:pt x="122" y="120"/>
                    </a:lnTo>
                    <a:lnTo>
                      <a:pt x="124" y="124"/>
                    </a:lnTo>
                    <a:lnTo>
                      <a:pt x="128" y="124"/>
                    </a:lnTo>
                    <a:lnTo>
                      <a:pt x="130" y="122"/>
                    </a:lnTo>
                    <a:lnTo>
                      <a:pt x="132" y="124"/>
                    </a:lnTo>
                    <a:lnTo>
                      <a:pt x="134" y="126"/>
                    </a:lnTo>
                    <a:lnTo>
                      <a:pt x="134" y="126"/>
                    </a:lnTo>
                    <a:close/>
                  </a:path>
                </a:pathLst>
              </a:custGeom>
              <a:solidFill>
                <a:srgbClr val="747480"/>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589" name="Freeform 465">
                <a:extLst>
                  <a:ext uri="{FF2B5EF4-FFF2-40B4-BE49-F238E27FC236}">
                    <a16:creationId xmlns:a16="http://schemas.microsoft.com/office/drawing/2014/main" id="{13C9CC91-7B9A-81DD-C2A8-C312269DB644}"/>
                  </a:ext>
                </a:extLst>
              </p:cNvPr>
              <p:cNvSpPr>
                <a:spLocks/>
              </p:cNvSpPr>
              <p:nvPr/>
            </p:nvSpPr>
            <p:spPr bwMode="auto">
              <a:xfrm>
                <a:off x="5151391" y="3760380"/>
                <a:ext cx="136209" cy="157321"/>
              </a:xfrm>
              <a:custGeom>
                <a:avLst/>
                <a:gdLst/>
                <a:ahLst/>
                <a:cxnLst>
                  <a:cxn ang="0">
                    <a:pos x="142" y="144"/>
                  </a:cxn>
                  <a:cxn ang="0">
                    <a:pos x="138" y="132"/>
                  </a:cxn>
                  <a:cxn ang="0">
                    <a:pos x="138" y="126"/>
                  </a:cxn>
                  <a:cxn ang="0">
                    <a:pos x="130" y="106"/>
                  </a:cxn>
                  <a:cxn ang="0">
                    <a:pos x="124" y="98"/>
                  </a:cxn>
                  <a:cxn ang="0">
                    <a:pos x="120" y="84"/>
                  </a:cxn>
                  <a:cxn ang="0">
                    <a:pos x="118" y="78"/>
                  </a:cxn>
                  <a:cxn ang="0">
                    <a:pos x="114" y="70"/>
                  </a:cxn>
                  <a:cxn ang="0">
                    <a:pos x="110" y="62"/>
                  </a:cxn>
                  <a:cxn ang="0">
                    <a:pos x="102" y="48"/>
                  </a:cxn>
                  <a:cxn ang="0">
                    <a:pos x="108" y="46"/>
                  </a:cxn>
                  <a:cxn ang="0">
                    <a:pos x="112" y="56"/>
                  </a:cxn>
                  <a:cxn ang="0">
                    <a:pos x="120" y="68"/>
                  </a:cxn>
                  <a:cxn ang="0">
                    <a:pos x="130" y="56"/>
                  </a:cxn>
                  <a:cxn ang="0">
                    <a:pos x="130" y="42"/>
                  </a:cxn>
                  <a:cxn ang="0">
                    <a:pos x="126" y="14"/>
                  </a:cxn>
                  <a:cxn ang="0">
                    <a:pos x="122" y="12"/>
                  </a:cxn>
                  <a:cxn ang="0">
                    <a:pos x="114" y="14"/>
                  </a:cxn>
                  <a:cxn ang="0">
                    <a:pos x="108" y="14"/>
                  </a:cxn>
                  <a:cxn ang="0">
                    <a:pos x="104" y="12"/>
                  </a:cxn>
                  <a:cxn ang="0">
                    <a:pos x="98" y="16"/>
                  </a:cxn>
                  <a:cxn ang="0">
                    <a:pos x="92" y="14"/>
                  </a:cxn>
                  <a:cxn ang="0">
                    <a:pos x="92" y="12"/>
                  </a:cxn>
                  <a:cxn ang="0">
                    <a:pos x="88" y="10"/>
                  </a:cxn>
                  <a:cxn ang="0">
                    <a:pos x="84" y="12"/>
                  </a:cxn>
                  <a:cxn ang="0">
                    <a:pos x="86" y="14"/>
                  </a:cxn>
                  <a:cxn ang="0">
                    <a:pos x="86" y="18"/>
                  </a:cxn>
                  <a:cxn ang="0">
                    <a:pos x="82" y="14"/>
                  </a:cxn>
                  <a:cxn ang="0">
                    <a:pos x="78" y="14"/>
                  </a:cxn>
                  <a:cxn ang="0">
                    <a:pos x="70" y="18"/>
                  </a:cxn>
                  <a:cxn ang="0">
                    <a:pos x="64" y="16"/>
                  </a:cxn>
                  <a:cxn ang="0">
                    <a:pos x="56" y="18"/>
                  </a:cxn>
                  <a:cxn ang="0">
                    <a:pos x="44" y="16"/>
                  </a:cxn>
                  <a:cxn ang="0">
                    <a:pos x="36" y="14"/>
                  </a:cxn>
                  <a:cxn ang="0">
                    <a:pos x="26" y="8"/>
                  </a:cxn>
                  <a:cxn ang="0">
                    <a:pos x="16" y="6"/>
                  </a:cxn>
                  <a:cxn ang="0">
                    <a:pos x="4" y="2"/>
                  </a:cxn>
                  <a:cxn ang="0">
                    <a:pos x="0" y="2"/>
                  </a:cxn>
                  <a:cxn ang="0">
                    <a:pos x="0" y="12"/>
                  </a:cxn>
                  <a:cxn ang="0">
                    <a:pos x="2" y="22"/>
                  </a:cxn>
                  <a:cxn ang="0">
                    <a:pos x="0" y="26"/>
                  </a:cxn>
                  <a:cxn ang="0">
                    <a:pos x="0" y="38"/>
                  </a:cxn>
                  <a:cxn ang="0">
                    <a:pos x="4" y="46"/>
                  </a:cxn>
                  <a:cxn ang="0">
                    <a:pos x="98" y="162"/>
                  </a:cxn>
                  <a:cxn ang="0">
                    <a:pos x="102" y="162"/>
                  </a:cxn>
                  <a:cxn ang="0">
                    <a:pos x="116" y="166"/>
                  </a:cxn>
                  <a:cxn ang="0">
                    <a:pos x="122" y="156"/>
                  </a:cxn>
                  <a:cxn ang="0">
                    <a:pos x="130" y="146"/>
                  </a:cxn>
                  <a:cxn ang="0">
                    <a:pos x="142" y="144"/>
                  </a:cxn>
                </a:cxnLst>
                <a:rect l="0" t="0" r="r" b="b"/>
                <a:pathLst>
                  <a:path w="142" h="166">
                    <a:moveTo>
                      <a:pt x="142" y="144"/>
                    </a:moveTo>
                    <a:lnTo>
                      <a:pt x="142" y="144"/>
                    </a:lnTo>
                    <a:lnTo>
                      <a:pt x="140" y="142"/>
                    </a:lnTo>
                    <a:lnTo>
                      <a:pt x="138" y="132"/>
                    </a:lnTo>
                    <a:lnTo>
                      <a:pt x="142" y="130"/>
                    </a:lnTo>
                    <a:lnTo>
                      <a:pt x="138" y="126"/>
                    </a:lnTo>
                    <a:lnTo>
                      <a:pt x="138" y="122"/>
                    </a:lnTo>
                    <a:lnTo>
                      <a:pt x="130" y="106"/>
                    </a:lnTo>
                    <a:lnTo>
                      <a:pt x="126" y="104"/>
                    </a:lnTo>
                    <a:lnTo>
                      <a:pt x="124" y="98"/>
                    </a:lnTo>
                    <a:lnTo>
                      <a:pt x="122" y="90"/>
                    </a:lnTo>
                    <a:lnTo>
                      <a:pt x="120" y="84"/>
                    </a:lnTo>
                    <a:lnTo>
                      <a:pt x="118" y="80"/>
                    </a:lnTo>
                    <a:lnTo>
                      <a:pt x="118" y="78"/>
                    </a:lnTo>
                    <a:lnTo>
                      <a:pt x="114" y="76"/>
                    </a:lnTo>
                    <a:lnTo>
                      <a:pt x="114" y="70"/>
                    </a:lnTo>
                    <a:lnTo>
                      <a:pt x="114" y="66"/>
                    </a:lnTo>
                    <a:lnTo>
                      <a:pt x="110" y="62"/>
                    </a:lnTo>
                    <a:lnTo>
                      <a:pt x="106" y="56"/>
                    </a:lnTo>
                    <a:lnTo>
                      <a:pt x="102" y="48"/>
                    </a:lnTo>
                    <a:lnTo>
                      <a:pt x="104" y="44"/>
                    </a:lnTo>
                    <a:lnTo>
                      <a:pt x="108" y="46"/>
                    </a:lnTo>
                    <a:lnTo>
                      <a:pt x="110" y="50"/>
                    </a:lnTo>
                    <a:lnTo>
                      <a:pt x="112" y="56"/>
                    </a:lnTo>
                    <a:lnTo>
                      <a:pt x="112" y="60"/>
                    </a:lnTo>
                    <a:lnTo>
                      <a:pt x="120" y="68"/>
                    </a:lnTo>
                    <a:lnTo>
                      <a:pt x="126" y="68"/>
                    </a:lnTo>
                    <a:lnTo>
                      <a:pt x="130" y="56"/>
                    </a:lnTo>
                    <a:lnTo>
                      <a:pt x="132" y="48"/>
                    </a:lnTo>
                    <a:lnTo>
                      <a:pt x="130" y="42"/>
                    </a:lnTo>
                    <a:lnTo>
                      <a:pt x="128" y="22"/>
                    </a:lnTo>
                    <a:lnTo>
                      <a:pt x="126" y="14"/>
                    </a:lnTo>
                    <a:lnTo>
                      <a:pt x="126" y="12"/>
                    </a:lnTo>
                    <a:lnTo>
                      <a:pt x="122" y="12"/>
                    </a:lnTo>
                    <a:lnTo>
                      <a:pt x="118" y="12"/>
                    </a:lnTo>
                    <a:lnTo>
                      <a:pt x="114" y="14"/>
                    </a:lnTo>
                    <a:lnTo>
                      <a:pt x="108" y="16"/>
                    </a:lnTo>
                    <a:lnTo>
                      <a:pt x="108" y="14"/>
                    </a:lnTo>
                    <a:lnTo>
                      <a:pt x="108" y="12"/>
                    </a:lnTo>
                    <a:lnTo>
                      <a:pt x="104" y="12"/>
                    </a:lnTo>
                    <a:lnTo>
                      <a:pt x="100" y="14"/>
                    </a:lnTo>
                    <a:lnTo>
                      <a:pt x="98" y="16"/>
                    </a:lnTo>
                    <a:lnTo>
                      <a:pt x="96" y="14"/>
                    </a:lnTo>
                    <a:lnTo>
                      <a:pt x="92" y="14"/>
                    </a:lnTo>
                    <a:lnTo>
                      <a:pt x="90" y="12"/>
                    </a:lnTo>
                    <a:lnTo>
                      <a:pt x="92" y="12"/>
                    </a:lnTo>
                    <a:lnTo>
                      <a:pt x="92" y="10"/>
                    </a:lnTo>
                    <a:lnTo>
                      <a:pt x="88" y="10"/>
                    </a:lnTo>
                    <a:lnTo>
                      <a:pt x="86" y="10"/>
                    </a:lnTo>
                    <a:lnTo>
                      <a:pt x="84" y="12"/>
                    </a:lnTo>
                    <a:lnTo>
                      <a:pt x="86" y="12"/>
                    </a:lnTo>
                    <a:lnTo>
                      <a:pt x="86" y="14"/>
                    </a:lnTo>
                    <a:lnTo>
                      <a:pt x="86" y="16"/>
                    </a:lnTo>
                    <a:lnTo>
                      <a:pt x="86" y="18"/>
                    </a:lnTo>
                    <a:lnTo>
                      <a:pt x="82" y="16"/>
                    </a:lnTo>
                    <a:lnTo>
                      <a:pt x="82" y="14"/>
                    </a:lnTo>
                    <a:lnTo>
                      <a:pt x="84" y="12"/>
                    </a:lnTo>
                    <a:lnTo>
                      <a:pt x="78" y="14"/>
                    </a:lnTo>
                    <a:lnTo>
                      <a:pt x="72" y="12"/>
                    </a:lnTo>
                    <a:lnTo>
                      <a:pt x="70" y="18"/>
                    </a:lnTo>
                    <a:lnTo>
                      <a:pt x="68" y="18"/>
                    </a:lnTo>
                    <a:lnTo>
                      <a:pt x="64" y="16"/>
                    </a:lnTo>
                    <a:lnTo>
                      <a:pt x="62" y="18"/>
                    </a:lnTo>
                    <a:lnTo>
                      <a:pt x="56" y="18"/>
                    </a:lnTo>
                    <a:lnTo>
                      <a:pt x="52" y="14"/>
                    </a:lnTo>
                    <a:lnTo>
                      <a:pt x="44" y="16"/>
                    </a:lnTo>
                    <a:lnTo>
                      <a:pt x="36" y="16"/>
                    </a:lnTo>
                    <a:lnTo>
                      <a:pt x="36" y="14"/>
                    </a:lnTo>
                    <a:lnTo>
                      <a:pt x="28" y="12"/>
                    </a:lnTo>
                    <a:lnTo>
                      <a:pt x="26" y="8"/>
                    </a:lnTo>
                    <a:lnTo>
                      <a:pt x="20" y="6"/>
                    </a:lnTo>
                    <a:lnTo>
                      <a:pt x="16" y="6"/>
                    </a:lnTo>
                    <a:lnTo>
                      <a:pt x="8" y="8"/>
                    </a:lnTo>
                    <a:lnTo>
                      <a:pt x="4" y="2"/>
                    </a:lnTo>
                    <a:lnTo>
                      <a:pt x="2" y="0"/>
                    </a:lnTo>
                    <a:lnTo>
                      <a:pt x="0" y="2"/>
                    </a:lnTo>
                    <a:lnTo>
                      <a:pt x="0" y="6"/>
                    </a:lnTo>
                    <a:lnTo>
                      <a:pt x="0" y="12"/>
                    </a:lnTo>
                    <a:lnTo>
                      <a:pt x="2" y="18"/>
                    </a:lnTo>
                    <a:lnTo>
                      <a:pt x="2" y="22"/>
                    </a:lnTo>
                    <a:lnTo>
                      <a:pt x="0" y="24"/>
                    </a:lnTo>
                    <a:lnTo>
                      <a:pt x="0" y="26"/>
                    </a:lnTo>
                    <a:lnTo>
                      <a:pt x="0" y="32"/>
                    </a:lnTo>
                    <a:lnTo>
                      <a:pt x="0" y="38"/>
                    </a:lnTo>
                    <a:lnTo>
                      <a:pt x="0" y="40"/>
                    </a:lnTo>
                    <a:lnTo>
                      <a:pt x="4" y="46"/>
                    </a:lnTo>
                    <a:lnTo>
                      <a:pt x="4" y="162"/>
                    </a:lnTo>
                    <a:lnTo>
                      <a:pt x="98" y="162"/>
                    </a:lnTo>
                    <a:lnTo>
                      <a:pt x="102" y="160"/>
                    </a:lnTo>
                    <a:lnTo>
                      <a:pt x="102" y="162"/>
                    </a:lnTo>
                    <a:lnTo>
                      <a:pt x="114" y="162"/>
                    </a:lnTo>
                    <a:lnTo>
                      <a:pt x="116" y="166"/>
                    </a:lnTo>
                    <a:lnTo>
                      <a:pt x="122" y="164"/>
                    </a:lnTo>
                    <a:lnTo>
                      <a:pt x="122" y="156"/>
                    </a:lnTo>
                    <a:lnTo>
                      <a:pt x="126" y="154"/>
                    </a:lnTo>
                    <a:lnTo>
                      <a:pt x="130" y="146"/>
                    </a:lnTo>
                    <a:lnTo>
                      <a:pt x="134" y="146"/>
                    </a:lnTo>
                    <a:lnTo>
                      <a:pt x="142" y="144"/>
                    </a:lnTo>
                    <a:lnTo>
                      <a:pt x="142" y="144"/>
                    </a:lnTo>
                    <a:close/>
                  </a:path>
                </a:pathLst>
              </a:custGeom>
              <a:solidFill>
                <a:srgbClr val="747480"/>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590" name="Freeform 474">
                <a:extLst>
                  <a:ext uri="{FF2B5EF4-FFF2-40B4-BE49-F238E27FC236}">
                    <a16:creationId xmlns:a16="http://schemas.microsoft.com/office/drawing/2014/main" id="{7EA8B0E0-AFCC-2747-A0A7-6BAF7F701936}"/>
                  </a:ext>
                </a:extLst>
              </p:cNvPr>
              <p:cNvSpPr>
                <a:spLocks/>
              </p:cNvSpPr>
              <p:nvPr/>
            </p:nvSpPr>
            <p:spPr bwMode="auto">
              <a:xfrm>
                <a:off x="5604506" y="3664310"/>
                <a:ext cx="164986" cy="130784"/>
              </a:xfrm>
              <a:custGeom>
                <a:avLst/>
                <a:gdLst/>
                <a:ahLst/>
                <a:cxnLst>
                  <a:cxn ang="0">
                    <a:pos x="172" y="16"/>
                  </a:cxn>
                  <a:cxn ang="0">
                    <a:pos x="164" y="20"/>
                  </a:cxn>
                  <a:cxn ang="0">
                    <a:pos x="150" y="22"/>
                  </a:cxn>
                  <a:cxn ang="0">
                    <a:pos x="126" y="34"/>
                  </a:cxn>
                  <a:cxn ang="0">
                    <a:pos x="122" y="44"/>
                  </a:cxn>
                  <a:cxn ang="0">
                    <a:pos x="122" y="58"/>
                  </a:cxn>
                  <a:cxn ang="0">
                    <a:pos x="110" y="58"/>
                  </a:cxn>
                  <a:cxn ang="0">
                    <a:pos x="112" y="68"/>
                  </a:cxn>
                  <a:cxn ang="0">
                    <a:pos x="106" y="78"/>
                  </a:cxn>
                  <a:cxn ang="0">
                    <a:pos x="104" y="90"/>
                  </a:cxn>
                  <a:cxn ang="0">
                    <a:pos x="94" y="90"/>
                  </a:cxn>
                  <a:cxn ang="0">
                    <a:pos x="90" y="90"/>
                  </a:cxn>
                  <a:cxn ang="0">
                    <a:pos x="88" y="100"/>
                  </a:cxn>
                  <a:cxn ang="0">
                    <a:pos x="82" y="106"/>
                  </a:cxn>
                  <a:cxn ang="0">
                    <a:pos x="70" y="116"/>
                  </a:cxn>
                  <a:cxn ang="0">
                    <a:pos x="62" y="126"/>
                  </a:cxn>
                  <a:cxn ang="0">
                    <a:pos x="52" y="134"/>
                  </a:cxn>
                  <a:cxn ang="0">
                    <a:pos x="44" y="136"/>
                  </a:cxn>
                  <a:cxn ang="0">
                    <a:pos x="26" y="136"/>
                  </a:cxn>
                  <a:cxn ang="0">
                    <a:pos x="10" y="130"/>
                  </a:cxn>
                  <a:cxn ang="0">
                    <a:pos x="24" y="110"/>
                  </a:cxn>
                  <a:cxn ang="0">
                    <a:pos x="10" y="104"/>
                  </a:cxn>
                  <a:cxn ang="0">
                    <a:pos x="8" y="94"/>
                  </a:cxn>
                  <a:cxn ang="0">
                    <a:pos x="0" y="80"/>
                  </a:cxn>
                  <a:cxn ang="0">
                    <a:pos x="4" y="72"/>
                  </a:cxn>
                  <a:cxn ang="0">
                    <a:pos x="0" y="66"/>
                  </a:cxn>
                  <a:cxn ang="0">
                    <a:pos x="4" y="50"/>
                  </a:cxn>
                  <a:cxn ang="0">
                    <a:pos x="12" y="48"/>
                  </a:cxn>
                  <a:cxn ang="0">
                    <a:pos x="16" y="36"/>
                  </a:cxn>
                  <a:cxn ang="0">
                    <a:pos x="26" y="36"/>
                  </a:cxn>
                  <a:cxn ang="0">
                    <a:pos x="40" y="32"/>
                  </a:cxn>
                  <a:cxn ang="0">
                    <a:pos x="46" y="18"/>
                  </a:cxn>
                  <a:cxn ang="0">
                    <a:pos x="48" y="8"/>
                  </a:cxn>
                  <a:cxn ang="0">
                    <a:pos x="52" y="0"/>
                  </a:cxn>
                  <a:cxn ang="0">
                    <a:pos x="62" y="4"/>
                  </a:cxn>
                  <a:cxn ang="0">
                    <a:pos x="74" y="6"/>
                  </a:cxn>
                  <a:cxn ang="0">
                    <a:pos x="84" y="10"/>
                  </a:cxn>
                  <a:cxn ang="0">
                    <a:pos x="96" y="10"/>
                  </a:cxn>
                  <a:cxn ang="0">
                    <a:pos x="104" y="4"/>
                  </a:cxn>
                  <a:cxn ang="0">
                    <a:pos x="112" y="2"/>
                  </a:cxn>
                  <a:cxn ang="0">
                    <a:pos x="118" y="12"/>
                  </a:cxn>
                  <a:cxn ang="0">
                    <a:pos x="114" y="24"/>
                  </a:cxn>
                  <a:cxn ang="0">
                    <a:pos x="126" y="28"/>
                  </a:cxn>
                  <a:cxn ang="0">
                    <a:pos x="136" y="18"/>
                  </a:cxn>
                  <a:cxn ang="0">
                    <a:pos x="150" y="12"/>
                  </a:cxn>
                  <a:cxn ang="0">
                    <a:pos x="162" y="12"/>
                  </a:cxn>
                  <a:cxn ang="0">
                    <a:pos x="172" y="12"/>
                  </a:cxn>
                </a:cxnLst>
                <a:rect l="0" t="0" r="r" b="b"/>
                <a:pathLst>
                  <a:path w="172" h="138">
                    <a:moveTo>
                      <a:pt x="172" y="12"/>
                    </a:moveTo>
                    <a:lnTo>
                      <a:pt x="172" y="16"/>
                    </a:lnTo>
                    <a:lnTo>
                      <a:pt x="170" y="20"/>
                    </a:lnTo>
                    <a:lnTo>
                      <a:pt x="164" y="20"/>
                    </a:lnTo>
                    <a:lnTo>
                      <a:pt x="156" y="20"/>
                    </a:lnTo>
                    <a:lnTo>
                      <a:pt x="150" y="22"/>
                    </a:lnTo>
                    <a:lnTo>
                      <a:pt x="140" y="24"/>
                    </a:lnTo>
                    <a:lnTo>
                      <a:pt x="126" y="34"/>
                    </a:lnTo>
                    <a:lnTo>
                      <a:pt x="126" y="42"/>
                    </a:lnTo>
                    <a:lnTo>
                      <a:pt x="122" y="44"/>
                    </a:lnTo>
                    <a:lnTo>
                      <a:pt x="124" y="50"/>
                    </a:lnTo>
                    <a:lnTo>
                      <a:pt x="122" y="58"/>
                    </a:lnTo>
                    <a:lnTo>
                      <a:pt x="116" y="60"/>
                    </a:lnTo>
                    <a:lnTo>
                      <a:pt x="110" y="58"/>
                    </a:lnTo>
                    <a:lnTo>
                      <a:pt x="108" y="64"/>
                    </a:lnTo>
                    <a:lnTo>
                      <a:pt x="112" y="68"/>
                    </a:lnTo>
                    <a:lnTo>
                      <a:pt x="112" y="74"/>
                    </a:lnTo>
                    <a:lnTo>
                      <a:pt x="106" y="78"/>
                    </a:lnTo>
                    <a:lnTo>
                      <a:pt x="106" y="84"/>
                    </a:lnTo>
                    <a:lnTo>
                      <a:pt x="104" y="90"/>
                    </a:lnTo>
                    <a:lnTo>
                      <a:pt x="100" y="92"/>
                    </a:lnTo>
                    <a:lnTo>
                      <a:pt x="94" y="90"/>
                    </a:lnTo>
                    <a:lnTo>
                      <a:pt x="92" y="86"/>
                    </a:lnTo>
                    <a:lnTo>
                      <a:pt x="90" y="90"/>
                    </a:lnTo>
                    <a:lnTo>
                      <a:pt x="84" y="94"/>
                    </a:lnTo>
                    <a:lnTo>
                      <a:pt x="88" y="100"/>
                    </a:lnTo>
                    <a:lnTo>
                      <a:pt x="86" y="104"/>
                    </a:lnTo>
                    <a:lnTo>
                      <a:pt x="82" y="106"/>
                    </a:lnTo>
                    <a:lnTo>
                      <a:pt x="78" y="104"/>
                    </a:lnTo>
                    <a:lnTo>
                      <a:pt x="70" y="116"/>
                    </a:lnTo>
                    <a:lnTo>
                      <a:pt x="62" y="120"/>
                    </a:lnTo>
                    <a:lnTo>
                      <a:pt x="62" y="126"/>
                    </a:lnTo>
                    <a:lnTo>
                      <a:pt x="60" y="132"/>
                    </a:lnTo>
                    <a:lnTo>
                      <a:pt x="52" y="134"/>
                    </a:lnTo>
                    <a:lnTo>
                      <a:pt x="50" y="138"/>
                    </a:lnTo>
                    <a:lnTo>
                      <a:pt x="44" y="136"/>
                    </a:lnTo>
                    <a:lnTo>
                      <a:pt x="32" y="136"/>
                    </a:lnTo>
                    <a:lnTo>
                      <a:pt x="26" y="136"/>
                    </a:lnTo>
                    <a:lnTo>
                      <a:pt x="24" y="138"/>
                    </a:lnTo>
                    <a:lnTo>
                      <a:pt x="10" y="130"/>
                    </a:lnTo>
                    <a:lnTo>
                      <a:pt x="24" y="114"/>
                    </a:lnTo>
                    <a:lnTo>
                      <a:pt x="24" y="110"/>
                    </a:lnTo>
                    <a:lnTo>
                      <a:pt x="22" y="106"/>
                    </a:lnTo>
                    <a:lnTo>
                      <a:pt x="10" y="104"/>
                    </a:lnTo>
                    <a:lnTo>
                      <a:pt x="8" y="102"/>
                    </a:lnTo>
                    <a:lnTo>
                      <a:pt x="8" y="94"/>
                    </a:lnTo>
                    <a:lnTo>
                      <a:pt x="6" y="86"/>
                    </a:lnTo>
                    <a:lnTo>
                      <a:pt x="0" y="80"/>
                    </a:lnTo>
                    <a:lnTo>
                      <a:pt x="0" y="74"/>
                    </a:lnTo>
                    <a:lnTo>
                      <a:pt x="4" y="72"/>
                    </a:lnTo>
                    <a:lnTo>
                      <a:pt x="0" y="70"/>
                    </a:lnTo>
                    <a:lnTo>
                      <a:pt x="0" y="66"/>
                    </a:lnTo>
                    <a:lnTo>
                      <a:pt x="0" y="56"/>
                    </a:lnTo>
                    <a:lnTo>
                      <a:pt x="4" y="50"/>
                    </a:lnTo>
                    <a:lnTo>
                      <a:pt x="6" y="48"/>
                    </a:lnTo>
                    <a:lnTo>
                      <a:pt x="12" y="48"/>
                    </a:lnTo>
                    <a:lnTo>
                      <a:pt x="14" y="42"/>
                    </a:lnTo>
                    <a:lnTo>
                      <a:pt x="16" y="36"/>
                    </a:lnTo>
                    <a:lnTo>
                      <a:pt x="22" y="38"/>
                    </a:lnTo>
                    <a:lnTo>
                      <a:pt x="26" y="36"/>
                    </a:lnTo>
                    <a:lnTo>
                      <a:pt x="30" y="38"/>
                    </a:lnTo>
                    <a:lnTo>
                      <a:pt x="40" y="32"/>
                    </a:lnTo>
                    <a:lnTo>
                      <a:pt x="38" y="26"/>
                    </a:lnTo>
                    <a:lnTo>
                      <a:pt x="46" y="18"/>
                    </a:lnTo>
                    <a:lnTo>
                      <a:pt x="48" y="14"/>
                    </a:lnTo>
                    <a:lnTo>
                      <a:pt x="48" y="8"/>
                    </a:lnTo>
                    <a:lnTo>
                      <a:pt x="50" y="4"/>
                    </a:lnTo>
                    <a:lnTo>
                      <a:pt x="52" y="0"/>
                    </a:lnTo>
                    <a:lnTo>
                      <a:pt x="58" y="2"/>
                    </a:lnTo>
                    <a:lnTo>
                      <a:pt x="62" y="4"/>
                    </a:lnTo>
                    <a:lnTo>
                      <a:pt x="68" y="6"/>
                    </a:lnTo>
                    <a:lnTo>
                      <a:pt x="74" y="6"/>
                    </a:lnTo>
                    <a:lnTo>
                      <a:pt x="78" y="12"/>
                    </a:lnTo>
                    <a:lnTo>
                      <a:pt x="84" y="10"/>
                    </a:lnTo>
                    <a:lnTo>
                      <a:pt x="92" y="8"/>
                    </a:lnTo>
                    <a:lnTo>
                      <a:pt x="96" y="10"/>
                    </a:lnTo>
                    <a:lnTo>
                      <a:pt x="102" y="6"/>
                    </a:lnTo>
                    <a:lnTo>
                      <a:pt x="104" y="4"/>
                    </a:lnTo>
                    <a:lnTo>
                      <a:pt x="108" y="0"/>
                    </a:lnTo>
                    <a:lnTo>
                      <a:pt x="112" y="2"/>
                    </a:lnTo>
                    <a:lnTo>
                      <a:pt x="114" y="6"/>
                    </a:lnTo>
                    <a:lnTo>
                      <a:pt x="118" y="12"/>
                    </a:lnTo>
                    <a:lnTo>
                      <a:pt x="116" y="14"/>
                    </a:lnTo>
                    <a:lnTo>
                      <a:pt x="114" y="24"/>
                    </a:lnTo>
                    <a:lnTo>
                      <a:pt x="120" y="30"/>
                    </a:lnTo>
                    <a:lnTo>
                      <a:pt x="126" y="28"/>
                    </a:lnTo>
                    <a:lnTo>
                      <a:pt x="132" y="22"/>
                    </a:lnTo>
                    <a:lnTo>
                      <a:pt x="136" y="18"/>
                    </a:lnTo>
                    <a:lnTo>
                      <a:pt x="140" y="16"/>
                    </a:lnTo>
                    <a:lnTo>
                      <a:pt x="150" y="12"/>
                    </a:lnTo>
                    <a:lnTo>
                      <a:pt x="152" y="12"/>
                    </a:lnTo>
                    <a:lnTo>
                      <a:pt x="162" y="12"/>
                    </a:lnTo>
                    <a:lnTo>
                      <a:pt x="172" y="12"/>
                    </a:lnTo>
                    <a:lnTo>
                      <a:pt x="172" y="12"/>
                    </a:lnTo>
                    <a:close/>
                  </a:path>
                </a:pathLst>
              </a:custGeom>
              <a:solidFill>
                <a:srgbClr val="747480"/>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591" name="Freeform 501">
                <a:extLst>
                  <a:ext uri="{FF2B5EF4-FFF2-40B4-BE49-F238E27FC236}">
                    <a16:creationId xmlns:a16="http://schemas.microsoft.com/office/drawing/2014/main" id="{AA345AE4-F29A-FC09-DE19-FAB88229CE16}"/>
                  </a:ext>
                </a:extLst>
              </p:cNvPr>
              <p:cNvSpPr>
                <a:spLocks/>
              </p:cNvSpPr>
              <p:nvPr/>
            </p:nvSpPr>
            <p:spPr bwMode="auto">
              <a:xfrm>
                <a:off x="5610339" y="3683524"/>
                <a:ext cx="163068" cy="195230"/>
              </a:xfrm>
              <a:custGeom>
                <a:avLst/>
                <a:gdLst/>
                <a:ahLst/>
                <a:cxnLst>
                  <a:cxn ang="0">
                    <a:pos x="74" y="204"/>
                  </a:cxn>
                  <a:cxn ang="0">
                    <a:pos x="76" y="206"/>
                  </a:cxn>
                  <a:cxn ang="0">
                    <a:pos x="104" y="204"/>
                  </a:cxn>
                  <a:cxn ang="0">
                    <a:pos x="110" y="190"/>
                  </a:cxn>
                  <a:cxn ang="0">
                    <a:pos x="108" y="184"/>
                  </a:cxn>
                  <a:cxn ang="0">
                    <a:pos x="106" y="148"/>
                  </a:cxn>
                  <a:cxn ang="0">
                    <a:pos x="124" y="138"/>
                  </a:cxn>
                  <a:cxn ang="0">
                    <a:pos x="152" y="110"/>
                  </a:cxn>
                  <a:cxn ang="0">
                    <a:pos x="164" y="88"/>
                  </a:cxn>
                  <a:cxn ang="0">
                    <a:pos x="152" y="58"/>
                  </a:cxn>
                  <a:cxn ang="0">
                    <a:pos x="154" y="26"/>
                  </a:cxn>
                  <a:cxn ang="0">
                    <a:pos x="160" y="0"/>
                  </a:cxn>
                  <a:cxn ang="0">
                    <a:pos x="150" y="0"/>
                  </a:cxn>
                  <a:cxn ang="0">
                    <a:pos x="132" y="4"/>
                  </a:cxn>
                  <a:cxn ang="0">
                    <a:pos x="120" y="22"/>
                  </a:cxn>
                  <a:cxn ang="0">
                    <a:pos x="118" y="30"/>
                  </a:cxn>
                  <a:cxn ang="0">
                    <a:pos x="110" y="40"/>
                  </a:cxn>
                  <a:cxn ang="0">
                    <a:pos x="102" y="44"/>
                  </a:cxn>
                  <a:cxn ang="0">
                    <a:pos x="106" y="54"/>
                  </a:cxn>
                  <a:cxn ang="0">
                    <a:pos x="100" y="64"/>
                  </a:cxn>
                  <a:cxn ang="0">
                    <a:pos x="94" y="72"/>
                  </a:cxn>
                  <a:cxn ang="0">
                    <a:pos x="86" y="66"/>
                  </a:cxn>
                  <a:cxn ang="0">
                    <a:pos x="76" y="74"/>
                  </a:cxn>
                  <a:cxn ang="0">
                    <a:pos x="78" y="84"/>
                  </a:cxn>
                  <a:cxn ang="0">
                    <a:pos x="72" y="84"/>
                  </a:cxn>
                  <a:cxn ang="0">
                    <a:pos x="56" y="100"/>
                  </a:cxn>
                  <a:cxn ang="0">
                    <a:pos x="54" y="112"/>
                  </a:cxn>
                  <a:cxn ang="0">
                    <a:pos x="44" y="118"/>
                  </a:cxn>
                  <a:cxn ang="0">
                    <a:pos x="26" y="116"/>
                  </a:cxn>
                  <a:cxn ang="0">
                    <a:pos x="18" y="118"/>
                  </a:cxn>
                  <a:cxn ang="0">
                    <a:pos x="8" y="122"/>
                  </a:cxn>
                  <a:cxn ang="0">
                    <a:pos x="8" y="130"/>
                  </a:cxn>
                  <a:cxn ang="0">
                    <a:pos x="20" y="142"/>
                  </a:cxn>
                  <a:cxn ang="0">
                    <a:pos x="24" y="156"/>
                  </a:cxn>
                  <a:cxn ang="0">
                    <a:pos x="30" y="164"/>
                  </a:cxn>
                  <a:cxn ang="0">
                    <a:pos x="18" y="170"/>
                  </a:cxn>
                  <a:cxn ang="0">
                    <a:pos x="2" y="182"/>
                  </a:cxn>
                  <a:cxn ang="0">
                    <a:pos x="6" y="198"/>
                  </a:cxn>
                  <a:cxn ang="0">
                    <a:pos x="8" y="196"/>
                  </a:cxn>
                  <a:cxn ang="0">
                    <a:pos x="14" y="194"/>
                  </a:cxn>
                  <a:cxn ang="0">
                    <a:pos x="24" y="196"/>
                  </a:cxn>
                  <a:cxn ang="0">
                    <a:pos x="34" y="194"/>
                  </a:cxn>
                  <a:cxn ang="0">
                    <a:pos x="50" y="190"/>
                  </a:cxn>
                  <a:cxn ang="0">
                    <a:pos x="56" y="190"/>
                  </a:cxn>
                  <a:cxn ang="0">
                    <a:pos x="66" y="194"/>
                  </a:cxn>
                  <a:cxn ang="0">
                    <a:pos x="68" y="198"/>
                  </a:cxn>
                </a:cxnLst>
                <a:rect l="0" t="0" r="r" b="b"/>
                <a:pathLst>
                  <a:path w="170" h="206">
                    <a:moveTo>
                      <a:pt x="68" y="202"/>
                    </a:moveTo>
                    <a:lnTo>
                      <a:pt x="74" y="204"/>
                    </a:lnTo>
                    <a:lnTo>
                      <a:pt x="76" y="206"/>
                    </a:lnTo>
                    <a:lnTo>
                      <a:pt x="76" y="206"/>
                    </a:lnTo>
                    <a:lnTo>
                      <a:pt x="86" y="202"/>
                    </a:lnTo>
                    <a:lnTo>
                      <a:pt x="104" y="204"/>
                    </a:lnTo>
                    <a:lnTo>
                      <a:pt x="116" y="198"/>
                    </a:lnTo>
                    <a:lnTo>
                      <a:pt x="110" y="190"/>
                    </a:lnTo>
                    <a:lnTo>
                      <a:pt x="108" y="188"/>
                    </a:lnTo>
                    <a:lnTo>
                      <a:pt x="108" y="184"/>
                    </a:lnTo>
                    <a:lnTo>
                      <a:pt x="98" y="168"/>
                    </a:lnTo>
                    <a:lnTo>
                      <a:pt x="106" y="148"/>
                    </a:lnTo>
                    <a:lnTo>
                      <a:pt x="112" y="154"/>
                    </a:lnTo>
                    <a:lnTo>
                      <a:pt x="124" y="138"/>
                    </a:lnTo>
                    <a:lnTo>
                      <a:pt x="140" y="120"/>
                    </a:lnTo>
                    <a:lnTo>
                      <a:pt x="152" y="110"/>
                    </a:lnTo>
                    <a:lnTo>
                      <a:pt x="154" y="102"/>
                    </a:lnTo>
                    <a:lnTo>
                      <a:pt x="164" y="88"/>
                    </a:lnTo>
                    <a:lnTo>
                      <a:pt x="170" y="66"/>
                    </a:lnTo>
                    <a:lnTo>
                      <a:pt x="152" y="58"/>
                    </a:lnTo>
                    <a:lnTo>
                      <a:pt x="144" y="44"/>
                    </a:lnTo>
                    <a:lnTo>
                      <a:pt x="154" y="26"/>
                    </a:lnTo>
                    <a:lnTo>
                      <a:pt x="142" y="12"/>
                    </a:lnTo>
                    <a:lnTo>
                      <a:pt x="160" y="0"/>
                    </a:lnTo>
                    <a:lnTo>
                      <a:pt x="158" y="0"/>
                    </a:lnTo>
                    <a:lnTo>
                      <a:pt x="150" y="0"/>
                    </a:lnTo>
                    <a:lnTo>
                      <a:pt x="144" y="2"/>
                    </a:lnTo>
                    <a:lnTo>
                      <a:pt x="132" y="4"/>
                    </a:lnTo>
                    <a:lnTo>
                      <a:pt x="120" y="14"/>
                    </a:lnTo>
                    <a:lnTo>
                      <a:pt x="120" y="22"/>
                    </a:lnTo>
                    <a:lnTo>
                      <a:pt x="116" y="24"/>
                    </a:lnTo>
                    <a:lnTo>
                      <a:pt x="118" y="30"/>
                    </a:lnTo>
                    <a:lnTo>
                      <a:pt x="116" y="38"/>
                    </a:lnTo>
                    <a:lnTo>
                      <a:pt x="110" y="40"/>
                    </a:lnTo>
                    <a:lnTo>
                      <a:pt x="104" y="38"/>
                    </a:lnTo>
                    <a:lnTo>
                      <a:pt x="102" y="44"/>
                    </a:lnTo>
                    <a:lnTo>
                      <a:pt x="106" y="48"/>
                    </a:lnTo>
                    <a:lnTo>
                      <a:pt x="106" y="54"/>
                    </a:lnTo>
                    <a:lnTo>
                      <a:pt x="100" y="60"/>
                    </a:lnTo>
                    <a:lnTo>
                      <a:pt x="100" y="64"/>
                    </a:lnTo>
                    <a:lnTo>
                      <a:pt x="98" y="70"/>
                    </a:lnTo>
                    <a:lnTo>
                      <a:pt x="94" y="72"/>
                    </a:lnTo>
                    <a:lnTo>
                      <a:pt x="90" y="70"/>
                    </a:lnTo>
                    <a:lnTo>
                      <a:pt x="86" y="66"/>
                    </a:lnTo>
                    <a:lnTo>
                      <a:pt x="82" y="70"/>
                    </a:lnTo>
                    <a:lnTo>
                      <a:pt x="76" y="74"/>
                    </a:lnTo>
                    <a:lnTo>
                      <a:pt x="80" y="80"/>
                    </a:lnTo>
                    <a:lnTo>
                      <a:pt x="78" y="84"/>
                    </a:lnTo>
                    <a:lnTo>
                      <a:pt x="76" y="86"/>
                    </a:lnTo>
                    <a:lnTo>
                      <a:pt x="72" y="84"/>
                    </a:lnTo>
                    <a:lnTo>
                      <a:pt x="64" y="96"/>
                    </a:lnTo>
                    <a:lnTo>
                      <a:pt x="56" y="100"/>
                    </a:lnTo>
                    <a:lnTo>
                      <a:pt x="56" y="104"/>
                    </a:lnTo>
                    <a:lnTo>
                      <a:pt x="54" y="112"/>
                    </a:lnTo>
                    <a:lnTo>
                      <a:pt x="46" y="114"/>
                    </a:lnTo>
                    <a:lnTo>
                      <a:pt x="44" y="118"/>
                    </a:lnTo>
                    <a:lnTo>
                      <a:pt x="38" y="116"/>
                    </a:lnTo>
                    <a:lnTo>
                      <a:pt x="26" y="116"/>
                    </a:lnTo>
                    <a:lnTo>
                      <a:pt x="20" y="116"/>
                    </a:lnTo>
                    <a:lnTo>
                      <a:pt x="18" y="118"/>
                    </a:lnTo>
                    <a:lnTo>
                      <a:pt x="4" y="110"/>
                    </a:lnTo>
                    <a:lnTo>
                      <a:pt x="8" y="122"/>
                    </a:lnTo>
                    <a:lnTo>
                      <a:pt x="6" y="126"/>
                    </a:lnTo>
                    <a:lnTo>
                      <a:pt x="8" y="130"/>
                    </a:lnTo>
                    <a:lnTo>
                      <a:pt x="16" y="140"/>
                    </a:lnTo>
                    <a:lnTo>
                      <a:pt x="20" y="142"/>
                    </a:lnTo>
                    <a:lnTo>
                      <a:pt x="24" y="148"/>
                    </a:lnTo>
                    <a:lnTo>
                      <a:pt x="24" y="156"/>
                    </a:lnTo>
                    <a:lnTo>
                      <a:pt x="30" y="156"/>
                    </a:lnTo>
                    <a:lnTo>
                      <a:pt x="30" y="164"/>
                    </a:lnTo>
                    <a:lnTo>
                      <a:pt x="24" y="168"/>
                    </a:lnTo>
                    <a:lnTo>
                      <a:pt x="18" y="170"/>
                    </a:lnTo>
                    <a:lnTo>
                      <a:pt x="8" y="170"/>
                    </a:lnTo>
                    <a:lnTo>
                      <a:pt x="2" y="182"/>
                    </a:lnTo>
                    <a:lnTo>
                      <a:pt x="0" y="198"/>
                    </a:lnTo>
                    <a:lnTo>
                      <a:pt x="6" y="198"/>
                    </a:lnTo>
                    <a:lnTo>
                      <a:pt x="6" y="196"/>
                    </a:lnTo>
                    <a:lnTo>
                      <a:pt x="8" y="196"/>
                    </a:lnTo>
                    <a:lnTo>
                      <a:pt x="10" y="196"/>
                    </a:lnTo>
                    <a:lnTo>
                      <a:pt x="14" y="194"/>
                    </a:lnTo>
                    <a:lnTo>
                      <a:pt x="20" y="196"/>
                    </a:lnTo>
                    <a:lnTo>
                      <a:pt x="24" y="196"/>
                    </a:lnTo>
                    <a:lnTo>
                      <a:pt x="26" y="194"/>
                    </a:lnTo>
                    <a:lnTo>
                      <a:pt x="34" y="194"/>
                    </a:lnTo>
                    <a:lnTo>
                      <a:pt x="42" y="194"/>
                    </a:lnTo>
                    <a:lnTo>
                      <a:pt x="50" y="190"/>
                    </a:lnTo>
                    <a:lnTo>
                      <a:pt x="54" y="190"/>
                    </a:lnTo>
                    <a:lnTo>
                      <a:pt x="56" y="190"/>
                    </a:lnTo>
                    <a:lnTo>
                      <a:pt x="66" y="188"/>
                    </a:lnTo>
                    <a:lnTo>
                      <a:pt x="66" y="194"/>
                    </a:lnTo>
                    <a:lnTo>
                      <a:pt x="68" y="194"/>
                    </a:lnTo>
                    <a:lnTo>
                      <a:pt x="68" y="198"/>
                    </a:lnTo>
                    <a:lnTo>
                      <a:pt x="68" y="202"/>
                    </a:lnTo>
                    <a:close/>
                  </a:path>
                </a:pathLst>
              </a:custGeom>
              <a:solidFill>
                <a:srgbClr val="747480"/>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Light"/>
                  <a:ea typeface="+mn-ea"/>
                  <a:cs typeface="+mn-cs"/>
                </a:endParaRPr>
              </a:p>
            </p:txBody>
          </p:sp>
        </p:grpSp>
        <p:grpSp>
          <p:nvGrpSpPr>
            <p:cNvPr id="13" name="Group 12">
              <a:extLst>
                <a:ext uri="{FF2B5EF4-FFF2-40B4-BE49-F238E27FC236}">
                  <a16:creationId xmlns:a16="http://schemas.microsoft.com/office/drawing/2014/main" id="{5960C2AE-345D-3020-A414-EDA8A48621C4}"/>
                </a:ext>
              </a:extLst>
            </p:cNvPr>
            <p:cNvGrpSpPr/>
            <p:nvPr/>
          </p:nvGrpSpPr>
          <p:grpSpPr>
            <a:xfrm>
              <a:off x="2719136" y="2751659"/>
              <a:ext cx="4507803" cy="2436298"/>
              <a:chOff x="2719136" y="2751659"/>
              <a:chExt cx="4507803" cy="2436298"/>
            </a:xfrm>
          </p:grpSpPr>
          <p:sp>
            <p:nvSpPr>
              <p:cNvPr id="14" name="Freeform 5">
                <a:extLst>
                  <a:ext uri="{FF2B5EF4-FFF2-40B4-BE49-F238E27FC236}">
                    <a16:creationId xmlns:a16="http://schemas.microsoft.com/office/drawing/2014/main" id="{E94C41DB-2D3F-5808-C748-F7A0E8F67C2D}"/>
                  </a:ext>
                </a:extLst>
              </p:cNvPr>
              <p:cNvSpPr>
                <a:spLocks/>
              </p:cNvSpPr>
              <p:nvPr/>
            </p:nvSpPr>
            <p:spPr bwMode="auto">
              <a:xfrm>
                <a:off x="3290876" y="3464488"/>
                <a:ext cx="7779" cy="15371"/>
              </a:xfrm>
              <a:custGeom>
                <a:avLst/>
                <a:gdLst/>
                <a:ahLst/>
                <a:cxnLst>
                  <a:cxn ang="0">
                    <a:pos x="6" y="0"/>
                  </a:cxn>
                  <a:cxn ang="0">
                    <a:pos x="6" y="0"/>
                  </a:cxn>
                  <a:cxn ang="0">
                    <a:pos x="6" y="2"/>
                  </a:cxn>
                  <a:cxn ang="0">
                    <a:pos x="8" y="4"/>
                  </a:cxn>
                  <a:cxn ang="0">
                    <a:pos x="4" y="8"/>
                  </a:cxn>
                  <a:cxn ang="0">
                    <a:pos x="4" y="16"/>
                  </a:cxn>
                  <a:cxn ang="0">
                    <a:pos x="2" y="14"/>
                  </a:cxn>
                  <a:cxn ang="0">
                    <a:pos x="2" y="12"/>
                  </a:cxn>
                  <a:cxn ang="0">
                    <a:pos x="0" y="8"/>
                  </a:cxn>
                  <a:cxn ang="0">
                    <a:pos x="0" y="6"/>
                  </a:cxn>
                  <a:cxn ang="0">
                    <a:pos x="2" y="4"/>
                  </a:cxn>
                  <a:cxn ang="0">
                    <a:pos x="2" y="6"/>
                  </a:cxn>
                  <a:cxn ang="0">
                    <a:pos x="4" y="4"/>
                  </a:cxn>
                  <a:cxn ang="0">
                    <a:pos x="2" y="2"/>
                  </a:cxn>
                  <a:cxn ang="0">
                    <a:pos x="4" y="2"/>
                  </a:cxn>
                  <a:cxn ang="0">
                    <a:pos x="6" y="0"/>
                  </a:cxn>
                  <a:cxn ang="0">
                    <a:pos x="6" y="0"/>
                  </a:cxn>
                </a:cxnLst>
                <a:rect l="0" t="0" r="r" b="b"/>
                <a:pathLst>
                  <a:path w="8" h="16">
                    <a:moveTo>
                      <a:pt x="6" y="0"/>
                    </a:moveTo>
                    <a:lnTo>
                      <a:pt x="6" y="0"/>
                    </a:lnTo>
                    <a:lnTo>
                      <a:pt x="6" y="2"/>
                    </a:lnTo>
                    <a:lnTo>
                      <a:pt x="8" y="4"/>
                    </a:lnTo>
                    <a:lnTo>
                      <a:pt x="4" y="8"/>
                    </a:lnTo>
                    <a:lnTo>
                      <a:pt x="4" y="16"/>
                    </a:lnTo>
                    <a:lnTo>
                      <a:pt x="2" y="14"/>
                    </a:lnTo>
                    <a:lnTo>
                      <a:pt x="2" y="12"/>
                    </a:lnTo>
                    <a:lnTo>
                      <a:pt x="0" y="8"/>
                    </a:lnTo>
                    <a:lnTo>
                      <a:pt x="0" y="6"/>
                    </a:lnTo>
                    <a:lnTo>
                      <a:pt x="2" y="4"/>
                    </a:lnTo>
                    <a:lnTo>
                      <a:pt x="2" y="6"/>
                    </a:lnTo>
                    <a:lnTo>
                      <a:pt x="4" y="4"/>
                    </a:lnTo>
                    <a:lnTo>
                      <a:pt x="2" y="2"/>
                    </a:lnTo>
                    <a:lnTo>
                      <a:pt x="4" y="2"/>
                    </a:lnTo>
                    <a:lnTo>
                      <a:pt x="6" y="0"/>
                    </a:lnTo>
                    <a:lnTo>
                      <a:pt x="6"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5" name="Freeform 6">
                <a:extLst>
                  <a:ext uri="{FF2B5EF4-FFF2-40B4-BE49-F238E27FC236}">
                    <a16:creationId xmlns:a16="http://schemas.microsoft.com/office/drawing/2014/main" id="{1F133D2E-A895-272D-4D5C-28D7F1A314BD}"/>
                  </a:ext>
                </a:extLst>
              </p:cNvPr>
              <p:cNvSpPr>
                <a:spLocks/>
              </p:cNvSpPr>
              <p:nvPr/>
            </p:nvSpPr>
            <p:spPr bwMode="auto">
              <a:xfrm>
                <a:off x="3290876" y="3464488"/>
                <a:ext cx="7779" cy="15371"/>
              </a:xfrm>
              <a:custGeom>
                <a:avLst/>
                <a:gdLst/>
                <a:ahLst/>
                <a:cxnLst>
                  <a:cxn ang="0">
                    <a:pos x="6" y="0"/>
                  </a:cxn>
                  <a:cxn ang="0">
                    <a:pos x="6" y="0"/>
                  </a:cxn>
                  <a:cxn ang="0">
                    <a:pos x="6" y="2"/>
                  </a:cxn>
                  <a:cxn ang="0">
                    <a:pos x="8" y="4"/>
                  </a:cxn>
                  <a:cxn ang="0">
                    <a:pos x="4" y="8"/>
                  </a:cxn>
                  <a:cxn ang="0">
                    <a:pos x="4" y="16"/>
                  </a:cxn>
                  <a:cxn ang="0">
                    <a:pos x="2" y="14"/>
                  </a:cxn>
                  <a:cxn ang="0">
                    <a:pos x="2" y="12"/>
                  </a:cxn>
                  <a:cxn ang="0">
                    <a:pos x="0" y="8"/>
                  </a:cxn>
                  <a:cxn ang="0">
                    <a:pos x="0" y="6"/>
                  </a:cxn>
                  <a:cxn ang="0">
                    <a:pos x="2" y="4"/>
                  </a:cxn>
                  <a:cxn ang="0">
                    <a:pos x="2" y="6"/>
                  </a:cxn>
                  <a:cxn ang="0">
                    <a:pos x="4" y="4"/>
                  </a:cxn>
                  <a:cxn ang="0">
                    <a:pos x="2" y="2"/>
                  </a:cxn>
                  <a:cxn ang="0">
                    <a:pos x="4" y="2"/>
                  </a:cxn>
                  <a:cxn ang="0">
                    <a:pos x="6" y="0"/>
                  </a:cxn>
                  <a:cxn ang="0">
                    <a:pos x="6" y="0"/>
                  </a:cxn>
                </a:cxnLst>
                <a:rect l="0" t="0" r="r" b="b"/>
                <a:pathLst>
                  <a:path w="8" h="16">
                    <a:moveTo>
                      <a:pt x="6" y="0"/>
                    </a:moveTo>
                    <a:lnTo>
                      <a:pt x="6" y="0"/>
                    </a:lnTo>
                    <a:lnTo>
                      <a:pt x="6" y="2"/>
                    </a:lnTo>
                    <a:lnTo>
                      <a:pt x="8" y="4"/>
                    </a:lnTo>
                    <a:lnTo>
                      <a:pt x="4" y="8"/>
                    </a:lnTo>
                    <a:lnTo>
                      <a:pt x="4" y="16"/>
                    </a:lnTo>
                    <a:lnTo>
                      <a:pt x="2" y="14"/>
                    </a:lnTo>
                    <a:lnTo>
                      <a:pt x="2" y="12"/>
                    </a:lnTo>
                    <a:lnTo>
                      <a:pt x="0" y="8"/>
                    </a:lnTo>
                    <a:lnTo>
                      <a:pt x="0" y="6"/>
                    </a:lnTo>
                    <a:lnTo>
                      <a:pt x="2" y="4"/>
                    </a:lnTo>
                    <a:lnTo>
                      <a:pt x="2" y="6"/>
                    </a:lnTo>
                    <a:lnTo>
                      <a:pt x="4" y="4"/>
                    </a:lnTo>
                    <a:lnTo>
                      <a:pt x="2" y="2"/>
                    </a:lnTo>
                    <a:lnTo>
                      <a:pt x="4" y="2"/>
                    </a:lnTo>
                    <a:lnTo>
                      <a:pt x="6" y="0"/>
                    </a:lnTo>
                    <a:lnTo>
                      <a:pt x="6"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6" name="Freeform 7">
                <a:extLst>
                  <a:ext uri="{FF2B5EF4-FFF2-40B4-BE49-F238E27FC236}">
                    <a16:creationId xmlns:a16="http://schemas.microsoft.com/office/drawing/2014/main" id="{112321A5-5F98-50F8-4B25-E56231832D5C}"/>
                  </a:ext>
                </a:extLst>
              </p:cNvPr>
              <p:cNvSpPr>
                <a:spLocks/>
              </p:cNvSpPr>
              <p:nvPr/>
            </p:nvSpPr>
            <p:spPr bwMode="auto">
              <a:xfrm>
                <a:off x="3286987" y="3483701"/>
                <a:ext cx="5834" cy="7686"/>
              </a:xfrm>
              <a:custGeom>
                <a:avLst/>
                <a:gdLst/>
                <a:ahLst/>
                <a:cxnLst>
                  <a:cxn ang="0">
                    <a:pos x="6" y="0"/>
                  </a:cxn>
                  <a:cxn ang="0">
                    <a:pos x="6" y="0"/>
                  </a:cxn>
                  <a:cxn ang="0">
                    <a:pos x="6" y="2"/>
                  </a:cxn>
                  <a:cxn ang="0">
                    <a:pos x="2" y="4"/>
                  </a:cxn>
                  <a:cxn ang="0">
                    <a:pos x="2" y="8"/>
                  </a:cxn>
                  <a:cxn ang="0">
                    <a:pos x="0" y="6"/>
                  </a:cxn>
                  <a:cxn ang="0">
                    <a:pos x="0" y="4"/>
                  </a:cxn>
                  <a:cxn ang="0">
                    <a:pos x="6" y="0"/>
                  </a:cxn>
                  <a:cxn ang="0">
                    <a:pos x="6" y="0"/>
                  </a:cxn>
                </a:cxnLst>
                <a:rect l="0" t="0" r="r" b="b"/>
                <a:pathLst>
                  <a:path w="6" h="8">
                    <a:moveTo>
                      <a:pt x="6" y="0"/>
                    </a:moveTo>
                    <a:lnTo>
                      <a:pt x="6" y="0"/>
                    </a:lnTo>
                    <a:lnTo>
                      <a:pt x="6" y="2"/>
                    </a:lnTo>
                    <a:lnTo>
                      <a:pt x="2" y="4"/>
                    </a:lnTo>
                    <a:lnTo>
                      <a:pt x="2" y="8"/>
                    </a:lnTo>
                    <a:lnTo>
                      <a:pt x="0" y="6"/>
                    </a:lnTo>
                    <a:lnTo>
                      <a:pt x="0" y="4"/>
                    </a:lnTo>
                    <a:lnTo>
                      <a:pt x="6" y="0"/>
                    </a:lnTo>
                    <a:lnTo>
                      <a:pt x="6"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7" name="Freeform 8">
                <a:extLst>
                  <a:ext uri="{FF2B5EF4-FFF2-40B4-BE49-F238E27FC236}">
                    <a16:creationId xmlns:a16="http://schemas.microsoft.com/office/drawing/2014/main" id="{EEF19F63-248D-B237-CC11-BBC58FF606A4}"/>
                  </a:ext>
                </a:extLst>
              </p:cNvPr>
              <p:cNvSpPr>
                <a:spLocks/>
              </p:cNvSpPr>
              <p:nvPr/>
            </p:nvSpPr>
            <p:spPr bwMode="auto">
              <a:xfrm>
                <a:off x="3286987" y="3483701"/>
                <a:ext cx="5834" cy="7686"/>
              </a:xfrm>
              <a:custGeom>
                <a:avLst/>
                <a:gdLst/>
                <a:ahLst/>
                <a:cxnLst>
                  <a:cxn ang="0">
                    <a:pos x="6" y="0"/>
                  </a:cxn>
                  <a:cxn ang="0">
                    <a:pos x="6" y="0"/>
                  </a:cxn>
                  <a:cxn ang="0">
                    <a:pos x="6" y="2"/>
                  </a:cxn>
                  <a:cxn ang="0">
                    <a:pos x="2" y="4"/>
                  </a:cxn>
                  <a:cxn ang="0">
                    <a:pos x="2" y="8"/>
                  </a:cxn>
                  <a:cxn ang="0">
                    <a:pos x="0" y="6"/>
                  </a:cxn>
                  <a:cxn ang="0">
                    <a:pos x="0" y="4"/>
                  </a:cxn>
                  <a:cxn ang="0">
                    <a:pos x="6" y="0"/>
                  </a:cxn>
                  <a:cxn ang="0">
                    <a:pos x="6" y="0"/>
                  </a:cxn>
                </a:cxnLst>
                <a:rect l="0" t="0" r="r" b="b"/>
                <a:pathLst>
                  <a:path w="6" h="8">
                    <a:moveTo>
                      <a:pt x="6" y="0"/>
                    </a:moveTo>
                    <a:lnTo>
                      <a:pt x="6" y="0"/>
                    </a:lnTo>
                    <a:lnTo>
                      <a:pt x="6" y="2"/>
                    </a:lnTo>
                    <a:lnTo>
                      <a:pt x="2" y="4"/>
                    </a:lnTo>
                    <a:lnTo>
                      <a:pt x="2" y="8"/>
                    </a:lnTo>
                    <a:lnTo>
                      <a:pt x="0" y="6"/>
                    </a:lnTo>
                    <a:lnTo>
                      <a:pt x="0" y="4"/>
                    </a:lnTo>
                    <a:lnTo>
                      <a:pt x="6" y="0"/>
                    </a:lnTo>
                    <a:lnTo>
                      <a:pt x="6"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8" name="Freeform 9">
                <a:extLst>
                  <a:ext uri="{FF2B5EF4-FFF2-40B4-BE49-F238E27FC236}">
                    <a16:creationId xmlns:a16="http://schemas.microsoft.com/office/drawing/2014/main" id="{EA0E139F-1F90-F02E-A79B-0A49F898B4BA}"/>
                  </a:ext>
                </a:extLst>
              </p:cNvPr>
              <p:cNvSpPr>
                <a:spLocks/>
              </p:cNvSpPr>
              <p:nvPr/>
            </p:nvSpPr>
            <p:spPr bwMode="auto">
              <a:xfrm>
                <a:off x="3189752" y="3034100"/>
                <a:ext cx="973" cy="1921"/>
              </a:xfrm>
              <a:custGeom>
                <a:avLst/>
                <a:gdLst/>
                <a:ahLst/>
                <a:cxnLst>
                  <a:cxn ang="0">
                    <a:pos x="0" y="2"/>
                  </a:cxn>
                  <a:cxn ang="0">
                    <a:pos x="0" y="2"/>
                  </a:cxn>
                  <a:cxn ang="0">
                    <a:pos x="0" y="0"/>
                  </a:cxn>
                  <a:cxn ang="0">
                    <a:pos x="0" y="2"/>
                  </a:cxn>
                  <a:cxn ang="0">
                    <a:pos x="0" y="2"/>
                  </a:cxn>
                </a:cxnLst>
                <a:rect l="0" t="0" r="r" b="b"/>
                <a:pathLst>
                  <a:path h="2">
                    <a:moveTo>
                      <a:pt x="0" y="2"/>
                    </a:moveTo>
                    <a:lnTo>
                      <a:pt x="0" y="2"/>
                    </a:lnTo>
                    <a:lnTo>
                      <a:pt x="0" y="0"/>
                    </a:lnTo>
                    <a:lnTo>
                      <a:pt x="0" y="2"/>
                    </a:lnTo>
                    <a:lnTo>
                      <a:pt x="0"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9" name="Freeform 10">
                <a:extLst>
                  <a:ext uri="{FF2B5EF4-FFF2-40B4-BE49-F238E27FC236}">
                    <a16:creationId xmlns:a16="http://schemas.microsoft.com/office/drawing/2014/main" id="{2B20E21B-B797-6624-24B6-9CC15D421A1B}"/>
                  </a:ext>
                </a:extLst>
              </p:cNvPr>
              <p:cNvSpPr>
                <a:spLocks/>
              </p:cNvSpPr>
              <p:nvPr/>
            </p:nvSpPr>
            <p:spPr bwMode="auto">
              <a:xfrm>
                <a:off x="3215033" y="3366497"/>
                <a:ext cx="973" cy="1921"/>
              </a:xfrm>
              <a:custGeom>
                <a:avLst/>
                <a:gdLst/>
                <a:ahLst/>
                <a:cxnLst>
                  <a:cxn ang="0">
                    <a:pos x="0" y="2"/>
                  </a:cxn>
                  <a:cxn ang="0">
                    <a:pos x="0" y="2"/>
                  </a:cxn>
                  <a:cxn ang="0">
                    <a:pos x="0" y="0"/>
                  </a:cxn>
                  <a:cxn ang="0">
                    <a:pos x="0" y="2"/>
                  </a:cxn>
                  <a:cxn ang="0">
                    <a:pos x="0" y="2"/>
                  </a:cxn>
                </a:cxnLst>
                <a:rect l="0" t="0" r="r" b="b"/>
                <a:pathLst>
                  <a:path h="2">
                    <a:moveTo>
                      <a:pt x="0" y="2"/>
                    </a:moveTo>
                    <a:lnTo>
                      <a:pt x="0" y="2"/>
                    </a:lnTo>
                    <a:lnTo>
                      <a:pt x="0" y="0"/>
                    </a:lnTo>
                    <a:lnTo>
                      <a:pt x="0" y="2"/>
                    </a:lnTo>
                    <a:lnTo>
                      <a:pt x="0"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2" name="Freeform 11">
                <a:extLst>
                  <a:ext uri="{FF2B5EF4-FFF2-40B4-BE49-F238E27FC236}">
                    <a16:creationId xmlns:a16="http://schemas.microsoft.com/office/drawing/2014/main" id="{01965F7A-55CE-7A71-6346-BACFBC649D81}"/>
                  </a:ext>
                </a:extLst>
              </p:cNvPr>
              <p:cNvSpPr>
                <a:spLocks/>
              </p:cNvSpPr>
              <p:nvPr/>
            </p:nvSpPr>
            <p:spPr bwMode="auto">
              <a:xfrm>
                <a:off x="3201420" y="3339599"/>
                <a:ext cx="973" cy="1921"/>
              </a:xfrm>
              <a:custGeom>
                <a:avLst/>
                <a:gdLst/>
                <a:ahLst/>
                <a:cxnLst>
                  <a:cxn ang="0">
                    <a:pos x="0" y="0"/>
                  </a:cxn>
                  <a:cxn ang="0">
                    <a:pos x="0" y="2"/>
                  </a:cxn>
                  <a:cxn ang="0">
                    <a:pos x="0" y="2"/>
                  </a:cxn>
                  <a:cxn ang="0">
                    <a:pos x="0" y="0"/>
                  </a:cxn>
                  <a:cxn ang="0">
                    <a:pos x="0" y="0"/>
                  </a:cxn>
                  <a:cxn ang="0">
                    <a:pos x="0" y="0"/>
                  </a:cxn>
                </a:cxnLst>
                <a:rect l="0" t="0" r="r" b="b"/>
                <a:pathLst>
                  <a:path h="2">
                    <a:moveTo>
                      <a:pt x="0" y="0"/>
                    </a:moveTo>
                    <a:lnTo>
                      <a:pt x="0" y="2"/>
                    </a:lnTo>
                    <a:lnTo>
                      <a:pt x="0" y="2"/>
                    </a:lnTo>
                    <a:lnTo>
                      <a:pt x="0" y="0"/>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3" name="Rectangle 12">
                <a:extLst>
                  <a:ext uri="{FF2B5EF4-FFF2-40B4-BE49-F238E27FC236}">
                    <a16:creationId xmlns:a16="http://schemas.microsoft.com/office/drawing/2014/main" id="{23AAF7D7-42C6-DE59-F13D-051322A2338B}"/>
                  </a:ext>
                </a:extLst>
              </p:cNvPr>
              <p:cNvSpPr>
                <a:spLocks noChangeArrowheads="1"/>
              </p:cNvSpPr>
              <p:nvPr/>
            </p:nvSpPr>
            <p:spPr bwMode="auto">
              <a:xfrm>
                <a:off x="3201420" y="3339599"/>
                <a:ext cx="973" cy="1921"/>
              </a:xfrm>
              <a:prstGeom prst="rect">
                <a:avLst/>
              </a:prstGeom>
              <a:solidFill>
                <a:srgbClr val="C4C4CD"/>
              </a:solidFill>
              <a:ln w="3175">
                <a:solidFill>
                  <a:srgbClr val="2E2E38">
                    <a:lumMod val="20000"/>
                    <a:lumOff val="80000"/>
                  </a:srgbClr>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7" name="Freeform 13">
                <a:extLst>
                  <a:ext uri="{FF2B5EF4-FFF2-40B4-BE49-F238E27FC236}">
                    <a16:creationId xmlns:a16="http://schemas.microsoft.com/office/drawing/2014/main" id="{41A39BE4-73A5-FEF7-A79E-A334F2466D90}"/>
                  </a:ext>
                </a:extLst>
              </p:cNvPr>
              <p:cNvSpPr>
                <a:spLocks/>
              </p:cNvSpPr>
              <p:nvPr/>
            </p:nvSpPr>
            <p:spPr bwMode="auto">
              <a:xfrm>
                <a:off x="3158637" y="3360733"/>
                <a:ext cx="17503" cy="19214"/>
              </a:xfrm>
              <a:custGeom>
                <a:avLst/>
                <a:gdLst/>
                <a:ahLst/>
                <a:cxnLst>
                  <a:cxn ang="0">
                    <a:pos x="14" y="14"/>
                  </a:cxn>
                  <a:cxn ang="0">
                    <a:pos x="14" y="14"/>
                  </a:cxn>
                  <a:cxn ang="0">
                    <a:pos x="14" y="12"/>
                  </a:cxn>
                  <a:cxn ang="0">
                    <a:pos x="14" y="8"/>
                  </a:cxn>
                  <a:cxn ang="0">
                    <a:pos x="18" y="0"/>
                  </a:cxn>
                  <a:cxn ang="0">
                    <a:pos x="8" y="2"/>
                  </a:cxn>
                  <a:cxn ang="0">
                    <a:pos x="4" y="2"/>
                  </a:cxn>
                  <a:cxn ang="0">
                    <a:pos x="0" y="0"/>
                  </a:cxn>
                  <a:cxn ang="0">
                    <a:pos x="2" y="10"/>
                  </a:cxn>
                  <a:cxn ang="0">
                    <a:pos x="2" y="12"/>
                  </a:cxn>
                  <a:cxn ang="0">
                    <a:pos x="2" y="14"/>
                  </a:cxn>
                  <a:cxn ang="0">
                    <a:pos x="4" y="14"/>
                  </a:cxn>
                  <a:cxn ang="0">
                    <a:pos x="4" y="16"/>
                  </a:cxn>
                  <a:cxn ang="0">
                    <a:pos x="4" y="20"/>
                  </a:cxn>
                  <a:cxn ang="0">
                    <a:pos x="8" y="18"/>
                  </a:cxn>
                  <a:cxn ang="0">
                    <a:pos x="10" y="18"/>
                  </a:cxn>
                  <a:cxn ang="0">
                    <a:pos x="14" y="14"/>
                  </a:cxn>
                </a:cxnLst>
                <a:rect l="0" t="0" r="r" b="b"/>
                <a:pathLst>
                  <a:path w="18" h="20">
                    <a:moveTo>
                      <a:pt x="14" y="14"/>
                    </a:moveTo>
                    <a:lnTo>
                      <a:pt x="14" y="14"/>
                    </a:lnTo>
                    <a:lnTo>
                      <a:pt x="14" y="12"/>
                    </a:lnTo>
                    <a:lnTo>
                      <a:pt x="14" y="8"/>
                    </a:lnTo>
                    <a:lnTo>
                      <a:pt x="18" y="0"/>
                    </a:lnTo>
                    <a:lnTo>
                      <a:pt x="8" y="2"/>
                    </a:lnTo>
                    <a:lnTo>
                      <a:pt x="4" y="2"/>
                    </a:lnTo>
                    <a:lnTo>
                      <a:pt x="0" y="0"/>
                    </a:lnTo>
                    <a:lnTo>
                      <a:pt x="2" y="10"/>
                    </a:lnTo>
                    <a:lnTo>
                      <a:pt x="2" y="12"/>
                    </a:lnTo>
                    <a:lnTo>
                      <a:pt x="2" y="14"/>
                    </a:lnTo>
                    <a:lnTo>
                      <a:pt x="4" y="14"/>
                    </a:lnTo>
                    <a:lnTo>
                      <a:pt x="4" y="16"/>
                    </a:lnTo>
                    <a:lnTo>
                      <a:pt x="4" y="20"/>
                    </a:lnTo>
                    <a:lnTo>
                      <a:pt x="8" y="18"/>
                    </a:lnTo>
                    <a:lnTo>
                      <a:pt x="10" y="18"/>
                    </a:lnTo>
                    <a:lnTo>
                      <a:pt x="14" y="14"/>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8" name="Freeform 14">
                <a:extLst>
                  <a:ext uri="{FF2B5EF4-FFF2-40B4-BE49-F238E27FC236}">
                    <a16:creationId xmlns:a16="http://schemas.microsoft.com/office/drawing/2014/main" id="{814B21CA-797A-8F3B-EE28-E68747A7B9BE}"/>
                  </a:ext>
                </a:extLst>
              </p:cNvPr>
              <p:cNvSpPr>
                <a:spLocks/>
              </p:cNvSpPr>
              <p:nvPr/>
            </p:nvSpPr>
            <p:spPr bwMode="auto">
              <a:xfrm>
                <a:off x="3158637" y="3360733"/>
                <a:ext cx="17503" cy="19214"/>
              </a:xfrm>
              <a:custGeom>
                <a:avLst/>
                <a:gdLst/>
                <a:ahLst/>
                <a:cxnLst>
                  <a:cxn ang="0">
                    <a:pos x="14" y="14"/>
                  </a:cxn>
                  <a:cxn ang="0">
                    <a:pos x="14" y="14"/>
                  </a:cxn>
                  <a:cxn ang="0">
                    <a:pos x="14" y="12"/>
                  </a:cxn>
                  <a:cxn ang="0">
                    <a:pos x="14" y="8"/>
                  </a:cxn>
                  <a:cxn ang="0">
                    <a:pos x="18" y="0"/>
                  </a:cxn>
                  <a:cxn ang="0">
                    <a:pos x="8" y="2"/>
                  </a:cxn>
                  <a:cxn ang="0">
                    <a:pos x="4" y="2"/>
                  </a:cxn>
                  <a:cxn ang="0">
                    <a:pos x="0" y="0"/>
                  </a:cxn>
                  <a:cxn ang="0">
                    <a:pos x="2" y="10"/>
                  </a:cxn>
                  <a:cxn ang="0">
                    <a:pos x="2" y="12"/>
                  </a:cxn>
                  <a:cxn ang="0">
                    <a:pos x="2" y="14"/>
                  </a:cxn>
                  <a:cxn ang="0">
                    <a:pos x="4" y="14"/>
                  </a:cxn>
                  <a:cxn ang="0">
                    <a:pos x="4" y="16"/>
                  </a:cxn>
                  <a:cxn ang="0">
                    <a:pos x="4" y="20"/>
                  </a:cxn>
                  <a:cxn ang="0">
                    <a:pos x="8" y="18"/>
                  </a:cxn>
                  <a:cxn ang="0">
                    <a:pos x="10" y="18"/>
                  </a:cxn>
                  <a:cxn ang="0">
                    <a:pos x="14" y="14"/>
                  </a:cxn>
                </a:cxnLst>
                <a:rect l="0" t="0" r="r" b="b"/>
                <a:pathLst>
                  <a:path w="18" h="20">
                    <a:moveTo>
                      <a:pt x="14" y="14"/>
                    </a:moveTo>
                    <a:lnTo>
                      <a:pt x="14" y="14"/>
                    </a:lnTo>
                    <a:lnTo>
                      <a:pt x="14" y="12"/>
                    </a:lnTo>
                    <a:lnTo>
                      <a:pt x="14" y="8"/>
                    </a:lnTo>
                    <a:lnTo>
                      <a:pt x="18" y="0"/>
                    </a:lnTo>
                    <a:lnTo>
                      <a:pt x="8" y="2"/>
                    </a:lnTo>
                    <a:lnTo>
                      <a:pt x="4" y="2"/>
                    </a:lnTo>
                    <a:lnTo>
                      <a:pt x="0" y="0"/>
                    </a:lnTo>
                    <a:lnTo>
                      <a:pt x="2" y="10"/>
                    </a:lnTo>
                    <a:lnTo>
                      <a:pt x="2" y="12"/>
                    </a:lnTo>
                    <a:lnTo>
                      <a:pt x="2" y="14"/>
                    </a:lnTo>
                    <a:lnTo>
                      <a:pt x="4" y="14"/>
                    </a:lnTo>
                    <a:lnTo>
                      <a:pt x="4" y="16"/>
                    </a:lnTo>
                    <a:lnTo>
                      <a:pt x="4" y="20"/>
                    </a:lnTo>
                    <a:lnTo>
                      <a:pt x="8" y="18"/>
                    </a:lnTo>
                    <a:lnTo>
                      <a:pt x="10" y="18"/>
                    </a:lnTo>
                    <a:lnTo>
                      <a:pt x="14" y="14"/>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9" name="Freeform 15">
                <a:extLst>
                  <a:ext uri="{FF2B5EF4-FFF2-40B4-BE49-F238E27FC236}">
                    <a16:creationId xmlns:a16="http://schemas.microsoft.com/office/drawing/2014/main" id="{A6C7EDC1-C6D0-8FE0-3F47-F6F19C92D9D4}"/>
                  </a:ext>
                </a:extLst>
              </p:cNvPr>
              <p:cNvSpPr>
                <a:spLocks/>
              </p:cNvSpPr>
              <p:nvPr/>
            </p:nvSpPr>
            <p:spPr bwMode="auto">
              <a:xfrm>
                <a:off x="3168360" y="3376104"/>
                <a:ext cx="13613" cy="21135"/>
              </a:xfrm>
              <a:custGeom>
                <a:avLst/>
                <a:gdLst/>
                <a:ahLst/>
                <a:cxnLst>
                  <a:cxn ang="0">
                    <a:pos x="10" y="12"/>
                  </a:cxn>
                  <a:cxn ang="0">
                    <a:pos x="10" y="12"/>
                  </a:cxn>
                  <a:cxn ang="0">
                    <a:pos x="12" y="8"/>
                  </a:cxn>
                  <a:cxn ang="0">
                    <a:pos x="12" y="6"/>
                  </a:cxn>
                  <a:cxn ang="0">
                    <a:pos x="8" y="6"/>
                  </a:cxn>
                  <a:cxn ang="0">
                    <a:pos x="10" y="4"/>
                  </a:cxn>
                  <a:cxn ang="0">
                    <a:pos x="10" y="2"/>
                  </a:cxn>
                  <a:cxn ang="0">
                    <a:pos x="8" y="0"/>
                  </a:cxn>
                  <a:cxn ang="0">
                    <a:pos x="6" y="0"/>
                  </a:cxn>
                  <a:cxn ang="0">
                    <a:pos x="0" y="4"/>
                  </a:cxn>
                  <a:cxn ang="0">
                    <a:pos x="0" y="6"/>
                  </a:cxn>
                  <a:cxn ang="0">
                    <a:pos x="2" y="6"/>
                  </a:cxn>
                  <a:cxn ang="0">
                    <a:pos x="2" y="8"/>
                  </a:cxn>
                  <a:cxn ang="0">
                    <a:pos x="0" y="6"/>
                  </a:cxn>
                  <a:cxn ang="0">
                    <a:pos x="0" y="8"/>
                  </a:cxn>
                  <a:cxn ang="0">
                    <a:pos x="2" y="14"/>
                  </a:cxn>
                  <a:cxn ang="0">
                    <a:pos x="6" y="18"/>
                  </a:cxn>
                  <a:cxn ang="0">
                    <a:pos x="14" y="22"/>
                  </a:cxn>
                  <a:cxn ang="0">
                    <a:pos x="14" y="20"/>
                  </a:cxn>
                  <a:cxn ang="0">
                    <a:pos x="12" y="16"/>
                  </a:cxn>
                  <a:cxn ang="0">
                    <a:pos x="10" y="16"/>
                  </a:cxn>
                  <a:cxn ang="0">
                    <a:pos x="14" y="14"/>
                  </a:cxn>
                  <a:cxn ang="0">
                    <a:pos x="10" y="12"/>
                  </a:cxn>
                </a:cxnLst>
                <a:rect l="0" t="0" r="r" b="b"/>
                <a:pathLst>
                  <a:path w="14" h="22">
                    <a:moveTo>
                      <a:pt x="10" y="12"/>
                    </a:moveTo>
                    <a:lnTo>
                      <a:pt x="10" y="12"/>
                    </a:lnTo>
                    <a:lnTo>
                      <a:pt x="12" y="8"/>
                    </a:lnTo>
                    <a:lnTo>
                      <a:pt x="12" y="6"/>
                    </a:lnTo>
                    <a:lnTo>
                      <a:pt x="8" y="6"/>
                    </a:lnTo>
                    <a:lnTo>
                      <a:pt x="10" y="4"/>
                    </a:lnTo>
                    <a:lnTo>
                      <a:pt x="10" y="2"/>
                    </a:lnTo>
                    <a:lnTo>
                      <a:pt x="8" y="0"/>
                    </a:lnTo>
                    <a:lnTo>
                      <a:pt x="6" y="0"/>
                    </a:lnTo>
                    <a:lnTo>
                      <a:pt x="0" y="4"/>
                    </a:lnTo>
                    <a:lnTo>
                      <a:pt x="0" y="6"/>
                    </a:lnTo>
                    <a:lnTo>
                      <a:pt x="2" y="6"/>
                    </a:lnTo>
                    <a:lnTo>
                      <a:pt x="2" y="8"/>
                    </a:lnTo>
                    <a:lnTo>
                      <a:pt x="0" y="6"/>
                    </a:lnTo>
                    <a:lnTo>
                      <a:pt x="0" y="8"/>
                    </a:lnTo>
                    <a:lnTo>
                      <a:pt x="2" y="14"/>
                    </a:lnTo>
                    <a:lnTo>
                      <a:pt x="6" y="18"/>
                    </a:lnTo>
                    <a:lnTo>
                      <a:pt x="14" y="22"/>
                    </a:lnTo>
                    <a:lnTo>
                      <a:pt x="14" y="20"/>
                    </a:lnTo>
                    <a:lnTo>
                      <a:pt x="12" y="16"/>
                    </a:lnTo>
                    <a:lnTo>
                      <a:pt x="10" y="16"/>
                    </a:lnTo>
                    <a:lnTo>
                      <a:pt x="14" y="14"/>
                    </a:lnTo>
                    <a:lnTo>
                      <a:pt x="10" y="12"/>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0" name="Freeform 16">
                <a:extLst>
                  <a:ext uri="{FF2B5EF4-FFF2-40B4-BE49-F238E27FC236}">
                    <a16:creationId xmlns:a16="http://schemas.microsoft.com/office/drawing/2014/main" id="{E487168D-96B7-88FB-CCCA-D8B925B7FE0B}"/>
                  </a:ext>
                </a:extLst>
              </p:cNvPr>
              <p:cNvSpPr>
                <a:spLocks/>
              </p:cNvSpPr>
              <p:nvPr/>
            </p:nvSpPr>
            <p:spPr bwMode="auto">
              <a:xfrm>
                <a:off x="3168360" y="3376104"/>
                <a:ext cx="13613" cy="21135"/>
              </a:xfrm>
              <a:custGeom>
                <a:avLst/>
                <a:gdLst/>
                <a:ahLst/>
                <a:cxnLst>
                  <a:cxn ang="0">
                    <a:pos x="10" y="12"/>
                  </a:cxn>
                  <a:cxn ang="0">
                    <a:pos x="10" y="12"/>
                  </a:cxn>
                  <a:cxn ang="0">
                    <a:pos x="12" y="8"/>
                  </a:cxn>
                  <a:cxn ang="0">
                    <a:pos x="12" y="6"/>
                  </a:cxn>
                  <a:cxn ang="0">
                    <a:pos x="8" y="6"/>
                  </a:cxn>
                  <a:cxn ang="0">
                    <a:pos x="10" y="4"/>
                  </a:cxn>
                  <a:cxn ang="0">
                    <a:pos x="10" y="2"/>
                  </a:cxn>
                  <a:cxn ang="0">
                    <a:pos x="8" y="0"/>
                  </a:cxn>
                  <a:cxn ang="0">
                    <a:pos x="6" y="0"/>
                  </a:cxn>
                  <a:cxn ang="0">
                    <a:pos x="0" y="4"/>
                  </a:cxn>
                  <a:cxn ang="0">
                    <a:pos x="0" y="6"/>
                  </a:cxn>
                  <a:cxn ang="0">
                    <a:pos x="2" y="6"/>
                  </a:cxn>
                  <a:cxn ang="0">
                    <a:pos x="2" y="8"/>
                  </a:cxn>
                  <a:cxn ang="0">
                    <a:pos x="0" y="6"/>
                  </a:cxn>
                  <a:cxn ang="0">
                    <a:pos x="0" y="8"/>
                  </a:cxn>
                  <a:cxn ang="0">
                    <a:pos x="2" y="14"/>
                  </a:cxn>
                  <a:cxn ang="0">
                    <a:pos x="6" y="18"/>
                  </a:cxn>
                  <a:cxn ang="0">
                    <a:pos x="14" y="22"/>
                  </a:cxn>
                  <a:cxn ang="0">
                    <a:pos x="14" y="20"/>
                  </a:cxn>
                  <a:cxn ang="0">
                    <a:pos x="12" y="16"/>
                  </a:cxn>
                  <a:cxn ang="0">
                    <a:pos x="10" y="16"/>
                  </a:cxn>
                  <a:cxn ang="0">
                    <a:pos x="14" y="14"/>
                  </a:cxn>
                  <a:cxn ang="0">
                    <a:pos x="10" y="12"/>
                  </a:cxn>
                </a:cxnLst>
                <a:rect l="0" t="0" r="r" b="b"/>
                <a:pathLst>
                  <a:path w="14" h="22">
                    <a:moveTo>
                      <a:pt x="10" y="12"/>
                    </a:moveTo>
                    <a:lnTo>
                      <a:pt x="10" y="12"/>
                    </a:lnTo>
                    <a:lnTo>
                      <a:pt x="12" y="8"/>
                    </a:lnTo>
                    <a:lnTo>
                      <a:pt x="12" y="6"/>
                    </a:lnTo>
                    <a:lnTo>
                      <a:pt x="8" y="6"/>
                    </a:lnTo>
                    <a:lnTo>
                      <a:pt x="10" y="4"/>
                    </a:lnTo>
                    <a:lnTo>
                      <a:pt x="10" y="2"/>
                    </a:lnTo>
                    <a:lnTo>
                      <a:pt x="8" y="0"/>
                    </a:lnTo>
                    <a:lnTo>
                      <a:pt x="6" y="0"/>
                    </a:lnTo>
                    <a:lnTo>
                      <a:pt x="0" y="4"/>
                    </a:lnTo>
                    <a:lnTo>
                      <a:pt x="0" y="6"/>
                    </a:lnTo>
                    <a:lnTo>
                      <a:pt x="2" y="6"/>
                    </a:lnTo>
                    <a:lnTo>
                      <a:pt x="2" y="8"/>
                    </a:lnTo>
                    <a:lnTo>
                      <a:pt x="0" y="6"/>
                    </a:lnTo>
                    <a:lnTo>
                      <a:pt x="0" y="8"/>
                    </a:lnTo>
                    <a:lnTo>
                      <a:pt x="2" y="14"/>
                    </a:lnTo>
                    <a:lnTo>
                      <a:pt x="6" y="18"/>
                    </a:lnTo>
                    <a:lnTo>
                      <a:pt x="14" y="22"/>
                    </a:lnTo>
                    <a:lnTo>
                      <a:pt x="14" y="20"/>
                    </a:lnTo>
                    <a:lnTo>
                      <a:pt x="12" y="16"/>
                    </a:lnTo>
                    <a:lnTo>
                      <a:pt x="10" y="16"/>
                    </a:lnTo>
                    <a:lnTo>
                      <a:pt x="14" y="14"/>
                    </a:lnTo>
                    <a:lnTo>
                      <a:pt x="10" y="12"/>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1" name="Freeform 17">
                <a:extLst>
                  <a:ext uri="{FF2B5EF4-FFF2-40B4-BE49-F238E27FC236}">
                    <a16:creationId xmlns:a16="http://schemas.microsoft.com/office/drawing/2014/main" id="{6995B040-0FB9-E64A-D6F3-376BBD48D049}"/>
                  </a:ext>
                </a:extLst>
              </p:cNvPr>
              <p:cNvSpPr>
                <a:spLocks/>
              </p:cNvSpPr>
              <p:nvPr/>
            </p:nvSpPr>
            <p:spPr bwMode="auto">
              <a:xfrm>
                <a:off x="4988595" y="4175395"/>
                <a:ext cx="246977" cy="288206"/>
              </a:xfrm>
              <a:custGeom>
                <a:avLst/>
                <a:gdLst/>
                <a:ahLst/>
                <a:cxnLst>
                  <a:cxn ang="0">
                    <a:pos x="0" y="176"/>
                  </a:cxn>
                  <a:cxn ang="0">
                    <a:pos x="14" y="182"/>
                  </a:cxn>
                  <a:cxn ang="0">
                    <a:pos x="70" y="178"/>
                  </a:cxn>
                  <a:cxn ang="0">
                    <a:pos x="74" y="206"/>
                  </a:cxn>
                  <a:cxn ang="0">
                    <a:pos x="90" y="216"/>
                  </a:cxn>
                  <a:cxn ang="0">
                    <a:pos x="100" y="212"/>
                  </a:cxn>
                  <a:cxn ang="0">
                    <a:pos x="102" y="198"/>
                  </a:cxn>
                  <a:cxn ang="0">
                    <a:pos x="120" y="204"/>
                  </a:cxn>
                  <a:cxn ang="0">
                    <a:pos x="128" y="218"/>
                  </a:cxn>
                  <a:cxn ang="0">
                    <a:pos x="132" y="236"/>
                  </a:cxn>
                  <a:cxn ang="0">
                    <a:pos x="134" y="252"/>
                  </a:cxn>
                  <a:cxn ang="0">
                    <a:pos x="142" y="266"/>
                  </a:cxn>
                  <a:cxn ang="0">
                    <a:pos x="166" y="270"/>
                  </a:cxn>
                  <a:cxn ang="0">
                    <a:pos x="174" y="270"/>
                  </a:cxn>
                  <a:cxn ang="0">
                    <a:pos x="188" y="280"/>
                  </a:cxn>
                  <a:cxn ang="0">
                    <a:pos x="202" y="276"/>
                  </a:cxn>
                  <a:cxn ang="0">
                    <a:pos x="212" y="286"/>
                  </a:cxn>
                  <a:cxn ang="0">
                    <a:pos x="220" y="300"/>
                  </a:cxn>
                  <a:cxn ang="0">
                    <a:pos x="236" y="284"/>
                  </a:cxn>
                  <a:cxn ang="0">
                    <a:pos x="220" y="280"/>
                  </a:cxn>
                  <a:cxn ang="0">
                    <a:pos x="212" y="262"/>
                  </a:cxn>
                  <a:cxn ang="0">
                    <a:pos x="206" y="246"/>
                  </a:cxn>
                  <a:cxn ang="0">
                    <a:pos x="242" y="226"/>
                  </a:cxn>
                  <a:cxn ang="0">
                    <a:pos x="234" y="206"/>
                  </a:cxn>
                  <a:cxn ang="0">
                    <a:pos x="226" y="174"/>
                  </a:cxn>
                  <a:cxn ang="0">
                    <a:pos x="220" y="160"/>
                  </a:cxn>
                  <a:cxn ang="0">
                    <a:pos x="216" y="138"/>
                  </a:cxn>
                  <a:cxn ang="0">
                    <a:pos x="216" y="120"/>
                  </a:cxn>
                  <a:cxn ang="0">
                    <a:pos x="220" y="116"/>
                  </a:cxn>
                  <a:cxn ang="0">
                    <a:pos x="222" y="106"/>
                  </a:cxn>
                  <a:cxn ang="0">
                    <a:pos x="234" y="80"/>
                  </a:cxn>
                  <a:cxn ang="0">
                    <a:pos x="246" y="66"/>
                  </a:cxn>
                  <a:cxn ang="0">
                    <a:pos x="246" y="60"/>
                  </a:cxn>
                  <a:cxn ang="0">
                    <a:pos x="248" y="44"/>
                  </a:cxn>
                  <a:cxn ang="0">
                    <a:pos x="244" y="28"/>
                  </a:cxn>
                  <a:cxn ang="0">
                    <a:pos x="226" y="10"/>
                  </a:cxn>
                  <a:cxn ang="0">
                    <a:pos x="212" y="10"/>
                  </a:cxn>
                  <a:cxn ang="0">
                    <a:pos x="202" y="10"/>
                  </a:cxn>
                  <a:cxn ang="0">
                    <a:pos x="174" y="0"/>
                  </a:cxn>
                  <a:cxn ang="0">
                    <a:pos x="164" y="4"/>
                  </a:cxn>
                  <a:cxn ang="0">
                    <a:pos x="152" y="10"/>
                  </a:cxn>
                  <a:cxn ang="0">
                    <a:pos x="142" y="10"/>
                  </a:cxn>
                  <a:cxn ang="0">
                    <a:pos x="114" y="8"/>
                  </a:cxn>
                  <a:cxn ang="0">
                    <a:pos x="94" y="6"/>
                  </a:cxn>
                  <a:cxn ang="0">
                    <a:pos x="84" y="28"/>
                  </a:cxn>
                  <a:cxn ang="0">
                    <a:pos x="76" y="58"/>
                  </a:cxn>
                  <a:cxn ang="0">
                    <a:pos x="74" y="88"/>
                  </a:cxn>
                  <a:cxn ang="0">
                    <a:pos x="64" y="110"/>
                  </a:cxn>
                  <a:cxn ang="0">
                    <a:pos x="60" y="134"/>
                  </a:cxn>
                  <a:cxn ang="0">
                    <a:pos x="48" y="160"/>
                  </a:cxn>
                  <a:cxn ang="0">
                    <a:pos x="34" y="152"/>
                  </a:cxn>
                  <a:cxn ang="0">
                    <a:pos x="24" y="158"/>
                  </a:cxn>
                  <a:cxn ang="0">
                    <a:pos x="12" y="158"/>
                  </a:cxn>
                  <a:cxn ang="0">
                    <a:pos x="2" y="172"/>
                  </a:cxn>
                </a:cxnLst>
                <a:rect l="0" t="0" r="r" b="b"/>
                <a:pathLst>
                  <a:path w="254" h="300">
                    <a:moveTo>
                      <a:pt x="2" y="172"/>
                    </a:moveTo>
                    <a:lnTo>
                      <a:pt x="2" y="172"/>
                    </a:lnTo>
                    <a:lnTo>
                      <a:pt x="2" y="174"/>
                    </a:lnTo>
                    <a:lnTo>
                      <a:pt x="0" y="174"/>
                    </a:lnTo>
                    <a:lnTo>
                      <a:pt x="0" y="176"/>
                    </a:lnTo>
                    <a:lnTo>
                      <a:pt x="2" y="180"/>
                    </a:lnTo>
                    <a:lnTo>
                      <a:pt x="6" y="182"/>
                    </a:lnTo>
                    <a:lnTo>
                      <a:pt x="6" y="186"/>
                    </a:lnTo>
                    <a:lnTo>
                      <a:pt x="8" y="186"/>
                    </a:lnTo>
                    <a:lnTo>
                      <a:pt x="14" y="182"/>
                    </a:lnTo>
                    <a:lnTo>
                      <a:pt x="18" y="180"/>
                    </a:lnTo>
                    <a:lnTo>
                      <a:pt x="22" y="178"/>
                    </a:lnTo>
                    <a:lnTo>
                      <a:pt x="28" y="178"/>
                    </a:lnTo>
                    <a:lnTo>
                      <a:pt x="42" y="180"/>
                    </a:lnTo>
                    <a:lnTo>
                      <a:pt x="70" y="178"/>
                    </a:lnTo>
                    <a:lnTo>
                      <a:pt x="72" y="188"/>
                    </a:lnTo>
                    <a:lnTo>
                      <a:pt x="72" y="192"/>
                    </a:lnTo>
                    <a:lnTo>
                      <a:pt x="72" y="196"/>
                    </a:lnTo>
                    <a:lnTo>
                      <a:pt x="74" y="200"/>
                    </a:lnTo>
                    <a:lnTo>
                      <a:pt x="74" y="206"/>
                    </a:lnTo>
                    <a:lnTo>
                      <a:pt x="76" y="212"/>
                    </a:lnTo>
                    <a:lnTo>
                      <a:pt x="78" y="214"/>
                    </a:lnTo>
                    <a:lnTo>
                      <a:pt x="82" y="216"/>
                    </a:lnTo>
                    <a:lnTo>
                      <a:pt x="88" y="216"/>
                    </a:lnTo>
                    <a:lnTo>
                      <a:pt x="90" y="216"/>
                    </a:lnTo>
                    <a:lnTo>
                      <a:pt x="92" y="214"/>
                    </a:lnTo>
                    <a:lnTo>
                      <a:pt x="94" y="212"/>
                    </a:lnTo>
                    <a:lnTo>
                      <a:pt x="96" y="214"/>
                    </a:lnTo>
                    <a:lnTo>
                      <a:pt x="98" y="214"/>
                    </a:lnTo>
                    <a:lnTo>
                      <a:pt x="100" y="212"/>
                    </a:lnTo>
                    <a:lnTo>
                      <a:pt x="100" y="210"/>
                    </a:lnTo>
                    <a:lnTo>
                      <a:pt x="98" y="206"/>
                    </a:lnTo>
                    <a:lnTo>
                      <a:pt x="98" y="202"/>
                    </a:lnTo>
                    <a:lnTo>
                      <a:pt x="100" y="200"/>
                    </a:lnTo>
                    <a:lnTo>
                      <a:pt x="102" y="198"/>
                    </a:lnTo>
                    <a:lnTo>
                      <a:pt x="106" y="200"/>
                    </a:lnTo>
                    <a:lnTo>
                      <a:pt x="112" y="200"/>
                    </a:lnTo>
                    <a:lnTo>
                      <a:pt x="114" y="200"/>
                    </a:lnTo>
                    <a:lnTo>
                      <a:pt x="114" y="204"/>
                    </a:lnTo>
                    <a:lnTo>
                      <a:pt x="120" y="204"/>
                    </a:lnTo>
                    <a:lnTo>
                      <a:pt x="124" y="204"/>
                    </a:lnTo>
                    <a:lnTo>
                      <a:pt x="126" y="208"/>
                    </a:lnTo>
                    <a:lnTo>
                      <a:pt x="126" y="214"/>
                    </a:lnTo>
                    <a:lnTo>
                      <a:pt x="126" y="216"/>
                    </a:lnTo>
                    <a:lnTo>
                      <a:pt x="128" y="218"/>
                    </a:lnTo>
                    <a:lnTo>
                      <a:pt x="128" y="220"/>
                    </a:lnTo>
                    <a:lnTo>
                      <a:pt x="128" y="226"/>
                    </a:lnTo>
                    <a:lnTo>
                      <a:pt x="128" y="230"/>
                    </a:lnTo>
                    <a:lnTo>
                      <a:pt x="130" y="232"/>
                    </a:lnTo>
                    <a:lnTo>
                      <a:pt x="132" y="236"/>
                    </a:lnTo>
                    <a:lnTo>
                      <a:pt x="132" y="238"/>
                    </a:lnTo>
                    <a:lnTo>
                      <a:pt x="134" y="240"/>
                    </a:lnTo>
                    <a:lnTo>
                      <a:pt x="136" y="244"/>
                    </a:lnTo>
                    <a:lnTo>
                      <a:pt x="134" y="248"/>
                    </a:lnTo>
                    <a:lnTo>
                      <a:pt x="134" y="252"/>
                    </a:lnTo>
                    <a:lnTo>
                      <a:pt x="134" y="256"/>
                    </a:lnTo>
                    <a:lnTo>
                      <a:pt x="134" y="260"/>
                    </a:lnTo>
                    <a:lnTo>
                      <a:pt x="136" y="264"/>
                    </a:lnTo>
                    <a:lnTo>
                      <a:pt x="140" y="268"/>
                    </a:lnTo>
                    <a:lnTo>
                      <a:pt x="142" y="266"/>
                    </a:lnTo>
                    <a:lnTo>
                      <a:pt x="146" y="264"/>
                    </a:lnTo>
                    <a:lnTo>
                      <a:pt x="148" y="264"/>
                    </a:lnTo>
                    <a:lnTo>
                      <a:pt x="158" y="264"/>
                    </a:lnTo>
                    <a:lnTo>
                      <a:pt x="166" y="262"/>
                    </a:lnTo>
                    <a:lnTo>
                      <a:pt x="166" y="270"/>
                    </a:lnTo>
                    <a:lnTo>
                      <a:pt x="168" y="272"/>
                    </a:lnTo>
                    <a:lnTo>
                      <a:pt x="170" y="272"/>
                    </a:lnTo>
                    <a:lnTo>
                      <a:pt x="170" y="270"/>
                    </a:lnTo>
                    <a:lnTo>
                      <a:pt x="172" y="270"/>
                    </a:lnTo>
                    <a:lnTo>
                      <a:pt x="174" y="270"/>
                    </a:lnTo>
                    <a:lnTo>
                      <a:pt x="176" y="272"/>
                    </a:lnTo>
                    <a:lnTo>
                      <a:pt x="174" y="278"/>
                    </a:lnTo>
                    <a:lnTo>
                      <a:pt x="176" y="278"/>
                    </a:lnTo>
                    <a:lnTo>
                      <a:pt x="178" y="280"/>
                    </a:lnTo>
                    <a:lnTo>
                      <a:pt x="188" y="280"/>
                    </a:lnTo>
                    <a:lnTo>
                      <a:pt x="194" y="280"/>
                    </a:lnTo>
                    <a:lnTo>
                      <a:pt x="196" y="276"/>
                    </a:lnTo>
                    <a:lnTo>
                      <a:pt x="198" y="274"/>
                    </a:lnTo>
                    <a:lnTo>
                      <a:pt x="200" y="276"/>
                    </a:lnTo>
                    <a:lnTo>
                      <a:pt x="202" y="276"/>
                    </a:lnTo>
                    <a:lnTo>
                      <a:pt x="202" y="280"/>
                    </a:lnTo>
                    <a:lnTo>
                      <a:pt x="206" y="282"/>
                    </a:lnTo>
                    <a:lnTo>
                      <a:pt x="208" y="286"/>
                    </a:lnTo>
                    <a:lnTo>
                      <a:pt x="210" y="286"/>
                    </a:lnTo>
                    <a:lnTo>
                      <a:pt x="212" y="286"/>
                    </a:lnTo>
                    <a:lnTo>
                      <a:pt x="216" y="288"/>
                    </a:lnTo>
                    <a:lnTo>
                      <a:pt x="218" y="290"/>
                    </a:lnTo>
                    <a:lnTo>
                      <a:pt x="220" y="294"/>
                    </a:lnTo>
                    <a:lnTo>
                      <a:pt x="218" y="298"/>
                    </a:lnTo>
                    <a:lnTo>
                      <a:pt x="220" y="300"/>
                    </a:lnTo>
                    <a:lnTo>
                      <a:pt x="222" y="300"/>
                    </a:lnTo>
                    <a:lnTo>
                      <a:pt x="226" y="298"/>
                    </a:lnTo>
                    <a:lnTo>
                      <a:pt x="230" y="296"/>
                    </a:lnTo>
                    <a:lnTo>
                      <a:pt x="236" y="298"/>
                    </a:lnTo>
                    <a:lnTo>
                      <a:pt x="236" y="284"/>
                    </a:lnTo>
                    <a:lnTo>
                      <a:pt x="228" y="286"/>
                    </a:lnTo>
                    <a:lnTo>
                      <a:pt x="226" y="286"/>
                    </a:lnTo>
                    <a:lnTo>
                      <a:pt x="224" y="284"/>
                    </a:lnTo>
                    <a:lnTo>
                      <a:pt x="222" y="280"/>
                    </a:lnTo>
                    <a:lnTo>
                      <a:pt x="220" y="280"/>
                    </a:lnTo>
                    <a:lnTo>
                      <a:pt x="216" y="278"/>
                    </a:lnTo>
                    <a:lnTo>
                      <a:pt x="212" y="274"/>
                    </a:lnTo>
                    <a:lnTo>
                      <a:pt x="210" y="270"/>
                    </a:lnTo>
                    <a:lnTo>
                      <a:pt x="212" y="264"/>
                    </a:lnTo>
                    <a:lnTo>
                      <a:pt x="212" y="262"/>
                    </a:lnTo>
                    <a:lnTo>
                      <a:pt x="210" y="260"/>
                    </a:lnTo>
                    <a:lnTo>
                      <a:pt x="208" y="254"/>
                    </a:lnTo>
                    <a:lnTo>
                      <a:pt x="208" y="252"/>
                    </a:lnTo>
                    <a:lnTo>
                      <a:pt x="206" y="250"/>
                    </a:lnTo>
                    <a:lnTo>
                      <a:pt x="206" y="246"/>
                    </a:lnTo>
                    <a:lnTo>
                      <a:pt x="208" y="242"/>
                    </a:lnTo>
                    <a:lnTo>
                      <a:pt x="206" y="236"/>
                    </a:lnTo>
                    <a:lnTo>
                      <a:pt x="214" y="232"/>
                    </a:lnTo>
                    <a:lnTo>
                      <a:pt x="218" y="232"/>
                    </a:lnTo>
                    <a:lnTo>
                      <a:pt x="242" y="226"/>
                    </a:lnTo>
                    <a:lnTo>
                      <a:pt x="242" y="220"/>
                    </a:lnTo>
                    <a:lnTo>
                      <a:pt x="238" y="216"/>
                    </a:lnTo>
                    <a:lnTo>
                      <a:pt x="238" y="212"/>
                    </a:lnTo>
                    <a:lnTo>
                      <a:pt x="236" y="208"/>
                    </a:lnTo>
                    <a:lnTo>
                      <a:pt x="234" y="206"/>
                    </a:lnTo>
                    <a:lnTo>
                      <a:pt x="230" y="204"/>
                    </a:lnTo>
                    <a:lnTo>
                      <a:pt x="226" y="194"/>
                    </a:lnTo>
                    <a:lnTo>
                      <a:pt x="222" y="182"/>
                    </a:lnTo>
                    <a:lnTo>
                      <a:pt x="224" y="180"/>
                    </a:lnTo>
                    <a:lnTo>
                      <a:pt x="226" y="174"/>
                    </a:lnTo>
                    <a:lnTo>
                      <a:pt x="222" y="172"/>
                    </a:lnTo>
                    <a:lnTo>
                      <a:pt x="222" y="168"/>
                    </a:lnTo>
                    <a:lnTo>
                      <a:pt x="222" y="164"/>
                    </a:lnTo>
                    <a:lnTo>
                      <a:pt x="220" y="162"/>
                    </a:lnTo>
                    <a:lnTo>
                      <a:pt x="220" y="160"/>
                    </a:lnTo>
                    <a:lnTo>
                      <a:pt x="222" y="148"/>
                    </a:lnTo>
                    <a:lnTo>
                      <a:pt x="224" y="146"/>
                    </a:lnTo>
                    <a:lnTo>
                      <a:pt x="222" y="140"/>
                    </a:lnTo>
                    <a:lnTo>
                      <a:pt x="218" y="140"/>
                    </a:lnTo>
                    <a:lnTo>
                      <a:pt x="216" y="138"/>
                    </a:lnTo>
                    <a:lnTo>
                      <a:pt x="216" y="136"/>
                    </a:lnTo>
                    <a:lnTo>
                      <a:pt x="216" y="134"/>
                    </a:lnTo>
                    <a:lnTo>
                      <a:pt x="218" y="132"/>
                    </a:lnTo>
                    <a:lnTo>
                      <a:pt x="216" y="132"/>
                    </a:lnTo>
                    <a:lnTo>
                      <a:pt x="216" y="120"/>
                    </a:lnTo>
                    <a:lnTo>
                      <a:pt x="218" y="118"/>
                    </a:lnTo>
                    <a:lnTo>
                      <a:pt x="222" y="122"/>
                    </a:lnTo>
                    <a:lnTo>
                      <a:pt x="224" y="118"/>
                    </a:lnTo>
                    <a:lnTo>
                      <a:pt x="220" y="118"/>
                    </a:lnTo>
                    <a:lnTo>
                      <a:pt x="220" y="116"/>
                    </a:lnTo>
                    <a:lnTo>
                      <a:pt x="222" y="112"/>
                    </a:lnTo>
                    <a:lnTo>
                      <a:pt x="224" y="110"/>
                    </a:lnTo>
                    <a:lnTo>
                      <a:pt x="222" y="110"/>
                    </a:lnTo>
                    <a:lnTo>
                      <a:pt x="220" y="106"/>
                    </a:lnTo>
                    <a:lnTo>
                      <a:pt x="222" y="106"/>
                    </a:lnTo>
                    <a:lnTo>
                      <a:pt x="224" y="100"/>
                    </a:lnTo>
                    <a:lnTo>
                      <a:pt x="226" y="100"/>
                    </a:lnTo>
                    <a:lnTo>
                      <a:pt x="230" y="88"/>
                    </a:lnTo>
                    <a:lnTo>
                      <a:pt x="232" y="84"/>
                    </a:lnTo>
                    <a:lnTo>
                      <a:pt x="234" y="80"/>
                    </a:lnTo>
                    <a:lnTo>
                      <a:pt x="238" y="78"/>
                    </a:lnTo>
                    <a:lnTo>
                      <a:pt x="240" y="74"/>
                    </a:lnTo>
                    <a:lnTo>
                      <a:pt x="240" y="72"/>
                    </a:lnTo>
                    <a:lnTo>
                      <a:pt x="244" y="70"/>
                    </a:lnTo>
                    <a:lnTo>
                      <a:pt x="246" y="66"/>
                    </a:lnTo>
                    <a:lnTo>
                      <a:pt x="248" y="64"/>
                    </a:lnTo>
                    <a:lnTo>
                      <a:pt x="250" y="62"/>
                    </a:lnTo>
                    <a:lnTo>
                      <a:pt x="250" y="62"/>
                    </a:lnTo>
                    <a:lnTo>
                      <a:pt x="248" y="60"/>
                    </a:lnTo>
                    <a:lnTo>
                      <a:pt x="246" y="60"/>
                    </a:lnTo>
                    <a:lnTo>
                      <a:pt x="246" y="56"/>
                    </a:lnTo>
                    <a:lnTo>
                      <a:pt x="248" y="52"/>
                    </a:lnTo>
                    <a:lnTo>
                      <a:pt x="250" y="48"/>
                    </a:lnTo>
                    <a:lnTo>
                      <a:pt x="250" y="46"/>
                    </a:lnTo>
                    <a:lnTo>
                      <a:pt x="248" y="44"/>
                    </a:lnTo>
                    <a:lnTo>
                      <a:pt x="250" y="42"/>
                    </a:lnTo>
                    <a:lnTo>
                      <a:pt x="254" y="38"/>
                    </a:lnTo>
                    <a:lnTo>
                      <a:pt x="254" y="32"/>
                    </a:lnTo>
                    <a:lnTo>
                      <a:pt x="246" y="26"/>
                    </a:lnTo>
                    <a:lnTo>
                      <a:pt x="244" y="28"/>
                    </a:lnTo>
                    <a:lnTo>
                      <a:pt x="242" y="26"/>
                    </a:lnTo>
                    <a:lnTo>
                      <a:pt x="238" y="24"/>
                    </a:lnTo>
                    <a:lnTo>
                      <a:pt x="236" y="22"/>
                    </a:lnTo>
                    <a:lnTo>
                      <a:pt x="230" y="14"/>
                    </a:lnTo>
                    <a:lnTo>
                      <a:pt x="226" y="10"/>
                    </a:lnTo>
                    <a:lnTo>
                      <a:pt x="224" y="10"/>
                    </a:lnTo>
                    <a:lnTo>
                      <a:pt x="222" y="12"/>
                    </a:lnTo>
                    <a:lnTo>
                      <a:pt x="220" y="14"/>
                    </a:lnTo>
                    <a:lnTo>
                      <a:pt x="218" y="14"/>
                    </a:lnTo>
                    <a:lnTo>
                      <a:pt x="212" y="10"/>
                    </a:lnTo>
                    <a:lnTo>
                      <a:pt x="210" y="8"/>
                    </a:lnTo>
                    <a:lnTo>
                      <a:pt x="210" y="10"/>
                    </a:lnTo>
                    <a:lnTo>
                      <a:pt x="208" y="14"/>
                    </a:lnTo>
                    <a:lnTo>
                      <a:pt x="204" y="14"/>
                    </a:lnTo>
                    <a:lnTo>
                      <a:pt x="202" y="10"/>
                    </a:lnTo>
                    <a:lnTo>
                      <a:pt x="200" y="6"/>
                    </a:lnTo>
                    <a:lnTo>
                      <a:pt x="196" y="2"/>
                    </a:lnTo>
                    <a:lnTo>
                      <a:pt x="188" y="2"/>
                    </a:lnTo>
                    <a:lnTo>
                      <a:pt x="184" y="0"/>
                    </a:lnTo>
                    <a:lnTo>
                      <a:pt x="174" y="0"/>
                    </a:lnTo>
                    <a:lnTo>
                      <a:pt x="170" y="2"/>
                    </a:lnTo>
                    <a:lnTo>
                      <a:pt x="170" y="6"/>
                    </a:lnTo>
                    <a:lnTo>
                      <a:pt x="168" y="6"/>
                    </a:lnTo>
                    <a:lnTo>
                      <a:pt x="166" y="6"/>
                    </a:lnTo>
                    <a:lnTo>
                      <a:pt x="164" y="4"/>
                    </a:lnTo>
                    <a:lnTo>
                      <a:pt x="162" y="6"/>
                    </a:lnTo>
                    <a:lnTo>
                      <a:pt x="162" y="6"/>
                    </a:lnTo>
                    <a:lnTo>
                      <a:pt x="162" y="8"/>
                    </a:lnTo>
                    <a:lnTo>
                      <a:pt x="154" y="8"/>
                    </a:lnTo>
                    <a:lnTo>
                      <a:pt x="152" y="10"/>
                    </a:lnTo>
                    <a:lnTo>
                      <a:pt x="150" y="8"/>
                    </a:lnTo>
                    <a:lnTo>
                      <a:pt x="148" y="6"/>
                    </a:lnTo>
                    <a:lnTo>
                      <a:pt x="146" y="6"/>
                    </a:lnTo>
                    <a:lnTo>
                      <a:pt x="144" y="6"/>
                    </a:lnTo>
                    <a:lnTo>
                      <a:pt x="142" y="10"/>
                    </a:lnTo>
                    <a:lnTo>
                      <a:pt x="142" y="14"/>
                    </a:lnTo>
                    <a:lnTo>
                      <a:pt x="134" y="12"/>
                    </a:lnTo>
                    <a:lnTo>
                      <a:pt x="126" y="10"/>
                    </a:lnTo>
                    <a:lnTo>
                      <a:pt x="120" y="10"/>
                    </a:lnTo>
                    <a:lnTo>
                      <a:pt x="114" y="8"/>
                    </a:lnTo>
                    <a:lnTo>
                      <a:pt x="110" y="6"/>
                    </a:lnTo>
                    <a:lnTo>
                      <a:pt x="106" y="4"/>
                    </a:lnTo>
                    <a:lnTo>
                      <a:pt x="102" y="2"/>
                    </a:lnTo>
                    <a:lnTo>
                      <a:pt x="98" y="2"/>
                    </a:lnTo>
                    <a:lnTo>
                      <a:pt x="94" y="6"/>
                    </a:lnTo>
                    <a:lnTo>
                      <a:pt x="92" y="8"/>
                    </a:lnTo>
                    <a:lnTo>
                      <a:pt x="92" y="12"/>
                    </a:lnTo>
                    <a:lnTo>
                      <a:pt x="88" y="14"/>
                    </a:lnTo>
                    <a:lnTo>
                      <a:pt x="86" y="16"/>
                    </a:lnTo>
                    <a:lnTo>
                      <a:pt x="84" y="28"/>
                    </a:lnTo>
                    <a:lnTo>
                      <a:pt x="84" y="38"/>
                    </a:lnTo>
                    <a:lnTo>
                      <a:pt x="82" y="44"/>
                    </a:lnTo>
                    <a:lnTo>
                      <a:pt x="78" y="48"/>
                    </a:lnTo>
                    <a:lnTo>
                      <a:pt x="78" y="52"/>
                    </a:lnTo>
                    <a:lnTo>
                      <a:pt x="76" y="58"/>
                    </a:lnTo>
                    <a:lnTo>
                      <a:pt x="76" y="62"/>
                    </a:lnTo>
                    <a:lnTo>
                      <a:pt x="76" y="68"/>
                    </a:lnTo>
                    <a:lnTo>
                      <a:pt x="76" y="74"/>
                    </a:lnTo>
                    <a:lnTo>
                      <a:pt x="76" y="82"/>
                    </a:lnTo>
                    <a:lnTo>
                      <a:pt x="74" y="88"/>
                    </a:lnTo>
                    <a:lnTo>
                      <a:pt x="70" y="94"/>
                    </a:lnTo>
                    <a:lnTo>
                      <a:pt x="70" y="100"/>
                    </a:lnTo>
                    <a:lnTo>
                      <a:pt x="68" y="108"/>
                    </a:lnTo>
                    <a:lnTo>
                      <a:pt x="68" y="106"/>
                    </a:lnTo>
                    <a:lnTo>
                      <a:pt x="64" y="110"/>
                    </a:lnTo>
                    <a:lnTo>
                      <a:pt x="64" y="116"/>
                    </a:lnTo>
                    <a:lnTo>
                      <a:pt x="62" y="120"/>
                    </a:lnTo>
                    <a:lnTo>
                      <a:pt x="60" y="124"/>
                    </a:lnTo>
                    <a:lnTo>
                      <a:pt x="60" y="130"/>
                    </a:lnTo>
                    <a:lnTo>
                      <a:pt x="60" y="134"/>
                    </a:lnTo>
                    <a:lnTo>
                      <a:pt x="58" y="138"/>
                    </a:lnTo>
                    <a:lnTo>
                      <a:pt x="58" y="144"/>
                    </a:lnTo>
                    <a:lnTo>
                      <a:pt x="54" y="150"/>
                    </a:lnTo>
                    <a:lnTo>
                      <a:pt x="54" y="154"/>
                    </a:lnTo>
                    <a:lnTo>
                      <a:pt x="48" y="160"/>
                    </a:lnTo>
                    <a:lnTo>
                      <a:pt x="40" y="162"/>
                    </a:lnTo>
                    <a:lnTo>
                      <a:pt x="36" y="164"/>
                    </a:lnTo>
                    <a:lnTo>
                      <a:pt x="34" y="160"/>
                    </a:lnTo>
                    <a:lnTo>
                      <a:pt x="34" y="150"/>
                    </a:lnTo>
                    <a:lnTo>
                      <a:pt x="34" y="152"/>
                    </a:lnTo>
                    <a:lnTo>
                      <a:pt x="30" y="152"/>
                    </a:lnTo>
                    <a:lnTo>
                      <a:pt x="26" y="150"/>
                    </a:lnTo>
                    <a:lnTo>
                      <a:pt x="26" y="154"/>
                    </a:lnTo>
                    <a:lnTo>
                      <a:pt x="26" y="156"/>
                    </a:lnTo>
                    <a:lnTo>
                      <a:pt x="24" y="158"/>
                    </a:lnTo>
                    <a:lnTo>
                      <a:pt x="20" y="156"/>
                    </a:lnTo>
                    <a:lnTo>
                      <a:pt x="18" y="156"/>
                    </a:lnTo>
                    <a:lnTo>
                      <a:pt x="16" y="158"/>
                    </a:lnTo>
                    <a:lnTo>
                      <a:pt x="14" y="158"/>
                    </a:lnTo>
                    <a:lnTo>
                      <a:pt x="12" y="158"/>
                    </a:lnTo>
                    <a:lnTo>
                      <a:pt x="10" y="160"/>
                    </a:lnTo>
                    <a:lnTo>
                      <a:pt x="8" y="162"/>
                    </a:lnTo>
                    <a:lnTo>
                      <a:pt x="8" y="164"/>
                    </a:lnTo>
                    <a:lnTo>
                      <a:pt x="8" y="168"/>
                    </a:lnTo>
                    <a:lnTo>
                      <a:pt x="2" y="172"/>
                    </a:lnTo>
                    <a:lnTo>
                      <a:pt x="2" y="17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2" name="Freeform 18">
                <a:extLst>
                  <a:ext uri="{FF2B5EF4-FFF2-40B4-BE49-F238E27FC236}">
                    <a16:creationId xmlns:a16="http://schemas.microsoft.com/office/drawing/2014/main" id="{363E4868-F5A0-EB00-7324-12B70992F1FE}"/>
                  </a:ext>
                </a:extLst>
              </p:cNvPr>
              <p:cNvSpPr>
                <a:spLocks/>
              </p:cNvSpPr>
              <p:nvPr/>
            </p:nvSpPr>
            <p:spPr bwMode="auto">
              <a:xfrm>
                <a:off x="5070272" y="3522129"/>
                <a:ext cx="64175" cy="73012"/>
              </a:xfrm>
              <a:custGeom>
                <a:avLst/>
                <a:gdLst/>
                <a:ahLst/>
                <a:cxnLst>
                  <a:cxn ang="0">
                    <a:pos x="66" y="28"/>
                  </a:cxn>
                  <a:cxn ang="0">
                    <a:pos x="60" y="26"/>
                  </a:cxn>
                  <a:cxn ang="0">
                    <a:pos x="58" y="20"/>
                  </a:cxn>
                  <a:cxn ang="0">
                    <a:pos x="64" y="20"/>
                  </a:cxn>
                  <a:cxn ang="0">
                    <a:pos x="58" y="14"/>
                  </a:cxn>
                  <a:cxn ang="0">
                    <a:pos x="54" y="16"/>
                  </a:cxn>
                  <a:cxn ang="0">
                    <a:pos x="50" y="20"/>
                  </a:cxn>
                  <a:cxn ang="0">
                    <a:pos x="46" y="14"/>
                  </a:cxn>
                  <a:cxn ang="0">
                    <a:pos x="40" y="14"/>
                  </a:cxn>
                  <a:cxn ang="0">
                    <a:pos x="40" y="6"/>
                  </a:cxn>
                  <a:cxn ang="0">
                    <a:pos x="34" y="0"/>
                  </a:cxn>
                  <a:cxn ang="0">
                    <a:pos x="22" y="0"/>
                  </a:cxn>
                  <a:cxn ang="0">
                    <a:pos x="18" y="6"/>
                  </a:cxn>
                  <a:cxn ang="0">
                    <a:pos x="12" y="10"/>
                  </a:cxn>
                  <a:cxn ang="0">
                    <a:pos x="12" y="14"/>
                  </a:cxn>
                  <a:cxn ang="0">
                    <a:pos x="14" y="18"/>
                  </a:cxn>
                  <a:cxn ang="0">
                    <a:pos x="12" y="26"/>
                  </a:cxn>
                  <a:cxn ang="0">
                    <a:pos x="16" y="30"/>
                  </a:cxn>
                  <a:cxn ang="0">
                    <a:pos x="14" y="34"/>
                  </a:cxn>
                  <a:cxn ang="0">
                    <a:pos x="12" y="36"/>
                  </a:cxn>
                  <a:cxn ang="0">
                    <a:pos x="16" y="38"/>
                  </a:cxn>
                  <a:cxn ang="0">
                    <a:pos x="14" y="40"/>
                  </a:cxn>
                  <a:cxn ang="0">
                    <a:pos x="8" y="46"/>
                  </a:cxn>
                  <a:cxn ang="0">
                    <a:pos x="0" y="52"/>
                  </a:cxn>
                  <a:cxn ang="0">
                    <a:pos x="0" y="60"/>
                  </a:cxn>
                  <a:cxn ang="0">
                    <a:pos x="4" y="64"/>
                  </a:cxn>
                  <a:cxn ang="0">
                    <a:pos x="12" y="64"/>
                  </a:cxn>
                  <a:cxn ang="0">
                    <a:pos x="22" y="66"/>
                  </a:cxn>
                  <a:cxn ang="0">
                    <a:pos x="28" y="68"/>
                  </a:cxn>
                  <a:cxn ang="0">
                    <a:pos x="36" y="70"/>
                  </a:cxn>
                  <a:cxn ang="0">
                    <a:pos x="42" y="72"/>
                  </a:cxn>
                  <a:cxn ang="0">
                    <a:pos x="48" y="66"/>
                  </a:cxn>
                  <a:cxn ang="0">
                    <a:pos x="58" y="64"/>
                  </a:cxn>
                  <a:cxn ang="0">
                    <a:pos x="62" y="58"/>
                  </a:cxn>
                  <a:cxn ang="0">
                    <a:pos x="66" y="50"/>
                  </a:cxn>
                  <a:cxn ang="0">
                    <a:pos x="58" y="46"/>
                  </a:cxn>
                  <a:cxn ang="0">
                    <a:pos x="58" y="40"/>
                  </a:cxn>
                  <a:cxn ang="0">
                    <a:pos x="62" y="36"/>
                  </a:cxn>
                  <a:cxn ang="0">
                    <a:pos x="66" y="28"/>
                  </a:cxn>
                </a:cxnLst>
                <a:rect l="0" t="0" r="r" b="b"/>
                <a:pathLst>
                  <a:path w="66" h="76">
                    <a:moveTo>
                      <a:pt x="66" y="28"/>
                    </a:moveTo>
                    <a:lnTo>
                      <a:pt x="66" y="28"/>
                    </a:lnTo>
                    <a:lnTo>
                      <a:pt x="64" y="28"/>
                    </a:lnTo>
                    <a:lnTo>
                      <a:pt x="60" y="26"/>
                    </a:lnTo>
                    <a:lnTo>
                      <a:pt x="58" y="22"/>
                    </a:lnTo>
                    <a:lnTo>
                      <a:pt x="58" y="20"/>
                    </a:lnTo>
                    <a:lnTo>
                      <a:pt x="62" y="20"/>
                    </a:lnTo>
                    <a:lnTo>
                      <a:pt x="64" y="20"/>
                    </a:lnTo>
                    <a:lnTo>
                      <a:pt x="62" y="18"/>
                    </a:lnTo>
                    <a:lnTo>
                      <a:pt x="58" y="14"/>
                    </a:lnTo>
                    <a:lnTo>
                      <a:pt x="54" y="14"/>
                    </a:lnTo>
                    <a:lnTo>
                      <a:pt x="54" y="16"/>
                    </a:lnTo>
                    <a:lnTo>
                      <a:pt x="52" y="18"/>
                    </a:lnTo>
                    <a:lnTo>
                      <a:pt x="50" y="20"/>
                    </a:lnTo>
                    <a:lnTo>
                      <a:pt x="48" y="18"/>
                    </a:lnTo>
                    <a:lnTo>
                      <a:pt x="46" y="14"/>
                    </a:lnTo>
                    <a:lnTo>
                      <a:pt x="44" y="14"/>
                    </a:lnTo>
                    <a:lnTo>
                      <a:pt x="40" y="14"/>
                    </a:lnTo>
                    <a:lnTo>
                      <a:pt x="42" y="10"/>
                    </a:lnTo>
                    <a:lnTo>
                      <a:pt x="40" y="6"/>
                    </a:lnTo>
                    <a:lnTo>
                      <a:pt x="38" y="4"/>
                    </a:lnTo>
                    <a:lnTo>
                      <a:pt x="34" y="0"/>
                    </a:lnTo>
                    <a:lnTo>
                      <a:pt x="28" y="0"/>
                    </a:lnTo>
                    <a:lnTo>
                      <a:pt x="22" y="0"/>
                    </a:lnTo>
                    <a:lnTo>
                      <a:pt x="20" y="4"/>
                    </a:lnTo>
                    <a:lnTo>
                      <a:pt x="18" y="6"/>
                    </a:lnTo>
                    <a:lnTo>
                      <a:pt x="14" y="8"/>
                    </a:lnTo>
                    <a:lnTo>
                      <a:pt x="12" y="10"/>
                    </a:lnTo>
                    <a:lnTo>
                      <a:pt x="12" y="12"/>
                    </a:lnTo>
                    <a:lnTo>
                      <a:pt x="12" y="14"/>
                    </a:lnTo>
                    <a:lnTo>
                      <a:pt x="14" y="16"/>
                    </a:lnTo>
                    <a:lnTo>
                      <a:pt x="14" y="18"/>
                    </a:lnTo>
                    <a:lnTo>
                      <a:pt x="12" y="22"/>
                    </a:lnTo>
                    <a:lnTo>
                      <a:pt x="12" y="26"/>
                    </a:lnTo>
                    <a:lnTo>
                      <a:pt x="14" y="30"/>
                    </a:lnTo>
                    <a:lnTo>
                      <a:pt x="16" y="30"/>
                    </a:lnTo>
                    <a:lnTo>
                      <a:pt x="16" y="32"/>
                    </a:lnTo>
                    <a:lnTo>
                      <a:pt x="14" y="34"/>
                    </a:lnTo>
                    <a:lnTo>
                      <a:pt x="10" y="34"/>
                    </a:lnTo>
                    <a:lnTo>
                      <a:pt x="12" y="36"/>
                    </a:lnTo>
                    <a:lnTo>
                      <a:pt x="14" y="38"/>
                    </a:lnTo>
                    <a:lnTo>
                      <a:pt x="16" y="38"/>
                    </a:lnTo>
                    <a:lnTo>
                      <a:pt x="16" y="40"/>
                    </a:lnTo>
                    <a:lnTo>
                      <a:pt x="14" y="40"/>
                    </a:lnTo>
                    <a:lnTo>
                      <a:pt x="10" y="44"/>
                    </a:lnTo>
                    <a:lnTo>
                      <a:pt x="8" y="46"/>
                    </a:lnTo>
                    <a:lnTo>
                      <a:pt x="2" y="48"/>
                    </a:lnTo>
                    <a:lnTo>
                      <a:pt x="0" y="52"/>
                    </a:lnTo>
                    <a:lnTo>
                      <a:pt x="0" y="56"/>
                    </a:lnTo>
                    <a:lnTo>
                      <a:pt x="0" y="60"/>
                    </a:lnTo>
                    <a:lnTo>
                      <a:pt x="2" y="64"/>
                    </a:lnTo>
                    <a:lnTo>
                      <a:pt x="4" y="64"/>
                    </a:lnTo>
                    <a:lnTo>
                      <a:pt x="10" y="70"/>
                    </a:lnTo>
                    <a:lnTo>
                      <a:pt x="12" y="64"/>
                    </a:lnTo>
                    <a:lnTo>
                      <a:pt x="20" y="60"/>
                    </a:lnTo>
                    <a:lnTo>
                      <a:pt x="22" y="66"/>
                    </a:lnTo>
                    <a:lnTo>
                      <a:pt x="22" y="62"/>
                    </a:lnTo>
                    <a:lnTo>
                      <a:pt x="28" y="68"/>
                    </a:lnTo>
                    <a:lnTo>
                      <a:pt x="30" y="76"/>
                    </a:lnTo>
                    <a:lnTo>
                      <a:pt x="36" y="70"/>
                    </a:lnTo>
                    <a:lnTo>
                      <a:pt x="40" y="68"/>
                    </a:lnTo>
                    <a:lnTo>
                      <a:pt x="42" y="72"/>
                    </a:lnTo>
                    <a:lnTo>
                      <a:pt x="44" y="66"/>
                    </a:lnTo>
                    <a:lnTo>
                      <a:pt x="48" y="66"/>
                    </a:lnTo>
                    <a:lnTo>
                      <a:pt x="52" y="66"/>
                    </a:lnTo>
                    <a:lnTo>
                      <a:pt x="58" y="64"/>
                    </a:lnTo>
                    <a:lnTo>
                      <a:pt x="60" y="62"/>
                    </a:lnTo>
                    <a:lnTo>
                      <a:pt x="62" y="58"/>
                    </a:lnTo>
                    <a:lnTo>
                      <a:pt x="66" y="52"/>
                    </a:lnTo>
                    <a:lnTo>
                      <a:pt x="66" y="50"/>
                    </a:lnTo>
                    <a:lnTo>
                      <a:pt x="60" y="48"/>
                    </a:lnTo>
                    <a:lnTo>
                      <a:pt x="58" y="46"/>
                    </a:lnTo>
                    <a:lnTo>
                      <a:pt x="56" y="44"/>
                    </a:lnTo>
                    <a:lnTo>
                      <a:pt x="58" y="40"/>
                    </a:lnTo>
                    <a:lnTo>
                      <a:pt x="58" y="38"/>
                    </a:lnTo>
                    <a:lnTo>
                      <a:pt x="62" y="36"/>
                    </a:lnTo>
                    <a:lnTo>
                      <a:pt x="66" y="32"/>
                    </a:lnTo>
                    <a:lnTo>
                      <a:pt x="66" y="28"/>
                    </a:lnTo>
                    <a:lnTo>
                      <a:pt x="66" y="2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3" name="Freeform 20">
                <a:extLst>
                  <a:ext uri="{FF2B5EF4-FFF2-40B4-BE49-F238E27FC236}">
                    <a16:creationId xmlns:a16="http://schemas.microsoft.com/office/drawing/2014/main" id="{9C757B1D-8EC3-54DE-31D4-0D8133A1A888}"/>
                  </a:ext>
                </a:extLst>
              </p:cNvPr>
              <p:cNvSpPr>
                <a:spLocks/>
              </p:cNvSpPr>
              <p:nvPr/>
            </p:nvSpPr>
            <p:spPr bwMode="auto">
              <a:xfrm>
                <a:off x="4621048" y="3829548"/>
                <a:ext cx="112792" cy="105675"/>
              </a:xfrm>
              <a:custGeom>
                <a:avLst/>
                <a:gdLst/>
                <a:ahLst/>
                <a:cxnLst>
                  <a:cxn ang="0">
                    <a:pos x="0" y="110"/>
                  </a:cxn>
                  <a:cxn ang="0">
                    <a:pos x="0" y="110"/>
                  </a:cxn>
                  <a:cxn ang="0">
                    <a:pos x="4" y="106"/>
                  </a:cxn>
                  <a:cxn ang="0">
                    <a:pos x="52" y="104"/>
                  </a:cxn>
                  <a:cxn ang="0">
                    <a:pos x="52" y="78"/>
                  </a:cxn>
                  <a:cxn ang="0">
                    <a:pos x="52" y="76"/>
                  </a:cxn>
                  <a:cxn ang="0">
                    <a:pos x="54" y="74"/>
                  </a:cxn>
                  <a:cxn ang="0">
                    <a:pos x="60" y="72"/>
                  </a:cxn>
                  <a:cxn ang="0">
                    <a:pos x="68" y="70"/>
                  </a:cxn>
                  <a:cxn ang="0">
                    <a:pos x="68" y="34"/>
                  </a:cxn>
                  <a:cxn ang="0">
                    <a:pos x="116" y="34"/>
                  </a:cxn>
                  <a:cxn ang="0">
                    <a:pos x="116" y="12"/>
                  </a:cxn>
                  <a:cxn ang="0">
                    <a:pos x="116" y="0"/>
                  </a:cxn>
                  <a:cxn ang="0">
                    <a:pos x="60" y="2"/>
                  </a:cxn>
                  <a:cxn ang="0">
                    <a:pos x="58" y="6"/>
                  </a:cxn>
                  <a:cxn ang="0">
                    <a:pos x="50" y="6"/>
                  </a:cxn>
                  <a:cxn ang="0">
                    <a:pos x="50" y="8"/>
                  </a:cxn>
                  <a:cxn ang="0">
                    <a:pos x="48" y="10"/>
                  </a:cxn>
                  <a:cxn ang="0">
                    <a:pos x="46" y="12"/>
                  </a:cxn>
                  <a:cxn ang="0">
                    <a:pos x="46" y="14"/>
                  </a:cxn>
                  <a:cxn ang="0">
                    <a:pos x="44" y="16"/>
                  </a:cxn>
                  <a:cxn ang="0">
                    <a:pos x="44" y="18"/>
                  </a:cxn>
                  <a:cxn ang="0">
                    <a:pos x="42" y="20"/>
                  </a:cxn>
                  <a:cxn ang="0">
                    <a:pos x="32" y="32"/>
                  </a:cxn>
                  <a:cxn ang="0">
                    <a:pos x="32" y="38"/>
                  </a:cxn>
                  <a:cxn ang="0">
                    <a:pos x="30" y="42"/>
                  </a:cxn>
                  <a:cxn ang="0">
                    <a:pos x="26" y="46"/>
                  </a:cxn>
                  <a:cxn ang="0">
                    <a:pos x="24" y="54"/>
                  </a:cxn>
                  <a:cxn ang="0">
                    <a:pos x="20" y="62"/>
                  </a:cxn>
                  <a:cxn ang="0">
                    <a:pos x="20" y="64"/>
                  </a:cxn>
                  <a:cxn ang="0">
                    <a:pos x="18" y="66"/>
                  </a:cxn>
                  <a:cxn ang="0">
                    <a:pos x="18" y="68"/>
                  </a:cxn>
                  <a:cxn ang="0">
                    <a:pos x="18" y="70"/>
                  </a:cxn>
                  <a:cxn ang="0">
                    <a:pos x="14" y="74"/>
                  </a:cxn>
                  <a:cxn ang="0">
                    <a:pos x="14" y="78"/>
                  </a:cxn>
                  <a:cxn ang="0">
                    <a:pos x="12" y="78"/>
                  </a:cxn>
                  <a:cxn ang="0">
                    <a:pos x="12" y="82"/>
                  </a:cxn>
                  <a:cxn ang="0">
                    <a:pos x="10" y="84"/>
                  </a:cxn>
                  <a:cxn ang="0">
                    <a:pos x="8" y="86"/>
                  </a:cxn>
                  <a:cxn ang="0">
                    <a:pos x="8" y="88"/>
                  </a:cxn>
                  <a:cxn ang="0">
                    <a:pos x="6" y="92"/>
                  </a:cxn>
                  <a:cxn ang="0">
                    <a:pos x="0" y="96"/>
                  </a:cxn>
                  <a:cxn ang="0">
                    <a:pos x="0" y="98"/>
                  </a:cxn>
                  <a:cxn ang="0">
                    <a:pos x="2" y="102"/>
                  </a:cxn>
                  <a:cxn ang="0">
                    <a:pos x="0" y="104"/>
                  </a:cxn>
                  <a:cxn ang="0">
                    <a:pos x="0" y="110"/>
                  </a:cxn>
                  <a:cxn ang="0">
                    <a:pos x="0" y="110"/>
                  </a:cxn>
                </a:cxnLst>
                <a:rect l="0" t="0" r="r" b="b"/>
                <a:pathLst>
                  <a:path w="116" h="110">
                    <a:moveTo>
                      <a:pt x="0" y="110"/>
                    </a:moveTo>
                    <a:lnTo>
                      <a:pt x="0" y="110"/>
                    </a:lnTo>
                    <a:lnTo>
                      <a:pt x="4" y="106"/>
                    </a:lnTo>
                    <a:lnTo>
                      <a:pt x="52" y="104"/>
                    </a:lnTo>
                    <a:lnTo>
                      <a:pt x="52" y="78"/>
                    </a:lnTo>
                    <a:lnTo>
                      <a:pt x="52" y="76"/>
                    </a:lnTo>
                    <a:lnTo>
                      <a:pt x="54" y="74"/>
                    </a:lnTo>
                    <a:lnTo>
                      <a:pt x="60" y="72"/>
                    </a:lnTo>
                    <a:lnTo>
                      <a:pt x="68" y="70"/>
                    </a:lnTo>
                    <a:lnTo>
                      <a:pt x="68" y="34"/>
                    </a:lnTo>
                    <a:lnTo>
                      <a:pt x="116" y="34"/>
                    </a:lnTo>
                    <a:lnTo>
                      <a:pt x="116" y="12"/>
                    </a:lnTo>
                    <a:lnTo>
                      <a:pt x="116" y="0"/>
                    </a:lnTo>
                    <a:lnTo>
                      <a:pt x="60" y="2"/>
                    </a:lnTo>
                    <a:lnTo>
                      <a:pt x="58" y="6"/>
                    </a:lnTo>
                    <a:lnTo>
                      <a:pt x="50" y="6"/>
                    </a:lnTo>
                    <a:lnTo>
                      <a:pt x="50" y="8"/>
                    </a:lnTo>
                    <a:lnTo>
                      <a:pt x="48" y="10"/>
                    </a:lnTo>
                    <a:lnTo>
                      <a:pt x="46" y="12"/>
                    </a:lnTo>
                    <a:lnTo>
                      <a:pt x="46" y="14"/>
                    </a:lnTo>
                    <a:lnTo>
                      <a:pt x="44" y="16"/>
                    </a:lnTo>
                    <a:lnTo>
                      <a:pt x="44" y="18"/>
                    </a:lnTo>
                    <a:lnTo>
                      <a:pt x="42" y="20"/>
                    </a:lnTo>
                    <a:lnTo>
                      <a:pt x="32" y="32"/>
                    </a:lnTo>
                    <a:lnTo>
                      <a:pt x="32" y="38"/>
                    </a:lnTo>
                    <a:lnTo>
                      <a:pt x="30" y="42"/>
                    </a:lnTo>
                    <a:lnTo>
                      <a:pt x="26" y="46"/>
                    </a:lnTo>
                    <a:lnTo>
                      <a:pt x="24" y="54"/>
                    </a:lnTo>
                    <a:lnTo>
                      <a:pt x="20" y="62"/>
                    </a:lnTo>
                    <a:lnTo>
                      <a:pt x="20" y="64"/>
                    </a:lnTo>
                    <a:lnTo>
                      <a:pt x="18" y="66"/>
                    </a:lnTo>
                    <a:lnTo>
                      <a:pt x="18" y="68"/>
                    </a:lnTo>
                    <a:lnTo>
                      <a:pt x="18" y="70"/>
                    </a:lnTo>
                    <a:lnTo>
                      <a:pt x="14" y="74"/>
                    </a:lnTo>
                    <a:lnTo>
                      <a:pt x="14" y="78"/>
                    </a:lnTo>
                    <a:lnTo>
                      <a:pt x="12" y="78"/>
                    </a:lnTo>
                    <a:lnTo>
                      <a:pt x="12" y="82"/>
                    </a:lnTo>
                    <a:lnTo>
                      <a:pt x="10" y="84"/>
                    </a:lnTo>
                    <a:lnTo>
                      <a:pt x="8" y="86"/>
                    </a:lnTo>
                    <a:lnTo>
                      <a:pt x="8" y="88"/>
                    </a:lnTo>
                    <a:lnTo>
                      <a:pt x="6" y="92"/>
                    </a:lnTo>
                    <a:lnTo>
                      <a:pt x="0" y="96"/>
                    </a:lnTo>
                    <a:lnTo>
                      <a:pt x="0" y="98"/>
                    </a:lnTo>
                    <a:lnTo>
                      <a:pt x="2" y="102"/>
                    </a:lnTo>
                    <a:lnTo>
                      <a:pt x="0" y="104"/>
                    </a:lnTo>
                    <a:lnTo>
                      <a:pt x="0" y="110"/>
                    </a:lnTo>
                    <a:lnTo>
                      <a:pt x="0" y="11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5" name="Freeform 21">
                <a:extLst>
                  <a:ext uri="{FF2B5EF4-FFF2-40B4-BE49-F238E27FC236}">
                    <a16:creationId xmlns:a16="http://schemas.microsoft.com/office/drawing/2014/main" id="{D5E91768-4EE3-B6A7-59C3-92129D509524}"/>
                  </a:ext>
                </a:extLst>
              </p:cNvPr>
              <p:cNvSpPr>
                <a:spLocks/>
              </p:cNvSpPr>
              <p:nvPr/>
            </p:nvSpPr>
            <p:spPr bwMode="auto">
              <a:xfrm>
                <a:off x="6126241" y="3908324"/>
                <a:ext cx="89456" cy="226722"/>
              </a:xfrm>
              <a:custGeom>
                <a:avLst/>
                <a:gdLst/>
                <a:ahLst/>
                <a:cxnLst>
                  <a:cxn ang="0">
                    <a:pos x="64" y="24"/>
                  </a:cxn>
                  <a:cxn ang="0">
                    <a:pos x="50" y="12"/>
                  </a:cxn>
                  <a:cxn ang="0">
                    <a:pos x="42" y="2"/>
                  </a:cxn>
                  <a:cxn ang="0">
                    <a:pos x="22" y="6"/>
                  </a:cxn>
                  <a:cxn ang="0">
                    <a:pos x="0" y="8"/>
                  </a:cxn>
                  <a:cxn ang="0">
                    <a:pos x="8" y="28"/>
                  </a:cxn>
                  <a:cxn ang="0">
                    <a:pos x="20" y="36"/>
                  </a:cxn>
                  <a:cxn ang="0">
                    <a:pos x="34" y="38"/>
                  </a:cxn>
                  <a:cxn ang="0">
                    <a:pos x="24" y="52"/>
                  </a:cxn>
                  <a:cxn ang="0">
                    <a:pos x="28" y="64"/>
                  </a:cxn>
                  <a:cxn ang="0">
                    <a:pos x="40" y="86"/>
                  </a:cxn>
                  <a:cxn ang="0">
                    <a:pos x="52" y="100"/>
                  </a:cxn>
                  <a:cxn ang="0">
                    <a:pos x="62" y="114"/>
                  </a:cxn>
                  <a:cxn ang="0">
                    <a:pos x="64" y="134"/>
                  </a:cxn>
                  <a:cxn ang="0">
                    <a:pos x="68" y="156"/>
                  </a:cxn>
                  <a:cxn ang="0">
                    <a:pos x="66" y="176"/>
                  </a:cxn>
                  <a:cxn ang="0">
                    <a:pos x="54" y="188"/>
                  </a:cxn>
                  <a:cxn ang="0">
                    <a:pos x="44" y="194"/>
                  </a:cxn>
                  <a:cxn ang="0">
                    <a:pos x="30" y="200"/>
                  </a:cxn>
                  <a:cxn ang="0">
                    <a:pos x="28" y="214"/>
                  </a:cxn>
                  <a:cxn ang="0">
                    <a:pos x="32" y="232"/>
                  </a:cxn>
                  <a:cxn ang="0">
                    <a:pos x="34" y="236"/>
                  </a:cxn>
                  <a:cxn ang="0">
                    <a:pos x="44" y="228"/>
                  </a:cxn>
                  <a:cxn ang="0">
                    <a:pos x="40" y="214"/>
                  </a:cxn>
                  <a:cxn ang="0">
                    <a:pos x="50" y="220"/>
                  </a:cxn>
                  <a:cxn ang="0">
                    <a:pos x="48" y="216"/>
                  </a:cxn>
                  <a:cxn ang="0">
                    <a:pos x="40" y="208"/>
                  </a:cxn>
                  <a:cxn ang="0">
                    <a:pos x="56" y="210"/>
                  </a:cxn>
                  <a:cxn ang="0">
                    <a:pos x="60" y="208"/>
                  </a:cxn>
                  <a:cxn ang="0">
                    <a:pos x="68" y="206"/>
                  </a:cxn>
                  <a:cxn ang="0">
                    <a:pos x="88" y="190"/>
                  </a:cxn>
                  <a:cxn ang="0">
                    <a:pos x="90" y="180"/>
                  </a:cxn>
                  <a:cxn ang="0">
                    <a:pos x="90" y="172"/>
                  </a:cxn>
                  <a:cxn ang="0">
                    <a:pos x="90" y="166"/>
                  </a:cxn>
                  <a:cxn ang="0">
                    <a:pos x="86" y="146"/>
                  </a:cxn>
                  <a:cxn ang="0">
                    <a:pos x="84" y="134"/>
                  </a:cxn>
                  <a:cxn ang="0">
                    <a:pos x="74" y="118"/>
                  </a:cxn>
                  <a:cxn ang="0">
                    <a:pos x="62" y="102"/>
                  </a:cxn>
                  <a:cxn ang="0">
                    <a:pos x="52" y="94"/>
                  </a:cxn>
                  <a:cxn ang="0">
                    <a:pos x="42" y="78"/>
                  </a:cxn>
                  <a:cxn ang="0">
                    <a:pos x="40" y="64"/>
                  </a:cxn>
                  <a:cxn ang="0">
                    <a:pos x="44" y="54"/>
                  </a:cxn>
                  <a:cxn ang="0">
                    <a:pos x="58" y="36"/>
                  </a:cxn>
                  <a:cxn ang="0">
                    <a:pos x="68" y="30"/>
                  </a:cxn>
                  <a:cxn ang="0">
                    <a:pos x="74" y="26"/>
                  </a:cxn>
                </a:cxnLst>
                <a:rect l="0" t="0" r="r" b="b"/>
                <a:pathLst>
                  <a:path w="92" h="236">
                    <a:moveTo>
                      <a:pt x="74" y="26"/>
                    </a:moveTo>
                    <a:lnTo>
                      <a:pt x="68" y="24"/>
                    </a:lnTo>
                    <a:lnTo>
                      <a:pt x="64" y="24"/>
                    </a:lnTo>
                    <a:lnTo>
                      <a:pt x="58" y="22"/>
                    </a:lnTo>
                    <a:lnTo>
                      <a:pt x="54" y="18"/>
                    </a:lnTo>
                    <a:lnTo>
                      <a:pt x="50" y="12"/>
                    </a:lnTo>
                    <a:lnTo>
                      <a:pt x="52" y="6"/>
                    </a:lnTo>
                    <a:lnTo>
                      <a:pt x="46" y="4"/>
                    </a:lnTo>
                    <a:lnTo>
                      <a:pt x="42" y="2"/>
                    </a:lnTo>
                    <a:lnTo>
                      <a:pt x="36" y="0"/>
                    </a:lnTo>
                    <a:lnTo>
                      <a:pt x="30" y="6"/>
                    </a:lnTo>
                    <a:lnTo>
                      <a:pt x="22" y="6"/>
                    </a:lnTo>
                    <a:lnTo>
                      <a:pt x="14" y="8"/>
                    </a:lnTo>
                    <a:lnTo>
                      <a:pt x="6" y="6"/>
                    </a:lnTo>
                    <a:lnTo>
                      <a:pt x="0" y="8"/>
                    </a:lnTo>
                    <a:lnTo>
                      <a:pt x="4" y="18"/>
                    </a:lnTo>
                    <a:lnTo>
                      <a:pt x="4" y="22"/>
                    </a:lnTo>
                    <a:lnTo>
                      <a:pt x="8" y="28"/>
                    </a:lnTo>
                    <a:lnTo>
                      <a:pt x="14" y="30"/>
                    </a:lnTo>
                    <a:lnTo>
                      <a:pt x="14" y="34"/>
                    </a:lnTo>
                    <a:lnTo>
                      <a:pt x="20" y="36"/>
                    </a:lnTo>
                    <a:lnTo>
                      <a:pt x="22" y="32"/>
                    </a:lnTo>
                    <a:lnTo>
                      <a:pt x="28" y="34"/>
                    </a:lnTo>
                    <a:lnTo>
                      <a:pt x="34" y="38"/>
                    </a:lnTo>
                    <a:lnTo>
                      <a:pt x="34" y="46"/>
                    </a:lnTo>
                    <a:lnTo>
                      <a:pt x="30" y="48"/>
                    </a:lnTo>
                    <a:lnTo>
                      <a:pt x="24" y="52"/>
                    </a:lnTo>
                    <a:lnTo>
                      <a:pt x="22" y="54"/>
                    </a:lnTo>
                    <a:lnTo>
                      <a:pt x="22" y="60"/>
                    </a:lnTo>
                    <a:lnTo>
                      <a:pt x="28" y="64"/>
                    </a:lnTo>
                    <a:lnTo>
                      <a:pt x="30" y="74"/>
                    </a:lnTo>
                    <a:lnTo>
                      <a:pt x="36" y="82"/>
                    </a:lnTo>
                    <a:lnTo>
                      <a:pt x="40" y="86"/>
                    </a:lnTo>
                    <a:lnTo>
                      <a:pt x="42" y="92"/>
                    </a:lnTo>
                    <a:lnTo>
                      <a:pt x="46" y="96"/>
                    </a:lnTo>
                    <a:lnTo>
                      <a:pt x="52" y="100"/>
                    </a:lnTo>
                    <a:lnTo>
                      <a:pt x="54" y="106"/>
                    </a:lnTo>
                    <a:lnTo>
                      <a:pt x="58" y="114"/>
                    </a:lnTo>
                    <a:lnTo>
                      <a:pt x="62" y="114"/>
                    </a:lnTo>
                    <a:lnTo>
                      <a:pt x="64" y="120"/>
                    </a:lnTo>
                    <a:lnTo>
                      <a:pt x="64" y="130"/>
                    </a:lnTo>
                    <a:lnTo>
                      <a:pt x="64" y="134"/>
                    </a:lnTo>
                    <a:lnTo>
                      <a:pt x="64" y="142"/>
                    </a:lnTo>
                    <a:lnTo>
                      <a:pt x="66" y="148"/>
                    </a:lnTo>
                    <a:lnTo>
                      <a:pt x="68" y="156"/>
                    </a:lnTo>
                    <a:lnTo>
                      <a:pt x="68" y="164"/>
                    </a:lnTo>
                    <a:lnTo>
                      <a:pt x="66" y="168"/>
                    </a:lnTo>
                    <a:lnTo>
                      <a:pt x="66" y="176"/>
                    </a:lnTo>
                    <a:lnTo>
                      <a:pt x="64" y="182"/>
                    </a:lnTo>
                    <a:lnTo>
                      <a:pt x="60" y="186"/>
                    </a:lnTo>
                    <a:lnTo>
                      <a:pt x="54" y="188"/>
                    </a:lnTo>
                    <a:lnTo>
                      <a:pt x="52" y="190"/>
                    </a:lnTo>
                    <a:lnTo>
                      <a:pt x="50" y="196"/>
                    </a:lnTo>
                    <a:lnTo>
                      <a:pt x="44" y="194"/>
                    </a:lnTo>
                    <a:lnTo>
                      <a:pt x="36" y="194"/>
                    </a:lnTo>
                    <a:lnTo>
                      <a:pt x="34" y="198"/>
                    </a:lnTo>
                    <a:lnTo>
                      <a:pt x="30" y="200"/>
                    </a:lnTo>
                    <a:lnTo>
                      <a:pt x="24" y="208"/>
                    </a:lnTo>
                    <a:lnTo>
                      <a:pt x="26" y="210"/>
                    </a:lnTo>
                    <a:lnTo>
                      <a:pt x="28" y="214"/>
                    </a:lnTo>
                    <a:lnTo>
                      <a:pt x="28" y="226"/>
                    </a:lnTo>
                    <a:lnTo>
                      <a:pt x="28" y="230"/>
                    </a:lnTo>
                    <a:lnTo>
                      <a:pt x="32" y="232"/>
                    </a:lnTo>
                    <a:lnTo>
                      <a:pt x="30" y="236"/>
                    </a:lnTo>
                    <a:lnTo>
                      <a:pt x="32" y="236"/>
                    </a:lnTo>
                    <a:lnTo>
                      <a:pt x="34" y="236"/>
                    </a:lnTo>
                    <a:lnTo>
                      <a:pt x="36" y="232"/>
                    </a:lnTo>
                    <a:lnTo>
                      <a:pt x="38" y="228"/>
                    </a:lnTo>
                    <a:lnTo>
                      <a:pt x="44" y="228"/>
                    </a:lnTo>
                    <a:lnTo>
                      <a:pt x="42" y="220"/>
                    </a:lnTo>
                    <a:lnTo>
                      <a:pt x="40" y="216"/>
                    </a:lnTo>
                    <a:lnTo>
                      <a:pt x="40" y="214"/>
                    </a:lnTo>
                    <a:lnTo>
                      <a:pt x="46" y="220"/>
                    </a:lnTo>
                    <a:lnTo>
                      <a:pt x="50" y="220"/>
                    </a:lnTo>
                    <a:lnTo>
                      <a:pt x="50" y="220"/>
                    </a:lnTo>
                    <a:lnTo>
                      <a:pt x="52" y="220"/>
                    </a:lnTo>
                    <a:lnTo>
                      <a:pt x="52" y="218"/>
                    </a:lnTo>
                    <a:lnTo>
                      <a:pt x="48" y="216"/>
                    </a:lnTo>
                    <a:lnTo>
                      <a:pt x="44" y="214"/>
                    </a:lnTo>
                    <a:lnTo>
                      <a:pt x="44" y="212"/>
                    </a:lnTo>
                    <a:lnTo>
                      <a:pt x="40" y="208"/>
                    </a:lnTo>
                    <a:lnTo>
                      <a:pt x="48" y="210"/>
                    </a:lnTo>
                    <a:lnTo>
                      <a:pt x="56" y="212"/>
                    </a:lnTo>
                    <a:lnTo>
                      <a:pt x="56" y="210"/>
                    </a:lnTo>
                    <a:lnTo>
                      <a:pt x="58" y="210"/>
                    </a:lnTo>
                    <a:lnTo>
                      <a:pt x="60" y="210"/>
                    </a:lnTo>
                    <a:lnTo>
                      <a:pt x="60" y="208"/>
                    </a:lnTo>
                    <a:lnTo>
                      <a:pt x="62" y="208"/>
                    </a:lnTo>
                    <a:lnTo>
                      <a:pt x="64" y="210"/>
                    </a:lnTo>
                    <a:lnTo>
                      <a:pt x="68" y="206"/>
                    </a:lnTo>
                    <a:lnTo>
                      <a:pt x="70" y="202"/>
                    </a:lnTo>
                    <a:lnTo>
                      <a:pt x="74" y="202"/>
                    </a:lnTo>
                    <a:lnTo>
                      <a:pt x="88" y="190"/>
                    </a:lnTo>
                    <a:lnTo>
                      <a:pt x="88" y="186"/>
                    </a:lnTo>
                    <a:lnTo>
                      <a:pt x="90" y="184"/>
                    </a:lnTo>
                    <a:lnTo>
                      <a:pt x="90" y="180"/>
                    </a:lnTo>
                    <a:lnTo>
                      <a:pt x="90" y="178"/>
                    </a:lnTo>
                    <a:lnTo>
                      <a:pt x="90" y="174"/>
                    </a:lnTo>
                    <a:lnTo>
                      <a:pt x="90" y="172"/>
                    </a:lnTo>
                    <a:lnTo>
                      <a:pt x="92" y="170"/>
                    </a:lnTo>
                    <a:lnTo>
                      <a:pt x="92" y="166"/>
                    </a:lnTo>
                    <a:lnTo>
                      <a:pt x="90" y="166"/>
                    </a:lnTo>
                    <a:lnTo>
                      <a:pt x="88" y="158"/>
                    </a:lnTo>
                    <a:lnTo>
                      <a:pt x="88" y="148"/>
                    </a:lnTo>
                    <a:lnTo>
                      <a:pt x="86" y="146"/>
                    </a:lnTo>
                    <a:lnTo>
                      <a:pt x="86" y="140"/>
                    </a:lnTo>
                    <a:lnTo>
                      <a:pt x="82" y="138"/>
                    </a:lnTo>
                    <a:lnTo>
                      <a:pt x="84" y="134"/>
                    </a:lnTo>
                    <a:lnTo>
                      <a:pt x="82" y="130"/>
                    </a:lnTo>
                    <a:lnTo>
                      <a:pt x="74" y="122"/>
                    </a:lnTo>
                    <a:lnTo>
                      <a:pt x="74" y="118"/>
                    </a:lnTo>
                    <a:lnTo>
                      <a:pt x="74" y="114"/>
                    </a:lnTo>
                    <a:lnTo>
                      <a:pt x="66" y="112"/>
                    </a:lnTo>
                    <a:lnTo>
                      <a:pt x="62" y="102"/>
                    </a:lnTo>
                    <a:lnTo>
                      <a:pt x="62" y="100"/>
                    </a:lnTo>
                    <a:lnTo>
                      <a:pt x="54" y="96"/>
                    </a:lnTo>
                    <a:lnTo>
                      <a:pt x="52" y="94"/>
                    </a:lnTo>
                    <a:lnTo>
                      <a:pt x="48" y="90"/>
                    </a:lnTo>
                    <a:lnTo>
                      <a:pt x="48" y="86"/>
                    </a:lnTo>
                    <a:lnTo>
                      <a:pt x="42" y="78"/>
                    </a:lnTo>
                    <a:lnTo>
                      <a:pt x="38" y="72"/>
                    </a:lnTo>
                    <a:lnTo>
                      <a:pt x="38" y="66"/>
                    </a:lnTo>
                    <a:lnTo>
                      <a:pt x="40" y="64"/>
                    </a:lnTo>
                    <a:lnTo>
                      <a:pt x="40" y="60"/>
                    </a:lnTo>
                    <a:lnTo>
                      <a:pt x="40" y="56"/>
                    </a:lnTo>
                    <a:lnTo>
                      <a:pt x="44" y="54"/>
                    </a:lnTo>
                    <a:lnTo>
                      <a:pt x="48" y="52"/>
                    </a:lnTo>
                    <a:lnTo>
                      <a:pt x="58" y="40"/>
                    </a:lnTo>
                    <a:lnTo>
                      <a:pt x="58" y="36"/>
                    </a:lnTo>
                    <a:lnTo>
                      <a:pt x="60" y="36"/>
                    </a:lnTo>
                    <a:lnTo>
                      <a:pt x="64" y="34"/>
                    </a:lnTo>
                    <a:lnTo>
                      <a:pt x="68" y="30"/>
                    </a:lnTo>
                    <a:lnTo>
                      <a:pt x="74" y="28"/>
                    </a:lnTo>
                    <a:lnTo>
                      <a:pt x="74" y="26"/>
                    </a:lnTo>
                    <a:lnTo>
                      <a:pt x="74" y="2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6" name="Freeform 22">
                <a:extLst>
                  <a:ext uri="{FF2B5EF4-FFF2-40B4-BE49-F238E27FC236}">
                    <a16:creationId xmlns:a16="http://schemas.microsoft.com/office/drawing/2014/main" id="{1852ED15-CEBA-28CE-E6E7-E25868FC2EE4}"/>
                  </a:ext>
                </a:extLst>
              </p:cNvPr>
              <p:cNvSpPr>
                <a:spLocks/>
              </p:cNvSpPr>
              <p:nvPr/>
            </p:nvSpPr>
            <p:spPr bwMode="auto">
              <a:xfrm>
                <a:off x="3907344" y="4077405"/>
                <a:ext cx="171133" cy="180609"/>
              </a:xfrm>
              <a:custGeom>
                <a:avLst/>
                <a:gdLst/>
                <a:ahLst/>
                <a:cxnLst>
                  <a:cxn ang="0">
                    <a:pos x="14" y="16"/>
                  </a:cxn>
                  <a:cxn ang="0">
                    <a:pos x="2" y="40"/>
                  </a:cxn>
                  <a:cxn ang="0">
                    <a:pos x="0" y="54"/>
                  </a:cxn>
                  <a:cxn ang="0">
                    <a:pos x="14" y="66"/>
                  </a:cxn>
                  <a:cxn ang="0">
                    <a:pos x="12" y="74"/>
                  </a:cxn>
                  <a:cxn ang="0">
                    <a:pos x="28" y="90"/>
                  </a:cxn>
                  <a:cxn ang="0">
                    <a:pos x="46" y="92"/>
                  </a:cxn>
                  <a:cxn ang="0">
                    <a:pos x="70" y="110"/>
                  </a:cxn>
                  <a:cxn ang="0">
                    <a:pos x="68" y="122"/>
                  </a:cxn>
                  <a:cxn ang="0">
                    <a:pos x="82" y="136"/>
                  </a:cxn>
                  <a:cxn ang="0">
                    <a:pos x="88" y="158"/>
                  </a:cxn>
                  <a:cxn ang="0">
                    <a:pos x="88" y="166"/>
                  </a:cxn>
                  <a:cxn ang="0">
                    <a:pos x="92" y="182"/>
                  </a:cxn>
                  <a:cxn ang="0">
                    <a:pos x="108" y="182"/>
                  </a:cxn>
                  <a:cxn ang="0">
                    <a:pos x="118" y="176"/>
                  </a:cxn>
                  <a:cxn ang="0">
                    <a:pos x="126" y="166"/>
                  </a:cxn>
                  <a:cxn ang="0">
                    <a:pos x="132" y="160"/>
                  </a:cxn>
                  <a:cxn ang="0">
                    <a:pos x="118" y="160"/>
                  </a:cxn>
                  <a:cxn ang="0">
                    <a:pos x="114" y="146"/>
                  </a:cxn>
                  <a:cxn ang="0">
                    <a:pos x="108" y="132"/>
                  </a:cxn>
                  <a:cxn ang="0">
                    <a:pos x="120" y="132"/>
                  </a:cxn>
                  <a:cxn ang="0">
                    <a:pos x="136" y="136"/>
                  </a:cxn>
                  <a:cxn ang="0">
                    <a:pos x="140" y="130"/>
                  </a:cxn>
                  <a:cxn ang="0">
                    <a:pos x="154" y="128"/>
                  </a:cxn>
                  <a:cxn ang="0">
                    <a:pos x="156" y="122"/>
                  </a:cxn>
                  <a:cxn ang="0">
                    <a:pos x="154" y="96"/>
                  </a:cxn>
                  <a:cxn ang="0">
                    <a:pos x="166" y="86"/>
                  </a:cxn>
                  <a:cxn ang="0">
                    <a:pos x="168" y="80"/>
                  </a:cxn>
                  <a:cxn ang="0">
                    <a:pos x="160" y="70"/>
                  </a:cxn>
                  <a:cxn ang="0">
                    <a:pos x="172" y="64"/>
                  </a:cxn>
                  <a:cxn ang="0">
                    <a:pos x="168" y="54"/>
                  </a:cxn>
                  <a:cxn ang="0">
                    <a:pos x="158" y="56"/>
                  </a:cxn>
                  <a:cxn ang="0">
                    <a:pos x="162" y="46"/>
                  </a:cxn>
                  <a:cxn ang="0">
                    <a:pos x="156" y="38"/>
                  </a:cxn>
                  <a:cxn ang="0">
                    <a:pos x="152" y="34"/>
                  </a:cxn>
                  <a:cxn ang="0">
                    <a:pos x="142" y="26"/>
                  </a:cxn>
                  <a:cxn ang="0">
                    <a:pos x="150" y="22"/>
                  </a:cxn>
                  <a:cxn ang="0">
                    <a:pos x="126" y="26"/>
                  </a:cxn>
                  <a:cxn ang="0">
                    <a:pos x="104" y="30"/>
                  </a:cxn>
                  <a:cxn ang="0">
                    <a:pos x="94" y="22"/>
                  </a:cxn>
                  <a:cxn ang="0">
                    <a:pos x="74" y="26"/>
                  </a:cxn>
                  <a:cxn ang="0">
                    <a:pos x="66" y="12"/>
                  </a:cxn>
                  <a:cxn ang="0">
                    <a:pos x="50" y="4"/>
                  </a:cxn>
                  <a:cxn ang="0">
                    <a:pos x="44" y="6"/>
                  </a:cxn>
                  <a:cxn ang="0">
                    <a:pos x="32" y="16"/>
                  </a:cxn>
                  <a:cxn ang="0">
                    <a:pos x="36" y="36"/>
                  </a:cxn>
                  <a:cxn ang="0">
                    <a:pos x="28" y="48"/>
                  </a:cxn>
                  <a:cxn ang="0">
                    <a:pos x="22" y="36"/>
                  </a:cxn>
                  <a:cxn ang="0">
                    <a:pos x="30" y="22"/>
                  </a:cxn>
                  <a:cxn ang="0">
                    <a:pos x="28" y="16"/>
                  </a:cxn>
                  <a:cxn ang="0">
                    <a:pos x="24" y="8"/>
                  </a:cxn>
                </a:cxnLst>
                <a:rect l="0" t="0" r="r" b="b"/>
                <a:pathLst>
                  <a:path w="176" h="188">
                    <a:moveTo>
                      <a:pt x="28" y="4"/>
                    </a:moveTo>
                    <a:lnTo>
                      <a:pt x="28" y="4"/>
                    </a:lnTo>
                    <a:lnTo>
                      <a:pt x="20" y="6"/>
                    </a:lnTo>
                    <a:lnTo>
                      <a:pt x="14" y="16"/>
                    </a:lnTo>
                    <a:lnTo>
                      <a:pt x="8" y="30"/>
                    </a:lnTo>
                    <a:lnTo>
                      <a:pt x="2" y="32"/>
                    </a:lnTo>
                    <a:lnTo>
                      <a:pt x="4" y="34"/>
                    </a:lnTo>
                    <a:lnTo>
                      <a:pt x="2" y="40"/>
                    </a:lnTo>
                    <a:lnTo>
                      <a:pt x="2" y="46"/>
                    </a:lnTo>
                    <a:lnTo>
                      <a:pt x="2" y="48"/>
                    </a:lnTo>
                    <a:lnTo>
                      <a:pt x="0" y="50"/>
                    </a:lnTo>
                    <a:lnTo>
                      <a:pt x="0" y="54"/>
                    </a:lnTo>
                    <a:lnTo>
                      <a:pt x="0" y="56"/>
                    </a:lnTo>
                    <a:lnTo>
                      <a:pt x="2" y="56"/>
                    </a:lnTo>
                    <a:lnTo>
                      <a:pt x="8" y="54"/>
                    </a:lnTo>
                    <a:lnTo>
                      <a:pt x="14" y="66"/>
                    </a:lnTo>
                    <a:lnTo>
                      <a:pt x="12" y="68"/>
                    </a:lnTo>
                    <a:lnTo>
                      <a:pt x="10" y="68"/>
                    </a:lnTo>
                    <a:lnTo>
                      <a:pt x="10" y="70"/>
                    </a:lnTo>
                    <a:lnTo>
                      <a:pt x="12" y="74"/>
                    </a:lnTo>
                    <a:lnTo>
                      <a:pt x="16" y="80"/>
                    </a:lnTo>
                    <a:lnTo>
                      <a:pt x="18" y="86"/>
                    </a:lnTo>
                    <a:lnTo>
                      <a:pt x="18" y="88"/>
                    </a:lnTo>
                    <a:lnTo>
                      <a:pt x="28" y="90"/>
                    </a:lnTo>
                    <a:lnTo>
                      <a:pt x="32" y="90"/>
                    </a:lnTo>
                    <a:lnTo>
                      <a:pt x="36" y="90"/>
                    </a:lnTo>
                    <a:lnTo>
                      <a:pt x="42" y="90"/>
                    </a:lnTo>
                    <a:lnTo>
                      <a:pt x="46" y="92"/>
                    </a:lnTo>
                    <a:lnTo>
                      <a:pt x="52" y="102"/>
                    </a:lnTo>
                    <a:lnTo>
                      <a:pt x="62" y="102"/>
                    </a:lnTo>
                    <a:lnTo>
                      <a:pt x="70" y="102"/>
                    </a:lnTo>
                    <a:lnTo>
                      <a:pt x="70" y="110"/>
                    </a:lnTo>
                    <a:lnTo>
                      <a:pt x="68" y="112"/>
                    </a:lnTo>
                    <a:lnTo>
                      <a:pt x="66" y="114"/>
                    </a:lnTo>
                    <a:lnTo>
                      <a:pt x="68" y="118"/>
                    </a:lnTo>
                    <a:lnTo>
                      <a:pt x="68" y="122"/>
                    </a:lnTo>
                    <a:lnTo>
                      <a:pt x="70" y="124"/>
                    </a:lnTo>
                    <a:lnTo>
                      <a:pt x="74" y="128"/>
                    </a:lnTo>
                    <a:lnTo>
                      <a:pt x="78" y="132"/>
                    </a:lnTo>
                    <a:lnTo>
                      <a:pt x="82" y="136"/>
                    </a:lnTo>
                    <a:lnTo>
                      <a:pt x="88" y="142"/>
                    </a:lnTo>
                    <a:lnTo>
                      <a:pt x="94" y="144"/>
                    </a:lnTo>
                    <a:lnTo>
                      <a:pt x="92" y="152"/>
                    </a:lnTo>
                    <a:lnTo>
                      <a:pt x="88" y="158"/>
                    </a:lnTo>
                    <a:lnTo>
                      <a:pt x="86" y="160"/>
                    </a:lnTo>
                    <a:lnTo>
                      <a:pt x="84" y="164"/>
                    </a:lnTo>
                    <a:lnTo>
                      <a:pt x="86" y="166"/>
                    </a:lnTo>
                    <a:lnTo>
                      <a:pt x="88" y="166"/>
                    </a:lnTo>
                    <a:lnTo>
                      <a:pt x="90" y="164"/>
                    </a:lnTo>
                    <a:lnTo>
                      <a:pt x="90" y="170"/>
                    </a:lnTo>
                    <a:lnTo>
                      <a:pt x="94" y="174"/>
                    </a:lnTo>
                    <a:lnTo>
                      <a:pt x="92" y="182"/>
                    </a:lnTo>
                    <a:lnTo>
                      <a:pt x="98" y="188"/>
                    </a:lnTo>
                    <a:lnTo>
                      <a:pt x="100" y="186"/>
                    </a:lnTo>
                    <a:lnTo>
                      <a:pt x="106" y="184"/>
                    </a:lnTo>
                    <a:lnTo>
                      <a:pt x="108" y="182"/>
                    </a:lnTo>
                    <a:lnTo>
                      <a:pt x="110" y="180"/>
                    </a:lnTo>
                    <a:lnTo>
                      <a:pt x="112" y="178"/>
                    </a:lnTo>
                    <a:lnTo>
                      <a:pt x="114" y="178"/>
                    </a:lnTo>
                    <a:lnTo>
                      <a:pt x="118" y="176"/>
                    </a:lnTo>
                    <a:lnTo>
                      <a:pt x="120" y="174"/>
                    </a:lnTo>
                    <a:lnTo>
                      <a:pt x="122" y="172"/>
                    </a:lnTo>
                    <a:lnTo>
                      <a:pt x="124" y="170"/>
                    </a:lnTo>
                    <a:lnTo>
                      <a:pt x="126" y="166"/>
                    </a:lnTo>
                    <a:lnTo>
                      <a:pt x="128" y="166"/>
                    </a:lnTo>
                    <a:lnTo>
                      <a:pt x="132" y="164"/>
                    </a:lnTo>
                    <a:lnTo>
                      <a:pt x="134" y="164"/>
                    </a:lnTo>
                    <a:lnTo>
                      <a:pt x="132" y="160"/>
                    </a:lnTo>
                    <a:lnTo>
                      <a:pt x="130" y="160"/>
                    </a:lnTo>
                    <a:lnTo>
                      <a:pt x="128" y="158"/>
                    </a:lnTo>
                    <a:lnTo>
                      <a:pt x="122" y="160"/>
                    </a:lnTo>
                    <a:lnTo>
                      <a:pt x="118" y="160"/>
                    </a:lnTo>
                    <a:lnTo>
                      <a:pt x="116" y="158"/>
                    </a:lnTo>
                    <a:lnTo>
                      <a:pt x="114" y="156"/>
                    </a:lnTo>
                    <a:lnTo>
                      <a:pt x="114" y="152"/>
                    </a:lnTo>
                    <a:lnTo>
                      <a:pt x="114" y="146"/>
                    </a:lnTo>
                    <a:lnTo>
                      <a:pt x="112" y="138"/>
                    </a:lnTo>
                    <a:lnTo>
                      <a:pt x="110" y="134"/>
                    </a:lnTo>
                    <a:lnTo>
                      <a:pt x="110" y="132"/>
                    </a:lnTo>
                    <a:lnTo>
                      <a:pt x="108" y="132"/>
                    </a:lnTo>
                    <a:lnTo>
                      <a:pt x="106" y="130"/>
                    </a:lnTo>
                    <a:lnTo>
                      <a:pt x="110" y="130"/>
                    </a:lnTo>
                    <a:lnTo>
                      <a:pt x="116" y="132"/>
                    </a:lnTo>
                    <a:lnTo>
                      <a:pt x="120" y="132"/>
                    </a:lnTo>
                    <a:lnTo>
                      <a:pt x="124" y="132"/>
                    </a:lnTo>
                    <a:lnTo>
                      <a:pt x="128" y="134"/>
                    </a:lnTo>
                    <a:lnTo>
                      <a:pt x="134" y="136"/>
                    </a:lnTo>
                    <a:lnTo>
                      <a:pt x="136" y="136"/>
                    </a:lnTo>
                    <a:lnTo>
                      <a:pt x="134" y="134"/>
                    </a:lnTo>
                    <a:lnTo>
                      <a:pt x="136" y="132"/>
                    </a:lnTo>
                    <a:lnTo>
                      <a:pt x="138" y="130"/>
                    </a:lnTo>
                    <a:lnTo>
                      <a:pt x="140" y="130"/>
                    </a:lnTo>
                    <a:lnTo>
                      <a:pt x="148" y="132"/>
                    </a:lnTo>
                    <a:lnTo>
                      <a:pt x="150" y="132"/>
                    </a:lnTo>
                    <a:lnTo>
                      <a:pt x="150" y="130"/>
                    </a:lnTo>
                    <a:lnTo>
                      <a:pt x="154" y="128"/>
                    </a:lnTo>
                    <a:lnTo>
                      <a:pt x="154" y="126"/>
                    </a:lnTo>
                    <a:lnTo>
                      <a:pt x="156" y="124"/>
                    </a:lnTo>
                    <a:lnTo>
                      <a:pt x="156" y="124"/>
                    </a:lnTo>
                    <a:lnTo>
                      <a:pt x="156" y="122"/>
                    </a:lnTo>
                    <a:lnTo>
                      <a:pt x="164" y="122"/>
                    </a:lnTo>
                    <a:lnTo>
                      <a:pt x="164" y="116"/>
                    </a:lnTo>
                    <a:lnTo>
                      <a:pt x="164" y="112"/>
                    </a:lnTo>
                    <a:lnTo>
                      <a:pt x="154" y="96"/>
                    </a:lnTo>
                    <a:lnTo>
                      <a:pt x="158" y="94"/>
                    </a:lnTo>
                    <a:lnTo>
                      <a:pt x="158" y="90"/>
                    </a:lnTo>
                    <a:lnTo>
                      <a:pt x="158" y="88"/>
                    </a:lnTo>
                    <a:lnTo>
                      <a:pt x="166" y="86"/>
                    </a:lnTo>
                    <a:lnTo>
                      <a:pt x="168" y="86"/>
                    </a:lnTo>
                    <a:lnTo>
                      <a:pt x="170" y="84"/>
                    </a:lnTo>
                    <a:lnTo>
                      <a:pt x="170" y="82"/>
                    </a:lnTo>
                    <a:lnTo>
                      <a:pt x="168" y="80"/>
                    </a:lnTo>
                    <a:lnTo>
                      <a:pt x="166" y="80"/>
                    </a:lnTo>
                    <a:lnTo>
                      <a:pt x="164" y="76"/>
                    </a:lnTo>
                    <a:lnTo>
                      <a:pt x="162" y="74"/>
                    </a:lnTo>
                    <a:lnTo>
                      <a:pt x="160" y="70"/>
                    </a:lnTo>
                    <a:lnTo>
                      <a:pt x="160" y="68"/>
                    </a:lnTo>
                    <a:lnTo>
                      <a:pt x="162" y="68"/>
                    </a:lnTo>
                    <a:lnTo>
                      <a:pt x="166" y="68"/>
                    </a:lnTo>
                    <a:lnTo>
                      <a:pt x="172" y="64"/>
                    </a:lnTo>
                    <a:lnTo>
                      <a:pt x="174" y="62"/>
                    </a:lnTo>
                    <a:lnTo>
                      <a:pt x="176" y="54"/>
                    </a:lnTo>
                    <a:lnTo>
                      <a:pt x="174" y="52"/>
                    </a:lnTo>
                    <a:lnTo>
                      <a:pt x="168" y="54"/>
                    </a:lnTo>
                    <a:lnTo>
                      <a:pt x="166" y="54"/>
                    </a:lnTo>
                    <a:lnTo>
                      <a:pt x="164" y="54"/>
                    </a:lnTo>
                    <a:lnTo>
                      <a:pt x="160" y="54"/>
                    </a:lnTo>
                    <a:lnTo>
                      <a:pt x="158" y="56"/>
                    </a:lnTo>
                    <a:lnTo>
                      <a:pt x="146" y="58"/>
                    </a:lnTo>
                    <a:lnTo>
                      <a:pt x="148" y="54"/>
                    </a:lnTo>
                    <a:lnTo>
                      <a:pt x="162" y="50"/>
                    </a:lnTo>
                    <a:lnTo>
                      <a:pt x="162" y="46"/>
                    </a:lnTo>
                    <a:lnTo>
                      <a:pt x="164" y="42"/>
                    </a:lnTo>
                    <a:lnTo>
                      <a:pt x="164" y="40"/>
                    </a:lnTo>
                    <a:lnTo>
                      <a:pt x="164" y="38"/>
                    </a:lnTo>
                    <a:lnTo>
                      <a:pt x="156" y="38"/>
                    </a:lnTo>
                    <a:lnTo>
                      <a:pt x="158" y="40"/>
                    </a:lnTo>
                    <a:lnTo>
                      <a:pt x="156" y="38"/>
                    </a:lnTo>
                    <a:lnTo>
                      <a:pt x="156" y="38"/>
                    </a:lnTo>
                    <a:lnTo>
                      <a:pt x="152" y="34"/>
                    </a:lnTo>
                    <a:lnTo>
                      <a:pt x="150" y="38"/>
                    </a:lnTo>
                    <a:lnTo>
                      <a:pt x="148" y="38"/>
                    </a:lnTo>
                    <a:lnTo>
                      <a:pt x="144" y="32"/>
                    </a:lnTo>
                    <a:lnTo>
                      <a:pt x="142" y="26"/>
                    </a:lnTo>
                    <a:lnTo>
                      <a:pt x="146" y="26"/>
                    </a:lnTo>
                    <a:lnTo>
                      <a:pt x="150" y="26"/>
                    </a:lnTo>
                    <a:lnTo>
                      <a:pt x="150" y="24"/>
                    </a:lnTo>
                    <a:lnTo>
                      <a:pt x="150" y="22"/>
                    </a:lnTo>
                    <a:lnTo>
                      <a:pt x="130" y="22"/>
                    </a:lnTo>
                    <a:lnTo>
                      <a:pt x="132" y="26"/>
                    </a:lnTo>
                    <a:lnTo>
                      <a:pt x="126" y="24"/>
                    </a:lnTo>
                    <a:lnTo>
                      <a:pt x="126" y="26"/>
                    </a:lnTo>
                    <a:lnTo>
                      <a:pt x="120" y="28"/>
                    </a:lnTo>
                    <a:lnTo>
                      <a:pt x="120" y="30"/>
                    </a:lnTo>
                    <a:lnTo>
                      <a:pt x="112" y="32"/>
                    </a:lnTo>
                    <a:lnTo>
                      <a:pt x="104" y="30"/>
                    </a:lnTo>
                    <a:lnTo>
                      <a:pt x="98" y="28"/>
                    </a:lnTo>
                    <a:lnTo>
                      <a:pt x="98" y="26"/>
                    </a:lnTo>
                    <a:lnTo>
                      <a:pt x="96" y="24"/>
                    </a:lnTo>
                    <a:lnTo>
                      <a:pt x="94" y="22"/>
                    </a:lnTo>
                    <a:lnTo>
                      <a:pt x="86" y="22"/>
                    </a:lnTo>
                    <a:lnTo>
                      <a:pt x="78" y="24"/>
                    </a:lnTo>
                    <a:lnTo>
                      <a:pt x="76" y="26"/>
                    </a:lnTo>
                    <a:lnTo>
                      <a:pt x="74" y="26"/>
                    </a:lnTo>
                    <a:lnTo>
                      <a:pt x="70" y="24"/>
                    </a:lnTo>
                    <a:lnTo>
                      <a:pt x="74" y="20"/>
                    </a:lnTo>
                    <a:lnTo>
                      <a:pt x="68" y="12"/>
                    </a:lnTo>
                    <a:lnTo>
                      <a:pt x="66" y="12"/>
                    </a:lnTo>
                    <a:lnTo>
                      <a:pt x="64" y="10"/>
                    </a:lnTo>
                    <a:lnTo>
                      <a:pt x="58" y="10"/>
                    </a:lnTo>
                    <a:lnTo>
                      <a:pt x="52" y="8"/>
                    </a:lnTo>
                    <a:lnTo>
                      <a:pt x="50" y="4"/>
                    </a:lnTo>
                    <a:lnTo>
                      <a:pt x="48" y="0"/>
                    </a:lnTo>
                    <a:lnTo>
                      <a:pt x="46" y="0"/>
                    </a:lnTo>
                    <a:lnTo>
                      <a:pt x="44" y="0"/>
                    </a:lnTo>
                    <a:lnTo>
                      <a:pt x="44" y="6"/>
                    </a:lnTo>
                    <a:lnTo>
                      <a:pt x="50" y="8"/>
                    </a:lnTo>
                    <a:lnTo>
                      <a:pt x="52" y="12"/>
                    </a:lnTo>
                    <a:lnTo>
                      <a:pt x="40" y="14"/>
                    </a:lnTo>
                    <a:lnTo>
                      <a:pt x="32" y="16"/>
                    </a:lnTo>
                    <a:lnTo>
                      <a:pt x="32" y="28"/>
                    </a:lnTo>
                    <a:lnTo>
                      <a:pt x="32" y="30"/>
                    </a:lnTo>
                    <a:lnTo>
                      <a:pt x="36" y="34"/>
                    </a:lnTo>
                    <a:lnTo>
                      <a:pt x="36" y="36"/>
                    </a:lnTo>
                    <a:lnTo>
                      <a:pt x="36" y="40"/>
                    </a:lnTo>
                    <a:lnTo>
                      <a:pt x="38" y="46"/>
                    </a:lnTo>
                    <a:lnTo>
                      <a:pt x="32" y="48"/>
                    </a:lnTo>
                    <a:lnTo>
                      <a:pt x="28" y="48"/>
                    </a:lnTo>
                    <a:lnTo>
                      <a:pt x="28" y="46"/>
                    </a:lnTo>
                    <a:lnTo>
                      <a:pt x="26" y="46"/>
                    </a:lnTo>
                    <a:lnTo>
                      <a:pt x="24" y="40"/>
                    </a:lnTo>
                    <a:lnTo>
                      <a:pt x="22" y="36"/>
                    </a:lnTo>
                    <a:lnTo>
                      <a:pt x="22" y="32"/>
                    </a:lnTo>
                    <a:lnTo>
                      <a:pt x="26" y="28"/>
                    </a:lnTo>
                    <a:lnTo>
                      <a:pt x="30" y="26"/>
                    </a:lnTo>
                    <a:lnTo>
                      <a:pt x="30" y="22"/>
                    </a:lnTo>
                    <a:lnTo>
                      <a:pt x="28" y="20"/>
                    </a:lnTo>
                    <a:lnTo>
                      <a:pt x="26" y="20"/>
                    </a:lnTo>
                    <a:lnTo>
                      <a:pt x="26" y="18"/>
                    </a:lnTo>
                    <a:lnTo>
                      <a:pt x="28" y="16"/>
                    </a:lnTo>
                    <a:lnTo>
                      <a:pt x="26" y="14"/>
                    </a:lnTo>
                    <a:lnTo>
                      <a:pt x="22" y="14"/>
                    </a:lnTo>
                    <a:lnTo>
                      <a:pt x="22" y="12"/>
                    </a:lnTo>
                    <a:lnTo>
                      <a:pt x="24" y="8"/>
                    </a:lnTo>
                    <a:lnTo>
                      <a:pt x="28" y="8"/>
                    </a:lnTo>
                    <a:lnTo>
                      <a:pt x="28" y="4"/>
                    </a:lnTo>
                    <a:lnTo>
                      <a:pt x="28" y="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7" name="Freeform 23">
                <a:extLst>
                  <a:ext uri="{FF2B5EF4-FFF2-40B4-BE49-F238E27FC236}">
                    <a16:creationId xmlns:a16="http://schemas.microsoft.com/office/drawing/2014/main" id="{A3D01B8B-8FB5-4738-E1DF-0ED266DE6E1A}"/>
                  </a:ext>
                </a:extLst>
              </p:cNvPr>
              <p:cNvSpPr>
                <a:spLocks/>
              </p:cNvSpPr>
              <p:nvPr/>
            </p:nvSpPr>
            <p:spPr bwMode="auto">
              <a:xfrm>
                <a:off x="3792608" y="3570162"/>
                <a:ext cx="3890" cy="9607"/>
              </a:xfrm>
              <a:custGeom>
                <a:avLst/>
                <a:gdLst/>
                <a:ahLst/>
                <a:cxnLst>
                  <a:cxn ang="0">
                    <a:pos x="2" y="0"/>
                  </a:cxn>
                  <a:cxn ang="0">
                    <a:pos x="2" y="0"/>
                  </a:cxn>
                  <a:cxn ang="0">
                    <a:pos x="4" y="0"/>
                  </a:cxn>
                  <a:cxn ang="0">
                    <a:pos x="4" y="2"/>
                  </a:cxn>
                  <a:cxn ang="0">
                    <a:pos x="0" y="10"/>
                  </a:cxn>
                  <a:cxn ang="0">
                    <a:pos x="0" y="6"/>
                  </a:cxn>
                  <a:cxn ang="0">
                    <a:pos x="0" y="4"/>
                  </a:cxn>
                  <a:cxn ang="0">
                    <a:pos x="2" y="0"/>
                  </a:cxn>
                  <a:cxn ang="0">
                    <a:pos x="2" y="0"/>
                  </a:cxn>
                </a:cxnLst>
                <a:rect l="0" t="0" r="r" b="b"/>
                <a:pathLst>
                  <a:path w="4" h="10">
                    <a:moveTo>
                      <a:pt x="2" y="0"/>
                    </a:moveTo>
                    <a:lnTo>
                      <a:pt x="2" y="0"/>
                    </a:lnTo>
                    <a:lnTo>
                      <a:pt x="4" y="0"/>
                    </a:lnTo>
                    <a:lnTo>
                      <a:pt x="4" y="2"/>
                    </a:lnTo>
                    <a:lnTo>
                      <a:pt x="0" y="10"/>
                    </a:lnTo>
                    <a:lnTo>
                      <a:pt x="0" y="6"/>
                    </a:lnTo>
                    <a:lnTo>
                      <a:pt x="0" y="4"/>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2" name="Freeform 24">
                <a:extLst>
                  <a:ext uri="{FF2B5EF4-FFF2-40B4-BE49-F238E27FC236}">
                    <a16:creationId xmlns:a16="http://schemas.microsoft.com/office/drawing/2014/main" id="{76AE05B4-D965-9901-2787-BEFCCF9506AB}"/>
                  </a:ext>
                </a:extLst>
              </p:cNvPr>
              <p:cNvSpPr>
                <a:spLocks/>
              </p:cNvSpPr>
              <p:nvPr/>
            </p:nvSpPr>
            <p:spPr bwMode="auto">
              <a:xfrm>
                <a:off x="3792608" y="3570162"/>
                <a:ext cx="3890" cy="9607"/>
              </a:xfrm>
              <a:custGeom>
                <a:avLst/>
                <a:gdLst/>
                <a:ahLst/>
                <a:cxnLst>
                  <a:cxn ang="0">
                    <a:pos x="2" y="0"/>
                  </a:cxn>
                  <a:cxn ang="0">
                    <a:pos x="2" y="0"/>
                  </a:cxn>
                  <a:cxn ang="0">
                    <a:pos x="4" y="0"/>
                  </a:cxn>
                  <a:cxn ang="0">
                    <a:pos x="4" y="2"/>
                  </a:cxn>
                  <a:cxn ang="0">
                    <a:pos x="0" y="10"/>
                  </a:cxn>
                  <a:cxn ang="0">
                    <a:pos x="0" y="6"/>
                  </a:cxn>
                  <a:cxn ang="0">
                    <a:pos x="0" y="4"/>
                  </a:cxn>
                  <a:cxn ang="0">
                    <a:pos x="2" y="0"/>
                  </a:cxn>
                  <a:cxn ang="0">
                    <a:pos x="2" y="0"/>
                  </a:cxn>
                </a:cxnLst>
                <a:rect l="0" t="0" r="r" b="b"/>
                <a:pathLst>
                  <a:path w="4" h="10">
                    <a:moveTo>
                      <a:pt x="2" y="0"/>
                    </a:moveTo>
                    <a:lnTo>
                      <a:pt x="2" y="0"/>
                    </a:lnTo>
                    <a:lnTo>
                      <a:pt x="4" y="0"/>
                    </a:lnTo>
                    <a:lnTo>
                      <a:pt x="4" y="2"/>
                    </a:lnTo>
                    <a:lnTo>
                      <a:pt x="0" y="10"/>
                    </a:lnTo>
                    <a:lnTo>
                      <a:pt x="0" y="6"/>
                    </a:lnTo>
                    <a:lnTo>
                      <a:pt x="0" y="4"/>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3" name="Freeform 25">
                <a:extLst>
                  <a:ext uri="{FF2B5EF4-FFF2-40B4-BE49-F238E27FC236}">
                    <a16:creationId xmlns:a16="http://schemas.microsoft.com/office/drawing/2014/main" id="{D899DF30-D06A-25AF-2D42-E5A04C9B4E85}"/>
                  </a:ext>
                </a:extLst>
              </p:cNvPr>
              <p:cNvSpPr>
                <a:spLocks/>
              </p:cNvSpPr>
              <p:nvPr/>
            </p:nvSpPr>
            <p:spPr bwMode="auto">
              <a:xfrm>
                <a:off x="3915123" y="3533657"/>
                <a:ext cx="1944" cy="9607"/>
              </a:xfrm>
              <a:custGeom>
                <a:avLst/>
                <a:gdLst/>
                <a:ahLst/>
                <a:cxnLst>
                  <a:cxn ang="0">
                    <a:pos x="2" y="0"/>
                  </a:cxn>
                  <a:cxn ang="0">
                    <a:pos x="2" y="0"/>
                  </a:cxn>
                  <a:cxn ang="0">
                    <a:pos x="2" y="10"/>
                  </a:cxn>
                  <a:cxn ang="0">
                    <a:pos x="0" y="10"/>
                  </a:cxn>
                  <a:cxn ang="0">
                    <a:pos x="0" y="4"/>
                  </a:cxn>
                  <a:cxn ang="0">
                    <a:pos x="2" y="0"/>
                  </a:cxn>
                  <a:cxn ang="0">
                    <a:pos x="2" y="0"/>
                  </a:cxn>
                </a:cxnLst>
                <a:rect l="0" t="0" r="r" b="b"/>
                <a:pathLst>
                  <a:path w="2" h="10">
                    <a:moveTo>
                      <a:pt x="2" y="0"/>
                    </a:moveTo>
                    <a:lnTo>
                      <a:pt x="2" y="0"/>
                    </a:lnTo>
                    <a:lnTo>
                      <a:pt x="2" y="10"/>
                    </a:lnTo>
                    <a:lnTo>
                      <a:pt x="0" y="10"/>
                    </a:lnTo>
                    <a:lnTo>
                      <a:pt x="0" y="4"/>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4" name="Freeform 26">
                <a:extLst>
                  <a:ext uri="{FF2B5EF4-FFF2-40B4-BE49-F238E27FC236}">
                    <a16:creationId xmlns:a16="http://schemas.microsoft.com/office/drawing/2014/main" id="{F8C7451E-F738-7FA4-18A5-384C3927538A}"/>
                  </a:ext>
                </a:extLst>
              </p:cNvPr>
              <p:cNvSpPr>
                <a:spLocks/>
              </p:cNvSpPr>
              <p:nvPr/>
            </p:nvSpPr>
            <p:spPr bwMode="auto">
              <a:xfrm>
                <a:off x="3915123" y="3533657"/>
                <a:ext cx="1944" cy="9607"/>
              </a:xfrm>
              <a:custGeom>
                <a:avLst/>
                <a:gdLst/>
                <a:ahLst/>
                <a:cxnLst>
                  <a:cxn ang="0">
                    <a:pos x="2" y="0"/>
                  </a:cxn>
                  <a:cxn ang="0">
                    <a:pos x="2" y="0"/>
                  </a:cxn>
                  <a:cxn ang="0">
                    <a:pos x="2" y="10"/>
                  </a:cxn>
                  <a:cxn ang="0">
                    <a:pos x="0" y="10"/>
                  </a:cxn>
                  <a:cxn ang="0">
                    <a:pos x="0" y="4"/>
                  </a:cxn>
                  <a:cxn ang="0">
                    <a:pos x="2" y="0"/>
                  </a:cxn>
                  <a:cxn ang="0">
                    <a:pos x="2" y="0"/>
                  </a:cxn>
                </a:cxnLst>
                <a:rect l="0" t="0" r="r" b="b"/>
                <a:pathLst>
                  <a:path w="2" h="10">
                    <a:moveTo>
                      <a:pt x="2" y="0"/>
                    </a:moveTo>
                    <a:lnTo>
                      <a:pt x="2" y="0"/>
                    </a:lnTo>
                    <a:lnTo>
                      <a:pt x="2" y="10"/>
                    </a:lnTo>
                    <a:lnTo>
                      <a:pt x="0" y="10"/>
                    </a:lnTo>
                    <a:lnTo>
                      <a:pt x="0" y="4"/>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5" name="Freeform 27">
                <a:extLst>
                  <a:ext uri="{FF2B5EF4-FFF2-40B4-BE49-F238E27FC236}">
                    <a16:creationId xmlns:a16="http://schemas.microsoft.com/office/drawing/2014/main" id="{3E5B84FC-655B-5BCB-1954-D749638FC37C}"/>
                  </a:ext>
                </a:extLst>
              </p:cNvPr>
              <p:cNvSpPr>
                <a:spLocks/>
              </p:cNvSpPr>
              <p:nvPr/>
            </p:nvSpPr>
            <p:spPr bwMode="auto">
              <a:xfrm>
                <a:off x="3681760" y="3785356"/>
                <a:ext cx="1944" cy="7686"/>
              </a:xfrm>
              <a:custGeom>
                <a:avLst/>
                <a:gdLst/>
                <a:ahLst/>
                <a:cxnLst>
                  <a:cxn ang="0">
                    <a:pos x="0" y="0"/>
                  </a:cxn>
                  <a:cxn ang="0">
                    <a:pos x="0" y="0"/>
                  </a:cxn>
                  <a:cxn ang="0">
                    <a:pos x="2" y="6"/>
                  </a:cxn>
                  <a:cxn ang="0">
                    <a:pos x="0" y="6"/>
                  </a:cxn>
                  <a:cxn ang="0">
                    <a:pos x="0" y="8"/>
                  </a:cxn>
                  <a:cxn ang="0">
                    <a:pos x="0" y="2"/>
                  </a:cxn>
                  <a:cxn ang="0">
                    <a:pos x="0" y="0"/>
                  </a:cxn>
                  <a:cxn ang="0">
                    <a:pos x="0" y="0"/>
                  </a:cxn>
                </a:cxnLst>
                <a:rect l="0" t="0" r="r" b="b"/>
                <a:pathLst>
                  <a:path w="2" h="8">
                    <a:moveTo>
                      <a:pt x="0" y="0"/>
                    </a:moveTo>
                    <a:lnTo>
                      <a:pt x="0" y="0"/>
                    </a:lnTo>
                    <a:lnTo>
                      <a:pt x="2" y="6"/>
                    </a:lnTo>
                    <a:lnTo>
                      <a:pt x="0" y="6"/>
                    </a:lnTo>
                    <a:lnTo>
                      <a:pt x="0" y="8"/>
                    </a:lnTo>
                    <a:lnTo>
                      <a:pt x="0" y="2"/>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8" name="Freeform 28">
                <a:extLst>
                  <a:ext uri="{FF2B5EF4-FFF2-40B4-BE49-F238E27FC236}">
                    <a16:creationId xmlns:a16="http://schemas.microsoft.com/office/drawing/2014/main" id="{DCD23D34-1B14-0F25-0C2D-74ECBA6CAB2B}"/>
                  </a:ext>
                </a:extLst>
              </p:cNvPr>
              <p:cNvSpPr>
                <a:spLocks/>
              </p:cNvSpPr>
              <p:nvPr/>
            </p:nvSpPr>
            <p:spPr bwMode="auto">
              <a:xfrm>
                <a:off x="3681760" y="3785356"/>
                <a:ext cx="1944" cy="7686"/>
              </a:xfrm>
              <a:custGeom>
                <a:avLst/>
                <a:gdLst/>
                <a:ahLst/>
                <a:cxnLst>
                  <a:cxn ang="0">
                    <a:pos x="0" y="0"/>
                  </a:cxn>
                  <a:cxn ang="0">
                    <a:pos x="0" y="0"/>
                  </a:cxn>
                  <a:cxn ang="0">
                    <a:pos x="2" y="6"/>
                  </a:cxn>
                  <a:cxn ang="0">
                    <a:pos x="0" y="6"/>
                  </a:cxn>
                  <a:cxn ang="0">
                    <a:pos x="0" y="8"/>
                  </a:cxn>
                  <a:cxn ang="0">
                    <a:pos x="0" y="2"/>
                  </a:cxn>
                  <a:cxn ang="0">
                    <a:pos x="0" y="0"/>
                  </a:cxn>
                  <a:cxn ang="0">
                    <a:pos x="0" y="0"/>
                  </a:cxn>
                </a:cxnLst>
                <a:rect l="0" t="0" r="r" b="b"/>
                <a:pathLst>
                  <a:path w="2" h="8">
                    <a:moveTo>
                      <a:pt x="0" y="0"/>
                    </a:moveTo>
                    <a:lnTo>
                      <a:pt x="0" y="0"/>
                    </a:lnTo>
                    <a:lnTo>
                      <a:pt x="2" y="6"/>
                    </a:lnTo>
                    <a:lnTo>
                      <a:pt x="0" y="6"/>
                    </a:lnTo>
                    <a:lnTo>
                      <a:pt x="0" y="8"/>
                    </a:lnTo>
                    <a:lnTo>
                      <a:pt x="0" y="2"/>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9" name="Freeform 29">
                <a:extLst>
                  <a:ext uri="{FF2B5EF4-FFF2-40B4-BE49-F238E27FC236}">
                    <a16:creationId xmlns:a16="http://schemas.microsoft.com/office/drawing/2014/main" id="{D41CFE55-8765-0039-EC11-70AD421D5586}"/>
                  </a:ext>
                </a:extLst>
              </p:cNvPr>
              <p:cNvSpPr>
                <a:spLocks/>
              </p:cNvSpPr>
              <p:nvPr/>
            </p:nvSpPr>
            <p:spPr bwMode="auto">
              <a:xfrm>
                <a:off x="3683705" y="3794963"/>
                <a:ext cx="3890" cy="1921"/>
              </a:xfrm>
              <a:custGeom>
                <a:avLst/>
                <a:gdLst/>
                <a:ahLst/>
                <a:cxnLst>
                  <a:cxn ang="0">
                    <a:pos x="0" y="0"/>
                  </a:cxn>
                  <a:cxn ang="0">
                    <a:pos x="0" y="2"/>
                  </a:cxn>
                  <a:cxn ang="0">
                    <a:pos x="4" y="2"/>
                  </a:cxn>
                  <a:cxn ang="0">
                    <a:pos x="4" y="0"/>
                  </a:cxn>
                  <a:cxn ang="0">
                    <a:pos x="0" y="0"/>
                  </a:cxn>
                  <a:cxn ang="0">
                    <a:pos x="0" y="0"/>
                  </a:cxn>
                </a:cxnLst>
                <a:rect l="0" t="0" r="r" b="b"/>
                <a:pathLst>
                  <a:path w="4" h="2">
                    <a:moveTo>
                      <a:pt x="0" y="0"/>
                    </a:moveTo>
                    <a:lnTo>
                      <a:pt x="0" y="2"/>
                    </a:lnTo>
                    <a:lnTo>
                      <a:pt x="4" y="2"/>
                    </a:lnTo>
                    <a:lnTo>
                      <a:pt x="4" y="0"/>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0" name="Freeform 30">
                <a:extLst>
                  <a:ext uri="{FF2B5EF4-FFF2-40B4-BE49-F238E27FC236}">
                    <a16:creationId xmlns:a16="http://schemas.microsoft.com/office/drawing/2014/main" id="{3BBC90C1-5CAC-AC9A-1254-FBAFFCF0B2E5}"/>
                  </a:ext>
                </a:extLst>
              </p:cNvPr>
              <p:cNvSpPr>
                <a:spLocks/>
              </p:cNvSpPr>
              <p:nvPr/>
            </p:nvSpPr>
            <p:spPr bwMode="auto">
              <a:xfrm>
                <a:off x="3683705" y="3794963"/>
                <a:ext cx="3890" cy="1921"/>
              </a:xfrm>
              <a:custGeom>
                <a:avLst/>
                <a:gdLst/>
                <a:ahLst/>
                <a:cxnLst>
                  <a:cxn ang="0">
                    <a:pos x="4" y="0"/>
                  </a:cxn>
                  <a:cxn ang="0">
                    <a:pos x="4" y="2"/>
                  </a:cxn>
                  <a:cxn ang="0">
                    <a:pos x="0" y="2"/>
                  </a:cxn>
                  <a:cxn ang="0">
                    <a:pos x="0" y="0"/>
                  </a:cxn>
                  <a:cxn ang="0">
                    <a:pos x="4" y="0"/>
                  </a:cxn>
                  <a:cxn ang="0">
                    <a:pos x="4" y="0"/>
                  </a:cxn>
                </a:cxnLst>
                <a:rect l="0" t="0" r="r" b="b"/>
                <a:pathLst>
                  <a:path w="4" h="2">
                    <a:moveTo>
                      <a:pt x="4" y="0"/>
                    </a:moveTo>
                    <a:lnTo>
                      <a:pt x="4" y="2"/>
                    </a:lnTo>
                    <a:lnTo>
                      <a:pt x="0" y="2"/>
                    </a:lnTo>
                    <a:lnTo>
                      <a:pt x="0" y="0"/>
                    </a:lnTo>
                    <a:lnTo>
                      <a:pt x="4" y="0"/>
                    </a:lnTo>
                    <a:lnTo>
                      <a:pt x="4"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1" name="Freeform 31">
                <a:extLst>
                  <a:ext uri="{FF2B5EF4-FFF2-40B4-BE49-F238E27FC236}">
                    <a16:creationId xmlns:a16="http://schemas.microsoft.com/office/drawing/2014/main" id="{66AED9DA-8733-7F04-4667-B874B6B619BB}"/>
                  </a:ext>
                </a:extLst>
              </p:cNvPr>
              <p:cNvSpPr>
                <a:spLocks/>
              </p:cNvSpPr>
              <p:nvPr/>
            </p:nvSpPr>
            <p:spPr bwMode="auto">
              <a:xfrm>
                <a:off x="4099869" y="4738356"/>
                <a:ext cx="66120" cy="78776"/>
              </a:xfrm>
              <a:custGeom>
                <a:avLst/>
                <a:gdLst/>
                <a:ahLst/>
                <a:cxnLst>
                  <a:cxn ang="0">
                    <a:pos x="62" y="56"/>
                  </a:cxn>
                  <a:cxn ang="0">
                    <a:pos x="62" y="54"/>
                  </a:cxn>
                  <a:cxn ang="0">
                    <a:pos x="68" y="46"/>
                  </a:cxn>
                  <a:cxn ang="0">
                    <a:pos x="66" y="46"/>
                  </a:cxn>
                  <a:cxn ang="0">
                    <a:pos x="62" y="42"/>
                  </a:cxn>
                  <a:cxn ang="0">
                    <a:pos x="60" y="38"/>
                  </a:cxn>
                  <a:cxn ang="0">
                    <a:pos x="58" y="34"/>
                  </a:cxn>
                  <a:cxn ang="0">
                    <a:pos x="56" y="32"/>
                  </a:cxn>
                  <a:cxn ang="0">
                    <a:pos x="54" y="30"/>
                  </a:cxn>
                  <a:cxn ang="0">
                    <a:pos x="48" y="28"/>
                  </a:cxn>
                  <a:cxn ang="0">
                    <a:pos x="44" y="24"/>
                  </a:cxn>
                  <a:cxn ang="0">
                    <a:pos x="40" y="20"/>
                  </a:cxn>
                  <a:cxn ang="0">
                    <a:pos x="38" y="18"/>
                  </a:cxn>
                  <a:cxn ang="0">
                    <a:pos x="36" y="18"/>
                  </a:cxn>
                  <a:cxn ang="0">
                    <a:pos x="34" y="18"/>
                  </a:cxn>
                  <a:cxn ang="0">
                    <a:pos x="32" y="16"/>
                  </a:cxn>
                  <a:cxn ang="0">
                    <a:pos x="28" y="8"/>
                  </a:cxn>
                  <a:cxn ang="0">
                    <a:pos x="18" y="0"/>
                  </a:cxn>
                  <a:cxn ang="0">
                    <a:pos x="10" y="4"/>
                  </a:cxn>
                  <a:cxn ang="0">
                    <a:pos x="8" y="6"/>
                  </a:cxn>
                  <a:cxn ang="0">
                    <a:pos x="6" y="10"/>
                  </a:cxn>
                  <a:cxn ang="0">
                    <a:pos x="6" y="14"/>
                  </a:cxn>
                  <a:cxn ang="0">
                    <a:pos x="6" y="18"/>
                  </a:cxn>
                  <a:cxn ang="0">
                    <a:pos x="4" y="20"/>
                  </a:cxn>
                  <a:cxn ang="0">
                    <a:pos x="4" y="22"/>
                  </a:cxn>
                  <a:cxn ang="0">
                    <a:pos x="2" y="24"/>
                  </a:cxn>
                  <a:cxn ang="0">
                    <a:pos x="2" y="28"/>
                  </a:cxn>
                  <a:cxn ang="0">
                    <a:pos x="2" y="32"/>
                  </a:cxn>
                  <a:cxn ang="0">
                    <a:pos x="0" y="34"/>
                  </a:cxn>
                  <a:cxn ang="0">
                    <a:pos x="0" y="36"/>
                  </a:cxn>
                  <a:cxn ang="0">
                    <a:pos x="0" y="44"/>
                  </a:cxn>
                  <a:cxn ang="0">
                    <a:pos x="0" y="48"/>
                  </a:cxn>
                  <a:cxn ang="0">
                    <a:pos x="0" y="58"/>
                  </a:cxn>
                  <a:cxn ang="0">
                    <a:pos x="0" y="64"/>
                  </a:cxn>
                  <a:cxn ang="0">
                    <a:pos x="2" y="70"/>
                  </a:cxn>
                  <a:cxn ang="0">
                    <a:pos x="4" y="70"/>
                  </a:cxn>
                  <a:cxn ang="0">
                    <a:pos x="8" y="72"/>
                  </a:cxn>
                  <a:cxn ang="0">
                    <a:pos x="12" y="72"/>
                  </a:cxn>
                  <a:cxn ang="0">
                    <a:pos x="16" y="78"/>
                  </a:cxn>
                  <a:cxn ang="0">
                    <a:pos x="16" y="78"/>
                  </a:cxn>
                  <a:cxn ang="0">
                    <a:pos x="22" y="80"/>
                  </a:cxn>
                  <a:cxn ang="0">
                    <a:pos x="22" y="82"/>
                  </a:cxn>
                  <a:cxn ang="0">
                    <a:pos x="28" y="80"/>
                  </a:cxn>
                  <a:cxn ang="0">
                    <a:pos x="30" y="80"/>
                  </a:cxn>
                  <a:cxn ang="0">
                    <a:pos x="36" y="80"/>
                  </a:cxn>
                  <a:cxn ang="0">
                    <a:pos x="38" y="82"/>
                  </a:cxn>
                  <a:cxn ang="0">
                    <a:pos x="48" y="80"/>
                  </a:cxn>
                  <a:cxn ang="0">
                    <a:pos x="56" y="76"/>
                  </a:cxn>
                  <a:cxn ang="0">
                    <a:pos x="56" y="74"/>
                  </a:cxn>
                  <a:cxn ang="0">
                    <a:pos x="60" y="68"/>
                  </a:cxn>
                  <a:cxn ang="0">
                    <a:pos x="62" y="62"/>
                  </a:cxn>
                  <a:cxn ang="0">
                    <a:pos x="64" y="58"/>
                  </a:cxn>
                  <a:cxn ang="0">
                    <a:pos x="62" y="56"/>
                  </a:cxn>
                  <a:cxn ang="0">
                    <a:pos x="62" y="56"/>
                  </a:cxn>
                </a:cxnLst>
                <a:rect l="0" t="0" r="r" b="b"/>
                <a:pathLst>
                  <a:path w="68" h="82">
                    <a:moveTo>
                      <a:pt x="62" y="56"/>
                    </a:moveTo>
                    <a:lnTo>
                      <a:pt x="62" y="54"/>
                    </a:lnTo>
                    <a:lnTo>
                      <a:pt x="68" y="46"/>
                    </a:lnTo>
                    <a:lnTo>
                      <a:pt x="66" y="46"/>
                    </a:lnTo>
                    <a:lnTo>
                      <a:pt x="62" y="42"/>
                    </a:lnTo>
                    <a:lnTo>
                      <a:pt x="60" y="38"/>
                    </a:lnTo>
                    <a:lnTo>
                      <a:pt x="58" y="34"/>
                    </a:lnTo>
                    <a:lnTo>
                      <a:pt x="56" y="32"/>
                    </a:lnTo>
                    <a:lnTo>
                      <a:pt x="54" y="30"/>
                    </a:lnTo>
                    <a:lnTo>
                      <a:pt x="48" y="28"/>
                    </a:lnTo>
                    <a:lnTo>
                      <a:pt x="44" y="24"/>
                    </a:lnTo>
                    <a:lnTo>
                      <a:pt x="40" y="20"/>
                    </a:lnTo>
                    <a:lnTo>
                      <a:pt x="38" y="18"/>
                    </a:lnTo>
                    <a:lnTo>
                      <a:pt x="36" y="18"/>
                    </a:lnTo>
                    <a:lnTo>
                      <a:pt x="34" y="18"/>
                    </a:lnTo>
                    <a:lnTo>
                      <a:pt x="32" y="16"/>
                    </a:lnTo>
                    <a:lnTo>
                      <a:pt x="28" y="8"/>
                    </a:lnTo>
                    <a:lnTo>
                      <a:pt x="18" y="0"/>
                    </a:lnTo>
                    <a:lnTo>
                      <a:pt x="10" y="4"/>
                    </a:lnTo>
                    <a:lnTo>
                      <a:pt x="8" y="6"/>
                    </a:lnTo>
                    <a:lnTo>
                      <a:pt x="6" y="10"/>
                    </a:lnTo>
                    <a:lnTo>
                      <a:pt x="6" y="14"/>
                    </a:lnTo>
                    <a:lnTo>
                      <a:pt x="6" y="18"/>
                    </a:lnTo>
                    <a:lnTo>
                      <a:pt x="4" y="20"/>
                    </a:lnTo>
                    <a:lnTo>
                      <a:pt x="4" y="22"/>
                    </a:lnTo>
                    <a:lnTo>
                      <a:pt x="2" y="24"/>
                    </a:lnTo>
                    <a:lnTo>
                      <a:pt x="2" y="28"/>
                    </a:lnTo>
                    <a:lnTo>
                      <a:pt x="2" y="32"/>
                    </a:lnTo>
                    <a:lnTo>
                      <a:pt x="0" y="34"/>
                    </a:lnTo>
                    <a:lnTo>
                      <a:pt x="0" y="36"/>
                    </a:lnTo>
                    <a:lnTo>
                      <a:pt x="0" y="44"/>
                    </a:lnTo>
                    <a:lnTo>
                      <a:pt x="0" y="48"/>
                    </a:lnTo>
                    <a:lnTo>
                      <a:pt x="0" y="58"/>
                    </a:lnTo>
                    <a:lnTo>
                      <a:pt x="0" y="64"/>
                    </a:lnTo>
                    <a:lnTo>
                      <a:pt x="2" y="70"/>
                    </a:lnTo>
                    <a:lnTo>
                      <a:pt x="4" y="70"/>
                    </a:lnTo>
                    <a:lnTo>
                      <a:pt x="8" y="72"/>
                    </a:lnTo>
                    <a:lnTo>
                      <a:pt x="12" y="72"/>
                    </a:lnTo>
                    <a:lnTo>
                      <a:pt x="16" y="78"/>
                    </a:lnTo>
                    <a:lnTo>
                      <a:pt x="16" y="78"/>
                    </a:lnTo>
                    <a:lnTo>
                      <a:pt x="22" y="80"/>
                    </a:lnTo>
                    <a:lnTo>
                      <a:pt x="22" y="82"/>
                    </a:lnTo>
                    <a:lnTo>
                      <a:pt x="28" y="80"/>
                    </a:lnTo>
                    <a:lnTo>
                      <a:pt x="30" y="80"/>
                    </a:lnTo>
                    <a:lnTo>
                      <a:pt x="36" y="80"/>
                    </a:lnTo>
                    <a:lnTo>
                      <a:pt x="38" y="82"/>
                    </a:lnTo>
                    <a:lnTo>
                      <a:pt x="48" y="80"/>
                    </a:lnTo>
                    <a:lnTo>
                      <a:pt x="56" y="76"/>
                    </a:lnTo>
                    <a:lnTo>
                      <a:pt x="56" y="74"/>
                    </a:lnTo>
                    <a:lnTo>
                      <a:pt x="60" y="68"/>
                    </a:lnTo>
                    <a:lnTo>
                      <a:pt x="62" y="62"/>
                    </a:lnTo>
                    <a:lnTo>
                      <a:pt x="64" y="58"/>
                    </a:lnTo>
                    <a:lnTo>
                      <a:pt x="62" y="56"/>
                    </a:lnTo>
                    <a:lnTo>
                      <a:pt x="62" y="5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2" name="Freeform 32">
                <a:extLst>
                  <a:ext uri="{FF2B5EF4-FFF2-40B4-BE49-F238E27FC236}">
                    <a16:creationId xmlns:a16="http://schemas.microsoft.com/office/drawing/2014/main" id="{82E84724-0B3D-AA60-A81F-1C9414875721}"/>
                  </a:ext>
                </a:extLst>
              </p:cNvPr>
              <p:cNvSpPr>
                <a:spLocks/>
              </p:cNvSpPr>
              <p:nvPr/>
            </p:nvSpPr>
            <p:spPr bwMode="auto">
              <a:xfrm>
                <a:off x="5478658" y="3860290"/>
                <a:ext cx="68064" cy="44191"/>
              </a:xfrm>
              <a:custGeom>
                <a:avLst/>
                <a:gdLst/>
                <a:ahLst/>
                <a:cxnLst>
                  <a:cxn ang="0">
                    <a:pos x="70" y="14"/>
                  </a:cxn>
                  <a:cxn ang="0">
                    <a:pos x="70" y="14"/>
                  </a:cxn>
                  <a:cxn ang="0">
                    <a:pos x="68" y="6"/>
                  </a:cxn>
                  <a:cxn ang="0">
                    <a:pos x="64" y="6"/>
                  </a:cxn>
                  <a:cxn ang="0">
                    <a:pos x="66" y="0"/>
                  </a:cxn>
                  <a:cxn ang="0">
                    <a:pos x="64" y="0"/>
                  </a:cxn>
                  <a:cxn ang="0">
                    <a:pos x="60" y="4"/>
                  </a:cxn>
                  <a:cxn ang="0">
                    <a:pos x="56" y="6"/>
                  </a:cxn>
                  <a:cxn ang="0">
                    <a:pos x="52" y="12"/>
                  </a:cxn>
                  <a:cxn ang="0">
                    <a:pos x="48" y="16"/>
                  </a:cxn>
                  <a:cxn ang="0">
                    <a:pos x="40" y="22"/>
                  </a:cxn>
                  <a:cxn ang="0">
                    <a:pos x="38" y="24"/>
                  </a:cxn>
                  <a:cxn ang="0">
                    <a:pos x="36" y="24"/>
                  </a:cxn>
                  <a:cxn ang="0">
                    <a:pos x="36" y="28"/>
                  </a:cxn>
                  <a:cxn ang="0">
                    <a:pos x="32" y="26"/>
                  </a:cxn>
                  <a:cxn ang="0">
                    <a:pos x="28" y="24"/>
                  </a:cxn>
                  <a:cxn ang="0">
                    <a:pos x="24" y="22"/>
                  </a:cxn>
                  <a:cxn ang="0">
                    <a:pos x="20" y="22"/>
                  </a:cxn>
                  <a:cxn ang="0">
                    <a:pos x="20" y="24"/>
                  </a:cxn>
                  <a:cxn ang="0">
                    <a:pos x="18" y="26"/>
                  </a:cxn>
                  <a:cxn ang="0">
                    <a:pos x="14" y="26"/>
                  </a:cxn>
                  <a:cxn ang="0">
                    <a:pos x="10" y="24"/>
                  </a:cxn>
                  <a:cxn ang="0">
                    <a:pos x="8" y="22"/>
                  </a:cxn>
                  <a:cxn ang="0">
                    <a:pos x="4" y="20"/>
                  </a:cxn>
                  <a:cxn ang="0">
                    <a:pos x="6" y="14"/>
                  </a:cxn>
                  <a:cxn ang="0">
                    <a:pos x="0" y="12"/>
                  </a:cxn>
                  <a:cxn ang="0">
                    <a:pos x="0" y="18"/>
                  </a:cxn>
                  <a:cxn ang="0">
                    <a:pos x="8" y="26"/>
                  </a:cxn>
                  <a:cxn ang="0">
                    <a:pos x="8" y="38"/>
                  </a:cxn>
                  <a:cxn ang="0">
                    <a:pos x="50" y="46"/>
                  </a:cxn>
                  <a:cxn ang="0">
                    <a:pos x="54" y="46"/>
                  </a:cxn>
                  <a:cxn ang="0">
                    <a:pos x="56" y="42"/>
                  </a:cxn>
                  <a:cxn ang="0">
                    <a:pos x="58" y="36"/>
                  </a:cxn>
                  <a:cxn ang="0">
                    <a:pos x="60" y="34"/>
                  </a:cxn>
                  <a:cxn ang="0">
                    <a:pos x="60" y="30"/>
                  </a:cxn>
                  <a:cxn ang="0">
                    <a:pos x="60" y="26"/>
                  </a:cxn>
                  <a:cxn ang="0">
                    <a:pos x="58" y="26"/>
                  </a:cxn>
                  <a:cxn ang="0">
                    <a:pos x="60" y="22"/>
                  </a:cxn>
                  <a:cxn ang="0">
                    <a:pos x="64" y="20"/>
                  </a:cxn>
                  <a:cxn ang="0">
                    <a:pos x="62" y="18"/>
                  </a:cxn>
                  <a:cxn ang="0">
                    <a:pos x="60" y="16"/>
                  </a:cxn>
                  <a:cxn ang="0">
                    <a:pos x="60" y="12"/>
                  </a:cxn>
                  <a:cxn ang="0">
                    <a:pos x="62" y="12"/>
                  </a:cxn>
                  <a:cxn ang="0">
                    <a:pos x="64" y="16"/>
                  </a:cxn>
                  <a:cxn ang="0">
                    <a:pos x="66" y="16"/>
                  </a:cxn>
                  <a:cxn ang="0">
                    <a:pos x="68" y="14"/>
                  </a:cxn>
                  <a:cxn ang="0">
                    <a:pos x="70" y="12"/>
                  </a:cxn>
                  <a:cxn ang="0">
                    <a:pos x="70" y="14"/>
                  </a:cxn>
                  <a:cxn ang="0">
                    <a:pos x="70" y="14"/>
                  </a:cxn>
                </a:cxnLst>
                <a:rect l="0" t="0" r="r" b="b"/>
                <a:pathLst>
                  <a:path w="70" h="46">
                    <a:moveTo>
                      <a:pt x="70" y="14"/>
                    </a:moveTo>
                    <a:lnTo>
                      <a:pt x="70" y="14"/>
                    </a:lnTo>
                    <a:lnTo>
                      <a:pt x="68" y="6"/>
                    </a:lnTo>
                    <a:lnTo>
                      <a:pt x="64" y="6"/>
                    </a:lnTo>
                    <a:lnTo>
                      <a:pt x="66" y="0"/>
                    </a:lnTo>
                    <a:lnTo>
                      <a:pt x="64" y="0"/>
                    </a:lnTo>
                    <a:lnTo>
                      <a:pt x="60" y="4"/>
                    </a:lnTo>
                    <a:lnTo>
                      <a:pt x="56" y="6"/>
                    </a:lnTo>
                    <a:lnTo>
                      <a:pt x="52" y="12"/>
                    </a:lnTo>
                    <a:lnTo>
                      <a:pt x="48" y="16"/>
                    </a:lnTo>
                    <a:lnTo>
                      <a:pt x="40" y="22"/>
                    </a:lnTo>
                    <a:lnTo>
                      <a:pt x="38" y="24"/>
                    </a:lnTo>
                    <a:lnTo>
                      <a:pt x="36" y="24"/>
                    </a:lnTo>
                    <a:lnTo>
                      <a:pt x="36" y="28"/>
                    </a:lnTo>
                    <a:lnTo>
                      <a:pt x="32" y="26"/>
                    </a:lnTo>
                    <a:lnTo>
                      <a:pt x="28" y="24"/>
                    </a:lnTo>
                    <a:lnTo>
                      <a:pt x="24" y="22"/>
                    </a:lnTo>
                    <a:lnTo>
                      <a:pt x="20" y="22"/>
                    </a:lnTo>
                    <a:lnTo>
                      <a:pt x="20" y="24"/>
                    </a:lnTo>
                    <a:lnTo>
                      <a:pt x="18" y="26"/>
                    </a:lnTo>
                    <a:lnTo>
                      <a:pt x="14" y="26"/>
                    </a:lnTo>
                    <a:lnTo>
                      <a:pt x="10" y="24"/>
                    </a:lnTo>
                    <a:lnTo>
                      <a:pt x="8" y="22"/>
                    </a:lnTo>
                    <a:lnTo>
                      <a:pt x="4" y="20"/>
                    </a:lnTo>
                    <a:lnTo>
                      <a:pt x="6" y="14"/>
                    </a:lnTo>
                    <a:lnTo>
                      <a:pt x="0" y="12"/>
                    </a:lnTo>
                    <a:lnTo>
                      <a:pt x="0" y="18"/>
                    </a:lnTo>
                    <a:lnTo>
                      <a:pt x="8" y="26"/>
                    </a:lnTo>
                    <a:lnTo>
                      <a:pt x="8" y="38"/>
                    </a:lnTo>
                    <a:lnTo>
                      <a:pt x="50" y="46"/>
                    </a:lnTo>
                    <a:lnTo>
                      <a:pt x="54" y="46"/>
                    </a:lnTo>
                    <a:lnTo>
                      <a:pt x="56" y="42"/>
                    </a:lnTo>
                    <a:lnTo>
                      <a:pt x="58" y="36"/>
                    </a:lnTo>
                    <a:lnTo>
                      <a:pt x="60" y="34"/>
                    </a:lnTo>
                    <a:lnTo>
                      <a:pt x="60" y="30"/>
                    </a:lnTo>
                    <a:lnTo>
                      <a:pt x="60" y="26"/>
                    </a:lnTo>
                    <a:lnTo>
                      <a:pt x="58" y="26"/>
                    </a:lnTo>
                    <a:lnTo>
                      <a:pt x="60" y="22"/>
                    </a:lnTo>
                    <a:lnTo>
                      <a:pt x="64" y="20"/>
                    </a:lnTo>
                    <a:lnTo>
                      <a:pt x="62" y="18"/>
                    </a:lnTo>
                    <a:lnTo>
                      <a:pt x="60" y="16"/>
                    </a:lnTo>
                    <a:lnTo>
                      <a:pt x="60" y="12"/>
                    </a:lnTo>
                    <a:lnTo>
                      <a:pt x="62" y="12"/>
                    </a:lnTo>
                    <a:lnTo>
                      <a:pt x="64" y="16"/>
                    </a:lnTo>
                    <a:lnTo>
                      <a:pt x="66" y="16"/>
                    </a:lnTo>
                    <a:lnTo>
                      <a:pt x="68" y="14"/>
                    </a:lnTo>
                    <a:lnTo>
                      <a:pt x="70" y="12"/>
                    </a:lnTo>
                    <a:lnTo>
                      <a:pt x="70" y="14"/>
                    </a:lnTo>
                    <a:lnTo>
                      <a:pt x="70" y="1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3" name="Freeform 34">
                <a:extLst>
                  <a:ext uri="{FF2B5EF4-FFF2-40B4-BE49-F238E27FC236}">
                    <a16:creationId xmlns:a16="http://schemas.microsoft.com/office/drawing/2014/main" id="{15C3CD1C-0397-F6DF-6474-1314749649B8}"/>
                  </a:ext>
                </a:extLst>
              </p:cNvPr>
              <p:cNvSpPr>
                <a:spLocks noEditPoints="1"/>
              </p:cNvSpPr>
              <p:nvPr/>
            </p:nvSpPr>
            <p:spPr bwMode="auto">
              <a:xfrm>
                <a:off x="5132503" y="3399161"/>
                <a:ext cx="213917" cy="151788"/>
              </a:xfrm>
              <a:custGeom>
                <a:avLst/>
                <a:gdLst/>
                <a:ahLst/>
                <a:cxnLst>
                  <a:cxn ang="0">
                    <a:pos x="194" y="104"/>
                  </a:cxn>
                  <a:cxn ang="0">
                    <a:pos x="180" y="114"/>
                  </a:cxn>
                  <a:cxn ang="0">
                    <a:pos x="168" y="118"/>
                  </a:cxn>
                  <a:cxn ang="0">
                    <a:pos x="156" y="124"/>
                  </a:cxn>
                  <a:cxn ang="0">
                    <a:pos x="138" y="122"/>
                  </a:cxn>
                  <a:cxn ang="0">
                    <a:pos x="146" y="132"/>
                  </a:cxn>
                  <a:cxn ang="0">
                    <a:pos x="150" y="134"/>
                  </a:cxn>
                  <a:cxn ang="0">
                    <a:pos x="158" y="138"/>
                  </a:cxn>
                  <a:cxn ang="0">
                    <a:pos x="172" y="138"/>
                  </a:cxn>
                  <a:cxn ang="0">
                    <a:pos x="160" y="146"/>
                  </a:cxn>
                  <a:cxn ang="0">
                    <a:pos x="134" y="142"/>
                  </a:cxn>
                  <a:cxn ang="0">
                    <a:pos x="124" y="134"/>
                  </a:cxn>
                  <a:cxn ang="0">
                    <a:pos x="136" y="130"/>
                  </a:cxn>
                  <a:cxn ang="0">
                    <a:pos x="132" y="124"/>
                  </a:cxn>
                  <a:cxn ang="0">
                    <a:pos x="120" y="128"/>
                  </a:cxn>
                  <a:cxn ang="0">
                    <a:pos x="108" y="122"/>
                  </a:cxn>
                  <a:cxn ang="0">
                    <a:pos x="114" y="118"/>
                  </a:cxn>
                  <a:cxn ang="0">
                    <a:pos x="100" y="116"/>
                  </a:cxn>
                  <a:cxn ang="0">
                    <a:pos x="84" y="112"/>
                  </a:cxn>
                  <a:cxn ang="0">
                    <a:pos x="80" y="100"/>
                  </a:cxn>
                  <a:cxn ang="0">
                    <a:pos x="74" y="84"/>
                  </a:cxn>
                  <a:cxn ang="0">
                    <a:pos x="56" y="70"/>
                  </a:cxn>
                  <a:cxn ang="0">
                    <a:pos x="44" y="76"/>
                  </a:cxn>
                  <a:cxn ang="0">
                    <a:pos x="32" y="84"/>
                  </a:cxn>
                  <a:cxn ang="0">
                    <a:pos x="22" y="90"/>
                  </a:cxn>
                  <a:cxn ang="0">
                    <a:pos x="8" y="84"/>
                  </a:cxn>
                  <a:cxn ang="0">
                    <a:pos x="2" y="72"/>
                  </a:cxn>
                  <a:cxn ang="0">
                    <a:pos x="12" y="66"/>
                  </a:cxn>
                  <a:cxn ang="0">
                    <a:pos x="14" y="48"/>
                  </a:cxn>
                  <a:cxn ang="0">
                    <a:pos x="14" y="30"/>
                  </a:cxn>
                  <a:cxn ang="0">
                    <a:pos x="16" y="16"/>
                  </a:cxn>
                  <a:cxn ang="0">
                    <a:pos x="18" y="6"/>
                  </a:cxn>
                  <a:cxn ang="0">
                    <a:pos x="26" y="8"/>
                  </a:cxn>
                  <a:cxn ang="0">
                    <a:pos x="58" y="8"/>
                  </a:cxn>
                  <a:cxn ang="0">
                    <a:pos x="70" y="6"/>
                  </a:cxn>
                  <a:cxn ang="0">
                    <a:pos x="78" y="6"/>
                  </a:cxn>
                  <a:cxn ang="0">
                    <a:pos x="96" y="8"/>
                  </a:cxn>
                  <a:cxn ang="0">
                    <a:pos x="106" y="0"/>
                  </a:cxn>
                  <a:cxn ang="0">
                    <a:pos x="116" y="0"/>
                  </a:cxn>
                  <a:cxn ang="0">
                    <a:pos x="126" y="4"/>
                  </a:cxn>
                  <a:cxn ang="0">
                    <a:pos x="130" y="14"/>
                  </a:cxn>
                  <a:cxn ang="0">
                    <a:pos x="134" y="20"/>
                  </a:cxn>
                  <a:cxn ang="0">
                    <a:pos x="148" y="24"/>
                  </a:cxn>
                  <a:cxn ang="0">
                    <a:pos x="156" y="28"/>
                  </a:cxn>
                  <a:cxn ang="0">
                    <a:pos x="166" y="40"/>
                  </a:cxn>
                  <a:cxn ang="0">
                    <a:pos x="186" y="36"/>
                  </a:cxn>
                  <a:cxn ang="0">
                    <a:pos x="194" y="44"/>
                  </a:cxn>
                  <a:cxn ang="0">
                    <a:pos x="212" y="58"/>
                  </a:cxn>
                  <a:cxn ang="0">
                    <a:pos x="216" y="66"/>
                  </a:cxn>
                  <a:cxn ang="0">
                    <a:pos x="218" y="70"/>
                  </a:cxn>
                  <a:cxn ang="0">
                    <a:pos x="220" y="82"/>
                  </a:cxn>
                  <a:cxn ang="0">
                    <a:pos x="206" y="96"/>
                  </a:cxn>
                  <a:cxn ang="0">
                    <a:pos x="92" y="124"/>
                  </a:cxn>
                  <a:cxn ang="0">
                    <a:pos x="80" y="118"/>
                  </a:cxn>
                  <a:cxn ang="0">
                    <a:pos x="72" y="126"/>
                  </a:cxn>
                  <a:cxn ang="0">
                    <a:pos x="72" y="136"/>
                  </a:cxn>
                  <a:cxn ang="0">
                    <a:pos x="80" y="134"/>
                  </a:cxn>
                  <a:cxn ang="0">
                    <a:pos x="90" y="128"/>
                  </a:cxn>
                </a:cxnLst>
                <a:rect l="0" t="0" r="r" b="b"/>
                <a:pathLst>
                  <a:path w="220" h="158">
                    <a:moveTo>
                      <a:pt x="202" y="104"/>
                    </a:moveTo>
                    <a:lnTo>
                      <a:pt x="202" y="104"/>
                    </a:lnTo>
                    <a:lnTo>
                      <a:pt x="196" y="104"/>
                    </a:lnTo>
                    <a:lnTo>
                      <a:pt x="194" y="104"/>
                    </a:lnTo>
                    <a:lnTo>
                      <a:pt x="192" y="108"/>
                    </a:lnTo>
                    <a:lnTo>
                      <a:pt x="188" y="108"/>
                    </a:lnTo>
                    <a:lnTo>
                      <a:pt x="182" y="110"/>
                    </a:lnTo>
                    <a:lnTo>
                      <a:pt x="180" y="114"/>
                    </a:lnTo>
                    <a:lnTo>
                      <a:pt x="176" y="114"/>
                    </a:lnTo>
                    <a:lnTo>
                      <a:pt x="172" y="114"/>
                    </a:lnTo>
                    <a:lnTo>
                      <a:pt x="170" y="118"/>
                    </a:lnTo>
                    <a:lnTo>
                      <a:pt x="168" y="118"/>
                    </a:lnTo>
                    <a:lnTo>
                      <a:pt x="166" y="116"/>
                    </a:lnTo>
                    <a:lnTo>
                      <a:pt x="164" y="116"/>
                    </a:lnTo>
                    <a:lnTo>
                      <a:pt x="156" y="122"/>
                    </a:lnTo>
                    <a:lnTo>
                      <a:pt x="156" y="124"/>
                    </a:lnTo>
                    <a:lnTo>
                      <a:pt x="150" y="124"/>
                    </a:lnTo>
                    <a:lnTo>
                      <a:pt x="146" y="124"/>
                    </a:lnTo>
                    <a:lnTo>
                      <a:pt x="146" y="122"/>
                    </a:lnTo>
                    <a:lnTo>
                      <a:pt x="138" y="122"/>
                    </a:lnTo>
                    <a:lnTo>
                      <a:pt x="138" y="126"/>
                    </a:lnTo>
                    <a:lnTo>
                      <a:pt x="142" y="128"/>
                    </a:lnTo>
                    <a:lnTo>
                      <a:pt x="144" y="128"/>
                    </a:lnTo>
                    <a:lnTo>
                      <a:pt x="146" y="132"/>
                    </a:lnTo>
                    <a:lnTo>
                      <a:pt x="148" y="132"/>
                    </a:lnTo>
                    <a:lnTo>
                      <a:pt x="150" y="132"/>
                    </a:lnTo>
                    <a:lnTo>
                      <a:pt x="150" y="134"/>
                    </a:lnTo>
                    <a:lnTo>
                      <a:pt x="150" y="134"/>
                    </a:lnTo>
                    <a:lnTo>
                      <a:pt x="150" y="136"/>
                    </a:lnTo>
                    <a:lnTo>
                      <a:pt x="152" y="136"/>
                    </a:lnTo>
                    <a:lnTo>
                      <a:pt x="152" y="138"/>
                    </a:lnTo>
                    <a:lnTo>
                      <a:pt x="158" y="138"/>
                    </a:lnTo>
                    <a:lnTo>
                      <a:pt x="166" y="138"/>
                    </a:lnTo>
                    <a:lnTo>
                      <a:pt x="168" y="138"/>
                    </a:lnTo>
                    <a:lnTo>
                      <a:pt x="170" y="136"/>
                    </a:lnTo>
                    <a:lnTo>
                      <a:pt x="172" y="138"/>
                    </a:lnTo>
                    <a:lnTo>
                      <a:pt x="172" y="140"/>
                    </a:lnTo>
                    <a:lnTo>
                      <a:pt x="170" y="144"/>
                    </a:lnTo>
                    <a:lnTo>
                      <a:pt x="164" y="146"/>
                    </a:lnTo>
                    <a:lnTo>
                      <a:pt x="160" y="146"/>
                    </a:lnTo>
                    <a:lnTo>
                      <a:pt x="152" y="150"/>
                    </a:lnTo>
                    <a:lnTo>
                      <a:pt x="132" y="158"/>
                    </a:lnTo>
                    <a:lnTo>
                      <a:pt x="134" y="150"/>
                    </a:lnTo>
                    <a:lnTo>
                      <a:pt x="134" y="142"/>
                    </a:lnTo>
                    <a:lnTo>
                      <a:pt x="126" y="138"/>
                    </a:lnTo>
                    <a:lnTo>
                      <a:pt x="120" y="140"/>
                    </a:lnTo>
                    <a:lnTo>
                      <a:pt x="122" y="136"/>
                    </a:lnTo>
                    <a:lnTo>
                      <a:pt x="124" y="134"/>
                    </a:lnTo>
                    <a:lnTo>
                      <a:pt x="134" y="132"/>
                    </a:lnTo>
                    <a:lnTo>
                      <a:pt x="134" y="132"/>
                    </a:lnTo>
                    <a:lnTo>
                      <a:pt x="136" y="132"/>
                    </a:lnTo>
                    <a:lnTo>
                      <a:pt x="136" y="130"/>
                    </a:lnTo>
                    <a:lnTo>
                      <a:pt x="134" y="126"/>
                    </a:lnTo>
                    <a:lnTo>
                      <a:pt x="134" y="126"/>
                    </a:lnTo>
                    <a:lnTo>
                      <a:pt x="132" y="126"/>
                    </a:lnTo>
                    <a:lnTo>
                      <a:pt x="132" y="124"/>
                    </a:lnTo>
                    <a:lnTo>
                      <a:pt x="124" y="124"/>
                    </a:lnTo>
                    <a:lnTo>
                      <a:pt x="124" y="126"/>
                    </a:lnTo>
                    <a:lnTo>
                      <a:pt x="122" y="128"/>
                    </a:lnTo>
                    <a:lnTo>
                      <a:pt x="120" y="128"/>
                    </a:lnTo>
                    <a:lnTo>
                      <a:pt x="118" y="124"/>
                    </a:lnTo>
                    <a:lnTo>
                      <a:pt x="114" y="124"/>
                    </a:lnTo>
                    <a:lnTo>
                      <a:pt x="114" y="122"/>
                    </a:lnTo>
                    <a:lnTo>
                      <a:pt x="108" y="122"/>
                    </a:lnTo>
                    <a:lnTo>
                      <a:pt x="110" y="120"/>
                    </a:lnTo>
                    <a:lnTo>
                      <a:pt x="116" y="120"/>
                    </a:lnTo>
                    <a:lnTo>
                      <a:pt x="116" y="118"/>
                    </a:lnTo>
                    <a:lnTo>
                      <a:pt x="114" y="118"/>
                    </a:lnTo>
                    <a:lnTo>
                      <a:pt x="112" y="114"/>
                    </a:lnTo>
                    <a:lnTo>
                      <a:pt x="110" y="114"/>
                    </a:lnTo>
                    <a:lnTo>
                      <a:pt x="110" y="116"/>
                    </a:lnTo>
                    <a:lnTo>
                      <a:pt x="100" y="116"/>
                    </a:lnTo>
                    <a:lnTo>
                      <a:pt x="98" y="118"/>
                    </a:lnTo>
                    <a:lnTo>
                      <a:pt x="96" y="118"/>
                    </a:lnTo>
                    <a:lnTo>
                      <a:pt x="92" y="124"/>
                    </a:lnTo>
                    <a:lnTo>
                      <a:pt x="84" y="112"/>
                    </a:lnTo>
                    <a:lnTo>
                      <a:pt x="82" y="110"/>
                    </a:lnTo>
                    <a:lnTo>
                      <a:pt x="80" y="108"/>
                    </a:lnTo>
                    <a:lnTo>
                      <a:pt x="80" y="104"/>
                    </a:lnTo>
                    <a:lnTo>
                      <a:pt x="80" y="100"/>
                    </a:lnTo>
                    <a:lnTo>
                      <a:pt x="78" y="96"/>
                    </a:lnTo>
                    <a:lnTo>
                      <a:pt x="76" y="94"/>
                    </a:lnTo>
                    <a:lnTo>
                      <a:pt x="76" y="90"/>
                    </a:lnTo>
                    <a:lnTo>
                      <a:pt x="74" y="84"/>
                    </a:lnTo>
                    <a:lnTo>
                      <a:pt x="70" y="80"/>
                    </a:lnTo>
                    <a:lnTo>
                      <a:pt x="66" y="76"/>
                    </a:lnTo>
                    <a:lnTo>
                      <a:pt x="60" y="72"/>
                    </a:lnTo>
                    <a:lnTo>
                      <a:pt x="56" y="70"/>
                    </a:lnTo>
                    <a:lnTo>
                      <a:pt x="52" y="72"/>
                    </a:lnTo>
                    <a:lnTo>
                      <a:pt x="48" y="72"/>
                    </a:lnTo>
                    <a:lnTo>
                      <a:pt x="44" y="74"/>
                    </a:lnTo>
                    <a:lnTo>
                      <a:pt x="44" y="76"/>
                    </a:lnTo>
                    <a:lnTo>
                      <a:pt x="42" y="76"/>
                    </a:lnTo>
                    <a:lnTo>
                      <a:pt x="38" y="80"/>
                    </a:lnTo>
                    <a:lnTo>
                      <a:pt x="36" y="82"/>
                    </a:lnTo>
                    <a:lnTo>
                      <a:pt x="32" y="84"/>
                    </a:lnTo>
                    <a:lnTo>
                      <a:pt x="30" y="84"/>
                    </a:lnTo>
                    <a:lnTo>
                      <a:pt x="30" y="86"/>
                    </a:lnTo>
                    <a:lnTo>
                      <a:pt x="26" y="88"/>
                    </a:lnTo>
                    <a:lnTo>
                      <a:pt x="22" y="90"/>
                    </a:lnTo>
                    <a:lnTo>
                      <a:pt x="20" y="86"/>
                    </a:lnTo>
                    <a:lnTo>
                      <a:pt x="16" y="84"/>
                    </a:lnTo>
                    <a:lnTo>
                      <a:pt x="12" y="84"/>
                    </a:lnTo>
                    <a:lnTo>
                      <a:pt x="8" y="84"/>
                    </a:lnTo>
                    <a:lnTo>
                      <a:pt x="4" y="82"/>
                    </a:lnTo>
                    <a:lnTo>
                      <a:pt x="2" y="78"/>
                    </a:lnTo>
                    <a:lnTo>
                      <a:pt x="0" y="78"/>
                    </a:lnTo>
                    <a:lnTo>
                      <a:pt x="2" y="72"/>
                    </a:lnTo>
                    <a:lnTo>
                      <a:pt x="6" y="70"/>
                    </a:lnTo>
                    <a:lnTo>
                      <a:pt x="8" y="70"/>
                    </a:lnTo>
                    <a:lnTo>
                      <a:pt x="12" y="68"/>
                    </a:lnTo>
                    <a:lnTo>
                      <a:pt x="12" y="66"/>
                    </a:lnTo>
                    <a:lnTo>
                      <a:pt x="10" y="62"/>
                    </a:lnTo>
                    <a:lnTo>
                      <a:pt x="10" y="58"/>
                    </a:lnTo>
                    <a:lnTo>
                      <a:pt x="10" y="56"/>
                    </a:lnTo>
                    <a:lnTo>
                      <a:pt x="14" y="48"/>
                    </a:lnTo>
                    <a:lnTo>
                      <a:pt x="18" y="40"/>
                    </a:lnTo>
                    <a:lnTo>
                      <a:pt x="16" y="36"/>
                    </a:lnTo>
                    <a:lnTo>
                      <a:pt x="14" y="32"/>
                    </a:lnTo>
                    <a:lnTo>
                      <a:pt x="14" y="30"/>
                    </a:lnTo>
                    <a:lnTo>
                      <a:pt x="14" y="26"/>
                    </a:lnTo>
                    <a:lnTo>
                      <a:pt x="16" y="20"/>
                    </a:lnTo>
                    <a:lnTo>
                      <a:pt x="16" y="18"/>
                    </a:lnTo>
                    <a:lnTo>
                      <a:pt x="16" y="16"/>
                    </a:lnTo>
                    <a:lnTo>
                      <a:pt x="14" y="10"/>
                    </a:lnTo>
                    <a:lnTo>
                      <a:pt x="14" y="8"/>
                    </a:lnTo>
                    <a:lnTo>
                      <a:pt x="16" y="6"/>
                    </a:lnTo>
                    <a:lnTo>
                      <a:pt x="18" y="6"/>
                    </a:lnTo>
                    <a:lnTo>
                      <a:pt x="20" y="6"/>
                    </a:lnTo>
                    <a:lnTo>
                      <a:pt x="22" y="8"/>
                    </a:lnTo>
                    <a:lnTo>
                      <a:pt x="24" y="10"/>
                    </a:lnTo>
                    <a:lnTo>
                      <a:pt x="26" y="8"/>
                    </a:lnTo>
                    <a:lnTo>
                      <a:pt x="28" y="6"/>
                    </a:lnTo>
                    <a:lnTo>
                      <a:pt x="38" y="6"/>
                    </a:lnTo>
                    <a:lnTo>
                      <a:pt x="52" y="6"/>
                    </a:lnTo>
                    <a:lnTo>
                      <a:pt x="58" y="8"/>
                    </a:lnTo>
                    <a:lnTo>
                      <a:pt x="64" y="6"/>
                    </a:lnTo>
                    <a:lnTo>
                      <a:pt x="68" y="6"/>
                    </a:lnTo>
                    <a:lnTo>
                      <a:pt x="70" y="10"/>
                    </a:lnTo>
                    <a:lnTo>
                      <a:pt x="70" y="6"/>
                    </a:lnTo>
                    <a:lnTo>
                      <a:pt x="72" y="8"/>
                    </a:lnTo>
                    <a:lnTo>
                      <a:pt x="74" y="8"/>
                    </a:lnTo>
                    <a:lnTo>
                      <a:pt x="76" y="8"/>
                    </a:lnTo>
                    <a:lnTo>
                      <a:pt x="78" y="6"/>
                    </a:lnTo>
                    <a:lnTo>
                      <a:pt x="82" y="8"/>
                    </a:lnTo>
                    <a:lnTo>
                      <a:pt x="88" y="8"/>
                    </a:lnTo>
                    <a:lnTo>
                      <a:pt x="94" y="8"/>
                    </a:lnTo>
                    <a:lnTo>
                      <a:pt x="96" y="8"/>
                    </a:lnTo>
                    <a:lnTo>
                      <a:pt x="98" y="6"/>
                    </a:lnTo>
                    <a:lnTo>
                      <a:pt x="98" y="2"/>
                    </a:lnTo>
                    <a:lnTo>
                      <a:pt x="100" y="0"/>
                    </a:lnTo>
                    <a:lnTo>
                      <a:pt x="106" y="0"/>
                    </a:lnTo>
                    <a:lnTo>
                      <a:pt x="108" y="4"/>
                    </a:lnTo>
                    <a:lnTo>
                      <a:pt x="112" y="4"/>
                    </a:lnTo>
                    <a:lnTo>
                      <a:pt x="114" y="2"/>
                    </a:lnTo>
                    <a:lnTo>
                      <a:pt x="116" y="0"/>
                    </a:lnTo>
                    <a:lnTo>
                      <a:pt x="120" y="2"/>
                    </a:lnTo>
                    <a:lnTo>
                      <a:pt x="124" y="2"/>
                    </a:lnTo>
                    <a:lnTo>
                      <a:pt x="126" y="2"/>
                    </a:lnTo>
                    <a:lnTo>
                      <a:pt x="126" y="4"/>
                    </a:lnTo>
                    <a:lnTo>
                      <a:pt x="128" y="6"/>
                    </a:lnTo>
                    <a:lnTo>
                      <a:pt x="128" y="8"/>
                    </a:lnTo>
                    <a:lnTo>
                      <a:pt x="130" y="12"/>
                    </a:lnTo>
                    <a:lnTo>
                      <a:pt x="130" y="14"/>
                    </a:lnTo>
                    <a:lnTo>
                      <a:pt x="132" y="14"/>
                    </a:lnTo>
                    <a:lnTo>
                      <a:pt x="132" y="16"/>
                    </a:lnTo>
                    <a:lnTo>
                      <a:pt x="132" y="18"/>
                    </a:lnTo>
                    <a:lnTo>
                      <a:pt x="134" y="20"/>
                    </a:lnTo>
                    <a:lnTo>
                      <a:pt x="134" y="20"/>
                    </a:lnTo>
                    <a:lnTo>
                      <a:pt x="138" y="20"/>
                    </a:lnTo>
                    <a:lnTo>
                      <a:pt x="142" y="20"/>
                    </a:lnTo>
                    <a:lnTo>
                      <a:pt x="148" y="24"/>
                    </a:lnTo>
                    <a:lnTo>
                      <a:pt x="152" y="22"/>
                    </a:lnTo>
                    <a:lnTo>
                      <a:pt x="154" y="22"/>
                    </a:lnTo>
                    <a:lnTo>
                      <a:pt x="154" y="24"/>
                    </a:lnTo>
                    <a:lnTo>
                      <a:pt x="156" y="28"/>
                    </a:lnTo>
                    <a:lnTo>
                      <a:pt x="162" y="30"/>
                    </a:lnTo>
                    <a:lnTo>
                      <a:pt x="164" y="32"/>
                    </a:lnTo>
                    <a:lnTo>
                      <a:pt x="164" y="36"/>
                    </a:lnTo>
                    <a:lnTo>
                      <a:pt x="166" y="40"/>
                    </a:lnTo>
                    <a:lnTo>
                      <a:pt x="174" y="36"/>
                    </a:lnTo>
                    <a:lnTo>
                      <a:pt x="178" y="34"/>
                    </a:lnTo>
                    <a:lnTo>
                      <a:pt x="182" y="34"/>
                    </a:lnTo>
                    <a:lnTo>
                      <a:pt x="186" y="36"/>
                    </a:lnTo>
                    <a:lnTo>
                      <a:pt x="186" y="38"/>
                    </a:lnTo>
                    <a:lnTo>
                      <a:pt x="188" y="40"/>
                    </a:lnTo>
                    <a:lnTo>
                      <a:pt x="192" y="42"/>
                    </a:lnTo>
                    <a:lnTo>
                      <a:pt x="194" y="44"/>
                    </a:lnTo>
                    <a:lnTo>
                      <a:pt x="212" y="50"/>
                    </a:lnTo>
                    <a:lnTo>
                      <a:pt x="214" y="54"/>
                    </a:lnTo>
                    <a:lnTo>
                      <a:pt x="212" y="56"/>
                    </a:lnTo>
                    <a:lnTo>
                      <a:pt x="212" y="58"/>
                    </a:lnTo>
                    <a:lnTo>
                      <a:pt x="216" y="60"/>
                    </a:lnTo>
                    <a:lnTo>
                      <a:pt x="218" y="60"/>
                    </a:lnTo>
                    <a:lnTo>
                      <a:pt x="218" y="62"/>
                    </a:lnTo>
                    <a:lnTo>
                      <a:pt x="216" y="66"/>
                    </a:lnTo>
                    <a:lnTo>
                      <a:pt x="214" y="66"/>
                    </a:lnTo>
                    <a:lnTo>
                      <a:pt x="216" y="68"/>
                    </a:lnTo>
                    <a:lnTo>
                      <a:pt x="218" y="70"/>
                    </a:lnTo>
                    <a:lnTo>
                      <a:pt x="218" y="70"/>
                    </a:lnTo>
                    <a:lnTo>
                      <a:pt x="218" y="72"/>
                    </a:lnTo>
                    <a:lnTo>
                      <a:pt x="218" y="76"/>
                    </a:lnTo>
                    <a:lnTo>
                      <a:pt x="220" y="78"/>
                    </a:lnTo>
                    <a:lnTo>
                      <a:pt x="220" y="82"/>
                    </a:lnTo>
                    <a:lnTo>
                      <a:pt x="218" y="92"/>
                    </a:lnTo>
                    <a:lnTo>
                      <a:pt x="216" y="94"/>
                    </a:lnTo>
                    <a:lnTo>
                      <a:pt x="212" y="94"/>
                    </a:lnTo>
                    <a:lnTo>
                      <a:pt x="206" y="96"/>
                    </a:lnTo>
                    <a:lnTo>
                      <a:pt x="204" y="100"/>
                    </a:lnTo>
                    <a:lnTo>
                      <a:pt x="202" y="104"/>
                    </a:lnTo>
                    <a:lnTo>
                      <a:pt x="202" y="104"/>
                    </a:lnTo>
                    <a:close/>
                    <a:moveTo>
                      <a:pt x="92" y="124"/>
                    </a:moveTo>
                    <a:lnTo>
                      <a:pt x="92" y="124"/>
                    </a:lnTo>
                    <a:lnTo>
                      <a:pt x="90" y="122"/>
                    </a:lnTo>
                    <a:lnTo>
                      <a:pt x="84" y="120"/>
                    </a:lnTo>
                    <a:lnTo>
                      <a:pt x="80" y="118"/>
                    </a:lnTo>
                    <a:lnTo>
                      <a:pt x="78" y="118"/>
                    </a:lnTo>
                    <a:lnTo>
                      <a:pt x="76" y="120"/>
                    </a:lnTo>
                    <a:lnTo>
                      <a:pt x="74" y="122"/>
                    </a:lnTo>
                    <a:lnTo>
                      <a:pt x="72" y="126"/>
                    </a:lnTo>
                    <a:lnTo>
                      <a:pt x="70" y="132"/>
                    </a:lnTo>
                    <a:lnTo>
                      <a:pt x="68" y="134"/>
                    </a:lnTo>
                    <a:lnTo>
                      <a:pt x="70" y="134"/>
                    </a:lnTo>
                    <a:lnTo>
                      <a:pt x="72" y="136"/>
                    </a:lnTo>
                    <a:lnTo>
                      <a:pt x="74" y="136"/>
                    </a:lnTo>
                    <a:lnTo>
                      <a:pt x="74" y="134"/>
                    </a:lnTo>
                    <a:lnTo>
                      <a:pt x="76" y="134"/>
                    </a:lnTo>
                    <a:lnTo>
                      <a:pt x="80" y="134"/>
                    </a:lnTo>
                    <a:lnTo>
                      <a:pt x="82" y="136"/>
                    </a:lnTo>
                    <a:lnTo>
                      <a:pt x="82" y="134"/>
                    </a:lnTo>
                    <a:lnTo>
                      <a:pt x="86" y="132"/>
                    </a:lnTo>
                    <a:lnTo>
                      <a:pt x="90" y="128"/>
                    </a:lnTo>
                    <a:lnTo>
                      <a:pt x="92" y="124"/>
                    </a:lnTo>
                    <a:lnTo>
                      <a:pt x="92" y="12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4" name="Freeform 35">
                <a:extLst>
                  <a:ext uri="{FF2B5EF4-FFF2-40B4-BE49-F238E27FC236}">
                    <a16:creationId xmlns:a16="http://schemas.microsoft.com/office/drawing/2014/main" id="{D78CE044-0919-22A0-DFC8-761B2DAB65E4}"/>
                  </a:ext>
                </a:extLst>
              </p:cNvPr>
              <p:cNvSpPr>
                <a:spLocks/>
              </p:cNvSpPr>
              <p:nvPr/>
            </p:nvSpPr>
            <p:spPr bwMode="auto">
              <a:xfrm>
                <a:off x="5225848" y="4238800"/>
                <a:ext cx="1944" cy="3843"/>
              </a:xfrm>
              <a:custGeom>
                <a:avLst/>
                <a:gdLst/>
                <a:ahLst/>
                <a:cxnLst>
                  <a:cxn ang="0">
                    <a:pos x="2" y="0"/>
                  </a:cxn>
                  <a:cxn ang="0">
                    <a:pos x="2" y="0"/>
                  </a:cxn>
                  <a:cxn ang="0">
                    <a:pos x="0" y="4"/>
                  </a:cxn>
                  <a:cxn ang="0">
                    <a:pos x="2" y="2"/>
                  </a:cxn>
                  <a:cxn ang="0">
                    <a:pos x="2" y="0"/>
                  </a:cxn>
                </a:cxnLst>
                <a:rect l="0" t="0" r="r" b="b"/>
                <a:pathLst>
                  <a:path w="2" h="4">
                    <a:moveTo>
                      <a:pt x="2" y="0"/>
                    </a:moveTo>
                    <a:lnTo>
                      <a:pt x="2" y="0"/>
                    </a:lnTo>
                    <a:lnTo>
                      <a:pt x="0" y="4"/>
                    </a:lnTo>
                    <a:lnTo>
                      <a:pt x="2" y="2"/>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6" name="Freeform 36">
                <a:extLst>
                  <a:ext uri="{FF2B5EF4-FFF2-40B4-BE49-F238E27FC236}">
                    <a16:creationId xmlns:a16="http://schemas.microsoft.com/office/drawing/2014/main" id="{632CA590-F79C-0CDD-8B8F-D9C8FB35C299}"/>
                  </a:ext>
                </a:extLst>
              </p:cNvPr>
              <p:cNvSpPr>
                <a:spLocks/>
              </p:cNvSpPr>
              <p:nvPr/>
            </p:nvSpPr>
            <p:spPr bwMode="auto">
              <a:xfrm>
                <a:off x="5225848" y="4238800"/>
                <a:ext cx="1944" cy="3843"/>
              </a:xfrm>
              <a:custGeom>
                <a:avLst/>
                <a:gdLst/>
                <a:ahLst/>
                <a:cxnLst>
                  <a:cxn ang="0">
                    <a:pos x="2" y="0"/>
                  </a:cxn>
                  <a:cxn ang="0">
                    <a:pos x="2" y="0"/>
                  </a:cxn>
                  <a:cxn ang="0">
                    <a:pos x="0" y="4"/>
                  </a:cxn>
                  <a:cxn ang="0">
                    <a:pos x="2" y="2"/>
                  </a:cxn>
                  <a:cxn ang="0">
                    <a:pos x="2" y="0"/>
                  </a:cxn>
                </a:cxnLst>
                <a:rect l="0" t="0" r="r" b="b"/>
                <a:pathLst>
                  <a:path w="2" h="4">
                    <a:moveTo>
                      <a:pt x="2" y="0"/>
                    </a:moveTo>
                    <a:lnTo>
                      <a:pt x="2" y="0"/>
                    </a:lnTo>
                    <a:lnTo>
                      <a:pt x="0" y="4"/>
                    </a:lnTo>
                    <a:lnTo>
                      <a:pt x="2" y="2"/>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8" name="Freeform 37">
                <a:extLst>
                  <a:ext uri="{FF2B5EF4-FFF2-40B4-BE49-F238E27FC236}">
                    <a16:creationId xmlns:a16="http://schemas.microsoft.com/office/drawing/2014/main" id="{37D3D292-8832-A7C2-6B45-96BB56C5BA1C}"/>
                  </a:ext>
                </a:extLst>
              </p:cNvPr>
              <p:cNvSpPr>
                <a:spLocks/>
              </p:cNvSpPr>
              <p:nvPr/>
            </p:nvSpPr>
            <p:spPr bwMode="auto">
              <a:xfrm>
                <a:off x="5169452" y="3591298"/>
                <a:ext cx="35004" cy="30742"/>
              </a:xfrm>
              <a:custGeom>
                <a:avLst/>
                <a:gdLst/>
                <a:ahLst/>
                <a:cxnLst>
                  <a:cxn ang="0">
                    <a:pos x="24" y="2"/>
                  </a:cxn>
                  <a:cxn ang="0">
                    <a:pos x="24" y="2"/>
                  </a:cxn>
                  <a:cxn ang="0">
                    <a:pos x="20" y="2"/>
                  </a:cxn>
                  <a:cxn ang="0">
                    <a:pos x="16" y="2"/>
                  </a:cxn>
                  <a:cxn ang="0">
                    <a:pos x="12" y="0"/>
                  </a:cxn>
                  <a:cxn ang="0">
                    <a:pos x="8" y="2"/>
                  </a:cxn>
                  <a:cxn ang="0">
                    <a:pos x="8" y="4"/>
                  </a:cxn>
                  <a:cxn ang="0">
                    <a:pos x="12" y="8"/>
                  </a:cxn>
                  <a:cxn ang="0">
                    <a:pos x="14" y="10"/>
                  </a:cxn>
                  <a:cxn ang="0">
                    <a:pos x="14" y="12"/>
                  </a:cxn>
                  <a:cxn ang="0">
                    <a:pos x="12" y="14"/>
                  </a:cxn>
                  <a:cxn ang="0">
                    <a:pos x="10" y="14"/>
                  </a:cxn>
                  <a:cxn ang="0">
                    <a:pos x="6" y="14"/>
                  </a:cxn>
                  <a:cxn ang="0">
                    <a:pos x="6" y="12"/>
                  </a:cxn>
                  <a:cxn ang="0">
                    <a:pos x="4" y="14"/>
                  </a:cxn>
                  <a:cxn ang="0">
                    <a:pos x="4" y="18"/>
                  </a:cxn>
                  <a:cxn ang="0">
                    <a:pos x="2" y="20"/>
                  </a:cxn>
                  <a:cxn ang="0">
                    <a:pos x="0" y="22"/>
                  </a:cxn>
                  <a:cxn ang="0">
                    <a:pos x="2" y="24"/>
                  </a:cxn>
                  <a:cxn ang="0">
                    <a:pos x="4" y="24"/>
                  </a:cxn>
                  <a:cxn ang="0">
                    <a:pos x="0" y="26"/>
                  </a:cxn>
                  <a:cxn ang="0">
                    <a:pos x="0" y="30"/>
                  </a:cxn>
                  <a:cxn ang="0">
                    <a:pos x="0" y="32"/>
                  </a:cxn>
                  <a:cxn ang="0">
                    <a:pos x="2" y="32"/>
                  </a:cxn>
                  <a:cxn ang="0">
                    <a:pos x="10" y="24"/>
                  </a:cxn>
                  <a:cxn ang="0">
                    <a:pos x="18" y="22"/>
                  </a:cxn>
                  <a:cxn ang="0">
                    <a:pos x="18" y="20"/>
                  </a:cxn>
                  <a:cxn ang="0">
                    <a:pos x="20" y="18"/>
                  </a:cxn>
                  <a:cxn ang="0">
                    <a:pos x="28" y="18"/>
                  </a:cxn>
                  <a:cxn ang="0">
                    <a:pos x="34" y="16"/>
                  </a:cxn>
                  <a:cxn ang="0">
                    <a:pos x="36" y="12"/>
                  </a:cxn>
                  <a:cxn ang="0">
                    <a:pos x="30" y="8"/>
                  </a:cxn>
                  <a:cxn ang="0">
                    <a:pos x="26" y="6"/>
                  </a:cxn>
                  <a:cxn ang="0">
                    <a:pos x="24" y="4"/>
                  </a:cxn>
                  <a:cxn ang="0">
                    <a:pos x="24" y="2"/>
                  </a:cxn>
                  <a:cxn ang="0">
                    <a:pos x="24" y="2"/>
                  </a:cxn>
                </a:cxnLst>
                <a:rect l="0" t="0" r="r" b="b"/>
                <a:pathLst>
                  <a:path w="36" h="32">
                    <a:moveTo>
                      <a:pt x="24" y="2"/>
                    </a:moveTo>
                    <a:lnTo>
                      <a:pt x="24" y="2"/>
                    </a:lnTo>
                    <a:lnTo>
                      <a:pt x="20" y="2"/>
                    </a:lnTo>
                    <a:lnTo>
                      <a:pt x="16" y="2"/>
                    </a:lnTo>
                    <a:lnTo>
                      <a:pt x="12" y="0"/>
                    </a:lnTo>
                    <a:lnTo>
                      <a:pt x="8" y="2"/>
                    </a:lnTo>
                    <a:lnTo>
                      <a:pt x="8" y="4"/>
                    </a:lnTo>
                    <a:lnTo>
                      <a:pt x="12" y="8"/>
                    </a:lnTo>
                    <a:lnTo>
                      <a:pt x="14" y="10"/>
                    </a:lnTo>
                    <a:lnTo>
                      <a:pt x="14" y="12"/>
                    </a:lnTo>
                    <a:lnTo>
                      <a:pt x="12" y="14"/>
                    </a:lnTo>
                    <a:lnTo>
                      <a:pt x="10" y="14"/>
                    </a:lnTo>
                    <a:lnTo>
                      <a:pt x="6" y="14"/>
                    </a:lnTo>
                    <a:lnTo>
                      <a:pt x="6" y="12"/>
                    </a:lnTo>
                    <a:lnTo>
                      <a:pt x="4" y="14"/>
                    </a:lnTo>
                    <a:lnTo>
                      <a:pt x="4" y="18"/>
                    </a:lnTo>
                    <a:lnTo>
                      <a:pt x="2" y="20"/>
                    </a:lnTo>
                    <a:lnTo>
                      <a:pt x="0" y="22"/>
                    </a:lnTo>
                    <a:lnTo>
                      <a:pt x="2" y="24"/>
                    </a:lnTo>
                    <a:lnTo>
                      <a:pt x="4" y="24"/>
                    </a:lnTo>
                    <a:lnTo>
                      <a:pt x="0" y="26"/>
                    </a:lnTo>
                    <a:lnTo>
                      <a:pt x="0" y="30"/>
                    </a:lnTo>
                    <a:lnTo>
                      <a:pt x="0" y="32"/>
                    </a:lnTo>
                    <a:lnTo>
                      <a:pt x="2" y="32"/>
                    </a:lnTo>
                    <a:lnTo>
                      <a:pt x="10" y="24"/>
                    </a:lnTo>
                    <a:lnTo>
                      <a:pt x="18" y="22"/>
                    </a:lnTo>
                    <a:lnTo>
                      <a:pt x="18" y="20"/>
                    </a:lnTo>
                    <a:lnTo>
                      <a:pt x="20" y="18"/>
                    </a:lnTo>
                    <a:lnTo>
                      <a:pt x="28" y="18"/>
                    </a:lnTo>
                    <a:lnTo>
                      <a:pt x="34" y="16"/>
                    </a:lnTo>
                    <a:lnTo>
                      <a:pt x="36" y="12"/>
                    </a:lnTo>
                    <a:lnTo>
                      <a:pt x="30" y="8"/>
                    </a:lnTo>
                    <a:lnTo>
                      <a:pt x="26" y="6"/>
                    </a:lnTo>
                    <a:lnTo>
                      <a:pt x="24" y="4"/>
                    </a:lnTo>
                    <a:lnTo>
                      <a:pt x="24" y="2"/>
                    </a:lnTo>
                    <a:lnTo>
                      <a:pt x="24"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9" name="Freeform 38">
                <a:extLst>
                  <a:ext uri="{FF2B5EF4-FFF2-40B4-BE49-F238E27FC236}">
                    <a16:creationId xmlns:a16="http://schemas.microsoft.com/office/drawing/2014/main" id="{25F11562-95F6-BE5F-690E-36EF72C9A6EA}"/>
                  </a:ext>
                </a:extLst>
              </p:cNvPr>
              <p:cNvSpPr>
                <a:spLocks/>
              </p:cNvSpPr>
              <p:nvPr/>
            </p:nvSpPr>
            <p:spPr bwMode="auto">
              <a:xfrm>
                <a:off x="4928310" y="3671996"/>
                <a:ext cx="50562" cy="109518"/>
              </a:xfrm>
              <a:custGeom>
                <a:avLst/>
                <a:gdLst/>
                <a:ahLst/>
                <a:cxnLst>
                  <a:cxn ang="0">
                    <a:pos x="52" y="68"/>
                  </a:cxn>
                  <a:cxn ang="0">
                    <a:pos x="42" y="64"/>
                  </a:cxn>
                  <a:cxn ang="0">
                    <a:pos x="40" y="58"/>
                  </a:cxn>
                  <a:cxn ang="0">
                    <a:pos x="46" y="46"/>
                  </a:cxn>
                  <a:cxn ang="0">
                    <a:pos x="48" y="42"/>
                  </a:cxn>
                  <a:cxn ang="0">
                    <a:pos x="46" y="34"/>
                  </a:cxn>
                  <a:cxn ang="0">
                    <a:pos x="44" y="28"/>
                  </a:cxn>
                  <a:cxn ang="0">
                    <a:pos x="50" y="14"/>
                  </a:cxn>
                  <a:cxn ang="0">
                    <a:pos x="52" y="6"/>
                  </a:cxn>
                  <a:cxn ang="0">
                    <a:pos x="46" y="8"/>
                  </a:cxn>
                  <a:cxn ang="0">
                    <a:pos x="40" y="2"/>
                  </a:cxn>
                  <a:cxn ang="0">
                    <a:pos x="38" y="2"/>
                  </a:cxn>
                  <a:cxn ang="0">
                    <a:pos x="36" y="0"/>
                  </a:cxn>
                  <a:cxn ang="0">
                    <a:pos x="26" y="4"/>
                  </a:cxn>
                  <a:cxn ang="0">
                    <a:pos x="8" y="4"/>
                  </a:cxn>
                  <a:cxn ang="0">
                    <a:pos x="8" y="14"/>
                  </a:cxn>
                  <a:cxn ang="0">
                    <a:pos x="12" y="18"/>
                  </a:cxn>
                  <a:cxn ang="0">
                    <a:pos x="12" y="28"/>
                  </a:cxn>
                  <a:cxn ang="0">
                    <a:pos x="14" y="38"/>
                  </a:cxn>
                  <a:cxn ang="0">
                    <a:pos x="12" y="42"/>
                  </a:cxn>
                  <a:cxn ang="0">
                    <a:pos x="8" y="48"/>
                  </a:cxn>
                  <a:cxn ang="0">
                    <a:pos x="0" y="52"/>
                  </a:cxn>
                  <a:cxn ang="0">
                    <a:pos x="2" y="68"/>
                  </a:cxn>
                  <a:cxn ang="0">
                    <a:pos x="6" y="68"/>
                  </a:cxn>
                  <a:cxn ang="0">
                    <a:pos x="10" y="82"/>
                  </a:cxn>
                  <a:cxn ang="0">
                    <a:pos x="20" y="114"/>
                  </a:cxn>
                  <a:cxn ang="0">
                    <a:pos x="26" y="112"/>
                  </a:cxn>
                  <a:cxn ang="0">
                    <a:pos x="28" y="108"/>
                  </a:cxn>
                  <a:cxn ang="0">
                    <a:pos x="32" y="104"/>
                  </a:cxn>
                  <a:cxn ang="0">
                    <a:pos x="30" y="94"/>
                  </a:cxn>
                  <a:cxn ang="0">
                    <a:pos x="32" y="88"/>
                  </a:cxn>
                  <a:cxn ang="0">
                    <a:pos x="40" y="86"/>
                  </a:cxn>
                  <a:cxn ang="0">
                    <a:pos x="46" y="82"/>
                  </a:cxn>
                  <a:cxn ang="0">
                    <a:pos x="48" y="76"/>
                  </a:cxn>
                  <a:cxn ang="0">
                    <a:pos x="52" y="68"/>
                  </a:cxn>
                </a:cxnLst>
                <a:rect l="0" t="0" r="r" b="b"/>
                <a:pathLst>
                  <a:path w="52" h="114">
                    <a:moveTo>
                      <a:pt x="52" y="68"/>
                    </a:moveTo>
                    <a:lnTo>
                      <a:pt x="52" y="68"/>
                    </a:lnTo>
                    <a:lnTo>
                      <a:pt x="46" y="66"/>
                    </a:lnTo>
                    <a:lnTo>
                      <a:pt x="42" y="64"/>
                    </a:lnTo>
                    <a:lnTo>
                      <a:pt x="40" y="62"/>
                    </a:lnTo>
                    <a:lnTo>
                      <a:pt x="40" y="58"/>
                    </a:lnTo>
                    <a:lnTo>
                      <a:pt x="40" y="54"/>
                    </a:lnTo>
                    <a:lnTo>
                      <a:pt x="46" y="46"/>
                    </a:lnTo>
                    <a:lnTo>
                      <a:pt x="46" y="42"/>
                    </a:lnTo>
                    <a:lnTo>
                      <a:pt x="48" y="42"/>
                    </a:lnTo>
                    <a:lnTo>
                      <a:pt x="48" y="38"/>
                    </a:lnTo>
                    <a:lnTo>
                      <a:pt x="46" y="34"/>
                    </a:lnTo>
                    <a:lnTo>
                      <a:pt x="48" y="28"/>
                    </a:lnTo>
                    <a:lnTo>
                      <a:pt x="44" y="28"/>
                    </a:lnTo>
                    <a:lnTo>
                      <a:pt x="44" y="18"/>
                    </a:lnTo>
                    <a:lnTo>
                      <a:pt x="50" y="14"/>
                    </a:lnTo>
                    <a:lnTo>
                      <a:pt x="52" y="8"/>
                    </a:lnTo>
                    <a:lnTo>
                      <a:pt x="52" y="6"/>
                    </a:lnTo>
                    <a:lnTo>
                      <a:pt x="50" y="6"/>
                    </a:lnTo>
                    <a:lnTo>
                      <a:pt x="46" y="8"/>
                    </a:lnTo>
                    <a:lnTo>
                      <a:pt x="42" y="6"/>
                    </a:lnTo>
                    <a:lnTo>
                      <a:pt x="40" y="2"/>
                    </a:lnTo>
                    <a:lnTo>
                      <a:pt x="38" y="0"/>
                    </a:lnTo>
                    <a:lnTo>
                      <a:pt x="38" y="2"/>
                    </a:lnTo>
                    <a:lnTo>
                      <a:pt x="36" y="2"/>
                    </a:lnTo>
                    <a:lnTo>
                      <a:pt x="36" y="0"/>
                    </a:lnTo>
                    <a:lnTo>
                      <a:pt x="30" y="0"/>
                    </a:lnTo>
                    <a:lnTo>
                      <a:pt x="26" y="4"/>
                    </a:lnTo>
                    <a:lnTo>
                      <a:pt x="16" y="4"/>
                    </a:lnTo>
                    <a:lnTo>
                      <a:pt x="8" y="4"/>
                    </a:lnTo>
                    <a:lnTo>
                      <a:pt x="8" y="10"/>
                    </a:lnTo>
                    <a:lnTo>
                      <a:pt x="8" y="14"/>
                    </a:lnTo>
                    <a:lnTo>
                      <a:pt x="10" y="16"/>
                    </a:lnTo>
                    <a:lnTo>
                      <a:pt x="12" y="18"/>
                    </a:lnTo>
                    <a:lnTo>
                      <a:pt x="12" y="22"/>
                    </a:lnTo>
                    <a:lnTo>
                      <a:pt x="12" y="28"/>
                    </a:lnTo>
                    <a:lnTo>
                      <a:pt x="14" y="36"/>
                    </a:lnTo>
                    <a:lnTo>
                      <a:pt x="14" y="38"/>
                    </a:lnTo>
                    <a:lnTo>
                      <a:pt x="12" y="40"/>
                    </a:lnTo>
                    <a:lnTo>
                      <a:pt x="12" y="42"/>
                    </a:lnTo>
                    <a:lnTo>
                      <a:pt x="10" y="42"/>
                    </a:lnTo>
                    <a:lnTo>
                      <a:pt x="8" y="48"/>
                    </a:lnTo>
                    <a:lnTo>
                      <a:pt x="4" y="52"/>
                    </a:lnTo>
                    <a:lnTo>
                      <a:pt x="0" y="52"/>
                    </a:lnTo>
                    <a:lnTo>
                      <a:pt x="0" y="56"/>
                    </a:lnTo>
                    <a:lnTo>
                      <a:pt x="2" y="68"/>
                    </a:lnTo>
                    <a:lnTo>
                      <a:pt x="4" y="68"/>
                    </a:lnTo>
                    <a:lnTo>
                      <a:pt x="6" y="68"/>
                    </a:lnTo>
                    <a:lnTo>
                      <a:pt x="8" y="70"/>
                    </a:lnTo>
                    <a:lnTo>
                      <a:pt x="10" y="82"/>
                    </a:lnTo>
                    <a:lnTo>
                      <a:pt x="16" y="84"/>
                    </a:lnTo>
                    <a:lnTo>
                      <a:pt x="20" y="114"/>
                    </a:lnTo>
                    <a:lnTo>
                      <a:pt x="24" y="114"/>
                    </a:lnTo>
                    <a:lnTo>
                      <a:pt x="26" y="112"/>
                    </a:lnTo>
                    <a:lnTo>
                      <a:pt x="28" y="112"/>
                    </a:lnTo>
                    <a:lnTo>
                      <a:pt x="28" y="108"/>
                    </a:lnTo>
                    <a:lnTo>
                      <a:pt x="30" y="106"/>
                    </a:lnTo>
                    <a:lnTo>
                      <a:pt x="32" y="104"/>
                    </a:lnTo>
                    <a:lnTo>
                      <a:pt x="32" y="102"/>
                    </a:lnTo>
                    <a:lnTo>
                      <a:pt x="30" y="94"/>
                    </a:lnTo>
                    <a:lnTo>
                      <a:pt x="32" y="90"/>
                    </a:lnTo>
                    <a:lnTo>
                      <a:pt x="32" y="88"/>
                    </a:lnTo>
                    <a:lnTo>
                      <a:pt x="36" y="88"/>
                    </a:lnTo>
                    <a:lnTo>
                      <a:pt x="40" y="86"/>
                    </a:lnTo>
                    <a:lnTo>
                      <a:pt x="42" y="86"/>
                    </a:lnTo>
                    <a:lnTo>
                      <a:pt x="46" y="82"/>
                    </a:lnTo>
                    <a:lnTo>
                      <a:pt x="48" y="78"/>
                    </a:lnTo>
                    <a:lnTo>
                      <a:pt x="48" y="76"/>
                    </a:lnTo>
                    <a:lnTo>
                      <a:pt x="48" y="74"/>
                    </a:lnTo>
                    <a:lnTo>
                      <a:pt x="52" y="68"/>
                    </a:lnTo>
                    <a:lnTo>
                      <a:pt x="52" y="6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60" name="Freeform 40">
                <a:extLst>
                  <a:ext uri="{FF2B5EF4-FFF2-40B4-BE49-F238E27FC236}">
                    <a16:creationId xmlns:a16="http://schemas.microsoft.com/office/drawing/2014/main" id="{611D6A84-5719-4BCB-74C0-D967FFE3C398}"/>
                  </a:ext>
                </a:extLst>
              </p:cNvPr>
              <p:cNvSpPr>
                <a:spLocks/>
              </p:cNvSpPr>
              <p:nvPr/>
            </p:nvSpPr>
            <p:spPr bwMode="auto">
              <a:xfrm>
                <a:off x="4833019" y="4079326"/>
                <a:ext cx="25281" cy="96069"/>
              </a:xfrm>
              <a:custGeom>
                <a:avLst/>
                <a:gdLst/>
                <a:ahLst/>
                <a:cxnLst>
                  <a:cxn ang="0">
                    <a:pos x="16" y="98"/>
                  </a:cxn>
                  <a:cxn ang="0">
                    <a:pos x="16" y="98"/>
                  </a:cxn>
                  <a:cxn ang="0">
                    <a:pos x="20" y="92"/>
                  </a:cxn>
                  <a:cxn ang="0">
                    <a:pos x="20" y="96"/>
                  </a:cxn>
                  <a:cxn ang="0">
                    <a:pos x="20" y="98"/>
                  </a:cxn>
                  <a:cxn ang="0">
                    <a:pos x="18" y="100"/>
                  </a:cxn>
                  <a:cxn ang="0">
                    <a:pos x="20" y="100"/>
                  </a:cxn>
                  <a:cxn ang="0">
                    <a:pos x="22" y="96"/>
                  </a:cxn>
                  <a:cxn ang="0">
                    <a:pos x="24" y="96"/>
                  </a:cxn>
                  <a:cxn ang="0">
                    <a:pos x="26" y="96"/>
                  </a:cxn>
                  <a:cxn ang="0">
                    <a:pos x="26" y="94"/>
                  </a:cxn>
                  <a:cxn ang="0">
                    <a:pos x="24" y="88"/>
                  </a:cxn>
                  <a:cxn ang="0">
                    <a:pos x="24" y="84"/>
                  </a:cxn>
                  <a:cxn ang="0">
                    <a:pos x="24" y="82"/>
                  </a:cxn>
                  <a:cxn ang="0">
                    <a:pos x="22" y="76"/>
                  </a:cxn>
                  <a:cxn ang="0">
                    <a:pos x="22" y="72"/>
                  </a:cxn>
                  <a:cxn ang="0">
                    <a:pos x="24" y="66"/>
                  </a:cxn>
                  <a:cxn ang="0">
                    <a:pos x="24" y="62"/>
                  </a:cxn>
                  <a:cxn ang="0">
                    <a:pos x="24" y="56"/>
                  </a:cxn>
                  <a:cxn ang="0">
                    <a:pos x="22" y="50"/>
                  </a:cxn>
                  <a:cxn ang="0">
                    <a:pos x="24" y="46"/>
                  </a:cxn>
                  <a:cxn ang="0">
                    <a:pos x="24" y="38"/>
                  </a:cxn>
                  <a:cxn ang="0">
                    <a:pos x="24" y="36"/>
                  </a:cxn>
                  <a:cxn ang="0">
                    <a:pos x="22" y="34"/>
                  </a:cxn>
                  <a:cxn ang="0">
                    <a:pos x="22" y="28"/>
                  </a:cxn>
                  <a:cxn ang="0">
                    <a:pos x="22" y="22"/>
                  </a:cxn>
                  <a:cxn ang="0">
                    <a:pos x="22" y="20"/>
                  </a:cxn>
                  <a:cxn ang="0">
                    <a:pos x="12" y="16"/>
                  </a:cxn>
                  <a:cxn ang="0">
                    <a:pos x="12" y="2"/>
                  </a:cxn>
                  <a:cxn ang="0">
                    <a:pos x="6" y="2"/>
                  </a:cxn>
                  <a:cxn ang="0">
                    <a:pos x="0" y="0"/>
                  </a:cxn>
                  <a:cxn ang="0">
                    <a:pos x="0" y="6"/>
                  </a:cxn>
                  <a:cxn ang="0">
                    <a:pos x="0" y="12"/>
                  </a:cxn>
                  <a:cxn ang="0">
                    <a:pos x="0" y="14"/>
                  </a:cxn>
                  <a:cxn ang="0">
                    <a:pos x="4" y="16"/>
                  </a:cxn>
                  <a:cxn ang="0">
                    <a:pos x="4" y="22"/>
                  </a:cxn>
                  <a:cxn ang="0">
                    <a:pos x="6" y="28"/>
                  </a:cxn>
                  <a:cxn ang="0">
                    <a:pos x="4" y="34"/>
                  </a:cxn>
                  <a:cxn ang="0">
                    <a:pos x="4" y="36"/>
                  </a:cxn>
                  <a:cxn ang="0">
                    <a:pos x="4" y="38"/>
                  </a:cxn>
                  <a:cxn ang="0">
                    <a:pos x="6" y="38"/>
                  </a:cxn>
                  <a:cxn ang="0">
                    <a:pos x="6" y="40"/>
                  </a:cxn>
                  <a:cxn ang="0">
                    <a:pos x="4" y="46"/>
                  </a:cxn>
                  <a:cxn ang="0">
                    <a:pos x="4" y="46"/>
                  </a:cxn>
                  <a:cxn ang="0">
                    <a:pos x="4" y="50"/>
                  </a:cxn>
                  <a:cxn ang="0">
                    <a:pos x="8" y="54"/>
                  </a:cxn>
                  <a:cxn ang="0">
                    <a:pos x="10" y="58"/>
                  </a:cxn>
                  <a:cxn ang="0">
                    <a:pos x="8" y="72"/>
                  </a:cxn>
                  <a:cxn ang="0">
                    <a:pos x="6" y="76"/>
                  </a:cxn>
                  <a:cxn ang="0">
                    <a:pos x="8" y="78"/>
                  </a:cxn>
                  <a:cxn ang="0">
                    <a:pos x="8" y="80"/>
                  </a:cxn>
                  <a:cxn ang="0">
                    <a:pos x="8" y="82"/>
                  </a:cxn>
                  <a:cxn ang="0">
                    <a:pos x="16" y="98"/>
                  </a:cxn>
                  <a:cxn ang="0">
                    <a:pos x="16" y="98"/>
                  </a:cxn>
                </a:cxnLst>
                <a:rect l="0" t="0" r="r" b="b"/>
                <a:pathLst>
                  <a:path w="26" h="100">
                    <a:moveTo>
                      <a:pt x="16" y="98"/>
                    </a:moveTo>
                    <a:lnTo>
                      <a:pt x="16" y="98"/>
                    </a:lnTo>
                    <a:lnTo>
                      <a:pt x="20" y="92"/>
                    </a:lnTo>
                    <a:lnTo>
                      <a:pt x="20" y="96"/>
                    </a:lnTo>
                    <a:lnTo>
                      <a:pt x="20" y="98"/>
                    </a:lnTo>
                    <a:lnTo>
                      <a:pt x="18" y="100"/>
                    </a:lnTo>
                    <a:lnTo>
                      <a:pt x="20" y="100"/>
                    </a:lnTo>
                    <a:lnTo>
                      <a:pt x="22" y="96"/>
                    </a:lnTo>
                    <a:lnTo>
                      <a:pt x="24" y="96"/>
                    </a:lnTo>
                    <a:lnTo>
                      <a:pt x="26" y="96"/>
                    </a:lnTo>
                    <a:lnTo>
                      <a:pt x="26" y="94"/>
                    </a:lnTo>
                    <a:lnTo>
                      <a:pt x="24" y="88"/>
                    </a:lnTo>
                    <a:lnTo>
                      <a:pt x="24" y="84"/>
                    </a:lnTo>
                    <a:lnTo>
                      <a:pt x="24" y="82"/>
                    </a:lnTo>
                    <a:lnTo>
                      <a:pt x="22" y="76"/>
                    </a:lnTo>
                    <a:lnTo>
                      <a:pt x="22" y="72"/>
                    </a:lnTo>
                    <a:lnTo>
                      <a:pt x="24" y="66"/>
                    </a:lnTo>
                    <a:lnTo>
                      <a:pt x="24" y="62"/>
                    </a:lnTo>
                    <a:lnTo>
                      <a:pt x="24" y="56"/>
                    </a:lnTo>
                    <a:lnTo>
                      <a:pt x="22" y="50"/>
                    </a:lnTo>
                    <a:lnTo>
                      <a:pt x="24" y="46"/>
                    </a:lnTo>
                    <a:lnTo>
                      <a:pt x="24" y="38"/>
                    </a:lnTo>
                    <a:lnTo>
                      <a:pt x="24" y="36"/>
                    </a:lnTo>
                    <a:lnTo>
                      <a:pt x="22" y="34"/>
                    </a:lnTo>
                    <a:lnTo>
                      <a:pt x="22" y="28"/>
                    </a:lnTo>
                    <a:lnTo>
                      <a:pt x="22" y="22"/>
                    </a:lnTo>
                    <a:lnTo>
                      <a:pt x="22" y="20"/>
                    </a:lnTo>
                    <a:lnTo>
                      <a:pt x="12" y="16"/>
                    </a:lnTo>
                    <a:lnTo>
                      <a:pt x="12" y="2"/>
                    </a:lnTo>
                    <a:lnTo>
                      <a:pt x="6" y="2"/>
                    </a:lnTo>
                    <a:lnTo>
                      <a:pt x="0" y="0"/>
                    </a:lnTo>
                    <a:lnTo>
                      <a:pt x="0" y="6"/>
                    </a:lnTo>
                    <a:lnTo>
                      <a:pt x="0" y="12"/>
                    </a:lnTo>
                    <a:lnTo>
                      <a:pt x="0" y="14"/>
                    </a:lnTo>
                    <a:lnTo>
                      <a:pt x="4" y="16"/>
                    </a:lnTo>
                    <a:lnTo>
                      <a:pt x="4" y="22"/>
                    </a:lnTo>
                    <a:lnTo>
                      <a:pt x="6" y="28"/>
                    </a:lnTo>
                    <a:lnTo>
                      <a:pt x="4" y="34"/>
                    </a:lnTo>
                    <a:lnTo>
                      <a:pt x="4" y="36"/>
                    </a:lnTo>
                    <a:lnTo>
                      <a:pt x="4" y="38"/>
                    </a:lnTo>
                    <a:lnTo>
                      <a:pt x="6" y="38"/>
                    </a:lnTo>
                    <a:lnTo>
                      <a:pt x="6" y="40"/>
                    </a:lnTo>
                    <a:lnTo>
                      <a:pt x="4" y="46"/>
                    </a:lnTo>
                    <a:lnTo>
                      <a:pt x="4" y="46"/>
                    </a:lnTo>
                    <a:lnTo>
                      <a:pt x="4" y="50"/>
                    </a:lnTo>
                    <a:lnTo>
                      <a:pt x="8" y="54"/>
                    </a:lnTo>
                    <a:lnTo>
                      <a:pt x="10" y="58"/>
                    </a:lnTo>
                    <a:lnTo>
                      <a:pt x="8" y="72"/>
                    </a:lnTo>
                    <a:lnTo>
                      <a:pt x="6" y="76"/>
                    </a:lnTo>
                    <a:lnTo>
                      <a:pt x="8" y="78"/>
                    </a:lnTo>
                    <a:lnTo>
                      <a:pt x="8" y="80"/>
                    </a:lnTo>
                    <a:lnTo>
                      <a:pt x="8" y="82"/>
                    </a:lnTo>
                    <a:lnTo>
                      <a:pt x="16" y="98"/>
                    </a:lnTo>
                    <a:lnTo>
                      <a:pt x="16" y="9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61" name="Freeform 41">
                <a:extLst>
                  <a:ext uri="{FF2B5EF4-FFF2-40B4-BE49-F238E27FC236}">
                    <a16:creationId xmlns:a16="http://schemas.microsoft.com/office/drawing/2014/main" id="{1E1C5FC2-E17F-FB46-2B69-7A0F38AD1B64}"/>
                  </a:ext>
                </a:extLst>
              </p:cNvPr>
              <p:cNvSpPr>
                <a:spLocks/>
              </p:cNvSpPr>
              <p:nvPr/>
            </p:nvSpPr>
            <p:spPr bwMode="auto">
              <a:xfrm>
                <a:off x="6069846" y="3954437"/>
                <a:ext cx="93345" cy="226722"/>
              </a:xfrm>
              <a:custGeom>
                <a:avLst/>
                <a:gdLst/>
                <a:ahLst/>
                <a:cxnLst>
                  <a:cxn ang="0">
                    <a:pos x="36" y="6"/>
                  </a:cxn>
                  <a:cxn ang="0">
                    <a:pos x="38" y="16"/>
                  </a:cxn>
                  <a:cxn ang="0">
                    <a:pos x="42" y="24"/>
                  </a:cxn>
                  <a:cxn ang="0">
                    <a:pos x="46" y="36"/>
                  </a:cxn>
                  <a:cxn ang="0">
                    <a:pos x="60" y="24"/>
                  </a:cxn>
                  <a:cxn ang="0">
                    <a:pos x="66" y="30"/>
                  </a:cxn>
                  <a:cxn ang="0">
                    <a:pos x="84" y="42"/>
                  </a:cxn>
                  <a:cxn ang="0">
                    <a:pos x="88" y="60"/>
                  </a:cxn>
                  <a:cxn ang="0">
                    <a:pos x="94" y="72"/>
                  </a:cxn>
                  <a:cxn ang="0">
                    <a:pos x="92" y="84"/>
                  </a:cxn>
                  <a:cxn ang="0">
                    <a:pos x="78" y="96"/>
                  </a:cxn>
                  <a:cxn ang="0">
                    <a:pos x="62" y="100"/>
                  </a:cxn>
                  <a:cxn ang="0">
                    <a:pos x="58" y="120"/>
                  </a:cxn>
                  <a:cxn ang="0">
                    <a:pos x="64" y="142"/>
                  </a:cxn>
                  <a:cxn ang="0">
                    <a:pos x="58" y="132"/>
                  </a:cxn>
                  <a:cxn ang="0">
                    <a:pos x="50" y="122"/>
                  </a:cxn>
                  <a:cxn ang="0">
                    <a:pos x="40" y="114"/>
                  </a:cxn>
                  <a:cxn ang="0">
                    <a:pos x="32" y="112"/>
                  </a:cxn>
                  <a:cxn ang="0">
                    <a:pos x="30" y="122"/>
                  </a:cxn>
                  <a:cxn ang="0">
                    <a:pos x="30" y="134"/>
                  </a:cxn>
                  <a:cxn ang="0">
                    <a:pos x="26" y="154"/>
                  </a:cxn>
                  <a:cxn ang="0">
                    <a:pos x="20" y="174"/>
                  </a:cxn>
                  <a:cxn ang="0">
                    <a:pos x="26" y="180"/>
                  </a:cxn>
                  <a:cxn ang="0">
                    <a:pos x="32" y="188"/>
                  </a:cxn>
                  <a:cxn ang="0">
                    <a:pos x="38" y="208"/>
                  </a:cxn>
                  <a:cxn ang="0">
                    <a:pos x="46" y="212"/>
                  </a:cxn>
                  <a:cxn ang="0">
                    <a:pos x="52" y="220"/>
                  </a:cxn>
                  <a:cxn ang="0">
                    <a:pos x="52" y="234"/>
                  </a:cxn>
                  <a:cxn ang="0">
                    <a:pos x="42" y="236"/>
                  </a:cxn>
                  <a:cxn ang="0">
                    <a:pos x="32" y="230"/>
                  </a:cxn>
                  <a:cxn ang="0">
                    <a:pos x="28" y="212"/>
                  </a:cxn>
                  <a:cxn ang="0">
                    <a:pos x="22" y="204"/>
                  </a:cxn>
                  <a:cxn ang="0">
                    <a:pos x="10" y="182"/>
                  </a:cxn>
                  <a:cxn ang="0">
                    <a:pos x="16" y="168"/>
                  </a:cxn>
                  <a:cxn ang="0">
                    <a:pos x="12" y="160"/>
                  </a:cxn>
                  <a:cxn ang="0">
                    <a:pos x="16" y="146"/>
                  </a:cxn>
                  <a:cxn ang="0">
                    <a:pos x="20" y="132"/>
                  </a:cxn>
                  <a:cxn ang="0">
                    <a:pos x="22" y="108"/>
                  </a:cxn>
                  <a:cxn ang="0">
                    <a:pos x="6" y="76"/>
                  </a:cxn>
                  <a:cxn ang="0">
                    <a:pos x="8" y="62"/>
                  </a:cxn>
                  <a:cxn ang="0">
                    <a:pos x="2" y="34"/>
                  </a:cxn>
                  <a:cxn ang="0">
                    <a:pos x="2" y="16"/>
                  </a:cxn>
                  <a:cxn ang="0">
                    <a:pos x="14" y="10"/>
                  </a:cxn>
                  <a:cxn ang="0">
                    <a:pos x="20" y="0"/>
                  </a:cxn>
                  <a:cxn ang="0">
                    <a:pos x="32" y="2"/>
                  </a:cxn>
                </a:cxnLst>
                <a:rect l="0" t="0" r="r" b="b"/>
                <a:pathLst>
                  <a:path w="96" h="236">
                    <a:moveTo>
                      <a:pt x="32" y="2"/>
                    </a:moveTo>
                    <a:lnTo>
                      <a:pt x="32" y="6"/>
                    </a:lnTo>
                    <a:lnTo>
                      <a:pt x="36" y="6"/>
                    </a:lnTo>
                    <a:lnTo>
                      <a:pt x="40" y="6"/>
                    </a:lnTo>
                    <a:lnTo>
                      <a:pt x="42" y="10"/>
                    </a:lnTo>
                    <a:lnTo>
                      <a:pt x="38" y="16"/>
                    </a:lnTo>
                    <a:lnTo>
                      <a:pt x="40" y="18"/>
                    </a:lnTo>
                    <a:lnTo>
                      <a:pt x="40" y="22"/>
                    </a:lnTo>
                    <a:lnTo>
                      <a:pt x="42" y="24"/>
                    </a:lnTo>
                    <a:lnTo>
                      <a:pt x="44" y="30"/>
                    </a:lnTo>
                    <a:lnTo>
                      <a:pt x="42" y="34"/>
                    </a:lnTo>
                    <a:lnTo>
                      <a:pt x="46" y="36"/>
                    </a:lnTo>
                    <a:lnTo>
                      <a:pt x="50" y="34"/>
                    </a:lnTo>
                    <a:lnTo>
                      <a:pt x="52" y="30"/>
                    </a:lnTo>
                    <a:lnTo>
                      <a:pt x="60" y="24"/>
                    </a:lnTo>
                    <a:lnTo>
                      <a:pt x="64" y="26"/>
                    </a:lnTo>
                    <a:lnTo>
                      <a:pt x="64" y="28"/>
                    </a:lnTo>
                    <a:lnTo>
                      <a:pt x="66" y="30"/>
                    </a:lnTo>
                    <a:lnTo>
                      <a:pt x="72" y="34"/>
                    </a:lnTo>
                    <a:lnTo>
                      <a:pt x="78" y="34"/>
                    </a:lnTo>
                    <a:lnTo>
                      <a:pt x="84" y="42"/>
                    </a:lnTo>
                    <a:lnTo>
                      <a:pt x="84" y="48"/>
                    </a:lnTo>
                    <a:lnTo>
                      <a:pt x="84" y="56"/>
                    </a:lnTo>
                    <a:lnTo>
                      <a:pt x="88" y="60"/>
                    </a:lnTo>
                    <a:lnTo>
                      <a:pt x="92" y="64"/>
                    </a:lnTo>
                    <a:lnTo>
                      <a:pt x="94" y="68"/>
                    </a:lnTo>
                    <a:lnTo>
                      <a:pt x="94" y="72"/>
                    </a:lnTo>
                    <a:lnTo>
                      <a:pt x="96" y="74"/>
                    </a:lnTo>
                    <a:lnTo>
                      <a:pt x="94" y="80"/>
                    </a:lnTo>
                    <a:lnTo>
                      <a:pt x="92" y="84"/>
                    </a:lnTo>
                    <a:lnTo>
                      <a:pt x="88" y="88"/>
                    </a:lnTo>
                    <a:lnTo>
                      <a:pt x="84" y="92"/>
                    </a:lnTo>
                    <a:lnTo>
                      <a:pt x="78" y="96"/>
                    </a:lnTo>
                    <a:lnTo>
                      <a:pt x="74" y="96"/>
                    </a:lnTo>
                    <a:lnTo>
                      <a:pt x="68" y="96"/>
                    </a:lnTo>
                    <a:lnTo>
                      <a:pt x="62" y="100"/>
                    </a:lnTo>
                    <a:lnTo>
                      <a:pt x="58" y="102"/>
                    </a:lnTo>
                    <a:lnTo>
                      <a:pt x="58" y="110"/>
                    </a:lnTo>
                    <a:lnTo>
                      <a:pt x="58" y="120"/>
                    </a:lnTo>
                    <a:lnTo>
                      <a:pt x="62" y="124"/>
                    </a:lnTo>
                    <a:lnTo>
                      <a:pt x="64" y="132"/>
                    </a:lnTo>
                    <a:lnTo>
                      <a:pt x="64" y="142"/>
                    </a:lnTo>
                    <a:lnTo>
                      <a:pt x="62" y="138"/>
                    </a:lnTo>
                    <a:lnTo>
                      <a:pt x="60" y="134"/>
                    </a:lnTo>
                    <a:lnTo>
                      <a:pt x="58" y="132"/>
                    </a:lnTo>
                    <a:lnTo>
                      <a:pt x="56" y="132"/>
                    </a:lnTo>
                    <a:lnTo>
                      <a:pt x="54" y="126"/>
                    </a:lnTo>
                    <a:lnTo>
                      <a:pt x="50" y="122"/>
                    </a:lnTo>
                    <a:lnTo>
                      <a:pt x="44" y="122"/>
                    </a:lnTo>
                    <a:lnTo>
                      <a:pt x="42" y="116"/>
                    </a:lnTo>
                    <a:lnTo>
                      <a:pt x="40" y="114"/>
                    </a:lnTo>
                    <a:lnTo>
                      <a:pt x="36" y="112"/>
                    </a:lnTo>
                    <a:lnTo>
                      <a:pt x="32" y="110"/>
                    </a:lnTo>
                    <a:lnTo>
                      <a:pt x="32" y="112"/>
                    </a:lnTo>
                    <a:lnTo>
                      <a:pt x="30" y="112"/>
                    </a:lnTo>
                    <a:lnTo>
                      <a:pt x="30" y="118"/>
                    </a:lnTo>
                    <a:lnTo>
                      <a:pt x="30" y="122"/>
                    </a:lnTo>
                    <a:lnTo>
                      <a:pt x="30" y="124"/>
                    </a:lnTo>
                    <a:lnTo>
                      <a:pt x="30" y="130"/>
                    </a:lnTo>
                    <a:lnTo>
                      <a:pt x="30" y="134"/>
                    </a:lnTo>
                    <a:lnTo>
                      <a:pt x="28" y="138"/>
                    </a:lnTo>
                    <a:lnTo>
                      <a:pt x="26" y="146"/>
                    </a:lnTo>
                    <a:lnTo>
                      <a:pt x="26" y="154"/>
                    </a:lnTo>
                    <a:lnTo>
                      <a:pt x="24" y="156"/>
                    </a:lnTo>
                    <a:lnTo>
                      <a:pt x="22" y="166"/>
                    </a:lnTo>
                    <a:lnTo>
                      <a:pt x="20" y="174"/>
                    </a:lnTo>
                    <a:lnTo>
                      <a:pt x="22" y="176"/>
                    </a:lnTo>
                    <a:lnTo>
                      <a:pt x="24" y="178"/>
                    </a:lnTo>
                    <a:lnTo>
                      <a:pt x="26" y="180"/>
                    </a:lnTo>
                    <a:lnTo>
                      <a:pt x="28" y="190"/>
                    </a:lnTo>
                    <a:lnTo>
                      <a:pt x="30" y="190"/>
                    </a:lnTo>
                    <a:lnTo>
                      <a:pt x="32" y="188"/>
                    </a:lnTo>
                    <a:lnTo>
                      <a:pt x="32" y="200"/>
                    </a:lnTo>
                    <a:lnTo>
                      <a:pt x="34" y="206"/>
                    </a:lnTo>
                    <a:lnTo>
                      <a:pt x="38" y="208"/>
                    </a:lnTo>
                    <a:lnTo>
                      <a:pt x="42" y="208"/>
                    </a:lnTo>
                    <a:lnTo>
                      <a:pt x="46" y="210"/>
                    </a:lnTo>
                    <a:lnTo>
                      <a:pt x="46" y="212"/>
                    </a:lnTo>
                    <a:lnTo>
                      <a:pt x="46" y="214"/>
                    </a:lnTo>
                    <a:lnTo>
                      <a:pt x="50" y="218"/>
                    </a:lnTo>
                    <a:lnTo>
                      <a:pt x="52" y="220"/>
                    </a:lnTo>
                    <a:lnTo>
                      <a:pt x="54" y="226"/>
                    </a:lnTo>
                    <a:lnTo>
                      <a:pt x="52" y="228"/>
                    </a:lnTo>
                    <a:lnTo>
                      <a:pt x="52" y="234"/>
                    </a:lnTo>
                    <a:lnTo>
                      <a:pt x="46" y="232"/>
                    </a:lnTo>
                    <a:lnTo>
                      <a:pt x="46" y="236"/>
                    </a:lnTo>
                    <a:lnTo>
                      <a:pt x="42" y="236"/>
                    </a:lnTo>
                    <a:lnTo>
                      <a:pt x="42" y="230"/>
                    </a:lnTo>
                    <a:lnTo>
                      <a:pt x="36" y="228"/>
                    </a:lnTo>
                    <a:lnTo>
                      <a:pt x="32" y="230"/>
                    </a:lnTo>
                    <a:lnTo>
                      <a:pt x="32" y="222"/>
                    </a:lnTo>
                    <a:lnTo>
                      <a:pt x="30" y="214"/>
                    </a:lnTo>
                    <a:lnTo>
                      <a:pt x="28" y="212"/>
                    </a:lnTo>
                    <a:lnTo>
                      <a:pt x="28" y="210"/>
                    </a:lnTo>
                    <a:lnTo>
                      <a:pt x="26" y="206"/>
                    </a:lnTo>
                    <a:lnTo>
                      <a:pt x="22" y="204"/>
                    </a:lnTo>
                    <a:lnTo>
                      <a:pt x="14" y="194"/>
                    </a:lnTo>
                    <a:lnTo>
                      <a:pt x="10" y="188"/>
                    </a:lnTo>
                    <a:lnTo>
                      <a:pt x="10" y="182"/>
                    </a:lnTo>
                    <a:lnTo>
                      <a:pt x="10" y="176"/>
                    </a:lnTo>
                    <a:lnTo>
                      <a:pt x="12" y="170"/>
                    </a:lnTo>
                    <a:lnTo>
                      <a:pt x="16" y="168"/>
                    </a:lnTo>
                    <a:lnTo>
                      <a:pt x="14" y="166"/>
                    </a:lnTo>
                    <a:lnTo>
                      <a:pt x="14" y="162"/>
                    </a:lnTo>
                    <a:lnTo>
                      <a:pt x="12" y="160"/>
                    </a:lnTo>
                    <a:lnTo>
                      <a:pt x="12" y="156"/>
                    </a:lnTo>
                    <a:lnTo>
                      <a:pt x="16" y="150"/>
                    </a:lnTo>
                    <a:lnTo>
                      <a:pt x="16" y="146"/>
                    </a:lnTo>
                    <a:lnTo>
                      <a:pt x="18" y="146"/>
                    </a:lnTo>
                    <a:lnTo>
                      <a:pt x="18" y="140"/>
                    </a:lnTo>
                    <a:lnTo>
                      <a:pt x="20" y="132"/>
                    </a:lnTo>
                    <a:lnTo>
                      <a:pt x="26" y="124"/>
                    </a:lnTo>
                    <a:lnTo>
                      <a:pt x="26" y="118"/>
                    </a:lnTo>
                    <a:lnTo>
                      <a:pt x="22" y="108"/>
                    </a:lnTo>
                    <a:lnTo>
                      <a:pt x="14" y="100"/>
                    </a:lnTo>
                    <a:lnTo>
                      <a:pt x="10" y="88"/>
                    </a:lnTo>
                    <a:lnTo>
                      <a:pt x="6" y="76"/>
                    </a:lnTo>
                    <a:lnTo>
                      <a:pt x="14" y="72"/>
                    </a:lnTo>
                    <a:lnTo>
                      <a:pt x="14" y="68"/>
                    </a:lnTo>
                    <a:lnTo>
                      <a:pt x="8" y="62"/>
                    </a:lnTo>
                    <a:lnTo>
                      <a:pt x="2" y="54"/>
                    </a:lnTo>
                    <a:lnTo>
                      <a:pt x="0" y="42"/>
                    </a:lnTo>
                    <a:lnTo>
                      <a:pt x="2" y="34"/>
                    </a:lnTo>
                    <a:lnTo>
                      <a:pt x="2" y="28"/>
                    </a:lnTo>
                    <a:lnTo>
                      <a:pt x="0" y="20"/>
                    </a:lnTo>
                    <a:lnTo>
                      <a:pt x="2" y="16"/>
                    </a:lnTo>
                    <a:lnTo>
                      <a:pt x="6" y="16"/>
                    </a:lnTo>
                    <a:lnTo>
                      <a:pt x="10" y="10"/>
                    </a:lnTo>
                    <a:lnTo>
                      <a:pt x="14" y="10"/>
                    </a:lnTo>
                    <a:lnTo>
                      <a:pt x="14" y="6"/>
                    </a:lnTo>
                    <a:lnTo>
                      <a:pt x="16" y="0"/>
                    </a:lnTo>
                    <a:lnTo>
                      <a:pt x="20" y="0"/>
                    </a:lnTo>
                    <a:lnTo>
                      <a:pt x="24" y="2"/>
                    </a:lnTo>
                    <a:lnTo>
                      <a:pt x="32" y="2"/>
                    </a:lnTo>
                    <a:lnTo>
                      <a:pt x="32"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65" name="Freeform 42">
                <a:extLst>
                  <a:ext uri="{FF2B5EF4-FFF2-40B4-BE49-F238E27FC236}">
                    <a16:creationId xmlns:a16="http://schemas.microsoft.com/office/drawing/2014/main" id="{B200B09A-0007-9493-DC11-DD91B15A94DC}"/>
                  </a:ext>
                </a:extLst>
              </p:cNvPr>
              <p:cNvSpPr>
                <a:spLocks/>
              </p:cNvSpPr>
              <p:nvPr/>
            </p:nvSpPr>
            <p:spPr bwMode="auto">
              <a:xfrm>
                <a:off x="5682851" y="3608590"/>
                <a:ext cx="93345" cy="86462"/>
              </a:xfrm>
              <a:custGeom>
                <a:avLst/>
                <a:gdLst/>
                <a:ahLst/>
                <a:cxnLst>
                  <a:cxn ang="0">
                    <a:pos x="40" y="8"/>
                  </a:cxn>
                  <a:cxn ang="0">
                    <a:pos x="44" y="0"/>
                  </a:cxn>
                  <a:cxn ang="0">
                    <a:pos x="36" y="2"/>
                  </a:cxn>
                  <a:cxn ang="0">
                    <a:pos x="34" y="6"/>
                  </a:cxn>
                  <a:cxn ang="0">
                    <a:pos x="28" y="2"/>
                  </a:cxn>
                  <a:cxn ang="0">
                    <a:pos x="24" y="0"/>
                  </a:cxn>
                  <a:cxn ang="0">
                    <a:pos x="20" y="2"/>
                  </a:cxn>
                  <a:cxn ang="0">
                    <a:pos x="24" y="10"/>
                  </a:cxn>
                  <a:cxn ang="0">
                    <a:pos x="22" y="14"/>
                  </a:cxn>
                  <a:cxn ang="0">
                    <a:pos x="18" y="18"/>
                  </a:cxn>
                  <a:cxn ang="0">
                    <a:pos x="20" y="20"/>
                  </a:cxn>
                  <a:cxn ang="0">
                    <a:pos x="18" y="22"/>
                  </a:cxn>
                  <a:cxn ang="0">
                    <a:pos x="10" y="28"/>
                  </a:cxn>
                  <a:cxn ang="0">
                    <a:pos x="8" y="26"/>
                  </a:cxn>
                  <a:cxn ang="0">
                    <a:pos x="2" y="26"/>
                  </a:cxn>
                  <a:cxn ang="0">
                    <a:pos x="0" y="32"/>
                  </a:cxn>
                  <a:cxn ang="0">
                    <a:pos x="4" y="38"/>
                  </a:cxn>
                  <a:cxn ang="0">
                    <a:pos x="12" y="38"/>
                  </a:cxn>
                  <a:cxn ang="0">
                    <a:pos x="14" y="40"/>
                  </a:cxn>
                  <a:cxn ang="0">
                    <a:pos x="10" y="48"/>
                  </a:cxn>
                  <a:cxn ang="0">
                    <a:pos x="14" y="52"/>
                  </a:cxn>
                  <a:cxn ang="0">
                    <a:pos x="10" y="58"/>
                  </a:cxn>
                  <a:cxn ang="0">
                    <a:pos x="4" y="68"/>
                  </a:cxn>
                  <a:cxn ang="0">
                    <a:pos x="14" y="68"/>
                  </a:cxn>
                  <a:cxn ang="0">
                    <a:pos x="22" y="62"/>
                  </a:cxn>
                  <a:cxn ang="0">
                    <a:pos x="30" y="60"/>
                  </a:cxn>
                  <a:cxn ang="0">
                    <a:pos x="36" y="70"/>
                  </a:cxn>
                  <a:cxn ang="0">
                    <a:pos x="32" y="84"/>
                  </a:cxn>
                  <a:cxn ang="0">
                    <a:pos x="44" y="88"/>
                  </a:cxn>
                  <a:cxn ang="0">
                    <a:pos x="54" y="78"/>
                  </a:cxn>
                  <a:cxn ang="0">
                    <a:pos x="66" y="72"/>
                  </a:cxn>
                  <a:cxn ang="0">
                    <a:pos x="80" y="72"/>
                  </a:cxn>
                  <a:cxn ang="0">
                    <a:pos x="96" y="70"/>
                  </a:cxn>
                  <a:cxn ang="0">
                    <a:pos x="92" y="62"/>
                  </a:cxn>
                  <a:cxn ang="0">
                    <a:pos x="88" y="48"/>
                  </a:cxn>
                  <a:cxn ang="0">
                    <a:pos x="90" y="38"/>
                  </a:cxn>
                  <a:cxn ang="0">
                    <a:pos x="80" y="40"/>
                  </a:cxn>
                  <a:cxn ang="0">
                    <a:pos x="76" y="32"/>
                  </a:cxn>
                  <a:cxn ang="0">
                    <a:pos x="70" y="24"/>
                  </a:cxn>
                  <a:cxn ang="0">
                    <a:pos x="60" y="26"/>
                  </a:cxn>
                  <a:cxn ang="0">
                    <a:pos x="56" y="26"/>
                  </a:cxn>
                  <a:cxn ang="0">
                    <a:pos x="52" y="24"/>
                  </a:cxn>
                  <a:cxn ang="0">
                    <a:pos x="48" y="22"/>
                  </a:cxn>
                  <a:cxn ang="0">
                    <a:pos x="42" y="24"/>
                  </a:cxn>
                  <a:cxn ang="0">
                    <a:pos x="40" y="22"/>
                  </a:cxn>
                  <a:cxn ang="0">
                    <a:pos x="26" y="18"/>
                  </a:cxn>
                  <a:cxn ang="0">
                    <a:pos x="40" y="18"/>
                  </a:cxn>
                  <a:cxn ang="0">
                    <a:pos x="40" y="16"/>
                  </a:cxn>
                </a:cxnLst>
                <a:rect l="0" t="0" r="r" b="b"/>
                <a:pathLst>
                  <a:path w="96" h="90">
                    <a:moveTo>
                      <a:pt x="40" y="16"/>
                    </a:moveTo>
                    <a:lnTo>
                      <a:pt x="40" y="8"/>
                    </a:lnTo>
                    <a:lnTo>
                      <a:pt x="46" y="6"/>
                    </a:lnTo>
                    <a:lnTo>
                      <a:pt x="44" y="0"/>
                    </a:lnTo>
                    <a:lnTo>
                      <a:pt x="40" y="0"/>
                    </a:lnTo>
                    <a:lnTo>
                      <a:pt x="36" y="2"/>
                    </a:lnTo>
                    <a:lnTo>
                      <a:pt x="36" y="4"/>
                    </a:lnTo>
                    <a:lnTo>
                      <a:pt x="34" y="6"/>
                    </a:lnTo>
                    <a:lnTo>
                      <a:pt x="32" y="6"/>
                    </a:lnTo>
                    <a:lnTo>
                      <a:pt x="28" y="2"/>
                    </a:lnTo>
                    <a:lnTo>
                      <a:pt x="26" y="0"/>
                    </a:lnTo>
                    <a:lnTo>
                      <a:pt x="24" y="0"/>
                    </a:lnTo>
                    <a:lnTo>
                      <a:pt x="22" y="2"/>
                    </a:lnTo>
                    <a:lnTo>
                      <a:pt x="20" y="2"/>
                    </a:lnTo>
                    <a:lnTo>
                      <a:pt x="22" y="8"/>
                    </a:lnTo>
                    <a:lnTo>
                      <a:pt x="24" y="10"/>
                    </a:lnTo>
                    <a:lnTo>
                      <a:pt x="24" y="12"/>
                    </a:lnTo>
                    <a:lnTo>
                      <a:pt x="22" y="14"/>
                    </a:lnTo>
                    <a:lnTo>
                      <a:pt x="20" y="16"/>
                    </a:lnTo>
                    <a:lnTo>
                      <a:pt x="18" y="18"/>
                    </a:lnTo>
                    <a:lnTo>
                      <a:pt x="18" y="22"/>
                    </a:lnTo>
                    <a:lnTo>
                      <a:pt x="20" y="20"/>
                    </a:lnTo>
                    <a:lnTo>
                      <a:pt x="20" y="22"/>
                    </a:lnTo>
                    <a:lnTo>
                      <a:pt x="18" y="22"/>
                    </a:lnTo>
                    <a:lnTo>
                      <a:pt x="12" y="26"/>
                    </a:lnTo>
                    <a:lnTo>
                      <a:pt x="10" y="28"/>
                    </a:lnTo>
                    <a:lnTo>
                      <a:pt x="8" y="28"/>
                    </a:lnTo>
                    <a:lnTo>
                      <a:pt x="8" y="26"/>
                    </a:lnTo>
                    <a:lnTo>
                      <a:pt x="6" y="26"/>
                    </a:lnTo>
                    <a:lnTo>
                      <a:pt x="2" y="26"/>
                    </a:lnTo>
                    <a:lnTo>
                      <a:pt x="0" y="30"/>
                    </a:lnTo>
                    <a:lnTo>
                      <a:pt x="0" y="32"/>
                    </a:lnTo>
                    <a:lnTo>
                      <a:pt x="0" y="34"/>
                    </a:lnTo>
                    <a:lnTo>
                      <a:pt x="4" y="38"/>
                    </a:lnTo>
                    <a:lnTo>
                      <a:pt x="6" y="38"/>
                    </a:lnTo>
                    <a:lnTo>
                      <a:pt x="12" y="38"/>
                    </a:lnTo>
                    <a:lnTo>
                      <a:pt x="14" y="38"/>
                    </a:lnTo>
                    <a:lnTo>
                      <a:pt x="14" y="40"/>
                    </a:lnTo>
                    <a:lnTo>
                      <a:pt x="10" y="46"/>
                    </a:lnTo>
                    <a:lnTo>
                      <a:pt x="10" y="48"/>
                    </a:lnTo>
                    <a:lnTo>
                      <a:pt x="12" y="50"/>
                    </a:lnTo>
                    <a:lnTo>
                      <a:pt x="14" y="52"/>
                    </a:lnTo>
                    <a:lnTo>
                      <a:pt x="12" y="56"/>
                    </a:lnTo>
                    <a:lnTo>
                      <a:pt x="10" y="58"/>
                    </a:lnTo>
                    <a:lnTo>
                      <a:pt x="8" y="60"/>
                    </a:lnTo>
                    <a:lnTo>
                      <a:pt x="4" y="68"/>
                    </a:lnTo>
                    <a:lnTo>
                      <a:pt x="10" y="66"/>
                    </a:lnTo>
                    <a:lnTo>
                      <a:pt x="14" y="68"/>
                    </a:lnTo>
                    <a:lnTo>
                      <a:pt x="20" y="64"/>
                    </a:lnTo>
                    <a:lnTo>
                      <a:pt x="22" y="62"/>
                    </a:lnTo>
                    <a:lnTo>
                      <a:pt x="26" y="58"/>
                    </a:lnTo>
                    <a:lnTo>
                      <a:pt x="30" y="60"/>
                    </a:lnTo>
                    <a:lnTo>
                      <a:pt x="32" y="64"/>
                    </a:lnTo>
                    <a:lnTo>
                      <a:pt x="36" y="70"/>
                    </a:lnTo>
                    <a:lnTo>
                      <a:pt x="34" y="74"/>
                    </a:lnTo>
                    <a:lnTo>
                      <a:pt x="32" y="84"/>
                    </a:lnTo>
                    <a:lnTo>
                      <a:pt x="38" y="90"/>
                    </a:lnTo>
                    <a:lnTo>
                      <a:pt x="44" y="88"/>
                    </a:lnTo>
                    <a:lnTo>
                      <a:pt x="50" y="82"/>
                    </a:lnTo>
                    <a:lnTo>
                      <a:pt x="54" y="78"/>
                    </a:lnTo>
                    <a:lnTo>
                      <a:pt x="58" y="76"/>
                    </a:lnTo>
                    <a:lnTo>
                      <a:pt x="66" y="72"/>
                    </a:lnTo>
                    <a:lnTo>
                      <a:pt x="70" y="70"/>
                    </a:lnTo>
                    <a:lnTo>
                      <a:pt x="80" y="72"/>
                    </a:lnTo>
                    <a:lnTo>
                      <a:pt x="90" y="72"/>
                    </a:lnTo>
                    <a:lnTo>
                      <a:pt x="96" y="70"/>
                    </a:lnTo>
                    <a:lnTo>
                      <a:pt x="94" y="66"/>
                    </a:lnTo>
                    <a:lnTo>
                      <a:pt x="92" y="62"/>
                    </a:lnTo>
                    <a:lnTo>
                      <a:pt x="90" y="56"/>
                    </a:lnTo>
                    <a:lnTo>
                      <a:pt x="88" y="48"/>
                    </a:lnTo>
                    <a:lnTo>
                      <a:pt x="90" y="42"/>
                    </a:lnTo>
                    <a:lnTo>
                      <a:pt x="90" y="38"/>
                    </a:lnTo>
                    <a:lnTo>
                      <a:pt x="88" y="36"/>
                    </a:lnTo>
                    <a:lnTo>
                      <a:pt x="80" y="40"/>
                    </a:lnTo>
                    <a:lnTo>
                      <a:pt x="76" y="36"/>
                    </a:lnTo>
                    <a:lnTo>
                      <a:pt x="76" y="32"/>
                    </a:lnTo>
                    <a:lnTo>
                      <a:pt x="76" y="26"/>
                    </a:lnTo>
                    <a:lnTo>
                      <a:pt x="70" y="24"/>
                    </a:lnTo>
                    <a:lnTo>
                      <a:pt x="64" y="26"/>
                    </a:lnTo>
                    <a:lnTo>
                      <a:pt x="60" y="26"/>
                    </a:lnTo>
                    <a:lnTo>
                      <a:pt x="58" y="26"/>
                    </a:lnTo>
                    <a:lnTo>
                      <a:pt x="56" y="26"/>
                    </a:lnTo>
                    <a:lnTo>
                      <a:pt x="54" y="26"/>
                    </a:lnTo>
                    <a:lnTo>
                      <a:pt x="52" y="24"/>
                    </a:lnTo>
                    <a:lnTo>
                      <a:pt x="50" y="22"/>
                    </a:lnTo>
                    <a:lnTo>
                      <a:pt x="48" y="22"/>
                    </a:lnTo>
                    <a:lnTo>
                      <a:pt x="44" y="24"/>
                    </a:lnTo>
                    <a:lnTo>
                      <a:pt x="42" y="24"/>
                    </a:lnTo>
                    <a:lnTo>
                      <a:pt x="40" y="22"/>
                    </a:lnTo>
                    <a:lnTo>
                      <a:pt x="40" y="22"/>
                    </a:lnTo>
                    <a:lnTo>
                      <a:pt x="30" y="22"/>
                    </a:lnTo>
                    <a:lnTo>
                      <a:pt x="26" y="18"/>
                    </a:lnTo>
                    <a:lnTo>
                      <a:pt x="34" y="14"/>
                    </a:lnTo>
                    <a:lnTo>
                      <a:pt x="40" y="18"/>
                    </a:lnTo>
                    <a:lnTo>
                      <a:pt x="40" y="16"/>
                    </a:lnTo>
                    <a:lnTo>
                      <a:pt x="40" y="1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67" name="Freeform 43">
                <a:extLst>
                  <a:ext uri="{FF2B5EF4-FFF2-40B4-BE49-F238E27FC236}">
                    <a16:creationId xmlns:a16="http://schemas.microsoft.com/office/drawing/2014/main" id="{C674F113-DA60-3B8C-B2B5-1144B8C95169}"/>
                  </a:ext>
                </a:extLst>
              </p:cNvPr>
              <p:cNvSpPr>
                <a:spLocks/>
              </p:cNvSpPr>
              <p:nvPr/>
            </p:nvSpPr>
            <p:spPr bwMode="auto">
              <a:xfrm>
                <a:off x="5223903" y="4663423"/>
                <a:ext cx="15557" cy="23057"/>
              </a:xfrm>
              <a:custGeom>
                <a:avLst/>
                <a:gdLst/>
                <a:ahLst/>
                <a:cxnLst>
                  <a:cxn ang="0">
                    <a:pos x="14" y="14"/>
                  </a:cxn>
                  <a:cxn ang="0">
                    <a:pos x="14" y="14"/>
                  </a:cxn>
                  <a:cxn ang="0">
                    <a:pos x="16" y="6"/>
                  </a:cxn>
                  <a:cxn ang="0">
                    <a:pos x="16" y="4"/>
                  </a:cxn>
                  <a:cxn ang="0">
                    <a:pos x="14" y="2"/>
                  </a:cxn>
                  <a:cxn ang="0">
                    <a:pos x="10" y="0"/>
                  </a:cxn>
                  <a:cxn ang="0">
                    <a:pos x="8" y="0"/>
                  </a:cxn>
                  <a:cxn ang="0">
                    <a:pos x="6" y="2"/>
                  </a:cxn>
                  <a:cxn ang="0">
                    <a:pos x="4" y="0"/>
                  </a:cxn>
                  <a:cxn ang="0">
                    <a:pos x="2" y="0"/>
                  </a:cxn>
                  <a:cxn ang="0">
                    <a:pos x="2" y="2"/>
                  </a:cxn>
                  <a:cxn ang="0">
                    <a:pos x="0" y="8"/>
                  </a:cxn>
                  <a:cxn ang="0">
                    <a:pos x="0" y="12"/>
                  </a:cxn>
                  <a:cxn ang="0">
                    <a:pos x="0" y="16"/>
                  </a:cxn>
                  <a:cxn ang="0">
                    <a:pos x="2" y="18"/>
                  </a:cxn>
                  <a:cxn ang="0">
                    <a:pos x="6" y="20"/>
                  </a:cxn>
                  <a:cxn ang="0">
                    <a:pos x="12" y="22"/>
                  </a:cxn>
                  <a:cxn ang="0">
                    <a:pos x="16" y="24"/>
                  </a:cxn>
                  <a:cxn ang="0">
                    <a:pos x="14" y="14"/>
                  </a:cxn>
                  <a:cxn ang="0">
                    <a:pos x="14" y="14"/>
                  </a:cxn>
                </a:cxnLst>
                <a:rect l="0" t="0" r="r" b="b"/>
                <a:pathLst>
                  <a:path w="16" h="24">
                    <a:moveTo>
                      <a:pt x="14" y="14"/>
                    </a:moveTo>
                    <a:lnTo>
                      <a:pt x="14" y="14"/>
                    </a:lnTo>
                    <a:lnTo>
                      <a:pt x="16" y="6"/>
                    </a:lnTo>
                    <a:lnTo>
                      <a:pt x="16" y="4"/>
                    </a:lnTo>
                    <a:lnTo>
                      <a:pt x="14" y="2"/>
                    </a:lnTo>
                    <a:lnTo>
                      <a:pt x="10" y="0"/>
                    </a:lnTo>
                    <a:lnTo>
                      <a:pt x="8" y="0"/>
                    </a:lnTo>
                    <a:lnTo>
                      <a:pt x="6" y="2"/>
                    </a:lnTo>
                    <a:lnTo>
                      <a:pt x="4" y="0"/>
                    </a:lnTo>
                    <a:lnTo>
                      <a:pt x="2" y="0"/>
                    </a:lnTo>
                    <a:lnTo>
                      <a:pt x="2" y="2"/>
                    </a:lnTo>
                    <a:lnTo>
                      <a:pt x="0" y="8"/>
                    </a:lnTo>
                    <a:lnTo>
                      <a:pt x="0" y="12"/>
                    </a:lnTo>
                    <a:lnTo>
                      <a:pt x="0" y="16"/>
                    </a:lnTo>
                    <a:lnTo>
                      <a:pt x="2" y="18"/>
                    </a:lnTo>
                    <a:lnTo>
                      <a:pt x="6" y="20"/>
                    </a:lnTo>
                    <a:lnTo>
                      <a:pt x="12" y="22"/>
                    </a:lnTo>
                    <a:lnTo>
                      <a:pt x="16" y="24"/>
                    </a:lnTo>
                    <a:lnTo>
                      <a:pt x="14" y="14"/>
                    </a:lnTo>
                    <a:lnTo>
                      <a:pt x="14" y="1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68" name="Freeform 44">
                <a:extLst>
                  <a:ext uri="{FF2B5EF4-FFF2-40B4-BE49-F238E27FC236}">
                    <a16:creationId xmlns:a16="http://schemas.microsoft.com/office/drawing/2014/main" id="{94E73D9A-9510-44FD-6911-B5DE4C824C34}"/>
                  </a:ext>
                </a:extLst>
              </p:cNvPr>
              <p:cNvSpPr>
                <a:spLocks/>
              </p:cNvSpPr>
              <p:nvPr/>
            </p:nvSpPr>
            <p:spPr bwMode="auto">
              <a:xfrm>
                <a:off x="5223903" y="4663423"/>
                <a:ext cx="15557" cy="23057"/>
              </a:xfrm>
              <a:custGeom>
                <a:avLst/>
                <a:gdLst/>
                <a:ahLst/>
                <a:cxnLst>
                  <a:cxn ang="0">
                    <a:pos x="14" y="14"/>
                  </a:cxn>
                  <a:cxn ang="0">
                    <a:pos x="14" y="14"/>
                  </a:cxn>
                  <a:cxn ang="0">
                    <a:pos x="16" y="6"/>
                  </a:cxn>
                  <a:cxn ang="0">
                    <a:pos x="16" y="4"/>
                  </a:cxn>
                  <a:cxn ang="0">
                    <a:pos x="14" y="2"/>
                  </a:cxn>
                  <a:cxn ang="0">
                    <a:pos x="10" y="0"/>
                  </a:cxn>
                  <a:cxn ang="0">
                    <a:pos x="8" y="0"/>
                  </a:cxn>
                  <a:cxn ang="0">
                    <a:pos x="6" y="2"/>
                  </a:cxn>
                  <a:cxn ang="0">
                    <a:pos x="4" y="0"/>
                  </a:cxn>
                  <a:cxn ang="0">
                    <a:pos x="2" y="0"/>
                  </a:cxn>
                  <a:cxn ang="0">
                    <a:pos x="2" y="2"/>
                  </a:cxn>
                  <a:cxn ang="0">
                    <a:pos x="0" y="8"/>
                  </a:cxn>
                  <a:cxn ang="0">
                    <a:pos x="0" y="12"/>
                  </a:cxn>
                  <a:cxn ang="0">
                    <a:pos x="0" y="16"/>
                  </a:cxn>
                  <a:cxn ang="0">
                    <a:pos x="2" y="18"/>
                  </a:cxn>
                  <a:cxn ang="0">
                    <a:pos x="6" y="20"/>
                  </a:cxn>
                  <a:cxn ang="0">
                    <a:pos x="12" y="22"/>
                  </a:cxn>
                  <a:cxn ang="0">
                    <a:pos x="16" y="24"/>
                  </a:cxn>
                  <a:cxn ang="0">
                    <a:pos x="14" y="14"/>
                  </a:cxn>
                  <a:cxn ang="0">
                    <a:pos x="14" y="14"/>
                  </a:cxn>
                </a:cxnLst>
                <a:rect l="0" t="0" r="r" b="b"/>
                <a:pathLst>
                  <a:path w="16" h="24">
                    <a:moveTo>
                      <a:pt x="14" y="14"/>
                    </a:moveTo>
                    <a:lnTo>
                      <a:pt x="14" y="14"/>
                    </a:lnTo>
                    <a:lnTo>
                      <a:pt x="16" y="6"/>
                    </a:lnTo>
                    <a:lnTo>
                      <a:pt x="16" y="4"/>
                    </a:lnTo>
                    <a:lnTo>
                      <a:pt x="14" y="2"/>
                    </a:lnTo>
                    <a:lnTo>
                      <a:pt x="10" y="0"/>
                    </a:lnTo>
                    <a:lnTo>
                      <a:pt x="8" y="0"/>
                    </a:lnTo>
                    <a:lnTo>
                      <a:pt x="6" y="2"/>
                    </a:lnTo>
                    <a:lnTo>
                      <a:pt x="4" y="0"/>
                    </a:lnTo>
                    <a:lnTo>
                      <a:pt x="2" y="0"/>
                    </a:lnTo>
                    <a:lnTo>
                      <a:pt x="2" y="2"/>
                    </a:lnTo>
                    <a:lnTo>
                      <a:pt x="0" y="8"/>
                    </a:lnTo>
                    <a:lnTo>
                      <a:pt x="0" y="12"/>
                    </a:lnTo>
                    <a:lnTo>
                      <a:pt x="0" y="16"/>
                    </a:lnTo>
                    <a:lnTo>
                      <a:pt x="2" y="18"/>
                    </a:lnTo>
                    <a:lnTo>
                      <a:pt x="6" y="20"/>
                    </a:lnTo>
                    <a:lnTo>
                      <a:pt x="12" y="22"/>
                    </a:lnTo>
                    <a:lnTo>
                      <a:pt x="16" y="24"/>
                    </a:lnTo>
                    <a:lnTo>
                      <a:pt x="14" y="14"/>
                    </a:lnTo>
                    <a:lnTo>
                      <a:pt x="14" y="1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69" name="Freeform 45">
                <a:extLst>
                  <a:ext uri="{FF2B5EF4-FFF2-40B4-BE49-F238E27FC236}">
                    <a16:creationId xmlns:a16="http://schemas.microsoft.com/office/drawing/2014/main" id="{3E30B2C9-0A41-5987-3379-051746010596}"/>
                  </a:ext>
                </a:extLst>
              </p:cNvPr>
              <p:cNvSpPr>
                <a:spLocks/>
              </p:cNvSpPr>
              <p:nvPr/>
            </p:nvSpPr>
            <p:spPr bwMode="auto">
              <a:xfrm>
                <a:off x="4103759" y="4163867"/>
                <a:ext cx="50562" cy="78776"/>
              </a:xfrm>
              <a:custGeom>
                <a:avLst/>
                <a:gdLst/>
                <a:ahLst/>
                <a:cxnLst>
                  <a:cxn ang="0">
                    <a:pos x="50" y="2"/>
                  </a:cxn>
                  <a:cxn ang="0">
                    <a:pos x="50" y="2"/>
                  </a:cxn>
                  <a:cxn ang="0">
                    <a:pos x="48" y="2"/>
                  </a:cxn>
                  <a:cxn ang="0">
                    <a:pos x="46" y="2"/>
                  </a:cxn>
                  <a:cxn ang="0">
                    <a:pos x="44" y="0"/>
                  </a:cxn>
                  <a:cxn ang="0">
                    <a:pos x="38" y="0"/>
                  </a:cxn>
                  <a:cxn ang="0">
                    <a:pos x="38" y="2"/>
                  </a:cxn>
                  <a:cxn ang="0">
                    <a:pos x="32" y="4"/>
                  </a:cxn>
                  <a:cxn ang="0">
                    <a:pos x="26" y="4"/>
                  </a:cxn>
                  <a:cxn ang="0">
                    <a:pos x="20" y="2"/>
                  </a:cxn>
                  <a:cxn ang="0">
                    <a:pos x="18" y="2"/>
                  </a:cxn>
                  <a:cxn ang="0">
                    <a:pos x="14" y="6"/>
                  </a:cxn>
                  <a:cxn ang="0">
                    <a:pos x="14" y="4"/>
                  </a:cxn>
                  <a:cxn ang="0">
                    <a:pos x="8" y="16"/>
                  </a:cxn>
                  <a:cxn ang="0">
                    <a:pos x="8" y="24"/>
                  </a:cxn>
                  <a:cxn ang="0">
                    <a:pos x="4" y="28"/>
                  </a:cxn>
                  <a:cxn ang="0">
                    <a:pos x="0" y="30"/>
                  </a:cxn>
                  <a:cxn ang="0">
                    <a:pos x="0" y="32"/>
                  </a:cxn>
                  <a:cxn ang="0">
                    <a:pos x="0" y="34"/>
                  </a:cxn>
                  <a:cxn ang="0">
                    <a:pos x="2" y="40"/>
                  </a:cxn>
                  <a:cxn ang="0">
                    <a:pos x="2" y="50"/>
                  </a:cxn>
                  <a:cxn ang="0">
                    <a:pos x="4" y="54"/>
                  </a:cxn>
                  <a:cxn ang="0">
                    <a:pos x="6" y="56"/>
                  </a:cxn>
                  <a:cxn ang="0">
                    <a:pos x="6" y="58"/>
                  </a:cxn>
                  <a:cxn ang="0">
                    <a:pos x="4" y="62"/>
                  </a:cxn>
                  <a:cxn ang="0">
                    <a:pos x="6" y="74"/>
                  </a:cxn>
                  <a:cxn ang="0">
                    <a:pos x="8" y="80"/>
                  </a:cxn>
                  <a:cxn ang="0">
                    <a:pos x="12" y="78"/>
                  </a:cxn>
                  <a:cxn ang="0">
                    <a:pos x="22" y="82"/>
                  </a:cxn>
                  <a:cxn ang="0">
                    <a:pos x="24" y="76"/>
                  </a:cxn>
                  <a:cxn ang="0">
                    <a:pos x="20" y="74"/>
                  </a:cxn>
                  <a:cxn ang="0">
                    <a:pos x="22" y="66"/>
                  </a:cxn>
                  <a:cxn ang="0">
                    <a:pos x="32" y="70"/>
                  </a:cxn>
                  <a:cxn ang="0">
                    <a:pos x="36" y="68"/>
                  </a:cxn>
                  <a:cxn ang="0">
                    <a:pos x="38" y="70"/>
                  </a:cxn>
                  <a:cxn ang="0">
                    <a:pos x="44" y="70"/>
                  </a:cxn>
                  <a:cxn ang="0">
                    <a:pos x="48" y="60"/>
                  </a:cxn>
                  <a:cxn ang="0">
                    <a:pos x="52" y="54"/>
                  </a:cxn>
                  <a:cxn ang="0">
                    <a:pos x="52" y="50"/>
                  </a:cxn>
                  <a:cxn ang="0">
                    <a:pos x="48" y="46"/>
                  </a:cxn>
                  <a:cxn ang="0">
                    <a:pos x="46" y="42"/>
                  </a:cxn>
                  <a:cxn ang="0">
                    <a:pos x="44" y="38"/>
                  </a:cxn>
                  <a:cxn ang="0">
                    <a:pos x="44" y="20"/>
                  </a:cxn>
                  <a:cxn ang="0">
                    <a:pos x="50" y="10"/>
                  </a:cxn>
                  <a:cxn ang="0">
                    <a:pos x="50" y="4"/>
                  </a:cxn>
                  <a:cxn ang="0">
                    <a:pos x="50" y="6"/>
                  </a:cxn>
                  <a:cxn ang="0">
                    <a:pos x="50" y="4"/>
                  </a:cxn>
                  <a:cxn ang="0">
                    <a:pos x="50" y="4"/>
                  </a:cxn>
                  <a:cxn ang="0">
                    <a:pos x="50" y="2"/>
                  </a:cxn>
                  <a:cxn ang="0">
                    <a:pos x="50" y="2"/>
                  </a:cxn>
                </a:cxnLst>
                <a:rect l="0" t="0" r="r" b="b"/>
                <a:pathLst>
                  <a:path w="52" h="82">
                    <a:moveTo>
                      <a:pt x="50" y="2"/>
                    </a:moveTo>
                    <a:lnTo>
                      <a:pt x="50" y="2"/>
                    </a:lnTo>
                    <a:lnTo>
                      <a:pt x="48" y="2"/>
                    </a:lnTo>
                    <a:lnTo>
                      <a:pt x="46" y="2"/>
                    </a:lnTo>
                    <a:lnTo>
                      <a:pt x="44" y="0"/>
                    </a:lnTo>
                    <a:lnTo>
                      <a:pt x="38" y="0"/>
                    </a:lnTo>
                    <a:lnTo>
                      <a:pt x="38" y="2"/>
                    </a:lnTo>
                    <a:lnTo>
                      <a:pt x="32" y="4"/>
                    </a:lnTo>
                    <a:lnTo>
                      <a:pt x="26" y="4"/>
                    </a:lnTo>
                    <a:lnTo>
                      <a:pt x="20" y="2"/>
                    </a:lnTo>
                    <a:lnTo>
                      <a:pt x="18" y="2"/>
                    </a:lnTo>
                    <a:lnTo>
                      <a:pt x="14" y="6"/>
                    </a:lnTo>
                    <a:lnTo>
                      <a:pt x="14" y="4"/>
                    </a:lnTo>
                    <a:lnTo>
                      <a:pt x="8" y="16"/>
                    </a:lnTo>
                    <a:lnTo>
                      <a:pt x="8" y="24"/>
                    </a:lnTo>
                    <a:lnTo>
                      <a:pt x="4" y="28"/>
                    </a:lnTo>
                    <a:lnTo>
                      <a:pt x="0" y="30"/>
                    </a:lnTo>
                    <a:lnTo>
                      <a:pt x="0" y="32"/>
                    </a:lnTo>
                    <a:lnTo>
                      <a:pt x="0" y="34"/>
                    </a:lnTo>
                    <a:lnTo>
                      <a:pt x="2" y="40"/>
                    </a:lnTo>
                    <a:lnTo>
                      <a:pt x="2" y="50"/>
                    </a:lnTo>
                    <a:lnTo>
                      <a:pt x="4" y="54"/>
                    </a:lnTo>
                    <a:lnTo>
                      <a:pt x="6" y="56"/>
                    </a:lnTo>
                    <a:lnTo>
                      <a:pt x="6" y="58"/>
                    </a:lnTo>
                    <a:lnTo>
                      <a:pt x="4" y="62"/>
                    </a:lnTo>
                    <a:lnTo>
                      <a:pt x="6" y="74"/>
                    </a:lnTo>
                    <a:lnTo>
                      <a:pt x="8" y="80"/>
                    </a:lnTo>
                    <a:lnTo>
                      <a:pt x="12" y="78"/>
                    </a:lnTo>
                    <a:lnTo>
                      <a:pt x="22" y="82"/>
                    </a:lnTo>
                    <a:lnTo>
                      <a:pt x="24" y="76"/>
                    </a:lnTo>
                    <a:lnTo>
                      <a:pt x="20" y="74"/>
                    </a:lnTo>
                    <a:lnTo>
                      <a:pt x="22" y="66"/>
                    </a:lnTo>
                    <a:lnTo>
                      <a:pt x="32" y="70"/>
                    </a:lnTo>
                    <a:lnTo>
                      <a:pt x="36" y="68"/>
                    </a:lnTo>
                    <a:lnTo>
                      <a:pt x="38" y="70"/>
                    </a:lnTo>
                    <a:lnTo>
                      <a:pt x="44" y="70"/>
                    </a:lnTo>
                    <a:lnTo>
                      <a:pt x="48" y="60"/>
                    </a:lnTo>
                    <a:lnTo>
                      <a:pt x="52" y="54"/>
                    </a:lnTo>
                    <a:lnTo>
                      <a:pt x="52" y="50"/>
                    </a:lnTo>
                    <a:lnTo>
                      <a:pt x="48" y="46"/>
                    </a:lnTo>
                    <a:lnTo>
                      <a:pt x="46" y="42"/>
                    </a:lnTo>
                    <a:lnTo>
                      <a:pt x="44" y="38"/>
                    </a:lnTo>
                    <a:lnTo>
                      <a:pt x="44" y="20"/>
                    </a:lnTo>
                    <a:lnTo>
                      <a:pt x="50" y="10"/>
                    </a:lnTo>
                    <a:lnTo>
                      <a:pt x="50" y="4"/>
                    </a:lnTo>
                    <a:lnTo>
                      <a:pt x="50" y="6"/>
                    </a:lnTo>
                    <a:lnTo>
                      <a:pt x="50" y="4"/>
                    </a:lnTo>
                    <a:lnTo>
                      <a:pt x="50" y="4"/>
                    </a:lnTo>
                    <a:lnTo>
                      <a:pt x="50" y="2"/>
                    </a:lnTo>
                    <a:lnTo>
                      <a:pt x="50"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70" name="Freeform 46">
                <a:extLst>
                  <a:ext uri="{FF2B5EF4-FFF2-40B4-BE49-F238E27FC236}">
                    <a16:creationId xmlns:a16="http://schemas.microsoft.com/office/drawing/2014/main" id="{70C2D773-6A59-0AD9-CAB0-05472380C21A}"/>
                  </a:ext>
                </a:extLst>
              </p:cNvPr>
              <p:cNvSpPr>
                <a:spLocks/>
              </p:cNvSpPr>
              <p:nvPr/>
            </p:nvSpPr>
            <p:spPr bwMode="auto">
              <a:xfrm>
                <a:off x="5109166" y="3898717"/>
                <a:ext cx="211971" cy="307419"/>
              </a:xfrm>
              <a:custGeom>
                <a:avLst/>
                <a:gdLst/>
                <a:ahLst/>
                <a:cxnLst>
                  <a:cxn ang="0">
                    <a:pos x="216" y="76"/>
                  </a:cxn>
                  <a:cxn ang="0">
                    <a:pos x="204" y="64"/>
                  </a:cxn>
                  <a:cxn ang="0">
                    <a:pos x="206" y="40"/>
                  </a:cxn>
                  <a:cxn ang="0">
                    <a:pos x="200" y="24"/>
                  </a:cxn>
                  <a:cxn ang="0">
                    <a:pos x="190" y="10"/>
                  </a:cxn>
                  <a:cxn ang="0">
                    <a:pos x="176" y="2"/>
                  </a:cxn>
                  <a:cxn ang="0">
                    <a:pos x="162" y="20"/>
                  </a:cxn>
                  <a:cxn ang="0">
                    <a:pos x="144" y="16"/>
                  </a:cxn>
                  <a:cxn ang="0">
                    <a:pos x="34" y="50"/>
                  </a:cxn>
                  <a:cxn ang="0">
                    <a:pos x="26" y="120"/>
                  </a:cxn>
                  <a:cxn ang="0">
                    <a:pos x="16" y="126"/>
                  </a:cxn>
                  <a:cxn ang="0">
                    <a:pos x="14" y="138"/>
                  </a:cxn>
                  <a:cxn ang="0">
                    <a:pos x="8" y="154"/>
                  </a:cxn>
                  <a:cxn ang="0">
                    <a:pos x="0" y="164"/>
                  </a:cxn>
                  <a:cxn ang="0">
                    <a:pos x="2" y="170"/>
                  </a:cxn>
                  <a:cxn ang="0">
                    <a:pos x="12" y="174"/>
                  </a:cxn>
                  <a:cxn ang="0">
                    <a:pos x="10" y="184"/>
                  </a:cxn>
                  <a:cxn ang="0">
                    <a:pos x="12" y="200"/>
                  </a:cxn>
                  <a:cxn ang="0">
                    <a:pos x="20" y="218"/>
                  </a:cxn>
                  <a:cxn ang="0">
                    <a:pos x="26" y="232"/>
                  </a:cxn>
                  <a:cxn ang="0">
                    <a:pos x="32" y="248"/>
                  </a:cxn>
                  <a:cxn ang="0">
                    <a:pos x="42" y="252"/>
                  </a:cxn>
                  <a:cxn ang="0">
                    <a:pos x="54" y="258"/>
                  </a:cxn>
                  <a:cxn ang="0">
                    <a:pos x="64" y="270"/>
                  </a:cxn>
                  <a:cxn ang="0">
                    <a:pos x="70" y="284"/>
                  </a:cxn>
                  <a:cxn ang="0">
                    <a:pos x="78" y="298"/>
                  </a:cxn>
                  <a:cxn ang="0">
                    <a:pos x="86" y="296"/>
                  </a:cxn>
                  <a:cxn ang="0">
                    <a:pos x="96" y="300"/>
                  </a:cxn>
                  <a:cxn ang="0">
                    <a:pos x="110" y="310"/>
                  </a:cxn>
                  <a:cxn ang="0">
                    <a:pos x="122" y="314"/>
                  </a:cxn>
                  <a:cxn ang="0">
                    <a:pos x="140" y="312"/>
                  </a:cxn>
                  <a:cxn ang="0">
                    <a:pos x="152" y="312"/>
                  </a:cxn>
                  <a:cxn ang="0">
                    <a:pos x="168" y="304"/>
                  </a:cxn>
                  <a:cxn ang="0">
                    <a:pos x="186" y="306"/>
                  </a:cxn>
                  <a:cxn ang="0">
                    <a:pos x="180" y="298"/>
                  </a:cxn>
                  <a:cxn ang="0">
                    <a:pos x="168" y="286"/>
                  </a:cxn>
                  <a:cxn ang="0">
                    <a:pos x="160" y="270"/>
                  </a:cxn>
                  <a:cxn ang="0">
                    <a:pos x="146" y="260"/>
                  </a:cxn>
                  <a:cxn ang="0">
                    <a:pos x="150" y="250"/>
                  </a:cxn>
                  <a:cxn ang="0">
                    <a:pos x="158" y="226"/>
                  </a:cxn>
                  <a:cxn ang="0">
                    <a:pos x="162" y="210"/>
                  </a:cxn>
                  <a:cxn ang="0">
                    <a:pos x="174" y="192"/>
                  </a:cxn>
                  <a:cxn ang="0">
                    <a:pos x="184" y="170"/>
                  </a:cxn>
                  <a:cxn ang="0">
                    <a:pos x="196" y="144"/>
                  </a:cxn>
                  <a:cxn ang="0">
                    <a:pos x="200" y="118"/>
                  </a:cxn>
                  <a:cxn ang="0">
                    <a:pos x="202" y="98"/>
                  </a:cxn>
                  <a:cxn ang="0">
                    <a:pos x="206" y="90"/>
                  </a:cxn>
                  <a:cxn ang="0">
                    <a:pos x="218" y="84"/>
                  </a:cxn>
                </a:cxnLst>
                <a:rect l="0" t="0" r="r" b="b"/>
                <a:pathLst>
                  <a:path w="218" h="320">
                    <a:moveTo>
                      <a:pt x="218" y="84"/>
                    </a:moveTo>
                    <a:lnTo>
                      <a:pt x="218" y="84"/>
                    </a:lnTo>
                    <a:lnTo>
                      <a:pt x="218" y="80"/>
                    </a:lnTo>
                    <a:lnTo>
                      <a:pt x="216" y="76"/>
                    </a:lnTo>
                    <a:lnTo>
                      <a:pt x="208" y="74"/>
                    </a:lnTo>
                    <a:lnTo>
                      <a:pt x="206" y="70"/>
                    </a:lnTo>
                    <a:lnTo>
                      <a:pt x="206" y="66"/>
                    </a:lnTo>
                    <a:lnTo>
                      <a:pt x="204" y="64"/>
                    </a:lnTo>
                    <a:lnTo>
                      <a:pt x="204" y="56"/>
                    </a:lnTo>
                    <a:lnTo>
                      <a:pt x="204" y="52"/>
                    </a:lnTo>
                    <a:lnTo>
                      <a:pt x="206" y="50"/>
                    </a:lnTo>
                    <a:lnTo>
                      <a:pt x="206" y="40"/>
                    </a:lnTo>
                    <a:lnTo>
                      <a:pt x="204" y="38"/>
                    </a:lnTo>
                    <a:lnTo>
                      <a:pt x="206" y="32"/>
                    </a:lnTo>
                    <a:lnTo>
                      <a:pt x="202" y="30"/>
                    </a:lnTo>
                    <a:lnTo>
                      <a:pt x="200" y="24"/>
                    </a:lnTo>
                    <a:lnTo>
                      <a:pt x="200" y="16"/>
                    </a:lnTo>
                    <a:lnTo>
                      <a:pt x="196" y="16"/>
                    </a:lnTo>
                    <a:lnTo>
                      <a:pt x="194" y="14"/>
                    </a:lnTo>
                    <a:lnTo>
                      <a:pt x="190" y="10"/>
                    </a:lnTo>
                    <a:lnTo>
                      <a:pt x="186" y="4"/>
                    </a:lnTo>
                    <a:lnTo>
                      <a:pt x="184" y="4"/>
                    </a:lnTo>
                    <a:lnTo>
                      <a:pt x="184" y="0"/>
                    </a:lnTo>
                    <a:lnTo>
                      <a:pt x="176" y="2"/>
                    </a:lnTo>
                    <a:lnTo>
                      <a:pt x="172" y="2"/>
                    </a:lnTo>
                    <a:lnTo>
                      <a:pt x="168" y="10"/>
                    </a:lnTo>
                    <a:lnTo>
                      <a:pt x="162" y="12"/>
                    </a:lnTo>
                    <a:lnTo>
                      <a:pt x="162" y="20"/>
                    </a:lnTo>
                    <a:lnTo>
                      <a:pt x="158" y="22"/>
                    </a:lnTo>
                    <a:lnTo>
                      <a:pt x="156" y="18"/>
                    </a:lnTo>
                    <a:lnTo>
                      <a:pt x="144" y="18"/>
                    </a:lnTo>
                    <a:lnTo>
                      <a:pt x="144" y="16"/>
                    </a:lnTo>
                    <a:lnTo>
                      <a:pt x="140" y="18"/>
                    </a:lnTo>
                    <a:lnTo>
                      <a:pt x="46" y="18"/>
                    </a:lnTo>
                    <a:lnTo>
                      <a:pt x="46" y="50"/>
                    </a:lnTo>
                    <a:lnTo>
                      <a:pt x="34" y="50"/>
                    </a:lnTo>
                    <a:lnTo>
                      <a:pt x="34" y="60"/>
                    </a:lnTo>
                    <a:lnTo>
                      <a:pt x="34" y="120"/>
                    </a:lnTo>
                    <a:lnTo>
                      <a:pt x="30" y="122"/>
                    </a:lnTo>
                    <a:lnTo>
                      <a:pt x="26" y="120"/>
                    </a:lnTo>
                    <a:lnTo>
                      <a:pt x="22" y="120"/>
                    </a:lnTo>
                    <a:lnTo>
                      <a:pt x="20" y="120"/>
                    </a:lnTo>
                    <a:lnTo>
                      <a:pt x="20" y="122"/>
                    </a:lnTo>
                    <a:lnTo>
                      <a:pt x="16" y="126"/>
                    </a:lnTo>
                    <a:lnTo>
                      <a:pt x="16" y="128"/>
                    </a:lnTo>
                    <a:lnTo>
                      <a:pt x="16" y="130"/>
                    </a:lnTo>
                    <a:lnTo>
                      <a:pt x="16" y="134"/>
                    </a:lnTo>
                    <a:lnTo>
                      <a:pt x="14" y="138"/>
                    </a:lnTo>
                    <a:lnTo>
                      <a:pt x="12" y="140"/>
                    </a:lnTo>
                    <a:lnTo>
                      <a:pt x="12" y="144"/>
                    </a:lnTo>
                    <a:lnTo>
                      <a:pt x="10" y="148"/>
                    </a:lnTo>
                    <a:lnTo>
                      <a:pt x="8" y="154"/>
                    </a:lnTo>
                    <a:lnTo>
                      <a:pt x="6" y="156"/>
                    </a:lnTo>
                    <a:lnTo>
                      <a:pt x="4" y="158"/>
                    </a:lnTo>
                    <a:lnTo>
                      <a:pt x="4" y="162"/>
                    </a:lnTo>
                    <a:lnTo>
                      <a:pt x="0" y="164"/>
                    </a:lnTo>
                    <a:lnTo>
                      <a:pt x="0" y="166"/>
                    </a:lnTo>
                    <a:lnTo>
                      <a:pt x="0" y="170"/>
                    </a:lnTo>
                    <a:lnTo>
                      <a:pt x="0" y="170"/>
                    </a:lnTo>
                    <a:lnTo>
                      <a:pt x="2" y="170"/>
                    </a:lnTo>
                    <a:lnTo>
                      <a:pt x="6" y="170"/>
                    </a:lnTo>
                    <a:lnTo>
                      <a:pt x="8" y="170"/>
                    </a:lnTo>
                    <a:lnTo>
                      <a:pt x="12" y="172"/>
                    </a:lnTo>
                    <a:lnTo>
                      <a:pt x="12" y="174"/>
                    </a:lnTo>
                    <a:lnTo>
                      <a:pt x="10" y="176"/>
                    </a:lnTo>
                    <a:lnTo>
                      <a:pt x="8" y="178"/>
                    </a:lnTo>
                    <a:lnTo>
                      <a:pt x="8" y="180"/>
                    </a:lnTo>
                    <a:lnTo>
                      <a:pt x="10" y="184"/>
                    </a:lnTo>
                    <a:lnTo>
                      <a:pt x="10" y="190"/>
                    </a:lnTo>
                    <a:lnTo>
                      <a:pt x="8" y="192"/>
                    </a:lnTo>
                    <a:lnTo>
                      <a:pt x="12" y="196"/>
                    </a:lnTo>
                    <a:lnTo>
                      <a:pt x="12" y="200"/>
                    </a:lnTo>
                    <a:lnTo>
                      <a:pt x="12" y="202"/>
                    </a:lnTo>
                    <a:lnTo>
                      <a:pt x="20" y="210"/>
                    </a:lnTo>
                    <a:lnTo>
                      <a:pt x="20" y="212"/>
                    </a:lnTo>
                    <a:lnTo>
                      <a:pt x="20" y="218"/>
                    </a:lnTo>
                    <a:lnTo>
                      <a:pt x="20" y="222"/>
                    </a:lnTo>
                    <a:lnTo>
                      <a:pt x="22" y="224"/>
                    </a:lnTo>
                    <a:lnTo>
                      <a:pt x="26" y="226"/>
                    </a:lnTo>
                    <a:lnTo>
                      <a:pt x="26" y="232"/>
                    </a:lnTo>
                    <a:lnTo>
                      <a:pt x="26" y="236"/>
                    </a:lnTo>
                    <a:lnTo>
                      <a:pt x="26" y="238"/>
                    </a:lnTo>
                    <a:lnTo>
                      <a:pt x="30" y="244"/>
                    </a:lnTo>
                    <a:lnTo>
                      <a:pt x="32" y="248"/>
                    </a:lnTo>
                    <a:lnTo>
                      <a:pt x="34" y="248"/>
                    </a:lnTo>
                    <a:lnTo>
                      <a:pt x="34" y="250"/>
                    </a:lnTo>
                    <a:lnTo>
                      <a:pt x="38" y="250"/>
                    </a:lnTo>
                    <a:lnTo>
                      <a:pt x="42" y="252"/>
                    </a:lnTo>
                    <a:lnTo>
                      <a:pt x="44" y="254"/>
                    </a:lnTo>
                    <a:lnTo>
                      <a:pt x="48" y="256"/>
                    </a:lnTo>
                    <a:lnTo>
                      <a:pt x="50" y="256"/>
                    </a:lnTo>
                    <a:lnTo>
                      <a:pt x="54" y="258"/>
                    </a:lnTo>
                    <a:lnTo>
                      <a:pt x="54" y="264"/>
                    </a:lnTo>
                    <a:lnTo>
                      <a:pt x="56" y="266"/>
                    </a:lnTo>
                    <a:lnTo>
                      <a:pt x="60" y="268"/>
                    </a:lnTo>
                    <a:lnTo>
                      <a:pt x="64" y="270"/>
                    </a:lnTo>
                    <a:lnTo>
                      <a:pt x="68" y="276"/>
                    </a:lnTo>
                    <a:lnTo>
                      <a:pt x="68" y="282"/>
                    </a:lnTo>
                    <a:lnTo>
                      <a:pt x="68" y="284"/>
                    </a:lnTo>
                    <a:lnTo>
                      <a:pt x="70" y="284"/>
                    </a:lnTo>
                    <a:lnTo>
                      <a:pt x="72" y="286"/>
                    </a:lnTo>
                    <a:lnTo>
                      <a:pt x="72" y="288"/>
                    </a:lnTo>
                    <a:lnTo>
                      <a:pt x="76" y="294"/>
                    </a:lnTo>
                    <a:lnTo>
                      <a:pt x="78" y="298"/>
                    </a:lnTo>
                    <a:lnTo>
                      <a:pt x="80" y="302"/>
                    </a:lnTo>
                    <a:lnTo>
                      <a:pt x="84" y="302"/>
                    </a:lnTo>
                    <a:lnTo>
                      <a:pt x="86" y="298"/>
                    </a:lnTo>
                    <a:lnTo>
                      <a:pt x="86" y="296"/>
                    </a:lnTo>
                    <a:lnTo>
                      <a:pt x="88" y="298"/>
                    </a:lnTo>
                    <a:lnTo>
                      <a:pt x="94" y="302"/>
                    </a:lnTo>
                    <a:lnTo>
                      <a:pt x="94" y="302"/>
                    </a:lnTo>
                    <a:lnTo>
                      <a:pt x="96" y="300"/>
                    </a:lnTo>
                    <a:lnTo>
                      <a:pt x="98" y="298"/>
                    </a:lnTo>
                    <a:lnTo>
                      <a:pt x="100" y="298"/>
                    </a:lnTo>
                    <a:lnTo>
                      <a:pt x="104" y="302"/>
                    </a:lnTo>
                    <a:lnTo>
                      <a:pt x="110" y="310"/>
                    </a:lnTo>
                    <a:lnTo>
                      <a:pt x="114" y="312"/>
                    </a:lnTo>
                    <a:lnTo>
                      <a:pt x="118" y="314"/>
                    </a:lnTo>
                    <a:lnTo>
                      <a:pt x="120" y="316"/>
                    </a:lnTo>
                    <a:lnTo>
                      <a:pt x="122" y="314"/>
                    </a:lnTo>
                    <a:lnTo>
                      <a:pt x="130" y="320"/>
                    </a:lnTo>
                    <a:lnTo>
                      <a:pt x="132" y="316"/>
                    </a:lnTo>
                    <a:lnTo>
                      <a:pt x="136" y="314"/>
                    </a:lnTo>
                    <a:lnTo>
                      <a:pt x="140" y="312"/>
                    </a:lnTo>
                    <a:lnTo>
                      <a:pt x="142" y="312"/>
                    </a:lnTo>
                    <a:lnTo>
                      <a:pt x="144" y="312"/>
                    </a:lnTo>
                    <a:lnTo>
                      <a:pt x="148" y="310"/>
                    </a:lnTo>
                    <a:lnTo>
                      <a:pt x="152" y="312"/>
                    </a:lnTo>
                    <a:lnTo>
                      <a:pt x="154" y="314"/>
                    </a:lnTo>
                    <a:lnTo>
                      <a:pt x="158" y="310"/>
                    </a:lnTo>
                    <a:lnTo>
                      <a:pt x="164" y="308"/>
                    </a:lnTo>
                    <a:lnTo>
                      <a:pt x="168" y="304"/>
                    </a:lnTo>
                    <a:lnTo>
                      <a:pt x="174" y="304"/>
                    </a:lnTo>
                    <a:lnTo>
                      <a:pt x="180" y="304"/>
                    </a:lnTo>
                    <a:lnTo>
                      <a:pt x="186" y="310"/>
                    </a:lnTo>
                    <a:lnTo>
                      <a:pt x="186" y="306"/>
                    </a:lnTo>
                    <a:lnTo>
                      <a:pt x="186" y="302"/>
                    </a:lnTo>
                    <a:lnTo>
                      <a:pt x="186" y="300"/>
                    </a:lnTo>
                    <a:lnTo>
                      <a:pt x="184" y="298"/>
                    </a:lnTo>
                    <a:lnTo>
                      <a:pt x="180" y="298"/>
                    </a:lnTo>
                    <a:lnTo>
                      <a:pt x="174" y="296"/>
                    </a:lnTo>
                    <a:lnTo>
                      <a:pt x="172" y="296"/>
                    </a:lnTo>
                    <a:lnTo>
                      <a:pt x="172" y="292"/>
                    </a:lnTo>
                    <a:lnTo>
                      <a:pt x="168" y="286"/>
                    </a:lnTo>
                    <a:lnTo>
                      <a:pt x="166" y="280"/>
                    </a:lnTo>
                    <a:lnTo>
                      <a:pt x="166" y="276"/>
                    </a:lnTo>
                    <a:lnTo>
                      <a:pt x="162" y="274"/>
                    </a:lnTo>
                    <a:lnTo>
                      <a:pt x="160" y="270"/>
                    </a:lnTo>
                    <a:lnTo>
                      <a:pt x="158" y="266"/>
                    </a:lnTo>
                    <a:lnTo>
                      <a:pt x="156" y="262"/>
                    </a:lnTo>
                    <a:lnTo>
                      <a:pt x="152" y="260"/>
                    </a:lnTo>
                    <a:lnTo>
                      <a:pt x="146" y="260"/>
                    </a:lnTo>
                    <a:lnTo>
                      <a:pt x="144" y="260"/>
                    </a:lnTo>
                    <a:lnTo>
                      <a:pt x="142" y="258"/>
                    </a:lnTo>
                    <a:lnTo>
                      <a:pt x="144" y="250"/>
                    </a:lnTo>
                    <a:lnTo>
                      <a:pt x="150" y="250"/>
                    </a:lnTo>
                    <a:lnTo>
                      <a:pt x="154" y="248"/>
                    </a:lnTo>
                    <a:lnTo>
                      <a:pt x="156" y="244"/>
                    </a:lnTo>
                    <a:lnTo>
                      <a:pt x="158" y="240"/>
                    </a:lnTo>
                    <a:lnTo>
                      <a:pt x="158" y="226"/>
                    </a:lnTo>
                    <a:lnTo>
                      <a:pt x="158" y="224"/>
                    </a:lnTo>
                    <a:lnTo>
                      <a:pt x="160" y="220"/>
                    </a:lnTo>
                    <a:lnTo>
                      <a:pt x="162" y="214"/>
                    </a:lnTo>
                    <a:lnTo>
                      <a:pt x="162" y="210"/>
                    </a:lnTo>
                    <a:lnTo>
                      <a:pt x="162" y="202"/>
                    </a:lnTo>
                    <a:lnTo>
                      <a:pt x="168" y="198"/>
                    </a:lnTo>
                    <a:lnTo>
                      <a:pt x="172" y="196"/>
                    </a:lnTo>
                    <a:lnTo>
                      <a:pt x="174" y="192"/>
                    </a:lnTo>
                    <a:lnTo>
                      <a:pt x="178" y="184"/>
                    </a:lnTo>
                    <a:lnTo>
                      <a:pt x="180" y="178"/>
                    </a:lnTo>
                    <a:lnTo>
                      <a:pt x="182" y="172"/>
                    </a:lnTo>
                    <a:lnTo>
                      <a:pt x="184" y="170"/>
                    </a:lnTo>
                    <a:lnTo>
                      <a:pt x="186" y="166"/>
                    </a:lnTo>
                    <a:lnTo>
                      <a:pt x="190" y="162"/>
                    </a:lnTo>
                    <a:lnTo>
                      <a:pt x="196" y="150"/>
                    </a:lnTo>
                    <a:lnTo>
                      <a:pt x="196" y="144"/>
                    </a:lnTo>
                    <a:lnTo>
                      <a:pt x="196" y="136"/>
                    </a:lnTo>
                    <a:lnTo>
                      <a:pt x="196" y="130"/>
                    </a:lnTo>
                    <a:lnTo>
                      <a:pt x="196" y="124"/>
                    </a:lnTo>
                    <a:lnTo>
                      <a:pt x="200" y="118"/>
                    </a:lnTo>
                    <a:lnTo>
                      <a:pt x="200" y="114"/>
                    </a:lnTo>
                    <a:lnTo>
                      <a:pt x="200" y="108"/>
                    </a:lnTo>
                    <a:lnTo>
                      <a:pt x="202" y="104"/>
                    </a:lnTo>
                    <a:lnTo>
                      <a:pt x="202" y="98"/>
                    </a:lnTo>
                    <a:lnTo>
                      <a:pt x="202" y="96"/>
                    </a:lnTo>
                    <a:lnTo>
                      <a:pt x="204" y="96"/>
                    </a:lnTo>
                    <a:lnTo>
                      <a:pt x="204" y="94"/>
                    </a:lnTo>
                    <a:lnTo>
                      <a:pt x="206" y="90"/>
                    </a:lnTo>
                    <a:lnTo>
                      <a:pt x="208" y="88"/>
                    </a:lnTo>
                    <a:lnTo>
                      <a:pt x="210" y="88"/>
                    </a:lnTo>
                    <a:lnTo>
                      <a:pt x="216" y="90"/>
                    </a:lnTo>
                    <a:lnTo>
                      <a:pt x="218" y="84"/>
                    </a:lnTo>
                    <a:lnTo>
                      <a:pt x="218" y="8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71" name="Freeform 47">
                <a:extLst>
                  <a:ext uri="{FF2B5EF4-FFF2-40B4-BE49-F238E27FC236}">
                    <a16:creationId xmlns:a16="http://schemas.microsoft.com/office/drawing/2014/main" id="{8BC0C36F-4989-4E4C-F962-3F8E04DBBC86}"/>
                  </a:ext>
                </a:extLst>
              </p:cNvPr>
              <p:cNvSpPr>
                <a:spLocks/>
              </p:cNvSpPr>
              <p:nvPr/>
            </p:nvSpPr>
            <p:spPr bwMode="auto">
              <a:xfrm>
                <a:off x="5834538" y="4113911"/>
                <a:ext cx="29170" cy="61484"/>
              </a:xfrm>
              <a:custGeom>
                <a:avLst/>
                <a:gdLst/>
                <a:ahLst/>
                <a:cxnLst>
                  <a:cxn ang="0">
                    <a:pos x="4" y="0"/>
                  </a:cxn>
                  <a:cxn ang="0">
                    <a:pos x="4" y="0"/>
                  </a:cxn>
                  <a:cxn ang="0">
                    <a:pos x="4" y="2"/>
                  </a:cxn>
                  <a:cxn ang="0">
                    <a:pos x="4" y="6"/>
                  </a:cxn>
                  <a:cxn ang="0">
                    <a:pos x="6" y="8"/>
                  </a:cxn>
                  <a:cxn ang="0">
                    <a:pos x="6" y="10"/>
                  </a:cxn>
                  <a:cxn ang="0">
                    <a:pos x="4" y="12"/>
                  </a:cxn>
                  <a:cxn ang="0">
                    <a:pos x="4" y="18"/>
                  </a:cxn>
                  <a:cxn ang="0">
                    <a:pos x="0" y="28"/>
                  </a:cxn>
                  <a:cxn ang="0">
                    <a:pos x="0" y="36"/>
                  </a:cxn>
                  <a:cxn ang="0">
                    <a:pos x="2" y="44"/>
                  </a:cxn>
                  <a:cxn ang="0">
                    <a:pos x="2" y="50"/>
                  </a:cxn>
                  <a:cxn ang="0">
                    <a:pos x="4" y="56"/>
                  </a:cxn>
                  <a:cxn ang="0">
                    <a:pos x="6" y="58"/>
                  </a:cxn>
                  <a:cxn ang="0">
                    <a:pos x="8" y="62"/>
                  </a:cxn>
                  <a:cxn ang="0">
                    <a:pos x="14" y="64"/>
                  </a:cxn>
                  <a:cxn ang="0">
                    <a:pos x="20" y="60"/>
                  </a:cxn>
                  <a:cxn ang="0">
                    <a:pos x="26" y="56"/>
                  </a:cxn>
                  <a:cxn ang="0">
                    <a:pos x="28" y="52"/>
                  </a:cxn>
                  <a:cxn ang="0">
                    <a:pos x="30" y="48"/>
                  </a:cxn>
                  <a:cxn ang="0">
                    <a:pos x="30" y="38"/>
                  </a:cxn>
                  <a:cxn ang="0">
                    <a:pos x="28" y="38"/>
                  </a:cxn>
                  <a:cxn ang="0">
                    <a:pos x="28" y="30"/>
                  </a:cxn>
                  <a:cxn ang="0">
                    <a:pos x="24" y="26"/>
                  </a:cxn>
                  <a:cxn ang="0">
                    <a:pos x="22" y="20"/>
                  </a:cxn>
                  <a:cxn ang="0">
                    <a:pos x="20" y="20"/>
                  </a:cxn>
                  <a:cxn ang="0">
                    <a:pos x="16" y="16"/>
                  </a:cxn>
                  <a:cxn ang="0">
                    <a:pos x="16" y="14"/>
                  </a:cxn>
                  <a:cxn ang="0">
                    <a:pos x="12" y="12"/>
                  </a:cxn>
                  <a:cxn ang="0">
                    <a:pos x="10" y="6"/>
                  </a:cxn>
                  <a:cxn ang="0">
                    <a:pos x="8" y="0"/>
                  </a:cxn>
                  <a:cxn ang="0">
                    <a:pos x="4" y="0"/>
                  </a:cxn>
                  <a:cxn ang="0">
                    <a:pos x="4" y="0"/>
                  </a:cxn>
                </a:cxnLst>
                <a:rect l="0" t="0" r="r" b="b"/>
                <a:pathLst>
                  <a:path w="30" h="64">
                    <a:moveTo>
                      <a:pt x="4" y="0"/>
                    </a:moveTo>
                    <a:lnTo>
                      <a:pt x="4" y="0"/>
                    </a:lnTo>
                    <a:lnTo>
                      <a:pt x="4" y="2"/>
                    </a:lnTo>
                    <a:lnTo>
                      <a:pt x="4" y="6"/>
                    </a:lnTo>
                    <a:lnTo>
                      <a:pt x="6" y="8"/>
                    </a:lnTo>
                    <a:lnTo>
                      <a:pt x="6" y="10"/>
                    </a:lnTo>
                    <a:lnTo>
                      <a:pt x="4" y="12"/>
                    </a:lnTo>
                    <a:lnTo>
                      <a:pt x="4" y="18"/>
                    </a:lnTo>
                    <a:lnTo>
                      <a:pt x="0" y="28"/>
                    </a:lnTo>
                    <a:lnTo>
                      <a:pt x="0" y="36"/>
                    </a:lnTo>
                    <a:lnTo>
                      <a:pt x="2" y="44"/>
                    </a:lnTo>
                    <a:lnTo>
                      <a:pt x="2" y="50"/>
                    </a:lnTo>
                    <a:lnTo>
                      <a:pt x="4" y="56"/>
                    </a:lnTo>
                    <a:lnTo>
                      <a:pt x="6" y="58"/>
                    </a:lnTo>
                    <a:lnTo>
                      <a:pt x="8" y="62"/>
                    </a:lnTo>
                    <a:lnTo>
                      <a:pt x="14" y="64"/>
                    </a:lnTo>
                    <a:lnTo>
                      <a:pt x="20" y="60"/>
                    </a:lnTo>
                    <a:lnTo>
                      <a:pt x="26" y="56"/>
                    </a:lnTo>
                    <a:lnTo>
                      <a:pt x="28" y="52"/>
                    </a:lnTo>
                    <a:lnTo>
                      <a:pt x="30" y="48"/>
                    </a:lnTo>
                    <a:lnTo>
                      <a:pt x="30" y="38"/>
                    </a:lnTo>
                    <a:lnTo>
                      <a:pt x="28" y="38"/>
                    </a:lnTo>
                    <a:lnTo>
                      <a:pt x="28" y="30"/>
                    </a:lnTo>
                    <a:lnTo>
                      <a:pt x="24" y="26"/>
                    </a:lnTo>
                    <a:lnTo>
                      <a:pt x="22" y="20"/>
                    </a:lnTo>
                    <a:lnTo>
                      <a:pt x="20" y="20"/>
                    </a:lnTo>
                    <a:lnTo>
                      <a:pt x="16" y="16"/>
                    </a:lnTo>
                    <a:lnTo>
                      <a:pt x="16" y="14"/>
                    </a:lnTo>
                    <a:lnTo>
                      <a:pt x="12" y="12"/>
                    </a:lnTo>
                    <a:lnTo>
                      <a:pt x="10" y="6"/>
                    </a:lnTo>
                    <a:lnTo>
                      <a:pt x="8" y="0"/>
                    </a:lnTo>
                    <a:lnTo>
                      <a:pt x="4" y="0"/>
                    </a:lnTo>
                    <a:lnTo>
                      <a:pt x="4"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72" name="Freeform 48">
                <a:extLst>
                  <a:ext uri="{FF2B5EF4-FFF2-40B4-BE49-F238E27FC236}">
                    <a16:creationId xmlns:a16="http://schemas.microsoft.com/office/drawing/2014/main" id="{4172AD11-EFA4-E493-4D36-2E0A4E7D5887}"/>
                  </a:ext>
                </a:extLst>
              </p:cNvPr>
              <p:cNvSpPr>
                <a:spLocks/>
              </p:cNvSpPr>
              <p:nvPr/>
            </p:nvSpPr>
            <p:spPr bwMode="auto">
              <a:xfrm>
                <a:off x="4852466" y="3631646"/>
                <a:ext cx="5834" cy="5764"/>
              </a:xfrm>
              <a:custGeom>
                <a:avLst/>
                <a:gdLst/>
                <a:ahLst/>
                <a:cxnLst>
                  <a:cxn ang="0">
                    <a:pos x="4" y="0"/>
                  </a:cxn>
                  <a:cxn ang="0">
                    <a:pos x="4" y="0"/>
                  </a:cxn>
                  <a:cxn ang="0">
                    <a:pos x="2" y="4"/>
                  </a:cxn>
                  <a:cxn ang="0">
                    <a:pos x="0" y="6"/>
                  </a:cxn>
                  <a:cxn ang="0">
                    <a:pos x="2" y="6"/>
                  </a:cxn>
                  <a:cxn ang="0">
                    <a:pos x="6" y="2"/>
                  </a:cxn>
                  <a:cxn ang="0">
                    <a:pos x="6" y="0"/>
                  </a:cxn>
                  <a:cxn ang="0">
                    <a:pos x="4" y="0"/>
                  </a:cxn>
                </a:cxnLst>
                <a:rect l="0" t="0" r="r" b="b"/>
                <a:pathLst>
                  <a:path w="6" h="6">
                    <a:moveTo>
                      <a:pt x="4" y="0"/>
                    </a:moveTo>
                    <a:lnTo>
                      <a:pt x="4" y="0"/>
                    </a:lnTo>
                    <a:lnTo>
                      <a:pt x="2" y="4"/>
                    </a:lnTo>
                    <a:lnTo>
                      <a:pt x="0" y="6"/>
                    </a:lnTo>
                    <a:lnTo>
                      <a:pt x="2" y="6"/>
                    </a:lnTo>
                    <a:lnTo>
                      <a:pt x="6" y="2"/>
                    </a:lnTo>
                    <a:lnTo>
                      <a:pt x="6" y="0"/>
                    </a:lnTo>
                    <a:lnTo>
                      <a:pt x="4"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73" name="Freeform 49">
                <a:extLst>
                  <a:ext uri="{FF2B5EF4-FFF2-40B4-BE49-F238E27FC236}">
                    <a16:creationId xmlns:a16="http://schemas.microsoft.com/office/drawing/2014/main" id="{CA391F53-236C-0D29-D2C9-673170D740C0}"/>
                  </a:ext>
                </a:extLst>
              </p:cNvPr>
              <p:cNvSpPr>
                <a:spLocks/>
              </p:cNvSpPr>
              <p:nvPr/>
            </p:nvSpPr>
            <p:spPr bwMode="auto">
              <a:xfrm>
                <a:off x="4852466" y="3631646"/>
                <a:ext cx="5834" cy="5764"/>
              </a:xfrm>
              <a:custGeom>
                <a:avLst/>
                <a:gdLst/>
                <a:ahLst/>
                <a:cxnLst>
                  <a:cxn ang="0">
                    <a:pos x="4" y="0"/>
                  </a:cxn>
                  <a:cxn ang="0">
                    <a:pos x="4" y="0"/>
                  </a:cxn>
                  <a:cxn ang="0">
                    <a:pos x="2" y="4"/>
                  </a:cxn>
                  <a:cxn ang="0">
                    <a:pos x="0" y="6"/>
                  </a:cxn>
                  <a:cxn ang="0">
                    <a:pos x="2" y="6"/>
                  </a:cxn>
                  <a:cxn ang="0">
                    <a:pos x="6" y="2"/>
                  </a:cxn>
                  <a:cxn ang="0">
                    <a:pos x="6" y="0"/>
                  </a:cxn>
                  <a:cxn ang="0">
                    <a:pos x="4" y="0"/>
                  </a:cxn>
                </a:cxnLst>
                <a:rect l="0" t="0" r="r" b="b"/>
                <a:pathLst>
                  <a:path w="6" h="6">
                    <a:moveTo>
                      <a:pt x="4" y="0"/>
                    </a:moveTo>
                    <a:lnTo>
                      <a:pt x="4" y="0"/>
                    </a:lnTo>
                    <a:lnTo>
                      <a:pt x="2" y="4"/>
                    </a:lnTo>
                    <a:lnTo>
                      <a:pt x="0" y="6"/>
                    </a:lnTo>
                    <a:lnTo>
                      <a:pt x="2" y="6"/>
                    </a:lnTo>
                    <a:lnTo>
                      <a:pt x="6" y="2"/>
                    </a:lnTo>
                    <a:lnTo>
                      <a:pt x="6" y="0"/>
                    </a:lnTo>
                    <a:lnTo>
                      <a:pt x="4"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74" name="Freeform 50">
                <a:extLst>
                  <a:ext uri="{FF2B5EF4-FFF2-40B4-BE49-F238E27FC236}">
                    <a16:creationId xmlns:a16="http://schemas.microsoft.com/office/drawing/2014/main" id="{8C42B6D7-B276-21B0-AAAB-3BB393735889}"/>
                  </a:ext>
                </a:extLst>
              </p:cNvPr>
              <p:cNvSpPr>
                <a:spLocks/>
              </p:cNvSpPr>
              <p:nvPr/>
            </p:nvSpPr>
            <p:spPr bwMode="auto">
              <a:xfrm>
                <a:off x="4897194" y="3622040"/>
                <a:ext cx="5834" cy="3843"/>
              </a:xfrm>
              <a:custGeom>
                <a:avLst/>
                <a:gdLst/>
                <a:ahLst/>
                <a:cxnLst>
                  <a:cxn ang="0">
                    <a:pos x="0" y="0"/>
                  </a:cxn>
                  <a:cxn ang="0">
                    <a:pos x="0" y="4"/>
                  </a:cxn>
                  <a:cxn ang="0">
                    <a:pos x="4" y="4"/>
                  </a:cxn>
                  <a:cxn ang="0">
                    <a:pos x="6" y="4"/>
                  </a:cxn>
                  <a:cxn ang="0">
                    <a:pos x="6" y="2"/>
                  </a:cxn>
                  <a:cxn ang="0">
                    <a:pos x="6" y="0"/>
                  </a:cxn>
                  <a:cxn ang="0">
                    <a:pos x="0" y="0"/>
                  </a:cxn>
                </a:cxnLst>
                <a:rect l="0" t="0" r="r" b="b"/>
                <a:pathLst>
                  <a:path w="6" h="4">
                    <a:moveTo>
                      <a:pt x="0" y="0"/>
                    </a:moveTo>
                    <a:lnTo>
                      <a:pt x="0" y="4"/>
                    </a:lnTo>
                    <a:lnTo>
                      <a:pt x="4" y="4"/>
                    </a:lnTo>
                    <a:lnTo>
                      <a:pt x="6" y="4"/>
                    </a:lnTo>
                    <a:lnTo>
                      <a:pt x="6" y="2"/>
                    </a:lnTo>
                    <a:lnTo>
                      <a:pt x="6"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75" name="Freeform 51">
                <a:extLst>
                  <a:ext uri="{FF2B5EF4-FFF2-40B4-BE49-F238E27FC236}">
                    <a16:creationId xmlns:a16="http://schemas.microsoft.com/office/drawing/2014/main" id="{C1DBB56A-237B-0668-62A2-243173EFC0EF}"/>
                  </a:ext>
                </a:extLst>
              </p:cNvPr>
              <p:cNvSpPr>
                <a:spLocks/>
              </p:cNvSpPr>
              <p:nvPr/>
            </p:nvSpPr>
            <p:spPr bwMode="auto">
              <a:xfrm>
                <a:off x="4897194" y="3622040"/>
                <a:ext cx="5834" cy="3843"/>
              </a:xfrm>
              <a:custGeom>
                <a:avLst/>
                <a:gdLst/>
                <a:ahLst/>
                <a:cxnLst>
                  <a:cxn ang="0">
                    <a:pos x="0" y="0"/>
                  </a:cxn>
                  <a:cxn ang="0">
                    <a:pos x="0" y="4"/>
                  </a:cxn>
                  <a:cxn ang="0">
                    <a:pos x="4" y="4"/>
                  </a:cxn>
                  <a:cxn ang="0">
                    <a:pos x="6" y="4"/>
                  </a:cxn>
                  <a:cxn ang="0">
                    <a:pos x="6" y="2"/>
                  </a:cxn>
                  <a:cxn ang="0">
                    <a:pos x="6" y="0"/>
                  </a:cxn>
                  <a:cxn ang="0">
                    <a:pos x="0" y="0"/>
                  </a:cxn>
                </a:cxnLst>
                <a:rect l="0" t="0" r="r" b="b"/>
                <a:pathLst>
                  <a:path w="6" h="4">
                    <a:moveTo>
                      <a:pt x="0" y="0"/>
                    </a:moveTo>
                    <a:lnTo>
                      <a:pt x="0" y="4"/>
                    </a:lnTo>
                    <a:lnTo>
                      <a:pt x="4" y="4"/>
                    </a:lnTo>
                    <a:lnTo>
                      <a:pt x="6" y="4"/>
                    </a:lnTo>
                    <a:lnTo>
                      <a:pt x="6" y="2"/>
                    </a:lnTo>
                    <a:lnTo>
                      <a:pt x="6" y="0"/>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76" name="Freeform 52">
                <a:extLst>
                  <a:ext uri="{FF2B5EF4-FFF2-40B4-BE49-F238E27FC236}">
                    <a16:creationId xmlns:a16="http://schemas.microsoft.com/office/drawing/2014/main" id="{41A2E374-E53C-A7AF-FE28-B1A20AE3E244}"/>
                  </a:ext>
                </a:extLst>
              </p:cNvPr>
              <p:cNvSpPr>
                <a:spLocks/>
              </p:cNvSpPr>
              <p:nvPr/>
            </p:nvSpPr>
            <p:spPr bwMode="auto">
              <a:xfrm>
                <a:off x="4875803" y="3622040"/>
                <a:ext cx="9723" cy="13450"/>
              </a:xfrm>
              <a:custGeom>
                <a:avLst/>
                <a:gdLst/>
                <a:ahLst/>
                <a:cxnLst>
                  <a:cxn ang="0">
                    <a:pos x="4" y="0"/>
                  </a:cxn>
                  <a:cxn ang="0">
                    <a:pos x="4" y="0"/>
                  </a:cxn>
                  <a:cxn ang="0">
                    <a:pos x="0" y="2"/>
                  </a:cxn>
                  <a:cxn ang="0">
                    <a:pos x="2" y="4"/>
                  </a:cxn>
                  <a:cxn ang="0">
                    <a:pos x="2" y="6"/>
                  </a:cxn>
                  <a:cxn ang="0">
                    <a:pos x="2" y="10"/>
                  </a:cxn>
                  <a:cxn ang="0">
                    <a:pos x="2" y="14"/>
                  </a:cxn>
                  <a:cxn ang="0">
                    <a:pos x="4" y="14"/>
                  </a:cxn>
                  <a:cxn ang="0">
                    <a:pos x="8" y="10"/>
                  </a:cxn>
                  <a:cxn ang="0">
                    <a:pos x="10" y="6"/>
                  </a:cxn>
                  <a:cxn ang="0">
                    <a:pos x="10" y="4"/>
                  </a:cxn>
                  <a:cxn ang="0">
                    <a:pos x="4" y="0"/>
                  </a:cxn>
                </a:cxnLst>
                <a:rect l="0" t="0" r="r" b="b"/>
                <a:pathLst>
                  <a:path w="10" h="14">
                    <a:moveTo>
                      <a:pt x="4" y="0"/>
                    </a:moveTo>
                    <a:lnTo>
                      <a:pt x="4" y="0"/>
                    </a:lnTo>
                    <a:lnTo>
                      <a:pt x="0" y="2"/>
                    </a:lnTo>
                    <a:lnTo>
                      <a:pt x="2" y="4"/>
                    </a:lnTo>
                    <a:lnTo>
                      <a:pt x="2" y="6"/>
                    </a:lnTo>
                    <a:lnTo>
                      <a:pt x="2" y="10"/>
                    </a:lnTo>
                    <a:lnTo>
                      <a:pt x="2" y="14"/>
                    </a:lnTo>
                    <a:lnTo>
                      <a:pt x="4" y="14"/>
                    </a:lnTo>
                    <a:lnTo>
                      <a:pt x="8" y="10"/>
                    </a:lnTo>
                    <a:lnTo>
                      <a:pt x="10" y="6"/>
                    </a:lnTo>
                    <a:lnTo>
                      <a:pt x="10" y="4"/>
                    </a:lnTo>
                    <a:lnTo>
                      <a:pt x="4"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77" name="Freeform 53">
                <a:extLst>
                  <a:ext uri="{FF2B5EF4-FFF2-40B4-BE49-F238E27FC236}">
                    <a16:creationId xmlns:a16="http://schemas.microsoft.com/office/drawing/2014/main" id="{0F03273B-898E-0CB3-9B0F-41CE4BE01B32}"/>
                  </a:ext>
                </a:extLst>
              </p:cNvPr>
              <p:cNvSpPr>
                <a:spLocks/>
              </p:cNvSpPr>
              <p:nvPr/>
            </p:nvSpPr>
            <p:spPr bwMode="auto">
              <a:xfrm>
                <a:off x="4875803" y="3622040"/>
                <a:ext cx="9723" cy="13450"/>
              </a:xfrm>
              <a:custGeom>
                <a:avLst/>
                <a:gdLst/>
                <a:ahLst/>
                <a:cxnLst>
                  <a:cxn ang="0">
                    <a:pos x="4" y="0"/>
                  </a:cxn>
                  <a:cxn ang="0">
                    <a:pos x="4" y="0"/>
                  </a:cxn>
                  <a:cxn ang="0">
                    <a:pos x="0" y="2"/>
                  </a:cxn>
                  <a:cxn ang="0">
                    <a:pos x="2" y="4"/>
                  </a:cxn>
                  <a:cxn ang="0">
                    <a:pos x="2" y="6"/>
                  </a:cxn>
                  <a:cxn ang="0">
                    <a:pos x="2" y="10"/>
                  </a:cxn>
                  <a:cxn ang="0">
                    <a:pos x="2" y="14"/>
                  </a:cxn>
                  <a:cxn ang="0">
                    <a:pos x="4" y="14"/>
                  </a:cxn>
                  <a:cxn ang="0">
                    <a:pos x="8" y="10"/>
                  </a:cxn>
                  <a:cxn ang="0">
                    <a:pos x="10" y="6"/>
                  </a:cxn>
                  <a:cxn ang="0">
                    <a:pos x="10" y="4"/>
                  </a:cxn>
                  <a:cxn ang="0">
                    <a:pos x="4" y="0"/>
                  </a:cxn>
                </a:cxnLst>
                <a:rect l="0" t="0" r="r" b="b"/>
                <a:pathLst>
                  <a:path w="10" h="14">
                    <a:moveTo>
                      <a:pt x="4" y="0"/>
                    </a:moveTo>
                    <a:lnTo>
                      <a:pt x="4" y="0"/>
                    </a:lnTo>
                    <a:lnTo>
                      <a:pt x="0" y="2"/>
                    </a:lnTo>
                    <a:lnTo>
                      <a:pt x="2" y="4"/>
                    </a:lnTo>
                    <a:lnTo>
                      <a:pt x="2" y="6"/>
                    </a:lnTo>
                    <a:lnTo>
                      <a:pt x="2" y="10"/>
                    </a:lnTo>
                    <a:lnTo>
                      <a:pt x="2" y="14"/>
                    </a:lnTo>
                    <a:lnTo>
                      <a:pt x="4" y="14"/>
                    </a:lnTo>
                    <a:lnTo>
                      <a:pt x="8" y="10"/>
                    </a:lnTo>
                    <a:lnTo>
                      <a:pt x="10" y="6"/>
                    </a:lnTo>
                    <a:lnTo>
                      <a:pt x="10" y="4"/>
                    </a:lnTo>
                    <a:lnTo>
                      <a:pt x="4"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78" name="Freeform 54">
                <a:extLst>
                  <a:ext uri="{FF2B5EF4-FFF2-40B4-BE49-F238E27FC236}">
                    <a16:creationId xmlns:a16="http://schemas.microsoft.com/office/drawing/2014/main" id="{13E241D3-8BA3-0DC1-97B9-D24C6F5B842F}"/>
                  </a:ext>
                </a:extLst>
              </p:cNvPr>
              <p:cNvSpPr>
                <a:spLocks/>
              </p:cNvSpPr>
              <p:nvPr/>
            </p:nvSpPr>
            <p:spPr bwMode="auto">
              <a:xfrm>
                <a:off x="6425725" y="3654703"/>
                <a:ext cx="36949" cy="69169"/>
              </a:xfrm>
              <a:custGeom>
                <a:avLst/>
                <a:gdLst/>
                <a:ahLst/>
                <a:cxnLst>
                  <a:cxn ang="0">
                    <a:pos x="6" y="10"/>
                  </a:cxn>
                  <a:cxn ang="0">
                    <a:pos x="6" y="10"/>
                  </a:cxn>
                  <a:cxn ang="0">
                    <a:pos x="8" y="20"/>
                  </a:cxn>
                  <a:cxn ang="0">
                    <a:pos x="10" y="20"/>
                  </a:cxn>
                  <a:cxn ang="0">
                    <a:pos x="10" y="22"/>
                  </a:cxn>
                  <a:cxn ang="0">
                    <a:pos x="10" y="24"/>
                  </a:cxn>
                  <a:cxn ang="0">
                    <a:pos x="4" y="24"/>
                  </a:cxn>
                  <a:cxn ang="0">
                    <a:pos x="4" y="28"/>
                  </a:cxn>
                  <a:cxn ang="0">
                    <a:pos x="10" y="32"/>
                  </a:cxn>
                  <a:cxn ang="0">
                    <a:pos x="6" y="32"/>
                  </a:cxn>
                  <a:cxn ang="0">
                    <a:pos x="6" y="34"/>
                  </a:cxn>
                  <a:cxn ang="0">
                    <a:pos x="6" y="36"/>
                  </a:cxn>
                  <a:cxn ang="0">
                    <a:pos x="10" y="42"/>
                  </a:cxn>
                  <a:cxn ang="0">
                    <a:pos x="8" y="46"/>
                  </a:cxn>
                  <a:cxn ang="0">
                    <a:pos x="4" y="50"/>
                  </a:cxn>
                  <a:cxn ang="0">
                    <a:pos x="4" y="54"/>
                  </a:cxn>
                  <a:cxn ang="0">
                    <a:pos x="4" y="58"/>
                  </a:cxn>
                  <a:cxn ang="0">
                    <a:pos x="2" y="62"/>
                  </a:cxn>
                  <a:cxn ang="0">
                    <a:pos x="2" y="66"/>
                  </a:cxn>
                  <a:cxn ang="0">
                    <a:pos x="2" y="68"/>
                  </a:cxn>
                  <a:cxn ang="0">
                    <a:pos x="0" y="70"/>
                  </a:cxn>
                  <a:cxn ang="0">
                    <a:pos x="4" y="72"/>
                  </a:cxn>
                  <a:cxn ang="0">
                    <a:pos x="6" y="72"/>
                  </a:cxn>
                  <a:cxn ang="0">
                    <a:pos x="14" y="68"/>
                  </a:cxn>
                  <a:cxn ang="0">
                    <a:pos x="14" y="64"/>
                  </a:cxn>
                  <a:cxn ang="0">
                    <a:pos x="22" y="62"/>
                  </a:cxn>
                  <a:cxn ang="0">
                    <a:pos x="28" y="62"/>
                  </a:cxn>
                  <a:cxn ang="0">
                    <a:pos x="28" y="58"/>
                  </a:cxn>
                  <a:cxn ang="0">
                    <a:pos x="28" y="56"/>
                  </a:cxn>
                  <a:cxn ang="0">
                    <a:pos x="34" y="56"/>
                  </a:cxn>
                  <a:cxn ang="0">
                    <a:pos x="36" y="54"/>
                  </a:cxn>
                  <a:cxn ang="0">
                    <a:pos x="38" y="50"/>
                  </a:cxn>
                  <a:cxn ang="0">
                    <a:pos x="38" y="38"/>
                  </a:cxn>
                  <a:cxn ang="0">
                    <a:pos x="38" y="24"/>
                  </a:cxn>
                  <a:cxn ang="0">
                    <a:pos x="36" y="20"/>
                  </a:cxn>
                  <a:cxn ang="0">
                    <a:pos x="32" y="16"/>
                  </a:cxn>
                  <a:cxn ang="0">
                    <a:pos x="32" y="12"/>
                  </a:cxn>
                  <a:cxn ang="0">
                    <a:pos x="30" y="10"/>
                  </a:cxn>
                  <a:cxn ang="0">
                    <a:pos x="28" y="10"/>
                  </a:cxn>
                  <a:cxn ang="0">
                    <a:pos x="28" y="6"/>
                  </a:cxn>
                  <a:cxn ang="0">
                    <a:pos x="28" y="4"/>
                  </a:cxn>
                  <a:cxn ang="0">
                    <a:pos x="28" y="2"/>
                  </a:cxn>
                  <a:cxn ang="0">
                    <a:pos x="22" y="4"/>
                  </a:cxn>
                  <a:cxn ang="0">
                    <a:pos x="16" y="0"/>
                  </a:cxn>
                  <a:cxn ang="0">
                    <a:pos x="12" y="2"/>
                  </a:cxn>
                  <a:cxn ang="0">
                    <a:pos x="4" y="10"/>
                  </a:cxn>
                  <a:cxn ang="0">
                    <a:pos x="6" y="10"/>
                  </a:cxn>
                  <a:cxn ang="0">
                    <a:pos x="6" y="10"/>
                  </a:cxn>
                </a:cxnLst>
                <a:rect l="0" t="0" r="r" b="b"/>
                <a:pathLst>
                  <a:path w="38" h="72">
                    <a:moveTo>
                      <a:pt x="6" y="10"/>
                    </a:moveTo>
                    <a:lnTo>
                      <a:pt x="6" y="10"/>
                    </a:lnTo>
                    <a:lnTo>
                      <a:pt x="8" y="20"/>
                    </a:lnTo>
                    <a:lnTo>
                      <a:pt x="10" y="20"/>
                    </a:lnTo>
                    <a:lnTo>
                      <a:pt x="10" y="22"/>
                    </a:lnTo>
                    <a:lnTo>
                      <a:pt x="10" y="24"/>
                    </a:lnTo>
                    <a:lnTo>
                      <a:pt x="4" y="24"/>
                    </a:lnTo>
                    <a:lnTo>
                      <a:pt x="4" y="28"/>
                    </a:lnTo>
                    <a:lnTo>
                      <a:pt x="10" y="32"/>
                    </a:lnTo>
                    <a:lnTo>
                      <a:pt x="6" y="32"/>
                    </a:lnTo>
                    <a:lnTo>
                      <a:pt x="6" y="34"/>
                    </a:lnTo>
                    <a:lnTo>
                      <a:pt x="6" y="36"/>
                    </a:lnTo>
                    <a:lnTo>
                      <a:pt x="10" y="42"/>
                    </a:lnTo>
                    <a:lnTo>
                      <a:pt x="8" y="46"/>
                    </a:lnTo>
                    <a:lnTo>
                      <a:pt x="4" y="50"/>
                    </a:lnTo>
                    <a:lnTo>
                      <a:pt x="4" y="54"/>
                    </a:lnTo>
                    <a:lnTo>
                      <a:pt x="4" y="58"/>
                    </a:lnTo>
                    <a:lnTo>
                      <a:pt x="2" y="62"/>
                    </a:lnTo>
                    <a:lnTo>
                      <a:pt x="2" y="66"/>
                    </a:lnTo>
                    <a:lnTo>
                      <a:pt x="2" y="68"/>
                    </a:lnTo>
                    <a:lnTo>
                      <a:pt x="0" y="70"/>
                    </a:lnTo>
                    <a:lnTo>
                      <a:pt x="4" y="72"/>
                    </a:lnTo>
                    <a:lnTo>
                      <a:pt x="6" y="72"/>
                    </a:lnTo>
                    <a:lnTo>
                      <a:pt x="14" y="68"/>
                    </a:lnTo>
                    <a:lnTo>
                      <a:pt x="14" y="64"/>
                    </a:lnTo>
                    <a:lnTo>
                      <a:pt x="22" y="62"/>
                    </a:lnTo>
                    <a:lnTo>
                      <a:pt x="28" y="62"/>
                    </a:lnTo>
                    <a:lnTo>
                      <a:pt x="28" y="58"/>
                    </a:lnTo>
                    <a:lnTo>
                      <a:pt x="28" y="56"/>
                    </a:lnTo>
                    <a:lnTo>
                      <a:pt x="34" y="56"/>
                    </a:lnTo>
                    <a:lnTo>
                      <a:pt x="36" y="54"/>
                    </a:lnTo>
                    <a:lnTo>
                      <a:pt x="38" y="50"/>
                    </a:lnTo>
                    <a:lnTo>
                      <a:pt x="38" y="38"/>
                    </a:lnTo>
                    <a:lnTo>
                      <a:pt x="38" y="24"/>
                    </a:lnTo>
                    <a:lnTo>
                      <a:pt x="36" y="20"/>
                    </a:lnTo>
                    <a:lnTo>
                      <a:pt x="32" y="16"/>
                    </a:lnTo>
                    <a:lnTo>
                      <a:pt x="32" y="12"/>
                    </a:lnTo>
                    <a:lnTo>
                      <a:pt x="30" y="10"/>
                    </a:lnTo>
                    <a:lnTo>
                      <a:pt x="28" y="10"/>
                    </a:lnTo>
                    <a:lnTo>
                      <a:pt x="28" y="6"/>
                    </a:lnTo>
                    <a:lnTo>
                      <a:pt x="28" y="4"/>
                    </a:lnTo>
                    <a:lnTo>
                      <a:pt x="28" y="2"/>
                    </a:lnTo>
                    <a:lnTo>
                      <a:pt x="22" y="4"/>
                    </a:lnTo>
                    <a:lnTo>
                      <a:pt x="16" y="0"/>
                    </a:lnTo>
                    <a:lnTo>
                      <a:pt x="12" y="2"/>
                    </a:lnTo>
                    <a:lnTo>
                      <a:pt x="4" y="10"/>
                    </a:lnTo>
                    <a:lnTo>
                      <a:pt x="6" y="10"/>
                    </a:lnTo>
                    <a:lnTo>
                      <a:pt x="6" y="1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79" name="Freeform 55">
                <a:extLst>
                  <a:ext uri="{FF2B5EF4-FFF2-40B4-BE49-F238E27FC236}">
                    <a16:creationId xmlns:a16="http://schemas.microsoft.com/office/drawing/2014/main" id="{E0BF5D4A-CFFB-FFCB-DE1A-B7404FE2D65D}"/>
                  </a:ext>
                </a:extLst>
              </p:cNvPr>
              <p:cNvSpPr>
                <a:spLocks/>
              </p:cNvSpPr>
              <p:nvPr/>
            </p:nvSpPr>
            <p:spPr bwMode="auto">
              <a:xfrm>
                <a:off x="5360032" y="4083169"/>
                <a:ext cx="122516" cy="194058"/>
              </a:xfrm>
              <a:custGeom>
                <a:avLst/>
                <a:gdLst/>
                <a:ahLst/>
                <a:cxnLst>
                  <a:cxn ang="0">
                    <a:pos x="12" y="202"/>
                  </a:cxn>
                  <a:cxn ang="0">
                    <a:pos x="14" y="194"/>
                  </a:cxn>
                  <a:cxn ang="0">
                    <a:pos x="18" y="186"/>
                  </a:cxn>
                  <a:cxn ang="0">
                    <a:pos x="26" y="178"/>
                  </a:cxn>
                  <a:cxn ang="0">
                    <a:pos x="36" y="166"/>
                  </a:cxn>
                  <a:cxn ang="0">
                    <a:pos x="52" y="158"/>
                  </a:cxn>
                  <a:cxn ang="0">
                    <a:pos x="60" y="150"/>
                  </a:cxn>
                  <a:cxn ang="0">
                    <a:pos x="66" y="144"/>
                  </a:cxn>
                  <a:cxn ang="0">
                    <a:pos x="66" y="140"/>
                  </a:cxn>
                  <a:cxn ang="0">
                    <a:pos x="76" y="134"/>
                  </a:cxn>
                  <a:cxn ang="0">
                    <a:pos x="76" y="126"/>
                  </a:cxn>
                  <a:cxn ang="0">
                    <a:pos x="82" y="124"/>
                  </a:cxn>
                  <a:cxn ang="0">
                    <a:pos x="86" y="116"/>
                  </a:cxn>
                  <a:cxn ang="0">
                    <a:pos x="94" y="106"/>
                  </a:cxn>
                  <a:cxn ang="0">
                    <a:pos x="94" y="98"/>
                  </a:cxn>
                  <a:cxn ang="0">
                    <a:pos x="98" y="92"/>
                  </a:cxn>
                  <a:cxn ang="0">
                    <a:pos x="102" y="76"/>
                  </a:cxn>
                  <a:cxn ang="0">
                    <a:pos x="106" y="66"/>
                  </a:cxn>
                  <a:cxn ang="0">
                    <a:pos x="108" y="60"/>
                  </a:cxn>
                  <a:cxn ang="0">
                    <a:pos x="116" y="46"/>
                  </a:cxn>
                  <a:cxn ang="0">
                    <a:pos x="118" y="40"/>
                  </a:cxn>
                  <a:cxn ang="0">
                    <a:pos x="122" y="26"/>
                  </a:cxn>
                  <a:cxn ang="0">
                    <a:pos x="126" y="2"/>
                  </a:cxn>
                  <a:cxn ang="0">
                    <a:pos x="120" y="0"/>
                  </a:cxn>
                  <a:cxn ang="0">
                    <a:pos x="104" y="8"/>
                  </a:cxn>
                  <a:cxn ang="0">
                    <a:pos x="92" y="8"/>
                  </a:cxn>
                  <a:cxn ang="0">
                    <a:pos x="82" y="12"/>
                  </a:cxn>
                  <a:cxn ang="0">
                    <a:pos x="76" y="16"/>
                  </a:cxn>
                  <a:cxn ang="0">
                    <a:pos x="66" y="20"/>
                  </a:cxn>
                  <a:cxn ang="0">
                    <a:pos x="62" y="18"/>
                  </a:cxn>
                  <a:cxn ang="0">
                    <a:pos x="54" y="16"/>
                  </a:cxn>
                  <a:cxn ang="0">
                    <a:pos x="36" y="20"/>
                  </a:cxn>
                  <a:cxn ang="0">
                    <a:pos x="34" y="16"/>
                  </a:cxn>
                  <a:cxn ang="0">
                    <a:pos x="24" y="6"/>
                  </a:cxn>
                  <a:cxn ang="0">
                    <a:pos x="14" y="20"/>
                  </a:cxn>
                  <a:cxn ang="0">
                    <a:pos x="22" y="30"/>
                  </a:cxn>
                  <a:cxn ang="0">
                    <a:pos x="28" y="38"/>
                  </a:cxn>
                  <a:cxn ang="0">
                    <a:pos x="68" y="56"/>
                  </a:cxn>
                  <a:cxn ang="0">
                    <a:pos x="50" y="108"/>
                  </a:cxn>
                  <a:cxn ang="0">
                    <a:pos x="30" y="112"/>
                  </a:cxn>
                  <a:cxn ang="0">
                    <a:pos x="14" y="116"/>
                  </a:cxn>
                  <a:cxn ang="0">
                    <a:pos x="0" y="138"/>
                  </a:cxn>
                  <a:cxn ang="0">
                    <a:pos x="10" y="202"/>
                  </a:cxn>
                  <a:cxn ang="0">
                    <a:pos x="12" y="202"/>
                  </a:cxn>
                </a:cxnLst>
                <a:rect l="0" t="0" r="r" b="b"/>
                <a:pathLst>
                  <a:path w="126" h="202">
                    <a:moveTo>
                      <a:pt x="12" y="202"/>
                    </a:moveTo>
                    <a:lnTo>
                      <a:pt x="12" y="202"/>
                    </a:lnTo>
                    <a:lnTo>
                      <a:pt x="14" y="196"/>
                    </a:lnTo>
                    <a:lnTo>
                      <a:pt x="14" y="194"/>
                    </a:lnTo>
                    <a:lnTo>
                      <a:pt x="18" y="190"/>
                    </a:lnTo>
                    <a:lnTo>
                      <a:pt x="18" y="186"/>
                    </a:lnTo>
                    <a:lnTo>
                      <a:pt x="24" y="182"/>
                    </a:lnTo>
                    <a:lnTo>
                      <a:pt x="26" y="178"/>
                    </a:lnTo>
                    <a:lnTo>
                      <a:pt x="32" y="174"/>
                    </a:lnTo>
                    <a:lnTo>
                      <a:pt x="36" y="166"/>
                    </a:lnTo>
                    <a:lnTo>
                      <a:pt x="44" y="162"/>
                    </a:lnTo>
                    <a:lnTo>
                      <a:pt x="52" y="158"/>
                    </a:lnTo>
                    <a:lnTo>
                      <a:pt x="52" y="154"/>
                    </a:lnTo>
                    <a:lnTo>
                      <a:pt x="60" y="150"/>
                    </a:lnTo>
                    <a:lnTo>
                      <a:pt x="62" y="146"/>
                    </a:lnTo>
                    <a:lnTo>
                      <a:pt x="66" y="144"/>
                    </a:lnTo>
                    <a:lnTo>
                      <a:pt x="66" y="142"/>
                    </a:lnTo>
                    <a:lnTo>
                      <a:pt x="66" y="140"/>
                    </a:lnTo>
                    <a:lnTo>
                      <a:pt x="70" y="140"/>
                    </a:lnTo>
                    <a:lnTo>
                      <a:pt x="76" y="134"/>
                    </a:lnTo>
                    <a:lnTo>
                      <a:pt x="76" y="130"/>
                    </a:lnTo>
                    <a:lnTo>
                      <a:pt x="76" y="126"/>
                    </a:lnTo>
                    <a:lnTo>
                      <a:pt x="78" y="126"/>
                    </a:lnTo>
                    <a:lnTo>
                      <a:pt x="82" y="124"/>
                    </a:lnTo>
                    <a:lnTo>
                      <a:pt x="86" y="122"/>
                    </a:lnTo>
                    <a:lnTo>
                      <a:pt x="86" y="116"/>
                    </a:lnTo>
                    <a:lnTo>
                      <a:pt x="90" y="108"/>
                    </a:lnTo>
                    <a:lnTo>
                      <a:pt x="94" y="106"/>
                    </a:lnTo>
                    <a:lnTo>
                      <a:pt x="94" y="102"/>
                    </a:lnTo>
                    <a:lnTo>
                      <a:pt x="94" y="98"/>
                    </a:lnTo>
                    <a:lnTo>
                      <a:pt x="96" y="96"/>
                    </a:lnTo>
                    <a:lnTo>
                      <a:pt x="98" y="92"/>
                    </a:lnTo>
                    <a:lnTo>
                      <a:pt x="98" y="86"/>
                    </a:lnTo>
                    <a:lnTo>
                      <a:pt x="102" y="76"/>
                    </a:lnTo>
                    <a:lnTo>
                      <a:pt x="104" y="66"/>
                    </a:lnTo>
                    <a:lnTo>
                      <a:pt x="106" y="66"/>
                    </a:lnTo>
                    <a:lnTo>
                      <a:pt x="106" y="62"/>
                    </a:lnTo>
                    <a:lnTo>
                      <a:pt x="108" y="60"/>
                    </a:lnTo>
                    <a:lnTo>
                      <a:pt x="116" y="50"/>
                    </a:lnTo>
                    <a:lnTo>
                      <a:pt x="116" y="46"/>
                    </a:lnTo>
                    <a:lnTo>
                      <a:pt x="116" y="42"/>
                    </a:lnTo>
                    <a:lnTo>
                      <a:pt x="118" y="40"/>
                    </a:lnTo>
                    <a:lnTo>
                      <a:pt x="118" y="38"/>
                    </a:lnTo>
                    <a:lnTo>
                      <a:pt x="122" y="26"/>
                    </a:lnTo>
                    <a:lnTo>
                      <a:pt x="124" y="14"/>
                    </a:lnTo>
                    <a:lnTo>
                      <a:pt x="126" y="2"/>
                    </a:lnTo>
                    <a:lnTo>
                      <a:pt x="122" y="0"/>
                    </a:lnTo>
                    <a:lnTo>
                      <a:pt x="120" y="0"/>
                    </a:lnTo>
                    <a:lnTo>
                      <a:pt x="118" y="2"/>
                    </a:lnTo>
                    <a:lnTo>
                      <a:pt x="104" y="8"/>
                    </a:lnTo>
                    <a:lnTo>
                      <a:pt x="96" y="8"/>
                    </a:lnTo>
                    <a:lnTo>
                      <a:pt x="92" y="8"/>
                    </a:lnTo>
                    <a:lnTo>
                      <a:pt x="88" y="10"/>
                    </a:lnTo>
                    <a:lnTo>
                      <a:pt x="82" y="12"/>
                    </a:lnTo>
                    <a:lnTo>
                      <a:pt x="78" y="12"/>
                    </a:lnTo>
                    <a:lnTo>
                      <a:pt x="76" y="16"/>
                    </a:lnTo>
                    <a:lnTo>
                      <a:pt x="68" y="18"/>
                    </a:lnTo>
                    <a:lnTo>
                      <a:pt x="66" y="20"/>
                    </a:lnTo>
                    <a:lnTo>
                      <a:pt x="64" y="20"/>
                    </a:lnTo>
                    <a:lnTo>
                      <a:pt x="62" y="18"/>
                    </a:lnTo>
                    <a:lnTo>
                      <a:pt x="60" y="16"/>
                    </a:lnTo>
                    <a:lnTo>
                      <a:pt x="54" y="16"/>
                    </a:lnTo>
                    <a:lnTo>
                      <a:pt x="48" y="18"/>
                    </a:lnTo>
                    <a:lnTo>
                      <a:pt x="36" y="20"/>
                    </a:lnTo>
                    <a:lnTo>
                      <a:pt x="36" y="18"/>
                    </a:lnTo>
                    <a:lnTo>
                      <a:pt x="34" y="16"/>
                    </a:lnTo>
                    <a:lnTo>
                      <a:pt x="30" y="14"/>
                    </a:lnTo>
                    <a:lnTo>
                      <a:pt x="24" y="6"/>
                    </a:lnTo>
                    <a:lnTo>
                      <a:pt x="18" y="14"/>
                    </a:lnTo>
                    <a:lnTo>
                      <a:pt x="14" y="20"/>
                    </a:lnTo>
                    <a:lnTo>
                      <a:pt x="20" y="26"/>
                    </a:lnTo>
                    <a:lnTo>
                      <a:pt x="22" y="30"/>
                    </a:lnTo>
                    <a:lnTo>
                      <a:pt x="24" y="34"/>
                    </a:lnTo>
                    <a:lnTo>
                      <a:pt x="28" y="38"/>
                    </a:lnTo>
                    <a:lnTo>
                      <a:pt x="34" y="40"/>
                    </a:lnTo>
                    <a:lnTo>
                      <a:pt x="68" y="56"/>
                    </a:lnTo>
                    <a:lnTo>
                      <a:pt x="86" y="56"/>
                    </a:lnTo>
                    <a:lnTo>
                      <a:pt x="50" y="108"/>
                    </a:lnTo>
                    <a:lnTo>
                      <a:pt x="34" y="108"/>
                    </a:lnTo>
                    <a:lnTo>
                      <a:pt x="30" y="112"/>
                    </a:lnTo>
                    <a:lnTo>
                      <a:pt x="18" y="112"/>
                    </a:lnTo>
                    <a:lnTo>
                      <a:pt x="14" y="116"/>
                    </a:lnTo>
                    <a:lnTo>
                      <a:pt x="6" y="132"/>
                    </a:lnTo>
                    <a:lnTo>
                      <a:pt x="0" y="138"/>
                    </a:lnTo>
                    <a:lnTo>
                      <a:pt x="0" y="192"/>
                    </a:lnTo>
                    <a:lnTo>
                      <a:pt x="10" y="202"/>
                    </a:lnTo>
                    <a:lnTo>
                      <a:pt x="12" y="202"/>
                    </a:lnTo>
                    <a:lnTo>
                      <a:pt x="12" y="20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80" name="Freeform 56">
                <a:extLst>
                  <a:ext uri="{FF2B5EF4-FFF2-40B4-BE49-F238E27FC236}">
                    <a16:creationId xmlns:a16="http://schemas.microsoft.com/office/drawing/2014/main" id="{3DA72CA4-44D0-F42D-0513-8509D8CD08A3}"/>
                  </a:ext>
                </a:extLst>
              </p:cNvPr>
              <p:cNvSpPr>
                <a:spLocks noEditPoints="1"/>
              </p:cNvSpPr>
              <p:nvPr/>
            </p:nvSpPr>
            <p:spPr bwMode="auto">
              <a:xfrm>
                <a:off x="6799106" y="4375217"/>
                <a:ext cx="71954" cy="65327"/>
              </a:xfrm>
              <a:custGeom>
                <a:avLst/>
                <a:gdLst/>
                <a:ahLst/>
                <a:cxnLst>
                  <a:cxn ang="0">
                    <a:pos x="64" y="58"/>
                  </a:cxn>
                  <a:cxn ang="0">
                    <a:pos x="64" y="58"/>
                  </a:cxn>
                  <a:cxn ang="0">
                    <a:pos x="64" y="60"/>
                  </a:cxn>
                  <a:cxn ang="0">
                    <a:pos x="64" y="62"/>
                  </a:cxn>
                  <a:cxn ang="0">
                    <a:pos x="68" y="64"/>
                  </a:cxn>
                  <a:cxn ang="0">
                    <a:pos x="70" y="66"/>
                  </a:cxn>
                  <a:cxn ang="0">
                    <a:pos x="74" y="68"/>
                  </a:cxn>
                  <a:cxn ang="0">
                    <a:pos x="74" y="66"/>
                  </a:cxn>
                  <a:cxn ang="0">
                    <a:pos x="72" y="66"/>
                  </a:cxn>
                  <a:cxn ang="0">
                    <a:pos x="70" y="62"/>
                  </a:cxn>
                  <a:cxn ang="0">
                    <a:pos x="64" y="58"/>
                  </a:cxn>
                  <a:cxn ang="0">
                    <a:pos x="64" y="58"/>
                  </a:cxn>
                  <a:cxn ang="0">
                    <a:pos x="40" y="42"/>
                  </a:cxn>
                  <a:cxn ang="0">
                    <a:pos x="40" y="42"/>
                  </a:cxn>
                  <a:cxn ang="0">
                    <a:pos x="40" y="44"/>
                  </a:cxn>
                  <a:cxn ang="0">
                    <a:pos x="40" y="48"/>
                  </a:cxn>
                  <a:cxn ang="0">
                    <a:pos x="44" y="50"/>
                  </a:cxn>
                  <a:cxn ang="0">
                    <a:pos x="48" y="50"/>
                  </a:cxn>
                  <a:cxn ang="0">
                    <a:pos x="56" y="50"/>
                  </a:cxn>
                  <a:cxn ang="0">
                    <a:pos x="54" y="46"/>
                  </a:cxn>
                  <a:cxn ang="0">
                    <a:pos x="40" y="42"/>
                  </a:cxn>
                  <a:cxn ang="0">
                    <a:pos x="40" y="42"/>
                  </a:cxn>
                  <a:cxn ang="0">
                    <a:pos x="52" y="28"/>
                  </a:cxn>
                  <a:cxn ang="0">
                    <a:pos x="52" y="28"/>
                  </a:cxn>
                  <a:cxn ang="0">
                    <a:pos x="54" y="34"/>
                  </a:cxn>
                  <a:cxn ang="0">
                    <a:pos x="56" y="38"/>
                  </a:cxn>
                  <a:cxn ang="0">
                    <a:pos x="60" y="42"/>
                  </a:cxn>
                  <a:cxn ang="0">
                    <a:pos x="60" y="44"/>
                  </a:cxn>
                  <a:cxn ang="0">
                    <a:pos x="64" y="44"/>
                  </a:cxn>
                  <a:cxn ang="0">
                    <a:pos x="60" y="36"/>
                  </a:cxn>
                  <a:cxn ang="0">
                    <a:pos x="54" y="28"/>
                  </a:cxn>
                  <a:cxn ang="0">
                    <a:pos x="52" y="28"/>
                  </a:cxn>
                  <a:cxn ang="0">
                    <a:pos x="52" y="28"/>
                  </a:cxn>
                  <a:cxn ang="0">
                    <a:pos x="10" y="18"/>
                  </a:cxn>
                  <a:cxn ang="0">
                    <a:pos x="10" y="18"/>
                  </a:cxn>
                  <a:cxn ang="0">
                    <a:pos x="8" y="24"/>
                  </a:cxn>
                  <a:cxn ang="0">
                    <a:pos x="12" y="28"/>
                  </a:cxn>
                  <a:cxn ang="0">
                    <a:pos x="14" y="28"/>
                  </a:cxn>
                  <a:cxn ang="0">
                    <a:pos x="16" y="28"/>
                  </a:cxn>
                  <a:cxn ang="0">
                    <a:pos x="16" y="24"/>
                  </a:cxn>
                  <a:cxn ang="0">
                    <a:pos x="14" y="20"/>
                  </a:cxn>
                  <a:cxn ang="0">
                    <a:pos x="10" y="18"/>
                  </a:cxn>
                  <a:cxn ang="0">
                    <a:pos x="10" y="18"/>
                  </a:cxn>
                  <a:cxn ang="0">
                    <a:pos x="26" y="12"/>
                  </a:cxn>
                  <a:cxn ang="0">
                    <a:pos x="26" y="12"/>
                  </a:cxn>
                  <a:cxn ang="0">
                    <a:pos x="24" y="16"/>
                  </a:cxn>
                  <a:cxn ang="0">
                    <a:pos x="40" y="26"/>
                  </a:cxn>
                  <a:cxn ang="0">
                    <a:pos x="40" y="24"/>
                  </a:cxn>
                  <a:cxn ang="0">
                    <a:pos x="36" y="20"/>
                  </a:cxn>
                  <a:cxn ang="0">
                    <a:pos x="34" y="16"/>
                  </a:cxn>
                  <a:cxn ang="0">
                    <a:pos x="26" y="12"/>
                  </a:cxn>
                  <a:cxn ang="0">
                    <a:pos x="26" y="12"/>
                  </a:cxn>
                  <a:cxn ang="0">
                    <a:pos x="0" y="0"/>
                  </a:cxn>
                  <a:cxn ang="0">
                    <a:pos x="0" y="0"/>
                  </a:cxn>
                  <a:cxn ang="0">
                    <a:pos x="2" y="4"/>
                  </a:cxn>
                  <a:cxn ang="0">
                    <a:pos x="4" y="8"/>
                  </a:cxn>
                  <a:cxn ang="0">
                    <a:pos x="6" y="10"/>
                  </a:cxn>
                  <a:cxn ang="0">
                    <a:pos x="10" y="10"/>
                  </a:cxn>
                  <a:cxn ang="0">
                    <a:pos x="8" y="8"/>
                  </a:cxn>
                  <a:cxn ang="0">
                    <a:pos x="0" y="0"/>
                  </a:cxn>
                  <a:cxn ang="0">
                    <a:pos x="0" y="0"/>
                  </a:cxn>
                </a:cxnLst>
                <a:rect l="0" t="0" r="r" b="b"/>
                <a:pathLst>
                  <a:path w="74" h="68">
                    <a:moveTo>
                      <a:pt x="64" y="58"/>
                    </a:moveTo>
                    <a:lnTo>
                      <a:pt x="64" y="58"/>
                    </a:lnTo>
                    <a:lnTo>
                      <a:pt x="64" y="60"/>
                    </a:lnTo>
                    <a:lnTo>
                      <a:pt x="64" y="62"/>
                    </a:lnTo>
                    <a:lnTo>
                      <a:pt x="68" y="64"/>
                    </a:lnTo>
                    <a:lnTo>
                      <a:pt x="70" y="66"/>
                    </a:lnTo>
                    <a:lnTo>
                      <a:pt x="74" y="68"/>
                    </a:lnTo>
                    <a:lnTo>
                      <a:pt x="74" y="66"/>
                    </a:lnTo>
                    <a:lnTo>
                      <a:pt x="72" y="66"/>
                    </a:lnTo>
                    <a:lnTo>
                      <a:pt x="70" y="62"/>
                    </a:lnTo>
                    <a:lnTo>
                      <a:pt x="64" y="58"/>
                    </a:lnTo>
                    <a:lnTo>
                      <a:pt x="64" y="58"/>
                    </a:lnTo>
                    <a:close/>
                    <a:moveTo>
                      <a:pt x="40" y="42"/>
                    </a:moveTo>
                    <a:lnTo>
                      <a:pt x="40" y="42"/>
                    </a:lnTo>
                    <a:lnTo>
                      <a:pt x="40" y="44"/>
                    </a:lnTo>
                    <a:lnTo>
                      <a:pt x="40" y="48"/>
                    </a:lnTo>
                    <a:lnTo>
                      <a:pt x="44" y="50"/>
                    </a:lnTo>
                    <a:lnTo>
                      <a:pt x="48" y="50"/>
                    </a:lnTo>
                    <a:lnTo>
                      <a:pt x="56" y="50"/>
                    </a:lnTo>
                    <a:lnTo>
                      <a:pt x="54" y="46"/>
                    </a:lnTo>
                    <a:lnTo>
                      <a:pt x="40" y="42"/>
                    </a:lnTo>
                    <a:lnTo>
                      <a:pt x="40" y="42"/>
                    </a:lnTo>
                    <a:close/>
                    <a:moveTo>
                      <a:pt x="52" y="28"/>
                    </a:moveTo>
                    <a:lnTo>
                      <a:pt x="52" y="28"/>
                    </a:lnTo>
                    <a:lnTo>
                      <a:pt x="54" y="34"/>
                    </a:lnTo>
                    <a:lnTo>
                      <a:pt x="56" y="38"/>
                    </a:lnTo>
                    <a:lnTo>
                      <a:pt x="60" y="42"/>
                    </a:lnTo>
                    <a:lnTo>
                      <a:pt x="60" y="44"/>
                    </a:lnTo>
                    <a:lnTo>
                      <a:pt x="64" y="44"/>
                    </a:lnTo>
                    <a:lnTo>
                      <a:pt x="60" y="36"/>
                    </a:lnTo>
                    <a:lnTo>
                      <a:pt x="54" y="28"/>
                    </a:lnTo>
                    <a:lnTo>
                      <a:pt x="52" y="28"/>
                    </a:lnTo>
                    <a:lnTo>
                      <a:pt x="52" y="28"/>
                    </a:lnTo>
                    <a:close/>
                    <a:moveTo>
                      <a:pt x="10" y="18"/>
                    </a:moveTo>
                    <a:lnTo>
                      <a:pt x="10" y="18"/>
                    </a:lnTo>
                    <a:lnTo>
                      <a:pt x="8" y="24"/>
                    </a:lnTo>
                    <a:lnTo>
                      <a:pt x="12" y="28"/>
                    </a:lnTo>
                    <a:lnTo>
                      <a:pt x="14" y="28"/>
                    </a:lnTo>
                    <a:lnTo>
                      <a:pt x="16" y="28"/>
                    </a:lnTo>
                    <a:lnTo>
                      <a:pt x="16" y="24"/>
                    </a:lnTo>
                    <a:lnTo>
                      <a:pt x="14" y="20"/>
                    </a:lnTo>
                    <a:lnTo>
                      <a:pt x="10" y="18"/>
                    </a:lnTo>
                    <a:lnTo>
                      <a:pt x="10" y="18"/>
                    </a:lnTo>
                    <a:close/>
                    <a:moveTo>
                      <a:pt x="26" y="12"/>
                    </a:moveTo>
                    <a:lnTo>
                      <a:pt x="26" y="12"/>
                    </a:lnTo>
                    <a:lnTo>
                      <a:pt x="24" y="16"/>
                    </a:lnTo>
                    <a:lnTo>
                      <a:pt x="40" y="26"/>
                    </a:lnTo>
                    <a:lnTo>
                      <a:pt x="40" y="24"/>
                    </a:lnTo>
                    <a:lnTo>
                      <a:pt x="36" y="20"/>
                    </a:lnTo>
                    <a:lnTo>
                      <a:pt x="34" y="16"/>
                    </a:lnTo>
                    <a:lnTo>
                      <a:pt x="26" y="12"/>
                    </a:lnTo>
                    <a:lnTo>
                      <a:pt x="26" y="12"/>
                    </a:lnTo>
                    <a:close/>
                    <a:moveTo>
                      <a:pt x="0" y="0"/>
                    </a:moveTo>
                    <a:lnTo>
                      <a:pt x="0" y="0"/>
                    </a:lnTo>
                    <a:lnTo>
                      <a:pt x="2" y="4"/>
                    </a:lnTo>
                    <a:lnTo>
                      <a:pt x="4" y="8"/>
                    </a:lnTo>
                    <a:lnTo>
                      <a:pt x="6" y="10"/>
                    </a:lnTo>
                    <a:lnTo>
                      <a:pt x="10" y="10"/>
                    </a:lnTo>
                    <a:lnTo>
                      <a:pt x="8" y="8"/>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81" name="Freeform 57">
                <a:extLst>
                  <a:ext uri="{FF2B5EF4-FFF2-40B4-BE49-F238E27FC236}">
                    <a16:creationId xmlns:a16="http://schemas.microsoft.com/office/drawing/2014/main" id="{E29E5843-6C4C-6E59-A745-171F706C203E}"/>
                  </a:ext>
                </a:extLst>
              </p:cNvPr>
              <p:cNvSpPr>
                <a:spLocks/>
              </p:cNvSpPr>
              <p:nvPr/>
            </p:nvSpPr>
            <p:spPr bwMode="auto">
              <a:xfrm>
                <a:off x="6861336" y="4430937"/>
                <a:ext cx="9723" cy="9607"/>
              </a:xfrm>
              <a:custGeom>
                <a:avLst/>
                <a:gdLst/>
                <a:ahLst/>
                <a:cxnLst>
                  <a:cxn ang="0">
                    <a:pos x="0" y="0"/>
                  </a:cxn>
                  <a:cxn ang="0">
                    <a:pos x="0" y="0"/>
                  </a:cxn>
                  <a:cxn ang="0">
                    <a:pos x="0" y="2"/>
                  </a:cxn>
                  <a:cxn ang="0">
                    <a:pos x="0" y="4"/>
                  </a:cxn>
                  <a:cxn ang="0">
                    <a:pos x="4" y="6"/>
                  </a:cxn>
                  <a:cxn ang="0">
                    <a:pos x="6" y="8"/>
                  </a:cxn>
                  <a:cxn ang="0">
                    <a:pos x="10" y="10"/>
                  </a:cxn>
                  <a:cxn ang="0">
                    <a:pos x="10" y="8"/>
                  </a:cxn>
                  <a:cxn ang="0">
                    <a:pos x="8" y="8"/>
                  </a:cxn>
                  <a:cxn ang="0">
                    <a:pos x="6" y="4"/>
                  </a:cxn>
                  <a:cxn ang="0">
                    <a:pos x="0" y="0"/>
                  </a:cxn>
                  <a:cxn ang="0">
                    <a:pos x="0" y="0"/>
                  </a:cxn>
                </a:cxnLst>
                <a:rect l="0" t="0" r="r" b="b"/>
                <a:pathLst>
                  <a:path w="10" h="10">
                    <a:moveTo>
                      <a:pt x="0" y="0"/>
                    </a:moveTo>
                    <a:lnTo>
                      <a:pt x="0" y="0"/>
                    </a:lnTo>
                    <a:lnTo>
                      <a:pt x="0" y="2"/>
                    </a:lnTo>
                    <a:lnTo>
                      <a:pt x="0" y="4"/>
                    </a:lnTo>
                    <a:lnTo>
                      <a:pt x="4" y="6"/>
                    </a:lnTo>
                    <a:lnTo>
                      <a:pt x="6" y="8"/>
                    </a:lnTo>
                    <a:lnTo>
                      <a:pt x="10" y="10"/>
                    </a:lnTo>
                    <a:lnTo>
                      <a:pt x="10" y="8"/>
                    </a:lnTo>
                    <a:lnTo>
                      <a:pt x="8" y="8"/>
                    </a:lnTo>
                    <a:lnTo>
                      <a:pt x="6" y="4"/>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82" name="Freeform 58">
                <a:extLst>
                  <a:ext uri="{FF2B5EF4-FFF2-40B4-BE49-F238E27FC236}">
                    <a16:creationId xmlns:a16="http://schemas.microsoft.com/office/drawing/2014/main" id="{EBEFCE92-CA4B-58CD-CE51-2EBF17904A45}"/>
                  </a:ext>
                </a:extLst>
              </p:cNvPr>
              <p:cNvSpPr>
                <a:spLocks/>
              </p:cNvSpPr>
              <p:nvPr/>
            </p:nvSpPr>
            <p:spPr bwMode="auto">
              <a:xfrm>
                <a:off x="6838000" y="4415566"/>
                <a:ext cx="15557" cy="7686"/>
              </a:xfrm>
              <a:custGeom>
                <a:avLst/>
                <a:gdLst/>
                <a:ahLst/>
                <a:cxnLst>
                  <a:cxn ang="0">
                    <a:pos x="0" y="0"/>
                  </a:cxn>
                  <a:cxn ang="0">
                    <a:pos x="0" y="0"/>
                  </a:cxn>
                  <a:cxn ang="0">
                    <a:pos x="0" y="2"/>
                  </a:cxn>
                  <a:cxn ang="0">
                    <a:pos x="0" y="6"/>
                  </a:cxn>
                  <a:cxn ang="0">
                    <a:pos x="4" y="8"/>
                  </a:cxn>
                  <a:cxn ang="0">
                    <a:pos x="8" y="8"/>
                  </a:cxn>
                  <a:cxn ang="0">
                    <a:pos x="16" y="8"/>
                  </a:cxn>
                  <a:cxn ang="0">
                    <a:pos x="14" y="4"/>
                  </a:cxn>
                  <a:cxn ang="0">
                    <a:pos x="0" y="0"/>
                  </a:cxn>
                </a:cxnLst>
                <a:rect l="0" t="0" r="r" b="b"/>
                <a:pathLst>
                  <a:path w="16" h="8">
                    <a:moveTo>
                      <a:pt x="0" y="0"/>
                    </a:moveTo>
                    <a:lnTo>
                      <a:pt x="0" y="0"/>
                    </a:lnTo>
                    <a:lnTo>
                      <a:pt x="0" y="2"/>
                    </a:lnTo>
                    <a:lnTo>
                      <a:pt x="0" y="6"/>
                    </a:lnTo>
                    <a:lnTo>
                      <a:pt x="4" y="8"/>
                    </a:lnTo>
                    <a:lnTo>
                      <a:pt x="8" y="8"/>
                    </a:lnTo>
                    <a:lnTo>
                      <a:pt x="16" y="8"/>
                    </a:lnTo>
                    <a:lnTo>
                      <a:pt x="14" y="4"/>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83" name="Freeform 59">
                <a:extLst>
                  <a:ext uri="{FF2B5EF4-FFF2-40B4-BE49-F238E27FC236}">
                    <a16:creationId xmlns:a16="http://schemas.microsoft.com/office/drawing/2014/main" id="{8CD46077-A61B-D51B-8209-F72ECB9F95BA}"/>
                  </a:ext>
                </a:extLst>
              </p:cNvPr>
              <p:cNvSpPr>
                <a:spLocks/>
              </p:cNvSpPr>
              <p:nvPr/>
            </p:nvSpPr>
            <p:spPr bwMode="auto">
              <a:xfrm>
                <a:off x="6838000" y="4415566"/>
                <a:ext cx="15557" cy="7686"/>
              </a:xfrm>
              <a:custGeom>
                <a:avLst/>
                <a:gdLst/>
                <a:ahLst/>
                <a:cxnLst>
                  <a:cxn ang="0">
                    <a:pos x="0" y="0"/>
                  </a:cxn>
                  <a:cxn ang="0">
                    <a:pos x="0" y="0"/>
                  </a:cxn>
                  <a:cxn ang="0">
                    <a:pos x="0" y="2"/>
                  </a:cxn>
                  <a:cxn ang="0">
                    <a:pos x="0" y="6"/>
                  </a:cxn>
                  <a:cxn ang="0">
                    <a:pos x="4" y="8"/>
                  </a:cxn>
                  <a:cxn ang="0">
                    <a:pos x="8" y="8"/>
                  </a:cxn>
                  <a:cxn ang="0">
                    <a:pos x="16" y="8"/>
                  </a:cxn>
                  <a:cxn ang="0">
                    <a:pos x="14" y="4"/>
                  </a:cxn>
                  <a:cxn ang="0">
                    <a:pos x="0" y="0"/>
                  </a:cxn>
                </a:cxnLst>
                <a:rect l="0" t="0" r="r" b="b"/>
                <a:pathLst>
                  <a:path w="16" h="8">
                    <a:moveTo>
                      <a:pt x="0" y="0"/>
                    </a:moveTo>
                    <a:lnTo>
                      <a:pt x="0" y="0"/>
                    </a:lnTo>
                    <a:lnTo>
                      <a:pt x="0" y="2"/>
                    </a:lnTo>
                    <a:lnTo>
                      <a:pt x="0" y="6"/>
                    </a:lnTo>
                    <a:lnTo>
                      <a:pt x="4" y="8"/>
                    </a:lnTo>
                    <a:lnTo>
                      <a:pt x="8" y="8"/>
                    </a:lnTo>
                    <a:lnTo>
                      <a:pt x="16" y="8"/>
                    </a:lnTo>
                    <a:lnTo>
                      <a:pt x="14" y="4"/>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84" name="Freeform 60">
                <a:extLst>
                  <a:ext uri="{FF2B5EF4-FFF2-40B4-BE49-F238E27FC236}">
                    <a16:creationId xmlns:a16="http://schemas.microsoft.com/office/drawing/2014/main" id="{5A3E07ED-E03E-E46C-E271-D6C59397D942}"/>
                  </a:ext>
                </a:extLst>
              </p:cNvPr>
              <p:cNvSpPr>
                <a:spLocks/>
              </p:cNvSpPr>
              <p:nvPr/>
            </p:nvSpPr>
            <p:spPr bwMode="auto">
              <a:xfrm>
                <a:off x="6849668" y="4402116"/>
                <a:ext cx="11668" cy="15371"/>
              </a:xfrm>
              <a:custGeom>
                <a:avLst/>
                <a:gdLst/>
                <a:ahLst/>
                <a:cxnLst>
                  <a:cxn ang="0">
                    <a:pos x="0" y="0"/>
                  </a:cxn>
                  <a:cxn ang="0">
                    <a:pos x="0" y="0"/>
                  </a:cxn>
                  <a:cxn ang="0">
                    <a:pos x="2" y="6"/>
                  </a:cxn>
                  <a:cxn ang="0">
                    <a:pos x="4" y="10"/>
                  </a:cxn>
                  <a:cxn ang="0">
                    <a:pos x="8" y="14"/>
                  </a:cxn>
                  <a:cxn ang="0">
                    <a:pos x="8" y="16"/>
                  </a:cxn>
                  <a:cxn ang="0">
                    <a:pos x="12" y="16"/>
                  </a:cxn>
                  <a:cxn ang="0">
                    <a:pos x="8" y="8"/>
                  </a:cxn>
                  <a:cxn ang="0">
                    <a:pos x="2" y="0"/>
                  </a:cxn>
                  <a:cxn ang="0">
                    <a:pos x="0" y="0"/>
                  </a:cxn>
                </a:cxnLst>
                <a:rect l="0" t="0" r="r" b="b"/>
                <a:pathLst>
                  <a:path w="12" h="16">
                    <a:moveTo>
                      <a:pt x="0" y="0"/>
                    </a:moveTo>
                    <a:lnTo>
                      <a:pt x="0" y="0"/>
                    </a:lnTo>
                    <a:lnTo>
                      <a:pt x="2" y="6"/>
                    </a:lnTo>
                    <a:lnTo>
                      <a:pt x="4" y="10"/>
                    </a:lnTo>
                    <a:lnTo>
                      <a:pt x="8" y="14"/>
                    </a:lnTo>
                    <a:lnTo>
                      <a:pt x="8" y="16"/>
                    </a:lnTo>
                    <a:lnTo>
                      <a:pt x="12" y="16"/>
                    </a:lnTo>
                    <a:lnTo>
                      <a:pt x="8" y="8"/>
                    </a:lnTo>
                    <a:lnTo>
                      <a:pt x="2"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85" name="Freeform 61">
                <a:extLst>
                  <a:ext uri="{FF2B5EF4-FFF2-40B4-BE49-F238E27FC236}">
                    <a16:creationId xmlns:a16="http://schemas.microsoft.com/office/drawing/2014/main" id="{DF9EAD72-D3BA-160E-BBC8-B09FBEF111DF}"/>
                  </a:ext>
                </a:extLst>
              </p:cNvPr>
              <p:cNvSpPr>
                <a:spLocks/>
              </p:cNvSpPr>
              <p:nvPr/>
            </p:nvSpPr>
            <p:spPr bwMode="auto">
              <a:xfrm>
                <a:off x="6849668" y="4402116"/>
                <a:ext cx="11668" cy="15371"/>
              </a:xfrm>
              <a:custGeom>
                <a:avLst/>
                <a:gdLst/>
                <a:ahLst/>
                <a:cxnLst>
                  <a:cxn ang="0">
                    <a:pos x="0" y="0"/>
                  </a:cxn>
                  <a:cxn ang="0">
                    <a:pos x="0" y="0"/>
                  </a:cxn>
                  <a:cxn ang="0">
                    <a:pos x="2" y="6"/>
                  </a:cxn>
                  <a:cxn ang="0">
                    <a:pos x="4" y="10"/>
                  </a:cxn>
                  <a:cxn ang="0">
                    <a:pos x="8" y="14"/>
                  </a:cxn>
                  <a:cxn ang="0">
                    <a:pos x="8" y="16"/>
                  </a:cxn>
                  <a:cxn ang="0">
                    <a:pos x="12" y="16"/>
                  </a:cxn>
                  <a:cxn ang="0">
                    <a:pos x="8" y="8"/>
                  </a:cxn>
                  <a:cxn ang="0">
                    <a:pos x="2" y="0"/>
                  </a:cxn>
                  <a:cxn ang="0">
                    <a:pos x="0" y="0"/>
                  </a:cxn>
                </a:cxnLst>
                <a:rect l="0" t="0" r="r" b="b"/>
                <a:pathLst>
                  <a:path w="12" h="16">
                    <a:moveTo>
                      <a:pt x="0" y="0"/>
                    </a:moveTo>
                    <a:lnTo>
                      <a:pt x="0" y="0"/>
                    </a:lnTo>
                    <a:lnTo>
                      <a:pt x="2" y="6"/>
                    </a:lnTo>
                    <a:lnTo>
                      <a:pt x="4" y="10"/>
                    </a:lnTo>
                    <a:lnTo>
                      <a:pt x="8" y="14"/>
                    </a:lnTo>
                    <a:lnTo>
                      <a:pt x="8" y="16"/>
                    </a:lnTo>
                    <a:lnTo>
                      <a:pt x="12" y="16"/>
                    </a:lnTo>
                    <a:lnTo>
                      <a:pt x="8" y="8"/>
                    </a:lnTo>
                    <a:lnTo>
                      <a:pt x="2" y="0"/>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86" name="Freeform 62">
                <a:extLst>
                  <a:ext uri="{FF2B5EF4-FFF2-40B4-BE49-F238E27FC236}">
                    <a16:creationId xmlns:a16="http://schemas.microsoft.com/office/drawing/2014/main" id="{98642B2A-5040-49BA-FF6A-D0F4644D805B}"/>
                  </a:ext>
                </a:extLst>
              </p:cNvPr>
              <p:cNvSpPr>
                <a:spLocks/>
              </p:cNvSpPr>
              <p:nvPr/>
            </p:nvSpPr>
            <p:spPr bwMode="auto">
              <a:xfrm>
                <a:off x="6806885" y="4392509"/>
                <a:ext cx="7779" cy="9607"/>
              </a:xfrm>
              <a:custGeom>
                <a:avLst/>
                <a:gdLst/>
                <a:ahLst/>
                <a:cxnLst>
                  <a:cxn ang="0">
                    <a:pos x="2" y="0"/>
                  </a:cxn>
                  <a:cxn ang="0">
                    <a:pos x="2" y="0"/>
                  </a:cxn>
                  <a:cxn ang="0">
                    <a:pos x="0" y="6"/>
                  </a:cxn>
                  <a:cxn ang="0">
                    <a:pos x="4" y="10"/>
                  </a:cxn>
                  <a:cxn ang="0">
                    <a:pos x="6" y="10"/>
                  </a:cxn>
                  <a:cxn ang="0">
                    <a:pos x="8" y="10"/>
                  </a:cxn>
                  <a:cxn ang="0">
                    <a:pos x="8" y="6"/>
                  </a:cxn>
                  <a:cxn ang="0">
                    <a:pos x="6" y="2"/>
                  </a:cxn>
                  <a:cxn ang="0">
                    <a:pos x="2" y="0"/>
                  </a:cxn>
                </a:cxnLst>
                <a:rect l="0" t="0" r="r" b="b"/>
                <a:pathLst>
                  <a:path w="8" h="10">
                    <a:moveTo>
                      <a:pt x="2" y="0"/>
                    </a:moveTo>
                    <a:lnTo>
                      <a:pt x="2" y="0"/>
                    </a:lnTo>
                    <a:lnTo>
                      <a:pt x="0" y="6"/>
                    </a:lnTo>
                    <a:lnTo>
                      <a:pt x="4" y="10"/>
                    </a:lnTo>
                    <a:lnTo>
                      <a:pt x="6" y="10"/>
                    </a:lnTo>
                    <a:lnTo>
                      <a:pt x="8" y="10"/>
                    </a:lnTo>
                    <a:lnTo>
                      <a:pt x="8" y="6"/>
                    </a:lnTo>
                    <a:lnTo>
                      <a:pt x="6" y="2"/>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87" name="Freeform 63">
                <a:extLst>
                  <a:ext uri="{FF2B5EF4-FFF2-40B4-BE49-F238E27FC236}">
                    <a16:creationId xmlns:a16="http://schemas.microsoft.com/office/drawing/2014/main" id="{87D642F0-F293-1878-AA39-4A0E8FEA57FA}"/>
                  </a:ext>
                </a:extLst>
              </p:cNvPr>
              <p:cNvSpPr>
                <a:spLocks/>
              </p:cNvSpPr>
              <p:nvPr/>
            </p:nvSpPr>
            <p:spPr bwMode="auto">
              <a:xfrm>
                <a:off x="6806885" y="4392509"/>
                <a:ext cx="7779" cy="9607"/>
              </a:xfrm>
              <a:custGeom>
                <a:avLst/>
                <a:gdLst/>
                <a:ahLst/>
                <a:cxnLst>
                  <a:cxn ang="0">
                    <a:pos x="2" y="0"/>
                  </a:cxn>
                  <a:cxn ang="0">
                    <a:pos x="2" y="0"/>
                  </a:cxn>
                  <a:cxn ang="0">
                    <a:pos x="0" y="6"/>
                  </a:cxn>
                  <a:cxn ang="0">
                    <a:pos x="4" y="10"/>
                  </a:cxn>
                  <a:cxn ang="0">
                    <a:pos x="6" y="10"/>
                  </a:cxn>
                  <a:cxn ang="0">
                    <a:pos x="8" y="10"/>
                  </a:cxn>
                  <a:cxn ang="0">
                    <a:pos x="8" y="6"/>
                  </a:cxn>
                  <a:cxn ang="0">
                    <a:pos x="6" y="2"/>
                  </a:cxn>
                  <a:cxn ang="0">
                    <a:pos x="2" y="0"/>
                  </a:cxn>
                </a:cxnLst>
                <a:rect l="0" t="0" r="r" b="b"/>
                <a:pathLst>
                  <a:path w="8" h="10">
                    <a:moveTo>
                      <a:pt x="2" y="0"/>
                    </a:moveTo>
                    <a:lnTo>
                      <a:pt x="2" y="0"/>
                    </a:lnTo>
                    <a:lnTo>
                      <a:pt x="0" y="6"/>
                    </a:lnTo>
                    <a:lnTo>
                      <a:pt x="4" y="10"/>
                    </a:lnTo>
                    <a:lnTo>
                      <a:pt x="6" y="10"/>
                    </a:lnTo>
                    <a:lnTo>
                      <a:pt x="8" y="10"/>
                    </a:lnTo>
                    <a:lnTo>
                      <a:pt x="8" y="6"/>
                    </a:lnTo>
                    <a:lnTo>
                      <a:pt x="6" y="2"/>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88" name="Freeform 64">
                <a:extLst>
                  <a:ext uri="{FF2B5EF4-FFF2-40B4-BE49-F238E27FC236}">
                    <a16:creationId xmlns:a16="http://schemas.microsoft.com/office/drawing/2014/main" id="{E034A0E8-70E7-DEB4-9799-1501ECD69128}"/>
                  </a:ext>
                </a:extLst>
              </p:cNvPr>
              <p:cNvSpPr>
                <a:spLocks/>
              </p:cNvSpPr>
              <p:nvPr/>
            </p:nvSpPr>
            <p:spPr bwMode="auto">
              <a:xfrm>
                <a:off x="6822442" y="4386745"/>
                <a:ext cx="15557" cy="13450"/>
              </a:xfrm>
              <a:custGeom>
                <a:avLst/>
                <a:gdLst/>
                <a:ahLst/>
                <a:cxnLst>
                  <a:cxn ang="0">
                    <a:pos x="2" y="0"/>
                  </a:cxn>
                  <a:cxn ang="0">
                    <a:pos x="2" y="0"/>
                  </a:cxn>
                  <a:cxn ang="0">
                    <a:pos x="0" y="4"/>
                  </a:cxn>
                  <a:cxn ang="0">
                    <a:pos x="16" y="14"/>
                  </a:cxn>
                  <a:cxn ang="0">
                    <a:pos x="16" y="12"/>
                  </a:cxn>
                  <a:cxn ang="0">
                    <a:pos x="12" y="8"/>
                  </a:cxn>
                  <a:cxn ang="0">
                    <a:pos x="10" y="4"/>
                  </a:cxn>
                  <a:cxn ang="0">
                    <a:pos x="2" y="0"/>
                  </a:cxn>
                </a:cxnLst>
                <a:rect l="0" t="0" r="r" b="b"/>
                <a:pathLst>
                  <a:path w="16" h="14">
                    <a:moveTo>
                      <a:pt x="2" y="0"/>
                    </a:moveTo>
                    <a:lnTo>
                      <a:pt x="2" y="0"/>
                    </a:lnTo>
                    <a:lnTo>
                      <a:pt x="0" y="4"/>
                    </a:lnTo>
                    <a:lnTo>
                      <a:pt x="16" y="14"/>
                    </a:lnTo>
                    <a:lnTo>
                      <a:pt x="16" y="12"/>
                    </a:lnTo>
                    <a:lnTo>
                      <a:pt x="12" y="8"/>
                    </a:lnTo>
                    <a:lnTo>
                      <a:pt x="10" y="4"/>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89" name="Freeform 65">
                <a:extLst>
                  <a:ext uri="{FF2B5EF4-FFF2-40B4-BE49-F238E27FC236}">
                    <a16:creationId xmlns:a16="http://schemas.microsoft.com/office/drawing/2014/main" id="{8629651E-27F4-503D-CED6-F578EB090A2C}"/>
                  </a:ext>
                </a:extLst>
              </p:cNvPr>
              <p:cNvSpPr>
                <a:spLocks/>
              </p:cNvSpPr>
              <p:nvPr/>
            </p:nvSpPr>
            <p:spPr bwMode="auto">
              <a:xfrm>
                <a:off x="6822442" y="4386745"/>
                <a:ext cx="15557" cy="13450"/>
              </a:xfrm>
              <a:custGeom>
                <a:avLst/>
                <a:gdLst/>
                <a:ahLst/>
                <a:cxnLst>
                  <a:cxn ang="0">
                    <a:pos x="2" y="0"/>
                  </a:cxn>
                  <a:cxn ang="0">
                    <a:pos x="2" y="0"/>
                  </a:cxn>
                  <a:cxn ang="0">
                    <a:pos x="0" y="4"/>
                  </a:cxn>
                  <a:cxn ang="0">
                    <a:pos x="16" y="14"/>
                  </a:cxn>
                  <a:cxn ang="0">
                    <a:pos x="16" y="12"/>
                  </a:cxn>
                  <a:cxn ang="0">
                    <a:pos x="12" y="8"/>
                  </a:cxn>
                  <a:cxn ang="0">
                    <a:pos x="10" y="4"/>
                  </a:cxn>
                  <a:cxn ang="0">
                    <a:pos x="2" y="0"/>
                  </a:cxn>
                </a:cxnLst>
                <a:rect l="0" t="0" r="r" b="b"/>
                <a:pathLst>
                  <a:path w="16" h="14">
                    <a:moveTo>
                      <a:pt x="2" y="0"/>
                    </a:moveTo>
                    <a:lnTo>
                      <a:pt x="2" y="0"/>
                    </a:lnTo>
                    <a:lnTo>
                      <a:pt x="0" y="4"/>
                    </a:lnTo>
                    <a:lnTo>
                      <a:pt x="16" y="14"/>
                    </a:lnTo>
                    <a:lnTo>
                      <a:pt x="16" y="12"/>
                    </a:lnTo>
                    <a:lnTo>
                      <a:pt x="12" y="8"/>
                    </a:lnTo>
                    <a:lnTo>
                      <a:pt x="10" y="4"/>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90" name="Freeform 66">
                <a:extLst>
                  <a:ext uri="{FF2B5EF4-FFF2-40B4-BE49-F238E27FC236}">
                    <a16:creationId xmlns:a16="http://schemas.microsoft.com/office/drawing/2014/main" id="{FCD7A7B0-463F-0A18-8BE1-AE86325FAEB6}"/>
                  </a:ext>
                </a:extLst>
              </p:cNvPr>
              <p:cNvSpPr>
                <a:spLocks/>
              </p:cNvSpPr>
              <p:nvPr/>
            </p:nvSpPr>
            <p:spPr bwMode="auto">
              <a:xfrm>
                <a:off x="6799106" y="4375217"/>
                <a:ext cx="9723" cy="9607"/>
              </a:xfrm>
              <a:custGeom>
                <a:avLst/>
                <a:gdLst/>
                <a:ahLst/>
                <a:cxnLst>
                  <a:cxn ang="0">
                    <a:pos x="0" y="0"/>
                  </a:cxn>
                  <a:cxn ang="0">
                    <a:pos x="0" y="0"/>
                  </a:cxn>
                  <a:cxn ang="0">
                    <a:pos x="2" y="4"/>
                  </a:cxn>
                  <a:cxn ang="0">
                    <a:pos x="4" y="8"/>
                  </a:cxn>
                  <a:cxn ang="0">
                    <a:pos x="6" y="10"/>
                  </a:cxn>
                  <a:cxn ang="0">
                    <a:pos x="10" y="10"/>
                  </a:cxn>
                  <a:cxn ang="0">
                    <a:pos x="8" y="8"/>
                  </a:cxn>
                  <a:cxn ang="0">
                    <a:pos x="0" y="0"/>
                  </a:cxn>
                </a:cxnLst>
                <a:rect l="0" t="0" r="r" b="b"/>
                <a:pathLst>
                  <a:path w="10" h="10">
                    <a:moveTo>
                      <a:pt x="0" y="0"/>
                    </a:moveTo>
                    <a:lnTo>
                      <a:pt x="0" y="0"/>
                    </a:lnTo>
                    <a:lnTo>
                      <a:pt x="2" y="4"/>
                    </a:lnTo>
                    <a:lnTo>
                      <a:pt x="4" y="8"/>
                    </a:lnTo>
                    <a:lnTo>
                      <a:pt x="6" y="10"/>
                    </a:lnTo>
                    <a:lnTo>
                      <a:pt x="10" y="10"/>
                    </a:lnTo>
                    <a:lnTo>
                      <a:pt x="8" y="8"/>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91" name="Freeform 67">
                <a:extLst>
                  <a:ext uri="{FF2B5EF4-FFF2-40B4-BE49-F238E27FC236}">
                    <a16:creationId xmlns:a16="http://schemas.microsoft.com/office/drawing/2014/main" id="{BCE3AC7F-3D38-D564-3283-CB91DE30330A}"/>
                  </a:ext>
                </a:extLst>
              </p:cNvPr>
              <p:cNvSpPr>
                <a:spLocks/>
              </p:cNvSpPr>
              <p:nvPr/>
            </p:nvSpPr>
            <p:spPr bwMode="auto">
              <a:xfrm>
                <a:off x="6799106" y="4375217"/>
                <a:ext cx="9723" cy="9607"/>
              </a:xfrm>
              <a:custGeom>
                <a:avLst/>
                <a:gdLst/>
                <a:ahLst/>
                <a:cxnLst>
                  <a:cxn ang="0">
                    <a:pos x="0" y="0"/>
                  </a:cxn>
                  <a:cxn ang="0">
                    <a:pos x="0" y="0"/>
                  </a:cxn>
                  <a:cxn ang="0">
                    <a:pos x="2" y="4"/>
                  </a:cxn>
                  <a:cxn ang="0">
                    <a:pos x="4" y="8"/>
                  </a:cxn>
                  <a:cxn ang="0">
                    <a:pos x="6" y="10"/>
                  </a:cxn>
                  <a:cxn ang="0">
                    <a:pos x="10" y="10"/>
                  </a:cxn>
                  <a:cxn ang="0">
                    <a:pos x="8" y="8"/>
                  </a:cxn>
                  <a:cxn ang="0">
                    <a:pos x="0" y="0"/>
                  </a:cxn>
                </a:cxnLst>
                <a:rect l="0" t="0" r="r" b="b"/>
                <a:pathLst>
                  <a:path w="10" h="10">
                    <a:moveTo>
                      <a:pt x="0" y="0"/>
                    </a:moveTo>
                    <a:lnTo>
                      <a:pt x="0" y="0"/>
                    </a:lnTo>
                    <a:lnTo>
                      <a:pt x="2" y="4"/>
                    </a:lnTo>
                    <a:lnTo>
                      <a:pt x="4" y="8"/>
                    </a:lnTo>
                    <a:lnTo>
                      <a:pt x="6" y="10"/>
                    </a:lnTo>
                    <a:lnTo>
                      <a:pt x="10" y="10"/>
                    </a:lnTo>
                    <a:lnTo>
                      <a:pt x="8" y="8"/>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92" name="Freeform 68">
                <a:extLst>
                  <a:ext uri="{FF2B5EF4-FFF2-40B4-BE49-F238E27FC236}">
                    <a16:creationId xmlns:a16="http://schemas.microsoft.com/office/drawing/2014/main" id="{4CE35736-7D69-58BA-D941-B13D307BBB8D}"/>
                  </a:ext>
                </a:extLst>
              </p:cNvPr>
              <p:cNvSpPr>
                <a:spLocks/>
              </p:cNvSpPr>
              <p:nvPr/>
            </p:nvSpPr>
            <p:spPr bwMode="auto">
              <a:xfrm>
                <a:off x="5002208" y="3493308"/>
                <a:ext cx="42783" cy="40349"/>
              </a:xfrm>
              <a:custGeom>
                <a:avLst/>
                <a:gdLst/>
                <a:ahLst/>
                <a:cxnLst>
                  <a:cxn ang="0">
                    <a:pos x="6" y="32"/>
                  </a:cxn>
                  <a:cxn ang="0">
                    <a:pos x="6" y="32"/>
                  </a:cxn>
                  <a:cxn ang="0">
                    <a:pos x="6" y="34"/>
                  </a:cxn>
                  <a:cxn ang="0">
                    <a:pos x="6" y="36"/>
                  </a:cxn>
                  <a:cxn ang="0">
                    <a:pos x="4" y="36"/>
                  </a:cxn>
                  <a:cxn ang="0">
                    <a:pos x="4" y="40"/>
                  </a:cxn>
                  <a:cxn ang="0">
                    <a:pos x="2" y="40"/>
                  </a:cxn>
                  <a:cxn ang="0">
                    <a:pos x="4" y="42"/>
                  </a:cxn>
                  <a:cxn ang="0">
                    <a:pos x="12" y="40"/>
                  </a:cxn>
                  <a:cxn ang="0">
                    <a:pos x="16" y="38"/>
                  </a:cxn>
                  <a:cxn ang="0">
                    <a:pos x="20" y="36"/>
                  </a:cxn>
                  <a:cxn ang="0">
                    <a:pos x="22" y="32"/>
                  </a:cxn>
                  <a:cxn ang="0">
                    <a:pos x="20" y="28"/>
                  </a:cxn>
                  <a:cxn ang="0">
                    <a:pos x="22" y="28"/>
                  </a:cxn>
                  <a:cxn ang="0">
                    <a:pos x="22" y="28"/>
                  </a:cxn>
                  <a:cxn ang="0">
                    <a:pos x="24" y="30"/>
                  </a:cxn>
                  <a:cxn ang="0">
                    <a:pos x="26" y="30"/>
                  </a:cxn>
                  <a:cxn ang="0">
                    <a:pos x="28" y="30"/>
                  </a:cxn>
                  <a:cxn ang="0">
                    <a:pos x="30" y="28"/>
                  </a:cxn>
                  <a:cxn ang="0">
                    <a:pos x="32" y="20"/>
                  </a:cxn>
                  <a:cxn ang="0">
                    <a:pos x="34" y="18"/>
                  </a:cxn>
                  <a:cxn ang="0">
                    <a:pos x="36" y="18"/>
                  </a:cxn>
                  <a:cxn ang="0">
                    <a:pos x="38" y="18"/>
                  </a:cxn>
                  <a:cxn ang="0">
                    <a:pos x="40" y="14"/>
                  </a:cxn>
                  <a:cxn ang="0">
                    <a:pos x="42" y="12"/>
                  </a:cxn>
                  <a:cxn ang="0">
                    <a:pos x="44" y="10"/>
                  </a:cxn>
                  <a:cxn ang="0">
                    <a:pos x="44" y="6"/>
                  </a:cxn>
                  <a:cxn ang="0">
                    <a:pos x="42" y="2"/>
                  </a:cxn>
                  <a:cxn ang="0">
                    <a:pos x="42" y="0"/>
                  </a:cxn>
                  <a:cxn ang="0">
                    <a:pos x="36" y="4"/>
                  </a:cxn>
                  <a:cxn ang="0">
                    <a:pos x="34" y="4"/>
                  </a:cxn>
                  <a:cxn ang="0">
                    <a:pos x="30" y="2"/>
                  </a:cxn>
                  <a:cxn ang="0">
                    <a:pos x="26" y="4"/>
                  </a:cxn>
                  <a:cxn ang="0">
                    <a:pos x="22" y="6"/>
                  </a:cxn>
                  <a:cxn ang="0">
                    <a:pos x="20" y="10"/>
                  </a:cxn>
                  <a:cxn ang="0">
                    <a:pos x="14" y="8"/>
                  </a:cxn>
                  <a:cxn ang="0">
                    <a:pos x="8" y="8"/>
                  </a:cxn>
                  <a:cxn ang="0">
                    <a:pos x="8" y="10"/>
                  </a:cxn>
                  <a:cxn ang="0">
                    <a:pos x="6" y="12"/>
                  </a:cxn>
                  <a:cxn ang="0">
                    <a:pos x="2" y="12"/>
                  </a:cxn>
                  <a:cxn ang="0">
                    <a:pos x="0" y="16"/>
                  </a:cxn>
                  <a:cxn ang="0">
                    <a:pos x="0" y="20"/>
                  </a:cxn>
                  <a:cxn ang="0">
                    <a:pos x="2" y="22"/>
                  </a:cxn>
                  <a:cxn ang="0">
                    <a:pos x="4" y="22"/>
                  </a:cxn>
                  <a:cxn ang="0">
                    <a:pos x="6" y="26"/>
                  </a:cxn>
                  <a:cxn ang="0">
                    <a:pos x="4" y="28"/>
                  </a:cxn>
                  <a:cxn ang="0">
                    <a:pos x="4" y="30"/>
                  </a:cxn>
                  <a:cxn ang="0">
                    <a:pos x="6" y="30"/>
                  </a:cxn>
                  <a:cxn ang="0">
                    <a:pos x="6" y="32"/>
                  </a:cxn>
                  <a:cxn ang="0">
                    <a:pos x="6" y="32"/>
                  </a:cxn>
                </a:cxnLst>
                <a:rect l="0" t="0" r="r" b="b"/>
                <a:pathLst>
                  <a:path w="44" h="42">
                    <a:moveTo>
                      <a:pt x="6" y="32"/>
                    </a:moveTo>
                    <a:lnTo>
                      <a:pt x="6" y="32"/>
                    </a:lnTo>
                    <a:lnTo>
                      <a:pt x="6" y="34"/>
                    </a:lnTo>
                    <a:lnTo>
                      <a:pt x="6" y="36"/>
                    </a:lnTo>
                    <a:lnTo>
                      <a:pt x="4" y="36"/>
                    </a:lnTo>
                    <a:lnTo>
                      <a:pt x="4" y="40"/>
                    </a:lnTo>
                    <a:lnTo>
                      <a:pt x="2" y="40"/>
                    </a:lnTo>
                    <a:lnTo>
                      <a:pt x="4" y="42"/>
                    </a:lnTo>
                    <a:lnTo>
                      <a:pt x="12" y="40"/>
                    </a:lnTo>
                    <a:lnTo>
                      <a:pt x="16" y="38"/>
                    </a:lnTo>
                    <a:lnTo>
                      <a:pt x="20" y="36"/>
                    </a:lnTo>
                    <a:lnTo>
                      <a:pt x="22" y="32"/>
                    </a:lnTo>
                    <a:lnTo>
                      <a:pt x="20" y="28"/>
                    </a:lnTo>
                    <a:lnTo>
                      <a:pt x="22" y="28"/>
                    </a:lnTo>
                    <a:lnTo>
                      <a:pt x="22" y="28"/>
                    </a:lnTo>
                    <a:lnTo>
                      <a:pt x="24" y="30"/>
                    </a:lnTo>
                    <a:lnTo>
                      <a:pt x="26" y="30"/>
                    </a:lnTo>
                    <a:lnTo>
                      <a:pt x="28" y="30"/>
                    </a:lnTo>
                    <a:lnTo>
                      <a:pt x="30" y="28"/>
                    </a:lnTo>
                    <a:lnTo>
                      <a:pt x="32" y="20"/>
                    </a:lnTo>
                    <a:lnTo>
                      <a:pt x="34" y="18"/>
                    </a:lnTo>
                    <a:lnTo>
                      <a:pt x="36" y="18"/>
                    </a:lnTo>
                    <a:lnTo>
                      <a:pt x="38" y="18"/>
                    </a:lnTo>
                    <a:lnTo>
                      <a:pt x="40" y="14"/>
                    </a:lnTo>
                    <a:lnTo>
                      <a:pt x="42" y="12"/>
                    </a:lnTo>
                    <a:lnTo>
                      <a:pt x="44" y="10"/>
                    </a:lnTo>
                    <a:lnTo>
                      <a:pt x="44" y="6"/>
                    </a:lnTo>
                    <a:lnTo>
                      <a:pt x="42" y="2"/>
                    </a:lnTo>
                    <a:lnTo>
                      <a:pt x="42" y="0"/>
                    </a:lnTo>
                    <a:lnTo>
                      <a:pt x="36" y="4"/>
                    </a:lnTo>
                    <a:lnTo>
                      <a:pt x="34" y="4"/>
                    </a:lnTo>
                    <a:lnTo>
                      <a:pt x="30" y="2"/>
                    </a:lnTo>
                    <a:lnTo>
                      <a:pt x="26" y="4"/>
                    </a:lnTo>
                    <a:lnTo>
                      <a:pt x="22" y="6"/>
                    </a:lnTo>
                    <a:lnTo>
                      <a:pt x="20" y="10"/>
                    </a:lnTo>
                    <a:lnTo>
                      <a:pt x="14" y="8"/>
                    </a:lnTo>
                    <a:lnTo>
                      <a:pt x="8" y="8"/>
                    </a:lnTo>
                    <a:lnTo>
                      <a:pt x="8" y="10"/>
                    </a:lnTo>
                    <a:lnTo>
                      <a:pt x="6" y="12"/>
                    </a:lnTo>
                    <a:lnTo>
                      <a:pt x="2" y="12"/>
                    </a:lnTo>
                    <a:lnTo>
                      <a:pt x="0" y="16"/>
                    </a:lnTo>
                    <a:lnTo>
                      <a:pt x="0" y="20"/>
                    </a:lnTo>
                    <a:lnTo>
                      <a:pt x="2" y="22"/>
                    </a:lnTo>
                    <a:lnTo>
                      <a:pt x="4" y="22"/>
                    </a:lnTo>
                    <a:lnTo>
                      <a:pt x="6" y="26"/>
                    </a:lnTo>
                    <a:lnTo>
                      <a:pt x="4" y="28"/>
                    </a:lnTo>
                    <a:lnTo>
                      <a:pt x="4" y="30"/>
                    </a:lnTo>
                    <a:lnTo>
                      <a:pt x="6" y="30"/>
                    </a:lnTo>
                    <a:lnTo>
                      <a:pt x="6" y="32"/>
                    </a:lnTo>
                    <a:lnTo>
                      <a:pt x="6" y="3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93" name="Freeform 69">
                <a:extLst>
                  <a:ext uri="{FF2B5EF4-FFF2-40B4-BE49-F238E27FC236}">
                    <a16:creationId xmlns:a16="http://schemas.microsoft.com/office/drawing/2014/main" id="{7C543C9A-223C-984D-36D0-60230D95EA59}"/>
                  </a:ext>
                </a:extLst>
              </p:cNvPr>
              <p:cNvSpPr>
                <a:spLocks/>
              </p:cNvSpPr>
              <p:nvPr/>
            </p:nvSpPr>
            <p:spPr bwMode="auto">
              <a:xfrm>
                <a:off x="5046936" y="3445274"/>
                <a:ext cx="91401" cy="36506"/>
              </a:xfrm>
              <a:custGeom>
                <a:avLst/>
                <a:gdLst/>
                <a:ahLst/>
                <a:cxnLst>
                  <a:cxn ang="0">
                    <a:pos x="94" y="24"/>
                  </a:cxn>
                  <a:cxn ang="0">
                    <a:pos x="90" y="24"/>
                  </a:cxn>
                  <a:cxn ang="0">
                    <a:pos x="88" y="30"/>
                  </a:cxn>
                  <a:cxn ang="0">
                    <a:pos x="86" y="30"/>
                  </a:cxn>
                  <a:cxn ang="0">
                    <a:pos x="82" y="28"/>
                  </a:cxn>
                  <a:cxn ang="0">
                    <a:pos x="80" y="26"/>
                  </a:cxn>
                  <a:cxn ang="0">
                    <a:pos x="78" y="26"/>
                  </a:cxn>
                  <a:cxn ang="0">
                    <a:pos x="72" y="28"/>
                  </a:cxn>
                  <a:cxn ang="0">
                    <a:pos x="66" y="28"/>
                  </a:cxn>
                  <a:cxn ang="0">
                    <a:pos x="60" y="28"/>
                  </a:cxn>
                  <a:cxn ang="0">
                    <a:pos x="56" y="32"/>
                  </a:cxn>
                  <a:cxn ang="0">
                    <a:pos x="56" y="32"/>
                  </a:cxn>
                  <a:cxn ang="0">
                    <a:pos x="54" y="34"/>
                  </a:cxn>
                  <a:cxn ang="0">
                    <a:pos x="52" y="32"/>
                  </a:cxn>
                  <a:cxn ang="0">
                    <a:pos x="50" y="32"/>
                  </a:cxn>
                  <a:cxn ang="0">
                    <a:pos x="50" y="30"/>
                  </a:cxn>
                  <a:cxn ang="0">
                    <a:pos x="48" y="30"/>
                  </a:cxn>
                  <a:cxn ang="0">
                    <a:pos x="40" y="32"/>
                  </a:cxn>
                  <a:cxn ang="0">
                    <a:pos x="34" y="34"/>
                  </a:cxn>
                  <a:cxn ang="0">
                    <a:pos x="34" y="38"/>
                  </a:cxn>
                  <a:cxn ang="0">
                    <a:pos x="28" y="38"/>
                  </a:cxn>
                  <a:cxn ang="0">
                    <a:pos x="20" y="36"/>
                  </a:cxn>
                  <a:cxn ang="0">
                    <a:pos x="16" y="36"/>
                  </a:cxn>
                  <a:cxn ang="0">
                    <a:pos x="10" y="34"/>
                  </a:cxn>
                  <a:cxn ang="0">
                    <a:pos x="6" y="32"/>
                  </a:cxn>
                  <a:cxn ang="0">
                    <a:pos x="4" y="26"/>
                  </a:cxn>
                  <a:cxn ang="0">
                    <a:pos x="0" y="24"/>
                  </a:cxn>
                  <a:cxn ang="0">
                    <a:pos x="0" y="24"/>
                  </a:cxn>
                  <a:cxn ang="0">
                    <a:pos x="4" y="20"/>
                  </a:cxn>
                  <a:cxn ang="0">
                    <a:pos x="4" y="18"/>
                  </a:cxn>
                  <a:cxn ang="0">
                    <a:pos x="6" y="16"/>
                  </a:cxn>
                  <a:cxn ang="0">
                    <a:pos x="10" y="14"/>
                  </a:cxn>
                  <a:cxn ang="0">
                    <a:pos x="12" y="12"/>
                  </a:cxn>
                  <a:cxn ang="0">
                    <a:pos x="12" y="10"/>
                  </a:cxn>
                  <a:cxn ang="0">
                    <a:pos x="12" y="8"/>
                  </a:cxn>
                  <a:cxn ang="0">
                    <a:pos x="20" y="6"/>
                  </a:cxn>
                  <a:cxn ang="0">
                    <a:pos x="26" y="6"/>
                  </a:cxn>
                  <a:cxn ang="0">
                    <a:pos x="30" y="4"/>
                  </a:cxn>
                  <a:cxn ang="0">
                    <a:pos x="34" y="6"/>
                  </a:cxn>
                  <a:cxn ang="0">
                    <a:pos x="40" y="10"/>
                  </a:cxn>
                  <a:cxn ang="0">
                    <a:pos x="46" y="12"/>
                  </a:cxn>
                  <a:cxn ang="0">
                    <a:pos x="48" y="12"/>
                  </a:cxn>
                  <a:cxn ang="0">
                    <a:pos x="50" y="10"/>
                  </a:cxn>
                  <a:cxn ang="0">
                    <a:pos x="52" y="8"/>
                  </a:cxn>
                  <a:cxn ang="0">
                    <a:pos x="54" y="8"/>
                  </a:cxn>
                  <a:cxn ang="0">
                    <a:pos x="56" y="6"/>
                  </a:cxn>
                  <a:cxn ang="0">
                    <a:pos x="60" y="4"/>
                  </a:cxn>
                  <a:cxn ang="0">
                    <a:pos x="64" y="2"/>
                  </a:cxn>
                  <a:cxn ang="0">
                    <a:pos x="66" y="0"/>
                  </a:cxn>
                  <a:cxn ang="0">
                    <a:pos x="70" y="0"/>
                  </a:cxn>
                  <a:cxn ang="0">
                    <a:pos x="74" y="4"/>
                  </a:cxn>
                  <a:cxn ang="0">
                    <a:pos x="78" y="6"/>
                  </a:cxn>
                  <a:cxn ang="0">
                    <a:pos x="80" y="6"/>
                  </a:cxn>
                  <a:cxn ang="0">
                    <a:pos x="82" y="8"/>
                  </a:cxn>
                  <a:cxn ang="0">
                    <a:pos x="86" y="12"/>
                  </a:cxn>
                  <a:cxn ang="0">
                    <a:pos x="88" y="14"/>
                  </a:cxn>
                  <a:cxn ang="0">
                    <a:pos x="88" y="18"/>
                  </a:cxn>
                  <a:cxn ang="0">
                    <a:pos x="92" y="22"/>
                  </a:cxn>
                  <a:cxn ang="0">
                    <a:pos x="94" y="24"/>
                  </a:cxn>
                  <a:cxn ang="0">
                    <a:pos x="94" y="24"/>
                  </a:cxn>
                </a:cxnLst>
                <a:rect l="0" t="0" r="r" b="b"/>
                <a:pathLst>
                  <a:path w="94" h="38">
                    <a:moveTo>
                      <a:pt x="94" y="24"/>
                    </a:moveTo>
                    <a:lnTo>
                      <a:pt x="90" y="24"/>
                    </a:lnTo>
                    <a:lnTo>
                      <a:pt x="88" y="30"/>
                    </a:lnTo>
                    <a:lnTo>
                      <a:pt x="86" y="30"/>
                    </a:lnTo>
                    <a:lnTo>
                      <a:pt x="82" y="28"/>
                    </a:lnTo>
                    <a:lnTo>
                      <a:pt x="80" y="26"/>
                    </a:lnTo>
                    <a:lnTo>
                      <a:pt x="78" y="26"/>
                    </a:lnTo>
                    <a:lnTo>
                      <a:pt x="72" y="28"/>
                    </a:lnTo>
                    <a:lnTo>
                      <a:pt x="66" y="28"/>
                    </a:lnTo>
                    <a:lnTo>
                      <a:pt x="60" y="28"/>
                    </a:lnTo>
                    <a:lnTo>
                      <a:pt x="56" y="32"/>
                    </a:lnTo>
                    <a:lnTo>
                      <a:pt x="56" y="32"/>
                    </a:lnTo>
                    <a:lnTo>
                      <a:pt x="54" y="34"/>
                    </a:lnTo>
                    <a:lnTo>
                      <a:pt x="52" y="32"/>
                    </a:lnTo>
                    <a:lnTo>
                      <a:pt x="50" y="32"/>
                    </a:lnTo>
                    <a:lnTo>
                      <a:pt x="50" y="30"/>
                    </a:lnTo>
                    <a:lnTo>
                      <a:pt x="48" y="30"/>
                    </a:lnTo>
                    <a:lnTo>
                      <a:pt x="40" y="32"/>
                    </a:lnTo>
                    <a:lnTo>
                      <a:pt x="34" y="34"/>
                    </a:lnTo>
                    <a:lnTo>
                      <a:pt x="34" y="38"/>
                    </a:lnTo>
                    <a:lnTo>
                      <a:pt x="28" y="38"/>
                    </a:lnTo>
                    <a:lnTo>
                      <a:pt x="20" y="36"/>
                    </a:lnTo>
                    <a:lnTo>
                      <a:pt x="16" y="36"/>
                    </a:lnTo>
                    <a:lnTo>
                      <a:pt x="10" y="34"/>
                    </a:lnTo>
                    <a:lnTo>
                      <a:pt x="6" y="32"/>
                    </a:lnTo>
                    <a:lnTo>
                      <a:pt x="4" y="26"/>
                    </a:lnTo>
                    <a:lnTo>
                      <a:pt x="0" y="24"/>
                    </a:lnTo>
                    <a:lnTo>
                      <a:pt x="0" y="24"/>
                    </a:lnTo>
                    <a:lnTo>
                      <a:pt x="4" y="20"/>
                    </a:lnTo>
                    <a:lnTo>
                      <a:pt x="4" y="18"/>
                    </a:lnTo>
                    <a:lnTo>
                      <a:pt x="6" y="16"/>
                    </a:lnTo>
                    <a:lnTo>
                      <a:pt x="10" y="14"/>
                    </a:lnTo>
                    <a:lnTo>
                      <a:pt x="12" y="12"/>
                    </a:lnTo>
                    <a:lnTo>
                      <a:pt x="12" y="10"/>
                    </a:lnTo>
                    <a:lnTo>
                      <a:pt x="12" y="8"/>
                    </a:lnTo>
                    <a:lnTo>
                      <a:pt x="20" y="6"/>
                    </a:lnTo>
                    <a:lnTo>
                      <a:pt x="26" y="6"/>
                    </a:lnTo>
                    <a:lnTo>
                      <a:pt x="30" y="4"/>
                    </a:lnTo>
                    <a:lnTo>
                      <a:pt x="34" y="6"/>
                    </a:lnTo>
                    <a:lnTo>
                      <a:pt x="40" y="10"/>
                    </a:lnTo>
                    <a:lnTo>
                      <a:pt x="46" y="12"/>
                    </a:lnTo>
                    <a:lnTo>
                      <a:pt x="48" y="12"/>
                    </a:lnTo>
                    <a:lnTo>
                      <a:pt x="50" y="10"/>
                    </a:lnTo>
                    <a:lnTo>
                      <a:pt x="52" y="8"/>
                    </a:lnTo>
                    <a:lnTo>
                      <a:pt x="54" y="8"/>
                    </a:lnTo>
                    <a:lnTo>
                      <a:pt x="56" y="6"/>
                    </a:lnTo>
                    <a:lnTo>
                      <a:pt x="60" y="4"/>
                    </a:lnTo>
                    <a:lnTo>
                      <a:pt x="64" y="2"/>
                    </a:lnTo>
                    <a:lnTo>
                      <a:pt x="66" y="0"/>
                    </a:lnTo>
                    <a:lnTo>
                      <a:pt x="70" y="0"/>
                    </a:lnTo>
                    <a:lnTo>
                      <a:pt x="74" y="4"/>
                    </a:lnTo>
                    <a:lnTo>
                      <a:pt x="78" y="6"/>
                    </a:lnTo>
                    <a:lnTo>
                      <a:pt x="80" y="6"/>
                    </a:lnTo>
                    <a:lnTo>
                      <a:pt x="82" y="8"/>
                    </a:lnTo>
                    <a:lnTo>
                      <a:pt x="86" y="12"/>
                    </a:lnTo>
                    <a:lnTo>
                      <a:pt x="88" y="14"/>
                    </a:lnTo>
                    <a:lnTo>
                      <a:pt x="88" y="18"/>
                    </a:lnTo>
                    <a:lnTo>
                      <a:pt x="92" y="22"/>
                    </a:lnTo>
                    <a:lnTo>
                      <a:pt x="94" y="24"/>
                    </a:lnTo>
                    <a:lnTo>
                      <a:pt x="94" y="2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94" name="Freeform 70">
                <a:extLst>
                  <a:ext uri="{FF2B5EF4-FFF2-40B4-BE49-F238E27FC236}">
                    <a16:creationId xmlns:a16="http://schemas.microsoft.com/office/drawing/2014/main" id="{E6CFE658-2569-4359-138D-B3E993110822}"/>
                  </a:ext>
                </a:extLst>
              </p:cNvPr>
              <p:cNvSpPr>
                <a:spLocks/>
              </p:cNvSpPr>
              <p:nvPr/>
            </p:nvSpPr>
            <p:spPr bwMode="auto">
              <a:xfrm>
                <a:off x="4663831" y="4104304"/>
                <a:ext cx="44728" cy="53798"/>
              </a:xfrm>
              <a:custGeom>
                <a:avLst/>
                <a:gdLst/>
                <a:ahLst/>
                <a:cxnLst>
                  <a:cxn ang="0">
                    <a:pos x="2" y="18"/>
                  </a:cxn>
                  <a:cxn ang="0">
                    <a:pos x="2" y="18"/>
                  </a:cxn>
                  <a:cxn ang="0">
                    <a:pos x="0" y="20"/>
                  </a:cxn>
                  <a:cxn ang="0">
                    <a:pos x="2" y="24"/>
                  </a:cxn>
                  <a:cxn ang="0">
                    <a:pos x="6" y="32"/>
                  </a:cxn>
                  <a:cxn ang="0">
                    <a:pos x="4" y="32"/>
                  </a:cxn>
                  <a:cxn ang="0">
                    <a:pos x="2" y="32"/>
                  </a:cxn>
                  <a:cxn ang="0">
                    <a:pos x="4" y="34"/>
                  </a:cxn>
                  <a:cxn ang="0">
                    <a:pos x="8" y="36"/>
                  </a:cxn>
                  <a:cxn ang="0">
                    <a:pos x="8" y="42"/>
                  </a:cxn>
                  <a:cxn ang="0">
                    <a:pos x="8" y="46"/>
                  </a:cxn>
                  <a:cxn ang="0">
                    <a:pos x="10" y="46"/>
                  </a:cxn>
                  <a:cxn ang="0">
                    <a:pos x="10" y="44"/>
                  </a:cxn>
                  <a:cxn ang="0">
                    <a:pos x="12" y="44"/>
                  </a:cxn>
                  <a:cxn ang="0">
                    <a:pos x="14" y="50"/>
                  </a:cxn>
                  <a:cxn ang="0">
                    <a:pos x="16" y="52"/>
                  </a:cxn>
                  <a:cxn ang="0">
                    <a:pos x="18" y="54"/>
                  </a:cxn>
                  <a:cxn ang="0">
                    <a:pos x="26" y="56"/>
                  </a:cxn>
                  <a:cxn ang="0">
                    <a:pos x="28" y="52"/>
                  </a:cxn>
                  <a:cxn ang="0">
                    <a:pos x="30" y="46"/>
                  </a:cxn>
                  <a:cxn ang="0">
                    <a:pos x="38" y="38"/>
                  </a:cxn>
                  <a:cxn ang="0">
                    <a:pos x="38" y="34"/>
                  </a:cxn>
                  <a:cxn ang="0">
                    <a:pos x="42" y="32"/>
                  </a:cxn>
                  <a:cxn ang="0">
                    <a:pos x="44" y="32"/>
                  </a:cxn>
                  <a:cxn ang="0">
                    <a:pos x="44" y="30"/>
                  </a:cxn>
                  <a:cxn ang="0">
                    <a:pos x="46" y="28"/>
                  </a:cxn>
                  <a:cxn ang="0">
                    <a:pos x="40" y="28"/>
                  </a:cxn>
                  <a:cxn ang="0">
                    <a:pos x="40" y="24"/>
                  </a:cxn>
                  <a:cxn ang="0">
                    <a:pos x="42" y="20"/>
                  </a:cxn>
                  <a:cxn ang="0">
                    <a:pos x="38" y="16"/>
                  </a:cxn>
                  <a:cxn ang="0">
                    <a:pos x="38" y="14"/>
                  </a:cxn>
                  <a:cxn ang="0">
                    <a:pos x="36" y="12"/>
                  </a:cxn>
                  <a:cxn ang="0">
                    <a:pos x="34" y="12"/>
                  </a:cxn>
                  <a:cxn ang="0">
                    <a:pos x="34" y="10"/>
                  </a:cxn>
                  <a:cxn ang="0">
                    <a:pos x="34" y="4"/>
                  </a:cxn>
                  <a:cxn ang="0">
                    <a:pos x="30" y="2"/>
                  </a:cxn>
                  <a:cxn ang="0">
                    <a:pos x="28" y="2"/>
                  </a:cxn>
                  <a:cxn ang="0">
                    <a:pos x="26" y="2"/>
                  </a:cxn>
                  <a:cxn ang="0">
                    <a:pos x="22" y="2"/>
                  </a:cxn>
                  <a:cxn ang="0">
                    <a:pos x="16" y="0"/>
                  </a:cxn>
                  <a:cxn ang="0">
                    <a:pos x="14" y="0"/>
                  </a:cxn>
                  <a:cxn ang="0">
                    <a:pos x="12" y="4"/>
                  </a:cxn>
                  <a:cxn ang="0">
                    <a:pos x="12" y="10"/>
                  </a:cxn>
                  <a:cxn ang="0">
                    <a:pos x="10" y="12"/>
                  </a:cxn>
                  <a:cxn ang="0">
                    <a:pos x="8" y="14"/>
                  </a:cxn>
                  <a:cxn ang="0">
                    <a:pos x="6" y="16"/>
                  </a:cxn>
                  <a:cxn ang="0">
                    <a:pos x="6" y="18"/>
                  </a:cxn>
                  <a:cxn ang="0">
                    <a:pos x="4" y="18"/>
                  </a:cxn>
                  <a:cxn ang="0">
                    <a:pos x="2" y="18"/>
                  </a:cxn>
                  <a:cxn ang="0">
                    <a:pos x="2" y="18"/>
                  </a:cxn>
                </a:cxnLst>
                <a:rect l="0" t="0" r="r" b="b"/>
                <a:pathLst>
                  <a:path w="46" h="56">
                    <a:moveTo>
                      <a:pt x="2" y="18"/>
                    </a:moveTo>
                    <a:lnTo>
                      <a:pt x="2" y="18"/>
                    </a:lnTo>
                    <a:lnTo>
                      <a:pt x="0" y="20"/>
                    </a:lnTo>
                    <a:lnTo>
                      <a:pt x="2" y="24"/>
                    </a:lnTo>
                    <a:lnTo>
                      <a:pt x="6" y="32"/>
                    </a:lnTo>
                    <a:lnTo>
                      <a:pt x="4" y="32"/>
                    </a:lnTo>
                    <a:lnTo>
                      <a:pt x="2" y="32"/>
                    </a:lnTo>
                    <a:lnTo>
                      <a:pt x="4" y="34"/>
                    </a:lnTo>
                    <a:lnTo>
                      <a:pt x="8" y="36"/>
                    </a:lnTo>
                    <a:lnTo>
                      <a:pt x="8" y="42"/>
                    </a:lnTo>
                    <a:lnTo>
                      <a:pt x="8" y="46"/>
                    </a:lnTo>
                    <a:lnTo>
                      <a:pt x="10" y="46"/>
                    </a:lnTo>
                    <a:lnTo>
                      <a:pt x="10" y="44"/>
                    </a:lnTo>
                    <a:lnTo>
                      <a:pt x="12" y="44"/>
                    </a:lnTo>
                    <a:lnTo>
                      <a:pt x="14" y="50"/>
                    </a:lnTo>
                    <a:lnTo>
                      <a:pt x="16" y="52"/>
                    </a:lnTo>
                    <a:lnTo>
                      <a:pt x="18" y="54"/>
                    </a:lnTo>
                    <a:lnTo>
                      <a:pt x="26" y="56"/>
                    </a:lnTo>
                    <a:lnTo>
                      <a:pt x="28" y="52"/>
                    </a:lnTo>
                    <a:lnTo>
                      <a:pt x="30" y="46"/>
                    </a:lnTo>
                    <a:lnTo>
                      <a:pt x="38" y="38"/>
                    </a:lnTo>
                    <a:lnTo>
                      <a:pt x="38" y="34"/>
                    </a:lnTo>
                    <a:lnTo>
                      <a:pt x="42" y="32"/>
                    </a:lnTo>
                    <a:lnTo>
                      <a:pt x="44" y="32"/>
                    </a:lnTo>
                    <a:lnTo>
                      <a:pt x="44" y="30"/>
                    </a:lnTo>
                    <a:lnTo>
                      <a:pt x="46" y="28"/>
                    </a:lnTo>
                    <a:lnTo>
                      <a:pt x="40" y="28"/>
                    </a:lnTo>
                    <a:lnTo>
                      <a:pt x="40" y="24"/>
                    </a:lnTo>
                    <a:lnTo>
                      <a:pt x="42" y="20"/>
                    </a:lnTo>
                    <a:lnTo>
                      <a:pt x="38" y="16"/>
                    </a:lnTo>
                    <a:lnTo>
                      <a:pt x="38" y="14"/>
                    </a:lnTo>
                    <a:lnTo>
                      <a:pt x="36" y="12"/>
                    </a:lnTo>
                    <a:lnTo>
                      <a:pt x="34" y="12"/>
                    </a:lnTo>
                    <a:lnTo>
                      <a:pt x="34" y="10"/>
                    </a:lnTo>
                    <a:lnTo>
                      <a:pt x="34" y="4"/>
                    </a:lnTo>
                    <a:lnTo>
                      <a:pt x="30" y="2"/>
                    </a:lnTo>
                    <a:lnTo>
                      <a:pt x="28" y="2"/>
                    </a:lnTo>
                    <a:lnTo>
                      <a:pt x="26" y="2"/>
                    </a:lnTo>
                    <a:lnTo>
                      <a:pt x="22" y="2"/>
                    </a:lnTo>
                    <a:lnTo>
                      <a:pt x="16" y="0"/>
                    </a:lnTo>
                    <a:lnTo>
                      <a:pt x="14" y="0"/>
                    </a:lnTo>
                    <a:lnTo>
                      <a:pt x="12" y="4"/>
                    </a:lnTo>
                    <a:lnTo>
                      <a:pt x="12" y="10"/>
                    </a:lnTo>
                    <a:lnTo>
                      <a:pt x="10" y="12"/>
                    </a:lnTo>
                    <a:lnTo>
                      <a:pt x="8" y="14"/>
                    </a:lnTo>
                    <a:lnTo>
                      <a:pt x="6" y="16"/>
                    </a:lnTo>
                    <a:lnTo>
                      <a:pt x="6" y="18"/>
                    </a:lnTo>
                    <a:lnTo>
                      <a:pt x="4" y="18"/>
                    </a:lnTo>
                    <a:lnTo>
                      <a:pt x="2" y="18"/>
                    </a:lnTo>
                    <a:lnTo>
                      <a:pt x="2" y="1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97" name="Freeform 71">
                <a:extLst>
                  <a:ext uri="{FF2B5EF4-FFF2-40B4-BE49-F238E27FC236}">
                    <a16:creationId xmlns:a16="http://schemas.microsoft.com/office/drawing/2014/main" id="{F3D8C2F7-0F23-BD07-AFD5-7093D2B3405C}"/>
                  </a:ext>
                </a:extLst>
              </p:cNvPr>
              <p:cNvSpPr>
                <a:spLocks/>
              </p:cNvSpPr>
              <p:nvPr/>
            </p:nvSpPr>
            <p:spPr bwMode="auto">
              <a:xfrm>
                <a:off x="5198622" y="4292598"/>
                <a:ext cx="29170" cy="23057"/>
              </a:xfrm>
              <a:custGeom>
                <a:avLst/>
                <a:gdLst/>
                <a:ahLst/>
                <a:cxnLst>
                  <a:cxn ang="0">
                    <a:pos x="2" y="10"/>
                  </a:cxn>
                  <a:cxn ang="0">
                    <a:pos x="2" y="10"/>
                  </a:cxn>
                  <a:cxn ang="0">
                    <a:pos x="0" y="12"/>
                  </a:cxn>
                  <a:cxn ang="0">
                    <a:pos x="0" y="14"/>
                  </a:cxn>
                  <a:cxn ang="0">
                    <a:pos x="0" y="16"/>
                  </a:cxn>
                  <a:cxn ang="0">
                    <a:pos x="2" y="18"/>
                  </a:cxn>
                  <a:cxn ang="0">
                    <a:pos x="6" y="20"/>
                  </a:cxn>
                  <a:cxn ang="0">
                    <a:pos x="8" y="18"/>
                  </a:cxn>
                  <a:cxn ang="0">
                    <a:pos x="8" y="16"/>
                  </a:cxn>
                  <a:cxn ang="0">
                    <a:pos x="10" y="18"/>
                  </a:cxn>
                  <a:cxn ang="0">
                    <a:pos x="12" y="24"/>
                  </a:cxn>
                  <a:cxn ang="0">
                    <a:pos x="16" y="22"/>
                  </a:cxn>
                  <a:cxn ang="0">
                    <a:pos x="18" y="20"/>
                  </a:cxn>
                  <a:cxn ang="0">
                    <a:pos x="18" y="18"/>
                  </a:cxn>
                  <a:cxn ang="0">
                    <a:pos x="18" y="16"/>
                  </a:cxn>
                  <a:cxn ang="0">
                    <a:pos x="20" y="16"/>
                  </a:cxn>
                  <a:cxn ang="0">
                    <a:pos x="26" y="18"/>
                  </a:cxn>
                  <a:cxn ang="0">
                    <a:pos x="28" y="18"/>
                  </a:cxn>
                  <a:cxn ang="0">
                    <a:pos x="30" y="18"/>
                  </a:cxn>
                  <a:cxn ang="0">
                    <a:pos x="30" y="14"/>
                  </a:cxn>
                  <a:cxn ang="0">
                    <a:pos x="30" y="6"/>
                  </a:cxn>
                  <a:cxn ang="0">
                    <a:pos x="26" y="0"/>
                  </a:cxn>
                  <a:cxn ang="0">
                    <a:pos x="24" y="0"/>
                  </a:cxn>
                  <a:cxn ang="0">
                    <a:pos x="20" y="2"/>
                  </a:cxn>
                  <a:cxn ang="0">
                    <a:pos x="16" y="4"/>
                  </a:cxn>
                  <a:cxn ang="0">
                    <a:pos x="12" y="2"/>
                  </a:cxn>
                  <a:cxn ang="0">
                    <a:pos x="6" y="0"/>
                  </a:cxn>
                  <a:cxn ang="0">
                    <a:pos x="6" y="0"/>
                  </a:cxn>
                  <a:cxn ang="0">
                    <a:pos x="8" y="2"/>
                  </a:cxn>
                  <a:cxn ang="0">
                    <a:pos x="6" y="10"/>
                  </a:cxn>
                  <a:cxn ang="0">
                    <a:pos x="2" y="10"/>
                  </a:cxn>
                  <a:cxn ang="0">
                    <a:pos x="2" y="10"/>
                  </a:cxn>
                </a:cxnLst>
                <a:rect l="0" t="0" r="r" b="b"/>
                <a:pathLst>
                  <a:path w="30" h="24">
                    <a:moveTo>
                      <a:pt x="2" y="10"/>
                    </a:moveTo>
                    <a:lnTo>
                      <a:pt x="2" y="10"/>
                    </a:lnTo>
                    <a:lnTo>
                      <a:pt x="0" y="12"/>
                    </a:lnTo>
                    <a:lnTo>
                      <a:pt x="0" y="14"/>
                    </a:lnTo>
                    <a:lnTo>
                      <a:pt x="0" y="16"/>
                    </a:lnTo>
                    <a:lnTo>
                      <a:pt x="2" y="18"/>
                    </a:lnTo>
                    <a:lnTo>
                      <a:pt x="6" y="20"/>
                    </a:lnTo>
                    <a:lnTo>
                      <a:pt x="8" y="18"/>
                    </a:lnTo>
                    <a:lnTo>
                      <a:pt x="8" y="16"/>
                    </a:lnTo>
                    <a:lnTo>
                      <a:pt x="10" y="18"/>
                    </a:lnTo>
                    <a:lnTo>
                      <a:pt x="12" y="24"/>
                    </a:lnTo>
                    <a:lnTo>
                      <a:pt x="16" y="22"/>
                    </a:lnTo>
                    <a:lnTo>
                      <a:pt x="18" y="20"/>
                    </a:lnTo>
                    <a:lnTo>
                      <a:pt x="18" y="18"/>
                    </a:lnTo>
                    <a:lnTo>
                      <a:pt x="18" y="16"/>
                    </a:lnTo>
                    <a:lnTo>
                      <a:pt x="20" y="16"/>
                    </a:lnTo>
                    <a:lnTo>
                      <a:pt x="26" y="18"/>
                    </a:lnTo>
                    <a:lnTo>
                      <a:pt x="28" y="18"/>
                    </a:lnTo>
                    <a:lnTo>
                      <a:pt x="30" y="18"/>
                    </a:lnTo>
                    <a:lnTo>
                      <a:pt x="30" y="14"/>
                    </a:lnTo>
                    <a:lnTo>
                      <a:pt x="30" y="6"/>
                    </a:lnTo>
                    <a:lnTo>
                      <a:pt x="26" y="0"/>
                    </a:lnTo>
                    <a:lnTo>
                      <a:pt x="24" y="0"/>
                    </a:lnTo>
                    <a:lnTo>
                      <a:pt x="20" y="2"/>
                    </a:lnTo>
                    <a:lnTo>
                      <a:pt x="16" y="4"/>
                    </a:lnTo>
                    <a:lnTo>
                      <a:pt x="12" y="2"/>
                    </a:lnTo>
                    <a:lnTo>
                      <a:pt x="6" y="0"/>
                    </a:lnTo>
                    <a:lnTo>
                      <a:pt x="6" y="0"/>
                    </a:lnTo>
                    <a:lnTo>
                      <a:pt x="8" y="2"/>
                    </a:lnTo>
                    <a:lnTo>
                      <a:pt x="6" y="10"/>
                    </a:lnTo>
                    <a:lnTo>
                      <a:pt x="2" y="10"/>
                    </a:lnTo>
                    <a:lnTo>
                      <a:pt x="2" y="1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99" name="Line 72">
                <a:extLst>
                  <a:ext uri="{FF2B5EF4-FFF2-40B4-BE49-F238E27FC236}">
                    <a16:creationId xmlns:a16="http://schemas.microsoft.com/office/drawing/2014/main" id="{FDB3CE2B-AF38-931A-8EB5-C475AD88226D}"/>
                  </a:ext>
                </a:extLst>
              </p:cNvPr>
              <p:cNvSpPr>
                <a:spLocks noChangeShapeType="1"/>
              </p:cNvSpPr>
              <p:nvPr/>
            </p:nvSpPr>
            <p:spPr bwMode="auto">
              <a:xfrm>
                <a:off x="6445172" y="2980302"/>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00" name="Line 73">
                <a:extLst>
                  <a:ext uri="{FF2B5EF4-FFF2-40B4-BE49-F238E27FC236}">
                    <a16:creationId xmlns:a16="http://schemas.microsoft.com/office/drawing/2014/main" id="{694940C3-226B-64AA-71A1-4FC1012B0D96}"/>
                  </a:ext>
                </a:extLst>
              </p:cNvPr>
              <p:cNvSpPr>
                <a:spLocks noChangeShapeType="1"/>
              </p:cNvSpPr>
              <p:nvPr/>
            </p:nvSpPr>
            <p:spPr bwMode="auto">
              <a:xfrm>
                <a:off x="6445172" y="2980302"/>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01" name="Line 74">
                <a:extLst>
                  <a:ext uri="{FF2B5EF4-FFF2-40B4-BE49-F238E27FC236}">
                    <a16:creationId xmlns:a16="http://schemas.microsoft.com/office/drawing/2014/main" id="{5388453E-97BD-DD0A-2E6A-5FC6DD8DE635}"/>
                  </a:ext>
                </a:extLst>
              </p:cNvPr>
              <p:cNvSpPr>
                <a:spLocks noChangeShapeType="1"/>
              </p:cNvSpPr>
              <p:nvPr/>
            </p:nvSpPr>
            <p:spPr bwMode="auto">
              <a:xfrm>
                <a:off x="6445172" y="2980302"/>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02" name="Line 75">
                <a:extLst>
                  <a:ext uri="{FF2B5EF4-FFF2-40B4-BE49-F238E27FC236}">
                    <a16:creationId xmlns:a16="http://schemas.microsoft.com/office/drawing/2014/main" id="{7378AB83-F549-4D5A-6E42-6BCB90C8794A}"/>
                  </a:ext>
                </a:extLst>
              </p:cNvPr>
              <p:cNvSpPr>
                <a:spLocks noChangeShapeType="1"/>
              </p:cNvSpPr>
              <p:nvPr/>
            </p:nvSpPr>
            <p:spPr bwMode="auto">
              <a:xfrm>
                <a:off x="6445172" y="2980302"/>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03" name="Line 76">
                <a:extLst>
                  <a:ext uri="{FF2B5EF4-FFF2-40B4-BE49-F238E27FC236}">
                    <a16:creationId xmlns:a16="http://schemas.microsoft.com/office/drawing/2014/main" id="{7A30FC75-C80D-C398-0C06-55806FBE471F}"/>
                  </a:ext>
                </a:extLst>
              </p:cNvPr>
              <p:cNvSpPr>
                <a:spLocks noChangeShapeType="1"/>
              </p:cNvSpPr>
              <p:nvPr/>
            </p:nvSpPr>
            <p:spPr bwMode="auto">
              <a:xfrm>
                <a:off x="6451006" y="2980302"/>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04" name="Line 77">
                <a:extLst>
                  <a:ext uri="{FF2B5EF4-FFF2-40B4-BE49-F238E27FC236}">
                    <a16:creationId xmlns:a16="http://schemas.microsoft.com/office/drawing/2014/main" id="{03280525-1E4F-2503-44F2-E71C02CDF115}"/>
                  </a:ext>
                </a:extLst>
              </p:cNvPr>
              <p:cNvSpPr>
                <a:spLocks noChangeShapeType="1"/>
              </p:cNvSpPr>
              <p:nvPr/>
            </p:nvSpPr>
            <p:spPr bwMode="auto">
              <a:xfrm>
                <a:off x="6451006" y="2980302"/>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05" name="Line 78">
                <a:extLst>
                  <a:ext uri="{FF2B5EF4-FFF2-40B4-BE49-F238E27FC236}">
                    <a16:creationId xmlns:a16="http://schemas.microsoft.com/office/drawing/2014/main" id="{24F8E812-3497-0059-D048-86F330EF3193}"/>
                  </a:ext>
                </a:extLst>
              </p:cNvPr>
              <p:cNvSpPr>
                <a:spLocks noChangeShapeType="1"/>
              </p:cNvSpPr>
              <p:nvPr/>
            </p:nvSpPr>
            <p:spPr bwMode="auto">
              <a:xfrm>
                <a:off x="6451006" y="2980302"/>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06" name="Line 79">
                <a:extLst>
                  <a:ext uri="{FF2B5EF4-FFF2-40B4-BE49-F238E27FC236}">
                    <a16:creationId xmlns:a16="http://schemas.microsoft.com/office/drawing/2014/main" id="{1B681CD7-A7EB-A9D6-D0AA-4F96CAF8B6EF}"/>
                  </a:ext>
                </a:extLst>
              </p:cNvPr>
              <p:cNvSpPr>
                <a:spLocks noChangeShapeType="1"/>
              </p:cNvSpPr>
              <p:nvPr/>
            </p:nvSpPr>
            <p:spPr bwMode="auto">
              <a:xfrm>
                <a:off x="6451006" y="2980302"/>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07" name="Line 80">
                <a:extLst>
                  <a:ext uri="{FF2B5EF4-FFF2-40B4-BE49-F238E27FC236}">
                    <a16:creationId xmlns:a16="http://schemas.microsoft.com/office/drawing/2014/main" id="{C951C95B-C5ED-AD93-444F-CEAA2DB51225}"/>
                  </a:ext>
                </a:extLst>
              </p:cNvPr>
              <p:cNvSpPr>
                <a:spLocks noChangeShapeType="1"/>
              </p:cNvSpPr>
              <p:nvPr/>
            </p:nvSpPr>
            <p:spPr bwMode="auto">
              <a:xfrm>
                <a:off x="6447116" y="2982224"/>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08" name="Line 81">
                <a:extLst>
                  <a:ext uri="{FF2B5EF4-FFF2-40B4-BE49-F238E27FC236}">
                    <a16:creationId xmlns:a16="http://schemas.microsoft.com/office/drawing/2014/main" id="{7E0D09A6-88B2-3E22-A9B5-43DD1DFF3926}"/>
                  </a:ext>
                </a:extLst>
              </p:cNvPr>
              <p:cNvSpPr>
                <a:spLocks noChangeShapeType="1"/>
              </p:cNvSpPr>
              <p:nvPr/>
            </p:nvSpPr>
            <p:spPr bwMode="auto">
              <a:xfrm>
                <a:off x="6447116" y="2982224"/>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09" name="Line 82">
                <a:extLst>
                  <a:ext uri="{FF2B5EF4-FFF2-40B4-BE49-F238E27FC236}">
                    <a16:creationId xmlns:a16="http://schemas.microsoft.com/office/drawing/2014/main" id="{6AA13079-5D46-CBB6-75CD-CEBC5EEDBAA1}"/>
                  </a:ext>
                </a:extLst>
              </p:cNvPr>
              <p:cNvSpPr>
                <a:spLocks noChangeShapeType="1"/>
              </p:cNvSpPr>
              <p:nvPr/>
            </p:nvSpPr>
            <p:spPr bwMode="auto">
              <a:xfrm>
                <a:off x="6447116" y="2982224"/>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10" name="Line 83">
                <a:extLst>
                  <a:ext uri="{FF2B5EF4-FFF2-40B4-BE49-F238E27FC236}">
                    <a16:creationId xmlns:a16="http://schemas.microsoft.com/office/drawing/2014/main" id="{9F804E34-6196-C3BF-D3D9-D8B988556C54}"/>
                  </a:ext>
                </a:extLst>
              </p:cNvPr>
              <p:cNvSpPr>
                <a:spLocks noChangeShapeType="1"/>
              </p:cNvSpPr>
              <p:nvPr/>
            </p:nvSpPr>
            <p:spPr bwMode="auto">
              <a:xfrm>
                <a:off x="6447116" y="2982224"/>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11" name="Line 84">
                <a:extLst>
                  <a:ext uri="{FF2B5EF4-FFF2-40B4-BE49-F238E27FC236}">
                    <a16:creationId xmlns:a16="http://schemas.microsoft.com/office/drawing/2014/main" id="{555B9987-B505-6B9B-50E2-76B0ABE63B45}"/>
                  </a:ext>
                </a:extLst>
              </p:cNvPr>
              <p:cNvSpPr>
                <a:spLocks noChangeShapeType="1"/>
              </p:cNvSpPr>
              <p:nvPr/>
            </p:nvSpPr>
            <p:spPr bwMode="auto">
              <a:xfrm>
                <a:off x="6443227" y="2957245"/>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12" name="Line 85">
                <a:extLst>
                  <a:ext uri="{FF2B5EF4-FFF2-40B4-BE49-F238E27FC236}">
                    <a16:creationId xmlns:a16="http://schemas.microsoft.com/office/drawing/2014/main" id="{BDB0112A-E5EE-5F1A-DCE6-7F89498895A4}"/>
                  </a:ext>
                </a:extLst>
              </p:cNvPr>
              <p:cNvSpPr>
                <a:spLocks noChangeShapeType="1"/>
              </p:cNvSpPr>
              <p:nvPr/>
            </p:nvSpPr>
            <p:spPr bwMode="auto">
              <a:xfrm>
                <a:off x="6443227" y="2957245"/>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13" name="Line 86">
                <a:extLst>
                  <a:ext uri="{FF2B5EF4-FFF2-40B4-BE49-F238E27FC236}">
                    <a16:creationId xmlns:a16="http://schemas.microsoft.com/office/drawing/2014/main" id="{9C2224AE-65A9-CB16-1B13-ED63BAB568D8}"/>
                  </a:ext>
                </a:extLst>
              </p:cNvPr>
              <p:cNvSpPr>
                <a:spLocks noChangeShapeType="1"/>
              </p:cNvSpPr>
              <p:nvPr/>
            </p:nvSpPr>
            <p:spPr bwMode="auto">
              <a:xfrm>
                <a:off x="6443227" y="2957245"/>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14" name="Line 87">
                <a:extLst>
                  <a:ext uri="{FF2B5EF4-FFF2-40B4-BE49-F238E27FC236}">
                    <a16:creationId xmlns:a16="http://schemas.microsoft.com/office/drawing/2014/main" id="{4398B821-40FA-4E59-CBF0-1D102C53F8DB}"/>
                  </a:ext>
                </a:extLst>
              </p:cNvPr>
              <p:cNvSpPr>
                <a:spLocks noChangeShapeType="1"/>
              </p:cNvSpPr>
              <p:nvPr/>
            </p:nvSpPr>
            <p:spPr bwMode="auto">
              <a:xfrm>
                <a:off x="6443227" y="2957245"/>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15" name="Line 88">
                <a:extLst>
                  <a:ext uri="{FF2B5EF4-FFF2-40B4-BE49-F238E27FC236}">
                    <a16:creationId xmlns:a16="http://schemas.microsoft.com/office/drawing/2014/main" id="{1C1EAA7A-7C88-2A09-1EEC-ADCD5998A6B7}"/>
                  </a:ext>
                </a:extLst>
              </p:cNvPr>
              <p:cNvSpPr>
                <a:spLocks noChangeShapeType="1"/>
              </p:cNvSpPr>
              <p:nvPr/>
            </p:nvSpPr>
            <p:spPr bwMode="auto">
              <a:xfrm>
                <a:off x="6447116" y="2968774"/>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16" name="Line 89">
                <a:extLst>
                  <a:ext uri="{FF2B5EF4-FFF2-40B4-BE49-F238E27FC236}">
                    <a16:creationId xmlns:a16="http://schemas.microsoft.com/office/drawing/2014/main" id="{B1A14C0E-099E-212D-2E9A-8614E5B5B77B}"/>
                  </a:ext>
                </a:extLst>
              </p:cNvPr>
              <p:cNvSpPr>
                <a:spLocks noChangeShapeType="1"/>
              </p:cNvSpPr>
              <p:nvPr/>
            </p:nvSpPr>
            <p:spPr bwMode="auto">
              <a:xfrm>
                <a:off x="6447116" y="2968774"/>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17" name="Line 90">
                <a:extLst>
                  <a:ext uri="{FF2B5EF4-FFF2-40B4-BE49-F238E27FC236}">
                    <a16:creationId xmlns:a16="http://schemas.microsoft.com/office/drawing/2014/main" id="{8DF1D811-95C2-E3B7-F43D-C599798DEA9D}"/>
                  </a:ext>
                </a:extLst>
              </p:cNvPr>
              <p:cNvSpPr>
                <a:spLocks noChangeShapeType="1"/>
              </p:cNvSpPr>
              <p:nvPr/>
            </p:nvSpPr>
            <p:spPr bwMode="auto">
              <a:xfrm>
                <a:off x="6447116" y="2968774"/>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18" name="Line 91">
                <a:extLst>
                  <a:ext uri="{FF2B5EF4-FFF2-40B4-BE49-F238E27FC236}">
                    <a16:creationId xmlns:a16="http://schemas.microsoft.com/office/drawing/2014/main" id="{0C7DA540-9C81-DEC7-7D5E-ED64466FBFDF}"/>
                  </a:ext>
                </a:extLst>
              </p:cNvPr>
              <p:cNvSpPr>
                <a:spLocks noChangeShapeType="1"/>
              </p:cNvSpPr>
              <p:nvPr/>
            </p:nvSpPr>
            <p:spPr bwMode="auto">
              <a:xfrm>
                <a:off x="6447116" y="2968774"/>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19" name="Freeform 92">
                <a:extLst>
                  <a:ext uri="{FF2B5EF4-FFF2-40B4-BE49-F238E27FC236}">
                    <a16:creationId xmlns:a16="http://schemas.microsoft.com/office/drawing/2014/main" id="{82660027-1396-3166-FB52-CE9C08F98424}"/>
                  </a:ext>
                </a:extLst>
              </p:cNvPr>
              <p:cNvSpPr>
                <a:spLocks/>
              </p:cNvSpPr>
              <p:nvPr/>
            </p:nvSpPr>
            <p:spPr bwMode="auto">
              <a:xfrm>
                <a:off x="6449061" y="2968774"/>
                <a:ext cx="973" cy="1921"/>
              </a:xfrm>
              <a:custGeom>
                <a:avLst/>
                <a:gdLst/>
                <a:ahLst/>
                <a:cxnLst>
                  <a:cxn ang="0">
                    <a:pos x="0" y="0"/>
                  </a:cxn>
                  <a:cxn ang="0">
                    <a:pos x="0" y="2"/>
                  </a:cxn>
                  <a:cxn ang="0">
                    <a:pos x="0" y="0"/>
                  </a:cxn>
                </a:cxnLst>
                <a:rect l="0" t="0" r="r" b="b"/>
                <a:pathLst>
                  <a:path h="2">
                    <a:moveTo>
                      <a:pt x="0" y="0"/>
                    </a:move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21" name="Line 93">
                <a:extLst>
                  <a:ext uri="{FF2B5EF4-FFF2-40B4-BE49-F238E27FC236}">
                    <a16:creationId xmlns:a16="http://schemas.microsoft.com/office/drawing/2014/main" id="{9C4C159C-71BA-F9EC-6C61-7AA4767889FB}"/>
                  </a:ext>
                </a:extLst>
              </p:cNvPr>
              <p:cNvSpPr>
                <a:spLocks noChangeShapeType="1"/>
              </p:cNvSpPr>
              <p:nvPr/>
            </p:nvSpPr>
            <p:spPr bwMode="auto">
              <a:xfrm>
                <a:off x="6449061" y="2968774"/>
                <a:ext cx="973"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22" name="Freeform 94">
                <a:extLst>
                  <a:ext uri="{FF2B5EF4-FFF2-40B4-BE49-F238E27FC236}">
                    <a16:creationId xmlns:a16="http://schemas.microsoft.com/office/drawing/2014/main" id="{9A632A69-DA65-FD04-011B-9BD321F0AC26}"/>
                  </a:ext>
                </a:extLst>
              </p:cNvPr>
              <p:cNvSpPr>
                <a:spLocks/>
              </p:cNvSpPr>
              <p:nvPr/>
            </p:nvSpPr>
            <p:spPr bwMode="auto">
              <a:xfrm>
                <a:off x="6449061" y="2968774"/>
                <a:ext cx="973" cy="1921"/>
              </a:xfrm>
              <a:custGeom>
                <a:avLst/>
                <a:gdLst/>
                <a:ahLst/>
                <a:cxnLst>
                  <a:cxn ang="0">
                    <a:pos x="0" y="0"/>
                  </a:cxn>
                  <a:cxn ang="0">
                    <a:pos x="0" y="2"/>
                  </a:cxn>
                  <a:cxn ang="0">
                    <a:pos x="0" y="0"/>
                  </a:cxn>
                </a:cxnLst>
                <a:rect l="0" t="0" r="r" b="b"/>
                <a:pathLst>
                  <a:path h="2">
                    <a:moveTo>
                      <a:pt x="0" y="0"/>
                    </a:move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23" name="Line 95">
                <a:extLst>
                  <a:ext uri="{FF2B5EF4-FFF2-40B4-BE49-F238E27FC236}">
                    <a16:creationId xmlns:a16="http://schemas.microsoft.com/office/drawing/2014/main" id="{582F1958-D1A6-1A9C-7788-268BB91E1A83}"/>
                  </a:ext>
                </a:extLst>
              </p:cNvPr>
              <p:cNvSpPr>
                <a:spLocks noChangeShapeType="1"/>
              </p:cNvSpPr>
              <p:nvPr/>
            </p:nvSpPr>
            <p:spPr bwMode="auto">
              <a:xfrm>
                <a:off x="6449061" y="2968774"/>
                <a:ext cx="973"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24" name="Line 96">
                <a:extLst>
                  <a:ext uri="{FF2B5EF4-FFF2-40B4-BE49-F238E27FC236}">
                    <a16:creationId xmlns:a16="http://schemas.microsoft.com/office/drawing/2014/main" id="{A1D1200B-69A1-C9F5-19E0-AA8E0E1B0F99}"/>
                  </a:ext>
                </a:extLst>
              </p:cNvPr>
              <p:cNvSpPr>
                <a:spLocks noChangeShapeType="1"/>
              </p:cNvSpPr>
              <p:nvPr/>
            </p:nvSpPr>
            <p:spPr bwMode="auto">
              <a:xfrm>
                <a:off x="6441282" y="2955324"/>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25" name="Line 97">
                <a:extLst>
                  <a:ext uri="{FF2B5EF4-FFF2-40B4-BE49-F238E27FC236}">
                    <a16:creationId xmlns:a16="http://schemas.microsoft.com/office/drawing/2014/main" id="{DAC1B292-A4A0-DF18-E854-13C67358D091}"/>
                  </a:ext>
                </a:extLst>
              </p:cNvPr>
              <p:cNvSpPr>
                <a:spLocks noChangeShapeType="1"/>
              </p:cNvSpPr>
              <p:nvPr/>
            </p:nvSpPr>
            <p:spPr bwMode="auto">
              <a:xfrm>
                <a:off x="6441282" y="2955324"/>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26" name="Line 98">
                <a:extLst>
                  <a:ext uri="{FF2B5EF4-FFF2-40B4-BE49-F238E27FC236}">
                    <a16:creationId xmlns:a16="http://schemas.microsoft.com/office/drawing/2014/main" id="{935E75CA-C867-9C31-CB72-33964CAF35FB}"/>
                  </a:ext>
                </a:extLst>
              </p:cNvPr>
              <p:cNvSpPr>
                <a:spLocks noChangeShapeType="1"/>
              </p:cNvSpPr>
              <p:nvPr/>
            </p:nvSpPr>
            <p:spPr bwMode="auto">
              <a:xfrm>
                <a:off x="6441282" y="2955324"/>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27" name="Line 99">
                <a:extLst>
                  <a:ext uri="{FF2B5EF4-FFF2-40B4-BE49-F238E27FC236}">
                    <a16:creationId xmlns:a16="http://schemas.microsoft.com/office/drawing/2014/main" id="{14705C42-FD3D-11F0-A023-CD93657E4FB1}"/>
                  </a:ext>
                </a:extLst>
              </p:cNvPr>
              <p:cNvSpPr>
                <a:spLocks noChangeShapeType="1"/>
              </p:cNvSpPr>
              <p:nvPr/>
            </p:nvSpPr>
            <p:spPr bwMode="auto">
              <a:xfrm>
                <a:off x="6441282" y="2955324"/>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28" name="Line 100">
                <a:extLst>
                  <a:ext uri="{FF2B5EF4-FFF2-40B4-BE49-F238E27FC236}">
                    <a16:creationId xmlns:a16="http://schemas.microsoft.com/office/drawing/2014/main" id="{AE48BFC6-1266-47C2-093D-D7E392F7D982}"/>
                  </a:ext>
                </a:extLst>
              </p:cNvPr>
              <p:cNvSpPr>
                <a:spLocks noChangeShapeType="1"/>
              </p:cNvSpPr>
              <p:nvPr/>
            </p:nvSpPr>
            <p:spPr bwMode="auto">
              <a:xfrm>
                <a:off x="6435448" y="2949560"/>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29" name="Line 101">
                <a:extLst>
                  <a:ext uri="{FF2B5EF4-FFF2-40B4-BE49-F238E27FC236}">
                    <a16:creationId xmlns:a16="http://schemas.microsoft.com/office/drawing/2014/main" id="{2A003E09-3B1E-0BFF-4C42-4CC7B36AA56F}"/>
                  </a:ext>
                </a:extLst>
              </p:cNvPr>
              <p:cNvSpPr>
                <a:spLocks noChangeShapeType="1"/>
              </p:cNvSpPr>
              <p:nvPr/>
            </p:nvSpPr>
            <p:spPr bwMode="auto">
              <a:xfrm>
                <a:off x="6435448" y="2949560"/>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30" name="Line 102">
                <a:extLst>
                  <a:ext uri="{FF2B5EF4-FFF2-40B4-BE49-F238E27FC236}">
                    <a16:creationId xmlns:a16="http://schemas.microsoft.com/office/drawing/2014/main" id="{7C55A714-FB88-7770-1099-5A6E919169CF}"/>
                  </a:ext>
                </a:extLst>
              </p:cNvPr>
              <p:cNvSpPr>
                <a:spLocks noChangeShapeType="1"/>
              </p:cNvSpPr>
              <p:nvPr/>
            </p:nvSpPr>
            <p:spPr bwMode="auto">
              <a:xfrm>
                <a:off x="6435448" y="2949560"/>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31" name="Line 103">
                <a:extLst>
                  <a:ext uri="{FF2B5EF4-FFF2-40B4-BE49-F238E27FC236}">
                    <a16:creationId xmlns:a16="http://schemas.microsoft.com/office/drawing/2014/main" id="{48732451-1B1E-E402-6528-BC1D26160C00}"/>
                  </a:ext>
                </a:extLst>
              </p:cNvPr>
              <p:cNvSpPr>
                <a:spLocks noChangeShapeType="1"/>
              </p:cNvSpPr>
              <p:nvPr/>
            </p:nvSpPr>
            <p:spPr bwMode="auto">
              <a:xfrm>
                <a:off x="6435448" y="2949560"/>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32" name="Line 104">
                <a:extLst>
                  <a:ext uri="{FF2B5EF4-FFF2-40B4-BE49-F238E27FC236}">
                    <a16:creationId xmlns:a16="http://schemas.microsoft.com/office/drawing/2014/main" id="{50515135-32DB-AF92-D16A-B45FD5BF16AC}"/>
                  </a:ext>
                </a:extLst>
              </p:cNvPr>
              <p:cNvSpPr>
                <a:spLocks noChangeShapeType="1"/>
              </p:cNvSpPr>
              <p:nvPr/>
            </p:nvSpPr>
            <p:spPr bwMode="auto">
              <a:xfrm>
                <a:off x="6439338" y="2953403"/>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33" name="Line 105">
                <a:extLst>
                  <a:ext uri="{FF2B5EF4-FFF2-40B4-BE49-F238E27FC236}">
                    <a16:creationId xmlns:a16="http://schemas.microsoft.com/office/drawing/2014/main" id="{B1969A1B-A0D7-B38E-80B7-71D8BA743E65}"/>
                  </a:ext>
                </a:extLst>
              </p:cNvPr>
              <p:cNvSpPr>
                <a:spLocks noChangeShapeType="1"/>
              </p:cNvSpPr>
              <p:nvPr/>
            </p:nvSpPr>
            <p:spPr bwMode="auto">
              <a:xfrm>
                <a:off x="6439338" y="2953403"/>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34" name="Line 106">
                <a:extLst>
                  <a:ext uri="{FF2B5EF4-FFF2-40B4-BE49-F238E27FC236}">
                    <a16:creationId xmlns:a16="http://schemas.microsoft.com/office/drawing/2014/main" id="{5370D3C8-E3A9-0B47-CAA1-BBC88DAF3A21}"/>
                  </a:ext>
                </a:extLst>
              </p:cNvPr>
              <p:cNvSpPr>
                <a:spLocks noChangeShapeType="1"/>
              </p:cNvSpPr>
              <p:nvPr/>
            </p:nvSpPr>
            <p:spPr bwMode="auto">
              <a:xfrm>
                <a:off x="6439338" y="2953403"/>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35" name="Line 107">
                <a:extLst>
                  <a:ext uri="{FF2B5EF4-FFF2-40B4-BE49-F238E27FC236}">
                    <a16:creationId xmlns:a16="http://schemas.microsoft.com/office/drawing/2014/main" id="{6ACDF225-0411-5814-4B57-3BFFA3807BD8}"/>
                  </a:ext>
                </a:extLst>
              </p:cNvPr>
              <p:cNvSpPr>
                <a:spLocks noChangeShapeType="1"/>
              </p:cNvSpPr>
              <p:nvPr/>
            </p:nvSpPr>
            <p:spPr bwMode="auto">
              <a:xfrm>
                <a:off x="6439338" y="2953403"/>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36" name="Freeform 108">
                <a:extLst>
                  <a:ext uri="{FF2B5EF4-FFF2-40B4-BE49-F238E27FC236}">
                    <a16:creationId xmlns:a16="http://schemas.microsoft.com/office/drawing/2014/main" id="{A0F05830-320A-9998-CADA-89D7B6B927E0}"/>
                  </a:ext>
                </a:extLst>
              </p:cNvPr>
              <p:cNvSpPr>
                <a:spLocks/>
              </p:cNvSpPr>
              <p:nvPr/>
            </p:nvSpPr>
            <p:spPr bwMode="auto">
              <a:xfrm>
                <a:off x="6425725" y="2972617"/>
                <a:ext cx="1944" cy="1921"/>
              </a:xfrm>
              <a:custGeom>
                <a:avLst/>
                <a:gdLst/>
                <a:ahLst/>
                <a:cxnLst>
                  <a:cxn ang="0">
                    <a:pos x="0" y="0"/>
                  </a:cxn>
                  <a:cxn ang="0">
                    <a:pos x="2" y="2"/>
                  </a:cxn>
                  <a:cxn ang="0">
                    <a:pos x="0" y="0"/>
                  </a:cxn>
                </a:cxnLst>
                <a:rect l="0" t="0" r="r" b="b"/>
                <a:pathLst>
                  <a:path w="2" h="2">
                    <a:moveTo>
                      <a:pt x="0" y="0"/>
                    </a:moveTo>
                    <a:lnTo>
                      <a:pt x="2"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37" name="Line 109">
                <a:extLst>
                  <a:ext uri="{FF2B5EF4-FFF2-40B4-BE49-F238E27FC236}">
                    <a16:creationId xmlns:a16="http://schemas.microsoft.com/office/drawing/2014/main" id="{1022BA4B-AEB2-1433-234A-2B9D677FF0B9}"/>
                  </a:ext>
                </a:extLst>
              </p:cNvPr>
              <p:cNvSpPr>
                <a:spLocks noChangeShapeType="1"/>
              </p:cNvSpPr>
              <p:nvPr/>
            </p:nvSpPr>
            <p:spPr bwMode="auto">
              <a:xfrm>
                <a:off x="6425725" y="2972617"/>
                <a:ext cx="1944"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38" name="Freeform 110">
                <a:extLst>
                  <a:ext uri="{FF2B5EF4-FFF2-40B4-BE49-F238E27FC236}">
                    <a16:creationId xmlns:a16="http://schemas.microsoft.com/office/drawing/2014/main" id="{9D0C022B-6A90-9B3A-9402-DCC6A48AC01A}"/>
                  </a:ext>
                </a:extLst>
              </p:cNvPr>
              <p:cNvSpPr>
                <a:spLocks/>
              </p:cNvSpPr>
              <p:nvPr/>
            </p:nvSpPr>
            <p:spPr bwMode="auto">
              <a:xfrm>
                <a:off x="6425725" y="2972617"/>
                <a:ext cx="1944" cy="1921"/>
              </a:xfrm>
              <a:custGeom>
                <a:avLst/>
                <a:gdLst/>
                <a:ahLst/>
                <a:cxnLst>
                  <a:cxn ang="0">
                    <a:pos x="0" y="0"/>
                  </a:cxn>
                  <a:cxn ang="0">
                    <a:pos x="2" y="2"/>
                  </a:cxn>
                  <a:cxn ang="0">
                    <a:pos x="0" y="0"/>
                  </a:cxn>
                </a:cxnLst>
                <a:rect l="0" t="0" r="r" b="b"/>
                <a:pathLst>
                  <a:path w="2" h="2">
                    <a:moveTo>
                      <a:pt x="0" y="0"/>
                    </a:moveTo>
                    <a:lnTo>
                      <a:pt x="2"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39" name="Line 111">
                <a:extLst>
                  <a:ext uri="{FF2B5EF4-FFF2-40B4-BE49-F238E27FC236}">
                    <a16:creationId xmlns:a16="http://schemas.microsoft.com/office/drawing/2014/main" id="{4C2BE25C-E8BF-B36D-E797-B190666E7753}"/>
                  </a:ext>
                </a:extLst>
              </p:cNvPr>
              <p:cNvSpPr>
                <a:spLocks noChangeShapeType="1"/>
              </p:cNvSpPr>
              <p:nvPr/>
            </p:nvSpPr>
            <p:spPr bwMode="auto">
              <a:xfrm>
                <a:off x="6425725" y="2972617"/>
                <a:ext cx="1944"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40" name="Freeform 112">
                <a:extLst>
                  <a:ext uri="{FF2B5EF4-FFF2-40B4-BE49-F238E27FC236}">
                    <a16:creationId xmlns:a16="http://schemas.microsoft.com/office/drawing/2014/main" id="{95D21044-F351-8978-8458-5BC449F55310}"/>
                  </a:ext>
                </a:extLst>
              </p:cNvPr>
              <p:cNvSpPr>
                <a:spLocks/>
              </p:cNvSpPr>
              <p:nvPr/>
            </p:nvSpPr>
            <p:spPr bwMode="auto">
              <a:xfrm>
                <a:off x="6425725" y="2968774"/>
                <a:ext cx="1944" cy="96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41" name="Line 113">
                <a:extLst>
                  <a:ext uri="{FF2B5EF4-FFF2-40B4-BE49-F238E27FC236}">
                    <a16:creationId xmlns:a16="http://schemas.microsoft.com/office/drawing/2014/main" id="{7F47941D-CE09-3E3C-9555-BA11745EDABB}"/>
                  </a:ext>
                </a:extLst>
              </p:cNvPr>
              <p:cNvSpPr>
                <a:spLocks noChangeShapeType="1"/>
              </p:cNvSpPr>
              <p:nvPr/>
            </p:nvSpPr>
            <p:spPr bwMode="auto">
              <a:xfrm>
                <a:off x="6425725" y="2968774"/>
                <a:ext cx="1944"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42" name="Freeform 114">
                <a:extLst>
                  <a:ext uri="{FF2B5EF4-FFF2-40B4-BE49-F238E27FC236}">
                    <a16:creationId xmlns:a16="http://schemas.microsoft.com/office/drawing/2014/main" id="{F5A1E90E-F946-BEA9-3263-4974469CD83E}"/>
                  </a:ext>
                </a:extLst>
              </p:cNvPr>
              <p:cNvSpPr>
                <a:spLocks/>
              </p:cNvSpPr>
              <p:nvPr/>
            </p:nvSpPr>
            <p:spPr bwMode="auto">
              <a:xfrm>
                <a:off x="6425725" y="2968774"/>
                <a:ext cx="1944" cy="96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43" name="Line 115">
                <a:extLst>
                  <a:ext uri="{FF2B5EF4-FFF2-40B4-BE49-F238E27FC236}">
                    <a16:creationId xmlns:a16="http://schemas.microsoft.com/office/drawing/2014/main" id="{F61D30C2-BD68-19C3-882A-D57DDB6E2303}"/>
                  </a:ext>
                </a:extLst>
              </p:cNvPr>
              <p:cNvSpPr>
                <a:spLocks noChangeShapeType="1"/>
              </p:cNvSpPr>
              <p:nvPr/>
            </p:nvSpPr>
            <p:spPr bwMode="auto">
              <a:xfrm>
                <a:off x="6425725" y="2968774"/>
                <a:ext cx="1944"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44" name="Line 116">
                <a:extLst>
                  <a:ext uri="{FF2B5EF4-FFF2-40B4-BE49-F238E27FC236}">
                    <a16:creationId xmlns:a16="http://schemas.microsoft.com/office/drawing/2014/main" id="{52DF0845-7FC4-21B9-1915-6AB1B7891004}"/>
                  </a:ext>
                </a:extLst>
              </p:cNvPr>
              <p:cNvSpPr>
                <a:spLocks noChangeShapeType="1"/>
              </p:cNvSpPr>
              <p:nvPr/>
            </p:nvSpPr>
            <p:spPr bwMode="auto">
              <a:xfrm>
                <a:off x="6429614" y="2957245"/>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45" name="Line 117">
                <a:extLst>
                  <a:ext uri="{FF2B5EF4-FFF2-40B4-BE49-F238E27FC236}">
                    <a16:creationId xmlns:a16="http://schemas.microsoft.com/office/drawing/2014/main" id="{C8206993-F6FE-B986-2AC4-DBC972429FF4}"/>
                  </a:ext>
                </a:extLst>
              </p:cNvPr>
              <p:cNvSpPr>
                <a:spLocks noChangeShapeType="1"/>
              </p:cNvSpPr>
              <p:nvPr/>
            </p:nvSpPr>
            <p:spPr bwMode="auto">
              <a:xfrm>
                <a:off x="6429614" y="2957245"/>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46" name="Line 118">
                <a:extLst>
                  <a:ext uri="{FF2B5EF4-FFF2-40B4-BE49-F238E27FC236}">
                    <a16:creationId xmlns:a16="http://schemas.microsoft.com/office/drawing/2014/main" id="{41F3D262-6E16-2264-FB65-B74665B25EFB}"/>
                  </a:ext>
                </a:extLst>
              </p:cNvPr>
              <p:cNvSpPr>
                <a:spLocks noChangeShapeType="1"/>
              </p:cNvSpPr>
              <p:nvPr/>
            </p:nvSpPr>
            <p:spPr bwMode="auto">
              <a:xfrm>
                <a:off x="6429614" y="2957245"/>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47" name="Line 119">
                <a:extLst>
                  <a:ext uri="{FF2B5EF4-FFF2-40B4-BE49-F238E27FC236}">
                    <a16:creationId xmlns:a16="http://schemas.microsoft.com/office/drawing/2014/main" id="{700217A6-908E-90EE-F9FD-8BEB5AF20E02}"/>
                  </a:ext>
                </a:extLst>
              </p:cNvPr>
              <p:cNvSpPr>
                <a:spLocks noChangeShapeType="1"/>
              </p:cNvSpPr>
              <p:nvPr/>
            </p:nvSpPr>
            <p:spPr bwMode="auto">
              <a:xfrm>
                <a:off x="6429614" y="2957245"/>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48" name="Freeform 120">
                <a:extLst>
                  <a:ext uri="{FF2B5EF4-FFF2-40B4-BE49-F238E27FC236}">
                    <a16:creationId xmlns:a16="http://schemas.microsoft.com/office/drawing/2014/main" id="{DF659F22-AEE7-B4A2-0465-CB73596936E3}"/>
                  </a:ext>
                </a:extLst>
              </p:cNvPr>
              <p:cNvSpPr>
                <a:spLocks/>
              </p:cNvSpPr>
              <p:nvPr/>
            </p:nvSpPr>
            <p:spPr bwMode="auto">
              <a:xfrm>
                <a:off x="6423780" y="2957245"/>
                <a:ext cx="1944" cy="96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49" name="Line 121">
                <a:extLst>
                  <a:ext uri="{FF2B5EF4-FFF2-40B4-BE49-F238E27FC236}">
                    <a16:creationId xmlns:a16="http://schemas.microsoft.com/office/drawing/2014/main" id="{39AAA525-0460-A457-5E88-092A90E34C89}"/>
                  </a:ext>
                </a:extLst>
              </p:cNvPr>
              <p:cNvSpPr>
                <a:spLocks noChangeShapeType="1"/>
              </p:cNvSpPr>
              <p:nvPr/>
            </p:nvSpPr>
            <p:spPr bwMode="auto">
              <a:xfrm>
                <a:off x="6423780" y="2957245"/>
                <a:ext cx="1944"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50" name="Freeform 122">
                <a:extLst>
                  <a:ext uri="{FF2B5EF4-FFF2-40B4-BE49-F238E27FC236}">
                    <a16:creationId xmlns:a16="http://schemas.microsoft.com/office/drawing/2014/main" id="{27D0D2D0-3F36-92F0-BD4E-957F03E73064}"/>
                  </a:ext>
                </a:extLst>
              </p:cNvPr>
              <p:cNvSpPr>
                <a:spLocks/>
              </p:cNvSpPr>
              <p:nvPr/>
            </p:nvSpPr>
            <p:spPr bwMode="auto">
              <a:xfrm>
                <a:off x="6423780" y="2957245"/>
                <a:ext cx="1944" cy="96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51" name="Line 123">
                <a:extLst>
                  <a:ext uri="{FF2B5EF4-FFF2-40B4-BE49-F238E27FC236}">
                    <a16:creationId xmlns:a16="http://schemas.microsoft.com/office/drawing/2014/main" id="{D0AFCD20-4DD5-2084-A3F5-693BF290A193}"/>
                  </a:ext>
                </a:extLst>
              </p:cNvPr>
              <p:cNvSpPr>
                <a:spLocks noChangeShapeType="1"/>
              </p:cNvSpPr>
              <p:nvPr/>
            </p:nvSpPr>
            <p:spPr bwMode="auto">
              <a:xfrm>
                <a:off x="6423780" y="2957245"/>
                <a:ext cx="1944"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52" name="Line 124">
                <a:extLst>
                  <a:ext uri="{FF2B5EF4-FFF2-40B4-BE49-F238E27FC236}">
                    <a16:creationId xmlns:a16="http://schemas.microsoft.com/office/drawing/2014/main" id="{81803779-9044-27CE-4BF7-334F1C7A48BC}"/>
                  </a:ext>
                </a:extLst>
              </p:cNvPr>
              <p:cNvSpPr>
                <a:spLocks noChangeShapeType="1"/>
              </p:cNvSpPr>
              <p:nvPr/>
            </p:nvSpPr>
            <p:spPr bwMode="auto">
              <a:xfrm>
                <a:off x="6435448" y="2968774"/>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53" name="Line 125">
                <a:extLst>
                  <a:ext uri="{FF2B5EF4-FFF2-40B4-BE49-F238E27FC236}">
                    <a16:creationId xmlns:a16="http://schemas.microsoft.com/office/drawing/2014/main" id="{1BEEBB78-0D56-D804-FCC6-EFF9E236C28D}"/>
                  </a:ext>
                </a:extLst>
              </p:cNvPr>
              <p:cNvSpPr>
                <a:spLocks noChangeShapeType="1"/>
              </p:cNvSpPr>
              <p:nvPr/>
            </p:nvSpPr>
            <p:spPr bwMode="auto">
              <a:xfrm>
                <a:off x="6435448" y="2968774"/>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54" name="Line 126">
                <a:extLst>
                  <a:ext uri="{FF2B5EF4-FFF2-40B4-BE49-F238E27FC236}">
                    <a16:creationId xmlns:a16="http://schemas.microsoft.com/office/drawing/2014/main" id="{671C40E5-079A-7988-D00A-43E2C5C88F29}"/>
                  </a:ext>
                </a:extLst>
              </p:cNvPr>
              <p:cNvSpPr>
                <a:spLocks noChangeShapeType="1"/>
              </p:cNvSpPr>
              <p:nvPr/>
            </p:nvSpPr>
            <p:spPr bwMode="auto">
              <a:xfrm>
                <a:off x="6435448" y="2968774"/>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55" name="Line 127">
                <a:extLst>
                  <a:ext uri="{FF2B5EF4-FFF2-40B4-BE49-F238E27FC236}">
                    <a16:creationId xmlns:a16="http://schemas.microsoft.com/office/drawing/2014/main" id="{FB840C0D-9701-9F15-9ADF-BEAD4EB76CAB}"/>
                  </a:ext>
                </a:extLst>
              </p:cNvPr>
              <p:cNvSpPr>
                <a:spLocks noChangeShapeType="1"/>
              </p:cNvSpPr>
              <p:nvPr/>
            </p:nvSpPr>
            <p:spPr bwMode="auto">
              <a:xfrm>
                <a:off x="6435448" y="2968774"/>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56" name="Line 128">
                <a:extLst>
                  <a:ext uri="{FF2B5EF4-FFF2-40B4-BE49-F238E27FC236}">
                    <a16:creationId xmlns:a16="http://schemas.microsoft.com/office/drawing/2014/main" id="{C01C1BC1-0295-44FE-2FE2-1D245ABD0726}"/>
                  </a:ext>
                </a:extLst>
              </p:cNvPr>
              <p:cNvSpPr>
                <a:spLocks noChangeShapeType="1"/>
              </p:cNvSpPr>
              <p:nvPr/>
            </p:nvSpPr>
            <p:spPr bwMode="auto">
              <a:xfrm>
                <a:off x="6437393" y="2963010"/>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57" name="Line 129">
                <a:extLst>
                  <a:ext uri="{FF2B5EF4-FFF2-40B4-BE49-F238E27FC236}">
                    <a16:creationId xmlns:a16="http://schemas.microsoft.com/office/drawing/2014/main" id="{3BB31526-041B-66E2-0615-B69F4DC7E9B6}"/>
                  </a:ext>
                </a:extLst>
              </p:cNvPr>
              <p:cNvSpPr>
                <a:spLocks noChangeShapeType="1"/>
              </p:cNvSpPr>
              <p:nvPr/>
            </p:nvSpPr>
            <p:spPr bwMode="auto">
              <a:xfrm>
                <a:off x="6437393" y="2963010"/>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58" name="Line 130">
                <a:extLst>
                  <a:ext uri="{FF2B5EF4-FFF2-40B4-BE49-F238E27FC236}">
                    <a16:creationId xmlns:a16="http://schemas.microsoft.com/office/drawing/2014/main" id="{597EE9B6-B86A-2801-98BA-49BAADA43A91}"/>
                  </a:ext>
                </a:extLst>
              </p:cNvPr>
              <p:cNvSpPr>
                <a:spLocks noChangeShapeType="1"/>
              </p:cNvSpPr>
              <p:nvPr/>
            </p:nvSpPr>
            <p:spPr bwMode="auto">
              <a:xfrm>
                <a:off x="6437393" y="2963010"/>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59" name="Line 131">
                <a:extLst>
                  <a:ext uri="{FF2B5EF4-FFF2-40B4-BE49-F238E27FC236}">
                    <a16:creationId xmlns:a16="http://schemas.microsoft.com/office/drawing/2014/main" id="{7D7F9990-2895-36BF-95D7-698FA27C25EA}"/>
                  </a:ext>
                </a:extLst>
              </p:cNvPr>
              <p:cNvSpPr>
                <a:spLocks noChangeShapeType="1"/>
              </p:cNvSpPr>
              <p:nvPr/>
            </p:nvSpPr>
            <p:spPr bwMode="auto">
              <a:xfrm>
                <a:off x="6437393" y="2963010"/>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60" name="Line 132">
                <a:extLst>
                  <a:ext uri="{FF2B5EF4-FFF2-40B4-BE49-F238E27FC236}">
                    <a16:creationId xmlns:a16="http://schemas.microsoft.com/office/drawing/2014/main" id="{9A2B5927-5923-D7EF-5C29-04AFFE539769}"/>
                  </a:ext>
                </a:extLst>
              </p:cNvPr>
              <p:cNvSpPr>
                <a:spLocks noChangeShapeType="1"/>
              </p:cNvSpPr>
              <p:nvPr/>
            </p:nvSpPr>
            <p:spPr bwMode="auto">
              <a:xfrm>
                <a:off x="6454895" y="2982224"/>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61" name="Line 133">
                <a:extLst>
                  <a:ext uri="{FF2B5EF4-FFF2-40B4-BE49-F238E27FC236}">
                    <a16:creationId xmlns:a16="http://schemas.microsoft.com/office/drawing/2014/main" id="{0F9724EF-65B2-792E-B21A-163F670D5666}"/>
                  </a:ext>
                </a:extLst>
              </p:cNvPr>
              <p:cNvSpPr>
                <a:spLocks noChangeShapeType="1"/>
              </p:cNvSpPr>
              <p:nvPr/>
            </p:nvSpPr>
            <p:spPr bwMode="auto">
              <a:xfrm>
                <a:off x="6454895" y="2982224"/>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62" name="Line 134">
                <a:extLst>
                  <a:ext uri="{FF2B5EF4-FFF2-40B4-BE49-F238E27FC236}">
                    <a16:creationId xmlns:a16="http://schemas.microsoft.com/office/drawing/2014/main" id="{71089960-3AB0-5A85-73F4-FEE467F72903}"/>
                  </a:ext>
                </a:extLst>
              </p:cNvPr>
              <p:cNvSpPr>
                <a:spLocks noChangeShapeType="1"/>
              </p:cNvSpPr>
              <p:nvPr/>
            </p:nvSpPr>
            <p:spPr bwMode="auto">
              <a:xfrm>
                <a:off x="6454895" y="2982224"/>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63" name="Line 135">
                <a:extLst>
                  <a:ext uri="{FF2B5EF4-FFF2-40B4-BE49-F238E27FC236}">
                    <a16:creationId xmlns:a16="http://schemas.microsoft.com/office/drawing/2014/main" id="{35C1E382-C9E6-D7D2-4E1A-A37E18CB97CA}"/>
                  </a:ext>
                </a:extLst>
              </p:cNvPr>
              <p:cNvSpPr>
                <a:spLocks noChangeShapeType="1"/>
              </p:cNvSpPr>
              <p:nvPr/>
            </p:nvSpPr>
            <p:spPr bwMode="auto">
              <a:xfrm>
                <a:off x="6454895" y="2982224"/>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64" name="Freeform 136">
                <a:extLst>
                  <a:ext uri="{FF2B5EF4-FFF2-40B4-BE49-F238E27FC236}">
                    <a16:creationId xmlns:a16="http://schemas.microsoft.com/office/drawing/2014/main" id="{60D4B7CB-3513-FEC2-890E-281F086B49DD}"/>
                  </a:ext>
                </a:extLst>
              </p:cNvPr>
              <p:cNvSpPr>
                <a:spLocks/>
              </p:cNvSpPr>
              <p:nvPr/>
            </p:nvSpPr>
            <p:spPr bwMode="auto">
              <a:xfrm>
                <a:off x="6388775" y="2957245"/>
                <a:ext cx="1944" cy="96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65" name="Line 137">
                <a:extLst>
                  <a:ext uri="{FF2B5EF4-FFF2-40B4-BE49-F238E27FC236}">
                    <a16:creationId xmlns:a16="http://schemas.microsoft.com/office/drawing/2014/main" id="{4BDBFC4A-E3C2-FC49-320C-7C0F8210CAEA}"/>
                  </a:ext>
                </a:extLst>
              </p:cNvPr>
              <p:cNvSpPr>
                <a:spLocks noChangeShapeType="1"/>
              </p:cNvSpPr>
              <p:nvPr/>
            </p:nvSpPr>
            <p:spPr bwMode="auto">
              <a:xfrm>
                <a:off x="6388775" y="2957245"/>
                <a:ext cx="1944"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66" name="Freeform 138">
                <a:extLst>
                  <a:ext uri="{FF2B5EF4-FFF2-40B4-BE49-F238E27FC236}">
                    <a16:creationId xmlns:a16="http://schemas.microsoft.com/office/drawing/2014/main" id="{E774B9A1-82D7-7178-B7A6-F05D0FF239B8}"/>
                  </a:ext>
                </a:extLst>
              </p:cNvPr>
              <p:cNvSpPr>
                <a:spLocks/>
              </p:cNvSpPr>
              <p:nvPr/>
            </p:nvSpPr>
            <p:spPr bwMode="auto">
              <a:xfrm>
                <a:off x="6388775" y="2957245"/>
                <a:ext cx="1944" cy="96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67" name="Line 139">
                <a:extLst>
                  <a:ext uri="{FF2B5EF4-FFF2-40B4-BE49-F238E27FC236}">
                    <a16:creationId xmlns:a16="http://schemas.microsoft.com/office/drawing/2014/main" id="{F27FC1E8-8C54-2A40-8EE4-120DA26A0AB4}"/>
                  </a:ext>
                </a:extLst>
              </p:cNvPr>
              <p:cNvSpPr>
                <a:spLocks noChangeShapeType="1"/>
              </p:cNvSpPr>
              <p:nvPr/>
            </p:nvSpPr>
            <p:spPr bwMode="auto">
              <a:xfrm>
                <a:off x="6388775" y="2957245"/>
                <a:ext cx="1944"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68" name="Freeform 140">
                <a:extLst>
                  <a:ext uri="{FF2B5EF4-FFF2-40B4-BE49-F238E27FC236}">
                    <a16:creationId xmlns:a16="http://schemas.microsoft.com/office/drawing/2014/main" id="{A9056480-D9B1-E225-7348-644FA259C203}"/>
                  </a:ext>
                </a:extLst>
              </p:cNvPr>
              <p:cNvSpPr>
                <a:spLocks/>
              </p:cNvSpPr>
              <p:nvPr/>
            </p:nvSpPr>
            <p:spPr bwMode="auto">
              <a:xfrm>
                <a:off x="6388775" y="2959167"/>
                <a:ext cx="1944" cy="96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69" name="Line 141">
                <a:extLst>
                  <a:ext uri="{FF2B5EF4-FFF2-40B4-BE49-F238E27FC236}">
                    <a16:creationId xmlns:a16="http://schemas.microsoft.com/office/drawing/2014/main" id="{6DBA065C-6FE4-F17C-9D50-241FD58CA09D}"/>
                  </a:ext>
                </a:extLst>
              </p:cNvPr>
              <p:cNvSpPr>
                <a:spLocks noChangeShapeType="1"/>
              </p:cNvSpPr>
              <p:nvPr/>
            </p:nvSpPr>
            <p:spPr bwMode="auto">
              <a:xfrm>
                <a:off x="6388775" y="2959167"/>
                <a:ext cx="1944"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70" name="Freeform 142">
                <a:extLst>
                  <a:ext uri="{FF2B5EF4-FFF2-40B4-BE49-F238E27FC236}">
                    <a16:creationId xmlns:a16="http://schemas.microsoft.com/office/drawing/2014/main" id="{39C0CD87-7BD5-8667-3BAA-F7F683249A1B}"/>
                  </a:ext>
                </a:extLst>
              </p:cNvPr>
              <p:cNvSpPr>
                <a:spLocks/>
              </p:cNvSpPr>
              <p:nvPr/>
            </p:nvSpPr>
            <p:spPr bwMode="auto">
              <a:xfrm>
                <a:off x="6388775" y="2959167"/>
                <a:ext cx="1944" cy="96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71" name="Line 143">
                <a:extLst>
                  <a:ext uri="{FF2B5EF4-FFF2-40B4-BE49-F238E27FC236}">
                    <a16:creationId xmlns:a16="http://schemas.microsoft.com/office/drawing/2014/main" id="{FA0E9B48-26F5-4FB2-DB8F-DCD384586D09}"/>
                  </a:ext>
                </a:extLst>
              </p:cNvPr>
              <p:cNvSpPr>
                <a:spLocks noChangeShapeType="1"/>
              </p:cNvSpPr>
              <p:nvPr/>
            </p:nvSpPr>
            <p:spPr bwMode="auto">
              <a:xfrm>
                <a:off x="6388775" y="2959167"/>
                <a:ext cx="1944"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72" name="Freeform 144">
                <a:extLst>
                  <a:ext uri="{FF2B5EF4-FFF2-40B4-BE49-F238E27FC236}">
                    <a16:creationId xmlns:a16="http://schemas.microsoft.com/office/drawing/2014/main" id="{C592902C-6E81-E297-AFA7-DE1B90835D73}"/>
                  </a:ext>
                </a:extLst>
              </p:cNvPr>
              <p:cNvSpPr>
                <a:spLocks/>
              </p:cNvSpPr>
              <p:nvPr/>
            </p:nvSpPr>
            <p:spPr bwMode="auto">
              <a:xfrm>
                <a:off x="6421835" y="2964931"/>
                <a:ext cx="1944" cy="96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73" name="Line 145">
                <a:extLst>
                  <a:ext uri="{FF2B5EF4-FFF2-40B4-BE49-F238E27FC236}">
                    <a16:creationId xmlns:a16="http://schemas.microsoft.com/office/drawing/2014/main" id="{E48C8EA4-15F8-D330-D71B-7E373FA6329F}"/>
                  </a:ext>
                </a:extLst>
              </p:cNvPr>
              <p:cNvSpPr>
                <a:spLocks noChangeShapeType="1"/>
              </p:cNvSpPr>
              <p:nvPr/>
            </p:nvSpPr>
            <p:spPr bwMode="auto">
              <a:xfrm>
                <a:off x="6421835" y="2964931"/>
                <a:ext cx="1944"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74" name="Freeform 146">
                <a:extLst>
                  <a:ext uri="{FF2B5EF4-FFF2-40B4-BE49-F238E27FC236}">
                    <a16:creationId xmlns:a16="http://schemas.microsoft.com/office/drawing/2014/main" id="{6D93FF9B-5E42-82D9-12BB-A43B7AE62C94}"/>
                  </a:ext>
                </a:extLst>
              </p:cNvPr>
              <p:cNvSpPr>
                <a:spLocks/>
              </p:cNvSpPr>
              <p:nvPr/>
            </p:nvSpPr>
            <p:spPr bwMode="auto">
              <a:xfrm>
                <a:off x="6421835" y="2964931"/>
                <a:ext cx="1944" cy="96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75" name="Line 147">
                <a:extLst>
                  <a:ext uri="{FF2B5EF4-FFF2-40B4-BE49-F238E27FC236}">
                    <a16:creationId xmlns:a16="http://schemas.microsoft.com/office/drawing/2014/main" id="{E375E189-CB84-E426-7082-D7909BCDCF3B}"/>
                  </a:ext>
                </a:extLst>
              </p:cNvPr>
              <p:cNvSpPr>
                <a:spLocks noChangeShapeType="1"/>
              </p:cNvSpPr>
              <p:nvPr/>
            </p:nvSpPr>
            <p:spPr bwMode="auto">
              <a:xfrm>
                <a:off x="6421835" y="2964931"/>
                <a:ext cx="1944"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76" name="Line 148">
                <a:extLst>
                  <a:ext uri="{FF2B5EF4-FFF2-40B4-BE49-F238E27FC236}">
                    <a16:creationId xmlns:a16="http://schemas.microsoft.com/office/drawing/2014/main" id="{C7909DC6-BC15-3F20-2F29-C3AF58B11E56}"/>
                  </a:ext>
                </a:extLst>
              </p:cNvPr>
              <p:cNvSpPr>
                <a:spLocks noChangeShapeType="1"/>
              </p:cNvSpPr>
              <p:nvPr/>
            </p:nvSpPr>
            <p:spPr bwMode="auto">
              <a:xfrm>
                <a:off x="6382941" y="2963010"/>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77" name="Line 149">
                <a:extLst>
                  <a:ext uri="{FF2B5EF4-FFF2-40B4-BE49-F238E27FC236}">
                    <a16:creationId xmlns:a16="http://schemas.microsoft.com/office/drawing/2014/main" id="{BE4C59E6-0C22-E9F9-264E-7B268F527E9C}"/>
                  </a:ext>
                </a:extLst>
              </p:cNvPr>
              <p:cNvSpPr>
                <a:spLocks noChangeShapeType="1"/>
              </p:cNvSpPr>
              <p:nvPr/>
            </p:nvSpPr>
            <p:spPr bwMode="auto">
              <a:xfrm>
                <a:off x="6382941" y="2963010"/>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78" name="Line 150">
                <a:extLst>
                  <a:ext uri="{FF2B5EF4-FFF2-40B4-BE49-F238E27FC236}">
                    <a16:creationId xmlns:a16="http://schemas.microsoft.com/office/drawing/2014/main" id="{FA356DA5-CFE1-5149-997B-1F90303182FE}"/>
                  </a:ext>
                </a:extLst>
              </p:cNvPr>
              <p:cNvSpPr>
                <a:spLocks noChangeShapeType="1"/>
              </p:cNvSpPr>
              <p:nvPr/>
            </p:nvSpPr>
            <p:spPr bwMode="auto">
              <a:xfrm>
                <a:off x="6382941" y="2963010"/>
                <a:ext cx="973" cy="961"/>
              </a:xfrm>
              <a:prstGeom prst="line">
                <a:avLst/>
              </a:pr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79" name="Line 151">
                <a:extLst>
                  <a:ext uri="{FF2B5EF4-FFF2-40B4-BE49-F238E27FC236}">
                    <a16:creationId xmlns:a16="http://schemas.microsoft.com/office/drawing/2014/main" id="{C1F5BCEC-5A64-C73F-F73E-6218748E63A9}"/>
                  </a:ext>
                </a:extLst>
              </p:cNvPr>
              <p:cNvSpPr>
                <a:spLocks noChangeShapeType="1"/>
              </p:cNvSpPr>
              <p:nvPr/>
            </p:nvSpPr>
            <p:spPr bwMode="auto">
              <a:xfrm>
                <a:off x="6382941" y="2963010"/>
                <a:ext cx="973"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80" name="Freeform 152">
                <a:extLst>
                  <a:ext uri="{FF2B5EF4-FFF2-40B4-BE49-F238E27FC236}">
                    <a16:creationId xmlns:a16="http://schemas.microsoft.com/office/drawing/2014/main" id="{883DED20-7FF8-13BB-E012-7181B8B8E1A1}"/>
                  </a:ext>
                </a:extLst>
              </p:cNvPr>
              <p:cNvSpPr>
                <a:spLocks/>
              </p:cNvSpPr>
              <p:nvPr/>
            </p:nvSpPr>
            <p:spPr bwMode="auto">
              <a:xfrm>
                <a:off x="6124297" y="2982224"/>
                <a:ext cx="973" cy="1921"/>
              </a:xfrm>
              <a:custGeom>
                <a:avLst/>
                <a:gdLst/>
                <a:ahLst/>
                <a:cxnLst>
                  <a:cxn ang="0">
                    <a:pos x="0" y="0"/>
                  </a:cxn>
                  <a:cxn ang="0">
                    <a:pos x="0" y="2"/>
                  </a:cxn>
                  <a:cxn ang="0">
                    <a:pos x="0" y="0"/>
                  </a:cxn>
                </a:cxnLst>
                <a:rect l="0" t="0" r="r" b="b"/>
                <a:pathLst>
                  <a:path h="2">
                    <a:moveTo>
                      <a:pt x="0" y="0"/>
                    </a:move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81" name="Line 153">
                <a:extLst>
                  <a:ext uri="{FF2B5EF4-FFF2-40B4-BE49-F238E27FC236}">
                    <a16:creationId xmlns:a16="http://schemas.microsoft.com/office/drawing/2014/main" id="{67B0C872-D890-5AC5-0377-285F31E37076}"/>
                  </a:ext>
                </a:extLst>
              </p:cNvPr>
              <p:cNvSpPr>
                <a:spLocks noChangeShapeType="1"/>
              </p:cNvSpPr>
              <p:nvPr/>
            </p:nvSpPr>
            <p:spPr bwMode="auto">
              <a:xfrm>
                <a:off x="6124297" y="2982224"/>
                <a:ext cx="973"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82" name="Freeform 154">
                <a:extLst>
                  <a:ext uri="{FF2B5EF4-FFF2-40B4-BE49-F238E27FC236}">
                    <a16:creationId xmlns:a16="http://schemas.microsoft.com/office/drawing/2014/main" id="{8123C469-63D1-7E1B-E7E8-C7E6B99C2A9D}"/>
                  </a:ext>
                </a:extLst>
              </p:cNvPr>
              <p:cNvSpPr>
                <a:spLocks/>
              </p:cNvSpPr>
              <p:nvPr/>
            </p:nvSpPr>
            <p:spPr bwMode="auto">
              <a:xfrm>
                <a:off x="6124297" y="2982224"/>
                <a:ext cx="973" cy="1921"/>
              </a:xfrm>
              <a:custGeom>
                <a:avLst/>
                <a:gdLst/>
                <a:ahLst/>
                <a:cxnLst>
                  <a:cxn ang="0">
                    <a:pos x="0" y="0"/>
                  </a:cxn>
                  <a:cxn ang="0">
                    <a:pos x="0" y="2"/>
                  </a:cxn>
                  <a:cxn ang="0">
                    <a:pos x="0" y="0"/>
                  </a:cxn>
                </a:cxnLst>
                <a:rect l="0" t="0" r="r" b="b"/>
                <a:pathLst>
                  <a:path h="2">
                    <a:moveTo>
                      <a:pt x="0" y="0"/>
                    </a:move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83" name="Line 155">
                <a:extLst>
                  <a:ext uri="{FF2B5EF4-FFF2-40B4-BE49-F238E27FC236}">
                    <a16:creationId xmlns:a16="http://schemas.microsoft.com/office/drawing/2014/main" id="{C3D54E6B-77A9-F3D5-CE65-4E7A2DB5C00A}"/>
                  </a:ext>
                </a:extLst>
              </p:cNvPr>
              <p:cNvSpPr>
                <a:spLocks noChangeShapeType="1"/>
              </p:cNvSpPr>
              <p:nvPr/>
            </p:nvSpPr>
            <p:spPr bwMode="auto">
              <a:xfrm>
                <a:off x="6124297" y="2982224"/>
                <a:ext cx="973"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84" name="Freeform 156">
                <a:extLst>
                  <a:ext uri="{FF2B5EF4-FFF2-40B4-BE49-F238E27FC236}">
                    <a16:creationId xmlns:a16="http://schemas.microsoft.com/office/drawing/2014/main" id="{3F9887B3-FAF3-0165-5A93-D293BA2CE925}"/>
                  </a:ext>
                </a:extLst>
              </p:cNvPr>
              <p:cNvSpPr>
                <a:spLocks/>
              </p:cNvSpPr>
              <p:nvPr/>
            </p:nvSpPr>
            <p:spPr bwMode="auto">
              <a:xfrm>
                <a:off x="6124297" y="2984145"/>
                <a:ext cx="973" cy="1921"/>
              </a:xfrm>
              <a:custGeom>
                <a:avLst/>
                <a:gdLst/>
                <a:ahLst/>
                <a:cxnLst>
                  <a:cxn ang="0">
                    <a:pos x="0" y="0"/>
                  </a:cxn>
                  <a:cxn ang="0">
                    <a:pos x="0" y="2"/>
                  </a:cxn>
                  <a:cxn ang="0">
                    <a:pos x="0" y="0"/>
                  </a:cxn>
                </a:cxnLst>
                <a:rect l="0" t="0" r="r" b="b"/>
                <a:pathLst>
                  <a:path h="2">
                    <a:moveTo>
                      <a:pt x="0" y="0"/>
                    </a:move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85" name="Line 157">
                <a:extLst>
                  <a:ext uri="{FF2B5EF4-FFF2-40B4-BE49-F238E27FC236}">
                    <a16:creationId xmlns:a16="http://schemas.microsoft.com/office/drawing/2014/main" id="{E0B8C15C-1F3D-8147-94FB-421C74F6EED7}"/>
                  </a:ext>
                </a:extLst>
              </p:cNvPr>
              <p:cNvSpPr>
                <a:spLocks noChangeShapeType="1"/>
              </p:cNvSpPr>
              <p:nvPr/>
            </p:nvSpPr>
            <p:spPr bwMode="auto">
              <a:xfrm>
                <a:off x="6124297" y="2984145"/>
                <a:ext cx="973"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86" name="Freeform 158">
                <a:extLst>
                  <a:ext uri="{FF2B5EF4-FFF2-40B4-BE49-F238E27FC236}">
                    <a16:creationId xmlns:a16="http://schemas.microsoft.com/office/drawing/2014/main" id="{B7CE11ED-6EB1-93BB-8FF1-D68089FCF94D}"/>
                  </a:ext>
                </a:extLst>
              </p:cNvPr>
              <p:cNvSpPr>
                <a:spLocks/>
              </p:cNvSpPr>
              <p:nvPr/>
            </p:nvSpPr>
            <p:spPr bwMode="auto">
              <a:xfrm>
                <a:off x="6124297" y="2984145"/>
                <a:ext cx="973" cy="1921"/>
              </a:xfrm>
              <a:custGeom>
                <a:avLst/>
                <a:gdLst/>
                <a:ahLst/>
                <a:cxnLst>
                  <a:cxn ang="0">
                    <a:pos x="0" y="0"/>
                  </a:cxn>
                  <a:cxn ang="0">
                    <a:pos x="0" y="2"/>
                  </a:cxn>
                  <a:cxn ang="0">
                    <a:pos x="0" y="0"/>
                  </a:cxn>
                </a:cxnLst>
                <a:rect l="0" t="0" r="r" b="b"/>
                <a:pathLst>
                  <a:path h="2">
                    <a:moveTo>
                      <a:pt x="0" y="0"/>
                    </a:move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87" name="Line 159">
                <a:extLst>
                  <a:ext uri="{FF2B5EF4-FFF2-40B4-BE49-F238E27FC236}">
                    <a16:creationId xmlns:a16="http://schemas.microsoft.com/office/drawing/2014/main" id="{376E3D3E-C1CC-E31F-8277-6A0A846777CD}"/>
                  </a:ext>
                </a:extLst>
              </p:cNvPr>
              <p:cNvSpPr>
                <a:spLocks noChangeShapeType="1"/>
              </p:cNvSpPr>
              <p:nvPr/>
            </p:nvSpPr>
            <p:spPr bwMode="auto">
              <a:xfrm>
                <a:off x="6124297" y="2984145"/>
                <a:ext cx="973"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88" name="Freeform 160">
                <a:extLst>
                  <a:ext uri="{FF2B5EF4-FFF2-40B4-BE49-F238E27FC236}">
                    <a16:creationId xmlns:a16="http://schemas.microsoft.com/office/drawing/2014/main" id="{DE95CDAB-5935-1562-B302-939ECB0270EA}"/>
                  </a:ext>
                </a:extLst>
              </p:cNvPr>
              <p:cNvSpPr>
                <a:spLocks/>
              </p:cNvSpPr>
              <p:nvPr/>
            </p:nvSpPr>
            <p:spPr bwMode="auto">
              <a:xfrm>
                <a:off x="6141799" y="2970695"/>
                <a:ext cx="973" cy="1921"/>
              </a:xfrm>
              <a:custGeom>
                <a:avLst/>
                <a:gdLst/>
                <a:ahLst/>
                <a:cxnLst>
                  <a:cxn ang="0">
                    <a:pos x="0" y="0"/>
                  </a:cxn>
                  <a:cxn ang="0">
                    <a:pos x="0" y="2"/>
                  </a:cxn>
                  <a:cxn ang="0">
                    <a:pos x="0" y="0"/>
                  </a:cxn>
                </a:cxnLst>
                <a:rect l="0" t="0" r="r" b="b"/>
                <a:pathLst>
                  <a:path h="2">
                    <a:moveTo>
                      <a:pt x="0" y="0"/>
                    </a:move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89" name="Line 161">
                <a:extLst>
                  <a:ext uri="{FF2B5EF4-FFF2-40B4-BE49-F238E27FC236}">
                    <a16:creationId xmlns:a16="http://schemas.microsoft.com/office/drawing/2014/main" id="{7A9EE686-28EF-7006-7578-F7B43013D6F6}"/>
                  </a:ext>
                </a:extLst>
              </p:cNvPr>
              <p:cNvSpPr>
                <a:spLocks noChangeShapeType="1"/>
              </p:cNvSpPr>
              <p:nvPr/>
            </p:nvSpPr>
            <p:spPr bwMode="auto">
              <a:xfrm>
                <a:off x="6141799" y="2970695"/>
                <a:ext cx="973"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90" name="Freeform 162">
                <a:extLst>
                  <a:ext uri="{FF2B5EF4-FFF2-40B4-BE49-F238E27FC236}">
                    <a16:creationId xmlns:a16="http://schemas.microsoft.com/office/drawing/2014/main" id="{B57F5299-6E5E-108E-DCF2-D047B82DF59D}"/>
                  </a:ext>
                </a:extLst>
              </p:cNvPr>
              <p:cNvSpPr>
                <a:spLocks/>
              </p:cNvSpPr>
              <p:nvPr/>
            </p:nvSpPr>
            <p:spPr bwMode="auto">
              <a:xfrm>
                <a:off x="6141799" y="2970695"/>
                <a:ext cx="973" cy="1921"/>
              </a:xfrm>
              <a:custGeom>
                <a:avLst/>
                <a:gdLst/>
                <a:ahLst/>
                <a:cxnLst>
                  <a:cxn ang="0">
                    <a:pos x="0" y="0"/>
                  </a:cxn>
                  <a:cxn ang="0">
                    <a:pos x="0" y="2"/>
                  </a:cxn>
                  <a:cxn ang="0">
                    <a:pos x="0" y="0"/>
                  </a:cxn>
                </a:cxnLst>
                <a:rect l="0" t="0" r="r" b="b"/>
                <a:pathLst>
                  <a:path h="2">
                    <a:moveTo>
                      <a:pt x="0" y="0"/>
                    </a:move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91" name="Line 163">
                <a:extLst>
                  <a:ext uri="{FF2B5EF4-FFF2-40B4-BE49-F238E27FC236}">
                    <a16:creationId xmlns:a16="http://schemas.microsoft.com/office/drawing/2014/main" id="{D66C3510-A567-C5B5-1A5A-B8CFF9DA0757}"/>
                  </a:ext>
                </a:extLst>
              </p:cNvPr>
              <p:cNvSpPr>
                <a:spLocks noChangeShapeType="1"/>
              </p:cNvSpPr>
              <p:nvPr/>
            </p:nvSpPr>
            <p:spPr bwMode="auto">
              <a:xfrm>
                <a:off x="6141799" y="2970695"/>
                <a:ext cx="973"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92" name="Freeform 164">
                <a:extLst>
                  <a:ext uri="{FF2B5EF4-FFF2-40B4-BE49-F238E27FC236}">
                    <a16:creationId xmlns:a16="http://schemas.microsoft.com/office/drawing/2014/main" id="{AB34B723-577D-C0AC-915F-D3DF88552237}"/>
                  </a:ext>
                </a:extLst>
              </p:cNvPr>
              <p:cNvSpPr>
                <a:spLocks/>
              </p:cNvSpPr>
              <p:nvPr/>
            </p:nvSpPr>
            <p:spPr bwMode="auto">
              <a:xfrm>
                <a:off x="6145688" y="2974538"/>
                <a:ext cx="973" cy="1921"/>
              </a:xfrm>
              <a:custGeom>
                <a:avLst/>
                <a:gdLst/>
                <a:ahLst/>
                <a:cxnLst>
                  <a:cxn ang="0">
                    <a:pos x="0" y="0"/>
                  </a:cxn>
                  <a:cxn ang="0">
                    <a:pos x="0" y="2"/>
                  </a:cxn>
                  <a:cxn ang="0">
                    <a:pos x="0" y="0"/>
                  </a:cxn>
                </a:cxnLst>
                <a:rect l="0" t="0" r="r" b="b"/>
                <a:pathLst>
                  <a:path h="2">
                    <a:moveTo>
                      <a:pt x="0" y="0"/>
                    </a:move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93" name="Line 165">
                <a:extLst>
                  <a:ext uri="{FF2B5EF4-FFF2-40B4-BE49-F238E27FC236}">
                    <a16:creationId xmlns:a16="http://schemas.microsoft.com/office/drawing/2014/main" id="{49944B3A-11E9-304B-F9FA-7CF8C20AB312}"/>
                  </a:ext>
                </a:extLst>
              </p:cNvPr>
              <p:cNvSpPr>
                <a:spLocks noChangeShapeType="1"/>
              </p:cNvSpPr>
              <p:nvPr/>
            </p:nvSpPr>
            <p:spPr bwMode="auto">
              <a:xfrm>
                <a:off x="6145688" y="2974538"/>
                <a:ext cx="973"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94" name="Freeform 166">
                <a:extLst>
                  <a:ext uri="{FF2B5EF4-FFF2-40B4-BE49-F238E27FC236}">
                    <a16:creationId xmlns:a16="http://schemas.microsoft.com/office/drawing/2014/main" id="{3247A0A2-AC2F-D4B1-B409-FC857635A745}"/>
                  </a:ext>
                </a:extLst>
              </p:cNvPr>
              <p:cNvSpPr>
                <a:spLocks/>
              </p:cNvSpPr>
              <p:nvPr/>
            </p:nvSpPr>
            <p:spPr bwMode="auto">
              <a:xfrm>
                <a:off x="6145688" y="2974538"/>
                <a:ext cx="973" cy="1921"/>
              </a:xfrm>
              <a:custGeom>
                <a:avLst/>
                <a:gdLst/>
                <a:ahLst/>
                <a:cxnLst>
                  <a:cxn ang="0">
                    <a:pos x="0" y="0"/>
                  </a:cxn>
                  <a:cxn ang="0">
                    <a:pos x="0" y="2"/>
                  </a:cxn>
                  <a:cxn ang="0">
                    <a:pos x="0" y="0"/>
                  </a:cxn>
                </a:cxnLst>
                <a:rect l="0" t="0" r="r" b="b"/>
                <a:pathLst>
                  <a:path h="2">
                    <a:moveTo>
                      <a:pt x="0" y="0"/>
                    </a:move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95" name="Line 167">
                <a:extLst>
                  <a:ext uri="{FF2B5EF4-FFF2-40B4-BE49-F238E27FC236}">
                    <a16:creationId xmlns:a16="http://schemas.microsoft.com/office/drawing/2014/main" id="{363F4A23-DAF5-D682-A4A5-12C94F52F4D9}"/>
                  </a:ext>
                </a:extLst>
              </p:cNvPr>
              <p:cNvSpPr>
                <a:spLocks noChangeShapeType="1"/>
              </p:cNvSpPr>
              <p:nvPr/>
            </p:nvSpPr>
            <p:spPr bwMode="auto">
              <a:xfrm>
                <a:off x="6145688" y="2974538"/>
                <a:ext cx="973"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96" name="Freeform 168">
                <a:extLst>
                  <a:ext uri="{FF2B5EF4-FFF2-40B4-BE49-F238E27FC236}">
                    <a16:creationId xmlns:a16="http://schemas.microsoft.com/office/drawing/2014/main" id="{34B1EF61-26FA-C7E8-AFF7-2D8B8F72CFFA}"/>
                  </a:ext>
                </a:extLst>
              </p:cNvPr>
              <p:cNvSpPr>
                <a:spLocks/>
              </p:cNvSpPr>
              <p:nvPr/>
            </p:nvSpPr>
            <p:spPr bwMode="auto">
              <a:xfrm>
                <a:off x="6229310" y="2945717"/>
                <a:ext cx="1944" cy="96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97" name="Line 169">
                <a:extLst>
                  <a:ext uri="{FF2B5EF4-FFF2-40B4-BE49-F238E27FC236}">
                    <a16:creationId xmlns:a16="http://schemas.microsoft.com/office/drawing/2014/main" id="{AE6D83F7-535A-6306-4919-E5A69E7E327E}"/>
                  </a:ext>
                </a:extLst>
              </p:cNvPr>
              <p:cNvSpPr>
                <a:spLocks noChangeShapeType="1"/>
              </p:cNvSpPr>
              <p:nvPr/>
            </p:nvSpPr>
            <p:spPr bwMode="auto">
              <a:xfrm>
                <a:off x="6229310" y="2945717"/>
                <a:ext cx="1944"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98" name="Freeform 170">
                <a:extLst>
                  <a:ext uri="{FF2B5EF4-FFF2-40B4-BE49-F238E27FC236}">
                    <a16:creationId xmlns:a16="http://schemas.microsoft.com/office/drawing/2014/main" id="{EC4D0FB1-8C03-3615-742E-21E6F4EA4DC3}"/>
                  </a:ext>
                </a:extLst>
              </p:cNvPr>
              <p:cNvSpPr>
                <a:spLocks/>
              </p:cNvSpPr>
              <p:nvPr/>
            </p:nvSpPr>
            <p:spPr bwMode="auto">
              <a:xfrm>
                <a:off x="6229310" y="2945717"/>
                <a:ext cx="1944" cy="96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199" name="Line 171">
                <a:extLst>
                  <a:ext uri="{FF2B5EF4-FFF2-40B4-BE49-F238E27FC236}">
                    <a16:creationId xmlns:a16="http://schemas.microsoft.com/office/drawing/2014/main" id="{AA96B585-B096-4E1C-FF9C-F3B3C3ADDF82}"/>
                  </a:ext>
                </a:extLst>
              </p:cNvPr>
              <p:cNvSpPr>
                <a:spLocks noChangeShapeType="1"/>
              </p:cNvSpPr>
              <p:nvPr/>
            </p:nvSpPr>
            <p:spPr bwMode="auto">
              <a:xfrm>
                <a:off x="6229310" y="2945717"/>
                <a:ext cx="1944" cy="96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00" name="Freeform 172">
                <a:extLst>
                  <a:ext uri="{FF2B5EF4-FFF2-40B4-BE49-F238E27FC236}">
                    <a16:creationId xmlns:a16="http://schemas.microsoft.com/office/drawing/2014/main" id="{6785C990-0320-34BB-A646-52D1910F4211}"/>
                  </a:ext>
                </a:extLst>
              </p:cNvPr>
              <p:cNvSpPr>
                <a:spLocks/>
              </p:cNvSpPr>
              <p:nvPr/>
            </p:nvSpPr>
            <p:spPr bwMode="auto">
              <a:xfrm>
                <a:off x="5103332" y="3472173"/>
                <a:ext cx="110848" cy="84541"/>
              </a:xfrm>
              <a:custGeom>
                <a:avLst/>
                <a:gdLst/>
                <a:ahLst/>
                <a:cxnLst>
                  <a:cxn ang="0">
                    <a:pos x="114" y="58"/>
                  </a:cxn>
                  <a:cxn ang="0">
                    <a:pos x="108" y="58"/>
                  </a:cxn>
                  <a:cxn ang="0">
                    <a:pos x="106" y="60"/>
                  </a:cxn>
                  <a:cxn ang="0">
                    <a:pos x="102" y="58"/>
                  </a:cxn>
                  <a:cxn ang="0">
                    <a:pos x="96" y="56"/>
                  </a:cxn>
                  <a:cxn ang="0">
                    <a:pos x="94" y="52"/>
                  </a:cxn>
                  <a:cxn ang="0">
                    <a:pos x="94" y="48"/>
                  </a:cxn>
                  <a:cxn ang="0">
                    <a:pos x="94" y="42"/>
                  </a:cxn>
                  <a:cxn ang="0">
                    <a:pos x="96" y="38"/>
                  </a:cxn>
                  <a:cxn ang="0">
                    <a:pos x="94" y="34"/>
                  </a:cxn>
                  <a:cxn ang="0">
                    <a:pos x="94" y="30"/>
                  </a:cxn>
                  <a:cxn ang="0">
                    <a:pos x="92" y="24"/>
                  </a:cxn>
                  <a:cxn ang="0">
                    <a:pos x="84" y="14"/>
                  </a:cxn>
                  <a:cxn ang="0">
                    <a:pos x="78" y="2"/>
                  </a:cxn>
                  <a:cxn ang="0">
                    <a:pos x="72" y="0"/>
                  </a:cxn>
                  <a:cxn ang="0">
                    <a:pos x="66" y="6"/>
                  </a:cxn>
                  <a:cxn ang="0">
                    <a:pos x="60" y="8"/>
                  </a:cxn>
                  <a:cxn ang="0">
                    <a:pos x="56" y="12"/>
                  </a:cxn>
                  <a:cxn ang="0">
                    <a:pos x="50" y="10"/>
                  </a:cxn>
                  <a:cxn ang="0">
                    <a:pos x="44" y="8"/>
                  </a:cxn>
                  <a:cxn ang="0">
                    <a:pos x="34" y="6"/>
                  </a:cxn>
                  <a:cxn ang="0">
                    <a:pos x="30" y="2"/>
                  </a:cxn>
                  <a:cxn ang="0">
                    <a:pos x="26" y="18"/>
                  </a:cxn>
                  <a:cxn ang="0">
                    <a:pos x="18" y="26"/>
                  </a:cxn>
                  <a:cxn ang="0">
                    <a:pos x="16" y="40"/>
                  </a:cxn>
                  <a:cxn ang="0">
                    <a:pos x="10" y="48"/>
                  </a:cxn>
                  <a:cxn ang="0">
                    <a:pos x="4" y="52"/>
                  </a:cxn>
                  <a:cxn ang="0">
                    <a:pos x="4" y="56"/>
                  </a:cxn>
                  <a:cxn ang="0">
                    <a:pos x="8" y="62"/>
                  </a:cxn>
                  <a:cxn ang="0">
                    <a:pos x="10" y="66"/>
                  </a:cxn>
                  <a:cxn ang="0">
                    <a:pos x="14" y="70"/>
                  </a:cxn>
                  <a:cxn ang="0">
                    <a:pos x="18" y="70"/>
                  </a:cxn>
                  <a:cxn ang="0">
                    <a:pos x="20" y="66"/>
                  </a:cxn>
                  <a:cxn ang="0">
                    <a:pos x="28" y="70"/>
                  </a:cxn>
                  <a:cxn ang="0">
                    <a:pos x="28" y="72"/>
                  </a:cxn>
                  <a:cxn ang="0">
                    <a:pos x="24" y="74"/>
                  </a:cxn>
                  <a:cxn ang="0">
                    <a:pos x="30" y="80"/>
                  </a:cxn>
                  <a:cxn ang="0">
                    <a:pos x="36" y="82"/>
                  </a:cxn>
                  <a:cxn ang="0">
                    <a:pos x="38" y="84"/>
                  </a:cxn>
                  <a:cxn ang="0">
                    <a:pos x="36" y="88"/>
                  </a:cxn>
                  <a:cxn ang="0">
                    <a:pos x="42" y="88"/>
                  </a:cxn>
                  <a:cxn ang="0">
                    <a:pos x="48" y="86"/>
                  </a:cxn>
                  <a:cxn ang="0">
                    <a:pos x="54" y="88"/>
                  </a:cxn>
                  <a:cxn ang="0">
                    <a:pos x="64" y="86"/>
                  </a:cxn>
                  <a:cxn ang="0">
                    <a:pos x="72" y="80"/>
                  </a:cxn>
                  <a:cxn ang="0">
                    <a:pos x="80" y="82"/>
                  </a:cxn>
                  <a:cxn ang="0">
                    <a:pos x="86" y="82"/>
                  </a:cxn>
                  <a:cxn ang="0">
                    <a:pos x="94" y="80"/>
                  </a:cxn>
                  <a:cxn ang="0">
                    <a:pos x="104" y="82"/>
                  </a:cxn>
                  <a:cxn ang="0">
                    <a:pos x="104" y="78"/>
                  </a:cxn>
                  <a:cxn ang="0">
                    <a:pos x="106" y="74"/>
                  </a:cxn>
                  <a:cxn ang="0">
                    <a:pos x="110" y="74"/>
                  </a:cxn>
                  <a:cxn ang="0">
                    <a:pos x="112" y="70"/>
                  </a:cxn>
                  <a:cxn ang="0">
                    <a:pos x="114" y="62"/>
                  </a:cxn>
                  <a:cxn ang="0">
                    <a:pos x="112" y="60"/>
                  </a:cxn>
                  <a:cxn ang="0">
                    <a:pos x="114" y="58"/>
                  </a:cxn>
                </a:cxnLst>
                <a:rect l="0" t="0" r="r" b="b"/>
                <a:pathLst>
                  <a:path w="114" h="88">
                    <a:moveTo>
                      <a:pt x="114" y="58"/>
                    </a:moveTo>
                    <a:lnTo>
                      <a:pt x="114" y="58"/>
                    </a:lnTo>
                    <a:lnTo>
                      <a:pt x="112" y="58"/>
                    </a:lnTo>
                    <a:lnTo>
                      <a:pt x="108" y="58"/>
                    </a:lnTo>
                    <a:lnTo>
                      <a:pt x="106" y="58"/>
                    </a:lnTo>
                    <a:lnTo>
                      <a:pt x="106" y="60"/>
                    </a:lnTo>
                    <a:lnTo>
                      <a:pt x="104" y="60"/>
                    </a:lnTo>
                    <a:lnTo>
                      <a:pt x="102" y="58"/>
                    </a:lnTo>
                    <a:lnTo>
                      <a:pt x="100" y="58"/>
                    </a:lnTo>
                    <a:lnTo>
                      <a:pt x="96" y="56"/>
                    </a:lnTo>
                    <a:lnTo>
                      <a:pt x="94" y="54"/>
                    </a:lnTo>
                    <a:lnTo>
                      <a:pt x="94" y="52"/>
                    </a:lnTo>
                    <a:lnTo>
                      <a:pt x="96" y="50"/>
                    </a:lnTo>
                    <a:lnTo>
                      <a:pt x="94" y="48"/>
                    </a:lnTo>
                    <a:lnTo>
                      <a:pt x="94" y="48"/>
                    </a:lnTo>
                    <a:lnTo>
                      <a:pt x="94" y="42"/>
                    </a:lnTo>
                    <a:lnTo>
                      <a:pt x="94" y="40"/>
                    </a:lnTo>
                    <a:lnTo>
                      <a:pt x="96" y="38"/>
                    </a:lnTo>
                    <a:lnTo>
                      <a:pt x="94" y="36"/>
                    </a:lnTo>
                    <a:lnTo>
                      <a:pt x="94" y="34"/>
                    </a:lnTo>
                    <a:lnTo>
                      <a:pt x="94" y="32"/>
                    </a:lnTo>
                    <a:lnTo>
                      <a:pt x="94" y="30"/>
                    </a:lnTo>
                    <a:lnTo>
                      <a:pt x="94" y="28"/>
                    </a:lnTo>
                    <a:lnTo>
                      <a:pt x="92" y="24"/>
                    </a:lnTo>
                    <a:lnTo>
                      <a:pt x="88" y="18"/>
                    </a:lnTo>
                    <a:lnTo>
                      <a:pt x="84" y="14"/>
                    </a:lnTo>
                    <a:lnTo>
                      <a:pt x="84" y="10"/>
                    </a:lnTo>
                    <a:lnTo>
                      <a:pt x="78" y="2"/>
                    </a:lnTo>
                    <a:lnTo>
                      <a:pt x="74" y="0"/>
                    </a:lnTo>
                    <a:lnTo>
                      <a:pt x="72" y="0"/>
                    </a:lnTo>
                    <a:lnTo>
                      <a:pt x="68" y="4"/>
                    </a:lnTo>
                    <a:lnTo>
                      <a:pt x="66" y="6"/>
                    </a:lnTo>
                    <a:lnTo>
                      <a:pt x="62" y="8"/>
                    </a:lnTo>
                    <a:lnTo>
                      <a:pt x="60" y="8"/>
                    </a:lnTo>
                    <a:lnTo>
                      <a:pt x="60" y="10"/>
                    </a:lnTo>
                    <a:lnTo>
                      <a:pt x="56" y="12"/>
                    </a:lnTo>
                    <a:lnTo>
                      <a:pt x="52" y="14"/>
                    </a:lnTo>
                    <a:lnTo>
                      <a:pt x="50" y="10"/>
                    </a:lnTo>
                    <a:lnTo>
                      <a:pt x="48" y="8"/>
                    </a:lnTo>
                    <a:lnTo>
                      <a:pt x="44" y="8"/>
                    </a:lnTo>
                    <a:lnTo>
                      <a:pt x="38" y="8"/>
                    </a:lnTo>
                    <a:lnTo>
                      <a:pt x="34" y="6"/>
                    </a:lnTo>
                    <a:lnTo>
                      <a:pt x="32" y="2"/>
                    </a:lnTo>
                    <a:lnTo>
                      <a:pt x="30" y="2"/>
                    </a:lnTo>
                    <a:lnTo>
                      <a:pt x="28" y="14"/>
                    </a:lnTo>
                    <a:lnTo>
                      <a:pt x="26" y="18"/>
                    </a:lnTo>
                    <a:lnTo>
                      <a:pt x="20" y="22"/>
                    </a:lnTo>
                    <a:lnTo>
                      <a:pt x="18" y="26"/>
                    </a:lnTo>
                    <a:lnTo>
                      <a:pt x="16" y="32"/>
                    </a:lnTo>
                    <a:lnTo>
                      <a:pt x="16" y="40"/>
                    </a:lnTo>
                    <a:lnTo>
                      <a:pt x="14" y="46"/>
                    </a:lnTo>
                    <a:lnTo>
                      <a:pt x="10" y="48"/>
                    </a:lnTo>
                    <a:lnTo>
                      <a:pt x="8" y="50"/>
                    </a:lnTo>
                    <a:lnTo>
                      <a:pt x="4" y="52"/>
                    </a:lnTo>
                    <a:lnTo>
                      <a:pt x="0" y="52"/>
                    </a:lnTo>
                    <a:lnTo>
                      <a:pt x="4" y="56"/>
                    </a:lnTo>
                    <a:lnTo>
                      <a:pt x="6" y="58"/>
                    </a:lnTo>
                    <a:lnTo>
                      <a:pt x="8" y="62"/>
                    </a:lnTo>
                    <a:lnTo>
                      <a:pt x="6" y="66"/>
                    </a:lnTo>
                    <a:lnTo>
                      <a:pt x="10" y="66"/>
                    </a:lnTo>
                    <a:lnTo>
                      <a:pt x="12" y="66"/>
                    </a:lnTo>
                    <a:lnTo>
                      <a:pt x="14" y="70"/>
                    </a:lnTo>
                    <a:lnTo>
                      <a:pt x="16" y="72"/>
                    </a:lnTo>
                    <a:lnTo>
                      <a:pt x="18" y="70"/>
                    </a:lnTo>
                    <a:lnTo>
                      <a:pt x="20" y="68"/>
                    </a:lnTo>
                    <a:lnTo>
                      <a:pt x="20" y="66"/>
                    </a:lnTo>
                    <a:lnTo>
                      <a:pt x="24" y="66"/>
                    </a:lnTo>
                    <a:lnTo>
                      <a:pt x="28" y="70"/>
                    </a:lnTo>
                    <a:lnTo>
                      <a:pt x="30" y="72"/>
                    </a:lnTo>
                    <a:lnTo>
                      <a:pt x="28" y="72"/>
                    </a:lnTo>
                    <a:lnTo>
                      <a:pt x="24" y="72"/>
                    </a:lnTo>
                    <a:lnTo>
                      <a:pt x="24" y="74"/>
                    </a:lnTo>
                    <a:lnTo>
                      <a:pt x="26" y="78"/>
                    </a:lnTo>
                    <a:lnTo>
                      <a:pt x="30" y="80"/>
                    </a:lnTo>
                    <a:lnTo>
                      <a:pt x="32" y="80"/>
                    </a:lnTo>
                    <a:lnTo>
                      <a:pt x="36" y="82"/>
                    </a:lnTo>
                    <a:lnTo>
                      <a:pt x="38" y="82"/>
                    </a:lnTo>
                    <a:lnTo>
                      <a:pt x="38" y="84"/>
                    </a:lnTo>
                    <a:lnTo>
                      <a:pt x="36" y="86"/>
                    </a:lnTo>
                    <a:lnTo>
                      <a:pt x="36" y="88"/>
                    </a:lnTo>
                    <a:lnTo>
                      <a:pt x="38" y="88"/>
                    </a:lnTo>
                    <a:lnTo>
                      <a:pt x="42" y="88"/>
                    </a:lnTo>
                    <a:lnTo>
                      <a:pt x="46" y="88"/>
                    </a:lnTo>
                    <a:lnTo>
                      <a:pt x="48" y="86"/>
                    </a:lnTo>
                    <a:lnTo>
                      <a:pt x="50" y="88"/>
                    </a:lnTo>
                    <a:lnTo>
                      <a:pt x="54" y="88"/>
                    </a:lnTo>
                    <a:lnTo>
                      <a:pt x="60" y="88"/>
                    </a:lnTo>
                    <a:lnTo>
                      <a:pt x="64" y="86"/>
                    </a:lnTo>
                    <a:lnTo>
                      <a:pt x="68" y="84"/>
                    </a:lnTo>
                    <a:lnTo>
                      <a:pt x="72" y="80"/>
                    </a:lnTo>
                    <a:lnTo>
                      <a:pt x="76" y="80"/>
                    </a:lnTo>
                    <a:lnTo>
                      <a:pt x="80" y="82"/>
                    </a:lnTo>
                    <a:lnTo>
                      <a:pt x="82" y="84"/>
                    </a:lnTo>
                    <a:lnTo>
                      <a:pt x="86" y="82"/>
                    </a:lnTo>
                    <a:lnTo>
                      <a:pt x="90" y="80"/>
                    </a:lnTo>
                    <a:lnTo>
                      <a:pt x="94" y="80"/>
                    </a:lnTo>
                    <a:lnTo>
                      <a:pt x="100" y="84"/>
                    </a:lnTo>
                    <a:lnTo>
                      <a:pt x="104" y="82"/>
                    </a:lnTo>
                    <a:lnTo>
                      <a:pt x="104" y="80"/>
                    </a:lnTo>
                    <a:lnTo>
                      <a:pt x="104" y="78"/>
                    </a:lnTo>
                    <a:lnTo>
                      <a:pt x="104" y="76"/>
                    </a:lnTo>
                    <a:lnTo>
                      <a:pt x="106" y="74"/>
                    </a:lnTo>
                    <a:lnTo>
                      <a:pt x="110" y="76"/>
                    </a:lnTo>
                    <a:lnTo>
                      <a:pt x="110" y="74"/>
                    </a:lnTo>
                    <a:lnTo>
                      <a:pt x="112" y="74"/>
                    </a:lnTo>
                    <a:lnTo>
                      <a:pt x="112" y="70"/>
                    </a:lnTo>
                    <a:lnTo>
                      <a:pt x="112" y="64"/>
                    </a:lnTo>
                    <a:lnTo>
                      <a:pt x="114" y="62"/>
                    </a:lnTo>
                    <a:lnTo>
                      <a:pt x="112" y="62"/>
                    </a:lnTo>
                    <a:lnTo>
                      <a:pt x="112" y="60"/>
                    </a:lnTo>
                    <a:lnTo>
                      <a:pt x="114" y="60"/>
                    </a:lnTo>
                    <a:lnTo>
                      <a:pt x="114" y="58"/>
                    </a:lnTo>
                    <a:lnTo>
                      <a:pt x="114" y="5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01" name="Freeform 173">
                <a:extLst>
                  <a:ext uri="{FF2B5EF4-FFF2-40B4-BE49-F238E27FC236}">
                    <a16:creationId xmlns:a16="http://schemas.microsoft.com/office/drawing/2014/main" id="{962EEAE0-00A2-3472-A57B-34A8418F8BB3}"/>
                  </a:ext>
                </a:extLst>
              </p:cNvPr>
              <p:cNvSpPr>
                <a:spLocks/>
              </p:cNvSpPr>
              <p:nvPr/>
            </p:nvSpPr>
            <p:spPr bwMode="auto">
              <a:xfrm>
                <a:off x="5472824" y="3856447"/>
                <a:ext cx="11668" cy="17293"/>
              </a:xfrm>
              <a:custGeom>
                <a:avLst/>
                <a:gdLst/>
                <a:ahLst/>
                <a:cxnLst>
                  <a:cxn ang="0">
                    <a:pos x="0" y="12"/>
                  </a:cxn>
                  <a:cxn ang="0">
                    <a:pos x="0" y="12"/>
                  </a:cxn>
                  <a:cxn ang="0">
                    <a:pos x="0" y="10"/>
                  </a:cxn>
                  <a:cxn ang="0">
                    <a:pos x="6" y="6"/>
                  </a:cxn>
                  <a:cxn ang="0">
                    <a:pos x="8" y="0"/>
                  </a:cxn>
                  <a:cxn ang="0">
                    <a:pos x="10" y="0"/>
                  </a:cxn>
                  <a:cxn ang="0">
                    <a:pos x="12" y="8"/>
                  </a:cxn>
                  <a:cxn ang="0">
                    <a:pos x="12" y="18"/>
                  </a:cxn>
                  <a:cxn ang="0">
                    <a:pos x="6" y="16"/>
                  </a:cxn>
                  <a:cxn ang="0">
                    <a:pos x="0" y="12"/>
                  </a:cxn>
                  <a:cxn ang="0">
                    <a:pos x="0" y="12"/>
                  </a:cxn>
                </a:cxnLst>
                <a:rect l="0" t="0" r="r" b="b"/>
                <a:pathLst>
                  <a:path w="12" h="18">
                    <a:moveTo>
                      <a:pt x="0" y="12"/>
                    </a:moveTo>
                    <a:lnTo>
                      <a:pt x="0" y="12"/>
                    </a:lnTo>
                    <a:lnTo>
                      <a:pt x="0" y="10"/>
                    </a:lnTo>
                    <a:lnTo>
                      <a:pt x="6" y="6"/>
                    </a:lnTo>
                    <a:lnTo>
                      <a:pt x="8" y="0"/>
                    </a:lnTo>
                    <a:lnTo>
                      <a:pt x="10" y="0"/>
                    </a:lnTo>
                    <a:lnTo>
                      <a:pt x="12" y="8"/>
                    </a:lnTo>
                    <a:lnTo>
                      <a:pt x="12" y="18"/>
                    </a:lnTo>
                    <a:lnTo>
                      <a:pt x="6" y="16"/>
                    </a:lnTo>
                    <a:lnTo>
                      <a:pt x="0" y="12"/>
                    </a:lnTo>
                    <a:lnTo>
                      <a:pt x="0" y="1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02" name="Freeform 174">
                <a:extLst>
                  <a:ext uri="{FF2B5EF4-FFF2-40B4-BE49-F238E27FC236}">
                    <a16:creationId xmlns:a16="http://schemas.microsoft.com/office/drawing/2014/main" id="{FBE6DA1B-21E2-D4C0-6970-7C60D4E6AF9A}"/>
                  </a:ext>
                </a:extLst>
              </p:cNvPr>
              <p:cNvSpPr>
                <a:spLocks/>
              </p:cNvSpPr>
              <p:nvPr/>
            </p:nvSpPr>
            <p:spPr bwMode="auto">
              <a:xfrm>
                <a:off x="5472824" y="3856447"/>
                <a:ext cx="11668" cy="17293"/>
              </a:xfrm>
              <a:custGeom>
                <a:avLst/>
                <a:gdLst/>
                <a:ahLst/>
                <a:cxnLst>
                  <a:cxn ang="0">
                    <a:pos x="0" y="12"/>
                  </a:cxn>
                  <a:cxn ang="0">
                    <a:pos x="0" y="12"/>
                  </a:cxn>
                  <a:cxn ang="0">
                    <a:pos x="0" y="10"/>
                  </a:cxn>
                  <a:cxn ang="0">
                    <a:pos x="6" y="6"/>
                  </a:cxn>
                  <a:cxn ang="0">
                    <a:pos x="8" y="0"/>
                  </a:cxn>
                  <a:cxn ang="0">
                    <a:pos x="10" y="0"/>
                  </a:cxn>
                  <a:cxn ang="0">
                    <a:pos x="12" y="8"/>
                  </a:cxn>
                  <a:cxn ang="0">
                    <a:pos x="12" y="18"/>
                  </a:cxn>
                  <a:cxn ang="0">
                    <a:pos x="6" y="16"/>
                  </a:cxn>
                  <a:cxn ang="0">
                    <a:pos x="0" y="12"/>
                  </a:cxn>
                  <a:cxn ang="0">
                    <a:pos x="0" y="12"/>
                  </a:cxn>
                </a:cxnLst>
                <a:rect l="0" t="0" r="r" b="b"/>
                <a:pathLst>
                  <a:path w="12" h="18">
                    <a:moveTo>
                      <a:pt x="0" y="12"/>
                    </a:moveTo>
                    <a:lnTo>
                      <a:pt x="0" y="12"/>
                    </a:lnTo>
                    <a:lnTo>
                      <a:pt x="0" y="10"/>
                    </a:lnTo>
                    <a:lnTo>
                      <a:pt x="6" y="6"/>
                    </a:lnTo>
                    <a:lnTo>
                      <a:pt x="8" y="0"/>
                    </a:lnTo>
                    <a:lnTo>
                      <a:pt x="10" y="0"/>
                    </a:lnTo>
                    <a:lnTo>
                      <a:pt x="12" y="8"/>
                    </a:lnTo>
                    <a:lnTo>
                      <a:pt x="12" y="18"/>
                    </a:lnTo>
                    <a:lnTo>
                      <a:pt x="6" y="16"/>
                    </a:lnTo>
                    <a:lnTo>
                      <a:pt x="0" y="12"/>
                    </a:lnTo>
                    <a:lnTo>
                      <a:pt x="0" y="1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03" name="Freeform 175">
                <a:extLst>
                  <a:ext uri="{FF2B5EF4-FFF2-40B4-BE49-F238E27FC236}">
                    <a16:creationId xmlns:a16="http://schemas.microsoft.com/office/drawing/2014/main" id="{BBFA8F38-8F6D-E156-0989-93DF3C724117}"/>
                  </a:ext>
                </a:extLst>
              </p:cNvPr>
              <p:cNvSpPr>
                <a:spLocks/>
              </p:cNvSpPr>
              <p:nvPr/>
            </p:nvSpPr>
            <p:spPr bwMode="auto">
              <a:xfrm>
                <a:off x="3994856" y="3971729"/>
                <a:ext cx="17503" cy="9607"/>
              </a:xfrm>
              <a:custGeom>
                <a:avLst/>
                <a:gdLst/>
                <a:ahLst/>
                <a:cxnLst>
                  <a:cxn ang="0">
                    <a:pos x="0" y="0"/>
                  </a:cxn>
                  <a:cxn ang="0">
                    <a:pos x="0" y="0"/>
                  </a:cxn>
                  <a:cxn ang="0">
                    <a:pos x="0" y="4"/>
                  </a:cxn>
                  <a:cxn ang="0">
                    <a:pos x="2" y="8"/>
                  </a:cxn>
                  <a:cxn ang="0">
                    <a:pos x="8" y="10"/>
                  </a:cxn>
                  <a:cxn ang="0">
                    <a:pos x="10" y="8"/>
                  </a:cxn>
                  <a:cxn ang="0">
                    <a:pos x="16" y="4"/>
                  </a:cxn>
                  <a:cxn ang="0">
                    <a:pos x="18" y="2"/>
                  </a:cxn>
                  <a:cxn ang="0">
                    <a:pos x="14" y="0"/>
                  </a:cxn>
                  <a:cxn ang="0">
                    <a:pos x="0" y="0"/>
                  </a:cxn>
                  <a:cxn ang="0">
                    <a:pos x="0" y="0"/>
                  </a:cxn>
                </a:cxnLst>
                <a:rect l="0" t="0" r="r" b="b"/>
                <a:pathLst>
                  <a:path w="18" h="10">
                    <a:moveTo>
                      <a:pt x="0" y="0"/>
                    </a:moveTo>
                    <a:lnTo>
                      <a:pt x="0" y="0"/>
                    </a:lnTo>
                    <a:lnTo>
                      <a:pt x="0" y="4"/>
                    </a:lnTo>
                    <a:lnTo>
                      <a:pt x="2" y="8"/>
                    </a:lnTo>
                    <a:lnTo>
                      <a:pt x="8" y="10"/>
                    </a:lnTo>
                    <a:lnTo>
                      <a:pt x="10" y="8"/>
                    </a:lnTo>
                    <a:lnTo>
                      <a:pt x="16" y="4"/>
                    </a:lnTo>
                    <a:lnTo>
                      <a:pt x="18" y="2"/>
                    </a:lnTo>
                    <a:lnTo>
                      <a:pt x="14" y="0"/>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04" name="Freeform 176">
                <a:extLst>
                  <a:ext uri="{FF2B5EF4-FFF2-40B4-BE49-F238E27FC236}">
                    <a16:creationId xmlns:a16="http://schemas.microsoft.com/office/drawing/2014/main" id="{2065F1E2-002A-FD15-F4BE-7DD014D78975}"/>
                  </a:ext>
                </a:extLst>
              </p:cNvPr>
              <p:cNvSpPr>
                <a:spLocks/>
              </p:cNvSpPr>
              <p:nvPr/>
            </p:nvSpPr>
            <p:spPr bwMode="auto">
              <a:xfrm>
                <a:off x="5015821" y="3353048"/>
                <a:ext cx="134184" cy="113361"/>
              </a:xfrm>
              <a:custGeom>
                <a:avLst/>
                <a:gdLst/>
                <a:ahLst/>
                <a:cxnLst>
                  <a:cxn ang="0">
                    <a:pos x="72" y="10"/>
                  </a:cxn>
                  <a:cxn ang="0">
                    <a:pos x="70" y="6"/>
                  </a:cxn>
                  <a:cxn ang="0">
                    <a:pos x="64" y="8"/>
                  </a:cxn>
                  <a:cxn ang="0">
                    <a:pos x="58" y="8"/>
                  </a:cxn>
                  <a:cxn ang="0">
                    <a:pos x="56" y="4"/>
                  </a:cxn>
                  <a:cxn ang="0">
                    <a:pos x="60" y="4"/>
                  </a:cxn>
                  <a:cxn ang="0">
                    <a:pos x="58" y="2"/>
                  </a:cxn>
                  <a:cxn ang="0">
                    <a:pos x="42" y="4"/>
                  </a:cxn>
                  <a:cxn ang="0">
                    <a:pos x="32" y="8"/>
                  </a:cxn>
                  <a:cxn ang="0">
                    <a:pos x="26" y="12"/>
                  </a:cxn>
                  <a:cxn ang="0">
                    <a:pos x="24" y="12"/>
                  </a:cxn>
                  <a:cxn ang="0">
                    <a:pos x="8" y="16"/>
                  </a:cxn>
                  <a:cxn ang="0">
                    <a:pos x="2" y="22"/>
                  </a:cxn>
                  <a:cxn ang="0">
                    <a:pos x="0" y="34"/>
                  </a:cxn>
                  <a:cxn ang="0">
                    <a:pos x="4" y="40"/>
                  </a:cxn>
                  <a:cxn ang="0">
                    <a:pos x="4" y="52"/>
                  </a:cxn>
                  <a:cxn ang="0">
                    <a:pos x="6" y="74"/>
                  </a:cxn>
                  <a:cxn ang="0">
                    <a:pos x="18" y="76"/>
                  </a:cxn>
                  <a:cxn ang="0">
                    <a:pos x="20" y="80"/>
                  </a:cxn>
                  <a:cxn ang="0">
                    <a:pos x="24" y="80"/>
                  </a:cxn>
                  <a:cxn ang="0">
                    <a:pos x="26" y="82"/>
                  </a:cxn>
                  <a:cxn ang="0">
                    <a:pos x="36" y="88"/>
                  </a:cxn>
                  <a:cxn ang="0">
                    <a:pos x="42" y="88"/>
                  </a:cxn>
                  <a:cxn ang="0">
                    <a:pos x="46" y="92"/>
                  </a:cxn>
                  <a:cxn ang="0">
                    <a:pos x="48" y="94"/>
                  </a:cxn>
                  <a:cxn ang="0">
                    <a:pos x="52" y="102"/>
                  </a:cxn>
                  <a:cxn ang="0">
                    <a:pos x="62" y="100"/>
                  </a:cxn>
                  <a:cxn ang="0">
                    <a:pos x="72" y="106"/>
                  </a:cxn>
                  <a:cxn ang="0">
                    <a:pos x="80" y="108"/>
                  </a:cxn>
                  <a:cxn ang="0">
                    <a:pos x="82" y="104"/>
                  </a:cxn>
                  <a:cxn ang="0">
                    <a:pos x="88" y="102"/>
                  </a:cxn>
                  <a:cxn ang="0">
                    <a:pos x="96" y="98"/>
                  </a:cxn>
                  <a:cxn ang="0">
                    <a:pos x="102" y="96"/>
                  </a:cxn>
                  <a:cxn ang="0">
                    <a:pos x="110" y="102"/>
                  </a:cxn>
                  <a:cxn ang="0">
                    <a:pos x="114" y="104"/>
                  </a:cxn>
                  <a:cxn ang="0">
                    <a:pos x="120" y="110"/>
                  </a:cxn>
                  <a:cxn ang="0">
                    <a:pos x="124" y="116"/>
                  </a:cxn>
                  <a:cxn ang="0">
                    <a:pos x="130" y="116"/>
                  </a:cxn>
                  <a:cxn ang="0">
                    <a:pos x="134" y="114"/>
                  </a:cxn>
                  <a:cxn ang="0">
                    <a:pos x="132" y="106"/>
                  </a:cxn>
                  <a:cxn ang="0">
                    <a:pos x="134" y="96"/>
                  </a:cxn>
                  <a:cxn ang="0">
                    <a:pos x="136" y="84"/>
                  </a:cxn>
                  <a:cxn ang="0">
                    <a:pos x="134" y="78"/>
                  </a:cxn>
                  <a:cxn ang="0">
                    <a:pos x="136" y="68"/>
                  </a:cxn>
                  <a:cxn ang="0">
                    <a:pos x="136" y="64"/>
                  </a:cxn>
                  <a:cxn ang="0">
                    <a:pos x="134" y="56"/>
                  </a:cxn>
                  <a:cxn ang="0">
                    <a:pos x="134" y="46"/>
                  </a:cxn>
                  <a:cxn ang="0">
                    <a:pos x="138" y="36"/>
                  </a:cxn>
                  <a:cxn ang="0">
                    <a:pos x="136" y="30"/>
                  </a:cxn>
                  <a:cxn ang="0">
                    <a:pos x="134" y="22"/>
                  </a:cxn>
                  <a:cxn ang="0">
                    <a:pos x="134" y="18"/>
                  </a:cxn>
                  <a:cxn ang="0">
                    <a:pos x="116" y="16"/>
                  </a:cxn>
                  <a:cxn ang="0">
                    <a:pos x="102" y="18"/>
                  </a:cxn>
                  <a:cxn ang="0">
                    <a:pos x="84" y="16"/>
                  </a:cxn>
                  <a:cxn ang="0">
                    <a:pos x="72" y="8"/>
                  </a:cxn>
                  <a:cxn ang="0">
                    <a:pos x="72" y="10"/>
                  </a:cxn>
                </a:cxnLst>
                <a:rect l="0" t="0" r="r" b="b"/>
                <a:pathLst>
                  <a:path w="138" h="118">
                    <a:moveTo>
                      <a:pt x="72" y="10"/>
                    </a:moveTo>
                    <a:lnTo>
                      <a:pt x="72" y="10"/>
                    </a:lnTo>
                    <a:lnTo>
                      <a:pt x="70" y="8"/>
                    </a:lnTo>
                    <a:lnTo>
                      <a:pt x="70" y="6"/>
                    </a:lnTo>
                    <a:lnTo>
                      <a:pt x="68" y="6"/>
                    </a:lnTo>
                    <a:lnTo>
                      <a:pt x="64" y="8"/>
                    </a:lnTo>
                    <a:lnTo>
                      <a:pt x="60" y="10"/>
                    </a:lnTo>
                    <a:lnTo>
                      <a:pt x="58" y="8"/>
                    </a:lnTo>
                    <a:lnTo>
                      <a:pt x="56" y="8"/>
                    </a:lnTo>
                    <a:lnTo>
                      <a:pt x="56" y="4"/>
                    </a:lnTo>
                    <a:lnTo>
                      <a:pt x="58" y="6"/>
                    </a:lnTo>
                    <a:lnTo>
                      <a:pt x="60" y="4"/>
                    </a:lnTo>
                    <a:lnTo>
                      <a:pt x="60" y="2"/>
                    </a:lnTo>
                    <a:lnTo>
                      <a:pt x="58" y="2"/>
                    </a:lnTo>
                    <a:lnTo>
                      <a:pt x="56" y="0"/>
                    </a:lnTo>
                    <a:lnTo>
                      <a:pt x="42" y="4"/>
                    </a:lnTo>
                    <a:lnTo>
                      <a:pt x="38" y="8"/>
                    </a:lnTo>
                    <a:lnTo>
                      <a:pt x="32" y="8"/>
                    </a:lnTo>
                    <a:lnTo>
                      <a:pt x="30" y="10"/>
                    </a:lnTo>
                    <a:lnTo>
                      <a:pt x="26" y="12"/>
                    </a:lnTo>
                    <a:lnTo>
                      <a:pt x="26" y="12"/>
                    </a:lnTo>
                    <a:lnTo>
                      <a:pt x="24" y="12"/>
                    </a:lnTo>
                    <a:lnTo>
                      <a:pt x="22" y="14"/>
                    </a:lnTo>
                    <a:lnTo>
                      <a:pt x="8" y="16"/>
                    </a:lnTo>
                    <a:lnTo>
                      <a:pt x="2" y="16"/>
                    </a:lnTo>
                    <a:lnTo>
                      <a:pt x="2" y="22"/>
                    </a:lnTo>
                    <a:lnTo>
                      <a:pt x="0" y="32"/>
                    </a:lnTo>
                    <a:lnTo>
                      <a:pt x="0" y="34"/>
                    </a:lnTo>
                    <a:lnTo>
                      <a:pt x="2" y="38"/>
                    </a:lnTo>
                    <a:lnTo>
                      <a:pt x="4" y="40"/>
                    </a:lnTo>
                    <a:lnTo>
                      <a:pt x="2" y="50"/>
                    </a:lnTo>
                    <a:lnTo>
                      <a:pt x="4" y="52"/>
                    </a:lnTo>
                    <a:lnTo>
                      <a:pt x="4" y="56"/>
                    </a:lnTo>
                    <a:lnTo>
                      <a:pt x="6" y="74"/>
                    </a:lnTo>
                    <a:lnTo>
                      <a:pt x="10" y="76"/>
                    </a:lnTo>
                    <a:lnTo>
                      <a:pt x="18" y="76"/>
                    </a:lnTo>
                    <a:lnTo>
                      <a:pt x="20" y="78"/>
                    </a:lnTo>
                    <a:lnTo>
                      <a:pt x="20" y="80"/>
                    </a:lnTo>
                    <a:lnTo>
                      <a:pt x="22" y="80"/>
                    </a:lnTo>
                    <a:lnTo>
                      <a:pt x="24" y="80"/>
                    </a:lnTo>
                    <a:lnTo>
                      <a:pt x="26" y="80"/>
                    </a:lnTo>
                    <a:lnTo>
                      <a:pt x="26" y="82"/>
                    </a:lnTo>
                    <a:lnTo>
                      <a:pt x="30" y="86"/>
                    </a:lnTo>
                    <a:lnTo>
                      <a:pt x="36" y="88"/>
                    </a:lnTo>
                    <a:lnTo>
                      <a:pt x="40" y="88"/>
                    </a:lnTo>
                    <a:lnTo>
                      <a:pt x="42" y="88"/>
                    </a:lnTo>
                    <a:lnTo>
                      <a:pt x="44" y="90"/>
                    </a:lnTo>
                    <a:lnTo>
                      <a:pt x="46" y="92"/>
                    </a:lnTo>
                    <a:lnTo>
                      <a:pt x="46" y="94"/>
                    </a:lnTo>
                    <a:lnTo>
                      <a:pt x="48" y="94"/>
                    </a:lnTo>
                    <a:lnTo>
                      <a:pt x="50" y="96"/>
                    </a:lnTo>
                    <a:lnTo>
                      <a:pt x="52" y="102"/>
                    </a:lnTo>
                    <a:lnTo>
                      <a:pt x="58" y="102"/>
                    </a:lnTo>
                    <a:lnTo>
                      <a:pt x="62" y="100"/>
                    </a:lnTo>
                    <a:lnTo>
                      <a:pt x="66" y="102"/>
                    </a:lnTo>
                    <a:lnTo>
                      <a:pt x="72" y="106"/>
                    </a:lnTo>
                    <a:lnTo>
                      <a:pt x="78" y="108"/>
                    </a:lnTo>
                    <a:lnTo>
                      <a:pt x="80" y="108"/>
                    </a:lnTo>
                    <a:lnTo>
                      <a:pt x="80" y="106"/>
                    </a:lnTo>
                    <a:lnTo>
                      <a:pt x="82" y="104"/>
                    </a:lnTo>
                    <a:lnTo>
                      <a:pt x="84" y="104"/>
                    </a:lnTo>
                    <a:lnTo>
                      <a:pt x="88" y="102"/>
                    </a:lnTo>
                    <a:lnTo>
                      <a:pt x="92" y="100"/>
                    </a:lnTo>
                    <a:lnTo>
                      <a:pt x="96" y="98"/>
                    </a:lnTo>
                    <a:lnTo>
                      <a:pt x="98" y="96"/>
                    </a:lnTo>
                    <a:lnTo>
                      <a:pt x="102" y="96"/>
                    </a:lnTo>
                    <a:lnTo>
                      <a:pt x="106" y="100"/>
                    </a:lnTo>
                    <a:lnTo>
                      <a:pt x="110" y="102"/>
                    </a:lnTo>
                    <a:lnTo>
                      <a:pt x="112" y="102"/>
                    </a:lnTo>
                    <a:lnTo>
                      <a:pt x="114" y="104"/>
                    </a:lnTo>
                    <a:lnTo>
                      <a:pt x="118" y="108"/>
                    </a:lnTo>
                    <a:lnTo>
                      <a:pt x="120" y="110"/>
                    </a:lnTo>
                    <a:lnTo>
                      <a:pt x="120" y="114"/>
                    </a:lnTo>
                    <a:lnTo>
                      <a:pt x="124" y="116"/>
                    </a:lnTo>
                    <a:lnTo>
                      <a:pt x="126" y="118"/>
                    </a:lnTo>
                    <a:lnTo>
                      <a:pt x="130" y="116"/>
                    </a:lnTo>
                    <a:lnTo>
                      <a:pt x="134" y="114"/>
                    </a:lnTo>
                    <a:lnTo>
                      <a:pt x="134" y="114"/>
                    </a:lnTo>
                    <a:lnTo>
                      <a:pt x="132" y="110"/>
                    </a:lnTo>
                    <a:lnTo>
                      <a:pt x="132" y="106"/>
                    </a:lnTo>
                    <a:lnTo>
                      <a:pt x="132" y="104"/>
                    </a:lnTo>
                    <a:lnTo>
                      <a:pt x="134" y="96"/>
                    </a:lnTo>
                    <a:lnTo>
                      <a:pt x="138" y="88"/>
                    </a:lnTo>
                    <a:lnTo>
                      <a:pt x="136" y="84"/>
                    </a:lnTo>
                    <a:lnTo>
                      <a:pt x="134" y="80"/>
                    </a:lnTo>
                    <a:lnTo>
                      <a:pt x="134" y="78"/>
                    </a:lnTo>
                    <a:lnTo>
                      <a:pt x="134" y="74"/>
                    </a:lnTo>
                    <a:lnTo>
                      <a:pt x="136" y="68"/>
                    </a:lnTo>
                    <a:lnTo>
                      <a:pt x="136" y="66"/>
                    </a:lnTo>
                    <a:lnTo>
                      <a:pt x="136" y="64"/>
                    </a:lnTo>
                    <a:lnTo>
                      <a:pt x="134" y="58"/>
                    </a:lnTo>
                    <a:lnTo>
                      <a:pt x="134" y="56"/>
                    </a:lnTo>
                    <a:lnTo>
                      <a:pt x="136" y="54"/>
                    </a:lnTo>
                    <a:lnTo>
                      <a:pt x="134" y="46"/>
                    </a:lnTo>
                    <a:lnTo>
                      <a:pt x="138" y="40"/>
                    </a:lnTo>
                    <a:lnTo>
                      <a:pt x="138" y="36"/>
                    </a:lnTo>
                    <a:lnTo>
                      <a:pt x="138" y="34"/>
                    </a:lnTo>
                    <a:lnTo>
                      <a:pt x="136" y="30"/>
                    </a:lnTo>
                    <a:lnTo>
                      <a:pt x="134" y="26"/>
                    </a:lnTo>
                    <a:lnTo>
                      <a:pt x="134" y="22"/>
                    </a:lnTo>
                    <a:lnTo>
                      <a:pt x="134" y="20"/>
                    </a:lnTo>
                    <a:lnTo>
                      <a:pt x="134" y="18"/>
                    </a:lnTo>
                    <a:lnTo>
                      <a:pt x="124" y="16"/>
                    </a:lnTo>
                    <a:lnTo>
                      <a:pt x="116" y="16"/>
                    </a:lnTo>
                    <a:lnTo>
                      <a:pt x="110" y="18"/>
                    </a:lnTo>
                    <a:lnTo>
                      <a:pt x="102" y="18"/>
                    </a:lnTo>
                    <a:lnTo>
                      <a:pt x="96" y="18"/>
                    </a:lnTo>
                    <a:lnTo>
                      <a:pt x="84" y="16"/>
                    </a:lnTo>
                    <a:lnTo>
                      <a:pt x="76" y="12"/>
                    </a:lnTo>
                    <a:lnTo>
                      <a:pt x="72" y="8"/>
                    </a:lnTo>
                    <a:lnTo>
                      <a:pt x="72" y="10"/>
                    </a:lnTo>
                    <a:lnTo>
                      <a:pt x="72" y="1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05" name="Freeform 177">
                <a:extLst>
                  <a:ext uri="{FF2B5EF4-FFF2-40B4-BE49-F238E27FC236}">
                    <a16:creationId xmlns:a16="http://schemas.microsoft.com/office/drawing/2014/main" id="{7505989E-AB59-595D-CF1D-EB31E7030D4B}"/>
                  </a:ext>
                </a:extLst>
              </p:cNvPr>
              <p:cNvSpPr>
                <a:spLocks noEditPoints="1"/>
              </p:cNvSpPr>
              <p:nvPr/>
            </p:nvSpPr>
            <p:spPr bwMode="auto">
              <a:xfrm>
                <a:off x="6305154" y="3973651"/>
                <a:ext cx="118626" cy="205587"/>
              </a:xfrm>
              <a:custGeom>
                <a:avLst/>
                <a:gdLst/>
                <a:ahLst/>
                <a:cxnLst>
                  <a:cxn ang="0">
                    <a:pos x="108" y="162"/>
                  </a:cxn>
                  <a:cxn ang="0">
                    <a:pos x="94" y="166"/>
                  </a:cxn>
                  <a:cxn ang="0">
                    <a:pos x="84" y="168"/>
                  </a:cxn>
                  <a:cxn ang="0">
                    <a:pos x="74" y="168"/>
                  </a:cxn>
                  <a:cxn ang="0">
                    <a:pos x="60" y="188"/>
                  </a:cxn>
                  <a:cxn ang="0">
                    <a:pos x="72" y="182"/>
                  </a:cxn>
                  <a:cxn ang="0">
                    <a:pos x="90" y="186"/>
                  </a:cxn>
                  <a:cxn ang="0">
                    <a:pos x="88" y="200"/>
                  </a:cxn>
                  <a:cxn ang="0">
                    <a:pos x="104" y="210"/>
                  </a:cxn>
                  <a:cxn ang="0">
                    <a:pos x="108" y="198"/>
                  </a:cxn>
                  <a:cxn ang="0">
                    <a:pos x="112" y="190"/>
                  </a:cxn>
                  <a:cxn ang="0">
                    <a:pos x="122" y="174"/>
                  </a:cxn>
                  <a:cxn ang="0">
                    <a:pos x="94" y="140"/>
                  </a:cxn>
                  <a:cxn ang="0">
                    <a:pos x="100" y="148"/>
                  </a:cxn>
                  <a:cxn ang="0">
                    <a:pos x="78" y="128"/>
                  </a:cxn>
                  <a:cxn ang="0">
                    <a:pos x="68" y="148"/>
                  </a:cxn>
                  <a:cxn ang="0">
                    <a:pos x="80" y="142"/>
                  </a:cxn>
                  <a:cxn ang="0">
                    <a:pos x="78" y="128"/>
                  </a:cxn>
                  <a:cxn ang="0">
                    <a:pos x="82" y="144"/>
                  </a:cxn>
                  <a:cxn ang="0">
                    <a:pos x="86" y="140"/>
                  </a:cxn>
                  <a:cxn ang="0">
                    <a:pos x="90" y="124"/>
                  </a:cxn>
                  <a:cxn ang="0">
                    <a:pos x="24" y="134"/>
                  </a:cxn>
                  <a:cxn ang="0">
                    <a:pos x="20" y="146"/>
                  </a:cxn>
                  <a:cxn ang="0">
                    <a:pos x="8" y="158"/>
                  </a:cxn>
                  <a:cxn ang="0">
                    <a:pos x="18" y="152"/>
                  </a:cxn>
                  <a:cxn ang="0">
                    <a:pos x="30" y="142"/>
                  </a:cxn>
                  <a:cxn ang="0">
                    <a:pos x="30" y="122"/>
                  </a:cxn>
                  <a:cxn ang="0">
                    <a:pos x="102" y="124"/>
                  </a:cxn>
                  <a:cxn ang="0">
                    <a:pos x="102" y="132"/>
                  </a:cxn>
                  <a:cxn ang="0">
                    <a:pos x="110" y="142"/>
                  </a:cxn>
                  <a:cxn ang="0">
                    <a:pos x="106" y="126"/>
                  </a:cxn>
                  <a:cxn ang="0">
                    <a:pos x="98" y="120"/>
                  </a:cxn>
                  <a:cxn ang="0">
                    <a:pos x="74" y="130"/>
                  </a:cxn>
                  <a:cxn ang="0">
                    <a:pos x="64" y="116"/>
                  </a:cxn>
                  <a:cxn ang="0">
                    <a:pos x="88" y="114"/>
                  </a:cxn>
                  <a:cxn ang="0">
                    <a:pos x="100" y="98"/>
                  </a:cxn>
                  <a:cxn ang="0">
                    <a:pos x="102" y="114"/>
                  </a:cxn>
                  <a:cxn ang="0">
                    <a:pos x="110" y="120"/>
                  </a:cxn>
                  <a:cxn ang="0">
                    <a:pos x="108" y="102"/>
                  </a:cxn>
                  <a:cxn ang="0">
                    <a:pos x="44" y="86"/>
                  </a:cxn>
                  <a:cxn ang="0">
                    <a:pos x="46" y="90"/>
                  </a:cxn>
                  <a:cxn ang="0">
                    <a:pos x="56" y="106"/>
                  </a:cxn>
                  <a:cxn ang="0">
                    <a:pos x="48" y="86"/>
                  </a:cxn>
                  <a:cxn ang="0">
                    <a:pos x="46" y="8"/>
                  </a:cxn>
                  <a:cxn ang="0">
                    <a:pos x="44" y="28"/>
                  </a:cxn>
                  <a:cxn ang="0">
                    <a:pos x="40" y="42"/>
                  </a:cxn>
                  <a:cxn ang="0">
                    <a:pos x="36" y="48"/>
                  </a:cxn>
                  <a:cxn ang="0">
                    <a:pos x="48" y="62"/>
                  </a:cxn>
                  <a:cxn ang="0">
                    <a:pos x="58" y="82"/>
                  </a:cxn>
                  <a:cxn ang="0">
                    <a:pos x="70" y="86"/>
                  </a:cxn>
                  <a:cxn ang="0">
                    <a:pos x="76" y="80"/>
                  </a:cxn>
                  <a:cxn ang="0">
                    <a:pos x="88" y="94"/>
                  </a:cxn>
                  <a:cxn ang="0">
                    <a:pos x="88" y="88"/>
                  </a:cxn>
                  <a:cxn ang="0">
                    <a:pos x="80" y="78"/>
                  </a:cxn>
                  <a:cxn ang="0">
                    <a:pos x="68" y="72"/>
                  </a:cxn>
                  <a:cxn ang="0">
                    <a:pos x="56" y="54"/>
                  </a:cxn>
                  <a:cxn ang="0">
                    <a:pos x="64" y="38"/>
                  </a:cxn>
                  <a:cxn ang="0">
                    <a:pos x="70" y="20"/>
                  </a:cxn>
                  <a:cxn ang="0">
                    <a:pos x="60" y="4"/>
                  </a:cxn>
                  <a:cxn ang="0">
                    <a:pos x="48" y="0"/>
                  </a:cxn>
                </a:cxnLst>
                <a:rect l="0" t="0" r="r" b="b"/>
                <a:pathLst>
                  <a:path w="122" h="214">
                    <a:moveTo>
                      <a:pt x="110" y="152"/>
                    </a:moveTo>
                    <a:lnTo>
                      <a:pt x="110" y="152"/>
                    </a:lnTo>
                    <a:lnTo>
                      <a:pt x="108" y="152"/>
                    </a:lnTo>
                    <a:lnTo>
                      <a:pt x="108" y="158"/>
                    </a:lnTo>
                    <a:lnTo>
                      <a:pt x="108" y="162"/>
                    </a:lnTo>
                    <a:lnTo>
                      <a:pt x="104" y="162"/>
                    </a:lnTo>
                    <a:lnTo>
                      <a:pt x="102" y="160"/>
                    </a:lnTo>
                    <a:lnTo>
                      <a:pt x="102" y="162"/>
                    </a:lnTo>
                    <a:lnTo>
                      <a:pt x="100" y="168"/>
                    </a:lnTo>
                    <a:lnTo>
                      <a:pt x="94" y="166"/>
                    </a:lnTo>
                    <a:lnTo>
                      <a:pt x="92" y="168"/>
                    </a:lnTo>
                    <a:lnTo>
                      <a:pt x="92" y="170"/>
                    </a:lnTo>
                    <a:lnTo>
                      <a:pt x="84" y="172"/>
                    </a:lnTo>
                    <a:lnTo>
                      <a:pt x="84" y="170"/>
                    </a:lnTo>
                    <a:lnTo>
                      <a:pt x="84" y="168"/>
                    </a:lnTo>
                    <a:lnTo>
                      <a:pt x="84" y="166"/>
                    </a:lnTo>
                    <a:lnTo>
                      <a:pt x="82" y="164"/>
                    </a:lnTo>
                    <a:lnTo>
                      <a:pt x="82" y="166"/>
                    </a:lnTo>
                    <a:lnTo>
                      <a:pt x="78" y="166"/>
                    </a:lnTo>
                    <a:lnTo>
                      <a:pt x="74" y="168"/>
                    </a:lnTo>
                    <a:lnTo>
                      <a:pt x="74" y="172"/>
                    </a:lnTo>
                    <a:lnTo>
                      <a:pt x="64" y="174"/>
                    </a:lnTo>
                    <a:lnTo>
                      <a:pt x="64" y="180"/>
                    </a:lnTo>
                    <a:lnTo>
                      <a:pt x="64" y="184"/>
                    </a:lnTo>
                    <a:lnTo>
                      <a:pt x="60" y="188"/>
                    </a:lnTo>
                    <a:lnTo>
                      <a:pt x="62" y="188"/>
                    </a:lnTo>
                    <a:lnTo>
                      <a:pt x="62" y="190"/>
                    </a:lnTo>
                    <a:lnTo>
                      <a:pt x="66" y="190"/>
                    </a:lnTo>
                    <a:lnTo>
                      <a:pt x="68" y="186"/>
                    </a:lnTo>
                    <a:lnTo>
                      <a:pt x="72" y="182"/>
                    </a:lnTo>
                    <a:lnTo>
                      <a:pt x="74" y="186"/>
                    </a:lnTo>
                    <a:lnTo>
                      <a:pt x="84" y="186"/>
                    </a:lnTo>
                    <a:lnTo>
                      <a:pt x="84" y="184"/>
                    </a:lnTo>
                    <a:lnTo>
                      <a:pt x="86" y="184"/>
                    </a:lnTo>
                    <a:lnTo>
                      <a:pt x="90" y="186"/>
                    </a:lnTo>
                    <a:lnTo>
                      <a:pt x="92" y="188"/>
                    </a:lnTo>
                    <a:lnTo>
                      <a:pt x="92" y="190"/>
                    </a:lnTo>
                    <a:lnTo>
                      <a:pt x="90" y="190"/>
                    </a:lnTo>
                    <a:lnTo>
                      <a:pt x="88" y="196"/>
                    </a:lnTo>
                    <a:lnTo>
                      <a:pt x="88" y="200"/>
                    </a:lnTo>
                    <a:lnTo>
                      <a:pt x="88" y="204"/>
                    </a:lnTo>
                    <a:lnTo>
                      <a:pt x="94" y="206"/>
                    </a:lnTo>
                    <a:lnTo>
                      <a:pt x="98" y="210"/>
                    </a:lnTo>
                    <a:lnTo>
                      <a:pt x="104" y="210"/>
                    </a:lnTo>
                    <a:lnTo>
                      <a:pt x="104" y="210"/>
                    </a:lnTo>
                    <a:lnTo>
                      <a:pt x="104" y="214"/>
                    </a:lnTo>
                    <a:lnTo>
                      <a:pt x="108" y="212"/>
                    </a:lnTo>
                    <a:lnTo>
                      <a:pt x="110" y="210"/>
                    </a:lnTo>
                    <a:lnTo>
                      <a:pt x="110" y="206"/>
                    </a:lnTo>
                    <a:lnTo>
                      <a:pt x="108" y="198"/>
                    </a:lnTo>
                    <a:lnTo>
                      <a:pt x="110" y="198"/>
                    </a:lnTo>
                    <a:lnTo>
                      <a:pt x="112" y="198"/>
                    </a:lnTo>
                    <a:lnTo>
                      <a:pt x="112" y="202"/>
                    </a:lnTo>
                    <a:lnTo>
                      <a:pt x="114" y="202"/>
                    </a:lnTo>
                    <a:lnTo>
                      <a:pt x="112" y="190"/>
                    </a:lnTo>
                    <a:lnTo>
                      <a:pt x="116" y="186"/>
                    </a:lnTo>
                    <a:lnTo>
                      <a:pt x="118" y="182"/>
                    </a:lnTo>
                    <a:lnTo>
                      <a:pt x="120" y="180"/>
                    </a:lnTo>
                    <a:lnTo>
                      <a:pt x="122" y="180"/>
                    </a:lnTo>
                    <a:lnTo>
                      <a:pt x="122" y="174"/>
                    </a:lnTo>
                    <a:lnTo>
                      <a:pt x="120" y="168"/>
                    </a:lnTo>
                    <a:lnTo>
                      <a:pt x="116" y="152"/>
                    </a:lnTo>
                    <a:lnTo>
                      <a:pt x="110" y="152"/>
                    </a:lnTo>
                    <a:lnTo>
                      <a:pt x="110" y="152"/>
                    </a:lnTo>
                    <a:close/>
                    <a:moveTo>
                      <a:pt x="94" y="140"/>
                    </a:moveTo>
                    <a:lnTo>
                      <a:pt x="94" y="140"/>
                    </a:lnTo>
                    <a:lnTo>
                      <a:pt x="90" y="144"/>
                    </a:lnTo>
                    <a:lnTo>
                      <a:pt x="90" y="146"/>
                    </a:lnTo>
                    <a:lnTo>
                      <a:pt x="96" y="148"/>
                    </a:lnTo>
                    <a:lnTo>
                      <a:pt x="100" y="148"/>
                    </a:lnTo>
                    <a:lnTo>
                      <a:pt x="102" y="144"/>
                    </a:lnTo>
                    <a:lnTo>
                      <a:pt x="98" y="140"/>
                    </a:lnTo>
                    <a:lnTo>
                      <a:pt x="94" y="140"/>
                    </a:lnTo>
                    <a:lnTo>
                      <a:pt x="94" y="140"/>
                    </a:lnTo>
                    <a:close/>
                    <a:moveTo>
                      <a:pt x="78" y="128"/>
                    </a:moveTo>
                    <a:lnTo>
                      <a:pt x="78" y="128"/>
                    </a:lnTo>
                    <a:lnTo>
                      <a:pt x="76" y="138"/>
                    </a:lnTo>
                    <a:lnTo>
                      <a:pt x="68" y="140"/>
                    </a:lnTo>
                    <a:lnTo>
                      <a:pt x="66" y="144"/>
                    </a:lnTo>
                    <a:lnTo>
                      <a:pt x="68" y="148"/>
                    </a:lnTo>
                    <a:lnTo>
                      <a:pt x="72" y="150"/>
                    </a:lnTo>
                    <a:lnTo>
                      <a:pt x="76" y="152"/>
                    </a:lnTo>
                    <a:lnTo>
                      <a:pt x="80" y="154"/>
                    </a:lnTo>
                    <a:lnTo>
                      <a:pt x="80" y="150"/>
                    </a:lnTo>
                    <a:lnTo>
                      <a:pt x="80" y="142"/>
                    </a:lnTo>
                    <a:lnTo>
                      <a:pt x="84" y="134"/>
                    </a:lnTo>
                    <a:lnTo>
                      <a:pt x="84" y="130"/>
                    </a:lnTo>
                    <a:lnTo>
                      <a:pt x="82" y="128"/>
                    </a:lnTo>
                    <a:lnTo>
                      <a:pt x="78" y="128"/>
                    </a:lnTo>
                    <a:lnTo>
                      <a:pt x="78" y="128"/>
                    </a:lnTo>
                    <a:close/>
                    <a:moveTo>
                      <a:pt x="90" y="124"/>
                    </a:moveTo>
                    <a:lnTo>
                      <a:pt x="90" y="124"/>
                    </a:lnTo>
                    <a:lnTo>
                      <a:pt x="90" y="130"/>
                    </a:lnTo>
                    <a:lnTo>
                      <a:pt x="84" y="138"/>
                    </a:lnTo>
                    <a:lnTo>
                      <a:pt x="82" y="144"/>
                    </a:lnTo>
                    <a:lnTo>
                      <a:pt x="82" y="146"/>
                    </a:lnTo>
                    <a:lnTo>
                      <a:pt x="84" y="148"/>
                    </a:lnTo>
                    <a:lnTo>
                      <a:pt x="86" y="146"/>
                    </a:lnTo>
                    <a:lnTo>
                      <a:pt x="86" y="142"/>
                    </a:lnTo>
                    <a:lnTo>
                      <a:pt x="86" y="140"/>
                    </a:lnTo>
                    <a:lnTo>
                      <a:pt x="90" y="138"/>
                    </a:lnTo>
                    <a:lnTo>
                      <a:pt x="92" y="136"/>
                    </a:lnTo>
                    <a:lnTo>
                      <a:pt x="92" y="134"/>
                    </a:lnTo>
                    <a:lnTo>
                      <a:pt x="92" y="126"/>
                    </a:lnTo>
                    <a:lnTo>
                      <a:pt x="90" y="124"/>
                    </a:lnTo>
                    <a:lnTo>
                      <a:pt x="90" y="124"/>
                    </a:lnTo>
                    <a:close/>
                    <a:moveTo>
                      <a:pt x="30" y="122"/>
                    </a:moveTo>
                    <a:lnTo>
                      <a:pt x="30" y="122"/>
                    </a:lnTo>
                    <a:lnTo>
                      <a:pt x="30" y="128"/>
                    </a:lnTo>
                    <a:lnTo>
                      <a:pt x="24" y="134"/>
                    </a:lnTo>
                    <a:lnTo>
                      <a:pt x="24" y="136"/>
                    </a:lnTo>
                    <a:lnTo>
                      <a:pt x="24" y="138"/>
                    </a:lnTo>
                    <a:lnTo>
                      <a:pt x="22" y="140"/>
                    </a:lnTo>
                    <a:lnTo>
                      <a:pt x="20" y="142"/>
                    </a:lnTo>
                    <a:lnTo>
                      <a:pt x="20" y="146"/>
                    </a:lnTo>
                    <a:lnTo>
                      <a:pt x="18" y="150"/>
                    </a:lnTo>
                    <a:lnTo>
                      <a:pt x="14" y="152"/>
                    </a:lnTo>
                    <a:lnTo>
                      <a:pt x="14" y="154"/>
                    </a:lnTo>
                    <a:lnTo>
                      <a:pt x="8" y="154"/>
                    </a:lnTo>
                    <a:lnTo>
                      <a:pt x="8" y="158"/>
                    </a:lnTo>
                    <a:lnTo>
                      <a:pt x="4" y="158"/>
                    </a:lnTo>
                    <a:lnTo>
                      <a:pt x="0" y="168"/>
                    </a:lnTo>
                    <a:lnTo>
                      <a:pt x="10" y="162"/>
                    </a:lnTo>
                    <a:lnTo>
                      <a:pt x="18" y="156"/>
                    </a:lnTo>
                    <a:lnTo>
                      <a:pt x="18" y="152"/>
                    </a:lnTo>
                    <a:lnTo>
                      <a:pt x="22" y="148"/>
                    </a:lnTo>
                    <a:lnTo>
                      <a:pt x="24" y="148"/>
                    </a:lnTo>
                    <a:lnTo>
                      <a:pt x="24" y="146"/>
                    </a:lnTo>
                    <a:lnTo>
                      <a:pt x="26" y="144"/>
                    </a:lnTo>
                    <a:lnTo>
                      <a:pt x="30" y="142"/>
                    </a:lnTo>
                    <a:lnTo>
                      <a:pt x="30" y="138"/>
                    </a:lnTo>
                    <a:lnTo>
                      <a:pt x="34" y="136"/>
                    </a:lnTo>
                    <a:lnTo>
                      <a:pt x="34" y="124"/>
                    </a:lnTo>
                    <a:lnTo>
                      <a:pt x="34" y="122"/>
                    </a:lnTo>
                    <a:lnTo>
                      <a:pt x="30" y="122"/>
                    </a:lnTo>
                    <a:lnTo>
                      <a:pt x="30" y="122"/>
                    </a:lnTo>
                    <a:close/>
                    <a:moveTo>
                      <a:pt x="98" y="120"/>
                    </a:moveTo>
                    <a:lnTo>
                      <a:pt x="98" y="120"/>
                    </a:lnTo>
                    <a:lnTo>
                      <a:pt x="98" y="124"/>
                    </a:lnTo>
                    <a:lnTo>
                      <a:pt x="102" y="124"/>
                    </a:lnTo>
                    <a:lnTo>
                      <a:pt x="102" y="126"/>
                    </a:lnTo>
                    <a:lnTo>
                      <a:pt x="102" y="128"/>
                    </a:lnTo>
                    <a:lnTo>
                      <a:pt x="102" y="128"/>
                    </a:lnTo>
                    <a:lnTo>
                      <a:pt x="102" y="130"/>
                    </a:lnTo>
                    <a:lnTo>
                      <a:pt x="102" y="132"/>
                    </a:lnTo>
                    <a:lnTo>
                      <a:pt x="102" y="134"/>
                    </a:lnTo>
                    <a:lnTo>
                      <a:pt x="104" y="136"/>
                    </a:lnTo>
                    <a:lnTo>
                      <a:pt x="104" y="138"/>
                    </a:lnTo>
                    <a:lnTo>
                      <a:pt x="106" y="140"/>
                    </a:lnTo>
                    <a:lnTo>
                      <a:pt x="110" y="142"/>
                    </a:lnTo>
                    <a:lnTo>
                      <a:pt x="108" y="138"/>
                    </a:lnTo>
                    <a:lnTo>
                      <a:pt x="108" y="136"/>
                    </a:lnTo>
                    <a:lnTo>
                      <a:pt x="108" y="132"/>
                    </a:lnTo>
                    <a:lnTo>
                      <a:pt x="106" y="128"/>
                    </a:lnTo>
                    <a:lnTo>
                      <a:pt x="106" y="126"/>
                    </a:lnTo>
                    <a:lnTo>
                      <a:pt x="108" y="124"/>
                    </a:lnTo>
                    <a:lnTo>
                      <a:pt x="106" y="122"/>
                    </a:lnTo>
                    <a:lnTo>
                      <a:pt x="102" y="120"/>
                    </a:lnTo>
                    <a:lnTo>
                      <a:pt x="98" y="120"/>
                    </a:lnTo>
                    <a:lnTo>
                      <a:pt x="98" y="120"/>
                    </a:lnTo>
                    <a:close/>
                    <a:moveTo>
                      <a:pt x="64" y="116"/>
                    </a:moveTo>
                    <a:lnTo>
                      <a:pt x="64" y="116"/>
                    </a:lnTo>
                    <a:lnTo>
                      <a:pt x="60" y="136"/>
                    </a:lnTo>
                    <a:lnTo>
                      <a:pt x="70" y="130"/>
                    </a:lnTo>
                    <a:lnTo>
                      <a:pt x="74" y="130"/>
                    </a:lnTo>
                    <a:lnTo>
                      <a:pt x="74" y="126"/>
                    </a:lnTo>
                    <a:lnTo>
                      <a:pt x="76" y="126"/>
                    </a:lnTo>
                    <a:lnTo>
                      <a:pt x="76" y="120"/>
                    </a:lnTo>
                    <a:lnTo>
                      <a:pt x="64" y="116"/>
                    </a:lnTo>
                    <a:lnTo>
                      <a:pt x="64" y="116"/>
                    </a:lnTo>
                    <a:close/>
                    <a:moveTo>
                      <a:pt x="80" y="106"/>
                    </a:moveTo>
                    <a:lnTo>
                      <a:pt x="80" y="108"/>
                    </a:lnTo>
                    <a:lnTo>
                      <a:pt x="80" y="110"/>
                    </a:lnTo>
                    <a:lnTo>
                      <a:pt x="80" y="112"/>
                    </a:lnTo>
                    <a:lnTo>
                      <a:pt x="88" y="114"/>
                    </a:lnTo>
                    <a:lnTo>
                      <a:pt x="92" y="114"/>
                    </a:lnTo>
                    <a:lnTo>
                      <a:pt x="90" y="110"/>
                    </a:lnTo>
                    <a:lnTo>
                      <a:pt x="80" y="106"/>
                    </a:lnTo>
                    <a:lnTo>
                      <a:pt x="80" y="106"/>
                    </a:lnTo>
                    <a:close/>
                    <a:moveTo>
                      <a:pt x="100" y="98"/>
                    </a:moveTo>
                    <a:lnTo>
                      <a:pt x="100" y="98"/>
                    </a:lnTo>
                    <a:lnTo>
                      <a:pt x="96" y="102"/>
                    </a:lnTo>
                    <a:lnTo>
                      <a:pt x="96" y="106"/>
                    </a:lnTo>
                    <a:lnTo>
                      <a:pt x="100" y="110"/>
                    </a:lnTo>
                    <a:lnTo>
                      <a:pt x="102" y="114"/>
                    </a:lnTo>
                    <a:lnTo>
                      <a:pt x="102" y="116"/>
                    </a:lnTo>
                    <a:lnTo>
                      <a:pt x="102" y="118"/>
                    </a:lnTo>
                    <a:lnTo>
                      <a:pt x="106" y="120"/>
                    </a:lnTo>
                    <a:lnTo>
                      <a:pt x="108" y="120"/>
                    </a:lnTo>
                    <a:lnTo>
                      <a:pt x="110" y="120"/>
                    </a:lnTo>
                    <a:lnTo>
                      <a:pt x="112" y="124"/>
                    </a:lnTo>
                    <a:lnTo>
                      <a:pt x="108" y="116"/>
                    </a:lnTo>
                    <a:lnTo>
                      <a:pt x="106" y="114"/>
                    </a:lnTo>
                    <a:lnTo>
                      <a:pt x="106" y="108"/>
                    </a:lnTo>
                    <a:lnTo>
                      <a:pt x="108" y="102"/>
                    </a:lnTo>
                    <a:lnTo>
                      <a:pt x="106" y="102"/>
                    </a:lnTo>
                    <a:lnTo>
                      <a:pt x="104" y="98"/>
                    </a:lnTo>
                    <a:lnTo>
                      <a:pt x="100" y="98"/>
                    </a:lnTo>
                    <a:lnTo>
                      <a:pt x="100" y="98"/>
                    </a:lnTo>
                    <a:close/>
                    <a:moveTo>
                      <a:pt x="44" y="86"/>
                    </a:moveTo>
                    <a:lnTo>
                      <a:pt x="44" y="86"/>
                    </a:lnTo>
                    <a:lnTo>
                      <a:pt x="42" y="86"/>
                    </a:lnTo>
                    <a:lnTo>
                      <a:pt x="40" y="88"/>
                    </a:lnTo>
                    <a:lnTo>
                      <a:pt x="42" y="88"/>
                    </a:lnTo>
                    <a:lnTo>
                      <a:pt x="46" y="90"/>
                    </a:lnTo>
                    <a:lnTo>
                      <a:pt x="48" y="94"/>
                    </a:lnTo>
                    <a:lnTo>
                      <a:pt x="50" y="96"/>
                    </a:lnTo>
                    <a:lnTo>
                      <a:pt x="54" y="98"/>
                    </a:lnTo>
                    <a:lnTo>
                      <a:pt x="54" y="102"/>
                    </a:lnTo>
                    <a:lnTo>
                      <a:pt x="56" y="106"/>
                    </a:lnTo>
                    <a:lnTo>
                      <a:pt x="58" y="102"/>
                    </a:lnTo>
                    <a:lnTo>
                      <a:pt x="58" y="100"/>
                    </a:lnTo>
                    <a:lnTo>
                      <a:pt x="56" y="94"/>
                    </a:lnTo>
                    <a:lnTo>
                      <a:pt x="52" y="88"/>
                    </a:lnTo>
                    <a:lnTo>
                      <a:pt x="48" y="86"/>
                    </a:lnTo>
                    <a:lnTo>
                      <a:pt x="44" y="86"/>
                    </a:lnTo>
                    <a:lnTo>
                      <a:pt x="44" y="86"/>
                    </a:lnTo>
                    <a:close/>
                    <a:moveTo>
                      <a:pt x="48" y="0"/>
                    </a:moveTo>
                    <a:lnTo>
                      <a:pt x="48" y="0"/>
                    </a:lnTo>
                    <a:lnTo>
                      <a:pt x="46" y="8"/>
                    </a:lnTo>
                    <a:lnTo>
                      <a:pt x="46" y="12"/>
                    </a:lnTo>
                    <a:lnTo>
                      <a:pt x="42" y="20"/>
                    </a:lnTo>
                    <a:lnTo>
                      <a:pt x="42" y="24"/>
                    </a:lnTo>
                    <a:lnTo>
                      <a:pt x="44" y="26"/>
                    </a:lnTo>
                    <a:lnTo>
                      <a:pt x="44" y="28"/>
                    </a:lnTo>
                    <a:lnTo>
                      <a:pt x="44" y="32"/>
                    </a:lnTo>
                    <a:lnTo>
                      <a:pt x="42" y="34"/>
                    </a:lnTo>
                    <a:lnTo>
                      <a:pt x="42" y="36"/>
                    </a:lnTo>
                    <a:lnTo>
                      <a:pt x="42" y="42"/>
                    </a:lnTo>
                    <a:lnTo>
                      <a:pt x="40" y="42"/>
                    </a:lnTo>
                    <a:lnTo>
                      <a:pt x="40" y="44"/>
                    </a:lnTo>
                    <a:lnTo>
                      <a:pt x="38" y="40"/>
                    </a:lnTo>
                    <a:lnTo>
                      <a:pt x="36" y="40"/>
                    </a:lnTo>
                    <a:lnTo>
                      <a:pt x="36" y="42"/>
                    </a:lnTo>
                    <a:lnTo>
                      <a:pt x="36" y="48"/>
                    </a:lnTo>
                    <a:lnTo>
                      <a:pt x="40" y="50"/>
                    </a:lnTo>
                    <a:lnTo>
                      <a:pt x="40" y="58"/>
                    </a:lnTo>
                    <a:lnTo>
                      <a:pt x="44" y="66"/>
                    </a:lnTo>
                    <a:lnTo>
                      <a:pt x="46" y="62"/>
                    </a:lnTo>
                    <a:lnTo>
                      <a:pt x="48" y="62"/>
                    </a:lnTo>
                    <a:lnTo>
                      <a:pt x="46" y="70"/>
                    </a:lnTo>
                    <a:lnTo>
                      <a:pt x="46" y="76"/>
                    </a:lnTo>
                    <a:lnTo>
                      <a:pt x="52" y="86"/>
                    </a:lnTo>
                    <a:lnTo>
                      <a:pt x="56" y="84"/>
                    </a:lnTo>
                    <a:lnTo>
                      <a:pt x="58" y="82"/>
                    </a:lnTo>
                    <a:lnTo>
                      <a:pt x="60" y="80"/>
                    </a:lnTo>
                    <a:lnTo>
                      <a:pt x="64" y="80"/>
                    </a:lnTo>
                    <a:lnTo>
                      <a:pt x="66" y="82"/>
                    </a:lnTo>
                    <a:lnTo>
                      <a:pt x="70" y="82"/>
                    </a:lnTo>
                    <a:lnTo>
                      <a:pt x="70" y="86"/>
                    </a:lnTo>
                    <a:lnTo>
                      <a:pt x="72" y="88"/>
                    </a:lnTo>
                    <a:lnTo>
                      <a:pt x="74" y="88"/>
                    </a:lnTo>
                    <a:lnTo>
                      <a:pt x="74" y="84"/>
                    </a:lnTo>
                    <a:lnTo>
                      <a:pt x="72" y="82"/>
                    </a:lnTo>
                    <a:lnTo>
                      <a:pt x="76" y="80"/>
                    </a:lnTo>
                    <a:lnTo>
                      <a:pt x="76" y="84"/>
                    </a:lnTo>
                    <a:lnTo>
                      <a:pt x="80" y="88"/>
                    </a:lnTo>
                    <a:lnTo>
                      <a:pt x="82" y="94"/>
                    </a:lnTo>
                    <a:lnTo>
                      <a:pt x="86" y="94"/>
                    </a:lnTo>
                    <a:lnTo>
                      <a:pt x="88" y="94"/>
                    </a:lnTo>
                    <a:lnTo>
                      <a:pt x="88" y="96"/>
                    </a:lnTo>
                    <a:lnTo>
                      <a:pt x="90" y="96"/>
                    </a:lnTo>
                    <a:lnTo>
                      <a:pt x="92" y="92"/>
                    </a:lnTo>
                    <a:lnTo>
                      <a:pt x="90" y="90"/>
                    </a:lnTo>
                    <a:lnTo>
                      <a:pt x="88" y="88"/>
                    </a:lnTo>
                    <a:lnTo>
                      <a:pt x="86" y="84"/>
                    </a:lnTo>
                    <a:lnTo>
                      <a:pt x="88" y="80"/>
                    </a:lnTo>
                    <a:lnTo>
                      <a:pt x="88" y="78"/>
                    </a:lnTo>
                    <a:lnTo>
                      <a:pt x="84" y="74"/>
                    </a:lnTo>
                    <a:lnTo>
                      <a:pt x="80" y="78"/>
                    </a:lnTo>
                    <a:lnTo>
                      <a:pt x="78" y="76"/>
                    </a:lnTo>
                    <a:lnTo>
                      <a:pt x="78" y="72"/>
                    </a:lnTo>
                    <a:lnTo>
                      <a:pt x="76" y="70"/>
                    </a:lnTo>
                    <a:lnTo>
                      <a:pt x="74" y="72"/>
                    </a:lnTo>
                    <a:lnTo>
                      <a:pt x="68" y="72"/>
                    </a:lnTo>
                    <a:lnTo>
                      <a:pt x="62" y="76"/>
                    </a:lnTo>
                    <a:lnTo>
                      <a:pt x="58" y="74"/>
                    </a:lnTo>
                    <a:lnTo>
                      <a:pt x="58" y="64"/>
                    </a:lnTo>
                    <a:lnTo>
                      <a:pt x="56" y="64"/>
                    </a:lnTo>
                    <a:lnTo>
                      <a:pt x="56" y="54"/>
                    </a:lnTo>
                    <a:lnTo>
                      <a:pt x="58" y="48"/>
                    </a:lnTo>
                    <a:lnTo>
                      <a:pt x="58" y="44"/>
                    </a:lnTo>
                    <a:lnTo>
                      <a:pt x="60" y="44"/>
                    </a:lnTo>
                    <a:lnTo>
                      <a:pt x="62" y="44"/>
                    </a:lnTo>
                    <a:lnTo>
                      <a:pt x="64" y="38"/>
                    </a:lnTo>
                    <a:lnTo>
                      <a:pt x="64" y="34"/>
                    </a:lnTo>
                    <a:lnTo>
                      <a:pt x="68" y="34"/>
                    </a:lnTo>
                    <a:lnTo>
                      <a:pt x="70" y="34"/>
                    </a:lnTo>
                    <a:lnTo>
                      <a:pt x="72" y="30"/>
                    </a:lnTo>
                    <a:lnTo>
                      <a:pt x="70" y="20"/>
                    </a:lnTo>
                    <a:lnTo>
                      <a:pt x="66" y="18"/>
                    </a:lnTo>
                    <a:lnTo>
                      <a:pt x="66" y="10"/>
                    </a:lnTo>
                    <a:lnTo>
                      <a:pt x="68" y="4"/>
                    </a:lnTo>
                    <a:lnTo>
                      <a:pt x="68" y="0"/>
                    </a:lnTo>
                    <a:lnTo>
                      <a:pt x="60" y="4"/>
                    </a:lnTo>
                    <a:lnTo>
                      <a:pt x="56" y="6"/>
                    </a:lnTo>
                    <a:lnTo>
                      <a:pt x="54" y="2"/>
                    </a:lnTo>
                    <a:lnTo>
                      <a:pt x="52" y="0"/>
                    </a:lnTo>
                    <a:lnTo>
                      <a:pt x="48" y="0"/>
                    </a:lnTo>
                    <a:lnTo>
                      <a:pt x="48"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06" name="Freeform 178">
                <a:extLst>
                  <a:ext uri="{FF2B5EF4-FFF2-40B4-BE49-F238E27FC236}">
                    <a16:creationId xmlns:a16="http://schemas.microsoft.com/office/drawing/2014/main" id="{95DD9CCF-FB42-3010-6AA6-078E92813BDA}"/>
                  </a:ext>
                </a:extLst>
              </p:cNvPr>
              <p:cNvSpPr>
                <a:spLocks/>
              </p:cNvSpPr>
              <p:nvPr/>
            </p:nvSpPr>
            <p:spPr bwMode="auto">
              <a:xfrm>
                <a:off x="6392665" y="4108147"/>
                <a:ext cx="11668" cy="7686"/>
              </a:xfrm>
              <a:custGeom>
                <a:avLst/>
                <a:gdLst/>
                <a:ahLst/>
                <a:cxnLst>
                  <a:cxn ang="0">
                    <a:pos x="4" y="0"/>
                  </a:cxn>
                  <a:cxn ang="0">
                    <a:pos x="4" y="0"/>
                  </a:cxn>
                  <a:cxn ang="0">
                    <a:pos x="0" y="4"/>
                  </a:cxn>
                  <a:cxn ang="0">
                    <a:pos x="0" y="6"/>
                  </a:cxn>
                  <a:cxn ang="0">
                    <a:pos x="6" y="8"/>
                  </a:cxn>
                  <a:cxn ang="0">
                    <a:pos x="10" y="8"/>
                  </a:cxn>
                  <a:cxn ang="0">
                    <a:pos x="12" y="4"/>
                  </a:cxn>
                  <a:cxn ang="0">
                    <a:pos x="8" y="0"/>
                  </a:cxn>
                  <a:cxn ang="0">
                    <a:pos x="4" y="0"/>
                  </a:cxn>
                </a:cxnLst>
                <a:rect l="0" t="0" r="r" b="b"/>
                <a:pathLst>
                  <a:path w="12" h="8">
                    <a:moveTo>
                      <a:pt x="4" y="0"/>
                    </a:moveTo>
                    <a:lnTo>
                      <a:pt x="4" y="0"/>
                    </a:lnTo>
                    <a:lnTo>
                      <a:pt x="0" y="4"/>
                    </a:lnTo>
                    <a:lnTo>
                      <a:pt x="0" y="6"/>
                    </a:lnTo>
                    <a:lnTo>
                      <a:pt x="6" y="8"/>
                    </a:lnTo>
                    <a:lnTo>
                      <a:pt x="10" y="8"/>
                    </a:lnTo>
                    <a:lnTo>
                      <a:pt x="12" y="4"/>
                    </a:lnTo>
                    <a:lnTo>
                      <a:pt x="8" y="0"/>
                    </a:lnTo>
                    <a:lnTo>
                      <a:pt x="4"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07" name="Freeform 179">
                <a:extLst>
                  <a:ext uri="{FF2B5EF4-FFF2-40B4-BE49-F238E27FC236}">
                    <a16:creationId xmlns:a16="http://schemas.microsoft.com/office/drawing/2014/main" id="{A6DA56B0-0182-D240-05D4-812C306D1AFB}"/>
                  </a:ext>
                </a:extLst>
              </p:cNvPr>
              <p:cNvSpPr>
                <a:spLocks/>
              </p:cNvSpPr>
              <p:nvPr/>
            </p:nvSpPr>
            <p:spPr bwMode="auto">
              <a:xfrm>
                <a:off x="6392665" y="4108147"/>
                <a:ext cx="11668" cy="7686"/>
              </a:xfrm>
              <a:custGeom>
                <a:avLst/>
                <a:gdLst/>
                <a:ahLst/>
                <a:cxnLst>
                  <a:cxn ang="0">
                    <a:pos x="4" y="0"/>
                  </a:cxn>
                  <a:cxn ang="0">
                    <a:pos x="4" y="0"/>
                  </a:cxn>
                  <a:cxn ang="0">
                    <a:pos x="0" y="4"/>
                  </a:cxn>
                  <a:cxn ang="0">
                    <a:pos x="0" y="6"/>
                  </a:cxn>
                  <a:cxn ang="0">
                    <a:pos x="6" y="8"/>
                  </a:cxn>
                  <a:cxn ang="0">
                    <a:pos x="10" y="8"/>
                  </a:cxn>
                  <a:cxn ang="0">
                    <a:pos x="12" y="4"/>
                  </a:cxn>
                  <a:cxn ang="0">
                    <a:pos x="8" y="0"/>
                  </a:cxn>
                  <a:cxn ang="0">
                    <a:pos x="4" y="0"/>
                  </a:cxn>
                </a:cxnLst>
                <a:rect l="0" t="0" r="r" b="b"/>
                <a:pathLst>
                  <a:path w="12" h="8">
                    <a:moveTo>
                      <a:pt x="4" y="0"/>
                    </a:moveTo>
                    <a:lnTo>
                      <a:pt x="4" y="0"/>
                    </a:lnTo>
                    <a:lnTo>
                      <a:pt x="0" y="4"/>
                    </a:lnTo>
                    <a:lnTo>
                      <a:pt x="0" y="6"/>
                    </a:lnTo>
                    <a:lnTo>
                      <a:pt x="6" y="8"/>
                    </a:lnTo>
                    <a:lnTo>
                      <a:pt x="10" y="8"/>
                    </a:lnTo>
                    <a:lnTo>
                      <a:pt x="12" y="4"/>
                    </a:lnTo>
                    <a:lnTo>
                      <a:pt x="8" y="0"/>
                    </a:lnTo>
                    <a:lnTo>
                      <a:pt x="4"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08" name="Freeform 180">
                <a:extLst>
                  <a:ext uri="{FF2B5EF4-FFF2-40B4-BE49-F238E27FC236}">
                    <a16:creationId xmlns:a16="http://schemas.microsoft.com/office/drawing/2014/main" id="{D303D608-794F-FF88-C6B6-F2569C639B61}"/>
                  </a:ext>
                </a:extLst>
              </p:cNvPr>
              <p:cNvSpPr>
                <a:spLocks/>
              </p:cNvSpPr>
              <p:nvPr/>
            </p:nvSpPr>
            <p:spPr bwMode="auto">
              <a:xfrm>
                <a:off x="6369328" y="4096619"/>
                <a:ext cx="17503" cy="24978"/>
              </a:xfrm>
              <a:custGeom>
                <a:avLst/>
                <a:gdLst/>
                <a:ahLst/>
                <a:cxnLst>
                  <a:cxn ang="0">
                    <a:pos x="12" y="0"/>
                  </a:cxn>
                  <a:cxn ang="0">
                    <a:pos x="12" y="0"/>
                  </a:cxn>
                  <a:cxn ang="0">
                    <a:pos x="10" y="10"/>
                  </a:cxn>
                  <a:cxn ang="0">
                    <a:pos x="2" y="12"/>
                  </a:cxn>
                  <a:cxn ang="0">
                    <a:pos x="0" y="16"/>
                  </a:cxn>
                  <a:cxn ang="0">
                    <a:pos x="2" y="20"/>
                  </a:cxn>
                  <a:cxn ang="0">
                    <a:pos x="6" y="22"/>
                  </a:cxn>
                  <a:cxn ang="0">
                    <a:pos x="10" y="24"/>
                  </a:cxn>
                  <a:cxn ang="0">
                    <a:pos x="14" y="26"/>
                  </a:cxn>
                  <a:cxn ang="0">
                    <a:pos x="14" y="22"/>
                  </a:cxn>
                  <a:cxn ang="0">
                    <a:pos x="14" y="14"/>
                  </a:cxn>
                  <a:cxn ang="0">
                    <a:pos x="18" y="6"/>
                  </a:cxn>
                  <a:cxn ang="0">
                    <a:pos x="18" y="2"/>
                  </a:cxn>
                  <a:cxn ang="0">
                    <a:pos x="16" y="0"/>
                  </a:cxn>
                  <a:cxn ang="0">
                    <a:pos x="12" y="0"/>
                  </a:cxn>
                </a:cxnLst>
                <a:rect l="0" t="0" r="r" b="b"/>
                <a:pathLst>
                  <a:path w="18" h="26">
                    <a:moveTo>
                      <a:pt x="12" y="0"/>
                    </a:moveTo>
                    <a:lnTo>
                      <a:pt x="12" y="0"/>
                    </a:lnTo>
                    <a:lnTo>
                      <a:pt x="10" y="10"/>
                    </a:lnTo>
                    <a:lnTo>
                      <a:pt x="2" y="12"/>
                    </a:lnTo>
                    <a:lnTo>
                      <a:pt x="0" y="16"/>
                    </a:lnTo>
                    <a:lnTo>
                      <a:pt x="2" y="20"/>
                    </a:lnTo>
                    <a:lnTo>
                      <a:pt x="6" y="22"/>
                    </a:lnTo>
                    <a:lnTo>
                      <a:pt x="10" y="24"/>
                    </a:lnTo>
                    <a:lnTo>
                      <a:pt x="14" y="26"/>
                    </a:lnTo>
                    <a:lnTo>
                      <a:pt x="14" y="22"/>
                    </a:lnTo>
                    <a:lnTo>
                      <a:pt x="14" y="14"/>
                    </a:lnTo>
                    <a:lnTo>
                      <a:pt x="18" y="6"/>
                    </a:lnTo>
                    <a:lnTo>
                      <a:pt x="18" y="2"/>
                    </a:lnTo>
                    <a:lnTo>
                      <a:pt x="16" y="0"/>
                    </a:lnTo>
                    <a:lnTo>
                      <a:pt x="1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09" name="Freeform 181">
                <a:extLst>
                  <a:ext uri="{FF2B5EF4-FFF2-40B4-BE49-F238E27FC236}">
                    <a16:creationId xmlns:a16="http://schemas.microsoft.com/office/drawing/2014/main" id="{2F85D6EF-635F-EA33-8855-401A8374015E}"/>
                  </a:ext>
                </a:extLst>
              </p:cNvPr>
              <p:cNvSpPr>
                <a:spLocks/>
              </p:cNvSpPr>
              <p:nvPr/>
            </p:nvSpPr>
            <p:spPr bwMode="auto">
              <a:xfrm>
                <a:off x="6369328" y="4096619"/>
                <a:ext cx="17503" cy="24978"/>
              </a:xfrm>
              <a:custGeom>
                <a:avLst/>
                <a:gdLst/>
                <a:ahLst/>
                <a:cxnLst>
                  <a:cxn ang="0">
                    <a:pos x="12" y="0"/>
                  </a:cxn>
                  <a:cxn ang="0">
                    <a:pos x="12" y="0"/>
                  </a:cxn>
                  <a:cxn ang="0">
                    <a:pos x="10" y="10"/>
                  </a:cxn>
                  <a:cxn ang="0">
                    <a:pos x="2" y="12"/>
                  </a:cxn>
                  <a:cxn ang="0">
                    <a:pos x="0" y="16"/>
                  </a:cxn>
                  <a:cxn ang="0">
                    <a:pos x="2" y="20"/>
                  </a:cxn>
                  <a:cxn ang="0">
                    <a:pos x="6" y="22"/>
                  </a:cxn>
                  <a:cxn ang="0">
                    <a:pos x="10" y="24"/>
                  </a:cxn>
                  <a:cxn ang="0">
                    <a:pos x="14" y="26"/>
                  </a:cxn>
                  <a:cxn ang="0">
                    <a:pos x="14" y="22"/>
                  </a:cxn>
                  <a:cxn ang="0">
                    <a:pos x="14" y="14"/>
                  </a:cxn>
                  <a:cxn ang="0">
                    <a:pos x="18" y="6"/>
                  </a:cxn>
                  <a:cxn ang="0">
                    <a:pos x="18" y="2"/>
                  </a:cxn>
                  <a:cxn ang="0">
                    <a:pos x="16" y="0"/>
                  </a:cxn>
                  <a:cxn ang="0">
                    <a:pos x="12" y="0"/>
                  </a:cxn>
                </a:cxnLst>
                <a:rect l="0" t="0" r="r" b="b"/>
                <a:pathLst>
                  <a:path w="18" h="26">
                    <a:moveTo>
                      <a:pt x="12" y="0"/>
                    </a:moveTo>
                    <a:lnTo>
                      <a:pt x="12" y="0"/>
                    </a:lnTo>
                    <a:lnTo>
                      <a:pt x="10" y="10"/>
                    </a:lnTo>
                    <a:lnTo>
                      <a:pt x="2" y="12"/>
                    </a:lnTo>
                    <a:lnTo>
                      <a:pt x="0" y="16"/>
                    </a:lnTo>
                    <a:lnTo>
                      <a:pt x="2" y="20"/>
                    </a:lnTo>
                    <a:lnTo>
                      <a:pt x="6" y="22"/>
                    </a:lnTo>
                    <a:lnTo>
                      <a:pt x="10" y="24"/>
                    </a:lnTo>
                    <a:lnTo>
                      <a:pt x="14" y="26"/>
                    </a:lnTo>
                    <a:lnTo>
                      <a:pt x="14" y="22"/>
                    </a:lnTo>
                    <a:lnTo>
                      <a:pt x="14" y="14"/>
                    </a:lnTo>
                    <a:lnTo>
                      <a:pt x="18" y="6"/>
                    </a:lnTo>
                    <a:lnTo>
                      <a:pt x="18" y="2"/>
                    </a:lnTo>
                    <a:lnTo>
                      <a:pt x="16" y="0"/>
                    </a:lnTo>
                    <a:lnTo>
                      <a:pt x="1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10" name="Freeform 182">
                <a:extLst>
                  <a:ext uri="{FF2B5EF4-FFF2-40B4-BE49-F238E27FC236}">
                    <a16:creationId xmlns:a16="http://schemas.microsoft.com/office/drawing/2014/main" id="{530AD8DF-C5A0-63BD-47B5-C1DD47706079}"/>
                  </a:ext>
                </a:extLst>
              </p:cNvPr>
              <p:cNvSpPr>
                <a:spLocks/>
              </p:cNvSpPr>
              <p:nvPr/>
            </p:nvSpPr>
            <p:spPr bwMode="auto">
              <a:xfrm>
                <a:off x="6305154" y="4090854"/>
                <a:ext cx="33060" cy="44191"/>
              </a:xfrm>
              <a:custGeom>
                <a:avLst/>
                <a:gdLst/>
                <a:ahLst/>
                <a:cxnLst>
                  <a:cxn ang="0">
                    <a:pos x="30" y="0"/>
                  </a:cxn>
                  <a:cxn ang="0">
                    <a:pos x="30" y="0"/>
                  </a:cxn>
                  <a:cxn ang="0">
                    <a:pos x="30" y="6"/>
                  </a:cxn>
                  <a:cxn ang="0">
                    <a:pos x="24" y="12"/>
                  </a:cxn>
                  <a:cxn ang="0">
                    <a:pos x="24" y="14"/>
                  </a:cxn>
                  <a:cxn ang="0">
                    <a:pos x="24" y="16"/>
                  </a:cxn>
                  <a:cxn ang="0">
                    <a:pos x="22" y="18"/>
                  </a:cxn>
                  <a:cxn ang="0">
                    <a:pos x="20" y="20"/>
                  </a:cxn>
                  <a:cxn ang="0">
                    <a:pos x="20" y="24"/>
                  </a:cxn>
                  <a:cxn ang="0">
                    <a:pos x="18" y="28"/>
                  </a:cxn>
                  <a:cxn ang="0">
                    <a:pos x="14" y="30"/>
                  </a:cxn>
                  <a:cxn ang="0">
                    <a:pos x="14" y="32"/>
                  </a:cxn>
                  <a:cxn ang="0">
                    <a:pos x="8" y="32"/>
                  </a:cxn>
                  <a:cxn ang="0">
                    <a:pos x="8" y="36"/>
                  </a:cxn>
                  <a:cxn ang="0">
                    <a:pos x="4" y="36"/>
                  </a:cxn>
                  <a:cxn ang="0">
                    <a:pos x="0" y="46"/>
                  </a:cxn>
                  <a:cxn ang="0">
                    <a:pos x="10" y="40"/>
                  </a:cxn>
                  <a:cxn ang="0">
                    <a:pos x="18" y="34"/>
                  </a:cxn>
                  <a:cxn ang="0">
                    <a:pos x="18" y="30"/>
                  </a:cxn>
                  <a:cxn ang="0">
                    <a:pos x="22" y="26"/>
                  </a:cxn>
                  <a:cxn ang="0">
                    <a:pos x="24" y="26"/>
                  </a:cxn>
                  <a:cxn ang="0">
                    <a:pos x="24" y="24"/>
                  </a:cxn>
                  <a:cxn ang="0">
                    <a:pos x="26" y="22"/>
                  </a:cxn>
                  <a:cxn ang="0">
                    <a:pos x="30" y="20"/>
                  </a:cxn>
                  <a:cxn ang="0">
                    <a:pos x="30" y="16"/>
                  </a:cxn>
                  <a:cxn ang="0">
                    <a:pos x="34" y="14"/>
                  </a:cxn>
                  <a:cxn ang="0">
                    <a:pos x="34" y="2"/>
                  </a:cxn>
                  <a:cxn ang="0">
                    <a:pos x="34" y="0"/>
                  </a:cxn>
                  <a:cxn ang="0">
                    <a:pos x="30" y="0"/>
                  </a:cxn>
                </a:cxnLst>
                <a:rect l="0" t="0" r="r" b="b"/>
                <a:pathLst>
                  <a:path w="34" h="46">
                    <a:moveTo>
                      <a:pt x="30" y="0"/>
                    </a:moveTo>
                    <a:lnTo>
                      <a:pt x="30" y="0"/>
                    </a:lnTo>
                    <a:lnTo>
                      <a:pt x="30" y="6"/>
                    </a:lnTo>
                    <a:lnTo>
                      <a:pt x="24" y="12"/>
                    </a:lnTo>
                    <a:lnTo>
                      <a:pt x="24" y="14"/>
                    </a:lnTo>
                    <a:lnTo>
                      <a:pt x="24" y="16"/>
                    </a:lnTo>
                    <a:lnTo>
                      <a:pt x="22" y="18"/>
                    </a:lnTo>
                    <a:lnTo>
                      <a:pt x="20" y="20"/>
                    </a:lnTo>
                    <a:lnTo>
                      <a:pt x="20" y="24"/>
                    </a:lnTo>
                    <a:lnTo>
                      <a:pt x="18" y="28"/>
                    </a:lnTo>
                    <a:lnTo>
                      <a:pt x="14" y="30"/>
                    </a:lnTo>
                    <a:lnTo>
                      <a:pt x="14" y="32"/>
                    </a:lnTo>
                    <a:lnTo>
                      <a:pt x="8" y="32"/>
                    </a:lnTo>
                    <a:lnTo>
                      <a:pt x="8" y="36"/>
                    </a:lnTo>
                    <a:lnTo>
                      <a:pt x="4" y="36"/>
                    </a:lnTo>
                    <a:lnTo>
                      <a:pt x="0" y="46"/>
                    </a:lnTo>
                    <a:lnTo>
                      <a:pt x="10" y="40"/>
                    </a:lnTo>
                    <a:lnTo>
                      <a:pt x="18" y="34"/>
                    </a:lnTo>
                    <a:lnTo>
                      <a:pt x="18" y="30"/>
                    </a:lnTo>
                    <a:lnTo>
                      <a:pt x="22" y="26"/>
                    </a:lnTo>
                    <a:lnTo>
                      <a:pt x="24" y="26"/>
                    </a:lnTo>
                    <a:lnTo>
                      <a:pt x="24" y="24"/>
                    </a:lnTo>
                    <a:lnTo>
                      <a:pt x="26" y="22"/>
                    </a:lnTo>
                    <a:lnTo>
                      <a:pt x="30" y="20"/>
                    </a:lnTo>
                    <a:lnTo>
                      <a:pt x="30" y="16"/>
                    </a:lnTo>
                    <a:lnTo>
                      <a:pt x="34" y="14"/>
                    </a:lnTo>
                    <a:lnTo>
                      <a:pt x="34" y="2"/>
                    </a:lnTo>
                    <a:lnTo>
                      <a:pt x="34" y="0"/>
                    </a:lnTo>
                    <a:lnTo>
                      <a:pt x="3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11" name="Freeform 183">
                <a:extLst>
                  <a:ext uri="{FF2B5EF4-FFF2-40B4-BE49-F238E27FC236}">
                    <a16:creationId xmlns:a16="http://schemas.microsoft.com/office/drawing/2014/main" id="{FA8786D2-B370-3FB7-8002-25BA1365C913}"/>
                  </a:ext>
                </a:extLst>
              </p:cNvPr>
              <p:cNvSpPr>
                <a:spLocks/>
              </p:cNvSpPr>
              <p:nvPr/>
            </p:nvSpPr>
            <p:spPr bwMode="auto">
              <a:xfrm>
                <a:off x="6305154" y="4090854"/>
                <a:ext cx="33060" cy="44191"/>
              </a:xfrm>
              <a:custGeom>
                <a:avLst/>
                <a:gdLst/>
                <a:ahLst/>
                <a:cxnLst>
                  <a:cxn ang="0">
                    <a:pos x="30" y="0"/>
                  </a:cxn>
                  <a:cxn ang="0">
                    <a:pos x="30" y="0"/>
                  </a:cxn>
                  <a:cxn ang="0">
                    <a:pos x="30" y="6"/>
                  </a:cxn>
                  <a:cxn ang="0">
                    <a:pos x="24" y="12"/>
                  </a:cxn>
                  <a:cxn ang="0">
                    <a:pos x="24" y="14"/>
                  </a:cxn>
                  <a:cxn ang="0">
                    <a:pos x="24" y="16"/>
                  </a:cxn>
                  <a:cxn ang="0">
                    <a:pos x="22" y="18"/>
                  </a:cxn>
                  <a:cxn ang="0">
                    <a:pos x="20" y="20"/>
                  </a:cxn>
                  <a:cxn ang="0">
                    <a:pos x="20" y="24"/>
                  </a:cxn>
                  <a:cxn ang="0">
                    <a:pos x="18" y="28"/>
                  </a:cxn>
                  <a:cxn ang="0">
                    <a:pos x="14" y="30"/>
                  </a:cxn>
                  <a:cxn ang="0">
                    <a:pos x="14" y="32"/>
                  </a:cxn>
                  <a:cxn ang="0">
                    <a:pos x="8" y="32"/>
                  </a:cxn>
                  <a:cxn ang="0">
                    <a:pos x="8" y="36"/>
                  </a:cxn>
                  <a:cxn ang="0">
                    <a:pos x="4" y="36"/>
                  </a:cxn>
                  <a:cxn ang="0">
                    <a:pos x="0" y="46"/>
                  </a:cxn>
                  <a:cxn ang="0">
                    <a:pos x="10" y="40"/>
                  </a:cxn>
                  <a:cxn ang="0">
                    <a:pos x="18" y="34"/>
                  </a:cxn>
                  <a:cxn ang="0">
                    <a:pos x="18" y="30"/>
                  </a:cxn>
                  <a:cxn ang="0">
                    <a:pos x="22" y="26"/>
                  </a:cxn>
                  <a:cxn ang="0">
                    <a:pos x="24" y="26"/>
                  </a:cxn>
                  <a:cxn ang="0">
                    <a:pos x="24" y="24"/>
                  </a:cxn>
                  <a:cxn ang="0">
                    <a:pos x="26" y="22"/>
                  </a:cxn>
                  <a:cxn ang="0">
                    <a:pos x="30" y="20"/>
                  </a:cxn>
                  <a:cxn ang="0">
                    <a:pos x="30" y="16"/>
                  </a:cxn>
                  <a:cxn ang="0">
                    <a:pos x="34" y="14"/>
                  </a:cxn>
                  <a:cxn ang="0">
                    <a:pos x="34" y="2"/>
                  </a:cxn>
                  <a:cxn ang="0">
                    <a:pos x="34" y="0"/>
                  </a:cxn>
                  <a:cxn ang="0">
                    <a:pos x="30" y="0"/>
                  </a:cxn>
                </a:cxnLst>
                <a:rect l="0" t="0" r="r" b="b"/>
                <a:pathLst>
                  <a:path w="34" h="46">
                    <a:moveTo>
                      <a:pt x="30" y="0"/>
                    </a:moveTo>
                    <a:lnTo>
                      <a:pt x="30" y="0"/>
                    </a:lnTo>
                    <a:lnTo>
                      <a:pt x="30" y="6"/>
                    </a:lnTo>
                    <a:lnTo>
                      <a:pt x="24" y="12"/>
                    </a:lnTo>
                    <a:lnTo>
                      <a:pt x="24" y="14"/>
                    </a:lnTo>
                    <a:lnTo>
                      <a:pt x="24" y="16"/>
                    </a:lnTo>
                    <a:lnTo>
                      <a:pt x="22" y="18"/>
                    </a:lnTo>
                    <a:lnTo>
                      <a:pt x="20" y="20"/>
                    </a:lnTo>
                    <a:lnTo>
                      <a:pt x="20" y="24"/>
                    </a:lnTo>
                    <a:lnTo>
                      <a:pt x="18" y="28"/>
                    </a:lnTo>
                    <a:lnTo>
                      <a:pt x="14" y="30"/>
                    </a:lnTo>
                    <a:lnTo>
                      <a:pt x="14" y="32"/>
                    </a:lnTo>
                    <a:lnTo>
                      <a:pt x="8" y="32"/>
                    </a:lnTo>
                    <a:lnTo>
                      <a:pt x="8" y="36"/>
                    </a:lnTo>
                    <a:lnTo>
                      <a:pt x="4" y="36"/>
                    </a:lnTo>
                    <a:lnTo>
                      <a:pt x="0" y="46"/>
                    </a:lnTo>
                    <a:lnTo>
                      <a:pt x="10" y="40"/>
                    </a:lnTo>
                    <a:lnTo>
                      <a:pt x="18" y="34"/>
                    </a:lnTo>
                    <a:lnTo>
                      <a:pt x="18" y="30"/>
                    </a:lnTo>
                    <a:lnTo>
                      <a:pt x="22" y="26"/>
                    </a:lnTo>
                    <a:lnTo>
                      <a:pt x="24" y="26"/>
                    </a:lnTo>
                    <a:lnTo>
                      <a:pt x="24" y="24"/>
                    </a:lnTo>
                    <a:lnTo>
                      <a:pt x="26" y="22"/>
                    </a:lnTo>
                    <a:lnTo>
                      <a:pt x="30" y="20"/>
                    </a:lnTo>
                    <a:lnTo>
                      <a:pt x="30" y="16"/>
                    </a:lnTo>
                    <a:lnTo>
                      <a:pt x="34" y="14"/>
                    </a:lnTo>
                    <a:lnTo>
                      <a:pt x="34" y="2"/>
                    </a:lnTo>
                    <a:lnTo>
                      <a:pt x="34" y="0"/>
                    </a:lnTo>
                    <a:lnTo>
                      <a:pt x="3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12" name="Freeform 184">
                <a:extLst>
                  <a:ext uri="{FF2B5EF4-FFF2-40B4-BE49-F238E27FC236}">
                    <a16:creationId xmlns:a16="http://schemas.microsoft.com/office/drawing/2014/main" id="{BDDA8392-3131-B807-DFA3-78312B066687}"/>
                  </a:ext>
                </a:extLst>
              </p:cNvPr>
              <p:cNvSpPr>
                <a:spLocks/>
              </p:cNvSpPr>
              <p:nvPr/>
            </p:nvSpPr>
            <p:spPr bwMode="auto">
              <a:xfrm>
                <a:off x="6363494" y="4085090"/>
                <a:ext cx="15557" cy="19214"/>
              </a:xfrm>
              <a:custGeom>
                <a:avLst/>
                <a:gdLst/>
                <a:ahLst/>
                <a:cxnLst>
                  <a:cxn ang="0">
                    <a:pos x="4" y="0"/>
                  </a:cxn>
                  <a:cxn ang="0">
                    <a:pos x="4" y="0"/>
                  </a:cxn>
                  <a:cxn ang="0">
                    <a:pos x="0" y="20"/>
                  </a:cxn>
                  <a:cxn ang="0">
                    <a:pos x="10" y="14"/>
                  </a:cxn>
                  <a:cxn ang="0">
                    <a:pos x="14" y="14"/>
                  </a:cxn>
                  <a:cxn ang="0">
                    <a:pos x="14" y="10"/>
                  </a:cxn>
                  <a:cxn ang="0">
                    <a:pos x="16" y="10"/>
                  </a:cxn>
                  <a:cxn ang="0">
                    <a:pos x="16" y="4"/>
                  </a:cxn>
                  <a:cxn ang="0">
                    <a:pos x="4" y="0"/>
                  </a:cxn>
                </a:cxnLst>
                <a:rect l="0" t="0" r="r" b="b"/>
                <a:pathLst>
                  <a:path w="16" h="20">
                    <a:moveTo>
                      <a:pt x="4" y="0"/>
                    </a:moveTo>
                    <a:lnTo>
                      <a:pt x="4" y="0"/>
                    </a:lnTo>
                    <a:lnTo>
                      <a:pt x="0" y="20"/>
                    </a:lnTo>
                    <a:lnTo>
                      <a:pt x="10" y="14"/>
                    </a:lnTo>
                    <a:lnTo>
                      <a:pt x="14" y="14"/>
                    </a:lnTo>
                    <a:lnTo>
                      <a:pt x="14" y="10"/>
                    </a:lnTo>
                    <a:lnTo>
                      <a:pt x="16" y="10"/>
                    </a:lnTo>
                    <a:lnTo>
                      <a:pt x="16" y="4"/>
                    </a:lnTo>
                    <a:lnTo>
                      <a:pt x="4"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13" name="Freeform 185">
                <a:extLst>
                  <a:ext uri="{FF2B5EF4-FFF2-40B4-BE49-F238E27FC236}">
                    <a16:creationId xmlns:a16="http://schemas.microsoft.com/office/drawing/2014/main" id="{E525916E-800D-EAF6-637C-E03EE444EDDE}"/>
                  </a:ext>
                </a:extLst>
              </p:cNvPr>
              <p:cNvSpPr>
                <a:spLocks/>
              </p:cNvSpPr>
              <p:nvPr/>
            </p:nvSpPr>
            <p:spPr bwMode="auto">
              <a:xfrm>
                <a:off x="6363494" y="4085090"/>
                <a:ext cx="15557" cy="19214"/>
              </a:xfrm>
              <a:custGeom>
                <a:avLst/>
                <a:gdLst/>
                <a:ahLst/>
                <a:cxnLst>
                  <a:cxn ang="0">
                    <a:pos x="4" y="0"/>
                  </a:cxn>
                  <a:cxn ang="0">
                    <a:pos x="4" y="0"/>
                  </a:cxn>
                  <a:cxn ang="0">
                    <a:pos x="0" y="20"/>
                  </a:cxn>
                  <a:cxn ang="0">
                    <a:pos x="10" y="14"/>
                  </a:cxn>
                  <a:cxn ang="0">
                    <a:pos x="14" y="14"/>
                  </a:cxn>
                  <a:cxn ang="0">
                    <a:pos x="14" y="10"/>
                  </a:cxn>
                  <a:cxn ang="0">
                    <a:pos x="16" y="10"/>
                  </a:cxn>
                  <a:cxn ang="0">
                    <a:pos x="16" y="4"/>
                  </a:cxn>
                  <a:cxn ang="0">
                    <a:pos x="4" y="0"/>
                  </a:cxn>
                </a:cxnLst>
                <a:rect l="0" t="0" r="r" b="b"/>
                <a:pathLst>
                  <a:path w="16" h="20">
                    <a:moveTo>
                      <a:pt x="4" y="0"/>
                    </a:moveTo>
                    <a:lnTo>
                      <a:pt x="4" y="0"/>
                    </a:lnTo>
                    <a:lnTo>
                      <a:pt x="0" y="20"/>
                    </a:lnTo>
                    <a:lnTo>
                      <a:pt x="10" y="14"/>
                    </a:lnTo>
                    <a:lnTo>
                      <a:pt x="14" y="14"/>
                    </a:lnTo>
                    <a:lnTo>
                      <a:pt x="14" y="10"/>
                    </a:lnTo>
                    <a:lnTo>
                      <a:pt x="16" y="10"/>
                    </a:lnTo>
                    <a:lnTo>
                      <a:pt x="16" y="4"/>
                    </a:lnTo>
                    <a:lnTo>
                      <a:pt x="4"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14" name="Freeform 186">
                <a:extLst>
                  <a:ext uri="{FF2B5EF4-FFF2-40B4-BE49-F238E27FC236}">
                    <a16:creationId xmlns:a16="http://schemas.microsoft.com/office/drawing/2014/main" id="{CE00EEB6-D62D-53ED-2692-F86B29F1BF16}"/>
                  </a:ext>
                </a:extLst>
              </p:cNvPr>
              <p:cNvSpPr>
                <a:spLocks/>
              </p:cNvSpPr>
              <p:nvPr/>
            </p:nvSpPr>
            <p:spPr bwMode="auto">
              <a:xfrm>
                <a:off x="6382941" y="4075483"/>
                <a:ext cx="11668" cy="7686"/>
              </a:xfrm>
              <a:custGeom>
                <a:avLst/>
                <a:gdLst/>
                <a:ahLst/>
                <a:cxnLst>
                  <a:cxn ang="0">
                    <a:pos x="0" y="0"/>
                  </a:cxn>
                  <a:cxn ang="0">
                    <a:pos x="0" y="2"/>
                  </a:cxn>
                  <a:cxn ang="0">
                    <a:pos x="0" y="4"/>
                  </a:cxn>
                  <a:cxn ang="0">
                    <a:pos x="0" y="6"/>
                  </a:cxn>
                  <a:cxn ang="0">
                    <a:pos x="8" y="8"/>
                  </a:cxn>
                  <a:cxn ang="0">
                    <a:pos x="12" y="8"/>
                  </a:cxn>
                  <a:cxn ang="0">
                    <a:pos x="10" y="4"/>
                  </a:cxn>
                  <a:cxn ang="0">
                    <a:pos x="0" y="0"/>
                  </a:cxn>
                </a:cxnLst>
                <a:rect l="0" t="0" r="r" b="b"/>
                <a:pathLst>
                  <a:path w="12" h="8">
                    <a:moveTo>
                      <a:pt x="0" y="0"/>
                    </a:moveTo>
                    <a:lnTo>
                      <a:pt x="0" y="2"/>
                    </a:lnTo>
                    <a:lnTo>
                      <a:pt x="0" y="4"/>
                    </a:lnTo>
                    <a:lnTo>
                      <a:pt x="0" y="6"/>
                    </a:lnTo>
                    <a:lnTo>
                      <a:pt x="8" y="8"/>
                    </a:lnTo>
                    <a:lnTo>
                      <a:pt x="12" y="8"/>
                    </a:lnTo>
                    <a:lnTo>
                      <a:pt x="10" y="4"/>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15" name="Freeform 187">
                <a:extLst>
                  <a:ext uri="{FF2B5EF4-FFF2-40B4-BE49-F238E27FC236}">
                    <a16:creationId xmlns:a16="http://schemas.microsoft.com/office/drawing/2014/main" id="{C6C21F2E-6358-3EA9-420B-3A42270AD1CB}"/>
                  </a:ext>
                </a:extLst>
              </p:cNvPr>
              <p:cNvSpPr>
                <a:spLocks/>
              </p:cNvSpPr>
              <p:nvPr/>
            </p:nvSpPr>
            <p:spPr bwMode="auto">
              <a:xfrm>
                <a:off x="6382941" y="4075483"/>
                <a:ext cx="11668" cy="7686"/>
              </a:xfrm>
              <a:custGeom>
                <a:avLst/>
                <a:gdLst/>
                <a:ahLst/>
                <a:cxnLst>
                  <a:cxn ang="0">
                    <a:pos x="0" y="0"/>
                  </a:cxn>
                  <a:cxn ang="0">
                    <a:pos x="0" y="2"/>
                  </a:cxn>
                  <a:cxn ang="0">
                    <a:pos x="0" y="4"/>
                  </a:cxn>
                  <a:cxn ang="0">
                    <a:pos x="0" y="6"/>
                  </a:cxn>
                  <a:cxn ang="0">
                    <a:pos x="8" y="8"/>
                  </a:cxn>
                  <a:cxn ang="0">
                    <a:pos x="12" y="8"/>
                  </a:cxn>
                  <a:cxn ang="0">
                    <a:pos x="10" y="4"/>
                  </a:cxn>
                  <a:cxn ang="0">
                    <a:pos x="0" y="0"/>
                  </a:cxn>
                </a:cxnLst>
                <a:rect l="0" t="0" r="r" b="b"/>
                <a:pathLst>
                  <a:path w="12" h="8">
                    <a:moveTo>
                      <a:pt x="0" y="0"/>
                    </a:moveTo>
                    <a:lnTo>
                      <a:pt x="0" y="2"/>
                    </a:lnTo>
                    <a:lnTo>
                      <a:pt x="0" y="4"/>
                    </a:lnTo>
                    <a:lnTo>
                      <a:pt x="0" y="6"/>
                    </a:lnTo>
                    <a:lnTo>
                      <a:pt x="8" y="8"/>
                    </a:lnTo>
                    <a:lnTo>
                      <a:pt x="12" y="8"/>
                    </a:lnTo>
                    <a:lnTo>
                      <a:pt x="10" y="4"/>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16" name="Freeform 188">
                <a:extLst>
                  <a:ext uri="{FF2B5EF4-FFF2-40B4-BE49-F238E27FC236}">
                    <a16:creationId xmlns:a16="http://schemas.microsoft.com/office/drawing/2014/main" id="{B542D16A-2941-4C9B-B68E-D504F5C1AF68}"/>
                  </a:ext>
                </a:extLst>
              </p:cNvPr>
              <p:cNvSpPr>
                <a:spLocks/>
              </p:cNvSpPr>
              <p:nvPr/>
            </p:nvSpPr>
            <p:spPr bwMode="auto">
              <a:xfrm>
                <a:off x="6398499" y="4067798"/>
                <a:ext cx="15557" cy="24978"/>
              </a:xfrm>
              <a:custGeom>
                <a:avLst/>
                <a:gdLst/>
                <a:ahLst/>
                <a:cxnLst>
                  <a:cxn ang="0">
                    <a:pos x="4" y="0"/>
                  </a:cxn>
                  <a:cxn ang="0">
                    <a:pos x="4" y="0"/>
                  </a:cxn>
                  <a:cxn ang="0">
                    <a:pos x="0" y="4"/>
                  </a:cxn>
                  <a:cxn ang="0">
                    <a:pos x="0" y="8"/>
                  </a:cxn>
                  <a:cxn ang="0">
                    <a:pos x="4" y="12"/>
                  </a:cxn>
                  <a:cxn ang="0">
                    <a:pos x="6" y="16"/>
                  </a:cxn>
                  <a:cxn ang="0">
                    <a:pos x="6" y="18"/>
                  </a:cxn>
                  <a:cxn ang="0">
                    <a:pos x="6" y="20"/>
                  </a:cxn>
                  <a:cxn ang="0">
                    <a:pos x="10" y="22"/>
                  </a:cxn>
                  <a:cxn ang="0">
                    <a:pos x="12" y="22"/>
                  </a:cxn>
                  <a:cxn ang="0">
                    <a:pos x="14" y="22"/>
                  </a:cxn>
                  <a:cxn ang="0">
                    <a:pos x="16" y="26"/>
                  </a:cxn>
                  <a:cxn ang="0">
                    <a:pos x="12" y="18"/>
                  </a:cxn>
                  <a:cxn ang="0">
                    <a:pos x="10" y="16"/>
                  </a:cxn>
                  <a:cxn ang="0">
                    <a:pos x="10" y="10"/>
                  </a:cxn>
                  <a:cxn ang="0">
                    <a:pos x="12" y="4"/>
                  </a:cxn>
                  <a:cxn ang="0">
                    <a:pos x="10" y="4"/>
                  </a:cxn>
                  <a:cxn ang="0">
                    <a:pos x="8" y="0"/>
                  </a:cxn>
                  <a:cxn ang="0">
                    <a:pos x="4" y="0"/>
                  </a:cxn>
                </a:cxnLst>
                <a:rect l="0" t="0" r="r" b="b"/>
                <a:pathLst>
                  <a:path w="16" h="26">
                    <a:moveTo>
                      <a:pt x="4" y="0"/>
                    </a:moveTo>
                    <a:lnTo>
                      <a:pt x="4" y="0"/>
                    </a:lnTo>
                    <a:lnTo>
                      <a:pt x="0" y="4"/>
                    </a:lnTo>
                    <a:lnTo>
                      <a:pt x="0" y="8"/>
                    </a:lnTo>
                    <a:lnTo>
                      <a:pt x="4" y="12"/>
                    </a:lnTo>
                    <a:lnTo>
                      <a:pt x="6" y="16"/>
                    </a:lnTo>
                    <a:lnTo>
                      <a:pt x="6" y="18"/>
                    </a:lnTo>
                    <a:lnTo>
                      <a:pt x="6" y="20"/>
                    </a:lnTo>
                    <a:lnTo>
                      <a:pt x="10" y="22"/>
                    </a:lnTo>
                    <a:lnTo>
                      <a:pt x="12" y="22"/>
                    </a:lnTo>
                    <a:lnTo>
                      <a:pt x="14" y="22"/>
                    </a:lnTo>
                    <a:lnTo>
                      <a:pt x="16" y="26"/>
                    </a:lnTo>
                    <a:lnTo>
                      <a:pt x="12" y="18"/>
                    </a:lnTo>
                    <a:lnTo>
                      <a:pt x="10" y="16"/>
                    </a:lnTo>
                    <a:lnTo>
                      <a:pt x="10" y="10"/>
                    </a:lnTo>
                    <a:lnTo>
                      <a:pt x="12" y="4"/>
                    </a:lnTo>
                    <a:lnTo>
                      <a:pt x="10" y="4"/>
                    </a:lnTo>
                    <a:lnTo>
                      <a:pt x="8" y="0"/>
                    </a:lnTo>
                    <a:lnTo>
                      <a:pt x="4"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17" name="Freeform 189">
                <a:extLst>
                  <a:ext uri="{FF2B5EF4-FFF2-40B4-BE49-F238E27FC236}">
                    <a16:creationId xmlns:a16="http://schemas.microsoft.com/office/drawing/2014/main" id="{CBFEFCB5-72BC-727A-7999-4EB1AF1B1F0A}"/>
                  </a:ext>
                </a:extLst>
              </p:cNvPr>
              <p:cNvSpPr>
                <a:spLocks/>
              </p:cNvSpPr>
              <p:nvPr/>
            </p:nvSpPr>
            <p:spPr bwMode="auto">
              <a:xfrm>
                <a:off x="6398499" y="4067798"/>
                <a:ext cx="15557" cy="24978"/>
              </a:xfrm>
              <a:custGeom>
                <a:avLst/>
                <a:gdLst/>
                <a:ahLst/>
                <a:cxnLst>
                  <a:cxn ang="0">
                    <a:pos x="4" y="0"/>
                  </a:cxn>
                  <a:cxn ang="0">
                    <a:pos x="4" y="0"/>
                  </a:cxn>
                  <a:cxn ang="0">
                    <a:pos x="0" y="4"/>
                  </a:cxn>
                  <a:cxn ang="0">
                    <a:pos x="0" y="8"/>
                  </a:cxn>
                  <a:cxn ang="0">
                    <a:pos x="4" y="12"/>
                  </a:cxn>
                  <a:cxn ang="0">
                    <a:pos x="6" y="16"/>
                  </a:cxn>
                  <a:cxn ang="0">
                    <a:pos x="6" y="18"/>
                  </a:cxn>
                  <a:cxn ang="0">
                    <a:pos x="6" y="20"/>
                  </a:cxn>
                  <a:cxn ang="0">
                    <a:pos x="10" y="22"/>
                  </a:cxn>
                  <a:cxn ang="0">
                    <a:pos x="12" y="22"/>
                  </a:cxn>
                  <a:cxn ang="0">
                    <a:pos x="14" y="22"/>
                  </a:cxn>
                  <a:cxn ang="0">
                    <a:pos x="16" y="26"/>
                  </a:cxn>
                  <a:cxn ang="0">
                    <a:pos x="12" y="18"/>
                  </a:cxn>
                  <a:cxn ang="0">
                    <a:pos x="10" y="16"/>
                  </a:cxn>
                  <a:cxn ang="0">
                    <a:pos x="10" y="10"/>
                  </a:cxn>
                  <a:cxn ang="0">
                    <a:pos x="12" y="4"/>
                  </a:cxn>
                  <a:cxn ang="0">
                    <a:pos x="10" y="4"/>
                  </a:cxn>
                  <a:cxn ang="0">
                    <a:pos x="8" y="0"/>
                  </a:cxn>
                  <a:cxn ang="0">
                    <a:pos x="4" y="0"/>
                  </a:cxn>
                </a:cxnLst>
                <a:rect l="0" t="0" r="r" b="b"/>
                <a:pathLst>
                  <a:path w="16" h="26">
                    <a:moveTo>
                      <a:pt x="4" y="0"/>
                    </a:moveTo>
                    <a:lnTo>
                      <a:pt x="4" y="0"/>
                    </a:lnTo>
                    <a:lnTo>
                      <a:pt x="0" y="4"/>
                    </a:lnTo>
                    <a:lnTo>
                      <a:pt x="0" y="8"/>
                    </a:lnTo>
                    <a:lnTo>
                      <a:pt x="4" y="12"/>
                    </a:lnTo>
                    <a:lnTo>
                      <a:pt x="6" y="16"/>
                    </a:lnTo>
                    <a:lnTo>
                      <a:pt x="6" y="18"/>
                    </a:lnTo>
                    <a:lnTo>
                      <a:pt x="6" y="20"/>
                    </a:lnTo>
                    <a:lnTo>
                      <a:pt x="10" y="22"/>
                    </a:lnTo>
                    <a:lnTo>
                      <a:pt x="12" y="22"/>
                    </a:lnTo>
                    <a:lnTo>
                      <a:pt x="14" y="22"/>
                    </a:lnTo>
                    <a:lnTo>
                      <a:pt x="16" y="26"/>
                    </a:lnTo>
                    <a:lnTo>
                      <a:pt x="12" y="18"/>
                    </a:lnTo>
                    <a:lnTo>
                      <a:pt x="10" y="16"/>
                    </a:lnTo>
                    <a:lnTo>
                      <a:pt x="10" y="10"/>
                    </a:lnTo>
                    <a:lnTo>
                      <a:pt x="12" y="4"/>
                    </a:lnTo>
                    <a:lnTo>
                      <a:pt x="10" y="4"/>
                    </a:lnTo>
                    <a:lnTo>
                      <a:pt x="8" y="0"/>
                    </a:lnTo>
                    <a:lnTo>
                      <a:pt x="4"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18" name="Freeform 190">
                <a:extLst>
                  <a:ext uri="{FF2B5EF4-FFF2-40B4-BE49-F238E27FC236}">
                    <a16:creationId xmlns:a16="http://schemas.microsoft.com/office/drawing/2014/main" id="{E891D029-8723-8B69-A781-34BFDF6EE800}"/>
                  </a:ext>
                </a:extLst>
              </p:cNvPr>
              <p:cNvSpPr>
                <a:spLocks/>
              </p:cNvSpPr>
              <p:nvPr/>
            </p:nvSpPr>
            <p:spPr bwMode="auto">
              <a:xfrm>
                <a:off x="6344047" y="4056269"/>
                <a:ext cx="17503" cy="19214"/>
              </a:xfrm>
              <a:custGeom>
                <a:avLst/>
                <a:gdLst/>
                <a:ahLst/>
                <a:cxnLst>
                  <a:cxn ang="0">
                    <a:pos x="4" y="0"/>
                  </a:cxn>
                  <a:cxn ang="0">
                    <a:pos x="4" y="0"/>
                  </a:cxn>
                  <a:cxn ang="0">
                    <a:pos x="2" y="0"/>
                  </a:cxn>
                  <a:cxn ang="0">
                    <a:pos x="0" y="2"/>
                  </a:cxn>
                  <a:cxn ang="0">
                    <a:pos x="2" y="2"/>
                  </a:cxn>
                  <a:cxn ang="0">
                    <a:pos x="6" y="4"/>
                  </a:cxn>
                  <a:cxn ang="0">
                    <a:pos x="8" y="8"/>
                  </a:cxn>
                  <a:cxn ang="0">
                    <a:pos x="10" y="10"/>
                  </a:cxn>
                  <a:cxn ang="0">
                    <a:pos x="14" y="12"/>
                  </a:cxn>
                  <a:cxn ang="0">
                    <a:pos x="14" y="16"/>
                  </a:cxn>
                  <a:cxn ang="0">
                    <a:pos x="16" y="20"/>
                  </a:cxn>
                  <a:cxn ang="0">
                    <a:pos x="18" y="16"/>
                  </a:cxn>
                  <a:cxn ang="0">
                    <a:pos x="18" y="14"/>
                  </a:cxn>
                  <a:cxn ang="0">
                    <a:pos x="16" y="8"/>
                  </a:cxn>
                  <a:cxn ang="0">
                    <a:pos x="12" y="2"/>
                  </a:cxn>
                  <a:cxn ang="0">
                    <a:pos x="8" y="0"/>
                  </a:cxn>
                  <a:cxn ang="0">
                    <a:pos x="4" y="0"/>
                  </a:cxn>
                </a:cxnLst>
                <a:rect l="0" t="0" r="r" b="b"/>
                <a:pathLst>
                  <a:path w="18" h="20">
                    <a:moveTo>
                      <a:pt x="4" y="0"/>
                    </a:moveTo>
                    <a:lnTo>
                      <a:pt x="4" y="0"/>
                    </a:lnTo>
                    <a:lnTo>
                      <a:pt x="2" y="0"/>
                    </a:lnTo>
                    <a:lnTo>
                      <a:pt x="0" y="2"/>
                    </a:lnTo>
                    <a:lnTo>
                      <a:pt x="2" y="2"/>
                    </a:lnTo>
                    <a:lnTo>
                      <a:pt x="6" y="4"/>
                    </a:lnTo>
                    <a:lnTo>
                      <a:pt x="8" y="8"/>
                    </a:lnTo>
                    <a:lnTo>
                      <a:pt x="10" y="10"/>
                    </a:lnTo>
                    <a:lnTo>
                      <a:pt x="14" y="12"/>
                    </a:lnTo>
                    <a:lnTo>
                      <a:pt x="14" y="16"/>
                    </a:lnTo>
                    <a:lnTo>
                      <a:pt x="16" y="20"/>
                    </a:lnTo>
                    <a:lnTo>
                      <a:pt x="18" y="16"/>
                    </a:lnTo>
                    <a:lnTo>
                      <a:pt x="18" y="14"/>
                    </a:lnTo>
                    <a:lnTo>
                      <a:pt x="16" y="8"/>
                    </a:lnTo>
                    <a:lnTo>
                      <a:pt x="12" y="2"/>
                    </a:lnTo>
                    <a:lnTo>
                      <a:pt x="8" y="0"/>
                    </a:lnTo>
                    <a:lnTo>
                      <a:pt x="4"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19" name="Freeform 191">
                <a:extLst>
                  <a:ext uri="{FF2B5EF4-FFF2-40B4-BE49-F238E27FC236}">
                    <a16:creationId xmlns:a16="http://schemas.microsoft.com/office/drawing/2014/main" id="{C1A4088F-8213-612F-F91B-3BD0DC260CF6}"/>
                  </a:ext>
                </a:extLst>
              </p:cNvPr>
              <p:cNvSpPr>
                <a:spLocks/>
              </p:cNvSpPr>
              <p:nvPr/>
            </p:nvSpPr>
            <p:spPr bwMode="auto">
              <a:xfrm>
                <a:off x="6344047" y="4056269"/>
                <a:ext cx="17503" cy="19214"/>
              </a:xfrm>
              <a:custGeom>
                <a:avLst/>
                <a:gdLst/>
                <a:ahLst/>
                <a:cxnLst>
                  <a:cxn ang="0">
                    <a:pos x="4" y="0"/>
                  </a:cxn>
                  <a:cxn ang="0">
                    <a:pos x="4" y="0"/>
                  </a:cxn>
                  <a:cxn ang="0">
                    <a:pos x="2" y="0"/>
                  </a:cxn>
                  <a:cxn ang="0">
                    <a:pos x="0" y="2"/>
                  </a:cxn>
                  <a:cxn ang="0">
                    <a:pos x="2" y="2"/>
                  </a:cxn>
                  <a:cxn ang="0">
                    <a:pos x="6" y="4"/>
                  </a:cxn>
                  <a:cxn ang="0">
                    <a:pos x="8" y="8"/>
                  </a:cxn>
                  <a:cxn ang="0">
                    <a:pos x="10" y="10"/>
                  </a:cxn>
                  <a:cxn ang="0">
                    <a:pos x="14" y="12"/>
                  </a:cxn>
                  <a:cxn ang="0">
                    <a:pos x="14" y="16"/>
                  </a:cxn>
                  <a:cxn ang="0">
                    <a:pos x="16" y="20"/>
                  </a:cxn>
                  <a:cxn ang="0">
                    <a:pos x="18" y="16"/>
                  </a:cxn>
                  <a:cxn ang="0">
                    <a:pos x="18" y="14"/>
                  </a:cxn>
                  <a:cxn ang="0">
                    <a:pos x="16" y="8"/>
                  </a:cxn>
                  <a:cxn ang="0">
                    <a:pos x="12" y="2"/>
                  </a:cxn>
                  <a:cxn ang="0">
                    <a:pos x="8" y="0"/>
                  </a:cxn>
                  <a:cxn ang="0">
                    <a:pos x="4" y="0"/>
                  </a:cxn>
                </a:cxnLst>
                <a:rect l="0" t="0" r="r" b="b"/>
                <a:pathLst>
                  <a:path w="18" h="20">
                    <a:moveTo>
                      <a:pt x="4" y="0"/>
                    </a:moveTo>
                    <a:lnTo>
                      <a:pt x="4" y="0"/>
                    </a:lnTo>
                    <a:lnTo>
                      <a:pt x="2" y="0"/>
                    </a:lnTo>
                    <a:lnTo>
                      <a:pt x="0" y="2"/>
                    </a:lnTo>
                    <a:lnTo>
                      <a:pt x="2" y="2"/>
                    </a:lnTo>
                    <a:lnTo>
                      <a:pt x="6" y="4"/>
                    </a:lnTo>
                    <a:lnTo>
                      <a:pt x="8" y="8"/>
                    </a:lnTo>
                    <a:lnTo>
                      <a:pt x="10" y="10"/>
                    </a:lnTo>
                    <a:lnTo>
                      <a:pt x="14" y="12"/>
                    </a:lnTo>
                    <a:lnTo>
                      <a:pt x="14" y="16"/>
                    </a:lnTo>
                    <a:lnTo>
                      <a:pt x="16" y="20"/>
                    </a:lnTo>
                    <a:lnTo>
                      <a:pt x="18" y="16"/>
                    </a:lnTo>
                    <a:lnTo>
                      <a:pt x="18" y="14"/>
                    </a:lnTo>
                    <a:lnTo>
                      <a:pt x="16" y="8"/>
                    </a:lnTo>
                    <a:lnTo>
                      <a:pt x="12" y="2"/>
                    </a:lnTo>
                    <a:lnTo>
                      <a:pt x="8" y="0"/>
                    </a:lnTo>
                    <a:lnTo>
                      <a:pt x="4"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20" name="Freeform 192">
                <a:extLst>
                  <a:ext uri="{FF2B5EF4-FFF2-40B4-BE49-F238E27FC236}">
                    <a16:creationId xmlns:a16="http://schemas.microsoft.com/office/drawing/2014/main" id="{45D685D0-7063-7FFF-EFD2-3743E135607F}"/>
                  </a:ext>
                </a:extLst>
              </p:cNvPr>
              <p:cNvSpPr>
                <a:spLocks/>
              </p:cNvSpPr>
              <p:nvPr/>
            </p:nvSpPr>
            <p:spPr bwMode="auto">
              <a:xfrm>
                <a:off x="3810110" y="4267620"/>
                <a:ext cx="153631" cy="276677"/>
              </a:xfrm>
              <a:custGeom>
                <a:avLst/>
                <a:gdLst/>
                <a:ahLst/>
                <a:cxnLst>
                  <a:cxn ang="0">
                    <a:pos x="154" y="246"/>
                  </a:cxn>
                  <a:cxn ang="0">
                    <a:pos x="154" y="238"/>
                  </a:cxn>
                  <a:cxn ang="0">
                    <a:pos x="150" y="218"/>
                  </a:cxn>
                  <a:cxn ang="0">
                    <a:pos x="132" y="186"/>
                  </a:cxn>
                  <a:cxn ang="0">
                    <a:pos x="134" y="144"/>
                  </a:cxn>
                  <a:cxn ang="0">
                    <a:pos x="112" y="152"/>
                  </a:cxn>
                  <a:cxn ang="0">
                    <a:pos x="108" y="144"/>
                  </a:cxn>
                  <a:cxn ang="0">
                    <a:pos x="100" y="136"/>
                  </a:cxn>
                  <a:cxn ang="0">
                    <a:pos x="92" y="132"/>
                  </a:cxn>
                  <a:cxn ang="0">
                    <a:pos x="92" y="120"/>
                  </a:cxn>
                  <a:cxn ang="0">
                    <a:pos x="90" y="114"/>
                  </a:cxn>
                  <a:cxn ang="0">
                    <a:pos x="92" y="108"/>
                  </a:cxn>
                  <a:cxn ang="0">
                    <a:pos x="96" y="98"/>
                  </a:cxn>
                  <a:cxn ang="0">
                    <a:pos x="102" y="82"/>
                  </a:cxn>
                  <a:cxn ang="0">
                    <a:pos x="120" y="72"/>
                  </a:cxn>
                  <a:cxn ang="0">
                    <a:pos x="136" y="68"/>
                  </a:cxn>
                  <a:cxn ang="0">
                    <a:pos x="134" y="62"/>
                  </a:cxn>
                  <a:cxn ang="0">
                    <a:pos x="138" y="34"/>
                  </a:cxn>
                  <a:cxn ang="0">
                    <a:pos x="126" y="28"/>
                  </a:cxn>
                  <a:cxn ang="0">
                    <a:pos x="116" y="26"/>
                  </a:cxn>
                  <a:cxn ang="0">
                    <a:pos x="106" y="28"/>
                  </a:cxn>
                  <a:cxn ang="0">
                    <a:pos x="104" y="20"/>
                  </a:cxn>
                  <a:cxn ang="0">
                    <a:pos x="90" y="16"/>
                  </a:cxn>
                  <a:cxn ang="0">
                    <a:pos x="84" y="6"/>
                  </a:cxn>
                  <a:cxn ang="0">
                    <a:pos x="80" y="0"/>
                  </a:cxn>
                  <a:cxn ang="0">
                    <a:pos x="72" y="6"/>
                  </a:cxn>
                  <a:cxn ang="0">
                    <a:pos x="74" y="24"/>
                  </a:cxn>
                  <a:cxn ang="0">
                    <a:pos x="70" y="34"/>
                  </a:cxn>
                  <a:cxn ang="0">
                    <a:pos x="46" y="50"/>
                  </a:cxn>
                  <a:cxn ang="0">
                    <a:pos x="32" y="74"/>
                  </a:cxn>
                  <a:cxn ang="0">
                    <a:pos x="24" y="78"/>
                  </a:cxn>
                  <a:cxn ang="0">
                    <a:pos x="18" y="72"/>
                  </a:cxn>
                  <a:cxn ang="0">
                    <a:pos x="14" y="74"/>
                  </a:cxn>
                  <a:cxn ang="0">
                    <a:pos x="14" y="64"/>
                  </a:cxn>
                  <a:cxn ang="0">
                    <a:pos x="4" y="62"/>
                  </a:cxn>
                  <a:cxn ang="0">
                    <a:pos x="0" y="74"/>
                  </a:cxn>
                  <a:cxn ang="0">
                    <a:pos x="4" y="78"/>
                  </a:cxn>
                  <a:cxn ang="0">
                    <a:pos x="6" y="90"/>
                  </a:cxn>
                  <a:cxn ang="0">
                    <a:pos x="18" y="108"/>
                  </a:cxn>
                  <a:cxn ang="0">
                    <a:pos x="24" y="116"/>
                  </a:cxn>
                  <a:cxn ang="0">
                    <a:pos x="36" y="130"/>
                  </a:cxn>
                  <a:cxn ang="0">
                    <a:pos x="44" y="142"/>
                  </a:cxn>
                  <a:cxn ang="0">
                    <a:pos x="48" y="154"/>
                  </a:cxn>
                  <a:cxn ang="0">
                    <a:pos x="54" y="172"/>
                  </a:cxn>
                  <a:cxn ang="0">
                    <a:pos x="58" y="184"/>
                  </a:cxn>
                  <a:cxn ang="0">
                    <a:pos x="60" y="190"/>
                  </a:cxn>
                  <a:cxn ang="0">
                    <a:pos x="68" y="204"/>
                  </a:cxn>
                  <a:cxn ang="0">
                    <a:pos x="70" y="224"/>
                  </a:cxn>
                  <a:cxn ang="0">
                    <a:pos x="78" y="240"/>
                  </a:cxn>
                  <a:cxn ang="0">
                    <a:pos x="90" y="248"/>
                  </a:cxn>
                  <a:cxn ang="0">
                    <a:pos x="102" y="256"/>
                  </a:cxn>
                  <a:cxn ang="0">
                    <a:pos x="112" y="264"/>
                  </a:cxn>
                  <a:cxn ang="0">
                    <a:pos x="130" y="274"/>
                  </a:cxn>
                  <a:cxn ang="0">
                    <a:pos x="138" y="282"/>
                  </a:cxn>
                  <a:cxn ang="0">
                    <a:pos x="148" y="284"/>
                  </a:cxn>
                  <a:cxn ang="0">
                    <a:pos x="148" y="272"/>
                  </a:cxn>
                  <a:cxn ang="0">
                    <a:pos x="156" y="256"/>
                  </a:cxn>
                  <a:cxn ang="0">
                    <a:pos x="146" y="248"/>
                  </a:cxn>
                  <a:cxn ang="0">
                    <a:pos x="152" y="244"/>
                  </a:cxn>
                  <a:cxn ang="0">
                    <a:pos x="154" y="248"/>
                  </a:cxn>
                </a:cxnLst>
                <a:rect l="0" t="0" r="r" b="b"/>
                <a:pathLst>
                  <a:path w="158" h="288">
                    <a:moveTo>
                      <a:pt x="154" y="248"/>
                    </a:moveTo>
                    <a:lnTo>
                      <a:pt x="154" y="248"/>
                    </a:lnTo>
                    <a:lnTo>
                      <a:pt x="154" y="246"/>
                    </a:lnTo>
                    <a:lnTo>
                      <a:pt x="152" y="242"/>
                    </a:lnTo>
                    <a:lnTo>
                      <a:pt x="152" y="240"/>
                    </a:lnTo>
                    <a:lnTo>
                      <a:pt x="154" y="238"/>
                    </a:lnTo>
                    <a:lnTo>
                      <a:pt x="150" y="230"/>
                    </a:lnTo>
                    <a:lnTo>
                      <a:pt x="150" y="224"/>
                    </a:lnTo>
                    <a:lnTo>
                      <a:pt x="150" y="218"/>
                    </a:lnTo>
                    <a:lnTo>
                      <a:pt x="154" y="208"/>
                    </a:lnTo>
                    <a:lnTo>
                      <a:pt x="146" y="192"/>
                    </a:lnTo>
                    <a:lnTo>
                      <a:pt x="132" y="186"/>
                    </a:lnTo>
                    <a:lnTo>
                      <a:pt x="134" y="148"/>
                    </a:lnTo>
                    <a:lnTo>
                      <a:pt x="134" y="146"/>
                    </a:lnTo>
                    <a:lnTo>
                      <a:pt x="134" y="144"/>
                    </a:lnTo>
                    <a:lnTo>
                      <a:pt x="132" y="146"/>
                    </a:lnTo>
                    <a:lnTo>
                      <a:pt x="124" y="152"/>
                    </a:lnTo>
                    <a:lnTo>
                      <a:pt x="112" y="152"/>
                    </a:lnTo>
                    <a:lnTo>
                      <a:pt x="110" y="150"/>
                    </a:lnTo>
                    <a:lnTo>
                      <a:pt x="108" y="146"/>
                    </a:lnTo>
                    <a:lnTo>
                      <a:pt x="108" y="144"/>
                    </a:lnTo>
                    <a:lnTo>
                      <a:pt x="104" y="142"/>
                    </a:lnTo>
                    <a:lnTo>
                      <a:pt x="102" y="140"/>
                    </a:lnTo>
                    <a:lnTo>
                      <a:pt x="100" y="136"/>
                    </a:lnTo>
                    <a:lnTo>
                      <a:pt x="98" y="134"/>
                    </a:lnTo>
                    <a:lnTo>
                      <a:pt x="94" y="132"/>
                    </a:lnTo>
                    <a:lnTo>
                      <a:pt x="92" y="132"/>
                    </a:lnTo>
                    <a:lnTo>
                      <a:pt x="94" y="126"/>
                    </a:lnTo>
                    <a:lnTo>
                      <a:pt x="94" y="122"/>
                    </a:lnTo>
                    <a:lnTo>
                      <a:pt x="92" y="120"/>
                    </a:lnTo>
                    <a:lnTo>
                      <a:pt x="92" y="118"/>
                    </a:lnTo>
                    <a:lnTo>
                      <a:pt x="90" y="118"/>
                    </a:lnTo>
                    <a:lnTo>
                      <a:pt x="90" y="114"/>
                    </a:lnTo>
                    <a:lnTo>
                      <a:pt x="88" y="110"/>
                    </a:lnTo>
                    <a:lnTo>
                      <a:pt x="90" y="108"/>
                    </a:lnTo>
                    <a:lnTo>
                      <a:pt x="92" y="108"/>
                    </a:lnTo>
                    <a:lnTo>
                      <a:pt x="94" y="110"/>
                    </a:lnTo>
                    <a:lnTo>
                      <a:pt x="94" y="102"/>
                    </a:lnTo>
                    <a:lnTo>
                      <a:pt x="96" y="98"/>
                    </a:lnTo>
                    <a:lnTo>
                      <a:pt x="98" y="94"/>
                    </a:lnTo>
                    <a:lnTo>
                      <a:pt x="100" y="88"/>
                    </a:lnTo>
                    <a:lnTo>
                      <a:pt x="102" y="82"/>
                    </a:lnTo>
                    <a:lnTo>
                      <a:pt x="106" y="78"/>
                    </a:lnTo>
                    <a:lnTo>
                      <a:pt x="114" y="74"/>
                    </a:lnTo>
                    <a:lnTo>
                      <a:pt x="120" y="72"/>
                    </a:lnTo>
                    <a:lnTo>
                      <a:pt x="126" y="70"/>
                    </a:lnTo>
                    <a:lnTo>
                      <a:pt x="134" y="68"/>
                    </a:lnTo>
                    <a:lnTo>
                      <a:pt x="136" y="68"/>
                    </a:lnTo>
                    <a:lnTo>
                      <a:pt x="138" y="66"/>
                    </a:lnTo>
                    <a:lnTo>
                      <a:pt x="138" y="64"/>
                    </a:lnTo>
                    <a:lnTo>
                      <a:pt x="134" y="62"/>
                    </a:lnTo>
                    <a:lnTo>
                      <a:pt x="128" y="62"/>
                    </a:lnTo>
                    <a:lnTo>
                      <a:pt x="140" y="36"/>
                    </a:lnTo>
                    <a:lnTo>
                      <a:pt x="138" y="34"/>
                    </a:lnTo>
                    <a:lnTo>
                      <a:pt x="134" y="32"/>
                    </a:lnTo>
                    <a:lnTo>
                      <a:pt x="128" y="30"/>
                    </a:lnTo>
                    <a:lnTo>
                      <a:pt x="126" y="28"/>
                    </a:lnTo>
                    <a:lnTo>
                      <a:pt x="124" y="26"/>
                    </a:lnTo>
                    <a:lnTo>
                      <a:pt x="120" y="26"/>
                    </a:lnTo>
                    <a:lnTo>
                      <a:pt x="116" y="26"/>
                    </a:lnTo>
                    <a:lnTo>
                      <a:pt x="116" y="30"/>
                    </a:lnTo>
                    <a:lnTo>
                      <a:pt x="108" y="28"/>
                    </a:lnTo>
                    <a:lnTo>
                      <a:pt x="106" y="28"/>
                    </a:lnTo>
                    <a:lnTo>
                      <a:pt x="104" y="26"/>
                    </a:lnTo>
                    <a:lnTo>
                      <a:pt x="104" y="24"/>
                    </a:lnTo>
                    <a:lnTo>
                      <a:pt x="104" y="20"/>
                    </a:lnTo>
                    <a:lnTo>
                      <a:pt x="96" y="20"/>
                    </a:lnTo>
                    <a:lnTo>
                      <a:pt x="92" y="18"/>
                    </a:lnTo>
                    <a:lnTo>
                      <a:pt x="90" y="16"/>
                    </a:lnTo>
                    <a:lnTo>
                      <a:pt x="90" y="14"/>
                    </a:lnTo>
                    <a:lnTo>
                      <a:pt x="88" y="10"/>
                    </a:lnTo>
                    <a:lnTo>
                      <a:pt x="84" y="6"/>
                    </a:lnTo>
                    <a:lnTo>
                      <a:pt x="82" y="6"/>
                    </a:lnTo>
                    <a:lnTo>
                      <a:pt x="80" y="4"/>
                    </a:lnTo>
                    <a:lnTo>
                      <a:pt x="80" y="0"/>
                    </a:lnTo>
                    <a:lnTo>
                      <a:pt x="72" y="0"/>
                    </a:lnTo>
                    <a:lnTo>
                      <a:pt x="70" y="4"/>
                    </a:lnTo>
                    <a:lnTo>
                      <a:pt x="72" y="6"/>
                    </a:lnTo>
                    <a:lnTo>
                      <a:pt x="72" y="16"/>
                    </a:lnTo>
                    <a:lnTo>
                      <a:pt x="74" y="22"/>
                    </a:lnTo>
                    <a:lnTo>
                      <a:pt x="74" y="24"/>
                    </a:lnTo>
                    <a:lnTo>
                      <a:pt x="70" y="24"/>
                    </a:lnTo>
                    <a:lnTo>
                      <a:pt x="70" y="28"/>
                    </a:lnTo>
                    <a:lnTo>
                      <a:pt x="70" y="34"/>
                    </a:lnTo>
                    <a:lnTo>
                      <a:pt x="64" y="40"/>
                    </a:lnTo>
                    <a:lnTo>
                      <a:pt x="52" y="46"/>
                    </a:lnTo>
                    <a:lnTo>
                      <a:pt x="46" y="50"/>
                    </a:lnTo>
                    <a:lnTo>
                      <a:pt x="40" y="58"/>
                    </a:lnTo>
                    <a:lnTo>
                      <a:pt x="36" y="64"/>
                    </a:lnTo>
                    <a:lnTo>
                      <a:pt x="32" y="74"/>
                    </a:lnTo>
                    <a:lnTo>
                      <a:pt x="30" y="76"/>
                    </a:lnTo>
                    <a:lnTo>
                      <a:pt x="28" y="78"/>
                    </a:lnTo>
                    <a:lnTo>
                      <a:pt x="24" y="78"/>
                    </a:lnTo>
                    <a:lnTo>
                      <a:pt x="22" y="78"/>
                    </a:lnTo>
                    <a:lnTo>
                      <a:pt x="20" y="78"/>
                    </a:lnTo>
                    <a:lnTo>
                      <a:pt x="18" y="72"/>
                    </a:lnTo>
                    <a:lnTo>
                      <a:pt x="16" y="70"/>
                    </a:lnTo>
                    <a:lnTo>
                      <a:pt x="16" y="72"/>
                    </a:lnTo>
                    <a:lnTo>
                      <a:pt x="14" y="74"/>
                    </a:lnTo>
                    <a:lnTo>
                      <a:pt x="10" y="70"/>
                    </a:lnTo>
                    <a:lnTo>
                      <a:pt x="8" y="68"/>
                    </a:lnTo>
                    <a:lnTo>
                      <a:pt x="14" y="64"/>
                    </a:lnTo>
                    <a:lnTo>
                      <a:pt x="12" y="62"/>
                    </a:lnTo>
                    <a:lnTo>
                      <a:pt x="10" y="56"/>
                    </a:lnTo>
                    <a:lnTo>
                      <a:pt x="4" y="62"/>
                    </a:lnTo>
                    <a:lnTo>
                      <a:pt x="0" y="70"/>
                    </a:lnTo>
                    <a:lnTo>
                      <a:pt x="0" y="72"/>
                    </a:lnTo>
                    <a:lnTo>
                      <a:pt x="0" y="74"/>
                    </a:lnTo>
                    <a:lnTo>
                      <a:pt x="2" y="78"/>
                    </a:lnTo>
                    <a:lnTo>
                      <a:pt x="4" y="78"/>
                    </a:lnTo>
                    <a:lnTo>
                      <a:pt x="4" y="78"/>
                    </a:lnTo>
                    <a:lnTo>
                      <a:pt x="2" y="82"/>
                    </a:lnTo>
                    <a:lnTo>
                      <a:pt x="6" y="86"/>
                    </a:lnTo>
                    <a:lnTo>
                      <a:pt x="6" y="90"/>
                    </a:lnTo>
                    <a:lnTo>
                      <a:pt x="4" y="94"/>
                    </a:lnTo>
                    <a:lnTo>
                      <a:pt x="12" y="100"/>
                    </a:lnTo>
                    <a:lnTo>
                      <a:pt x="18" y="108"/>
                    </a:lnTo>
                    <a:lnTo>
                      <a:pt x="20" y="110"/>
                    </a:lnTo>
                    <a:lnTo>
                      <a:pt x="20" y="114"/>
                    </a:lnTo>
                    <a:lnTo>
                      <a:pt x="24" y="116"/>
                    </a:lnTo>
                    <a:lnTo>
                      <a:pt x="28" y="118"/>
                    </a:lnTo>
                    <a:lnTo>
                      <a:pt x="28" y="122"/>
                    </a:lnTo>
                    <a:lnTo>
                      <a:pt x="36" y="130"/>
                    </a:lnTo>
                    <a:lnTo>
                      <a:pt x="42" y="138"/>
                    </a:lnTo>
                    <a:lnTo>
                      <a:pt x="44" y="138"/>
                    </a:lnTo>
                    <a:lnTo>
                      <a:pt x="44" y="142"/>
                    </a:lnTo>
                    <a:lnTo>
                      <a:pt x="46" y="144"/>
                    </a:lnTo>
                    <a:lnTo>
                      <a:pt x="48" y="146"/>
                    </a:lnTo>
                    <a:lnTo>
                      <a:pt x="48" y="154"/>
                    </a:lnTo>
                    <a:lnTo>
                      <a:pt x="52" y="158"/>
                    </a:lnTo>
                    <a:lnTo>
                      <a:pt x="52" y="166"/>
                    </a:lnTo>
                    <a:lnTo>
                      <a:pt x="54" y="172"/>
                    </a:lnTo>
                    <a:lnTo>
                      <a:pt x="54" y="176"/>
                    </a:lnTo>
                    <a:lnTo>
                      <a:pt x="54" y="178"/>
                    </a:lnTo>
                    <a:lnTo>
                      <a:pt x="58" y="184"/>
                    </a:lnTo>
                    <a:lnTo>
                      <a:pt x="60" y="186"/>
                    </a:lnTo>
                    <a:lnTo>
                      <a:pt x="60" y="188"/>
                    </a:lnTo>
                    <a:lnTo>
                      <a:pt x="60" y="190"/>
                    </a:lnTo>
                    <a:lnTo>
                      <a:pt x="64" y="192"/>
                    </a:lnTo>
                    <a:lnTo>
                      <a:pt x="66" y="198"/>
                    </a:lnTo>
                    <a:lnTo>
                      <a:pt x="68" y="204"/>
                    </a:lnTo>
                    <a:lnTo>
                      <a:pt x="70" y="206"/>
                    </a:lnTo>
                    <a:lnTo>
                      <a:pt x="70" y="216"/>
                    </a:lnTo>
                    <a:lnTo>
                      <a:pt x="70" y="224"/>
                    </a:lnTo>
                    <a:lnTo>
                      <a:pt x="74" y="230"/>
                    </a:lnTo>
                    <a:lnTo>
                      <a:pt x="78" y="238"/>
                    </a:lnTo>
                    <a:lnTo>
                      <a:pt x="78" y="240"/>
                    </a:lnTo>
                    <a:lnTo>
                      <a:pt x="80" y="240"/>
                    </a:lnTo>
                    <a:lnTo>
                      <a:pt x="84" y="244"/>
                    </a:lnTo>
                    <a:lnTo>
                      <a:pt x="90" y="248"/>
                    </a:lnTo>
                    <a:lnTo>
                      <a:pt x="98" y="254"/>
                    </a:lnTo>
                    <a:lnTo>
                      <a:pt x="98" y="256"/>
                    </a:lnTo>
                    <a:lnTo>
                      <a:pt x="102" y="256"/>
                    </a:lnTo>
                    <a:lnTo>
                      <a:pt x="106" y="260"/>
                    </a:lnTo>
                    <a:lnTo>
                      <a:pt x="112" y="260"/>
                    </a:lnTo>
                    <a:lnTo>
                      <a:pt x="112" y="264"/>
                    </a:lnTo>
                    <a:lnTo>
                      <a:pt x="124" y="270"/>
                    </a:lnTo>
                    <a:lnTo>
                      <a:pt x="126" y="270"/>
                    </a:lnTo>
                    <a:lnTo>
                      <a:pt x="130" y="274"/>
                    </a:lnTo>
                    <a:lnTo>
                      <a:pt x="132" y="274"/>
                    </a:lnTo>
                    <a:lnTo>
                      <a:pt x="136" y="278"/>
                    </a:lnTo>
                    <a:lnTo>
                      <a:pt x="138" y="282"/>
                    </a:lnTo>
                    <a:lnTo>
                      <a:pt x="142" y="288"/>
                    </a:lnTo>
                    <a:lnTo>
                      <a:pt x="144" y="288"/>
                    </a:lnTo>
                    <a:lnTo>
                      <a:pt x="148" y="284"/>
                    </a:lnTo>
                    <a:lnTo>
                      <a:pt x="150" y="280"/>
                    </a:lnTo>
                    <a:lnTo>
                      <a:pt x="152" y="280"/>
                    </a:lnTo>
                    <a:lnTo>
                      <a:pt x="148" y="272"/>
                    </a:lnTo>
                    <a:lnTo>
                      <a:pt x="156" y="260"/>
                    </a:lnTo>
                    <a:lnTo>
                      <a:pt x="158" y="258"/>
                    </a:lnTo>
                    <a:lnTo>
                      <a:pt x="156" y="256"/>
                    </a:lnTo>
                    <a:lnTo>
                      <a:pt x="156" y="252"/>
                    </a:lnTo>
                    <a:lnTo>
                      <a:pt x="150" y="246"/>
                    </a:lnTo>
                    <a:lnTo>
                      <a:pt x="146" y="248"/>
                    </a:lnTo>
                    <a:lnTo>
                      <a:pt x="146" y="240"/>
                    </a:lnTo>
                    <a:lnTo>
                      <a:pt x="148" y="240"/>
                    </a:lnTo>
                    <a:lnTo>
                      <a:pt x="152" y="244"/>
                    </a:lnTo>
                    <a:lnTo>
                      <a:pt x="152" y="246"/>
                    </a:lnTo>
                    <a:lnTo>
                      <a:pt x="154" y="248"/>
                    </a:lnTo>
                    <a:lnTo>
                      <a:pt x="154" y="24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21" name="Freeform 193">
                <a:extLst>
                  <a:ext uri="{FF2B5EF4-FFF2-40B4-BE49-F238E27FC236}">
                    <a16:creationId xmlns:a16="http://schemas.microsoft.com/office/drawing/2014/main" id="{70785DE2-A1AC-2E3A-39C2-98C5614963E2}"/>
                  </a:ext>
                </a:extLst>
              </p:cNvPr>
              <p:cNvSpPr>
                <a:spLocks/>
              </p:cNvSpPr>
              <p:nvPr/>
            </p:nvSpPr>
            <p:spPr bwMode="auto">
              <a:xfrm>
                <a:off x="4045418" y="4559669"/>
                <a:ext cx="103069" cy="132574"/>
              </a:xfrm>
              <a:custGeom>
                <a:avLst/>
                <a:gdLst/>
                <a:ahLst/>
                <a:cxnLst>
                  <a:cxn ang="0">
                    <a:pos x="50" y="2"/>
                  </a:cxn>
                  <a:cxn ang="0">
                    <a:pos x="22" y="0"/>
                  </a:cxn>
                  <a:cxn ang="0">
                    <a:pos x="14" y="12"/>
                  </a:cxn>
                  <a:cxn ang="0">
                    <a:pos x="10" y="22"/>
                  </a:cxn>
                  <a:cxn ang="0">
                    <a:pos x="0" y="46"/>
                  </a:cxn>
                  <a:cxn ang="0">
                    <a:pos x="12" y="58"/>
                  </a:cxn>
                  <a:cxn ang="0">
                    <a:pos x="18" y="62"/>
                  </a:cxn>
                  <a:cxn ang="0">
                    <a:pos x="22" y="68"/>
                  </a:cxn>
                  <a:cxn ang="0">
                    <a:pos x="26" y="76"/>
                  </a:cxn>
                  <a:cxn ang="0">
                    <a:pos x="34" y="78"/>
                  </a:cxn>
                  <a:cxn ang="0">
                    <a:pos x="40" y="86"/>
                  </a:cxn>
                  <a:cxn ang="0">
                    <a:pos x="44" y="86"/>
                  </a:cxn>
                  <a:cxn ang="0">
                    <a:pos x="52" y="92"/>
                  </a:cxn>
                  <a:cxn ang="0">
                    <a:pos x="60" y="102"/>
                  </a:cxn>
                  <a:cxn ang="0">
                    <a:pos x="62" y="106"/>
                  </a:cxn>
                  <a:cxn ang="0">
                    <a:pos x="58" y="120"/>
                  </a:cxn>
                  <a:cxn ang="0">
                    <a:pos x="50" y="130"/>
                  </a:cxn>
                  <a:cxn ang="0">
                    <a:pos x="54" y="134"/>
                  </a:cxn>
                  <a:cxn ang="0">
                    <a:pos x="64" y="136"/>
                  </a:cxn>
                  <a:cxn ang="0">
                    <a:pos x="70" y="136"/>
                  </a:cxn>
                  <a:cxn ang="0">
                    <a:pos x="82" y="138"/>
                  </a:cxn>
                  <a:cxn ang="0">
                    <a:pos x="90" y="136"/>
                  </a:cxn>
                  <a:cxn ang="0">
                    <a:pos x="94" y="130"/>
                  </a:cxn>
                  <a:cxn ang="0">
                    <a:pos x="100" y="124"/>
                  </a:cxn>
                  <a:cxn ang="0">
                    <a:pos x="100" y="114"/>
                  </a:cxn>
                  <a:cxn ang="0">
                    <a:pos x="100" y="110"/>
                  </a:cxn>
                  <a:cxn ang="0">
                    <a:pos x="102" y="100"/>
                  </a:cxn>
                  <a:cxn ang="0">
                    <a:pos x="104" y="84"/>
                  </a:cxn>
                  <a:cxn ang="0">
                    <a:pos x="104" y="78"/>
                  </a:cxn>
                  <a:cxn ang="0">
                    <a:pos x="98" y="80"/>
                  </a:cxn>
                  <a:cxn ang="0">
                    <a:pos x="96" y="78"/>
                  </a:cxn>
                  <a:cxn ang="0">
                    <a:pos x="94" y="60"/>
                  </a:cxn>
                  <a:cxn ang="0">
                    <a:pos x="92" y="54"/>
                  </a:cxn>
                  <a:cxn ang="0">
                    <a:pos x="86" y="52"/>
                  </a:cxn>
                  <a:cxn ang="0">
                    <a:pos x="84" y="48"/>
                  </a:cxn>
                  <a:cxn ang="0">
                    <a:pos x="78" y="46"/>
                  </a:cxn>
                  <a:cxn ang="0">
                    <a:pos x="66" y="44"/>
                  </a:cxn>
                  <a:cxn ang="0">
                    <a:pos x="64" y="38"/>
                  </a:cxn>
                  <a:cxn ang="0">
                    <a:pos x="62" y="32"/>
                  </a:cxn>
                  <a:cxn ang="0">
                    <a:pos x="62" y="18"/>
                  </a:cxn>
                  <a:cxn ang="0">
                    <a:pos x="56" y="8"/>
                  </a:cxn>
                </a:cxnLst>
                <a:rect l="0" t="0" r="r" b="b"/>
                <a:pathLst>
                  <a:path w="106" h="138">
                    <a:moveTo>
                      <a:pt x="56" y="8"/>
                    </a:moveTo>
                    <a:lnTo>
                      <a:pt x="50" y="2"/>
                    </a:lnTo>
                    <a:lnTo>
                      <a:pt x="38" y="0"/>
                    </a:lnTo>
                    <a:lnTo>
                      <a:pt x="22" y="0"/>
                    </a:lnTo>
                    <a:lnTo>
                      <a:pt x="18" y="6"/>
                    </a:lnTo>
                    <a:lnTo>
                      <a:pt x="14" y="12"/>
                    </a:lnTo>
                    <a:lnTo>
                      <a:pt x="12" y="18"/>
                    </a:lnTo>
                    <a:lnTo>
                      <a:pt x="10" y="22"/>
                    </a:lnTo>
                    <a:lnTo>
                      <a:pt x="10" y="28"/>
                    </a:lnTo>
                    <a:lnTo>
                      <a:pt x="0" y="46"/>
                    </a:lnTo>
                    <a:lnTo>
                      <a:pt x="8" y="52"/>
                    </a:lnTo>
                    <a:lnTo>
                      <a:pt x="12" y="58"/>
                    </a:lnTo>
                    <a:lnTo>
                      <a:pt x="14" y="62"/>
                    </a:lnTo>
                    <a:lnTo>
                      <a:pt x="18" y="62"/>
                    </a:lnTo>
                    <a:lnTo>
                      <a:pt x="20" y="64"/>
                    </a:lnTo>
                    <a:lnTo>
                      <a:pt x="22" y="68"/>
                    </a:lnTo>
                    <a:lnTo>
                      <a:pt x="26" y="74"/>
                    </a:lnTo>
                    <a:lnTo>
                      <a:pt x="26" y="76"/>
                    </a:lnTo>
                    <a:lnTo>
                      <a:pt x="28" y="78"/>
                    </a:lnTo>
                    <a:lnTo>
                      <a:pt x="34" y="78"/>
                    </a:lnTo>
                    <a:lnTo>
                      <a:pt x="36" y="84"/>
                    </a:lnTo>
                    <a:lnTo>
                      <a:pt x="40" y="86"/>
                    </a:lnTo>
                    <a:lnTo>
                      <a:pt x="42" y="86"/>
                    </a:lnTo>
                    <a:lnTo>
                      <a:pt x="44" y="86"/>
                    </a:lnTo>
                    <a:lnTo>
                      <a:pt x="46" y="88"/>
                    </a:lnTo>
                    <a:lnTo>
                      <a:pt x="52" y="92"/>
                    </a:lnTo>
                    <a:lnTo>
                      <a:pt x="54" y="96"/>
                    </a:lnTo>
                    <a:lnTo>
                      <a:pt x="60" y="102"/>
                    </a:lnTo>
                    <a:lnTo>
                      <a:pt x="62" y="104"/>
                    </a:lnTo>
                    <a:lnTo>
                      <a:pt x="62" y="106"/>
                    </a:lnTo>
                    <a:lnTo>
                      <a:pt x="60" y="112"/>
                    </a:lnTo>
                    <a:lnTo>
                      <a:pt x="58" y="120"/>
                    </a:lnTo>
                    <a:lnTo>
                      <a:pt x="54" y="124"/>
                    </a:lnTo>
                    <a:lnTo>
                      <a:pt x="50" y="130"/>
                    </a:lnTo>
                    <a:lnTo>
                      <a:pt x="50" y="134"/>
                    </a:lnTo>
                    <a:lnTo>
                      <a:pt x="54" y="134"/>
                    </a:lnTo>
                    <a:lnTo>
                      <a:pt x="58" y="134"/>
                    </a:lnTo>
                    <a:lnTo>
                      <a:pt x="64" y="136"/>
                    </a:lnTo>
                    <a:lnTo>
                      <a:pt x="68" y="138"/>
                    </a:lnTo>
                    <a:lnTo>
                      <a:pt x="70" y="136"/>
                    </a:lnTo>
                    <a:lnTo>
                      <a:pt x="76" y="136"/>
                    </a:lnTo>
                    <a:lnTo>
                      <a:pt x="82" y="138"/>
                    </a:lnTo>
                    <a:lnTo>
                      <a:pt x="88" y="138"/>
                    </a:lnTo>
                    <a:lnTo>
                      <a:pt x="90" y="136"/>
                    </a:lnTo>
                    <a:lnTo>
                      <a:pt x="92" y="134"/>
                    </a:lnTo>
                    <a:lnTo>
                      <a:pt x="94" y="130"/>
                    </a:lnTo>
                    <a:lnTo>
                      <a:pt x="98" y="126"/>
                    </a:lnTo>
                    <a:lnTo>
                      <a:pt x="100" y="124"/>
                    </a:lnTo>
                    <a:lnTo>
                      <a:pt x="100" y="122"/>
                    </a:lnTo>
                    <a:lnTo>
                      <a:pt x="100" y="114"/>
                    </a:lnTo>
                    <a:lnTo>
                      <a:pt x="98" y="112"/>
                    </a:lnTo>
                    <a:lnTo>
                      <a:pt x="100" y="110"/>
                    </a:lnTo>
                    <a:lnTo>
                      <a:pt x="102" y="108"/>
                    </a:lnTo>
                    <a:lnTo>
                      <a:pt x="102" y="100"/>
                    </a:lnTo>
                    <a:lnTo>
                      <a:pt x="104" y="92"/>
                    </a:lnTo>
                    <a:lnTo>
                      <a:pt x="104" y="84"/>
                    </a:lnTo>
                    <a:lnTo>
                      <a:pt x="106" y="78"/>
                    </a:lnTo>
                    <a:lnTo>
                      <a:pt x="104" y="78"/>
                    </a:lnTo>
                    <a:lnTo>
                      <a:pt x="102" y="78"/>
                    </a:lnTo>
                    <a:lnTo>
                      <a:pt x="98" y="80"/>
                    </a:lnTo>
                    <a:lnTo>
                      <a:pt x="96" y="80"/>
                    </a:lnTo>
                    <a:lnTo>
                      <a:pt x="96" y="78"/>
                    </a:lnTo>
                    <a:lnTo>
                      <a:pt x="94" y="72"/>
                    </a:lnTo>
                    <a:lnTo>
                      <a:pt x="94" y="60"/>
                    </a:lnTo>
                    <a:lnTo>
                      <a:pt x="94" y="56"/>
                    </a:lnTo>
                    <a:lnTo>
                      <a:pt x="92" y="54"/>
                    </a:lnTo>
                    <a:lnTo>
                      <a:pt x="88" y="52"/>
                    </a:lnTo>
                    <a:lnTo>
                      <a:pt x="86" y="52"/>
                    </a:lnTo>
                    <a:lnTo>
                      <a:pt x="84" y="50"/>
                    </a:lnTo>
                    <a:lnTo>
                      <a:pt x="84" y="48"/>
                    </a:lnTo>
                    <a:lnTo>
                      <a:pt x="82" y="44"/>
                    </a:lnTo>
                    <a:lnTo>
                      <a:pt x="78" y="46"/>
                    </a:lnTo>
                    <a:lnTo>
                      <a:pt x="70" y="46"/>
                    </a:lnTo>
                    <a:lnTo>
                      <a:pt x="66" y="44"/>
                    </a:lnTo>
                    <a:lnTo>
                      <a:pt x="64" y="42"/>
                    </a:lnTo>
                    <a:lnTo>
                      <a:pt x="64" y="38"/>
                    </a:lnTo>
                    <a:lnTo>
                      <a:pt x="62" y="34"/>
                    </a:lnTo>
                    <a:lnTo>
                      <a:pt x="62" y="32"/>
                    </a:lnTo>
                    <a:lnTo>
                      <a:pt x="64" y="24"/>
                    </a:lnTo>
                    <a:lnTo>
                      <a:pt x="62" y="18"/>
                    </a:lnTo>
                    <a:lnTo>
                      <a:pt x="58" y="12"/>
                    </a:lnTo>
                    <a:lnTo>
                      <a:pt x="56" y="8"/>
                    </a:lnTo>
                    <a:lnTo>
                      <a:pt x="56" y="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22" name="Freeform 194">
                <a:extLst>
                  <a:ext uri="{FF2B5EF4-FFF2-40B4-BE49-F238E27FC236}">
                    <a16:creationId xmlns:a16="http://schemas.microsoft.com/office/drawing/2014/main" id="{D66DA69D-69B3-EA54-A3D8-B8EE2AA8C152}"/>
                  </a:ext>
                </a:extLst>
              </p:cNvPr>
              <p:cNvSpPr>
                <a:spLocks noEditPoints="1"/>
              </p:cNvSpPr>
              <p:nvPr/>
            </p:nvSpPr>
            <p:spPr bwMode="auto">
              <a:xfrm>
                <a:off x="6600747" y="4307969"/>
                <a:ext cx="192524" cy="126810"/>
              </a:xfrm>
              <a:custGeom>
                <a:avLst/>
                <a:gdLst/>
                <a:ahLst/>
                <a:cxnLst>
                  <a:cxn ang="0">
                    <a:pos x="178" y="56"/>
                  </a:cxn>
                  <a:cxn ang="0">
                    <a:pos x="184" y="68"/>
                  </a:cxn>
                  <a:cxn ang="0">
                    <a:pos x="194" y="60"/>
                  </a:cxn>
                  <a:cxn ang="0">
                    <a:pos x="182" y="48"/>
                  </a:cxn>
                  <a:cxn ang="0">
                    <a:pos x="176" y="40"/>
                  </a:cxn>
                  <a:cxn ang="0">
                    <a:pos x="0" y="66"/>
                  </a:cxn>
                  <a:cxn ang="0">
                    <a:pos x="20" y="102"/>
                  </a:cxn>
                  <a:cxn ang="0">
                    <a:pos x="30" y="104"/>
                  </a:cxn>
                  <a:cxn ang="0">
                    <a:pos x="36" y="94"/>
                  </a:cxn>
                  <a:cxn ang="0">
                    <a:pos x="40" y="88"/>
                  </a:cxn>
                  <a:cxn ang="0">
                    <a:pos x="52" y="90"/>
                  </a:cxn>
                  <a:cxn ang="0">
                    <a:pos x="74" y="102"/>
                  </a:cxn>
                  <a:cxn ang="0">
                    <a:pos x="80" y="108"/>
                  </a:cxn>
                  <a:cxn ang="0">
                    <a:pos x="84" y="114"/>
                  </a:cxn>
                  <a:cxn ang="0">
                    <a:pos x="94" y="122"/>
                  </a:cxn>
                  <a:cxn ang="0">
                    <a:pos x="102" y="124"/>
                  </a:cxn>
                  <a:cxn ang="0">
                    <a:pos x="116" y="130"/>
                  </a:cxn>
                  <a:cxn ang="0">
                    <a:pos x="122" y="124"/>
                  </a:cxn>
                  <a:cxn ang="0">
                    <a:pos x="114" y="114"/>
                  </a:cxn>
                  <a:cxn ang="0">
                    <a:pos x="108" y="106"/>
                  </a:cxn>
                  <a:cxn ang="0">
                    <a:pos x="98" y="92"/>
                  </a:cxn>
                  <a:cxn ang="0">
                    <a:pos x="86" y="84"/>
                  </a:cxn>
                  <a:cxn ang="0">
                    <a:pos x="84" y="70"/>
                  </a:cxn>
                  <a:cxn ang="0">
                    <a:pos x="94" y="66"/>
                  </a:cxn>
                  <a:cxn ang="0">
                    <a:pos x="86" y="54"/>
                  </a:cxn>
                  <a:cxn ang="0">
                    <a:pos x="78" y="50"/>
                  </a:cxn>
                  <a:cxn ang="0">
                    <a:pos x="64" y="44"/>
                  </a:cxn>
                  <a:cxn ang="0">
                    <a:pos x="56" y="26"/>
                  </a:cxn>
                  <a:cxn ang="0">
                    <a:pos x="44" y="20"/>
                  </a:cxn>
                  <a:cxn ang="0">
                    <a:pos x="26" y="12"/>
                  </a:cxn>
                  <a:cxn ang="0">
                    <a:pos x="4" y="0"/>
                  </a:cxn>
                  <a:cxn ang="0">
                    <a:pos x="146" y="28"/>
                  </a:cxn>
                  <a:cxn ang="0">
                    <a:pos x="144" y="32"/>
                  </a:cxn>
                  <a:cxn ang="0">
                    <a:pos x="138" y="40"/>
                  </a:cxn>
                  <a:cxn ang="0">
                    <a:pos x="124" y="42"/>
                  </a:cxn>
                  <a:cxn ang="0">
                    <a:pos x="108" y="50"/>
                  </a:cxn>
                  <a:cxn ang="0">
                    <a:pos x="110" y="58"/>
                  </a:cxn>
                  <a:cxn ang="0">
                    <a:pos x="134" y="56"/>
                  </a:cxn>
                  <a:cxn ang="0">
                    <a:pos x="142" y="48"/>
                  </a:cxn>
                  <a:cxn ang="0">
                    <a:pos x="150" y="42"/>
                  </a:cxn>
                  <a:cxn ang="0">
                    <a:pos x="152" y="34"/>
                  </a:cxn>
                  <a:cxn ang="0">
                    <a:pos x="146" y="28"/>
                  </a:cxn>
                  <a:cxn ang="0">
                    <a:pos x="148" y="20"/>
                  </a:cxn>
                  <a:cxn ang="0">
                    <a:pos x="154" y="30"/>
                  </a:cxn>
                  <a:cxn ang="0">
                    <a:pos x="158" y="32"/>
                  </a:cxn>
                  <a:cxn ang="0">
                    <a:pos x="148" y="16"/>
                  </a:cxn>
                  <a:cxn ang="0">
                    <a:pos x="142" y="14"/>
                  </a:cxn>
                  <a:cxn ang="0">
                    <a:pos x="132" y="6"/>
                  </a:cxn>
                </a:cxnLst>
                <a:rect l="0" t="0" r="r" b="b"/>
                <a:pathLst>
                  <a:path w="198" h="132">
                    <a:moveTo>
                      <a:pt x="176" y="40"/>
                    </a:moveTo>
                    <a:lnTo>
                      <a:pt x="176" y="40"/>
                    </a:lnTo>
                    <a:lnTo>
                      <a:pt x="176" y="52"/>
                    </a:lnTo>
                    <a:lnTo>
                      <a:pt x="178" y="56"/>
                    </a:lnTo>
                    <a:lnTo>
                      <a:pt x="180" y="58"/>
                    </a:lnTo>
                    <a:lnTo>
                      <a:pt x="180" y="62"/>
                    </a:lnTo>
                    <a:lnTo>
                      <a:pt x="184" y="64"/>
                    </a:lnTo>
                    <a:lnTo>
                      <a:pt x="184" y="68"/>
                    </a:lnTo>
                    <a:lnTo>
                      <a:pt x="194" y="72"/>
                    </a:lnTo>
                    <a:lnTo>
                      <a:pt x="198" y="68"/>
                    </a:lnTo>
                    <a:lnTo>
                      <a:pt x="196" y="64"/>
                    </a:lnTo>
                    <a:lnTo>
                      <a:pt x="194" y="60"/>
                    </a:lnTo>
                    <a:lnTo>
                      <a:pt x="190" y="60"/>
                    </a:lnTo>
                    <a:lnTo>
                      <a:pt x="184" y="52"/>
                    </a:lnTo>
                    <a:lnTo>
                      <a:pt x="184" y="48"/>
                    </a:lnTo>
                    <a:lnTo>
                      <a:pt x="182" y="48"/>
                    </a:lnTo>
                    <a:lnTo>
                      <a:pt x="180" y="46"/>
                    </a:lnTo>
                    <a:lnTo>
                      <a:pt x="178" y="42"/>
                    </a:lnTo>
                    <a:lnTo>
                      <a:pt x="178" y="40"/>
                    </a:lnTo>
                    <a:lnTo>
                      <a:pt x="176" y="40"/>
                    </a:lnTo>
                    <a:lnTo>
                      <a:pt x="176" y="40"/>
                    </a:lnTo>
                    <a:close/>
                    <a:moveTo>
                      <a:pt x="2" y="2"/>
                    </a:moveTo>
                    <a:lnTo>
                      <a:pt x="2" y="60"/>
                    </a:lnTo>
                    <a:lnTo>
                      <a:pt x="0" y="66"/>
                    </a:lnTo>
                    <a:lnTo>
                      <a:pt x="2" y="72"/>
                    </a:lnTo>
                    <a:lnTo>
                      <a:pt x="2" y="104"/>
                    </a:lnTo>
                    <a:lnTo>
                      <a:pt x="16" y="104"/>
                    </a:lnTo>
                    <a:lnTo>
                      <a:pt x="20" y="102"/>
                    </a:lnTo>
                    <a:lnTo>
                      <a:pt x="22" y="102"/>
                    </a:lnTo>
                    <a:lnTo>
                      <a:pt x="22" y="104"/>
                    </a:lnTo>
                    <a:lnTo>
                      <a:pt x="26" y="104"/>
                    </a:lnTo>
                    <a:lnTo>
                      <a:pt x="30" y="104"/>
                    </a:lnTo>
                    <a:lnTo>
                      <a:pt x="36" y="100"/>
                    </a:lnTo>
                    <a:lnTo>
                      <a:pt x="36" y="98"/>
                    </a:lnTo>
                    <a:lnTo>
                      <a:pt x="36" y="96"/>
                    </a:lnTo>
                    <a:lnTo>
                      <a:pt x="36" y="94"/>
                    </a:lnTo>
                    <a:lnTo>
                      <a:pt x="36" y="92"/>
                    </a:lnTo>
                    <a:lnTo>
                      <a:pt x="38" y="86"/>
                    </a:lnTo>
                    <a:lnTo>
                      <a:pt x="40" y="86"/>
                    </a:lnTo>
                    <a:lnTo>
                      <a:pt x="40" y="88"/>
                    </a:lnTo>
                    <a:lnTo>
                      <a:pt x="42" y="88"/>
                    </a:lnTo>
                    <a:lnTo>
                      <a:pt x="44" y="88"/>
                    </a:lnTo>
                    <a:lnTo>
                      <a:pt x="46" y="86"/>
                    </a:lnTo>
                    <a:lnTo>
                      <a:pt x="52" y="90"/>
                    </a:lnTo>
                    <a:lnTo>
                      <a:pt x="58" y="90"/>
                    </a:lnTo>
                    <a:lnTo>
                      <a:pt x="66" y="92"/>
                    </a:lnTo>
                    <a:lnTo>
                      <a:pt x="74" y="98"/>
                    </a:lnTo>
                    <a:lnTo>
                      <a:pt x="74" y="102"/>
                    </a:lnTo>
                    <a:lnTo>
                      <a:pt x="74" y="104"/>
                    </a:lnTo>
                    <a:lnTo>
                      <a:pt x="76" y="104"/>
                    </a:lnTo>
                    <a:lnTo>
                      <a:pt x="78" y="106"/>
                    </a:lnTo>
                    <a:lnTo>
                      <a:pt x="80" y="108"/>
                    </a:lnTo>
                    <a:lnTo>
                      <a:pt x="80" y="110"/>
                    </a:lnTo>
                    <a:lnTo>
                      <a:pt x="82" y="110"/>
                    </a:lnTo>
                    <a:lnTo>
                      <a:pt x="84" y="110"/>
                    </a:lnTo>
                    <a:lnTo>
                      <a:pt x="84" y="114"/>
                    </a:lnTo>
                    <a:lnTo>
                      <a:pt x="88" y="116"/>
                    </a:lnTo>
                    <a:lnTo>
                      <a:pt x="90" y="118"/>
                    </a:lnTo>
                    <a:lnTo>
                      <a:pt x="90" y="122"/>
                    </a:lnTo>
                    <a:lnTo>
                      <a:pt x="94" y="122"/>
                    </a:lnTo>
                    <a:lnTo>
                      <a:pt x="96" y="122"/>
                    </a:lnTo>
                    <a:lnTo>
                      <a:pt x="98" y="126"/>
                    </a:lnTo>
                    <a:lnTo>
                      <a:pt x="100" y="124"/>
                    </a:lnTo>
                    <a:lnTo>
                      <a:pt x="102" y="124"/>
                    </a:lnTo>
                    <a:lnTo>
                      <a:pt x="104" y="126"/>
                    </a:lnTo>
                    <a:lnTo>
                      <a:pt x="108" y="126"/>
                    </a:lnTo>
                    <a:lnTo>
                      <a:pt x="114" y="128"/>
                    </a:lnTo>
                    <a:lnTo>
                      <a:pt x="116" y="130"/>
                    </a:lnTo>
                    <a:lnTo>
                      <a:pt x="120" y="132"/>
                    </a:lnTo>
                    <a:lnTo>
                      <a:pt x="124" y="132"/>
                    </a:lnTo>
                    <a:lnTo>
                      <a:pt x="124" y="126"/>
                    </a:lnTo>
                    <a:lnTo>
                      <a:pt x="122" y="124"/>
                    </a:lnTo>
                    <a:lnTo>
                      <a:pt x="118" y="124"/>
                    </a:lnTo>
                    <a:lnTo>
                      <a:pt x="116" y="122"/>
                    </a:lnTo>
                    <a:lnTo>
                      <a:pt x="118" y="116"/>
                    </a:lnTo>
                    <a:lnTo>
                      <a:pt x="114" y="114"/>
                    </a:lnTo>
                    <a:lnTo>
                      <a:pt x="112" y="116"/>
                    </a:lnTo>
                    <a:lnTo>
                      <a:pt x="110" y="116"/>
                    </a:lnTo>
                    <a:lnTo>
                      <a:pt x="108" y="110"/>
                    </a:lnTo>
                    <a:lnTo>
                      <a:pt x="108" y="106"/>
                    </a:lnTo>
                    <a:lnTo>
                      <a:pt x="100" y="104"/>
                    </a:lnTo>
                    <a:lnTo>
                      <a:pt x="100" y="98"/>
                    </a:lnTo>
                    <a:lnTo>
                      <a:pt x="98" y="96"/>
                    </a:lnTo>
                    <a:lnTo>
                      <a:pt x="98" y="92"/>
                    </a:lnTo>
                    <a:lnTo>
                      <a:pt x="96" y="92"/>
                    </a:lnTo>
                    <a:lnTo>
                      <a:pt x="92" y="92"/>
                    </a:lnTo>
                    <a:lnTo>
                      <a:pt x="88" y="88"/>
                    </a:lnTo>
                    <a:lnTo>
                      <a:pt x="86" y="84"/>
                    </a:lnTo>
                    <a:lnTo>
                      <a:pt x="86" y="74"/>
                    </a:lnTo>
                    <a:lnTo>
                      <a:pt x="84" y="74"/>
                    </a:lnTo>
                    <a:lnTo>
                      <a:pt x="84" y="72"/>
                    </a:lnTo>
                    <a:lnTo>
                      <a:pt x="84" y="70"/>
                    </a:lnTo>
                    <a:lnTo>
                      <a:pt x="86" y="70"/>
                    </a:lnTo>
                    <a:lnTo>
                      <a:pt x="90" y="70"/>
                    </a:lnTo>
                    <a:lnTo>
                      <a:pt x="92" y="68"/>
                    </a:lnTo>
                    <a:lnTo>
                      <a:pt x="94" y="66"/>
                    </a:lnTo>
                    <a:lnTo>
                      <a:pt x="94" y="60"/>
                    </a:lnTo>
                    <a:lnTo>
                      <a:pt x="92" y="60"/>
                    </a:lnTo>
                    <a:lnTo>
                      <a:pt x="90" y="56"/>
                    </a:lnTo>
                    <a:lnTo>
                      <a:pt x="86" y="54"/>
                    </a:lnTo>
                    <a:lnTo>
                      <a:pt x="84" y="56"/>
                    </a:lnTo>
                    <a:lnTo>
                      <a:pt x="82" y="56"/>
                    </a:lnTo>
                    <a:lnTo>
                      <a:pt x="80" y="50"/>
                    </a:lnTo>
                    <a:lnTo>
                      <a:pt x="78" y="50"/>
                    </a:lnTo>
                    <a:lnTo>
                      <a:pt x="78" y="46"/>
                    </a:lnTo>
                    <a:lnTo>
                      <a:pt x="70" y="46"/>
                    </a:lnTo>
                    <a:lnTo>
                      <a:pt x="68" y="46"/>
                    </a:lnTo>
                    <a:lnTo>
                      <a:pt x="64" y="44"/>
                    </a:lnTo>
                    <a:lnTo>
                      <a:pt x="64" y="42"/>
                    </a:lnTo>
                    <a:lnTo>
                      <a:pt x="66" y="38"/>
                    </a:lnTo>
                    <a:lnTo>
                      <a:pt x="62" y="32"/>
                    </a:lnTo>
                    <a:lnTo>
                      <a:pt x="56" y="26"/>
                    </a:lnTo>
                    <a:lnTo>
                      <a:pt x="54" y="26"/>
                    </a:lnTo>
                    <a:lnTo>
                      <a:pt x="50" y="26"/>
                    </a:lnTo>
                    <a:lnTo>
                      <a:pt x="48" y="24"/>
                    </a:lnTo>
                    <a:lnTo>
                      <a:pt x="44" y="20"/>
                    </a:lnTo>
                    <a:lnTo>
                      <a:pt x="38" y="20"/>
                    </a:lnTo>
                    <a:lnTo>
                      <a:pt x="36" y="16"/>
                    </a:lnTo>
                    <a:lnTo>
                      <a:pt x="30" y="16"/>
                    </a:lnTo>
                    <a:lnTo>
                      <a:pt x="26" y="12"/>
                    </a:lnTo>
                    <a:lnTo>
                      <a:pt x="20" y="12"/>
                    </a:lnTo>
                    <a:lnTo>
                      <a:pt x="14" y="10"/>
                    </a:lnTo>
                    <a:lnTo>
                      <a:pt x="4" y="2"/>
                    </a:lnTo>
                    <a:lnTo>
                      <a:pt x="4" y="0"/>
                    </a:lnTo>
                    <a:lnTo>
                      <a:pt x="2" y="0"/>
                    </a:lnTo>
                    <a:lnTo>
                      <a:pt x="2" y="2"/>
                    </a:lnTo>
                    <a:lnTo>
                      <a:pt x="2" y="2"/>
                    </a:lnTo>
                    <a:close/>
                    <a:moveTo>
                      <a:pt x="146" y="28"/>
                    </a:moveTo>
                    <a:lnTo>
                      <a:pt x="146" y="28"/>
                    </a:lnTo>
                    <a:lnTo>
                      <a:pt x="142" y="30"/>
                    </a:lnTo>
                    <a:lnTo>
                      <a:pt x="142" y="32"/>
                    </a:lnTo>
                    <a:lnTo>
                      <a:pt x="144" y="32"/>
                    </a:lnTo>
                    <a:lnTo>
                      <a:pt x="144" y="36"/>
                    </a:lnTo>
                    <a:lnTo>
                      <a:pt x="140" y="36"/>
                    </a:lnTo>
                    <a:lnTo>
                      <a:pt x="138" y="38"/>
                    </a:lnTo>
                    <a:lnTo>
                      <a:pt x="138" y="40"/>
                    </a:lnTo>
                    <a:lnTo>
                      <a:pt x="136" y="44"/>
                    </a:lnTo>
                    <a:lnTo>
                      <a:pt x="134" y="46"/>
                    </a:lnTo>
                    <a:lnTo>
                      <a:pt x="126" y="46"/>
                    </a:lnTo>
                    <a:lnTo>
                      <a:pt x="124" y="42"/>
                    </a:lnTo>
                    <a:lnTo>
                      <a:pt x="118" y="48"/>
                    </a:lnTo>
                    <a:lnTo>
                      <a:pt x="116" y="50"/>
                    </a:lnTo>
                    <a:lnTo>
                      <a:pt x="110" y="50"/>
                    </a:lnTo>
                    <a:lnTo>
                      <a:pt x="108" y="50"/>
                    </a:lnTo>
                    <a:lnTo>
                      <a:pt x="104" y="48"/>
                    </a:lnTo>
                    <a:lnTo>
                      <a:pt x="102" y="52"/>
                    </a:lnTo>
                    <a:lnTo>
                      <a:pt x="108" y="56"/>
                    </a:lnTo>
                    <a:lnTo>
                      <a:pt x="110" y="58"/>
                    </a:lnTo>
                    <a:lnTo>
                      <a:pt x="116" y="58"/>
                    </a:lnTo>
                    <a:lnTo>
                      <a:pt x="122" y="58"/>
                    </a:lnTo>
                    <a:lnTo>
                      <a:pt x="128" y="58"/>
                    </a:lnTo>
                    <a:lnTo>
                      <a:pt x="134" y="56"/>
                    </a:lnTo>
                    <a:lnTo>
                      <a:pt x="138" y="52"/>
                    </a:lnTo>
                    <a:lnTo>
                      <a:pt x="140" y="52"/>
                    </a:lnTo>
                    <a:lnTo>
                      <a:pt x="142" y="50"/>
                    </a:lnTo>
                    <a:lnTo>
                      <a:pt x="142" y="48"/>
                    </a:lnTo>
                    <a:lnTo>
                      <a:pt x="142" y="46"/>
                    </a:lnTo>
                    <a:lnTo>
                      <a:pt x="146" y="46"/>
                    </a:lnTo>
                    <a:lnTo>
                      <a:pt x="148" y="44"/>
                    </a:lnTo>
                    <a:lnTo>
                      <a:pt x="150" y="42"/>
                    </a:lnTo>
                    <a:lnTo>
                      <a:pt x="148" y="38"/>
                    </a:lnTo>
                    <a:lnTo>
                      <a:pt x="152" y="38"/>
                    </a:lnTo>
                    <a:lnTo>
                      <a:pt x="152" y="36"/>
                    </a:lnTo>
                    <a:lnTo>
                      <a:pt x="152" y="34"/>
                    </a:lnTo>
                    <a:lnTo>
                      <a:pt x="152" y="30"/>
                    </a:lnTo>
                    <a:lnTo>
                      <a:pt x="150" y="30"/>
                    </a:lnTo>
                    <a:lnTo>
                      <a:pt x="150" y="28"/>
                    </a:lnTo>
                    <a:lnTo>
                      <a:pt x="146" y="28"/>
                    </a:lnTo>
                    <a:lnTo>
                      <a:pt x="146" y="28"/>
                    </a:lnTo>
                    <a:close/>
                    <a:moveTo>
                      <a:pt x="148" y="16"/>
                    </a:moveTo>
                    <a:lnTo>
                      <a:pt x="148" y="16"/>
                    </a:lnTo>
                    <a:lnTo>
                      <a:pt x="148" y="20"/>
                    </a:lnTo>
                    <a:lnTo>
                      <a:pt x="152" y="24"/>
                    </a:lnTo>
                    <a:lnTo>
                      <a:pt x="154" y="26"/>
                    </a:lnTo>
                    <a:lnTo>
                      <a:pt x="154" y="28"/>
                    </a:lnTo>
                    <a:lnTo>
                      <a:pt x="154" y="30"/>
                    </a:lnTo>
                    <a:lnTo>
                      <a:pt x="154" y="32"/>
                    </a:lnTo>
                    <a:lnTo>
                      <a:pt x="154" y="34"/>
                    </a:lnTo>
                    <a:lnTo>
                      <a:pt x="158" y="34"/>
                    </a:lnTo>
                    <a:lnTo>
                      <a:pt x="158" y="32"/>
                    </a:lnTo>
                    <a:lnTo>
                      <a:pt x="160" y="26"/>
                    </a:lnTo>
                    <a:lnTo>
                      <a:pt x="154" y="22"/>
                    </a:lnTo>
                    <a:lnTo>
                      <a:pt x="148" y="16"/>
                    </a:lnTo>
                    <a:lnTo>
                      <a:pt x="148" y="16"/>
                    </a:lnTo>
                    <a:close/>
                    <a:moveTo>
                      <a:pt x="132" y="6"/>
                    </a:moveTo>
                    <a:lnTo>
                      <a:pt x="132" y="6"/>
                    </a:lnTo>
                    <a:lnTo>
                      <a:pt x="132" y="10"/>
                    </a:lnTo>
                    <a:lnTo>
                      <a:pt x="142" y="14"/>
                    </a:lnTo>
                    <a:lnTo>
                      <a:pt x="144" y="16"/>
                    </a:lnTo>
                    <a:lnTo>
                      <a:pt x="146" y="16"/>
                    </a:lnTo>
                    <a:lnTo>
                      <a:pt x="146" y="12"/>
                    </a:lnTo>
                    <a:lnTo>
                      <a:pt x="132" y="6"/>
                    </a:lnTo>
                    <a:lnTo>
                      <a:pt x="132" y="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23" name="Freeform 195">
                <a:extLst>
                  <a:ext uri="{FF2B5EF4-FFF2-40B4-BE49-F238E27FC236}">
                    <a16:creationId xmlns:a16="http://schemas.microsoft.com/office/drawing/2014/main" id="{058E35B6-CE46-AACB-6ACC-2B2FC38C20A3}"/>
                  </a:ext>
                </a:extLst>
              </p:cNvPr>
              <p:cNvSpPr>
                <a:spLocks/>
              </p:cNvSpPr>
              <p:nvPr/>
            </p:nvSpPr>
            <p:spPr bwMode="auto">
              <a:xfrm>
                <a:off x="6771881" y="4346396"/>
                <a:ext cx="21391" cy="30742"/>
              </a:xfrm>
              <a:custGeom>
                <a:avLst/>
                <a:gdLst/>
                <a:ahLst/>
                <a:cxnLst>
                  <a:cxn ang="0">
                    <a:pos x="0" y="0"/>
                  </a:cxn>
                  <a:cxn ang="0">
                    <a:pos x="0" y="0"/>
                  </a:cxn>
                  <a:cxn ang="0">
                    <a:pos x="0" y="12"/>
                  </a:cxn>
                  <a:cxn ang="0">
                    <a:pos x="2" y="16"/>
                  </a:cxn>
                  <a:cxn ang="0">
                    <a:pos x="4" y="18"/>
                  </a:cxn>
                  <a:cxn ang="0">
                    <a:pos x="4" y="22"/>
                  </a:cxn>
                  <a:cxn ang="0">
                    <a:pos x="8" y="24"/>
                  </a:cxn>
                  <a:cxn ang="0">
                    <a:pos x="8" y="28"/>
                  </a:cxn>
                  <a:cxn ang="0">
                    <a:pos x="18" y="32"/>
                  </a:cxn>
                  <a:cxn ang="0">
                    <a:pos x="22" y="28"/>
                  </a:cxn>
                  <a:cxn ang="0">
                    <a:pos x="20" y="24"/>
                  </a:cxn>
                  <a:cxn ang="0">
                    <a:pos x="18" y="20"/>
                  </a:cxn>
                  <a:cxn ang="0">
                    <a:pos x="14" y="20"/>
                  </a:cxn>
                  <a:cxn ang="0">
                    <a:pos x="8" y="12"/>
                  </a:cxn>
                  <a:cxn ang="0">
                    <a:pos x="8" y="8"/>
                  </a:cxn>
                  <a:cxn ang="0">
                    <a:pos x="6" y="8"/>
                  </a:cxn>
                  <a:cxn ang="0">
                    <a:pos x="4" y="6"/>
                  </a:cxn>
                  <a:cxn ang="0">
                    <a:pos x="2" y="2"/>
                  </a:cxn>
                  <a:cxn ang="0">
                    <a:pos x="2" y="0"/>
                  </a:cxn>
                  <a:cxn ang="0">
                    <a:pos x="0" y="0"/>
                  </a:cxn>
                  <a:cxn ang="0">
                    <a:pos x="0" y="0"/>
                  </a:cxn>
                </a:cxnLst>
                <a:rect l="0" t="0" r="r" b="b"/>
                <a:pathLst>
                  <a:path w="22" h="32">
                    <a:moveTo>
                      <a:pt x="0" y="0"/>
                    </a:moveTo>
                    <a:lnTo>
                      <a:pt x="0" y="0"/>
                    </a:lnTo>
                    <a:lnTo>
                      <a:pt x="0" y="12"/>
                    </a:lnTo>
                    <a:lnTo>
                      <a:pt x="2" y="16"/>
                    </a:lnTo>
                    <a:lnTo>
                      <a:pt x="4" y="18"/>
                    </a:lnTo>
                    <a:lnTo>
                      <a:pt x="4" y="22"/>
                    </a:lnTo>
                    <a:lnTo>
                      <a:pt x="8" y="24"/>
                    </a:lnTo>
                    <a:lnTo>
                      <a:pt x="8" y="28"/>
                    </a:lnTo>
                    <a:lnTo>
                      <a:pt x="18" y="32"/>
                    </a:lnTo>
                    <a:lnTo>
                      <a:pt x="22" y="28"/>
                    </a:lnTo>
                    <a:lnTo>
                      <a:pt x="20" y="24"/>
                    </a:lnTo>
                    <a:lnTo>
                      <a:pt x="18" y="20"/>
                    </a:lnTo>
                    <a:lnTo>
                      <a:pt x="14" y="20"/>
                    </a:lnTo>
                    <a:lnTo>
                      <a:pt x="8" y="12"/>
                    </a:lnTo>
                    <a:lnTo>
                      <a:pt x="8" y="8"/>
                    </a:lnTo>
                    <a:lnTo>
                      <a:pt x="6" y="8"/>
                    </a:lnTo>
                    <a:lnTo>
                      <a:pt x="4" y="6"/>
                    </a:lnTo>
                    <a:lnTo>
                      <a:pt x="2" y="2"/>
                    </a:lnTo>
                    <a:lnTo>
                      <a:pt x="2" y="0"/>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24" name="Freeform 196">
                <a:extLst>
                  <a:ext uri="{FF2B5EF4-FFF2-40B4-BE49-F238E27FC236}">
                    <a16:creationId xmlns:a16="http://schemas.microsoft.com/office/drawing/2014/main" id="{9B394B79-37FB-9001-B2F4-5BA8026798FA}"/>
                  </a:ext>
                </a:extLst>
              </p:cNvPr>
              <p:cNvSpPr>
                <a:spLocks/>
              </p:cNvSpPr>
              <p:nvPr/>
            </p:nvSpPr>
            <p:spPr bwMode="auto">
              <a:xfrm>
                <a:off x="6699927" y="4334868"/>
                <a:ext cx="48617" cy="28821"/>
              </a:xfrm>
              <a:custGeom>
                <a:avLst/>
                <a:gdLst/>
                <a:ahLst/>
                <a:cxnLst>
                  <a:cxn ang="0">
                    <a:pos x="44" y="0"/>
                  </a:cxn>
                  <a:cxn ang="0">
                    <a:pos x="44" y="0"/>
                  </a:cxn>
                  <a:cxn ang="0">
                    <a:pos x="40" y="2"/>
                  </a:cxn>
                  <a:cxn ang="0">
                    <a:pos x="40" y="4"/>
                  </a:cxn>
                  <a:cxn ang="0">
                    <a:pos x="42" y="4"/>
                  </a:cxn>
                  <a:cxn ang="0">
                    <a:pos x="42" y="8"/>
                  </a:cxn>
                  <a:cxn ang="0">
                    <a:pos x="38" y="8"/>
                  </a:cxn>
                  <a:cxn ang="0">
                    <a:pos x="36" y="10"/>
                  </a:cxn>
                  <a:cxn ang="0">
                    <a:pos x="36" y="12"/>
                  </a:cxn>
                  <a:cxn ang="0">
                    <a:pos x="34" y="16"/>
                  </a:cxn>
                  <a:cxn ang="0">
                    <a:pos x="32" y="18"/>
                  </a:cxn>
                  <a:cxn ang="0">
                    <a:pos x="24" y="18"/>
                  </a:cxn>
                  <a:cxn ang="0">
                    <a:pos x="22" y="14"/>
                  </a:cxn>
                  <a:cxn ang="0">
                    <a:pos x="16" y="20"/>
                  </a:cxn>
                  <a:cxn ang="0">
                    <a:pos x="14" y="22"/>
                  </a:cxn>
                  <a:cxn ang="0">
                    <a:pos x="8" y="22"/>
                  </a:cxn>
                  <a:cxn ang="0">
                    <a:pos x="6" y="22"/>
                  </a:cxn>
                  <a:cxn ang="0">
                    <a:pos x="2" y="20"/>
                  </a:cxn>
                  <a:cxn ang="0">
                    <a:pos x="0" y="24"/>
                  </a:cxn>
                  <a:cxn ang="0">
                    <a:pos x="6" y="28"/>
                  </a:cxn>
                  <a:cxn ang="0">
                    <a:pos x="8" y="30"/>
                  </a:cxn>
                  <a:cxn ang="0">
                    <a:pos x="14" y="30"/>
                  </a:cxn>
                  <a:cxn ang="0">
                    <a:pos x="20" y="30"/>
                  </a:cxn>
                  <a:cxn ang="0">
                    <a:pos x="26" y="30"/>
                  </a:cxn>
                  <a:cxn ang="0">
                    <a:pos x="32" y="28"/>
                  </a:cxn>
                  <a:cxn ang="0">
                    <a:pos x="36" y="24"/>
                  </a:cxn>
                  <a:cxn ang="0">
                    <a:pos x="38" y="24"/>
                  </a:cxn>
                  <a:cxn ang="0">
                    <a:pos x="40" y="22"/>
                  </a:cxn>
                  <a:cxn ang="0">
                    <a:pos x="40" y="20"/>
                  </a:cxn>
                  <a:cxn ang="0">
                    <a:pos x="40" y="18"/>
                  </a:cxn>
                  <a:cxn ang="0">
                    <a:pos x="44" y="18"/>
                  </a:cxn>
                  <a:cxn ang="0">
                    <a:pos x="46" y="16"/>
                  </a:cxn>
                  <a:cxn ang="0">
                    <a:pos x="48" y="14"/>
                  </a:cxn>
                  <a:cxn ang="0">
                    <a:pos x="46" y="10"/>
                  </a:cxn>
                  <a:cxn ang="0">
                    <a:pos x="50" y="10"/>
                  </a:cxn>
                  <a:cxn ang="0">
                    <a:pos x="50" y="8"/>
                  </a:cxn>
                  <a:cxn ang="0">
                    <a:pos x="50" y="6"/>
                  </a:cxn>
                  <a:cxn ang="0">
                    <a:pos x="50" y="2"/>
                  </a:cxn>
                  <a:cxn ang="0">
                    <a:pos x="48" y="2"/>
                  </a:cxn>
                  <a:cxn ang="0">
                    <a:pos x="48" y="0"/>
                  </a:cxn>
                  <a:cxn ang="0">
                    <a:pos x="44" y="0"/>
                  </a:cxn>
                </a:cxnLst>
                <a:rect l="0" t="0" r="r" b="b"/>
                <a:pathLst>
                  <a:path w="50" h="30">
                    <a:moveTo>
                      <a:pt x="44" y="0"/>
                    </a:moveTo>
                    <a:lnTo>
                      <a:pt x="44" y="0"/>
                    </a:lnTo>
                    <a:lnTo>
                      <a:pt x="40" y="2"/>
                    </a:lnTo>
                    <a:lnTo>
                      <a:pt x="40" y="4"/>
                    </a:lnTo>
                    <a:lnTo>
                      <a:pt x="42" y="4"/>
                    </a:lnTo>
                    <a:lnTo>
                      <a:pt x="42" y="8"/>
                    </a:lnTo>
                    <a:lnTo>
                      <a:pt x="38" y="8"/>
                    </a:lnTo>
                    <a:lnTo>
                      <a:pt x="36" y="10"/>
                    </a:lnTo>
                    <a:lnTo>
                      <a:pt x="36" y="12"/>
                    </a:lnTo>
                    <a:lnTo>
                      <a:pt x="34" y="16"/>
                    </a:lnTo>
                    <a:lnTo>
                      <a:pt x="32" y="18"/>
                    </a:lnTo>
                    <a:lnTo>
                      <a:pt x="24" y="18"/>
                    </a:lnTo>
                    <a:lnTo>
                      <a:pt x="22" y="14"/>
                    </a:lnTo>
                    <a:lnTo>
                      <a:pt x="16" y="20"/>
                    </a:lnTo>
                    <a:lnTo>
                      <a:pt x="14" y="22"/>
                    </a:lnTo>
                    <a:lnTo>
                      <a:pt x="8" y="22"/>
                    </a:lnTo>
                    <a:lnTo>
                      <a:pt x="6" y="22"/>
                    </a:lnTo>
                    <a:lnTo>
                      <a:pt x="2" y="20"/>
                    </a:lnTo>
                    <a:lnTo>
                      <a:pt x="0" y="24"/>
                    </a:lnTo>
                    <a:lnTo>
                      <a:pt x="6" y="28"/>
                    </a:lnTo>
                    <a:lnTo>
                      <a:pt x="8" y="30"/>
                    </a:lnTo>
                    <a:lnTo>
                      <a:pt x="14" y="30"/>
                    </a:lnTo>
                    <a:lnTo>
                      <a:pt x="20" y="30"/>
                    </a:lnTo>
                    <a:lnTo>
                      <a:pt x="26" y="30"/>
                    </a:lnTo>
                    <a:lnTo>
                      <a:pt x="32" y="28"/>
                    </a:lnTo>
                    <a:lnTo>
                      <a:pt x="36" y="24"/>
                    </a:lnTo>
                    <a:lnTo>
                      <a:pt x="38" y="24"/>
                    </a:lnTo>
                    <a:lnTo>
                      <a:pt x="40" y="22"/>
                    </a:lnTo>
                    <a:lnTo>
                      <a:pt x="40" y="20"/>
                    </a:lnTo>
                    <a:lnTo>
                      <a:pt x="40" y="18"/>
                    </a:lnTo>
                    <a:lnTo>
                      <a:pt x="44" y="18"/>
                    </a:lnTo>
                    <a:lnTo>
                      <a:pt x="46" y="16"/>
                    </a:lnTo>
                    <a:lnTo>
                      <a:pt x="48" y="14"/>
                    </a:lnTo>
                    <a:lnTo>
                      <a:pt x="46" y="10"/>
                    </a:lnTo>
                    <a:lnTo>
                      <a:pt x="50" y="10"/>
                    </a:lnTo>
                    <a:lnTo>
                      <a:pt x="50" y="8"/>
                    </a:lnTo>
                    <a:lnTo>
                      <a:pt x="50" y="6"/>
                    </a:lnTo>
                    <a:lnTo>
                      <a:pt x="50" y="2"/>
                    </a:lnTo>
                    <a:lnTo>
                      <a:pt x="48" y="2"/>
                    </a:lnTo>
                    <a:lnTo>
                      <a:pt x="48" y="0"/>
                    </a:lnTo>
                    <a:lnTo>
                      <a:pt x="44"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25" name="Freeform 197">
                <a:extLst>
                  <a:ext uri="{FF2B5EF4-FFF2-40B4-BE49-F238E27FC236}">
                    <a16:creationId xmlns:a16="http://schemas.microsoft.com/office/drawing/2014/main" id="{59980BCA-3E27-552D-5749-038F30041853}"/>
                  </a:ext>
                </a:extLst>
              </p:cNvPr>
              <p:cNvSpPr>
                <a:spLocks/>
              </p:cNvSpPr>
              <p:nvPr/>
            </p:nvSpPr>
            <p:spPr bwMode="auto">
              <a:xfrm>
                <a:off x="6699927" y="4334868"/>
                <a:ext cx="48617" cy="28821"/>
              </a:xfrm>
              <a:custGeom>
                <a:avLst/>
                <a:gdLst/>
                <a:ahLst/>
                <a:cxnLst>
                  <a:cxn ang="0">
                    <a:pos x="44" y="0"/>
                  </a:cxn>
                  <a:cxn ang="0">
                    <a:pos x="44" y="0"/>
                  </a:cxn>
                  <a:cxn ang="0">
                    <a:pos x="40" y="2"/>
                  </a:cxn>
                  <a:cxn ang="0">
                    <a:pos x="40" y="4"/>
                  </a:cxn>
                  <a:cxn ang="0">
                    <a:pos x="42" y="4"/>
                  </a:cxn>
                  <a:cxn ang="0">
                    <a:pos x="42" y="8"/>
                  </a:cxn>
                  <a:cxn ang="0">
                    <a:pos x="38" y="8"/>
                  </a:cxn>
                  <a:cxn ang="0">
                    <a:pos x="36" y="10"/>
                  </a:cxn>
                  <a:cxn ang="0">
                    <a:pos x="36" y="12"/>
                  </a:cxn>
                  <a:cxn ang="0">
                    <a:pos x="34" y="16"/>
                  </a:cxn>
                  <a:cxn ang="0">
                    <a:pos x="32" y="18"/>
                  </a:cxn>
                  <a:cxn ang="0">
                    <a:pos x="24" y="18"/>
                  </a:cxn>
                  <a:cxn ang="0">
                    <a:pos x="22" y="14"/>
                  </a:cxn>
                  <a:cxn ang="0">
                    <a:pos x="16" y="20"/>
                  </a:cxn>
                  <a:cxn ang="0">
                    <a:pos x="14" y="22"/>
                  </a:cxn>
                  <a:cxn ang="0">
                    <a:pos x="8" y="22"/>
                  </a:cxn>
                  <a:cxn ang="0">
                    <a:pos x="6" y="22"/>
                  </a:cxn>
                  <a:cxn ang="0">
                    <a:pos x="2" y="20"/>
                  </a:cxn>
                  <a:cxn ang="0">
                    <a:pos x="0" y="24"/>
                  </a:cxn>
                  <a:cxn ang="0">
                    <a:pos x="6" y="28"/>
                  </a:cxn>
                  <a:cxn ang="0">
                    <a:pos x="8" y="30"/>
                  </a:cxn>
                  <a:cxn ang="0">
                    <a:pos x="14" y="30"/>
                  </a:cxn>
                  <a:cxn ang="0">
                    <a:pos x="20" y="30"/>
                  </a:cxn>
                  <a:cxn ang="0">
                    <a:pos x="26" y="30"/>
                  </a:cxn>
                  <a:cxn ang="0">
                    <a:pos x="32" y="28"/>
                  </a:cxn>
                  <a:cxn ang="0">
                    <a:pos x="36" y="24"/>
                  </a:cxn>
                  <a:cxn ang="0">
                    <a:pos x="38" y="24"/>
                  </a:cxn>
                  <a:cxn ang="0">
                    <a:pos x="40" y="22"/>
                  </a:cxn>
                  <a:cxn ang="0">
                    <a:pos x="40" y="20"/>
                  </a:cxn>
                  <a:cxn ang="0">
                    <a:pos x="40" y="18"/>
                  </a:cxn>
                  <a:cxn ang="0">
                    <a:pos x="44" y="18"/>
                  </a:cxn>
                  <a:cxn ang="0">
                    <a:pos x="46" y="16"/>
                  </a:cxn>
                  <a:cxn ang="0">
                    <a:pos x="48" y="14"/>
                  </a:cxn>
                  <a:cxn ang="0">
                    <a:pos x="46" y="10"/>
                  </a:cxn>
                  <a:cxn ang="0">
                    <a:pos x="50" y="10"/>
                  </a:cxn>
                  <a:cxn ang="0">
                    <a:pos x="50" y="8"/>
                  </a:cxn>
                  <a:cxn ang="0">
                    <a:pos x="50" y="6"/>
                  </a:cxn>
                  <a:cxn ang="0">
                    <a:pos x="50" y="2"/>
                  </a:cxn>
                  <a:cxn ang="0">
                    <a:pos x="48" y="2"/>
                  </a:cxn>
                  <a:cxn ang="0">
                    <a:pos x="48" y="0"/>
                  </a:cxn>
                  <a:cxn ang="0">
                    <a:pos x="44" y="0"/>
                  </a:cxn>
                </a:cxnLst>
                <a:rect l="0" t="0" r="r" b="b"/>
                <a:pathLst>
                  <a:path w="50" h="30">
                    <a:moveTo>
                      <a:pt x="44" y="0"/>
                    </a:moveTo>
                    <a:lnTo>
                      <a:pt x="44" y="0"/>
                    </a:lnTo>
                    <a:lnTo>
                      <a:pt x="40" y="2"/>
                    </a:lnTo>
                    <a:lnTo>
                      <a:pt x="40" y="4"/>
                    </a:lnTo>
                    <a:lnTo>
                      <a:pt x="42" y="4"/>
                    </a:lnTo>
                    <a:lnTo>
                      <a:pt x="42" y="8"/>
                    </a:lnTo>
                    <a:lnTo>
                      <a:pt x="38" y="8"/>
                    </a:lnTo>
                    <a:lnTo>
                      <a:pt x="36" y="10"/>
                    </a:lnTo>
                    <a:lnTo>
                      <a:pt x="36" y="12"/>
                    </a:lnTo>
                    <a:lnTo>
                      <a:pt x="34" y="16"/>
                    </a:lnTo>
                    <a:lnTo>
                      <a:pt x="32" y="18"/>
                    </a:lnTo>
                    <a:lnTo>
                      <a:pt x="24" y="18"/>
                    </a:lnTo>
                    <a:lnTo>
                      <a:pt x="22" y="14"/>
                    </a:lnTo>
                    <a:lnTo>
                      <a:pt x="16" y="20"/>
                    </a:lnTo>
                    <a:lnTo>
                      <a:pt x="14" y="22"/>
                    </a:lnTo>
                    <a:lnTo>
                      <a:pt x="8" y="22"/>
                    </a:lnTo>
                    <a:lnTo>
                      <a:pt x="6" y="22"/>
                    </a:lnTo>
                    <a:lnTo>
                      <a:pt x="2" y="20"/>
                    </a:lnTo>
                    <a:lnTo>
                      <a:pt x="0" y="24"/>
                    </a:lnTo>
                    <a:lnTo>
                      <a:pt x="6" y="28"/>
                    </a:lnTo>
                    <a:lnTo>
                      <a:pt x="8" y="30"/>
                    </a:lnTo>
                    <a:lnTo>
                      <a:pt x="14" y="30"/>
                    </a:lnTo>
                    <a:lnTo>
                      <a:pt x="20" y="30"/>
                    </a:lnTo>
                    <a:lnTo>
                      <a:pt x="26" y="30"/>
                    </a:lnTo>
                    <a:lnTo>
                      <a:pt x="32" y="28"/>
                    </a:lnTo>
                    <a:lnTo>
                      <a:pt x="36" y="24"/>
                    </a:lnTo>
                    <a:lnTo>
                      <a:pt x="38" y="24"/>
                    </a:lnTo>
                    <a:lnTo>
                      <a:pt x="40" y="22"/>
                    </a:lnTo>
                    <a:lnTo>
                      <a:pt x="40" y="20"/>
                    </a:lnTo>
                    <a:lnTo>
                      <a:pt x="40" y="18"/>
                    </a:lnTo>
                    <a:lnTo>
                      <a:pt x="44" y="18"/>
                    </a:lnTo>
                    <a:lnTo>
                      <a:pt x="46" y="16"/>
                    </a:lnTo>
                    <a:lnTo>
                      <a:pt x="48" y="14"/>
                    </a:lnTo>
                    <a:lnTo>
                      <a:pt x="46" y="10"/>
                    </a:lnTo>
                    <a:lnTo>
                      <a:pt x="50" y="10"/>
                    </a:lnTo>
                    <a:lnTo>
                      <a:pt x="50" y="8"/>
                    </a:lnTo>
                    <a:lnTo>
                      <a:pt x="50" y="6"/>
                    </a:lnTo>
                    <a:lnTo>
                      <a:pt x="50" y="2"/>
                    </a:lnTo>
                    <a:lnTo>
                      <a:pt x="48" y="2"/>
                    </a:lnTo>
                    <a:lnTo>
                      <a:pt x="48" y="0"/>
                    </a:lnTo>
                    <a:lnTo>
                      <a:pt x="44"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26" name="Freeform 198">
                <a:extLst>
                  <a:ext uri="{FF2B5EF4-FFF2-40B4-BE49-F238E27FC236}">
                    <a16:creationId xmlns:a16="http://schemas.microsoft.com/office/drawing/2014/main" id="{BC095754-292F-61B4-B668-D4796CA77F15}"/>
                  </a:ext>
                </a:extLst>
              </p:cNvPr>
              <p:cNvSpPr>
                <a:spLocks/>
              </p:cNvSpPr>
              <p:nvPr/>
            </p:nvSpPr>
            <p:spPr bwMode="auto">
              <a:xfrm>
                <a:off x="6744655" y="4323340"/>
                <a:ext cx="11668" cy="17293"/>
              </a:xfrm>
              <a:custGeom>
                <a:avLst/>
                <a:gdLst/>
                <a:ahLst/>
                <a:cxnLst>
                  <a:cxn ang="0">
                    <a:pos x="0" y="0"/>
                  </a:cxn>
                  <a:cxn ang="0">
                    <a:pos x="0" y="0"/>
                  </a:cxn>
                  <a:cxn ang="0">
                    <a:pos x="0" y="4"/>
                  </a:cxn>
                  <a:cxn ang="0">
                    <a:pos x="4" y="8"/>
                  </a:cxn>
                  <a:cxn ang="0">
                    <a:pos x="6" y="10"/>
                  </a:cxn>
                  <a:cxn ang="0">
                    <a:pos x="6" y="12"/>
                  </a:cxn>
                  <a:cxn ang="0">
                    <a:pos x="6" y="14"/>
                  </a:cxn>
                  <a:cxn ang="0">
                    <a:pos x="6" y="16"/>
                  </a:cxn>
                  <a:cxn ang="0">
                    <a:pos x="6" y="18"/>
                  </a:cxn>
                  <a:cxn ang="0">
                    <a:pos x="10" y="18"/>
                  </a:cxn>
                  <a:cxn ang="0">
                    <a:pos x="10" y="16"/>
                  </a:cxn>
                  <a:cxn ang="0">
                    <a:pos x="12" y="10"/>
                  </a:cxn>
                  <a:cxn ang="0">
                    <a:pos x="6" y="6"/>
                  </a:cxn>
                  <a:cxn ang="0">
                    <a:pos x="0" y="0"/>
                  </a:cxn>
                </a:cxnLst>
                <a:rect l="0" t="0" r="r" b="b"/>
                <a:pathLst>
                  <a:path w="12" h="18">
                    <a:moveTo>
                      <a:pt x="0" y="0"/>
                    </a:moveTo>
                    <a:lnTo>
                      <a:pt x="0" y="0"/>
                    </a:lnTo>
                    <a:lnTo>
                      <a:pt x="0" y="4"/>
                    </a:lnTo>
                    <a:lnTo>
                      <a:pt x="4" y="8"/>
                    </a:lnTo>
                    <a:lnTo>
                      <a:pt x="6" y="10"/>
                    </a:lnTo>
                    <a:lnTo>
                      <a:pt x="6" y="12"/>
                    </a:lnTo>
                    <a:lnTo>
                      <a:pt x="6" y="14"/>
                    </a:lnTo>
                    <a:lnTo>
                      <a:pt x="6" y="16"/>
                    </a:lnTo>
                    <a:lnTo>
                      <a:pt x="6" y="18"/>
                    </a:lnTo>
                    <a:lnTo>
                      <a:pt x="10" y="18"/>
                    </a:lnTo>
                    <a:lnTo>
                      <a:pt x="10" y="16"/>
                    </a:lnTo>
                    <a:lnTo>
                      <a:pt x="12" y="10"/>
                    </a:lnTo>
                    <a:lnTo>
                      <a:pt x="6" y="6"/>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27" name="Freeform 199">
                <a:extLst>
                  <a:ext uri="{FF2B5EF4-FFF2-40B4-BE49-F238E27FC236}">
                    <a16:creationId xmlns:a16="http://schemas.microsoft.com/office/drawing/2014/main" id="{1E03B5B0-59E5-3D15-5CC0-DC88BB48420C}"/>
                  </a:ext>
                </a:extLst>
              </p:cNvPr>
              <p:cNvSpPr>
                <a:spLocks/>
              </p:cNvSpPr>
              <p:nvPr/>
            </p:nvSpPr>
            <p:spPr bwMode="auto">
              <a:xfrm>
                <a:off x="6744655" y="4323340"/>
                <a:ext cx="11668" cy="17293"/>
              </a:xfrm>
              <a:custGeom>
                <a:avLst/>
                <a:gdLst/>
                <a:ahLst/>
                <a:cxnLst>
                  <a:cxn ang="0">
                    <a:pos x="0" y="0"/>
                  </a:cxn>
                  <a:cxn ang="0">
                    <a:pos x="0" y="0"/>
                  </a:cxn>
                  <a:cxn ang="0">
                    <a:pos x="0" y="4"/>
                  </a:cxn>
                  <a:cxn ang="0">
                    <a:pos x="4" y="8"/>
                  </a:cxn>
                  <a:cxn ang="0">
                    <a:pos x="6" y="10"/>
                  </a:cxn>
                  <a:cxn ang="0">
                    <a:pos x="6" y="12"/>
                  </a:cxn>
                  <a:cxn ang="0">
                    <a:pos x="6" y="14"/>
                  </a:cxn>
                  <a:cxn ang="0">
                    <a:pos x="6" y="16"/>
                  </a:cxn>
                  <a:cxn ang="0">
                    <a:pos x="6" y="18"/>
                  </a:cxn>
                  <a:cxn ang="0">
                    <a:pos x="10" y="18"/>
                  </a:cxn>
                  <a:cxn ang="0">
                    <a:pos x="10" y="16"/>
                  </a:cxn>
                  <a:cxn ang="0">
                    <a:pos x="12" y="10"/>
                  </a:cxn>
                  <a:cxn ang="0">
                    <a:pos x="6" y="6"/>
                  </a:cxn>
                  <a:cxn ang="0">
                    <a:pos x="0" y="0"/>
                  </a:cxn>
                </a:cxnLst>
                <a:rect l="0" t="0" r="r" b="b"/>
                <a:pathLst>
                  <a:path w="12" h="18">
                    <a:moveTo>
                      <a:pt x="0" y="0"/>
                    </a:moveTo>
                    <a:lnTo>
                      <a:pt x="0" y="0"/>
                    </a:lnTo>
                    <a:lnTo>
                      <a:pt x="0" y="4"/>
                    </a:lnTo>
                    <a:lnTo>
                      <a:pt x="4" y="8"/>
                    </a:lnTo>
                    <a:lnTo>
                      <a:pt x="6" y="10"/>
                    </a:lnTo>
                    <a:lnTo>
                      <a:pt x="6" y="12"/>
                    </a:lnTo>
                    <a:lnTo>
                      <a:pt x="6" y="14"/>
                    </a:lnTo>
                    <a:lnTo>
                      <a:pt x="6" y="16"/>
                    </a:lnTo>
                    <a:lnTo>
                      <a:pt x="6" y="18"/>
                    </a:lnTo>
                    <a:lnTo>
                      <a:pt x="10" y="18"/>
                    </a:lnTo>
                    <a:lnTo>
                      <a:pt x="10" y="16"/>
                    </a:lnTo>
                    <a:lnTo>
                      <a:pt x="12" y="10"/>
                    </a:lnTo>
                    <a:lnTo>
                      <a:pt x="6" y="6"/>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28" name="Freeform 200">
                <a:extLst>
                  <a:ext uri="{FF2B5EF4-FFF2-40B4-BE49-F238E27FC236}">
                    <a16:creationId xmlns:a16="http://schemas.microsoft.com/office/drawing/2014/main" id="{D02CFEF2-2B1E-C83E-5CC2-2DE8586BDB51}"/>
                  </a:ext>
                </a:extLst>
              </p:cNvPr>
              <p:cNvSpPr>
                <a:spLocks/>
              </p:cNvSpPr>
              <p:nvPr/>
            </p:nvSpPr>
            <p:spPr bwMode="auto">
              <a:xfrm>
                <a:off x="6729097" y="4313733"/>
                <a:ext cx="13613" cy="9607"/>
              </a:xfrm>
              <a:custGeom>
                <a:avLst/>
                <a:gdLst/>
                <a:ahLst/>
                <a:cxnLst>
                  <a:cxn ang="0">
                    <a:pos x="0" y="0"/>
                  </a:cxn>
                  <a:cxn ang="0">
                    <a:pos x="0" y="0"/>
                  </a:cxn>
                  <a:cxn ang="0">
                    <a:pos x="0" y="4"/>
                  </a:cxn>
                  <a:cxn ang="0">
                    <a:pos x="10" y="8"/>
                  </a:cxn>
                  <a:cxn ang="0">
                    <a:pos x="12" y="10"/>
                  </a:cxn>
                  <a:cxn ang="0">
                    <a:pos x="14" y="10"/>
                  </a:cxn>
                  <a:cxn ang="0">
                    <a:pos x="14" y="6"/>
                  </a:cxn>
                  <a:cxn ang="0">
                    <a:pos x="0" y="0"/>
                  </a:cxn>
                </a:cxnLst>
                <a:rect l="0" t="0" r="r" b="b"/>
                <a:pathLst>
                  <a:path w="14" h="10">
                    <a:moveTo>
                      <a:pt x="0" y="0"/>
                    </a:moveTo>
                    <a:lnTo>
                      <a:pt x="0" y="0"/>
                    </a:lnTo>
                    <a:lnTo>
                      <a:pt x="0" y="4"/>
                    </a:lnTo>
                    <a:lnTo>
                      <a:pt x="10" y="8"/>
                    </a:lnTo>
                    <a:lnTo>
                      <a:pt x="12" y="10"/>
                    </a:lnTo>
                    <a:lnTo>
                      <a:pt x="14" y="10"/>
                    </a:lnTo>
                    <a:lnTo>
                      <a:pt x="14" y="6"/>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29" name="Freeform 201">
                <a:extLst>
                  <a:ext uri="{FF2B5EF4-FFF2-40B4-BE49-F238E27FC236}">
                    <a16:creationId xmlns:a16="http://schemas.microsoft.com/office/drawing/2014/main" id="{0277A171-DD32-62A6-E31B-5FF2FAC9867C}"/>
                  </a:ext>
                </a:extLst>
              </p:cNvPr>
              <p:cNvSpPr>
                <a:spLocks/>
              </p:cNvSpPr>
              <p:nvPr/>
            </p:nvSpPr>
            <p:spPr bwMode="auto">
              <a:xfrm>
                <a:off x="6729097" y="4313733"/>
                <a:ext cx="13613" cy="9607"/>
              </a:xfrm>
              <a:custGeom>
                <a:avLst/>
                <a:gdLst/>
                <a:ahLst/>
                <a:cxnLst>
                  <a:cxn ang="0">
                    <a:pos x="0" y="0"/>
                  </a:cxn>
                  <a:cxn ang="0">
                    <a:pos x="0" y="0"/>
                  </a:cxn>
                  <a:cxn ang="0">
                    <a:pos x="0" y="4"/>
                  </a:cxn>
                  <a:cxn ang="0">
                    <a:pos x="10" y="8"/>
                  </a:cxn>
                  <a:cxn ang="0">
                    <a:pos x="12" y="10"/>
                  </a:cxn>
                  <a:cxn ang="0">
                    <a:pos x="14" y="10"/>
                  </a:cxn>
                  <a:cxn ang="0">
                    <a:pos x="14" y="6"/>
                  </a:cxn>
                  <a:cxn ang="0">
                    <a:pos x="0" y="0"/>
                  </a:cxn>
                </a:cxnLst>
                <a:rect l="0" t="0" r="r" b="b"/>
                <a:pathLst>
                  <a:path w="14" h="10">
                    <a:moveTo>
                      <a:pt x="0" y="0"/>
                    </a:moveTo>
                    <a:lnTo>
                      <a:pt x="0" y="0"/>
                    </a:lnTo>
                    <a:lnTo>
                      <a:pt x="0" y="4"/>
                    </a:lnTo>
                    <a:lnTo>
                      <a:pt x="10" y="8"/>
                    </a:lnTo>
                    <a:lnTo>
                      <a:pt x="12" y="10"/>
                    </a:lnTo>
                    <a:lnTo>
                      <a:pt x="14" y="10"/>
                    </a:lnTo>
                    <a:lnTo>
                      <a:pt x="14" y="6"/>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30" name="Freeform 202">
                <a:extLst>
                  <a:ext uri="{FF2B5EF4-FFF2-40B4-BE49-F238E27FC236}">
                    <a16:creationId xmlns:a16="http://schemas.microsoft.com/office/drawing/2014/main" id="{753B6B14-20DB-51B5-4E3D-B309D1E4A49C}"/>
                  </a:ext>
                </a:extLst>
              </p:cNvPr>
              <p:cNvSpPr>
                <a:spLocks/>
              </p:cNvSpPr>
              <p:nvPr/>
            </p:nvSpPr>
            <p:spPr bwMode="auto">
              <a:xfrm>
                <a:off x="5540888" y="3854525"/>
                <a:ext cx="3890" cy="11528"/>
              </a:xfrm>
              <a:custGeom>
                <a:avLst/>
                <a:gdLst/>
                <a:ahLst/>
                <a:cxnLst>
                  <a:cxn ang="0">
                    <a:pos x="0" y="6"/>
                  </a:cxn>
                  <a:cxn ang="0">
                    <a:pos x="2" y="6"/>
                  </a:cxn>
                  <a:cxn ang="0">
                    <a:pos x="0" y="12"/>
                  </a:cxn>
                  <a:cxn ang="0">
                    <a:pos x="4" y="12"/>
                  </a:cxn>
                  <a:cxn ang="0">
                    <a:pos x="4" y="0"/>
                  </a:cxn>
                  <a:cxn ang="0">
                    <a:pos x="0" y="2"/>
                  </a:cxn>
                  <a:cxn ang="0">
                    <a:pos x="0" y="6"/>
                  </a:cxn>
                  <a:cxn ang="0">
                    <a:pos x="0" y="6"/>
                  </a:cxn>
                </a:cxnLst>
                <a:rect l="0" t="0" r="r" b="b"/>
                <a:pathLst>
                  <a:path w="4" h="12">
                    <a:moveTo>
                      <a:pt x="0" y="6"/>
                    </a:moveTo>
                    <a:lnTo>
                      <a:pt x="2" y="6"/>
                    </a:lnTo>
                    <a:lnTo>
                      <a:pt x="0" y="12"/>
                    </a:lnTo>
                    <a:lnTo>
                      <a:pt x="4" y="12"/>
                    </a:lnTo>
                    <a:lnTo>
                      <a:pt x="4" y="0"/>
                    </a:lnTo>
                    <a:lnTo>
                      <a:pt x="0" y="2"/>
                    </a:lnTo>
                    <a:lnTo>
                      <a:pt x="0" y="6"/>
                    </a:lnTo>
                    <a:lnTo>
                      <a:pt x="0" y="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31" name="Freeform 203">
                <a:extLst>
                  <a:ext uri="{FF2B5EF4-FFF2-40B4-BE49-F238E27FC236}">
                    <a16:creationId xmlns:a16="http://schemas.microsoft.com/office/drawing/2014/main" id="{2BD72378-F1C7-8D7D-B5A6-4847B67A6077}"/>
                  </a:ext>
                </a:extLst>
              </p:cNvPr>
              <p:cNvSpPr>
                <a:spLocks/>
              </p:cNvSpPr>
              <p:nvPr/>
            </p:nvSpPr>
            <p:spPr bwMode="auto">
              <a:xfrm>
                <a:off x="5023599" y="3118641"/>
                <a:ext cx="1944" cy="1921"/>
              </a:xfrm>
              <a:custGeom>
                <a:avLst/>
                <a:gdLst/>
                <a:ahLst/>
                <a:cxnLst>
                  <a:cxn ang="0">
                    <a:pos x="2" y="0"/>
                  </a:cxn>
                  <a:cxn ang="0">
                    <a:pos x="2" y="0"/>
                  </a:cxn>
                  <a:cxn ang="0">
                    <a:pos x="2" y="2"/>
                  </a:cxn>
                  <a:cxn ang="0">
                    <a:pos x="0" y="2"/>
                  </a:cxn>
                  <a:cxn ang="0">
                    <a:pos x="2" y="0"/>
                  </a:cxn>
                  <a:cxn ang="0">
                    <a:pos x="2" y="0"/>
                  </a:cxn>
                </a:cxnLst>
                <a:rect l="0" t="0" r="r" b="b"/>
                <a:pathLst>
                  <a:path w="2" h="2">
                    <a:moveTo>
                      <a:pt x="2" y="0"/>
                    </a:moveTo>
                    <a:lnTo>
                      <a:pt x="2" y="0"/>
                    </a:lnTo>
                    <a:lnTo>
                      <a:pt x="2" y="2"/>
                    </a:lnTo>
                    <a:lnTo>
                      <a:pt x="0" y="2"/>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32" name="Freeform 204">
                <a:extLst>
                  <a:ext uri="{FF2B5EF4-FFF2-40B4-BE49-F238E27FC236}">
                    <a16:creationId xmlns:a16="http://schemas.microsoft.com/office/drawing/2014/main" id="{522EE3E8-81C0-2F5E-6360-863E21D13CED}"/>
                  </a:ext>
                </a:extLst>
              </p:cNvPr>
              <p:cNvSpPr>
                <a:spLocks/>
              </p:cNvSpPr>
              <p:nvPr/>
            </p:nvSpPr>
            <p:spPr bwMode="auto">
              <a:xfrm>
                <a:off x="5023599" y="3118641"/>
                <a:ext cx="1944" cy="1921"/>
              </a:xfrm>
              <a:custGeom>
                <a:avLst/>
                <a:gdLst/>
                <a:ahLst/>
                <a:cxnLst>
                  <a:cxn ang="0">
                    <a:pos x="2" y="0"/>
                  </a:cxn>
                  <a:cxn ang="0">
                    <a:pos x="2" y="0"/>
                  </a:cxn>
                  <a:cxn ang="0">
                    <a:pos x="2" y="2"/>
                  </a:cxn>
                  <a:cxn ang="0">
                    <a:pos x="0" y="2"/>
                  </a:cxn>
                  <a:cxn ang="0">
                    <a:pos x="2" y="0"/>
                  </a:cxn>
                  <a:cxn ang="0">
                    <a:pos x="2" y="0"/>
                  </a:cxn>
                </a:cxnLst>
                <a:rect l="0" t="0" r="r" b="b"/>
                <a:pathLst>
                  <a:path w="2" h="2">
                    <a:moveTo>
                      <a:pt x="2" y="0"/>
                    </a:moveTo>
                    <a:lnTo>
                      <a:pt x="2" y="0"/>
                    </a:lnTo>
                    <a:lnTo>
                      <a:pt x="2" y="2"/>
                    </a:lnTo>
                    <a:lnTo>
                      <a:pt x="0" y="2"/>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33" name="Freeform 206">
                <a:extLst>
                  <a:ext uri="{FF2B5EF4-FFF2-40B4-BE49-F238E27FC236}">
                    <a16:creationId xmlns:a16="http://schemas.microsoft.com/office/drawing/2014/main" id="{9E90607E-8935-C50B-8ECA-02E51EBEE726}"/>
                  </a:ext>
                </a:extLst>
              </p:cNvPr>
              <p:cNvSpPr>
                <a:spLocks/>
              </p:cNvSpPr>
              <p:nvPr/>
            </p:nvSpPr>
            <p:spPr bwMode="auto">
              <a:xfrm>
                <a:off x="5013876" y="3120562"/>
                <a:ext cx="1944" cy="1921"/>
              </a:xfrm>
              <a:custGeom>
                <a:avLst/>
                <a:gdLst/>
                <a:ahLst/>
                <a:cxnLst>
                  <a:cxn ang="0">
                    <a:pos x="0" y="0"/>
                  </a:cxn>
                  <a:cxn ang="0">
                    <a:pos x="0" y="0"/>
                  </a:cxn>
                  <a:cxn ang="0">
                    <a:pos x="0" y="2"/>
                  </a:cxn>
                  <a:cxn ang="0">
                    <a:pos x="2" y="2"/>
                  </a:cxn>
                  <a:cxn ang="0">
                    <a:pos x="2" y="0"/>
                  </a:cxn>
                  <a:cxn ang="0">
                    <a:pos x="0" y="0"/>
                  </a:cxn>
                  <a:cxn ang="0">
                    <a:pos x="0" y="0"/>
                  </a:cxn>
                </a:cxnLst>
                <a:rect l="0" t="0" r="r" b="b"/>
                <a:pathLst>
                  <a:path w="2" h="2">
                    <a:moveTo>
                      <a:pt x="0" y="0"/>
                    </a:moveTo>
                    <a:lnTo>
                      <a:pt x="0" y="0"/>
                    </a:lnTo>
                    <a:lnTo>
                      <a:pt x="0" y="2"/>
                    </a:lnTo>
                    <a:lnTo>
                      <a:pt x="2" y="2"/>
                    </a:lnTo>
                    <a:lnTo>
                      <a:pt x="2" y="0"/>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34" name="Freeform 207">
                <a:extLst>
                  <a:ext uri="{FF2B5EF4-FFF2-40B4-BE49-F238E27FC236}">
                    <a16:creationId xmlns:a16="http://schemas.microsoft.com/office/drawing/2014/main" id="{B6B1C9F0-ADCC-82F0-3B9C-5250B07F21C1}"/>
                  </a:ext>
                </a:extLst>
              </p:cNvPr>
              <p:cNvSpPr>
                <a:spLocks/>
              </p:cNvSpPr>
              <p:nvPr/>
            </p:nvSpPr>
            <p:spPr bwMode="auto">
              <a:xfrm>
                <a:off x="5013876" y="3120562"/>
                <a:ext cx="1944" cy="1921"/>
              </a:xfrm>
              <a:custGeom>
                <a:avLst/>
                <a:gdLst/>
                <a:ahLst/>
                <a:cxnLst>
                  <a:cxn ang="0">
                    <a:pos x="0" y="0"/>
                  </a:cxn>
                  <a:cxn ang="0">
                    <a:pos x="0" y="0"/>
                  </a:cxn>
                  <a:cxn ang="0">
                    <a:pos x="0" y="2"/>
                  </a:cxn>
                  <a:cxn ang="0">
                    <a:pos x="2" y="2"/>
                  </a:cxn>
                  <a:cxn ang="0">
                    <a:pos x="2" y="0"/>
                  </a:cxn>
                  <a:cxn ang="0">
                    <a:pos x="0" y="0"/>
                  </a:cxn>
                  <a:cxn ang="0">
                    <a:pos x="0" y="0"/>
                  </a:cxn>
                </a:cxnLst>
                <a:rect l="0" t="0" r="r" b="b"/>
                <a:pathLst>
                  <a:path w="2" h="2">
                    <a:moveTo>
                      <a:pt x="0" y="0"/>
                    </a:moveTo>
                    <a:lnTo>
                      <a:pt x="0" y="0"/>
                    </a:lnTo>
                    <a:lnTo>
                      <a:pt x="0" y="2"/>
                    </a:lnTo>
                    <a:lnTo>
                      <a:pt x="2" y="2"/>
                    </a:lnTo>
                    <a:lnTo>
                      <a:pt x="2" y="0"/>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35" name="Freeform 208">
                <a:extLst>
                  <a:ext uri="{FF2B5EF4-FFF2-40B4-BE49-F238E27FC236}">
                    <a16:creationId xmlns:a16="http://schemas.microsoft.com/office/drawing/2014/main" id="{23E39C44-C91E-E962-9C8E-8F17FF878D04}"/>
                  </a:ext>
                </a:extLst>
              </p:cNvPr>
              <p:cNvSpPr>
                <a:spLocks/>
              </p:cNvSpPr>
              <p:nvPr/>
            </p:nvSpPr>
            <p:spPr bwMode="auto">
              <a:xfrm>
                <a:off x="4947757" y="3182046"/>
                <a:ext cx="1944" cy="1921"/>
              </a:xfrm>
              <a:custGeom>
                <a:avLst/>
                <a:gdLst/>
                <a:ahLst/>
                <a:cxnLst>
                  <a:cxn ang="0">
                    <a:pos x="0" y="0"/>
                  </a:cxn>
                  <a:cxn ang="0">
                    <a:pos x="0" y="0"/>
                  </a:cxn>
                  <a:cxn ang="0">
                    <a:pos x="2" y="2"/>
                  </a:cxn>
                  <a:cxn ang="0">
                    <a:pos x="0" y="2"/>
                  </a:cxn>
                  <a:cxn ang="0">
                    <a:pos x="0" y="0"/>
                  </a:cxn>
                  <a:cxn ang="0">
                    <a:pos x="0" y="0"/>
                  </a:cxn>
                  <a:cxn ang="0">
                    <a:pos x="0" y="0"/>
                  </a:cxn>
                  <a:cxn ang="0">
                    <a:pos x="0" y="0"/>
                  </a:cxn>
                </a:cxnLst>
                <a:rect l="0" t="0" r="r" b="b"/>
                <a:pathLst>
                  <a:path w="2" h="2">
                    <a:moveTo>
                      <a:pt x="0" y="0"/>
                    </a:moveTo>
                    <a:lnTo>
                      <a:pt x="0" y="0"/>
                    </a:lnTo>
                    <a:lnTo>
                      <a:pt x="2" y="2"/>
                    </a:lnTo>
                    <a:lnTo>
                      <a:pt x="0" y="2"/>
                    </a:lnTo>
                    <a:lnTo>
                      <a:pt x="0" y="0"/>
                    </a:lnTo>
                    <a:lnTo>
                      <a:pt x="0" y="0"/>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36" name="Freeform 209">
                <a:extLst>
                  <a:ext uri="{FF2B5EF4-FFF2-40B4-BE49-F238E27FC236}">
                    <a16:creationId xmlns:a16="http://schemas.microsoft.com/office/drawing/2014/main" id="{73492129-4FAA-A4AE-3B2A-4726C0B66DC8}"/>
                  </a:ext>
                </a:extLst>
              </p:cNvPr>
              <p:cNvSpPr>
                <a:spLocks/>
              </p:cNvSpPr>
              <p:nvPr/>
            </p:nvSpPr>
            <p:spPr bwMode="auto">
              <a:xfrm>
                <a:off x="4947757" y="3182046"/>
                <a:ext cx="1944" cy="1921"/>
              </a:xfrm>
              <a:custGeom>
                <a:avLst/>
                <a:gdLst/>
                <a:ahLst/>
                <a:cxnLst>
                  <a:cxn ang="0">
                    <a:pos x="0" y="0"/>
                  </a:cxn>
                  <a:cxn ang="0">
                    <a:pos x="0" y="0"/>
                  </a:cxn>
                  <a:cxn ang="0">
                    <a:pos x="2" y="2"/>
                  </a:cxn>
                  <a:cxn ang="0">
                    <a:pos x="0" y="2"/>
                  </a:cxn>
                  <a:cxn ang="0">
                    <a:pos x="0" y="0"/>
                  </a:cxn>
                  <a:cxn ang="0">
                    <a:pos x="0" y="0"/>
                  </a:cxn>
                  <a:cxn ang="0">
                    <a:pos x="0" y="0"/>
                  </a:cxn>
                  <a:cxn ang="0">
                    <a:pos x="0" y="0"/>
                  </a:cxn>
                </a:cxnLst>
                <a:rect l="0" t="0" r="r" b="b"/>
                <a:pathLst>
                  <a:path w="2" h="2">
                    <a:moveTo>
                      <a:pt x="0" y="0"/>
                    </a:moveTo>
                    <a:lnTo>
                      <a:pt x="0" y="0"/>
                    </a:lnTo>
                    <a:lnTo>
                      <a:pt x="2" y="2"/>
                    </a:lnTo>
                    <a:lnTo>
                      <a:pt x="0" y="2"/>
                    </a:lnTo>
                    <a:lnTo>
                      <a:pt x="0" y="0"/>
                    </a:lnTo>
                    <a:lnTo>
                      <a:pt x="0" y="0"/>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37" name="Freeform 210">
                <a:extLst>
                  <a:ext uri="{FF2B5EF4-FFF2-40B4-BE49-F238E27FC236}">
                    <a16:creationId xmlns:a16="http://schemas.microsoft.com/office/drawing/2014/main" id="{49A2D830-6838-0648-543C-E7276BEDD787}"/>
                  </a:ext>
                </a:extLst>
              </p:cNvPr>
              <p:cNvSpPr>
                <a:spLocks/>
              </p:cNvSpPr>
              <p:nvPr/>
            </p:nvSpPr>
            <p:spPr bwMode="auto">
              <a:xfrm>
                <a:off x="4928310" y="3199339"/>
                <a:ext cx="3890" cy="5764"/>
              </a:xfrm>
              <a:custGeom>
                <a:avLst/>
                <a:gdLst/>
                <a:ahLst/>
                <a:cxnLst>
                  <a:cxn ang="0">
                    <a:pos x="2" y="0"/>
                  </a:cxn>
                  <a:cxn ang="0">
                    <a:pos x="2" y="0"/>
                  </a:cxn>
                  <a:cxn ang="0">
                    <a:pos x="2" y="2"/>
                  </a:cxn>
                  <a:cxn ang="0">
                    <a:pos x="4" y="2"/>
                  </a:cxn>
                  <a:cxn ang="0">
                    <a:pos x="2" y="2"/>
                  </a:cxn>
                  <a:cxn ang="0">
                    <a:pos x="2" y="4"/>
                  </a:cxn>
                  <a:cxn ang="0">
                    <a:pos x="0" y="6"/>
                  </a:cxn>
                  <a:cxn ang="0">
                    <a:pos x="0" y="2"/>
                  </a:cxn>
                  <a:cxn ang="0">
                    <a:pos x="0" y="0"/>
                  </a:cxn>
                  <a:cxn ang="0">
                    <a:pos x="2" y="0"/>
                  </a:cxn>
                  <a:cxn ang="0">
                    <a:pos x="2" y="0"/>
                  </a:cxn>
                </a:cxnLst>
                <a:rect l="0" t="0" r="r" b="b"/>
                <a:pathLst>
                  <a:path w="4" h="6">
                    <a:moveTo>
                      <a:pt x="2" y="0"/>
                    </a:moveTo>
                    <a:lnTo>
                      <a:pt x="2" y="0"/>
                    </a:lnTo>
                    <a:lnTo>
                      <a:pt x="2" y="2"/>
                    </a:lnTo>
                    <a:lnTo>
                      <a:pt x="4" y="2"/>
                    </a:lnTo>
                    <a:lnTo>
                      <a:pt x="2" y="2"/>
                    </a:lnTo>
                    <a:lnTo>
                      <a:pt x="2" y="4"/>
                    </a:lnTo>
                    <a:lnTo>
                      <a:pt x="0" y="6"/>
                    </a:lnTo>
                    <a:lnTo>
                      <a:pt x="0" y="2"/>
                    </a:lnTo>
                    <a:lnTo>
                      <a:pt x="0" y="0"/>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38" name="Freeform 211">
                <a:extLst>
                  <a:ext uri="{FF2B5EF4-FFF2-40B4-BE49-F238E27FC236}">
                    <a16:creationId xmlns:a16="http://schemas.microsoft.com/office/drawing/2014/main" id="{2B318E97-C45F-9428-DB28-CC47BB714B1E}"/>
                  </a:ext>
                </a:extLst>
              </p:cNvPr>
              <p:cNvSpPr>
                <a:spLocks/>
              </p:cNvSpPr>
              <p:nvPr/>
            </p:nvSpPr>
            <p:spPr bwMode="auto">
              <a:xfrm>
                <a:off x="4928310" y="3199339"/>
                <a:ext cx="3890" cy="5764"/>
              </a:xfrm>
              <a:custGeom>
                <a:avLst/>
                <a:gdLst/>
                <a:ahLst/>
                <a:cxnLst>
                  <a:cxn ang="0">
                    <a:pos x="2" y="0"/>
                  </a:cxn>
                  <a:cxn ang="0">
                    <a:pos x="2" y="0"/>
                  </a:cxn>
                  <a:cxn ang="0">
                    <a:pos x="2" y="2"/>
                  </a:cxn>
                  <a:cxn ang="0">
                    <a:pos x="4" y="2"/>
                  </a:cxn>
                  <a:cxn ang="0">
                    <a:pos x="2" y="2"/>
                  </a:cxn>
                  <a:cxn ang="0">
                    <a:pos x="2" y="4"/>
                  </a:cxn>
                  <a:cxn ang="0">
                    <a:pos x="0" y="6"/>
                  </a:cxn>
                  <a:cxn ang="0">
                    <a:pos x="0" y="2"/>
                  </a:cxn>
                  <a:cxn ang="0">
                    <a:pos x="0" y="0"/>
                  </a:cxn>
                  <a:cxn ang="0">
                    <a:pos x="2" y="0"/>
                  </a:cxn>
                  <a:cxn ang="0">
                    <a:pos x="2" y="0"/>
                  </a:cxn>
                </a:cxnLst>
                <a:rect l="0" t="0" r="r" b="b"/>
                <a:pathLst>
                  <a:path w="4" h="6">
                    <a:moveTo>
                      <a:pt x="2" y="0"/>
                    </a:moveTo>
                    <a:lnTo>
                      <a:pt x="2" y="0"/>
                    </a:lnTo>
                    <a:lnTo>
                      <a:pt x="2" y="2"/>
                    </a:lnTo>
                    <a:lnTo>
                      <a:pt x="4" y="2"/>
                    </a:lnTo>
                    <a:lnTo>
                      <a:pt x="2" y="2"/>
                    </a:lnTo>
                    <a:lnTo>
                      <a:pt x="2" y="4"/>
                    </a:lnTo>
                    <a:lnTo>
                      <a:pt x="0" y="6"/>
                    </a:lnTo>
                    <a:lnTo>
                      <a:pt x="0" y="2"/>
                    </a:lnTo>
                    <a:lnTo>
                      <a:pt x="0" y="0"/>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39" name="Freeform 212">
                <a:extLst>
                  <a:ext uri="{FF2B5EF4-FFF2-40B4-BE49-F238E27FC236}">
                    <a16:creationId xmlns:a16="http://schemas.microsoft.com/office/drawing/2014/main" id="{ECA39D79-4EB2-9B81-A944-5A6924F3D92A}"/>
                  </a:ext>
                </a:extLst>
              </p:cNvPr>
              <p:cNvSpPr>
                <a:spLocks noEditPoints="1"/>
              </p:cNvSpPr>
              <p:nvPr/>
            </p:nvSpPr>
            <p:spPr bwMode="auto">
              <a:xfrm>
                <a:off x="3981243" y="2751659"/>
                <a:ext cx="536736" cy="415016"/>
              </a:xfrm>
              <a:custGeom>
                <a:avLst/>
                <a:gdLst/>
                <a:ahLst/>
                <a:cxnLst>
                  <a:cxn ang="0">
                    <a:pos x="476" y="188"/>
                  </a:cxn>
                  <a:cxn ang="0">
                    <a:pos x="322" y="328"/>
                  </a:cxn>
                  <a:cxn ang="0">
                    <a:pos x="206" y="308"/>
                  </a:cxn>
                  <a:cxn ang="0">
                    <a:pos x="186" y="240"/>
                  </a:cxn>
                  <a:cxn ang="0">
                    <a:pos x="432" y="218"/>
                  </a:cxn>
                  <a:cxn ang="0">
                    <a:pos x="468" y="222"/>
                  </a:cxn>
                  <a:cxn ang="0">
                    <a:pos x="146" y="180"/>
                  </a:cxn>
                  <a:cxn ang="0">
                    <a:pos x="464" y="170"/>
                  </a:cxn>
                  <a:cxn ang="0">
                    <a:pos x="490" y="146"/>
                  </a:cxn>
                  <a:cxn ang="0">
                    <a:pos x="484" y="74"/>
                  </a:cxn>
                  <a:cxn ang="0">
                    <a:pos x="484" y="40"/>
                  </a:cxn>
                  <a:cxn ang="0">
                    <a:pos x="338" y="24"/>
                  </a:cxn>
                  <a:cxn ang="0">
                    <a:pos x="360" y="18"/>
                  </a:cxn>
                  <a:cxn ang="0">
                    <a:pos x="470" y="24"/>
                  </a:cxn>
                  <a:cxn ang="0">
                    <a:pos x="428" y="6"/>
                  </a:cxn>
                  <a:cxn ang="0">
                    <a:pos x="320" y="6"/>
                  </a:cxn>
                  <a:cxn ang="0">
                    <a:pos x="284" y="16"/>
                  </a:cxn>
                  <a:cxn ang="0">
                    <a:pos x="260" y="24"/>
                  </a:cxn>
                  <a:cxn ang="0">
                    <a:pos x="254" y="52"/>
                  </a:cxn>
                  <a:cxn ang="0">
                    <a:pos x="206" y="52"/>
                  </a:cxn>
                  <a:cxn ang="0">
                    <a:pos x="150" y="40"/>
                  </a:cxn>
                  <a:cxn ang="0">
                    <a:pos x="100" y="60"/>
                  </a:cxn>
                  <a:cxn ang="0">
                    <a:pos x="76" y="84"/>
                  </a:cxn>
                  <a:cxn ang="0">
                    <a:pos x="14" y="120"/>
                  </a:cxn>
                  <a:cxn ang="0">
                    <a:pos x="18" y="136"/>
                  </a:cxn>
                  <a:cxn ang="0">
                    <a:pos x="62" y="148"/>
                  </a:cxn>
                  <a:cxn ang="0">
                    <a:pos x="134" y="164"/>
                  </a:cxn>
                  <a:cxn ang="0">
                    <a:pos x="164" y="208"/>
                  </a:cxn>
                  <a:cxn ang="0">
                    <a:pos x="186" y="236"/>
                  </a:cxn>
                  <a:cxn ang="0">
                    <a:pos x="184" y="250"/>
                  </a:cxn>
                  <a:cxn ang="0">
                    <a:pos x="170" y="278"/>
                  </a:cxn>
                  <a:cxn ang="0">
                    <a:pos x="200" y="268"/>
                  </a:cxn>
                  <a:cxn ang="0">
                    <a:pos x="188" y="296"/>
                  </a:cxn>
                  <a:cxn ang="0">
                    <a:pos x="180" y="310"/>
                  </a:cxn>
                  <a:cxn ang="0">
                    <a:pos x="174" y="320"/>
                  </a:cxn>
                  <a:cxn ang="0">
                    <a:pos x="184" y="344"/>
                  </a:cxn>
                  <a:cxn ang="0">
                    <a:pos x="192" y="366"/>
                  </a:cxn>
                  <a:cxn ang="0">
                    <a:pos x="208" y="392"/>
                  </a:cxn>
                  <a:cxn ang="0">
                    <a:pos x="224" y="410"/>
                  </a:cxn>
                  <a:cxn ang="0">
                    <a:pos x="258" y="414"/>
                  </a:cxn>
                  <a:cxn ang="0">
                    <a:pos x="266" y="414"/>
                  </a:cxn>
                  <a:cxn ang="0">
                    <a:pos x="282" y="380"/>
                  </a:cxn>
                  <a:cxn ang="0">
                    <a:pos x="298" y="344"/>
                  </a:cxn>
                  <a:cxn ang="0">
                    <a:pos x="338" y="330"/>
                  </a:cxn>
                  <a:cxn ang="0">
                    <a:pos x="386" y="294"/>
                  </a:cxn>
                  <a:cxn ang="0">
                    <a:pos x="438" y="278"/>
                  </a:cxn>
                  <a:cxn ang="0">
                    <a:pos x="426" y="256"/>
                  </a:cxn>
                  <a:cxn ang="0">
                    <a:pos x="430" y="242"/>
                  </a:cxn>
                  <a:cxn ang="0">
                    <a:pos x="446" y="248"/>
                  </a:cxn>
                  <a:cxn ang="0">
                    <a:pos x="460" y="232"/>
                  </a:cxn>
                  <a:cxn ang="0">
                    <a:pos x="424" y="210"/>
                  </a:cxn>
                  <a:cxn ang="0">
                    <a:pos x="480" y="194"/>
                  </a:cxn>
                  <a:cxn ang="0">
                    <a:pos x="478" y="182"/>
                  </a:cxn>
                  <a:cxn ang="0">
                    <a:pos x="482" y="156"/>
                  </a:cxn>
                  <a:cxn ang="0">
                    <a:pos x="498" y="136"/>
                  </a:cxn>
                  <a:cxn ang="0">
                    <a:pos x="476" y="114"/>
                  </a:cxn>
                  <a:cxn ang="0">
                    <a:pos x="480" y="76"/>
                  </a:cxn>
                  <a:cxn ang="0">
                    <a:pos x="526" y="64"/>
                  </a:cxn>
                  <a:cxn ang="0">
                    <a:pos x="486" y="50"/>
                  </a:cxn>
                  <a:cxn ang="0">
                    <a:pos x="444" y="42"/>
                  </a:cxn>
                  <a:cxn ang="0">
                    <a:pos x="374" y="42"/>
                  </a:cxn>
                </a:cxnLst>
                <a:rect l="0" t="0" r="r" b="b"/>
                <a:pathLst>
                  <a:path w="552" h="432">
                    <a:moveTo>
                      <a:pt x="488" y="144"/>
                    </a:moveTo>
                    <a:lnTo>
                      <a:pt x="490" y="144"/>
                    </a:lnTo>
                    <a:lnTo>
                      <a:pt x="488" y="144"/>
                    </a:lnTo>
                    <a:lnTo>
                      <a:pt x="488" y="144"/>
                    </a:lnTo>
                    <a:close/>
                    <a:moveTo>
                      <a:pt x="262" y="428"/>
                    </a:moveTo>
                    <a:lnTo>
                      <a:pt x="260" y="430"/>
                    </a:lnTo>
                    <a:lnTo>
                      <a:pt x="262" y="430"/>
                    </a:lnTo>
                    <a:lnTo>
                      <a:pt x="264" y="432"/>
                    </a:lnTo>
                    <a:lnTo>
                      <a:pt x="264" y="430"/>
                    </a:lnTo>
                    <a:lnTo>
                      <a:pt x="264" y="428"/>
                    </a:lnTo>
                    <a:lnTo>
                      <a:pt x="262" y="428"/>
                    </a:lnTo>
                    <a:lnTo>
                      <a:pt x="262" y="428"/>
                    </a:lnTo>
                    <a:close/>
                    <a:moveTo>
                      <a:pt x="250" y="412"/>
                    </a:moveTo>
                    <a:lnTo>
                      <a:pt x="250" y="412"/>
                    </a:lnTo>
                    <a:lnTo>
                      <a:pt x="250" y="414"/>
                    </a:lnTo>
                    <a:lnTo>
                      <a:pt x="250" y="412"/>
                    </a:lnTo>
                    <a:lnTo>
                      <a:pt x="250" y="412"/>
                    </a:lnTo>
                    <a:close/>
                    <a:moveTo>
                      <a:pt x="466" y="184"/>
                    </a:moveTo>
                    <a:lnTo>
                      <a:pt x="466" y="184"/>
                    </a:lnTo>
                    <a:lnTo>
                      <a:pt x="466" y="190"/>
                    </a:lnTo>
                    <a:lnTo>
                      <a:pt x="468" y="190"/>
                    </a:lnTo>
                    <a:lnTo>
                      <a:pt x="474" y="190"/>
                    </a:lnTo>
                    <a:lnTo>
                      <a:pt x="476" y="188"/>
                    </a:lnTo>
                    <a:lnTo>
                      <a:pt x="474" y="186"/>
                    </a:lnTo>
                    <a:lnTo>
                      <a:pt x="466" y="184"/>
                    </a:lnTo>
                    <a:lnTo>
                      <a:pt x="466" y="184"/>
                    </a:lnTo>
                    <a:close/>
                    <a:moveTo>
                      <a:pt x="416" y="68"/>
                    </a:moveTo>
                    <a:lnTo>
                      <a:pt x="416" y="68"/>
                    </a:lnTo>
                    <a:lnTo>
                      <a:pt x="418" y="66"/>
                    </a:lnTo>
                    <a:lnTo>
                      <a:pt x="416" y="68"/>
                    </a:lnTo>
                    <a:lnTo>
                      <a:pt x="414" y="70"/>
                    </a:lnTo>
                    <a:lnTo>
                      <a:pt x="412" y="72"/>
                    </a:lnTo>
                    <a:lnTo>
                      <a:pt x="410" y="72"/>
                    </a:lnTo>
                    <a:lnTo>
                      <a:pt x="410" y="70"/>
                    </a:lnTo>
                    <a:lnTo>
                      <a:pt x="412" y="68"/>
                    </a:lnTo>
                    <a:lnTo>
                      <a:pt x="416" y="68"/>
                    </a:lnTo>
                    <a:lnTo>
                      <a:pt x="416" y="68"/>
                    </a:lnTo>
                    <a:close/>
                    <a:moveTo>
                      <a:pt x="284" y="34"/>
                    </a:moveTo>
                    <a:lnTo>
                      <a:pt x="284" y="34"/>
                    </a:lnTo>
                    <a:lnTo>
                      <a:pt x="286" y="36"/>
                    </a:lnTo>
                    <a:lnTo>
                      <a:pt x="288" y="36"/>
                    </a:lnTo>
                    <a:lnTo>
                      <a:pt x="286" y="36"/>
                    </a:lnTo>
                    <a:lnTo>
                      <a:pt x="284" y="34"/>
                    </a:lnTo>
                    <a:lnTo>
                      <a:pt x="284" y="34"/>
                    </a:lnTo>
                    <a:close/>
                    <a:moveTo>
                      <a:pt x="322" y="328"/>
                    </a:moveTo>
                    <a:lnTo>
                      <a:pt x="322" y="328"/>
                    </a:lnTo>
                    <a:lnTo>
                      <a:pt x="328" y="328"/>
                    </a:lnTo>
                    <a:lnTo>
                      <a:pt x="324" y="332"/>
                    </a:lnTo>
                    <a:lnTo>
                      <a:pt x="322" y="332"/>
                    </a:lnTo>
                    <a:lnTo>
                      <a:pt x="322" y="328"/>
                    </a:lnTo>
                    <a:lnTo>
                      <a:pt x="322" y="328"/>
                    </a:lnTo>
                    <a:lnTo>
                      <a:pt x="322" y="328"/>
                    </a:lnTo>
                    <a:close/>
                    <a:moveTo>
                      <a:pt x="186" y="322"/>
                    </a:moveTo>
                    <a:lnTo>
                      <a:pt x="186" y="322"/>
                    </a:lnTo>
                    <a:lnTo>
                      <a:pt x="186" y="324"/>
                    </a:lnTo>
                    <a:lnTo>
                      <a:pt x="184" y="322"/>
                    </a:lnTo>
                    <a:lnTo>
                      <a:pt x="186" y="322"/>
                    </a:lnTo>
                    <a:lnTo>
                      <a:pt x="186" y="322"/>
                    </a:lnTo>
                    <a:close/>
                    <a:moveTo>
                      <a:pt x="210" y="320"/>
                    </a:moveTo>
                    <a:lnTo>
                      <a:pt x="210" y="320"/>
                    </a:lnTo>
                    <a:lnTo>
                      <a:pt x="210" y="322"/>
                    </a:lnTo>
                    <a:lnTo>
                      <a:pt x="202" y="326"/>
                    </a:lnTo>
                    <a:lnTo>
                      <a:pt x="200" y="326"/>
                    </a:lnTo>
                    <a:lnTo>
                      <a:pt x="202" y="324"/>
                    </a:lnTo>
                    <a:lnTo>
                      <a:pt x="204" y="322"/>
                    </a:lnTo>
                    <a:lnTo>
                      <a:pt x="210" y="320"/>
                    </a:lnTo>
                    <a:lnTo>
                      <a:pt x="210" y="320"/>
                    </a:lnTo>
                    <a:close/>
                    <a:moveTo>
                      <a:pt x="206" y="308"/>
                    </a:moveTo>
                    <a:lnTo>
                      <a:pt x="206" y="308"/>
                    </a:lnTo>
                    <a:lnTo>
                      <a:pt x="204" y="308"/>
                    </a:lnTo>
                    <a:lnTo>
                      <a:pt x="206" y="308"/>
                    </a:lnTo>
                    <a:lnTo>
                      <a:pt x="206" y="308"/>
                    </a:lnTo>
                    <a:close/>
                    <a:moveTo>
                      <a:pt x="206" y="304"/>
                    </a:moveTo>
                    <a:lnTo>
                      <a:pt x="206" y="304"/>
                    </a:lnTo>
                    <a:lnTo>
                      <a:pt x="208" y="304"/>
                    </a:lnTo>
                    <a:lnTo>
                      <a:pt x="208" y="306"/>
                    </a:lnTo>
                    <a:lnTo>
                      <a:pt x="206" y="306"/>
                    </a:lnTo>
                    <a:lnTo>
                      <a:pt x="206" y="304"/>
                    </a:lnTo>
                    <a:lnTo>
                      <a:pt x="206" y="304"/>
                    </a:lnTo>
                    <a:close/>
                    <a:moveTo>
                      <a:pt x="420" y="258"/>
                    </a:moveTo>
                    <a:lnTo>
                      <a:pt x="420" y="258"/>
                    </a:lnTo>
                    <a:lnTo>
                      <a:pt x="422" y="260"/>
                    </a:lnTo>
                    <a:lnTo>
                      <a:pt x="420" y="262"/>
                    </a:lnTo>
                    <a:lnTo>
                      <a:pt x="414" y="260"/>
                    </a:lnTo>
                    <a:lnTo>
                      <a:pt x="416" y="260"/>
                    </a:lnTo>
                    <a:lnTo>
                      <a:pt x="420" y="258"/>
                    </a:lnTo>
                    <a:lnTo>
                      <a:pt x="420" y="258"/>
                    </a:lnTo>
                    <a:close/>
                    <a:moveTo>
                      <a:pt x="186" y="240"/>
                    </a:moveTo>
                    <a:lnTo>
                      <a:pt x="186" y="240"/>
                    </a:lnTo>
                    <a:lnTo>
                      <a:pt x="184" y="240"/>
                    </a:lnTo>
                    <a:lnTo>
                      <a:pt x="188" y="240"/>
                    </a:lnTo>
                    <a:lnTo>
                      <a:pt x="186" y="240"/>
                    </a:lnTo>
                    <a:lnTo>
                      <a:pt x="186" y="240"/>
                    </a:lnTo>
                    <a:close/>
                    <a:moveTo>
                      <a:pt x="176" y="236"/>
                    </a:moveTo>
                    <a:lnTo>
                      <a:pt x="176" y="236"/>
                    </a:lnTo>
                    <a:lnTo>
                      <a:pt x="174" y="238"/>
                    </a:lnTo>
                    <a:lnTo>
                      <a:pt x="174" y="240"/>
                    </a:lnTo>
                    <a:lnTo>
                      <a:pt x="174" y="242"/>
                    </a:lnTo>
                    <a:lnTo>
                      <a:pt x="178" y="242"/>
                    </a:lnTo>
                    <a:lnTo>
                      <a:pt x="178" y="238"/>
                    </a:lnTo>
                    <a:lnTo>
                      <a:pt x="176" y="236"/>
                    </a:lnTo>
                    <a:lnTo>
                      <a:pt x="176" y="236"/>
                    </a:lnTo>
                    <a:close/>
                    <a:moveTo>
                      <a:pt x="442" y="204"/>
                    </a:moveTo>
                    <a:lnTo>
                      <a:pt x="442" y="204"/>
                    </a:lnTo>
                    <a:lnTo>
                      <a:pt x="438" y="206"/>
                    </a:lnTo>
                    <a:lnTo>
                      <a:pt x="438" y="208"/>
                    </a:lnTo>
                    <a:lnTo>
                      <a:pt x="440" y="210"/>
                    </a:lnTo>
                    <a:lnTo>
                      <a:pt x="432" y="208"/>
                    </a:lnTo>
                    <a:lnTo>
                      <a:pt x="430" y="208"/>
                    </a:lnTo>
                    <a:lnTo>
                      <a:pt x="426" y="210"/>
                    </a:lnTo>
                    <a:lnTo>
                      <a:pt x="424" y="212"/>
                    </a:lnTo>
                    <a:lnTo>
                      <a:pt x="424" y="216"/>
                    </a:lnTo>
                    <a:lnTo>
                      <a:pt x="428" y="216"/>
                    </a:lnTo>
                    <a:lnTo>
                      <a:pt x="430" y="218"/>
                    </a:lnTo>
                    <a:lnTo>
                      <a:pt x="432" y="218"/>
                    </a:lnTo>
                    <a:lnTo>
                      <a:pt x="436" y="216"/>
                    </a:lnTo>
                    <a:lnTo>
                      <a:pt x="438" y="216"/>
                    </a:lnTo>
                    <a:lnTo>
                      <a:pt x="440" y="214"/>
                    </a:lnTo>
                    <a:lnTo>
                      <a:pt x="440" y="212"/>
                    </a:lnTo>
                    <a:lnTo>
                      <a:pt x="442" y="212"/>
                    </a:lnTo>
                    <a:lnTo>
                      <a:pt x="442" y="214"/>
                    </a:lnTo>
                    <a:lnTo>
                      <a:pt x="450" y="216"/>
                    </a:lnTo>
                    <a:lnTo>
                      <a:pt x="452" y="216"/>
                    </a:lnTo>
                    <a:lnTo>
                      <a:pt x="450" y="218"/>
                    </a:lnTo>
                    <a:lnTo>
                      <a:pt x="448" y="218"/>
                    </a:lnTo>
                    <a:lnTo>
                      <a:pt x="450" y="218"/>
                    </a:lnTo>
                    <a:lnTo>
                      <a:pt x="450" y="220"/>
                    </a:lnTo>
                    <a:lnTo>
                      <a:pt x="450" y="222"/>
                    </a:lnTo>
                    <a:lnTo>
                      <a:pt x="450" y="222"/>
                    </a:lnTo>
                    <a:lnTo>
                      <a:pt x="452" y="224"/>
                    </a:lnTo>
                    <a:lnTo>
                      <a:pt x="460" y="228"/>
                    </a:lnTo>
                    <a:lnTo>
                      <a:pt x="464" y="230"/>
                    </a:lnTo>
                    <a:lnTo>
                      <a:pt x="470" y="230"/>
                    </a:lnTo>
                    <a:lnTo>
                      <a:pt x="470" y="228"/>
                    </a:lnTo>
                    <a:lnTo>
                      <a:pt x="466" y="226"/>
                    </a:lnTo>
                    <a:lnTo>
                      <a:pt x="464" y="226"/>
                    </a:lnTo>
                    <a:lnTo>
                      <a:pt x="468" y="224"/>
                    </a:lnTo>
                    <a:lnTo>
                      <a:pt x="468" y="222"/>
                    </a:lnTo>
                    <a:lnTo>
                      <a:pt x="462" y="222"/>
                    </a:lnTo>
                    <a:lnTo>
                      <a:pt x="458" y="220"/>
                    </a:lnTo>
                    <a:lnTo>
                      <a:pt x="462" y="220"/>
                    </a:lnTo>
                    <a:lnTo>
                      <a:pt x="464" y="222"/>
                    </a:lnTo>
                    <a:lnTo>
                      <a:pt x="466" y="222"/>
                    </a:lnTo>
                    <a:lnTo>
                      <a:pt x="468" y="222"/>
                    </a:lnTo>
                    <a:lnTo>
                      <a:pt x="468" y="216"/>
                    </a:lnTo>
                    <a:lnTo>
                      <a:pt x="462" y="214"/>
                    </a:lnTo>
                    <a:lnTo>
                      <a:pt x="456" y="216"/>
                    </a:lnTo>
                    <a:lnTo>
                      <a:pt x="458" y="214"/>
                    </a:lnTo>
                    <a:lnTo>
                      <a:pt x="460" y="214"/>
                    </a:lnTo>
                    <a:lnTo>
                      <a:pt x="462" y="210"/>
                    </a:lnTo>
                    <a:lnTo>
                      <a:pt x="454" y="210"/>
                    </a:lnTo>
                    <a:lnTo>
                      <a:pt x="456" y="208"/>
                    </a:lnTo>
                    <a:lnTo>
                      <a:pt x="448" y="206"/>
                    </a:lnTo>
                    <a:lnTo>
                      <a:pt x="442" y="204"/>
                    </a:lnTo>
                    <a:lnTo>
                      <a:pt x="442" y="204"/>
                    </a:lnTo>
                    <a:close/>
                    <a:moveTo>
                      <a:pt x="142" y="180"/>
                    </a:moveTo>
                    <a:lnTo>
                      <a:pt x="142" y="180"/>
                    </a:lnTo>
                    <a:lnTo>
                      <a:pt x="140" y="182"/>
                    </a:lnTo>
                    <a:lnTo>
                      <a:pt x="142" y="182"/>
                    </a:lnTo>
                    <a:lnTo>
                      <a:pt x="144" y="182"/>
                    </a:lnTo>
                    <a:lnTo>
                      <a:pt x="146" y="180"/>
                    </a:lnTo>
                    <a:lnTo>
                      <a:pt x="142" y="180"/>
                    </a:lnTo>
                    <a:lnTo>
                      <a:pt x="142" y="180"/>
                    </a:lnTo>
                    <a:close/>
                    <a:moveTo>
                      <a:pt x="496" y="178"/>
                    </a:moveTo>
                    <a:lnTo>
                      <a:pt x="496" y="178"/>
                    </a:lnTo>
                    <a:lnTo>
                      <a:pt x="494" y="180"/>
                    </a:lnTo>
                    <a:lnTo>
                      <a:pt x="496" y="180"/>
                    </a:lnTo>
                    <a:lnTo>
                      <a:pt x="496" y="178"/>
                    </a:lnTo>
                    <a:lnTo>
                      <a:pt x="496" y="178"/>
                    </a:lnTo>
                    <a:close/>
                    <a:moveTo>
                      <a:pt x="482" y="174"/>
                    </a:moveTo>
                    <a:lnTo>
                      <a:pt x="482" y="174"/>
                    </a:lnTo>
                    <a:lnTo>
                      <a:pt x="482" y="176"/>
                    </a:lnTo>
                    <a:lnTo>
                      <a:pt x="482" y="180"/>
                    </a:lnTo>
                    <a:lnTo>
                      <a:pt x="484" y="180"/>
                    </a:lnTo>
                    <a:lnTo>
                      <a:pt x="488" y="180"/>
                    </a:lnTo>
                    <a:lnTo>
                      <a:pt x="488" y="176"/>
                    </a:lnTo>
                    <a:lnTo>
                      <a:pt x="484" y="176"/>
                    </a:lnTo>
                    <a:lnTo>
                      <a:pt x="484" y="174"/>
                    </a:lnTo>
                    <a:lnTo>
                      <a:pt x="482" y="174"/>
                    </a:lnTo>
                    <a:lnTo>
                      <a:pt x="482" y="174"/>
                    </a:lnTo>
                    <a:close/>
                    <a:moveTo>
                      <a:pt x="462" y="168"/>
                    </a:moveTo>
                    <a:lnTo>
                      <a:pt x="462" y="168"/>
                    </a:lnTo>
                    <a:lnTo>
                      <a:pt x="464" y="168"/>
                    </a:lnTo>
                    <a:lnTo>
                      <a:pt x="464" y="170"/>
                    </a:lnTo>
                    <a:lnTo>
                      <a:pt x="464" y="174"/>
                    </a:lnTo>
                    <a:lnTo>
                      <a:pt x="462" y="174"/>
                    </a:lnTo>
                    <a:lnTo>
                      <a:pt x="462" y="170"/>
                    </a:lnTo>
                    <a:lnTo>
                      <a:pt x="462" y="168"/>
                    </a:lnTo>
                    <a:lnTo>
                      <a:pt x="462" y="168"/>
                    </a:lnTo>
                    <a:close/>
                    <a:moveTo>
                      <a:pt x="496" y="162"/>
                    </a:moveTo>
                    <a:lnTo>
                      <a:pt x="496" y="162"/>
                    </a:lnTo>
                    <a:lnTo>
                      <a:pt x="496" y="164"/>
                    </a:lnTo>
                    <a:lnTo>
                      <a:pt x="492" y="164"/>
                    </a:lnTo>
                    <a:lnTo>
                      <a:pt x="494" y="170"/>
                    </a:lnTo>
                    <a:lnTo>
                      <a:pt x="496" y="172"/>
                    </a:lnTo>
                    <a:lnTo>
                      <a:pt x="500" y="172"/>
                    </a:lnTo>
                    <a:lnTo>
                      <a:pt x="500" y="170"/>
                    </a:lnTo>
                    <a:lnTo>
                      <a:pt x="504" y="170"/>
                    </a:lnTo>
                    <a:lnTo>
                      <a:pt x="504" y="170"/>
                    </a:lnTo>
                    <a:lnTo>
                      <a:pt x="504" y="166"/>
                    </a:lnTo>
                    <a:lnTo>
                      <a:pt x="504" y="168"/>
                    </a:lnTo>
                    <a:lnTo>
                      <a:pt x="500" y="166"/>
                    </a:lnTo>
                    <a:lnTo>
                      <a:pt x="498" y="162"/>
                    </a:lnTo>
                    <a:lnTo>
                      <a:pt x="496" y="162"/>
                    </a:lnTo>
                    <a:lnTo>
                      <a:pt x="496" y="162"/>
                    </a:lnTo>
                    <a:close/>
                    <a:moveTo>
                      <a:pt x="490" y="146"/>
                    </a:moveTo>
                    <a:lnTo>
                      <a:pt x="490" y="146"/>
                    </a:lnTo>
                    <a:lnTo>
                      <a:pt x="488" y="148"/>
                    </a:lnTo>
                    <a:lnTo>
                      <a:pt x="492" y="152"/>
                    </a:lnTo>
                    <a:lnTo>
                      <a:pt x="494" y="156"/>
                    </a:lnTo>
                    <a:lnTo>
                      <a:pt x="492" y="154"/>
                    </a:lnTo>
                    <a:lnTo>
                      <a:pt x="492" y="150"/>
                    </a:lnTo>
                    <a:lnTo>
                      <a:pt x="490" y="148"/>
                    </a:lnTo>
                    <a:lnTo>
                      <a:pt x="492" y="146"/>
                    </a:lnTo>
                    <a:lnTo>
                      <a:pt x="490" y="146"/>
                    </a:lnTo>
                    <a:lnTo>
                      <a:pt x="490" y="146"/>
                    </a:lnTo>
                    <a:close/>
                    <a:moveTo>
                      <a:pt x="12" y="128"/>
                    </a:moveTo>
                    <a:lnTo>
                      <a:pt x="12" y="128"/>
                    </a:lnTo>
                    <a:lnTo>
                      <a:pt x="14" y="128"/>
                    </a:lnTo>
                    <a:lnTo>
                      <a:pt x="12" y="128"/>
                    </a:lnTo>
                    <a:lnTo>
                      <a:pt x="12" y="128"/>
                    </a:lnTo>
                    <a:close/>
                    <a:moveTo>
                      <a:pt x="2" y="126"/>
                    </a:moveTo>
                    <a:lnTo>
                      <a:pt x="2" y="126"/>
                    </a:lnTo>
                    <a:lnTo>
                      <a:pt x="0" y="128"/>
                    </a:lnTo>
                    <a:lnTo>
                      <a:pt x="2" y="128"/>
                    </a:lnTo>
                    <a:lnTo>
                      <a:pt x="4" y="128"/>
                    </a:lnTo>
                    <a:lnTo>
                      <a:pt x="6" y="126"/>
                    </a:lnTo>
                    <a:lnTo>
                      <a:pt x="2" y="126"/>
                    </a:lnTo>
                    <a:lnTo>
                      <a:pt x="2" y="126"/>
                    </a:lnTo>
                    <a:close/>
                    <a:moveTo>
                      <a:pt x="484" y="74"/>
                    </a:moveTo>
                    <a:lnTo>
                      <a:pt x="484" y="74"/>
                    </a:lnTo>
                    <a:lnTo>
                      <a:pt x="484" y="78"/>
                    </a:lnTo>
                    <a:lnTo>
                      <a:pt x="488" y="76"/>
                    </a:lnTo>
                    <a:lnTo>
                      <a:pt x="484" y="74"/>
                    </a:lnTo>
                    <a:lnTo>
                      <a:pt x="484" y="74"/>
                    </a:lnTo>
                    <a:close/>
                    <a:moveTo>
                      <a:pt x="424" y="64"/>
                    </a:moveTo>
                    <a:lnTo>
                      <a:pt x="424" y="64"/>
                    </a:lnTo>
                    <a:lnTo>
                      <a:pt x="428" y="64"/>
                    </a:lnTo>
                    <a:lnTo>
                      <a:pt x="426" y="64"/>
                    </a:lnTo>
                    <a:lnTo>
                      <a:pt x="420" y="68"/>
                    </a:lnTo>
                    <a:lnTo>
                      <a:pt x="416" y="66"/>
                    </a:lnTo>
                    <a:lnTo>
                      <a:pt x="420" y="66"/>
                    </a:lnTo>
                    <a:lnTo>
                      <a:pt x="424" y="64"/>
                    </a:lnTo>
                    <a:lnTo>
                      <a:pt x="424" y="64"/>
                    </a:lnTo>
                    <a:close/>
                    <a:moveTo>
                      <a:pt x="492" y="40"/>
                    </a:moveTo>
                    <a:lnTo>
                      <a:pt x="492" y="40"/>
                    </a:lnTo>
                    <a:lnTo>
                      <a:pt x="492" y="42"/>
                    </a:lnTo>
                    <a:lnTo>
                      <a:pt x="492" y="40"/>
                    </a:lnTo>
                    <a:lnTo>
                      <a:pt x="492" y="40"/>
                    </a:lnTo>
                    <a:close/>
                    <a:moveTo>
                      <a:pt x="484" y="40"/>
                    </a:moveTo>
                    <a:lnTo>
                      <a:pt x="484" y="40"/>
                    </a:lnTo>
                    <a:lnTo>
                      <a:pt x="484" y="44"/>
                    </a:lnTo>
                    <a:lnTo>
                      <a:pt x="484" y="40"/>
                    </a:lnTo>
                    <a:lnTo>
                      <a:pt x="484" y="40"/>
                    </a:lnTo>
                    <a:close/>
                    <a:moveTo>
                      <a:pt x="176" y="32"/>
                    </a:moveTo>
                    <a:lnTo>
                      <a:pt x="176" y="32"/>
                    </a:lnTo>
                    <a:lnTo>
                      <a:pt x="178" y="38"/>
                    </a:lnTo>
                    <a:lnTo>
                      <a:pt x="180" y="40"/>
                    </a:lnTo>
                    <a:lnTo>
                      <a:pt x="186" y="44"/>
                    </a:lnTo>
                    <a:lnTo>
                      <a:pt x="198" y="46"/>
                    </a:lnTo>
                    <a:lnTo>
                      <a:pt x="200" y="46"/>
                    </a:lnTo>
                    <a:lnTo>
                      <a:pt x="200" y="44"/>
                    </a:lnTo>
                    <a:lnTo>
                      <a:pt x="198" y="42"/>
                    </a:lnTo>
                    <a:lnTo>
                      <a:pt x="192" y="40"/>
                    </a:lnTo>
                    <a:lnTo>
                      <a:pt x="188" y="40"/>
                    </a:lnTo>
                    <a:lnTo>
                      <a:pt x="186" y="36"/>
                    </a:lnTo>
                    <a:lnTo>
                      <a:pt x="182" y="36"/>
                    </a:lnTo>
                    <a:lnTo>
                      <a:pt x="176" y="32"/>
                    </a:lnTo>
                    <a:lnTo>
                      <a:pt x="176" y="32"/>
                    </a:lnTo>
                    <a:close/>
                    <a:moveTo>
                      <a:pt x="346" y="18"/>
                    </a:moveTo>
                    <a:lnTo>
                      <a:pt x="346" y="18"/>
                    </a:lnTo>
                    <a:lnTo>
                      <a:pt x="348" y="20"/>
                    </a:lnTo>
                    <a:lnTo>
                      <a:pt x="344" y="22"/>
                    </a:lnTo>
                    <a:lnTo>
                      <a:pt x="344" y="24"/>
                    </a:lnTo>
                    <a:lnTo>
                      <a:pt x="338" y="22"/>
                    </a:lnTo>
                    <a:lnTo>
                      <a:pt x="338" y="24"/>
                    </a:lnTo>
                    <a:lnTo>
                      <a:pt x="338" y="22"/>
                    </a:lnTo>
                    <a:lnTo>
                      <a:pt x="338" y="20"/>
                    </a:lnTo>
                    <a:lnTo>
                      <a:pt x="346" y="18"/>
                    </a:lnTo>
                    <a:lnTo>
                      <a:pt x="346" y="18"/>
                    </a:lnTo>
                    <a:close/>
                    <a:moveTo>
                      <a:pt x="388" y="16"/>
                    </a:moveTo>
                    <a:lnTo>
                      <a:pt x="388" y="16"/>
                    </a:lnTo>
                    <a:lnTo>
                      <a:pt x="396" y="16"/>
                    </a:lnTo>
                    <a:lnTo>
                      <a:pt x="406" y="16"/>
                    </a:lnTo>
                    <a:lnTo>
                      <a:pt x="416" y="16"/>
                    </a:lnTo>
                    <a:lnTo>
                      <a:pt x="396" y="18"/>
                    </a:lnTo>
                    <a:lnTo>
                      <a:pt x="390" y="18"/>
                    </a:lnTo>
                    <a:lnTo>
                      <a:pt x="384" y="18"/>
                    </a:lnTo>
                    <a:lnTo>
                      <a:pt x="384" y="20"/>
                    </a:lnTo>
                    <a:lnTo>
                      <a:pt x="380" y="20"/>
                    </a:lnTo>
                    <a:lnTo>
                      <a:pt x="376" y="20"/>
                    </a:lnTo>
                    <a:lnTo>
                      <a:pt x="376" y="18"/>
                    </a:lnTo>
                    <a:lnTo>
                      <a:pt x="378" y="18"/>
                    </a:lnTo>
                    <a:lnTo>
                      <a:pt x="388" y="16"/>
                    </a:lnTo>
                    <a:lnTo>
                      <a:pt x="388" y="16"/>
                    </a:lnTo>
                    <a:close/>
                    <a:moveTo>
                      <a:pt x="356" y="12"/>
                    </a:moveTo>
                    <a:lnTo>
                      <a:pt x="358" y="12"/>
                    </a:lnTo>
                    <a:lnTo>
                      <a:pt x="358" y="16"/>
                    </a:lnTo>
                    <a:lnTo>
                      <a:pt x="360" y="18"/>
                    </a:lnTo>
                    <a:lnTo>
                      <a:pt x="368" y="18"/>
                    </a:lnTo>
                    <a:lnTo>
                      <a:pt x="374" y="20"/>
                    </a:lnTo>
                    <a:lnTo>
                      <a:pt x="368" y="18"/>
                    </a:lnTo>
                    <a:lnTo>
                      <a:pt x="360" y="20"/>
                    </a:lnTo>
                    <a:lnTo>
                      <a:pt x="360" y="22"/>
                    </a:lnTo>
                    <a:lnTo>
                      <a:pt x="358" y="22"/>
                    </a:lnTo>
                    <a:lnTo>
                      <a:pt x="358" y="20"/>
                    </a:lnTo>
                    <a:lnTo>
                      <a:pt x="354" y="20"/>
                    </a:lnTo>
                    <a:lnTo>
                      <a:pt x="354" y="18"/>
                    </a:lnTo>
                    <a:lnTo>
                      <a:pt x="356" y="18"/>
                    </a:lnTo>
                    <a:lnTo>
                      <a:pt x="356" y="14"/>
                    </a:lnTo>
                    <a:lnTo>
                      <a:pt x="356" y="12"/>
                    </a:lnTo>
                    <a:lnTo>
                      <a:pt x="356" y="12"/>
                    </a:lnTo>
                    <a:close/>
                    <a:moveTo>
                      <a:pt x="466" y="36"/>
                    </a:moveTo>
                    <a:lnTo>
                      <a:pt x="466" y="36"/>
                    </a:lnTo>
                    <a:lnTo>
                      <a:pt x="470" y="34"/>
                    </a:lnTo>
                    <a:lnTo>
                      <a:pt x="472" y="32"/>
                    </a:lnTo>
                    <a:lnTo>
                      <a:pt x="474" y="32"/>
                    </a:lnTo>
                    <a:lnTo>
                      <a:pt x="480" y="30"/>
                    </a:lnTo>
                    <a:lnTo>
                      <a:pt x="478" y="28"/>
                    </a:lnTo>
                    <a:lnTo>
                      <a:pt x="476" y="26"/>
                    </a:lnTo>
                    <a:lnTo>
                      <a:pt x="472" y="26"/>
                    </a:lnTo>
                    <a:lnTo>
                      <a:pt x="470" y="24"/>
                    </a:lnTo>
                    <a:lnTo>
                      <a:pt x="464" y="24"/>
                    </a:lnTo>
                    <a:lnTo>
                      <a:pt x="458" y="24"/>
                    </a:lnTo>
                    <a:lnTo>
                      <a:pt x="458" y="22"/>
                    </a:lnTo>
                    <a:lnTo>
                      <a:pt x="454" y="20"/>
                    </a:lnTo>
                    <a:lnTo>
                      <a:pt x="452" y="20"/>
                    </a:lnTo>
                    <a:lnTo>
                      <a:pt x="450" y="22"/>
                    </a:lnTo>
                    <a:lnTo>
                      <a:pt x="450" y="18"/>
                    </a:lnTo>
                    <a:lnTo>
                      <a:pt x="448" y="18"/>
                    </a:lnTo>
                    <a:lnTo>
                      <a:pt x="442" y="22"/>
                    </a:lnTo>
                    <a:lnTo>
                      <a:pt x="436" y="24"/>
                    </a:lnTo>
                    <a:lnTo>
                      <a:pt x="436" y="22"/>
                    </a:lnTo>
                    <a:lnTo>
                      <a:pt x="442" y="20"/>
                    </a:lnTo>
                    <a:lnTo>
                      <a:pt x="442" y="18"/>
                    </a:lnTo>
                    <a:lnTo>
                      <a:pt x="442" y="16"/>
                    </a:lnTo>
                    <a:lnTo>
                      <a:pt x="440" y="12"/>
                    </a:lnTo>
                    <a:lnTo>
                      <a:pt x="436" y="10"/>
                    </a:lnTo>
                    <a:lnTo>
                      <a:pt x="434" y="12"/>
                    </a:lnTo>
                    <a:lnTo>
                      <a:pt x="432" y="14"/>
                    </a:lnTo>
                    <a:lnTo>
                      <a:pt x="426" y="16"/>
                    </a:lnTo>
                    <a:lnTo>
                      <a:pt x="418" y="16"/>
                    </a:lnTo>
                    <a:lnTo>
                      <a:pt x="422" y="10"/>
                    </a:lnTo>
                    <a:lnTo>
                      <a:pt x="428" y="10"/>
                    </a:lnTo>
                    <a:lnTo>
                      <a:pt x="428" y="6"/>
                    </a:lnTo>
                    <a:lnTo>
                      <a:pt x="424" y="4"/>
                    </a:lnTo>
                    <a:lnTo>
                      <a:pt x="408" y="4"/>
                    </a:lnTo>
                    <a:lnTo>
                      <a:pt x="404" y="4"/>
                    </a:lnTo>
                    <a:lnTo>
                      <a:pt x="398" y="2"/>
                    </a:lnTo>
                    <a:lnTo>
                      <a:pt x="398" y="4"/>
                    </a:lnTo>
                    <a:lnTo>
                      <a:pt x="392" y="4"/>
                    </a:lnTo>
                    <a:lnTo>
                      <a:pt x="390" y="4"/>
                    </a:lnTo>
                    <a:lnTo>
                      <a:pt x="384" y="6"/>
                    </a:lnTo>
                    <a:lnTo>
                      <a:pt x="380" y="2"/>
                    </a:lnTo>
                    <a:lnTo>
                      <a:pt x="376" y="2"/>
                    </a:lnTo>
                    <a:lnTo>
                      <a:pt x="374" y="0"/>
                    </a:lnTo>
                    <a:lnTo>
                      <a:pt x="370" y="2"/>
                    </a:lnTo>
                    <a:lnTo>
                      <a:pt x="366" y="2"/>
                    </a:lnTo>
                    <a:lnTo>
                      <a:pt x="362" y="2"/>
                    </a:lnTo>
                    <a:lnTo>
                      <a:pt x="354" y="2"/>
                    </a:lnTo>
                    <a:lnTo>
                      <a:pt x="346" y="2"/>
                    </a:lnTo>
                    <a:lnTo>
                      <a:pt x="336" y="2"/>
                    </a:lnTo>
                    <a:lnTo>
                      <a:pt x="326" y="0"/>
                    </a:lnTo>
                    <a:lnTo>
                      <a:pt x="326" y="2"/>
                    </a:lnTo>
                    <a:lnTo>
                      <a:pt x="326" y="4"/>
                    </a:lnTo>
                    <a:lnTo>
                      <a:pt x="318" y="2"/>
                    </a:lnTo>
                    <a:lnTo>
                      <a:pt x="318" y="4"/>
                    </a:lnTo>
                    <a:lnTo>
                      <a:pt x="320" y="6"/>
                    </a:lnTo>
                    <a:lnTo>
                      <a:pt x="316" y="6"/>
                    </a:lnTo>
                    <a:lnTo>
                      <a:pt x="310" y="6"/>
                    </a:lnTo>
                    <a:lnTo>
                      <a:pt x="310" y="4"/>
                    </a:lnTo>
                    <a:lnTo>
                      <a:pt x="308" y="4"/>
                    </a:lnTo>
                    <a:lnTo>
                      <a:pt x="308" y="8"/>
                    </a:lnTo>
                    <a:lnTo>
                      <a:pt x="306" y="8"/>
                    </a:lnTo>
                    <a:lnTo>
                      <a:pt x="306" y="10"/>
                    </a:lnTo>
                    <a:lnTo>
                      <a:pt x="310" y="10"/>
                    </a:lnTo>
                    <a:lnTo>
                      <a:pt x="310" y="12"/>
                    </a:lnTo>
                    <a:lnTo>
                      <a:pt x="302" y="12"/>
                    </a:lnTo>
                    <a:lnTo>
                      <a:pt x="300" y="14"/>
                    </a:lnTo>
                    <a:lnTo>
                      <a:pt x="302" y="16"/>
                    </a:lnTo>
                    <a:lnTo>
                      <a:pt x="306" y="20"/>
                    </a:lnTo>
                    <a:lnTo>
                      <a:pt x="302" y="20"/>
                    </a:lnTo>
                    <a:lnTo>
                      <a:pt x="298" y="14"/>
                    </a:lnTo>
                    <a:lnTo>
                      <a:pt x="294" y="14"/>
                    </a:lnTo>
                    <a:lnTo>
                      <a:pt x="294" y="16"/>
                    </a:lnTo>
                    <a:lnTo>
                      <a:pt x="296" y="16"/>
                    </a:lnTo>
                    <a:lnTo>
                      <a:pt x="298" y="18"/>
                    </a:lnTo>
                    <a:lnTo>
                      <a:pt x="294" y="16"/>
                    </a:lnTo>
                    <a:lnTo>
                      <a:pt x="292" y="22"/>
                    </a:lnTo>
                    <a:lnTo>
                      <a:pt x="286" y="20"/>
                    </a:lnTo>
                    <a:lnTo>
                      <a:pt x="284" y="16"/>
                    </a:lnTo>
                    <a:lnTo>
                      <a:pt x="284" y="12"/>
                    </a:lnTo>
                    <a:lnTo>
                      <a:pt x="278" y="10"/>
                    </a:lnTo>
                    <a:lnTo>
                      <a:pt x="270" y="10"/>
                    </a:lnTo>
                    <a:lnTo>
                      <a:pt x="270" y="12"/>
                    </a:lnTo>
                    <a:lnTo>
                      <a:pt x="270" y="14"/>
                    </a:lnTo>
                    <a:lnTo>
                      <a:pt x="262" y="14"/>
                    </a:lnTo>
                    <a:lnTo>
                      <a:pt x="262" y="16"/>
                    </a:lnTo>
                    <a:lnTo>
                      <a:pt x="264" y="18"/>
                    </a:lnTo>
                    <a:lnTo>
                      <a:pt x="262" y="18"/>
                    </a:lnTo>
                    <a:lnTo>
                      <a:pt x="262" y="22"/>
                    </a:lnTo>
                    <a:lnTo>
                      <a:pt x="268" y="24"/>
                    </a:lnTo>
                    <a:lnTo>
                      <a:pt x="270" y="24"/>
                    </a:lnTo>
                    <a:lnTo>
                      <a:pt x="274" y="24"/>
                    </a:lnTo>
                    <a:lnTo>
                      <a:pt x="276" y="24"/>
                    </a:lnTo>
                    <a:lnTo>
                      <a:pt x="278" y="24"/>
                    </a:lnTo>
                    <a:lnTo>
                      <a:pt x="280" y="28"/>
                    </a:lnTo>
                    <a:lnTo>
                      <a:pt x="280" y="30"/>
                    </a:lnTo>
                    <a:lnTo>
                      <a:pt x="284" y="34"/>
                    </a:lnTo>
                    <a:lnTo>
                      <a:pt x="280" y="30"/>
                    </a:lnTo>
                    <a:lnTo>
                      <a:pt x="278" y="28"/>
                    </a:lnTo>
                    <a:lnTo>
                      <a:pt x="274" y="26"/>
                    </a:lnTo>
                    <a:lnTo>
                      <a:pt x="268" y="24"/>
                    </a:lnTo>
                    <a:lnTo>
                      <a:pt x="260" y="24"/>
                    </a:lnTo>
                    <a:lnTo>
                      <a:pt x="256" y="26"/>
                    </a:lnTo>
                    <a:lnTo>
                      <a:pt x="258" y="30"/>
                    </a:lnTo>
                    <a:lnTo>
                      <a:pt x="260" y="30"/>
                    </a:lnTo>
                    <a:lnTo>
                      <a:pt x="260" y="34"/>
                    </a:lnTo>
                    <a:lnTo>
                      <a:pt x="254" y="28"/>
                    </a:lnTo>
                    <a:lnTo>
                      <a:pt x="250" y="26"/>
                    </a:lnTo>
                    <a:lnTo>
                      <a:pt x="248" y="26"/>
                    </a:lnTo>
                    <a:lnTo>
                      <a:pt x="242" y="28"/>
                    </a:lnTo>
                    <a:lnTo>
                      <a:pt x="234" y="28"/>
                    </a:lnTo>
                    <a:lnTo>
                      <a:pt x="234" y="30"/>
                    </a:lnTo>
                    <a:lnTo>
                      <a:pt x="236" y="32"/>
                    </a:lnTo>
                    <a:lnTo>
                      <a:pt x="238" y="36"/>
                    </a:lnTo>
                    <a:lnTo>
                      <a:pt x="240" y="36"/>
                    </a:lnTo>
                    <a:lnTo>
                      <a:pt x="242" y="40"/>
                    </a:lnTo>
                    <a:lnTo>
                      <a:pt x="248" y="44"/>
                    </a:lnTo>
                    <a:lnTo>
                      <a:pt x="252" y="48"/>
                    </a:lnTo>
                    <a:lnTo>
                      <a:pt x="258" y="50"/>
                    </a:lnTo>
                    <a:lnTo>
                      <a:pt x="262" y="52"/>
                    </a:lnTo>
                    <a:lnTo>
                      <a:pt x="264" y="56"/>
                    </a:lnTo>
                    <a:lnTo>
                      <a:pt x="260" y="52"/>
                    </a:lnTo>
                    <a:lnTo>
                      <a:pt x="258" y="54"/>
                    </a:lnTo>
                    <a:lnTo>
                      <a:pt x="256" y="52"/>
                    </a:lnTo>
                    <a:lnTo>
                      <a:pt x="254" y="52"/>
                    </a:lnTo>
                    <a:lnTo>
                      <a:pt x="252" y="52"/>
                    </a:lnTo>
                    <a:lnTo>
                      <a:pt x="248" y="56"/>
                    </a:lnTo>
                    <a:lnTo>
                      <a:pt x="244" y="56"/>
                    </a:lnTo>
                    <a:lnTo>
                      <a:pt x="242" y="54"/>
                    </a:lnTo>
                    <a:lnTo>
                      <a:pt x="240" y="54"/>
                    </a:lnTo>
                    <a:lnTo>
                      <a:pt x="238" y="54"/>
                    </a:lnTo>
                    <a:lnTo>
                      <a:pt x="230" y="46"/>
                    </a:lnTo>
                    <a:lnTo>
                      <a:pt x="230" y="40"/>
                    </a:lnTo>
                    <a:lnTo>
                      <a:pt x="228" y="40"/>
                    </a:lnTo>
                    <a:lnTo>
                      <a:pt x="224" y="36"/>
                    </a:lnTo>
                    <a:lnTo>
                      <a:pt x="218" y="30"/>
                    </a:lnTo>
                    <a:lnTo>
                      <a:pt x="208" y="28"/>
                    </a:lnTo>
                    <a:lnTo>
                      <a:pt x="206" y="28"/>
                    </a:lnTo>
                    <a:lnTo>
                      <a:pt x="206" y="36"/>
                    </a:lnTo>
                    <a:lnTo>
                      <a:pt x="208" y="40"/>
                    </a:lnTo>
                    <a:lnTo>
                      <a:pt x="208" y="42"/>
                    </a:lnTo>
                    <a:lnTo>
                      <a:pt x="206" y="42"/>
                    </a:lnTo>
                    <a:lnTo>
                      <a:pt x="206" y="40"/>
                    </a:lnTo>
                    <a:lnTo>
                      <a:pt x="204" y="40"/>
                    </a:lnTo>
                    <a:lnTo>
                      <a:pt x="204" y="44"/>
                    </a:lnTo>
                    <a:lnTo>
                      <a:pt x="206" y="46"/>
                    </a:lnTo>
                    <a:lnTo>
                      <a:pt x="206" y="50"/>
                    </a:lnTo>
                    <a:lnTo>
                      <a:pt x="206" y="52"/>
                    </a:lnTo>
                    <a:lnTo>
                      <a:pt x="204" y="54"/>
                    </a:lnTo>
                    <a:lnTo>
                      <a:pt x="202" y="54"/>
                    </a:lnTo>
                    <a:lnTo>
                      <a:pt x="200" y="50"/>
                    </a:lnTo>
                    <a:lnTo>
                      <a:pt x="194" y="48"/>
                    </a:lnTo>
                    <a:lnTo>
                      <a:pt x="192" y="48"/>
                    </a:lnTo>
                    <a:lnTo>
                      <a:pt x="192" y="46"/>
                    </a:lnTo>
                    <a:lnTo>
                      <a:pt x="190" y="46"/>
                    </a:lnTo>
                    <a:lnTo>
                      <a:pt x="190" y="48"/>
                    </a:lnTo>
                    <a:lnTo>
                      <a:pt x="188" y="48"/>
                    </a:lnTo>
                    <a:lnTo>
                      <a:pt x="186" y="46"/>
                    </a:lnTo>
                    <a:lnTo>
                      <a:pt x="182" y="44"/>
                    </a:lnTo>
                    <a:lnTo>
                      <a:pt x="180" y="46"/>
                    </a:lnTo>
                    <a:lnTo>
                      <a:pt x="174" y="52"/>
                    </a:lnTo>
                    <a:lnTo>
                      <a:pt x="174" y="54"/>
                    </a:lnTo>
                    <a:lnTo>
                      <a:pt x="172" y="40"/>
                    </a:lnTo>
                    <a:lnTo>
                      <a:pt x="170" y="36"/>
                    </a:lnTo>
                    <a:lnTo>
                      <a:pt x="168" y="34"/>
                    </a:lnTo>
                    <a:lnTo>
                      <a:pt x="164" y="32"/>
                    </a:lnTo>
                    <a:lnTo>
                      <a:pt x="158" y="36"/>
                    </a:lnTo>
                    <a:lnTo>
                      <a:pt x="158" y="40"/>
                    </a:lnTo>
                    <a:lnTo>
                      <a:pt x="154" y="36"/>
                    </a:lnTo>
                    <a:lnTo>
                      <a:pt x="152" y="36"/>
                    </a:lnTo>
                    <a:lnTo>
                      <a:pt x="150" y="40"/>
                    </a:lnTo>
                    <a:lnTo>
                      <a:pt x="148" y="40"/>
                    </a:lnTo>
                    <a:lnTo>
                      <a:pt x="148" y="38"/>
                    </a:lnTo>
                    <a:lnTo>
                      <a:pt x="146" y="36"/>
                    </a:lnTo>
                    <a:lnTo>
                      <a:pt x="140" y="38"/>
                    </a:lnTo>
                    <a:lnTo>
                      <a:pt x="136" y="38"/>
                    </a:lnTo>
                    <a:lnTo>
                      <a:pt x="130" y="40"/>
                    </a:lnTo>
                    <a:lnTo>
                      <a:pt x="122" y="40"/>
                    </a:lnTo>
                    <a:lnTo>
                      <a:pt x="116" y="44"/>
                    </a:lnTo>
                    <a:lnTo>
                      <a:pt x="112" y="44"/>
                    </a:lnTo>
                    <a:lnTo>
                      <a:pt x="114" y="46"/>
                    </a:lnTo>
                    <a:lnTo>
                      <a:pt x="116" y="50"/>
                    </a:lnTo>
                    <a:lnTo>
                      <a:pt x="116" y="54"/>
                    </a:lnTo>
                    <a:lnTo>
                      <a:pt x="118" y="56"/>
                    </a:lnTo>
                    <a:lnTo>
                      <a:pt x="114" y="52"/>
                    </a:lnTo>
                    <a:lnTo>
                      <a:pt x="112" y="48"/>
                    </a:lnTo>
                    <a:lnTo>
                      <a:pt x="110" y="46"/>
                    </a:lnTo>
                    <a:lnTo>
                      <a:pt x="106" y="44"/>
                    </a:lnTo>
                    <a:lnTo>
                      <a:pt x="104" y="44"/>
                    </a:lnTo>
                    <a:lnTo>
                      <a:pt x="102" y="46"/>
                    </a:lnTo>
                    <a:lnTo>
                      <a:pt x="98" y="54"/>
                    </a:lnTo>
                    <a:lnTo>
                      <a:pt x="98" y="56"/>
                    </a:lnTo>
                    <a:lnTo>
                      <a:pt x="102" y="58"/>
                    </a:lnTo>
                    <a:lnTo>
                      <a:pt x="100" y="60"/>
                    </a:lnTo>
                    <a:lnTo>
                      <a:pt x="98" y="60"/>
                    </a:lnTo>
                    <a:lnTo>
                      <a:pt x="98" y="58"/>
                    </a:lnTo>
                    <a:lnTo>
                      <a:pt x="96" y="56"/>
                    </a:lnTo>
                    <a:lnTo>
                      <a:pt x="86" y="56"/>
                    </a:lnTo>
                    <a:lnTo>
                      <a:pt x="80" y="56"/>
                    </a:lnTo>
                    <a:lnTo>
                      <a:pt x="76" y="58"/>
                    </a:lnTo>
                    <a:lnTo>
                      <a:pt x="66" y="64"/>
                    </a:lnTo>
                    <a:lnTo>
                      <a:pt x="56" y="66"/>
                    </a:lnTo>
                    <a:lnTo>
                      <a:pt x="52" y="66"/>
                    </a:lnTo>
                    <a:lnTo>
                      <a:pt x="50" y="68"/>
                    </a:lnTo>
                    <a:lnTo>
                      <a:pt x="48" y="72"/>
                    </a:lnTo>
                    <a:lnTo>
                      <a:pt x="46" y="76"/>
                    </a:lnTo>
                    <a:lnTo>
                      <a:pt x="48" y="78"/>
                    </a:lnTo>
                    <a:lnTo>
                      <a:pt x="54" y="76"/>
                    </a:lnTo>
                    <a:lnTo>
                      <a:pt x="60" y="76"/>
                    </a:lnTo>
                    <a:lnTo>
                      <a:pt x="64" y="80"/>
                    </a:lnTo>
                    <a:lnTo>
                      <a:pt x="68" y="76"/>
                    </a:lnTo>
                    <a:lnTo>
                      <a:pt x="72" y="78"/>
                    </a:lnTo>
                    <a:lnTo>
                      <a:pt x="80" y="76"/>
                    </a:lnTo>
                    <a:lnTo>
                      <a:pt x="78" y="78"/>
                    </a:lnTo>
                    <a:lnTo>
                      <a:pt x="80" y="82"/>
                    </a:lnTo>
                    <a:lnTo>
                      <a:pt x="78" y="84"/>
                    </a:lnTo>
                    <a:lnTo>
                      <a:pt x="76" y="84"/>
                    </a:lnTo>
                    <a:lnTo>
                      <a:pt x="78" y="86"/>
                    </a:lnTo>
                    <a:lnTo>
                      <a:pt x="78" y="90"/>
                    </a:lnTo>
                    <a:lnTo>
                      <a:pt x="68" y="98"/>
                    </a:lnTo>
                    <a:lnTo>
                      <a:pt x="66" y="98"/>
                    </a:lnTo>
                    <a:lnTo>
                      <a:pt x="64" y="102"/>
                    </a:lnTo>
                    <a:lnTo>
                      <a:pt x="62" y="100"/>
                    </a:lnTo>
                    <a:lnTo>
                      <a:pt x="60" y="98"/>
                    </a:lnTo>
                    <a:lnTo>
                      <a:pt x="48" y="98"/>
                    </a:lnTo>
                    <a:lnTo>
                      <a:pt x="42" y="102"/>
                    </a:lnTo>
                    <a:lnTo>
                      <a:pt x="36" y="104"/>
                    </a:lnTo>
                    <a:lnTo>
                      <a:pt x="30" y="102"/>
                    </a:lnTo>
                    <a:lnTo>
                      <a:pt x="20" y="104"/>
                    </a:lnTo>
                    <a:lnTo>
                      <a:pt x="16" y="104"/>
                    </a:lnTo>
                    <a:lnTo>
                      <a:pt x="16" y="106"/>
                    </a:lnTo>
                    <a:lnTo>
                      <a:pt x="12" y="106"/>
                    </a:lnTo>
                    <a:lnTo>
                      <a:pt x="6" y="106"/>
                    </a:lnTo>
                    <a:lnTo>
                      <a:pt x="2" y="112"/>
                    </a:lnTo>
                    <a:lnTo>
                      <a:pt x="2" y="112"/>
                    </a:lnTo>
                    <a:lnTo>
                      <a:pt x="4" y="112"/>
                    </a:lnTo>
                    <a:lnTo>
                      <a:pt x="6" y="116"/>
                    </a:lnTo>
                    <a:lnTo>
                      <a:pt x="8" y="118"/>
                    </a:lnTo>
                    <a:lnTo>
                      <a:pt x="8" y="120"/>
                    </a:lnTo>
                    <a:lnTo>
                      <a:pt x="14" y="120"/>
                    </a:lnTo>
                    <a:lnTo>
                      <a:pt x="14" y="122"/>
                    </a:lnTo>
                    <a:lnTo>
                      <a:pt x="16" y="122"/>
                    </a:lnTo>
                    <a:lnTo>
                      <a:pt x="16" y="124"/>
                    </a:lnTo>
                    <a:lnTo>
                      <a:pt x="20" y="124"/>
                    </a:lnTo>
                    <a:lnTo>
                      <a:pt x="28" y="126"/>
                    </a:lnTo>
                    <a:lnTo>
                      <a:pt x="28" y="124"/>
                    </a:lnTo>
                    <a:lnTo>
                      <a:pt x="30" y="120"/>
                    </a:lnTo>
                    <a:lnTo>
                      <a:pt x="34" y="120"/>
                    </a:lnTo>
                    <a:lnTo>
                      <a:pt x="36" y="126"/>
                    </a:lnTo>
                    <a:lnTo>
                      <a:pt x="48" y="124"/>
                    </a:lnTo>
                    <a:lnTo>
                      <a:pt x="62" y="124"/>
                    </a:lnTo>
                    <a:lnTo>
                      <a:pt x="64" y="128"/>
                    </a:lnTo>
                    <a:lnTo>
                      <a:pt x="60" y="128"/>
                    </a:lnTo>
                    <a:lnTo>
                      <a:pt x="60" y="130"/>
                    </a:lnTo>
                    <a:lnTo>
                      <a:pt x="58" y="130"/>
                    </a:lnTo>
                    <a:lnTo>
                      <a:pt x="56" y="128"/>
                    </a:lnTo>
                    <a:lnTo>
                      <a:pt x="44" y="128"/>
                    </a:lnTo>
                    <a:lnTo>
                      <a:pt x="44" y="130"/>
                    </a:lnTo>
                    <a:lnTo>
                      <a:pt x="36" y="128"/>
                    </a:lnTo>
                    <a:lnTo>
                      <a:pt x="22" y="134"/>
                    </a:lnTo>
                    <a:lnTo>
                      <a:pt x="22" y="136"/>
                    </a:lnTo>
                    <a:lnTo>
                      <a:pt x="26" y="136"/>
                    </a:lnTo>
                    <a:lnTo>
                      <a:pt x="18" y="136"/>
                    </a:lnTo>
                    <a:lnTo>
                      <a:pt x="16" y="136"/>
                    </a:lnTo>
                    <a:lnTo>
                      <a:pt x="16" y="134"/>
                    </a:lnTo>
                    <a:lnTo>
                      <a:pt x="14" y="134"/>
                    </a:lnTo>
                    <a:lnTo>
                      <a:pt x="8" y="136"/>
                    </a:lnTo>
                    <a:lnTo>
                      <a:pt x="12" y="142"/>
                    </a:lnTo>
                    <a:lnTo>
                      <a:pt x="14" y="142"/>
                    </a:lnTo>
                    <a:lnTo>
                      <a:pt x="16" y="142"/>
                    </a:lnTo>
                    <a:lnTo>
                      <a:pt x="18" y="144"/>
                    </a:lnTo>
                    <a:lnTo>
                      <a:pt x="20" y="144"/>
                    </a:lnTo>
                    <a:lnTo>
                      <a:pt x="24" y="144"/>
                    </a:lnTo>
                    <a:lnTo>
                      <a:pt x="20" y="148"/>
                    </a:lnTo>
                    <a:lnTo>
                      <a:pt x="24" y="152"/>
                    </a:lnTo>
                    <a:lnTo>
                      <a:pt x="26" y="154"/>
                    </a:lnTo>
                    <a:lnTo>
                      <a:pt x="28" y="156"/>
                    </a:lnTo>
                    <a:lnTo>
                      <a:pt x="30" y="156"/>
                    </a:lnTo>
                    <a:lnTo>
                      <a:pt x="34" y="156"/>
                    </a:lnTo>
                    <a:lnTo>
                      <a:pt x="44" y="158"/>
                    </a:lnTo>
                    <a:lnTo>
                      <a:pt x="42" y="152"/>
                    </a:lnTo>
                    <a:lnTo>
                      <a:pt x="44" y="148"/>
                    </a:lnTo>
                    <a:lnTo>
                      <a:pt x="52" y="152"/>
                    </a:lnTo>
                    <a:lnTo>
                      <a:pt x="52" y="150"/>
                    </a:lnTo>
                    <a:lnTo>
                      <a:pt x="56" y="148"/>
                    </a:lnTo>
                    <a:lnTo>
                      <a:pt x="62" y="148"/>
                    </a:lnTo>
                    <a:lnTo>
                      <a:pt x="62" y="150"/>
                    </a:lnTo>
                    <a:lnTo>
                      <a:pt x="64" y="152"/>
                    </a:lnTo>
                    <a:lnTo>
                      <a:pt x="66" y="154"/>
                    </a:lnTo>
                    <a:lnTo>
                      <a:pt x="68" y="150"/>
                    </a:lnTo>
                    <a:lnTo>
                      <a:pt x="72" y="150"/>
                    </a:lnTo>
                    <a:lnTo>
                      <a:pt x="74" y="150"/>
                    </a:lnTo>
                    <a:lnTo>
                      <a:pt x="78" y="150"/>
                    </a:lnTo>
                    <a:lnTo>
                      <a:pt x="80" y="150"/>
                    </a:lnTo>
                    <a:lnTo>
                      <a:pt x="80" y="148"/>
                    </a:lnTo>
                    <a:lnTo>
                      <a:pt x="86" y="144"/>
                    </a:lnTo>
                    <a:lnTo>
                      <a:pt x="86" y="148"/>
                    </a:lnTo>
                    <a:lnTo>
                      <a:pt x="86" y="152"/>
                    </a:lnTo>
                    <a:lnTo>
                      <a:pt x="92" y="146"/>
                    </a:lnTo>
                    <a:lnTo>
                      <a:pt x="96" y="146"/>
                    </a:lnTo>
                    <a:lnTo>
                      <a:pt x="98" y="150"/>
                    </a:lnTo>
                    <a:lnTo>
                      <a:pt x="104" y="150"/>
                    </a:lnTo>
                    <a:lnTo>
                      <a:pt x="112" y="152"/>
                    </a:lnTo>
                    <a:lnTo>
                      <a:pt x="112" y="154"/>
                    </a:lnTo>
                    <a:lnTo>
                      <a:pt x="118" y="158"/>
                    </a:lnTo>
                    <a:lnTo>
                      <a:pt x="120" y="160"/>
                    </a:lnTo>
                    <a:lnTo>
                      <a:pt x="124" y="160"/>
                    </a:lnTo>
                    <a:lnTo>
                      <a:pt x="128" y="160"/>
                    </a:lnTo>
                    <a:lnTo>
                      <a:pt x="134" y="164"/>
                    </a:lnTo>
                    <a:lnTo>
                      <a:pt x="134" y="166"/>
                    </a:lnTo>
                    <a:lnTo>
                      <a:pt x="134" y="166"/>
                    </a:lnTo>
                    <a:lnTo>
                      <a:pt x="136" y="166"/>
                    </a:lnTo>
                    <a:lnTo>
                      <a:pt x="140" y="170"/>
                    </a:lnTo>
                    <a:lnTo>
                      <a:pt x="144" y="176"/>
                    </a:lnTo>
                    <a:lnTo>
                      <a:pt x="148" y="176"/>
                    </a:lnTo>
                    <a:lnTo>
                      <a:pt x="150" y="178"/>
                    </a:lnTo>
                    <a:lnTo>
                      <a:pt x="150" y="180"/>
                    </a:lnTo>
                    <a:lnTo>
                      <a:pt x="148" y="180"/>
                    </a:lnTo>
                    <a:lnTo>
                      <a:pt x="150" y="184"/>
                    </a:lnTo>
                    <a:lnTo>
                      <a:pt x="148" y="186"/>
                    </a:lnTo>
                    <a:lnTo>
                      <a:pt x="144" y="186"/>
                    </a:lnTo>
                    <a:lnTo>
                      <a:pt x="144" y="188"/>
                    </a:lnTo>
                    <a:lnTo>
                      <a:pt x="150" y="186"/>
                    </a:lnTo>
                    <a:lnTo>
                      <a:pt x="150" y="188"/>
                    </a:lnTo>
                    <a:lnTo>
                      <a:pt x="158" y="196"/>
                    </a:lnTo>
                    <a:lnTo>
                      <a:pt x="158" y="198"/>
                    </a:lnTo>
                    <a:lnTo>
                      <a:pt x="156" y="198"/>
                    </a:lnTo>
                    <a:lnTo>
                      <a:pt x="156" y="200"/>
                    </a:lnTo>
                    <a:lnTo>
                      <a:pt x="160" y="202"/>
                    </a:lnTo>
                    <a:lnTo>
                      <a:pt x="162" y="204"/>
                    </a:lnTo>
                    <a:lnTo>
                      <a:pt x="160" y="208"/>
                    </a:lnTo>
                    <a:lnTo>
                      <a:pt x="164" y="208"/>
                    </a:lnTo>
                    <a:lnTo>
                      <a:pt x="164" y="210"/>
                    </a:lnTo>
                    <a:lnTo>
                      <a:pt x="164" y="212"/>
                    </a:lnTo>
                    <a:lnTo>
                      <a:pt x="162" y="214"/>
                    </a:lnTo>
                    <a:lnTo>
                      <a:pt x="164" y="216"/>
                    </a:lnTo>
                    <a:lnTo>
                      <a:pt x="156" y="218"/>
                    </a:lnTo>
                    <a:lnTo>
                      <a:pt x="158" y="218"/>
                    </a:lnTo>
                    <a:lnTo>
                      <a:pt x="158" y="222"/>
                    </a:lnTo>
                    <a:lnTo>
                      <a:pt x="156" y="222"/>
                    </a:lnTo>
                    <a:lnTo>
                      <a:pt x="154" y="224"/>
                    </a:lnTo>
                    <a:lnTo>
                      <a:pt x="154" y="226"/>
                    </a:lnTo>
                    <a:lnTo>
                      <a:pt x="158" y="226"/>
                    </a:lnTo>
                    <a:lnTo>
                      <a:pt x="156" y="230"/>
                    </a:lnTo>
                    <a:lnTo>
                      <a:pt x="154" y="230"/>
                    </a:lnTo>
                    <a:lnTo>
                      <a:pt x="154" y="232"/>
                    </a:lnTo>
                    <a:lnTo>
                      <a:pt x="160" y="236"/>
                    </a:lnTo>
                    <a:lnTo>
                      <a:pt x="162" y="236"/>
                    </a:lnTo>
                    <a:lnTo>
                      <a:pt x="166" y="234"/>
                    </a:lnTo>
                    <a:lnTo>
                      <a:pt x="168" y="228"/>
                    </a:lnTo>
                    <a:lnTo>
                      <a:pt x="170" y="228"/>
                    </a:lnTo>
                    <a:lnTo>
                      <a:pt x="170" y="232"/>
                    </a:lnTo>
                    <a:lnTo>
                      <a:pt x="178" y="232"/>
                    </a:lnTo>
                    <a:lnTo>
                      <a:pt x="186" y="234"/>
                    </a:lnTo>
                    <a:lnTo>
                      <a:pt x="186" y="236"/>
                    </a:lnTo>
                    <a:lnTo>
                      <a:pt x="194" y="236"/>
                    </a:lnTo>
                    <a:lnTo>
                      <a:pt x="196" y="234"/>
                    </a:lnTo>
                    <a:lnTo>
                      <a:pt x="198" y="234"/>
                    </a:lnTo>
                    <a:lnTo>
                      <a:pt x="194" y="238"/>
                    </a:lnTo>
                    <a:lnTo>
                      <a:pt x="192" y="238"/>
                    </a:lnTo>
                    <a:lnTo>
                      <a:pt x="196" y="240"/>
                    </a:lnTo>
                    <a:lnTo>
                      <a:pt x="200" y="240"/>
                    </a:lnTo>
                    <a:lnTo>
                      <a:pt x="200" y="242"/>
                    </a:lnTo>
                    <a:lnTo>
                      <a:pt x="196" y="242"/>
                    </a:lnTo>
                    <a:lnTo>
                      <a:pt x="200" y="244"/>
                    </a:lnTo>
                    <a:lnTo>
                      <a:pt x="200" y="246"/>
                    </a:lnTo>
                    <a:lnTo>
                      <a:pt x="200" y="246"/>
                    </a:lnTo>
                    <a:lnTo>
                      <a:pt x="196" y="246"/>
                    </a:lnTo>
                    <a:lnTo>
                      <a:pt x="196" y="248"/>
                    </a:lnTo>
                    <a:lnTo>
                      <a:pt x="200" y="248"/>
                    </a:lnTo>
                    <a:lnTo>
                      <a:pt x="200" y="250"/>
                    </a:lnTo>
                    <a:lnTo>
                      <a:pt x="198" y="252"/>
                    </a:lnTo>
                    <a:lnTo>
                      <a:pt x="196" y="252"/>
                    </a:lnTo>
                    <a:lnTo>
                      <a:pt x="200" y="256"/>
                    </a:lnTo>
                    <a:lnTo>
                      <a:pt x="200" y="258"/>
                    </a:lnTo>
                    <a:lnTo>
                      <a:pt x="194" y="256"/>
                    </a:lnTo>
                    <a:lnTo>
                      <a:pt x="188" y="252"/>
                    </a:lnTo>
                    <a:lnTo>
                      <a:pt x="184" y="250"/>
                    </a:lnTo>
                    <a:lnTo>
                      <a:pt x="174" y="248"/>
                    </a:lnTo>
                    <a:lnTo>
                      <a:pt x="164" y="248"/>
                    </a:lnTo>
                    <a:lnTo>
                      <a:pt x="162" y="250"/>
                    </a:lnTo>
                    <a:lnTo>
                      <a:pt x="164" y="254"/>
                    </a:lnTo>
                    <a:lnTo>
                      <a:pt x="168" y="254"/>
                    </a:lnTo>
                    <a:lnTo>
                      <a:pt x="172" y="256"/>
                    </a:lnTo>
                    <a:lnTo>
                      <a:pt x="172" y="258"/>
                    </a:lnTo>
                    <a:lnTo>
                      <a:pt x="170" y="260"/>
                    </a:lnTo>
                    <a:lnTo>
                      <a:pt x="166" y="258"/>
                    </a:lnTo>
                    <a:lnTo>
                      <a:pt x="162" y="258"/>
                    </a:lnTo>
                    <a:lnTo>
                      <a:pt x="160" y="260"/>
                    </a:lnTo>
                    <a:lnTo>
                      <a:pt x="162" y="266"/>
                    </a:lnTo>
                    <a:lnTo>
                      <a:pt x="158" y="268"/>
                    </a:lnTo>
                    <a:lnTo>
                      <a:pt x="158" y="272"/>
                    </a:lnTo>
                    <a:lnTo>
                      <a:pt x="156" y="272"/>
                    </a:lnTo>
                    <a:lnTo>
                      <a:pt x="156" y="274"/>
                    </a:lnTo>
                    <a:lnTo>
                      <a:pt x="158" y="276"/>
                    </a:lnTo>
                    <a:lnTo>
                      <a:pt x="162" y="276"/>
                    </a:lnTo>
                    <a:lnTo>
                      <a:pt x="164" y="276"/>
                    </a:lnTo>
                    <a:lnTo>
                      <a:pt x="166" y="276"/>
                    </a:lnTo>
                    <a:lnTo>
                      <a:pt x="168" y="276"/>
                    </a:lnTo>
                    <a:lnTo>
                      <a:pt x="170" y="276"/>
                    </a:lnTo>
                    <a:lnTo>
                      <a:pt x="170" y="278"/>
                    </a:lnTo>
                    <a:lnTo>
                      <a:pt x="162" y="278"/>
                    </a:lnTo>
                    <a:lnTo>
                      <a:pt x="162" y="278"/>
                    </a:lnTo>
                    <a:lnTo>
                      <a:pt x="166" y="282"/>
                    </a:lnTo>
                    <a:lnTo>
                      <a:pt x="172" y="280"/>
                    </a:lnTo>
                    <a:lnTo>
                      <a:pt x="174" y="280"/>
                    </a:lnTo>
                    <a:lnTo>
                      <a:pt x="180" y="278"/>
                    </a:lnTo>
                    <a:lnTo>
                      <a:pt x="188" y="276"/>
                    </a:lnTo>
                    <a:lnTo>
                      <a:pt x="188" y="272"/>
                    </a:lnTo>
                    <a:lnTo>
                      <a:pt x="182" y="268"/>
                    </a:lnTo>
                    <a:lnTo>
                      <a:pt x="180" y="262"/>
                    </a:lnTo>
                    <a:lnTo>
                      <a:pt x="174" y="260"/>
                    </a:lnTo>
                    <a:lnTo>
                      <a:pt x="174" y="258"/>
                    </a:lnTo>
                    <a:lnTo>
                      <a:pt x="172" y="256"/>
                    </a:lnTo>
                    <a:lnTo>
                      <a:pt x="178" y="258"/>
                    </a:lnTo>
                    <a:lnTo>
                      <a:pt x="182" y="260"/>
                    </a:lnTo>
                    <a:lnTo>
                      <a:pt x="186" y="264"/>
                    </a:lnTo>
                    <a:lnTo>
                      <a:pt x="188" y="264"/>
                    </a:lnTo>
                    <a:lnTo>
                      <a:pt x="192" y="264"/>
                    </a:lnTo>
                    <a:lnTo>
                      <a:pt x="194" y="262"/>
                    </a:lnTo>
                    <a:lnTo>
                      <a:pt x="196" y="264"/>
                    </a:lnTo>
                    <a:lnTo>
                      <a:pt x="200" y="264"/>
                    </a:lnTo>
                    <a:lnTo>
                      <a:pt x="200" y="266"/>
                    </a:lnTo>
                    <a:lnTo>
                      <a:pt x="200" y="268"/>
                    </a:lnTo>
                    <a:lnTo>
                      <a:pt x="200" y="270"/>
                    </a:lnTo>
                    <a:lnTo>
                      <a:pt x="200" y="270"/>
                    </a:lnTo>
                    <a:lnTo>
                      <a:pt x="200" y="274"/>
                    </a:lnTo>
                    <a:lnTo>
                      <a:pt x="200" y="274"/>
                    </a:lnTo>
                    <a:lnTo>
                      <a:pt x="200" y="276"/>
                    </a:lnTo>
                    <a:lnTo>
                      <a:pt x="200" y="278"/>
                    </a:lnTo>
                    <a:lnTo>
                      <a:pt x="202" y="278"/>
                    </a:lnTo>
                    <a:lnTo>
                      <a:pt x="202" y="280"/>
                    </a:lnTo>
                    <a:lnTo>
                      <a:pt x="204" y="280"/>
                    </a:lnTo>
                    <a:lnTo>
                      <a:pt x="204" y="282"/>
                    </a:lnTo>
                    <a:lnTo>
                      <a:pt x="202" y="284"/>
                    </a:lnTo>
                    <a:lnTo>
                      <a:pt x="202" y="286"/>
                    </a:lnTo>
                    <a:lnTo>
                      <a:pt x="200" y="284"/>
                    </a:lnTo>
                    <a:lnTo>
                      <a:pt x="200" y="282"/>
                    </a:lnTo>
                    <a:lnTo>
                      <a:pt x="200" y="280"/>
                    </a:lnTo>
                    <a:lnTo>
                      <a:pt x="198" y="280"/>
                    </a:lnTo>
                    <a:lnTo>
                      <a:pt x="198" y="288"/>
                    </a:lnTo>
                    <a:lnTo>
                      <a:pt x="200" y="290"/>
                    </a:lnTo>
                    <a:lnTo>
                      <a:pt x="200" y="294"/>
                    </a:lnTo>
                    <a:lnTo>
                      <a:pt x="196" y="294"/>
                    </a:lnTo>
                    <a:lnTo>
                      <a:pt x="190" y="294"/>
                    </a:lnTo>
                    <a:lnTo>
                      <a:pt x="188" y="294"/>
                    </a:lnTo>
                    <a:lnTo>
                      <a:pt x="188" y="296"/>
                    </a:lnTo>
                    <a:lnTo>
                      <a:pt x="184" y="298"/>
                    </a:lnTo>
                    <a:lnTo>
                      <a:pt x="180" y="298"/>
                    </a:lnTo>
                    <a:lnTo>
                      <a:pt x="180" y="300"/>
                    </a:lnTo>
                    <a:lnTo>
                      <a:pt x="192" y="300"/>
                    </a:lnTo>
                    <a:lnTo>
                      <a:pt x="196" y="298"/>
                    </a:lnTo>
                    <a:lnTo>
                      <a:pt x="200" y="296"/>
                    </a:lnTo>
                    <a:lnTo>
                      <a:pt x="200" y="302"/>
                    </a:lnTo>
                    <a:lnTo>
                      <a:pt x="196" y="302"/>
                    </a:lnTo>
                    <a:lnTo>
                      <a:pt x="192" y="302"/>
                    </a:lnTo>
                    <a:lnTo>
                      <a:pt x="188" y="302"/>
                    </a:lnTo>
                    <a:lnTo>
                      <a:pt x="186" y="300"/>
                    </a:lnTo>
                    <a:lnTo>
                      <a:pt x="182" y="300"/>
                    </a:lnTo>
                    <a:lnTo>
                      <a:pt x="182" y="302"/>
                    </a:lnTo>
                    <a:lnTo>
                      <a:pt x="186" y="304"/>
                    </a:lnTo>
                    <a:lnTo>
                      <a:pt x="188" y="306"/>
                    </a:lnTo>
                    <a:lnTo>
                      <a:pt x="186" y="306"/>
                    </a:lnTo>
                    <a:lnTo>
                      <a:pt x="182" y="304"/>
                    </a:lnTo>
                    <a:lnTo>
                      <a:pt x="180" y="304"/>
                    </a:lnTo>
                    <a:lnTo>
                      <a:pt x="178" y="304"/>
                    </a:lnTo>
                    <a:lnTo>
                      <a:pt x="176" y="308"/>
                    </a:lnTo>
                    <a:lnTo>
                      <a:pt x="174" y="310"/>
                    </a:lnTo>
                    <a:lnTo>
                      <a:pt x="174" y="314"/>
                    </a:lnTo>
                    <a:lnTo>
                      <a:pt x="180" y="310"/>
                    </a:lnTo>
                    <a:lnTo>
                      <a:pt x="180" y="308"/>
                    </a:lnTo>
                    <a:lnTo>
                      <a:pt x="184" y="310"/>
                    </a:lnTo>
                    <a:lnTo>
                      <a:pt x="192" y="306"/>
                    </a:lnTo>
                    <a:lnTo>
                      <a:pt x="190" y="308"/>
                    </a:lnTo>
                    <a:lnTo>
                      <a:pt x="194" y="310"/>
                    </a:lnTo>
                    <a:lnTo>
                      <a:pt x="194" y="312"/>
                    </a:lnTo>
                    <a:lnTo>
                      <a:pt x="200" y="310"/>
                    </a:lnTo>
                    <a:lnTo>
                      <a:pt x="198" y="306"/>
                    </a:lnTo>
                    <a:lnTo>
                      <a:pt x="202" y="306"/>
                    </a:lnTo>
                    <a:lnTo>
                      <a:pt x="200" y="308"/>
                    </a:lnTo>
                    <a:lnTo>
                      <a:pt x="200" y="310"/>
                    </a:lnTo>
                    <a:lnTo>
                      <a:pt x="200" y="308"/>
                    </a:lnTo>
                    <a:lnTo>
                      <a:pt x="200" y="310"/>
                    </a:lnTo>
                    <a:lnTo>
                      <a:pt x="200" y="314"/>
                    </a:lnTo>
                    <a:lnTo>
                      <a:pt x="194" y="314"/>
                    </a:lnTo>
                    <a:lnTo>
                      <a:pt x="188" y="312"/>
                    </a:lnTo>
                    <a:lnTo>
                      <a:pt x="184" y="310"/>
                    </a:lnTo>
                    <a:lnTo>
                      <a:pt x="180" y="310"/>
                    </a:lnTo>
                    <a:lnTo>
                      <a:pt x="178" y="314"/>
                    </a:lnTo>
                    <a:lnTo>
                      <a:pt x="178" y="316"/>
                    </a:lnTo>
                    <a:lnTo>
                      <a:pt x="174" y="316"/>
                    </a:lnTo>
                    <a:lnTo>
                      <a:pt x="172" y="318"/>
                    </a:lnTo>
                    <a:lnTo>
                      <a:pt x="174" y="320"/>
                    </a:lnTo>
                    <a:lnTo>
                      <a:pt x="174" y="322"/>
                    </a:lnTo>
                    <a:lnTo>
                      <a:pt x="176" y="324"/>
                    </a:lnTo>
                    <a:lnTo>
                      <a:pt x="178" y="324"/>
                    </a:lnTo>
                    <a:lnTo>
                      <a:pt x="178" y="326"/>
                    </a:lnTo>
                    <a:lnTo>
                      <a:pt x="180" y="326"/>
                    </a:lnTo>
                    <a:lnTo>
                      <a:pt x="178" y="330"/>
                    </a:lnTo>
                    <a:lnTo>
                      <a:pt x="176" y="330"/>
                    </a:lnTo>
                    <a:lnTo>
                      <a:pt x="176" y="332"/>
                    </a:lnTo>
                    <a:lnTo>
                      <a:pt x="176" y="332"/>
                    </a:lnTo>
                    <a:lnTo>
                      <a:pt x="178" y="332"/>
                    </a:lnTo>
                    <a:lnTo>
                      <a:pt x="178" y="332"/>
                    </a:lnTo>
                    <a:lnTo>
                      <a:pt x="174" y="332"/>
                    </a:lnTo>
                    <a:lnTo>
                      <a:pt x="174" y="334"/>
                    </a:lnTo>
                    <a:lnTo>
                      <a:pt x="176" y="338"/>
                    </a:lnTo>
                    <a:lnTo>
                      <a:pt x="182" y="336"/>
                    </a:lnTo>
                    <a:lnTo>
                      <a:pt x="178" y="338"/>
                    </a:lnTo>
                    <a:lnTo>
                      <a:pt x="178" y="342"/>
                    </a:lnTo>
                    <a:lnTo>
                      <a:pt x="182" y="340"/>
                    </a:lnTo>
                    <a:lnTo>
                      <a:pt x="184" y="342"/>
                    </a:lnTo>
                    <a:lnTo>
                      <a:pt x="186" y="342"/>
                    </a:lnTo>
                    <a:lnTo>
                      <a:pt x="186" y="340"/>
                    </a:lnTo>
                    <a:lnTo>
                      <a:pt x="190" y="338"/>
                    </a:lnTo>
                    <a:lnTo>
                      <a:pt x="184" y="344"/>
                    </a:lnTo>
                    <a:lnTo>
                      <a:pt x="188" y="346"/>
                    </a:lnTo>
                    <a:lnTo>
                      <a:pt x="188" y="348"/>
                    </a:lnTo>
                    <a:lnTo>
                      <a:pt x="186" y="348"/>
                    </a:lnTo>
                    <a:lnTo>
                      <a:pt x="186" y="352"/>
                    </a:lnTo>
                    <a:lnTo>
                      <a:pt x="190" y="352"/>
                    </a:lnTo>
                    <a:lnTo>
                      <a:pt x="190" y="354"/>
                    </a:lnTo>
                    <a:lnTo>
                      <a:pt x="192" y="354"/>
                    </a:lnTo>
                    <a:lnTo>
                      <a:pt x="190" y="358"/>
                    </a:lnTo>
                    <a:lnTo>
                      <a:pt x="190" y="362"/>
                    </a:lnTo>
                    <a:lnTo>
                      <a:pt x="196" y="356"/>
                    </a:lnTo>
                    <a:lnTo>
                      <a:pt x="198" y="356"/>
                    </a:lnTo>
                    <a:lnTo>
                      <a:pt x="200" y="356"/>
                    </a:lnTo>
                    <a:lnTo>
                      <a:pt x="200" y="354"/>
                    </a:lnTo>
                    <a:lnTo>
                      <a:pt x="200" y="354"/>
                    </a:lnTo>
                    <a:lnTo>
                      <a:pt x="202" y="354"/>
                    </a:lnTo>
                    <a:lnTo>
                      <a:pt x="202" y="358"/>
                    </a:lnTo>
                    <a:lnTo>
                      <a:pt x="202" y="360"/>
                    </a:lnTo>
                    <a:lnTo>
                      <a:pt x="200" y="360"/>
                    </a:lnTo>
                    <a:lnTo>
                      <a:pt x="200" y="358"/>
                    </a:lnTo>
                    <a:lnTo>
                      <a:pt x="200" y="360"/>
                    </a:lnTo>
                    <a:lnTo>
                      <a:pt x="200" y="362"/>
                    </a:lnTo>
                    <a:lnTo>
                      <a:pt x="192" y="364"/>
                    </a:lnTo>
                    <a:lnTo>
                      <a:pt x="192" y="366"/>
                    </a:lnTo>
                    <a:lnTo>
                      <a:pt x="198" y="366"/>
                    </a:lnTo>
                    <a:lnTo>
                      <a:pt x="198" y="368"/>
                    </a:lnTo>
                    <a:lnTo>
                      <a:pt x="194" y="368"/>
                    </a:lnTo>
                    <a:lnTo>
                      <a:pt x="192" y="368"/>
                    </a:lnTo>
                    <a:lnTo>
                      <a:pt x="194" y="370"/>
                    </a:lnTo>
                    <a:lnTo>
                      <a:pt x="196" y="370"/>
                    </a:lnTo>
                    <a:lnTo>
                      <a:pt x="194" y="374"/>
                    </a:lnTo>
                    <a:lnTo>
                      <a:pt x="196" y="376"/>
                    </a:lnTo>
                    <a:lnTo>
                      <a:pt x="200" y="374"/>
                    </a:lnTo>
                    <a:lnTo>
                      <a:pt x="200" y="378"/>
                    </a:lnTo>
                    <a:lnTo>
                      <a:pt x="198" y="378"/>
                    </a:lnTo>
                    <a:lnTo>
                      <a:pt x="198" y="380"/>
                    </a:lnTo>
                    <a:lnTo>
                      <a:pt x="200" y="380"/>
                    </a:lnTo>
                    <a:lnTo>
                      <a:pt x="200" y="382"/>
                    </a:lnTo>
                    <a:lnTo>
                      <a:pt x="200" y="386"/>
                    </a:lnTo>
                    <a:lnTo>
                      <a:pt x="200" y="384"/>
                    </a:lnTo>
                    <a:lnTo>
                      <a:pt x="200" y="382"/>
                    </a:lnTo>
                    <a:lnTo>
                      <a:pt x="204" y="382"/>
                    </a:lnTo>
                    <a:lnTo>
                      <a:pt x="204" y="388"/>
                    </a:lnTo>
                    <a:lnTo>
                      <a:pt x="204" y="388"/>
                    </a:lnTo>
                    <a:lnTo>
                      <a:pt x="208" y="388"/>
                    </a:lnTo>
                    <a:lnTo>
                      <a:pt x="208" y="390"/>
                    </a:lnTo>
                    <a:lnTo>
                      <a:pt x="208" y="392"/>
                    </a:lnTo>
                    <a:lnTo>
                      <a:pt x="210" y="392"/>
                    </a:lnTo>
                    <a:lnTo>
                      <a:pt x="214" y="390"/>
                    </a:lnTo>
                    <a:lnTo>
                      <a:pt x="216" y="390"/>
                    </a:lnTo>
                    <a:lnTo>
                      <a:pt x="216" y="392"/>
                    </a:lnTo>
                    <a:lnTo>
                      <a:pt x="216" y="394"/>
                    </a:lnTo>
                    <a:lnTo>
                      <a:pt x="216" y="396"/>
                    </a:lnTo>
                    <a:lnTo>
                      <a:pt x="220" y="394"/>
                    </a:lnTo>
                    <a:lnTo>
                      <a:pt x="220" y="396"/>
                    </a:lnTo>
                    <a:lnTo>
                      <a:pt x="218" y="398"/>
                    </a:lnTo>
                    <a:lnTo>
                      <a:pt x="220" y="398"/>
                    </a:lnTo>
                    <a:lnTo>
                      <a:pt x="222" y="398"/>
                    </a:lnTo>
                    <a:lnTo>
                      <a:pt x="222" y="402"/>
                    </a:lnTo>
                    <a:lnTo>
                      <a:pt x="220" y="404"/>
                    </a:lnTo>
                    <a:lnTo>
                      <a:pt x="222" y="406"/>
                    </a:lnTo>
                    <a:lnTo>
                      <a:pt x="224" y="402"/>
                    </a:lnTo>
                    <a:lnTo>
                      <a:pt x="226" y="404"/>
                    </a:lnTo>
                    <a:lnTo>
                      <a:pt x="224" y="404"/>
                    </a:lnTo>
                    <a:lnTo>
                      <a:pt x="226" y="406"/>
                    </a:lnTo>
                    <a:lnTo>
                      <a:pt x="224" y="406"/>
                    </a:lnTo>
                    <a:lnTo>
                      <a:pt x="222" y="406"/>
                    </a:lnTo>
                    <a:lnTo>
                      <a:pt x="222" y="408"/>
                    </a:lnTo>
                    <a:lnTo>
                      <a:pt x="226" y="408"/>
                    </a:lnTo>
                    <a:lnTo>
                      <a:pt x="224" y="410"/>
                    </a:lnTo>
                    <a:lnTo>
                      <a:pt x="224" y="412"/>
                    </a:lnTo>
                    <a:lnTo>
                      <a:pt x="228" y="412"/>
                    </a:lnTo>
                    <a:lnTo>
                      <a:pt x="228" y="416"/>
                    </a:lnTo>
                    <a:lnTo>
                      <a:pt x="230" y="416"/>
                    </a:lnTo>
                    <a:lnTo>
                      <a:pt x="232" y="416"/>
                    </a:lnTo>
                    <a:lnTo>
                      <a:pt x="232" y="414"/>
                    </a:lnTo>
                    <a:lnTo>
                      <a:pt x="232" y="412"/>
                    </a:lnTo>
                    <a:lnTo>
                      <a:pt x="234" y="414"/>
                    </a:lnTo>
                    <a:lnTo>
                      <a:pt x="240" y="412"/>
                    </a:lnTo>
                    <a:lnTo>
                      <a:pt x="244" y="406"/>
                    </a:lnTo>
                    <a:lnTo>
                      <a:pt x="246" y="406"/>
                    </a:lnTo>
                    <a:lnTo>
                      <a:pt x="244" y="412"/>
                    </a:lnTo>
                    <a:lnTo>
                      <a:pt x="246" y="412"/>
                    </a:lnTo>
                    <a:lnTo>
                      <a:pt x="246" y="414"/>
                    </a:lnTo>
                    <a:lnTo>
                      <a:pt x="244" y="414"/>
                    </a:lnTo>
                    <a:lnTo>
                      <a:pt x="248" y="414"/>
                    </a:lnTo>
                    <a:lnTo>
                      <a:pt x="250" y="414"/>
                    </a:lnTo>
                    <a:lnTo>
                      <a:pt x="248" y="418"/>
                    </a:lnTo>
                    <a:lnTo>
                      <a:pt x="250" y="418"/>
                    </a:lnTo>
                    <a:lnTo>
                      <a:pt x="252" y="418"/>
                    </a:lnTo>
                    <a:lnTo>
                      <a:pt x="254" y="414"/>
                    </a:lnTo>
                    <a:lnTo>
                      <a:pt x="256" y="416"/>
                    </a:lnTo>
                    <a:lnTo>
                      <a:pt x="258" y="414"/>
                    </a:lnTo>
                    <a:lnTo>
                      <a:pt x="258" y="418"/>
                    </a:lnTo>
                    <a:lnTo>
                      <a:pt x="256" y="420"/>
                    </a:lnTo>
                    <a:lnTo>
                      <a:pt x="256" y="422"/>
                    </a:lnTo>
                    <a:lnTo>
                      <a:pt x="260" y="418"/>
                    </a:lnTo>
                    <a:lnTo>
                      <a:pt x="260" y="422"/>
                    </a:lnTo>
                    <a:lnTo>
                      <a:pt x="260" y="424"/>
                    </a:lnTo>
                    <a:lnTo>
                      <a:pt x="260" y="424"/>
                    </a:lnTo>
                    <a:lnTo>
                      <a:pt x="262" y="420"/>
                    </a:lnTo>
                    <a:lnTo>
                      <a:pt x="264" y="422"/>
                    </a:lnTo>
                    <a:lnTo>
                      <a:pt x="262" y="422"/>
                    </a:lnTo>
                    <a:lnTo>
                      <a:pt x="262" y="426"/>
                    </a:lnTo>
                    <a:lnTo>
                      <a:pt x="268" y="428"/>
                    </a:lnTo>
                    <a:lnTo>
                      <a:pt x="270" y="426"/>
                    </a:lnTo>
                    <a:lnTo>
                      <a:pt x="272" y="426"/>
                    </a:lnTo>
                    <a:lnTo>
                      <a:pt x="270" y="426"/>
                    </a:lnTo>
                    <a:lnTo>
                      <a:pt x="274" y="424"/>
                    </a:lnTo>
                    <a:lnTo>
                      <a:pt x="272" y="422"/>
                    </a:lnTo>
                    <a:lnTo>
                      <a:pt x="270" y="422"/>
                    </a:lnTo>
                    <a:lnTo>
                      <a:pt x="270" y="420"/>
                    </a:lnTo>
                    <a:lnTo>
                      <a:pt x="272" y="418"/>
                    </a:lnTo>
                    <a:lnTo>
                      <a:pt x="270" y="416"/>
                    </a:lnTo>
                    <a:lnTo>
                      <a:pt x="266" y="416"/>
                    </a:lnTo>
                    <a:lnTo>
                      <a:pt x="266" y="414"/>
                    </a:lnTo>
                    <a:lnTo>
                      <a:pt x="270" y="414"/>
                    </a:lnTo>
                    <a:lnTo>
                      <a:pt x="272" y="412"/>
                    </a:lnTo>
                    <a:lnTo>
                      <a:pt x="270" y="412"/>
                    </a:lnTo>
                    <a:lnTo>
                      <a:pt x="272" y="412"/>
                    </a:lnTo>
                    <a:lnTo>
                      <a:pt x="272" y="408"/>
                    </a:lnTo>
                    <a:lnTo>
                      <a:pt x="272" y="406"/>
                    </a:lnTo>
                    <a:lnTo>
                      <a:pt x="276" y="404"/>
                    </a:lnTo>
                    <a:lnTo>
                      <a:pt x="276" y="402"/>
                    </a:lnTo>
                    <a:lnTo>
                      <a:pt x="274" y="400"/>
                    </a:lnTo>
                    <a:lnTo>
                      <a:pt x="278" y="398"/>
                    </a:lnTo>
                    <a:lnTo>
                      <a:pt x="280" y="394"/>
                    </a:lnTo>
                    <a:lnTo>
                      <a:pt x="278" y="392"/>
                    </a:lnTo>
                    <a:lnTo>
                      <a:pt x="278" y="388"/>
                    </a:lnTo>
                    <a:lnTo>
                      <a:pt x="280" y="388"/>
                    </a:lnTo>
                    <a:lnTo>
                      <a:pt x="280" y="388"/>
                    </a:lnTo>
                    <a:lnTo>
                      <a:pt x="282" y="388"/>
                    </a:lnTo>
                    <a:lnTo>
                      <a:pt x="282" y="388"/>
                    </a:lnTo>
                    <a:lnTo>
                      <a:pt x="282" y="386"/>
                    </a:lnTo>
                    <a:lnTo>
                      <a:pt x="282" y="384"/>
                    </a:lnTo>
                    <a:lnTo>
                      <a:pt x="280" y="384"/>
                    </a:lnTo>
                    <a:lnTo>
                      <a:pt x="280" y="382"/>
                    </a:lnTo>
                    <a:lnTo>
                      <a:pt x="282" y="382"/>
                    </a:lnTo>
                    <a:lnTo>
                      <a:pt x="282" y="380"/>
                    </a:lnTo>
                    <a:lnTo>
                      <a:pt x="288" y="382"/>
                    </a:lnTo>
                    <a:lnTo>
                      <a:pt x="286" y="378"/>
                    </a:lnTo>
                    <a:lnTo>
                      <a:pt x="288" y="378"/>
                    </a:lnTo>
                    <a:lnTo>
                      <a:pt x="288" y="374"/>
                    </a:lnTo>
                    <a:lnTo>
                      <a:pt x="286" y="370"/>
                    </a:lnTo>
                    <a:lnTo>
                      <a:pt x="288" y="370"/>
                    </a:lnTo>
                    <a:lnTo>
                      <a:pt x="290" y="374"/>
                    </a:lnTo>
                    <a:lnTo>
                      <a:pt x="292" y="374"/>
                    </a:lnTo>
                    <a:lnTo>
                      <a:pt x="292" y="372"/>
                    </a:lnTo>
                    <a:lnTo>
                      <a:pt x="292" y="370"/>
                    </a:lnTo>
                    <a:lnTo>
                      <a:pt x="292" y="366"/>
                    </a:lnTo>
                    <a:lnTo>
                      <a:pt x="294" y="362"/>
                    </a:lnTo>
                    <a:lnTo>
                      <a:pt x="286" y="360"/>
                    </a:lnTo>
                    <a:lnTo>
                      <a:pt x="286" y="358"/>
                    </a:lnTo>
                    <a:lnTo>
                      <a:pt x="290" y="360"/>
                    </a:lnTo>
                    <a:lnTo>
                      <a:pt x="296" y="360"/>
                    </a:lnTo>
                    <a:lnTo>
                      <a:pt x="296" y="352"/>
                    </a:lnTo>
                    <a:lnTo>
                      <a:pt x="294" y="348"/>
                    </a:lnTo>
                    <a:lnTo>
                      <a:pt x="292" y="346"/>
                    </a:lnTo>
                    <a:lnTo>
                      <a:pt x="292" y="344"/>
                    </a:lnTo>
                    <a:lnTo>
                      <a:pt x="294" y="344"/>
                    </a:lnTo>
                    <a:lnTo>
                      <a:pt x="296" y="344"/>
                    </a:lnTo>
                    <a:lnTo>
                      <a:pt x="298" y="344"/>
                    </a:lnTo>
                    <a:lnTo>
                      <a:pt x="300" y="342"/>
                    </a:lnTo>
                    <a:lnTo>
                      <a:pt x="300" y="338"/>
                    </a:lnTo>
                    <a:lnTo>
                      <a:pt x="304" y="338"/>
                    </a:lnTo>
                    <a:lnTo>
                      <a:pt x="306" y="338"/>
                    </a:lnTo>
                    <a:lnTo>
                      <a:pt x="308" y="338"/>
                    </a:lnTo>
                    <a:lnTo>
                      <a:pt x="306" y="338"/>
                    </a:lnTo>
                    <a:lnTo>
                      <a:pt x="308" y="336"/>
                    </a:lnTo>
                    <a:lnTo>
                      <a:pt x="312" y="336"/>
                    </a:lnTo>
                    <a:lnTo>
                      <a:pt x="316" y="338"/>
                    </a:lnTo>
                    <a:lnTo>
                      <a:pt x="318" y="336"/>
                    </a:lnTo>
                    <a:lnTo>
                      <a:pt x="320" y="334"/>
                    </a:lnTo>
                    <a:lnTo>
                      <a:pt x="322" y="332"/>
                    </a:lnTo>
                    <a:lnTo>
                      <a:pt x="324" y="338"/>
                    </a:lnTo>
                    <a:lnTo>
                      <a:pt x="324" y="340"/>
                    </a:lnTo>
                    <a:lnTo>
                      <a:pt x="326" y="340"/>
                    </a:lnTo>
                    <a:lnTo>
                      <a:pt x="324" y="338"/>
                    </a:lnTo>
                    <a:lnTo>
                      <a:pt x="326" y="338"/>
                    </a:lnTo>
                    <a:lnTo>
                      <a:pt x="328" y="336"/>
                    </a:lnTo>
                    <a:lnTo>
                      <a:pt x="330" y="332"/>
                    </a:lnTo>
                    <a:lnTo>
                      <a:pt x="334" y="332"/>
                    </a:lnTo>
                    <a:lnTo>
                      <a:pt x="336" y="334"/>
                    </a:lnTo>
                    <a:lnTo>
                      <a:pt x="338" y="332"/>
                    </a:lnTo>
                    <a:lnTo>
                      <a:pt x="338" y="330"/>
                    </a:lnTo>
                    <a:lnTo>
                      <a:pt x="342" y="328"/>
                    </a:lnTo>
                    <a:lnTo>
                      <a:pt x="344" y="326"/>
                    </a:lnTo>
                    <a:lnTo>
                      <a:pt x="344" y="322"/>
                    </a:lnTo>
                    <a:lnTo>
                      <a:pt x="348" y="322"/>
                    </a:lnTo>
                    <a:lnTo>
                      <a:pt x="352" y="318"/>
                    </a:lnTo>
                    <a:lnTo>
                      <a:pt x="358" y="316"/>
                    </a:lnTo>
                    <a:lnTo>
                      <a:pt x="362" y="312"/>
                    </a:lnTo>
                    <a:lnTo>
                      <a:pt x="362" y="308"/>
                    </a:lnTo>
                    <a:lnTo>
                      <a:pt x="366" y="306"/>
                    </a:lnTo>
                    <a:lnTo>
                      <a:pt x="368" y="308"/>
                    </a:lnTo>
                    <a:lnTo>
                      <a:pt x="370" y="306"/>
                    </a:lnTo>
                    <a:lnTo>
                      <a:pt x="370" y="304"/>
                    </a:lnTo>
                    <a:lnTo>
                      <a:pt x="370" y="300"/>
                    </a:lnTo>
                    <a:lnTo>
                      <a:pt x="368" y="298"/>
                    </a:lnTo>
                    <a:lnTo>
                      <a:pt x="366" y="294"/>
                    </a:lnTo>
                    <a:lnTo>
                      <a:pt x="366" y="288"/>
                    </a:lnTo>
                    <a:lnTo>
                      <a:pt x="368" y="294"/>
                    </a:lnTo>
                    <a:lnTo>
                      <a:pt x="372" y="296"/>
                    </a:lnTo>
                    <a:lnTo>
                      <a:pt x="378" y="298"/>
                    </a:lnTo>
                    <a:lnTo>
                      <a:pt x="384" y="298"/>
                    </a:lnTo>
                    <a:lnTo>
                      <a:pt x="384" y="296"/>
                    </a:lnTo>
                    <a:lnTo>
                      <a:pt x="386" y="296"/>
                    </a:lnTo>
                    <a:lnTo>
                      <a:pt x="386" y="294"/>
                    </a:lnTo>
                    <a:lnTo>
                      <a:pt x="386" y="292"/>
                    </a:lnTo>
                    <a:lnTo>
                      <a:pt x="388" y="292"/>
                    </a:lnTo>
                    <a:lnTo>
                      <a:pt x="388" y="296"/>
                    </a:lnTo>
                    <a:lnTo>
                      <a:pt x="392" y="294"/>
                    </a:lnTo>
                    <a:lnTo>
                      <a:pt x="394" y="294"/>
                    </a:lnTo>
                    <a:lnTo>
                      <a:pt x="396" y="292"/>
                    </a:lnTo>
                    <a:lnTo>
                      <a:pt x="398" y="292"/>
                    </a:lnTo>
                    <a:lnTo>
                      <a:pt x="398" y="294"/>
                    </a:lnTo>
                    <a:lnTo>
                      <a:pt x="402" y="292"/>
                    </a:lnTo>
                    <a:lnTo>
                      <a:pt x="406" y="292"/>
                    </a:lnTo>
                    <a:lnTo>
                      <a:pt x="406" y="290"/>
                    </a:lnTo>
                    <a:lnTo>
                      <a:pt x="408" y="290"/>
                    </a:lnTo>
                    <a:lnTo>
                      <a:pt x="410" y="292"/>
                    </a:lnTo>
                    <a:lnTo>
                      <a:pt x="414" y="288"/>
                    </a:lnTo>
                    <a:lnTo>
                      <a:pt x="416" y="288"/>
                    </a:lnTo>
                    <a:lnTo>
                      <a:pt x="424" y="286"/>
                    </a:lnTo>
                    <a:lnTo>
                      <a:pt x="424" y="280"/>
                    </a:lnTo>
                    <a:lnTo>
                      <a:pt x="426" y="280"/>
                    </a:lnTo>
                    <a:lnTo>
                      <a:pt x="428" y="282"/>
                    </a:lnTo>
                    <a:lnTo>
                      <a:pt x="430" y="282"/>
                    </a:lnTo>
                    <a:lnTo>
                      <a:pt x="434" y="278"/>
                    </a:lnTo>
                    <a:lnTo>
                      <a:pt x="438" y="278"/>
                    </a:lnTo>
                    <a:lnTo>
                      <a:pt x="438" y="278"/>
                    </a:lnTo>
                    <a:lnTo>
                      <a:pt x="440" y="278"/>
                    </a:lnTo>
                    <a:lnTo>
                      <a:pt x="442" y="278"/>
                    </a:lnTo>
                    <a:lnTo>
                      <a:pt x="442" y="276"/>
                    </a:lnTo>
                    <a:lnTo>
                      <a:pt x="444" y="276"/>
                    </a:lnTo>
                    <a:lnTo>
                      <a:pt x="446" y="276"/>
                    </a:lnTo>
                    <a:lnTo>
                      <a:pt x="450" y="274"/>
                    </a:lnTo>
                    <a:lnTo>
                      <a:pt x="454" y="274"/>
                    </a:lnTo>
                    <a:lnTo>
                      <a:pt x="454" y="270"/>
                    </a:lnTo>
                    <a:lnTo>
                      <a:pt x="458" y="270"/>
                    </a:lnTo>
                    <a:lnTo>
                      <a:pt x="458" y="266"/>
                    </a:lnTo>
                    <a:lnTo>
                      <a:pt x="460" y="262"/>
                    </a:lnTo>
                    <a:lnTo>
                      <a:pt x="464" y="262"/>
                    </a:lnTo>
                    <a:lnTo>
                      <a:pt x="466" y="260"/>
                    </a:lnTo>
                    <a:lnTo>
                      <a:pt x="458" y="260"/>
                    </a:lnTo>
                    <a:lnTo>
                      <a:pt x="450" y="258"/>
                    </a:lnTo>
                    <a:lnTo>
                      <a:pt x="446" y="256"/>
                    </a:lnTo>
                    <a:lnTo>
                      <a:pt x="444" y="256"/>
                    </a:lnTo>
                    <a:lnTo>
                      <a:pt x="442" y="256"/>
                    </a:lnTo>
                    <a:lnTo>
                      <a:pt x="442" y="254"/>
                    </a:lnTo>
                    <a:lnTo>
                      <a:pt x="440" y="256"/>
                    </a:lnTo>
                    <a:lnTo>
                      <a:pt x="436" y="258"/>
                    </a:lnTo>
                    <a:lnTo>
                      <a:pt x="424" y="258"/>
                    </a:lnTo>
                    <a:lnTo>
                      <a:pt x="426" y="256"/>
                    </a:lnTo>
                    <a:lnTo>
                      <a:pt x="428" y="254"/>
                    </a:lnTo>
                    <a:lnTo>
                      <a:pt x="422" y="252"/>
                    </a:lnTo>
                    <a:lnTo>
                      <a:pt x="408" y="254"/>
                    </a:lnTo>
                    <a:lnTo>
                      <a:pt x="406" y="250"/>
                    </a:lnTo>
                    <a:lnTo>
                      <a:pt x="406" y="248"/>
                    </a:lnTo>
                    <a:lnTo>
                      <a:pt x="408" y="248"/>
                    </a:lnTo>
                    <a:lnTo>
                      <a:pt x="408" y="254"/>
                    </a:lnTo>
                    <a:lnTo>
                      <a:pt x="418" y="252"/>
                    </a:lnTo>
                    <a:lnTo>
                      <a:pt x="428" y="250"/>
                    </a:lnTo>
                    <a:lnTo>
                      <a:pt x="430" y="252"/>
                    </a:lnTo>
                    <a:lnTo>
                      <a:pt x="434" y="252"/>
                    </a:lnTo>
                    <a:lnTo>
                      <a:pt x="436" y="250"/>
                    </a:lnTo>
                    <a:lnTo>
                      <a:pt x="434" y="246"/>
                    </a:lnTo>
                    <a:lnTo>
                      <a:pt x="426" y="246"/>
                    </a:lnTo>
                    <a:lnTo>
                      <a:pt x="416" y="246"/>
                    </a:lnTo>
                    <a:lnTo>
                      <a:pt x="412" y="248"/>
                    </a:lnTo>
                    <a:lnTo>
                      <a:pt x="408" y="248"/>
                    </a:lnTo>
                    <a:lnTo>
                      <a:pt x="410" y="246"/>
                    </a:lnTo>
                    <a:lnTo>
                      <a:pt x="412" y="244"/>
                    </a:lnTo>
                    <a:lnTo>
                      <a:pt x="412" y="242"/>
                    </a:lnTo>
                    <a:lnTo>
                      <a:pt x="414" y="244"/>
                    </a:lnTo>
                    <a:lnTo>
                      <a:pt x="428" y="246"/>
                    </a:lnTo>
                    <a:lnTo>
                      <a:pt x="430" y="242"/>
                    </a:lnTo>
                    <a:lnTo>
                      <a:pt x="436" y="242"/>
                    </a:lnTo>
                    <a:lnTo>
                      <a:pt x="436" y="240"/>
                    </a:lnTo>
                    <a:lnTo>
                      <a:pt x="436" y="238"/>
                    </a:lnTo>
                    <a:lnTo>
                      <a:pt x="428" y="236"/>
                    </a:lnTo>
                    <a:lnTo>
                      <a:pt x="428" y="234"/>
                    </a:lnTo>
                    <a:lnTo>
                      <a:pt x="418" y="236"/>
                    </a:lnTo>
                    <a:lnTo>
                      <a:pt x="408" y="236"/>
                    </a:lnTo>
                    <a:lnTo>
                      <a:pt x="406" y="236"/>
                    </a:lnTo>
                    <a:lnTo>
                      <a:pt x="412" y="234"/>
                    </a:lnTo>
                    <a:lnTo>
                      <a:pt x="412" y="232"/>
                    </a:lnTo>
                    <a:lnTo>
                      <a:pt x="408" y="230"/>
                    </a:lnTo>
                    <a:lnTo>
                      <a:pt x="410" y="230"/>
                    </a:lnTo>
                    <a:lnTo>
                      <a:pt x="410" y="228"/>
                    </a:lnTo>
                    <a:lnTo>
                      <a:pt x="414" y="232"/>
                    </a:lnTo>
                    <a:lnTo>
                      <a:pt x="420" y="232"/>
                    </a:lnTo>
                    <a:lnTo>
                      <a:pt x="428" y="232"/>
                    </a:lnTo>
                    <a:lnTo>
                      <a:pt x="428" y="234"/>
                    </a:lnTo>
                    <a:lnTo>
                      <a:pt x="432" y="234"/>
                    </a:lnTo>
                    <a:lnTo>
                      <a:pt x="436" y="236"/>
                    </a:lnTo>
                    <a:lnTo>
                      <a:pt x="440" y="238"/>
                    </a:lnTo>
                    <a:lnTo>
                      <a:pt x="442" y="238"/>
                    </a:lnTo>
                    <a:lnTo>
                      <a:pt x="442" y="242"/>
                    </a:lnTo>
                    <a:lnTo>
                      <a:pt x="446" y="248"/>
                    </a:lnTo>
                    <a:lnTo>
                      <a:pt x="452" y="254"/>
                    </a:lnTo>
                    <a:lnTo>
                      <a:pt x="458" y="256"/>
                    </a:lnTo>
                    <a:lnTo>
                      <a:pt x="460" y="256"/>
                    </a:lnTo>
                    <a:lnTo>
                      <a:pt x="460" y="254"/>
                    </a:lnTo>
                    <a:lnTo>
                      <a:pt x="464" y="256"/>
                    </a:lnTo>
                    <a:lnTo>
                      <a:pt x="468" y="258"/>
                    </a:lnTo>
                    <a:lnTo>
                      <a:pt x="470" y="258"/>
                    </a:lnTo>
                    <a:lnTo>
                      <a:pt x="472" y="256"/>
                    </a:lnTo>
                    <a:lnTo>
                      <a:pt x="472" y="254"/>
                    </a:lnTo>
                    <a:lnTo>
                      <a:pt x="468" y="252"/>
                    </a:lnTo>
                    <a:lnTo>
                      <a:pt x="470" y="250"/>
                    </a:lnTo>
                    <a:lnTo>
                      <a:pt x="470" y="248"/>
                    </a:lnTo>
                    <a:lnTo>
                      <a:pt x="470" y="244"/>
                    </a:lnTo>
                    <a:lnTo>
                      <a:pt x="468" y="240"/>
                    </a:lnTo>
                    <a:lnTo>
                      <a:pt x="466" y="240"/>
                    </a:lnTo>
                    <a:lnTo>
                      <a:pt x="466" y="236"/>
                    </a:lnTo>
                    <a:lnTo>
                      <a:pt x="464" y="236"/>
                    </a:lnTo>
                    <a:lnTo>
                      <a:pt x="464" y="238"/>
                    </a:lnTo>
                    <a:lnTo>
                      <a:pt x="462" y="238"/>
                    </a:lnTo>
                    <a:lnTo>
                      <a:pt x="462" y="234"/>
                    </a:lnTo>
                    <a:lnTo>
                      <a:pt x="464" y="234"/>
                    </a:lnTo>
                    <a:lnTo>
                      <a:pt x="460" y="234"/>
                    </a:lnTo>
                    <a:lnTo>
                      <a:pt x="460" y="232"/>
                    </a:lnTo>
                    <a:lnTo>
                      <a:pt x="460" y="230"/>
                    </a:lnTo>
                    <a:lnTo>
                      <a:pt x="456" y="228"/>
                    </a:lnTo>
                    <a:lnTo>
                      <a:pt x="452" y="226"/>
                    </a:lnTo>
                    <a:lnTo>
                      <a:pt x="450" y="224"/>
                    </a:lnTo>
                    <a:lnTo>
                      <a:pt x="446" y="222"/>
                    </a:lnTo>
                    <a:lnTo>
                      <a:pt x="442" y="222"/>
                    </a:lnTo>
                    <a:lnTo>
                      <a:pt x="438" y="222"/>
                    </a:lnTo>
                    <a:lnTo>
                      <a:pt x="442" y="222"/>
                    </a:lnTo>
                    <a:lnTo>
                      <a:pt x="442" y="218"/>
                    </a:lnTo>
                    <a:lnTo>
                      <a:pt x="438" y="216"/>
                    </a:lnTo>
                    <a:lnTo>
                      <a:pt x="438" y="218"/>
                    </a:lnTo>
                    <a:lnTo>
                      <a:pt x="436" y="220"/>
                    </a:lnTo>
                    <a:lnTo>
                      <a:pt x="430" y="220"/>
                    </a:lnTo>
                    <a:lnTo>
                      <a:pt x="430" y="222"/>
                    </a:lnTo>
                    <a:lnTo>
                      <a:pt x="426" y="222"/>
                    </a:lnTo>
                    <a:lnTo>
                      <a:pt x="428" y="218"/>
                    </a:lnTo>
                    <a:lnTo>
                      <a:pt x="424" y="218"/>
                    </a:lnTo>
                    <a:lnTo>
                      <a:pt x="422" y="218"/>
                    </a:lnTo>
                    <a:lnTo>
                      <a:pt x="422" y="216"/>
                    </a:lnTo>
                    <a:lnTo>
                      <a:pt x="420" y="214"/>
                    </a:lnTo>
                    <a:lnTo>
                      <a:pt x="420" y="212"/>
                    </a:lnTo>
                    <a:lnTo>
                      <a:pt x="422" y="210"/>
                    </a:lnTo>
                    <a:lnTo>
                      <a:pt x="424" y="210"/>
                    </a:lnTo>
                    <a:lnTo>
                      <a:pt x="424" y="208"/>
                    </a:lnTo>
                    <a:lnTo>
                      <a:pt x="422" y="208"/>
                    </a:lnTo>
                    <a:lnTo>
                      <a:pt x="432" y="208"/>
                    </a:lnTo>
                    <a:lnTo>
                      <a:pt x="436" y="204"/>
                    </a:lnTo>
                    <a:lnTo>
                      <a:pt x="438" y="204"/>
                    </a:lnTo>
                    <a:lnTo>
                      <a:pt x="440" y="202"/>
                    </a:lnTo>
                    <a:lnTo>
                      <a:pt x="442" y="202"/>
                    </a:lnTo>
                    <a:lnTo>
                      <a:pt x="442" y="196"/>
                    </a:lnTo>
                    <a:lnTo>
                      <a:pt x="446" y="196"/>
                    </a:lnTo>
                    <a:lnTo>
                      <a:pt x="444" y="200"/>
                    </a:lnTo>
                    <a:lnTo>
                      <a:pt x="444" y="202"/>
                    </a:lnTo>
                    <a:lnTo>
                      <a:pt x="446" y="202"/>
                    </a:lnTo>
                    <a:lnTo>
                      <a:pt x="448" y="204"/>
                    </a:lnTo>
                    <a:lnTo>
                      <a:pt x="452" y="204"/>
                    </a:lnTo>
                    <a:lnTo>
                      <a:pt x="454" y="204"/>
                    </a:lnTo>
                    <a:lnTo>
                      <a:pt x="460" y="204"/>
                    </a:lnTo>
                    <a:lnTo>
                      <a:pt x="462" y="208"/>
                    </a:lnTo>
                    <a:lnTo>
                      <a:pt x="468" y="206"/>
                    </a:lnTo>
                    <a:lnTo>
                      <a:pt x="472" y="204"/>
                    </a:lnTo>
                    <a:lnTo>
                      <a:pt x="472" y="202"/>
                    </a:lnTo>
                    <a:lnTo>
                      <a:pt x="480" y="200"/>
                    </a:lnTo>
                    <a:lnTo>
                      <a:pt x="480" y="196"/>
                    </a:lnTo>
                    <a:lnTo>
                      <a:pt x="480" y="194"/>
                    </a:lnTo>
                    <a:lnTo>
                      <a:pt x="476" y="194"/>
                    </a:lnTo>
                    <a:lnTo>
                      <a:pt x="470" y="192"/>
                    </a:lnTo>
                    <a:lnTo>
                      <a:pt x="470" y="194"/>
                    </a:lnTo>
                    <a:lnTo>
                      <a:pt x="468" y="196"/>
                    </a:lnTo>
                    <a:lnTo>
                      <a:pt x="466" y="192"/>
                    </a:lnTo>
                    <a:lnTo>
                      <a:pt x="464" y="192"/>
                    </a:lnTo>
                    <a:lnTo>
                      <a:pt x="462" y="192"/>
                    </a:lnTo>
                    <a:lnTo>
                      <a:pt x="462" y="190"/>
                    </a:lnTo>
                    <a:lnTo>
                      <a:pt x="464" y="186"/>
                    </a:lnTo>
                    <a:lnTo>
                      <a:pt x="464" y="182"/>
                    </a:lnTo>
                    <a:lnTo>
                      <a:pt x="470" y="184"/>
                    </a:lnTo>
                    <a:lnTo>
                      <a:pt x="476" y="184"/>
                    </a:lnTo>
                    <a:lnTo>
                      <a:pt x="482" y="186"/>
                    </a:lnTo>
                    <a:lnTo>
                      <a:pt x="486" y="188"/>
                    </a:lnTo>
                    <a:lnTo>
                      <a:pt x="488" y="188"/>
                    </a:lnTo>
                    <a:lnTo>
                      <a:pt x="490" y="188"/>
                    </a:lnTo>
                    <a:lnTo>
                      <a:pt x="492" y="186"/>
                    </a:lnTo>
                    <a:lnTo>
                      <a:pt x="494" y="186"/>
                    </a:lnTo>
                    <a:lnTo>
                      <a:pt x="494" y="184"/>
                    </a:lnTo>
                    <a:lnTo>
                      <a:pt x="488" y="182"/>
                    </a:lnTo>
                    <a:lnTo>
                      <a:pt x="486" y="184"/>
                    </a:lnTo>
                    <a:lnTo>
                      <a:pt x="476" y="184"/>
                    </a:lnTo>
                    <a:lnTo>
                      <a:pt x="478" y="182"/>
                    </a:lnTo>
                    <a:lnTo>
                      <a:pt x="478" y="180"/>
                    </a:lnTo>
                    <a:lnTo>
                      <a:pt x="480" y="178"/>
                    </a:lnTo>
                    <a:lnTo>
                      <a:pt x="478" y="178"/>
                    </a:lnTo>
                    <a:lnTo>
                      <a:pt x="474" y="178"/>
                    </a:lnTo>
                    <a:lnTo>
                      <a:pt x="474" y="180"/>
                    </a:lnTo>
                    <a:lnTo>
                      <a:pt x="470" y="180"/>
                    </a:lnTo>
                    <a:lnTo>
                      <a:pt x="472" y="178"/>
                    </a:lnTo>
                    <a:lnTo>
                      <a:pt x="474" y="176"/>
                    </a:lnTo>
                    <a:lnTo>
                      <a:pt x="476" y="174"/>
                    </a:lnTo>
                    <a:lnTo>
                      <a:pt x="472" y="170"/>
                    </a:lnTo>
                    <a:lnTo>
                      <a:pt x="466" y="168"/>
                    </a:lnTo>
                    <a:lnTo>
                      <a:pt x="468" y="166"/>
                    </a:lnTo>
                    <a:lnTo>
                      <a:pt x="470" y="166"/>
                    </a:lnTo>
                    <a:lnTo>
                      <a:pt x="472" y="168"/>
                    </a:lnTo>
                    <a:lnTo>
                      <a:pt x="478" y="168"/>
                    </a:lnTo>
                    <a:lnTo>
                      <a:pt x="480" y="166"/>
                    </a:lnTo>
                    <a:lnTo>
                      <a:pt x="482" y="166"/>
                    </a:lnTo>
                    <a:lnTo>
                      <a:pt x="482" y="168"/>
                    </a:lnTo>
                    <a:lnTo>
                      <a:pt x="482" y="170"/>
                    </a:lnTo>
                    <a:lnTo>
                      <a:pt x="486" y="170"/>
                    </a:lnTo>
                    <a:lnTo>
                      <a:pt x="486" y="164"/>
                    </a:lnTo>
                    <a:lnTo>
                      <a:pt x="484" y="156"/>
                    </a:lnTo>
                    <a:lnTo>
                      <a:pt x="482" y="156"/>
                    </a:lnTo>
                    <a:lnTo>
                      <a:pt x="482" y="154"/>
                    </a:lnTo>
                    <a:lnTo>
                      <a:pt x="484" y="154"/>
                    </a:lnTo>
                    <a:lnTo>
                      <a:pt x="484" y="152"/>
                    </a:lnTo>
                    <a:lnTo>
                      <a:pt x="482" y="150"/>
                    </a:lnTo>
                    <a:lnTo>
                      <a:pt x="478" y="150"/>
                    </a:lnTo>
                    <a:lnTo>
                      <a:pt x="474" y="154"/>
                    </a:lnTo>
                    <a:lnTo>
                      <a:pt x="472" y="152"/>
                    </a:lnTo>
                    <a:lnTo>
                      <a:pt x="468" y="152"/>
                    </a:lnTo>
                    <a:lnTo>
                      <a:pt x="468" y="148"/>
                    </a:lnTo>
                    <a:lnTo>
                      <a:pt x="472" y="150"/>
                    </a:lnTo>
                    <a:lnTo>
                      <a:pt x="474" y="148"/>
                    </a:lnTo>
                    <a:lnTo>
                      <a:pt x="476" y="146"/>
                    </a:lnTo>
                    <a:lnTo>
                      <a:pt x="474" y="142"/>
                    </a:lnTo>
                    <a:lnTo>
                      <a:pt x="476" y="142"/>
                    </a:lnTo>
                    <a:lnTo>
                      <a:pt x="474" y="142"/>
                    </a:lnTo>
                    <a:lnTo>
                      <a:pt x="474" y="138"/>
                    </a:lnTo>
                    <a:lnTo>
                      <a:pt x="482" y="140"/>
                    </a:lnTo>
                    <a:lnTo>
                      <a:pt x="488" y="140"/>
                    </a:lnTo>
                    <a:lnTo>
                      <a:pt x="492" y="144"/>
                    </a:lnTo>
                    <a:lnTo>
                      <a:pt x="500" y="142"/>
                    </a:lnTo>
                    <a:lnTo>
                      <a:pt x="498" y="142"/>
                    </a:lnTo>
                    <a:lnTo>
                      <a:pt x="498" y="138"/>
                    </a:lnTo>
                    <a:lnTo>
                      <a:pt x="498" y="136"/>
                    </a:lnTo>
                    <a:lnTo>
                      <a:pt x="496" y="132"/>
                    </a:lnTo>
                    <a:lnTo>
                      <a:pt x="494" y="130"/>
                    </a:lnTo>
                    <a:lnTo>
                      <a:pt x="492" y="128"/>
                    </a:lnTo>
                    <a:lnTo>
                      <a:pt x="490" y="128"/>
                    </a:lnTo>
                    <a:lnTo>
                      <a:pt x="490" y="132"/>
                    </a:lnTo>
                    <a:lnTo>
                      <a:pt x="488" y="132"/>
                    </a:lnTo>
                    <a:lnTo>
                      <a:pt x="486" y="130"/>
                    </a:lnTo>
                    <a:lnTo>
                      <a:pt x="480" y="132"/>
                    </a:lnTo>
                    <a:lnTo>
                      <a:pt x="480" y="124"/>
                    </a:lnTo>
                    <a:lnTo>
                      <a:pt x="488" y="124"/>
                    </a:lnTo>
                    <a:lnTo>
                      <a:pt x="490" y="124"/>
                    </a:lnTo>
                    <a:lnTo>
                      <a:pt x="490" y="122"/>
                    </a:lnTo>
                    <a:lnTo>
                      <a:pt x="484" y="120"/>
                    </a:lnTo>
                    <a:lnTo>
                      <a:pt x="482" y="118"/>
                    </a:lnTo>
                    <a:lnTo>
                      <a:pt x="480" y="118"/>
                    </a:lnTo>
                    <a:lnTo>
                      <a:pt x="478" y="120"/>
                    </a:lnTo>
                    <a:lnTo>
                      <a:pt x="474" y="118"/>
                    </a:lnTo>
                    <a:lnTo>
                      <a:pt x="470" y="116"/>
                    </a:lnTo>
                    <a:lnTo>
                      <a:pt x="468" y="118"/>
                    </a:lnTo>
                    <a:lnTo>
                      <a:pt x="466" y="116"/>
                    </a:lnTo>
                    <a:lnTo>
                      <a:pt x="468" y="116"/>
                    </a:lnTo>
                    <a:lnTo>
                      <a:pt x="468" y="112"/>
                    </a:lnTo>
                    <a:lnTo>
                      <a:pt x="476" y="114"/>
                    </a:lnTo>
                    <a:lnTo>
                      <a:pt x="482" y="116"/>
                    </a:lnTo>
                    <a:lnTo>
                      <a:pt x="484" y="112"/>
                    </a:lnTo>
                    <a:lnTo>
                      <a:pt x="486" y="110"/>
                    </a:lnTo>
                    <a:lnTo>
                      <a:pt x="490" y="108"/>
                    </a:lnTo>
                    <a:lnTo>
                      <a:pt x="490" y="106"/>
                    </a:lnTo>
                    <a:lnTo>
                      <a:pt x="490" y="104"/>
                    </a:lnTo>
                    <a:lnTo>
                      <a:pt x="490" y="102"/>
                    </a:lnTo>
                    <a:lnTo>
                      <a:pt x="494" y="96"/>
                    </a:lnTo>
                    <a:lnTo>
                      <a:pt x="492" y="96"/>
                    </a:lnTo>
                    <a:lnTo>
                      <a:pt x="490" y="92"/>
                    </a:lnTo>
                    <a:lnTo>
                      <a:pt x="504" y="92"/>
                    </a:lnTo>
                    <a:lnTo>
                      <a:pt x="504" y="88"/>
                    </a:lnTo>
                    <a:lnTo>
                      <a:pt x="506" y="84"/>
                    </a:lnTo>
                    <a:lnTo>
                      <a:pt x="506" y="82"/>
                    </a:lnTo>
                    <a:lnTo>
                      <a:pt x="506" y="80"/>
                    </a:lnTo>
                    <a:lnTo>
                      <a:pt x="500" y="78"/>
                    </a:lnTo>
                    <a:lnTo>
                      <a:pt x="498" y="78"/>
                    </a:lnTo>
                    <a:lnTo>
                      <a:pt x="492" y="78"/>
                    </a:lnTo>
                    <a:lnTo>
                      <a:pt x="490" y="80"/>
                    </a:lnTo>
                    <a:lnTo>
                      <a:pt x="482" y="84"/>
                    </a:lnTo>
                    <a:lnTo>
                      <a:pt x="482" y="80"/>
                    </a:lnTo>
                    <a:lnTo>
                      <a:pt x="480" y="78"/>
                    </a:lnTo>
                    <a:lnTo>
                      <a:pt x="480" y="76"/>
                    </a:lnTo>
                    <a:lnTo>
                      <a:pt x="482" y="74"/>
                    </a:lnTo>
                    <a:lnTo>
                      <a:pt x="486" y="72"/>
                    </a:lnTo>
                    <a:lnTo>
                      <a:pt x="492" y="74"/>
                    </a:lnTo>
                    <a:lnTo>
                      <a:pt x="504" y="76"/>
                    </a:lnTo>
                    <a:lnTo>
                      <a:pt x="510" y="76"/>
                    </a:lnTo>
                    <a:lnTo>
                      <a:pt x="512" y="76"/>
                    </a:lnTo>
                    <a:lnTo>
                      <a:pt x="522" y="68"/>
                    </a:lnTo>
                    <a:lnTo>
                      <a:pt x="522" y="66"/>
                    </a:lnTo>
                    <a:lnTo>
                      <a:pt x="522" y="64"/>
                    </a:lnTo>
                    <a:lnTo>
                      <a:pt x="514" y="64"/>
                    </a:lnTo>
                    <a:lnTo>
                      <a:pt x="512" y="68"/>
                    </a:lnTo>
                    <a:lnTo>
                      <a:pt x="506" y="66"/>
                    </a:lnTo>
                    <a:lnTo>
                      <a:pt x="504" y="68"/>
                    </a:lnTo>
                    <a:lnTo>
                      <a:pt x="498" y="68"/>
                    </a:lnTo>
                    <a:lnTo>
                      <a:pt x="492" y="64"/>
                    </a:lnTo>
                    <a:lnTo>
                      <a:pt x="498" y="64"/>
                    </a:lnTo>
                    <a:lnTo>
                      <a:pt x="500" y="64"/>
                    </a:lnTo>
                    <a:lnTo>
                      <a:pt x="504" y="62"/>
                    </a:lnTo>
                    <a:lnTo>
                      <a:pt x="508" y="62"/>
                    </a:lnTo>
                    <a:lnTo>
                      <a:pt x="514" y="64"/>
                    </a:lnTo>
                    <a:lnTo>
                      <a:pt x="518" y="62"/>
                    </a:lnTo>
                    <a:lnTo>
                      <a:pt x="522" y="62"/>
                    </a:lnTo>
                    <a:lnTo>
                      <a:pt x="526" y="64"/>
                    </a:lnTo>
                    <a:lnTo>
                      <a:pt x="526" y="60"/>
                    </a:lnTo>
                    <a:lnTo>
                      <a:pt x="536" y="60"/>
                    </a:lnTo>
                    <a:lnTo>
                      <a:pt x="536" y="56"/>
                    </a:lnTo>
                    <a:lnTo>
                      <a:pt x="540" y="56"/>
                    </a:lnTo>
                    <a:lnTo>
                      <a:pt x="544" y="54"/>
                    </a:lnTo>
                    <a:lnTo>
                      <a:pt x="548" y="54"/>
                    </a:lnTo>
                    <a:lnTo>
                      <a:pt x="550" y="54"/>
                    </a:lnTo>
                    <a:lnTo>
                      <a:pt x="552" y="52"/>
                    </a:lnTo>
                    <a:lnTo>
                      <a:pt x="550" y="50"/>
                    </a:lnTo>
                    <a:lnTo>
                      <a:pt x="548" y="46"/>
                    </a:lnTo>
                    <a:lnTo>
                      <a:pt x="542" y="48"/>
                    </a:lnTo>
                    <a:lnTo>
                      <a:pt x="536" y="48"/>
                    </a:lnTo>
                    <a:lnTo>
                      <a:pt x="520" y="44"/>
                    </a:lnTo>
                    <a:lnTo>
                      <a:pt x="516" y="44"/>
                    </a:lnTo>
                    <a:lnTo>
                      <a:pt x="510" y="46"/>
                    </a:lnTo>
                    <a:lnTo>
                      <a:pt x="506" y="44"/>
                    </a:lnTo>
                    <a:lnTo>
                      <a:pt x="504" y="44"/>
                    </a:lnTo>
                    <a:lnTo>
                      <a:pt x="504" y="48"/>
                    </a:lnTo>
                    <a:lnTo>
                      <a:pt x="494" y="50"/>
                    </a:lnTo>
                    <a:lnTo>
                      <a:pt x="494" y="52"/>
                    </a:lnTo>
                    <a:lnTo>
                      <a:pt x="492" y="52"/>
                    </a:lnTo>
                    <a:lnTo>
                      <a:pt x="490" y="52"/>
                    </a:lnTo>
                    <a:lnTo>
                      <a:pt x="486" y="50"/>
                    </a:lnTo>
                    <a:lnTo>
                      <a:pt x="484" y="52"/>
                    </a:lnTo>
                    <a:lnTo>
                      <a:pt x="480" y="46"/>
                    </a:lnTo>
                    <a:lnTo>
                      <a:pt x="476" y="52"/>
                    </a:lnTo>
                    <a:lnTo>
                      <a:pt x="472" y="54"/>
                    </a:lnTo>
                    <a:lnTo>
                      <a:pt x="468" y="54"/>
                    </a:lnTo>
                    <a:lnTo>
                      <a:pt x="464" y="56"/>
                    </a:lnTo>
                    <a:lnTo>
                      <a:pt x="458" y="58"/>
                    </a:lnTo>
                    <a:lnTo>
                      <a:pt x="450" y="60"/>
                    </a:lnTo>
                    <a:lnTo>
                      <a:pt x="446" y="58"/>
                    </a:lnTo>
                    <a:lnTo>
                      <a:pt x="444" y="60"/>
                    </a:lnTo>
                    <a:lnTo>
                      <a:pt x="442" y="58"/>
                    </a:lnTo>
                    <a:lnTo>
                      <a:pt x="444" y="56"/>
                    </a:lnTo>
                    <a:lnTo>
                      <a:pt x="448" y="56"/>
                    </a:lnTo>
                    <a:lnTo>
                      <a:pt x="452" y="56"/>
                    </a:lnTo>
                    <a:lnTo>
                      <a:pt x="452" y="54"/>
                    </a:lnTo>
                    <a:lnTo>
                      <a:pt x="458" y="52"/>
                    </a:lnTo>
                    <a:lnTo>
                      <a:pt x="464" y="44"/>
                    </a:lnTo>
                    <a:lnTo>
                      <a:pt x="464" y="42"/>
                    </a:lnTo>
                    <a:lnTo>
                      <a:pt x="464" y="40"/>
                    </a:lnTo>
                    <a:lnTo>
                      <a:pt x="452" y="42"/>
                    </a:lnTo>
                    <a:lnTo>
                      <a:pt x="450" y="40"/>
                    </a:lnTo>
                    <a:lnTo>
                      <a:pt x="446" y="40"/>
                    </a:lnTo>
                    <a:lnTo>
                      <a:pt x="444" y="42"/>
                    </a:lnTo>
                    <a:lnTo>
                      <a:pt x="444" y="48"/>
                    </a:lnTo>
                    <a:lnTo>
                      <a:pt x="424" y="48"/>
                    </a:lnTo>
                    <a:lnTo>
                      <a:pt x="426" y="46"/>
                    </a:lnTo>
                    <a:lnTo>
                      <a:pt x="426" y="42"/>
                    </a:lnTo>
                    <a:lnTo>
                      <a:pt x="424" y="40"/>
                    </a:lnTo>
                    <a:lnTo>
                      <a:pt x="400" y="42"/>
                    </a:lnTo>
                    <a:lnTo>
                      <a:pt x="396" y="42"/>
                    </a:lnTo>
                    <a:lnTo>
                      <a:pt x="392" y="42"/>
                    </a:lnTo>
                    <a:lnTo>
                      <a:pt x="390" y="42"/>
                    </a:lnTo>
                    <a:lnTo>
                      <a:pt x="386" y="42"/>
                    </a:lnTo>
                    <a:lnTo>
                      <a:pt x="384" y="42"/>
                    </a:lnTo>
                    <a:lnTo>
                      <a:pt x="384" y="42"/>
                    </a:lnTo>
                    <a:lnTo>
                      <a:pt x="378" y="44"/>
                    </a:lnTo>
                    <a:lnTo>
                      <a:pt x="372" y="46"/>
                    </a:lnTo>
                    <a:lnTo>
                      <a:pt x="368" y="46"/>
                    </a:lnTo>
                    <a:lnTo>
                      <a:pt x="364" y="46"/>
                    </a:lnTo>
                    <a:lnTo>
                      <a:pt x="362" y="48"/>
                    </a:lnTo>
                    <a:lnTo>
                      <a:pt x="362" y="50"/>
                    </a:lnTo>
                    <a:lnTo>
                      <a:pt x="358" y="50"/>
                    </a:lnTo>
                    <a:lnTo>
                      <a:pt x="360" y="46"/>
                    </a:lnTo>
                    <a:lnTo>
                      <a:pt x="366" y="46"/>
                    </a:lnTo>
                    <a:lnTo>
                      <a:pt x="372" y="44"/>
                    </a:lnTo>
                    <a:lnTo>
                      <a:pt x="374" y="42"/>
                    </a:lnTo>
                    <a:lnTo>
                      <a:pt x="378" y="42"/>
                    </a:lnTo>
                    <a:lnTo>
                      <a:pt x="380" y="42"/>
                    </a:lnTo>
                    <a:lnTo>
                      <a:pt x="380" y="38"/>
                    </a:lnTo>
                    <a:lnTo>
                      <a:pt x="386" y="36"/>
                    </a:lnTo>
                    <a:lnTo>
                      <a:pt x="394" y="36"/>
                    </a:lnTo>
                    <a:lnTo>
                      <a:pt x="410" y="36"/>
                    </a:lnTo>
                    <a:lnTo>
                      <a:pt x="414" y="38"/>
                    </a:lnTo>
                    <a:lnTo>
                      <a:pt x="426" y="36"/>
                    </a:lnTo>
                    <a:lnTo>
                      <a:pt x="440" y="36"/>
                    </a:lnTo>
                    <a:lnTo>
                      <a:pt x="442" y="38"/>
                    </a:lnTo>
                    <a:lnTo>
                      <a:pt x="448" y="38"/>
                    </a:lnTo>
                    <a:lnTo>
                      <a:pt x="456" y="36"/>
                    </a:lnTo>
                    <a:lnTo>
                      <a:pt x="462" y="36"/>
                    </a:lnTo>
                    <a:lnTo>
                      <a:pt x="466" y="36"/>
                    </a:lnTo>
                    <a:lnTo>
                      <a:pt x="466" y="3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40" name="Freeform 213">
                <a:extLst>
                  <a:ext uri="{FF2B5EF4-FFF2-40B4-BE49-F238E27FC236}">
                    <a16:creationId xmlns:a16="http://schemas.microsoft.com/office/drawing/2014/main" id="{B589A816-3E18-2A30-6858-F524B2DAF051}"/>
                  </a:ext>
                </a:extLst>
              </p:cNvPr>
              <p:cNvSpPr>
                <a:spLocks/>
              </p:cNvSpPr>
              <p:nvPr/>
            </p:nvSpPr>
            <p:spPr bwMode="auto">
              <a:xfrm>
                <a:off x="4455749" y="2889998"/>
                <a:ext cx="1944" cy="961"/>
              </a:xfrm>
              <a:custGeom>
                <a:avLst/>
                <a:gdLst/>
                <a:ahLst/>
                <a:cxnLst>
                  <a:cxn ang="0">
                    <a:pos x="0" y="0"/>
                  </a:cxn>
                  <a:cxn ang="0">
                    <a:pos x="2" y="0"/>
                  </a:cxn>
                  <a:cxn ang="0">
                    <a:pos x="0" y="0"/>
                  </a:cxn>
                  <a:cxn ang="0">
                    <a:pos x="0" y="0"/>
                  </a:cxn>
                </a:cxnLst>
                <a:rect l="0" t="0" r="r" b="b"/>
                <a:pathLst>
                  <a:path w="2">
                    <a:moveTo>
                      <a:pt x="0" y="0"/>
                    </a:moveTo>
                    <a:lnTo>
                      <a:pt x="2" y="0"/>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41" name="Freeform 214">
                <a:extLst>
                  <a:ext uri="{FF2B5EF4-FFF2-40B4-BE49-F238E27FC236}">
                    <a16:creationId xmlns:a16="http://schemas.microsoft.com/office/drawing/2014/main" id="{F92C5A60-7DA6-B97D-0276-D12F8B0E0905}"/>
                  </a:ext>
                </a:extLst>
              </p:cNvPr>
              <p:cNvSpPr>
                <a:spLocks/>
              </p:cNvSpPr>
              <p:nvPr/>
            </p:nvSpPr>
            <p:spPr bwMode="auto">
              <a:xfrm>
                <a:off x="4234054" y="3162832"/>
                <a:ext cx="3890" cy="3843"/>
              </a:xfrm>
              <a:custGeom>
                <a:avLst/>
                <a:gdLst/>
                <a:ahLst/>
                <a:cxnLst>
                  <a:cxn ang="0">
                    <a:pos x="2" y="0"/>
                  </a:cxn>
                  <a:cxn ang="0">
                    <a:pos x="0" y="2"/>
                  </a:cxn>
                  <a:cxn ang="0">
                    <a:pos x="2" y="2"/>
                  </a:cxn>
                  <a:cxn ang="0">
                    <a:pos x="4" y="4"/>
                  </a:cxn>
                  <a:cxn ang="0">
                    <a:pos x="4" y="2"/>
                  </a:cxn>
                  <a:cxn ang="0">
                    <a:pos x="4" y="0"/>
                  </a:cxn>
                  <a:cxn ang="0">
                    <a:pos x="2" y="0"/>
                  </a:cxn>
                </a:cxnLst>
                <a:rect l="0" t="0" r="r" b="b"/>
                <a:pathLst>
                  <a:path w="4" h="4">
                    <a:moveTo>
                      <a:pt x="2" y="0"/>
                    </a:moveTo>
                    <a:lnTo>
                      <a:pt x="0" y="2"/>
                    </a:lnTo>
                    <a:lnTo>
                      <a:pt x="2" y="2"/>
                    </a:lnTo>
                    <a:lnTo>
                      <a:pt x="4" y="4"/>
                    </a:lnTo>
                    <a:lnTo>
                      <a:pt x="4" y="2"/>
                    </a:lnTo>
                    <a:lnTo>
                      <a:pt x="4" y="0"/>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42" name="Freeform 215">
                <a:extLst>
                  <a:ext uri="{FF2B5EF4-FFF2-40B4-BE49-F238E27FC236}">
                    <a16:creationId xmlns:a16="http://schemas.microsoft.com/office/drawing/2014/main" id="{5B0572DB-5F14-E834-2926-A15A02F76FE4}"/>
                  </a:ext>
                </a:extLst>
              </p:cNvPr>
              <p:cNvSpPr>
                <a:spLocks/>
              </p:cNvSpPr>
              <p:nvPr/>
            </p:nvSpPr>
            <p:spPr bwMode="auto">
              <a:xfrm>
                <a:off x="4234054" y="3162832"/>
                <a:ext cx="3890" cy="3843"/>
              </a:xfrm>
              <a:custGeom>
                <a:avLst/>
                <a:gdLst/>
                <a:ahLst/>
                <a:cxnLst>
                  <a:cxn ang="0">
                    <a:pos x="2" y="0"/>
                  </a:cxn>
                  <a:cxn ang="0">
                    <a:pos x="0" y="2"/>
                  </a:cxn>
                  <a:cxn ang="0">
                    <a:pos x="2" y="2"/>
                  </a:cxn>
                  <a:cxn ang="0">
                    <a:pos x="4" y="4"/>
                  </a:cxn>
                  <a:cxn ang="0">
                    <a:pos x="4" y="2"/>
                  </a:cxn>
                  <a:cxn ang="0">
                    <a:pos x="4" y="0"/>
                  </a:cxn>
                  <a:cxn ang="0">
                    <a:pos x="2" y="0"/>
                  </a:cxn>
                </a:cxnLst>
                <a:rect l="0" t="0" r="r" b="b"/>
                <a:pathLst>
                  <a:path w="4" h="4">
                    <a:moveTo>
                      <a:pt x="2" y="0"/>
                    </a:moveTo>
                    <a:lnTo>
                      <a:pt x="0" y="2"/>
                    </a:lnTo>
                    <a:lnTo>
                      <a:pt x="2" y="2"/>
                    </a:lnTo>
                    <a:lnTo>
                      <a:pt x="4" y="4"/>
                    </a:lnTo>
                    <a:lnTo>
                      <a:pt x="4" y="2"/>
                    </a:lnTo>
                    <a:lnTo>
                      <a:pt x="4" y="0"/>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43" name="Freeform 216">
                <a:extLst>
                  <a:ext uri="{FF2B5EF4-FFF2-40B4-BE49-F238E27FC236}">
                    <a16:creationId xmlns:a16="http://schemas.microsoft.com/office/drawing/2014/main" id="{1E84AE93-E5F7-5FDA-1F63-8BC8F34185B9}"/>
                  </a:ext>
                </a:extLst>
              </p:cNvPr>
              <p:cNvSpPr>
                <a:spLocks/>
              </p:cNvSpPr>
              <p:nvPr/>
            </p:nvSpPr>
            <p:spPr bwMode="auto">
              <a:xfrm>
                <a:off x="4224330" y="3147461"/>
                <a:ext cx="973" cy="1921"/>
              </a:xfrm>
              <a:custGeom>
                <a:avLst/>
                <a:gdLst/>
                <a:ahLst/>
                <a:cxnLst>
                  <a:cxn ang="0">
                    <a:pos x="0" y="0"/>
                  </a:cxn>
                  <a:cxn ang="0">
                    <a:pos x="0" y="0"/>
                  </a:cxn>
                  <a:cxn ang="0">
                    <a:pos x="0" y="2"/>
                  </a:cxn>
                  <a:cxn ang="0">
                    <a:pos x="0" y="0"/>
                  </a:cxn>
                </a:cxnLst>
                <a:rect l="0" t="0" r="r" b="b"/>
                <a:pathLst>
                  <a:path h="2">
                    <a:moveTo>
                      <a:pt x="0" y="0"/>
                    </a:moveTo>
                    <a:lnTo>
                      <a:pt x="0" y="0"/>
                    </a:ln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44" name="Freeform 217">
                <a:extLst>
                  <a:ext uri="{FF2B5EF4-FFF2-40B4-BE49-F238E27FC236}">
                    <a16:creationId xmlns:a16="http://schemas.microsoft.com/office/drawing/2014/main" id="{ADA8457A-AD59-F455-1393-75218E80FD66}"/>
                  </a:ext>
                </a:extLst>
              </p:cNvPr>
              <p:cNvSpPr>
                <a:spLocks/>
              </p:cNvSpPr>
              <p:nvPr/>
            </p:nvSpPr>
            <p:spPr bwMode="auto">
              <a:xfrm>
                <a:off x="4224330" y="3147461"/>
                <a:ext cx="973" cy="1921"/>
              </a:xfrm>
              <a:custGeom>
                <a:avLst/>
                <a:gdLst/>
                <a:ahLst/>
                <a:cxnLst>
                  <a:cxn ang="0">
                    <a:pos x="0" y="0"/>
                  </a:cxn>
                  <a:cxn ang="0">
                    <a:pos x="0" y="0"/>
                  </a:cxn>
                  <a:cxn ang="0">
                    <a:pos x="0" y="2"/>
                  </a:cxn>
                  <a:cxn ang="0">
                    <a:pos x="0" y="0"/>
                  </a:cxn>
                </a:cxnLst>
                <a:rect l="0" t="0" r="r" b="b"/>
                <a:pathLst>
                  <a:path h="2">
                    <a:moveTo>
                      <a:pt x="0" y="0"/>
                    </a:moveTo>
                    <a:lnTo>
                      <a:pt x="0" y="0"/>
                    </a:lnTo>
                    <a:lnTo>
                      <a:pt x="0" y="2"/>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45" name="Freeform 218">
                <a:extLst>
                  <a:ext uri="{FF2B5EF4-FFF2-40B4-BE49-F238E27FC236}">
                    <a16:creationId xmlns:a16="http://schemas.microsoft.com/office/drawing/2014/main" id="{8F9B95A9-16F5-B585-E81A-8748AC393555}"/>
                  </a:ext>
                </a:extLst>
              </p:cNvPr>
              <p:cNvSpPr>
                <a:spLocks/>
              </p:cNvSpPr>
              <p:nvPr/>
            </p:nvSpPr>
            <p:spPr bwMode="auto">
              <a:xfrm>
                <a:off x="4434357" y="2928425"/>
                <a:ext cx="9723" cy="5764"/>
              </a:xfrm>
              <a:custGeom>
                <a:avLst/>
                <a:gdLst/>
                <a:ahLst/>
                <a:cxnLst>
                  <a:cxn ang="0">
                    <a:pos x="0" y="0"/>
                  </a:cxn>
                  <a:cxn ang="0">
                    <a:pos x="0" y="0"/>
                  </a:cxn>
                  <a:cxn ang="0">
                    <a:pos x="0" y="6"/>
                  </a:cxn>
                  <a:cxn ang="0">
                    <a:pos x="2" y="6"/>
                  </a:cxn>
                  <a:cxn ang="0">
                    <a:pos x="8" y="6"/>
                  </a:cxn>
                  <a:cxn ang="0">
                    <a:pos x="10" y="4"/>
                  </a:cxn>
                  <a:cxn ang="0">
                    <a:pos x="8" y="2"/>
                  </a:cxn>
                  <a:cxn ang="0">
                    <a:pos x="0" y="0"/>
                  </a:cxn>
                </a:cxnLst>
                <a:rect l="0" t="0" r="r" b="b"/>
                <a:pathLst>
                  <a:path w="10" h="6">
                    <a:moveTo>
                      <a:pt x="0" y="0"/>
                    </a:moveTo>
                    <a:lnTo>
                      <a:pt x="0" y="0"/>
                    </a:lnTo>
                    <a:lnTo>
                      <a:pt x="0" y="6"/>
                    </a:lnTo>
                    <a:lnTo>
                      <a:pt x="2" y="6"/>
                    </a:lnTo>
                    <a:lnTo>
                      <a:pt x="8" y="6"/>
                    </a:lnTo>
                    <a:lnTo>
                      <a:pt x="10" y="4"/>
                    </a:lnTo>
                    <a:lnTo>
                      <a:pt x="8"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46" name="Freeform 219">
                <a:extLst>
                  <a:ext uri="{FF2B5EF4-FFF2-40B4-BE49-F238E27FC236}">
                    <a16:creationId xmlns:a16="http://schemas.microsoft.com/office/drawing/2014/main" id="{3A29CD02-DA4D-9DD8-D880-8796A76C7FA3}"/>
                  </a:ext>
                </a:extLst>
              </p:cNvPr>
              <p:cNvSpPr>
                <a:spLocks/>
              </p:cNvSpPr>
              <p:nvPr/>
            </p:nvSpPr>
            <p:spPr bwMode="auto">
              <a:xfrm>
                <a:off x="4434357" y="2928425"/>
                <a:ext cx="9723" cy="5764"/>
              </a:xfrm>
              <a:custGeom>
                <a:avLst/>
                <a:gdLst/>
                <a:ahLst/>
                <a:cxnLst>
                  <a:cxn ang="0">
                    <a:pos x="0" y="0"/>
                  </a:cxn>
                  <a:cxn ang="0">
                    <a:pos x="0" y="0"/>
                  </a:cxn>
                  <a:cxn ang="0">
                    <a:pos x="0" y="6"/>
                  </a:cxn>
                  <a:cxn ang="0">
                    <a:pos x="2" y="6"/>
                  </a:cxn>
                  <a:cxn ang="0">
                    <a:pos x="8" y="6"/>
                  </a:cxn>
                  <a:cxn ang="0">
                    <a:pos x="10" y="4"/>
                  </a:cxn>
                  <a:cxn ang="0">
                    <a:pos x="8" y="2"/>
                  </a:cxn>
                  <a:cxn ang="0">
                    <a:pos x="0" y="0"/>
                  </a:cxn>
                </a:cxnLst>
                <a:rect l="0" t="0" r="r" b="b"/>
                <a:pathLst>
                  <a:path w="10" h="6">
                    <a:moveTo>
                      <a:pt x="0" y="0"/>
                    </a:moveTo>
                    <a:lnTo>
                      <a:pt x="0" y="0"/>
                    </a:lnTo>
                    <a:lnTo>
                      <a:pt x="0" y="6"/>
                    </a:lnTo>
                    <a:lnTo>
                      <a:pt x="2" y="6"/>
                    </a:lnTo>
                    <a:lnTo>
                      <a:pt x="8" y="6"/>
                    </a:lnTo>
                    <a:lnTo>
                      <a:pt x="10" y="4"/>
                    </a:lnTo>
                    <a:lnTo>
                      <a:pt x="8" y="2"/>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47" name="Freeform 220">
                <a:extLst>
                  <a:ext uri="{FF2B5EF4-FFF2-40B4-BE49-F238E27FC236}">
                    <a16:creationId xmlns:a16="http://schemas.microsoft.com/office/drawing/2014/main" id="{4B19D3EB-2CB5-DF19-742F-C27B478474A4}"/>
                  </a:ext>
                </a:extLst>
              </p:cNvPr>
              <p:cNvSpPr>
                <a:spLocks/>
              </p:cNvSpPr>
              <p:nvPr/>
            </p:nvSpPr>
            <p:spPr bwMode="auto">
              <a:xfrm>
                <a:off x="4379905" y="2815064"/>
                <a:ext cx="7779" cy="5764"/>
              </a:xfrm>
              <a:custGeom>
                <a:avLst/>
                <a:gdLst/>
                <a:ahLst/>
                <a:cxnLst>
                  <a:cxn ang="0">
                    <a:pos x="6" y="2"/>
                  </a:cxn>
                  <a:cxn ang="0">
                    <a:pos x="6" y="2"/>
                  </a:cxn>
                  <a:cxn ang="0">
                    <a:pos x="8" y="0"/>
                  </a:cxn>
                  <a:cxn ang="0">
                    <a:pos x="6" y="2"/>
                  </a:cxn>
                  <a:cxn ang="0">
                    <a:pos x="4" y="4"/>
                  </a:cxn>
                  <a:cxn ang="0">
                    <a:pos x="2" y="6"/>
                  </a:cxn>
                  <a:cxn ang="0">
                    <a:pos x="0" y="6"/>
                  </a:cxn>
                  <a:cxn ang="0">
                    <a:pos x="0" y="4"/>
                  </a:cxn>
                  <a:cxn ang="0">
                    <a:pos x="2" y="2"/>
                  </a:cxn>
                  <a:cxn ang="0">
                    <a:pos x="6" y="2"/>
                  </a:cxn>
                </a:cxnLst>
                <a:rect l="0" t="0" r="r" b="b"/>
                <a:pathLst>
                  <a:path w="8" h="6">
                    <a:moveTo>
                      <a:pt x="6" y="2"/>
                    </a:moveTo>
                    <a:lnTo>
                      <a:pt x="6" y="2"/>
                    </a:lnTo>
                    <a:lnTo>
                      <a:pt x="8" y="0"/>
                    </a:lnTo>
                    <a:lnTo>
                      <a:pt x="6" y="2"/>
                    </a:lnTo>
                    <a:lnTo>
                      <a:pt x="4" y="4"/>
                    </a:lnTo>
                    <a:lnTo>
                      <a:pt x="2" y="6"/>
                    </a:lnTo>
                    <a:lnTo>
                      <a:pt x="0" y="6"/>
                    </a:lnTo>
                    <a:lnTo>
                      <a:pt x="0" y="4"/>
                    </a:lnTo>
                    <a:lnTo>
                      <a:pt x="2" y="2"/>
                    </a:lnTo>
                    <a:lnTo>
                      <a:pt x="6" y="2"/>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48" name="Freeform 221">
                <a:extLst>
                  <a:ext uri="{FF2B5EF4-FFF2-40B4-BE49-F238E27FC236}">
                    <a16:creationId xmlns:a16="http://schemas.microsoft.com/office/drawing/2014/main" id="{39F4E803-9919-845C-7B1B-FB2BF123156A}"/>
                  </a:ext>
                </a:extLst>
              </p:cNvPr>
              <p:cNvSpPr>
                <a:spLocks/>
              </p:cNvSpPr>
              <p:nvPr/>
            </p:nvSpPr>
            <p:spPr bwMode="auto">
              <a:xfrm>
                <a:off x="4379905" y="2815064"/>
                <a:ext cx="7779" cy="5764"/>
              </a:xfrm>
              <a:custGeom>
                <a:avLst/>
                <a:gdLst/>
                <a:ahLst/>
                <a:cxnLst>
                  <a:cxn ang="0">
                    <a:pos x="6" y="2"/>
                  </a:cxn>
                  <a:cxn ang="0">
                    <a:pos x="6" y="2"/>
                  </a:cxn>
                  <a:cxn ang="0">
                    <a:pos x="8" y="0"/>
                  </a:cxn>
                  <a:cxn ang="0">
                    <a:pos x="6" y="2"/>
                  </a:cxn>
                  <a:cxn ang="0">
                    <a:pos x="4" y="4"/>
                  </a:cxn>
                  <a:cxn ang="0">
                    <a:pos x="2" y="6"/>
                  </a:cxn>
                  <a:cxn ang="0">
                    <a:pos x="0" y="6"/>
                  </a:cxn>
                  <a:cxn ang="0">
                    <a:pos x="0" y="4"/>
                  </a:cxn>
                  <a:cxn ang="0">
                    <a:pos x="2" y="2"/>
                  </a:cxn>
                  <a:cxn ang="0">
                    <a:pos x="6" y="2"/>
                  </a:cxn>
                </a:cxnLst>
                <a:rect l="0" t="0" r="r" b="b"/>
                <a:pathLst>
                  <a:path w="8" h="6">
                    <a:moveTo>
                      <a:pt x="6" y="2"/>
                    </a:moveTo>
                    <a:lnTo>
                      <a:pt x="6" y="2"/>
                    </a:lnTo>
                    <a:lnTo>
                      <a:pt x="8" y="0"/>
                    </a:lnTo>
                    <a:lnTo>
                      <a:pt x="6" y="2"/>
                    </a:lnTo>
                    <a:lnTo>
                      <a:pt x="4" y="4"/>
                    </a:lnTo>
                    <a:lnTo>
                      <a:pt x="2" y="6"/>
                    </a:lnTo>
                    <a:lnTo>
                      <a:pt x="0" y="6"/>
                    </a:lnTo>
                    <a:lnTo>
                      <a:pt x="0" y="4"/>
                    </a:lnTo>
                    <a:lnTo>
                      <a:pt x="2" y="2"/>
                    </a:lnTo>
                    <a:lnTo>
                      <a:pt x="6" y="2"/>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49" name="Freeform 222">
                <a:extLst>
                  <a:ext uri="{FF2B5EF4-FFF2-40B4-BE49-F238E27FC236}">
                    <a16:creationId xmlns:a16="http://schemas.microsoft.com/office/drawing/2014/main" id="{7DF0E693-769D-AAFC-5DFE-1969A69FF553}"/>
                  </a:ext>
                </a:extLst>
              </p:cNvPr>
              <p:cNvSpPr>
                <a:spLocks/>
              </p:cNvSpPr>
              <p:nvPr/>
            </p:nvSpPr>
            <p:spPr bwMode="auto">
              <a:xfrm>
                <a:off x="4257390" y="2784322"/>
                <a:ext cx="3890" cy="1921"/>
              </a:xfrm>
              <a:custGeom>
                <a:avLst/>
                <a:gdLst/>
                <a:ahLst/>
                <a:cxnLst>
                  <a:cxn ang="0">
                    <a:pos x="0" y="0"/>
                  </a:cxn>
                  <a:cxn ang="0">
                    <a:pos x="0" y="0"/>
                  </a:cxn>
                  <a:cxn ang="0">
                    <a:pos x="2" y="2"/>
                  </a:cxn>
                  <a:cxn ang="0">
                    <a:pos x="4" y="2"/>
                  </a:cxn>
                  <a:cxn ang="0">
                    <a:pos x="2" y="2"/>
                  </a:cxn>
                  <a:cxn ang="0">
                    <a:pos x="0" y="0"/>
                  </a:cxn>
                </a:cxnLst>
                <a:rect l="0" t="0" r="r" b="b"/>
                <a:pathLst>
                  <a:path w="4" h="2">
                    <a:moveTo>
                      <a:pt x="0" y="0"/>
                    </a:moveTo>
                    <a:lnTo>
                      <a:pt x="0" y="0"/>
                    </a:lnTo>
                    <a:lnTo>
                      <a:pt x="2" y="2"/>
                    </a:lnTo>
                    <a:lnTo>
                      <a:pt x="4" y="2"/>
                    </a:lnTo>
                    <a:lnTo>
                      <a:pt x="2"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50" name="Freeform 223">
                <a:extLst>
                  <a:ext uri="{FF2B5EF4-FFF2-40B4-BE49-F238E27FC236}">
                    <a16:creationId xmlns:a16="http://schemas.microsoft.com/office/drawing/2014/main" id="{1753C91E-0BC4-0EB9-254A-0FA66756A3C5}"/>
                  </a:ext>
                </a:extLst>
              </p:cNvPr>
              <p:cNvSpPr>
                <a:spLocks/>
              </p:cNvSpPr>
              <p:nvPr/>
            </p:nvSpPr>
            <p:spPr bwMode="auto">
              <a:xfrm>
                <a:off x="4257390" y="2784322"/>
                <a:ext cx="3890" cy="1921"/>
              </a:xfrm>
              <a:custGeom>
                <a:avLst/>
                <a:gdLst/>
                <a:ahLst/>
                <a:cxnLst>
                  <a:cxn ang="0">
                    <a:pos x="0" y="0"/>
                  </a:cxn>
                  <a:cxn ang="0">
                    <a:pos x="0" y="0"/>
                  </a:cxn>
                  <a:cxn ang="0">
                    <a:pos x="2" y="2"/>
                  </a:cxn>
                  <a:cxn ang="0">
                    <a:pos x="4" y="2"/>
                  </a:cxn>
                  <a:cxn ang="0">
                    <a:pos x="2" y="2"/>
                  </a:cxn>
                  <a:cxn ang="0">
                    <a:pos x="0" y="0"/>
                  </a:cxn>
                </a:cxnLst>
                <a:rect l="0" t="0" r="r" b="b"/>
                <a:pathLst>
                  <a:path w="4" h="2">
                    <a:moveTo>
                      <a:pt x="0" y="0"/>
                    </a:moveTo>
                    <a:lnTo>
                      <a:pt x="0" y="0"/>
                    </a:lnTo>
                    <a:lnTo>
                      <a:pt x="2" y="2"/>
                    </a:lnTo>
                    <a:lnTo>
                      <a:pt x="4" y="2"/>
                    </a:lnTo>
                    <a:lnTo>
                      <a:pt x="2" y="2"/>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51" name="Freeform 224">
                <a:extLst>
                  <a:ext uri="{FF2B5EF4-FFF2-40B4-BE49-F238E27FC236}">
                    <a16:creationId xmlns:a16="http://schemas.microsoft.com/office/drawing/2014/main" id="{74279082-B2A7-C2ED-2479-19620D0C5D42}"/>
                  </a:ext>
                </a:extLst>
              </p:cNvPr>
              <p:cNvSpPr>
                <a:spLocks/>
              </p:cNvSpPr>
              <p:nvPr/>
            </p:nvSpPr>
            <p:spPr bwMode="auto">
              <a:xfrm>
                <a:off x="4294339" y="3066764"/>
                <a:ext cx="5834" cy="3843"/>
              </a:xfrm>
              <a:custGeom>
                <a:avLst/>
                <a:gdLst/>
                <a:ahLst/>
                <a:cxnLst>
                  <a:cxn ang="0">
                    <a:pos x="0" y="0"/>
                  </a:cxn>
                  <a:cxn ang="0">
                    <a:pos x="0" y="0"/>
                  </a:cxn>
                  <a:cxn ang="0">
                    <a:pos x="6" y="0"/>
                  </a:cxn>
                  <a:cxn ang="0">
                    <a:pos x="2" y="4"/>
                  </a:cxn>
                  <a:cxn ang="0">
                    <a:pos x="0" y="4"/>
                  </a:cxn>
                  <a:cxn ang="0">
                    <a:pos x="0" y="0"/>
                  </a:cxn>
                  <a:cxn ang="0">
                    <a:pos x="0" y="0"/>
                  </a:cxn>
                </a:cxnLst>
                <a:rect l="0" t="0" r="r" b="b"/>
                <a:pathLst>
                  <a:path w="6" h="4">
                    <a:moveTo>
                      <a:pt x="0" y="0"/>
                    </a:moveTo>
                    <a:lnTo>
                      <a:pt x="0" y="0"/>
                    </a:lnTo>
                    <a:lnTo>
                      <a:pt x="6" y="0"/>
                    </a:lnTo>
                    <a:lnTo>
                      <a:pt x="2" y="4"/>
                    </a:lnTo>
                    <a:lnTo>
                      <a:pt x="0" y="4"/>
                    </a:lnTo>
                    <a:lnTo>
                      <a:pt x="0"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52" name="Freeform 225">
                <a:extLst>
                  <a:ext uri="{FF2B5EF4-FFF2-40B4-BE49-F238E27FC236}">
                    <a16:creationId xmlns:a16="http://schemas.microsoft.com/office/drawing/2014/main" id="{780FADA1-5890-5619-2056-D5367FB6512E}"/>
                  </a:ext>
                </a:extLst>
              </p:cNvPr>
              <p:cNvSpPr>
                <a:spLocks/>
              </p:cNvSpPr>
              <p:nvPr/>
            </p:nvSpPr>
            <p:spPr bwMode="auto">
              <a:xfrm>
                <a:off x="4294339" y="3066764"/>
                <a:ext cx="5834" cy="3843"/>
              </a:xfrm>
              <a:custGeom>
                <a:avLst/>
                <a:gdLst/>
                <a:ahLst/>
                <a:cxnLst>
                  <a:cxn ang="0">
                    <a:pos x="0" y="0"/>
                  </a:cxn>
                  <a:cxn ang="0">
                    <a:pos x="0" y="0"/>
                  </a:cxn>
                  <a:cxn ang="0">
                    <a:pos x="6" y="0"/>
                  </a:cxn>
                  <a:cxn ang="0">
                    <a:pos x="2" y="4"/>
                  </a:cxn>
                  <a:cxn ang="0">
                    <a:pos x="0" y="4"/>
                  </a:cxn>
                  <a:cxn ang="0">
                    <a:pos x="0" y="0"/>
                  </a:cxn>
                  <a:cxn ang="0">
                    <a:pos x="0" y="0"/>
                  </a:cxn>
                </a:cxnLst>
                <a:rect l="0" t="0" r="r" b="b"/>
                <a:pathLst>
                  <a:path w="6" h="4">
                    <a:moveTo>
                      <a:pt x="0" y="0"/>
                    </a:moveTo>
                    <a:lnTo>
                      <a:pt x="0" y="0"/>
                    </a:lnTo>
                    <a:lnTo>
                      <a:pt x="6" y="0"/>
                    </a:lnTo>
                    <a:lnTo>
                      <a:pt x="2" y="4"/>
                    </a:lnTo>
                    <a:lnTo>
                      <a:pt x="0" y="4"/>
                    </a:lnTo>
                    <a:lnTo>
                      <a:pt x="0" y="0"/>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53" name="Freeform 226">
                <a:extLst>
                  <a:ext uri="{FF2B5EF4-FFF2-40B4-BE49-F238E27FC236}">
                    <a16:creationId xmlns:a16="http://schemas.microsoft.com/office/drawing/2014/main" id="{9F749F0D-DBC2-E99C-25F5-44806BA18A0B}"/>
                  </a:ext>
                </a:extLst>
              </p:cNvPr>
              <p:cNvSpPr>
                <a:spLocks/>
              </p:cNvSpPr>
              <p:nvPr/>
            </p:nvSpPr>
            <p:spPr bwMode="auto">
              <a:xfrm>
                <a:off x="4160155" y="3061000"/>
                <a:ext cx="1944" cy="1921"/>
              </a:xfrm>
              <a:custGeom>
                <a:avLst/>
                <a:gdLst/>
                <a:ahLst/>
                <a:cxnLst>
                  <a:cxn ang="0">
                    <a:pos x="2" y="0"/>
                  </a:cxn>
                  <a:cxn ang="0">
                    <a:pos x="2" y="0"/>
                  </a:cxn>
                  <a:cxn ang="0">
                    <a:pos x="2" y="2"/>
                  </a:cxn>
                  <a:cxn ang="0">
                    <a:pos x="0" y="0"/>
                  </a:cxn>
                  <a:cxn ang="0">
                    <a:pos x="2" y="0"/>
                  </a:cxn>
                </a:cxnLst>
                <a:rect l="0" t="0" r="r" b="b"/>
                <a:pathLst>
                  <a:path w="2" h="2">
                    <a:moveTo>
                      <a:pt x="2" y="0"/>
                    </a:moveTo>
                    <a:lnTo>
                      <a:pt x="2" y="0"/>
                    </a:lnTo>
                    <a:lnTo>
                      <a:pt x="2" y="2"/>
                    </a:lnTo>
                    <a:lnTo>
                      <a:pt x="0" y="0"/>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54" name="Freeform 227">
                <a:extLst>
                  <a:ext uri="{FF2B5EF4-FFF2-40B4-BE49-F238E27FC236}">
                    <a16:creationId xmlns:a16="http://schemas.microsoft.com/office/drawing/2014/main" id="{85D86C80-D5BB-D99F-9E5B-DB2325171C49}"/>
                  </a:ext>
                </a:extLst>
              </p:cNvPr>
              <p:cNvSpPr>
                <a:spLocks/>
              </p:cNvSpPr>
              <p:nvPr/>
            </p:nvSpPr>
            <p:spPr bwMode="auto">
              <a:xfrm>
                <a:off x="4160155" y="3061000"/>
                <a:ext cx="1944" cy="1921"/>
              </a:xfrm>
              <a:custGeom>
                <a:avLst/>
                <a:gdLst/>
                <a:ahLst/>
                <a:cxnLst>
                  <a:cxn ang="0">
                    <a:pos x="2" y="0"/>
                  </a:cxn>
                  <a:cxn ang="0">
                    <a:pos x="2" y="0"/>
                  </a:cxn>
                  <a:cxn ang="0">
                    <a:pos x="2" y="2"/>
                  </a:cxn>
                  <a:cxn ang="0">
                    <a:pos x="0" y="0"/>
                  </a:cxn>
                  <a:cxn ang="0">
                    <a:pos x="2" y="0"/>
                  </a:cxn>
                </a:cxnLst>
                <a:rect l="0" t="0" r="r" b="b"/>
                <a:pathLst>
                  <a:path w="2" h="2">
                    <a:moveTo>
                      <a:pt x="2" y="0"/>
                    </a:moveTo>
                    <a:lnTo>
                      <a:pt x="2" y="0"/>
                    </a:lnTo>
                    <a:lnTo>
                      <a:pt x="2" y="2"/>
                    </a:lnTo>
                    <a:lnTo>
                      <a:pt x="0" y="0"/>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55" name="Freeform 228">
                <a:extLst>
                  <a:ext uri="{FF2B5EF4-FFF2-40B4-BE49-F238E27FC236}">
                    <a16:creationId xmlns:a16="http://schemas.microsoft.com/office/drawing/2014/main" id="{08B7DCEE-1469-3698-B1EE-52269BF9D8D1}"/>
                  </a:ext>
                </a:extLst>
              </p:cNvPr>
              <p:cNvSpPr>
                <a:spLocks/>
              </p:cNvSpPr>
              <p:nvPr/>
            </p:nvSpPr>
            <p:spPr bwMode="auto">
              <a:xfrm>
                <a:off x="4175713" y="3059078"/>
                <a:ext cx="9723" cy="5764"/>
              </a:xfrm>
              <a:custGeom>
                <a:avLst/>
                <a:gdLst/>
                <a:ahLst/>
                <a:cxnLst>
                  <a:cxn ang="0">
                    <a:pos x="10" y="0"/>
                  </a:cxn>
                  <a:cxn ang="0">
                    <a:pos x="10" y="0"/>
                  </a:cxn>
                  <a:cxn ang="0">
                    <a:pos x="10" y="2"/>
                  </a:cxn>
                  <a:cxn ang="0">
                    <a:pos x="2" y="6"/>
                  </a:cxn>
                  <a:cxn ang="0">
                    <a:pos x="0" y="6"/>
                  </a:cxn>
                  <a:cxn ang="0">
                    <a:pos x="2" y="4"/>
                  </a:cxn>
                  <a:cxn ang="0">
                    <a:pos x="4" y="2"/>
                  </a:cxn>
                  <a:cxn ang="0">
                    <a:pos x="10" y="0"/>
                  </a:cxn>
                </a:cxnLst>
                <a:rect l="0" t="0" r="r" b="b"/>
                <a:pathLst>
                  <a:path w="10" h="6">
                    <a:moveTo>
                      <a:pt x="10" y="0"/>
                    </a:moveTo>
                    <a:lnTo>
                      <a:pt x="10" y="0"/>
                    </a:lnTo>
                    <a:lnTo>
                      <a:pt x="10" y="2"/>
                    </a:lnTo>
                    <a:lnTo>
                      <a:pt x="2" y="6"/>
                    </a:lnTo>
                    <a:lnTo>
                      <a:pt x="0" y="6"/>
                    </a:lnTo>
                    <a:lnTo>
                      <a:pt x="2" y="4"/>
                    </a:lnTo>
                    <a:lnTo>
                      <a:pt x="4" y="2"/>
                    </a:lnTo>
                    <a:lnTo>
                      <a:pt x="1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56" name="Freeform 229">
                <a:extLst>
                  <a:ext uri="{FF2B5EF4-FFF2-40B4-BE49-F238E27FC236}">
                    <a16:creationId xmlns:a16="http://schemas.microsoft.com/office/drawing/2014/main" id="{6FA6145E-633D-AE8C-FD15-3A105C5B9068}"/>
                  </a:ext>
                </a:extLst>
              </p:cNvPr>
              <p:cNvSpPr>
                <a:spLocks/>
              </p:cNvSpPr>
              <p:nvPr/>
            </p:nvSpPr>
            <p:spPr bwMode="auto">
              <a:xfrm>
                <a:off x="4175713" y="3059078"/>
                <a:ext cx="9723" cy="5764"/>
              </a:xfrm>
              <a:custGeom>
                <a:avLst/>
                <a:gdLst/>
                <a:ahLst/>
                <a:cxnLst>
                  <a:cxn ang="0">
                    <a:pos x="10" y="0"/>
                  </a:cxn>
                  <a:cxn ang="0">
                    <a:pos x="10" y="0"/>
                  </a:cxn>
                  <a:cxn ang="0">
                    <a:pos x="10" y="2"/>
                  </a:cxn>
                  <a:cxn ang="0">
                    <a:pos x="2" y="6"/>
                  </a:cxn>
                  <a:cxn ang="0">
                    <a:pos x="0" y="6"/>
                  </a:cxn>
                  <a:cxn ang="0">
                    <a:pos x="2" y="4"/>
                  </a:cxn>
                  <a:cxn ang="0">
                    <a:pos x="4" y="2"/>
                  </a:cxn>
                  <a:cxn ang="0">
                    <a:pos x="10" y="0"/>
                  </a:cxn>
                </a:cxnLst>
                <a:rect l="0" t="0" r="r" b="b"/>
                <a:pathLst>
                  <a:path w="10" h="6">
                    <a:moveTo>
                      <a:pt x="10" y="0"/>
                    </a:moveTo>
                    <a:lnTo>
                      <a:pt x="10" y="0"/>
                    </a:lnTo>
                    <a:lnTo>
                      <a:pt x="10" y="2"/>
                    </a:lnTo>
                    <a:lnTo>
                      <a:pt x="2" y="6"/>
                    </a:lnTo>
                    <a:lnTo>
                      <a:pt x="0" y="6"/>
                    </a:lnTo>
                    <a:lnTo>
                      <a:pt x="2" y="4"/>
                    </a:lnTo>
                    <a:lnTo>
                      <a:pt x="4" y="2"/>
                    </a:lnTo>
                    <a:lnTo>
                      <a:pt x="1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57" name="Freeform 230">
                <a:extLst>
                  <a:ext uri="{FF2B5EF4-FFF2-40B4-BE49-F238E27FC236}">
                    <a16:creationId xmlns:a16="http://schemas.microsoft.com/office/drawing/2014/main" id="{8DD2A0D1-3BD9-781A-92B9-65A48C5A51DC}"/>
                  </a:ext>
                </a:extLst>
              </p:cNvPr>
              <p:cNvSpPr>
                <a:spLocks/>
              </p:cNvSpPr>
              <p:nvPr/>
            </p:nvSpPr>
            <p:spPr bwMode="auto">
              <a:xfrm>
                <a:off x="4179602" y="3047550"/>
                <a:ext cx="1944" cy="961"/>
              </a:xfrm>
              <a:custGeom>
                <a:avLst/>
                <a:gdLst/>
                <a:ahLst/>
                <a:cxnLst>
                  <a:cxn ang="0">
                    <a:pos x="2" y="0"/>
                  </a:cxn>
                  <a:cxn ang="0">
                    <a:pos x="2" y="0"/>
                  </a:cxn>
                  <a:cxn ang="0">
                    <a:pos x="0" y="0"/>
                  </a:cxn>
                  <a:cxn ang="0">
                    <a:pos x="2" y="0"/>
                  </a:cxn>
                </a:cxnLst>
                <a:rect l="0" t="0" r="r" b="b"/>
                <a:pathLst>
                  <a:path w="2">
                    <a:moveTo>
                      <a:pt x="2" y="0"/>
                    </a:moveTo>
                    <a:lnTo>
                      <a:pt x="2" y="0"/>
                    </a:lnTo>
                    <a:lnTo>
                      <a:pt x="0" y="0"/>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58" name="Freeform 231">
                <a:extLst>
                  <a:ext uri="{FF2B5EF4-FFF2-40B4-BE49-F238E27FC236}">
                    <a16:creationId xmlns:a16="http://schemas.microsoft.com/office/drawing/2014/main" id="{7B32AEA5-1469-5246-8AFB-ECD2AC54A362}"/>
                  </a:ext>
                </a:extLst>
              </p:cNvPr>
              <p:cNvSpPr>
                <a:spLocks/>
              </p:cNvSpPr>
              <p:nvPr/>
            </p:nvSpPr>
            <p:spPr bwMode="auto">
              <a:xfrm>
                <a:off x="4179602" y="3047550"/>
                <a:ext cx="1944" cy="961"/>
              </a:xfrm>
              <a:custGeom>
                <a:avLst/>
                <a:gdLst/>
                <a:ahLst/>
                <a:cxnLst>
                  <a:cxn ang="0">
                    <a:pos x="2" y="0"/>
                  </a:cxn>
                  <a:cxn ang="0">
                    <a:pos x="2" y="0"/>
                  </a:cxn>
                  <a:cxn ang="0">
                    <a:pos x="0" y="0"/>
                  </a:cxn>
                  <a:cxn ang="0">
                    <a:pos x="2" y="0"/>
                  </a:cxn>
                </a:cxnLst>
                <a:rect l="0" t="0" r="r" b="b"/>
                <a:pathLst>
                  <a:path w="2">
                    <a:moveTo>
                      <a:pt x="2" y="0"/>
                    </a:moveTo>
                    <a:lnTo>
                      <a:pt x="2" y="0"/>
                    </a:lnTo>
                    <a:lnTo>
                      <a:pt x="0" y="0"/>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59" name="Freeform 232">
                <a:extLst>
                  <a:ext uri="{FF2B5EF4-FFF2-40B4-BE49-F238E27FC236}">
                    <a16:creationId xmlns:a16="http://schemas.microsoft.com/office/drawing/2014/main" id="{F95108AB-E6BA-8517-AAAB-A17E9D74EAA6}"/>
                  </a:ext>
                </a:extLst>
              </p:cNvPr>
              <p:cNvSpPr>
                <a:spLocks/>
              </p:cNvSpPr>
              <p:nvPr/>
            </p:nvSpPr>
            <p:spPr bwMode="auto">
              <a:xfrm>
                <a:off x="4181547" y="3043708"/>
                <a:ext cx="1944" cy="1921"/>
              </a:xfrm>
              <a:custGeom>
                <a:avLst/>
                <a:gdLst/>
                <a:ahLst/>
                <a:cxnLst>
                  <a:cxn ang="0">
                    <a:pos x="0" y="0"/>
                  </a:cxn>
                  <a:cxn ang="0">
                    <a:pos x="0" y="0"/>
                  </a:cxn>
                  <a:cxn ang="0">
                    <a:pos x="2" y="0"/>
                  </a:cxn>
                  <a:cxn ang="0">
                    <a:pos x="2" y="2"/>
                  </a:cxn>
                  <a:cxn ang="0">
                    <a:pos x="0" y="2"/>
                  </a:cxn>
                  <a:cxn ang="0">
                    <a:pos x="0" y="0"/>
                  </a:cxn>
                </a:cxnLst>
                <a:rect l="0" t="0" r="r" b="b"/>
                <a:pathLst>
                  <a:path w="2" h="2">
                    <a:moveTo>
                      <a:pt x="0" y="0"/>
                    </a:moveTo>
                    <a:lnTo>
                      <a:pt x="0" y="0"/>
                    </a:lnTo>
                    <a:lnTo>
                      <a:pt x="2" y="0"/>
                    </a:lnTo>
                    <a:lnTo>
                      <a:pt x="2" y="2"/>
                    </a:ln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60" name="Freeform 233">
                <a:extLst>
                  <a:ext uri="{FF2B5EF4-FFF2-40B4-BE49-F238E27FC236}">
                    <a16:creationId xmlns:a16="http://schemas.microsoft.com/office/drawing/2014/main" id="{FEE6D053-F651-6133-8253-7C651F163723}"/>
                  </a:ext>
                </a:extLst>
              </p:cNvPr>
              <p:cNvSpPr>
                <a:spLocks/>
              </p:cNvSpPr>
              <p:nvPr/>
            </p:nvSpPr>
            <p:spPr bwMode="auto">
              <a:xfrm>
                <a:off x="4181547" y="3043708"/>
                <a:ext cx="1944" cy="1921"/>
              </a:xfrm>
              <a:custGeom>
                <a:avLst/>
                <a:gdLst/>
                <a:ahLst/>
                <a:cxnLst>
                  <a:cxn ang="0">
                    <a:pos x="0" y="0"/>
                  </a:cxn>
                  <a:cxn ang="0">
                    <a:pos x="0" y="0"/>
                  </a:cxn>
                  <a:cxn ang="0">
                    <a:pos x="2" y="0"/>
                  </a:cxn>
                  <a:cxn ang="0">
                    <a:pos x="2" y="2"/>
                  </a:cxn>
                  <a:cxn ang="0">
                    <a:pos x="0" y="2"/>
                  </a:cxn>
                  <a:cxn ang="0">
                    <a:pos x="0" y="0"/>
                  </a:cxn>
                </a:cxnLst>
                <a:rect l="0" t="0" r="r" b="b"/>
                <a:pathLst>
                  <a:path w="2" h="2">
                    <a:moveTo>
                      <a:pt x="0" y="0"/>
                    </a:moveTo>
                    <a:lnTo>
                      <a:pt x="0" y="0"/>
                    </a:lnTo>
                    <a:lnTo>
                      <a:pt x="2" y="0"/>
                    </a:lnTo>
                    <a:lnTo>
                      <a:pt x="2" y="2"/>
                    </a:lnTo>
                    <a:lnTo>
                      <a:pt x="0" y="2"/>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61" name="Freeform 234">
                <a:extLst>
                  <a:ext uri="{FF2B5EF4-FFF2-40B4-BE49-F238E27FC236}">
                    <a16:creationId xmlns:a16="http://schemas.microsoft.com/office/drawing/2014/main" id="{02856EBA-896F-A1AC-D57C-37C4A1508E0B}"/>
                  </a:ext>
                </a:extLst>
              </p:cNvPr>
              <p:cNvSpPr>
                <a:spLocks/>
              </p:cNvSpPr>
              <p:nvPr/>
            </p:nvSpPr>
            <p:spPr bwMode="auto">
              <a:xfrm>
                <a:off x="4383795" y="2999516"/>
                <a:ext cx="7779" cy="3843"/>
              </a:xfrm>
              <a:custGeom>
                <a:avLst/>
                <a:gdLst/>
                <a:ahLst/>
                <a:cxnLst>
                  <a:cxn ang="0">
                    <a:pos x="6" y="0"/>
                  </a:cxn>
                  <a:cxn ang="0">
                    <a:pos x="6" y="0"/>
                  </a:cxn>
                  <a:cxn ang="0">
                    <a:pos x="8" y="2"/>
                  </a:cxn>
                  <a:cxn ang="0">
                    <a:pos x="6" y="4"/>
                  </a:cxn>
                  <a:cxn ang="0">
                    <a:pos x="0" y="2"/>
                  </a:cxn>
                  <a:cxn ang="0">
                    <a:pos x="2" y="2"/>
                  </a:cxn>
                  <a:cxn ang="0">
                    <a:pos x="6" y="0"/>
                  </a:cxn>
                </a:cxnLst>
                <a:rect l="0" t="0" r="r" b="b"/>
                <a:pathLst>
                  <a:path w="8" h="4">
                    <a:moveTo>
                      <a:pt x="6" y="0"/>
                    </a:moveTo>
                    <a:lnTo>
                      <a:pt x="6" y="0"/>
                    </a:lnTo>
                    <a:lnTo>
                      <a:pt x="8" y="2"/>
                    </a:lnTo>
                    <a:lnTo>
                      <a:pt x="6" y="4"/>
                    </a:lnTo>
                    <a:lnTo>
                      <a:pt x="0" y="2"/>
                    </a:lnTo>
                    <a:lnTo>
                      <a:pt x="2" y="2"/>
                    </a:lnTo>
                    <a:lnTo>
                      <a:pt x="6"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62" name="Freeform 235">
                <a:extLst>
                  <a:ext uri="{FF2B5EF4-FFF2-40B4-BE49-F238E27FC236}">
                    <a16:creationId xmlns:a16="http://schemas.microsoft.com/office/drawing/2014/main" id="{EA238F7D-87AA-8EE5-0CB8-05F1689E6127}"/>
                  </a:ext>
                </a:extLst>
              </p:cNvPr>
              <p:cNvSpPr>
                <a:spLocks/>
              </p:cNvSpPr>
              <p:nvPr/>
            </p:nvSpPr>
            <p:spPr bwMode="auto">
              <a:xfrm>
                <a:off x="4383795" y="2999516"/>
                <a:ext cx="7779" cy="3843"/>
              </a:xfrm>
              <a:custGeom>
                <a:avLst/>
                <a:gdLst/>
                <a:ahLst/>
                <a:cxnLst>
                  <a:cxn ang="0">
                    <a:pos x="6" y="0"/>
                  </a:cxn>
                  <a:cxn ang="0">
                    <a:pos x="6" y="0"/>
                  </a:cxn>
                  <a:cxn ang="0">
                    <a:pos x="8" y="2"/>
                  </a:cxn>
                  <a:cxn ang="0">
                    <a:pos x="6" y="4"/>
                  </a:cxn>
                  <a:cxn ang="0">
                    <a:pos x="0" y="2"/>
                  </a:cxn>
                  <a:cxn ang="0">
                    <a:pos x="2" y="2"/>
                  </a:cxn>
                  <a:cxn ang="0">
                    <a:pos x="6" y="0"/>
                  </a:cxn>
                </a:cxnLst>
                <a:rect l="0" t="0" r="r" b="b"/>
                <a:pathLst>
                  <a:path w="8" h="4">
                    <a:moveTo>
                      <a:pt x="6" y="0"/>
                    </a:moveTo>
                    <a:lnTo>
                      <a:pt x="6" y="0"/>
                    </a:lnTo>
                    <a:lnTo>
                      <a:pt x="8" y="2"/>
                    </a:lnTo>
                    <a:lnTo>
                      <a:pt x="6" y="4"/>
                    </a:lnTo>
                    <a:lnTo>
                      <a:pt x="0" y="2"/>
                    </a:lnTo>
                    <a:lnTo>
                      <a:pt x="2" y="2"/>
                    </a:lnTo>
                    <a:lnTo>
                      <a:pt x="6"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63" name="Freeform 236">
                <a:extLst>
                  <a:ext uri="{FF2B5EF4-FFF2-40B4-BE49-F238E27FC236}">
                    <a16:creationId xmlns:a16="http://schemas.microsoft.com/office/drawing/2014/main" id="{F013299D-0FF8-FF41-F4FE-9C053909B900}"/>
                  </a:ext>
                </a:extLst>
              </p:cNvPr>
              <p:cNvSpPr>
                <a:spLocks/>
              </p:cNvSpPr>
              <p:nvPr/>
            </p:nvSpPr>
            <p:spPr bwMode="auto">
              <a:xfrm>
                <a:off x="4160155" y="2982224"/>
                <a:ext cx="3890" cy="961"/>
              </a:xfrm>
              <a:custGeom>
                <a:avLst/>
                <a:gdLst/>
                <a:ahLst/>
                <a:cxnLst>
                  <a:cxn ang="0">
                    <a:pos x="2" y="0"/>
                  </a:cxn>
                  <a:cxn ang="0">
                    <a:pos x="2" y="0"/>
                  </a:cxn>
                  <a:cxn ang="0">
                    <a:pos x="0" y="0"/>
                  </a:cxn>
                  <a:cxn ang="0">
                    <a:pos x="4" y="0"/>
                  </a:cxn>
                  <a:cxn ang="0">
                    <a:pos x="2" y="0"/>
                  </a:cxn>
                </a:cxnLst>
                <a:rect l="0" t="0" r="r" b="b"/>
                <a:pathLst>
                  <a:path w="4">
                    <a:moveTo>
                      <a:pt x="2" y="0"/>
                    </a:moveTo>
                    <a:lnTo>
                      <a:pt x="2" y="0"/>
                    </a:lnTo>
                    <a:lnTo>
                      <a:pt x="0" y="0"/>
                    </a:lnTo>
                    <a:lnTo>
                      <a:pt x="4" y="0"/>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64" name="Freeform 237">
                <a:extLst>
                  <a:ext uri="{FF2B5EF4-FFF2-40B4-BE49-F238E27FC236}">
                    <a16:creationId xmlns:a16="http://schemas.microsoft.com/office/drawing/2014/main" id="{63E2BDEC-CBD1-07AC-F2DE-83A8C6C51FD3}"/>
                  </a:ext>
                </a:extLst>
              </p:cNvPr>
              <p:cNvSpPr>
                <a:spLocks/>
              </p:cNvSpPr>
              <p:nvPr/>
            </p:nvSpPr>
            <p:spPr bwMode="auto">
              <a:xfrm>
                <a:off x="4160155" y="2982224"/>
                <a:ext cx="3890" cy="961"/>
              </a:xfrm>
              <a:custGeom>
                <a:avLst/>
                <a:gdLst/>
                <a:ahLst/>
                <a:cxnLst>
                  <a:cxn ang="0">
                    <a:pos x="2" y="0"/>
                  </a:cxn>
                  <a:cxn ang="0">
                    <a:pos x="2" y="0"/>
                  </a:cxn>
                  <a:cxn ang="0">
                    <a:pos x="0" y="0"/>
                  </a:cxn>
                  <a:cxn ang="0">
                    <a:pos x="4" y="0"/>
                  </a:cxn>
                  <a:cxn ang="0">
                    <a:pos x="2" y="0"/>
                  </a:cxn>
                </a:cxnLst>
                <a:rect l="0" t="0" r="r" b="b"/>
                <a:pathLst>
                  <a:path w="4">
                    <a:moveTo>
                      <a:pt x="2" y="0"/>
                    </a:moveTo>
                    <a:lnTo>
                      <a:pt x="2" y="0"/>
                    </a:lnTo>
                    <a:lnTo>
                      <a:pt x="0" y="0"/>
                    </a:lnTo>
                    <a:lnTo>
                      <a:pt x="4" y="0"/>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65" name="Freeform 238">
                <a:extLst>
                  <a:ext uri="{FF2B5EF4-FFF2-40B4-BE49-F238E27FC236}">
                    <a16:creationId xmlns:a16="http://schemas.microsoft.com/office/drawing/2014/main" id="{AABE30DB-C3CB-6B08-E5CD-BD3AA34E6CED}"/>
                  </a:ext>
                </a:extLst>
              </p:cNvPr>
              <p:cNvSpPr>
                <a:spLocks/>
              </p:cNvSpPr>
              <p:nvPr/>
            </p:nvSpPr>
            <p:spPr bwMode="auto">
              <a:xfrm>
                <a:off x="4150431" y="2978381"/>
                <a:ext cx="3890" cy="5764"/>
              </a:xfrm>
              <a:custGeom>
                <a:avLst/>
                <a:gdLst/>
                <a:ahLst/>
                <a:cxnLst>
                  <a:cxn ang="0">
                    <a:pos x="2" y="0"/>
                  </a:cxn>
                  <a:cxn ang="0">
                    <a:pos x="2" y="0"/>
                  </a:cxn>
                  <a:cxn ang="0">
                    <a:pos x="0" y="2"/>
                  </a:cxn>
                  <a:cxn ang="0">
                    <a:pos x="0" y="4"/>
                  </a:cxn>
                  <a:cxn ang="0">
                    <a:pos x="0" y="6"/>
                  </a:cxn>
                  <a:cxn ang="0">
                    <a:pos x="4" y="6"/>
                  </a:cxn>
                  <a:cxn ang="0">
                    <a:pos x="4" y="2"/>
                  </a:cxn>
                  <a:cxn ang="0">
                    <a:pos x="2" y="0"/>
                  </a:cxn>
                </a:cxnLst>
                <a:rect l="0" t="0" r="r" b="b"/>
                <a:pathLst>
                  <a:path w="4" h="6">
                    <a:moveTo>
                      <a:pt x="2" y="0"/>
                    </a:moveTo>
                    <a:lnTo>
                      <a:pt x="2" y="0"/>
                    </a:lnTo>
                    <a:lnTo>
                      <a:pt x="0" y="2"/>
                    </a:lnTo>
                    <a:lnTo>
                      <a:pt x="0" y="4"/>
                    </a:lnTo>
                    <a:lnTo>
                      <a:pt x="0" y="6"/>
                    </a:lnTo>
                    <a:lnTo>
                      <a:pt x="4" y="6"/>
                    </a:lnTo>
                    <a:lnTo>
                      <a:pt x="4" y="2"/>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66" name="Freeform 239">
                <a:extLst>
                  <a:ext uri="{FF2B5EF4-FFF2-40B4-BE49-F238E27FC236}">
                    <a16:creationId xmlns:a16="http://schemas.microsoft.com/office/drawing/2014/main" id="{FF23298A-DCD7-D2A5-1568-18E97408D54B}"/>
                  </a:ext>
                </a:extLst>
              </p:cNvPr>
              <p:cNvSpPr>
                <a:spLocks/>
              </p:cNvSpPr>
              <p:nvPr/>
            </p:nvSpPr>
            <p:spPr bwMode="auto">
              <a:xfrm>
                <a:off x="4150431" y="2978381"/>
                <a:ext cx="3890" cy="5764"/>
              </a:xfrm>
              <a:custGeom>
                <a:avLst/>
                <a:gdLst/>
                <a:ahLst/>
                <a:cxnLst>
                  <a:cxn ang="0">
                    <a:pos x="2" y="0"/>
                  </a:cxn>
                  <a:cxn ang="0">
                    <a:pos x="2" y="0"/>
                  </a:cxn>
                  <a:cxn ang="0">
                    <a:pos x="0" y="2"/>
                  </a:cxn>
                  <a:cxn ang="0">
                    <a:pos x="0" y="4"/>
                  </a:cxn>
                  <a:cxn ang="0">
                    <a:pos x="0" y="6"/>
                  </a:cxn>
                  <a:cxn ang="0">
                    <a:pos x="4" y="6"/>
                  </a:cxn>
                  <a:cxn ang="0">
                    <a:pos x="4" y="2"/>
                  </a:cxn>
                  <a:cxn ang="0">
                    <a:pos x="2" y="0"/>
                  </a:cxn>
                </a:cxnLst>
                <a:rect l="0" t="0" r="r" b="b"/>
                <a:pathLst>
                  <a:path w="4" h="6">
                    <a:moveTo>
                      <a:pt x="2" y="0"/>
                    </a:moveTo>
                    <a:lnTo>
                      <a:pt x="2" y="0"/>
                    </a:lnTo>
                    <a:lnTo>
                      <a:pt x="0" y="2"/>
                    </a:lnTo>
                    <a:lnTo>
                      <a:pt x="0" y="4"/>
                    </a:lnTo>
                    <a:lnTo>
                      <a:pt x="0" y="6"/>
                    </a:lnTo>
                    <a:lnTo>
                      <a:pt x="4" y="6"/>
                    </a:lnTo>
                    <a:lnTo>
                      <a:pt x="4" y="2"/>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67" name="Freeform 240">
                <a:extLst>
                  <a:ext uri="{FF2B5EF4-FFF2-40B4-BE49-F238E27FC236}">
                    <a16:creationId xmlns:a16="http://schemas.microsoft.com/office/drawing/2014/main" id="{7C8CC0FB-9AFB-A834-76CC-2664F3394AC0}"/>
                  </a:ext>
                </a:extLst>
              </p:cNvPr>
              <p:cNvSpPr>
                <a:spLocks/>
              </p:cNvSpPr>
              <p:nvPr/>
            </p:nvSpPr>
            <p:spPr bwMode="auto">
              <a:xfrm>
                <a:off x="4393518" y="2947639"/>
                <a:ext cx="44728" cy="24978"/>
              </a:xfrm>
              <a:custGeom>
                <a:avLst/>
                <a:gdLst/>
                <a:ahLst/>
                <a:cxnLst>
                  <a:cxn ang="0">
                    <a:pos x="18" y="0"/>
                  </a:cxn>
                  <a:cxn ang="0">
                    <a:pos x="18" y="0"/>
                  </a:cxn>
                  <a:cxn ang="0">
                    <a:pos x="14" y="2"/>
                  </a:cxn>
                  <a:cxn ang="0">
                    <a:pos x="14" y="4"/>
                  </a:cxn>
                  <a:cxn ang="0">
                    <a:pos x="16" y="6"/>
                  </a:cxn>
                  <a:cxn ang="0">
                    <a:pos x="8" y="4"/>
                  </a:cxn>
                  <a:cxn ang="0">
                    <a:pos x="6" y="4"/>
                  </a:cxn>
                  <a:cxn ang="0">
                    <a:pos x="2" y="6"/>
                  </a:cxn>
                  <a:cxn ang="0">
                    <a:pos x="0" y="8"/>
                  </a:cxn>
                  <a:cxn ang="0">
                    <a:pos x="0" y="12"/>
                  </a:cxn>
                  <a:cxn ang="0">
                    <a:pos x="4" y="12"/>
                  </a:cxn>
                  <a:cxn ang="0">
                    <a:pos x="6" y="14"/>
                  </a:cxn>
                  <a:cxn ang="0">
                    <a:pos x="8" y="14"/>
                  </a:cxn>
                  <a:cxn ang="0">
                    <a:pos x="12" y="12"/>
                  </a:cxn>
                  <a:cxn ang="0">
                    <a:pos x="14" y="12"/>
                  </a:cxn>
                  <a:cxn ang="0">
                    <a:pos x="16" y="10"/>
                  </a:cxn>
                  <a:cxn ang="0">
                    <a:pos x="16" y="8"/>
                  </a:cxn>
                  <a:cxn ang="0">
                    <a:pos x="18" y="8"/>
                  </a:cxn>
                  <a:cxn ang="0">
                    <a:pos x="18" y="10"/>
                  </a:cxn>
                  <a:cxn ang="0">
                    <a:pos x="26" y="12"/>
                  </a:cxn>
                  <a:cxn ang="0">
                    <a:pos x="28" y="12"/>
                  </a:cxn>
                  <a:cxn ang="0">
                    <a:pos x="26" y="14"/>
                  </a:cxn>
                  <a:cxn ang="0">
                    <a:pos x="24" y="14"/>
                  </a:cxn>
                  <a:cxn ang="0">
                    <a:pos x="26" y="14"/>
                  </a:cxn>
                  <a:cxn ang="0">
                    <a:pos x="26" y="16"/>
                  </a:cxn>
                  <a:cxn ang="0">
                    <a:pos x="26" y="18"/>
                  </a:cxn>
                  <a:cxn ang="0">
                    <a:pos x="26" y="18"/>
                  </a:cxn>
                  <a:cxn ang="0">
                    <a:pos x="28" y="20"/>
                  </a:cxn>
                  <a:cxn ang="0">
                    <a:pos x="36" y="24"/>
                  </a:cxn>
                  <a:cxn ang="0">
                    <a:pos x="40" y="26"/>
                  </a:cxn>
                  <a:cxn ang="0">
                    <a:pos x="46" y="26"/>
                  </a:cxn>
                  <a:cxn ang="0">
                    <a:pos x="46" y="24"/>
                  </a:cxn>
                  <a:cxn ang="0">
                    <a:pos x="42" y="22"/>
                  </a:cxn>
                  <a:cxn ang="0">
                    <a:pos x="40" y="22"/>
                  </a:cxn>
                  <a:cxn ang="0">
                    <a:pos x="44" y="20"/>
                  </a:cxn>
                  <a:cxn ang="0">
                    <a:pos x="44" y="18"/>
                  </a:cxn>
                  <a:cxn ang="0">
                    <a:pos x="38" y="18"/>
                  </a:cxn>
                  <a:cxn ang="0">
                    <a:pos x="34" y="16"/>
                  </a:cxn>
                  <a:cxn ang="0">
                    <a:pos x="38" y="16"/>
                  </a:cxn>
                  <a:cxn ang="0">
                    <a:pos x="40" y="18"/>
                  </a:cxn>
                  <a:cxn ang="0">
                    <a:pos x="42" y="18"/>
                  </a:cxn>
                  <a:cxn ang="0">
                    <a:pos x="44" y="18"/>
                  </a:cxn>
                  <a:cxn ang="0">
                    <a:pos x="44" y="12"/>
                  </a:cxn>
                  <a:cxn ang="0">
                    <a:pos x="38" y="10"/>
                  </a:cxn>
                  <a:cxn ang="0">
                    <a:pos x="32" y="12"/>
                  </a:cxn>
                  <a:cxn ang="0">
                    <a:pos x="34" y="10"/>
                  </a:cxn>
                  <a:cxn ang="0">
                    <a:pos x="36" y="10"/>
                  </a:cxn>
                  <a:cxn ang="0">
                    <a:pos x="38" y="6"/>
                  </a:cxn>
                  <a:cxn ang="0">
                    <a:pos x="30" y="6"/>
                  </a:cxn>
                  <a:cxn ang="0">
                    <a:pos x="32" y="4"/>
                  </a:cxn>
                  <a:cxn ang="0">
                    <a:pos x="24" y="2"/>
                  </a:cxn>
                  <a:cxn ang="0">
                    <a:pos x="18" y="0"/>
                  </a:cxn>
                </a:cxnLst>
                <a:rect l="0" t="0" r="r" b="b"/>
                <a:pathLst>
                  <a:path w="46" h="26">
                    <a:moveTo>
                      <a:pt x="18" y="0"/>
                    </a:moveTo>
                    <a:lnTo>
                      <a:pt x="18" y="0"/>
                    </a:lnTo>
                    <a:lnTo>
                      <a:pt x="14" y="2"/>
                    </a:lnTo>
                    <a:lnTo>
                      <a:pt x="14" y="4"/>
                    </a:lnTo>
                    <a:lnTo>
                      <a:pt x="16" y="6"/>
                    </a:lnTo>
                    <a:lnTo>
                      <a:pt x="8" y="4"/>
                    </a:lnTo>
                    <a:lnTo>
                      <a:pt x="6" y="4"/>
                    </a:lnTo>
                    <a:lnTo>
                      <a:pt x="2" y="6"/>
                    </a:lnTo>
                    <a:lnTo>
                      <a:pt x="0" y="8"/>
                    </a:lnTo>
                    <a:lnTo>
                      <a:pt x="0" y="12"/>
                    </a:lnTo>
                    <a:lnTo>
                      <a:pt x="4" y="12"/>
                    </a:lnTo>
                    <a:lnTo>
                      <a:pt x="6" y="14"/>
                    </a:lnTo>
                    <a:lnTo>
                      <a:pt x="8" y="14"/>
                    </a:lnTo>
                    <a:lnTo>
                      <a:pt x="12" y="12"/>
                    </a:lnTo>
                    <a:lnTo>
                      <a:pt x="14" y="12"/>
                    </a:lnTo>
                    <a:lnTo>
                      <a:pt x="16" y="10"/>
                    </a:lnTo>
                    <a:lnTo>
                      <a:pt x="16" y="8"/>
                    </a:lnTo>
                    <a:lnTo>
                      <a:pt x="18" y="8"/>
                    </a:lnTo>
                    <a:lnTo>
                      <a:pt x="18" y="10"/>
                    </a:lnTo>
                    <a:lnTo>
                      <a:pt x="26" y="12"/>
                    </a:lnTo>
                    <a:lnTo>
                      <a:pt x="28" y="12"/>
                    </a:lnTo>
                    <a:lnTo>
                      <a:pt x="26" y="14"/>
                    </a:lnTo>
                    <a:lnTo>
                      <a:pt x="24" y="14"/>
                    </a:lnTo>
                    <a:lnTo>
                      <a:pt x="26" y="14"/>
                    </a:lnTo>
                    <a:lnTo>
                      <a:pt x="26" y="16"/>
                    </a:lnTo>
                    <a:lnTo>
                      <a:pt x="26" y="18"/>
                    </a:lnTo>
                    <a:lnTo>
                      <a:pt x="26" y="18"/>
                    </a:lnTo>
                    <a:lnTo>
                      <a:pt x="28" y="20"/>
                    </a:lnTo>
                    <a:lnTo>
                      <a:pt x="36" y="24"/>
                    </a:lnTo>
                    <a:lnTo>
                      <a:pt x="40" y="26"/>
                    </a:lnTo>
                    <a:lnTo>
                      <a:pt x="46" y="26"/>
                    </a:lnTo>
                    <a:lnTo>
                      <a:pt x="46" y="24"/>
                    </a:lnTo>
                    <a:lnTo>
                      <a:pt x="42" y="22"/>
                    </a:lnTo>
                    <a:lnTo>
                      <a:pt x="40" y="22"/>
                    </a:lnTo>
                    <a:lnTo>
                      <a:pt x="44" y="20"/>
                    </a:lnTo>
                    <a:lnTo>
                      <a:pt x="44" y="18"/>
                    </a:lnTo>
                    <a:lnTo>
                      <a:pt x="38" y="18"/>
                    </a:lnTo>
                    <a:lnTo>
                      <a:pt x="34" y="16"/>
                    </a:lnTo>
                    <a:lnTo>
                      <a:pt x="38" y="16"/>
                    </a:lnTo>
                    <a:lnTo>
                      <a:pt x="40" y="18"/>
                    </a:lnTo>
                    <a:lnTo>
                      <a:pt x="42" y="18"/>
                    </a:lnTo>
                    <a:lnTo>
                      <a:pt x="44" y="18"/>
                    </a:lnTo>
                    <a:lnTo>
                      <a:pt x="44" y="12"/>
                    </a:lnTo>
                    <a:lnTo>
                      <a:pt x="38" y="10"/>
                    </a:lnTo>
                    <a:lnTo>
                      <a:pt x="32" y="12"/>
                    </a:lnTo>
                    <a:lnTo>
                      <a:pt x="34" y="10"/>
                    </a:lnTo>
                    <a:lnTo>
                      <a:pt x="36" y="10"/>
                    </a:lnTo>
                    <a:lnTo>
                      <a:pt x="38" y="6"/>
                    </a:lnTo>
                    <a:lnTo>
                      <a:pt x="30" y="6"/>
                    </a:lnTo>
                    <a:lnTo>
                      <a:pt x="32" y="4"/>
                    </a:lnTo>
                    <a:lnTo>
                      <a:pt x="24" y="2"/>
                    </a:lnTo>
                    <a:lnTo>
                      <a:pt x="18"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68" name="Freeform 241">
                <a:extLst>
                  <a:ext uri="{FF2B5EF4-FFF2-40B4-BE49-F238E27FC236}">
                    <a16:creationId xmlns:a16="http://schemas.microsoft.com/office/drawing/2014/main" id="{FBA843E2-7253-316D-6407-9D0A5C947EE4}"/>
                  </a:ext>
                </a:extLst>
              </p:cNvPr>
              <p:cNvSpPr>
                <a:spLocks/>
              </p:cNvSpPr>
              <p:nvPr/>
            </p:nvSpPr>
            <p:spPr bwMode="auto">
              <a:xfrm>
                <a:off x="4393518" y="2947639"/>
                <a:ext cx="44728" cy="24978"/>
              </a:xfrm>
              <a:custGeom>
                <a:avLst/>
                <a:gdLst/>
                <a:ahLst/>
                <a:cxnLst>
                  <a:cxn ang="0">
                    <a:pos x="18" y="0"/>
                  </a:cxn>
                  <a:cxn ang="0">
                    <a:pos x="18" y="0"/>
                  </a:cxn>
                  <a:cxn ang="0">
                    <a:pos x="14" y="2"/>
                  </a:cxn>
                  <a:cxn ang="0">
                    <a:pos x="14" y="4"/>
                  </a:cxn>
                  <a:cxn ang="0">
                    <a:pos x="16" y="6"/>
                  </a:cxn>
                  <a:cxn ang="0">
                    <a:pos x="8" y="4"/>
                  </a:cxn>
                  <a:cxn ang="0">
                    <a:pos x="6" y="4"/>
                  </a:cxn>
                  <a:cxn ang="0">
                    <a:pos x="2" y="6"/>
                  </a:cxn>
                  <a:cxn ang="0">
                    <a:pos x="0" y="8"/>
                  </a:cxn>
                  <a:cxn ang="0">
                    <a:pos x="0" y="12"/>
                  </a:cxn>
                  <a:cxn ang="0">
                    <a:pos x="4" y="12"/>
                  </a:cxn>
                  <a:cxn ang="0">
                    <a:pos x="6" y="14"/>
                  </a:cxn>
                  <a:cxn ang="0">
                    <a:pos x="8" y="14"/>
                  </a:cxn>
                  <a:cxn ang="0">
                    <a:pos x="12" y="12"/>
                  </a:cxn>
                  <a:cxn ang="0">
                    <a:pos x="14" y="12"/>
                  </a:cxn>
                  <a:cxn ang="0">
                    <a:pos x="16" y="10"/>
                  </a:cxn>
                  <a:cxn ang="0">
                    <a:pos x="16" y="8"/>
                  </a:cxn>
                  <a:cxn ang="0">
                    <a:pos x="18" y="8"/>
                  </a:cxn>
                  <a:cxn ang="0">
                    <a:pos x="18" y="10"/>
                  </a:cxn>
                  <a:cxn ang="0">
                    <a:pos x="26" y="12"/>
                  </a:cxn>
                  <a:cxn ang="0">
                    <a:pos x="28" y="12"/>
                  </a:cxn>
                  <a:cxn ang="0">
                    <a:pos x="26" y="14"/>
                  </a:cxn>
                  <a:cxn ang="0">
                    <a:pos x="24" y="14"/>
                  </a:cxn>
                  <a:cxn ang="0">
                    <a:pos x="26" y="14"/>
                  </a:cxn>
                  <a:cxn ang="0">
                    <a:pos x="26" y="16"/>
                  </a:cxn>
                  <a:cxn ang="0">
                    <a:pos x="26" y="18"/>
                  </a:cxn>
                  <a:cxn ang="0">
                    <a:pos x="26" y="18"/>
                  </a:cxn>
                  <a:cxn ang="0">
                    <a:pos x="28" y="20"/>
                  </a:cxn>
                  <a:cxn ang="0">
                    <a:pos x="36" y="24"/>
                  </a:cxn>
                  <a:cxn ang="0">
                    <a:pos x="40" y="26"/>
                  </a:cxn>
                  <a:cxn ang="0">
                    <a:pos x="46" y="26"/>
                  </a:cxn>
                  <a:cxn ang="0">
                    <a:pos x="46" y="24"/>
                  </a:cxn>
                  <a:cxn ang="0">
                    <a:pos x="42" y="22"/>
                  </a:cxn>
                  <a:cxn ang="0">
                    <a:pos x="40" y="22"/>
                  </a:cxn>
                  <a:cxn ang="0">
                    <a:pos x="44" y="20"/>
                  </a:cxn>
                  <a:cxn ang="0">
                    <a:pos x="44" y="18"/>
                  </a:cxn>
                  <a:cxn ang="0">
                    <a:pos x="38" y="18"/>
                  </a:cxn>
                  <a:cxn ang="0">
                    <a:pos x="34" y="16"/>
                  </a:cxn>
                  <a:cxn ang="0">
                    <a:pos x="38" y="16"/>
                  </a:cxn>
                  <a:cxn ang="0">
                    <a:pos x="40" y="18"/>
                  </a:cxn>
                  <a:cxn ang="0">
                    <a:pos x="42" y="18"/>
                  </a:cxn>
                  <a:cxn ang="0">
                    <a:pos x="44" y="18"/>
                  </a:cxn>
                  <a:cxn ang="0">
                    <a:pos x="44" y="12"/>
                  </a:cxn>
                  <a:cxn ang="0">
                    <a:pos x="38" y="10"/>
                  </a:cxn>
                  <a:cxn ang="0">
                    <a:pos x="32" y="12"/>
                  </a:cxn>
                  <a:cxn ang="0">
                    <a:pos x="34" y="10"/>
                  </a:cxn>
                  <a:cxn ang="0">
                    <a:pos x="36" y="10"/>
                  </a:cxn>
                  <a:cxn ang="0">
                    <a:pos x="38" y="6"/>
                  </a:cxn>
                  <a:cxn ang="0">
                    <a:pos x="30" y="6"/>
                  </a:cxn>
                  <a:cxn ang="0">
                    <a:pos x="32" y="4"/>
                  </a:cxn>
                  <a:cxn ang="0">
                    <a:pos x="24" y="2"/>
                  </a:cxn>
                  <a:cxn ang="0">
                    <a:pos x="18" y="0"/>
                  </a:cxn>
                </a:cxnLst>
                <a:rect l="0" t="0" r="r" b="b"/>
                <a:pathLst>
                  <a:path w="46" h="26">
                    <a:moveTo>
                      <a:pt x="18" y="0"/>
                    </a:moveTo>
                    <a:lnTo>
                      <a:pt x="18" y="0"/>
                    </a:lnTo>
                    <a:lnTo>
                      <a:pt x="14" y="2"/>
                    </a:lnTo>
                    <a:lnTo>
                      <a:pt x="14" y="4"/>
                    </a:lnTo>
                    <a:lnTo>
                      <a:pt x="16" y="6"/>
                    </a:lnTo>
                    <a:lnTo>
                      <a:pt x="8" y="4"/>
                    </a:lnTo>
                    <a:lnTo>
                      <a:pt x="6" y="4"/>
                    </a:lnTo>
                    <a:lnTo>
                      <a:pt x="2" y="6"/>
                    </a:lnTo>
                    <a:lnTo>
                      <a:pt x="0" y="8"/>
                    </a:lnTo>
                    <a:lnTo>
                      <a:pt x="0" y="12"/>
                    </a:lnTo>
                    <a:lnTo>
                      <a:pt x="4" y="12"/>
                    </a:lnTo>
                    <a:lnTo>
                      <a:pt x="6" y="14"/>
                    </a:lnTo>
                    <a:lnTo>
                      <a:pt x="8" y="14"/>
                    </a:lnTo>
                    <a:lnTo>
                      <a:pt x="12" y="12"/>
                    </a:lnTo>
                    <a:lnTo>
                      <a:pt x="14" y="12"/>
                    </a:lnTo>
                    <a:lnTo>
                      <a:pt x="16" y="10"/>
                    </a:lnTo>
                    <a:lnTo>
                      <a:pt x="16" y="8"/>
                    </a:lnTo>
                    <a:lnTo>
                      <a:pt x="18" y="8"/>
                    </a:lnTo>
                    <a:lnTo>
                      <a:pt x="18" y="10"/>
                    </a:lnTo>
                    <a:lnTo>
                      <a:pt x="26" y="12"/>
                    </a:lnTo>
                    <a:lnTo>
                      <a:pt x="28" y="12"/>
                    </a:lnTo>
                    <a:lnTo>
                      <a:pt x="26" y="14"/>
                    </a:lnTo>
                    <a:lnTo>
                      <a:pt x="24" y="14"/>
                    </a:lnTo>
                    <a:lnTo>
                      <a:pt x="26" y="14"/>
                    </a:lnTo>
                    <a:lnTo>
                      <a:pt x="26" y="16"/>
                    </a:lnTo>
                    <a:lnTo>
                      <a:pt x="26" y="18"/>
                    </a:lnTo>
                    <a:lnTo>
                      <a:pt x="26" y="18"/>
                    </a:lnTo>
                    <a:lnTo>
                      <a:pt x="28" y="20"/>
                    </a:lnTo>
                    <a:lnTo>
                      <a:pt x="36" y="24"/>
                    </a:lnTo>
                    <a:lnTo>
                      <a:pt x="40" y="26"/>
                    </a:lnTo>
                    <a:lnTo>
                      <a:pt x="46" y="26"/>
                    </a:lnTo>
                    <a:lnTo>
                      <a:pt x="46" y="24"/>
                    </a:lnTo>
                    <a:lnTo>
                      <a:pt x="42" y="22"/>
                    </a:lnTo>
                    <a:lnTo>
                      <a:pt x="40" y="22"/>
                    </a:lnTo>
                    <a:lnTo>
                      <a:pt x="44" y="20"/>
                    </a:lnTo>
                    <a:lnTo>
                      <a:pt x="44" y="18"/>
                    </a:lnTo>
                    <a:lnTo>
                      <a:pt x="38" y="18"/>
                    </a:lnTo>
                    <a:lnTo>
                      <a:pt x="34" y="16"/>
                    </a:lnTo>
                    <a:lnTo>
                      <a:pt x="38" y="16"/>
                    </a:lnTo>
                    <a:lnTo>
                      <a:pt x="40" y="18"/>
                    </a:lnTo>
                    <a:lnTo>
                      <a:pt x="42" y="18"/>
                    </a:lnTo>
                    <a:lnTo>
                      <a:pt x="44" y="18"/>
                    </a:lnTo>
                    <a:lnTo>
                      <a:pt x="44" y="12"/>
                    </a:lnTo>
                    <a:lnTo>
                      <a:pt x="38" y="10"/>
                    </a:lnTo>
                    <a:lnTo>
                      <a:pt x="32" y="12"/>
                    </a:lnTo>
                    <a:lnTo>
                      <a:pt x="34" y="10"/>
                    </a:lnTo>
                    <a:lnTo>
                      <a:pt x="36" y="10"/>
                    </a:lnTo>
                    <a:lnTo>
                      <a:pt x="38" y="6"/>
                    </a:lnTo>
                    <a:lnTo>
                      <a:pt x="30" y="6"/>
                    </a:lnTo>
                    <a:lnTo>
                      <a:pt x="32" y="4"/>
                    </a:lnTo>
                    <a:lnTo>
                      <a:pt x="24" y="2"/>
                    </a:lnTo>
                    <a:lnTo>
                      <a:pt x="18"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69" name="Freeform 242">
                <a:extLst>
                  <a:ext uri="{FF2B5EF4-FFF2-40B4-BE49-F238E27FC236}">
                    <a16:creationId xmlns:a16="http://schemas.microsoft.com/office/drawing/2014/main" id="{AD39D3D1-7663-D96C-B4DC-4B56E61B879F}"/>
                  </a:ext>
                </a:extLst>
              </p:cNvPr>
              <p:cNvSpPr>
                <a:spLocks/>
              </p:cNvSpPr>
              <p:nvPr/>
            </p:nvSpPr>
            <p:spPr bwMode="auto">
              <a:xfrm>
                <a:off x="4117372" y="2924582"/>
                <a:ext cx="5834" cy="1921"/>
              </a:xfrm>
              <a:custGeom>
                <a:avLst/>
                <a:gdLst/>
                <a:ahLst/>
                <a:cxnLst>
                  <a:cxn ang="0">
                    <a:pos x="2" y="0"/>
                  </a:cxn>
                  <a:cxn ang="0">
                    <a:pos x="2" y="0"/>
                  </a:cxn>
                  <a:cxn ang="0">
                    <a:pos x="0" y="2"/>
                  </a:cxn>
                  <a:cxn ang="0">
                    <a:pos x="2" y="2"/>
                  </a:cxn>
                  <a:cxn ang="0">
                    <a:pos x="4" y="2"/>
                  </a:cxn>
                  <a:cxn ang="0">
                    <a:pos x="6" y="0"/>
                  </a:cxn>
                  <a:cxn ang="0">
                    <a:pos x="2" y="0"/>
                  </a:cxn>
                </a:cxnLst>
                <a:rect l="0" t="0" r="r" b="b"/>
                <a:pathLst>
                  <a:path w="6" h="2">
                    <a:moveTo>
                      <a:pt x="2" y="0"/>
                    </a:moveTo>
                    <a:lnTo>
                      <a:pt x="2" y="0"/>
                    </a:lnTo>
                    <a:lnTo>
                      <a:pt x="0" y="2"/>
                    </a:lnTo>
                    <a:lnTo>
                      <a:pt x="2" y="2"/>
                    </a:lnTo>
                    <a:lnTo>
                      <a:pt x="4" y="2"/>
                    </a:lnTo>
                    <a:lnTo>
                      <a:pt x="6" y="0"/>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70" name="Freeform 243">
                <a:extLst>
                  <a:ext uri="{FF2B5EF4-FFF2-40B4-BE49-F238E27FC236}">
                    <a16:creationId xmlns:a16="http://schemas.microsoft.com/office/drawing/2014/main" id="{8E94F6CC-B2F1-A6C8-63D9-BE635F1E3F83}"/>
                  </a:ext>
                </a:extLst>
              </p:cNvPr>
              <p:cNvSpPr>
                <a:spLocks/>
              </p:cNvSpPr>
              <p:nvPr/>
            </p:nvSpPr>
            <p:spPr bwMode="auto">
              <a:xfrm>
                <a:off x="4117372" y="2924582"/>
                <a:ext cx="5834" cy="1921"/>
              </a:xfrm>
              <a:custGeom>
                <a:avLst/>
                <a:gdLst/>
                <a:ahLst/>
                <a:cxnLst>
                  <a:cxn ang="0">
                    <a:pos x="2" y="0"/>
                  </a:cxn>
                  <a:cxn ang="0">
                    <a:pos x="2" y="0"/>
                  </a:cxn>
                  <a:cxn ang="0">
                    <a:pos x="0" y="2"/>
                  </a:cxn>
                  <a:cxn ang="0">
                    <a:pos x="2" y="2"/>
                  </a:cxn>
                  <a:cxn ang="0">
                    <a:pos x="4" y="2"/>
                  </a:cxn>
                  <a:cxn ang="0">
                    <a:pos x="6" y="0"/>
                  </a:cxn>
                  <a:cxn ang="0">
                    <a:pos x="2" y="0"/>
                  </a:cxn>
                </a:cxnLst>
                <a:rect l="0" t="0" r="r" b="b"/>
                <a:pathLst>
                  <a:path w="6" h="2">
                    <a:moveTo>
                      <a:pt x="2" y="0"/>
                    </a:moveTo>
                    <a:lnTo>
                      <a:pt x="2" y="0"/>
                    </a:lnTo>
                    <a:lnTo>
                      <a:pt x="0" y="2"/>
                    </a:lnTo>
                    <a:lnTo>
                      <a:pt x="2" y="2"/>
                    </a:lnTo>
                    <a:lnTo>
                      <a:pt x="4" y="2"/>
                    </a:lnTo>
                    <a:lnTo>
                      <a:pt x="6" y="0"/>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71" name="Freeform 244">
                <a:extLst>
                  <a:ext uri="{FF2B5EF4-FFF2-40B4-BE49-F238E27FC236}">
                    <a16:creationId xmlns:a16="http://schemas.microsoft.com/office/drawing/2014/main" id="{C69809D1-0C2F-8D26-1552-43040F352915}"/>
                  </a:ext>
                </a:extLst>
              </p:cNvPr>
              <p:cNvSpPr>
                <a:spLocks/>
              </p:cNvSpPr>
              <p:nvPr/>
            </p:nvSpPr>
            <p:spPr bwMode="auto">
              <a:xfrm>
                <a:off x="4461583" y="2922661"/>
                <a:ext cx="1944" cy="1921"/>
              </a:xfrm>
              <a:custGeom>
                <a:avLst/>
                <a:gdLst/>
                <a:ahLst/>
                <a:cxnLst>
                  <a:cxn ang="0">
                    <a:pos x="2" y="0"/>
                  </a:cxn>
                  <a:cxn ang="0">
                    <a:pos x="2" y="0"/>
                  </a:cxn>
                  <a:cxn ang="0">
                    <a:pos x="0" y="2"/>
                  </a:cxn>
                  <a:cxn ang="0">
                    <a:pos x="2" y="2"/>
                  </a:cxn>
                  <a:cxn ang="0">
                    <a:pos x="2" y="0"/>
                  </a:cxn>
                </a:cxnLst>
                <a:rect l="0" t="0" r="r" b="b"/>
                <a:pathLst>
                  <a:path w="2" h="2">
                    <a:moveTo>
                      <a:pt x="2" y="0"/>
                    </a:moveTo>
                    <a:lnTo>
                      <a:pt x="2" y="0"/>
                    </a:lnTo>
                    <a:lnTo>
                      <a:pt x="0" y="2"/>
                    </a:lnTo>
                    <a:lnTo>
                      <a:pt x="2" y="2"/>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72" name="Freeform 245">
                <a:extLst>
                  <a:ext uri="{FF2B5EF4-FFF2-40B4-BE49-F238E27FC236}">
                    <a16:creationId xmlns:a16="http://schemas.microsoft.com/office/drawing/2014/main" id="{0A09F81A-38A6-56EF-7D71-3D586D2AAFBF}"/>
                  </a:ext>
                </a:extLst>
              </p:cNvPr>
              <p:cNvSpPr>
                <a:spLocks/>
              </p:cNvSpPr>
              <p:nvPr/>
            </p:nvSpPr>
            <p:spPr bwMode="auto">
              <a:xfrm>
                <a:off x="4461583" y="2922661"/>
                <a:ext cx="1944" cy="1921"/>
              </a:xfrm>
              <a:custGeom>
                <a:avLst/>
                <a:gdLst/>
                <a:ahLst/>
                <a:cxnLst>
                  <a:cxn ang="0">
                    <a:pos x="2" y="0"/>
                  </a:cxn>
                  <a:cxn ang="0">
                    <a:pos x="2" y="0"/>
                  </a:cxn>
                  <a:cxn ang="0">
                    <a:pos x="0" y="2"/>
                  </a:cxn>
                  <a:cxn ang="0">
                    <a:pos x="2" y="2"/>
                  </a:cxn>
                  <a:cxn ang="0">
                    <a:pos x="2" y="0"/>
                  </a:cxn>
                </a:cxnLst>
                <a:rect l="0" t="0" r="r" b="b"/>
                <a:pathLst>
                  <a:path w="2" h="2">
                    <a:moveTo>
                      <a:pt x="2" y="0"/>
                    </a:moveTo>
                    <a:lnTo>
                      <a:pt x="2" y="0"/>
                    </a:lnTo>
                    <a:lnTo>
                      <a:pt x="0" y="2"/>
                    </a:lnTo>
                    <a:lnTo>
                      <a:pt x="2" y="2"/>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73" name="Freeform 246">
                <a:extLst>
                  <a:ext uri="{FF2B5EF4-FFF2-40B4-BE49-F238E27FC236}">
                    <a16:creationId xmlns:a16="http://schemas.microsoft.com/office/drawing/2014/main" id="{CCBF8F0B-9590-DF83-E3A4-9275A41A570F}"/>
                  </a:ext>
                </a:extLst>
              </p:cNvPr>
              <p:cNvSpPr>
                <a:spLocks/>
              </p:cNvSpPr>
              <p:nvPr/>
            </p:nvSpPr>
            <p:spPr bwMode="auto">
              <a:xfrm>
                <a:off x="4449915" y="2918818"/>
                <a:ext cx="5834" cy="5764"/>
              </a:xfrm>
              <a:custGeom>
                <a:avLst/>
                <a:gdLst/>
                <a:ahLst/>
                <a:cxnLst>
                  <a:cxn ang="0">
                    <a:pos x="0" y="0"/>
                  </a:cxn>
                  <a:cxn ang="0">
                    <a:pos x="0" y="0"/>
                  </a:cxn>
                  <a:cxn ang="0">
                    <a:pos x="0" y="2"/>
                  </a:cxn>
                  <a:cxn ang="0">
                    <a:pos x="0" y="6"/>
                  </a:cxn>
                  <a:cxn ang="0">
                    <a:pos x="2" y="6"/>
                  </a:cxn>
                  <a:cxn ang="0">
                    <a:pos x="6" y="6"/>
                  </a:cxn>
                  <a:cxn ang="0">
                    <a:pos x="6" y="2"/>
                  </a:cxn>
                  <a:cxn ang="0">
                    <a:pos x="2" y="2"/>
                  </a:cxn>
                  <a:cxn ang="0">
                    <a:pos x="2" y="0"/>
                  </a:cxn>
                  <a:cxn ang="0">
                    <a:pos x="0" y="0"/>
                  </a:cxn>
                </a:cxnLst>
                <a:rect l="0" t="0" r="r" b="b"/>
                <a:pathLst>
                  <a:path w="6" h="6">
                    <a:moveTo>
                      <a:pt x="0" y="0"/>
                    </a:moveTo>
                    <a:lnTo>
                      <a:pt x="0" y="0"/>
                    </a:lnTo>
                    <a:lnTo>
                      <a:pt x="0" y="2"/>
                    </a:lnTo>
                    <a:lnTo>
                      <a:pt x="0" y="6"/>
                    </a:lnTo>
                    <a:lnTo>
                      <a:pt x="2" y="6"/>
                    </a:lnTo>
                    <a:lnTo>
                      <a:pt x="6" y="6"/>
                    </a:lnTo>
                    <a:lnTo>
                      <a:pt x="6" y="2"/>
                    </a:lnTo>
                    <a:lnTo>
                      <a:pt x="2" y="2"/>
                    </a:lnTo>
                    <a:lnTo>
                      <a:pt x="2"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74" name="Freeform 247">
                <a:extLst>
                  <a:ext uri="{FF2B5EF4-FFF2-40B4-BE49-F238E27FC236}">
                    <a16:creationId xmlns:a16="http://schemas.microsoft.com/office/drawing/2014/main" id="{C7E8A8DD-C140-BEAF-2D3A-B7F3BA9EA4C3}"/>
                  </a:ext>
                </a:extLst>
              </p:cNvPr>
              <p:cNvSpPr>
                <a:spLocks/>
              </p:cNvSpPr>
              <p:nvPr/>
            </p:nvSpPr>
            <p:spPr bwMode="auto">
              <a:xfrm>
                <a:off x="4449915" y="2918818"/>
                <a:ext cx="5834" cy="5764"/>
              </a:xfrm>
              <a:custGeom>
                <a:avLst/>
                <a:gdLst/>
                <a:ahLst/>
                <a:cxnLst>
                  <a:cxn ang="0">
                    <a:pos x="0" y="0"/>
                  </a:cxn>
                  <a:cxn ang="0">
                    <a:pos x="0" y="0"/>
                  </a:cxn>
                  <a:cxn ang="0">
                    <a:pos x="0" y="2"/>
                  </a:cxn>
                  <a:cxn ang="0">
                    <a:pos x="0" y="6"/>
                  </a:cxn>
                  <a:cxn ang="0">
                    <a:pos x="2" y="6"/>
                  </a:cxn>
                  <a:cxn ang="0">
                    <a:pos x="6" y="6"/>
                  </a:cxn>
                  <a:cxn ang="0">
                    <a:pos x="6" y="2"/>
                  </a:cxn>
                  <a:cxn ang="0">
                    <a:pos x="2" y="2"/>
                  </a:cxn>
                  <a:cxn ang="0">
                    <a:pos x="2" y="0"/>
                  </a:cxn>
                  <a:cxn ang="0">
                    <a:pos x="0" y="0"/>
                  </a:cxn>
                </a:cxnLst>
                <a:rect l="0" t="0" r="r" b="b"/>
                <a:pathLst>
                  <a:path w="6" h="6">
                    <a:moveTo>
                      <a:pt x="0" y="0"/>
                    </a:moveTo>
                    <a:lnTo>
                      <a:pt x="0" y="0"/>
                    </a:lnTo>
                    <a:lnTo>
                      <a:pt x="0" y="2"/>
                    </a:lnTo>
                    <a:lnTo>
                      <a:pt x="0" y="6"/>
                    </a:lnTo>
                    <a:lnTo>
                      <a:pt x="2" y="6"/>
                    </a:lnTo>
                    <a:lnTo>
                      <a:pt x="6" y="6"/>
                    </a:lnTo>
                    <a:lnTo>
                      <a:pt x="6" y="2"/>
                    </a:lnTo>
                    <a:lnTo>
                      <a:pt x="2" y="2"/>
                    </a:lnTo>
                    <a:lnTo>
                      <a:pt x="2" y="0"/>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75" name="Freeform 248">
                <a:extLst>
                  <a:ext uri="{FF2B5EF4-FFF2-40B4-BE49-F238E27FC236}">
                    <a16:creationId xmlns:a16="http://schemas.microsoft.com/office/drawing/2014/main" id="{DBE05EDA-A269-89CF-9378-5E62FEDDEA74}"/>
                  </a:ext>
                </a:extLst>
              </p:cNvPr>
              <p:cNvSpPr>
                <a:spLocks/>
              </p:cNvSpPr>
              <p:nvPr/>
            </p:nvSpPr>
            <p:spPr bwMode="auto">
              <a:xfrm>
                <a:off x="4430468" y="2913054"/>
                <a:ext cx="1944" cy="5764"/>
              </a:xfrm>
              <a:custGeom>
                <a:avLst/>
                <a:gdLst/>
                <a:ahLst/>
                <a:cxnLst>
                  <a:cxn ang="0">
                    <a:pos x="0" y="0"/>
                  </a:cxn>
                  <a:cxn ang="0">
                    <a:pos x="0" y="0"/>
                  </a:cxn>
                  <a:cxn ang="0">
                    <a:pos x="2" y="0"/>
                  </a:cxn>
                  <a:cxn ang="0">
                    <a:pos x="2" y="2"/>
                  </a:cxn>
                  <a:cxn ang="0">
                    <a:pos x="2" y="6"/>
                  </a:cxn>
                  <a:cxn ang="0">
                    <a:pos x="0" y="6"/>
                  </a:cxn>
                  <a:cxn ang="0">
                    <a:pos x="0" y="2"/>
                  </a:cxn>
                  <a:cxn ang="0">
                    <a:pos x="0" y="0"/>
                  </a:cxn>
                </a:cxnLst>
                <a:rect l="0" t="0" r="r" b="b"/>
                <a:pathLst>
                  <a:path w="2" h="6">
                    <a:moveTo>
                      <a:pt x="0" y="0"/>
                    </a:moveTo>
                    <a:lnTo>
                      <a:pt x="0" y="0"/>
                    </a:lnTo>
                    <a:lnTo>
                      <a:pt x="2" y="0"/>
                    </a:lnTo>
                    <a:lnTo>
                      <a:pt x="2" y="2"/>
                    </a:lnTo>
                    <a:lnTo>
                      <a:pt x="2" y="6"/>
                    </a:lnTo>
                    <a:lnTo>
                      <a:pt x="0" y="6"/>
                    </a:ln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76" name="Freeform 249">
                <a:extLst>
                  <a:ext uri="{FF2B5EF4-FFF2-40B4-BE49-F238E27FC236}">
                    <a16:creationId xmlns:a16="http://schemas.microsoft.com/office/drawing/2014/main" id="{6589BE41-01CD-0C18-ED54-2DE5B471FCEA}"/>
                  </a:ext>
                </a:extLst>
              </p:cNvPr>
              <p:cNvSpPr>
                <a:spLocks/>
              </p:cNvSpPr>
              <p:nvPr/>
            </p:nvSpPr>
            <p:spPr bwMode="auto">
              <a:xfrm>
                <a:off x="4430468" y="2913054"/>
                <a:ext cx="1944" cy="5764"/>
              </a:xfrm>
              <a:custGeom>
                <a:avLst/>
                <a:gdLst/>
                <a:ahLst/>
                <a:cxnLst>
                  <a:cxn ang="0">
                    <a:pos x="0" y="0"/>
                  </a:cxn>
                  <a:cxn ang="0">
                    <a:pos x="0" y="0"/>
                  </a:cxn>
                  <a:cxn ang="0">
                    <a:pos x="2" y="0"/>
                  </a:cxn>
                  <a:cxn ang="0">
                    <a:pos x="2" y="2"/>
                  </a:cxn>
                  <a:cxn ang="0">
                    <a:pos x="2" y="6"/>
                  </a:cxn>
                  <a:cxn ang="0">
                    <a:pos x="0" y="6"/>
                  </a:cxn>
                  <a:cxn ang="0">
                    <a:pos x="0" y="2"/>
                  </a:cxn>
                  <a:cxn ang="0">
                    <a:pos x="0" y="0"/>
                  </a:cxn>
                </a:cxnLst>
                <a:rect l="0" t="0" r="r" b="b"/>
                <a:pathLst>
                  <a:path w="2" h="6">
                    <a:moveTo>
                      <a:pt x="0" y="0"/>
                    </a:moveTo>
                    <a:lnTo>
                      <a:pt x="0" y="0"/>
                    </a:lnTo>
                    <a:lnTo>
                      <a:pt x="2" y="0"/>
                    </a:lnTo>
                    <a:lnTo>
                      <a:pt x="2" y="2"/>
                    </a:lnTo>
                    <a:lnTo>
                      <a:pt x="2" y="6"/>
                    </a:lnTo>
                    <a:lnTo>
                      <a:pt x="0" y="6"/>
                    </a:lnTo>
                    <a:lnTo>
                      <a:pt x="0" y="2"/>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77" name="Freeform 250">
                <a:extLst>
                  <a:ext uri="{FF2B5EF4-FFF2-40B4-BE49-F238E27FC236}">
                    <a16:creationId xmlns:a16="http://schemas.microsoft.com/office/drawing/2014/main" id="{49515111-071B-D62A-34DF-249A8BB3ABFC}"/>
                  </a:ext>
                </a:extLst>
              </p:cNvPr>
              <p:cNvSpPr>
                <a:spLocks/>
              </p:cNvSpPr>
              <p:nvPr/>
            </p:nvSpPr>
            <p:spPr bwMode="auto">
              <a:xfrm>
                <a:off x="4459638" y="2907290"/>
                <a:ext cx="11668" cy="9607"/>
              </a:xfrm>
              <a:custGeom>
                <a:avLst/>
                <a:gdLst/>
                <a:ahLst/>
                <a:cxnLst>
                  <a:cxn ang="0">
                    <a:pos x="4" y="0"/>
                  </a:cxn>
                  <a:cxn ang="0">
                    <a:pos x="4" y="0"/>
                  </a:cxn>
                  <a:cxn ang="0">
                    <a:pos x="4" y="2"/>
                  </a:cxn>
                  <a:cxn ang="0">
                    <a:pos x="0" y="2"/>
                  </a:cxn>
                  <a:cxn ang="0">
                    <a:pos x="2" y="8"/>
                  </a:cxn>
                  <a:cxn ang="0">
                    <a:pos x="4" y="10"/>
                  </a:cxn>
                  <a:cxn ang="0">
                    <a:pos x="8" y="10"/>
                  </a:cxn>
                  <a:cxn ang="0">
                    <a:pos x="8" y="8"/>
                  </a:cxn>
                  <a:cxn ang="0">
                    <a:pos x="12" y="8"/>
                  </a:cxn>
                  <a:cxn ang="0">
                    <a:pos x="12" y="8"/>
                  </a:cxn>
                  <a:cxn ang="0">
                    <a:pos x="12" y="4"/>
                  </a:cxn>
                  <a:cxn ang="0">
                    <a:pos x="12" y="6"/>
                  </a:cxn>
                  <a:cxn ang="0">
                    <a:pos x="8" y="4"/>
                  </a:cxn>
                  <a:cxn ang="0">
                    <a:pos x="6" y="0"/>
                  </a:cxn>
                  <a:cxn ang="0">
                    <a:pos x="4" y="0"/>
                  </a:cxn>
                </a:cxnLst>
                <a:rect l="0" t="0" r="r" b="b"/>
                <a:pathLst>
                  <a:path w="12" h="10">
                    <a:moveTo>
                      <a:pt x="4" y="0"/>
                    </a:moveTo>
                    <a:lnTo>
                      <a:pt x="4" y="0"/>
                    </a:lnTo>
                    <a:lnTo>
                      <a:pt x="4" y="2"/>
                    </a:lnTo>
                    <a:lnTo>
                      <a:pt x="0" y="2"/>
                    </a:lnTo>
                    <a:lnTo>
                      <a:pt x="2" y="8"/>
                    </a:lnTo>
                    <a:lnTo>
                      <a:pt x="4" y="10"/>
                    </a:lnTo>
                    <a:lnTo>
                      <a:pt x="8" y="10"/>
                    </a:lnTo>
                    <a:lnTo>
                      <a:pt x="8" y="8"/>
                    </a:lnTo>
                    <a:lnTo>
                      <a:pt x="12" y="8"/>
                    </a:lnTo>
                    <a:lnTo>
                      <a:pt x="12" y="8"/>
                    </a:lnTo>
                    <a:lnTo>
                      <a:pt x="12" y="4"/>
                    </a:lnTo>
                    <a:lnTo>
                      <a:pt x="12" y="6"/>
                    </a:lnTo>
                    <a:lnTo>
                      <a:pt x="8" y="4"/>
                    </a:lnTo>
                    <a:lnTo>
                      <a:pt x="6" y="0"/>
                    </a:lnTo>
                    <a:lnTo>
                      <a:pt x="4"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78" name="Freeform 251">
                <a:extLst>
                  <a:ext uri="{FF2B5EF4-FFF2-40B4-BE49-F238E27FC236}">
                    <a16:creationId xmlns:a16="http://schemas.microsoft.com/office/drawing/2014/main" id="{6377082D-9D6F-D749-2DFE-B7B5A2164315}"/>
                  </a:ext>
                </a:extLst>
              </p:cNvPr>
              <p:cNvSpPr>
                <a:spLocks/>
              </p:cNvSpPr>
              <p:nvPr/>
            </p:nvSpPr>
            <p:spPr bwMode="auto">
              <a:xfrm>
                <a:off x="4459638" y="2907290"/>
                <a:ext cx="11668" cy="9607"/>
              </a:xfrm>
              <a:custGeom>
                <a:avLst/>
                <a:gdLst/>
                <a:ahLst/>
                <a:cxnLst>
                  <a:cxn ang="0">
                    <a:pos x="4" y="0"/>
                  </a:cxn>
                  <a:cxn ang="0">
                    <a:pos x="4" y="0"/>
                  </a:cxn>
                  <a:cxn ang="0">
                    <a:pos x="4" y="2"/>
                  </a:cxn>
                  <a:cxn ang="0">
                    <a:pos x="0" y="2"/>
                  </a:cxn>
                  <a:cxn ang="0">
                    <a:pos x="2" y="8"/>
                  </a:cxn>
                  <a:cxn ang="0">
                    <a:pos x="4" y="10"/>
                  </a:cxn>
                  <a:cxn ang="0">
                    <a:pos x="8" y="10"/>
                  </a:cxn>
                  <a:cxn ang="0">
                    <a:pos x="8" y="8"/>
                  </a:cxn>
                  <a:cxn ang="0">
                    <a:pos x="12" y="8"/>
                  </a:cxn>
                  <a:cxn ang="0">
                    <a:pos x="12" y="8"/>
                  </a:cxn>
                  <a:cxn ang="0">
                    <a:pos x="12" y="4"/>
                  </a:cxn>
                  <a:cxn ang="0">
                    <a:pos x="12" y="6"/>
                  </a:cxn>
                  <a:cxn ang="0">
                    <a:pos x="8" y="4"/>
                  </a:cxn>
                  <a:cxn ang="0">
                    <a:pos x="6" y="0"/>
                  </a:cxn>
                  <a:cxn ang="0">
                    <a:pos x="4" y="0"/>
                  </a:cxn>
                </a:cxnLst>
                <a:rect l="0" t="0" r="r" b="b"/>
                <a:pathLst>
                  <a:path w="12" h="10">
                    <a:moveTo>
                      <a:pt x="4" y="0"/>
                    </a:moveTo>
                    <a:lnTo>
                      <a:pt x="4" y="0"/>
                    </a:lnTo>
                    <a:lnTo>
                      <a:pt x="4" y="2"/>
                    </a:lnTo>
                    <a:lnTo>
                      <a:pt x="0" y="2"/>
                    </a:lnTo>
                    <a:lnTo>
                      <a:pt x="2" y="8"/>
                    </a:lnTo>
                    <a:lnTo>
                      <a:pt x="4" y="10"/>
                    </a:lnTo>
                    <a:lnTo>
                      <a:pt x="8" y="10"/>
                    </a:lnTo>
                    <a:lnTo>
                      <a:pt x="8" y="8"/>
                    </a:lnTo>
                    <a:lnTo>
                      <a:pt x="12" y="8"/>
                    </a:lnTo>
                    <a:lnTo>
                      <a:pt x="12" y="8"/>
                    </a:lnTo>
                    <a:lnTo>
                      <a:pt x="12" y="4"/>
                    </a:lnTo>
                    <a:lnTo>
                      <a:pt x="12" y="6"/>
                    </a:lnTo>
                    <a:lnTo>
                      <a:pt x="8" y="4"/>
                    </a:lnTo>
                    <a:lnTo>
                      <a:pt x="6" y="0"/>
                    </a:lnTo>
                    <a:lnTo>
                      <a:pt x="4"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79" name="Freeform 252">
                <a:extLst>
                  <a:ext uri="{FF2B5EF4-FFF2-40B4-BE49-F238E27FC236}">
                    <a16:creationId xmlns:a16="http://schemas.microsoft.com/office/drawing/2014/main" id="{2943E2DB-E570-384B-79C9-1EA0750D6FA3}"/>
                  </a:ext>
                </a:extLst>
              </p:cNvPr>
              <p:cNvSpPr>
                <a:spLocks/>
              </p:cNvSpPr>
              <p:nvPr/>
            </p:nvSpPr>
            <p:spPr bwMode="auto">
              <a:xfrm>
                <a:off x="4455749" y="2891919"/>
                <a:ext cx="5834" cy="9607"/>
              </a:xfrm>
              <a:custGeom>
                <a:avLst/>
                <a:gdLst/>
                <a:ahLst/>
                <a:cxnLst>
                  <a:cxn ang="0">
                    <a:pos x="2" y="0"/>
                  </a:cxn>
                  <a:cxn ang="0">
                    <a:pos x="2" y="0"/>
                  </a:cxn>
                  <a:cxn ang="0">
                    <a:pos x="0" y="2"/>
                  </a:cxn>
                  <a:cxn ang="0">
                    <a:pos x="4" y="6"/>
                  </a:cxn>
                  <a:cxn ang="0">
                    <a:pos x="6" y="10"/>
                  </a:cxn>
                  <a:cxn ang="0">
                    <a:pos x="4" y="8"/>
                  </a:cxn>
                  <a:cxn ang="0">
                    <a:pos x="4" y="4"/>
                  </a:cxn>
                  <a:cxn ang="0">
                    <a:pos x="2" y="2"/>
                  </a:cxn>
                  <a:cxn ang="0">
                    <a:pos x="4" y="0"/>
                  </a:cxn>
                  <a:cxn ang="0">
                    <a:pos x="2" y="0"/>
                  </a:cxn>
                </a:cxnLst>
                <a:rect l="0" t="0" r="r" b="b"/>
                <a:pathLst>
                  <a:path w="6" h="10">
                    <a:moveTo>
                      <a:pt x="2" y="0"/>
                    </a:moveTo>
                    <a:lnTo>
                      <a:pt x="2" y="0"/>
                    </a:lnTo>
                    <a:lnTo>
                      <a:pt x="0" y="2"/>
                    </a:lnTo>
                    <a:lnTo>
                      <a:pt x="4" y="6"/>
                    </a:lnTo>
                    <a:lnTo>
                      <a:pt x="6" y="10"/>
                    </a:lnTo>
                    <a:lnTo>
                      <a:pt x="4" y="8"/>
                    </a:lnTo>
                    <a:lnTo>
                      <a:pt x="4" y="4"/>
                    </a:lnTo>
                    <a:lnTo>
                      <a:pt x="2" y="2"/>
                    </a:lnTo>
                    <a:lnTo>
                      <a:pt x="4" y="0"/>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80" name="Freeform 253">
                <a:extLst>
                  <a:ext uri="{FF2B5EF4-FFF2-40B4-BE49-F238E27FC236}">
                    <a16:creationId xmlns:a16="http://schemas.microsoft.com/office/drawing/2014/main" id="{9367BDBC-C100-F86C-8619-05F3ED911258}"/>
                  </a:ext>
                </a:extLst>
              </p:cNvPr>
              <p:cNvSpPr>
                <a:spLocks/>
              </p:cNvSpPr>
              <p:nvPr/>
            </p:nvSpPr>
            <p:spPr bwMode="auto">
              <a:xfrm>
                <a:off x="4455749" y="2891919"/>
                <a:ext cx="5834" cy="9607"/>
              </a:xfrm>
              <a:custGeom>
                <a:avLst/>
                <a:gdLst/>
                <a:ahLst/>
                <a:cxnLst>
                  <a:cxn ang="0">
                    <a:pos x="2" y="0"/>
                  </a:cxn>
                  <a:cxn ang="0">
                    <a:pos x="2" y="0"/>
                  </a:cxn>
                  <a:cxn ang="0">
                    <a:pos x="0" y="2"/>
                  </a:cxn>
                  <a:cxn ang="0">
                    <a:pos x="4" y="6"/>
                  </a:cxn>
                  <a:cxn ang="0">
                    <a:pos x="6" y="10"/>
                  </a:cxn>
                  <a:cxn ang="0">
                    <a:pos x="4" y="8"/>
                  </a:cxn>
                  <a:cxn ang="0">
                    <a:pos x="4" y="4"/>
                  </a:cxn>
                  <a:cxn ang="0">
                    <a:pos x="2" y="2"/>
                  </a:cxn>
                  <a:cxn ang="0">
                    <a:pos x="4" y="0"/>
                  </a:cxn>
                  <a:cxn ang="0">
                    <a:pos x="2" y="0"/>
                  </a:cxn>
                </a:cxnLst>
                <a:rect l="0" t="0" r="r" b="b"/>
                <a:pathLst>
                  <a:path w="6" h="10">
                    <a:moveTo>
                      <a:pt x="2" y="0"/>
                    </a:moveTo>
                    <a:lnTo>
                      <a:pt x="2" y="0"/>
                    </a:lnTo>
                    <a:lnTo>
                      <a:pt x="0" y="2"/>
                    </a:lnTo>
                    <a:lnTo>
                      <a:pt x="4" y="6"/>
                    </a:lnTo>
                    <a:lnTo>
                      <a:pt x="6" y="10"/>
                    </a:lnTo>
                    <a:lnTo>
                      <a:pt x="4" y="8"/>
                    </a:lnTo>
                    <a:lnTo>
                      <a:pt x="4" y="4"/>
                    </a:lnTo>
                    <a:lnTo>
                      <a:pt x="2" y="2"/>
                    </a:lnTo>
                    <a:lnTo>
                      <a:pt x="4" y="0"/>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81" name="Freeform 254">
                <a:extLst>
                  <a:ext uri="{FF2B5EF4-FFF2-40B4-BE49-F238E27FC236}">
                    <a16:creationId xmlns:a16="http://schemas.microsoft.com/office/drawing/2014/main" id="{B057BA54-3320-08C3-85C6-78962FE7D254}"/>
                  </a:ext>
                </a:extLst>
              </p:cNvPr>
              <p:cNvSpPr>
                <a:spLocks/>
              </p:cNvSpPr>
              <p:nvPr/>
            </p:nvSpPr>
            <p:spPr bwMode="auto">
              <a:xfrm>
                <a:off x="3992911" y="2874626"/>
                <a:ext cx="1944" cy="961"/>
              </a:xfrm>
              <a:custGeom>
                <a:avLst/>
                <a:gdLst/>
                <a:ahLst/>
                <a:cxnLst>
                  <a:cxn ang="0">
                    <a:pos x="0" y="0"/>
                  </a:cxn>
                  <a:cxn ang="0">
                    <a:pos x="0" y="0"/>
                  </a:cxn>
                  <a:cxn ang="0">
                    <a:pos x="2" y="0"/>
                  </a:cxn>
                  <a:cxn ang="0">
                    <a:pos x="0" y="0"/>
                  </a:cxn>
                </a:cxnLst>
                <a:rect l="0" t="0" r="r" b="b"/>
                <a:pathLst>
                  <a:path w="2">
                    <a:moveTo>
                      <a:pt x="0" y="0"/>
                    </a:moveTo>
                    <a:lnTo>
                      <a:pt x="0" y="0"/>
                    </a:lnTo>
                    <a:lnTo>
                      <a:pt x="2"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82" name="Freeform 255">
                <a:extLst>
                  <a:ext uri="{FF2B5EF4-FFF2-40B4-BE49-F238E27FC236}">
                    <a16:creationId xmlns:a16="http://schemas.microsoft.com/office/drawing/2014/main" id="{96C57578-0D84-B064-47DA-3C45692A9085}"/>
                  </a:ext>
                </a:extLst>
              </p:cNvPr>
              <p:cNvSpPr>
                <a:spLocks/>
              </p:cNvSpPr>
              <p:nvPr/>
            </p:nvSpPr>
            <p:spPr bwMode="auto">
              <a:xfrm>
                <a:off x="3992911" y="2874626"/>
                <a:ext cx="1944" cy="961"/>
              </a:xfrm>
              <a:custGeom>
                <a:avLst/>
                <a:gdLst/>
                <a:ahLst/>
                <a:cxnLst>
                  <a:cxn ang="0">
                    <a:pos x="0" y="0"/>
                  </a:cxn>
                  <a:cxn ang="0">
                    <a:pos x="0" y="0"/>
                  </a:cxn>
                  <a:cxn ang="0">
                    <a:pos x="2" y="0"/>
                  </a:cxn>
                  <a:cxn ang="0">
                    <a:pos x="0" y="0"/>
                  </a:cxn>
                </a:cxnLst>
                <a:rect l="0" t="0" r="r" b="b"/>
                <a:pathLst>
                  <a:path w="2">
                    <a:moveTo>
                      <a:pt x="0" y="0"/>
                    </a:moveTo>
                    <a:lnTo>
                      <a:pt x="0" y="0"/>
                    </a:lnTo>
                    <a:lnTo>
                      <a:pt x="2" y="0"/>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83" name="Freeform 256">
                <a:extLst>
                  <a:ext uri="{FF2B5EF4-FFF2-40B4-BE49-F238E27FC236}">
                    <a16:creationId xmlns:a16="http://schemas.microsoft.com/office/drawing/2014/main" id="{D804D37A-6D76-5776-1E8E-6581365C124B}"/>
                  </a:ext>
                </a:extLst>
              </p:cNvPr>
              <p:cNvSpPr>
                <a:spLocks/>
              </p:cNvSpPr>
              <p:nvPr/>
            </p:nvSpPr>
            <p:spPr bwMode="auto">
              <a:xfrm>
                <a:off x="3981243" y="2872705"/>
                <a:ext cx="5834" cy="1921"/>
              </a:xfrm>
              <a:custGeom>
                <a:avLst/>
                <a:gdLst/>
                <a:ahLst/>
                <a:cxnLst>
                  <a:cxn ang="0">
                    <a:pos x="2" y="0"/>
                  </a:cxn>
                  <a:cxn ang="0">
                    <a:pos x="2" y="0"/>
                  </a:cxn>
                  <a:cxn ang="0">
                    <a:pos x="0" y="2"/>
                  </a:cxn>
                  <a:cxn ang="0">
                    <a:pos x="2" y="2"/>
                  </a:cxn>
                  <a:cxn ang="0">
                    <a:pos x="4" y="2"/>
                  </a:cxn>
                  <a:cxn ang="0">
                    <a:pos x="6" y="0"/>
                  </a:cxn>
                  <a:cxn ang="0">
                    <a:pos x="2" y="0"/>
                  </a:cxn>
                </a:cxnLst>
                <a:rect l="0" t="0" r="r" b="b"/>
                <a:pathLst>
                  <a:path w="6" h="2">
                    <a:moveTo>
                      <a:pt x="2" y="0"/>
                    </a:moveTo>
                    <a:lnTo>
                      <a:pt x="2" y="0"/>
                    </a:lnTo>
                    <a:lnTo>
                      <a:pt x="0" y="2"/>
                    </a:lnTo>
                    <a:lnTo>
                      <a:pt x="2" y="2"/>
                    </a:lnTo>
                    <a:lnTo>
                      <a:pt x="4" y="2"/>
                    </a:lnTo>
                    <a:lnTo>
                      <a:pt x="6" y="0"/>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84" name="Freeform 257">
                <a:extLst>
                  <a:ext uri="{FF2B5EF4-FFF2-40B4-BE49-F238E27FC236}">
                    <a16:creationId xmlns:a16="http://schemas.microsoft.com/office/drawing/2014/main" id="{82711F39-1C7F-1EA0-E409-DEA47B6F3591}"/>
                  </a:ext>
                </a:extLst>
              </p:cNvPr>
              <p:cNvSpPr>
                <a:spLocks/>
              </p:cNvSpPr>
              <p:nvPr/>
            </p:nvSpPr>
            <p:spPr bwMode="auto">
              <a:xfrm>
                <a:off x="3981243" y="2872705"/>
                <a:ext cx="5834" cy="1921"/>
              </a:xfrm>
              <a:custGeom>
                <a:avLst/>
                <a:gdLst/>
                <a:ahLst/>
                <a:cxnLst>
                  <a:cxn ang="0">
                    <a:pos x="2" y="0"/>
                  </a:cxn>
                  <a:cxn ang="0">
                    <a:pos x="2" y="0"/>
                  </a:cxn>
                  <a:cxn ang="0">
                    <a:pos x="0" y="2"/>
                  </a:cxn>
                  <a:cxn ang="0">
                    <a:pos x="2" y="2"/>
                  </a:cxn>
                  <a:cxn ang="0">
                    <a:pos x="4" y="2"/>
                  </a:cxn>
                  <a:cxn ang="0">
                    <a:pos x="6" y="0"/>
                  </a:cxn>
                  <a:cxn ang="0">
                    <a:pos x="2" y="0"/>
                  </a:cxn>
                </a:cxnLst>
                <a:rect l="0" t="0" r="r" b="b"/>
                <a:pathLst>
                  <a:path w="6" h="2">
                    <a:moveTo>
                      <a:pt x="2" y="0"/>
                    </a:moveTo>
                    <a:lnTo>
                      <a:pt x="2" y="0"/>
                    </a:lnTo>
                    <a:lnTo>
                      <a:pt x="0" y="2"/>
                    </a:lnTo>
                    <a:lnTo>
                      <a:pt x="2" y="2"/>
                    </a:lnTo>
                    <a:lnTo>
                      <a:pt x="4" y="2"/>
                    </a:lnTo>
                    <a:lnTo>
                      <a:pt x="6" y="0"/>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85" name="Freeform 258">
                <a:extLst>
                  <a:ext uri="{FF2B5EF4-FFF2-40B4-BE49-F238E27FC236}">
                    <a16:creationId xmlns:a16="http://schemas.microsoft.com/office/drawing/2014/main" id="{93A1ECC5-DB15-95B6-19EC-ED476FD72DD9}"/>
                  </a:ext>
                </a:extLst>
              </p:cNvPr>
              <p:cNvSpPr>
                <a:spLocks/>
              </p:cNvSpPr>
              <p:nvPr/>
            </p:nvSpPr>
            <p:spPr bwMode="auto">
              <a:xfrm>
                <a:off x="4451859" y="2822750"/>
                <a:ext cx="3890" cy="3843"/>
              </a:xfrm>
              <a:custGeom>
                <a:avLst/>
                <a:gdLst/>
                <a:ahLst/>
                <a:cxnLst>
                  <a:cxn ang="0">
                    <a:pos x="0" y="0"/>
                  </a:cxn>
                  <a:cxn ang="0">
                    <a:pos x="0" y="0"/>
                  </a:cxn>
                  <a:cxn ang="0">
                    <a:pos x="0" y="4"/>
                  </a:cxn>
                  <a:cxn ang="0">
                    <a:pos x="4" y="2"/>
                  </a:cxn>
                  <a:cxn ang="0">
                    <a:pos x="0" y="0"/>
                  </a:cxn>
                </a:cxnLst>
                <a:rect l="0" t="0" r="r" b="b"/>
                <a:pathLst>
                  <a:path w="4" h="4">
                    <a:moveTo>
                      <a:pt x="0" y="0"/>
                    </a:moveTo>
                    <a:lnTo>
                      <a:pt x="0" y="0"/>
                    </a:lnTo>
                    <a:lnTo>
                      <a:pt x="0" y="4"/>
                    </a:lnTo>
                    <a:lnTo>
                      <a:pt x="4"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86" name="Freeform 259">
                <a:extLst>
                  <a:ext uri="{FF2B5EF4-FFF2-40B4-BE49-F238E27FC236}">
                    <a16:creationId xmlns:a16="http://schemas.microsoft.com/office/drawing/2014/main" id="{62DF3AF5-E7CD-2BD0-4B5D-1EAC82F4C0DD}"/>
                  </a:ext>
                </a:extLst>
              </p:cNvPr>
              <p:cNvSpPr>
                <a:spLocks/>
              </p:cNvSpPr>
              <p:nvPr/>
            </p:nvSpPr>
            <p:spPr bwMode="auto">
              <a:xfrm>
                <a:off x="4451859" y="2822750"/>
                <a:ext cx="3890" cy="3843"/>
              </a:xfrm>
              <a:custGeom>
                <a:avLst/>
                <a:gdLst/>
                <a:ahLst/>
                <a:cxnLst>
                  <a:cxn ang="0">
                    <a:pos x="0" y="0"/>
                  </a:cxn>
                  <a:cxn ang="0">
                    <a:pos x="0" y="0"/>
                  </a:cxn>
                  <a:cxn ang="0">
                    <a:pos x="0" y="4"/>
                  </a:cxn>
                  <a:cxn ang="0">
                    <a:pos x="4" y="2"/>
                  </a:cxn>
                  <a:cxn ang="0">
                    <a:pos x="0" y="0"/>
                  </a:cxn>
                </a:cxnLst>
                <a:rect l="0" t="0" r="r" b="b"/>
                <a:pathLst>
                  <a:path w="4" h="4">
                    <a:moveTo>
                      <a:pt x="0" y="0"/>
                    </a:moveTo>
                    <a:lnTo>
                      <a:pt x="0" y="0"/>
                    </a:lnTo>
                    <a:lnTo>
                      <a:pt x="0" y="4"/>
                    </a:lnTo>
                    <a:lnTo>
                      <a:pt x="4" y="2"/>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87" name="Freeform 260">
                <a:extLst>
                  <a:ext uri="{FF2B5EF4-FFF2-40B4-BE49-F238E27FC236}">
                    <a16:creationId xmlns:a16="http://schemas.microsoft.com/office/drawing/2014/main" id="{3B558885-D3BB-F73D-D63B-A6883C58610F}"/>
                  </a:ext>
                </a:extLst>
              </p:cNvPr>
              <p:cNvSpPr>
                <a:spLocks/>
              </p:cNvSpPr>
              <p:nvPr/>
            </p:nvSpPr>
            <p:spPr bwMode="auto">
              <a:xfrm>
                <a:off x="4385740" y="2813143"/>
                <a:ext cx="11668" cy="3843"/>
              </a:xfrm>
              <a:custGeom>
                <a:avLst/>
                <a:gdLst/>
                <a:ahLst/>
                <a:cxnLst>
                  <a:cxn ang="0">
                    <a:pos x="8" y="0"/>
                  </a:cxn>
                  <a:cxn ang="0">
                    <a:pos x="8" y="0"/>
                  </a:cxn>
                  <a:cxn ang="0">
                    <a:pos x="12" y="0"/>
                  </a:cxn>
                  <a:cxn ang="0">
                    <a:pos x="10" y="0"/>
                  </a:cxn>
                  <a:cxn ang="0">
                    <a:pos x="4" y="4"/>
                  </a:cxn>
                  <a:cxn ang="0">
                    <a:pos x="0" y="2"/>
                  </a:cxn>
                  <a:cxn ang="0">
                    <a:pos x="4" y="2"/>
                  </a:cxn>
                  <a:cxn ang="0">
                    <a:pos x="8" y="0"/>
                  </a:cxn>
                </a:cxnLst>
                <a:rect l="0" t="0" r="r" b="b"/>
                <a:pathLst>
                  <a:path w="12" h="4">
                    <a:moveTo>
                      <a:pt x="8" y="0"/>
                    </a:moveTo>
                    <a:lnTo>
                      <a:pt x="8" y="0"/>
                    </a:lnTo>
                    <a:lnTo>
                      <a:pt x="12" y="0"/>
                    </a:lnTo>
                    <a:lnTo>
                      <a:pt x="10" y="0"/>
                    </a:lnTo>
                    <a:lnTo>
                      <a:pt x="4" y="4"/>
                    </a:lnTo>
                    <a:lnTo>
                      <a:pt x="0" y="2"/>
                    </a:lnTo>
                    <a:lnTo>
                      <a:pt x="4" y="2"/>
                    </a:lnTo>
                    <a:lnTo>
                      <a:pt x="8"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88" name="Freeform 261">
                <a:extLst>
                  <a:ext uri="{FF2B5EF4-FFF2-40B4-BE49-F238E27FC236}">
                    <a16:creationId xmlns:a16="http://schemas.microsoft.com/office/drawing/2014/main" id="{A6315FE7-058F-4082-ADD4-3B76E16B6CD9}"/>
                  </a:ext>
                </a:extLst>
              </p:cNvPr>
              <p:cNvSpPr>
                <a:spLocks/>
              </p:cNvSpPr>
              <p:nvPr/>
            </p:nvSpPr>
            <p:spPr bwMode="auto">
              <a:xfrm>
                <a:off x="4385740" y="2813143"/>
                <a:ext cx="11668" cy="3843"/>
              </a:xfrm>
              <a:custGeom>
                <a:avLst/>
                <a:gdLst/>
                <a:ahLst/>
                <a:cxnLst>
                  <a:cxn ang="0">
                    <a:pos x="8" y="0"/>
                  </a:cxn>
                  <a:cxn ang="0">
                    <a:pos x="8" y="0"/>
                  </a:cxn>
                  <a:cxn ang="0">
                    <a:pos x="12" y="0"/>
                  </a:cxn>
                  <a:cxn ang="0">
                    <a:pos x="10" y="0"/>
                  </a:cxn>
                  <a:cxn ang="0">
                    <a:pos x="4" y="4"/>
                  </a:cxn>
                  <a:cxn ang="0">
                    <a:pos x="0" y="2"/>
                  </a:cxn>
                  <a:cxn ang="0">
                    <a:pos x="4" y="2"/>
                  </a:cxn>
                  <a:cxn ang="0">
                    <a:pos x="8" y="0"/>
                  </a:cxn>
                </a:cxnLst>
                <a:rect l="0" t="0" r="r" b="b"/>
                <a:pathLst>
                  <a:path w="12" h="4">
                    <a:moveTo>
                      <a:pt x="8" y="0"/>
                    </a:moveTo>
                    <a:lnTo>
                      <a:pt x="8" y="0"/>
                    </a:lnTo>
                    <a:lnTo>
                      <a:pt x="12" y="0"/>
                    </a:lnTo>
                    <a:lnTo>
                      <a:pt x="10" y="0"/>
                    </a:lnTo>
                    <a:lnTo>
                      <a:pt x="4" y="4"/>
                    </a:lnTo>
                    <a:lnTo>
                      <a:pt x="0" y="2"/>
                    </a:lnTo>
                    <a:lnTo>
                      <a:pt x="4" y="2"/>
                    </a:lnTo>
                    <a:lnTo>
                      <a:pt x="8"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89" name="Freeform 262">
                <a:extLst>
                  <a:ext uri="{FF2B5EF4-FFF2-40B4-BE49-F238E27FC236}">
                    <a16:creationId xmlns:a16="http://schemas.microsoft.com/office/drawing/2014/main" id="{7F403A27-0EB2-1A0B-6C9A-DE7F6D5BFD48}"/>
                  </a:ext>
                </a:extLst>
              </p:cNvPr>
              <p:cNvSpPr>
                <a:spLocks/>
              </p:cNvSpPr>
              <p:nvPr/>
            </p:nvSpPr>
            <p:spPr bwMode="auto">
              <a:xfrm>
                <a:off x="4459638" y="2790086"/>
                <a:ext cx="973" cy="1921"/>
              </a:xfrm>
              <a:custGeom>
                <a:avLst/>
                <a:gdLst/>
                <a:ahLst/>
                <a:cxnLst>
                  <a:cxn ang="0">
                    <a:pos x="0" y="0"/>
                  </a:cxn>
                  <a:cxn ang="0">
                    <a:pos x="0" y="0"/>
                  </a:cxn>
                  <a:cxn ang="0">
                    <a:pos x="0" y="2"/>
                  </a:cxn>
                  <a:cxn ang="0">
                    <a:pos x="0" y="0"/>
                  </a:cxn>
                </a:cxnLst>
                <a:rect l="0" t="0" r="r" b="b"/>
                <a:pathLst>
                  <a:path h="2">
                    <a:moveTo>
                      <a:pt x="0" y="0"/>
                    </a:moveTo>
                    <a:lnTo>
                      <a:pt x="0" y="0"/>
                    </a:ln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90" name="Freeform 263">
                <a:extLst>
                  <a:ext uri="{FF2B5EF4-FFF2-40B4-BE49-F238E27FC236}">
                    <a16:creationId xmlns:a16="http://schemas.microsoft.com/office/drawing/2014/main" id="{F2C28B74-6753-004E-4DEB-482023D5A791}"/>
                  </a:ext>
                </a:extLst>
              </p:cNvPr>
              <p:cNvSpPr>
                <a:spLocks/>
              </p:cNvSpPr>
              <p:nvPr/>
            </p:nvSpPr>
            <p:spPr bwMode="auto">
              <a:xfrm>
                <a:off x="4459638" y="2790086"/>
                <a:ext cx="973" cy="1921"/>
              </a:xfrm>
              <a:custGeom>
                <a:avLst/>
                <a:gdLst/>
                <a:ahLst/>
                <a:cxnLst>
                  <a:cxn ang="0">
                    <a:pos x="0" y="0"/>
                  </a:cxn>
                  <a:cxn ang="0">
                    <a:pos x="0" y="0"/>
                  </a:cxn>
                  <a:cxn ang="0">
                    <a:pos x="0" y="2"/>
                  </a:cxn>
                  <a:cxn ang="0">
                    <a:pos x="0" y="0"/>
                  </a:cxn>
                </a:cxnLst>
                <a:rect l="0" t="0" r="r" b="b"/>
                <a:pathLst>
                  <a:path h="2">
                    <a:moveTo>
                      <a:pt x="0" y="0"/>
                    </a:moveTo>
                    <a:lnTo>
                      <a:pt x="0" y="0"/>
                    </a:lnTo>
                    <a:lnTo>
                      <a:pt x="0" y="2"/>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91" name="Freeform 264">
                <a:extLst>
                  <a:ext uri="{FF2B5EF4-FFF2-40B4-BE49-F238E27FC236}">
                    <a16:creationId xmlns:a16="http://schemas.microsoft.com/office/drawing/2014/main" id="{54A82EA3-41E1-B5AC-5E23-126C08617C55}"/>
                  </a:ext>
                </a:extLst>
              </p:cNvPr>
              <p:cNvSpPr>
                <a:spLocks/>
              </p:cNvSpPr>
              <p:nvPr/>
            </p:nvSpPr>
            <p:spPr bwMode="auto">
              <a:xfrm>
                <a:off x="4451859" y="2790086"/>
                <a:ext cx="973" cy="3843"/>
              </a:xfrm>
              <a:custGeom>
                <a:avLst/>
                <a:gdLst/>
                <a:ahLst/>
                <a:cxnLst>
                  <a:cxn ang="0">
                    <a:pos x="0" y="0"/>
                  </a:cxn>
                  <a:cxn ang="0">
                    <a:pos x="0" y="0"/>
                  </a:cxn>
                  <a:cxn ang="0">
                    <a:pos x="0" y="4"/>
                  </a:cxn>
                  <a:cxn ang="0">
                    <a:pos x="0" y="0"/>
                  </a:cxn>
                </a:cxnLst>
                <a:rect l="0" t="0" r="r" b="b"/>
                <a:pathLst>
                  <a:path h="4">
                    <a:moveTo>
                      <a:pt x="0" y="0"/>
                    </a:moveTo>
                    <a:lnTo>
                      <a:pt x="0" y="0"/>
                    </a:lnTo>
                    <a:lnTo>
                      <a:pt x="0" y="4"/>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92" name="Freeform 265">
                <a:extLst>
                  <a:ext uri="{FF2B5EF4-FFF2-40B4-BE49-F238E27FC236}">
                    <a16:creationId xmlns:a16="http://schemas.microsoft.com/office/drawing/2014/main" id="{54D83E83-8213-D436-E1CE-A911239BB448}"/>
                  </a:ext>
                </a:extLst>
              </p:cNvPr>
              <p:cNvSpPr>
                <a:spLocks/>
              </p:cNvSpPr>
              <p:nvPr/>
            </p:nvSpPr>
            <p:spPr bwMode="auto">
              <a:xfrm>
                <a:off x="4451859" y="2790086"/>
                <a:ext cx="973" cy="3843"/>
              </a:xfrm>
              <a:custGeom>
                <a:avLst/>
                <a:gdLst/>
                <a:ahLst/>
                <a:cxnLst>
                  <a:cxn ang="0">
                    <a:pos x="0" y="0"/>
                  </a:cxn>
                  <a:cxn ang="0">
                    <a:pos x="0" y="0"/>
                  </a:cxn>
                  <a:cxn ang="0">
                    <a:pos x="0" y="4"/>
                  </a:cxn>
                  <a:cxn ang="0">
                    <a:pos x="0" y="0"/>
                  </a:cxn>
                </a:cxnLst>
                <a:rect l="0" t="0" r="r" b="b"/>
                <a:pathLst>
                  <a:path h="4">
                    <a:moveTo>
                      <a:pt x="0" y="0"/>
                    </a:moveTo>
                    <a:lnTo>
                      <a:pt x="0" y="0"/>
                    </a:lnTo>
                    <a:lnTo>
                      <a:pt x="0" y="4"/>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93" name="Freeform 266">
                <a:extLst>
                  <a:ext uri="{FF2B5EF4-FFF2-40B4-BE49-F238E27FC236}">
                    <a16:creationId xmlns:a16="http://schemas.microsoft.com/office/drawing/2014/main" id="{9A1682E8-66F9-EFC7-7E41-5D00192231A6}"/>
                  </a:ext>
                </a:extLst>
              </p:cNvPr>
              <p:cNvSpPr>
                <a:spLocks/>
              </p:cNvSpPr>
              <p:nvPr/>
            </p:nvSpPr>
            <p:spPr bwMode="auto">
              <a:xfrm>
                <a:off x="4152376" y="2782401"/>
                <a:ext cx="23336" cy="13450"/>
              </a:xfrm>
              <a:custGeom>
                <a:avLst/>
                <a:gdLst/>
                <a:ahLst/>
                <a:cxnLst>
                  <a:cxn ang="0">
                    <a:pos x="0" y="0"/>
                  </a:cxn>
                  <a:cxn ang="0">
                    <a:pos x="0" y="0"/>
                  </a:cxn>
                  <a:cxn ang="0">
                    <a:pos x="2" y="6"/>
                  </a:cxn>
                  <a:cxn ang="0">
                    <a:pos x="4" y="8"/>
                  </a:cxn>
                  <a:cxn ang="0">
                    <a:pos x="10" y="12"/>
                  </a:cxn>
                  <a:cxn ang="0">
                    <a:pos x="22" y="14"/>
                  </a:cxn>
                  <a:cxn ang="0">
                    <a:pos x="24" y="14"/>
                  </a:cxn>
                  <a:cxn ang="0">
                    <a:pos x="24" y="12"/>
                  </a:cxn>
                  <a:cxn ang="0">
                    <a:pos x="22" y="10"/>
                  </a:cxn>
                  <a:cxn ang="0">
                    <a:pos x="16" y="8"/>
                  </a:cxn>
                  <a:cxn ang="0">
                    <a:pos x="12" y="8"/>
                  </a:cxn>
                  <a:cxn ang="0">
                    <a:pos x="10" y="4"/>
                  </a:cxn>
                  <a:cxn ang="0">
                    <a:pos x="6" y="4"/>
                  </a:cxn>
                  <a:cxn ang="0">
                    <a:pos x="0" y="0"/>
                  </a:cxn>
                </a:cxnLst>
                <a:rect l="0" t="0" r="r" b="b"/>
                <a:pathLst>
                  <a:path w="24" h="14">
                    <a:moveTo>
                      <a:pt x="0" y="0"/>
                    </a:moveTo>
                    <a:lnTo>
                      <a:pt x="0" y="0"/>
                    </a:lnTo>
                    <a:lnTo>
                      <a:pt x="2" y="6"/>
                    </a:lnTo>
                    <a:lnTo>
                      <a:pt x="4" y="8"/>
                    </a:lnTo>
                    <a:lnTo>
                      <a:pt x="10" y="12"/>
                    </a:lnTo>
                    <a:lnTo>
                      <a:pt x="22" y="14"/>
                    </a:lnTo>
                    <a:lnTo>
                      <a:pt x="24" y="14"/>
                    </a:lnTo>
                    <a:lnTo>
                      <a:pt x="24" y="12"/>
                    </a:lnTo>
                    <a:lnTo>
                      <a:pt x="22" y="10"/>
                    </a:lnTo>
                    <a:lnTo>
                      <a:pt x="16" y="8"/>
                    </a:lnTo>
                    <a:lnTo>
                      <a:pt x="12" y="8"/>
                    </a:lnTo>
                    <a:lnTo>
                      <a:pt x="10" y="4"/>
                    </a:lnTo>
                    <a:lnTo>
                      <a:pt x="6" y="4"/>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94" name="Freeform 267">
                <a:extLst>
                  <a:ext uri="{FF2B5EF4-FFF2-40B4-BE49-F238E27FC236}">
                    <a16:creationId xmlns:a16="http://schemas.microsoft.com/office/drawing/2014/main" id="{5CF72B67-000E-3F1E-FFC5-BEE6F9D8BD11}"/>
                  </a:ext>
                </a:extLst>
              </p:cNvPr>
              <p:cNvSpPr>
                <a:spLocks/>
              </p:cNvSpPr>
              <p:nvPr/>
            </p:nvSpPr>
            <p:spPr bwMode="auto">
              <a:xfrm>
                <a:off x="4152376" y="2782401"/>
                <a:ext cx="23336" cy="13450"/>
              </a:xfrm>
              <a:custGeom>
                <a:avLst/>
                <a:gdLst/>
                <a:ahLst/>
                <a:cxnLst>
                  <a:cxn ang="0">
                    <a:pos x="0" y="0"/>
                  </a:cxn>
                  <a:cxn ang="0">
                    <a:pos x="0" y="0"/>
                  </a:cxn>
                  <a:cxn ang="0">
                    <a:pos x="2" y="6"/>
                  </a:cxn>
                  <a:cxn ang="0">
                    <a:pos x="4" y="8"/>
                  </a:cxn>
                  <a:cxn ang="0">
                    <a:pos x="10" y="12"/>
                  </a:cxn>
                  <a:cxn ang="0">
                    <a:pos x="22" y="14"/>
                  </a:cxn>
                  <a:cxn ang="0">
                    <a:pos x="24" y="14"/>
                  </a:cxn>
                  <a:cxn ang="0">
                    <a:pos x="24" y="12"/>
                  </a:cxn>
                  <a:cxn ang="0">
                    <a:pos x="22" y="10"/>
                  </a:cxn>
                  <a:cxn ang="0">
                    <a:pos x="16" y="8"/>
                  </a:cxn>
                  <a:cxn ang="0">
                    <a:pos x="12" y="8"/>
                  </a:cxn>
                  <a:cxn ang="0">
                    <a:pos x="10" y="4"/>
                  </a:cxn>
                  <a:cxn ang="0">
                    <a:pos x="6" y="4"/>
                  </a:cxn>
                  <a:cxn ang="0">
                    <a:pos x="0" y="0"/>
                  </a:cxn>
                </a:cxnLst>
                <a:rect l="0" t="0" r="r" b="b"/>
                <a:pathLst>
                  <a:path w="24" h="14">
                    <a:moveTo>
                      <a:pt x="0" y="0"/>
                    </a:moveTo>
                    <a:lnTo>
                      <a:pt x="0" y="0"/>
                    </a:lnTo>
                    <a:lnTo>
                      <a:pt x="2" y="6"/>
                    </a:lnTo>
                    <a:lnTo>
                      <a:pt x="4" y="8"/>
                    </a:lnTo>
                    <a:lnTo>
                      <a:pt x="10" y="12"/>
                    </a:lnTo>
                    <a:lnTo>
                      <a:pt x="22" y="14"/>
                    </a:lnTo>
                    <a:lnTo>
                      <a:pt x="24" y="14"/>
                    </a:lnTo>
                    <a:lnTo>
                      <a:pt x="24" y="12"/>
                    </a:lnTo>
                    <a:lnTo>
                      <a:pt x="22" y="10"/>
                    </a:lnTo>
                    <a:lnTo>
                      <a:pt x="16" y="8"/>
                    </a:lnTo>
                    <a:lnTo>
                      <a:pt x="12" y="8"/>
                    </a:lnTo>
                    <a:lnTo>
                      <a:pt x="10" y="4"/>
                    </a:lnTo>
                    <a:lnTo>
                      <a:pt x="6" y="4"/>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95" name="Freeform 268">
                <a:extLst>
                  <a:ext uri="{FF2B5EF4-FFF2-40B4-BE49-F238E27FC236}">
                    <a16:creationId xmlns:a16="http://schemas.microsoft.com/office/drawing/2014/main" id="{92611C74-450E-893E-A6C5-81C78E656881}"/>
                  </a:ext>
                </a:extLst>
              </p:cNvPr>
              <p:cNvSpPr>
                <a:spLocks/>
              </p:cNvSpPr>
              <p:nvPr/>
            </p:nvSpPr>
            <p:spPr bwMode="auto">
              <a:xfrm>
                <a:off x="4309896" y="2768952"/>
                <a:ext cx="9723" cy="5764"/>
              </a:xfrm>
              <a:custGeom>
                <a:avLst/>
                <a:gdLst/>
                <a:ahLst/>
                <a:cxnLst>
                  <a:cxn ang="0">
                    <a:pos x="8" y="0"/>
                  </a:cxn>
                  <a:cxn ang="0">
                    <a:pos x="8" y="0"/>
                  </a:cxn>
                  <a:cxn ang="0">
                    <a:pos x="10" y="2"/>
                  </a:cxn>
                  <a:cxn ang="0">
                    <a:pos x="6" y="4"/>
                  </a:cxn>
                  <a:cxn ang="0">
                    <a:pos x="6" y="6"/>
                  </a:cxn>
                  <a:cxn ang="0">
                    <a:pos x="0" y="4"/>
                  </a:cxn>
                  <a:cxn ang="0">
                    <a:pos x="0" y="6"/>
                  </a:cxn>
                  <a:cxn ang="0">
                    <a:pos x="0" y="4"/>
                  </a:cxn>
                  <a:cxn ang="0">
                    <a:pos x="0" y="2"/>
                  </a:cxn>
                  <a:cxn ang="0">
                    <a:pos x="8" y="0"/>
                  </a:cxn>
                </a:cxnLst>
                <a:rect l="0" t="0" r="r" b="b"/>
                <a:pathLst>
                  <a:path w="10" h="6">
                    <a:moveTo>
                      <a:pt x="8" y="0"/>
                    </a:moveTo>
                    <a:lnTo>
                      <a:pt x="8" y="0"/>
                    </a:lnTo>
                    <a:lnTo>
                      <a:pt x="10" y="2"/>
                    </a:lnTo>
                    <a:lnTo>
                      <a:pt x="6" y="4"/>
                    </a:lnTo>
                    <a:lnTo>
                      <a:pt x="6" y="6"/>
                    </a:lnTo>
                    <a:lnTo>
                      <a:pt x="0" y="4"/>
                    </a:lnTo>
                    <a:lnTo>
                      <a:pt x="0" y="6"/>
                    </a:lnTo>
                    <a:lnTo>
                      <a:pt x="0" y="4"/>
                    </a:lnTo>
                    <a:lnTo>
                      <a:pt x="0" y="2"/>
                    </a:lnTo>
                    <a:lnTo>
                      <a:pt x="8"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96" name="Freeform 269">
                <a:extLst>
                  <a:ext uri="{FF2B5EF4-FFF2-40B4-BE49-F238E27FC236}">
                    <a16:creationId xmlns:a16="http://schemas.microsoft.com/office/drawing/2014/main" id="{C531EEF2-4C16-17FD-7A57-70103B96446A}"/>
                  </a:ext>
                </a:extLst>
              </p:cNvPr>
              <p:cNvSpPr>
                <a:spLocks/>
              </p:cNvSpPr>
              <p:nvPr/>
            </p:nvSpPr>
            <p:spPr bwMode="auto">
              <a:xfrm>
                <a:off x="4309896" y="2768952"/>
                <a:ext cx="9723" cy="5764"/>
              </a:xfrm>
              <a:custGeom>
                <a:avLst/>
                <a:gdLst/>
                <a:ahLst/>
                <a:cxnLst>
                  <a:cxn ang="0">
                    <a:pos x="8" y="0"/>
                  </a:cxn>
                  <a:cxn ang="0">
                    <a:pos x="8" y="0"/>
                  </a:cxn>
                  <a:cxn ang="0">
                    <a:pos x="10" y="2"/>
                  </a:cxn>
                  <a:cxn ang="0">
                    <a:pos x="6" y="4"/>
                  </a:cxn>
                  <a:cxn ang="0">
                    <a:pos x="6" y="6"/>
                  </a:cxn>
                  <a:cxn ang="0">
                    <a:pos x="0" y="4"/>
                  </a:cxn>
                  <a:cxn ang="0">
                    <a:pos x="0" y="6"/>
                  </a:cxn>
                  <a:cxn ang="0">
                    <a:pos x="0" y="4"/>
                  </a:cxn>
                  <a:cxn ang="0">
                    <a:pos x="0" y="2"/>
                  </a:cxn>
                  <a:cxn ang="0">
                    <a:pos x="8" y="0"/>
                  </a:cxn>
                </a:cxnLst>
                <a:rect l="0" t="0" r="r" b="b"/>
                <a:pathLst>
                  <a:path w="10" h="6">
                    <a:moveTo>
                      <a:pt x="8" y="0"/>
                    </a:moveTo>
                    <a:lnTo>
                      <a:pt x="8" y="0"/>
                    </a:lnTo>
                    <a:lnTo>
                      <a:pt x="10" y="2"/>
                    </a:lnTo>
                    <a:lnTo>
                      <a:pt x="6" y="4"/>
                    </a:lnTo>
                    <a:lnTo>
                      <a:pt x="6" y="6"/>
                    </a:lnTo>
                    <a:lnTo>
                      <a:pt x="0" y="4"/>
                    </a:lnTo>
                    <a:lnTo>
                      <a:pt x="0" y="6"/>
                    </a:lnTo>
                    <a:lnTo>
                      <a:pt x="0" y="4"/>
                    </a:lnTo>
                    <a:lnTo>
                      <a:pt x="0" y="2"/>
                    </a:lnTo>
                    <a:lnTo>
                      <a:pt x="8"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97" name="Freeform 270">
                <a:extLst>
                  <a:ext uri="{FF2B5EF4-FFF2-40B4-BE49-F238E27FC236}">
                    <a16:creationId xmlns:a16="http://schemas.microsoft.com/office/drawing/2014/main" id="{283D3543-C715-26EE-32D1-18D272223E97}"/>
                  </a:ext>
                </a:extLst>
              </p:cNvPr>
              <p:cNvSpPr>
                <a:spLocks/>
              </p:cNvSpPr>
              <p:nvPr/>
            </p:nvSpPr>
            <p:spPr bwMode="auto">
              <a:xfrm>
                <a:off x="4346846" y="2767030"/>
                <a:ext cx="38894" cy="3843"/>
              </a:xfrm>
              <a:custGeom>
                <a:avLst/>
                <a:gdLst/>
                <a:ahLst/>
                <a:cxnLst>
                  <a:cxn ang="0">
                    <a:pos x="12" y="0"/>
                  </a:cxn>
                  <a:cxn ang="0">
                    <a:pos x="12" y="0"/>
                  </a:cxn>
                  <a:cxn ang="0">
                    <a:pos x="20" y="0"/>
                  </a:cxn>
                  <a:cxn ang="0">
                    <a:pos x="30" y="0"/>
                  </a:cxn>
                  <a:cxn ang="0">
                    <a:pos x="40" y="0"/>
                  </a:cxn>
                  <a:cxn ang="0">
                    <a:pos x="20" y="2"/>
                  </a:cxn>
                  <a:cxn ang="0">
                    <a:pos x="14" y="2"/>
                  </a:cxn>
                  <a:cxn ang="0">
                    <a:pos x="8" y="2"/>
                  </a:cxn>
                  <a:cxn ang="0">
                    <a:pos x="8" y="4"/>
                  </a:cxn>
                  <a:cxn ang="0">
                    <a:pos x="4" y="4"/>
                  </a:cxn>
                  <a:cxn ang="0">
                    <a:pos x="0" y="4"/>
                  </a:cxn>
                  <a:cxn ang="0">
                    <a:pos x="0" y="2"/>
                  </a:cxn>
                  <a:cxn ang="0">
                    <a:pos x="2" y="2"/>
                  </a:cxn>
                  <a:cxn ang="0">
                    <a:pos x="12" y="0"/>
                  </a:cxn>
                </a:cxnLst>
                <a:rect l="0" t="0" r="r" b="b"/>
                <a:pathLst>
                  <a:path w="40" h="4">
                    <a:moveTo>
                      <a:pt x="12" y="0"/>
                    </a:moveTo>
                    <a:lnTo>
                      <a:pt x="12" y="0"/>
                    </a:lnTo>
                    <a:lnTo>
                      <a:pt x="20" y="0"/>
                    </a:lnTo>
                    <a:lnTo>
                      <a:pt x="30" y="0"/>
                    </a:lnTo>
                    <a:lnTo>
                      <a:pt x="40" y="0"/>
                    </a:lnTo>
                    <a:lnTo>
                      <a:pt x="20" y="2"/>
                    </a:lnTo>
                    <a:lnTo>
                      <a:pt x="14" y="2"/>
                    </a:lnTo>
                    <a:lnTo>
                      <a:pt x="8" y="2"/>
                    </a:lnTo>
                    <a:lnTo>
                      <a:pt x="8" y="4"/>
                    </a:lnTo>
                    <a:lnTo>
                      <a:pt x="4" y="4"/>
                    </a:lnTo>
                    <a:lnTo>
                      <a:pt x="0" y="4"/>
                    </a:lnTo>
                    <a:lnTo>
                      <a:pt x="0" y="2"/>
                    </a:lnTo>
                    <a:lnTo>
                      <a:pt x="2" y="2"/>
                    </a:lnTo>
                    <a:lnTo>
                      <a:pt x="1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98" name="Freeform 271">
                <a:extLst>
                  <a:ext uri="{FF2B5EF4-FFF2-40B4-BE49-F238E27FC236}">
                    <a16:creationId xmlns:a16="http://schemas.microsoft.com/office/drawing/2014/main" id="{5AD28F25-99F6-7DB6-9583-275590D9355E}"/>
                  </a:ext>
                </a:extLst>
              </p:cNvPr>
              <p:cNvSpPr>
                <a:spLocks/>
              </p:cNvSpPr>
              <p:nvPr/>
            </p:nvSpPr>
            <p:spPr bwMode="auto">
              <a:xfrm>
                <a:off x="4346846" y="2767030"/>
                <a:ext cx="38894" cy="3843"/>
              </a:xfrm>
              <a:custGeom>
                <a:avLst/>
                <a:gdLst/>
                <a:ahLst/>
                <a:cxnLst>
                  <a:cxn ang="0">
                    <a:pos x="12" y="0"/>
                  </a:cxn>
                  <a:cxn ang="0">
                    <a:pos x="12" y="0"/>
                  </a:cxn>
                  <a:cxn ang="0">
                    <a:pos x="20" y="0"/>
                  </a:cxn>
                  <a:cxn ang="0">
                    <a:pos x="30" y="0"/>
                  </a:cxn>
                  <a:cxn ang="0">
                    <a:pos x="40" y="0"/>
                  </a:cxn>
                  <a:cxn ang="0">
                    <a:pos x="20" y="2"/>
                  </a:cxn>
                  <a:cxn ang="0">
                    <a:pos x="14" y="2"/>
                  </a:cxn>
                  <a:cxn ang="0">
                    <a:pos x="8" y="2"/>
                  </a:cxn>
                  <a:cxn ang="0">
                    <a:pos x="8" y="4"/>
                  </a:cxn>
                  <a:cxn ang="0">
                    <a:pos x="4" y="4"/>
                  </a:cxn>
                  <a:cxn ang="0">
                    <a:pos x="0" y="4"/>
                  </a:cxn>
                  <a:cxn ang="0">
                    <a:pos x="0" y="2"/>
                  </a:cxn>
                  <a:cxn ang="0">
                    <a:pos x="2" y="2"/>
                  </a:cxn>
                  <a:cxn ang="0">
                    <a:pos x="12" y="0"/>
                  </a:cxn>
                </a:cxnLst>
                <a:rect l="0" t="0" r="r" b="b"/>
                <a:pathLst>
                  <a:path w="40" h="4">
                    <a:moveTo>
                      <a:pt x="12" y="0"/>
                    </a:moveTo>
                    <a:lnTo>
                      <a:pt x="12" y="0"/>
                    </a:lnTo>
                    <a:lnTo>
                      <a:pt x="20" y="0"/>
                    </a:lnTo>
                    <a:lnTo>
                      <a:pt x="30" y="0"/>
                    </a:lnTo>
                    <a:lnTo>
                      <a:pt x="40" y="0"/>
                    </a:lnTo>
                    <a:lnTo>
                      <a:pt x="20" y="2"/>
                    </a:lnTo>
                    <a:lnTo>
                      <a:pt x="14" y="2"/>
                    </a:lnTo>
                    <a:lnTo>
                      <a:pt x="8" y="2"/>
                    </a:lnTo>
                    <a:lnTo>
                      <a:pt x="8" y="4"/>
                    </a:lnTo>
                    <a:lnTo>
                      <a:pt x="4" y="4"/>
                    </a:lnTo>
                    <a:lnTo>
                      <a:pt x="0" y="4"/>
                    </a:lnTo>
                    <a:lnTo>
                      <a:pt x="0" y="2"/>
                    </a:lnTo>
                    <a:lnTo>
                      <a:pt x="2" y="2"/>
                    </a:lnTo>
                    <a:lnTo>
                      <a:pt x="1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299" name="Freeform 272">
                <a:extLst>
                  <a:ext uri="{FF2B5EF4-FFF2-40B4-BE49-F238E27FC236}">
                    <a16:creationId xmlns:a16="http://schemas.microsoft.com/office/drawing/2014/main" id="{79FCA279-20DD-73D1-E4FE-F36DF1DF9300}"/>
                  </a:ext>
                </a:extLst>
              </p:cNvPr>
              <p:cNvSpPr>
                <a:spLocks/>
              </p:cNvSpPr>
              <p:nvPr/>
            </p:nvSpPr>
            <p:spPr bwMode="auto">
              <a:xfrm>
                <a:off x="4325454" y="2763187"/>
                <a:ext cx="19447" cy="9607"/>
              </a:xfrm>
              <a:custGeom>
                <a:avLst/>
                <a:gdLst/>
                <a:ahLst/>
                <a:cxnLst>
                  <a:cxn ang="0">
                    <a:pos x="2" y="0"/>
                  </a:cxn>
                  <a:cxn ang="0">
                    <a:pos x="4" y="0"/>
                  </a:cxn>
                  <a:cxn ang="0">
                    <a:pos x="4" y="4"/>
                  </a:cxn>
                  <a:cxn ang="0">
                    <a:pos x="6" y="6"/>
                  </a:cxn>
                  <a:cxn ang="0">
                    <a:pos x="14" y="6"/>
                  </a:cxn>
                  <a:cxn ang="0">
                    <a:pos x="20" y="8"/>
                  </a:cxn>
                  <a:cxn ang="0">
                    <a:pos x="14" y="6"/>
                  </a:cxn>
                  <a:cxn ang="0">
                    <a:pos x="6" y="8"/>
                  </a:cxn>
                  <a:cxn ang="0">
                    <a:pos x="6" y="10"/>
                  </a:cxn>
                  <a:cxn ang="0">
                    <a:pos x="4" y="10"/>
                  </a:cxn>
                  <a:cxn ang="0">
                    <a:pos x="4" y="8"/>
                  </a:cxn>
                  <a:cxn ang="0">
                    <a:pos x="0" y="8"/>
                  </a:cxn>
                  <a:cxn ang="0">
                    <a:pos x="0" y="6"/>
                  </a:cxn>
                  <a:cxn ang="0">
                    <a:pos x="2" y="6"/>
                  </a:cxn>
                  <a:cxn ang="0">
                    <a:pos x="2" y="2"/>
                  </a:cxn>
                  <a:cxn ang="0">
                    <a:pos x="2" y="0"/>
                  </a:cxn>
                </a:cxnLst>
                <a:rect l="0" t="0" r="r" b="b"/>
                <a:pathLst>
                  <a:path w="20" h="10">
                    <a:moveTo>
                      <a:pt x="2" y="0"/>
                    </a:moveTo>
                    <a:lnTo>
                      <a:pt x="4" y="0"/>
                    </a:lnTo>
                    <a:lnTo>
                      <a:pt x="4" y="4"/>
                    </a:lnTo>
                    <a:lnTo>
                      <a:pt x="6" y="6"/>
                    </a:lnTo>
                    <a:lnTo>
                      <a:pt x="14" y="6"/>
                    </a:lnTo>
                    <a:lnTo>
                      <a:pt x="20" y="8"/>
                    </a:lnTo>
                    <a:lnTo>
                      <a:pt x="14" y="6"/>
                    </a:lnTo>
                    <a:lnTo>
                      <a:pt x="6" y="8"/>
                    </a:lnTo>
                    <a:lnTo>
                      <a:pt x="6" y="10"/>
                    </a:lnTo>
                    <a:lnTo>
                      <a:pt x="4" y="10"/>
                    </a:lnTo>
                    <a:lnTo>
                      <a:pt x="4" y="8"/>
                    </a:lnTo>
                    <a:lnTo>
                      <a:pt x="0" y="8"/>
                    </a:lnTo>
                    <a:lnTo>
                      <a:pt x="0" y="6"/>
                    </a:lnTo>
                    <a:lnTo>
                      <a:pt x="2" y="6"/>
                    </a:lnTo>
                    <a:lnTo>
                      <a:pt x="2" y="2"/>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00" name="Freeform 273">
                <a:extLst>
                  <a:ext uri="{FF2B5EF4-FFF2-40B4-BE49-F238E27FC236}">
                    <a16:creationId xmlns:a16="http://schemas.microsoft.com/office/drawing/2014/main" id="{A103CDA7-7D6A-F2AE-732F-762CF8EC3105}"/>
                  </a:ext>
                </a:extLst>
              </p:cNvPr>
              <p:cNvSpPr>
                <a:spLocks/>
              </p:cNvSpPr>
              <p:nvPr/>
            </p:nvSpPr>
            <p:spPr bwMode="auto">
              <a:xfrm>
                <a:off x="4325454" y="2763187"/>
                <a:ext cx="19447" cy="9607"/>
              </a:xfrm>
              <a:custGeom>
                <a:avLst/>
                <a:gdLst/>
                <a:ahLst/>
                <a:cxnLst>
                  <a:cxn ang="0">
                    <a:pos x="2" y="0"/>
                  </a:cxn>
                  <a:cxn ang="0">
                    <a:pos x="4" y="0"/>
                  </a:cxn>
                  <a:cxn ang="0">
                    <a:pos x="4" y="4"/>
                  </a:cxn>
                  <a:cxn ang="0">
                    <a:pos x="6" y="6"/>
                  </a:cxn>
                  <a:cxn ang="0">
                    <a:pos x="14" y="6"/>
                  </a:cxn>
                  <a:cxn ang="0">
                    <a:pos x="20" y="8"/>
                  </a:cxn>
                  <a:cxn ang="0">
                    <a:pos x="14" y="6"/>
                  </a:cxn>
                  <a:cxn ang="0">
                    <a:pos x="6" y="8"/>
                  </a:cxn>
                  <a:cxn ang="0">
                    <a:pos x="6" y="10"/>
                  </a:cxn>
                  <a:cxn ang="0">
                    <a:pos x="4" y="10"/>
                  </a:cxn>
                  <a:cxn ang="0">
                    <a:pos x="4" y="8"/>
                  </a:cxn>
                  <a:cxn ang="0">
                    <a:pos x="0" y="8"/>
                  </a:cxn>
                  <a:cxn ang="0">
                    <a:pos x="0" y="6"/>
                  </a:cxn>
                  <a:cxn ang="0">
                    <a:pos x="2" y="6"/>
                  </a:cxn>
                  <a:cxn ang="0">
                    <a:pos x="2" y="2"/>
                  </a:cxn>
                  <a:cxn ang="0">
                    <a:pos x="2" y="0"/>
                  </a:cxn>
                </a:cxnLst>
                <a:rect l="0" t="0" r="r" b="b"/>
                <a:pathLst>
                  <a:path w="20" h="10">
                    <a:moveTo>
                      <a:pt x="2" y="0"/>
                    </a:moveTo>
                    <a:lnTo>
                      <a:pt x="4" y="0"/>
                    </a:lnTo>
                    <a:lnTo>
                      <a:pt x="4" y="4"/>
                    </a:lnTo>
                    <a:lnTo>
                      <a:pt x="6" y="6"/>
                    </a:lnTo>
                    <a:lnTo>
                      <a:pt x="14" y="6"/>
                    </a:lnTo>
                    <a:lnTo>
                      <a:pt x="20" y="8"/>
                    </a:lnTo>
                    <a:lnTo>
                      <a:pt x="14" y="6"/>
                    </a:lnTo>
                    <a:lnTo>
                      <a:pt x="6" y="8"/>
                    </a:lnTo>
                    <a:lnTo>
                      <a:pt x="6" y="10"/>
                    </a:lnTo>
                    <a:lnTo>
                      <a:pt x="4" y="10"/>
                    </a:lnTo>
                    <a:lnTo>
                      <a:pt x="4" y="8"/>
                    </a:lnTo>
                    <a:lnTo>
                      <a:pt x="0" y="8"/>
                    </a:lnTo>
                    <a:lnTo>
                      <a:pt x="0" y="6"/>
                    </a:lnTo>
                    <a:lnTo>
                      <a:pt x="2" y="6"/>
                    </a:lnTo>
                    <a:lnTo>
                      <a:pt x="2" y="2"/>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01" name="Freeform 274">
                <a:extLst>
                  <a:ext uri="{FF2B5EF4-FFF2-40B4-BE49-F238E27FC236}">
                    <a16:creationId xmlns:a16="http://schemas.microsoft.com/office/drawing/2014/main" id="{5D2619C3-320E-AB17-ACFE-459BA1199C42}"/>
                  </a:ext>
                </a:extLst>
              </p:cNvPr>
              <p:cNvSpPr>
                <a:spLocks/>
              </p:cNvSpPr>
              <p:nvPr/>
            </p:nvSpPr>
            <p:spPr bwMode="auto">
              <a:xfrm>
                <a:off x="6406278" y="3564398"/>
                <a:ext cx="75843" cy="103754"/>
              </a:xfrm>
              <a:custGeom>
                <a:avLst/>
                <a:gdLst/>
                <a:ahLst/>
                <a:cxnLst>
                  <a:cxn ang="0">
                    <a:pos x="48" y="96"/>
                  </a:cxn>
                  <a:cxn ang="0">
                    <a:pos x="46" y="84"/>
                  </a:cxn>
                  <a:cxn ang="0">
                    <a:pos x="32" y="78"/>
                  </a:cxn>
                  <a:cxn ang="0">
                    <a:pos x="36" y="72"/>
                  </a:cxn>
                  <a:cxn ang="0">
                    <a:pos x="36" y="64"/>
                  </a:cxn>
                  <a:cxn ang="0">
                    <a:pos x="46" y="60"/>
                  </a:cxn>
                  <a:cxn ang="0">
                    <a:pos x="50" y="52"/>
                  </a:cxn>
                  <a:cxn ang="0">
                    <a:pos x="56" y="52"/>
                  </a:cxn>
                  <a:cxn ang="0">
                    <a:pos x="60" y="46"/>
                  </a:cxn>
                  <a:cxn ang="0">
                    <a:pos x="64" y="42"/>
                  </a:cxn>
                  <a:cxn ang="0">
                    <a:pos x="60" y="32"/>
                  </a:cxn>
                  <a:cxn ang="0">
                    <a:pos x="64" y="26"/>
                  </a:cxn>
                  <a:cxn ang="0">
                    <a:pos x="68" y="22"/>
                  </a:cxn>
                  <a:cxn ang="0">
                    <a:pos x="78" y="12"/>
                  </a:cxn>
                  <a:cxn ang="0">
                    <a:pos x="68" y="8"/>
                  </a:cxn>
                  <a:cxn ang="0">
                    <a:pos x="62" y="14"/>
                  </a:cxn>
                  <a:cxn ang="0">
                    <a:pos x="52" y="16"/>
                  </a:cxn>
                  <a:cxn ang="0">
                    <a:pos x="48" y="24"/>
                  </a:cxn>
                  <a:cxn ang="0">
                    <a:pos x="42" y="28"/>
                  </a:cxn>
                  <a:cxn ang="0">
                    <a:pos x="34" y="20"/>
                  </a:cxn>
                  <a:cxn ang="0">
                    <a:pos x="28" y="30"/>
                  </a:cxn>
                  <a:cxn ang="0">
                    <a:pos x="16" y="44"/>
                  </a:cxn>
                  <a:cxn ang="0">
                    <a:pos x="6" y="58"/>
                  </a:cxn>
                  <a:cxn ang="0">
                    <a:pos x="2" y="68"/>
                  </a:cxn>
                  <a:cxn ang="0">
                    <a:pos x="6" y="78"/>
                  </a:cxn>
                  <a:cxn ang="0">
                    <a:pos x="6" y="86"/>
                  </a:cxn>
                  <a:cxn ang="0">
                    <a:pos x="0" y="96"/>
                  </a:cxn>
                  <a:cxn ang="0">
                    <a:pos x="6" y="102"/>
                  </a:cxn>
                  <a:cxn ang="0">
                    <a:pos x="10" y="108"/>
                  </a:cxn>
                  <a:cxn ang="0">
                    <a:pos x="16" y="104"/>
                  </a:cxn>
                  <a:cxn ang="0">
                    <a:pos x="24" y="104"/>
                  </a:cxn>
                  <a:cxn ang="0">
                    <a:pos x="36" y="94"/>
                  </a:cxn>
                  <a:cxn ang="0">
                    <a:pos x="48" y="96"/>
                  </a:cxn>
                </a:cxnLst>
                <a:rect l="0" t="0" r="r" b="b"/>
                <a:pathLst>
                  <a:path w="78" h="108">
                    <a:moveTo>
                      <a:pt x="48" y="96"/>
                    </a:moveTo>
                    <a:lnTo>
                      <a:pt x="48" y="96"/>
                    </a:lnTo>
                    <a:lnTo>
                      <a:pt x="46" y="92"/>
                    </a:lnTo>
                    <a:lnTo>
                      <a:pt x="46" y="84"/>
                    </a:lnTo>
                    <a:lnTo>
                      <a:pt x="40" y="80"/>
                    </a:lnTo>
                    <a:lnTo>
                      <a:pt x="32" y="78"/>
                    </a:lnTo>
                    <a:lnTo>
                      <a:pt x="34" y="74"/>
                    </a:lnTo>
                    <a:lnTo>
                      <a:pt x="36" y="72"/>
                    </a:lnTo>
                    <a:lnTo>
                      <a:pt x="36" y="68"/>
                    </a:lnTo>
                    <a:lnTo>
                      <a:pt x="36" y="64"/>
                    </a:lnTo>
                    <a:lnTo>
                      <a:pt x="40" y="62"/>
                    </a:lnTo>
                    <a:lnTo>
                      <a:pt x="46" y="60"/>
                    </a:lnTo>
                    <a:lnTo>
                      <a:pt x="48" y="58"/>
                    </a:lnTo>
                    <a:lnTo>
                      <a:pt x="50" y="52"/>
                    </a:lnTo>
                    <a:lnTo>
                      <a:pt x="54" y="52"/>
                    </a:lnTo>
                    <a:lnTo>
                      <a:pt x="56" y="52"/>
                    </a:lnTo>
                    <a:lnTo>
                      <a:pt x="58" y="48"/>
                    </a:lnTo>
                    <a:lnTo>
                      <a:pt x="60" y="46"/>
                    </a:lnTo>
                    <a:lnTo>
                      <a:pt x="64" y="46"/>
                    </a:lnTo>
                    <a:lnTo>
                      <a:pt x="64" y="42"/>
                    </a:lnTo>
                    <a:lnTo>
                      <a:pt x="62" y="36"/>
                    </a:lnTo>
                    <a:lnTo>
                      <a:pt x="60" y="32"/>
                    </a:lnTo>
                    <a:lnTo>
                      <a:pt x="62" y="28"/>
                    </a:lnTo>
                    <a:lnTo>
                      <a:pt x="64" y="26"/>
                    </a:lnTo>
                    <a:lnTo>
                      <a:pt x="66" y="22"/>
                    </a:lnTo>
                    <a:lnTo>
                      <a:pt x="68" y="22"/>
                    </a:lnTo>
                    <a:lnTo>
                      <a:pt x="70" y="22"/>
                    </a:lnTo>
                    <a:lnTo>
                      <a:pt x="78" y="12"/>
                    </a:lnTo>
                    <a:lnTo>
                      <a:pt x="68" y="0"/>
                    </a:lnTo>
                    <a:lnTo>
                      <a:pt x="68" y="8"/>
                    </a:lnTo>
                    <a:lnTo>
                      <a:pt x="62" y="10"/>
                    </a:lnTo>
                    <a:lnTo>
                      <a:pt x="62" y="14"/>
                    </a:lnTo>
                    <a:lnTo>
                      <a:pt x="58" y="16"/>
                    </a:lnTo>
                    <a:lnTo>
                      <a:pt x="52" y="16"/>
                    </a:lnTo>
                    <a:lnTo>
                      <a:pt x="48" y="20"/>
                    </a:lnTo>
                    <a:lnTo>
                      <a:pt x="48" y="24"/>
                    </a:lnTo>
                    <a:lnTo>
                      <a:pt x="48" y="30"/>
                    </a:lnTo>
                    <a:lnTo>
                      <a:pt x="42" y="28"/>
                    </a:lnTo>
                    <a:lnTo>
                      <a:pt x="38" y="26"/>
                    </a:lnTo>
                    <a:lnTo>
                      <a:pt x="34" y="20"/>
                    </a:lnTo>
                    <a:lnTo>
                      <a:pt x="28" y="22"/>
                    </a:lnTo>
                    <a:lnTo>
                      <a:pt x="28" y="30"/>
                    </a:lnTo>
                    <a:lnTo>
                      <a:pt x="20" y="38"/>
                    </a:lnTo>
                    <a:lnTo>
                      <a:pt x="16" y="44"/>
                    </a:lnTo>
                    <a:lnTo>
                      <a:pt x="10" y="52"/>
                    </a:lnTo>
                    <a:lnTo>
                      <a:pt x="6" y="58"/>
                    </a:lnTo>
                    <a:lnTo>
                      <a:pt x="0" y="66"/>
                    </a:lnTo>
                    <a:lnTo>
                      <a:pt x="2" y="68"/>
                    </a:lnTo>
                    <a:lnTo>
                      <a:pt x="8" y="72"/>
                    </a:lnTo>
                    <a:lnTo>
                      <a:pt x="6" y="78"/>
                    </a:lnTo>
                    <a:lnTo>
                      <a:pt x="10" y="84"/>
                    </a:lnTo>
                    <a:lnTo>
                      <a:pt x="6" y="86"/>
                    </a:lnTo>
                    <a:lnTo>
                      <a:pt x="2" y="88"/>
                    </a:lnTo>
                    <a:lnTo>
                      <a:pt x="0" y="96"/>
                    </a:lnTo>
                    <a:lnTo>
                      <a:pt x="8" y="98"/>
                    </a:lnTo>
                    <a:lnTo>
                      <a:pt x="6" y="102"/>
                    </a:lnTo>
                    <a:lnTo>
                      <a:pt x="8" y="106"/>
                    </a:lnTo>
                    <a:lnTo>
                      <a:pt x="10" y="108"/>
                    </a:lnTo>
                    <a:lnTo>
                      <a:pt x="14" y="106"/>
                    </a:lnTo>
                    <a:lnTo>
                      <a:pt x="16" y="104"/>
                    </a:lnTo>
                    <a:lnTo>
                      <a:pt x="20" y="104"/>
                    </a:lnTo>
                    <a:lnTo>
                      <a:pt x="24" y="104"/>
                    </a:lnTo>
                    <a:lnTo>
                      <a:pt x="32" y="96"/>
                    </a:lnTo>
                    <a:lnTo>
                      <a:pt x="36" y="94"/>
                    </a:lnTo>
                    <a:lnTo>
                      <a:pt x="42" y="98"/>
                    </a:lnTo>
                    <a:lnTo>
                      <a:pt x="48" y="96"/>
                    </a:lnTo>
                    <a:lnTo>
                      <a:pt x="48" y="9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02" name="Freeform 275">
                <a:extLst>
                  <a:ext uri="{FF2B5EF4-FFF2-40B4-BE49-F238E27FC236}">
                    <a16:creationId xmlns:a16="http://schemas.microsoft.com/office/drawing/2014/main" id="{F3A8FF56-4ECE-33C6-DA40-B365C098B925}"/>
                  </a:ext>
                </a:extLst>
              </p:cNvPr>
              <p:cNvSpPr>
                <a:spLocks/>
              </p:cNvSpPr>
              <p:nvPr/>
            </p:nvSpPr>
            <p:spPr bwMode="auto">
              <a:xfrm>
                <a:off x="6406278" y="3564398"/>
                <a:ext cx="75843" cy="103754"/>
              </a:xfrm>
              <a:custGeom>
                <a:avLst/>
                <a:gdLst/>
                <a:ahLst/>
                <a:cxnLst>
                  <a:cxn ang="0">
                    <a:pos x="48" y="96"/>
                  </a:cxn>
                  <a:cxn ang="0">
                    <a:pos x="46" y="84"/>
                  </a:cxn>
                  <a:cxn ang="0">
                    <a:pos x="32" y="78"/>
                  </a:cxn>
                  <a:cxn ang="0">
                    <a:pos x="36" y="72"/>
                  </a:cxn>
                  <a:cxn ang="0">
                    <a:pos x="36" y="64"/>
                  </a:cxn>
                  <a:cxn ang="0">
                    <a:pos x="46" y="60"/>
                  </a:cxn>
                  <a:cxn ang="0">
                    <a:pos x="50" y="52"/>
                  </a:cxn>
                  <a:cxn ang="0">
                    <a:pos x="56" y="52"/>
                  </a:cxn>
                  <a:cxn ang="0">
                    <a:pos x="60" y="46"/>
                  </a:cxn>
                  <a:cxn ang="0">
                    <a:pos x="64" y="42"/>
                  </a:cxn>
                  <a:cxn ang="0">
                    <a:pos x="60" y="32"/>
                  </a:cxn>
                  <a:cxn ang="0">
                    <a:pos x="64" y="26"/>
                  </a:cxn>
                  <a:cxn ang="0">
                    <a:pos x="68" y="22"/>
                  </a:cxn>
                  <a:cxn ang="0">
                    <a:pos x="78" y="12"/>
                  </a:cxn>
                  <a:cxn ang="0">
                    <a:pos x="68" y="8"/>
                  </a:cxn>
                  <a:cxn ang="0">
                    <a:pos x="62" y="14"/>
                  </a:cxn>
                  <a:cxn ang="0">
                    <a:pos x="52" y="16"/>
                  </a:cxn>
                  <a:cxn ang="0">
                    <a:pos x="48" y="24"/>
                  </a:cxn>
                  <a:cxn ang="0">
                    <a:pos x="42" y="28"/>
                  </a:cxn>
                  <a:cxn ang="0">
                    <a:pos x="34" y="20"/>
                  </a:cxn>
                  <a:cxn ang="0">
                    <a:pos x="28" y="30"/>
                  </a:cxn>
                  <a:cxn ang="0">
                    <a:pos x="16" y="44"/>
                  </a:cxn>
                  <a:cxn ang="0">
                    <a:pos x="6" y="58"/>
                  </a:cxn>
                  <a:cxn ang="0">
                    <a:pos x="2" y="68"/>
                  </a:cxn>
                  <a:cxn ang="0">
                    <a:pos x="6" y="78"/>
                  </a:cxn>
                  <a:cxn ang="0">
                    <a:pos x="6" y="86"/>
                  </a:cxn>
                  <a:cxn ang="0">
                    <a:pos x="0" y="96"/>
                  </a:cxn>
                  <a:cxn ang="0">
                    <a:pos x="6" y="102"/>
                  </a:cxn>
                  <a:cxn ang="0">
                    <a:pos x="10" y="108"/>
                  </a:cxn>
                  <a:cxn ang="0">
                    <a:pos x="16" y="104"/>
                  </a:cxn>
                  <a:cxn ang="0">
                    <a:pos x="24" y="104"/>
                  </a:cxn>
                  <a:cxn ang="0">
                    <a:pos x="36" y="94"/>
                  </a:cxn>
                  <a:cxn ang="0">
                    <a:pos x="48" y="96"/>
                  </a:cxn>
                </a:cxnLst>
                <a:rect l="0" t="0" r="r" b="b"/>
                <a:pathLst>
                  <a:path w="78" h="108">
                    <a:moveTo>
                      <a:pt x="48" y="96"/>
                    </a:moveTo>
                    <a:lnTo>
                      <a:pt x="48" y="96"/>
                    </a:lnTo>
                    <a:lnTo>
                      <a:pt x="46" y="92"/>
                    </a:lnTo>
                    <a:lnTo>
                      <a:pt x="46" y="84"/>
                    </a:lnTo>
                    <a:lnTo>
                      <a:pt x="40" y="80"/>
                    </a:lnTo>
                    <a:lnTo>
                      <a:pt x="32" y="78"/>
                    </a:lnTo>
                    <a:lnTo>
                      <a:pt x="34" y="74"/>
                    </a:lnTo>
                    <a:lnTo>
                      <a:pt x="36" y="72"/>
                    </a:lnTo>
                    <a:lnTo>
                      <a:pt x="36" y="68"/>
                    </a:lnTo>
                    <a:lnTo>
                      <a:pt x="36" y="64"/>
                    </a:lnTo>
                    <a:lnTo>
                      <a:pt x="40" y="62"/>
                    </a:lnTo>
                    <a:lnTo>
                      <a:pt x="46" y="60"/>
                    </a:lnTo>
                    <a:lnTo>
                      <a:pt x="48" y="58"/>
                    </a:lnTo>
                    <a:lnTo>
                      <a:pt x="50" y="52"/>
                    </a:lnTo>
                    <a:lnTo>
                      <a:pt x="54" y="52"/>
                    </a:lnTo>
                    <a:lnTo>
                      <a:pt x="56" y="52"/>
                    </a:lnTo>
                    <a:lnTo>
                      <a:pt x="58" y="48"/>
                    </a:lnTo>
                    <a:lnTo>
                      <a:pt x="60" y="46"/>
                    </a:lnTo>
                    <a:lnTo>
                      <a:pt x="64" y="46"/>
                    </a:lnTo>
                    <a:lnTo>
                      <a:pt x="64" y="42"/>
                    </a:lnTo>
                    <a:lnTo>
                      <a:pt x="62" y="36"/>
                    </a:lnTo>
                    <a:lnTo>
                      <a:pt x="60" y="32"/>
                    </a:lnTo>
                    <a:lnTo>
                      <a:pt x="62" y="28"/>
                    </a:lnTo>
                    <a:lnTo>
                      <a:pt x="64" y="26"/>
                    </a:lnTo>
                    <a:lnTo>
                      <a:pt x="66" y="22"/>
                    </a:lnTo>
                    <a:lnTo>
                      <a:pt x="68" y="22"/>
                    </a:lnTo>
                    <a:lnTo>
                      <a:pt x="70" y="22"/>
                    </a:lnTo>
                    <a:lnTo>
                      <a:pt x="78" y="12"/>
                    </a:lnTo>
                    <a:lnTo>
                      <a:pt x="68" y="0"/>
                    </a:lnTo>
                    <a:lnTo>
                      <a:pt x="68" y="8"/>
                    </a:lnTo>
                    <a:lnTo>
                      <a:pt x="62" y="10"/>
                    </a:lnTo>
                    <a:lnTo>
                      <a:pt x="62" y="14"/>
                    </a:lnTo>
                    <a:lnTo>
                      <a:pt x="58" y="16"/>
                    </a:lnTo>
                    <a:lnTo>
                      <a:pt x="52" y="16"/>
                    </a:lnTo>
                    <a:lnTo>
                      <a:pt x="48" y="20"/>
                    </a:lnTo>
                    <a:lnTo>
                      <a:pt x="48" y="24"/>
                    </a:lnTo>
                    <a:lnTo>
                      <a:pt x="48" y="30"/>
                    </a:lnTo>
                    <a:lnTo>
                      <a:pt x="42" y="28"/>
                    </a:lnTo>
                    <a:lnTo>
                      <a:pt x="38" y="26"/>
                    </a:lnTo>
                    <a:lnTo>
                      <a:pt x="34" y="20"/>
                    </a:lnTo>
                    <a:lnTo>
                      <a:pt x="28" y="22"/>
                    </a:lnTo>
                    <a:lnTo>
                      <a:pt x="28" y="30"/>
                    </a:lnTo>
                    <a:lnTo>
                      <a:pt x="20" y="38"/>
                    </a:lnTo>
                    <a:lnTo>
                      <a:pt x="16" y="44"/>
                    </a:lnTo>
                    <a:lnTo>
                      <a:pt x="10" y="52"/>
                    </a:lnTo>
                    <a:lnTo>
                      <a:pt x="6" y="58"/>
                    </a:lnTo>
                    <a:lnTo>
                      <a:pt x="0" y="66"/>
                    </a:lnTo>
                    <a:lnTo>
                      <a:pt x="2" y="68"/>
                    </a:lnTo>
                    <a:lnTo>
                      <a:pt x="8" y="72"/>
                    </a:lnTo>
                    <a:lnTo>
                      <a:pt x="6" y="78"/>
                    </a:lnTo>
                    <a:lnTo>
                      <a:pt x="10" y="84"/>
                    </a:lnTo>
                    <a:lnTo>
                      <a:pt x="6" y="86"/>
                    </a:lnTo>
                    <a:lnTo>
                      <a:pt x="2" y="88"/>
                    </a:lnTo>
                    <a:lnTo>
                      <a:pt x="0" y="96"/>
                    </a:lnTo>
                    <a:lnTo>
                      <a:pt x="8" y="98"/>
                    </a:lnTo>
                    <a:lnTo>
                      <a:pt x="6" y="102"/>
                    </a:lnTo>
                    <a:lnTo>
                      <a:pt x="8" y="106"/>
                    </a:lnTo>
                    <a:lnTo>
                      <a:pt x="10" y="108"/>
                    </a:lnTo>
                    <a:lnTo>
                      <a:pt x="14" y="106"/>
                    </a:lnTo>
                    <a:lnTo>
                      <a:pt x="16" y="104"/>
                    </a:lnTo>
                    <a:lnTo>
                      <a:pt x="20" y="104"/>
                    </a:lnTo>
                    <a:lnTo>
                      <a:pt x="24" y="104"/>
                    </a:lnTo>
                    <a:lnTo>
                      <a:pt x="32" y="96"/>
                    </a:lnTo>
                    <a:lnTo>
                      <a:pt x="36" y="94"/>
                    </a:lnTo>
                    <a:lnTo>
                      <a:pt x="42" y="98"/>
                    </a:lnTo>
                    <a:lnTo>
                      <a:pt x="48" y="96"/>
                    </a:lnTo>
                    <a:lnTo>
                      <a:pt x="48" y="9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03" name="Freeform 276">
                <a:extLst>
                  <a:ext uri="{FF2B5EF4-FFF2-40B4-BE49-F238E27FC236}">
                    <a16:creationId xmlns:a16="http://schemas.microsoft.com/office/drawing/2014/main" id="{C7C1A1C6-7235-22CA-FD62-B4CBDA38F943}"/>
                  </a:ext>
                </a:extLst>
              </p:cNvPr>
              <p:cNvSpPr>
                <a:spLocks/>
              </p:cNvSpPr>
              <p:nvPr/>
            </p:nvSpPr>
            <p:spPr bwMode="auto">
              <a:xfrm>
                <a:off x="4831075" y="3894875"/>
                <a:ext cx="202248" cy="180609"/>
              </a:xfrm>
              <a:custGeom>
                <a:avLst/>
                <a:gdLst/>
                <a:ahLst/>
                <a:cxnLst>
                  <a:cxn ang="0">
                    <a:pos x="186" y="14"/>
                  </a:cxn>
                  <a:cxn ang="0">
                    <a:pos x="154" y="0"/>
                  </a:cxn>
                  <a:cxn ang="0">
                    <a:pos x="76" y="66"/>
                  </a:cxn>
                  <a:cxn ang="0">
                    <a:pos x="58" y="106"/>
                  </a:cxn>
                  <a:cxn ang="0">
                    <a:pos x="54" y="116"/>
                  </a:cxn>
                  <a:cxn ang="0">
                    <a:pos x="46" y="120"/>
                  </a:cxn>
                  <a:cxn ang="0">
                    <a:pos x="28" y="126"/>
                  </a:cxn>
                  <a:cxn ang="0">
                    <a:pos x="14" y="128"/>
                  </a:cxn>
                  <a:cxn ang="0">
                    <a:pos x="6" y="128"/>
                  </a:cxn>
                  <a:cxn ang="0">
                    <a:pos x="2" y="132"/>
                  </a:cxn>
                  <a:cxn ang="0">
                    <a:pos x="4" y="142"/>
                  </a:cxn>
                  <a:cxn ang="0">
                    <a:pos x="14" y="152"/>
                  </a:cxn>
                  <a:cxn ang="0">
                    <a:pos x="22" y="164"/>
                  </a:cxn>
                  <a:cxn ang="0">
                    <a:pos x="24" y="170"/>
                  </a:cxn>
                  <a:cxn ang="0">
                    <a:pos x="26" y="186"/>
                  </a:cxn>
                  <a:cxn ang="0">
                    <a:pos x="34" y="178"/>
                  </a:cxn>
                  <a:cxn ang="0">
                    <a:pos x="40" y="182"/>
                  </a:cxn>
                  <a:cxn ang="0">
                    <a:pos x="48" y="188"/>
                  </a:cxn>
                  <a:cxn ang="0">
                    <a:pos x="54" y="174"/>
                  </a:cxn>
                  <a:cxn ang="0">
                    <a:pos x="56" y="162"/>
                  </a:cxn>
                  <a:cxn ang="0">
                    <a:pos x="76" y="154"/>
                  </a:cxn>
                  <a:cxn ang="0">
                    <a:pos x="84" y="154"/>
                  </a:cxn>
                  <a:cxn ang="0">
                    <a:pos x="90" y="158"/>
                  </a:cxn>
                  <a:cxn ang="0">
                    <a:pos x="94" y="164"/>
                  </a:cxn>
                  <a:cxn ang="0">
                    <a:pos x="104" y="164"/>
                  </a:cxn>
                  <a:cxn ang="0">
                    <a:pos x="110" y="160"/>
                  </a:cxn>
                  <a:cxn ang="0">
                    <a:pos x="112" y="164"/>
                  </a:cxn>
                  <a:cxn ang="0">
                    <a:pos x="128" y="166"/>
                  </a:cxn>
                  <a:cxn ang="0">
                    <a:pos x="132" y="166"/>
                  </a:cxn>
                  <a:cxn ang="0">
                    <a:pos x="140" y="160"/>
                  </a:cxn>
                  <a:cxn ang="0">
                    <a:pos x="154" y="162"/>
                  </a:cxn>
                  <a:cxn ang="0">
                    <a:pos x="170" y="162"/>
                  </a:cxn>
                  <a:cxn ang="0">
                    <a:pos x="174" y="158"/>
                  </a:cxn>
                  <a:cxn ang="0">
                    <a:pos x="184" y="152"/>
                  </a:cxn>
                  <a:cxn ang="0">
                    <a:pos x="204" y="122"/>
                  </a:cxn>
                  <a:cxn ang="0">
                    <a:pos x="204" y="68"/>
                  </a:cxn>
                  <a:cxn ang="0">
                    <a:pos x="208" y="54"/>
                  </a:cxn>
                  <a:cxn ang="0">
                    <a:pos x="206" y="46"/>
                  </a:cxn>
                  <a:cxn ang="0">
                    <a:pos x="196" y="8"/>
                  </a:cxn>
                </a:cxnLst>
                <a:rect l="0" t="0" r="r" b="b"/>
                <a:pathLst>
                  <a:path w="208" h="188">
                    <a:moveTo>
                      <a:pt x="196" y="8"/>
                    </a:moveTo>
                    <a:lnTo>
                      <a:pt x="186" y="14"/>
                    </a:lnTo>
                    <a:lnTo>
                      <a:pt x="186" y="16"/>
                    </a:lnTo>
                    <a:lnTo>
                      <a:pt x="154" y="0"/>
                    </a:lnTo>
                    <a:lnTo>
                      <a:pt x="84" y="52"/>
                    </a:lnTo>
                    <a:lnTo>
                      <a:pt x="76" y="66"/>
                    </a:lnTo>
                    <a:lnTo>
                      <a:pt x="56" y="68"/>
                    </a:lnTo>
                    <a:lnTo>
                      <a:pt x="58" y="106"/>
                    </a:lnTo>
                    <a:lnTo>
                      <a:pt x="54" y="110"/>
                    </a:lnTo>
                    <a:lnTo>
                      <a:pt x="54" y="116"/>
                    </a:lnTo>
                    <a:lnTo>
                      <a:pt x="52" y="120"/>
                    </a:lnTo>
                    <a:lnTo>
                      <a:pt x="46" y="120"/>
                    </a:lnTo>
                    <a:lnTo>
                      <a:pt x="40" y="124"/>
                    </a:lnTo>
                    <a:lnTo>
                      <a:pt x="28" y="126"/>
                    </a:lnTo>
                    <a:lnTo>
                      <a:pt x="22" y="128"/>
                    </a:lnTo>
                    <a:lnTo>
                      <a:pt x="14" y="128"/>
                    </a:lnTo>
                    <a:lnTo>
                      <a:pt x="10" y="128"/>
                    </a:lnTo>
                    <a:lnTo>
                      <a:pt x="6" y="128"/>
                    </a:lnTo>
                    <a:lnTo>
                      <a:pt x="4" y="132"/>
                    </a:lnTo>
                    <a:lnTo>
                      <a:pt x="2" y="132"/>
                    </a:lnTo>
                    <a:lnTo>
                      <a:pt x="0" y="136"/>
                    </a:lnTo>
                    <a:lnTo>
                      <a:pt x="4" y="142"/>
                    </a:lnTo>
                    <a:lnTo>
                      <a:pt x="14" y="148"/>
                    </a:lnTo>
                    <a:lnTo>
                      <a:pt x="14" y="152"/>
                    </a:lnTo>
                    <a:lnTo>
                      <a:pt x="20" y="166"/>
                    </a:lnTo>
                    <a:lnTo>
                      <a:pt x="22" y="164"/>
                    </a:lnTo>
                    <a:lnTo>
                      <a:pt x="24" y="166"/>
                    </a:lnTo>
                    <a:lnTo>
                      <a:pt x="24" y="170"/>
                    </a:lnTo>
                    <a:lnTo>
                      <a:pt x="22" y="172"/>
                    </a:lnTo>
                    <a:lnTo>
                      <a:pt x="26" y="186"/>
                    </a:lnTo>
                    <a:lnTo>
                      <a:pt x="32" y="178"/>
                    </a:lnTo>
                    <a:lnTo>
                      <a:pt x="34" y="178"/>
                    </a:lnTo>
                    <a:lnTo>
                      <a:pt x="38" y="180"/>
                    </a:lnTo>
                    <a:lnTo>
                      <a:pt x="40" y="182"/>
                    </a:lnTo>
                    <a:lnTo>
                      <a:pt x="40" y="184"/>
                    </a:lnTo>
                    <a:lnTo>
                      <a:pt x="48" y="188"/>
                    </a:lnTo>
                    <a:lnTo>
                      <a:pt x="52" y="176"/>
                    </a:lnTo>
                    <a:lnTo>
                      <a:pt x="54" y="174"/>
                    </a:lnTo>
                    <a:lnTo>
                      <a:pt x="56" y="168"/>
                    </a:lnTo>
                    <a:lnTo>
                      <a:pt x="56" y="162"/>
                    </a:lnTo>
                    <a:lnTo>
                      <a:pt x="70" y="154"/>
                    </a:lnTo>
                    <a:lnTo>
                      <a:pt x="76" y="154"/>
                    </a:lnTo>
                    <a:lnTo>
                      <a:pt x="82" y="152"/>
                    </a:lnTo>
                    <a:lnTo>
                      <a:pt x="84" y="154"/>
                    </a:lnTo>
                    <a:lnTo>
                      <a:pt x="88" y="156"/>
                    </a:lnTo>
                    <a:lnTo>
                      <a:pt x="90" y="158"/>
                    </a:lnTo>
                    <a:lnTo>
                      <a:pt x="92" y="160"/>
                    </a:lnTo>
                    <a:lnTo>
                      <a:pt x="94" y="164"/>
                    </a:lnTo>
                    <a:lnTo>
                      <a:pt x="98" y="164"/>
                    </a:lnTo>
                    <a:lnTo>
                      <a:pt x="104" y="164"/>
                    </a:lnTo>
                    <a:lnTo>
                      <a:pt x="108" y="160"/>
                    </a:lnTo>
                    <a:lnTo>
                      <a:pt x="110" y="160"/>
                    </a:lnTo>
                    <a:lnTo>
                      <a:pt x="112" y="162"/>
                    </a:lnTo>
                    <a:lnTo>
                      <a:pt x="112" y="164"/>
                    </a:lnTo>
                    <a:lnTo>
                      <a:pt x="118" y="166"/>
                    </a:lnTo>
                    <a:lnTo>
                      <a:pt x="128" y="166"/>
                    </a:lnTo>
                    <a:lnTo>
                      <a:pt x="130" y="166"/>
                    </a:lnTo>
                    <a:lnTo>
                      <a:pt x="132" y="166"/>
                    </a:lnTo>
                    <a:lnTo>
                      <a:pt x="134" y="162"/>
                    </a:lnTo>
                    <a:lnTo>
                      <a:pt x="140" y="160"/>
                    </a:lnTo>
                    <a:lnTo>
                      <a:pt x="146" y="160"/>
                    </a:lnTo>
                    <a:lnTo>
                      <a:pt x="154" y="162"/>
                    </a:lnTo>
                    <a:lnTo>
                      <a:pt x="162" y="162"/>
                    </a:lnTo>
                    <a:lnTo>
                      <a:pt x="170" y="162"/>
                    </a:lnTo>
                    <a:lnTo>
                      <a:pt x="172" y="160"/>
                    </a:lnTo>
                    <a:lnTo>
                      <a:pt x="174" y="158"/>
                    </a:lnTo>
                    <a:lnTo>
                      <a:pt x="176" y="156"/>
                    </a:lnTo>
                    <a:lnTo>
                      <a:pt x="184" y="152"/>
                    </a:lnTo>
                    <a:lnTo>
                      <a:pt x="184" y="138"/>
                    </a:lnTo>
                    <a:lnTo>
                      <a:pt x="204" y="122"/>
                    </a:lnTo>
                    <a:lnTo>
                      <a:pt x="202" y="96"/>
                    </a:lnTo>
                    <a:lnTo>
                      <a:pt x="204" y="68"/>
                    </a:lnTo>
                    <a:lnTo>
                      <a:pt x="204" y="60"/>
                    </a:lnTo>
                    <a:lnTo>
                      <a:pt x="208" y="54"/>
                    </a:lnTo>
                    <a:lnTo>
                      <a:pt x="208" y="50"/>
                    </a:lnTo>
                    <a:lnTo>
                      <a:pt x="206" y="46"/>
                    </a:lnTo>
                    <a:lnTo>
                      <a:pt x="202" y="40"/>
                    </a:lnTo>
                    <a:lnTo>
                      <a:pt x="196" y="8"/>
                    </a:lnTo>
                    <a:lnTo>
                      <a:pt x="196" y="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04" name="Freeform 277">
                <a:extLst>
                  <a:ext uri="{FF2B5EF4-FFF2-40B4-BE49-F238E27FC236}">
                    <a16:creationId xmlns:a16="http://schemas.microsoft.com/office/drawing/2014/main" id="{65C228FB-4F98-CEE5-ED78-41DAEEE4FAC8}"/>
                  </a:ext>
                </a:extLst>
              </p:cNvPr>
              <p:cNvSpPr>
                <a:spLocks/>
              </p:cNvSpPr>
              <p:nvPr/>
            </p:nvSpPr>
            <p:spPr bwMode="auto">
              <a:xfrm>
                <a:off x="3736211" y="4031292"/>
                <a:ext cx="52507" cy="59562"/>
              </a:xfrm>
              <a:custGeom>
                <a:avLst/>
                <a:gdLst/>
                <a:ahLst/>
                <a:cxnLst>
                  <a:cxn ang="0">
                    <a:pos x="0" y="30"/>
                  </a:cxn>
                  <a:cxn ang="0">
                    <a:pos x="0" y="30"/>
                  </a:cxn>
                  <a:cxn ang="0">
                    <a:pos x="0" y="34"/>
                  </a:cxn>
                  <a:cxn ang="0">
                    <a:pos x="4" y="34"/>
                  </a:cxn>
                  <a:cxn ang="0">
                    <a:pos x="8" y="38"/>
                  </a:cxn>
                  <a:cxn ang="0">
                    <a:pos x="10" y="44"/>
                  </a:cxn>
                  <a:cxn ang="0">
                    <a:pos x="12" y="50"/>
                  </a:cxn>
                  <a:cxn ang="0">
                    <a:pos x="18" y="56"/>
                  </a:cxn>
                  <a:cxn ang="0">
                    <a:pos x="20" y="54"/>
                  </a:cxn>
                  <a:cxn ang="0">
                    <a:pos x="24" y="56"/>
                  </a:cxn>
                  <a:cxn ang="0">
                    <a:pos x="22" y="52"/>
                  </a:cxn>
                  <a:cxn ang="0">
                    <a:pos x="20" y="50"/>
                  </a:cxn>
                  <a:cxn ang="0">
                    <a:pos x="20" y="46"/>
                  </a:cxn>
                  <a:cxn ang="0">
                    <a:pos x="22" y="42"/>
                  </a:cxn>
                  <a:cxn ang="0">
                    <a:pos x="26" y="50"/>
                  </a:cxn>
                  <a:cxn ang="0">
                    <a:pos x="28" y="50"/>
                  </a:cxn>
                  <a:cxn ang="0">
                    <a:pos x="30" y="54"/>
                  </a:cxn>
                  <a:cxn ang="0">
                    <a:pos x="32" y="60"/>
                  </a:cxn>
                  <a:cxn ang="0">
                    <a:pos x="36" y="60"/>
                  </a:cxn>
                  <a:cxn ang="0">
                    <a:pos x="38" y="60"/>
                  </a:cxn>
                  <a:cxn ang="0">
                    <a:pos x="40" y="60"/>
                  </a:cxn>
                  <a:cxn ang="0">
                    <a:pos x="42" y="62"/>
                  </a:cxn>
                  <a:cxn ang="0">
                    <a:pos x="48" y="62"/>
                  </a:cxn>
                  <a:cxn ang="0">
                    <a:pos x="46" y="60"/>
                  </a:cxn>
                  <a:cxn ang="0">
                    <a:pos x="44" y="58"/>
                  </a:cxn>
                  <a:cxn ang="0">
                    <a:pos x="44" y="56"/>
                  </a:cxn>
                  <a:cxn ang="0">
                    <a:pos x="46" y="54"/>
                  </a:cxn>
                  <a:cxn ang="0">
                    <a:pos x="46" y="50"/>
                  </a:cxn>
                  <a:cxn ang="0">
                    <a:pos x="44" y="46"/>
                  </a:cxn>
                  <a:cxn ang="0">
                    <a:pos x="46" y="34"/>
                  </a:cxn>
                  <a:cxn ang="0">
                    <a:pos x="48" y="34"/>
                  </a:cxn>
                  <a:cxn ang="0">
                    <a:pos x="48" y="26"/>
                  </a:cxn>
                  <a:cxn ang="0">
                    <a:pos x="48" y="22"/>
                  </a:cxn>
                  <a:cxn ang="0">
                    <a:pos x="50" y="16"/>
                  </a:cxn>
                  <a:cxn ang="0">
                    <a:pos x="52" y="12"/>
                  </a:cxn>
                  <a:cxn ang="0">
                    <a:pos x="54" y="8"/>
                  </a:cxn>
                  <a:cxn ang="0">
                    <a:pos x="52" y="0"/>
                  </a:cxn>
                  <a:cxn ang="0">
                    <a:pos x="44" y="2"/>
                  </a:cxn>
                  <a:cxn ang="0">
                    <a:pos x="40" y="4"/>
                  </a:cxn>
                  <a:cxn ang="0">
                    <a:pos x="38" y="8"/>
                  </a:cxn>
                  <a:cxn ang="0">
                    <a:pos x="38" y="10"/>
                  </a:cxn>
                  <a:cxn ang="0">
                    <a:pos x="34" y="10"/>
                  </a:cxn>
                  <a:cxn ang="0">
                    <a:pos x="28" y="12"/>
                  </a:cxn>
                  <a:cxn ang="0">
                    <a:pos x="26" y="12"/>
                  </a:cxn>
                  <a:cxn ang="0">
                    <a:pos x="26" y="14"/>
                  </a:cxn>
                  <a:cxn ang="0">
                    <a:pos x="24" y="12"/>
                  </a:cxn>
                  <a:cxn ang="0">
                    <a:pos x="22" y="10"/>
                  </a:cxn>
                  <a:cxn ang="0">
                    <a:pos x="16" y="10"/>
                  </a:cxn>
                  <a:cxn ang="0">
                    <a:pos x="6" y="14"/>
                  </a:cxn>
                  <a:cxn ang="0">
                    <a:pos x="6" y="20"/>
                  </a:cxn>
                  <a:cxn ang="0">
                    <a:pos x="6" y="28"/>
                  </a:cxn>
                  <a:cxn ang="0">
                    <a:pos x="4" y="28"/>
                  </a:cxn>
                  <a:cxn ang="0">
                    <a:pos x="2" y="30"/>
                  </a:cxn>
                  <a:cxn ang="0">
                    <a:pos x="0" y="30"/>
                  </a:cxn>
                  <a:cxn ang="0">
                    <a:pos x="0" y="30"/>
                  </a:cxn>
                </a:cxnLst>
                <a:rect l="0" t="0" r="r" b="b"/>
                <a:pathLst>
                  <a:path w="54" h="62">
                    <a:moveTo>
                      <a:pt x="0" y="30"/>
                    </a:moveTo>
                    <a:lnTo>
                      <a:pt x="0" y="30"/>
                    </a:lnTo>
                    <a:lnTo>
                      <a:pt x="0" y="34"/>
                    </a:lnTo>
                    <a:lnTo>
                      <a:pt x="4" y="34"/>
                    </a:lnTo>
                    <a:lnTo>
                      <a:pt x="8" y="38"/>
                    </a:lnTo>
                    <a:lnTo>
                      <a:pt x="10" y="44"/>
                    </a:lnTo>
                    <a:lnTo>
                      <a:pt x="12" y="50"/>
                    </a:lnTo>
                    <a:lnTo>
                      <a:pt x="18" y="56"/>
                    </a:lnTo>
                    <a:lnTo>
                      <a:pt x="20" y="54"/>
                    </a:lnTo>
                    <a:lnTo>
                      <a:pt x="24" y="56"/>
                    </a:lnTo>
                    <a:lnTo>
                      <a:pt x="22" y="52"/>
                    </a:lnTo>
                    <a:lnTo>
                      <a:pt x="20" y="50"/>
                    </a:lnTo>
                    <a:lnTo>
                      <a:pt x="20" y="46"/>
                    </a:lnTo>
                    <a:lnTo>
                      <a:pt x="22" y="42"/>
                    </a:lnTo>
                    <a:lnTo>
                      <a:pt x="26" y="50"/>
                    </a:lnTo>
                    <a:lnTo>
                      <a:pt x="28" y="50"/>
                    </a:lnTo>
                    <a:lnTo>
                      <a:pt x="30" y="54"/>
                    </a:lnTo>
                    <a:lnTo>
                      <a:pt x="32" y="60"/>
                    </a:lnTo>
                    <a:lnTo>
                      <a:pt x="36" y="60"/>
                    </a:lnTo>
                    <a:lnTo>
                      <a:pt x="38" y="60"/>
                    </a:lnTo>
                    <a:lnTo>
                      <a:pt x="40" y="60"/>
                    </a:lnTo>
                    <a:lnTo>
                      <a:pt x="42" y="62"/>
                    </a:lnTo>
                    <a:lnTo>
                      <a:pt x="48" y="62"/>
                    </a:lnTo>
                    <a:lnTo>
                      <a:pt x="46" y="60"/>
                    </a:lnTo>
                    <a:lnTo>
                      <a:pt x="44" y="58"/>
                    </a:lnTo>
                    <a:lnTo>
                      <a:pt x="44" y="56"/>
                    </a:lnTo>
                    <a:lnTo>
                      <a:pt x="46" y="54"/>
                    </a:lnTo>
                    <a:lnTo>
                      <a:pt x="46" y="50"/>
                    </a:lnTo>
                    <a:lnTo>
                      <a:pt x="44" y="46"/>
                    </a:lnTo>
                    <a:lnTo>
                      <a:pt x="46" y="34"/>
                    </a:lnTo>
                    <a:lnTo>
                      <a:pt x="48" y="34"/>
                    </a:lnTo>
                    <a:lnTo>
                      <a:pt x="48" y="26"/>
                    </a:lnTo>
                    <a:lnTo>
                      <a:pt x="48" y="22"/>
                    </a:lnTo>
                    <a:lnTo>
                      <a:pt x="50" y="16"/>
                    </a:lnTo>
                    <a:lnTo>
                      <a:pt x="52" y="12"/>
                    </a:lnTo>
                    <a:lnTo>
                      <a:pt x="54" y="8"/>
                    </a:lnTo>
                    <a:lnTo>
                      <a:pt x="52" y="0"/>
                    </a:lnTo>
                    <a:lnTo>
                      <a:pt x="44" y="2"/>
                    </a:lnTo>
                    <a:lnTo>
                      <a:pt x="40" y="4"/>
                    </a:lnTo>
                    <a:lnTo>
                      <a:pt x="38" y="8"/>
                    </a:lnTo>
                    <a:lnTo>
                      <a:pt x="38" y="10"/>
                    </a:lnTo>
                    <a:lnTo>
                      <a:pt x="34" y="10"/>
                    </a:lnTo>
                    <a:lnTo>
                      <a:pt x="28" y="12"/>
                    </a:lnTo>
                    <a:lnTo>
                      <a:pt x="26" y="12"/>
                    </a:lnTo>
                    <a:lnTo>
                      <a:pt x="26" y="14"/>
                    </a:lnTo>
                    <a:lnTo>
                      <a:pt x="24" y="12"/>
                    </a:lnTo>
                    <a:lnTo>
                      <a:pt x="22" y="10"/>
                    </a:lnTo>
                    <a:lnTo>
                      <a:pt x="16" y="10"/>
                    </a:lnTo>
                    <a:lnTo>
                      <a:pt x="6" y="14"/>
                    </a:lnTo>
                    <a:lnTo>
                      <a:pt x="6" y="20"/>
                    </a:lnTo>
                    <a:lnTo>
                      <a:pt x="6" y="28"/>
                    </a:lnTo>
                    <a:lnTo>
                      <a:pt x="4" y="28"/>
                    </a:lnTo>
                    <a:lnTo>
                      <a:pt x="2" y="30"/>
                    </a:lnTo>
                    <a:lnTo>
                      <a:pt x="0" y="30"/>
                    </a:lnTo>
                    <a:lnTo>
                      <a:pt x="0" y="3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05" name="Freeform 278">
                <a:extLst>
                  <a:ext uri="{FF2B5EF4-FFF2-40B4-BE49-F238E27FC236}">
                    <a16:creationId xmlns:a16="http://schemas.microsoft.com/office/drawing/2014/main" id="{D8316481-66D9-8EC9-049D-644C1E708453}"/>
                  </a:ext>
                </a:extLst>
              </p:cNvPr>
              <p:cNvSpPr>
                <a:spLocks/>
              </p:cNvSpPr>
              <p:nvPr/>
            </p:nvSpPr>
            <p:spPr bwMode="auto">
              <a:xfrm>
                <a:off x="7018856" y="4928572"/>
                <a:ext cx="1944" cy="1921"/>
              </a:xfrm>
              <a:custGeom>
                <a:avLst/>
                <a:gdLst/>
                <a:ahLst/>
                <a:cxnLst>
                  <a:cxn ang="0">
                    <a:pos x="0" y="0"/>
                  </a:cxn>
                  <a:cxn ang="0">
                    <a:pos x="2" y="2"/>
                  </a:cxn>
                  <a:cxn ang="0">
                    <a:pos x="0" y="0"/>
                  </a:cxn>
                  <a:cxn ang="0">
                    <a:pos x="0" y="0"/>
                  </a:cxn>
                </a:cxnLst>
                <a:rect l="0" t="0" r="r" b="b"/>
                <a:pathLst>
                  <a:path w="2" h="2">
                    <a:moveTo>
                      <a:pt x="0" y="0"/>
                    </a:moveTo>
                    <a:lnTo>
                      <a:pt x="2" y="2"/>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06" name="Freeform 279">
                <a:extLst>
                  <a:ext uri="{FF2B5EF4-FFF2-40B4-BE49-F238E27FC236}">
                    <a16:creationId xmlns:a16="http://schemas.microsoft.com/office/drawing/2014/main" id="{A460F614-C180-F3DC-924D-1A2C9279ECAE}"/>
                  </a:ext>
                </a:extLst>
              </p:cNvPr>
              <p:cNvSpPr>
                <a:spLocks/>
              </p:cNvSpPr>
              <p:nvPr/>
            </p:nvSpPr>
            <p:spPr bwMode="auto">
              <a:xfrm>
                <a:off x="7018856" y="4928572"/>
                <a:ext cx="1944" cy="1921"/>
              </a:xfrm>
              <a:custGeom>
                <a:avLst/>
                <a:gdLst/>
                <a:ahLst/>
                <a:cxnLst>
                  <a:cxn ang="0">
                    <a:pos x="0" y="0"/>
                  </a:cxn>
                  <a:cxn ang="0">
                    <a:pos x="2" y="2"/>
                  </a:cxn>
                  <a:cxn ang="0">
                    <a:pos x="0" y="0"/>
                  </a:cxn>
                  <a:cxn ang="0">
                    <a:pos x="0" y="0"/>
                  </a:cxn>
                </a:cxnLst>
                <a:rect l="0" t="0" r="r" b="b"/>
                <a:pathLst>
                  <a:path w="2" h="2">
                    <a:moveTo>
                      <a:pt x="0" y="0"/>
                    </a:moveTo>
                    <a:lnTo>
                      <a:pt x="2" y="2"/>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07" name="Freeform 280">
                <a:extLst>
                  <a:ext uri="{FF2B5EF4-FFF2-40B4-BE49-F238E27FC236}">
                    <a16:creationId xmlns:a16="http://schemas.microsoft.com/office/drawing/2014/main" id="{9F20EF01-B476-A83D-C27D-8D9DEF19740D}"/>
                  </a:ext>
                </a:extLst>
              </p:cNvPr>
              <p:cNvSpPr>
                <a:spLocks noEditPoints="1"/>
              </p:cNvSpPr>
              <p:nvPr/>
            </p:nvSpPr>
            <p:spPr bwMode="auto">
              <a:xfrm>
                <a:off x="6927456" y="4817132"/>
                <a:ext cx="155576" cy="226722"/>
              </a:xfrm>
              <a:custGeom>
                <a:avLst/>
                <a:gdLst/>
                <a:ahLst/>
                <a:cxnLst>
                  <a:cxn ang="0">
                    <a:pos x="22" y="234"/>
                  </a:cxn>
                  <a:cxn ang="0">
                    <a:pos x="16" y="222"/>
                  </a:cxn>
                  <a:cxn ang="0">
                    <a:pos x="76" y="112"/>
                  </a:cxn>
                  <a:cxn ang="0">
                    <a:pos x="72" y="130"/>
                  </a:cxn>
                  <a:cxn ang="0">
                    <a:pos x="62" y="146"/>
                  </a:cxn>
                  <a:cxn ang="0">
                    <a:pos x="52" y="160"/>
                  </a:cxn>
                  <a:cxn ang="0">
                    <a:pos x="36" y="174"/>
                  </a:cxn>
                  <a:cxn ang="0">
                    <a:pos x="18" y="184"/>
                  </a:cxn>
                  <a:cxn ang="0">
                    <a:pos x="10" y="190"/>
                  </a:cxn>
                  <a:cxn ang="0">
                    <a:pos x="4" y="196"/>
                  </a:cxn>
                  <a:cxn ang="0">
                    <a:pos x="4" y="206"/>
                  </a:cxn>
                  <a:cxn ang="0">
                    <a:pos x="6" y="214"/>
                  </a:cxn>
                  <a:cxn ang="0">
                    <a:pos x="16" y="214"/>
                  </a:cxn>
                  <a:cxn ang="0">
                    <a:pos x="36" y="224"/>
                  </a:cxn>
                  <a:cxn ang="0">
                    <a:pos x="46" y="212"/>
                  </a:cxn>
                  <a:cxn ang="0">
                    <a:pos x="54" y="200"/>
                  </a:cxn>
                  <a:cxn ang="0">
                    <a:pos x="68" y="178"/>
                  </a:cxn>
                  <a:cxn ang="0">
                    <a:pos x="80" y="172"/>
                  </a:cxn>
                  <a:cxn ang="0">
                    <a:pos x="82" y="160"/>
                  </a:cxn>
                  <a:cxn ang="0">
                    <a:pos x="92" y="148"/>
                  </a:cxn>
                  <a:cxn ang="0">
                    <a:pos x="100" y="132"/>
                  </a:cxn>
                  <a:cxn ang="0">
                    <a:pos x="102" y="120"/>
                  </a:cxn>
                  <a:cxn ang="0">
                    <a:pos x="96" y="120"/>
                  </a:cxn>
                  <a:cxn ang="0">
                    <a:pos x="92" y="124"/>
                  </a:cxn>
                  <a:cxn ang="0">
                    <a:pos x="82" y="114"/>
                  </a:cxn>
                  <a:cxn ang="0">
                    <a:pos x="84" y="108"/>
                  </a:cxn>
                  <a:cxn ang="0">
                    <a:pos x="80" y="0"/>
                  </a:cxn>
                  <a:cxn ang="0">
                    <a:pos x="88" y="12"/>
                  </a:cxn>
                  <a:cxn ang="0">
                    <a:pos x="104" y="36"/>
                  </a:cxn>
                  <a:cxn ang="0">
                    <a:pos x="104" y="48"/>
                  </a:cxn>
                  <a:cxn ang="0">
                    <a:pos x="110" y="68"/>
                  </a:cxn>
                  <a:cxn ang="0">
                    <a:pos x="96" y="84"/>
                  </a:cxn>
                  <a:cxn ang="0">
                    <a:pos x="100" y="92"/>
                  </a:cxn>
                  <a:cxn ang="0">
                    <a:pos x="114" y="114"/>
                  </a:cxn>
                  <a:cxn ang="0">
                    <a:pos x="116" y="126"/>
                  </a:cxn>
                  <a:cxn ang="0">
                    <a:pos x="132" y="116"/>
                  </a:cxn>
                  <a:cxn ang="0">
                    <a:pos x="138" y="104"/>
                  </a:cxn>
                  <a:cxn ang="0">
                    <a:pos x="144" y="88"/>
                  </a:cxn>
                  <a:cxn ang="0">
                    <a:pos x="150" y="82"/>
                  </a:cxn>
                  <a:cxn ang="0">
                    <a:pos x="152" y="62"/>
                  </a:cxn>
                  <a:cxn ang="0">
                    <a:pos x="130" y="64"/>
                  </a:cxn>
                  <a:cxn ang="0">
                    <a:pos x="122" y="48"/>
                  </a:cxn>
                  <a:cxn ang="0">
                    <a:pos x="118" y="52"/>
                  </a:cxn>
                  <a:cxn ang="0">
                    <a:pos x="112" y="36"/>
                  </a:cxn>
                  <a:cxn ang="0">
                    <a:pos x="110" y="22"/>
                  </a:cxn>
                  <a:cxn ang="0">
                    <a:pos x="104" y="16"/>
                  </a:cxn>
                  <a:cxn ang="0">
                    <a:pos x="94" y="8"/>
                  </a:cxn>
                  <a:cxn ang="0">
                    <a:pos x="84" y="4"/>
                  </a:cxn>
                  <a:cxn ang="0">
                    <a:pos x="80" y="0"/>
                  </a:cxn>
                </a:cxnLst>
                <a:rect l="0" t="0" r="r" b="b"/>
                <a:pathLst>
                  <a:path w="160" h="236">
                    <a:moveTo>
                      <a:pt x="16" y="222"/>
                    </a:moveTo>
                    <a:lnTo>
                      <a:pt x="16" y="222"/>
                    </a:lnTo>
                    <a:lnTo>
                      <a:pt x="14" y="236"/>
                    </a:lnTo>
                    <a:lnTo>
                      <a:pt x="22" y="234"/>
                    </a:lnTo>
                    <a:lnTo>
                      <a:pt x="24" y="230"/>
                    </a:lnTo>
                    <a:lnTo>
                      <a:pt x="20" y="230"/>
                    </a:lnTo>
                    <a:lnTo>
                      <a:pt x="20" y="226"/>
                    </a:lnTo>
                    <a:lnTo>
                      <a:pt x="16" y="222"/>
                    </a:lnTo>
                    <a:lnTo>
                      <a:pt x="16" y="222"/>
                    </a:lnTo>
                    <a:close/>
                    <a:moveTo>
                      <a:pt x="78" y="108"/>
                    </a:moveTo>
                    <a:lnTo>
                      <a:pt x="78" y="108"/>
                    </a:lnTo>
                    <a:lnTo>
                      <a:pt x="76" y="112"/>
                    </a:lnTo>
                    <a:lnTo>
                      <a:pt x="74" y="118"/>
                    </a:lnTo>
                    <a:lnTo>
                      <a:pt x="74" y="120"/>
                    </a:lnTo>
                    <a:lnTo>
                      <a:pt x="74" y="124"/>
                    </a:lnTo>
                    <a:lnTo>
                      <a:pt x="72" y="130"/>
                    </a:lnTo>
                    <a:lnTo>
                      <a:pt x="68" y="132"/>
                    </a:lnTo>
                    <a:lnTo>
                      <a:pt x="68" y="136"/>
                    </a:lnTo>
                    <a:lnTo>
                      <a:pt x="64" y="138"/>
                    </a:lnTo>
                    <a:lnTo>
                      <a:pt x="62" y="146"/>
                    </a:lnTo>
                    <a:lnTo>
                      <a:pt x="60" y="146"/>
                    </a:lnTo>
                    <a:lnTo>
                      <a:pt x="58" y="154"/>
                    </a:lnTo>
                    <a:lnTo>
                      <a:pt x="54" y="160"/>
                    </a:lnTo>
                    <a:lnTo>
                      <a:pt x="52" y="160"/>
                    </a:lnTo>
                    <a:lnTo>
                      <a:pt x="48" y="162"/>
                    </a:lnTo>
                    <a:lnTo>
                      <a:pt x="48" y="164"/>
                    </a:lnTo>
                    <a:lnTo>
                      <a:pt x="38" y="170"/>
                    </a:lnTo>
                    <a:lnTo>
                      <a:pt x="36" y="174"/>
                    </a:lnTo>
                    <a:lnTo>
                      <a:pt x="30" y="174"/>
                    </a:lnTo>
                    <a:lnTo>
                      <a:pt x="26" y="176"/>
                    </a:lnTo>
                    <a:lnTo>
                      <a:pt x="22" y="180"/>
                    </a:lnTo>
                    <a:lnTo>
                      <a:pt x="18" y="184"/>
                    </a:lnTo>
                    <a:lnTo>
                      <a:pt x="16" y="184"/>
                    </a:lnTo>
                    <a:lnTo>
                      <a:pt x="14" y="184"/>
                    </a:lnTo>
                    <a:lnTo>
                      <a:pt x="14" y="188"/>
                    </a:lnTo>
                    <a:lnTo>
                      <a:pt x="10" y="190"/>
                    </a:lnTo>
                    <a:lnTo>
                      <a:pt x="8" y="192"/>
                    </a:lnTo>
                    <a:lnTo>
                      <a:pt x="8" y="194"/>
                    </a:lnTo>
                    <a:lnTo>
                      <a:pt x="4" y="194"/>
                    </a:lnTo>
                    <a:lnTo>
                      <a:pt x="4" y="196"/>
                    </a:lnTo>
                    <a:lnTo>
                      <a:pt x="6" y="196"/>
                    </a:lnTo>
                    <a:lnTo>
                      <a:pt x="6" y="198"/>
                    </a:lnTo>
                    <a:lnTo>
                      <a:pt x="4" y="202"/>
                    </a:lnTo>
                    <a:lnTo>
                      <a:pt x="4" y="206"/>
                    </a:lnTo>
                    <a:lnTo>
                      <a:pt x="0" y="206"/>
                    </a:lnTo>
                    <a:lnTo>
                      <a:pt x="0" y="210"/>
                    </a:lnTo>
                    <a:lnTo>
                      <a:pt x="2" y="212"/>
                    </a:lnTo>
                    <a:lnTo>
                      <a:pt x="6" y="214"/>
                    </a:lnTo>
                    <a:lnTo>
                      <a:pt x="8" y="216"/>
                    </a:lnTo>
                    <a:lnTo>
                      <a:pt x="10" y="216"/>
                    </a:lnTo>
                    <a:lnTo>
                      <a:pt x="12" y="214"/>
                    </a:lnTo>
                    <a:lnTo>
                      <a:pt x="16" y="214"/>
                    </a:lnTo>
                    <a:lnTo>
                      <a:pt x="16" y="220"/>
                    </a:lnTo>
                    <a:lnTo>
                      <a:pt x="22" y="220"/>
                    </a:lnTo>
                    <a:lnTo>
                      <a:pt x="24" y="222"/>
                    </a:lnTo>
                    <a:lnTo>
                      <a:pt x="36" y="224"/>
                    </a:lnTo>
                    <a:lnTo>
                      <a:pt x="42" y="218"/>
                    </a:lnTo>
                    <a:lnTo>
                      <a:pt x="42" y="216"/>
                    </a:lnTo>
                    <a:lnTo>
                      <a:pt x="46" y="214"/>
                    </a:lnTo>
                    <a:lnTo>
                      <a:pt x="46" y="212"/>
                    </a:lnTo>
                    <a:lnTo>
                      <a:pt x="50" y="210"/>
                    </a:lnTo>
                    <a:lnTo>
                      <a:pt x="52" y="208"/>
                    </a:lnTo>
                    <a:lnTo>
                      <a:pt x="54" y="204"/>
                    </a:lnTo>
                    <a:lnTo>
                      <a:pt x="54" y="200"/>
                    </a:lnTo>
                    <a:lnTo>
                      <a:pt x="58" y="190"/>
                    </a:lnTo>
                    <a:lnTo>
                      <a:pt x="62" y="180"/>
                    </a:lnTo>
                    <a:lnTo>
                      <a:pt x="64" y="178"/>
                    </a:lnTo>
                    <a:lnTo>
                      <a:pt x="68" y="178"/>
                    </a:lnTo>
                    <a:lnTo>
                      <a:pt x="70" y="178"/>
                    </a:lnTo>
                    <a:lnTo>
                      <a:pt x="74" y="176"/>
                    </a:lnTo>
                    <a:lnTo>
                      <a:pt x="74" y="172"/>
                    </a:lnTo>
                    <a:lnTo>
                      <a:pt x="80" y="172"/>
                    </a:lnTo>
                    <a:lnTo>
                      <a:pt x="86" y="172"/>
                    </a:lnTo>
                    <a:lnTo>
                      <a:pt x="80" y="172"/>
                    </a:lnTo>
                    <a:lnTo>
                      <a:pt x="82" y="162"/>
                    </a:lnTo>
                    <a:lnTo>
                      <a:pt x="82" y="160"/>
                    </a:lnTo>
                    <a:lnTo>
                      <a:pt x="86" y="158"/>
                    </a:lnTo>
                    <a:lnTo>
                      <a:pt x="88" y="156"/>
                    </a:lnTo>
                    <a:lnTo>
                      <a:pt x="90" y="152"/>
                    </a:lnTo>
                    <a:lnTo>
                      <a:pt x="92" y="148"/>
                    </a:lnTo>
                    <a:lnTo>
                      <a:pt x="96" y="144"/>
                    </a:lnTo>
                    <a:lnTo>
                      <a:pt x="100" y="136"/>
                    </a:lnTo>
                    <a:lnTo>
                      <a:pt x="102" y="136"/>
                    </a:lnTo>
                    <a:lnTo>
                      <a:pt x="100" y="132"/>
                    </a:lnTo>
                    <a:lnTo>
                      <a:pt x="100" y="130"/>
                    </a:lnTo>
                    <a:lnTo>
                      <a:pt x="102" y="128"/>
                    </a:lnTo>
                    <a:lnTo>
                      <a:pt x="104" y="124"/>
                    </a:lnTo>
                    <a:lnTo>
                      <a:pt x="102" y="120"/>
                    </a:lnTo>
                    <a:lnTo>
                      <a:pt x="98" y="122"/>
                    </a:lnTo>
                    <a:lnTo>
                      <a:pt x="96" y="124"/>
                    </a:lnTo>
                    <a:lnTo>
                      <a:pt x="96" y="122"/>
                    </a:lnTo>
                    <a:lnTo>
                      <a:pt x="96" y="120"/>
                    </a:lnTo>
                    <a:lnTo>
                      <a:pt x="92" y="120"/>
                    </a:lnTo>
                    <a:lnTo>
                      <a:pt x="92" y="122"/>
                    </a:lnTo>
                    <a:lnTo>
                      <a:pt x="90" y="122"/>
                    </a:lnTo>
                    <a:lnTo>
                      <a:pt x="92" y="124"/>
                    </a:lnTo>
                    <a:lnTo>
                      <a:pt x="86" y="124"/>
                    </a:lnTo>
                    <a:lnTo>
                      <a:pt x="86" y="116"/>
                    </a:lnTo>
                    <a:lnTo>
                      <a:pt x="84" y="116"/>
                    </a:lnTo>
                    <a:lnTo>
                      <a:pt x="82" y="114"/>
                    </a:lnTo>
                    <a:lnTo>
                      <a:pt x="80" y="114"/>
                    </a:lnTo>
                    <a:lnTo>
                      <a:pt x="80" y="112"/>
                    </a:lnTo>
                    <a:lnTo>
                      <a:pt x="82" y="110"/>
                    </a:lnTo>
                    <a:lnTo>
                      <a:pt x="84" y="108"/>
                    </a:lnTo>
                    <a:lnTo>
                      <a:pt x="78" y="108"/>
                    </a:lnTo>
                    <a:lnTo>
                      <a:pt x="78" y="108"/>
                    </a:lnTo>
                    <a:close/>
                    <a:moveTo>
                      <a:pt x="80" y="0"/>
                    </a:moveTo>
                    <a:lnTo>
                      <a:pt x="80" y="0"/>
                    </a:lnTo>
                    <a:lnTo>
                      <a:pt x="80" y="2"/>
                    </a:lnTo>
                    <a:lnTo>
                      <a:pt x="80" y="4"/>
                    </a:lnTo>
                    <a:lnTo>
                      <a:pt x="84" y="8"/>
                    </a:lnTo>
                    <a:lnTo>
                      <a:pt x="88" y="12"/>
                    </a:lnTo>
                    <a:lnTo>
                      <a:pt x="92" y="22"/>
                    </a:lnTo>
                    <a:lnTo>
                      <a:pt x="100" y="32"/>
                    </a:lnTo>
                    <a:lnTo>
                      <a:pt x="100" y="34"/>
                    </a:lnTo>
                    <a:lnTo>
                      <a:pt x="104" y="36"/>
                    </a:lnTo>
                    <a:lnTo>
                      <a:pt x="106" y="40"/>
                    </a:lnTo>
                    <a:lnTo>
                      <a:pt x="104" y="42"/>
                    </a:lnTo>
                    <a:lnTo>
                      <a:pt x="104" y="44"/>
                    </a:lnTo>
                    <a:lnTo>
                      <a:pt x="104" y="48"/>
                    </a:lnTo>
                    <a:lnTo>
                      <a:pt x="110" y="50"/>
                    </a:lnTo>
                    <a:lnTo>
                      <a:pt x="108" y="52"/>
                    </a:lnTo>
                    <a:lnTo>
                      <a:pt x="110" y="62"/>
                    </a:lnTo>
                    <a:lnTo>
                      <a:pt x="110" y="68"/>
                    </a:lnTo>
                    <a:lnTo>
                      <a:pt x="108" y="72"/>
                    </a:lnTo>
                    <a:lnTo>
                      <a:pt x="106" y="76"/>
                    </a:lnTo>
                    <a:lnTo>
                      <a:pt x="104" y="82"/>
                    </a:lnTo>
                    <a:lnTo>
                      <a:pt x="96" y="84"/>
                    </a:lnTo>
                    <a:lnTo>
                      <a:pt x="96" y="86"/>
                    </a:lnTo>
                    <a:lnTo>
                      <a:pt x="94" y="86"/>
                    </a:lnTo>
                    <a:lnTo>
                      <a:pt x="94" y="90"/>
                    </a:lnTo>
                    <a:lnTo>
                      <a:pt x="100" y="92"/>
                    </a:lnTo>
                    <a:lnTo>
                      <a:pt x="108" y="98"/>
                    </a:lnTo>
                    <a:lnTo>
                      <a:pt x="112" y="104"/>
                    </a:lnTo>
                    <a:lnTo>
                      <a:pt x="114" y="108"/>
                    </a:lnTo>
                    <a:lnTo>
                      <a:pt x="114" y="114"/>
                    </a:lnTo>
                    <a:lnTo>
                      <a:pt x="112" y="118"/>
                    </a:lnTo>
                    <a:lnTo>
                      <a:pt x="108" y="122"/>
                    </a:lnTo>
                    <a:lnTo>
                      <a:pt x="108" y="124"/>
                    </a:lnTo>
                    <a:lnTo>
                      <a:pt x="116" y="126"/>
                    </a:lnTo>
                    <a:lnTo>
                      <a:pt x="120" y="130"/>
                    </a:lnTo>
                    <a:lnTo>
                      <a:pt x="126" y="126"/>
                    </a:lnTo>
                    <a:lnTo>
                      <a:pt x="128" y="122"/>
                    </a:lnTo>
                    <a:lnTo>
                      <a:pt x="132" y="116"/>
                    </a:lnTo>
                    <a:lnTo>
                      <a:pt x="132" y="112"/>
                    </a:lnTo>
                    <a:lnTo>
                      <a:pt x="134" y="110"/>
                    </a:lnTo>
                    <a:lnTo>
                      <a:pt x="138" y="106"/>
                    </a:lnTo>
                    <a:lnTo>
                      <a:pt x="138" y="104"/>
                    </a:lnTo>
                    <a:lnTo>
                      <a:pt x="138" y="100"/>
                    </a:lnTo>
                    <a:lnTo>
                      <a:pt x="140" y="96"/>
                    </a:lnTo>
                    <a:lnTo>
                      <a:pt x="138" y="92"/>
                    </a:lnTo>
                    <a:lnTo>
                      <a:pt x="144" y="88"/>
                    </a:lnTo>
                    <a:lnTo>
                      <a:pt x="148" y="88"/>
                    </a:lnTo>
                    <a:lnTo>
                      <a:pt x="152" y="90"/>
                    </a:lnTo>
                    <a:lnTo>
                      <a:pt x="150" y="86"/>
                    </a:lnTo>
                    <a:lnTo>
                      <a:pt x="150" y="82"/>
                    </a:lnTo>
                    <a:lnTo>
                      <a:pt x="152" y="80"/>
                    </a:lnTo>
                    <a:lnTo>
                      <a:pt x="160" y="68"/>
                    </a:lnTo>
                    <a:lnTo>
                      <a:pt x="154" y="64"/>
                    </a:lnTo>
                    <a:lnTo>
                      <a:pt x="152" y="62"/>
                    </a:lnTo>
                    <a:lnTo>
                      <a:pt x="142" y="68"/>
                    </a:lnTo>
                    <a:lnTo>
                      <a:pt x="140" y="70"/>
                    </a:lnTo>
                    <a:lnTo>
                      <a:pt x="132" y="66"/>
                    </a:lnTo>
                    <a:lnTo>
                      <a:pt x="130" y="64"/>
                    </a:lnTo>
                    <a:lnTo>
                      <a:pt x="128" y="62"/>
                    </a:lnTo>
                    <a:lnTo>
                      <a:pt x="128" y="56"/>
                    </a:lnTo>
                    <a:lnTo>
                      <a:pt x="126" y="46"/>
                    </a:lnTo>
                    <a:lnTo>
                      <a:pt x="122" y="48"/>
                    </a:lnTo>
                    <a:lnTo>
                      <a:pt x="122" y="44"/>
                    </a:lnTo>
                    <a:lnTo>
                      <a:pt x="122" y="40"/>
                    </a:lnTo>
                    <a:lnTo>
                      <a:pt x="120" y="40"/>
                    </a:lnTo>
                    <a:lnTo>
                      <a:pt x="118" y="52"/>
                    </a:lnTo>
                    <a:lnTo>
                      <a:pt x="116" y="52"/>
                    </a:lnTo>
                    <a:lnTo>
                      <a:pt x="116" y="50"/>
                    </a:lnTo>
                    <a:lnTo>
                      <a:pt x="112" y="48"/>
                    </a:lnTo>
                    <a:lnTo>
                      <a:pt x="112" y="36"/>
                    </a:lnTo>
                    <a:lnTo>
                      <a:pt x="110" y="32"/>
                    </a:lnTo>
                    <a:lnTo>
                      <a:pt x="108" y="28"/>
                    </a:lnTo>
                    <a:lnTo>
                      <a:pt x="110" y="26"/>
                    </a:lnTo>
                    <a:lnTo>
                      <a:pt x="110" y="22"/>
                    </a:lnTo>
                    <a:lnTo>
                      <a:pt x="108" y="20"/>
                    </a:lnTo>
                    <a:lnTo>
                      <a:pt x="106" y="20"/>
                    </a:lnTo>
                    <a:lnTo>
                      <a:pt x="104" y="22"/>
                    </a:lnTo>
                    <a:lnTo>
                      <a:pt x="104" y="16"/>
                    </a:lnTo>
                    <a:lnTo>
                      <a:pt x="100" y="12"/>
                    </a:lnTo>
                    <a:lnTo>
                      <a:pt x="96" y="12"/>
                    </a:lnTo>
                    <a:lnTo>
                      <a:pt x="94" y="10"/>
                    </a:lnTo>
                    <a:lnTo>
                      <a:pt x="94" y="8"/>
                    </a:lnTo>
                    <a:lnTo>
                      <a:pt x="92" y="10"/>
                    </a:lnTo>
                    <a:lnTo>
                      <a:pt x="92" y="12"/>
                    </a:lnTo>
                    <a:lnTo>
                      <a:pt x="88" y="8"/>
                    </a:lnTo>
                    <a:lnTo>
                      <a:pt x="84" y="4"/>
                    </a:lnTo>
                    <a:lnTo>
                      <a:pt x="84" y="2"/>
                    </a:lnTo>
                    <a:lnTo>
                      <a:pt x="84" y="0"/>
                    </a:lnTo>
                    <a:lnTo>
                      <a:pt x="80" y="0"/>
                    </a:lnTo>
                    <a:lnTo>
                      <a:pt x="8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08" name="Freeform 281">
                <a:extLst>
                  <a:ext uri="{FF2B5EF4-FFF2-40B4-BE49-F238E27FC236}">
                    <a16:creationId xmlns:a16="http://schemas.microsoft.com/office/drawing/2014/main" id="{0B283521-28A4-7BF8-7BC1-2B715243D55B}"/>
                  </a:ext>
                </a:extLst>
              </p:cNvPr>
              <p:cNvSpPr>
                <a:spLocks/>
              </p:cNvSpPr>
              <p:nvPr/>
            </p:nvSpPr>
            <p:spPr bwMode="auto">
              <a:xfrm>
                <a:off x="5428096" y="3616276"/>
                <a:ext cx="11668" cy="13450"/>
              </a:xfrm>
              <a:custGeom>
                <a:avLst/>
                <a:gdLst/>
                <a:ahLst/>
                <a:cxnLst>
                  <a:cxn ang="0">
                    <a:pos x="10" y="14"/>
                  </a:cxn>
                  <a:cxn ang="0">
                    <a:pos x="10" y="14"/>
                  </a:cxn>
                  <a:cxn ang="0">
                    <a:pos x="4" y="8"/>
                  </a:cxn>
                  <a:cxn ang="0">
                    <a:pos x="2" y="6"/>
                  </a:cxn>
                  <a:cxn ang="0">
                    <a:pos x="0" y="2"/>
                  </a:cxn>
                  <a:cxn ang="0">
                    <a:pos x="6" y="0"/>
                  </a:cxn>
                  <a:cxn ang="0">
                    <a:pos x="8" y="4"/>
                  </a:cxn>
                  <a:cxn ang="0">
                    <a:pos x="6" y="4"/>
                  </a:cxn>
                  <a:cxn ang="0">
                    <a:pos x="8" y="8"/>
                  </a:cxn>
                  <a:cxn ang="0">
                    <a:pos x="12" y="10"/>
                  </a:cxn>
                  <a:cxn ang="0">
                    <a:pos x="12" y="12"/>
                  </a:cxn>
                  <a:cxn ang="0">
                    <a:pos x="12" y="14"/>
                  </a:cxn>
                  <a:cxn ang="0">
                    <a:pos x="10" y="14"/>
                  </a:cxn>
                  <a:cxn ang="0">
                    <a:pos x="10" y="14"/>
                  </a:cxn>
                </a:cxnLst>
                <a:rect l="0" t="0" r="r" b="b"/>
                <a:pathLst>
                  <a:path w="12" h="14">
                    <a:moveTo>
                      <a:pt x="10" y="14"/>
                    </a:moveTo>
                    <a:lnTo>
                      <a:pt x="10" y="14"/>
                    </a:lnTo>
                    <a:lnTo>
                      <a:pt x="4" y="8"/>
                    </a:lnTo>
                    <a:lnTo>
                      <a:pt x="2" y="6"/>
                    </a:lnTo>
                    <a:lnTo>
                      <a:pt x="0" y="2"/>
                    </a:lnTo>
                    <a:lnTo>
                      <a:pt x="6" y="0"/>
                    </a:lnTo>
                    <a:lnTo>
                      <a:pt x="8" y="4"/>
                    </a:lnTo>
                    <a:lnTo>
                      <a:pt x="6" y="4"/>
                    </a:lnTo>
                    <a:lnTo>
                      <a:pt x="8" y="8"/>
                    </a:lnTo>
                    <a:lnTo>
                      <a:pt x="12" y="10"/>
                    </a:lnTo>
                    <a:lnTo>
                      <a:pt x="12" y="12"/>
                    </a:lnTo>
                    <a:lnTo>
                      <a:pt x="12" y="14"/>
                    </a:lnTo>
                    <a:lnTo>
                      <a:pt x="10" y="14"/>
                    </a:lnTo>
                    <a:lnTo>
                      <a:pt x="10" y="1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09" name="Freeform 282">
                <a:extLst>
                  <a:ext uri="{FF2B5EF4-FFF2-40B4-BE49-F238E27FC236}">
                    <a16:creationId xmlns:a16="http://schemas.microsoft.com/office/drawing/2014/main" id="{87724C65-EC6F-2825-4032-53A348936FF7}"/>
                  </a:ext>
                </a:extLst>
              </p:cNvPr>
              <p:cNvSpPr>
                <a:spLocks/>
              </p:cNvSpPr>
              <p:nvPr/>
            </p:nvSpPr>
            <p:spPr bwMode="auto">
              <a:xfrm>
                <a:off x="5428096" y="3616276"/>
                <a:ext cx="11668" cy="13450"/>
              </a:xfrm>
              <a:custGeom>
                <a:avLst/>
                <a:gdLst/>
                <a:ahLst/>
                <a:cxnLst>
                  <a:cxn ang="0">
                    <a:pos x="10" y="14"/>
                  </a:cxn>
                  <a:cxn ang="0">
                    <a:pos x="10" y="14"/>
                  </a:cxn>
                  <a:cxn ang="0">
                    <a:pos x="4" y="8"/>
                  </a:cxn>
                  <a:cxn ang="0">
                    <a:pos x="2" y="6"/>
                  </a:cxn>
                  <a:cxn ang="0">
                    <a:pos x="0" y="2"/>
                  </a:cxn>
                  <a:cxn ang="0">
                    <a:pos x="6" y="0"/>
                  </a:cxn>
                  <a:cxn ang="0">
                    <a:pos x="8" y="4"/>
                  </a:cxn>
                  <a:cxn ang="0">
                    <a:pos x="6" y="4"/>
                  </a:cxn>
                  <a:cxn ang="0">
                    <a:pos x="8" y="8"/>
                  </a:cxn>
                  <a:cxn ang="0">
                    <a:pos x="12" y="10"/>
                  </a:cxn>
                  <a:cxn ang="0">
                    <a:pos x="12" y="12"/>
                  </a:cxn>
                  <a:cxn ang="0">
                    <a:pos x="12" y="14"/>
                  </a:cxn>
                  <a:cxn ang="0">
                    <a:pos x="10" y="14"/>
                  </a:cxn>
                  <a:cxn ang="0">
                    <a:pos x="10" y="14"/>
                  </a:cxn>
                </a:cxnLst>
                <a:rect l="0" t="0" r="r" b="b"/>
                <a:pathLst>
                  <a:path w="12" h="14">
                    <a:moveTo>
                      <a:pt x="10" y="14"/>
                    </a:moveTo>
                    <a:lnTo>
                      <a:pt x="10" y="14"/>
                    </a:lnTo>
                    <a:lnTo>
                      <a:pt x="4" y="8"/>
                    </a:lnTo>
                    <a:lnTo>
                      <a:pt x="2" y="6"/>
                    </a:lnTo>
                    <a:lnTo>
                      <a:pt x="0" y="2"/>
                    </a:lnTo>
                    <a:lnTo>
                      <a:pt x="6" y="0"/>
                    </a:lnTo>
                    <a:lnTo>
                      <a:pt x="8" y="4"/>
                    </a:lnTo>
                    <a:lnTo>
                      <a:pt x="6" y="4"/>
                    </a:lnTo>
                    <a:lnTo>
                      <a:pt x="8" y="8"/>
                    </a:lnTo>
                    <a:lnTo>
                      <a:pt x="12" y="10"/>
                    </a:lnTo>
                    <a:lnTo>
                      <a:pt x="12" y="12"/>
                    </a:lnTo>
                    <a:lnTo>
                      <a:pt x="12" y="14"/>
                    </a:lnTo>
                    <a:lnTo>
                      <a:pt x="10" y="14"/>
                    </a:lnTo>
                    <a:lnTo>
                      <a:pt x="10" y="1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10" name="Freeform 283">
                <a:extLst>
                  <a:ext uri="{FF2B5EF4-FFF2-40B4-BE49-F238E27FC236}">
                    <a16:creationId xmlns:a16="http://schemas.microsoft.com/office/drawing/2014/main" id="{359D2257-E6A4-E80F-86F2-806BFFAC8AE2}"/>
                  </a:ext>
                </a:extLst>
              </p:cNvPr>
              <p:cNvSpPr>
                <a:spLocks/>
              </p:cNvSpPr>
              <p:nvPr/>
            </p:nvSpPr>
            <p:spPr bwMode="auto">
              <a:xfrm>
                <a:off x="5949274" y="3404925"/>
                <a:ext cx="398663" cy="190215"/>
              </a:xfrm>
              <a:custGeom>
                <a:avLst/>
                <a:gdLst/>
                <a:ahLst/>
                <a:cxnLst>
                  <a:cxn ang="0">
                    <a:pos x="14" y="50"/>
                  </a:cxn>
                  <a:cxn ang="0">
                    <a:pos x="20" y="40"/>
                  </a:cxn>
                  <a:cxn ang="0">
                    <a:pos x="38" y="30"/>
                  </a:cxn>
                  <a:cxn ang="0">
                    <a:pos x="60" y="26"/>
                  </a:cxn>
                  <a:cxn ang="0">
                    <a:pos x="80" y="32"/>
                  </a:cxn>
                  <a:cxn ang="0">
                    <a:pos x="104" y="38"/>
                  </a:cxn>
                  <a:cxn ang="0">
                    <a:pos x="130" y="34"/>
                  </a:cxn>
                  <a:cxn ang="0">
                    <a:pos x="118" y="16"/>
                  </a:cxn>
                  <a:cxn ang="0">
                    <a:pos x="126" y="0"/>
                  </a:cxn>
                  <a:cxn ang="0">
                    <a:pos x="152" y="2"/>
                  </a:cxn>
                  <a:cxn ang="0">
                    <a:pos x="176" y="18"/>
                  </a:cxn>
                  <a:cxn ang="0">
                    <a:pos x="192" y="36"/>
                  </a:cxn>
                  <a:cxn ang="0">
                    <a:pos x="214" y="42"/>
                  </a:cxn>
                  <a:cxn ang="0">
                    <a:pos x="232" y="38"/>
                  </a:cxn>
                  <a:cxn ang="0">
                    <a:pos x="250" y="48"/>
                  </a:cxn>
                  <a:cxn ang="0">
                    <a:pos x="268" y="54"/>
                  </a:cxn>
                  <a:cxn ang="0">
                    <a:pos x="286" y="54"/>
                  </a:cxn>
                  <a:cxn ang="0">
                    <a:pos x="310" y="50"/>
                  </a:cxn>
                  <a:cxn ang="0">
                    <a:pos x="338" y="40"/>
                  </a:cxn>
                  <a:cxn ang="0">
                    <a:pos x="362" y="48"/>
                  </a:cxn>
                  <a:cxn ang="0">
                    <a:pos x="358" y="72"/>
                  </a:cxn>
                  <a:cxn ang="0">
                    <a:pos x="354" y="84"/>
                  </a:cxn>
                  <a:cxn ang="0">
                    <a:pos x="380" y="80"/>
                  </a:cxn>
                  <a:cxn ang="0">
                    <a:pos x="394" y="90"/>
                  </a:cxn>
                  <a:cxn ang="0">
                    <a:pos x="406" y="106"/>
                  </a:cxn>
                  <a:cxn ang="0">
                    <a:pos x="396" y="106"/>
                  </a:cxn>
                  <a:cxn ang="0">
                    <a:pos x="386" y="112"/>
                  </a:cxn>
                  <a:cxn ang="0">
                    <a:pos x="362" y="114"/>
                  </a:cxn>
                  <a:cxn ang="0">
                    <a:pos x="354" y="126"/>
                  </a:cxn>
                  <a:cxn ang="0">
                    <a:pos x="322" y="146"/>
                  </a:cxn>
                  <a:cxn ang="0">
                    <a:pos x="302" y="134"/>
                  </a:cxn>
                  <a:cxn ang="0">
                    <a:pos x="292" y="152"/>
                  </a:cxn>
                  <a:cxn ang="0">
                    <a:pos x="292" y="172"/>
                  </a:cxn>
                  <a:cxn ang="0">
                    <a:pos x="264" y="182"/>
                  </a:cxn>
                  <a:cxn ang="0">
                    <a:pos x="240" y="184"/>
                  </a:cxn>
                  <a:cxn ang="0">
                    <a:pos x="216" y="196"/>
                  </a:cxn>
                  <a:cxn ang="0">
                    <a:pos x="186" y="194"/>
                  </a:cxn>
                  <a:cxn ang="0">
                    <a:pos x="158" y="184"/>
                  </a:cxn>
                  <a:cxn ang="0">
                    <a:pos x="124" y="182"/>
                  </a:cxn>
                  <a:cxn ang="0">
                    <a:pos x="102" y="170"/>
                  </a:cxn>
                  <a:cxn ang="0">
                    <a:pos x="90" y="154"/>
                  </a:cxn>
                  <a:cxn ang="0">
                    <a:pos x="72" y="142"/>
                  </a:cxn>
                  <a:cxn ang="0">
                    <a:pos x="48" y="134"/>
                  </a:cxn>
                  <a:cxn ang="0">
                    <a:pos x="50" y="114"/>
                  </a:cxn>
                  <a:cxn ang="0">
                    <a:pos x="38" y="100"/>
                  </a:cxn>
                  <a:cxn ang="0">
                    <a:pos x="16" y="88"/>
                  </a:cxn>
                  <a:cxn ang="0">
                    <a:pos x="2" y="78"/>
                  </a:cxn>
                  <a:cxn ang="0">
                    <a:pos x="2" y="54"/>
                  </a:cxn>
                </a:cxnLst>
                <a:rect l="0" t="0" r="r" b="b"/>
                <a:pathLst>
                  <a:path w="410" h="198">
                    <a:moveTo>
                      <a:pt x="2" y="54"/>
                    </a:moveTo>
                    <a:lnTo>
                      <a:pt x="8" y="52"/>
                    </a:lnTo>
                    <a:lnTo>
                      <a:pt x="14" y="50"/>
                    </a:lnTo>
                    <a:lnTo>
                      <a:pt x="16" y="48"/>
                    </a:lnTo>
                    <a:lnTo>
                      <a:pt x="16" y="44"/>
                    </a:lnTo>
                    <a:lnTo>
                      <a:pt x="20" y="40"/>
                    </a:lnTo>
                    <a:lnTo>
                      <a:pt x="24" y="36"/>
                    </a:lnTo>
                    <a:lnTo>
                      <a:pt x="32" y="34"/>
                    </a:lnTo>
                    <a:lnTo>
                      <a:pt x="38" y="30"/>
                    </a:lnTo>
                    <a:lnTo>
                      <a:pt x="42" y="26"/>
                    </a:lnTo>
                    <a:lnTo>
                      <a:pt x="52" y="26"/>
                    </a:lnTo>
                    <a:lnTo>
                      <a:pt x="60" y="26"/>
                    </a:lnTo>
                    <a:lnTo>
                      <a:pt x="62" y="30"/>
                    </a:lnTo>
                    <a:lnTo>
                      <a:pt x="70" y="28"/>
                    </a:lnTo>
                    <a:lnTo>
                      <a:pt x="80" y="32"/>
                    </a:lnTo>
                    <a:lnTo>
                      <a:pt x="88" y="36"/>
                    </a:lnTo>
                    <a:lnTo>
                      <a:pt x="96" y="38"/>
                    </a:lnTo>
                    <a:lnTo>
                      <a:pt x="104" y="38"/>
                    </a:lnTo>
                    <a:lnTo>
                      <a:pt x="116" y="38"/>
                    </a:lnTo>
                    <a:lnTo>
                      <a:pt x="126" y="38"/>
                    </a:lnTo>
                    <a:lnTo>
                      <a:pt x="130" y="34"/>
                    </a:lnTo>
                    <a:lnTo>
                      <a:pt x="128" y="26"/>
                    </a:lnTo>
                    <a:lnTo>
                      <a:pt x="124" y="20"/>
                    </a:lnTo>
                    <a:lnTo>
                      <a:pt x="118" y="16"/>
                    </a:lnTo>
                    <a:lnTo>
                      <a:pt x="120" y="10"/>
                    </a:lnTo>
                    <a:lnTo>
                      <a:pt x="124" y="4"/>
                    </a:lnTo>
                    <a:lnTo>
                      <a:pt x="126" y="0"/>
                    </a:lnTo>
                    <a:lnTo>
                      <a:pt x="136" y="0"/>
                    </a:lnTo>
                    <a:lnTo>
                      <a:pt x="142" y="2"/>
                    </a:lnTo>
                    <a:lnTo>
                      <a:pt x="152" y="2"/>
                    </a:lnTo>
                    <a:lnTo>
                      <a:pt x="156" y="6"/>
                    </a:lnTo>
                    <a:lnTo>
                      <a:pt x="164" y="8"/>
                    </a:lnTo>
                    <a:lnTo>
                      <a:pt x="176" y="18"/>
                    </a:lnTo>
                    <a:lnTo>
                      <a:pt x="184" y="24"/>
                    </a:lnTo>
                    <a:lnTo>
                      <a:pt x="188" y="34"/>
                    </a:lnTo>
                    <a:lnTo>
                      <a:pt x="192" y="36"/>
                    </a:lnTo>
                    <a:lnTo>
                      <a:pt x="202" y="42"/>
                    </a:lnTo>
                    <a:lnTo>
                      <a:pt x="208" y="42"/>
                    </a:lnTo>
                    <a:lnTo>
                      <a:pt x="214" y="42"/>
                    </a:lnTo>
                    <a:lnTo>
                      <a:pt x="220" y="40"/>
                    </a:lnTo>
                    <a:lnTo>
                      <a:pt x="224" y="36"/>
                    </a:lnTo>
                    <a:lnTo>
                      <a:pt x="232" y="38"/>
                    </a:lnTo>
                    <a:lnTo>
                      <a:pt x="244" y="42"/>
                    </a:lnTo>
                    <a:lnTo>
                      <a:pt x="250" y="42"/>
                    </a:lnTo>
                    <a:lnTo>
                      <a:pt x="250" y="48"/>
                    </a:lnTo>
                    <a:lnTo>
                      <a:pt x="256" y="50"/>
                    </a:lnTo>
                    <a:lnTo>
                      <a:pt x="262" y="50"/>
                    </a:lnTo>
                    <a:lnTo>
                      <a:pt x="268" y="54"/>
                    </a:lnTo>
                    <a:lnTo>
                      <a:pt x="274" y="54"/>
                    </a:lnTo>
                    <a:lnTo>
                      <a:pt x="280" y="52"/>
                    </a:lnTo>
                    <a:lnTo>
                      <a:pt x="286" y="54"/>
                    </a:lnTo>
                    <a:lnTo>
                      <a:pt x="294" y="56"/>
                    </a:lnTo>
                    <a:lnTo>
                      <a:pt x="304" y="54"/>
                    </a:lnTo>
                    <a:lnTo>
                      <a:pt x="310" y="50"/>
                    </a:lnTo>
                    <a:lnTo>
                      <a:pt x="322" y="50"/>
                    </a:lnTo>
                    <a:lnTo>
                      <a:pt x="334" y="42"/>
                    </a:lnTo>
                    <a:lnTo>
                      <a:pt x="338" y="40"/>
                    </a:lnTo>
                    <a:lnTo>
                      <a:pt x="348" y="46"/>
                    </a:lnTo>
                    <a:lnTo>
                      <a:pt x="354" y="46"/>
                    </a:lnTo>
                    <a:lnTo>
                      <a:pt x="362" y="48"/>
                    </a:lnTo>
                    <a:lnTo>
                      <a:pt x="356" y="62"/>
                    </a:lnTo>
                    <a:lnTo>
                      <a:pt x="358" y="68"/>
                    </a:lnTo>
                    <a:lnTo>
                      <a:pt x="358" y="72"/>
                    </a:lnTo>
                    <a:lnTo>
                      <a:pt x="356" y="74"/>
                    </a:lnTo>
                    <a:lnTo>
                      <a:pt x="354" y="78"/>
                    </a:lnTo>
                    <a:lnTo>
                      <a:pt x="354" y="84"/>
                    </a:lnTo>
                    <a:lnTo>
                      <a:pt x="364" y="88"/>
                    </a:lnTo>
                    <a:lnTo>
                      <a:pt x="374" y="86"/>
                    </a:lnTo>
                    <a:lnTo>
                      <a:pt x="380" y="80"/>
                    </a:lnTo>
                    <a:lnTo>
                      <a:pt x="384" y="80"/>
                    </a:lnTo>
                    <a:lnTo>
                      <a:pt x="388" y="84"/>
                    </a:lnTo>
                    <a:lnTo>
                      <a:pt x="394" y="90"/>
                    </a:lnTo>
                    <a:lnTo>
                      <a:pt x="404" y="94"/>
                    </a:lnTo>
                    <a:lnTo>
                      <a:pt x="410" y="100"/>
                    </a:lnTo>
                    <a:lnTo>
                      <a:pt x="406" y="106"/>
                    </a:lnTo>
                    <a:lnTo>
                      <a:pt x="402" y="104"/>
                    </a:lnTo>
                    <a:lnTo>
                      <a:pt x="398" y="104"/>
                    </a:lnTo>
                    <a:lnTo>
                      <a:pt x="396" y="106"/>
                    </a:lnTo>
                    <a:lnTo>
                      <a:pt x="392" y="108"/>
                    </a:lnTo>
                    <a:lnTo>
                      <a:pt x="388" y="108"/>
                    </a:lnTo>
                    <a:lnTo>
                      <a:pt x="386" y="112"/>
                    </a:lnTo>
                    <a:lnTo>
                      <a:pt x="378" y="110"/>
                    </a:lnTo>
                    <a:lnTo>
                      <a:pt x="368" y="118"/>
                    </a:lnTo>
                    <a:lnTo>
                      <a:pt x="362" y="114"/>
                    </a:lnTo>
                    <a:lnTo>
                      <a:pt x="358" y="114"/>
                    </a:lnTo>
                    <a:lnTo>
                      <a:pt x="356" y="122"/>
                    </a:lnTo>
                    <a:lnTo>
                      <a:pt x="354" y="126"/>
                    </a:lnTo>
                    <a:lnTo>
                      <a:pt x="336" y="130"/>
                    </a:lnTo>
                    <a:lnTo>
                      <a:pt x="334" y="140"/>
                    </a:lnTo>
                    <a:lnTo>
                      <a:pt x="322" y="146"/>
                    </a:lnTo>
                    <a:lnTo>
                      <a:pt x="314" y="142"/>
                    </a:lnTo>
                    <a:lnTo>
                      <a:pt x="308" y="136"/>
                    </a:lnTo>
                    <a:lnTo>
                      <a:pt x="302" y="134"/>
                    </a:lnTo>
                    <a:lnTo>
                      <a:pt x="296" y="138"/>
                    </a:lnTo>
                    <a:lnTo>
                      <a:pt x="294" y="146"/>
                    </a:lnTo>
                    <a:lnTo>
                      <a:pt x="292" y="152"/>
                    </a:lnTo>
                    <a:lnTo>
                      <a:pt x="294" y="162"/>
                    </a:lnTo>
                    <a:lnTo>
                      <a:pt x="296" y="166"/>
                    </a:lnTo>
                    <a:lnTo>
                      <a:pt x="292" y="172"/>
                    </a:lnTo>
                    <a:lnTo>
                      <a:pt x="288" y="176"/>
                    </a:lnTo>
                    <a:lnTo>
                      <a:pt x="278" y="178"/>
                    </a:lnTo>
                    <a:lnTo>
                      <a:pt x="264" y="182"/>
                    </a:lnTo>
                    <a:lnTo>
                      <a:pt x="252" y="182"/>
                    </a:lnTo>
                    <a:lnTo>
                      <a:pt x="244" y="184"/>
                    </a:lnTo>
                    <a:lnTo>
                      <a:pt x="240" y="184"/>
                    </a:lnTo>
                    <a:lnTo>
                      <a:pt x="232" y="192"/>
                    </a:lnTo>
                    <a:lnTo>
                      <a:pt x="224" y="196"/>
                    </a:lnTo>
                    <a:lnTo>
                      <a:pt x="216" y="196"/>
                    </a:lnTo>
                    <a:lnTo>
                      <a:pt x="206" y="198"/>
                    </a:lnTo>
                    <a:lnTo>
                      <a:pt x="194" y="198"/>
                    </a:lnTo>
                    <a:lnTo>
                      <a:pt x="186" y="194"/>
                    </a:lnTo>
                    <a:lnTo>
                      <a:pt x="180" y="186"/>
                    </a:lnTo>
                    <a:lnTo>
                      <a:pt x="176" y="184"/>
                    </a:lnTo>
                    <a:lnTo>
                      <a:pt x="158" y="184"/>
                    </a:lnTo>
                    <a:lnTo>
                      <a:pt x="146" y="182"/>
                    </a:lnTo>
                    <a:lnTo>
                      <a:pt x="134" y="182"/>
                    </a:lnTo>
                    <a:lnTo>
                      <a:pt x="124" y="182"/>
                    </a:lnTo>
                    <a:lnTo>
                      <a:pt x="116" y="182"/>
                    </a:lnTo>
                    <a:lnTo>
                      <a:pt x="110" y="176"/>
                    </a:lnTo>
                    <a:lnTo>
                      <a:pt x="102" y="170"/>
                    </a:lnTo>
                    <a:lnTo>
                      <a:pt x="96" y="164"/>
                    </a:lnTo>
                    <a:lnTo>
                      <a:pt x="92" y="162"/>
                    </a:lnTo>
                    <a:lnTo>
                      <a:pt x="90" y="154"/>
                    </a:lnTo>
                    <a:lnTo>
                      <a:pt x="84" y="148"/>
                    </a:lnTo>
                    <a:lnTo>
                      <a:pt x="76" y="146"/>
                    </a:lnTo>
                    <a:lnTo>
                      <a:pt x="72" y="142"/>
                    </a:lnTo>
                    <a:lnTo>
                      <a:pt x="64" y="138"/>
                    </a:lnTo>
                    <a:lnTo>
                      <a:pt x="56" y="136"/>
                    </a:lnTo>
                    <a:lnTo>
                      <a:pt x="48" y="134"/>
                    </a:lnTo>
                    <a:lnTo>
                      <a:pt x="46" y="128"/>
                    </a:lnTo>
                    <a:lnTo>
                      <a:pt x="48" y="120"/>
                    </a:lnTo>
                    <a:lnTo>
                      <a:pt x="50" y="114"/>
                    </a:lnTo>
                    <a:lnTo>
                      <a:pt x="46" y="108"/>
                    </a:lnTo>
                    <a:lnTo>
                      <a:pt x="38" y="106"/>
                    </a:lnTo>
                    <a:lnTo>
                      <a:pt x="38" y="100"/>
                    </a:lnTo>
                    <a:lnTo>
                      <a:pt x="32" y="92"/>
                    </a:lnTo>
                    <a:lnTo>
                      <a:pt x="24" y="86"/>
                    </a:lnTo>
                    <a:lnTo>
                      <a:pt x="16" y="88"/>
                    </a:lnTo>
                    <a:lnTo>
                      <a:pt x="8" y="86"/>
                    </a:lnTo>
                    <a:lnTo>
                      <a:pt x="4" y="82"/>
                    </a:lnTo>
                    <a:lnTo>
                      <a:pt x="2" y="78"/>
                    </a:lnTo>
                    <a:lnTo>
                      <a:pt x="0" y="68"/>
                    </a:lnTo>
                    <a:lnTo>
                      <a:pt x="2" y="54"/>
                    </a:lnTo>
                    <a:lnTo>
                      <a:pt x="2" y="5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11" name="Freeform 284">
                <a:extLst>
                  <a:ext uri="{FF2B5EF4-FFF2-40B4-BE49-F238E27FC236}">
                    <a16:creationId xmlns:a16="http://schemas.microsoft.com/office/drawing/2014/main" id="{8BC7256B-E2F9-C00B-6CDC-7F178ABAF4DD}"/>
                  </a:ext>
                </a:extLst>
              </p:cNvPr>
              <p:cNvSpPr>
                <a:spLocks/>
              </p:cNvSpPr>
              <p:nvPr/>
            </p:nvSpPr>
            <p:spPr bwMode="auto">
              <a:xfrm>
                <a:off x="4920531" y="3558634"/>
                <a:ext cx="5834" cy="3843"/>
              </a:xfrm>
              <a:custGeom>
                <a:avLst/>
                <a:gdLst/>
                <a:ahLst/>
                <a:cxnLst>
                  <a:cxn ang="0">
                    <a:pos x="4" y="4"/>
                  </a:cxn>
                  <a:cxn ang="0">
                    <a:pos x="0" y="2"/>
                  </a:cxn>
                  <a:cxn ang="0">
                    <a:pos x="4" y="0"/>
                  </a:cxn>
                  <a:cxn ang="0">
                    <a:pos x="6" y="2"/>
                  </a:cxn>
                  <a:cxn ang="0">
                    <a:pos x="4" y="4"/>
                  </a:cxn>
                  <a:cxn ang="0">
                    <a:pos x="4" y="4"/>
                  </a:cxn>
                </a:cxnLst>
                <a:rect l="0" t="0" r="r" b="b"/>
                <a:pathLst>
                  <a:path w="6" h="4">
                    <a:moveTo>
                      <a:pt x="4" y="4"/>
                    </a:moveTo>
                    <a:lnTo>
                      <a:pt x="0" y="2"/>
                    </a:lnTo>
                    <a:lnTo>
                      <a:pt x="4" y="0"/>
                    </a:lnTo>
                    <a:lnTo>
                      <a:pt x="6" y="2"/>
                    </a:lnTo>
                    <a:lnTo>
                      <a:pt x="4" y="4"/>
                    </a:lnTo>
                    <a:lnTo>
                      <a:pt x="4" y="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12" name="Freeform 285">
                <a:extLst>
                  <a:ext uri="{FF2B5EF4-FFF2-40B4-BE49-F238E27FC236}">
                    <a16:creationId xmlns:a16="http://schemas.microsoft.com/office/drawing/2014/main" id="{1E8A1500-05E9-8F89-9132-4C8A2D17AE5C}"/>
                  </a:ext>
                </a:extLst>
              </p:cNvPr>
              <p:cNvSpPr>
                <a:spLocks/>
              </p:cNvSpPr>
              <p:nvPr/>
            </p:nvSpPr>
            <p:spPr bwMode="auto">
              <a:xfrm>
                <a:off x="4920531" y="3558634"/>
                <a:ext cx="5834" cy="3843"/>
              </a:xfrm>
              <a:custGeom>
                <a:avLst/>
                <a:gdLst/>
                <a:ahLst/>
                <a:cxnLst>
                  <a:cxn ang="0">
                    <a:pos x="4" y="4"/>
                  </a:cxn>
                  <a:cxn ang="0">
                    <a:pos x="0" y="2"/>
                  </a:cxn>
                  <a:cxn ang="0">
                    <a:pos x="4" y="0"/>
                  </a:cxn>
                  <a:cxn ang="0">
                    <a:pos x="6" y="2"/>
                  </a:cxn>
                  <a:cxn ang="0">
                    <a:pos x="4" y="4"/>
                  </a:cxn>
                  <a:cxn ang="0">
                    <a:pos x="4" y="4"/>
                  </a:cxn>
                </a:cxnLst>
                <a:rect l="0" t="0" r="r" b="b"/>
                <a:pathLst>
                  <a:path w="6" h="4">
                    <a:moveTo>
                      <a:pt x="4" y="4"/>
                    </a:moveTo>
                    <a:lnTo>
                      <a:pt x="0" y="2"/>
                    </a:lnTo>
                    <a:lnTo>
                      <a:pt x="4" y="0"/>
                    </a:lnTo>
                    <a:lnTo>
                      <a:pt x="6" y="2"/>
                    </a:lnTo>
                    <a:lnTo>
                      <a:pt x="4" y="4"/>
                    </a:lnTo>
                    <a:lnTo>
                      <a:pt x="4" y="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13" name="Freeform 286">
                <a:extLst>
                  <a:ext uri="{FF2B5EF4-FFF2-40B4-BE49-F238E27FC236}">
                    <a16:creationId xmlns:a16="http://schemas.microsoft.com/office/drawing/2014/main" id="{458BE4AD-830F-5039-FAAE-68D102E3A659}"/>
                  </a:ext>
                </a:extLst>
              </p:cNvPr>
              <p:cNvSpPr>
                <a:spLocks/>
              </p:cNvSpPr>
              <p:nvPr/>
            </p:nvSpPr>
            <p:spPr bwMode="auto">
              <a:xfrm>
                <a:off x="5175285" y="3466409"/>
                <a:ext cx="46673" cy="61484"/>
              </a:xfrm>
              <a:custGeom>
                <a:avLst/>
                <a:gdLst/>
                <a:ahLst/>
                <a:cxnLst>
                  <a:cxn ang="0">
                    <a:pos x="24" y="64"/>
                  </a:cxn>
                  <a:cxn ang="0">
                    <a:pos x="24" y="64"/>
                  </a:cxn>
                  <a:cxn ang="0">
                    <a:pos x="28" y="62"/>
                  </a:cxn>
                  <a:cxn ang="0">
                    <a:pos x="30" y="56"/>
                  </a:cxn>
                  <a:cxn ang="0">
                    <a:pos x="32" y="52"/>
                  </a:cxn>
                  <a:cxn ang="0">
                    <a:pos x="32" y="50"/>
                  </a:cxn>
                  <a:cxn ang="0">
                    <a:pos x="34" y="48"/>
                  </a:cxn>
                  <a:cxn ang="0">
                    <a:pos x="36" y="48"/>
                  </a:cxn>
                  <a:cxn ang="0">
                    <a:pos x="40" y="50"/>
                  </a:cxn>
                  <a:cxn ang="0">
                    <a:pos x="46" y="52"/>
                  </a:cxn>
                  <a:cxn ang="0">
                    <a:pos x="48" y="54"/>
                  </a:cxn>
                  <a:cxn ang="0">
                    <a:pos x="40" y="42"/>
                  </a:cxn>
                  <a:cxn ang="0">
                    <a:pos x="38" y="40"/>
                  </a:cxn>
                  <a:cxn ang="0">
                    <a:pos x="36" y="38"/>
                  </a:cxn>
                  <a:cxn ang="0">
                    <a:pos x="36" y="34"/>
                  </a:cxn>
                  <a:cxn ang="0">
                    <a:pos x="36" y="30"/>
                  </a:cxn>
                  <a:cxn ang="0">
                    <a:pos x="34" y="26"/>
                  </a:cxn>
                  <a:cxn ang="0">
                    <a:pos x="32" y="24"/>
                  </a:cxn>
                  <a:cxn ang="0">
                    <a:pos x="32" y="20"/>
                  </a:cxn>
                  <a:cxn ang="0">
                    <a:pos x="32" y="14"/>
                  </a:cxn>
                  <a:cxn ang="0">
                    <a:pos x="28" y="10"/>
                  </a:cxn>
                  <a:cxn ang="0">
                    <a:pos x="22" y="6"/>
                  </a:cxn>
                  <a:cxn ang="0">
                    <a:pos x="16" y="2"/>
                  </a:cxn>
                  <a:cxn ang="0">
                    <a:pos x="12" y="0"/>
                  </a:cxn>
                  <a:cxn ang="0">
                    <a:pos x="8" y="2"/>
                  </a:cxn>
                  <a:cxn ang="0">
                    <a:pos x="4" y="2"/>
                  </a:cxn>
                  <a:cxn ang="0">
                    <a:pos x="0" y="4"/>
                  </a:cxn>
                  <a:cxn ang="0">
                    <a:pos x="0" y="6"/>
                  </a:cxn>
                  <a:cxn ang="0">
                    <a:pos x="4" y="8"/>
                  </a:cxn>
                  <a:cxn ang="0">
                    <a:pos x="10" y="16"/>
                  </a:cxn>
                  <a:cxn ang="0">
                    <a:pos x="10" y="20"/>
                  </a:cxn>
                  <a:cxn ang="0">
                    <a:pos x="14" y="24"/>
                  </a:cxn>
                  <a:cxn ang="0">
                    <a:pos x="18" y="30"/>
                  </a:cxn>
                  <a:cxn ang="0">
                    <a:pos x="20" y="34"/>
                  </a:cxn>
                  <a:cxn ang="0">
                    <a:pos x="20" y="36"/>
                  </a:cxn>
                  <a:cxn ang="0">
                    <a:pos x="20" y="38"/>
                  </a:cxn>
                  <a:cxn ang="0">
                    <a:pos x="20" y="40"/>
                  </a:cxn>
                  <a:cxn ang="0">
                    <a:pos x="20" y="42"/>
                  </a:cxn>
                  <a:cxn ang="0">
                    <a:pos x="22" y="44"/>
                  </a:cxn>
                  <a:cxn ang="0">
                    <a:pos x="20" y="46"/>
                  </a:cxn>
                  <a:cxn ang="0">
                    <a:pos x="20" y="48"/>
                  </a:cxn>
                  <a:cxn ang="0">
                    <a:pos x="20" y="54"/>
                  </a:cxn>
                  <a:cxn ang="0">
                    <a:pos x="20" y="56"/>
                  </a:cxn>
                  <a:cxn ang="0">
                    <a:pos x="22" y="58"/>
                  </a:cxn>
                  <a:cxn ang="0">
                    <a:pos x="20" y="60"/>
                  </a:cxn>
                  <a:cxn ang="0">
                    <a:pos x="20" y="62"/>
                  </a:cxn>
                  <a:cxn ang="0">
                    <a:pos x="22" y="64"/>
                  </a:cxn>
                  <a:cxn ang="0">
                    <a:pos x="24" y="64"/>
                  </a:cxn>
                  <a:cxn ang="0">
                    <a:pos x="24" y="64"/>
                  </a:cxn>
                </a:cxnLst>
                <a:rect l="0" t="0" r="r" b="b"/>
                <a:pathLst>
                  <a:path w="48" h="64">
                    <a:moveTo>
                      <a:pt x="24" y="64"/>
                    </a:moveTo>
                    <a:lnTo>
                      <a:pt x="24" y="64"/>
                    </a:lnTo>
                    <a:lnTo>
                      <a:pt x="28" y="62"/>
                    </a:lnTo>
                    <a:lnTo>
                      <a:pt x="30" y="56"/>
                    </a:lnTo>
                    <a:lnTo>
                      <a:pt x="32" y="52"/>
                    </a:lnTo>
                    <a:lnTo>
                      <a:pt x="32" y="50"/>
                    </a:lnTo>
                    <a:lnTo>
                      <a:pt x="34" y="48"/>
                    </a:lnTo>
                    <a:lnTo>
                      <a:pt x="36" y="48"/>
                    </a:lnTo>
                    <a:lnTo>
                      <a:pt x="40" y="50"/>
                    </a:lnTo>
                    <a:lnTo>
                      <a:pt x="46" y="52"/>
                    </a:lnTo>
                    <a:lnTo>
                      <a:pt x="48" y="54"/>
                    </a:lnTo>
                    <a:lnTo>
                      <a:pt x="40" y="42"/>
                    </a:lnTo>
                    <a:lnTo>
                      <a:pt x="38" y="40"/>
                    </a:lnTo>
                    <a:lnTo>
                      <a:pt x="36" y="38"/>
                    </a:lnTo>
                    <a:lnTo>
                      <a:pt x="36" y="34"/>
                    </a:lnTo>
                    <a:lnTo>
                      <a:pt x="36" y="30"/>
                    </a:lnTo>
                    <a:lnTo>
                      <a:pt x="34" y="26"/>
                    </a:lnTo>
                    <a:lnTo>
                      <a:pt x="32" y="24"/>
                    </a:lnTo>
                    <a:lnTo>
                      <a:pt x="32" y="20"/>
                    </a:lnTo>
                    <a:lnTo>
                      <a:pt x="32" y="14"/>
                    </a:lnTo>
                    <a:lnTo>
                      <a:pt x="28" y="10"/>
                    </a:lnTo>
                    <a:lnTo>
                      <a:pt x="22" y="6"/>
                    </a:lnTo>
                    <a:lnTo>
                      <a:pt x="16" y="2"/>
                    </a:lnTo>
                    <a:lnTo>
                      <a:pt x="12" y="0"/>
                    </a:lnTo>
                    <a:lnTo>
                      <a:pt x="8" y="2"/>
                    </a:lnTo>
                    <a:lnTo>
                      <a:pt x="4" y="2"/>
                    </a:lnTo>
                    <a:lnTo>
                      <a:pt x="0" y="4"/>
                    </a:lnTo>
                    <a:lnTo>
                      <a:pt x="0" y="6"/>
                    </a:lnTo>
                    <a:lnTo>
                      <a:pt x="4" y="8"/>
                    </a:lnTo>
                    <a:lnTo>
                      <a:pt x="10" y="16"/>
                    </a:lnTo>
                    <a:lnTo>
                      <a:pt x="10" y="20"/>
                    </a:lnTo>
                    <a:lnTo>
                      <a:pt x="14" y="24"/>
                    </a:lnTo>
                    <a:lnTo>
                      <a:pt x="18" y="30"/>
                    </a:lnTo>
                    <a:lnTo>
                      <a:pt x="20" y="34"/>
                    </a:lnTo>
                    <a:lnTo>
                      <a:pt x="20" y="36"/>
                    </a:lnTo>
                    <a:lnTo>
                      <a:pt x="20" y="38"/>
                    </a:lnTo>
                    <a:lnTo>
                      <a:pt x="20" y="40"/>
                    </a:lnTo>
                    <a:lnTo>
                      <a:pt x="20" y="42"/>
                    </a:lnTo>
                    <a:lnTo>
                      <a:pt x="22" y="44"/>
                    </a:lnTo>
                    <a:lnTo>
                      <a:pt x="20" y="46"/>
                    </a:lnTo>
                    <a:lnTo>
                      <a:pt x="20" y="48"/>
                    </a:lnTo>
                    <a:lnTo>
                      <a:pt x="20" y="54"/>
                    </a:lnTo>
                    <a:lnTo>
                      <a:pt x="20" y="56"/>
                    </a:lnTo>
                    <a:lnTo>
                      <a:pt x="22" y="58"/>
                    </a:lnTo>
                    <a:lnTo>
                      <a:pt x="20" y="60"/>
                    </a:lnTo>
                    <a:lnTo>
                      <a:pt x="20" y="62"/>
                    </a:lnTo>
                    <a:lnTo>
                      <a:pt x="22" y="64"/>
                    </a:lnTo>
                    <a:lnTo>
                      <a:pt x="24" y="64"/>
                    </a:lnTo>
                    <a:lnTo>
                      <a:pt x="24" y="6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14" name="Freeform 287">
                <a:extLst>
                  <a:ext uri="{FF2B5EF4-FFF2-40B4-BE49-F238E27FC236}">
                    <a16:creationId xmlns:a16="http://schemas.microsoft.com/office/drawing/2014/main" id="{7EBADF80-9851-B5A6-C510-265CA290A9BA}"/>
                  </a:ext>
                </a:extLst>
              </p:cNvPr>
              <p:cNvSpPr>
                <a:spLocks/>
              </p:cNvSpPr>
              <p:nvPr/>
            </p:nvSpPr>
            <p:spPr bwMode="auto">
              <a:xfrm>
                <a:off x="3360886" y="3743087"/>
                <a:ext cx="381160" cy="284363"/>
              </a:xfrm>
              <a:custGeom>
                <a:avLst/>
                <a:gdLst/>
                <a:ahLst/>
                <a:cxnLst>
                  <a:cxn ang="0">
                    <a:pos x="6" y="16"/>
                  </a:cxn>
                  <a:cxn ang="0">
                    <a:pos x="16" y="34"/>
                  </a:cxn>
                  <a:cxn ang="0">
                    <a:pos x="28" y="48"/>
                  </a:cxn>
                  <a:cxn ang="0">
                    <a:pos x="36" y="72"/>
                  </a:cxn>
                  <a:cxn ang="0">
                    <a:pos x="36" y="94"/>
                  </a:cxn>
                  <a:cxn ang="0">
                    <a:pos x="60" y="110"/>
                  </a:cxn>
                  <a:cxn ang="0">
                    <a:pos x="66" y="134"/>
                  </a:cxn>
                  <a:cxn ang="0">
                    <a:pos x="92" y="164"/>
                  </a:cxn>
                  <a:cxn ang="0">
                    <a:pos x="88" y="146"/>
                  </a:cxn>
                  <a:cxn ang="0">
                    <a:pos x="82" y="132"/>
                  </a:cxn>
                  <a:cxn ang="0">
                    <a:pos x="68" y="102"/>
                  </a:cxn>
                  <a:cxn ang="0">
                    <a:pos x="56" y="80"/>
                  </a:cxn>
                  <a:cxn ang="0">
                    <a:pos x="48" y="62"/>
                  </a:cxn>
                  <a:cxn ang="0">
                    <a:pos x="46" y="56"/>
                  </a:cxn>
                  <a:cxn ang="0">
                    <a:pos x="32" y="34"/>
                  </a:cxn>
                  <a:cxn ang="0">
                    <a:pos x="26" y="12"/>
                  </a:cxn>
                  <a:cxn ang="0">
                    <a:pos x="46" y="14"/>
                  </a:cxn>
                  <a:cxn ang="0">
                    <a:pos x="58" y="44"/>
                  </a:cxn>
                  <a:cxn ang="0">
                    <a:pos x="70" y="66"/>
                  </a:cxn>
                  <a:cxn ang="0">
                    <a:pos x="88" y="82"/>
                  </a:cxn>
                  <a:cxn ang="0">
                    <a:pos x="96" y="98"/>
                  </a:cxn>
                  <a:cxn ang="0">
                    <a:pos x="98" y="108"/>
                  </a:cxn>
                  <a:cxn ang="0">
                    <a:pos x="118" y="132"/>
                  </a:cxn>
                  <a:cxn ang="0">
                    <a:pos x="136" y="154"/>
                  </a:cxn>
                  <a:cxn ang="0">
                    <a:pos x="150" y="178"/>
                  </a:cxn>
                  <a:cxn ang="0">
                    <a:pos x="148" y="204"/>
                  </a:cxn>
                  <a:cxn ang="0">
                    <a:pos x="152" y="220"/>
                  </a:cxn>
                  <a:cxn ang="0">
                    <a:pos x="168" y="234"/>
                  </a:cxn>
                  <a:cxn ang="0">
                    <a:pos x="188" y="252"/>
                  </a:cxn>
                  <a:cxn ang="0">
                    <a:pos x="214" y="264"/>
                  </a:cxn>
                  <a:cxn ang="0">
                    <a:pos x="236" y="272"/>
                  </a:cxn>
                  <a:cxn ang="0">
                    <a:pos x="250" y="280"/>
                  </a:cxn>
                  <a:cxn ang="0">
                    <a:pos x="266" y="286"/>
                  </a:cxn>
                  <a:cxn ang="0">
                    <a:pos x="288" y="278"/>
                  </a:cxn>
                  <a:cxn ang="0">
                    <a:pos x="312" y="286"/>
                  </a:cxn>
                  <a:cxn ang="0">
                    <a:pos x="320" y="290"/>
                  </a:cxn>
                  <a:cxn ang="0">
                    <a:pos x="342" y="272"/>
                  </a:cxn>
                  <a:cxn ang="0">
                    <a:pos x="340" y="248"/>
                  </a:cxn>
                  <a:cxn ang="0">
                    <a:pos x="376" y="236"/>
                  </a:cxn>
                  <a:cxn ang="0">
                    <a:pos x="386" y="222"/>
                  </a:cxn>
                  <a:cxn ang="0">
                    <a:pos x="390" y="190"/>
                  </a:cxn>
                  <a:cxn ang="0">
                    <a:pos x="368" y="192"/>
                  </a:cxn>
                  <a:cxn ang="0">
                    <a:pos x="348" y="220"/>
                  </a:cxn>
                  <a:cxn ang="0">
                    <a:pos x="334" y="240"/>
                  </a:cxn>
                  <a:cxn ang="0">
                    <a:pos x="312" y="244"/>
                  </a:cxn>
                  <a:cxn ang="0">
                    <a:pos x="284" y="238"/>
                  </a:cxn>
                  <a:cxn ang="0">
                    <a:pos x="266" y="220"/>
                  </a:cxn>
                  <a:cxn ang="0">
                    <a:pos x="252" y="198"/>
                  </a:cxn>
                  <a:cxn ang="0">
                    <a:pos x="252" y="170"/>
                  </a:cxn>
                  <a:cxn ang="0">
                    <a:pos x="250" y="146"/>
                  </a:cxn>
                  <a:cxn ang="0">
                    <a:pos x="252" y="130"/>
                  </a:cxn>
                  <a:cxn ang="0">
                    <a:pos x="258" y="118"/>
                  </a:cxn>
                  <a:cxn ang="0">
                    <a:pos x="232" y="104"/>
                  </a:cxn>
                  <a:cxn ang="0">
                    <a:pos x="216" y="68"/>
                  </a:cxn>
                  <a:cxn ang="0">
                    <a:pos x="196" y="52"/>
                  </a:cxn>
                  <a:cxn ang="0">
                    <a:pos x="170" y="60"/>
                  </a:cxn>
                  <a:cxn ang="0">
                    <a:pos x="152" y="30"/>
                  </a:cxn>
                  <a:cxn ang="0">
                    <a:pos x="70" y="22"/>
                  </a:cxn>
                </a:cxnLst>
                <a:rect l="0" t="0" r="r" b="b"/>
                <a:pathLst>
                  <a:path w="392" h="296">
                    <a:moveTo>
                      <a:pt x="0" y="4"/>
                    </a:moveTo>
                    <a:lnTo>
                      <a:pt x="0" y="4"/>
                    </a:lnTo>
                    <a:lnTo>
                      <a:pt x="0" y="6"/>
                    </a:lnTo>
                    <a:lnTo>
                      <a:pt x="2" y="8"/>
                    </a:lnTo>
                    <a:lnTo>
                      <a:pt x="6" y="12"/>
                    </a:lnTo>
                    <a:lnTo>
                      <a:pt x="6" y="16"/>
                    </a:lnTo>
                    <a:lnTo>
                      <a:pt x="8" y="18"/>
                    </a:lnTo>
                    <a:lnTo>
                      <a:pt x="10" y="22"/>
                    </a:lnTo>
                    <a:lnTo>
                      <a:pt x="10" y="26"/>
                    </a:lnTo>
                    <a:lnTo>
                      <a:pt x="10" y="30"/>
                    </a:lnTo>
                    <a:lnTo>
                      <a:pt x="12" y="34"/>
                    </a:lnTo>
                    <a:lnTo>
                      <a:pt x="16" y="34"/>
                    </a:lnTo>
                    <a:lnTo>
                      <a:pt x="16" y="38"/>
                    </a:lnTo>
                    <a:lnTo>
                      <a:pt x="20" y="40"/>
                    </a:lnTo>
                    <a:lnTo>
                      <a:pt x="22" y="44"/>
                    </a:lnTo>
                    <a:lnTo>
                      <a:pt x="24" y="44"/>
                    </a:lnTo>
                    <a:lnTo>
                      <a:pt x="26" y="44"/>
                    </a:lnTo>
                    <a:lnTo>
                      <a:pt x="28" y="48"/>
                    </a:lnTo>
                    <a:lnTo>
                      <a:pt x="32" y="50"/>
                    </a:lnTo>
                    <a:lnTo>
                      <a:pt x="34" y="54"/>
                    </a:lnTo>
                    <a:lnTo>
                      <a:pt x="34" y="56"/>
                    </a:lnTo>
                    <a:lnTo>
                      <a:pt x="36" y="62"/>
                    </a:lnTo>
                    <a:lnTo>
                      <a:pt x="36" y="64"/>
                    </a:lnTo>
                    <a:lnTo>
                      <a:pt x="36" y="72"/>
                    </a:lnTo>
                    <a:lnTo>
                      <a:pt x="36" y="80"/>
                    </a:lnTo>
                    <a:lnTo>
                      <a:pt x="26" y="80"/>
                    </a:lnTo>
                    <a:lnTo>
                      <a:pt x="26" y="82"/>
                    </a:lnTo>
                    <a:lnTo>
                      <a:pt x="34" y="88"/>
                    </a:lnTo>
                    <a:lnTo>
                      <a:pt x="36" y="90"/>
                    </a:lnTo>
                    <a:lnTo>
                      <a:pt x="36" y="94"/>
                    </a:lnTo>
                    <a:lnTo>
                      <a:pt x="40" y="94"/>
                    </a:lnTo>
                    <a:lnTo>
                      <a:pt x="40" y="96"/>
                    </a:lnTo>
                    <a:lnTo>
                      <a:pt x="40" y="98"/>
                    </a:lnTo>
                    <a:lnTo>
                      <a:pt x="46" y="98"/>
                    </a:lnTo>
                    <a:lnTo>
                      <a:pt x="54" y="104"/>
                    </a:lnTo>
                    <a:lnTo>
                      <a:pt x="60" y="110"/>
                    </a:lnTo>
                    <a:lnTo>
                      <a:pt x="60" y="112"/>
                    </a:lnTo>
                    <a:lnTo>
                      <a:pt x="60" y="114"/>
                    </a:lnTo>
                    <a:lnTo>
                      <a:pt x="62" y="120"/>
                    </a:lnTo>
                    <a:lnTo>
                      <a:pt x="62" y="126"/>
                    </a:lnTo>
                    <a:lnTo>
                      <a:pt x="62" y="132"/>
                    </a:lnTo>
                    <a:lnTo>
                      <a:pt x="66" y="134"/>
                    </a:lnTo>
                    <a:lnTo>
                      <a:pt x="70" y="134"/>
                    </a:lnTo>
                    <a:lnTo>
                      <a:pt x="70" y="138"/>
                    </a:lnTo>
                    <a:lnTo>
                      <a:pt x="76" y="142"/>
                    </a:lnTo>
                    <a:lnTo>
                      <a:pt x="88" y="158"/>
                    </a:lnTo>
                    <a:lnTo>
                      <a:pt x="88" y="164"/>
                    </a:lnTo>
                    <a:lnTo>
                      <a:pt x="92" y="164"/>
                    </a:lnTo>
                    <a:lnTo>
                      <a:pt x="92" y="162"/>
                    </a:lnTo>
                    <a:lnTo>
                      <a:pt x="94" y="160"/>
                    </a:lnTo>
                    <a:lnTo>
                      <a:pt x="96" y="158"/>
                    </a:lnTo>
                    <a:lnTo>
                      <a:pt x="96" y="156"/>
                    </a:lnTo>
                    <a:lnTo>
                      <a:pt x="94" y="152"/>
                    </a:lnTo>
                    <a:lnTo>
                      <a:pt x="88" y="146"/>
                    </a:lnTo>
                    <a:lnTo>
                      <a:pt x="88" y="142"/>
                    </a:lnTo>
                    <a:lnTo>
                      <a:pt x="86" y="140"/>
                    </a:lnTo>
                    <a:lnTo>
                      <a:pt x="82" y="140"/>
                    </a:lnTo>
                    <a:lnTo>
                      <a:pt x="80" y="138"/>
                    </a:lnTo>
                    <a:lnTo>
                      <a:pt x="80" y="136"/>
                    </a:lnTo>
                    <a:lnTo>
                      <a:pt x="82" y="132"/>
                    </a:lnTo>
                    <a:lnTo>
                      <a:pt x="78" y="128"/>
                    </a:lnTo>
                    <a:lnTo>
                      <a:pt x="78" y="124"/>
                    </a:lnTo>
                    <a:lnTo>
                      <a:pt x="78" y="122"/>
                    </a:lnTo>
                    <a:lnTo>
                      <a:pt x="72" y="114"/>
                    </a:lnTo>
                    <a:lnTo>
                      <a:pt x="72" y="110"/>
                    </a:lnTo>
                    <a:lnTo>
                      <a:pt x="68" y="102"/>
                    </a:lnTo>
                    <a:lnTo>
                      <a:pt x="62" y="96"/>
                    </a:lnTo>
                    <a:lnTo>
                      <a:pt x="62" y="92"/>
                    </a:lnTo>
                    <a:lnTo>
                      <a:pt x="62" y="88"/>
                    </a:lnTo>
                    <a:lnTo>
                      <a:pt x="58" y="86"/>
                    </a:lnTo>
                    <a:lnTo>
                      <a:pt x="58" y="82"/>
                    </a:lnTo>
                    <a:lnTo>
                      <a:pt x="56" y="80"/>
                    </a:lnTo>
                    <a:lnTo>
                      <a:pt x="54" y="78"/>
                    </a:lnTo>
                    <a:lnTo>
                      <a:pt x="54" y="72"/>
                    </a:lnTo>
                    <a:lnTo>
                      <a:pt x="52" y="66"/>
                    </a:lnTo>
                    <a:lnTo>
                      <a:pt x="50" y="66"/>
                    </a:lnTo>
                    <a:lnTo>
                      <a:pt x="50" y="62"/>
                    </a:lnTo>
                    <a:lnTo>
                      <a:pt x="48" y="62"/>
                    </a:lnTo>
                    <a:lnTo>
                      <a:pt x="46" y="62"/>
                    </a:lnTo>
                    <a:lnTo>
                      <a:pt x="44" y="62"/>
                    </a:lnTo>
                    <a:lnTo>
                      <a:pt x="44" y="60"/>
                    </a:lnTo>
                    <a:lnTo>
                      <a:pt x="44" y="58"/>
                    </a:lnTo>
                    <a:lnTo>
                      <a:pt x="46" y="58"/>
                    </a:lnTo>
                    <a:lnTo>
                      <a:pt x="46" y="56"/>
                    </a:lnTo>
                    <a:lnTo>
                      <a:pt x="42" y="48"/>
                    </a:lnTo>
                    <a:lnTo>
                      <a:pt x="38" y="48"/>
                    </a:lnTo>
                    <a:lnTo>
                      <a:pt x="36" y="46"/>
                    </a:lnTo>
                    <a:lnTo>
                      <a:pt x="36" y="44"/>
                    </a:lnTo>
                    <a:lnTo>
                      <a:pt x="34" y="38"/>
                    </a:lnTo>
                    <a:lnTo>
                      <a:pt x="32" y="34"/>
                    </a:lnTo>
                    <a:lnTo>
                      <a:pt x="30" y="28"/>
                    </a:lnTo>
                    <a:lnTo>
                      <a:pt x="26" y="24"/>
                    </a:lnTo>
                    <a:lnTo>
                      <a:pt x="26" y="18"/>
                    </a:lnTo>
                    <a:lnTo>
                      <a:pt x="28" y="14"/>
                    </a:lnTo>
                    <a:lnTo>
                      <a:pt x="26" y="14"/>
                    </a:lnTo>
                    <a:lnTo>
                      <a:pt x="26" y="12"/>
                    </a:lnTo>
                    <a:lnTo>
                      <a:pt x="32" y="12"/>
                    </a:lnTo>
                    <a:lnTo>
                      <a:pt x="36" y="16"/>
                    </a:lnTo>
                    <a:lnTo>
                      <a:pt x="38" y="18"/>
                    </a:lnTo>
                    <a:lnTo>
                      <a:pt x="40" y="16"/>
                    </a:lnTo>
                    <a:lnTo>
                      <a:pt x="42" y="14"/>
                    </a:lnTo>
                    <a:lnTo>
                      <a:pt x="46" y="14"/>
                    </a:lnTo>
                    <a:lnTo>
                      <a:pt x="46" y="18"/>
                    </a:lnTo>
                    <a:lnTo>
                      <a:pt x="50" y="22"/>
                    </a:lnTo>
                    <a:lnTo>
                      <a:pt x="50" y="32"/>
                    </a:lnTo>
                    <a:lnTo>
                      <a:pt x="54" y="38"/>
                    </a:lnTo>
                    <a:lnTo>
                      <a:pt x="56" y="38"/>
                    </a:lnTo>
                    <a:lnTo>
                      <a:pt x="58" y="44"/>
                    </a:lnTo>
                    <a:lnTo>
                      <a:pt x="58" y="50"/>
                    </a:lnTo>
                    <a:lnTo>
                      <a:pt x="66" y="60"/>
                    </a:lnTo>
                    <a:lnTo>
                      <a:pt x="70" y="60"/>
                    </a:lnTo>
                    <a:lnTo>
                      <a:pt x="70" y="62"/>
                    </a:lnTo>
                    <a:lnTo>
                      <a:pt x="70" y="64"/>
                    </a:lnTo>
                    <a:lnTo>
                      <a:pt x="70" y="66"/>
                    </a:lnTo>
                    <a:lnTo>
                      <a:pt x="76" y="68"/>
                    </a:lnTo>
                    <a:lnTo>
                      <a:pt x="78" y="74"/>
                    </a:lnTo>
                    <a:lnTo>
                      <a:pt x="80" y="78"/>
                    </a:lnTo>
                    <a:lnTo>
                      <a:pt x="82" y="80"/>
                    </a:lnTo>
                    <a:lnTo>
                      <a:pt x="86" y="80"/>
                    </a:lnTo>
                    <a:lnTo>
                      <a:pt x="88" y="82"/>
                    </a:lnTo>
                    <a:lnTo>
                      <a:pt x="88" y="84"/>
                    </a:lnTo>
                    <a:lnTo>
                      <a:pt x="86" y="88"/>
                    </a:lnTo>
                    <a:lnTo>
                      <a:pt x="90" y="90"/>
                    </a:lnTo>
                    <a:lnTo>
                      <a:pt x="94" y="92"/>
                    </a:lnTo>
                    <a:lnTo>
                      <a:pt x="94" y="98"/>
                    </a:lnTo>
                    <a:lnTo>
                      <a:pt x="96" y="98"/>
                    </a:lnTo>
                    <a:lnTo>
                      <a:pt x="98" y="98"/>
                    </a:lnTo>
                    <a:lnTo>
                      <a:pt x="100" y="100"/>
                    </a:lnTo>
                    <a:lnTo>
                      <a:pt x="102" y="102"/>
                    </a:lnTo>
                    <a:lnTo>
                      <a:pt x="104" y="102"/>
                    </a:lnTo>
                    <a:lnTo>
                      <a:pt x="102" y="106"/>
                    </a:lnTo>
                    <a:lnTo>
                      <a:pt x="98" y="108"/>
                    </a:lnTo>
                    <a:lnTo>
                      <a:pt x="98" y="114"/>
                    </a:lnTo>
                    <a:lnTo>
                      <a:pt x="104" y="116"/>
                    </a:lnTo>
                    <a:lnTo>
                      <a:pt x="104" y="118"/>
                    </a:lnTo>
                    <a:lnTo>
                      <a:pt x="108" y="120"/>
                    </a:lnTo>
                    <a:lnTo>
                      <a:pt x="110" y="122"/>
                    </a:lnTo>
                    <a:lnTo>
                      <a:pt x="118" y="132"/>
                    </a:lnTo>
                    <a:lnTo>
                      <a:pt x="120" y="136"/>
                    </a:lnTo>
                    <a:lnTo>
                      <a:pt x="122" y="138"/>
                    </a:lnTo>
                    <a:lnTo>
                      <a:pt x="124" y="140"/>
                    </a:lnTo>
                    <a:lnTo>
                      <a:pt x="128" y="144"/>
                    </a:lnTo>
                    <a:lnTo>
                      <a:pt x="128" y="148"/>
                    </a:lnTo>
                    <a:lnTo>
                      <a:pt x="136" y="154"/>
                    </a:lnTo>
                    <a:lnTo>
                      <a:pt x="136" y="156"/>
                    </a:lnTo>
                    <a:lnTo>
                      <a:pt x="138" y="158"/>
                    </a:lnTo>
                    <a:lnTo>
                      <a:pt x="140" y="166"/>
                    </a:lnTo>
                    <a:lnTo>
                      <a:pt x="144" y="172"/>
                    </a:lnTo>
                    <a:lnTo>
                      <a:pt x="148" y="176"/>
                    </a:lnTo>
                    <a:lnTo>
                      <a:pt x="150" y="178"/>
                    </a:lnTo>
                    <a:lnTo>
                      <a:pt x="150" y="186"/>
                    </a:lnTo>
                    <a:lnTo>
                      <a:pt x="152" y="188"/>
                    </a:lnTo>
                    <a:lnTo>
                      <a:pt x="154" y="192"/>
                    </a:lnTo>
                    <a:lnTo>
                      <a:pt x="154" y="196"/>
                    </a:lnTo>
                    <a:lnTo>
                      <a:pt x="150" y="202"/>
                    </a:lnTo>
                    <a:lnTo>
                      <a:pt x="148" y="204"/>
                    </a:lnTo>
                    <a:lnTo>
                      <a:pt x="150" y="204"/>
                    </a:lnTo>
                    <a:lnTo>
                      <a:pt x="152" y="206"/>
                    </a:lnTo>
                    <a:lnTo>
                      <a:pt x="150" y="208"/>
                    </a:lnTo>
                    <a:lnTo>
                      <a:pt x="148" y="210"/>
                    </a:lnTo>
                    <a:lnTo>
                      <a:pt x="148" y="212"/>
                    </a:lnTo>
                    <a:lnTo>
                      <a:pt x="152" y="220"/>
                    </a:lnTo>
                    <a:lnTo>
                      <a:pt x="154" y="220"/>
                    </a:lnTo>
                    <a:lnTo>
                      <a:pt x="154" y="224"/>
                    </a:lnTo>
                    <a:lnTo>
                      <a:pt x="160" y="232"/>
                    </a:lnTo>
                    <a:lnTo>
                      <a:pt x="166" y="232"/>
                    </a:lnTo>
                    <a:lnTo>
                      <a:pt x="166" y="232"/>
                    </a:lnTo>
                    <a:lnTo>
                      <a:pt x="168" y="234"/>
                    </a:lnTo>
                    <a:lnTo>
                      <a:pt x="170" y="236"/>
                    </a:lnTo>
                    <a:lnTo>
                      <a:pt x="174" y="238"/>
                    </a:lnTo>
                    <a:lnTo>
                      <a:pt x="178" y="244"/>
                    </a:lnTo>
                    <a:lnTo>
                      <a:pt x="182" y="250"/>
                    </a:lnTo>
                    <a:lnTo>
                      <a:pt x="186" y="252"/>
                    </a:lnTo>
                    <a:lnTo>
                      <a:pt x="188" y="252"/>
                    </a:lnTo>
                    <a:lnTo>
                      <a:pt x="192" y="252"/>
                    </a:lnTo>
                    <a:lnTo>
                      <a:pt x="196" y="252"/>
                    </a:lnTo>
                    <a:lnTo>
                      <a:pt x="198" y="256"/>
                    </a:lnTo>
                    <a:lnTo>
                      <a:pt x="202" y="258"/>
                    </a:lnTo>
                    <a:lnTo>
                      <a:pt x="208" y="262"/>
                    </a:lnTo>
                    <a:lnTo>
                      <a:pt x="214" y="264"/>
                    </a:lnTo>
                    <a:lnTo>
                      <a:pt x="216" y="268"/>
                    </a:lnTo>
                    <a:lnTo>
                      <a:pt x="224" y="270"/>
                    </a:lnTo>
                    <a:lnTo>
                      <a:pt x="228" y="270"/>
                    </a:lnTo>
                    <a:lnTo>
                      <a:pt x="230" y="272"/>
                    </a:lnTo>
                    <a:lnTo>
                      <a:pt x="234" y="272"/>
                    </a:lnTo>
                    <a:lnTo>
                      <a:pt x="236" y="272"/>
                    </a:lnTo>
                    <a:lnTo>
                      <a:pt x="238" y="274"/>
                    </a:lnTo>
                    <a:lnTo>
                      <a:pt x="242" y="274"/>
                    </a:lnTo>
                    <a:lnTo>
                      <a:pt x="246" y="278"/>
                    </a:lnTo>
                    <a:lnTo>
                      <a:pt x="246" y="282"/>
                    </a:lnTo>
                    <a:lnTo>
                      <a:pt x="248" y="280"/>
                    </a:lnTo>
                    <a:lnTo>
                      <a:pt x="250" y="280"/>
                    </a:lnTo>
                    <a:lnTo>
                      <a:pt x="252" y="280"/>
                    </a:lnTo>
                    <a:lnTo>
                      <a:pt x="254" y="282"/>
                    </a:lnTo>
                    <a:lnTo>
                      <a:pt x="258" y="282"/>
                    </a:lnTo>
                    <a:lnTo>
                      <a:pt x="262" y="282"/>
                    </a:lnTo>
                    <a:lnTo>
                      <a:pt x="262" y="284"/>
                    </a:lnTo>
                    <a:lnTo>
                      <a:pt x="266" y="286"/>
                    </a:lnTo>
                    <a:lnTo>
                      <a:pt x="270" y="286"/>
                    </a:lnTo>
                    <a:lnTo>
                      <a:pt x="272" y="284"/>
                    </a:lnTo>
                    <a:lnTo>
                      <a:pt x="276" y="282"/>
                    </a:lnTo>
                    <a:lnTo>
                      <a:pt x="282" y="280"/>
                    </a:lnTo>
                    <a:lnTo>
                      <a:pt x="284" y="282"/>
                    </a:lnTo>
                    <a:lnTo>
                      <a:pt x="288" y="278"/>
                    </a:lnTo>
                    <a:lnTo>
                      <a:pt x="290" y="278"/>
                    </a:lnTo>
                    <a:lnTo>
                      <a:pt x="292" y="280"/>
                    </a:lnTo>
                    <a:lnTo>
                      <a:pt x="298" y="280"/>
                    </a:lnTo>
                    <a:lnTo>
                      <a:pt x="304" y="282"/>
                    </a:lnTo>
                    <a:lnTo>
                      <a:pt x="308" y="286"/>
                    </a:lnTo>
                    <a:lnTo>
                      <a:pt x="312" y="286"/>
                    </a:lnTo>
                    <a:lnTo>
                      <a:pt x="316" y="290"/>
                    </a:lnTo>
                    <a:lnTo>
                      <a:pt x="318" y="294"/>
                    </a:lnTo>
                    <a:lnTo>
                      <a:pt x="318" y="296"/>
                    </a:lnTo>
                    <a:lnTo>
                      <a:pt x="320" y="292"/>
                    </a:lnTo>
                    <a:lnTo>
                      <a:pt x="320" y="292"/>
                    </a:lnTo>
                    <a:lnTo>
                      <a:pt x="320" y="290"/>
                    </a:lnTo>
                    <a:lnTo>
                      <a:pt x="320" y="286"/>
                    </a:lnTo>
                    <a:lnTo>
                      <a:pt x="322" y="282"/>
                    </a:lnTo>
                    <a:lnTo>
                      <a:pt x="328" y="276"/>
                    </a:lnTo>
                    <a:lnTo>
                      <a:pt x="344" y="278"/>
                    </a:lnTo>
                    <a:lnTo>
                      <a:pt x="344" y="274"/>
                    </a:lnTo>
                    <a:lnTo>
                      <a:pt x="342" y="272"/>
                    </a:lnTo>
                    <a:lnTo>
                      <a:pt x="340" y="268"/>
                    </a:lnTo>
                    <a:lnTo>
                      <a:pt x="336" y="264"/>
                    </a:lnTo>
                    <a:lnTo>
                      <a:pt x="334" y="260"/>
                    </a:lnTo>
                    <a:lnTo>
                      <a:pt x="334" y="256"/>
                    </a:lnTo>
                    <a:lnTo>
                      <a:pt x="338" y="256"/>
                    </a:lnTo>
                    <a:lnTo>
                      <a:pt x="340" y="248"/>
                    </a:lnTo>
                    <a:lnTo>
                      <a:pt x="360" y="248"/>
                    </a:lnTo>
                    <a:lnTo>
                      <a:pt x="366" y="246"/>
                    </a:lnTo>
                    <a:lnTo>
                      <a:pt x="368" y="244"/>
                    </a:lnTo>
                    <a:lnTo>
                      <a:pt x="370" y="242"/>
                    </a:lnTo>
                    <a:lnTo>
                      <a:pt x="372" y="244"/>
                    </a:lnTo>
                    <a:lnTo>
                      <a:pt x="376" y="236"/>
                    </a:lnTo>
                    <a:lnTo>
                      <a:pt x="376" y="240"/>
                    </a:lnTo>
                    <a:lnTo>
                      <a:pt x="376" y="242"/>
                    </a:lnTo>
                    <a:lnTo>
                      <a:pt x="382" y="246"/>
                    </a:lnTo>
                    <a:lnTo>
                      <a:pt x="382" y="234"/>
                    </a:lnTo>
                    <a:lnTo>
                      <a:pt x="384" y="222"/>
                    </a:lnTo>
                    <a:lnTo>
                      <a:pt x="386" y="222"/>
                    </a:lnTo>
                    <a:lnTo>
                      <a:pt x="386" y="220"/>
                    </a:lnTo>
                    <a:lnTo>
                      <a:pt x="384" y="216"/>
                    </a:lnTo>
                    <a:lnTo>
                      <a:pt x="386" y="210"/>
                    </a:lnTo>
                    <a:lnTo>
                      <a:pt x="390" y="202"/>
                    </a:lnTo>
                    <a:lnTo>
                      <a:pt x="392" y="194"/>
                    </a:lnTo>
                    <a:lnTo>
                      <a:pt x="390" y="190"/>
                    </a:lnTo>
                    <a:lnTo>
                      <a:pt x="388" y="188"/>
                    </a:lnTo>
                    <a:lnTo>
                      <a:pt x="386" y="188"/>
                    </a:lnTo>
                    <a:lnTo>
                      <a:pt x="384" y="186"/>
                    </a:lnTo>
                    <a:lnTo>
                      <a:pt x="376" y="186"/>
                    </a:lnTo>
                    <a:lnTo>
                      <a:pt x="372" y="188"/>
                    </a:lnTo>
                    <a:lnTo>
                      <a:pt x="368" y="192"/>
                    </a:lnTo>
                    <a:lnTo>
                      <a:pt x="362" y="194"/>
                    </a:lnTo>
                    <a:lnTo>
                      <a:pt x="358" y="196"/>
                    </a:lnTo>
                    <a:lnTo>
                      <a:pt x="352" y="198"/>
                    </a:lnTo>
                    <a:lnTo>
                      <a:pt x="350" y="200"/>
                    </a:lnTo>
                    <a:lnTo>
                      <a:pt x="348" y="210"/>
                    </a:lnTo>
                    <a:lnTo>
                      <a:pt x="348" y="220"/>
                    </a:lnTo>
                    <a:lnTo>
                      <a:pt x="344" y="224"/>
                    </a:lnTo>
                    <a:lnTo>
                      <a:pt x="344" y="228"/>
                    </a:lnTo>
                    <a:lnTo>
                      <a:pt x="344" y="232"/>
                    </a:lnTo>
                    <a:lnTo>
                      <a:pt x="342" y="232"/>
                    </a:lnTo>
                    <a:lnTo>
                      <a:pt x="338" y="234"/>
                    </a:lnTo>
                    <a:lnTo>
                      <a:pt x="334" y="240"/>
                    </a:lnTo>
                    <a:lnTo>
                      <a:pt x="330" y="240"/>
                    </a:lnTo>
                    <a:lnTo>
                      <a:pt x="328" y="240"/>
                    </a:lnTo>
                    <a:lnTo>
                      <a:pt x="326" y="236"/>
                    </a:lnTo>
                    <a:lnTo>
                      <a:pt x="320" y="238"/>
                    </a:lnTo>
                    <a:lnTo>
                      <a:pt x="314" y="242"/>
                    </a:lnTo>
                    <a:lnTo>
                      <a:pt x="312" y="244"/>
                    </a:lnTo>
                    <a:lnTo>
                      <a:pt x="304" y="244"/>
                    </a:lnTo>
                    <a:lnTo>
                      <a:pt x="304" y="248"/>
                    </a:lnTo>
                    <a:lnTo>
                      <a:pt x="292" y="248"/>
                    </a:lnTo>
                    <a:lnTo>
                      <a:pt x="288" y="242"/>
                    </a:lnTo>
                    <a:lnTo>
                      <a:pt x="286" y="238"/>
                    </a:lnTo>
                    <a:lnTo>
                      <a:pt x="284" y="238"/>
                    </a:lnTo>
                    <a:lnTo>
                      <a:pt x="276" y="238"/>
                    </a:lnTo>
                    <a:lnTo>
                      <a:pt x="276" y="234"/>
                    </a:lnTo>
                    <a:lnTo>
                      <a:pt x="274" y="230"/>
                    </a:lnTo>
                    <a:lnTo>
                      <a:pt x="270" y="226"/>
                    </a:lnTo>
                    <a:lnTo>
                      <a:pt x="270" y="220"/>
                    </a:lnTo>
                    <a:lnTo>
                      <a:pt x="266" y="220"/>
                    </a:lnTo>
                    <a:lnTo>
                      <a:pt x="264" y="216"/>
                    </a:lnTo>
                    <a:lnTo>
                      <a:pt x="262" y="212"/>
                    </a:lnTo>
                    <a:lnTo>
                      <a:pt x="258" y="210"/>
                    </a:lnTo>
                    <a:lnTo>
                      <a:pt x="256" y="206"/>
                    </a:lnTo>
                    <a:lnTo>
                      <a:pt x="256" y="202"/>
                    </a:lnTo>
                    <a:lnTo>
                      <a:pt x="252" y="198"/>
                    </a:lnTo>
                    <a:lnTo>
                      <a:pt x="252" y="192"/>
                    </a:lnTo>
                    <a:lnTo>
                      <a:pt x="248" y="194"/>
                    </a:lnTo>
                    <a:lnTo>
                      <a:pt x="250" y="186"/>
                    </a:lnTo>
                    <a:lnTo>
                      <a:pt x="250" y="178"/>
                    </a:lnTo>
                    <a:lnTo>
                      <a:pt x="252" y="176"/>
                    </a:lnTo>
                    <a:lnTo>
                      <a:pt x="252" y="170"/>
                    </a:lnTo>
                    <a:lnTo>
                      <a:pt x="250" y="166"/>
                    </a:lnTo>
                    <a:lnTo>
                      <a:pt x="250" y="162"/>
                    </a:lnTo>
                    <a:lnTo>
                      <a:pt x="250" y="160"/>
                    </a:lnTo>
                    <a:lnTo>
                      <a:pt x="248" y="158"/>
                    </a:lnTo>
                    <a:lnTo>
                      <a:pt x="248" y="152"/>
                    </a:lnTo>
                    <a:lnTo>
                      <a:pt x="250" y="146"/>
                    </a:lnTo>
                    <a:lnTo>
                      <a:pt x="248" y="142"/>
                    </a:lnTo>
                    <a:lnTo>
                      <a:pt x="248" y="138"/>
                    </a:lnTo>
                    <a:lnTo>
                      <a:pt x="248" y="136"/>
                    </a:lnTo>
                    <a:lnTo>
                      <a:pt x="248" y="134"/>
                    </a:lnTo>
                    <a:lnTo>
                      <a:pt x="250" y="132"/>
                    </a:lnTo>
                    <a:lnTo>
                      <a:pt x="252" y="130"/>
                    </a:lnTo>
                    <a:lnTo>
                      <a:pt x="252" y="126"/>
                    </a:lnTo>
                    <a:lnTo>
                      <a:pt x="256" y="126"/>
                    </a:lnTo>
                    <a:lnTo>
                      <a:pt x="258" y="124"/>
                    </a:lnTo>
                    <a:lnTo>
                      <a:pt x="258" y="120"/>
                    </a:lnTo>
                    <a:lnTo>
                      <a:pt x="260" y="118"/>
                    </a:lnTo>
                    <a:lnTo>
                      <a:pt x="258" y="118"/>
                    </a:lnTo>
                    <a:lnTo>
                      <a:pt x="252" y="118"/>
                    </a:lnTo>
                    <a:lnTo>
                      <a:pt x="248" y="116"/>
                    </a:lnTo>
                    <a:lnTo>
                      <a:pt x="242" y="114"/>
                    </a:lnTo>
                    <a:lnTo>
                      <a:pt x="238" y="112"/>
                    </a:lnTo>
                    <a:lnTo>
                      <a:pt x="232" y="110"/>
                    </a:lnTo>
                    <a:lnTo>
                      <a:pt x="232" y="104"/>
                    </a:lnTo>
                    <a:lnTo>
                      <a:pt x="230" y="94"/>
                    </a:lnTo>
                    <a:lnTo>
                      <a:pt x="226" y="90"/>
                    </a:lnTo>
                    <a:lnTo>
                      <a:pt x="224" y="86"/>
                    </a:lnTo>
                    <a:lnTo>
                      <a:pt x="222" y="82"/>
                    </a:lnTo>
                    <a:lnTo>
                      <a:pt x="218" y="74"/>
                    </a:lnTo>
                    <a:lnTo>
                      <a:pt x="216" y="68"/>
                    </a:lnTo>
                    <a:lnTo>
                      <a:pt x="214" y="66"/>
                    </a:lnTo>
                    <a:lnTo>
                      <a:pt x="212" y="62"/>
                    </a:lnTo>
                    <a:lnTo>
                      <a:pt x="208" y="58"/>
                    </a:lnTo>
                    <a:lnTo>
                      <a:pt x="204" y="54"/>
                    </a:lnTo>
                    <a:lnTo>
                      <a:pt x="200" y="52"/>
                    </a:lnTo>
                    <a:lnTo>
                      <a:pt x="196" y="52"/>
                    </a:lnTo>
                    <a:lnTo>
                      <a:pt x="190" y="54"/>
                    </a:lnTo>
                    <a:lnTo>
                      <a:pt x="186" y="60"/>
                    </a:lnTo>
                    <a:lnTo>
                      <a:pt x="182" y="62"/>
                    </a:lnTo>
                    <a:lnTo>
                      <a:pt x="178" y="62"/>
                    </a:lnTo>
                    <a:lnTo>
                      <a:pt x="174" y="62"/>
                    </a:lnTo>
                    <a:lnTo>
                      <a:pt x="170" y="60"/>
                    </a:lnTo>
                    <a:lnTo>
                      <a:pt x="166" y="54"/>
                    </a:lnTo>
                    <a:lnTo>
                      <a:pt x="162" y="50"/>
                    </a:lnTo>
                    <a:lnTo>
                      <a:pt x="162" y="46"/>
                    </a:lnTo>
                    <a:lnTo>
                      <a:pt x="160" y="40"/>
                    </a:lnTo>
                    <a:lnTo>
                      <a:pt x="156" y="34"/>
                    </a:lnTo>
                    <a:lnTo>
                      <a:pt x="152" y="30"/>
                    </a:lnTo>
                    <a:lnTo>
                      <a:pt x="150" y="28"/>
                    </a:lnTo>
                    <a:lnTo>
                      <a:pt x="146" y="24"/>
                    </a:lnTo>
                    <a:lnTo>
                      <a:pt x="140" y="16"/>
                    </a:lnTo>
                    <a:lnTo>
                      <a:pt x="112" y="16"/>
                    </a:lnTo>
                    <a:lnTo>
                      <a:pt x="112" y="24"/>
                    </a:lnTo>
                    <a:lnTo>
                      <a:pt x="70" y="22"/>
                    </a:lnTo>
                    <a:lnTo>
                      <a:pt x="36" y="6"/>
                    </a:lnTo>
                    <a:lnTo>
                      <a:pt x="36" y="0"/>
                    </a:lnTo>
                    <a:lnTo>
                      <a:pt x="0" y="4"/>
                    </a:lnTo>
                    <a:lnTo>
                      <a:pt x="0" y="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15" name="Freeform 288">
                <a:extLst>
                  <a:ext uri="{FF2B5EF4-FFF2-40B4-BE49-F238E27FC236}">
                    <a16:creationId xmlns:a16="http://schemas.microsoft.com/office/drawing/2014/main" id="{AE000ACC-2E5E-FF25-8FB9-8ED4D617BBA8}"/>
                  </a:ext>
                </a:extLst>
              </p:cNvPr>
              <p:cNvSpPr>
                <a:spLocks/>
              </p:cNvSpPr>
              <p:nvPr/>
            </p:nvSpPr>
            <p:spPr bwMode="auto">
              <a:xfrm>
                <a:off x="4621048" y="3841076"/>
                <a:ext cx="155576" cy="188294"/>
              </a:xfrm>
              <a:custGeom>
                <a:avLst/>
                <a:gdLst/>
                <a:ahLst/>
                <a:cxnLst>
                  <a:cxn ang="0">
                    <a:pos x="12" y="170"/>
                  </a:cxn>
                  <a:cxn ang="0">
                    <a:pos x="16" y="168"/>
                  </a:cxn>
                  <a:cxn ang="0">
                    <a:pos x="18" y="164"/>
                  </a:cxn>
                  <a:cxn ang="0">
                    <a:pos x="22" y="166"/>
                  </a:cxn>
                  <a:cxn ang="0">
                    <a:pos x="36" y="166"/>
                  </a:cxn>
                  <a:cxn ang="0">
                    <a:pos x="42" y="172"/>
                  </a:cxn>
                  <a:cxn ang="0">
                    <a:pos x="44" y="180"/>
                  </a:cxn>
                  <a:cxn ang="0">
                    <a:pos x="50" y="180"/>
                  </a:cxn>
                  <a:cxn ang="0">
                    <a:pos x="52" y="184"/>
                  </a:cxn>
                  <a:cxn ang="0">
                    <a:pos x="54" y="190"/>
                  </a:cxn>
                  <a:cxn ang="0">
                    <a:pos x="60" y="190"/>
                  </a:cxn>
                  <a:cxn ang="0">
                    <a:pos x="66" y="196"/>
                  </a:cxn>
                  <a:cxn ang="0">
                    <a:pos x="70" y="192"/>
                  </a:cxn>
                  <a:cxn ang="0">
                    <a:pos x="70" y="188"/>
                  </a:cxn>
                  <a:cxn ang="0">
                    <a:pos x="72" y="182"/>
                  </a:cxn>
                  <a:cxn ang="0">
                    <a:pos x="88" y="184"/>
                  </a:cxn>
                  <a:cxn ang="0">
                    <a:pos x="90" y="184"/>
                  </a:cxn>
                  <a:cxn ang="0">
                    <a:pos x="92" y="182"/>
                  </a:cxn>
                  <a:cxn ang="0">
                    <a:pos x="92" y="176"/>
                  </a:cxn>
                  <a:cxn ang="0">
                    <a:pos x="98" y="178"/>
                  </a:cxn>
                  <a:cxn ang="0">
                    <a:pos x="150" y="170"/>
                  </a:cxn>
                  <a:cxn ang="0">
                    <a:pos x="148" y="166"/>
                  </a:cxn>
                  <a:cxn ang="0">
                    <a:pos x="138" y="32"/>
                  </a:cxn>
                  <a:cxn ang="0">
                    <a:pos x="116" y="0"/>
                  </a:cxn>
                  <a:cxn ang="0">
                    <a:pos x="68" y="22"/>
                  </a:cxn>
                  <a:cxn ang="0">
                    <a:pos x="60" y="60"/>
                  </a:cxn>
                  <a:cxn ang="0">
                    <a:pos x="52" y="64"/>
                  </a:cxn>
                  <a:cxn ang="0">
                    <a:pos x="52" y="92"/>
                  </a:cxn>
                  <a:cxn ang="0">
                    <a:pos x="0" y="98"/>
                  </a:cxn>
                  <a:cxn ang="0">
                    <a:pos x="6" y="108"/>
                  </a:cxn>
                  <a:cxn ang="0">
                    <a:pos x="8" y="112"/>
                  </a:cxn>
                  <a:cxn ang="0">
                    <a:pos x="6" y="116"/>
                  </a:cxn>
                  <a:cxn ang="0">
                    <a:pos x="8" y="124"/>
                  </a:cxn>
                  <a:cxn ang="0">
                    <a:pos x="6" y="130"/>
                  </a:cxn>
                  <a:cxn ang="0">
                    <a:pos x="10" y="136"/>
                  </a:cxn>
                  <a:cxn ang="0">
                    <a:pos x="10" y="148"/>
                  </a:cxn>
                  <a:cxn ang="0">
                    <a:pos x="12" y="152"/>
                  </a:cxn>
                  <a:cxn ang="0">
                    <a:pos x="10" y="156"/>
                  </a:cxn>
                  <a:cxn ang="0">
                    <a:pos x="8" y="172"/>
                  </a:cxn>
                </a:cxnLst>
                <a:rect l="0" t="0" r="r" b="b"/>
                <a:pathLst>
                  <a:path w="160" h="196">
                    <a:moveTo>
                      <a:pt x="8" y="172"/>
                    </a:moveTo>
                    <a:lnTo>
                      <a:pt x="12" y="170"/>
                    </a:lnTo>
                    <a:lnTo>
                      <a:pt x="14" y="168"/>
                    </a:lnTo>
                    <a:lnTo>
                      <a:pt x="16" y="168"/>
                    </a:lnTo>
                    <a:lnTo>
                      <a:pt x="18" y="166"/>
                    </a:lnTo>
                    <a:lnTo>
                      <a:pt x="18" y="164"/>
                    </a:lnTo>
                    <a:lnTo>
                      <a:pt x="20" y="164"/>
                    </a:lnTo>
                    <a:lnTo>
                      <a:pt x="22" y="166"/>
                    </a:lnTo>
                    <a:lnTo>
                      <a:pt x="32" y="166"/>
                    </a:lnTo>
                    <a:lnTo>
                      <a:pt x="36" y="166"/>
                    </a:lnTo>
                    <a:lnTo>
                      <a:pt x="40" y="170"/>
                    </a:lnTo>
                    <a:lnTo>
                      <a:pt x="42" y="172"/>
                    </a:lnTo>
                    <a:lnTo>
                      <a:pt x="44" y="178"/>
                    </a:lnTo>
                    <a:lnTo>
                      <a:pt x="44" y="180"/>
                    </a:lnTo>
                    <a:lnTo>
                      <a:pt x="46" y="180"/>
                    </a:lnTo>
                    <a:lnTo>
                      <a:pt x="50" y="180"/>
                    </a:lnTo>
                    <a:lnTo>
                      <a:pt x="52" y="182"/>
                    </a:lnTo>
                    <a:lnTo>
                      <a:pt x="52" y="184"/>
                    </a:lnTo>
                    <a:lnTo>
                      <a:pt x="52" y="188"/>
                    </a:lnTo>
                    <a:lnTo>
                      <a:pt x="54" y="190"/>
                    </a:lnTo>
                    <a:lnTo>
                      <a:pt x="56" y="190"/>
                    </a:lnTo>
                    <a:lnTo>
                      <a:pt x="60" y="190"/>
                    </a:lnTo>
                    <a:lnTo>
                      <a:pt x="64" y="196"/>
                    </a:lnTo>
                    <a:lnTo>
                      <a:pt x="66" y="196"/>
                    </a:lnTo>
                    <a:lnTo>
                      <a:pt x="68" y="194"/>
                    </a:lnTo>
                    <a:lnTo>
                      <a:pt x="70" y="192"/>
                    </a:lnTo>
                    <a:lnTo>
                      <a:pt x="70" y="190"/>
                    </a:lnTo>
                    <a:lnTo>
                      <a:pt x="70" y="188"/>
                    </a:lnTo>
                    <a:lnTo>
                      <a:pt x="72" y="184"/>
                    </a:lnTo>
                    <a:lnTo>
                      <a:pt x="72" y="182"/>
                    </a:lnTo>
                    <a:lnTo>
                      <a:pt x="82" y="184"/>
                    </a:lnTo>
                    <a:lnTo>
                      <a:pt x="88" y="184"/>
                    </a:lnTo>
                    <a:lnTo>
                      <a:pt x="88" y="184"/>
                    </a:lnTo>
                    <a:lnTo>
                      <a:pt x="90" y="184"/>
                    </a:lnTo>
                    <a:lnTo>
                      <a:pt x="92" y="184"/>
                    </a:lnTo>
                    <a:lnTo>
                      <a:pt x="92" y="182"/>
                    </a:lnTo>
                    <a:lnTo>
                      <a:pt x="90" y="178"/>
                    </a:lnTo>
                    <a:lnTo>
                      <a:pt x="92" y="176"/>
                    </a:lnTo>
                    <a:lnTo>
                      <a:pt x="96" y="176"/>
                    </a:lnTo>
                    <a:lnTo>
                      <a:pt x="98" y="178"/>
                    </a:lnTo>
                    <a:lnTo>
                      <a:pt x="146" y="178"/>
                    </a:lnTo>
                    <a:lnTo>
                      <a:pt x="150" y="170"/>
                    </a:lnTo>
                    <a:lnTo>
                      <a:pt x="150" y="166"/>
                    </a:lnTo>
                    <a:lnTo>
                      <a:pt x="148" y="166"/>
                    </a:lnTo>
                    <a:lnTo>
                      <a:pt x="146" y="164"/>
                    </a:lnTo>
                    <a:lnTo>
                      <a:pt x="138" y="32"/>
                    </a:lnTo>
                    <a:lnTo>
                      <a:pt x="160" y="32"/>
                    </a:lnTo>
                    <a:lnTo>
                      <a:pt x="116" y="0"/>
                    </a:lnTo>
                    <a:lnTo>
                      <a:pt x="116" y="22"/>
                    </a:lnTo>
                    <a:lnTo>
                      <a:pt x="68" y="22"/>
                    </a:lnTo>
                    <a:lnTo>
                      <a:pt x="68" y="58"/>
                    </a:lnTo>
                    <a:lnTo>
                      <a:pt x="60" y="60"/>
                    </a:lnTo>
                    <a:lnTo>
                      <a:pt x="54" y="62"/>
                    </a:lnTo>
                    <a:lnTo>
                      <a:pt x="52" y="64"/>
                    </a:lnTo>
                    <a:lnTo>
                      <a:pt x="52" y="68"/>
                    </a:lnTo>
                    <a:lnTo>
                      <a:pt x="52" y="92"/>
                    </a:lnTo>
                    <a:lnTo>
                      <a:pt x="4" y="94"/>
                    </a:lnTo>
                    <a:lnTo>
                      <a:pt x="0" y="98"/>
                    </a:lnTo>
                    <a:lnTo>
                      <a:pt x="4" y="104"/>
                    </a:lnTo>
                    <a:lnTo>
                      <a:pt x="6" y="108"/>
                    </a:lnTo>
                    <a:lnTo>
                      <a:pt x="8" y="110"/>
                    </a:lnTo>
                    <a:lnTo>
                      <a:pt x="8" y="112"/>
                    </a:lnTo>
                    <a:lnTo>
                      <a:pt x="8" y="114"/>
                    </a:lnTo>
                    <a:lnTo>
                      <a:pt x="6" y="116"/>
                    </a:lnTo>
                    <a:lnTo>
                      <a:pt x="8" y="118"/>
                    </a:lnTo>
                    <a:lnTo>
                      <a:pt x="8" y="124"/>
                    </a:lnTo>
                    <a:lnTo>
                      <a:pt x="6" y="126"/>
                    </a:lnTo>
                    <a:lnTo>
                      <a:pt x="6" y="130"/>
                    </a:lnTo>
                    <a:lnTo>
                      <a:pt x="8" y="134"/>
                    </a:lnTo>
                    <a:lnTo>
                      <a:pt x="10" y="136"/>
                    </a:lnTo>
                    <a:lnTo>
                      <a:pt x="10" y="142"/>
                    </a:lnTo>
                    <a:lnTo>
                      <a:pt x="10" y="148"/>
                    </a:lnTo>
                    <a:lnTo>
                      <a:pt x="12" y="150"/>
                    </a:lnTo>
                    <a:lnTo>
                      <a:pt x="12" y="152"/>
                    </a:lnTo>
                    <a:lnTo>
                      <a:pt x="10" y="152"/>
                    </a:lnTo>
                    <a:lnTo>
                      <a:pt x="10" y="156"/>
                    </a:lnTo>
                    <a:lnTo>
                      <a:pt x="10" y="164"/>
                    </a:lnTo>
                    <a:lnTo>
                      <a:pt x="8" y="172"/>
                    </a:lnTo>
                    <a:lnTo>
                      <a:pt x="8" y="17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16" name="Freeform 289">
                <a:extLst>
                  <a:ext uri="{FF2B5EF4-FFF2-40B4-BE49-F238E27FC236}">
                    <a16:creationId xmlns:a16="http://schemas.microsoft.com/office/drawing/2014/main" id="{8CFE70B0-B862-F2F6-2C3D-0E76AA08E5F3}"/>
                  </a:ext>
                </a:extLst>
              </p:cNvPr>
              <p:cNvSpPr>
                <a:spLocks/>
              </p:cNvSpPr>
              <p:nvPr/>
            </p:nvSpPr>
            <p:spPr bwMode="auto">
              <a:xfrm>
                <a:off x="4681333" y="3871818"/>
                <a:ext cx="206137" cy="242093"/>
              </a:xfrm>
              <a:custGeom>
                <a:avLst/>
                <a:gdLst/>
                <a:ahLst/>
                <a:cxnLst>
                  <a:cxn ang="0">
                    <a:pos x="86" y="228"/>
                  </a:cxn>
                  <a:cxn ang="0">
                    <a:pos x="88" y="220"/>
                  </a:cxn>
                  <a:cxn ang="0">
                    <a:pos x="88" y="210"/>
                  </a:cxn>
                  <a:cxn ang="0">
                    <a:pos x="94" y="202"/>
                  </a:cxn>
                  <a:cxn ang="0">
                    <a:pos x="102" y="190"/>
                  </a:cxn>
                  <a:cxn ang="0">
                    <a:pos x="116" y="184"/>
                  </a:cxn>
                  <a:cxn ang="0">
                    <a:pos x="122" y="174"/>
                  </a:cxn>
                  <a:cxn ang="0">
                    <a:pos x="132" y="166"/>
                  </a:cxn>
                  <a:cxn ang="0">
                    <a:pos x="138" y="156"/>
                  </a:cxn>
                  <a:cxn ang="0">
                    <a:pos x="144" y="148"/>
                  </a:cxn>
                  <a:cxn ang="0">
                    <a:pos x="150" y="150"/>
                  </a:cxn>
                  <a:cxn ang="0">
                    <a:pos x="156" y="154"/>
                  </a:cxn>
                  <a:cxn ang="0">
                    <a:pos x="164" y="152"/>
                  </a:cxn>
                  <a:cxn ang="0">
                    <a:pos x="182" y="148"/>
                  </a:cxn>
                  <a:cxn ang="0">
                    <a:pos x="206" y="142"/>
                  </a:cxn>
                  <a:cxn ang="0">
                    <a:pos x="212" y="130"/>
                  </a:cxn>
                  <a:cxn ang="0">
                    <a:pos x="200" y="94"/>
                  </a:cxn>
                  <a:cxn ang="0">
                    <a:pos x="198" y="86"/>
                  </a:cxn>
                  <a:cxn ang="0">
                    <a:pos x="198" y="76"/>
                  </a:cxn>
                  <a:cxn ang="0">
                    <a:pos x="184" y="68"/>
                  </a:cxn>
                  <a:cxn ang="0">
                    <a:pos x="98" y="0"/>
                  </a:cxn>
                  <a:cxn ang="0">
                    <a:pos x="86" y="134"/>
                  </a:cxn>
                  <a:cxn ang="0">
                    <a:pos x="84" y="144"/>
                  </a:cxn>
                  <a:cxn ang="0">
                    <a:pos x="30" y="142"/>
                  </a:cxn>
                  <a:cxn ang="0">
                    <a:pos x="30" y="150"/>
                  </a:cxn>
                  <a:cxn ang="0">
                    <a:pos x="26" y="150"/>
                  </a:cxn>
                  <a:cxn ang="0">
                    <a:pos x="10" y="150"/>
                  </a:cxn>
                  <a:cxn ang="0">
                    <a:pos x="8" y="160"/>
                  </a:cxn>
                  <a:cxn ang="0">
                    <a:pos x="2" y="164"/>
                  </a:cxn>
                  <a:cxn ang="0">
                    <a:pos x="2" y="172"/>
                  </a:cxn>
                  <a:cxn ang="0">
                    <a:pos x="0" y="184"/>
                  </a:cxn>
                  <a:cxn ang="0">
                    <a:pos x="6" y="192"/>
                  </a:cxn>
                  <a:cxn ang="0">
                    <a:pos x="8" y="208"/>
                  </a:cxn>
                  <a:cxn ang="0">
                    <a:pos x="16" y="206"/>
                  </a:cxn>
                  <a:cxn ang="0">
                    <a:pos x="24" y="206"/>
                  </a:cxn>
                  <a:cxn ang="0">
                    <a:pos x="30" y="206"/>
                  </a:cxn>
                  <a:cxn ang="0">
                    <a:pos x="36" y="208"/>
                  </a:cxn>
                  <a:cxn ang="0">
                    <a:pos x="36" y="220"/>
                  </a:cxn>
                  <a:cxn ang="0">
                    <a:pos x="38" y="226"/>
                  </a:cxn>
                  <a:cxn ang="0">
                    <a:pos x="42" y="232"/>
                  </a:cxn>
                  <a:cxn ang="0">
                    <a:pos x="36" y="238"/>
                  </a:cxn>
                  <a:cxn ang="0">
                    <a:pos x="42" y="238"/>
                  </a:cxn>
                  <a:cxn ang="0">
                    <a:pos x="46" y="242"/>
                  </a:cxn>
                  <a:cxn ang="0">
                    <a:pos x="52" y="248"/>
                  </a:cxn>
                  <a:cxn ang="0">
                    <a:pos x="62" y="250"/>
                  </a:cxn>
                  <a:cxn ang="0">
                    <a:pos x="70" y="248"/>
                  </a:cxn>
                  <a:cxn ang="0">
                    <a:pos x="74" y="240"/>
                  </a:cxn>
                  <a:cxn ang="0">
                    <a:pos x="80" y="244"/>
                  </a:cxn>
                  <a:cxn ang="0">
                    <a:pos x="84" y="238"/>
                  </a:cxn>
                </a:cxnLst>
                <a:rect l="0" t="0" r="r" b="b"/>
                <a:pathLst>
                  <a:path w="212" h="252">
                    <a:moveTo>
                      <a:pt x="86" y="234"/>
                    </a:moveTo>
                    <a:lnTo>
                      <a:pt x="86" y="234"/>
                    </a:lnTo>
                    <a:lnTo>
                      <a:pt x="86" y="228"/>
                    </a:lnTo>
                    <a:lnTo>
                      <a:pt x="86" y="224"/>
                    </a:lnTo>
                    <a:lnTo>
                      <a:pt x="86" y="222"/>
                    </a:lnTo>
                    <a:lnTo>
                      <a:pt x="88" y="220"/>
                    </a:lnTo>
                    <a:lnTo>
                      <a:pt x="88" y="218"/>
                    </a:lnTo>
                    <a:lnTo>
                      <a:pt x="88" y="214"/>
                    </a:lnTo>
                    <a:lnTo>
                      <a:pt x="88" y="210"/>
                    </a:lnTo>
                    <a:lnTo>
                      <a:pt x="88" y="208"/>
                    </a:lnTo>
                    <a:lnTo>
                      <a:pt x="90" y="206"/>
                    </a:lnTo>
                    <a:lnTo>
                      <a:pt x="94" y="202"/>
                    </a:lnTo>
                    <a:lnTo>
                      <a:pt x="96" y="204"/>
                    </a:lnTo>
                    <a:lnTo>
                      <a:pt x="100" y="196"/>
                    </a:lnTo>
                    <a:lnTo>
                      <a:pt x="102" y="190"/>
                    </a:lnTo>
                    <a:lnTo>
                      <a:pt x="104" y="188"/>
                    </a:lnTo>
                    <a:lnTo>
                      <a:pt x="110" y="186"/>
                    </a:lnTo>
                    <a:lnTo>
                      <a:pt x="116" y="184"/>
                    </a:lnTo>
                    <a:lnTo>
                      <a:pt x="118" y="182"/>
                    </a:lnTo>
                    <a:lnTo>
                      <a:pt x="120" y="178"/>
                    </a:lnTo>
                    <a:lnTo>
                      <a:pt x="122" y="174"/>
                    </a:lnTo>
                    <a:lnTo>
                      <a:pt x="126" y="170"/>
                    </a:lnTo>
                    <a:lnTo>
                      <a:pt x="130" y="168"/>
                    </a:lnTo>
                    <a:lnTo>
                      <a:pt x="132" y="166"/>
                    </a:lnTo>
                    <a:lnTo>
                      <a:pt x="134" y="160"/>
                    </a:lnTo>
                    <a:lnTo>
                      <a:pt x="134" y="158"/>
                    </a:lnTo>
                    <a:lnTo>
                      <a:pt x="138" y="156"/>
                    </a:lnTo>
                    <a:lnTo>
                      <a:pt x="142" y="156"/>
                    </a:lnTo>
                    <a:lnTo>
                      <a:pt x="144" y="152"/>
                    </a:lnTo>
                    <a:lnTo>
                      <a:pt x="144" y="148"/>
                    </a:lnTo>
                    <a:lnTo>
                      <a:pt x="146" y="148"/>
                    </a:lnTo>
                    <a:lnTo>
                      <a:pt x="148" y="150"/>
                    </a:lnTo>
                    <a:lnTo>
                      <a:pt x="150" y="150"/>
                    </a:lnTo>
                    <a:lnTo>
                      <a:pt x="152" y="148"/>
                    </a:lnTo>
                    <a:lnTo>
                      <a:pt x="152" y="150"/>
                    </a:lnTo>
                    <a:lnTo>
                      <a:pt x="156" y="154"/>
                    </a:lnTo>
                    <a:lnTo>
                      <a:pt x="158" y="156"/>
                    </a:lnTo>
                    <a:lnTo>
                      <a:pt x="160" y="152"/>
                    </a:lnTo>
                    <a:lnTo>
                      <a:pt x="164" y="152"/>
                    </a:lnTo>
                    <a:lnTo>
                      <a:pt x="168" y="152"/>
                    </a:lnTo>
                    <a:lnTo>
                      <a:pt x="176" y="150"/>
                    </a:lnTo>
                    <a:lnTo>
                      <a:pt x="182" y="148"/>
                    </a:lnTo>
                    <a:lnTo>
                      <a:pt x="194" y="146"/>
                    </a:lnTo>
                    <a:lnTo>
                      <a:pt x="200" y="142"/>
                    </a:lnTo>
                    <a:lnTo>
                      <a:pt x="206" y="142"/>
                    </a:lnTo>
                    <a:lnTo>
                      <a:pt x="208" y="140"/>
                    </a:lnTo>
                    <a:lnTo>
                      <a:pt x="208" y="134"/>
                    </a:lnTo>
                    <a:lnTo>
                      <a:pt x="212" y="130"/>
                    </a:lnTo>
                    <a:lnTo>
                      <a:pt x="210" y="92"/>
                    </a:lnTo>
                    <a:lnTo>
                      <a:pt x="204" y="94"/>
                    </a:lnTo>
                    <a:lnTo>
                      <a:pt x="200" y="94"/>
                    </a:lnTo>
                    <a:lnTo>
                      <a:pt x="200" y="92"/>
                    </a:lnTo>
                    <a:lnTo>
                      <a:pt x="198" y="86"/>
                    </a:lnTo>
                    <a:lnTo>
                      <a:pt x="198" y="86"/>
                    </a:lnTo>
                    <a:lnTo>
                      <a:pt x="198" y="82"/>
                    </a:lnTo>
                    <a:lnTo>
                      <a:pt x="198" y="78"/>
                    </a:lnTo>
                    <a:lnTo>
                      <a:pt x="198" y="76"/>
                    </a:lnTo>
                    <a:lnTo>
                      <a:pt x="194" y="74"/>
                    </a:lnTo>
                    <a:lnTo>
                      <a:pt x="190" y="72"/>
                    </a:lnTo>
                    <a:lnTo>
                      <a:pt x="184" y="68"/>
                    </a:lnTo>
                    <a:lnTo>
                      <a:pt x="180" y="64"/>
                    </a:lnTo>
                    <a:lnTo>
                      <a:pt x="180" y="62"/>
                    </a:lnTo>
                    <a:lnTo>
                      <a:pt x="98" y="0"/>
                    </a:lnTo>
                    <a:lnTo>
                      <a:pt x="76" y="0"/>
                    </a:lnTo>
                    <a:lnTo>
                      <a:pt x="84" y="132"/>
                    </a:lnTo>
                    <a:lnTo>
                      <a:pt x="86" y="134"/>
                    </a:lnTo>
                    <a:lnTo>
                      <a:pt x="86" y="134"/>
                    </a:lnTo>
                    <a:lnTo>
                      <a:pt x="86" y="138"/>
                    </a:lnTo>
                    <a:lnTo>
                      <a:pt x="84" y="144"/>
                    </a:lnTo>
                    <a:lnTo>
                      <a:pt x="36" y="144"/>
                    </a:lnTo>
                    <a:lnTo>
                      <a:pt x="34" y="142"/>
                    </a:lnTo>
                    <a:lnTo>
                      <a:pt x="30" y="142"/>
                    </a:lnTo>
                    <a:lnTo>
                      <a:pt x="30" y="144"/>
                    </a:lnTo>
                    <a:lnTo>
                      <a:pt x="30" y="148"/>
                    </a:lnTo>
                    <a:lnTo>
                      <a:pt x="30" y="150"/>
                    </a:lnTo>
                    <a:lnTo>
                      <a:pt x="30" y="150"/>
                    </a:lnTo>
                    <a:lnTo>
                      <a:pt x="28" y="150"/>
                    </a:lnTo>
                    <a:lnTo>
                      <a:pt x="26" y="150"/>
                    </a:lnTo>
                    <a:lnTo>
                      <a:pt x="20" y="150"/>
                    </a:lnTo>
                    <a:lnTo>
                      <a:pt x="10" y="148"/>
                    </a:lnTo>
                    <a:lnTo>
                      <a:pt x="10" y="150"/>
                    </a:lnTo>
                    <a:lnTo>
                      <a:pt x="8" y="154"/>
                    </a:lnTo>
                    <a:lnTo>
                      <a:pt x="8" y="158"/>
                    </a:lnTo>
                    <a:lnTo>
                      <a:pt x="8" y="160"/>
                    </a:lnTo>
                    <a:lnTo>
                      <a:pt x="6" y="162"/>
                    </a:lnTo>
                    <a:lnTo>
                      <a:pt x="4" y="164"/>
                    </a:lnTo>
                    <a:lnTo>
                      <a:pt x="2" y="164"/>
                    </a:lnTo>
                    <a:lnTo>
                      <a:pt x="0" y="168"/>
                    </a:lnTo>
                    <a:lnTo>
                      <a:pt x="2" y="170"/>
                    </a:lnTo>
                    <a:lnTo>
                      <a:pt x="2" y="172"/>
                    </a:lnTo>
                    <a:lnTo>
                      <a:pt x="2" y="174"/>
                    </a:lnTo>
                    <a:lnTo>
                      <a:pt x="2" y="178"/>
                    </a:lnTo>
                    <a:lnTo>
                      <a:pt x="0" y="184"/>
                    </a:lnTo>
                    <a:lnTo>
                      <a:pt x="0" y="186"/>
                    </a:lnTo>
                    <a:lnTo>
                      <a:pt x="2" y="188"/>
                    </a:lnTo>
                    <a:lnTo>
                      <a:pt x="6" y="192"/>
                    </a:lnTo>
                    <a:lnTo>
                      <a:pt x="6" y="194"/>
                    </a:lnTo>
                    <a:lnTo>
                      <a:pt x="8" y="202"/>
                    </a:lnTo>
                    <a:lnTo>
                      <a:pt x="8" y="208"/>
                    </a:lnTo>
                    <a:lnTo>
                      <a:pt x="12" y="208"/>
                    </a:lnTo>
                    <a:lnTo>
                      <a:pt x="12" y="206"/>
                    </a:lnTo>
                    <a:lnTo>
                      <a:pt x="16" y="206"/>
                    </a:lnTo>
                    <a:lnTo>
                      <a:pt x="20" y="208"/>
                    </a:lnTo>
                    <a:lnTo>
                      <a:pt x="22" y="208"/>
                    </a:lnTo>
                    <a:lnTo>
                      <a:pt x="24" y="206"/>
                    </a:lnTo>
                    <a:lnTo>
                      <a:pt x="26" y="204"/>
                    </a:lnTo>
                    <a:lnTo>
                      <a:pt x="28" y="206"/>
                    </a:lnTo>
                    <a:lnTo>
                      <a:pt x="30" y="206"/>
                    </a:lnTo>
                    <a:lnTo>
                      <a:pt x="30" y="206"/>
                    </a:lnTo>
                    <a:lnTo>
                      <a:pt x="36" y="206"/>
                    </a:lnTo>
                    <a:lnTo>
                      <a:pt x="36" y="208"/>
                    </a:lnTo>
                    <a:lnTo>
                      <a:pt x="38" y="214"/>
                    </a:lnTo>
                    <a:lnTo>
                      <a:pt x="38" y="218"/>
                    </a:lnTo>
                    <a:lnTo>
                      <a:pt x="36" y="220"/>
                    </a:lnTo>
                    <a:lnTo>
                      <a:pt x="36" y="222"/>
                    </a:lnTo>
                    <a:lnTo>
                      <a:pt x="36" y="224"/>
                    </a:lnTo>
                    <a:lnTo>
                      <a:pt x="38" y="226"/>
                    </a:lnTo>
                    <a:lnTo>
                      <a:pt x="40" y="230"/>
                    </a:lnTo>
                    <a:lnTo>
                      <a:pt x="40" y="232"/>
                    </a:lnTo>
                    <a:lnTo>
                      <a:pt x="42" y="232"/>
                    </a:lnTo>
                    <a:lnTo>
                      <a:pt x="46" y="232"/>
                    </a:lnTo>
                    <a:lnTo>
                      <a:pt x="34" y="238"/>
                    </a:lnTo>
                    <a:lnTo>
                      <a:pt x="36" y="238"/>
                    </a:lnTo>
                    <a:lnTo>
                      <a:pt x="38" y="240"/>
                    </a:lnTo>
                    <a:lnTo>
                      <a:pt x="40" y="238"/>
                    </a:lnTo>
                    <a:lnTo>
                      <a:pt x="42" y="238"/>
                    </a:lnTo>
                    <a:lnTo>
                      <a:pt x="42" y="240"/>
                    </a:lnTo>
                    <a:lnTo>
                      <a:pt x="44" y="242"/>
                    </a:lnTo>
                    <a:lnTo>
                      <a:pt x="46" y="242"/>
                    </a:lnTo>
                    <a:lnTo>
                      <a:pt x="48" y="242"/>
                    </a:lnTo>
                    <a:lnTo>
                      <a:pt x="50" y="244"/>
                    </a:lnTo>
                    <a:lnTo>
                      <a:pt x="52" y="248"/>
                    </a:lnTo>
                    <a:lnTo>
                      <a:pt x="56" y="250"/>
                    </a:lnTo>
                    <a:lnTo>
                      <a:pt x="60" y="252"/>
                    </a:lnTo>
                    <a:lnTo>
                      <a:pt x="62" y="250"/>
                    </a:lnTo>
                    <a:lnTo>
                      <a:pt x="66" y="248"/>
                    </a:lnTo>
                    <a:lnTo>
                      <a:pt x="68" y="246"/>
                    </a:lnTo>
                    <a:lnTo>
                      <a:pt x="70" y="248"/>
                    </a:lnTo>
                    <a:lnTo>
                      <a:pt x="70" y="250"/>
                    </a:lnTo>
                    <a:lnTo>
                      <a:pt x="72" y="242"/>
                    </a:lnTo>
                    <a:lnTo>
                      <a:pt x="74" y="240"/>
                    </a:lnTo>
                    <a:lnTo>
                      <a:pt x="76" y="242"/>
                    </a:lnTo>
                    <a:lnTo>
                      <a:pt x="78" y="244"/>
                    </a:lnTo>
                    <a:lnTo>
                      <a:pt x="80" y="244"/>
                    </a:lnTo>
                    <a:lnTo>
                      <a:pt x="82" y="242"/>
                    </a:lnTo>
                    <a:lnTo>
                      <a:pt x="84" y="240"/>
                    </a:lnTo>
                    <a:lnTo>
                      <a:pt x="84" y="238"/>
                    </a:lnTo>
                    <a:lnTo>
                      <a:pt x="86" y="234"/>
                    </a:lnTo>
                    <a:lnTo>
                      <a:pt x="86" y="23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17" name="Freeform 290">
                <a:extLst>
                  <a:ext uri="{FF2B5EF4-FFF2-40B4-BE49-F238E27FC236}">
                    <a16:creationId xmlns:a16="http://schemas.microsoft.com/office/drawing/2014/main" id="{5B0D4ACB-3362-816B-1267-0C70AF442B30}"/>
                  </a:ext>
                </a:extLst>
              </p:cNvPr>
              <p:cNvSpPr>
                <a:spLocks noEditPoints="1"/>
              </p:cNvSpPr>
              <p:nvPr/>
            </p:nvSpPr>
            <p:spPr bwMode="auto">
              <a:xfrm>
                <a:off x="6099016" y="4158103"/>
                <a:ext cx="235308" cy="94147"/>
              </a:xfrm>
              <a:custGeom>
                <a:avLst/>
                <a:gdLst/>
                <a:ahLst/>
                <a:cxnLst>
                  <a:cxn ang="0">
                    <a:pos x="122" y="92"/>
                  </a:cxn>
                  <a:cxn ang="0">
                    <a:pos x="138" y="98"/>
                  </a:cxn>
                  <a:cxn ang="0">
                    <a:pos x="154" y="92"/>
                  </a:cxn>
                  <a:cxn ang="0">
                    <a:pos x="174" y="92"/>
                  </a:cxn>
                  <a:cxn ang="0">
                    <a:pos x="182" y="78"/>
                  </a:cxn>
                  <a:cxn ang="0">
                    <a:pos x="190" y="70"/>
                  </a:cxn>
                  <a:cxn ang="0">
                    <a:pos x="198" y="52"/>
                  </a:cxn>
                  <a:cxn ang="0">
                    <a:pos x="218" y="48"/>
                  </a:cxn>
                  <a:cxn ang="0">
                    <a:pos x="230" y="42"/>
                  </a:cxn>
                  <a:cxn ang="0">
                    <a:pos x="230" y="36"/>
                  </a:cxn>
                  <a:cxn ang="0">
                    <a:pos x="238" y="32"/>
                  </a:cxn>
                  <a:cxn ang="0">
                    <a:pos x="242" y="26"/>
                  </a:cxn>
                  <a:cxn ang="0">
                    <a:pos x="230" y="20"/>
                  </a:cxn>
                  <a:cxn ang="0">
                    <a:pos x="228" y="10"/>
                  </a:cxn>
                  <a:cxn ang="0">
                    <a:pos x="222" y="2"/>
                  </a:cxn>
                  <a:cxn ang="0">
                    <a:pos x="214" y="2"/>
                  </a:cxn>
                  <a:cxn ang="0">
                    <a:pos x="208" y="8"/>
                  </a:cxn>
                  <a:cxn ang="0">
                    <a:pos x="196" y="24"/>
                  </a:cxn>
                  <a:cxn ang="0">
                    <a:pos x="196" y="30"/>
                  </a:cxn>
                  <a:cxn ang="0">
                    <a:pos x="196" y="44"/>
                  </a:cxn>
                  <a:cxn ang="0">
                    <a:pos x="188" y="46"/>
                  </a:cxn>
                  <a:cxn ang="0">
                    <a:pos x="178" y="42"/>
                  </a:cxn>
                  <a:cxn ang="0">
                    <a:pos x="162" y="64"/>
                  </a:cxn>
                  <a:cxn ang="0">
                    <a:pos x="142" y="70"/>
                  </a:cxn>
                  <a:cxn ang="0">
                    <a:pos x="140" y="82"/>
                  </a:cxn>
                  <a:cxn ang="0">
                    <a:pos x="134" y="86"/>
                  </a:cxn>
                  <a:cxn ang="0">
                    <a:pos x="128" y="80"/>
                  </a:cxn>
                  <a:cxn ang="0">
                    <a:pos x="120" y="78"/>
                  </a:cxn>
                  <a:cxn ang="0">
                    <a:pos x="0" y="18"/>
                  </a:cxn>
                  <a:cxn ang="0">
                    <a:pos x="4" y="30"/>
                  </a:cxn>
                  <a:cxn ang="0">
                    <a:pos x="8" y="52"/>
                  </a:cxn>
                  <a:cxn ang="0">
                    <a:pos x="14" y="60"/>
                  </a:cxn>
                  <a:cxn ang="0">
                    <a:pos x="20" y="74"/>
                  </a:cxn>
                  <a:cxn ang="0">
                    <a:pos x="42" y="88"/>
                  </a:cxn>
                  <a:cxn ang="0">
                    <a:pos x="52" y="84"/>
                  </a:cxn>
                  <a:cxn ang="0">
                    <a:pos x="48" y="72"/>
                  </a:cxn>
                  <a:cxn ang="0">
                    <a:pos x="42" y="64"/>
                  </a:cxn>
                  <a:cxn ang="0">
                    <a:pos x="44" y="40"/>
                  </a:cxn>
                  <a:cxn ang="0">
                    <a:pos x="36" y="22"/>
                  </a:cxn>
                  <a:cxn ang="0">
                    <a:pos x="24" y="14"/>
                  </a:cxn>
                  <a:cxn ang="0">
                    <a:pos x="16" y="20"/>
                  </a:cxn>
                  <a:cxn ang="0">
                    <a:pos x="12" y="18"/>
                  </a:cxn>
                  <a:cxn ang="0">
                    <a:pos x="0" y="18"/>
                  </a:cxn>
                </a:cxnLst>
                <a:rect l="0" t="0" r="r" b="b"/>
                <a:pathLst>
                  <a:path w="242" h="98">
                    <a:moveTo>
                      <a:pt x="120" y="78"/>
                    </a:moveTo>
                    <a:lnTo>
                      <a:pt x="120" y="86"/>
                    </a:lnTo>
                    <a:lnTo>
                      <a:pt x="122" y="92"/>
                    </a:lnTo>
                    <a:lnTo>
                      <a:pt x="128" y="94"/>
                    </a:lnTo>
                    <a:lnTo>
                      <a:pt x="132" y="96"/>
                    </a:lnTo>
                    <a:lnTo>
                      <a:pt x="138" y="98"/>
                    </a:lnTo>
                    <a:lnTo>
                      <a:pt x="144" y="96"/>
                    </a:lnTo>
                    <a:lnTo>
                      <a:pt x="152" y="94"/>
                    </a:lnTo>
                    <a:lnTo>
                      <a:pt x="154" y="92"/>
                    </a:lnTo>
                    <a:lnTo>
                      <a:pt x="162" y="90"/>
                    </a:lnTo>
                    <a:lnTo>
                      <a:pt x="166" y="92"/>
                    </a:lnTo>
                    <a:lnTo>
                      <a:pt x="174" y="92"/>
                    </a:lnTo>
                    <a:lnTo>
                      <a:pt x="180" y="88"/>
                    </a:lnTo>
                    <a:lnTo>
                      <a:pt x="182" y="86"/>
                    </a:lnTo>
                    <a:lnTo>
                      <a:pt x="182" y="78"/>
                    </a:lnTo>
                    <a:lnTo>
                      <a:pt x="182" y="74"/>
                    </a:lnTo>
                    <a:lnTo>
                      <a:pt x="186" y="74"/>
                    </a:lnTo>
                    <a:lnTo>
                      <a:pt x="190" y="70"/>
                    </a:lnTo>
                    <a:lnTo>
                      <a:pt x="192" y="66"/>
                    </a:lnTo>
                    <a:lnTo>
                      <a:pt x="196" y="62"/>
                    </a:lnTo>
                    <a:lnTo>
                      <a:pt x="198" y="52"/>
                    </a:lnTo>
                    <a:lnTo>
                      <a:pt x="200" y="48"/>
                    </a:lnTo>
                    <a:lnTo>
                      <a:pt x="208" y="50"/>
                    </a:lnTo>
                    <a:lnTo>
                      <a:pt x="218" y="48"/>
                    </a:lnTo>
                    <a:lnTo>
                      <a:pt x="220" y="44"/>
                    </a:lnTo>
                    <a:lnTo>
                      <a:pt x="228" y="46"/>
                    </a:lnTo>
                    <a:lnTo>
                      <a:pt x="230" y="42"/>
                    </a:lnTo>
                    <a:lnTo>
                      <a:pt x="232" y="42"/>
                    </a:lnTo>
                    <a:lnTo>
                      <a:pt x="232" y="38"/>
                    </a:lnTo>
                    <a:lnTo>
                      <a:pt x="230" y="36"/>
                    </a:lnTo>
                    <a:lnTo>
                      <a:pt x="230" y="34"/>
                    </a:lnTo>
                    <a:lnTo>
                      <a:pt x="230" y="32"/>
                    </a:lnTo>
                    <a:lnTo>
                      <a:pt x="238" y="32"/>
                    </a:lnTo>
                    <a:lnTo>
                      <a:pt x="240" y="30"/>
                    </a:lnTo>
                    <a:lnTo>
                      <a:pt x="242" y="28"/>
                    </a:lnTo>
                    <a:lnTo>
                      <a:pt x="242" y="26"/>
                    </a:lnTo>
                    <a:lnTo>
                      <a:pt x="238" y="22"/>
                    </a:lnTo>
                    <a:lnTo>
                      <a:pt x="236" y="18"/>
                    </a:lnTo>
                    <a:lnTo>
                      <a:pt x="230" y="20"/>
                    </a:lnTo>
                    <a:lnTo>
                      <a:pt x="230" y="18"/>
                    </a:lnTo>
                    <a:lnTo>
                      <a:pt x="226" y="16"/>
                    </a:lnTo>
                    <a:lnTo>
                      <a:pt x="228" y="10"/>
                    </a:lnTo>
                    <a:lnTo>
                      <a:pt x="224" y="6"/>
                    </a:lnTo>
                    <a:lnTo>
                      <a:pt x="222" y="6"/>
                    </a:lnTo>
                    <a:lnTo>
                      <a:pt x="222" y="2"/>
                    </a:lnTo>
                    <a:lnTo>
                      <a:pt x="220" y="4"/>
                    </a:lnTo>
                    <a:lnTo>
                      <a:pt x="216" y="4"/>
                    </a:lnTo>
                    <a:lnTo>
                      <a:pt x="214" y="2"/>
                    </a:lnTo>
                    <a:lnTo>
                      <a:pt x="214" y="0"/>
                    </a:lnTo>
                    <a:lnTo>
                      <a:pt x="212" y="0"/>
                    </a:lnTo>
                    <a:lnTo>
                      <a:pt x="208" y="8"/>
                    </a:lnTo>
                    <a:lnTo>
                      <a:pt x="206" y="14"/>
                    </a:lnTo>
                    <a:lnTo>
                      <a:pt x="194" y="22"/>
                    </a:lnTo>
                    <a:lnTo>
                      <a:pt x="196" y="24"/>
                    </a:lnTo>
                    <a:lnTo>
                      <a:pt x="198" y="24"/>
                    </a:lnTo>
                    <a:lnTo>
                      <a:pt x="198" y="28"/>
                    </a:lnTo>
                    <a:lnTo>
                      <a:pt x="196" y="30"/>
                    </a:lnTo>
                    <a:lnTo>
                      <a:pt x="196" y="34"/>
                    </a:lnTo>
                    <a:lnTo>
                      <a:pt x="192" y="34"/>
                    </a:lnTo>
                    <a:lnTo>
                      <a:pt x="196" y="44"/>
                    </a:lnTo>
                    <a:lnTo>
                      <a:pt x="194" y="44"/>
                    </a:lnTo>
                    <a:lnTo>
                      <a:pt x="190" y="42"/>
                    </a:lnTo>
                    <a:lnTo>
                      <a:pt x="188" y="46"/>
                    </a:lnTo>
                    <a:lnTo>
                      <a:pt x="186" y="48"/>
                    </a:lnTo>
                    <a:lnTo>
                      <a:pt x="182" y="48"/>
                    </a:lnTo>
                    <a:lnTo>
                      <a:pt x="178" y="42"/>
                    </a:lnTo>
                    <a:lnTo>
                      <a:pt x="178" y="44"/>
                    </a:lnTo>
                    <a:lnTo>
                      <a:pt x="166" y="64"/>
                    </a:lnTo>
                    <a:lnTo>
                      <a:pt x="162" y="64"/>
                    </a:lnTo>
                    <a:lnTo>
                      <a:pt x="158" y="64"/>
                    </a:lnTo>
                    <a:lnTo>
                      <a:pt x="150" y="66"/>
                    </a:lnTo>
                    <a:lnTo>
                      <a:pt x="142" y="70"/>
                    </a:lnTo>
                    <a:lnTo>
                      <a:pt x="142" y="74"/>
                    </a:lnTo>
                    <a:lnTo>
                      <a:pt x="142" y="74"/>
                    </a:lnTo>
                    <a:lnTo>
                      <a:pt x="140" y="82"/>
                    </a:lnTo>
                    <a:lnTo>
                      <a:pt x="138" y="82"/>
                    </a:lnTo>
                    <a:lnTo>
                      <a:pt x="138" y="86"/>
                    </a:lnTo>
                    <a:lnTo>
                      <a:pt x="134" y="86"/>
                    </a:lnTo>
                    <a:lnTo>
                      <a:pt x="132" y="84"/>
                    </a:lnTo>
                    <a:lnTo>
                      <a:pt x="130" y="82"/>
                    </a:lnTo>
                    <a:lnTo>
                      <a:pt x="128" y="80"/>
                    </a:lnTo>
                    <a:lnTo>
                      <a:pt x="126" y="82"/>
                    </a:lnTo>
                    <a:lnTo>
                      <a:pt x="124" y="82"/>
                    </a:lnTo>
                    <a:lnTo>
                      <a:pt x="120" y="78"/>
                    </a:lnTo>
                    <a:lnTo>
                      <a:pt x="120" y="78"/>
                    </a:lnTo>
                    <a:close/>
                    <a:moveTo>
                      <a:pt x="0" y="18"/>
                    </a:moveTo>
                    <a:lnTo>
                      <a:pt x="0" y="18"/>
                    </a:lnTo>
                    <a:lnTo>
                      <a:pt x="2" y="22"/>
                    </a:lnTo>
                    <a:lnTo>
                      <a:pt x="4" y="26"/>
                    </a:lnTo>
                    <a:lnTo>
                      <a:pt x="4" y="30"/>
                    </a:lnTo>
                    <a:lnTo>
                      <a:pt x="2" y="34"/>
                    </a:lnTo>
                    <a:lnTo>
                      <a:pt x="8" y="48"/>
                    </a:lnTo>
                    <a:lnTo>
                      <a:pt x="8" y="52"/>
                    </a:lnTo>
                    <a:lnTo>
                      <a:pt x="8" y="54"/>
                    </a:lnTo>
                    <a:lnTo>
                      <a:pt x="10" y="56"/>
                    </a:lnTo>
                    <a:lnTo>
                      <a:pt x="14" y="60"/>
                    </a:lnTo>
                    <a:lnTo>
                      <a:pt x="14" y="66"/>
                    </a:lnTo>
                    <a:lnTo>
                      <a:pt x="16" y="70"/>
                    </a:lnTo>
                    <a:lnTo>
                      <a:pt x="20" y="74"/>
                    </a:lnTo>
                    <a:lnTo>
                      <a:pt x="26" y="76"/>
                    </a:lnTo>
                    <a:lnTo>
                      <a:pt x="28" y="80"/>
                    </a:lnTo>
                    <a:lnTo>
                      <a:pt x="42" y="88"/>
                    </a:lnTo>
                    <a:lnTo>
                      <a:pt x="42" y="86"/>
                    </a:lnTo>
                    <a:lnTo>
                      <a:pt x="46" y="84"/>
                    </a:lnTo>
                    <a:lnTo>
                      <a:pt x="52" y="84"/>
                    </a:lnTo>
                    <a:lnTo>
                      <a:pt x="52" y="78"/>
                    </a:lnTo>
                    <a:lnTo>
                      <a:pt x="50" y="74"/>
                    </a:lnTo>
                    <a:lnTo>
                      <a:pt x="48" y="72"/>
                    </a:lnTo>
                    <a:lnTo>
                      <a:pt x="48" y="68"/>
                    </a:lnTo>
                    <a:lnTo>
                      <a:pt x="44" y="66"/>
                    </a:lnTo>
                    <a:lnTo>
                      <a:pt x="42" y="64"/>
                    </a:lnTo>
                    <a:lnTo>
                      <a:pt x="42" y="56"/>
                    </a:lnTo>
                    <a:lnTo>
                      <a:pt x="42" y="52"/>
                    </a:lnTo>
                    <a:lnTo>
                      <a:pt x="44" y="40"/>
                    </a:lnTo>
                    <a:lnTo>
                      <a:pt x="40" y="32"/>
                    </a:lnTo>
                    <a:lnTo>
                      <a:pt x="38" y="30"/>
                    </a:lnTo>
                    <a:lnTo>
                      <a:pt x="36" y="22"/>
                    </a:lnTo>
                    <a:lnTo>
                      <a:pt x="32" y="18"/>
                    </a:lnTo>
                    <a:lnTo>
                      <a:pt x="28" y="16"/>
                    </a:lnTo>
                    <a:lnTo>
                      <a:pt x="24" y="14"/>
                    </a:lnTo>
                    <a:lnTo>
                      <a:pt x="22" y="16"/>
                    </a:lnTo>
                    <a:lnTo>
                      <a:pt x="22" y="22"/>
                    </a:lnTo>
                    <a:lnTo>
                      <a:pt x="16" y="20"/>
                    </a:lnTo>
                    <a:lnTo>
                      <a:pt x="16" y="24"/>
                    </a:lnTo>
                    <a:lnTo>
                      <a:pt x="12" y="24"/>
                    </a:lnTo>
                    <a:lnTo>
                      <a:pt x="12" y="18"/>
                    </a:lnTo>
                    <a:lnTo>
                      <a:pt x="6" y="16"/>
                    </a:lnTo>
                    <a:lnTo>
                      <a:pt x="0" y="18"/>
                    </a:lnTo>
                    <a:lnTo>
                      <a:pt x="0" y="1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18" name="Freeform 291">
                <a:extLst>
                  <a:ext uri="{FF2B5EF4-FFF2-40B4-BE49-F238E27FC236}">
                    <a16:creationId xmlns:a16="http://schemas.microsoft.com/office/drawing/2014/main" id="{E1BF244E-D507-5E41-EA91-B905B1186C40}"/>
                  </a:ext>
                </a:extLst>
              </p:cNvPr>
              <p:cNvSpPr>
                <a:spLocks/>
              </p:cNvSpPr>
              <p:nvPr/>
            </p:nvSpPr>
            <p:spPr bwMode="auto">
              <a:xfrm>
                <a:off x="5097498" y="3581691"/>
                <a:ext cx="38894" cy="32663"/>
              </a:xfrm>
              <a:custGeom>
                <a:avLst/>
                <a:gdLst/>
                <a:ahLst/>
                <a:cxnLst>
                  <a:cxn ang="0">
                    <a:pos x="4" y="12"/>
                  </a:cxn>
                  <a:cxn ang="0">
                    <a:pos x="8" y="8"/>
                  </a:cxn>
                  <a:cxn ang="0">
                    <a:pos x="12" y="6"/>
                  </a:cxn>
                  <a:cxn ang="0">
                    <a:pos x="14" y="10"/>
                  </a:cxn>
                  <a:cxn ang="0">
                    <a:pos x="16" y="4"/>
                  </a:cxn>
                  <a:cxn ang="0">
                    <a:pos x="20" y="4"/>
                  </a:cxn>
                  <a:cxn ang="0">
                    <a:pos x="24" y="4"/>
                  </a:cxn>
                  <a:cxn ang="0">
                    <a:pos x="30" y="2"/>
                  </a:cxn>
                  <a:cxn ang="0">
                    <a:pos x="32" y="0"/>
                  </a:cxn>
                  <a:cxn ang="0">
                    <a:pos x="36" y="4"/>
                  </a:cxn>
                  <a:cxn ang="0">
                    <a:pos x="36" y="6"/>
                  </a:cxn>
                  <a:cxn ang="0">
                    <a:pos x="36" y="8"/>
                  </a:cxn>
                  <a:cxn ang="0">
                    <a:pos x="36" y="10"/>
                  </a:cxn>
                  <a:cxn ang="0">
                    <a:pos x="40" y="14"/>
                  </a:cxn>
                  <a:cxn ang="0">
                    <a:pos x="38" y="14"/>
                  </a:cxn>
                  <a:cxn ang="0">
                    <a:pos x="38" y="20"/>
                  </a:cxn>
                  <a:cxn ang="0">
                    <a:pos x="36" y="24"/>
                  </a:cxn>
                  <a:cxn ang="0">
                    <a:pos x="36" y="26"/>
                  </a:cxn>
                  <a:cxn ang="0">
                    <a:pos x="34" y="26"/>
                  </a:cxn>
                  <a:cxn ang="0">
                    <a:pos x="30" y="26"/>
                  </a:cxn>
                  <a:cxn ang="0">
                    <a:pos x="28" y="28"/>
                  </a:cxn>
                  <a:cxn ang="0">
                    <a:pos x="26" y="28"/>
                  </a:cxn>
                  <a:cxn ang="0">
                    <a:pos x="26" y="30"/>
                  </a:cxn>
                  <a:cxn ang="0">
                    <a:pos x="24" y="30"/>
                  </a:cxn>
                  <a:cxn ang="0">
                    <a:pos x="22" y="32"/>
                  </a:cxn>
                  <a:cxn ang="0">
                    <a:pos x="20" y="34"/>
                  </a:cxn>
                  <a:cxn ang="0">
                    <a:pos x="18" y="34"/>
                  </a:cxn>
                  <a:cxn ang="0">
                    <a:pos x="6" y="34"/>
                  </a:cxn>
                  <a:cxn ang="0">
                    <a:pos x="4" y="32"/>
                  </a:cxn>
                  <a:cxn ang="0">
                    <a:pos x="2" y="28"/>
                  </a:cxn>
                  <a:cxn ang="0">
                    <a:pos x="0" y="24"/>
                  </a:cxn>
                  <a:cxn ang="0">
                    <a:pos x="2" y="22"/>
                  </a:cxn>
                  <a:cxn ang="0">
                    <a:pos x="2" y="16"/>
                  </a:cxn>
                  <a:cxn ang="0">
                    <a:pos x="2" y="14"/>
                  </a:cxn>
                  <a:cxn ang="0">
                    <a:pos x="4" y="12"/>
                  </a:cxn>
                  <a:cxn ang="0">
                    <a:pos x="4" y="12"/>
                  </a:cxn>
                </a:cxnLst>
                <a:rect l="0" t="0" r="r" b="b"/>
                <a:pathLst>
                  <a:path w="40" h="34">
                    <a:moveTo>
                      <a:pt x="4" y="12"/>
                    </a:moveTo>
                    <a:lnTo>
                      <a:pt x="8" y="8"/>
                    </a:lnTo>
                    <a:lnTo>
                      <a:pt x="12" y="6"/>
                    </a:lnTo>
                    <a:lnTo>
                      <a:pt x="14" y="10"/>
                    </a:lnTo>
                    <a:lnTo>
                      <a:pt x="16" y="4"/>
                    </a:lnTo>
                    <a:lnTo>
                      <a:pt x="20" y="4"/>
                    </a:lnTo>
                    <a:lnTo>
                      <a:pt x="24" y="4"/>
                    </a:lnTo>
                    <a:lnTo>
                      <a:pt x="30" y="2"/>
                    </a:lnTo>
                    <a:lnTo>
                      <a:pt x="32" y="0"/>
                    </a:lnTo>
                    <a:lnTo>
                      <a:pt x="36" y="4"/>
                    </a:lnTo>
                    <a:lnTo>
                      <a:pt x="36" y="6"/>
                    </a:lnTo>
                    <a:lnTo>
                      <a:pt x="36" y="8"/>
                    </a:lnTo>
                    <a:lnTo>
                      <a:pt x="36" y="10"/>
                    </a:lnTo>
                    <a:lnTo>
                      <a:pt x="40" y="14"/>
                    </a:lnTo>
                    <a:lnTo>
                      <a:pt x="38" y="14"/>
                    </a:lnTo>
                    <a:lnTo>
                      <a:pt x="38" y="20"/>
                    </a:lnTo>
                    <a:lnTo>
                      <a:pt x="36" y="24"/>
                    </a:lnTo>
                    <a:lnTo>
                      <a:pt x="36" y="26"/>
                    </a:lnTo>
                    <a:lnTo>
                      <a:pt x="34" y="26"/>
                    </a:lnTo>
                    <a:lnTo>
                      <a:pt x="30" y="26"/>
                    </a:lnTo>
                    <a:lnTo>
                      <a:pt x="28" y="28"/>
                    </a:lnTo>
                    <a:lnTo>
                      <a:pt x="26" y="28"/>
                    </a:lnTo>
                    <a:lnTo>
                      <a:pt x="26" y="30"/>
                    </a:lnTo>
                    <a:lnTo>
                      <a:pt x="24" y="30"/>
                    </a:lnTo>
                    <a:lnTo>
                      <a:pt x="22" y="32"/>
                    </a:lnTo>
                    <a:lnTo>
                      <a:pt x="20" y="34"/>
                    </a:lnTo>
                    <a:lnTo>
                      <a:pt x="18" y="34"/>
                    </a:lnTo>
                    <a:lnTo>
                      <a:pt x="6" y="34"/>
                    </a:lnTo>
                    <a:lnTo>
                      <a:pt x="4" y="32"/>
                    </a:lnTo>
                    <a:lnTo>
                      <a:pt x="2" y="28"/>
                    </a:lnTo>
                    <a:lnTo>
                      <a:pt x="0" y="24"/>
                    </a:lnTo>
                    <a:lnTo>
                      <a:pt x="2" y="22"/>
                    </a:lnTo>
                    <a:lnTo>
                      <a:pt x="2" y="16"/>
                    </a:lnTo>
                    <a:lnTo>
                      <a:pt x="2" y="14"/>
                    </a:lnTo>
                    <a:lnTo>
                      <a:pt x="4" y="12"/>
                    </a:lnTo>
                    <a:lnTo>
                      <a:pt x="4" y="1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19" name="Freeform 292">
                <a:extLst>
                  <a:ext uri="{FF2B5EF4-FFF2-40B4-BE49-F238E27FC236}">
                    <a16:creationId xmlns:a16="http://schemas.microsoft.com/office/drawing/2014/main" id="{5D13BF3C-334D-CFBF-44A9-E9F9340E149E}"/>
                  </a:ext>
                </a:extLst>
              </p:cNvPr>
              <p:cNvSpPr>
                <a:spLocks/>
              </p:cNvSpPr>
              <p:nvPr/>
            </p:nvSpPr>
            <p:spPr bwMode="auto">
              <a:xfrm>
                <a:off x="4908863" y="3441431"/>
                <a:ext cx="7779" cy="17293"/>
              </a:xfrm>
              <a:custGeom>
                <a:avLst/>
                <a:gdLst/>
                <a:ahLst/>
                <a:cxnLst>
                  <a:cxn ang="0">
                    <a:pos x="0" y="10"/>
                  </a:cxn>
                  <a:cxn ang="0">
                    <a:pos x="0" y="10"/>
                  </a:cxn>
                  <a:cxn ang="0">
                    <a:pos x="0" y="6"/>
                  </a:cxn>
                  <a:cxn ang="0">
                    <a:pos x="0" y="2"/>
                  </a:cxn>
                  <a:cxn ang="0">
                    <a:pos x="2" y="2"/>
                  </a:cxn>
                  <a:cxn ang="0">
                    <a:pos x="4" y="0"/>
                  </a:cxn>
                  <a:cxn ang="0">
                    <a:pos x="4" y="2"/>
                  </a:cxn>
                  <a:cxn ang="0">
                    <a:pos x="6" y="4"/>
                  </a:cxn>
                  <a:cxn ang="0">
                    <a:pos x="8" y="6"/>
                  </a:cxn>
                  <a:cxn ang="0">
                    <a:pos x="8" y="10"/>
                  </a:cxn>
                  <a:cxn ang="0">
                    <a:pos x="6" y="12"/>
                  </a:cxn>
                  <a:cxn ang="0">
                    <a:pos x="6" y="16"/>
                  </a:cxn>
                  <a:cxn ang="0">
                    <a:pos x="8" y="18"/>
                  </a:cxn>
                  <a:cxn ang="0">
                    <a:pos x="2" y="16"/>
                  </a:cxn>
                  <a:cxn ang="0">
                    <a:pos x="0" y="14"/>
                  </a:cxn>
                  <a:cxn ang="0">
                    <a:pos x="0" y="12"/>
                  </a:cxn>
                  <a:cxn ang="0">
                    <a:pos x="0" y="10"/>
                  </a:cxn>
                  <a:cxn ang="0">
                    <a:pos x="0" y="10"/>
                  </a:cxn>
                </a:cxnLst>
                <a:rect l="0" t="0" r="r" b="b"/>
                <a:pathLst>
                  <a:path w="8" h="18">
                    <a:moveTo>
                      <a:pt x="0" y="10"/>
                    </a:moveTo>
                    <a:lnTo>
                      <a:pt x="0" y="10"/>
                    </a:lnTo>
                    <a:lnTo>
                      <a:pt x="0" y="6"/>
                    </a:lnTo>
                    <a:lnTo>
                      <a:pt x="0" y="2"/>
                    </a:lnTo>
                    <a:lnTo>
                      <a:pt x="2" y="2"/>
                    </a:lnTo>
                    <a:lnTo>
                      <a:pt x="4" y="0"/>
                    </a:lnTo>
                    <a:lnTo>
                      <a:pt x="4" y="2"/>
                    </a:lnTo>
                    <a:lnTo>
                      <a:pt x="6" y="4"/>
                    </a:lnTo>
                    <a:lnTo>
                      <a:pt x="8" y="6"/>
                    </a:lnTo>
                    <a:lnTo>
                      <a:pt x="8" y="10"/>
                    </a:lnTo>
                    <a:lnTo>
                      <a:pt x="6" y="12"/>
                    </a:lnTo>
                    <a:lnTo>
                      <a:pt x="6" y="16"/>
                    </a:lnTo>
                    <a:lnTo>
                      <a:pt x="8" y="18"/>
                    </a:lnTo>
                    <a:lnTo>
                      <a:pt x="2" y="16"/>
                    </a:lnTo>
                    <a:lnTo>
                      <a:pt x="0" y="14"/>
                    </a:lnTo>
                    <a:lnTo>
                      <a:pt x="0" y="12"/>
                    </a:lnTo>
                    <a:lnTo>
                      <a:pt x="0" y="10"/>
                    </a:lnTo>
                    <a:lnTo>
                      <a:pt x="0" y="1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20" name="Rectangle 293">
                <a:extLst>
                  <a:ext uri="{FF2B5EF4-FFF2-40B4-BE49-F238E27FC236}">
                    <a16:creationId xmlns:a16="http://schemas.microsoft.com/office/drawing/2014/main" id="{BCB04D8E-20C8-F48A-4CB8-11D9CBBC8830}"/>
                  </a:ext>
                </a:extLst>
              </p:cNvPr>
              <p:cNvSpPr>
                <a:spLocks noChangeArrowheads="1"/>
              </p:cNvSpPr>
              <p:nvPr/>
            </p:nvSpPr>
            <p:spPr bwMode="auto">
              <a:xfrm>
                <a:off x="5097498" y="3337677"/>
                <a:ext cx="1944" cy="1921"/>
              </a:xfrm>
              <a:prstGeom prst="rect">
                <a:avLst/>
              </a:prstGeom>
              <a:solidFill>
                <a:srgbClr val="C4C4CD"/>
              </a:solidFill>
              <a:ln w="3175">
                <a:solidFill>
                  <a:srgbClr val="2E2E38">
                    <a:lumMod val="20000"/>
                    <a:lumOff val="80000"/>
                  </a:srgb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21" name="Rectangle 294">
                <a:extLst>
                  <a:ext uri="{FF2B5EF4-FFF2-40B4-BE49-F238E27FC236}">
                    <a16:creationId xmlns:a16="http://schemas.microsoft.com/office/drawing/2014/main" id="{E5AD3F8B-ECA8-8DB3-A161-AF520B4FF99F}"/>
                  </a:ext>
                </a:extLst>
              </p:cNvPr>
              <p:cNvSpPr>
                <a:spLocks noChangeArrowheads="1"/>
              </p:cNvSpPr>
              <p:nvPr/>
            </p:nvSpPr>
            <p:spPr bwMode="auto">
              <a:xfrm>
                <a:off x="5097498" y="3337677"/>
                <a:ext cx="1944" cy="1921"/>
              </a:xfrm>
              <a:prstGeom prst="rect">
                <a:avLst/>
              </a:prstGeom>
              <a:solidFill>
                <a:srgbClr val="C4C4CD"/>
              </a:solidFill>
              <a:ln w="3175">
                <a:solidFill>
                  <a:srgbClr val="2E2E38">
                    <a:lumMod val="20000"/>
                    <a:lumOff val="80000"/>
                  </a:srgbClr>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22" name="Freeform 295">
                <a:extLst>
                  <a:ext uri="{FF2B5EF4-FFF2-40B4-BE49-F238E27FC236}">
                    <a16:creationId xmlns:a16="http://schemas.microsoft.com/office/drawing/2014/main" id="{B8F4A68D-474E-2CFE-EFB3-BA5E51626B50}"/>
                  </a:ext>
                </a:extLst>
              </p:cNvPr>
              <p:cNvSpPr>
                <a:spLocks/>
              </p:cNvSpPr>
              <p:nvPr/>
            </p:nvSpPr>
            <p:spPr bwMode="auto">
              <a:xfrm>
                <a:off x="4963314" y="3493308"/>
                <a:ext cx="3890" cy="7686"/>
              </a:xfrm>
              <a:custGeom>
                <a:avLst/>
                <a:gdLst/>
                <a:ahLst/>
                <a:cxnLst>
                  <a:cxn ang="0">
                    <a:pos x="4" y="8"/>
                  </a:cxn>
                  <a:cxn ang="0">
                    <a:pos x="4" y="8"/>
                  </a:cxn>
                  <a:cxn ang="0">
                    <a:pos x="2" y="6"/>
                  </a:cxn>
                  <a:cxn ang="0">
                    <a:pos x="0" y="4"/>
                  </a:cxn>
                  <a:cxn ang="0">
                    <a:pos x="0" y="0"/>
                  </a:cxn>
                  <a:cxn ang="0">
                    <a:pos x="4" y="0"/>
                  </a:cxn>
                  <a:cxn ang="0">
                    <a:pos x="4" y="2"/>
                  </a:cxn>
                  <a:cxn ang="0">
                    <a:pos x="4" y="8"/>
                  </a:cxn>
                  <a:cxn ang="0">
                    <a:pos x="4" y="8"/>
                  </a:cxn>
                </a:cxnLst>
                <a:rect l="0" t="0" r="r" b="b"/>
                <a:pathLst>
                  <a:path w="4" h="8">
                    <a:moveTo>
                      <a:pt x="4" y="8"/>
                    </a:moveTo>
                    <a:lnTo>
                      <a:pt x="4" y="8"/>
                    </a:lnTo>
                    <a:lnTo>
                      <a:pt x="2" y="6"/>
                    </a:lnTo>
                    <a:lnTo>
                      <a:pt x="0" y="4"/>
                    </a:lnTo>
                    <a:lnTo>
                      <a:pt x="0" y="0"/>
                    </a:lnTo>
                    <a:lnTo>
                      <a:pt x="4" y="0"/>
                    </a:lnTo>
                    <a:lnTo>
                      <a:pt x="4" y="2"/>
                    </a:lnTo>
                    <a:lnTo>
                      <a:pt x="4" y="8"/>
                    </a:lnTo>
                    <a:lnTo>
                      <a:pt x="4" y="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23" name="Freeform 296">
                <a:extLst>
                  <a:ext uri="{FF2B5EF4-FFF2-40B4-BE49-F238E27FC236}">
                    <a16:creationId xmlns:a16="http://schemas.microsoft.com/office/drawing/2014/main" id="{34881169-EB08-ACBB-70F9-07F54202E615}"/>
                  </a:ext>
                </a:extLst>
              </p:cNvPr>
              <p:cNvSpPr>
                <a:spLocks/>
              </p:cNvSpPr>
              <p:nvPr/>
            </p:nvSpPr>
            <p:spPr bwMode="auto">
              <a:xfrm>
                <a:off x="4963314" y="3493308"/>
                <a:ext cx="3890" cy="7686"/>
              </a:xfrm>
              <a:custGeom>
                <a:avLst/>
                <a:gdLst/>
                <a:ahLst/>
                <a:cxnLst>
                  <a:cxn ang="0">
                    <a:pos x="4" y="8"/>
                  </a:cxn>
                  <a:cxn ang="0">
                    <a:pos x="4" y="8"/>
                  </a:cxn>
                  <a:cxn ang="0">
                    <a:pos x="2" y="6"/>
                  </a:cxn>
                  <a:cxn ang="0">
                    <a:pos x="0" y="4"/>
                  </a:cxn>
                  <a:cxn ang="0">
                    <a:pos x="0" y="0"/>
                  </a:cxn>
                  <a:cxn ang="0">
                    <a:pos x="4" y="0"/>
                  </a:cxn>
                  <a:cxn ang="0">
                    <a:pos x="4" y="2"/>
                  </a:cxn>
                  <a:cxn ang="0">
                    <a:pos x="4" y="8"/>
                  </a:cxn>
                  <a:cxn ang="0">
                    <a:pos x="4" y="8"/>
                  </a:cxn>
                </a:cxnLst>
                <a:rect l="0" t="0" r="r" b="b"/>
                <a:pathLst>
                  <a:path w="4" h="8">
                    <a:moveTo>
                      <a:pt x="4" y="8"/>
                    </a:moveTo>
                    <a:lnTo>
                      <a:pt x="4" y="8"/>
                    </a:lnTo>
                    <a:lnTo>
                      <a:pt x="2" y="6"/>
                    </a:lnTo>
                    <a:lnTo>
                      <a:pt x="0" y="4"/>
                    </a:lnTo>
                    <a:lnTo>
                      <a:pt x="0" y="0"/>
                    </a:lnTo>
                    <a:lnTo>
                      <a:pt x="4" y="0"/>
                    </a:lnTo>
                    <a:lnTo>
                      <a:pt x="4" y="2"/>
                    </a:lnTo>
                    <a:lnTo>
                      <a:pt x="4" y="8"/>
                    </a:lnTo>
                    <a:lnTo>
                      <a:pt x="4" y="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24" name="Freeform 297">
                <a:extLst>
                  <a:ext uri="{FF2B5EF4-FFF2-40B4-BE49-F238E27FC236}">
                    <a16:creationId xmlns:a16="http://schemas.microsoft.com/office/drawing/2014/main" id="{EB4C0DB9-E4F2-C897-2785-F94A1F917A12}"/>
                  </a:ext>
                </a:extLst>
              </p:cNvPr>
              <p:cNvSpPr>
                <a:spLocks/>
              </p:cNvSpPr>
              <p:nvPr/>
            </p:nvSpPr>
            <p:spPr bwMode="auto">
              <a:xfrm>
                <a:off x="4689112" y="4127360"/>
                <a:ext cx="54451" cy="69169"/>
              </a:xfrm>
              <a:custGeom>
                <a:avLst/>
                <a:gdLst/>
                <a:ahLst/>
                <a:cxnLst>
                  <a:cxn ang="0">
                    <a:pos x="2" y="32"/>
                  </a:cxn>
                  <a:cxn ang="0">
                    <a:pos x="2" y="32"/>
                  </a:cxn>
                  <a:cxn ang="0">
                    <a:pos x="4" y="36"/>
                  </a:cxn>
                  <a:cxn ang="0">
                    <a:pos x="6" y="38"/>
                  </a:cxn>
                  <a:cxn ang="0">
                    <a:pos x="10" y="44"/>
                  </a:cxn>
                  <a:cxn ang="0">
                    <a:pos x="12" y="44"/>
                  </a:cxn>
                  <a:cxn ang="0">
                    <a:pos x="12" y="46"/>
                  </a:cxn>
                  <a:cxn ang="0">
                    <a:pos x="20" y="54"/>
                  </a:cxn>
                  <a:cxn ang="0">
                    <a:pos x="22" y="54"/>
                  </a:cxn>
                  <a:cxn ang="0">
                    <a:pos x="24" y="58"/>
                  </a:cxn>
                  <a:cxn ang="0">
                    <a:pos x="36" y="68"/>
                  </a:cxn>
                  <a:cxn ang="0">
                    <a:pos x="42" y="68"/>
                  </a:cxn>
                  <a:cxn ang="0">
                    <a:pos x="44" y="70"/>
                  </a:cxn>
                  <a:cxn ang="0">
                    <a:pos x="46" y="72"/>
                  </a:cxn>
                  <a:cxn ang="0">
                    <a:pos x="50" y="72"/>
                  </a:cxn>
                  <a:cxn ang="0">
                    <a:pos x="52" y="68"/>
                  </a:cxn>
                  <a:cxn ang="0">
                    <a:pos x="50" y="64"/>
                  </a:cxn>
                  <a:cxn ang="0">
                    <a:pos x="52" y="62"/>
                  </a:cxn>
                  <a:cxn ang="0">
                    <a:pos x="54" y="58"/>
                  </a:cxn>
                  <a:cxn ang="0">
                    <a:pos x="54" y="56"/>
                  </a:cxn>
                  <a:cxn ang="0">
                    <a:pos x="56" y="52"/>
                  </a:cxn>
                  <a:cxn ang="0">
                    <a:pos x="54" y="52"/>
                  </a:cxn>
                  <a:cxn ang="0">
                    <a:pos x="52" y="52"/>
                  </a:cxn>
                  <a:cxn ang="0">
                    <a:pos x="50" y="50"/>
                  </a:cxn>
                  <a:cxn ang="0">
                    <a:pos x="48" y="44"/>
                  </a:cxn>
                  <a:cxn ang="0">
                    <a:pos x="46" y="40"/>
                  </a:cxn>
                  <a:cxn ang="0">
                    <a:pos x="44" y="36"/>
                  </a:cxn>
                  <a:cxn ang="0">
                    <a:pos x="34" y="34"/>
                  </a:cxn>
                  <a:cxn ang="0">
                    <a:pos x="38" y="30"/>
                  </a:cxn>
                  <a:cxn ang="0">
                    <a:pos x="42" y="24"/>
                  </a:cxn>
                  <a:cxn ang="0">
                    <a:pos x="42" y="20"/>
                  </a:cxn>
                  <a:cxn ang="0">
                    <a:pos x="42" y="18"/>
                  </a:cxn>
                  <a:cxn ang="0">
                    <a:pos x="40" y="14"/>
                  </a:cxn>
                  <a:cxn ang="0">
                    <a:pos x="40" y="12"/>
                  </a:cxn>
                  <a:cxn ang="0">
                    <a:pos x="38" y="10"/>
                  </a:cxn>
                  <a:cxn ang="0">
                    <a:pos x="36" y="12"/>
                  </a:cxn>
                  <a:cxn ang="0">
                    <a:pos x="30" y="20"/>
                  </a:cxn>
                  <a:cxn ang="0">
                    <a:pos x="26" y="18"/>
                  </a:cxn>
                  <a:cxn ang="0">
                    <a:pos x="28" y="14"/>
                  </a:cxn>
                  <a:cxn ang="0">
                    <a:pos x="30" y="10"/>
                  </a:cxn>
                  <a:cxn ang="0">
                    <a:pos x="30" y="8"/>
                  </a:cxn>
                  <a:cxn ang="0">
                    <a:pos x="26" y="0"/>
                  </a:cxn>
                  <a:cxn ang="0">
                    <a:pos x="26" y="0"/>
                  </a:cxn>
                  <a:cxn ang="0">
                    <a:pos x="24" y="4"/>
                  </a:cxn>
                  <a:cxn ang="0">
                    <a:pos x="20" y="4"/>
                  </a:cxn>
                  <a:cxn ang="0">
                    <a:pos x="18" y="4"/>
                  </a:cxn>
                  <a:cxn ang="0">
                    <a:pos x="16" y="6"/>
                  </a:cxn>
                  <a:cxn ang="0">
                    <a:pos x="16" y="8"/>
                  </a:cxn>
                  <a:cxn ang="0">
                    <a:pos x="14" y="8"/>
                  </a:cxn>
                  <a:cxn ang="0">
                    <a:pos x="12" y="10"/>
                  </a:cxn>
                  <a:cxn ang="0">
                    <a:pos x="12" y="14"/>
                  </a:cxn>
                  <a:cxn ang="0">
                    <a:pos x="4" y="22"/>
                  </a:cxn>
                  <a:cxn ang="0">
                    <a:pos x="2" y="28"/>
                  </a:cxn>
                  <a:cxn ang="0">
                    <a:pos x="0" y="32"/>
                  </a:cxn>
                  <a:cxn ang="0">
                    <a:pos x="2" y="32"/>
                  </a:cxn>
                  <a:cxn ang="0">
                    <a:pos x="2" y="32"/>
                  </a:cxn>
                </a:cxnLst>
                <a:rect l="0" t="0" r="r" b="b"/>
                <a:pathLst>
                  <a:path w="56" h="72">
                    <a:moveTo>
                      <a:pt x="2" y="32"/>
                    </a:moveTo>
                    <a:lnTo>
                      <a:pt x="2" y="32"/>
                    </a:lnTo>
                    <a:lnTo>
                      <a:pt x="4" y="36"/>
                    </a:lnTo>
                    <a:lnTo>
                      <a:pt x="6" y="38"/>
                    </a:lnTo>
                    <a:lnTo>
                      <a:pt x="10" y="44"/>
                    </a:lnTo>
                    <a:lnTo>
                      <a:pt x="12" y="44"/>
                    </a:lnTo>
                    <a:lnTo>
                      <a:pt x="12" y="46"/>
                    </a:lnTo>
                    <a:lnTo>
                      <a:pt x="20" y="54"/>
                    </a:lnTo>
                    <a:lnTo>
                      <a:pt x="22" y="54"/>
                    </a:lnTo>
                    <a:lnTo>
                      <a:pt x="24" y="58"/>
                    </a:lnTo>
                    <a:lnTo>
                      <a:pt x="36" y="68"/>
                    </a:lnTo>
                    <a:lnTo>
                      <a:pt x="42" y="68"/>
                    </a:lnTo>
                    <a:lnTo>
                      <a:pt x="44" y="70"/>
                    </a:lnTo>
                    <a:lnTo>
                      <a:pt x="46" y="72"/>
                    </a:lnTo>
                    <a:lnTo>
                      <a:pt x="50" y="72"/>
                    </a:lnTo>
                    <a:lnTo>
                      <a:pt x="52" y="68"/>
                    </a:lnTo>
                    <a:lnTo>
                      <a:pt x="50" y="64"/>
                    </a:lnTo>
                    <a:lnTo>
                      <a:pt x="52" y="62"/>
                    </a:lnTo>
                    <a:lnTo>
                      <a:pt x="54" y="58"/>
                    </a:lnTo>
                    <a:lnTo>
                      <a:pt x="54" y="56"/>
                    </a:lnTo>
                    <a:lnTo>
                      <a:pt x="56" y="52"/>
                    </a:lnTo>
                    <a:lnTo>
                      <a:pt x="54" y="52"/>
                    </a:lnTo>
                    <a:lnTo>
                      <a:pt x="52" y="52"/>
                    </a:lnTo>
                    <a:lnTo>
                      <a:pt x="50" y="50"/>
                    </a:lnTo>
                    <a:lnTo>
                      <a:pt x="48" y="44"/>
                    </a:lnTo>
                    <a:lnTo>
                      <a:pt x="46" y="40"/>
                    </a:lnTo>
                    <a:lnTo>
                      <a:pt x="44" y="36"/>
                    </a:lnTo>
                    <a:lnTo>
                      <a:pt x="34" y="34"/>
                    </a:lnTo>
                    <a:lnTo>
                      <a:pt x="38" y="30"/>
                    </a:lnTo>
                    <a:lnTo>
                      <a:pt x="42" y="24"/>
                    </a:lnTo>
                    <a:lnTo>
                      <a:pt x="42" y="20"/>
                    </a:lnTo>
                    <a:lnTo>
                      <a:pt x="42" y="18"/>
                    </a:lnTo>
                    <a:lnTo>
                      <a:pt x="40" y="14"/>
                    </a:lnTo>
                    <a:lnTo>
                      <a:pt x="40" y="12"/>
                    </a:lnTo>
                    <a:lnTo>
                      <a:pt x="38" y="10"/>
                    </a:lnTo>
                    <a:lnTo>
                      <a:pt x="36" y="12"/>
                    </a:lnTo>
                    <a:lnTo>
                      <a:pt x="30" y="20"/>
                    </a:lnTo>
                    <a:lnTo>
                      <a:pt x="26" y="18"/>
                    </a:lnTo>
                    <a:lnTo>
                      <a:pt x="28" y="14"/>
                    </a:lnTo>
                    <a:lnTo>
                      <a:pt x="30" y="10"/>
                    </a:lnTo>
                    <a:lnTo>
                      <a:pt x="30" y="8"/>
                    </a:lnTo>
                    <a:lnTo>
                      <a:pt x="26" y="0"/>
                    </a:lnTo>
                    <a:lnTo>
                      <a:pt x="26" y="0"/>
                    </a:lnTo>
                    <a:lnTo>
                      <a:pt x="24" y="4"/>
                    </a:lnTo>
                    <a:lnTo>
                      <a:pt x="20" y="4"/>
                    </a:lnTo>
                    <a:lnTo>
                      <a:pt x="18" y="4"/>
                    </a:lnTo>
                    <a:lnTo>
                      <a:pt x="16" y="6"/>
                    </a:lnTo>
                    <a:lnTo>
                      <a:pt x="16" y="8"/>
                    </a:lnTo>
                    <a:lnTo>
                      <a:pt x="14" y="8"/>
                    </a:lnTo>
                    <a:lnTo>
                      <a:pt x="12" y="10"/>
                    </a:lnTo>
                    <a:lnTo>
                      <a:pt x="12" y="14"/>
                    </a:lnTo>
                    <a:lnTo>
                      <a:pt x="4" y="22"/>
                    </a:lnTo>
                    <a:lnTo>
                      <a:pt x="2" y="28"/>
                    </a:lnTo>
                    <a:lnTo>
                      <a:pt x="0" y="32"/>
                    </a:lnTo>
                    <a:lnTo>
                      <a:pt x="2" y="32"/>
                    </a:lnTo>
                    <a:lnTo>
                      <a:pt x="2" y="3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25" name="Freeform 298">
                <a:extLst>
                  <a:ext uri="{FF2B5EF4-FFF2-40B4-BE49-F238E27FC236}">
                    <a16:creationId xmlns:a16="http://schemas.microsoft.com/office/drawing/2014/main" id="{F2E4E5F8-DF3D-C2E8-FF86-751E7C14F9E9}"/>
                  </a:ext>
                </a:extLst>
              </p:cNvPr>
              <p:cNvSpPr>
                <a:spLocks/>
              </p:cNvSpPr>
              <p:nvPr/>
            </p:nvSpPr>
            <p:spPr bwMode="auto">
              <a:xfrm>
                <a:off x="5280299" y="3716187"/>
                <a:ext cx="25281" cy="34585"/>
              </a:xfrm>
              <a:custGeom>
                <a:avLst/>
                <a:gdLst/>
                <a:ahLst/>
                <a:cxnLst>
                  <a:cxn ang="0">
                    <a:pos x="14" y="4"/>
                  </a:cxn>
                  <a:cxn ang="0">
                    <a:pos x="14" y="4"/>
                  </a:cxn>
                  <a:cxn ang="0">
                    <a:pos x="12" y="6"/>
                  </a:cxn>
                  <a:cxn ang="0">
                    <a:pos x="10" y="12"/>
                  </a:cxn>
                  <a:cxn ang="0">
                    <a:pos x="8" y="12"/>
                  </a:cxn>
                  <a:cxn ang="0">
                    <a:pos x="6" y="14"/>
                  </a:cxn>
                  <a:cxn ang="0">
                    <a:pos x="6" y="20"/>
                  </a:cxn>
                  <a:cxn ang="0">
                    <a:pos x="6" y="28"/>
                  </a:cxn>
                  <a:cxn ang="0">
                    <a:pos x="2" y="28"/>
                  </a:cxn>
                  <a:cxn ang="0">
                    <a:pos x="0" y="32"/>
                  </a:cxn>
                  <a:cxn ang="0">
                    <a:pos x="0" y="36"/>
                  </a:cxn>
                  <a:cxn ang="0">
                    <a:pos x="4" y="36"/>
                  </a:cxn>
                  <a:cxn ang="0">
                    <a:pos x="6" y="36"/>
                  </a:cxn>
                  <a:cxn ang="0">
                    <a:pos x="8" y="34"/>
                  </a:cxn>
                  <a:cxn ang="0">
                    <a:pos x="10" y="34"/>
                  </a:cxn>
                  <a:cxn ang="0">
                    <a:pos x="14" y="28"/>
                  </a:cxn>
                  <a:cxn ang="0">
                    <a:pos x="16" y="28"/>
                  </a:cxn>
                  <a:cxn ang="0">
                    <a:pos x="18" y="26"/>
                  </a:cxn>
                  <a:cxn ang="0">
                    <a:pos x="18" y="22"/>
                  </a:cxn>
                  <a:cxn ang="0">
                    <a:pos x="20" y="18"/>
                  </a:cxn>
                  <a:cxn ang="0">
                    <a:pos x="24" y="12"/>
                  </a:cxn>
                  <a:cxn ang="0">
                    <a:pos x="26" y="4"/>
                  </a:cxn>
                  <a:cxn ang="0">
                    <a:pos x="26" y="2"/>
                  </a:cxn>
                  <a:cxn ang="0">
                    <a:pos x="24" y="2"/>
                  </a:cxn>
                  <a:cxn ang="0">
                    <a:pos x="20" y="0"/>
                  </a:cxn>
                  <a:cxn ang="0">
                    <a:pos x="18" y="0"/>
                  </a:cxn>
                  <a:cxn ang="0">
                    <a:pos x="16" y="0"/>
                  </a:cxn>
                  <a:cxn ang="0">
                    <a:pos x="14" y="4"/>
                  </a:cxn>
                  <a:cxn ang="0">
                    <a:pos x="14" y="4"/>
                  </a:cxn>
                </a:cxnLst>
                <a:rect l="0" t="0" r="r" b="b"/>
                <a:pathLst>
                  <a:path w="26" h="36">
                    <a:moveTo>
                      <a:pt x="14" y="4"/>
                    </a:moveTo>
                    <a:lnTo>
                      <a:pt x="14" y="4"/>
                    </a:lnTo>
                    <a:lnTo>
                      <a:pt x="12" y="6"/>
                    </a:lnTo>
                    <a:lnTo>
                      <a:pt x="10" y="12"/>
                    </a:lnTo>
                    <a:lnTo>
                      <a:pt x="8" y="12"/>
                    </a:lnTo>
                    <a:lnTo>
                      <a:pt x="6" y="14"/>
                    </a:lnTo>
                    <a:lnTo>
                      <a:pt x="6" y="20"/>
                    </a:lnTo>
                    <a:lnTo>
                      <a:pt x="6" y="28"/>
                    </a:lnTo>
                    <a:lnTo>
                      <a:pt x="2" y="28"/>
                    </a:lnTo>
                    <a:lnTo>
                      <a:pt x="0" y="32"/>
                    </a:lnTo>
                    <a:lnTo>
                      <a:pt x="0" y="36"/>
                    </a:lnTo>
                    <a:lnTo>
                      <a:pt x="4" y="36"/>
                    </a:lnTo>
                    <a:lnTo>
                      <a:pt x="6" y="36"/>
                    </a:lnTo>
                    <a:lnTo>
                      <a:pt x="8" y="34"/>
                    </a:lnTo>
                    <a:lnTo>
                      <a:pt x="10" y="34"/>
                    </a:lnTo>
                    <a:lnTo>
                      <a:pt x="14" y="28"/>
                    </a:lnTo>
                    <a:lnTo>
                      <a:pt x="16" y="28"/>
                    </a:lnTo>
                    <a:lnTo>
                      <a:pt x="18" y="26"/>
                    </a:lnTo>
                    <a:lnTo>
                      <a:pt x="18" y="22"/>
                    </a:lnTo>
                    <a:lnTo>
                      <a:pt x="20" y="18"/>
                    </a:lnTo>
                    <a:lnTo>
                      <a:pt x="24" y="12"/>
                    </a:lnTo>
                    <a:lnTo>
                      <a:pt x="26" y="4"/>
                    </a:lnTo>
                    <a:lnTo>
                      <a:pt x="26" y="2"/>
                    </a:lnTo>
                    <a:lnTo>
                      <a:pt x="24" y="2"/>
                    </a:lnTo>
                    <a:lnTo>
                      <a:pt x="20" y="0"/>
                    </a:lnTo>
                    <a:lnTo>
                      <a:pt x="18" y="0"/>
                    </a:lnTo>
                    <a:lnTo>
                      <a:pt x="16" y="0"/>
                    </a:lnTo>
                    <a:lnTo>
                      <a:pt x="14" y="4"/>
                    </a:lnTo>
                    <a:lnTo>
                      <a:pt x="14" y="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26" name="Freeform 299">
                <a:extLst>
                  <a:ext uri="{FF2B5EF4-FFF2-40B4-BE49-F238E27FC236}">
                    <a16:creationId xmlns:a16="http://schemas.microsoft.com/office/drawing/2014/main" id="{C2A07FDA-E103-6AF9-2D6A-7947E2B8C4CC}"/>
                  </a:ext>
                </a:extLst>
              </p:cNvPr>
              <p:cNvSpPr>
                <a:spLocks/>
              </p:cNvSpPr>
              <p:nvPr/>
            </p:nvSpPr>
            <p:spPr bwMode="auto">
              <a:xfrm>
                <a:off x="5280299" y="3716187"/>
                <a:ext cx="25281" cy="34585"/>
              </a:xfrm>
              <a:custGeom>
                <a:avLst/>
                <a:gdLst/>
                <a:ahLst/>
                <a:cxnLst>
                  <a:cxn ang="0">
                    <a:pos x="14" y="4"/>
                  </a:cxn>
                  <a:cxn ang="0">
                    <a:pos x="14" y="4"/>
                  </a:cxn>
                  <a:cxn ang="0">
                    <a:pos x="12" y="6"/>
                  </a:cxn>
                  <a:cxn ang="0">
                    <a:pos x="10" y="12"/>
                  </a:cxn>
                  <a:cxn ang="0">
                    <a:pos x="8" y="12"/>
                  </a:cxn>
                  <a:cxn ang="0">
                    <a:pos x="6" y="14"/>
                  </a:cxn>
                  <a:cxn ang="0">
                    <a:pos x="6" y="20"/>
                  </a:cxn>
                  <a:cxn ang="0">
                    <a:pos x="6" y="28"/>
                  </a:cxn>
                  <a:cxn ang="0">
                    <a:pos x="2" y="28"/>
                  </a:cxn>
                  <a:cxn ang="0">
                    <a:pos x="0" y="32"/>
                  </a:cxn>
                  <a:cxn ang="0">
                    <a:pos x="0" y="36"/>
                  </a:cxn>
                  <a:cxn ang="0">
                    <a:pos x="4" y="36"/>
                  </a:cxn>
                  <a:cxn ang="0">
                    <a:pos x="6" y="36"/>
                  </a:cxn>
                  <a:cxn ang="0">
                    <a:pos x="8" y="34"/>
                  </a:cxn>
                  <a:cxn ang="0">
                    <a:pos x="10" y="34"/>
                  </a:cxn>
                  <a:cxn ang="0">
                    <a:pos x="14" y="28"/>
                  </a:cxn>
                  <a:cxn ang="0">
                    <a:pos x="16" y="28"/>
                  </a:cxn>
                  <a:cxn ang="0">
                    <a:pos x="18" y="26"/>
                  </a:cxn>
                  <a:cxn ang="0">
                    <a:pos x="18" y="22"/>
                  </a:cxn>
                  <a:cxn ang="0">
                    <a:pos x="20" y="18"/>
                  </a:cxn>
                  <a:cxn ang="0">
                    <a:pos x="24" y="12"/>
                  </a:cxn>
                  <a:cxn ang="0">
                    <a:pos x="26" y="4"/>
                  </a:cxn>
                  <a:cxn ang="0">
                    <a:pos x="26" y="2"/>
                  </a:cxn>
                  <a:cxn ang="0">
                    <a:pos x="24" y="2"/>
                  </a:cxn>
                  <a:cxn ang="0">
                    <a:pos x="20" y="0"/>
                  </a:cxn>
                  <a:cxn ang="0">
                    <a:pos x="18" y="0"/>
                  </a:cxn>
                  <a:cxn ang="0">
                    <a:pos x="16" y="0"/>
                  </a:cxn>
                  <a:cxn ang="0">
                    <a:pos x="14" y="4"/>
                  </a:cxn>
                  <a:cxn ang="0">
                    <a:pos x="14" y="4"/>
                  </a:cxn>
                </a:cxnLst>
                <a:rect l="0" t="0" r="r" b="b"/>
                <a:pathLst>
                  <a:path w="26" h="36">
                    <a:moveTo>
                      <a:pt x="14" y="4"/>
                    </a:moveTo>
                    <a:lnTo>
                      <a:pt x="14" y="4"/>
                    </a:lnTo>
                    <a:lnTo>
                      <a:pt x="12" y="6"/>
                    </a:lnTo>
                    <a:lnTo>
                      <a:pt x="10" y="12"/>
                    </a:lnTo>
                    <a:lnTo>
                      <a:pt x="8" y="12"/>
                    </a:lnTo>
                    <a:lnTo>
                      <a:pt x="6" y="14"/>
                    </a:lnTo>
                    <a:lnTo>
                      <a:pt x="6" y="20"/>
                    </a:lnTo>
                    <a:lnTo>
                      <a:pt x="6" y="28"/>
                    </a:lnTo>
                    <a:lnTo>
                      <a:pt x="2" y="28"/>
                    </a:lnTo>
                    <a:lnTo>
                      <a:pt x="0" y="32"/>
                    </a:lnTo>
                    <a:lnTo>
                      <a:pt x="0" y="36"/>
                    </a:lnTo>
                    <a:lnTo>
                      <a:pt x="4" y="36"/>
                    </a:lnTo>
                    <a:lnTo>
                      <a:pt x="6" y="36"/>
                    </a:lnTo>
                    <a:lnTo>
                      <a:pt x="8" y="34"/>
                    </a:lnTo>
                    <a:lnTo>
                      <a:pt x="10" y="34"/>
                    </a:lnTo>
                    <a:lnTo>
                      <a:pt x="14" y="28"/>
                    </a:lnTo>
                    <a:lnTo>
                      <a:pt x="16" y="28"/>
                    </a:lnTo>
                    <a:lnTo>
                      <a:pt x="18" y="26"/>
                    </a:lnTo>
                    <a:lnTo>
                      <a:pt x="18" y="22"/>
                    </a:lnTo>
                    <a:lnTo>
                      <a:pt x="20" y="18"/>
                    </a:lnTo>
                    <a:lnTo>
                      <a:pt x="24" y="12"/>
                    </a:lnTo>
                    <a:lnTo>
                      <a:pt x="26" y="4"/>
                    </a:lnTo>
                    <a:lnTo>
                      <a:pt x="26" y="2"/>
                    </a:lnTo>
                    <a:lnTo>
                      <a:pt x="24" y="2"/>
                    </a:lnTo>
                    <a:lnTo>
                      <a:pt x="20" y="0"/>
                    </a:lnTo>
                    <a:lnTo>
                      <a:pt x="18" y="0"/>
                    </a:lnTo>
                    <a:lnTo>
                      <a:pt x="16" y="0"/>
                    </a:lnTo>
                    <a:lnTo>
                      <a:pt x="14" y="4"/>
                    </a:lnTo>
                    <a:lnTo>
                      <a:pt x="14" y="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27" name="Freeform 300">
                <a:extLst>
                  <a:ext uri="{FF2B5EF4-FFF2-40B4-BE49-F238E27FC236}">
                    <a16:creationId xmlns:a16="http://schemas.microsoft.com/office/drawing/2014/main" id="{4A487DDF-A273-F940-89ED-527C63D6423B}"/>
                  </a:ext>
                </a:extLst>
              </p:cNvPr>
              <p:cNvSpPr>
                <a:spLocks/>
              </p:cNvSpPr>
              <p:nvPr/>
            </p:nvSpPr>
            <p:spPr bwMode="auto">
              <a:xfrm>
                <a:off x="6100960" y="3914088"/>
                <a:ext cx="87511" cy="132574"/>
              </a:xfrm>
              <a:custGeom>
                <a:avLst/>
                <a:gdLst/>
                <a:ahLst/>
                <a:cxnLst>
                  <a:cxn ang="0">
                    <a:pos x="2" y="36"/>
                  </a:cxn>
                  <a:cxn ang="0">
                    <a:pos x="0" y="44"/>
                  </a:cxn>
                  <a:cxn ang="0">
                    <a:pos x="4" y="46"/>
                  </a:cxn>
                  <a:cxn ang="0">
                    <a:pos x="10" y="50"/>
                  </a:cxn>
                  <a:cxn ang="0">
                    <a:pos x="8" y="60"/>
                  </a:cxn>
                  <a:cxn ang="0">
                    <a:pos x="10" y="66"/>
                  </a:cxn>
                  <a:cxn ang="0">
                    <a:pos x="10" y="76"/>
                  </a:cxn>
                  <a:cxn ang="0">
                    <a:pos x="18" y="76"/>
                  </a:cxn>
                  <a:cxn ang="0">
                    <a:pos x="28" y="66"/>
                  </a:cxn>
                  <a:cxn ang="0">
                    <a:pos x="32" y="70"/>
                  </a:cxn>
                  <a:cxn ang="0">
                    <a:pos x="40" y="76"/>
                  </a:cxn>
                  <a:cxn ang="0">
                    <a:pos x="52" y="84"/>
                  </a:cxn>
                  <a:cxn ang="0">
                    <a:pos x="52" y="98"/>
                  </a:cxn>
                  <a:cxn ang="0">
                    <a:pos x="58" y="104"/>
                  </a:cxn>
                  <a:cxn ang="0">
                    <a:pos x="60" y="114"/>
                  </a:cxn>
                  <a:cxn ang="0">
                    <a:pos x="60" y="122"/>
                  </a:cxn>
                  <a:cxn ang="0">
                    <a:pos x="54" y="130"/>
                  </a:cxn>
                  <a:cxn ang="0">
                    <a:pos x="64" y="134"/>
                  </a:cxn>
                  <a:cxn ang="0">
                    <a:pos x="72" y="136"/>
                  </a:cxn>
                  <a:cxn ang="0">
                    <a:pos x="76" y="124"/>
                  </a:cxn>
                  <a:cxn ang="0">
                    <a:pos x="84" y="130"/>
                  </a:cxn>
                  <a:cxn ang="0">
                    <a:pos x="90" y="124"/>
                  </a:cxn>
                  <a:cxn ang="0">
                    <a:pos x="88" y="108"/>
                  </a:cxn>
                  <a:cxn ang="0">
                    <a:pos x="80" y="98"/>
                  </a:cxn>
                  <a:cxn ang="0">
                    <a:pos x="72" y="90"/>
                  </a:cxn>
                  <a:cxn ang="0">
                    <a:pos x="66" y="80"/>
                  </a:cxn>
                  <a:cxn ang="0">
                    <a:pos x="56" y="68"/>
                  </a:cxn>
                  <a:cxn ang="0">
                    <a:pos x="48" y="54"/>
                  </a:cxn>
                  <a:cxn ang="0">
                    <a:pos x="52" y="46"/>
                  </a:cxn>
                  <a:cxn ang="0">
                    <a:pos x="60" y="40"/>
                  </a:cxn>
                  <a:cxn ang="0">
                    <a:pos x="54" y="28"/>
                  </a:cxn>
                  <a:cxn ang="0">
                    <a:pos x="46" y="30"/>
                  </a:cxn>
                  <a:cxn ang="0">
                    <a:pos x="40" y="24"/>
                  </a:cxn>
                  <a:cxn ang="0">
                    <a:pos x="30" y="16"/>
                  </a:cxn>
                  <a:cxn ang="0">
                    <a:pos x="24" y="2"/>
                  </a:cxn>
                  <a:cxn ang="0">
                    <a:pos x="16" y="6"/>
                  </a:cxn>
                  <a:cxn ang="0">
                    <a:pos x="20" y="24"/>
                  </a:cxn>
                  <a:cxn ang="0">
                    <a:pos x="8" y="30"/>
                  </a:cxn>
                </a:cxnLst>
                <a:rect l="0" t="0" r="r" b="b"/>
                <a:pathLst>
                  <a:path w="90" h="138">
                    <a:moveTo>
                      <a:pt x="8" y="30"/>
                    </a:moveTo>
                    <a:lnTo>
                      <a:pt x="2" y="36"/>
                    </a:lnTo>
                    <a:lnTo>
                      <a:pt x="2" y="42"/>
                    </a:lnTo>
                    <a:lnTo>
                      <a:pt x="0" y="44"/>
                    </a:lnTo>
                    <a:lnTo>
                      <a:pt x="0" y="46"/>
                    </a:lnTo>
                    <a:lnTo>
                      <a:pt x="4" y="46"/>
                    </a:lnTo>
                    <a:lnTo>
                      <a:pt x="8" y="46"/>
                    </a:lnTo>
                    <a:lnTo>
                      <a:pt x="10" y="50"/>
                    </a:lnTo>
                    <a:lnTo>
                      <a:pt x="6" y="58"/>
                    </a:lnTo>
                    <a:lnTo>
                      <a:pt x="8" y="60"/>
                    </a:lnTo>
                    <a:lnTo>
                      <a:pt x="8" y="64"/>
                    </a:lnTo>
                    <a:lnTo>
                      <a:pt x="10" y="66"/>
                    </a:lnTo>
                    <a:lnTo>
                      <a:pt x="12" y="72"/>
                    </a:lnTo>
                    <a:lnTo>
                      <a:pt x="10" y="76"/>
                    </a:lnTo>
                    <a:lnTo>
                      <a:pt x="14" y="78"/>
                    </a:lnTo>
                    <a:lnTo>
                      <a:pt x="18" y="76"/>
                    </a:lnTo>
                    <a:lnTo>
                      <a:pt x="20" y="72"/>
                    </a:lnTo>
                    <a:lnTo>
                      <a:pt x="28" y="66"/>
                    </a:lnTo>
                    <a:lnTo>
                      <a:pt x="32" y="68"/>
                    </a:lnTo>
                    <a:lnTo>
                      <a:pt x="32" y="70"/>
                    </a:lnTo>
                    <a:lnTo>
                      <a:pt x="34" y="72"/>
                    </a:lnTo>
                    <a:lnTo>
                      <a:pt x="40" y="76"/>
                    </a:lnTo>
                    <a:lnTo>
                      <a:pt x="46" y="76"/>
                    </a:lnTo>
                    <a:lnTo>
                      <a:pt x="52" y="84"/>
                    </a:lnTo>
                    <a:lnTo>
                      <a:pt x="52" y="90"/>
                    </a:lnTo>
                    <a:lnTo>
                      <a:pt x="52" y="98"/>
                    </a:lnTo>
                    <a:lnTo>
                      <a:pt x="54" y="100"/>
                    </a:lnTo>
                    <a:lnTo>
                      <a:pt x="58" y="104"/>
                    </a:lnTo>
                    <a:lnTo>
                      <a:pt x="60" y="108"/>
                    </a:lnTo>
                    <a:lnTo>
                      <a:pt x="60" y="114"/>
                    </a:lnTo>
                    <a:lnTo>
                      <a:pt x="62" y="116"/>
                    </a:lnTo>
                    <a:lnTo>
                      <a:pt x="60" y="122"/>
                    </a:lnTo>
                    <a:lnTo>
                      <a:pt x="58" y="126"/>
                    </a:lnTo>
                    <a:lnTo>
                      <a:pt x="54" y="130"/>
                    </a:lnTo>
                    <a:lnTo>
                      <a:pt x="62" y="132"/>
                    </a:lnTo>
                    <a:lnTo>
                      <a:pt x="64" y="134"/>
                    </a:lnTo>
                    <a:lnTo>
                      <a:pt x="68" y="138"/>
                    </a:lnTo>
                    <a:lnTo>
                      <a:pt x="72" y="136"/>
                    </a:lnTo>
                    <a:lnTo>
                      <a:pt x="72" y="130"/>
                    </a:lnTo>
                    <a:lnTo>
                      <a:pt x="76" y="124"/>
                    </a:lnTo>
                    <a:lnTo>
                      <a:pt x="80" y="126"/>
                    </a:lnTo>
                    <a:lnTo>
                      <a:pt x="84" y="130"/>
                    </a:lnTo>
                    <a:lnTo>
                      <a:pt x="90" y="128"/>
                    </a:lnTo>
                    <a:lnTo>
                      <a:pt x="90" y="124"/>
                    </a:lnTo>
                    <a:lnTo>
                      <a:pt x="90" y="114"/>
                    </a:lnTo>
                    <a:lnTo>
                      <a:pt x="88" y="108"/>
                    </a:lnTo>
                    <a:lnTo>
                      <a:pt x="84" y="106"/>
                    </a:lnTo>
                    <a:lnTo>
                      <a:pt x="80" y="98"/>
                    </a:lnTo>
                    <a:lnTo>
                      <a:pt x="78" y="94"/>
                    </a:lnTo>
                    <a:lnTo>
                      <a:pt x="72" y="90"/>
                    </a:lnTo>
                    <a:lnTo>
                      <a:pt x="68" y="86"/>
                    </a:lnTo>
                    <a:lnTo>
                      <a:pt x="66" y="80"/>
                    </a:lnTo>
                    <a:lnTo>
                      <a:pt x="62" y="76"/>
                    </a:lnTo>
                    <a:lnTo>
                      <a:pt x="56" y="68"/>
                    </a:lnTo>
                    <a:lnTo>
                      <a:pt x="54" y="58"/>
                    </a:lnTo>
                    <a:lnTo>
                      <a:pt x="48" y="54"/>
                    </a:lnTo>
                    <a:lnTo>
                      <a:pt x="48" y="46"/>
                    </a:lnTo>
                    <a:lnTo>
                      <a:pt x="52" y="46"/>
                    </a:lnTo>
                    <a:lnTo>
                      <a:pt x="56" y="42"/>
                    </a:lnTo>
                    <a:lnTo>
                      <a:pt x="60" y="40"/>
                    </a:lnTo>
                    <a:lnTo>
                      <a:pt x="60" y="32"/>
                    </a:lnTo>
                    <a:lnTo>
                      <a:pt x="54" y="28"/>
                    </a:lnTo>
                    <a:lnTo>
                      <a:pt x="50" y="26"/>
                    </a:lnTo>
                    <a:lnTo>
                      <a:pt x="46" y="30"/>
                    </a:lnTo>
                    <a:lnTo>
                      <a:pt x="40" y="28"/>
                    </a:lnTo>
                    <a:lnTo>
                      <a:pt x="40" y="24"/>
                    </a:lnTo>
                    <a:lnTo>
                      <a:pt x="34" y="22"/>
                    </a:lnTo>
                    <a:lnTo>
                      <a:pt x="30" y="16"/>
                    </a:lnTo>
                    <a:lnTo>
                      <a:pt x="30" y="12"/>
                    </a:lnTo>
                    <a:lnTo>
                      <a:pt x="24" y="2"/>
                    </a:lnTo>
                    <a:lnTo>
                      <a:pt x="20" y="0"/>
                    </a:lnTo>
                    <a:lnTo>
                      <a:pt x="16" y="6"/>
                    </a:lnTo>
                    <a:lnTo>
                      <a:pt x="20" y="14"/>
                    </a:lnTo>
                    <a:lnTo>
                      <a:pt x="20" y="24"/>
                    </a:lnTo>
                    <a:lnTo>
                      <a:pt x="16" y="30"/>
                    </a:lnTo>
                    <a:lnTo>
                      <a:pt x="8" y="30"/>
                    </a:lnTo>
                    <a:lnTo>
                      <a:pt x="8" y="3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28" name="Freeform 301">
                <a:extLst>
                  <a:ext uri="{FF2B5EF4-FFF2-40B4-BE49-F238E27FC236}">
                    <a16:creationId xmlns:a16="http://schemas.microsoft.com/office/drawing/2014/main" id="{1A487F4C-EB10-1B4A-C3B1-1813B3997EFD}"/>
                  </a:ext>
                </a:extLst>
              </p:cNvPr>
              <p:cNvSpPr>
                <a:spLocks/>
              </p:cNvSpPr>
              <p:nvPr/>
            </p:nvSpPr>
            <p:spPr bwMode="auto">
              <a:xfrm>
                <a:off x="5708132" y="3568241"/>
                <a:ext cx="140018" cy="65327"/>
              </a:xfrm>
              <a:custGeom>
                <a:avLst/>
                <a:gdLst/>
                <a:ahLst/>
                <a:cxnLst>
                  <a:cxn ang="0">
                    <a:pos x="48" y="66"/>
                  </a:cxn>
                  <a:cxn ang="0">
                    <a:pos x="58" y="60"/>
                  </a:cxn>
                  <a:cxn ang="0">
                    <a:pos x="66" y="52"/>
                  </a:cxn>
                  <a:cxn ang="0">
                    <a:pos x="72" y="54"/>
                  </a:cxn>
                  <a:cxn ang="0">
                    <a:pos x="74" y="58"/>
                  </a:cxn>
                  <a:cxn ang="0">
                    <a:pos x="78" y="58"/>
                  </a:cxn>
                  <a:cxn ang="0">
                    <a:pos x="88" y="54"/>
                  </a:cxn>
                  <a:cxn ang="0">
                    <a:pos x="94" y="52"/>
                  </a:cxn>
                  <a:cxn ang="0">
                    <a:pos x="96" y="46"/>
                  </a:cxn>
                  <a:cxn ang="0">
                    <a:pos x="96" y="40"/>
                  </a:cxn>
                  <a:cxn ang="0">
                    <a:pos x="100" y="36"/>
                  </a:cxn>
                  <a:cxn ang="0">
                    <a:pos x="114" y="34"/>
                  </a:cxn>
                  <a:cxn ang="0">
                    <a:pos x="116" y="32"/>
                  </a:cxn>
                  <a:cxn ang="0">
                    <a:pos x="118" y="26"/>
                  </a:cxn>
                  <a:cxn ang="0">
                    <a:pos x="126" y="24"/>
                  </a:cxn>
                  <a:cxn ang="0">
                    <a:pos x="138" y="14"/>
                  </a:cxn>
                  <a:cxn ang="0">
                    <a:pos x="136" y="8"/>
                  </a:cxn>
                  <a:cxn ang="0">
                    <a:pos x="128" y="6"/>
                  </a:cxn>
                  <a:cxn ang="0">
                    <a:pos x="120" y="0"/>
                  </a:cxn>
                  <a:cxn ang="0">
                    <a:pos x="108" y="0"/>
                  </a:cxn>
                  <a:cxn ang="0">
                    <a:pos x="88" y="4"/>
                  </a:cxn>
                  <a:cxn ang="0">
                    <a:pos x="78" y="8"/>
                  </a:cxn>
                  <a:cxn ang="0">
                    <a:pos x="74" y="4"/>
                  </a:cxn>
                  <a:cxn ang="0">
                    <a:pos x="70" y="2"/>
                  </a:cxn>
                  <a:cxn ang="0">
                    <a:pos x="66" y="0"/>
                  </a:cxn>
                  <a:cxn ang="0">
                    <a:pos x="60" y="4"/>
                  </a:cxn>
                  <a:cxn ang="0">
                    <a:pos x="54" y="8"/>
                  </a:cxn>
                  <a:cxn ang="0">
                    <a:pos x="50" y="14"/>
                  </a:cxn>
                  <a:cxn ang="0">
                    <a:pos x="46" y="10"/>
                  </a:cxn>
                  <a:cxn ang="0">
                    <a:pos x="36" y="6"/>
                  </a:cxn>
                  <a:cxn ang="0">
                    <a:pos x="24" y="6"/>
                  </a:cxn>
                  <a:cxn ang="0">
                    <a:pos x="18" y="14"/>
                  </a:cxn>
                  <a:cxn ang="0">
                    <a:pos x="24" y="14"/>
                  </a:cxn>
                  <a:cxn ang="0">
                    <a:pos x="24" y="18"/>
                  </a:cxn>
                  <a:cxn ang="0">
                    <a:pos x="14" y="26"/>
                  </a:cxn>
                  <a:cxn ang="0">
                    <a:pos x="14" y="26"/>
                  </a:cxn>
                  <a:cxn ang="0">
                    <a:pos x="18" y="30"/>
                  </a:cxn>
                  <a:cxn ang="0">
                    <a:pos x="22" y="30"/>
                  </a:cxn>
                  <a:cxn ang="0">
                    <a:pos x="28" y="30"/>
                  </a:cxn>
                  <a:cxn ang="0">
                    <a:pos x="26" y="34"/>
                  </a:cxn>
                  <a:cxn ang="0">
                    <a:pos x="32" y="36"/>
                  </a:cxn>
                  <a:cxn ang="0">
                    <a:pos x="42" y="40"/>
                  </a:cxn>
                  <a:cxn ang="0">
                    <a:pos x="42" y="42"/>
                  </a:cxn>
                  <a:cxn ang="0">
                    <a:pos x="34" y="52"/>
                  </a:cxn>
                  <a:cxn ang="0">
                    <a:pos x="26" y="54"/>
                  </a:cxn>
                  <a:cxn ang="0">
                    <a:pos x="20" y="58"/>
                  </a:cxn>
                  <a:cxn ang="0">
                    <a:pos x="18" y="56"/>
                  </a:cxn>
                  <a:cxn ang="0">
                    <a:pos x="14" y="56"/>
                  </a:cxn>
                  <a:cxn ang="0">
                    <a:pos x="8" y="56"/>
                  </a:cxn>
                  <a:cxn ang="0">
                    <a:pos x="4" y="64"/>
                  </a:cxn>
                  <a:cxn ang="0">
                    <a:pos x="14" y="64"/>
                  </a:cxn>
                  <a:cxn ang="0">
                    <a:pos x="18" y="66"/>
                  </a:cxn>
                  <a:cxn ang="0">
                    <a:pos x="24" y="64"/>
                  </a:cxn>
                  <a:cxn ang="0">
                    <a:pos x="28" y="68"/>
                  </a:cxn>
                  <a:cxn ang="0">
                    <a:pos x="32" y="68"/>
                  </a:cxn>
                  <a:cxn ang="0">
                    <a:pos x="38" y="68"/>
                  </a:cxn>
                  <a:cxn ang="0">
                    <a:pos x="48" y="66"/>
                  </a:cxn>
                </a:cxnLst>
                <a:rect l="0" t="0" r="r" b="b"/>
                <a:pathLst>
                  <a:path w="144" h="68">
                    <a:moveTo>
                      <a:pt x="48" y="66"/>
                    </a:moveTo>
                    <a:lnTo>
                      <a:pt x="48" y="66"/>
                    </a:lnTo>
                    <a:lnTo>
                      <a:pt x="52" y="62"/>
                    </a:lnTo>
                    <a:lnTo>
                      <a:pt x="58" y="60"/>
                    </a:lnTo>
                    <a:lnTo>
                      <a:pt x="62" y="56"/>
                    </a:lnTo>
                    <a:lnTo>
                      <a:pt x="66" y="52"/>
                    </a:lnTo>
                    <a:lnTo>
                      <a:pt x="70" y="52"/>
                    </a:lnTo>
                    <a:lnTo>
                      <a:pt x="72" y="54"/>
                    </a:lnTo>
                    <a:lnTo>
                      <a:pt x="72" y="56"/>
                    </a:lnTo>
                    <a:lnTo>
                      <a:pt x="74" y="58"/>
                    </a:lnTo>
                    <a:lnTo>
                      <a:pt x="76" y="58"/>
                    </a:lnTo>
                    <a:lnTo>
                      <a:pt x="78" y="58"/>
                    </a:lnTo>
                    <a:lnTo>
                      <a:pt x="82" y="56"/>
                    </a:lnTo>
                    <a:lnTo>
                      <a:pt x="88" y="54"/>
                    </a:lnTo>
                    <a:lnTo>
                      <a:pt x="90" y="54"/>
                    </a:lnTo>
                    <a:lnTo>
                      <a:pt x="94" y="52"/>
                    </a:lnTo>
                    <a:lnTo>
                      <a:pt x="94" y="50"/>
                    </a:lnTo>
                    <a:lnTo>
                      <a:pt x="96" y="46"/>
                    </a:lnTo>
                    <a:lnTo>
                      <a:pt x="96" y="44"/>
                    </a:lnTo>
                    <a:lnTo>
                      <a:pt x="96" y="40"/>
                    </a:lnTo>
                    <a:lnTo>
                      <a:pt x="98" y="38"/>
                    </a:lnTo>
                    <a:lnTo>
                      <a:pt x="100" y="36"/>
                    </a:lnTo>
                    <a:lnTo>
                      <a:pt x="108" y="34"/>
                    </a:lnTo>
                    <a:lnTo>
                      <a:pt x="114" y="34"/>
                    </a:lnTo>
                    <a:lnTo>
                      <a:pt x="116" y="34"/>
                    </a:lnTo>
                    <a:lnTo>
                      <a:pt x="116" y="32"/>
                    </a:lnTo>
                    <a:lnTo>
                      <a:pt x="116" y="30"/>
                    </a:lnTo>
                    <a:lnTo>
                      <a:pt x="118" y="26"/>
                    </a:lnTo>
                    <a:lnTo>
                      <a:pt x="122" y="24"/>
                    </a:lnTo>
                    <a:lnTo>
                      <a:pt x="126" y="24"/>
                    </a:lnTo>
                    <a:lnTo>
                      <a:pt x="132" y="18"/>
                    </a:lnTo>
                    <a:lnTo>
                      <a:pt x="138" y="14"/>
                    </a:lnTo>
                    <a:lnTo>
                      <a:pt x="144" y="12"/>
                    </a:lnTo>
                    <a:lnTo>
                      <a:pt x="136" y="8"/>
                    </a:lnTo>
                    <a:lnTo>
                      <a:pt x="132" y="8"/>
                    </a:lnTo>
                    <a:lnTo>
                      <a:pt x="128" y="6"/>
                    </a:lnTo>
                    <a:lnTo>
                      <a:pt x="126" y="2"/>
                    </a:lnTo>
                    <a:lnTo>
                      <a:pt x="120" y="0"/>
                    </a:lnTo>
                    <a:lnTo>
                      <a:pt x="114" y="0"/>
                    </a:lnTo>
                    <a:lnTo>
                      <a:pt x="108" y="0"/>
                    </a:lnTo>
                    <a:lnTo>
                      <a:pt x="94" y="0"/>
                    </a:lnTo>
                    <a:lnTo>
                      <a:pt x="88" y="4"/>
                    </a:lnTo>
                    <a:lnTo>
                      <a:pt x="80" y="8"/>
                    </a:lnTo>
                    <a:lnTo>
                      <a:pt x="78" y="8"/>
                    </a:lnTo>
                    <a:lnTo>
                      <a:pt x="76" y="6"/>
                    </a:lnTo>
                    <a:lnTo>
                      <a:pt x="74" y="4"/>
                    </a:lnTo>
                    <a:lnTo>
                      <a:pt x="70" y="4"/>
                    </a:lnTo>
                    <a:lnTo>
                      <a:pt x="70" y="2"/>
                    </a:lnTo>
                    <a:lnTo>
                      <a:pt x="68" y="0"/>
                    </a:lnTo>
                    <a:lnTo>
                      <a:pt x="66" y="0"/>
                    </a:lnTo>
                    <a:lnTo>
                      <a:pt x="62" y="4"/>
                    </a:lnTo>
                    <a:lnTo>
                      <a:pt x="60" y="4"/>
                    </a:lnTo>
                    <a:lnTo>
                      <a:pt x="56" y="6"/>
                    </a:lnTo>
                    <a:lnTo>
                      <a:pt x="54" y="8"/>
                    </a:lnTo>
                    <a:lnTo>
                      <a:pt x="52" y="10"/>
                    </a:lnTo>
                    <a:lnTo>
                      <a:pt x="50" y="14"/>
                    </a:lnTo>
                    <a:lnTo>
                      <a:pt x="48" y="14"/>
                    </a:lnTo>
                    <a:lnTo>
                      <a:pt x="46" y="10"/>
                    </a:lnTo>
                    <a:lnTo>
                      <a:pt x="40" y="6"/>
                    </a:lnTo>
                    <a:lnTo>
                      <a:pt x="36" y="6"/>
                    </a:lnTo>
                    <a:lnTo>
                      <a:pt x="28" y="6"/>
                    </a:lnTo>
                    <a:lnTo>
                      <a:pt x="24" y="6"/>
                    </a:lnTo>
                    <a:lnTo>
                      <a:pt x="22" y="10"/>
                    </a:lnTo>
                    <a:lnTo>
                      <a:pt x="18" y="14"/>
                    </a:lnTo>
                    <a:lnTo>
                      <a:pt x="22" y="12"/>
                    </a:lnTo>
                    <a:lnTo>
                      <a:pt x="24" y="14"/>
                    </a:lnTo>
                    <a:lnTo>
                      <a:pt x="26" y="16"/>
                    </a:lnTo>
                    <a:lnTo>
                      <a:pt x="24" y="18"/>
                    </a:lnTo>
                    <a:lnTo>
                      <a:pt x="18" y="24"/>
                    </a:lnTo>
                    <a:lnTo>
                      <a:pt x="14" y="26"/>
                    </a:lnTo>
                    <a:lnTo>
                      <a:pt x="12" y="26"/>
                    </a:lnTo>
                    <a:lnTo>
                      <a:pt x="14" y="26"/>
                    </a:lnTo>
                    <a:lnTo>
                      <a:pt x="16" y="28"/>
                    </a:lnTo>
                    <a:lnTo>
                      <a:pt x="18" y="30"/>
                    </a:lnTo>
                    <a:lnTo>
                      <a:pt x="20" y="32"/>
                    </a:lnTo>
                    <a:lnTo>
                      <a:pt x="22" y="30"/>
                    </a:lnTo>
                    <a:lnTo>
                      <a:pt x="26" y="30"/>
                    </a:lnTo>
                    <a:lnTo>
                      <a:pt x="28" y="30"/>
                    </a:lnTo>
                    <a:lnTo>
                      <a:pt x="28" y="32"/>
                    </a:lnTo>
                    <a:lnTo>
                      <a:pt x="26" y="34"/>
                    </a:lnTo>
                    <a:lnTo>
                      <a:pt x="30" y="36"/>
                    </a:lnTo>
                    <a:lnTo>
                      <a:pt x="32" y="36"/>
                    </a:lnTo>
                    <a:lnTo>
                      <a:pt x="38" y="38"/>
                    </a:lnTo>
                    <a:lnTo>
                      <a:pt x="42" y="40"/>
                    </a:lnTo>
                    <a:lnTo>
                      <a:pt x="44" y="40"/>
                    </a:lnTo>
                    <a:lnTo>
                      <a:pt x="42" y="42"/>
                    </a:lnTo>
                    <a:lnTo>
                      <a:pt x="36" y="50"/>
                    </a:lnTo>
                    <a:lnTo>
                      <a:pt x="34" y="52"/>
                    </a:lnTo>
                    <a:lnTo>
                      <a:pt x="32" y="54"/>
                    </a:lnTo>
                    <a:lnTo>
                      <a:pt x="26" y="54"/>
                    </a:lnTo>
                    <a:lnTo>
                      <a:pt x="22" y="58"/>
                    </a:lnTo>
                    <a:lnTo>
                      <a:pt x="20" y="58"/>
                    </a:lnTo>
                    <a:lnTo>
                      <a:pt x="18" y="58"/>
                    </a:lnTo>
                    <a:lnTo>
                      <a:pt x="18" y="56"/>
                    </a:lnTo>
                    <a:lnTo>
                      <a:pt x="16" y="56"/>
                    </a:lnTo>
                    <a:lnTo>
                      <a:pt x="14" y="56"/>
                    </a:lnTo>
                    <a:lnTo>
                      <a:pt x="14" y="60"/>
                    </a:lnTo>
                    <a:lnTo>
                      <a:pt x="8" y="56"/>
                    </a:lnTo>
                    <a:lnTo>
                      <a:pt x="0" y="60"/>
                    </a:lnTo>
                    <a:lnTo>
                      <a:pt x="4" y="64"/>
                    </a:lnTo>
                    <a:lnTo>
                      <a:pt x="14" y="62"/>
                    </a:lnTo>
                    <a:lnTo>
                      <a:pt x="14" y="64"/>
                    </a:lnTo>
                    <a:lnTo>
                      <a:pt x="16" y="66"/>
                    </a:lnTo>
                    <a:lnTo>
                      <a:pt x="18" y="66"/>
                    </a:lnTo>
                    <a:lnTo>
                      <a:pt x="22" y="64"/>
                    </a:lnTo>
                    <a:lnTo>
                      <a:pt x="24" y="64"/>
                    </a:lnTo>
                    <a:lnTo>
                      <a:pt x="26" y="66"/>
                    </a:lnTo>
                    <a:lnTo>
                      <a:pt x="28" y="68"/>
                    </a:lnTo>
                    <a:lnTo>
                      <a:pt x="30" y="68"/>
                    </a:lnTo>
                    <a:lnTo>
                      <a:pt x="32" y="68"/>
                    </a:lnTo>
                    <a:lnTo>
                      <a:pt x="34" y="68"/>
                    </a:lnTo>
                    <a:lnTo>
                      <a:pt x="38" y="68"/>
                    </a:lnTo>
                    <a:lnTo>
                      <a:pt x="44" y="66"/>
                    </a:lnTo>
                    <a:lnTo>
                      <a:pt x="48" y="66"/>
                    </a:lnTo>
                    <a:lnTo>
                      <a:pt x="48" y="6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29" name="Freeform 302">
                <a:extLst>
                  <a:ext uri="{FF2B5EF4-FFF2-40B4-BE49-F238E27FC236}">
                    <a16:creationId xmlns:a16="http://schemas.microsoft.com/office/drawing/2014/main" id="{942E7E0B-CCD2-9D3F-A4CF-DBC940904AB2}"/>
                  </a:ext>
                </a:extLst>
              </p:cNvPr>
              <p:cNvSpPr>
                <a:spLocks/>
              </p:cNvSpPr>
              <p:nvPr/>
            </p:nvSpPr>
            <p:spPr bwMode="auto">
              <a:xfrm>
                <a:off x="5414483" y="3783435"/>
                <a:ext cx="33060" cy="26899"/>
              </a:xfrm>
              <a:custGeom>
                <a:avLst/>
                <a:gdLst/>
                <a:ahLst/>
                <a:cxnLst>
                  <a:cxn ang="0">
                    <a:pos x="28" y="0"/>
                  </a:cxn>
                  <a:cxn ang="0">
                    <a:pos x="28" y="0"/>
                  </a:cxn>
                  <a:cxn ang="0">
                    <a:pos x="22" y="0"/>
                  </a:cxn>
                  <a:cxn ang="0">
                    <a:pos x="20" y="0"/>
                  </a:cxn>
                  <a:cxn ang="0">
                    <a:pos x="18" y="2"/>
                  </a:cxn>
                  <a:cxn ang="0">
                    <a:pos x="12" y="8"/>
                  </a:cxn>
                  <a:cxn ang="0">
                    <a:pos x="6" y="16"/>
                  </a:cxn>
                  <a:cxn ang="0">
                    <a:pos x="0" y="18"/>
                  </a:cxn>
                  <a:cxn ang="0">
                    <a:pos x="18" y="22"/>
                  </a:cxn>
                  <a:cxn ang="0">
                    <a:pos x="20" y="28"/>
                  </a:cxn>
                  <a:cxn ang="0">
                    <a:pos x="30" y="28"/>
                  </a:cxn>
                  <a:cxn ang="0">
                    <a:pos x="26" y="20"/>
                  </a:cxn>
                  <a:cxn ang="0">
                    <a:pos x="24" y="20"/>
                  </a:cxn>
                  <a:cxn ang="0">
                    <a:pos x="24" y="12"/>
                  </a:cxn>
                  <a:cxn ang="0">
                    <a:pos x="26" y="8"/>
                  </a:cxn>
                  <a:cxn ang="0">
                    <a:pos x="32" y="10"/>
                  </a:cxn>
                  <a:cxn ang="0">
                    <a:pos x="34" y="10"/>
                  </a:cxn>
                  <a:cxn ang="0">
                    <a:pos x="34" y="8"/>
                  </a:cxn>
                  <a:cxn ang="0">
                    <a:pos x="30" y="8"/>
                  </a:cxn>
                  <a:cxn ang="0">
                    <a:pos x="28" y="4"/>
                  </a:cxn>
                  <a:cxn ang="0">
                    <a:pos x="28" y="0"/>
                  </a:cxn>
                  <a:cxn ang="0">
                    <a:pos x="28" y="0"/>
                  </a:cxn>
                </a:cxnLst>
                <a:rect l="0" t="0" r="r" b="b"/>
                <a:pathLst>
                  <a:path w="34" h="28">
                    <a:moveTo>
                      <a:pt x="28" y="0"/>
                    </a:moveTo>
                    <a:lnTo>
                      <a:pt x="28" y="0"/>
                    </a:lnTo>
                    <a:lnTo>
                      <a:pt x="22" y="0"/>
                    </a:lnTo>
                    <a:lnTo>
                      <a:pt x="20" y="0"/>
                    </a:lnTo>
                    <a:lnTo>
                      <a:pt x="18" y="2"/>
                    </a:lnTo>
                    <a:lnTo>
                      <a:pt x="12" y="8"/>
                    </a:lnTo>
                    <a:lnTo>
                      <a:pt x="6" y="16"/>
                    </a:lnTo>
                    <a:lnTo>
                      <a:pt x="0" y="18"/>
                    </a:lnTo>
                    <a:lnTo>
                      <a:pt x="18" y="22"/>
                    </a:lnTo>
                    <a:lnTo>
                      <a:pt x="20" y="28"/>
                    </a:lnTo>
                    <a:lnTo>
                      <a:pt x="30" y="28"/>
                    </a:lnTo>
                    <a:lnTo>
                      <a:pt x="26" y="20"/>
                    </a:lnTo>
                    <a:lnTo>
                      <a:pt x="24" y="20"/>
                    </a:lnTo>
                    <a:lnTo>
                      <a:pt x="24" y="12"/>
                    </a:lnTo>
                    <a:lnTo>
                      <a:pt x="26" y="8"/>
                    </a:lnTo>
                    <a:lnTo>
                      <a:pt x="32" y="10"/>
                    </a:lnTo>
                    <a:lnTo>
                      <a:pt x="34" y="10"/>
                    </a:lnTo>
                    <a:lnTo>
                      <a:pt x="34" y="8"/>
                    </a:lnTo>
                    <a:lnTo>
                      <a:pt x="30" y="8"/>
                    </a:lnTo>
                    <a:lnTo>
                      <a:pt x="28" y="4"/>
                    </a:lnTo>
                    <a:lnTo>
                      <a:pt x="28" y="0"/>
                    </a:lnTo>
                    <a:lnTo>
                      <a:pt x="28"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30" name="Freeform 303">
                <a:extLst>
                  <a:ext uri="{FF2B5EF4-FFF2-40B4-BE49-F238E27FC236}">
                    <a16:creationId xmlns:a16="http://schemas.microsoft.com/office/drawing/2014/main" id="{12E37120-A35C-27C8-0965-0AC815BE8DDB}"/>
                  </a:ext>
                </a:extLst>
              </p:cNvPr>
              <p:cNvSpPr>
                <a:spLocks/>
              </p:cNvSpPr>
              <p:nvPr/>
            </p:nvSpPr>
            <p:spPr bwMode="auto">
              <a:xfrm>
                <a:off x="5414483" y="3783435"/>
                <a:ext cx="33060" cy="26899"/>
              </a:xfrm>
              <a:custGeom>
                <a:avLst/>
                <a:gdLst/>
                <a:ahLst/>
                <a:cxnLst>
                  <a:cxn ang="0">
                    <a:pos x="28" y="0"/>
                  </a:cxn>
                  <a:cxn ang="0">
                    <a:pos x="28" y="0"/>
                  </a:cxn>
                  <a:cxn ang="0">
                    <a:pos x="22" y="0"/>
                  </a:cxn>
                  <a:cxn ang="0">
                    <a:pos x="20" y="0"/>
                  </a:cxn>
                  <a:cxn ang="0">
                    <a:pos x="18" y="2"/>
                  </a:cxn>
                  <a:cxn ang="0">
                    <a:pos x="12" y="8"/>
                  </a:cxn>
                  <a:cxn ang="0">
                    <a:pos x="6" y="16"/>
                  </a:cxn>
                  <a:cxn ang="0">
                    <a:pos x="0" y="18"/>
                  </a:cxn>
                  <a:cxn ang="0">
                    <a:pos x="18" y="22"/>
                  </a:cxn>
                  <a:cxn ang="0">
                    <a:pos x="20" y="28"/>
                  </a:cxn>
                  <a:cxn ang="0">
                    <a:pos x="30" y="28"/>
                  </a:cxn>
                  <a:cxn ang="0">
                    <a:pos x="26" y="20"/>
                  </a:cxn>
                  <a:cxn ang="0">
                    <a:pos x="24" y="20"/>
                  </a:cxn>
                  <a:cxn ang="0">
                    <a:pos x="24" y="12"/>
                  </a:cxn>
                  <a:cxn ang="0">
                    <a:pos x="26" y="8"/>
                  </a:cxn>
                  <a:cxn ang="0">
                    <a:pos x="32" y="10"/>
                  </a:cxn>
                  <a:cxn ang="0">
                    <a:pos x="34" y="10"/>
                  </a:cxn>
                  <a:cxn ang="0">
                    <a:pos x="34" y="8"/>
                  </a:cxn>
                  <a:cxn ang="0">
                    <a:pos x="30" y="8"/>
                  </a:cxn>
                  <a:cxn ang="0">
                    <a:pos x="28" y="4"/>
                  </a:cxn>
                  <a:cxn ang="0">
                    <a:pos x="28" y="0"/>
                  </a:cxn>
                  <a:cxn ang="0">
                    <a:pos x="28" y="0"/>
                  </a:cxn>
                </a:cxnLst>
                <a:rect l="0" t="0" r="r" b="b"/>
                <a:pathLst>
                  <a:path w="34" h="28">
                    <a:moveTo>
                      <a:pt x="28" y="0"/>
                    </a:moveTo>
                    <a:lnTo>
                      <a:pt x="28" y="0"/>
                    </a:lnTo>
                    <a:lnTo>
                      <a:pt x="22" y="0"/>
                    </a:lnTo>
                    <a:lnTo>
                      <a:pt x="20" y="0"/>
                    </a:lnTo>
                    <a:lnTo>
                      <a:pt x="18" y="2"/>
                    </a:lnTo>
                    <a:lnTo>
                      <a:pt x="12" y="8"/>
                    </a:lnTo>
                    <a:lnTo>
                      <a:pt x="6" y="16"/>
                    </a:lnTo>
                    <a:lnTo>
                      <a:pt x="0" y="18"/>
                    </a:lnTo>
                    <a:lnTo>
                      <a:pt x="18" y="22"/>
                    </a:lnTo>
                    <a:lnTo>
                      <a:pt x="20" y="28"/>
                    </a:lnTo>
                    <a:lnTo>
                      <a:pt x="30" y="28"/>
                    </a:lnTo>
                    <a:lnTo>
                      <a:pt x="26" y="20"/>
                    </a:lnTo>
                    <a:lnTo>
                      <a:pt x="24" y="20"/>
                    </a:lnTo>
                    <a:lnTo>
                      <a:pt x="24" y="12"/>
                    </a:lnTo>
                    <a:lnTo>
                      <a:pt x="26" y="8"/>
                    </a:lnTo>
                    <a:lnTo>
                      <a:pt x="32" y="10"/>
                    </a:lnTo>
                    <a:lnTo>
                      <a:pt x="34" y="10"/>
                    </a:lnTo>
                    <a:lnTo>
                      <a:pt x="34" y="8"/>
                    </a:lnTo>
                    <a:lnTo>
                      <a:pt x="30" y="8"/>
                    </a:lnTo>
                    <a:lnTo>
                      <a:pt x="28" y="4"/>
                    </a:lnTo>
                    <a:lnTo>
                      <a:pt x="28" y="0"/>
                    </a:lnTo>
                    <a:lnTo>
                      <a:pt x="28"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31" name="Freeform 304">
                <a:extLst>
                  <a:ext uri="{FF2B5EF4-FFF2-40B4-BE49-F238E27FC236}">
                    <a16:creationId xmlns:a16="http://schemas.microsoft.com/office/drawing/2014/main" id="{82C80FC6-433D-3594-EF7C-AAB82EB02CAF}"/>
                  </a:ext>
                </a:extLst>
              </p:cNvPr>
              <p:cNvSpPr>
                <a:spLocks/>
              </p:cNvSpPr>
              <p:nvPr/>
            </p:nvSpPr>
            <p:spPr bwMode="auto">
              <a:xfrm>
                <a:off x="5290023" y="4196529"/>
                <a:ext cx="13613" cy="30742"/>
              </a:xfrm>
              <a:custGeom>
                <a:avLst/>
                <a:gdLst/>
                <a:ahLst/>
                <a:cxnLst>
                  <a:cxn ang="0">
                    <a:pos x="2" y="0"/>
                  </a:cxn>
                  <a:cxn ang="0">
                    <a:pos x="2" y="0"/>
                  </a:cxn>
                  <a:cxn ang="0">
                    <a:pos x="6" y="2"/>
                  </a:cxn>
                  <a:cxn ang="0">
                    <a:pos x="6" y="10"/>
                  </a:cxn>
                  <a:cxn ang="0">
                    <a:pos x="6" y="18"/>
                  </a:cxn>
                  <a:cxn ang="0">
                    <a:pos x="10" y="22"/>
                  </a:cxn>
                  <a:cxn ang="0">
                    <a:pos x="12" y="26"/>
                  </a:cxn>
                  <a:cxn ang="0">
                    <a:pos x="14" y="32"/>
                  </a:cxn>
                  <a:cxn ang="0">
                    <a:pos x="10" y="32"/>
                  </a:cxn>
                  <a:cxn ang="0">
                    <a:pos x="8" y="26"/>
                  </a:cxn>
                  <a:cxn ang="0">
                    <a:pos x="4" y="24"/>
                  </a:cxn>
                  <a:cxn ang="0">
                    <a:pos x="2" y="20"/>
                  </a:cxn>
                  <a:cxn ang="0">
                    <a:pos x="2" y="18"/>
                  </a:cxn>
                  <a:cxn ang="0">
                    <a:pos x="0" y="18"/>
                  </a:cxn>
                  <a:cxn ang="0">
                    <a:pos x="0" y="8"/>
                  </a:cxn>
                  <a:cxn ang="0">
                    <a:pos x="2" y="0"/>
                  </a:cxn>
                </a:cxnLst>
                <a:rect l="0" t="0" r="r" b="b"/>
                <a:pathLst>
                  <a:path w="14" h="32">
                    <a:moveTo>
                      <a:pt x="2" y="0"/>
                    </a:moveTo>
                    <a:lnTo>
                      <a:pt x="2" y="0"/>
                    </a:lnTo>
                    <a:lnTo>
                      <a:pt x="6" y="2"/>
                    </a:lnTo>
                    <a:lnTo>
                      <a:pt x="6" y="10"/>
                    </a:lnTo>
                    <a:lnTo>
                      <a:pt x="6" y="18"/>
                    </a:lnTo>
                    <a:lnTo>
                      <a:pt x="10" y="22"/>
                    </a:lnTo>
                    <a:lnTo>
                      <a:pt x="12" y="26"/>
                    </a:lnTo>
                    <a:lnTo>
                      <a:pt x="14" y="32"/>
                    </a:lnTo>
                    <a:lnTo>
                      <a:pt x="10" y="32"/>
                    </a:lnTo>
                    <a:lnTo>
                      <a:pt x="8" y="26"/>
                    </a:lnTo>
                    <a:lnTo>
                      <a:pt x="4" y="24"/>
                    </a:lnTo>
                    <a:lnTo>
                      <a:pt x="2" y="20"/>
                    </a:lnTo>
                    <a:lnTo>
                      <a:pt x="2" y="18"/>
                    </a:lnTo>
                    <a:lnTo>
                      <a:pt x="0" y="18"/>
                    </a:lnTo>
                    <a:lnTo>
                      <a:pt x="0" y="8"/>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32" name="Freeform 305">
                <a:extLst>
                  <a:ext uri="{FF2B5EF4-FFF2-40B4-BE49-F238E27FC236}">
                    <a16:creationId xmlns:a16="http://schemas.microsoft.com/office/drawing/2014/main" id="{5C46F305-D91A-4C56-2977-115F158B6C96}"/>
                  </a:ext>
                </a:extLst>
              </p:cNvPr>
              <p:cNvSpPr>
                <a:spLocks/>
              </p:cNvSpPr>
              <p:nvPr/>
            </p:nvSpPr>
            <p:spPr bwMode="auto">
              <a:xfrm>
                <a:off x="5290023" y="4196529"/>
                <a:ext cx="13613" cy="30742"/>
              </a:xfrm>
              <a:custGeom>
                <a:avLst/>
                <a:gdLst/>
                <a:ahLst/>
                <a:cxnLst>
                  <a:cxn ang="0">
                    <a:pos x="2" y="0"/>
                  </a:cxn>
                  <a:cxn ang="0">
                    <a:pos x="2" y="0"/>
                  </a:cxn>
                  <a:cxn ang="0">
                    <a:pos x="6" y="2"/>
                  </a:cxn>
                  <a:cxn ang="0">
                    <a:pos x="6" y="10"/>
                  </a:cxn>
                  <a:cxn ang="0">
                    <a:pos x="6" y="18"/>
                  </a:cxn>
                  <a:cxn ang="0">
                    <a:pos x="10" y="22"/>
                  </a:cxn>
                  <a:cxn ang="0">
                    <a:pos x="12" y="26"/>
                  </a:cxn>
                  <a:cxn ang="0">
                    <a:pos x="14" y="32"/>
                  </a:cxn>
                  <a:cxn ang="0">
                    <a:pos x="10" y="32"/>
                  </a:cxn>
                  <a:cxn ang="0">
                    <a:pos x="8" y="26"/>
                  </a:cxn>
                  <a:cxn ang="0">
                    <a:pos x="4" y="24"/>
                  </a:cxn>
                  <a:cxn ang="0">
                    <a:pos x="2" y="20"/>
                  </a:cxn>
                  <a:cxn ang="0">
                    <a:pos x="2" y="18"/>
                  </a:cxn>
                  <a:cxn ang="0">
                    <a:pos x="0" y="18"/>
                  </a:cxn>
                  <a:cxn ang="0">
                    <a:pos x="0" y="8"/>
                  </a:cxn>
                  <a:cxn ang="0">
                    <a:pos x="2" y="0"/>
                  </a:cxn>
                </a:cxnLst>
                <a:rect l="0" t="0" r="r" b="b"/>
                <a:pathLst>
                  <a:path w="14" h="32">
                    <a:moveTo>
                      <a:pt x="2" y="0"/>
                    </a:moveTo>
                    <a:lnTo>
                      <a:pt x="2" y="0"/>
                    </a:lnTo>
                    <a:lnTo>
                      <a:pt x="6" y="2"/>
                    </a:lnTo>
                    <a:lnTo>
                      <a:pt x="6" y="10"/>
                    </a:lnTo>
                    <a:lnTo>
                      <a:pt x="6" y="18"/>
                    </a:lnTo>
                    <a:lnTo>
                      <a:pt x="10" y="22"/>
                    </a:lnTo>
                    <a:lnTo>
                      <a:pt x="12" y="26"/>
                    </a:lnTo>
                    <a:lnTo>
                      <a:pt x="14" y="32"/>
                    </a:lnTo>
                    <a:lnTo>
                      <a:pt x="10" y="32"/>
                    </a:lnTo>
                    <a:lnTo>
                      <a:pt x="8" y="26"/>
                    </a:lnTo>
                    <a:lnTo>
                      <a:pt x="4" y="24"/>
                    </a:lnTo>
                    <a:lnTo>
                      <a:pt x="2" y="20"/>
                    </a:lnTo>
                    <a:lnTo>
                      <a:pt x="2" y="18"/>
                    </a:lnTo>
                    <a:lnTo>
                      <a:pt x="0" y="18"/>
                    </a:lnTo>
                    <a:lnTo>
                      <a:pt x="0" y="8"/>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33" name="Freeform 306">
                <a:extLst>
                  <a:ext uri="{FF2B5EF4-FFF2-40B4-BE49-F238E27FC236}">
                    <a16:creationId xmlns:a16="http://schemas.microsoft.com/office/drawing/2014/main" id="{38984D37-68A0-02AB-0C98-6F71F9DE982A}"/>
                  </a:ext>
                </a:extLst>
              </p:cNvPr>
              <p:cNvSpPr>
                <a:spLocks/>
              </p:cNvSpPr>
              <p:nvPr/>
            </p:nvSpPr>
            <p:spPr bwMode="auto">
              <a:xfrm>
                <a:off x="6509347" y="3710423"/>
                <a:ext cx="5834" cy="3843"/>
              </a:xfrm>
              <a:custGeom>
                <a:avLst/>
                <a:gdLst/>
                <a:ahLst/>
                <a:cxnLst>
                  <a:cxn ang="0">
                    <a:pos x="4" y="0"/>
                  </a:cxn>
                  <a:cxn ang="0">
                    <a:pos x="4" y="0"/>
                  </a:cxn>
                  <a:cxn ang="0">
                    <a:pos x="6" y="0"/>
                  </a:cxn>
                  <a:cxn ang="0">
                    <a:pos x="6" y="2"/>
                  </a:cxn>
                  <a:cxn ang="0">
                    <a:pos x="6" y="4"/>
                  </a:cxn>
                  <a:cxn ang="0">
                    <a:pos x="0" y="4"/>
                  </a:cxn>
                  <a:cxn ang="0">
                    <a:pos x="0" y="2"/>
                  </a:cxn>
                  <a:cxn ang="0">
                    <a:pos x="0" y="0"/>
                  </a:cxn>
                  <a:cxn ang="0">
                    <a:pos x="4" y="0"/>
                  </a:cxn>
                  <a:cxn ang="0">
                    <a:pos x="4" y="0"/>
                  </a:cxn>
                </a:cxnLst>
                <a:rect l="0" t="0" r="r" b="b"/>
                <a:pathLst>
                  <a:path w="6" h="4">
                    <a:moveTo>
                      <a:pt x="4" y="0"/>
                    </a:moveTo>
                    <a:lnTo>
                      <a:pt x="4" y="0"/>
                    </a:lnTo>
                    <a:lnTo>
                      <a:pt x="6" y="0"/>
                    </a:lnTo>
                    <a:lnTo>
                      <a:pt x="6" y="2"/>
                    </a:lnTo>
                    <a:lnTo>
                      <a:pt x="6" y="4"/>
                    </a:lnTo>
                    <a:lnTo>
                      <a:pt x="0" y="4"/>
                    </a:lnTo>
                    <a:lnTo>
                      <a:pt x="0" y="2"/>
                    </a:lnTo>
                    <a:lnTo>
                      <a:pt x="0" y="0"/>
                    </a:lnTo>
                    <a:lnTo>
                      <a:pt x="4" y="0"/>
                    </a:lnTo>
                    <a:lnTo>
                      <a:pt x="4"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34" name="Freeform 307">
                <a:extLst>
                  <a:ext uri="{FF2B5EF4-FFF2-40B4-BE49-F238E27FC236}">
                    <a16:creationId xmlns:a16="http://schemas.microsoft.com/office/drawing/2014/main" id="{0308BAC5-7997-CDE6-78A0-ACA2E13910C0}"/>
                  </a:ext>
                </a:extLst>
              </p:cNvPr>
              <p:cNvSpPr>
                <a:spLocks/>
              </p:cNvSpPr>
              <p:nvPr/>
            </p:nvSpPr>
            <p:spPr bwMode="auto">
              <a:xfrm>
                <a:off x="6509347" y="3710423"/>
                <a:ext cx="5834" cy="3843"/>
              </a:xfrm>
              <a:custGeom>
                <a:avLst/>
                <a:gdLst/>
                <a:ahLst/>
                <a:cxnLst>
                  <a:cxn ang="0">
                    <a:pos x="4" y="0"/>
                  </a:cxn>
                  <a:cxn ang="0">
                    <a:pos x="4" y="0"/>
                  </a:cxn>
                  <a:cxn ang="0">
                    <a:pos x="6" y="0"/>
                  </a:cxn>
                  <a:cxn ang="0">
                    <a:pos x="6" y="2"/>
                  </a:cxn>
                  <a:cxn ang="0">
                    <a:pos x="6" y="4"/>
                  </a:cxn>
                  <a:cxn ang="0">
                    <a:pos x="0" y="4"/>
                  </a:cxn>
                  <a:cxn ang="0">
                    <a:pos x="0" y="2"/>
                  </a:cxn>
                  <a:cxn ang="0">
                    <a:pos x="0" y="0"/>
                  </a:cxn>
                  <a:cxn ang="0">
                    <a:pos x="4" y="0"/>
                  </a:cxn>
                  <a:cxn ang="0">
                    <a:pos x="4" y="0"/>
                  </a:cxn>
                </a:cxnLst>
                <a:rect l="0" t="0" r="r" b="b"/>
                <a:pathLst>
                  <a:path w="6" h="4">
                    <a:moveTo>
                      <a:pt x="4" y="0"/>
                    </a:moveTo>
                    <a:lnTo>
                      <a:pt x="4" y="0"/>
                    </a:lnTo>
                    <a:lnTo>
                      <a:pt x="6" y="0"/>
                    </a:lnTo>
                    <a:lnTo>
                      <a:pt x="6" y="2"/>
                    </a:lnTo>
                    <a:lnTo>
                      <a:pt x="6" y="4"/>
                    </a:lnTo>
                    <a:lnTo>
                      <a:pt x="0" y="4"/>
                    </a:lnTo>
                    <a:lnTo>
                      <a:pt x="0" y="2"/>
                    </a:lnTo>
                    <a:lnTo>
                      <a:pt x="0" y="0"/>
                    </a:lnTo>
                    <a:lnTo>
                      <a:pt x="4" y="0"/>
                    </a:lnTo>
                    <a:lnTo>
                      <a:pt x="4"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35" name="Freeform 308">
                <a:extLst>
                  <a:ext uri="{FF2B5EF4-FFF2-40B4-BE49-F238E27FC236}">
                    <a16:creationId xmlns:a16="http://schemas.microsoft.com/office/drawing/2014/main" id="{610F941F-46BD-9C12-A337-E2013B4AF73E}"/>
                  </a:ext>
                </a:extLst>
              </p:cNvPr>
              <p:cNvSpPr>
                <a:spLocks/>
              </p:cNvSpPr>
              <p:nvPr/>
            </p:nvSpPr>
            <p:spPr bwMode="auto">
              <a:xfrm>
                <a:off x="3849004" y="3967887"/>
                <a:ext cx="27226" cy="15371"/>
              </a:xfrm>
              <a:custGeom>
                <a:avLst/>
                <a:gdLst/>
                <a:ahLst/>
                <a:cxnLst>
                  <a:cxn ang="0">
                    <a:pos x="8" y="0"/>
                  </a:cxn>
                  <a:cxn ang="0">
                    <a:pos x="8" y="0"/>
                  </a:cxn>
                  <a:cxn ang="0">
                    <a:pos x="4" y="2"/>
                  </a:cxn>
                  <a:cxn ang="0">
                    <a:pos x="0" y="4"/>
                  </a:cxn>
                  <a:cxn ang="0">
                    <a:pos x="2" y="6"/>
                  </a:cxn>
                  <a:cxn ang="0">
                    <a:pos x="6" y="6"/>
                  </a:cxn>
                  <a:cxn ang="0">
                    <a:pos x="6" y="8"/>
                  </a:cxn>
                  <a:cxn ang="0">
                    <a:pos x="8" y="10"/>
                  </a:cxn>
                  <a:cxn ang="0">
                    <a:pos x="14" y="14"/>
                  </a:cxn>
                  <a:cxn ang="0">
                    <a:pos x="20" y="16"/>
                  </a:cxn>
                  <a:cxn ang="0">
                    <a:pos x="20" y="12"/>
                  </a:cxn>
                  <a:cxn ang="0">
                    <a:pos x="28" y="12"/>
                  </a:cxn>
                  <a:cxn ang="0">
                    <a:pos x="28" y="8"/>
                  </a:cxn>
                  <a:cxn ang="0">
                    <a:pos x="22" y="2"/>
                  </a:cxn>
                  <a:cxn ang="0">
                    <a:pos x="18" y="2"/>
                  </a:cxn>
                  <a:cxn ang="0">
                    <a:pos x="14" y="2"/>
                  </a:cxn>
                  <a:cxn ang="0">
                    <a:pos x="8" y="0"/>
                  </a:cxn>
                  <a:cxn ang="0">
                    <a:pos x="8" y="0"/>
                  </a:cxn>
                </a:cxnLst>
                <a:rect l="0" t="0" r="r" b="b"/>
                <a:pathLst>
                  <a:path w="28" h="16">
                    <a:moveTo>
                      <a:pt x="8" y="0"/>
                    </a:moveTo>
                    <a:lnTo>
                      <a:pt x="8" y="0"/>
                    </a:lnTo>
                    <a:lnTo>
                      <a:pt x="4" y="2"/>
                    </a:lnTo>
                    <a:lnTo>
                      <a:pt x="0" y="4"/>
                    </a:lnTo>
                    <a:lnTo>
                      <a:pt x="2" y="6"/>
                    </a:lnTo>
                    <a:lnTo>
                      <a:pt x="6" y="6"/>
                    </a:lnTo>
                    <a:lnTo>
                      <a:pt x="6" y="8"/>
                    </a:lnTo>
                    <a:lnTo>
                      <a:pt x="8" y="10"/>
                    </a:lnTo>
                    <a:lnTo>
                      <a:pt x="14" y="14"/>
                    </a:lnTo>
                    <a:lnTo>
                      <a:pt x="20" y="16"/>
                    </a:lnTo>
                    <a:lnTo>
                      <a:pt x="20" y="12"/>
                    </a:lnTo>
                    <a:lnTo>
                      <a:pt x="28" y="12"/>
                    </a:lnTo>
                    <a:lnTo>
                      <a:pt x="28" y="8"/>
                    </a:lnTo>
                    <a:lnTo>
                      <a:pt x="22" y="2"/>
                    </a:lnTo>
                    <a:lnTo>
                      <a:pt x="18" y="2"/>
                    </a:lnTo>
                    <a:lnTo>
                      <a:pt x="14" y="2"/>
                    </a:lnTo>
                    <a:lnTo>
                      <a:pt x="8" y="0"/>
                    </a:lnTo>
                    <a:lnTo>
                      <a:pt x="8"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36" name="Freeform 309">
                <a:extLst>
                  <a:ext uri="{FF2B5EF4-FFF2-40B4-BE49-F238E27FC236}">
                    <a16:creationId xmlns:a16="http://schemas.microsoft.com/office/drawing/2014/main" id="{7B246F85-56A3-0D37-54A2-992644EB3BA9}"/>
                  </a:ext>
                </a:extLst>
              </p:cNvPr>
              <p:cNvSpPr>
                <a:spLocks/>
              </p:cNvSpPr>
              <p:nvPr/>
            </p:nvSpPr>
            <p:spPr bwMode="auto">
              <a:xfrm>
                <a:off x="4994429" y="3656625"/>
                <a:ext cx="36949" cy="24978"/>
              </a:xfrm>
              <a:custGeom>
                <a:avLst/>
                <a:gdLst/>
                <a:ahLst/>
                <a:cxnLst>
                  <a:cxn ang="0">
                    <a:pos x="2" y="0"/>
                  </a:cxn>
                  <a:cxn ang="0">
                    <a:pos x="2" y="0"/>
                  </a:cxn>
                  <a:cxn ang="0">
                    <a:pos x="2" y="2"/>
                  </a:cxn>
                  <a:cxn ang="0">
                    <a:pos x="0" y="2"/>
                  </a:cxn>
                  <a:cxn ang="0">
                    <a:pos x="0" y="8"/>
                  </a:cxn>
                  <a:cxn ang="0">
                    <a:pos x="6" y="12"/>
                  </a:cxn>
                  <a:cxn ang="0">
                    <a:pos x="12" y="14"/>
                  </a:cxn>
                  <a:cxn ang="0">
                    <a:pos x="14" y="18"/>
                  </a:cxn>
                  <a:cxn ang="0">
                    <a:pos x="16" y="18"/>
                  </a:cxn>
                  <a:cxn ang="0">
                    <a:pos x="20" y="18"/>
                  </a:cxn>
                  <a:cxn ang="0">
                    <a:pos x="22" y="20"/>
                  </a:cxn>
                  <a:cxn ang="0">
                    <a:pos x="28" y="24"/>
                  </a:cxn>
                  <a:cxn ang="0">
                    <a:pos x="28" y="26"/>
                  </a:cxn>
                  <a:cxn ang="0">
                    <a:pos x="34" y="26"/>
                  </a:cxn>
                  <a:cxn ang="0">
                    <a:pos x="32" y="20"/>
                  </a:cxn>
                  <a:cxn ang="0">
                    <a:pos x="36" y="18"/>
                  </a:cxn>
                  <a:cxn ang="0">
                    <a:pos x="36" y="14"/>
                  </a:cxn>
                  <a:cxn ang="0">
                    <a:pos x="36" y="10"/>
                  </a:cxn>
                  <a:cxn ang="0">
                    <a:pos x="36" y="8"/>
                  </a:cxn>
                  <a:cxn ang="0">
                    <a:pos x="36" y="6"/>
                  </a:cxn>
                  <a:cxn ang="0">
                    <a:pos x="38" y="4"/>
                  </a:cxn>
                  <a:cxn ang="0">
                    <a:pos x="38" y="0"/>
                  </a:cxn>
                  <a:cxn ang="0">
                    <a:pos x="26" y="4"/>
                  </a:cxn>
                  <a:cxn ang="0">
                    <a:pos x="20" y="6"/>
                  </a:cxn>
                  <a:cxn ang="0">
                    <a:pos x="14" y="4"/>
                  </a:cxn>
                  <a:cxn ang="0">
                    <a:pos x="10" y="2"/>
                  </a:cxn>
                  <a:cxn ang="0">
                    <a:pos x="8" y="2"/>
                  </a:cxn>
                  <a:cxn ang="0">
                    <a:pos x="4" y="2"/>
                  </a:cxn>
                  <a:cxn ang="0">
                    <a:pos x="2" y="0"/>
                  </a:cxn>
                  <a:cxn ang="0">
                    <a:pos x="2" y="0"/>
                  </a:cxn>
                </a:cxnLst>
                <a:rect l="0" t="0" r="r" b="b"/>
                <a:pathLst>
                  <a:path w="38" h="26">
                    <a:moveTo>
                      <a:pt x="2" y="0"/>
                    </a:moveTo>
                    <a:lnTo>
                      <a:pt x="2" y="0"/>
                    </a:lnTo>
                    <a:lnTo>
                      <a:pt x="2" y="2"/>
                    </a:lnTo>
                    <a:lnTo>
                      <a:pt x="0" y="2"/>
                    </a:lnTo>
                    <a:lnTo>
                      <a:pt x="0" y="8"/>
                    </a:lnTo>
                    <a:lnTo>
                      <a:pt x="6" y="12"/>
                    </a:lnTo>
                    <a:lnTo>
                      <a:pt x="12" y="14"/>
                    </a:lnTo>
                    <a:lnTo>
                      <a:pt x="14" y="18"/>
                    </a:lnTo>
                    <a:lnTo>
                      <a:pt x="16" y="18"/>
                    </a:lnTo>
                    <a:lnTo>
                      <a:pt x="20" y="18"/>
                    </a:lnTo>
                    <a:lnTo>
                      <a:pt x="22" y="20"/>
                    </a:lnTo>
                    <a:lnTo>
                      <a:pt x="28" y="24"/>
                    </a:lnTo>
                    <a:lnTo>
                      <a:pt x="28" y="26"/>
                    </a:lnTo>
                    <a:lnTo>
                      <a:pt x="34" y="26"/>
                    </a:lnTo>
                    <a:lnTo>
                      <a:pt x="32" y="20"/>
                    </a:lnTo>
                    <a:lnTo>
                      <a:pt x="36" y="18"/>
                    </a:lnTo>
                    <a:lnTo>
                      <a:pt x="36" y="14"/>
                    </a:lnTo>
                    <a:lnTo>
                      <a:pt x="36" y="10"/>
                    </a:lnTo>
                    <a:lnTo>
                      <a:pt x="36" y="8"/>
                    </a:lnTo>
                    <a:lnTo>
                      <a:pt x="36" y="6"/>
                    </a:lnTo>
                    <a:lnTo>
                      <a:pt x="38" y="4"/>
                    </a:lnTo>
                    <a:lnTo>
                      <a:pt x="38" y="0"/>
                    </a:lnTo>
                    <a:lnTo>
                      <a:pt x="26" y="4"/>
                    </a:lnTo>
                    <a:lnTo>
                      <a:pt x="20" y="6"/>
                    </a:lnTo>
                    <a:lnTo>
                      <a:pt x="14" y="4"/>
                    </a:lnTo>
                    <a:lnTo>
                      <a:pt x="10" y="2"/>
                    </a:lnTo>
                    <a:lnTo>
                      <a:pt x="8" y="2"/>
                    </a:lnTo>
                    <a:lnTo>
                      <a:pt x="4" y="2"/>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37" name="Freeform 310">
                <a:extLst>
                  <a:ext uri="{FF2B5EF4-FFF2-40B4-BE49-F238E27FC236}">
                    <a16:creationId xmlns:a16="http://schemas.microsoft.com/office/drawing/2014/main" id="{2BFCD373-5C86-197E-23C0-C8547E9DB974}"/>
                  </a:ext>
                </a:extLst>
              </p:cNvPr>
              <p:cNvSpPr>
                <a:spLocks/>
              </p:cNvSpPr>
              <p:nvPr/>
            </p:nvSpPr>
            <p:spPr bwMode="auto">
              <a:xfrm>
                <a:off x="4941923" y="3602826"/>
                <a:ext cx="19447" cy="38427"/>
              </a:xfrm>
              <a:custGeom>
                <a:avLst/>
                <a:gdLst/>
                <a:ahLst/>
                <a:cxnLst>
                  <a:cxn ang="0">
                    <a:pos x="12" y="0"/>
                  </a:cxn>
                  <a:cxn ang="0">
                    <a:pos x="12" y="0"/>
                  </a:cxn>
                  <a:cxn ang="0">
                    <a:pos x="2" y="8"/>
                  </a:cxn>
                  <a:cxn ang="0">
                    <a:pos x="0" y="8"/>
                  </a:cxn>
                  <a:cxn ang="0">
                    <a:pos x="2" y="16"/>
                  </a:cxn>
                  <a:cxn ang="0">
                    <a:pos x="2" y="26"/>
                  </a:cxn>
                  <a:cxn ang="0">
                    <a:pos x="6" y="36"/>
                  </a:cxn>
                  <a:cxn ang="0">
                    <a:pos x="8" y="38"/>
                  </a:cxn>
                  <a:cxn ang="0">
                    <a:pos x="10" y="40"/>
                  </a:cxn>
                  <a:cxn ang="0">
                    <a:pos x="12" y="40"/>
                  </a:cxn>
                  <a:cxn ang="0">
                    <a:pos x="16" y="36"/>
                  </a:cxn>
                  <a:cxn ang="0">
                    <a:pos x="20" y="12"/>
                  </a:cxn>
                  <a:cxn ang="0">
                    <a:pos x="16" y="8"/>
                  </a:cxn>
                  <a:cxn ang="0">
                    <a:pos x="16" y="4"/>
                  </a:cxn>
                  <a:cxn ang="0">
                    <a:pos x="14" y="2"/>
                  </a:cxn>
                  <a:cxn ang="0">
                    <a:pos x="12" y="0"/>
                  </a:cxn>
                </a:cxnLst>
                <a:rect l="0" t="0" r="r" b="b"/>
                <a:pathLst>
                  <a:path w="20" h="40">
                    <a:moveTo>
                      <a:pt x="12" y="0"/>
                    </a:moveTo>
                    <a:lnTo>
                      <a:pt x="12" y="0"/>
                    </a:lnTo>
                    <a:lnTo>
                      <a:pt x="2" y="8"/>
                    </a:lnTo>
                    <a:lnTo>
                      <a:pt x="0" y="8"/>
                    </a:lnTo>
                    <a:lnTo>
                      <a:pt x="2" y="16"/>
                    </a:lnTo>
                    <a:lnTo>
                      <a:pt x="2" y="26"/>
                    </a:lnTo>
                    <a:lnTo>
                      <a:pt x="6" y="36"/>
                    </a:lnTo>
                    <a:lnTo>
                      <a:pt x="8" y="38"/>
                    </a:lnTo>
                    <a:lnTo>
                      <a:pt x="10" y="40"/>
                    </a:lnTo>
                    <a:lnTo>
                      <a:pt x="12" y="40"/>
                    </a:lnTo>
                    <a:lnTo>
                      <a:pt x="16" y="36"/>
                    </a:lnTo>
                    <a:lnTo>
                      <a:pt x="20" y="12"/>
                    </a:lnTo>
                    <a:lnTo>
                      <a:pt x="16" y="8"/>
                    </a:lnTo>
                    <a:lnTo>
                      <a:pt x="16" y="4"/>
                    </a:lnTo>
                    <a:lnTo>
                      <a:pt x="14" y="2"/>
                    </a:lnTo>
                    <a:lnTo>
                      <a:pt x="1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38" name="Freeform 311">
                <a:extLst>
                  <a:ext uri="{FF2B5EF4-FFF2-40B4-BE49-F238E27FC236}">
                    <a16:creationId xmlns:a16="http://schemas.microsoft.com/office/drawing/2014/main" id="{B38DF8E3-5CD5-E8AD-D6C4-6B3CE43651F1}"/>
                  </a:ext>
                </a:extLst>
              </p:cNvPr>
              <p:cNvSpPr>
                <a:spLocks/>
              </p:cNvSpPr>
              <p:nvPr/>
            </p:nvSpPr>
            <p:spPr bwMode="auto">
              <a:xfrm>
                <a:off x="4941923" y="3602826"/>
                <a:ext cx="19447" cy="38427"/>
              </a:xfrm>
              <a:custGeom>
                <a:avLst/>
                <a:gdLst/>
                <a:ahLst/>
                <a:cxnLst>
                  <a:cxn ang="0">
                    <a:pos x="12" y="0"/>
                  </a:cxn>
                  <a:cxn ang="0">
                    <a:pos x="12" y="0"/>
                  </a:cxn>
                  <a:cxn ang="0">
                    <a:pos x="2" y="8"/>
                  </a:cxn>
                  <a:cxn ang="0">
                    <a:pos x="0" y="8"/>
                  </a:cxn>
                  <a:cxn ang="0">
                    <a:pos x="2" y="16"/>
                  </a:cxn>
                  <a:cxn ang="0">
                    <a:pos x="2" y="26"/>
                  </a:cxn>
                  <a:cxn ang="0">
                    <a:pos x="6" y="36"/>
                  </a:cxn>
                  <a:cxn ang="0">
                    <a:pos x="8" y="38"/>
                  </a:cxn>
                  <a:cxn ang="0">
                    <a:pos x="10" y="40"/>
                  </a:cxn>
                  <a:cxn ang="0">
                    <a:pos x="12" y="40"/>
                  </a:cxn>
                  <a:cxn ang="0">
                    <a:pos x="16" y="36"/>
                  </a:cxn>
                  <a:cxn ang="0">
                    <a:pos x="20" y="12"/>
                  </a:cxn>
                  <a:cxn ang="0">
                    <a:pos x="16" y="8"/>
                  </a:cxn>
                  <a:cxn ang="0">
                    <a:pos x="16" y="4"/>
                  </a:cxn>
                  <a:cxn ang="0">
                    <a:pos x="14" y="2"/>
                  </a:cxn>
                  <a:cxn ang="0">
                    <a:pos x="12" y="0"/>
                  </a:cxn>
                </a:cxnLst>
                <a:rect l="0" t="0" r="r" b="b"/>
                <a:pathLst>
                  <a:path w="20" h="40">
                    <a:moveTo>
                      <a:pt x="12" y="0"/>
                    </a:moveTo>
                    <a:lnTo>
                      <a:pt x="12" y="0"/>
                    </a:lnTo>
                    <a:lnTo>
                      <a:pt x="2" y="8"/>
                    </a:lnTo>
                    <a:lnTo>
                      <a:pt x="0" y="8"/>
                    </a:lnTo>
                    <a:lnTo>
                      <a:pt x="2" y="16"/>
                    </a:lnTo>
                    <a:lnTo>
                      <a:pt x="2" y="26"/>
                    </a:lnTo>
                    <a:lnTo>
                      <a:pt x="6" y="36"/>
                    </a:lnTo>
                    <a:lnTo>
                      <a:pt x="8" y="38"/>
                    </a:lnTo>
                    <a:lnTo>
                      <a:pt x="10" y="40"/>
                    </a:lnTo>
                    <a:lnTo>
                      <a:pt x="12" y="40"/>
                    </a:lnTo>
                    <a:lnTo>
                      <a:pt x="16" y="36"/>
                    </a:lnTo>
                    <a:lnTo>
                      <a:pt x="20" y="12"/>
                    </a:lnTo>
                    <a:lnTo>
                      <a:pt x="16" y="8"/>
                    </a:lnTo>
                    <a:lnTo>
                      <a:pt x="16" y="4"/>
                    </a:lnTo>
                    <a:lnTo>
                      <a:pt x="14" y="2"/>
                    </a:lnTo>
                    <a:lnTo>
                      <a:pt x="1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39" name="Freeform 312">
                <a:extLst>
                  <a:ext uri="{FF2B5EF4-FFF2-40B4-BE49-F238E27FC236}">
                    <a16:creationId xmlns:a16="http://schemas.microsoft.com/office/drawing/2014/main" id="{54B8F796-1691-42AA-95B3-06EAD5BB867D}"/>
                  </a:ext>
                </a:extLst>
              </p:cNvPr>
              <p:cNvSpPr>
                <a:spLocks noEditPoints="1"/>
              </p:cNvSpPr>
              <p:nvPr/>
            </p:nvSpPr>
            <p:spPr bwMode="auto">
              <a:xfrm>
                <a:off x="5270576" y="3748851"/>
                <a:ext cx="21391" cy="55720"/>
              </a:xfrm>
              <a:custGeom>
                <a:avLst/>
                <a:gdLst/>
                <a:ahLst/>
                <a:cxnLst>
                  <a:cxn ang="0">
                    <a:pos x="20" y="20"/>
                  </a:cxn>
                  <a:cxn ang="0">
                    <a:pos x="20" y="20"/>
                  </a:cxn>
                  <a:cxn ang="0">
                    <a:pos x="20" y="22"/>
                  </a:cxn>
                  <a:cxn ang="0">
                    <a:pos x="20" y="28"/>
                  </a:cxn>
                  <a:cxn ang="0">
                    <a:pos x="18" y="28"/>
                  </a:cxn>
                  <a:cxn ang="0">
                    <a:pos x="16" y="28"/>
                  </a:cxn>
                  <a:cxn ang="0">
                    <a:pos x="14" y="28"/>
                  </a:cxn>
                  <a:cxn ang="0">
                    <a:pos x="14" y="20"/>
                  </a:cxn>
                  <a:cxn ang="0">
                    <a:pos x="14" y="14"/>
                  </a:cxn>
                  <a:cxn ang="0">
                    <a:pos x="14" y="12"/>
                  </a:cxn>
                  <a:cxn ang="0">
                    <a:pos x="16" y="10"/>
                  </a:cxn>
                  <a:cxn ang="0">
                    <a:pos x="18" y="10"/>
                  </a:cxn>
                  <a:cxn ang="0">
                    <a:pos x="20" y="12"/>
                  </a:cxn>
                  <a:cxn ang="0">
                    <a:pos x="18" y="14"/>
                  </a:cxn>
                  <a:cxn ang="0">
                    <a:pos x="16" y="16"/>
                  </a:cxn>
                  <a:cxn ang="0">
                    <a:pos x="16" y="22"/>
                  </a:cxn>
                  <a:cxn ang="0">
                    <a:pos x="20" y="20"/>
                  </a:cxn>
                  <a:cxn ang="0">
                    <a:pos x="20" y="20"/>
                  </a:cxn>
                  <a:cxn ang="0">
                    <a:pos x="4" y="20"/>
                  </a:cxn>
                  <a:cxn ang="0">
                    <a:pos x="4" y="20"/>
                  </a:cxn>
                  <a:cxn ang="0">
                    <a:pos x="0" y="24"/>
                  </a:cxn>
                  <a:cxn ang="0">
                    <a:pos x="2" y="26"/>
                  </a:cxn>
                  <a:cxn ang="0">
                    <a:pos x="6" y="24"/>
                  </a:cxn>
                  <a:cxn ang="0">
                    <a:pos x="4" y="20"/>
                  </a:cxn>
                  <a:cxn ang="0">
                    <a:pos x="4" y="20"/>
                  </a:cxn>
                  <a:cxn ang="0">
                    <a:pos x="6" y="58"/>
                  </a:cxn>
                  <a:cxn ang="0">
                    <a:pos x="6" y="58"/>
                  </a:cxn>
                  <a:cxn ang="0">
                    <a:pos x="12" y="52"/>
                  </a:cxn>
                  <a:cxn ang="0">
                    <a:pos x="16" y="46"/>
                  </a:cxn>
                  <a:cxn ang="0">
                    <a:pos x="16" y="42"/>
                  </a:cxn>
                  <a:cxn ang="0">
                    <a:pos x="16" y="38"/>
                  </a:cxn>
                  <a:cxn ang="0">
                    <a:pos x="18" y="34"/>
                  </a:cxn>
                  <a:cxn ang="0">
                    <a:pos x="20" y="28"/>
                  </a:cxn>
                  <a:cxn ang="0">
                    <a:pos x="18" y="28"/>
                  </a:cxn>
                  <a:cxn ang="0">
                    <a:pos x="16" y="28"/>
                  </a:cxn>
                  <a:cxn ang="0">
                    <a:pos x="14" y="28"/>
                  </a:cxn>
                  <a:cxn ang="0">
                    <a:pos x="14" y="20"/>
                  </a:cxn>
                  <a:cxn ang="0">
                    <a:pos x="14" y="14"/>
                  </a:cxn>
                  <a:cxn ang="0">
                    <a:pos x="14" y="12"/>
                  </a:cxn>
                  <a:cxn ang="0">
                    <a:pos x="16" y="10"/>
                  </a:cxn>
                  <a:cxn ang="0">
                    <a:pos x="18" y="10"/>
                  </a:cxn>
                  <a:cxn ang="0">
                    <a:pos x="20" y="12"/>
                  </a:cxn>
                  <a:cxn ang="0">
                    <a:pos x="20" y="10"/>
                  </a:cxn>
                  <a:cxn ang="0">
                    <a:pos x="22" y="6"/>
                  </a:cxn>
                  <a:cxn ang="0">
                    <a:pos x="20" y="0"/>
                  </a:cxn>
                  <a:cxn ang="0">
                    <a:pos x="18" y="0"/>
                  </a:cxn>
                  <a:cxn ang="0">
                    <a:pos x="16" y="2"/>
                  </a:cxn>
                  <a:cxn ang="0">
                    <a:pos x="14" y="2"/>
                  </a:cxn>
                  <a:cxn ang="0">
                    <a:pos x="10" y="2"/>
                  </a:cxn>
                  <a:cxn ang="0">
                    <a:pos x="10" y="6"/>
                  </a:cxn>
                  <a:cxn ang="0">
                    <a:pos x="6" y="12"/>
                  </a:cxn>
                  <a:cxn ang="0">
                    <a:pos x="6" y="16"/>
                  </a:cxn>
                  <a:cxn ang="0">
                    <a:pos x="6" y="20"/>
                  </a:cxn>
                  <a:cxn ang="0">
                    <a:pos x="4" y="20"/>
                  </a:cxn>
                  <a:cxn ang="0">
                    <a:pos x="6" y="24"/>
                  </a:cxn>
                  <a:cxn ang="0">
                    <a:pos x="2" y="26"/>
                  </a:cxn>
                  <a:cxn ang="0">
                    <a:pos x="4" y="34"/>
                  </a:cxn>
                  <a:cxn ang="0">
                    <a:pos x="6" y="58"/>
                  </a:cxn>
                  <a:cxn ang="0">
                    <a:pos x="6" y="58"/>
                  </a:cxn>
                </a:cxnLst>
                <a:rect l="0" t="0" r="r" b="b"/>
                <a:pathLst>
                  <a:path w="22" h="58">
                    <a:moveTo>
                      <a:pt x="20" y="20"/>
                    </a:moveTo>
                    <a:lnTo>
                      <a:pt x="20" y="20"/>
                    </a:lnTo>
                    <a:lnTo>
                      <a:pt x="20" y="22"/>
                    </a:lnTo>
                    <a:lnTo>
                      <a:pt x="20" y="28"/>
                    </a:lnTo>
                    <a:lnTo>
                      <a:pt x="18" y="28"/>
                    </a:lnTo>
                    <a:lnTo>
                      <a:pt x="16" y="28"/>
                    </a:lnTo>
                    <a:lnTo>
                      <a:pt x="14" y="28"/>
                    </a:lnTo>
                    <a:lnTo>
                      <a:pt x="14" y="20"/>
                    </a:lnTo>
                    <a:lnTo>
                      <a:pt x="14" y="14"/>
                    </a:lnTo>
                    <a:lnTo>
                      <a:pt x="14" y="12"/>
                    </a:lnTo>
                    <a:lnTo>
                      <a:pt x="16" y="10"/>
                    </a:lnTo>
                    <a:lnTo>
                      <a:pt x="18" y="10"/>
                    </a:lnTo>
                    <a:lnTo>
                      <a:pt x="20" y="12"/>
                    </a:lnTo>
                    <a:lnTo>
                      <a:pt x="18" y="14"/>
                    </a:lnTo>
                    <a:lnTo>
                      <a:pt x="16" y="16"/>
                    </a:lnTo>
                    <a:lnTo>
                      <a:pt x="16" y="22"/>
                    </a:lnTo>
                    <a:lnTo>
                      <a:pt x="20" y="20"/>
                    </a:lnTo>
                    <a:lnTo>
                      <a:pt x="20" y="20"/>
                    </a:lnTo>
                    <a:close/>
                    <a:moveTo>
                      <a:pt x="4" y="20"/>
                    </a:moveTo>
                    <a:lnTo>
                      <a:pt x="4" y="20"/>
                    </a:lnTo>
                    <a:lnTo>
                      <a:pt x="0" y="24"/>
                    </a:lnTo>
                    <a:lnTo>
                      <a:pt x="2" y="26"/>
                    </a:lnTo>
                    <a:lnTo>
                      <a:pt x="6" y="24"/>
                    </a:lnTo>
                    <a:lnTo>
                      <a:pt x="4" y="20"/>
                    </a:lnTo>
                    <a:lnTo>
                      <a:pt x="4" y="20"/>
                    </a:lnTo>
                    <a:close/>
                    <a:moveTo>
                      <a:pt x="6" y="58"/>
                    </a:moveTo>
                    <a:lnTo>
                      <a:pt x="6" y="58"/>
                    </a:lnTo>
                    <a:lnTo>
                      <a:pt x="12" y="52"/>
                    </a:lnTo>
                    <a:lnTo>
                      <a:pt x="16" y="46"/>
                    </a:lnTo>
                    <a:lnTo>
                      <a:pt x="16" y="42"/>
                    </a:lnTo>
                    <a:lnTo>
                      <a:pt x="16" y="38"/>
                    </a:lnTo>
                    <a:lnTo>
                      <a:pt x="18" y="34"/>
                    </a:lnTo>
                    <a:lnTo>
                      <a:pt x="20" y="28"/>
                    </a:lnTo>
                    <a:lnTo>
                      <a:pt x="18" y="28"/>
                    </a:lnTo>
                    <a:lnTo>
                      <a:pt x="16" y="28"/>
                    </a:lnTo>
                    <a:lnTo>
                      <a:pt x="14" y="28"/>
                    </a:lnTo>
                    <a:lnTo>
                      <a:pt x="14" y="20"/>
                    </a:lnTo>
                    <a:lnTo>
                      <a:pt x="14" y="14"/>
                    </a:lnTo>
                    <a:lnTo>
                      <a:pt x="14" y="12"/>
                    </a:lnTo>
                    <a:lnTo>
                      <a:pt x="16" y="10"/>
                    </a:lnTo>
                    <a:lnTo>
                      <a:pt x="18" y="10"/>
                    </a:lnTo>
                    <a:lnTo>
                      <a:pt x="20" y="12"/>
                    </a:lnTo>
                    <a:lnTo>
                      <a:pt x="20" y="10"/>
                    </a:lnTo>
                    <a:lnTo>
                      <a:pt x="22" y="6"/>
                    </a:lnTo>
                    <a:lnTo>
                      <a:pt x="20" y="0"/>
                    </a:lnTo>
                    <a:lnTo>
                      <a:pt x="18" y="0"/>
                    </a:lnTo>
                    <a:lnTo>
                      <a:pt x="16" y="2"/>
                    </a:lnTo>
                    <a:lnTo>
                      <a:pt x="14" y="2"/>
                    </a:lnTo>
                    <a:lnTo>
                      <a:pt x="10" y="2"/>
                    </a:lnTo>
                    <a:lnTo>
                      <a:pt x="10" y="6"/>
                    </a:lnTo>
                    <a:lnTo>
                      <a:pt x="6" y="12"/>
                    </a:lnTo>
                    <a:lnTo>
                      <a:pt x="6" y="16"/>
                    </a:lnTo>
                    <a:lnTo>
                      <a:pt x="6" y="20"/>
                    </a:lnTo>
                    <a:lnTo>
                      <a:pt x="4" y="20"/>
                    </a:lnTo>
                    <a:lnTo>
                      <a:pt x="6" y="24"/>
                    </a:lnTo>
                    <a:lnTo>
                      <a:pt x="2" y="26"/>
                    </a:lnTo>
                    <a:lnTo>
                      <a:pt x="4" y="34"/>
                    </a:lnTo>
                    <a:lnTo>
                      <a:pt x="6" y="58"/>
                    </a:lnTo>
                    <a:lnTo>
                      <a:pt x="6" y="5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40" name="Freeform 313">
                <a:extLst>
                  <a:ext uri="{FF2B5EF4-FFF2-40B4-BE49-F238E27FC236}">
                    <a16:creationId xmlns:a16="http://schemas.microsoft.com/office/drawing/2014/main" id="{8CB38208-38FF-6338-3839-B14AC8C2DEFD}"/>
                  </a:ext>
                </a:extLst>
              </p:cNvPr>
              <p:cNvSpPr>
                <a:spLocks/>
              </p:cNvSpPr>
              <p:nvPr/>
            </p:nvSpPr>
            <p:spPr bwMode="auto">
              <a:xfrm>
                <a:off x="5284189" y="3758457"/>
                <a:ext cx="5834" cy="17293"/>
              </a:xfrm>
              <a:custGeom>
                <a:avLst/>
                <a:gdLst/>
                <a:ahLst/>
                <a:cxnLst>
                  <a:cxn ang="0">
                    <a:pos x="6" y="10"/>
                  </a:cxn>
                  <a:cxn ang="0">
                    <a:pos x="6" y="10"/>
                  </a:cxn>
                  <a:cxn ang="0">
                    <a:pos x="6" y="12"/>
                  </a:cxn>
                  <a:cxn ang="0">
                    <a:pos x="6" y="18"/>
                  </a:cxn>
                  <a:cxn ang="0">
                    <a:pos x="4" y="18"/>
                  </a:cxn>
                  <a:cxn ang="0">
                    <a:pos x="2" y="18"/>
                  </a:cxn>
                  <a:cxn ang="0">
                    <a:pos x="0" y="18"/>
                  </a:cxn>
                  <a:cxn ang="0">
                    <a:pos x="0" y="10"/>
                  </a:cxn>
                  <a:cxn ang="0">
                    <a:pos x="0" y="4"/>
                  </a:cxn>
                  <a:cxn ang="0">
                    <a:pos x="0" y="2"/>
                  </a:cxn>
                  <a:cxn ang="0">
                    <a:pos x="2" y="0"/>
                  </a:cxn>
                  <a:cxn ang="0">
                    <a:pos x="4" y="0"/>
                  </a:cxn>
                  <a:cxn ang="0">
                    <a:pos x="6" y="2"/>
                  </a:cxn>
                  <a:cxn ang="0">
                    <a:pos x="4" y="4"/>
                  </a:cxn>
                  <a:cxn ang="0">
                    <a:pos x="2" y="6"/>
                  </a:cxn>
                  <a:cxn ang="0">
                    <a:pos x="2" y="12"/>
                  </a:cxn>
                  <a:cxn ang="0">
                    <a:pos x="6" y="10"/>
                  </a:cxn>
                  <a:cxn ang="0">
                    <a:pos x="6" y="10"/>
                  </a:cxn>
                </a:cxnLst>
                <a:rect l="0" t="0" r="r" b="b"/>
                <a:pathLst>
                  <a:path w="6" h="18">
                    <a:moveTo>
                      <a:pt x="6" y="10"/>
                    </a:moveTo>
                    <a:lnTo>
                      <a:pt x="6" y="10"/>
                    </a:lnTo>
                    <a:lnTo>
                      <a:pt x="6" y="12"/>
                    </a:lnTo>
                    <a:lnTo>
                      <a:pt x="6" y="18"/>
                    </a:lnTo>
                    <a:lnTo>
                      <a:pt x="4" y="18"/>
                    </a:lnTo>
                    <a:lnTo>
                      <a:pt x="2" y="18"/>
                    </a:lnTo>
                    <a:lnTo>
                      <a:pt x="0" y="18"/>
                    </a:lnTo>
                    <a:lnTo>
                      <a:pt x="0" y="10"/>
                    </a:lnTo>
                    <a:lnTo>
                      <a:pt x="0" y="4"/>
                    </a:lnTo>
                    <a:lnTo>
                      <a:pt x="0" y="2"/>
                    </a:lnTo>
                    <a:lnTo>
                      <a:pt x="2" y="0"/>
                    </a:lnTo>
                    <a:lnTo>
                      <a:pt x="4" y="0"/>
                    </a:lnTo>
                    <a:lnTo>
                      <a:pt x="6" y="2"/>
                    </a:lnTo>
                    <a:lnTo>
                      <a:pt x="4" y="4"/>
                    </a:lnTo>
                    <a:lnTo>
                      <a:pt x="2" y="6"/>
                    </a:lnTo>
                    <a:lnTo>
                      <a:pt x="2" y="12"/>
                    </a:lnTo>
                    <a:lnTo>
                      <a:pt x="6" y="10"/>
                    </a:lnTo>
                    <a:lnTo>
                      <a:pt x="6" y="1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41" name="Freeform 314">
                <a:extLst>
                  <a:ext uri="{FF2B5EF4-FFF2-40B4-BE49-F238E27FC236}">
                    <a16:creationId xmlns:a16="http://schemas.microsoft.com/office/drawing/2014/main" id="{CC1CE8AC-F3AC-7D4D-1128-C1C2B4EB8FAF}"/>
                  </a:ext>
                </a:extLst>
              </p:cNvPr>
              <p:cNvSpPr>
                <a:spLocks/>
              </p:cNvSpPr>
              <p:nvPr/>
            </p:nvSpPr>
            <p:spPr bwMode="auto">
              <a:xfrm>
                <a:off x="5270576" y="3768064"/>
                <a:ext cx="5834" cy="5764"/>
              </a:xfrm>
              <a:custGeom>
                <a:avLst/>
                <a:gdLst/>
                <a:ahLst/>
                <a:cxnLst>
                  <a:cxn ang="0">
                    <a:pos x="4" y="0"/>
                  </a:cxn>
                  <a:cxn ang="0">
                    <a:pos x="4" y="0"/>
                  </a:cxn>
                  <a:cxn ang="0">
                    <a:pos x="0" y="4"/>
                  </a:cxn>
                  <a:cxn ang="0">
                    <a:pos x="2" y="6"/>
                  </a:cxn>
                  <a:cxn ang="0">
                    <a:pos x="6" y="4"/>
                  </a:cxn>
                  <a:cxn ang="0">
                    <a:pos x="4" y="0"/>
                  </a:cxn>
                </a:cxnLst>
                <a:rect l="0" t="0" r="r" b="b"/>
                <a:pathLst>
                  <a:path w="6" h="6">
                    <a:moveTo>
                      <a:pt x="4" y="0"/>
                    </a:moveTo>
                    <a:lnTo>
                      <a:pt x="4" y="0"/>
                    </a:lnTo>
                    <a:lnTo>
                      <a:pt x="0" y="4"/>
                    </a:lnTo>
                    <a:lnTo>
                      <a:pt x="2" y="6"/>
                    </a:lnTo>
                    <a:lnTo>
                      <a:pt x="6" y="4"/>
                    </a:lnTo>
                    <a:lnTo>
                      <a:pt x="4"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42" name="Freeform 315">
                <a:extLst>
                  <a:ext uri="{FF2B5EF4-FFF2-40B4-BE49-F238E27FC236}">
                    <a16:creationId xmlns:a16="http://schemas.microsoft.com/office/drawing/2014/main" id="{91F55725-509A-8129-7CC3-ECF24BF146EC}"/>
                  </a:ext>
                </a:extLst>
              </p:cNvPr>
              <p:cNvSpPr>
                <a:spLocks/>
              </p:cNvSpPr>
              <p:nvPr/>
            </p:nvSpPr>
            <p:spPr bwMode="auto">
              <a:xfrm>
                <a:off x="5270576" y="3768064"/>
                <a:ext cx="5834" cy="5764"/>
              </a:xfrm>
              <a:custGeom>
                <a:avLst/>
                <a:gdLst/>
                <a:ahLst/>
                <a:cxnLst>
                  <a:cxn ang="0">
                    <a:pos x="4" y="0"/>
                  </a:cxn>
                  <a:cxn ang="0">
                    <a:pos x="4" y="0"/>
                  </a:cxn>
                  <a:cxn ang="0">
                    <a:pos x="0" y="4"/>
                  </a:cxn>
                  <a:cxn ang="0">
                    <a:pos x="2" y="6"/>
                  </a:cxn>
                  <a:cxn ang="0">
                    <a:pos x="6" y="4"/>
                  </a:cxn>
                  <a:cxn ang="0">
                    <a:pos x="4" y="0"/>
                  </a:cxn>
                </a:cxnLst>
                <a:rect l="0" t="0" r="r" b="b"/>
                <a:pathLst>
                  <a:path w="6" h="6">
                    <a:moveTo>
                      <a:pt x="4" y="0"/>
                    </a:moveTo>
                    <a:lnTo>
                      <a:pt x="4" y="0"/>
                    </a:lnTo>
                    <a:lnTo>
                      <a:pt x="0" y="4"/>
                    </a:lnTo>
                    <a:lnTo>
                      <a:pt x="2" y="6"/>
                    </a:lnTo>
                    <a:lnTo>
                      <a:pt x="6" y="4"/>
                    </a:lnTo>
                    <a:lnTo>
                      <a:pt x="4"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43" name="Freeform 316">
                <a:extLst>
                  <a:ext uri="{FF2B5EF4-FFF2-40B4-BE49-F238E27FC236}">
                    <a16:creationId xmlns:a16="http://schemas.microsoft.com/office/drawing/2014/main" id="{A58AB032-8C25-D8DC-FEA2-F9D7B9058F09}"/>
                  </a:ext>
                </a:extLst>
              </p:cNvPr>
              <p:cNvSpPr>
                <a:spLocks/>
              </p:cNvSpPr>
              <p:nvPr/>
            </p:nvSpPr>
            <p:spPr bwMode="auto">
              <a:xfrm>
                <a:off x="5272520" y="3748851"/>
                <a:ext cx="19447" cy="55720"/>
              </a:xfrm>
              <a:custGeom>
                <a:avLst/>
                <a:gdLst/>
                <a:ahLst/>
                <a:cxnLst>
                  <a:cxn ang="0">
                    <a:pos x="4" y="58"/>
                  </a:cxn>
                  <a:cxn ang="0">
                    <a:pos x="4" y="58"/>
                  </a:cxn>
                  <a:cxn ang="0">
                    <a:pos x="10" y="52"/>
                  </a:cxn>
                  <a:cxn ang="0">
                    <a:pos x="14" y="46"/>
                  </a:cxn>
                  <a:cxn ang="0">
                    <a:pos x="14" y="42"/>
                  </a:cxn>
                  <a:cxn ang="0">
                    <a:pos x="14" y="38"/>
                  </a:cxn>
                  <a:cxn ang="0">
                    <a:pos x="16" y="34"/>
                  </a:cxn>
                  <a:cxn ang="0">
                    <a:pos x="18" y="28"/>
                  </a:cxn>
                  <a:cxn ang="0">
                    <a:pos x="16" y="28"/>
                  </a:cxn>
                  <a:cxn ang="0">
                    <a:pos x="14" y="28"/>
                  </a:cxn>
                  <a:cxn ang="0">
                    <a:pos x="12" y="28"/>
                  </a:cxn>
                  <a:cxn ang="0">
                    <a:pos x="12" y="20"/>
                  </a:cxn>
                  <a:cxn ang="0">
                    <a:pos x="12" y="14"/>
                  </a:cxn>
                  <a:cxn ang="0">
                    <a:pos x="12" y="12"/>
                  </a:cxn>
                  <a:cxn ang="0">
                    <a:pos x="14" y="10"/>
                  </a:cxn>
                  <a:cxn ang="0">
                    <a:pos x="16" y="10"/>
                  </a:cxn>
                  <a:cxn ang="0">
                    <a:pos x="18" y="12"/>
                  </a:cxn>
                  <a:cxn ang="0">
                    <a:pos x="18" y="10"/>
                  </a:cxn>
                  <a:cxn ang="0">
                    <a:pos x="20" y="6"/>
                  </a:cxn>
                  <a:cxn ang="0">
                    <a:pos x="18" y="0"/>
                  </a:cxn>
                  <a:cxn ang="0">
                    <a:pos x="16" y="0"/>
                  </a:cxn>
                  <a:cxn ang="0">
                    <a:pos x="14" y="2"/>
                  </a:cxn>
                  <a:cxn ang="0">
                    <a:pos x="12" y="2"/>
                  </a:cxn>
                  <a:cxn ang="0">
                    <a:pos x="8" y="2"/>
                  </a:cxn>
                  <a:cxn ang="0">
                    <a:pos x="8" y="6"/>
                  </a:cxn>
                  <a:cxn ang="0">
                    <a:pos x="4" y="12"/>
                  </a:cxn>
                  <a:cxn ang="0">
                    <a:pos x="4" y="16"/>
                  </a:cxn>
                  <a:cxn ang="0">
                    <a:pos x="4" y="20"/>
                  </a:cxn>
                  <a:cxn ang="0">
                    <a:pos x="2" y="20"/>
                  </a:cxn>
                  <a:cxn ang="0">
                    <a:pos x="4" y="24"/>
                  </a:cxn>
                  <a:cxn ang="0">
                    <a:pos x="0" y="26"/>
                  </a:cxn>
                  <a:cxn ang="0">
                    <a:pos x="2" y="34"/>
                  </a:cxn>
                  <a:cxn ang="0">
                    <a:pos x="4" y="58"/>
                  </a:cxn>
                </a:cxnLst>
                <a:rect l="0" t="0" r="r" b="b"/>
                <a:pathLst>
                  <a:path w="20" h="58">
                    <a:moveTo>
                      <a:pt x="4" y="58"/>
                    </a:moveTo>
                    <a:lnTo>
                      <a:pt x="4" y="58"/>
                    </a:lnTo>
                    <a:lnTo>
                      <a:pt x="10" y="52"/>
                    </a:lnTo>
                    <a:lnTo>
                      <a:pt x="14" y="46"/>
                    </a:lnTo>
                    <a:lnTo>
                      <a:pt x="14" y="42"/>
                    </a:lnTo>
                    <a:lnTo>
                      <a:pt x="14" y="38"/>
                    </a:lnTo>
                    <a:lnTo>
                      <a:pt x="16" y="34"/>
                    </a:lnTo>
                    <a:lnTo>
                      <a:pt x="18" y="28"/>
                    </a:lnTo>
                    <a:lnTo>
                      <a:pt x="16" y="28"/>
                    </a:lnTo>
                    <a:lnTo>
                      <a:pt x="14" y="28"/>
                    </a:lnTo>
                    <a:lnTo>
                      <a:pt x="12" y="28"/>
                    </a:lnTo>
                    <a:lnTo>
                      <a:pt x="12" y="20"/>
                    </a:lnTo>
                    <a:lnTo>
                      <a:pt x="12" y="14"/>
                    </a:lnTo>
                    <a:lnTo>
                      <a:pt x="12" y="12"/>
                    </a:lnTo>
                    <a:lnTo>
                      <a:pt x="14" y="10"/>
                    </a:lnTo>
                    <a:lnTo>
                      <a:pt x="16" y="10"/>
                    </a:lnTo>
                    <a:lnTo>
                      <a:pt x="18" y="12"/>
                    </a:lnTo>
                    <a:lnTo>
                      <a:pt x="18" y="10"/>
                    </a:lnTo>
                    <a:lnTo>
                      <a:pt x="20" y="6"/>
                    </a:lnTo>
                    <a:lnTo>
                      <a:pt x="18" y="0"/>
                    </a:lnTo>
                    <a:lnTo>
                      <a:pt x="16" y="0"/>
                    </a:lnTo>
                    <a:lnTo>
                      <a:pt x="14" y="2"/>
                    </a:lnTo>
                    <a:lnTo>
                      <a:pt x="12" y="2"/>
                    </a:lnTo>
                    <a:lnTo>
                      <a:pt x="8" y="2"/>
                    </a:lnTo>
                    <a:lnTo>
                      <a:pt x="8" y="6"/>
                    </a:lnTo>
                    <a:lnTo>
                      <a:pt x="4" y="12"/>
                    </a:lnTo>
                    <a:lnTo>
                      <a:pt x="4" y="16"/>
                    </a:lnTo>
                    <a:lnTo>
                      <a:pt x="4" y="20"/>
                    </a:lnTo>
                    <a:lnTo>
                      <a:pt x="2" y="20"/>
                    </a:lnTo>
                    <a:lnTo>
                      <a:pt x="4" y="24"/>
                    </a:lnTo>
                    <a:lnTo>
                      <a:pt x="0" y="26"/>
                    </a:lnTo>
                    <a:lnTo>
                      <a:pt x="2" y="34"/>
                    </a:lnTo>
                    <a:lnTo>
                      <a:pt x="4" y="58"/>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44" name="Freeform 317">
                <a:extLst>
                  <a:ext uri="{FF2B5EF4-FFF2-40B4-BE49-F238E27FC236}">
                    <a16:creationId xmlns:a16="http://schemas.microsoft.com/office/drawing/2014/main" id="{D555981B-828D-9EFA-D9C3-6415BC6E764B}"/>
                  </a:ext>
                </a:extLst>
              </p:cNvPr>
              <p:cNvSpPr>
                <a:spLocks/>
              </p:cNvSpPr>
              <p:nvPr/>
            </p:nvSpPr>
            <p:spPr bwMode="auto">
              <a:xfrm>
                <a:off x="5272520" y="3748851"/>
                <a:ext cx="19447" cy="55720"/>
              </a:xfrm>
              <a:custGeom>
                <a:avLst/>
                <a:gdLst/>
                <a:ahLst/>
                <a:cxnLst>
                  <a:cxn ang="0">
                    <a:pos x="4" y="58"/>
                  </a:cxn>
                  <a:cxn ang="0">
                    <a:pos x="4" y="58"/>
                  </a:cxn>
                  <a:cxn ang="0">
                    <a:pos x="10" y="52"/>
                  </a:cxn>
                  <a:cxn ang="0">
                    <a:pos x="14" y="46"/>
                  </a:cxn>
                  <a:cxn ang="0">
                    <a:pos x="14" y="42"/>
                  </a:cxn>
                  <a:cxn ang="0">
                    <a:pos x="14" y="38"/>
                  </a:cxn>
                  <a:cxn ang="0">
                    <a:pos x="16" y="34"/>
                  </a:cxn>
                  <a:cxn ang="0">
                    <a:pos x="18" y="28"/>
                  </a:cxn>
                  <a:cxn ang="0">
                    <a:pos x="16" y="28"/>
                  </a:cxn>
                  <a:cxn ang="0">
                    <a:pos x="14" y="28"/>
                  </a:cxn>
                  <a:cxn ang="0">
                    <a:pos x="12" y="28"/>
                  </a:cxn>
                  <a:cxn ang="0">
                    <a:pos x="12" y="20"/>
                  </a:cxn>
                  <a:cxn ang="0">
                    <a:pos x="12" y="14"/>
                  </a:cxn>
                  <a:cxn ang="0">
                    <a:pos x="12" y="12"/>
                  </a:cxn>
                  <a:cxn ang="0">
                    <a:pos x="14" y="10"/>
                  </a:cxn>
                  <a:cxn ang="0">
                    <a:pos x="16" y="10"/>
                  </a:cxn>
                  <a:cxn ang="0">
                    <a:pos x="18" y="12"/>
                  </a:cxn>
                  <a:cxn ang="0">
                    <a:pos x="18" y="10"/>
                  </a:cxn>
                  <a:cxn ang="0">
                    <a:pos x="20" y="6"/>
                  </a:cxn>
                  <a:cxn ang="0">
                    <a:pos x="18" y="0"/>
                  </a:cxn>
                  <a:cxn ang="0">
                    <a:pos x="16" y="0"/>
                  </a:cxn>
                  <a:cxn ang="0">
                    <a:pos x="14" y="2"/>
                  </a:cxn>
                  <a:cxn ang="0">
                    <a:pos x="12" y="2"/>
                  </a:cxn>
                  <a:cxn ang="0">
                    <a:pos x="8" y="2"/>
                  </a:cxn>
                  <a:cxn ang="0">
                    <a:pos x="8" y="6"/>
                  </a:cxn>
                  <a:cxn ang="0">
                    <a:pos x="4" y="12"/>
                  </a:cxn>
                  <a:cxn ang="0">
                    <a:pos x="4" y="16"/>
                  </a:cxn>
                  <a:cxn ang="0">
                    <a:pos x="4" y="20"/>
                  </a:cxn>
                  <a:cxn ang="0">
                    <a:pos x="2" y="20"/>
                  </a:cxn>
                  <a:cxn ang="0">
                    <a:pos x="4" y="24"/>
                  </a:cxn>
                  <a:cxn ang="0">
                    <a:pos x="0" y="26"/>
                  </a:cxn>
                  <a:cxn ang="0">
                    <a:pos x="2" y="34"/>
                  </a:cxn>
                  <a:cxn ang="0">
                    <a:pos x="4" y="58"/>
                  </a:cxn>
                </a:cxnLst>
                <a:rect l="0" t="0" r="r" b="b"/>
                <a:pathLst>
                  <a:path w="20" h="58">
                    <a:moveTo>
                      <a:pt x="4" y="58"/>
                    </a:moveTo>
                    <a:lnTo>
                      <a:pt x="4" y="58"/>
                    </a:lnTo>
                    <a:lnTo>
                      <a:pt x="10" y="52"/>
                    </a:lnTo>
                    <a:lnTo>
                      <a:pt x="14" y="46"/>
                    </a:lnTo>
                    <a:lnTo>
                      <a:pt x="14" y="42"/>
                    </a:lnTo>
                    <a:lnTo>
                      <a:pt x="14" y="38"/>
                    </a:lnTo>
                    <a:lnTo>
                      <a:pt x="16" y="34"/>
                    </a:lnTo>
                    <a:lnTo>
                      <a:pt x="18" y="28"/>
                    </a:lnTo>
                    <a:lnTo>
                      <a:pt x="16" y="28"/>
                    </a:lnTo>
                    <a:lnTo>
                      <a:pt x="14" y="28"/>
                    </a:lnTo>
                    <a:lnTo>
                      <a:pt x="12" y="28"/>
                    </a:lnTo>
                    <a:lnTo>
                      <a:pt x="12" y="20"/>
                    </a:lnTo>
                    <a:lnTo>
                      <a:pt x="12" y="14"/>
                    </a:lnTo>
                    <a:lnTo>
                      <a:pt x="12" y="12"/>
                    </a:lnTo>
                    <a:lnTo>
                      <a:pt x="14" y="10"/>
                    </a:lnTo>
                    <a:lnTo>
                      <a:pt x="16" y="10"/>
                    </a:lnTo>
                    <a:lnTo>
                      <a:pt x="18" y="12"/>
                    </a:lnTo>
                    <a:lnTo>
                      <a:pt x="18" y="10"/>
                    </a:lnTo>
                    <a:lnTo>
                      <a:pt x="20" y="6"/>
                    </a:lnTo>
                    <a:lnTo>
                      <a:pt x="18" y="0"/>
                    </a:lnTo>
                    <a:lnTo>
                      <a:pt x="16" y="0"/>
                    </a:lnTo>
                    <a:lnTo>
                      <a:pt x="14" y="2"/>
                    </a:lnTo>
                    <a:lnTo>
                      <a:pt x="12" y="2"/>
                    </a:lnTo>
                    <a:lnTo>
                      <a:pt x="8" y="2"/>
                    </a:lnTo>
                    <a:lnTo>
                      <a:pt x="8" y="6"/>
                    </a:lnTo>
                    <a:lnTo>
                      <a:pt x="4" y="12"/>
                    </a:lnTo>
                    <a:lnTo>
                      <a:pt x="4" y="16"/>
                    </a:lnTo>
                    <a:lnTo>
                      <a:pt x="4" y="20"/>
                    </a:lnTo>
                    <a:lnTo>
                      <a:pt x="2" y="20"/>
                    </a:lnTo>
                    <a:lnTo>
                      <a:pt x="4" y="24"/>
                    </a:lnTo>
                    <a:lnTo>
                      <a:pt x="0" y="26"/>
                    </a:lnTo>
                    <a:lnTo>
                      <a:pt x="2" y="34"/>
                    </a:lnTo>
                    <a:lnTo>
                      <a:pt x="4" y="58"/>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45" name="Freeform 318">
                <a:extLst>
                  <a:ext uri="{FF2B5EF4-FFF2-40B4-BE49-F238E27FC236}">
                    <a16:creationId xmlns:a16="http://schemas.microsoft.com/office/drawing/2014/main" id="{99663DE7-3C1A-06DF-6876-903D6057B171}"/>
                  </a:ext>
                </a:extLst>
              </p:cNvPr>
              <p:cNvSpPr>
                <a:spLocks/>
              </p:cNvSpPr>
              <p:nvPr/>
            </p:nvSpPr>
            <p:spPr bwMode="auto">
              <a:xfrm>
                <a:off x="4720227" y="3391476"/>
                <a:ext cx="3890" cy="3843"/>
              </a:xfrm>
              <a:custGeom>
                <a:avLst/>
                <a:gdLst/>
                <a:ahLst/>
                <a:cxnLst>
                  <a:cxn ang="0">
                    <a:pos x="4" y="0"/>
                  </a:cxn>
                  <a:cxn ang="0">
                    <a:pos x="4" y="0"/>
                  </a:cxn>
                  <a:cxn ang="0">
                    <a:pos x="4" y="2"/>
                  </a:cxn>
                  <a:cxn ang="0">
                    <a:pos x="2" y="4"/>
                  </a:cxn>
                  <a:cxn ang="0">
                    <a:pos x="0" y="4"/>
                  </a:cxn>
                  <a:cxn ang="0">
                    <a:pos x="4" y="0"/>
                  </a:cxn>
                </a:cxnLst>
                <a:rect l="0" t="0" r="r" b="b"/>
                <a:pathLst>
                  <a:path w="4" h="4">
                    <a:moveTo>
                      <a:pt x="4" y="0"/>
                    </a:moveTo>
                    <a:lnTo>
                      <a:pt x="4" y="0"/>
                    </a:lnTo>
                    <a:lnTo>
                      <a:pt x="4" y="2"/>
                    </a:lnTo>
                    <a:lnTo>
                      <a:pt x="2" y="4"/>
                    </a:lnTo>
                    <a:lnTo>
                      <a:pt x="0" y="4"/>
                    </a:lnTo>
                    <a:lnTo>
                      <a:pt x="4"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46" name="Freeform 319">
                <a:extLst>
                  <a:ext uri="{FF2B5EF4-FFF2-40B4-BE49-F238E27FC236}">
                    <a16:creationId xmlns:a16="http://schemas.microsoft.com/office/drawing/2014/main" id="{66DE0F55-1DB0-4650-5A41-2A14A0446CFE}"/>
                  </a:ext>
                </a:extLst>
              </p:cNvPr>
              <p:cNvSpPr>
                <a:spLocks/>
              </p:cNvSpPr>
              <p:nvPr/>
            </p:nvSpPr>
            <p:spPr bwMode="auto">
              <a:xfrm>
                <a:off x="4720227" y="3391476"/>
                <a:ext cx="3890" cy="3843"/>
              </a:xfrm>
              <a:custGeom>
                <a:avLst/>
                <a:gdLst/>
                <a:ahLst/>
                <a:cxnLst>
                  <a:cxn ang="0">
                    <a:pos x="4" y="0"/>
                  </a:cxn>
                  <a:cxn ang="0">
                    <a:pos x="4" y="0"/>
                  </a:cxn>
                  <a:cxn ang="0">
                    <a:pos x="4" y="2"/>
                  </a:cxn>
                  <a:cxn ang="0">
                    <a:pos x="2" y="4"/>
                  </a:cxn>
                  <a:cxn ang="0">
                    <a:pos x="0" y="4"/>
                  </a:cxn>
                  <a:cxn ang="0">
                    <a:pos x="4" y="0"/>
                  </a:cxn>
                </a:cxnLst>
                <a:rect l="0" t="0" r="r" b="b"/>
                <a:pathLst>
                  <a:path w="4" h="4">
                    <a:moveTo>
                      <a:pt x="4" y="0"/>
                    </a:moveTo>
                    <a:lnTo>
                      <a:pt x="4" y="0"/>
                    </a:lnTo>
                    <a:lnTo>
                      <a:pt x="4" y="2"/>
                    </a:lnTo>
                    <a:lnTo>
                      <a:pt x="2" y="4"/>
                    </a:lnTo>
                    <a:lnTo>
                      <a:pt x="0" y="4"/>
                    </a:lnTo>
                    <a:lnTo>
                      <a:pt x="4"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47" name="Freeform 321">
                <a:extLst>
                  <a:ext uri="{FF2B5EF4-FFF2-40B4-BE49-F238E27FC236}">
                    <a16:creationId xmlns:a16="http://schemas.microsoft.com/office/drawing/2014/main" id="{844FDBB6-281D-B7F5-15EE-DC993000354A}"/>
                  </a:ext>
                </a:extLst>
              </p:cNvPr>
              <p:cNvSpPr>
                <a:spLocks/>
              </p:cNvSpPr>
              <p:nvPr/>
            </p:nvSpPr>
            <p:spPr bwMode="auto">
              <a:xfrm>
                <a:off x="6396554" y="4292598"/>
                <a:ext cx="973" cy="1921"/>
              </a:xfrm>
              <a:custGeom>
                <a:avLst/>
                <a:gdLst/>
                <a:ahLst/>
                <a:cxnLst>
                  <a:cxn ang="0">
                    <a:pos x="0" y="0"/>
                  </a:cxn>
                  <a:cxn ang="0">
                    <a:pos x="0" y="2"/>
                  </a:cxn>
                  <a:cxn ang="0">
                    <a:pos x="0" y="0"/>
                  </a:cxn>
                </a:cxnLst>
                <a:rect l="0" t="0" r="r" b="b"/>
                <a:pathLst>
                  <a:path h="2">
                    <a:moveTo>
                      <a:pt x="0" y="0"/>
                    </a:move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48" name="Line 322">
                <a:extLst>
                  <a:ext uri="{FF2B5EF4-FFF2-40B4-BE49-F238E27FC236}">
                    <a16:creationId xmlns:a16="http://schemas.microsoft.com/office/drawing/2014/main" id="{479C3E8A-8500-6FA8-A04E-758CEBED1692}"/>
                  </a:ext>
                </a:extLst>
              </p:cNvPr>
              <p:cNvSpPr>
                <a:spLocks noChangeShapeType="1"/>
              </p:cNvSpPr>
              <p:nvPr/>
            </p:nvSpPr>
            <p:spPr bwMode="auto">
              <a:xfrm>
                <a:off x="6396554" y="4292598"/>
                <a:ext cx="973"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49" name="Freeform 323">
                <a:extLst>
                  <a:ext uri="{FF2B5EF4-FFF2-40B4-BE49-F238E27FC236}">
                    <a16:creationId xmlns:a16="http://schemas.microsoft.com/office/drawing/2014/main" id="{086D7A93-6CF4-A2C9-8B7E-7C578CFAE048}"/>
                  </a:ext>
                </a:extLst>
              </p:cNvPr>
              <p:cNvSpPr>
                <a:spLocks/>
              </p:cNvSpPr>
              <p:nvPr/>
            </p:nvSpPr>
            <p:spPr bwMode="auto">
              <a:xfrm>
                <a:off x="6396554" y="4292598"/>
                <a:ext cx="973" cy="1921"/>
              </a:xfrm>
              <a:custGeom>
                <a:avLst/>
                <a:gdLst/>
                <a:ahLst/>
                <a:cxnLst>
                  <a:cxn ang="0">
                    <a:pos x="0" y="0"/>
                  </a:cxn>
                  <a:cxn ang="0">
                    <a:pos x="0" y="2"/>
                  </a:cxn>
                  <a:cxn ang="0">
                    <a:pos x="0" y="0"/>
                  </a:cxn>
                </a:cxnLst>
                <a:rect l="0" t="0" r="r" b="b"/>
                <a:pathLst>
                  <a:path h="2">
                    <a:moveTo>
                      <a:pt x="0" y="0"/>
                    </a:moveTo>
                    <a:lnTo>
                      <a:pt x="0"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50" name="Line 324">
                <a:extLst>
                  <a:ext uri="{FF2B5EF4-FFF2-40B4-BE49-F238E27FC236}">
                    <a16:creationId xmlns:a16="http://schemas.microsoft.com/office/drawing/2014/main" id="{7067A2A4-EA7A-D8D7-ADBF-1908825C3D0C}"/>
                  </a:ext>
                </a:extLst>
              </p:cNvPr>
              <p:cNvSpPr>
                <a:spLocks noChangeShapeType="1"/>
              </p:cNvSpPr>
              <p:nvPr/>
            </p:nvSpPr>
            <p:spPr bwMode="auto">
              <a:xfrm>
                <a:off x="6396554" y="4292598"/>
                <a:ext cx="973"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51" name="Freeform 325">
                <a:extLst>
                  <a:ext uri="{FF2B5EF4-FFF2-40B4-BE49-F238E27FC236}">
                    <a16:creationId xmlns:a16="http://schemas.microsoft.com/office/drawing/2014/main" id="{2506E71C-69DB-4C60-3923-D36C1DBF1C8B}"/>
                  </a:ext>
                </a:extLst>
              </p:cNvPr>
              <p:cNvSpPr>
                <a:spLocks/>
              </p:cNvSpPr>
              <p:nvPr/>
            </p:nvSpPr>
            <p:spPr bwMode="auto">
              <a:xfrm>
                <a:off x="6141799" y="4271463"/>
                <a:ext cx="1944" cy="3843"/>
              </a:xfrm>
              <a:custGeom>
                <a:avLst/>
                <a:gdLst/>
                <a:ahLst/>
                <a:cxnLst>
                  <a:cxn ang="0">
                    <a:pos x="0" y="0"/>
                  </a:cxn>
                  <a:cxn ang="0">
                    <a:pos x="0" y="4"/>
                  </a:cxn>
                  <a:cxn ang="0">
                    <a:pos x="2" y="2"/>
                  </a:cxn>
                  <a:cxn ang="0">
                    <a:pos x="0" y="0"/>
                  </a:cxn>
                  <a:cxn ang="0">
                    <a:pos x="0" y="0"/>
                  </a:cxn>
                </a:cxnLst>
                <a:rect l="0" t="0" r="r" b="b"/>
                <a:pathLst>
                  <a:path w="2" h="4">
                    <a:moveTo>
                      <a:pt x="0" y="0"/>
                    </a:moveTo>
                    <a:lnTo>
                      <a:pt x="0" y="4"/>
                    </a:lnTo>
                    <a:lnTo>
                      <a:pt x="2" y="2"/>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52" name="Freeform 326">
                <a:extLst>
                  <a:ext uri="{FF2B5EF4-FFF2-40B4-BE49-F238E27FC236}">
                    <a16:creationId xmlns:a16="http://schemas.microsoft.com/office/drawing/2014/main" id="{31EF033C-9D5C-4A4E-622C-0202ADAAF31F}"/>
                  </a:ext>
                </a:extLst>
              </p:cNvPr>
              <p:cNvSpPr>
                <a:spLocks/>
              </p:cNvSpPr>
              <p:nvPr/>
            </p:nvSpPr>
            <p:spPr bwMode="auto">
              <a:xfrm>
                <a:off x="6141799" y="4271463"/>
                <a:ext cx="1944" cy="3843"/>
              </a:xfrm>
              <a:custGeom>
                <a:avLst/>
                <a:gdLst/>
                <a:ahLst/>
                <a:cxnLst>
                  <a:cxn ang="0">
                    <a:pos x="0" y="0"/>
                  </a:cxn>
                  <a:cxn ang="0">
                    <a:pos x="0" y="4"/>
                  </a:cxn>
                  <a:cxn ang="0">
                    <a:pos x="2" y="2"/>
                  </a:cxn>
                  <a:cxn ang="0">
                    <a:pos x="0" y="0"/>
                  </a:cxn>
                  <a:cxn ang="0">
                    <a:pos x="0" y="0"/>
                  </a:cxn>
                </a:cxnLst>
                <a:rect l="0" t="0" r="r" b="b"/>
                <a:pathLst>
                  <a:path w="2" h="4">
                    <a:moveTo>
                      <a:pt x="0" y="0"/>
                    </a:moveTo>
                    <a:lnTo>
                      <a:pt x="0" y="4"/>
                    </a:lnTo>
                    <a:lnTo>
                      <a:pt x="2" y="2"/>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53" name="Freeform 327">
                <a:extLst>
                  <a:ext uri="{FF2B5EF4-FFF2-40B4-BE49-F238E27FC236}">
                    <a16:creationId xmlns:a16="http://schemas.microsoft.com/office/drawing/2014/main" id="{8DFF2109-F402-6D8E-9034-47BC7ABB5EDB}"/>
                  </a:ext>
                </a:extLst>
              </p:cNvPr>
              <p:cNvSpPr>
                <a:spLocks noEditPoints="1"/>
              </p:cNvSpPr>
              <p:nvPr/>
            </p:nvSpPr>
            <p:spPr bwMode="auto">
              <a:xfrm>
                <a:off x="6032896" y="4175395"/>
                <a:ext cx="569796" cy="263228"/>
              </a:xfrm>
              <a:custGeom>
                <a:avLst/>
                <a:gdLst/>
                <a:ahLst/>
                <a:cxnLst>
                  <a:cxn ang="0">
                    <a:pos x="16" y="28"/>
                  </a:cxn>
                  <a:cxn ang="0">
                    <a:pos x="48" y="62"/>
                  </a:cxn>
                  <a:cxn ang="0">
                    <a:pos x="78" y="120"/>
                  </a:cxn>
                  <a:cxn ang="0">
                    <a:pos x="112" y="174"/>
                  </a:cxn>
                  <a:cxn ang="0">
                    <a:pos x="140" y="162"/>
                  </a:cxn>
                  <a:cxn ang="0">
                    <a:pos x="114" y="112"/>
                  </a:cxn>
                  <a:cxn ang="0">
                    <a:pos x="96" y="78"/>
                  </a:cxn>
                  <a:cxn ang="0">
                    <a:pos x="72" y="56"/>
                  </a:cxn>
                  <a:cxn ang="0">
                    <a:pos x="38" y="16"/>
                  </a:cxn>
                  <a:cxn ang="0">
                    <a:pos x="432" y="60"/>
                  </a:cxn>
                  <a:cxn ang="0">
                    <a:pos x="414" y="92"/>
                  </a:cxn>
                  <a:cxn ang="0">
                    <a:pos x="424" y="82"/>
                  </a:cxn>
                  <a:cxn ang="0">
                    <a:pos x="422" y="60"/>
                  </a:cxn>
                  <a:cxn ang="0">
                    <a:pos x="338" y="78"/>
                  </a:cxn>
                  <a:cxn ang="0">
                    <a:pos x="314" y="110"/>
                  </a:cxn>
                  <a:cxn ang="0">
                    <a:pos x="308" y="170"/>
                  </a:cxn>
                  <a:cxn ang="0">
                    <a:pos x="334" y="146"/>
                  </a:cxn>
                  <a:cxn ang="0">
                    <a:pos x="352" y="154"/>
                  </a:cxn>
                  <a:cxn ang="0">
                    <a:pos x="356" y="118"/>
                  </a:cxn>
                  <a:cxn ang="0">
                    <a:pos x="324" y="88"/>
                  </a:cxn>
                  <a:cxn ang="0">
                    <a:pos x="378" y="84"/>
                  </a:cxn>
                  <a:cxn ang="0">
                    <a:pos x="464" y="100"/>
                  </a:cxn>
                  <a:cxn ang="0">
                    <a:pos x="148" y="142"/>
                  </a:cxn>
                  <a:cxn ang="0">
                    <a:pos x="430" y="150"/>
                  </a:cxn>
                  <a:cxn ang="0">
                    <a:pos x="426" y="142"/>
                  </a:cxn>
                  <a:cxn ang="0">
                    <a:pos x="408" y="144"/>
                  </a:cxn>
                  <a:cxn ang="0">
                    <a:pos x="358" y="184"/>
                  </a:cxn>
                  <a:cxn ang="0">
                    <a:pos x="130" y="198"/>
                  </a:cxn>
                  <a:cxn ang="0">
                    <a:pos x="206" y="222"/>
                  </a:cxn>
                  <a:cxn ang="0">
                    <a:pos x="252" y="224"/>
                  </a:cxn>
                  <a:cxn ang="0">
                    <a:pos x="202" y="188"/>
                  </a:cxn>
                  <a:cxn ang="0">
                    <a:pos x="502" y="192"/>
                  </a:cxn>
                  <a:cxn ang="0">
                    <a:pos x="506" y="190"/>
                  </a:cxn>
                  <a:cxn ang="0">
                    <a:pos x="262" y="224"/>
                  </a:cxn>
                  <a:cxn ang="0">
                    <a:pos x="268" y="236"/>
                  </a:cxn>
                  <a:cxn ang="0">
                    <a:pos x="284" y="236"/>
                  </a:cxn>
                  <a:cxn ang="0">
                    <a:pos x="290" y="230"/>
                  </a:cxn>
                  <a:cxn ang="0">
                    <a:pos x="356" y="240"/>
                  </a:cxn>
                  <a:cxn ang="0">
                    <a:pos x="402" y="236"/>
                  </a:cxn>
                  <a:cxn ang="0">
                    <a:pos x="358" y="266"/>
                  </a:cxn>
                  <a:cxn ang="0">
                    <a:pos x="388" y="254"/>
                  </a:cxn>
                  <a:cxn ang="0">
                    <a:pos x="310" y="252"/>
                  </a:cxn>
                  <a:cxn ang="0">
                    <a:pos x="186" y="60"/>
                  </a:cxn>
                  <a:cxn ang="0">
                    <a:pos x="182" y="110"/>
                  </a:cxn>
                  <a:cxn ang="0">
                    <a:pos x="214" y="140"/>
                  </a:cxn>
                  <a:cxn ang="0">
                    <a:pos x="248" y="146"/>
                  </a:cxn>
                  <a:cxn ang="0">
                    <a:pos x="288" y="112"/>
                  </a:cxn>
                  <a:cxn ang="0">
                    <a:pos x="294" y="68"/>
                  </a:cxn>
                  <a:cxn ang="0">
                    <a:pos x="286" y="30"/>
                  </a:cxn>
                  <a:cxn ang="0">
                    <a:pos x="234" y="74"/>
                  </a:cxn>
                  <a:cxn ang="0">
                    <a:pos x="470" y="112"/>
                  </a:cxn>
                  <a:cxn ang="0">
                    <a:pos x="480" y="130"/>
                  </a:cxn>
                  <a:cxn ang="0">
                    <a:pos x="484" y="154"/>
                  </a:cxn>
                  <a:cxn ang="0">
                    <a:pos x="518" y="168"/>
                  </a:cxn>
                  <a:cxn ang="0">
                    <a:pos x="554" y="200"/>
                  </a:cxn>
                  <a:cxn ang="0">
                    <a:pos x="560" y="226"/>
                  </a:cxn>
                  <a:cxn ang="0">
                    <a:pos x="586" y="198"/>
                  </a:cxn>
                  <a:cxn ang="0">
                    <a:pos x="540" y="124"/>
                  </a:cxn>
                  <a:cxn ang="0">
                    <a:pos x="500" y="130"/>
                  </a:cxn>
                  <a:cxn ang="0">
                    <a:pos x="478" y="106"/>
                  </a:cxn>
                </a:cxnLst>
                <a:rect l="0" t="0" r="r" b="b"/>
                <a:pathLst>
                  <a:path w="586" h="274">
                    <a:moveTo>
                      <a:pt x="18" y="6"/>
                    </a:moveTo>
                    <a:lnTo>
                      <a:pt x="18" y="6"/>
                    </a:lnTo>
                    <a:lnTo>
                      <a:pt x="14" y="2"/>
                    </a:lnTo>
                    <a:lnTo>
                      <a:pt x="12" y="0"/>
                    </a:lnTo>
                    <a:lnTo>
                      <a:pt x="6" y="0"/>
                    </a:lnTo>
                    <a:lnTo>
                      <a:pt x="0" y="0"/>
                    </a:lnTo>
                    <a:lnTo>
                      <a:pt x="0" y="8"/>
                    </a:lnTo>
                    <a:lnTo>
                      <a:pt x="2" y="8"/>
                    </a:lnTo>
                    <a:lnTo>
                      <a:pt x="6" y="16"/>
                    </a:lnTo>
                    <a:lnTo>
                      <a:pt x="8" y="20"/>
                    </a:lnTo>
                    <a:lnTo>
                      <a:pt x="10" y="22"/>
                    </a:lnTo>
                    <a:lnTo>
                      <a:pt x="14" y="24"/>
                    </a:lnTo>
                    <a:lnTo>
                      <a:pt x="16" y="28"/>
                    </a:lnTo>
                    <a:lnTo>
                      <a:pt x="18" y="32"/>
                    </a:lnTo>
                    <a:lnTo>
                      <a:pt x="20" y="32"/>
                    </a:lnTo>
                    <a:lnTo>
                      <a:pt x="22" y="34"/>
                    </a:lnTo>
                    <a:lnTo>
                      <a:pt x="24" y="38"/>
                    </a:lnTo>
                    <a:lnTo>
                      <a:pt x="30" y="44"/>
                    </a:lnTo>
                    <a:lnTo>
                      <a:pt x="30" y="48"/>
                    </a:lnTo>
                    <a:lnTo>
                      <a:pt x="34" y="50"/>
                    </a:lnTo>
                    <a:lnTo>
                      <a:pt x="34" y="54"/>
                    </a:lnTo>
                    <a:lnTo>
                      <a:pt x="34" y="58"/>
                    </a:lnTo>
                    <a:lnTo>
                      <a:pt x="40" y="58"/>
                    </a:lnTo>
                    <a:lnTo>
                      <a:pt x="42" y="60"/>
                    </a:lnTo>
                    <a:lnTo>
                      <a:pt x="46" y="62"/>
                    </a:lnTo>
                    <a:lnTo>
                      <a:pt x="48" y="62"/>
                    </a:lnTo>
                    <a:lnTo>
                      <a:pt x="50" y="64"/>
                    </a:lnTo>
                    <a:lnTo>
                      <a:pt x="50" y="68"/>
                    </a:lnTo>
                    <a:lnTo>
                      <a:pt x="50" y="74"/>
                    </a:lnTo>
                    <a:lnTo>
                      <a:pt x="54" y="82"/>
                    </a:lnTo>
                    <a:lnTo>
                      <a:pt x="54" y="86"/>
                    </a:lnTo>
                    <a:lnTo>
                      <a:pt x="56" y="88"/>
                    </a:lnTo>
                    <a:lnTo>
                      <a:pt x="58" y="90"/>
                    </a:lnTo>
                    <a:lnTo>
                      <a:pt x="62" y="98"/>
                    </a:lnTo>
                    <a:lnTo>
                      <a:pt x="66" y="100"/>
                    </a:lnTo>
                    <a:lnTo>
                      <a:pt x="70" y="104"/>
                    </a:lnTo>
                    <a:lnTo>
                      <a:pt x="74" y="114"/>
                    </a:lnTo>
                    <a:lnTo>
                      <a:pt x="76" y="118"/>
                    </a:lnTo>
                    <a:lnTo>
                      <a:pt x="78" y="120"/>
                    </a:lnTo>
                    <a:lnTo>
                      <a:pt x="80" y="120"/>
                    </a:lnTo>
                    <a:lnTo>
                      <a:pt x="80" y="124"/>
                    </a:lnTo>
                    <a:lnTo>
                      <a:pt x="80" y="128"/>
                    </a:lnTo>
                    <a:lnTo>
                      <a:pt x="82" y="130"/>
                    </a:lnTo>
                    <a:lnTo>
                      <a:pt x="84" y="138"/>
                    </a:lnTo>
                    <a:lnTo>
                      <a:pt x="88" y="144"/>
                    </a:lnTo>
                    <a:lnTo>
                      <a:pt x="90" y="146"/>
                    </a:lnTo>
                    <a:lnTo>
                      <a:pt x="92" y="152"/>
                    </a:lnTo>
                    <a:lnTo>
                      <a:pt x="94" y="160"/>
                    </a:lnTo>
                    <a:lnTo>
                      <a:pt x="98" y="166"/>
                    </a:lnTo>
                    <a:lnTo>
                      <a:pt x="98" y="168"/>
                    </a:lnTo>
                    <a:lnTo>
                      <a:pt x="108" y="172"/>
                    </a:lnTo>
                    <a:lnTo>
                      <a:pt x="112" y="174"/>
                    </a:lnTo>
                    <a:lnTo>
                      <a:pt x="120" y="180"/>
                    </a:lnTo>
                    <a:lnTo>
                      <a:pt x="126" y="182"/>
                    </a:lnTo>
                    <a:lnTo>
                      <a:pt x="126" y="178"/>
                    </a:lnTo>
                    <a:lnTo>
                      <a:pt x="124" y="176"/>
                    </a:lnTo>
                    <a:lnTo>
                      <a:pt x="126" y="176"/>
                    </a:lnTo>
                    <a:lnTo>
                      <a:pt x="130" y="178"/>
                    </a:lnTo>
                    <a:lnTo>
                      <a:pt x="132" y="178"/>
                    </a:lnTo>
                    <a:lnTo>
                      <a:pt x="134" y="178"/>
                    </a:lnTo>
                    <a:lnTo>
                      <a:pt x="134" y="176"/>
                    </a:lnTo>
                    <a:lnTo>
                      <a:pt x="136" y="176"/>
                    </a:lnTo>
                    <a:lnTo>
                      <a:pt x="140" y="176"/>
                    </a:lnTo>
                    <a:lnTo>
                      <a:pt x="140" y="174"/>
                    </a:lnTo>
                    <a:lnTo>
                      <a:pt x="140" y="162"/>
                    </a:lnTo>
                    <a:lnTo>
                      <a:pt x="142" y="144"/>
                    </a:lnTo>
                    <a:lnTo>
                      <a:pt x="140" y="142"/>
                    </a:lnTo>
                    <a:lnTo>
                      <a:pt x="136" y="132"/>
                    </a:lnTo>
                    <a:lnTo>
                      <a:pt x="130" y="132"/>
                    </a:lnTo>
                    <a:lnTo>
                      <a:pt x="126" y="130"/>
                    </a:lnTo>
                    <a:lnTo>
                      <a:pt x="128" y="128"/>
                    </a:lnTo>
                    <a:lnTo>
                      <a:pt x="128" y="124"/>
                    </a:lnTo>
                    <a:lnTo>
                      <a:pt x="122" y="122"/>
                    </a:lnTo>
                    <a:lnTo>
                      <a:pt x="124" y="112"/>
                    </a:lnTo>
                    <a:lnTo>
                      <a:pt x="118" y="112"/>
                    </a:lnTo>
                    <a:lnTo>
                      <a:pt x="118" y="110"/>
                    </a:lnTo>
                    <a:lnTo>
                      <a:pt x="116" y="110"/>
                    </a:lnTo>
                    <a:lnTo>
                      <a:pt x="114" y="112"/>
                    </a:lnTo>
                    <a:lnTo>
                      <a:pt x="108" y="110"/>
                    </a:lnTo>
                    <a:lnTo>
                      <a:pt x="108" y="102"/>
                    </a:lnTo>
                    <a:lnTo>
                      <a:pt x="114" y="98"/>
                    </a:lnTo>
                    <a:lnTo>
                      <a:pt x="114" y="94"/>
                    </a:lnTo>
                    <a:lnTo>
                      <a:pt x="108" y="86"/>
                    </a:lnTo>
                    <a:lnTo>
                      <a:pt x="108" y="82"/>
                    </a:lnTo>
                    <a:lnTo>
                      <a:pt x="106" y="80"/>
                    </a:lnTo>
                    <a:lnTo>
                      <a:pt x="102" y="80"/>
                    </a:lnTo>
                    <a:lnTo>
                      <a:pt x="104" y="74"/>
                    </a:lnTo>
                    <a:lnTo>
                      <a:pt x="102" y="74"/>
                    </a:lnTo>
                    <a:lnTo>
                      <a:pt x="100" y="80"/>
                    </a:lnTo>
                    <a:lnTo>
                      <a:pt x="96" y="80"/>
                    </a:lnTo>
                    <a:lnTo>
                      <a:pt x="96" y="78"/>
                    </a:lnTo>
                    <a:lnTo>
                      <a:pt x="92" y="78"/>
                    </a:lnTo>
                    <a:lnTo>
                      <a:pt x="92" y="76"/>
                    </a:lnTo>
                    <a:lnTo>
                      <a:pt x="92" y="74"/>
                    </a:lnTo>
                    <a:lnTo>
                      <a:pt x="90" y="70"/>
                    </a:lnTo>
                    <a:lnTo>
                      <a:pt x="86" y="66"/>
                    </a:lnTo>
                    <a:lnTo>
                      <a:pt x="84" y="64"/>
                    </a:lnTo>
                    <a:lnTo>
                      <a:pt x="82" y="62"/>
                    </a:lnTo>
                    <a:lnTo>
                      <a:pt x="80" y="58"/>
                    </a:lnTo>
                    <a:lnTo>
                      <a:pt x="78" y="58"/>
                    </a:lnTo>
                    <a:lnTo>
                      <a:pt x="78" y="60"/>
                    </a:lnTo>
                    <a:lnTo>
                      <a:pt x="76" y="60"/>
                    </a:lnTo>
                    <a:lnTo>
                      <a:pt x="74" y="58"/>
                    </a:lnTo>
                    <a:lnTo>
                      <a:pt x="72" y="56"/>
                    </a:lnTo>
                    <a:lnTo>
                      <a:pt x="70" y="52"/>
                    </a:lnTo>
                    <a:lnTo>
                      <a:pt x="70" y="48"/>
                    </a:lnTo>
                    <a:lnTo>
                      <a:pt x="70" y="44"/>
                    </a:lnTo>
                    <a:lnTo>
                      <a:pt x="64" y="44"/>
                    </a:lnTo>
                    <a:lnTo>
                      <a:pt x="64" y="38"/>
                    </a:lnTo>
                    <a:lnTo>
                      <a:pt x="58" y="34"/>
                    </a:lnTo>
                    <a:lnTo>
                      <a:pt x="52" y="30"/>
                    </a:lnTo>
                    <a:lnTo>
                      <a:pt x="50" y="28"/>
                    </a:lnTo>
                    <a:lnTo>
                      <a:pt x="50" y="24"/>
                    </a:lnTo>
                    <a:lnTo>
                      <a:pt x="46" y="22"/>
                    </a:lnTo>
                    <a:lnTo>
                      <a:pt x="44" y="20"/>
                    </a:lnTo>
                    <a:lnTo>
                      <a:pt x="42" y="16"/>
                    </a:lnTo>
                    <a:lnTo>
                      <a:pt x="38" y="16"/>
                    </a:lnTo>
                    <a:lnTo>
                      <a:pt x="38" y="12"/>
                    </a:lnTo>
                    <a:lnTo>
                      <a:pt x="32" y="6"/>
                    </a:lnTo>
                    <a:lnTo>
                      <a:pt x="28" y="4"/>
                    </a:lnTo>
                    <a:lnTo>
                      <a:pt x="24" y="4"/>
                    </a:lnTo>
                    <a:lnTo>
                      <a:pt x="20" y="6"/>
                    </a:lnTo>
                    <a:lnTo>
                      <a:pt x="18" y="6"/>
                    </a:lnTo>
                    <a:lnTo>
                      <a:pt x="18" y="6"/>
                    </a:lnTo>
                    <a:close/>
                    <a:moveTo>
                      <a:pt x="426" y="50"/>
                    </a:moveTo>
                    <a:lnTo>
                      <a:pt x="426" y="50"/>
                    </a:lnTo>
                    <a:lnTo>
                      <a:pt x="428" y="62"/>
                    </a:lnTo>
                    <a:lnTo>
                      <a:pt x="432" y="62"/>
                    </a:lnTo>
                    <a:lnTo>
                      <a:pt x="434" y="60"/>
                    </a:lnTo>
                    <a:lnTo>
                      <a:pt x="432" y="60"/>
                    </a:lnTo>
                    <a:lnTo>
                      <a:pt x="432" y="54"/>
                    </a:lnTo>
                    <a:lnTo>
                      <a:pt x="426" y="50"/>
                    </a:lnTo>
                    <a:lnTo>
                      <a:pt x="426" y="50"/>
                    </a:lnTo>
                    <a:close/>
                    <a:moveTo>
                      <a:pt x="420" y="56"/>
                    </a:moveTo>
                    <a:lnTo>
                      <a:pt x="420" y="56"/>
                    </a:lnTo>
                    <a:lnTo>
                      <a:pt x="414" y="64"/>
                    </a:lnTo>
                    <a:lnTo>
                      <a:pt x="412" y="76"/>
                    </a:lnTo>
                    <a:lnTo>
                      <a:pt x="418" y="80"/>
                    </a:lnTo>
                    <a:lnTo>
                      <a:pt x="416" y="82"/>
                    </a:lnTo>
                    <a:lnTo>
                      <a:pt x="416" y="84"/>
                    </a:lnTo>
                    <a:lnTo>
                      <a:pt x="416" y="88"/>
                    </a:lnTo>
                    <a:lnTo>
                      <a:pt x="416" y="90"/>
                    </a:lnTo>
                    <a:lnTo>
                      <a:pt x="414" y="92"/>
                    </a:lnTo>
                    <a:lnTo>
                      <a:pt x="416" y="96"/>
                    </a:lnTo>
                    <a:lnTo>
                      <a:pt x="420" y="100"/>
                    </a:lnTo>
                    <a:lnTo>
                      <a:pt x="424" y="104"/>
                    </a:lnTo>
                    <a:lnTo>
                      <a:pt x="424" y="102"/>
                    </a:lnTo>
                    <a:lnTo>
                      <a:pt x="422" y="100"/>
                    </a:lnTo>
                    <a:lnTo>
                      <a:pt x="418" y="96"/>
                    </a:lnTo>
                    <a:lnTo>
                      <a:pt x="418" y="88"/>
                    </a:lnTo>
                    <a:lnTo>
                      <a:pt x="422" y="86"/>
                    </a:lnTo>
                    <a:lnTo>
                      <a:pt x="426" y="86"/>
                    </a:lnTo>
                    <a:lnTo>
                      <a:pt x="428" y="90"/>
                    </a:lnTo>
                    <a:lnTo>
                      <a:pt x="432" y="90"/>
                    </a:lnTo>
                    <a:lnTo>
                      <a:pt x="430" y="82"/>
                    </a:lnTo>
                    <a:lnTo>
                      <a:pt x="424" y="82"/>
                    </a:lnTo>
                    <a:lnTo>
                      <a:pt x="432" y="76"/>
                    </a:lnTo>
                    <a:lnTo>
                      <a:pt x="432" y="74"/>
                    </a:lnTo>
                    <a:lnTo>
                      <a:pt x="428" y="72"/>
                    </a:lnTo>
                    <a:lnTo>
                      <a:pt x="428" y="70"/>
                    </a:lnTo>
                    <a:lnTo>
                      <a:pt x="424" y="74"/>
                    </a:lnTo>
                    <a:lnTo>
                      <a:pt x="424" y="78"/>
                    </a:lnTo>
                    <a:lnTo>
                      <a:pt x="422" y="78"/>
                    </a:lnTo>
                    <a:lnTo>
                      <a:pt x="422" y="70"/>
                    </a:lnTo>
                    <a:lnTo>
                      <a:pt x="422" y="66"/>
                    </a:lnTo>
                    <a:lnTo>
                      <a:pt x="422" y="64"/>
                    </a:lnTo>
                    <a:lnTo>
                      <a:pt x="422" y="62"/>
                    </a:lnTo>
                    <a:lnTo>
                      <a:pt x="424" y="62"/>
                    </a:lnTo>
                    <a:lnTo>
                      <a:pt x="422" y="60"/>
                    </a:lnTo>
                    <a:lnTo>
                      <a:pt x="422" y="58"/>
                    </a:lnTo>
                    <a:lnTo>
                      <a:pt x="420" y="56"/>
                    </a:lnTo>
                    <a:lnTo>
                      <a:pt x="420" y="56"/>
                    </a:lnTo>
                    <a:close/>
                    <a:moveTo>
                      <a:pt x="380" y="68"/>
                    </a:moveTo>
                    <a:lnTo>
                      <a:pt x="380" y="68"/>
                    </a:lnTo>
                    <a:lnTo>
                      <a:pt x="378" y="72"/>
                    </a:lnTo>
                    <a:lnTo>
                      <a:pt x="376" y="72"/>
                    </a:lnTo>
                    <a:lnTo>
                      <a:pt x="376" y="76"/>
                    </a:lnTo>
                    <a:lnTo>
                      <a:pt x="368" y="80"/>
                    </a:lnTo>
                    <a:lnTo>
                      <a:pt x="354" y="80"/>
                    </a:lnTo>
                    <a:lnTo>
                      <a:pt x="340" y="80"/>
                    </a:lnTo>
                    <a:lnTo>
                      <a:pt x="340" y="78"/>
                    </a:lnTo>
                    <a:lnTo>
                      <a:pt x="338" y="78"/>
                    </a:lnTo>
                    <a:lnTo>
                      <a:pt x="336" y="78"/>
                    </a:lnTo>
                    <a:lnTo>
                      <a:pt x="336" y="74"/>
                    </a:lnTo>
                    <a:lnTo>
                      <a:pt x="332" y="74"/>
                    </a:lnTo>
                    <a:lnTo>
                      <a:pt x="328" y="74"/>
                    </a:lnTo>
                    <a:lnTo>
                      <a:pt x="322" y="78"/>
                    </a:lnTo>
                    <a:lnTo>
                      <a:pt x="322" y="80"/>
                    </a:lnTo>
                    <a:lnTo>
                      <a:pt x="320" y="80"/>
                    </a:lnTo>
                    <a:lnTo>
                      <a:pt x="320" y="78"/>
                    </a:lnTo>
                    <a:lnTo>
                      <a:pt x="316" y="84"/>
                    </a:lnTo>
                    <a:lnTo>
                      <a:pt x="316" y="86"/>
                    </a:lnTo>
                    <a:lnTo>
                      <a:pt x="316" y="90"/>
                    </a:lnTo>
                    <a:lnTo>
                      <a:pt x="316" y="102"/>
                    </a:lnTo>
                    <a:lnTo>
                      <a:pt x="314" y="110"/>
                    </a:lnTo>
                    <a:lnTo>
                      <a:pt x="312" y="110"/>
                    </a:lnTo>
                    <a:lnTo>
                      <a:pt x="310" y="118"/>
                    </a:lnTo>
                    <a:lnTo>
                      <a:pt x="310" y="126"/>
                    </a:lnTo>
                    <a:lnTo>
                      <a:pt x="308" y="134"/>
                    </a:lnTo>
                    <a:lnTo>
                      <a:pt x="306" y="136"/>
                    </a:lnTo>
                    <a:lnTo>
                      <a:pt x="304" y="144"/>
                    </a:lnTo>
                    <a:lnTo>
                      <a:pt x="306" y="152"/>
                    </a:lnTo>
                    <a:lnTo>
                      <a:pt x="312" y="152"/>
                    </a:lnTo>
                    <a:lnTo>
                      <a:pt x="314" y="154"/>
                    </a:lnTo>
                    <a:lnTo>
                      <a:pt x="312" y="158"/>
                    </a:lnTo>
                    <a:lnTo>
                      <a:pt x="314" y="162"/>
                    </a:lnTo>
                    <a:lnTo>
                      <a:pt x="312" y="166"/>
                    </a:lnTo>
                    <a:lnTo>
                      <a:pt x="308" y="170"/>
                    </a:lnTo>
                    <a:lnTo>
                      <a:pt x="308" y="176"/>
                    </a:lnTo>
                    <a:lnTo>
                      <a:pt x="308" y="182"/>
                    </a:lnTo>
                    <a:lnTo>
                      <a:pt x="324" y="180"/>
                    </a:lnTo>
                    <a:lnTo>
                      <a:pt x="324" y="176"/>
                    </a:lnTo>
                    <a:lnTo>
                      <a:pt x="322" y="176"/>
                    </a:lnTo>
                    <a:lnTo>
                      <a:pt x="324" y="174"/>
                    </a:lnTo>
                    <a:lnTo>
                      <a:pt x="324" y="172"/>
                    </a:lnTo>
                    <a:lnTo>
                      <a:pt x="324" y="170"/>
                    </a:lnTo>
                    <a:lnTo>
                      <a:pt x="322" y="162"/>
                    </a:lnTo>
                    <a:lnTo>
                      <a:pt x="326" y="158"/>
                    </a:lnTo>
                    <a:lnTo>
                      <a:pt x="326" y="152"/>
                    </a:lnTo>
                    <a:lnTo>
                      <a:pt x="324" y="148"/>
                    </a:lnTo>
                    <a:lnTo>
                      <a:pt x="334" y="146"/>
                    </a:lnTo>
                    <a:lnTo>
                      <a:pt x="336" y="162"/>
                    </a:lnTo>
                    <a:lnTo>
                      <a:pt x="338" y="168"/>
                    </a:lnTo>
                    <a:lnTo>
                      <a:pt x="338" y="176"/>
                    </a:lnTo>
                    <a:lnTo>
                      <a:pt x="348" y="176"/>
                    </a:lnTo>
                    <a:lnTo>
                      <a:pt x="348" y="176"/>
                    </a:lnTo>
                    <a:lnTo>
                      <a:pt x="348" y="174"/>
                    </a:lnTo>
                    <a:lnTo>
                      <a:pt x="348" y="170"/>
                    </a:lnTo>
                    <a:lnTo>
                      <a:pt x="352" y="168"/>
                    </a:lnTo>
                    <a:lnTo>
                      <a:pt x="358" y="168"/>
                    </a:lnTo>
                    <a:lnTo>
                      <a:pt x="360" y="164"/>
                    </a:lnTo>
                    <a:lnTo>
                      <a:pt x="358" y="164"/>
                    </a:lnTo>
                    <a:lnTo>
                      <a:pt x="354" y="158"/>
                    </a:lnTo>
                    <a:lnTo>
                      <a:pt x="352" y="154"/>
                    </a:lnTo>
                    <a:lnTo>
                      <a:pt x="352" y="148"/>
                    </a:lnTo>
                    <a:lnTo>
                      <a:pt x="350" y="148"/>
                    </a:lnTo>
                    <a:lnTo>
                      <a:pt x="350" y="146"/>
                    </a:lnTo>
                    <a:lnTo>
                      <a:pt x="346" y="144"/>
                    </a:lnTo>
                    <a:lnTo>
                      <a:pt x="344" y="144"/>
                    </a:lnTo>
                    <a:lnTo>
                      <a:pt x="344" y="138"/>
                    </a:lnTo>
                    <a:lnTo>
                      <a:pt x="342" y="134"/>
                    </a:lnTo>
                    <a:lnTo>
                      <a:pt x="332" y="130"/>
                    </a:lnTo>
                    <a:lnTo>
                      <a:pt x="336" y="128"/>
                    </a:lnTo>
                    <a:lnTo>
                      <a:pt x="342" y="128"/>
                    </a:lnTo>
                    <a:lnTo>
                      <a:pt x="348" y="124"/>
                    </a:lnTo>
                    <a:lnTo>
                      <a:pt x="352" y="120"/>
                    </a:lnTo>
                    <a:lnTo>
                      <a:pt x="356" y="118"/>
                    </a:lnTo>
                    <a:lnTo>
                      <a:pt x="362" y="116"/>
                    </a:lnTo>
                    <a:lnTo>
                      <a:pt x="362" y="110"/>
                    </a:lnTo>
                    <a:lnTo>
                      <a:pt x="350" y="110"/>
                    </a:lnTo>
                    <a:lnTo>
                      <a:pt x="338" y="110"/>
                    </a:lnTo>
                    <a:lnTo>
                      <a:pt x="336" y="114"/>
                    </a:lnTo>
                    <a:lnTo>
                      <a:pt x="334" y="114"/>
                    </a:lnTo>
                    <a:lnTo>
                      <a:pt x="332" y="116"/>
                    </a:lnTo>
                    <a:lnTo>
                      <a:pt x="330" y="110"/>
                    </a:lnTo>
                    <a:lnTo>
                      <a:pt x="324" y="110"/>
                    </a:lnTo>
                    <a:lnTo>
                      <a:pt x="322" y="106"/>
                    </a:lnTo>
                    <a:lnTo>
                      <a:pt x="322" y="100"/>
                    </a:lnTo>
                    <a:lnTo>
                      <a:pt x="324" y="96"/>
                    </a:lnTo>
                    <a:lnTo>
                      <a:pt x="324" y="88"/>
                    </a:lnTo>
                    <a:lnTo>
                      <a:pt x="328" y="88"/>
                    </a:lnTo>
                    <a:lnTo>
                      <a:pt x="336" y="86"/>
                    </a:lnTo>
                    <a:lnTo>
                      <a:pt x="338" y="88"/>
                    </a:lnTo>
                    <a:lnTo>
                      <a:pt x="342" y="88"/>
                    </a:lnTo>
                    <a:lnTo>
                      <a:pt x="348" y="88"/>
                    </a:lnTo>
                    <a:lnTo>
                      <a:pt x="356" y="88"/>
                    </a:lnTo>
                    <a:lnTo>
                      <a:pt x="362" y="90"/>
                    </a:lnTo>
                    <a:lnTo>
                      <a:pt x="368" y="92"/>
                    </a:lnTo>
                    <a:lnTo>
                      <a:pt x="372" y="90"/>
                    </a:lnTo>
                    <a:lnTo>
                      <a:pt x="372" y="88"/>
                    </a:lnTo>
                    <a:lnTo>
                      <a:pt x="374" y="88"/>
                    </a:lnTo>
                    <a:lnTo>
                      <a:pt x="376" y="88"/>
                    </a:lnTo>
                    <a:lnTo>
                      <a:pt x="378" y="84"/>
                    </a:lnTo>
                    <a:lnTo>
                      <a:pt x="378" y="80"/>
                    </a:lnTo>
                    <a:lnTo>
                      <a:pt x="382" y="78"/>
                    </a:lnTo>
                    <a:lnTo>
                      <a:pt x="384" y="76"/>
                    </a:lnTo>
                    <a:lnTo>
                      <a:pt x="384" y="70"/>
                    </a:lnTo>
                    <a:lnTo>
                      <a:pt x="382" y="68"/>
                    </a:lnTo>
                    <a:lnTo>
                      <a:pt x="380" y="68"/>
                    </a:lnTo>
                    <a:lnTo>
                      <a:pt x="380" y="68"/>
                    </a:lnTo>
                    <a:close/>
                    <a:moveTo>
                      <a:pt x="454" y="96"/>
                    </a:moveTo>
                    <a:lnTo>
                      <a:pt x="452" y="98"/>
                    </a:lnTo>
                    <a:lnTo>
                      <a:pt x="448" y="100"/>
                    </a:lnTo>
                    <a:lnTo>
                      <a:pt x="450" y="102"/>
                    </a:lnTo>
                    <a:lnTo>
                      <a:pt x="462" y="102"/>
                    </a:lnTo>
                    <a:lnTo>
                      <a:pt x="464" y="100"/>
                    </a:lnTo>
                    <a:lnTo>
                      <a:pt x="454" y="96"/>
                    </a:lnTo>
                    <a:lnTo>
                      <a:pt x="454" y="96"/>
                    </a:lnTo>
                    <a:close/>
                    <a:moveTo>
                      <a:pt x="138" y="120"/>
                    </a:moveTo>
                    <a:lnTo>
                      <a:pt x="138" y="120"/>
                    </a:lnTo>
                    <a:lnTo>
                      <a:pt x="136" y="124"/>
                    </a:lnTo>
                    <a:lnTo>
                      <a:pt x="134" y="128"/>
                    </a:lnTo>
                    <a:lnTo>
                      <a:pt x="140" y="130"/>
                    </a:lnTo>
                    <a:lnTo>
                      <a:pt x="140" y="132"/>
                    </a:lnTo>
                    <a:lnTo>
                      <a:pt x="140" y="136"/>
                    </a:lnTo>
                    <a:lnTo>
                      <a:pt x="142" y="138"/>
                    </a:lnTo>
                    <a:lnTo>
                      <a:pt x="144" y="140"/>
                    </a:lnTo>
                    <a:lnTo>
                      <a:pt x="146" y="144"/>
                    </a:lnTo>
                    <a:lnTo>
                      <a:pt x="148" y="142"/>
                    </a:lnTo>
                    <a:lnTo>
                      <a:pt x="146" y="132"/>
                    </a:lnTo>
                    <a:lnTo>
                      <a:pt x="142" y="126"/>
                    </a:lnTo>
                    <a:lnTo>
                      <a:pt x="142" y="122"/>
                    </a:lnTo>
                    <a:lnTo>
                      <a:pt x="138" y="120"/>
                    </a:lnTo>
                    <a:lnTo>
                      <a:pt x="138" y="120"/>
                    </a:lnTo>
                    <a:close/>
                    <a:moveTo>
                      <a:pt x="426" y="142"/>
                    </a:moveTo>
                    <a:lnTo>
                      <a:pt x="426" y="142"/>
                    </a:lnTo>
                    <a:lnTo>
                      <a:pt x="426" y="144"/>
                    </a:lnTo>
                    <a:lnTo>
                      <a:pt x="422" y="144"/>
                    </a:lnTo>
                    <a:lnTo>
                      <a:pt x="422" y="148"/>
                    </a:lnTo>
                    <a:lnTo>
                      <a:pt x="426" y="148"/>
                    </a:lnTo>
                    <a:lnTo>
                      <a:pt x="428" y="150"/>
                    </a:lnTo>
                    <a:lnTo>
                      <a:pt x="430" y="150"/>
                    </a:lnTo>
                    <a:lnTo>
                      <a:pt x="432" y="148"/>
                    </a:lnTo>
                    <a:lnTo>
                      <a:pt x="434" y="148"/>
                    </a:lnTo>
                    <a:lnTo>
                      <a:pt x="434" y="148"/>
                    </a:lnTo>
                    <a:lnTo>
                      <a:pt x="440" y="150"/>
                    </a:lnTo>
                    <a:lnTo>
                      <a:pt x="442" y="148"/>
                    </a:lnTo>
                    <a:lnTo>
                      <a:pt x="448" y="150"/>
                    </a:lnTo>
                    <a:lnTo>
                      <a:pt x="454" y="152"/>
                    </a:lnTo>
                    <a:lnTo>
                      <a:pt x="456" y="148"/>
                    </a:lnTo>
                    <a:lnTo>
                      <a:pt x="454" y="146"/>
                    </a:lnTo>
                    <a:lnTo>
                      <a:pt x="444" y="144"/>
                    </a:lnTo>
                    <a:lnTo>
                      <a:pt x="438" y="144"/>
                    </a:lnTo>
                    <a:lnTo>
                      <a:pt x="434" y="142"/>
                    </a:lnTo>
                    <a:lnTo>
                      <a:pt x="426" y="142"/>
                    </a:lnTo>
                    <a:lnTo>
                      <a:pt x="426" y="142"/>
                    </a:lnTo>
                    <a:close/>
                    <a:moveTo>
                      <a:pt x="408" y="144"/>
                    </a:moveTo>
                    <a:lnTo>
                      <a:pt x="408" y="144"/>
                    </a:lnTo>
                    <a:lnTo>
                      <a:pt x="394" y="146"/>
                    </a:lnTo>
                    <a:lnTo>
                      <a:pt x="394" y="148"/>
                    </a:lnTo>
                    <a:lnTo>
                      <a:pt x="400" y="150"/>
                    </a:lnTo>
                    <a:lnTo>
                      <a:pt x="402" y="154"/>
                    </a:lnTo>
                    <a:lnTo>
                      <a:pt x="408" y="154"/>
                    </a:lnTo>
                    <a:lnTo>
                      <a:pt x="414" y="152"/>
                    </a:lnTo>
                    <a:lnTo>
                      <a:pt x="414" y="148"/>
                    </a:lnTo>
                    <a:lnTo>
                      <a:pt x="410" y="148"/>
                    </a:lnTo>
                    <a:lnTo>
                      <a:pt x="410" y="144"/>
                    </a:lnTo>
                    <a:lnTo>
                      <a:pt x="408" y="144"/>
                    </a:lnTo>
                    <a:lnTo>
                      <a:pt x="408" y="144"/>
                    </a:lnTo>
                    <a:close/>
                    <a:moveTo>
                      <a:pt x="362" y="168"/>
                    </a:moveTo>
                    <a:lnTo>
                      <a:pt x="362" y="168"/>
                    </a:lnTo>
                    <a:lnTo>
                      <a:pt x="360" y="170"/>
                    </a:lnTo>
                    <a:lnTo>
                      <a:pt x="360" y="176"/>
                    </a:lnTo>
                    <a:lnTo>
                      <a:pt x="358" y="176"/>
                    </a:lnTo>
                    <a:lnTo>
                      <a:pt x="358" y="176"/>
                    </a:lnTo>
                    <a:lnTo>
                      <a:pt x="356" y="174"/>
                    </a:lnTo>
                    <a:lnTo>
                      <a:pt x="354" y="174"/>
                    </a:lnTo>
                    <a:lnTo>
                      <a:pt x="352" y="176"/>
                    </a:lnTo>
                    <a:lnTo>
                      <a:pt x="352" y="178"/>
                    </a:lnTo>
                    <a:lnTo>
                      <a:pt x="356" y="180"/>
                    </a:lnTo>
                    <a:lnTo>
                      <a:pt x="358" y="184"/>
                    </a:lnTo>
                    <a:lnTo>
                      <a:pt x="362" y="184"/>
                    </a:lnTo>
                    <a:lnTo>
                      <a:pt x="366" y="180"/>
                    </a:lnTo>
                    <a:lnTo>
                      <a:pt x="362" y="176"/>
                    </a:lnTo>
                    <a:lnTo>
                      <a:pt x="362" y="174"/>
                    </a:lnTo>
                    <a:lnTo>
                      <a:pt x="364" y="172"/>
                    </a:lnTo>
                    <a:lnTo>
                      <a:pt x="364" y="170"/>
                    </a:lnTo>
                    <a:lnTo>
                      <a:pt x="362" y="168"/>
                    </a:lnTo>
                    <a:lnTo>
                      <a:pt x="362" y="168"/>
                    </a:lnTo>
                    <a:close/>
                    <a:moveTo>
                      <a:pt x="152" y="182"/>
                    </a:moveTo>
                    <a:lnTo>
                      <a:pt x="150" y="184"/>
                    </a:lnTo>
                    <a:lnTo>
                      <a:pt x="136" y="182"/>
                    </a:lnTo>
                    <a:lnTo>
                      <a:pt x="134" y="192"/>
                    </a:lnTo>
                    <a:lnTo>
                      <a:pt x="130" y="198"/>
                    </a:lnTo>
                    <a:lnTo>
                      <a:pt x="130" y="200"/>
                    </a:lnTo>
                    <a:lnTo>
                      <a:pt x="142" y="200"/>
                    </a:lnTo>
                    <a:lnTo>
                      <a:pt x="142" y="202"/>
                    </a:lnTo>
                    <a:lnTo>
                      <a:pt x="142" y="204"/>
                    </a:lnTo>
                    <a:lnTo>
                      <a:pt x="142" y="208"/>
                    </a:lnTo>
                    <a:lnTo>
                      <a:pt x="150" y="208"/>
                    </a:lnTo>
                    <a:lnTo>
                      <a:pt x="158" y="210"/>
                    </a:lnTo>
                    <a:lnTo>
                      <a:pt x="162" y="214"/>
                    </a:lnTo>
                    <a:lnTo>
                      <a:pt x="182" y="214"/>
                    </a:lnTo>
                    <a:lnTo>
                      <a:pt x="184" y="212"/>
                    </a:lnTo>
                    <a:lnTo>
                      <a:pt x="188" y="214"/>
                    </a:lnTo>
                    <a:lnTo>
                      <a:pt x="202" y="218"/>
                    </a:lnTo>
                    <a:lnTo>
                      <a:pt x="206" y="222"/>
                    </a:lnTo>
                    <a:lnTo>
                      <a:pt x="210" y="222"/>
                    </a:lnTo>
                    <a:lnTo>
                      <a:pt x="216" y="220"/>
                    </a:lnTo>
                    <a:lnTo>
                      <a:pt x="220" y="224"/>
                    </a:lnTo>
                    <a:lnTo>
                      <a:pt x="224" y="224"/>
                    </a:lnTo>
                    <a:lnTo>
                      <a:pt x="228" y="224"/>
                    </a:lnTo>
                    <a:lnTo>
                      <a:pt x="230" y="224"/>
                    </a:lnTo>
                    <a:lnTo>
                      <a:pt x="234" y="222"/>
                    </a:lnTo>
                    <a:lnTo>
                      <a:pt x="238" y="226"/>
                    </a:lnTo>
                    <a:lnTo>
                      <a:pt x="238" y="228"/>
                    </a:lnTo>
                    <a:lnTo>
                      <a:pt x="244" y="230"/>
                    </a:lnTo>
                    <a:lnTo>
                      <a:pt x="250" y="230"/>
                    </a:lnTo>
                    <a:lnTo>
                      <a:pt x="254" y="232"/>
                    </a:lnTo>
                    <a:lnTo>
                      <a:pt x="252" y="224"/>
                    </a:lnTo>
                    <a:lnTo>
                      <a:pt x="248" y="222"/>
                    </a:lnTo>
                    <a:lnTo>
                      <a:pt x="250" y="214"/>
                    </a:lnTo>
                    <a:lnTo>
                      <a:pt x="240" y="210"/>
                    </a:lnTo>
                    <a:lnTo>
                      <a:pt x="228" y="210"/>
                    </a:lnTo>
                    <a:lnTo>
                      <a:pt x="228" y="202"/>
                    </a:lnTo>
                    <a:lnTo>
                      <a:pt x="226" y="200"/>
                    </a:lnTo>
                    <a:lnTo>
                      <a:pt x="226" y="194"/>
                    </a:lnTo>
                    <a:lnTo>
                      <a:pt x="218" y="196"/>
                    </a:lnTo>
                    <a:lnTo>
                      <a:pt x="218" y="194"/>
                    </a:lnTo>
                    <a:lnTo>
                      <a:pt x="214" y="194"/>
                    </a:lnTo>
                    <a:lnTo>
                      <a:pt x="210" y="190"/>
                    </a:lnTo>
                    <a:lnTo>
                      <a:pt x="206" y="190"/>
                    </a:lnTo>
                    <a:lnTo>
                      <a:pt x="202" y="188"/>
                    </a:lnTo>
                    <a:lnTo>
                      <a:pt x="200" y="194"/>
                    </a:lnTo>
                    <a:lnTo>
                      <a:pt x="186" y="194"/>
                    </a:lnTo>
                    <a:lnTo>
                      <a:pt x="182" y="192"/>
                    </a:lnTo>
                    <a:lnTo>
                      <a:pt x="174" y="190"/>
                    </a:lnTo>
                    <a:lnTo>
                      <a:pt x="170" y="184"/>
                    </a:lnTo>
                    <a:lnTo>
                      <a:pt x="160" y="184"/>
                    </a:lnTo>
                    <a:lnTo>
                      <a:pt x="160" y="182"/>
                    </a:lnTo>
                    <a:lnTo>
                      <a:pt x="152" y="182"/>
                    </a:lnTo>
                    <a:lnTo>
                      <a:pt x="152" y="182"/>
                    </a:lnTo>
                    <a:close/>
                    <a:moveTo>
                      <a:pt x="500" y="188"/>
                    </a:moveTo>
                    <a:lnTo>
                      <a:pt x="500" y="188"/>
                    </a:lnTo>
                    <a:lnTo>
                      <a:pt x="500" y="190"/>
                    </a:lnTo>
                    <a:lnTo>
                      <a:pt x="502" y="192"/>
                    </a:lnTo>
                    <a:lnTo>
                      <a:pt x="502" y="194"/>
                    </a:lnTo>
                    <a:lnTo>
                      <a:pt x="502" y="202"/>
                    </a:lnTo>
                    <a:lnTo>
                      <a:pt x="498" y="204"/>
                    </a:lnTo>
                    <a:lnTo>
                      <a:pt x="500" y="208"/>
                    </a:lnTo>
                    <a:lnTo>
                      <a:pt x="500" y="210"/>
                    </a:lnTo>
                    <a:lnTo>
                      <a:pt x="502" y="212"/>
                    </a:lnTo>
                    <a:lnTo>
                      <a:pt x="504" y="204"/>
                    </a:lnTo>
                    <a:lnTo>
                      <a:pt x="508" y="202"/>
                    </a:lnTo>
                    <a:lnTo>
                      <a:pt x="508" y="198"/>
                    </a:lnTo>
                    <a:lnTo>
                      <a:pt x="506" y="198"/>
                    </a:lnTo>
                    <a:lnTo>
                      <a:pt x="508" y="196"/>
                    </a:lnTo>
                    <a:lnTo>
                      <a:pt x="508" y="192"/>
                    </a:lnTo>
                    <a:lnTo>
                      <a:pt x="506" y="190"/>
                    </a:lnTo>
                    <a:lnTo>
                      <a:pt x="504" y="188"/>
                    </a:lnTo>
                    <a:lnTo>
                      <a:pt x="500" y="188"/>
                    </a:lnTo>
                    <a:lnTo>
                      <a:pt x="500" y="188"/>
                    </a:lnTo>
                    <a:close/>
                    <a:moveTo>
                      <a:pt x="254" y="222"/>
                    </a:moveTo>
                    <a:lnTo>
                      <a:pt x="254" y="222"/>
                    </a:lnTo>
                    <a:lnTo>
                      <a:pt x="254" y="228"/>
                    </a:lnTo>
                    <a:lnTo>
                      <a:pt x="256" y="228"/>
                    </a:lnTo>
                    <a:lnTo>
                      <a:pt x="258" y="232"/>
                    </a:lnTo>
                    <a:lnTo>
                      <a:pt x="258" y="234"/>
                    </a:lnTo>
                    <a:lnTo>
                      <a:pt x="258" y="232"/>
                    </a:lnTo>
                    <a:lnTo>
                      <a:pt x="262" y="228"/>
                    </a:lnTo>
                    <a:lnTo>
                      <a:pt x="262" y="226"/>
                    </a:lnTo>
                    <a:lnTo>
                      <a:pt x="262" y="224"/>
                    </a:lnTo>
                    <a:lnTo>
                      <a:pt x="258" y="224"/>
                    </a:lnTo>
                    <a:lnTo>
                      <a:pt x="254" y="222"/>
                    </a:lnTo>
                    <a:lnTo>
                      <a:pt x="254" y="222"/>
                    </a:lnTo>
                    <a:close/>
                    <a:moveTo>
                      <a:pt x="394" y="226"/>
                    </a:moveTo>
                    <a:lnTo>
                      <a:pt x="394" y="226"/>
                    </a:lnTo>
                    <a:lnTo>
                      <a:pt x="392" y="230"/>
                    </a:lnTo>
                    <a:lnTo>
                      <a:pt x="406" y="230"/>
                    </a:lnTo>
                    <a:lnTo>
                      <a:pt x="404" y="226"/>
                    </a:lnTo>
                    <a:lnTo>
                      <a:pt x="394" y="226"/>
                    </a:lnTo>
                    <a:lnTo>
                      <a:pt x="394" y="226"/>
                    </a:lnTo>
                    <a:close/>
                    <a:moveTo>
                      <a:pt x="272" y="230"/>
                    </a:moveTo>
                    <a:lnTo>
                      <a:pt x="272" y="230"/>
                    </a:lnTo>
                    <a:lnTo>
                      <a:pt x="268" y="236"/>
                    </a:lnTo>
                    <a:lnTo>
                      <a:pt x="276" y="236"/>
                    </a:lnTo>
                    <a:lnTo>
                      <a:pt x="276" y="230"/>
                    </a:lnTo>
                    <a:lnTo>
                      <a:pt x="272" y="230"/>
                    </a:lnTo>
                    <a:lnTo>
                      <a:pt x="272" y="230"/>
                    </a:lnTo>
                    <a:close/>
                    <a:moveTo>
                      <a:pt x="290" y="230"/>
                    </a:moveTo>
                    <a:lnTo>
                      <a:pt x="290" y="230"/>
                    </a:lnTo>
                    <a:lnTo>
                      <a:pt x="290" y="234"/>
                    </a:lnTo>
                    <a:lnTo>
                      <a:pt x="294" y="234"/>
                    </a:lnTo>
                    <a:lnTo>
                      <a:pt x="292" y="234"/>
                    </a:lnTo>
                    <a:lnTo>
                      <a:pt x="294" y="236"/>
                    </a:lnTo>
                    <a:lnTo>
                      <a:pt x="292" y="238"/>
                    </a:lnTo>
                    <a:lnTo>
                      <a:pt x="288" y="238"/>
                    </a:lnTo>
                    <a:lnTo>
                      <a:pt x="284" y="236"/>
                    </a:lnTo>
                    <a:lnTo>
                      <a:pt x="282" y="234"/>
                    </a:lnTo>
                    <a:lnTo>
                      <a:pt x="280" y="234"/>
                    </a:lnTo>
                    <a:lnTo>
                      <a:pt x="276" y="244"/>
                    </a:lnTo>
                    <a:lnTo>
                      <a:pt x="284" y="242"/>
                    </a:lnTo>
                    <a:lnTo>
                      <a:pt x="284" y="244"/>
                    </a:lnTo>
                    <a:lnTo>
                      <a:pt x="288" y="244"/>
                    </a:lnTo>
                    <a:lnTo>
                      <a:pt x="290" y="242"/>
                    </a:lnTo>
                    <a:lnTo>
                      <a:pt x="300" y="240"/>
                    </a:lnTo>
                    <a:lnTo>
                      <a:pt x="308" y="240"/>
                    </a:lnTo>
                    <a:lnTo>
                      <a:pt x="306" y="234"/>
                    </a:lnTo>
                    <a:lnTo>
                      <a:pt x="298" y="232"/>
                    </a:lnTo>
                    <a:lnTo>
                      <a:pt x="290" y="230"/>
                    </a:lnTo>
                    <a:lnTo>
                      <a:pt x="290" y="230"/>
                    </a:lnTo>
                    <a:close/>
                    <a:moveTo>
                      <a:pt x="320" y="232"/>
                    </a:moveTo>
                    <a:lnTo>
                      <a:pt x="320" y="232"/>
                    </a:lnTo>
                    <a:lnTo>
                      <a:pt x="316" y="234"/>
                    </a:lnTo>
                    <a:lnTo>
                      <a:pt x="316" y="236"/>
                    </a:lnTo>
                    <a:lnTo>
                      <a:pt x="318" y="238"/>
                    </a:lnTo>
                    <a:lnTo>
                      <a:pt x="326" y="240"/>
                    </a:lnTo>
                    <a:lnTo>
                      <a:pt x="336" y="240"/>
                    </a:lnTo>
                    <a:lnTo>
                      <a:pt x="336" y="242"/>
                    </a:lnTo>
                    <a:lnTo>
                      <a:pt x="340" y="242"/>
                    </a:lnTo>
                    <a:lnTo>
                      <a:pt x="346" y="240"/>
                    </a:lnTo>
                    <a:lnTo>
                      <a:pt x="350" y="238"/>
                    </a:lnTo>
                    <a:lnTo>
                      <a:pt x="354" y="238"/>
                    </a:lnTo>
                    <a:lnTo>
                      <a:pt x="356" y="240"/>
                    </a:lnTo>
                    <a:lnTo>
                      <a:pt x="358" y="236"/>
                    </a:lnTo>
                    <a:lnTo>
                      <a:pt x="356" y="234"/>
                    </a:lnTo>
                    <a:lnTo>
                      <a:pt x="352" y="234"/>
                    </a:lnTo>
                    <a:lnTo>
                      <a:pt x="348" y="234"/>
                    </a:lnTo>
                    <a:lnTo>
                      <a:pt x="344" y="236"/>
                    </a:lnTo>
                    <a:lnTo>
                      <a:pt x="340" y="232"/>
                    </a:lnTo>
                    <a:lnTo>
                      <a:pt x="336" y="232"/>
                    </a:lnTo>
                    <a:lnTo>
                      <a:pt x="332" y="234"/>
                    </a:lnTo>
                    <a:lnTo>
                      <a:pt x="326" y="232"/>
                    </a:lnTo>
                    <a:lnTo>
                      <a:pt x="320" y="232"/>
                    </a:lnTo>
                    <a:lnTo>
                      <a:pt x="320" y="232"/>
                    </a:lnTo>
                    <a:close/>
                    <a:moveTo>
                      <a:pt x="406" y="234"/>
                    </a:moveTo>
                    <a:lnTo>
                      <a:pt x="402" y="236"/>
                    </a:lnTo>
                    <a:lnTo>
                      <a:pt x="396" y="236"/>
                    </a:lnTo>
                    <a:lnTo>
                      <a:pt x="394" y="240"/>
                    </a:lnTo>
                    <a:lnTo>
                      <a:pt x="386" y="240"/>
                    </a:lnTo>
                    <a:lnTo>
                      <a:pt x="384" y="240"/>
                    </a:lnTo>
                    <a:lnTo>
                      <a:pt x="380" y="240"/>
                    </a:lnTo>
                    <a:lnTo>
                      <a:pt x="380" y="242"/>
                    </a:lnTo>
                    <a:lnTo>
                      <a:pt x="380" y="246"/>
                    </a:lnTo>
                    <a:lnTo>
                      <a:pt x="378" y="246"/>
                    </a:lnTo>
                    <a:lnTo>
                      <a:pt x="374" y="248"/>
                    </a:lnTo>
                    <a:lnTo>
                      <a:pt x="374" y="252"/>
                    </a:lnTo>
                    <a:lnTo>
                      <a:pt x="362" y="258"/>
                    </a:lnTo>
                    <a:lnTo>
                      <a:pt x="364" y="264"/>
                    </a:lnTo>
                    <a:lnTo>
                      <a:pt x="358" y="266"/>
                    </a:lnTo>
                    <a:lnTo>
                      <a:pt x="352" y="268"/>
                    </a:lnTo>
                    <a:lnTo>
                      <a:pt x="350" y="270"/>
                    </a:lnTo>
                    <a:lnTo>
                      <a:pt x="350" y="272"/>
                    </a:lnTo>
                    <a:lnTo>
                      <a:pt x="352" y="274"/>
                    </a:lnTo>
                    <a:lnTo>
                      <a:pt x="358" y="274"/>
                    </a:lnTo>
                    <a:lnTo>
                      <a:pt x="362" y="272"/>
                    </a:lnTo>
                    <a:lnTo>
                      <a:pt x="362" y="270"/>
                    </a:lnTo>
                    <a:lnTo>
                      <a:pt x="368" y="264"/>
                    </a:lnTo>
                    <a:lnTo>
                      <a:pt x="374" y="264"/>
                    </a:lnTo>
                    <a:lnTo>
                      <a:pt x="378" y="262"/>
                    </a:lnTo>
                    <a:lnTo>
                      <a:pt x="382" y="258"/>
                    </a:lnTo>
                    <a:lnTo>
                      <a:pt x="384" y="254"/>
                    </a:lnTo>
                    <a:lnTo>
                      <a:pt x="388" y="254"/>
                    </a:lnTo>
                    <a:lnTo>
                      <a:pt x="388" y="252"/>
                    </a:lnTo>
                    <a:lnTo>
                      <a:pt x="388" y="250"/>
                    </a:lnTo>
                    <a:lnTo>
                      <a:pt x="392" y="250"/>
                    </a:lnTo>
                    <a:lnTo>
                      <a:pt x="394" y="248"/>
                    </a:lnTo>
                    <a:lnTo>
                      <a:pt x="396" y="244"/>
                    </a:lnTo>
                    <a:lnTo>
                      <a:pt x="400" y="244"/>
                    </a:lnTo>
                    <a:lnTo>
                      <a:pt x="404" y="242"/>
                    </a:lnTo>
                    <a:lnTo>
                      <a:pt x="406" y="240"/>
                    </a:lnTo>
                    <a:lnTo>
                      <a:pt x="410" y="236"/>
                    </a:lnTo>
                    <a:lnTo>
                      <a:pt x="410" y="234"/>
                    </a:lnTo>
                    <a:lnTo>
                      <a:pt x="406" y="234"/>
                    </a:lnTo>
                    <a:lnTo>
                      <a:pt x="406" y="234"/>
                    </a:lnTo>
                    <a:close/>
                    <a:moveTo>
                      <a:pt x="310" y="252"/>
                    </a:moveTo>
                    <a:lnTo>
                      <a:pt x="308" y="258"/>
                    </a:lnTo>
                    <a:lnTo>
                      <a:pt x="318" y="262"/>
                    </a:lnTo>
                    <a:lnTo>
                      <a:pt x="322" y="264"/>
                    </a:lnTo>
                    <a:lnTo>
                      <a:pt x="328" y="266"/>
                    </a:lnTo>
                    <a:lnTo>
                      <a:pt x="328" y="262"/>
                    </a:lnTo>
                    <a:lnTo>
                      <a:pt x="328" y="260"/>
                    </a:lnTo>
                    <a:lnTo>
                      <a:pt x="326" y="258"/>
                    </a:lnTo>
                    <a:lnTo>
                      <a:pt x="310" y="252"/>
                    </a:lnTo>
                    <a:lnTo>
                      <a:pt x="310" y="252"/>
                    </a:lnTo>
                    <a:close/>
                    <a:moveTo>
                      <a:pt x="190" y="62"/>
                    </a:moveTo>
                    <a:lnTo>
                      <a:pt x="190" y="62"/>
                    </a:lnTo>
                    <a:lnTo>
                      <a:pt x="190" y="60"/>
                    </a:lnTo>
                    <a:lnTo>
                      <a:pt x="186" y="60"/>
                    </a:lnTo>
                    <a:lnTo>
                      <a:pt x="186" y="64"/>
                    </a:lnTo>
                    <a:lnTo>
                      <a:pt x="182" y="66"/>
                    </a:lnTo>
                    <a:lnTo>
                      <a:pt x="180" y="70"/>
                    </a:lnTo>
                    <a:lnTo>
                      <a:pt x="178" y="74"/>
                    </a:lnTo>
                    <a:lnTo>
                      <a:pt x="176" y="76"/>
                    </a:lnTo>
                    <a:lnTo>
                      <a:pt x="176" y="90"/>
                    </a:lnTo>
                    <a:lnTo>
                      <a:pt x="180" y="92"/>
                    </a:lnTo>
                    <a:lnTo>
                      <a:pt x="182" y="96"/>
                    </a:lnTo>
                    <a:lnTo>
                      <a:pt x="180" y="98"/>
                    </a:lnTo>
                    <a:lnTo>
                      <a:pt x="180" y="102"/>
                    </a:lnTo>
                    <a:lnTo>
                      <a:pt x="184" y="104"/>
                    </a:lnTo>
                    <a:lnTo>
                      <a:pt x="182" y="108"/>
                    </a:lnTo>
                    <a:lnTo>
                      <a:pt x="182" y="110"/>
                    </a:lnTo>
                    <a:lnTo>
                      <a:pt x="186" y="110"/>
                    </a:lnTo>
                    <a:lnTo>
                      <a:pt x="184" y="116"/>
                    </a:lnTo>
                    <a:lnTo>
                      <a:pt x="186" y="116"/>
                    </a:lnTo>
                    <a:lnTo>
                      <a:pt x="190" y="114"/>
                    </a:lnTo>
                    <a:lnTo>
                      <a:pt x="192" y="114"/>
                    </a:lnTo>
                    <a:lnTo>
                      <a:pt x="196" y="130"/>
                    </a:lnTo>
                    <a:lnTo>
                      <a:pt x="198" y="134"/>
                    </a:lnTo>
                    <a:lnTo>
                      <a:pt x="200" y="142"/>
                    </a:lnTo>
                    <a:lnTo>
                      <a:pt x="202" y="142"/>
                    </a:lnTo>
                    <a:lnTo>
                      <a:pt x="208" y="144"/>
                    </a:lnTo>
                    <a:lnTo>
                      <a:pt x="210" y="142"/>
                    </a:lnTo>
                    <a:lnTo>
                      <a:pt x="210" y="140"/>
                    </a:lnTo>
                    <a:lnTo>
                      <a:pt x="214" y="140"/>
                    </a:lnTo>
                    <a:lnTo>
                      <a:pt x="214" y="142"/>
                    </a:lnTo>
                    <a:lnTo>
                      <a:pt x="218" y="142"/>
                    </a:lnTo>
                    <a:lnTo>
                      <a:pt x="218" y="148"/>
                    </a:lnTo>
                    <a:lnTo>
                      <a:pt x="220" y="148"/>
                    </a:lnTo>
                    <a:lnTo>
                      <a:pt x="222" y="148"/>
                    </a:lnTo>
                    <a:lnTo>
                      <a:pt x="232" y="148"/>
                    </a:lnTo>
                    <a:lnTo>
                      <a:pt x="234" y="144"/>
                    </a:lnTo>
                    <a:lnTo>
                      <a:pt x="236" y="144"/>
                    </a:lnTo>
                    <a:lnTo>
                      <a:pt x="240" y="148"/>
                    </a:lnTo>
                    <a:lnTo>
                      <a:pt x="242" y="148"/>
                    </a:lnTo>
                    <a:lnTo>
                      <a:pt x="244" y="148"/>
                    </a:lnTo>
                    <a:lnTo>
                      <a:pt x="246" y="146"/>
                    </a:lnTo>
                    <a:lnTo>
                      <a:pt x="248" y="146"/>
                    </a:lnTo>
                    <a:lnTo>
                      <a:pt x="250" y="148"/>
                    </a:lnTo>
                    <a:lnTo>
                      <a:pt x="254" y="150"/>
                    </a:lnTo>
                    <a:lnTo>
                      <a:pt x="256" y="150"/>
                    </a:lnTo>
                    <a:lnTo>
                      <a:pt x="256" y="152"/>
                    </a:lnTo>
                    <a:lnTo>
                      <a:pt x="258" y="152"/>
                    </a:lnTo>
                    <a:lnTo>
                      <a:pt x="260" y="150"/>
                    </a:lnTo>
                    <a:lnTo>
                      <a:pt x="264" y="148"/>
                    </a:lnTo>
                    <a:lnTo>
                      <a:pt x="270" y="146"/>
                    </a:lnTo>
                    <a:lnTo>
                      <a:pt x="276" y="136"/>
                    </a:lnTo>
                    <a:lnTo>
                      <a:pt x="280" y="132"/>
                    </a:lnTo>
                    <a:lnTo>
                      <a:pt x="284" y="130"/>
                    </a:lnTo>
                    <a:lnTo>
                      <a:pt x="280" y="122"/>
                    </a:lnTo>
                    <a:lnTo>
                      <a:pt x="288" y="112"/>
                    </a:lnTo>
                    <a:lnTo>
                      <a:pt x="288" y="108"/>
                    </a:lnTo>
                    <a:lnTo>
                      <a:pt x="286" y="108"/>
                    </a:lnTo>
                    <a:lnTo>
                      <a:pt x="286" y="106"/>
                    </a:lnTo>
                    <a:lnTo>
                      <a:pt x="286" y="104"/>
                    </a:lnTo>
                    <a:lnTo>
                      <a:pt x="288" y="104"/>
                    </a:lnTo>
                    <a:lnTo>
                      <a:pt x="290" y="100"/>
                    </a:lnTo>
                    <a:lnTo>
                      <a:pt x="290" y="96"/>
                    </a:lnTo>
                    <a:lnTo>
                      <a:pt x="290" y="84"/>
                    </a:lnTo>
                    <a:lnTo>
                      <a:pt x="296" y="80"/>
                    </a:lnTo>
                    <a:lnTo>
                      <a:pt x="306" y="78"/>
                    </a:lnTo>
                    <a:lnTo>
                      <a:pt x="304" y="74"/>
                    </a:lnTo>
                    <a:lnTo>
                      <a:pt x="296" y="70"/>
                    </a:lnTo>
                    <a:lnTo>
                      <a:pt x="294" y="68"/>
                    </a:lnTo>
                    <a:lnTo>
                      <a:pt x="292" y="66"/>
                    </a:lnTo>
                    <a:lnTo>
                      <a:pt x="292" y="62"/>
                    </a:lnTo>
                    <a:lnTo>
                      <a:pt x="294" y="60"/>
                    </a:lnTo>
                    <a:lnTo>
                      <a:pt x="294" y="56"/>
                    </a:lnTo>
                    <a:lnTo>
                      <a:pt x="292" y="52"/>
                    </a:lnTo>
                    <a:lnTo>
                      <a:pt x="286" y="44"/>
                    </a:lnTo>
                    <a:lnTo>
                      <a:pt x="286" y="40"/>
                    </a:lnTo>
                    <a:lnTo>
                      <a:pt x="288" y="38"/>
                    </a:lnTo>
                    <a:lnTo>
                      <a:pt x="290" y="38"/>
                    </a:lnTo>
                    <a:lnTo>
                      <a:pt x="290" y="36"/>
                    </a:lnTo>
                    <a:lnTo>
                      <a:pt x="290" y="34"/>
                    </a:lnTo>
                    <a:lnTo>
                      <a:pt x="286" y="32"/>
                    </a:lnTo>
                    <a:lnTo>
                      <a:pt x="286" y="30"/>
                    </a:lnTo>
                    <a:lnTo>
                      <a:pt x="276" y="32"/>
                    </a:lnTo>
                    <a:lnTo>
                      <a:pt x="268" y="30"/>
                    </a:lnTo>
                    <a:lnTo>
                      <a:pt x="266" y="34"/>
                    </a:lnTo>
                    <a:lnTo>
                      <a:pt x="264" y="44"/>
                    </a:lnTo>
                    <a:lnTo>
                      <a:pt x="260" y="48"/>
                    </a:lnTo>
                    <a:lnTo>
                      <a:pt x="258" y="52"/>
                    </a:lnTo>
                    <a:lnTo>
                      <a:pt x="256" y="56"/>
                    </a:lnTo>
                    <a:lnTo>
                      <a:pt x="252" y="58"/>
                    </a:lnTo>
                    <a:lnTo>
                      <a:pt x="252" y="62"/>
                    </a:lnTo>
                    <a:lnTo>
                      <a:pt x="250" y="68"/>
                    </a:lnTo>
                    <a:lnTo>
                      <a:pt x="248" y="70"/>
                    </a:lnTo>
                    <a:lnTo>
                      <a:pt x="242" y="74"/>
                    </a:lnTo>
                    <a:lnTo>
                      <a:pt x="234" y="74"/>
                    </a:lnTo>
                    <a:lnTo>
                      <a:pt x="230" y="72"/>
                    </a:lnTo>
                    <a:lnTo>
                      <a:pt x="222" y="74"/>
                    </a:lnTo>
                    <a:lnTo>
                      <a:pt x="220" y="76"/>
                    </a:lnTo>
                    <a:lnTo>
                      <a:pt x="212" y="78"/>
                    </a:lnTo>
                    <a:lnTo>
                      <a:pt x="206" y="80"/>
                    </a:lnTo>
                    <a:lnTo>
                      <a:pt x="202" y="78"/>
                    </a:lnTo>
                    <a:lnTo>
                      <a:pt x="198" y="76"/>
                    </a:lnTo>
                    <a:lnTo>
                      <a:pt x="192" y="74"/>
                    </a:lnTo>
                    <a:lnTo>
                      <a:pt x="190" y="68"/>
                    </a:lnTo>
                    <a:lnTo>
                      <a:pt x="190" y="62"/>
                    </a:lnTo>
                    <a:lnTo>
                      <a:pt x="190" y="62"/>
                    </a:lnTo>
                    <a:close/>
                    <a:moveTo>
                      <a:pt x="470" y="112"/>
                    </a:moveTo>
                    <a:lnTo>
                      <a:pt x="470" y="112"/>
                    </a:lnTo>
                    <a:lnTo>
                      <a:pt x="462" y="112"/>
                    </a:lnTo>
                    <a:lnTo>
                      <a:pt x="462" y="118"/>
                    </a:lnTo>
                    <a:lnTo>
                      <a:pt x="460" y="118"/>
                    </a:lnTo>
                    <a:lnTo>
                      <a:pt x="460" y="120"/>
                    </a:lnTo>
                    <a:lnTo>
                      <a:pt x="462" y="122"/>
                    </a:lnTo>
                    <a:lnTo>
                      <a:pt x="466" y="122"/>
                    </a:lnTo>
                    <a:lnTo>
                      <a:pt x="470" y="122"/>
                    </a:lnTo>
                    <a:lnTo>
                      <a:pt x="474" y="124"/>
                    </a:lnTo>
                    <a:lnTo>
                      <a:pt x="474" y="126"/>
                    </a:lnTo>
                    <a:lnTo>
                      <a:pt x="474" y="130"/>
                    </a:lnTo>
                    <a:lnTo>
                      <a:pt x="472" y="130"/>
                    </a:lnTo>
                    <a:lnTo>
                      <a:pt x="476" y="130"/>
                    </a:lnTo>
                    <a:lnTo>
                      <a:pt x="480" y="130"/>
                    </a:lnTo>
                    <a:lnTo>
                      <a:pt x="488" y="130"/>
                    </a:lnTo>
                    <a:lnTo>
                      <a:pt x="496" y="132"/>
                    </a:lnTo>
                    <a:lnTo>
                      <a:pt x="496" y="134"/>
                    </a:lnTo>
                    <a:lnTo>
                      <a:pt x="488" y="136"/>
                    </a:lnTo>
                    <a:lnTo>
                      <a:pt x="486" y="138"/>
                    </a:lnTo>
                    <a:lnTo>
                      <a:pt x="478" y="138"/>
                    </a:lnTo>
                    <a:lnTo>
                      <a:pt x="470" y="138"/>
                    </a:lnTo>
                    <a:lnTo>
                      <a:pt x="472" y="142"/>
                    </a:lnTo>
                    <a:lnTo>
                      <a:pt x="478" y="140"/>
                    </a:lnTo>
                    <a:lnTo>
                      <a:pt x="480" y="146"/>
                    </a:lnTo>
                    <a:lnTo>
                      <a:pt x="484" y="148"/>
                    </a:lnTo>
                    <a:lnTo>
                      <a:pt x="484" y="150"/>
                    </a:lnTo>
                    <a:lnTo>
                      <a:pt x="484" y="154"/>
                    </a:lnTo>
                    <a:lnTo>
                      <a:pt x="486" y="156"/>
                    </a:lnTo>
                    <a:lnTo>
                      <a:pt x="488" y="156"/>
                    </a:lnTo>
                    <a:lnTo>
                      <a:pt x="492" y="148"/>
                    </a:lnTo>
                    <a:lnTo>
                      <a:pt x="494" y="148"/>
                    </a:lnTo>
                    <a:lnTo>
                      <a:pt x="494" y="150"/>
                    </a:lnTo>
                    <a:lnTo>
                      <a:pt x="498" y="154"/>
                    </a:lnTo>
                    <a:lnTo>
                      <a:pt x="504" y="156"/>
                    </a:lnTo>
                    <a:lnTo>
                      <a:pt x="504" y="160"/>
                    </a:lnTo>
                    <a:lnTo>
                      <a:pt x="506" y="164"/>
                    </a:lnTo>
                    <a:lnTo>
                      <a:pt x="508" y="166"/>
                    </a:lnTo>
                    <a:lnTo>
                      <a:pt x="512" y="166"/>
                    </a:lnTo>
                    <a:lnTo>
                      <a:pt x="516" y="166"/>
                    </a:lnTo>
                    <a:lnTo>
                      <a:pt x="518" y="168"/>
                    </a:lnTo>
                    <a:lnTo>
                      <a:pt x="520" y="166"/>
                    </a:lnTo>
                    <a:lnTo>
                      <a:pt x="524" y="166"/>
                    </a:lnTo>
                    <a:lnTo>
                      <a:pt x="524" y="168"/>
                    </a:lnTo>
                    <a:lnTo>
                      <a:pt x="530" y="172"/>
                    </a:lnTo>
                    <a:lnTo>
                      <a:pt x="534" y="176"/>
                    </a:lnTo>
                    <a:lnTo>
                      <a:pt x="542" y="176"/>
                    </a:lnTo>
                    <a:lnTo>
                      <a:pt x="546" y="178"/>
                    </a:lnTo>
                    <a:lnTo>
                      <a:pt x="548" y="178"/>
                    </a:lnTo>
                    <a:lnTo>
                      <a:pt x="552" y="180"/>
                    </a:lnTo>
                    <a:lnTo>
                      <a:pt x="556" y="186"/>
                    </a:lnTo>
                    <a:lnTo>
                      <a:pt x="556" y="198"/>
                    </a:lnTo>
                    <a:lnTo>
                      <a:pt x="554" y="198"/>
                    </a:lnTo>
                    <a:lnTo>
                      <a:pt x="554" y="200"/>
                    </a:lnTo>
                    <a:lnTo>
                      <a:pt x="556" y="202"/>
                    </a:lnTo>
                    <a:lnTo>
                      <a:pt x="556" y="206"/>
                    </a:lnTo>
                    <a:lnTo>
                      <a:pt x="556" y="208"/>
                    </a:lnTo>
                    <a:lnTo>
                      <a:pt x="560" y="212"/>
                    </a:lnTo>
                    <a:lnTo>
                      <a:pt x="560" y="218"/>
                    </a:lnTo>
                    <a:lnTo>
                      <a:pt x="560" y="224"/>
                    </a:lnTo>
                    <a:lnTo>
                      <a:pt x="556" y="220"/>
                    </a:lnTo>
                    <a:lnTo>
                      <a:pt x="556" y="222"/>
                    </a:lnTo>
                    <a:lnTo>
                      <a:pt x="552" y="222"/>
                    </a:lnTo>
                    <a:lnTo>
                      <a:pt x="544" y="232"/>
                    </a:lnTo>
                    <a:lnTo>
                      <a:pt x="558" y="230"/>
                    </a:lnTo>
                    <a:lnTo>
                      <a:pt x="558" y="226"/>
                    </a:lnTo>
                    <a:lnTo>
                      <a:pt x="560" y="226"/>
                    </a:lnTo>
                    <a:lnTo>
                      <a:pt x="560" y="228"/>
                    </a:lnTo>
                    <a:lnTo>
                      <a:pt x="564" y="228"/>
                    </a:lnTo>
                    <a:lnTo>
                      <a:pt x="566" y="228"/>
                    </a:lnTo>
                    <a:lnTo>
                      <a:pt x="572" y="228"/>
                    </a:lnTo>
                    <a:lnTo>
                      <a:pt x="576" y="232"/>
                    </a:lnTo>
                    <a:lnTo>
                      <a:pt x="580" y="234"/>
                    </a:lnTo>
                    <a:lnTo>
                      <a:pt x="580" y="238"/>
                    </a:lnTo>
                    <a:lnTo>
                      <a:pt x="582" y="238"/>
                    </a:lnTo>
                    <a:lnTo>
                      <a:pt x="584" y="242"/>
                    </a:lnTo>
                    <a:lnTo>
                      <a:pt x="586" y="242"/>
                    </a:lnTo>
                    <a:lnTo>
                      <a:pt x="586" y="210"/>
                    </a:lnTo>
                    <a:lnTo>
                      <a:pt x="584" y="204"/>
                    </a:lnTo>
                    <a:lnTo>
                      <a:pt x="586" y="198"/>
                    </a:lnTo>
                    <a:lnTo>
                      <a:pt x="586" y="140"/>
                    </a:lnTo>
                    <a:lnTo>
                      <a:pt x="584" y="140"/>
                    </a:lnTo>
                    <a:lnTo>
                      <a:pt x="582" y="136"/>
                    </a:lnTo>
                    <a:lnTo>
                      <a:pt x="580" y="134"/>
                    </a:lnTo>
                    <a:lnTo>
                      <a:pt x="578" y="134"/>
                    </a:lnTo>
                    <a:lnTo>
                      <a:pt x="574" y="136"/>
                    </a:lnTo>
                    <a:lnTo>
                      <a:pt x="566" y="134"/>
                    </a:lnTo>
                    <a:lnTo>
                      <a:pt x="560" y="132"/>
                    </a:lnTo>
                    <a:lnTo>
                      <a:pt x="554" y="126"/>
                    </a:lnTo>
                    <a:lnTo>
                      <a:pt x="548" y="122"/>
                    </a:lnTo>
                    <a:lnTo>
                      <a:pt x="544" y="122"/>
                    </a:lnTo>
                    <a:lnTo>
                      <a:pt x="544" y="124"/>
                    </a:lnTo>
                    <a:lnTo>
                      <a:pt x="540" y="124"/>
                    </a:lnTo>
                    <a:lnTo>
                      <a:pt x="534" y="132"/>
                    </a:lnTo>
                    <a:lnTo>
                      <a:pt x="528" y="134"/>
                    </a:lnTo>
                    <a:lnTo>
                      <a:pt x="524" y="140"/>
                    </a:lnTo>
                    <a:lnTo>
                      <a:pt x="522" y="146"/>
                    </a:lnTo>
                    <a:lnTo>
                      <a:pt x="514" y="150"/>
                    </a:lnTo>
                    <a:lnTo>
                      <a:pt x="512" y="148"/>
                    </a:lnTo>
                    <a:lnTo>
                      <a:pt x="510" y="144"/>
                    </a:lnTo>
                    <a:lnTo>
                      <a:pt x="506" y="144"/>
                    </a:lnTo>
                    <a:lnTo>
                      <a:pt x="506" y="138"/>
                    </a:lnTo>
                    <a:lnTo>
                      <a:pt x="504" y="136"/>
                    </a:lnTo>
                    <a:lnTo>
                      <a:pt x="504" y="138"/>
                    </a:lnTo>
                    <a:lnTo>
                      <a:pt x="502" y="140"/>
                    </a:lnTo>
                    <a:lnTo>
                      <a:pt x="500" y="130"/>
                    </a:lnTo>
                    <a:lnTo>
                      <a:pt x="500" y="126"/>
                    </a:lnTo>
                    <a:lnTo>
                      <a:pt x="500" y="120"/>
                    </a:lnTo>
                    <a:lnTo>
                      <a:pt x="500" y="118"/>
                    </a:lnTo>
                    <a:lnTo>
                      <a:pt x="502" y="116"/>
                    </a:lnTo>
                    <a:lnTo>
                      <a:pt x="500" y="112"/>
                    </a:lnTo>
                    <a:lnTo>
                      <a:pt x="496" y="108"/>
                    </a:lnTo>
                    <a:lnTo>
                      <a:pt x="494" y="108"/>
                    </a:lnTo>
                    <a:lnTo>
                      <a:pt x="494" y="110"/>
                    </a:lnTo>
                    <a:lnTo>
                      <a:pt x="492" y="108"/>
                    </a:lnTo>
                    <a:lnTo>
                      <a:pt x="490" y="108"/>
                    </a:lnTo>
                    <a:lnTo>
                      <a:pt x="488" y="110"/>
                    </a:lnTo>
                    <a:lnTo>
                      <a:pt x="484" y="108"/>
                    </a:lnTo>
                    <a:lnTo>
                      <a:pt x="478" y="106"/>
                    </a:lnTo>
                    <a:lnTo>
                      <a:pt x="474" y="106"/>
                    </a:lnTo>
                    <a:lnTo>
                      <a:pt x="472" y="108"/>
                    </a:lnTo>
                    <a:lnTo>
                      <a:pt x="470" y="112"/>
                    </a:lnTo>
                    <a:lnTo>
                      <a:pt x="470" y="11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54" name="Freeform 328">
                <a:extLst>
                  <a:ext uri="{FF2B5EF4-FFF2-40B4-BE49-F238E27FC236}">
                    <a16:creationId xmlns:a16="http://schemas.microsoft.com/office/drawing/2014/main" id="{27C6E914-F072-65AC-4F58-F0193682F00D}"/>
                  </a:ext>
                </a:extLst>
              </p:cNvPr>
              <p:cNvSpPr>
                <a:spLocks/>
              </p:cNvSpPr>
              <p:nvPr/>
            </p:nvSpPr>
            <p:spPr bwMode="auto">
              <a:xfrm>
                <a:off x="6468508" y="4267620"/>
                <a:ext cx="15557" cy="5764"/>
              </a:xfrm>
              <a:custGeom>
                <a:avLst/>
                <a:gdLst/>
                <a:ahLst/>
                <a:cxnLst>
                  <a:cxn ang="0">
                    <a:pos x="6" y="0"/>
                  </a:cxn>
                  <a:cxn ang="0">
                    <a:pos x="4" y="2"/>
                  </a:cxn>
                  <a:cxn ang="0">
                    <a:pos x="0" y="4"/>
                  </a:cxn>
                  <a:cxn ang="0">
                    <a:pos x="2" y="6"/>
                  </a:cxn>
                  <a:cxn ang="0">
                    <a:pos x="14" y="6"/>
                  </a:cxn>
                  <a:cxn ang="0">
                    <a:pos x="16" y="4"/>
                  </a:cxn>
                  <a:cxn ang="0">
                    <a:pos x="6" y="0"/>
                  </a:cxn>
                </a:cxnLst>
                <a:rect l="0" t="0" r="r" b="b"/>
                <a:pathLst>
                  <a:path w="16" h="6">
                    <a:moveTo>
                      <a:pt x="6" y="0"/>
                    </a:moveTo>
                    <a:lnTo>
                      <a:pt x="4" y="2"/>
                    </a:lnTo>
                    <a:lnTo>
                      <a:pt x="0" y="4"/>
                    </a:lnTo>
                    <a:lnTo>
                      <a:pt x="2" y="6"/>
                    </a:lnTo>
                    <a:lnTo>
                      <a:pt x="14" y="6"/>
                    </a:lnTo>
                    <a:lnTo>
                      <a:pt x="16" y="4"/>
                    </a:lnTo>
                    <a:lnTo>
                      <a:pt x="6"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55" name="Freeform 329">
                <a:extLst>
                  <a:ext uri="{FF2B5EF4-FFF2-40B4-BE49-F238E27FC236}">
                    <a16:creationId xmlns:a16="http://schemas.microsoft.com/office/drawing/2014/main" id="{2672D7AA-9D99-2ACA-DF33-FA19D61BB072}"/>
                  </a:ext>
                </a:extLst>
              </p:cNvPr>
              <p:cNvSpPr>
                <a:spLocks/>
              </p:cNvSpPr>
              <p:nvPr/>
            </p:nvSpPr>
            <p:spPr bwMode="auto">
              <a:xfrm>
                <a:off x="6468508" y="4267620"/>
                <a:ext cx="15557" cy="5764"/>
              </a:xfrm>
              <a:custGeom>
                <a:avLst/>
                <a:gdLst/>
                <a:ahLst/>
                <a:cxnLst>
                  <a:cxn ang="0">
                    <a:pos x="6" y="0"/>
                  </a:cxn>
                  <a:cxn ang="0">
                    <a:pos x="4" y="2"/>
                  </a:cxn>
                  <a:cxn ang="0">
                    <a:pos x="0" y="4"/>
                  </a:cxn>
                  <a:cxn ang="0">
                    <a:pos x="2" y="6"/>
                  </a:cxn>
                  <a:cxn ang="0">
                    <a:pos x="14" y="6"/>
                  </a:cxn>
                  <a:cxn ang="0">
                    <a:pos x="16" y="4"/>
                  </a:cxn>
                  <a:cxn ang="0">
                    <a:pos x="6" y="0"/>
                  </a:cxn>
                </a:cxnLst>
                <a:rect l="0" t="0" r="r" b="b"/>
                <a:pathLst>
                  <a:path w="16" h="6">
                    <a:moveTo>
                      <a:pt x="6" y="0"/>
                    </a:moveTo>
                    <a:lnTo>
                      <a:pt x="4" y="2"/>
                    </a:lnTo>
                    <a:lnTo>
                      <a:pt x="0" y="4"/>
                    </a:lnTo>
                    <a:lnTo>
                      <a:pt x="2" y="6"/>
                    </a:lnTo>
                    <a:lnTo>
                      <a:pt x="14" y="6"/>
                    </a:lnTo>
                    <a:lnTo>
                      <a:pt x="16" y="4"/>
                    </a:lnTo>
                    <a:lnTo>
                      <a:pt x="6"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56" name="Freeform 330">
                <a:extLst>
                  <a:ext uri="{FF2B5EF4-FFF2-40B4-BE49-F238E27FC236}">
                    <a16:creationId xmlns:a16="http://schemas.microsoft.com/office/drawing/2014/main" id="{4A9156B0-B807-829A-E740-D9545F3CB239}"/>
                  </a:ext>
                </a:extLst>
              </p:cNvPr>
              <p:cNvSpPr>
                <a:spLocks/>
              </p:cNvSpPr>
              <p:nvPr/>
            </p:nvSpPr>
            <p:spPr bwMode="auto">
              <a:xfrm>
                <a:off x="6163191" y="4290677"/>
                <a:ext cx="13613" cy="23057"/>
              </a:xfrm>
              <a:custGeom>
                <a:avLst/>
                <a:gdLst/>
                <a:ahLst/>
                <a:cxnLst>
                  <a:cxn ang="0">
                    <a:pos x="4" y="0"/>
                  </a:cxn>
                  <a:cxn ang="0">
                    <a:pos x="4" y="0"/>
                  </a:cxn>
                  <a:cxn ang="0">
                    <a:pos x="2" y="4"/>
                  </a:cxn>
                  <a:cxn ang="0">
                    <a:pos x="0" y="8"/>
                  </a:cxn>
                  <a:cxn ang="0">
                    <a:pos x="6" y="10"/>
                  </a:cxn>
                  <a:cxn ang="0">
                    <a:pos x="6" y="12"/>
                  </a:cxn>
                  <a:cxn ang="0">
                    <a:pos x="6" y="16"/>
                  </a:cxn>
                  <a:cxn ang="0">
                    <a:pos x="8" y="18"/>
                  </a:cxn>
                  <a:cxn ang="0">
                    <a:pos x="10" y="20"/>
                  </a:cxn>
                  <a:cxn ang="0">
                    <a:pos x="12" y="24"/>
                  </a:cxn>
                  <a:cxn ang="0">
                    <a:pos x="14" y="22"/>
                  </a:cxn>
                  <a:cxn ang="0">
                    <a:pos x="12" y="12"/>
                  </a:cxn>
                  <a:cxn ang="0">
                    <a:pos x="8" y="6"/>
                  </a:cxn>
                  <a:cxn ang="0">
                    <a:pos x="8" y="2"/>
                  </a:cxn>
                  <a:cxn ang="0">
                    <a:pos x="4" y="0"/>
                  </a:cxn>
                </a:cxnLst>
                <a:rect l="0" t="0" r="r" b="b"/>
                <a:pathLst>
                  <a:path w="14" h="24">
                    <a:moveTo>
                      <a:pt x="4" y="0"/>
                    </a:moveTo>
                    <a:lnTo>
                      <a:pt x="4" y="0"/>
                    </a:lnTo>
                    <a:lnTo>
                      <a:pt x="2" y="4"/>
                    </a:lnTo>
                    <a:lnTo>
                      <a:pt x="0" y="8"/>
                    </a:lnTo>
                    <a:lnTo>
                      <a:pt x="6" y="10"/>
                    </a:lnTo>
                    <a:lnTo>
                      <a:pt x="6" y="12"/>
                    </a:lnTo>
                    <a:lnTo>
                      <a:pt x="6" y="16"/>
                    </a:lnTo>
                    <a:lnTo>
                      <a:pt x="8" y="18"/>
                    </a:lnTo>
                    <a:lnTo>
                      <a:pt x="10" y="20"/>
                    </a:lnTo>
                    <a:lnTo>
                      <a:pt x="12" y="24"/>
                    </a:lnTo>
                    <a:lnTo>
                      <a:pt x="14" y="22"/>
                    </a:lnTo>
                    <a:lnTo>
                      <a:pt x="12" y="12"/>
                    </a:lnTo>
                    <a:lnTo>
                      <a:pt x="8" y="6"/>
                    </a:lnTo>
                    <a:lnTo>
                      <a:pt x="8" y="2"/>
                    </a:lnTo>
                    <a:lnTo>
                      <a:pt x="4"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57" name="Freeform 331">
                <a:extLst>
                  <a:ext uri="{FF2B5EF4-FFF2-40B4-BE49-F238E27FC236}">
                    <a16:creationId xmlns:a16="http://schemas.microsoft.com/office/drawing/2014/main" id="{ED029260-5F33-9B0E-C34E-4B502EADCB0F}"/>
                  </a:ext>
                </a:extLst>
              </p:cNvPr>
              <p:cNvSpPr>
                <a:spLocks/>
              </p:cNvSpPr>
              <p:nvPr/>
            </p:nvSpPr>
            <p:spPr bwMode="auto">
              <a:xfrm>
                <a:off x="6163191" y="4290677"/>
                <a:ext cx="13613" cy="23057"/>
              </a:xfrm>
              <a:custGeom>
                <a:avLst/>
                <a:gdLst/>
                <a:ahLst/>
                <a:cxnLst>
                  <a:cxn ang="0">
                    <a:pos x="4" y="0"/>
                  </a:cxn>
                  <a:cxn ang="0">
                    <a:pos x="4" y="0"/>
                  </a:cxn>
                  <a:cxn ang="0">
                    <a:pos x="2" y="4"/>
                  </a:cxn>
                  <a:cxn ang="0">
                    <a:pos x="0" y="8"/>
                  </a:cxn>
                  <a:cxn ang="0">
                    <a:pos x="6" y="10"/>
                  </a:cxn>
                  <a:cxn ang="0">
                    <a:pos x="6" y="12"/>
                  </a:cxn>
                  <a:cxn ang="0">
                    <a:pos x="6" y="16"/>
                  </a:cxn>
                  <a:cxn ang="0">
                    <a:pos x="8" y="18"/>
                  </a:cxn>
                  <a:cxn ang="0">
                    <a:pos x="10" y="20"/>
                  </a:cxn>
                  <a:cxn ang="0">
                    <a:pos x="12" y="24"/>
                  </a:cxn>
                  <a:cxn ang="0">
                    <a:pos x="14" y="22"/>
                  </a:cxn>
                  <a:cxn ang="0">
                    <a:pos x="12" y="12"/>
                  </a:cxn>
                  <a:cxn ang="0">
                    <a:pos x="8" y="6"/>
                  </a:cxn>
                  <a:cxn ang="0">
                    <a:pos x="8" y="2"/>
                  </a:cxn>
                  <a:cxn ang="0">
                    <a:pos x="4" y="0"/>
                  </a:cxn>
                </a:cxnLst>
                <a:rect l="0" t="0" r="r" b="b"/>
                <a:pathLst>
                  <a:path w="14" h="24">
                    <a:moveTo>
                      <a:pt x="4" y="0"/>
                    </a:moveTo>
                    <a:lnTo>
                      <a:pt x="4" y="0"/>
                    </a:lnTo>
                    <a:lnTo>
                      <a:pt x="2" y="4"/>
                    </a:lnTo>
                    <a:lnTo>
                      <a:pt x="0" y="8"/>
                    </a:lnTo>
                    <a:lnTo>
                      <a:pt x="6" y="10"/>
                    </a:lnTo>
                    <a:lnTo>
                      <a:pt x="6" y="12"/>
                    </a:lnTo>
                    <a:lnTo>
                      <a:pt x="6" y="16"/>
                    </a:lnTo>
                    <a:lnTo>
                      <a:pt x="8" y="18"/>
                    </a:lnTo>
                    <a:lnTo>
                      <a:pt x="10" y="20"/>
                    </a:lnTo>
                    <a:lnTo>
                      <a:pt x="12" y="24"/>
                    </a:lnTo>
                    <a:lnTo>
                      <a:pt x="14" y="22"/>
                    </a:lnTo>
                    <a:lnTo>
                      <a:pt x="12" y="12"/>
                    </a:lnTo>
                    <a:lnTo>
                      <a:pt x="8" y="6"/>
                    </a:lnTo>
                    <a:lnTo>
                      <a:pt x="8" y="2"/>
                    </a:lnTo>
                    <a:lnTo>
                      <a:pt x="4"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58" name="Freeform 332">
                <a:extLst>
                  <a:ext uri="{FF2B5EF4-FFF2-40B4-BE49-F238E27FC236}">
                    <a16:creationId xmlns:a16="http://schemas.microsoft.com/office/drawing/2014/main" id="{ADCC1AFE-EEA6-B19E-3622-5A32A7DBB660}"/>
                  </a:ext>
                </a:extLst>
              </p:cNvPr>
              <p:cNvSpPr>
                <a:spLocks/>
              </p:cNvSpPr>
              <p:nvPr/>
            </p:nvSpPr>
            <p:spPr bwMode="auto">
              <a:xfrm>
                <a:off x="6375162" y="4336790"/>
                <a:ext cx="13613" cy="15371"/>
              </a:xfrm>
              <a:custGeom>
                <a:avLst/>
                <a:gdLst/>
                <a:ahLst/>
                <a:cxnLst>
                  <a:cxn ang="0">
                    <a:pos x="10" y="0"/>
                  </a:cxn>
                  <a:cxn ang="0">
                    <a:pos x="10" y="0"/>
                  </a:cxn>
                  <a:cxn ang="0">
                    <a:pos x="8" y="2"/>
                  </a:cxn>
                  <a:cxn ang="0">
                    <a:pos x="8" y="8"/>
                  </a:cxn>
                  <a:cxn ang="0">
                    <a:pos x="6" y="8"/>
                  </a:cxn>
                  <a:cxn ang="0">
                    <a:pos x="6" y="8"/>
                  </a:cxn>
                  <a:cxn ang="0">
                    <a:pos x="4" y="6"/>
                  </a:cxn>
                  <a:cxn ang="0">
                    <a:pos x="2" y="6"/>
                  </a:cxn>
                  <a:cxn ang="0">
                    <a:pos x="0" y="8"/>
                  </a:cxn>
                  <a:cxn ang="0">
                    <a:pos x="0" y="10"/>
                  </a:cxn>
                  <a:cxn ang="0">
                    <a:pos x="4" y="12"/>
                  </a:cxn>
                  <a:cxn ang="0">
                    <a:pos x="6" y="16"/>
                  </a:cxn>
                  <a:cxn ang="0">
                    <a:pos x="10" y="16"/>
                  </a:cxn>
                  <a:cxn ang="0">
                    <a:pos x="14" y="12"/>
                  </a:cxn>
                  <a:cxn ang="0">
                    <a:pos x="10" y="8"/>
                  </a:cxn>
                  <a:cxn ang="0">
                    <a:pos x="10" y="6"/>
                  </a:cxn>
                  <a:cxn ang="0">
                    <a:pos x="12" y="4"/>
                  </a:cxn>
                  <a:cxn ang="0">
                    <a:pos x="12" y="2"/>
                  </a:cxn>
                  <a:cxn ang="0">
                    <a:pos x="10" y="0"/>
                  </a:cxn>
                </a:cxnLst>
                <a:rect l="0" t="0" r="r" b="b"/>
                <a:pathLst>
                  <a:path w="14" h="16">
                    <a:moveTo>
                      <a:pt x="10" y="0"/>
                    </a:moveTo>
                    <a:lnTo>
                      <a:pt x="10" y="0"/>
                    </a:lnTo>
                    <a:lnTo>
                      <a:pt x="8" y="2"/>
                    </a:lnTo>
                    <a:lnTo>
                      <a:pt x="8" y="8"/>
                    </a:lnTo>
                    <a:lnTo>
                      <a:pt x="6" y="8"/>
                    </a:lnTo>
                    <a:lnTo>
                      <a:pt x="6" y="8"/>
                    </a:lnTo>
                    <a:lnTo>
                      <a:pt x="4" y="6"/>
                    </a:lnTo>
                    <a:lnTo>
                      <a:pt x="2" y="6"/>
                    </a:lnTo>
                    <a:lnTo>
                      <a:pt x="0" y="8"/>
                    </a:lnTo>
                    <a:lnTo>
                      <a:pt x="0" y="10"/>
                    </a:lnTo>
                    <a:lnTo>
                      <a:pt x="4" y="12"/>
                    </a:lnTo>
                    <a:lnTo>
                      <a:pt x="6" y="16"/>
                    </a:lnTo>
                    <a:lnTo>
                      <a:pt x="10" y="16"/>
                    </a:lnTo>
                    <a:lnTo>
                      <a:pt x="14" y="12"/>
                    </a:lnTo>
                    <a:lnTo>
                      <a:pt x="10" y="8"/>
                    </a:lnTo>
                    <a:lnTo>
                      <a:pt x="10" y="6"/>
                    </a:lnTo>
                    <a:lnTo>
                      <a:pt x="12" y="4"/>
                    </a:lnTo>
                    <a:lnTo>
                      <a:pt x="12" y="2"/>
                    </a:lnTo>
                    <a:lnTo>
                      <a:pt x="1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59" name="Freeform 333">
                <a:extLst>
                  <a:ext uri="{FF2B5EF4-FFF2-40B4-BE49-F238E27FC236}">
                    <a16:creationId xmlns:a16="http://schemas.microsoft.com/office/drawing/2014/main" id="{A201810A-6981-8AA2-BCFD-19DB29B516EA}"/>
                  </a:ext>
                </a:extLst>
              </p:cNvPr>
              <p:cNvSpPr>
                <a:spLocks/>
              </p:cNvSpPr>
              <p:nvPr/>
            </p:nvSpPr>
            <p:spPr bwMode="auto">
              <a:xfrm>
                <a:off x="6375162" y="4336790"/>
                <a:ext cx="13613" cy="15371"/>
              </a:xfrm>
              <a:custGeom>
                <a:avLst/>
                <a:gdLst/>
                <a:ahLst/>
                <a:cxnLst>
                  <a:cxn ang="0">
                    <a:pos x="10" y="0"/>
                  </a:cxn>
                  <a:cxn ang="0">
                    <a:pos x="10" y="0"/>
                  </a:cxn>
                  <a:cxn ang="0">
                    <a:pos x="8" y="2"/>
                  </a:cxn>
                  <a:cxn ang="0">
                    <a:pos x="8" y="8"/>
                  </a:cxn>
                  <a:cxn ang="0">
                    <a:pos x="6" y="8"/>
                  </a:cxn>
                  <a:cxn ang="0">
                    <a:pos x="6" y="8"/>
                  </a:cxn>
                  <a:cxn ang="0">
                    <a:pos x="4" y="6"/>
                  </a:cxn>
                  <a:cxn ang="0">
                    <a:pos x="2" y="6"/>
                  </a:cxn>
                  <a:cxn ang="0">
                    <a:pos x="0" y="8"/>
                  </a:cxn>
                  <a:cxn ang="0">
                    <a:pos x="0" y="10"/>
                  </a:cxn>
                  <a:cxn ang="0">
                    <a:pos x="4" y="12"/>
                  </a:cxn>
                  <a:cxn ang="0">
                    <a:pos x="6" y="16"/>
                  </a:cxn>
                  <a:cxn ang="0">
                    <a:pos x="10" y="16"/>
                  </a:cxn>
                  <a:cxn ang="0">
                    <a:pos x="14" y="12"/>
                  </a:cxn>
                  <a:cxn ang="0">
                    <a:pos x="10" y="8"/>
                  </a:cxn>
                  <a:cxn ang="0">
                    <a:pos x="10" y="6"/>
                  </a:cxn>
                  <a:cxn ang="0">
                    <a:pos x="12" y="4"/>
                  </a:cxn>
                  <a:cxn ang="0">
                    <a:pos x="12" y="2"/>
                  </a:cxn>
                  <a:cxn ang="0">
                    <a:pos x="10" y="0"/>
                  </a:cxn>
                </a:cxnLst>
                <a:rect l="0" t="0" r="r" b="b"/>
                <a:pathLst>
                  <a:path w="14" h="16">
                    <a:moveTo>
                      <a:pt x="10" y="0"/>
                    </a:moveTo>
                    <a:lnTo>
                      <a:pt x="10" y="0"/>
                    </a:lnTo>
                    <a:lnTo>
                      <a:pt x="8" y="2"/>
                    </a:lnTo>
                    <a:lnTo>
                      <a:pt x="8" y="8"/>
                    </a:lnTo>
                    <a:lnTo>
                      <a:pt x="6" y="8"/>
                    </a:lnTo>
                    <a:lnTo>
                      <a:pt x="6" y="8"/>
                    </a:lnTo>
                    <a:lnTo>
                      <a:pt x="4" y="6"/>
                    </a:lnTo>
                    <a:lnTo>
                      <a:pt x="2" y="6"/>
                    </a:lnTo>
                    <a:lnTo>
                      <a:pt x="0" y="8"/>
                    </a:lnTo>
                    <a:lnTo>
                      <a:pt x="0" y="10"/>
                    </a:lnTo>
                    <a:lnTo>
                      <a:pt x="4" y="12"/>
                    </a:lnTo>
                    <a:lnTo>
                      <a:pt x="6" y="16"/>
                    </a:lnTo>
                    <a:lnTo>
                      <a:pt x="10" y="16"/>
                    </a:lnTo>
                    <a:lnTo>
                      <a:pt x="14" y="12"/>
                    </a:lnTo>
                    <a:lnTo>
                      <a:pt x="10" y="8"/>
                    </a:lnTo>
                    <a:lnTo>
                      <a:pt x="10" y="6"/>
                    </a:lnTo>
                    <a:lnTo>
                      <a:pt x="12" y="4"/>
                    </a:lnTo>
                    <a:lnTo>
                      <a:pt x="12" y="2"/>
                    </a:lnTo>
                    <a:lnTo>
                      <a:pt x="1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60" name="Freeform 334">
                <a:extLst>
                  <a:ext uri="{FF2B5EF4-FFF2-40B4-BE49-F238E27FC236}">
                    <a16:creationId xmlns:a16="http://schemas.microsoft.com/office/drawing/2014/main" id="{4FB6DB8A-2CDB-1ED3-D8C2-28335B6EF0A9}"/>
                  </a:ext>
                </a:extLst>
              </p:cNvPr>
              <p:cNvSpPr>
                <a:spLocks/>
              </p:cNvSpPr>
              <p:nvPr/>
            </p:nvSpPr>
            <p:spPr bwMode="auto">
              <a:xfrm>
                <a:off x="6517126" y="4356004"/>
                <a:ext cx="9723" cy="23057"/>
              </a:xfrm>
              <a:custGeom>
                <a:avLst/>
                <a:gdLst/>
                <a:ahLst/>
                <a:cxnLst>
                  <a:cxn ang="0">
                    <a:pos x="2" y="0"/>
                  </a:cxn>
                  <a:cxn ang="0">
                    <a:pos x="2" y="0"/>
                  </a:cxn>
                  <a:cxn ang="0">
                    <a:pos x="2" y="2"/>
                  </a:cxn>
                  <a:cxn ang="0">
                    <a:pos x="4" y="4"/>
                  </a:cxn>
                  <a:cxn ang="0">
                    <a:pos x="4" y="6"/>
                  </a:cxn>
                  <a:cxn ang="0">
                    <a:pos x="4" y="14"/>
                  </a:cxn>
                  <a:cxn ang="0">
                    <a:pos x="0" y="16"/>
                  </a:cxn>
                  <a:cxn ang="0">
                    <a:pos x="2" y="20"/>
                  </a:cxn>
                  <a:cxn ang="0">
                    <a:pos x="2" y="22"/>
                  </a:cxn>
                  <a:cxn ang="0">
                    <a:pos x="4" y="24"/>
                  </a:cxn>
                  <a:cxn ang="0">
                    <a:pos x="6" y="16"/>
                  </a:cxn>
                  <a:cxn ang="0">
                    <a:pos x="10" y="14"/>
                  </a:cxn>
                  <a:cxn ang="0">
                    <a:pos x="10" y="10"/>
                  </a:cxn>
                  <a:cxn ang="0">
                    <a:pos x="8" y="10"/>
                  </a:cxn>
                  <a:cxn ang="0">
                    <a:pos x="10" y="8"/>
                  </a:cxn>
                  <a:cxn ang="0">
                    <a:pos x="10" y="4"/>
                  </a:cxn>
                  <a:cxn ang="0">
                    <a:pos x="8" y="2"/>
                  </a:cxn>
                  <a:cxn ang="0">
                    <a:pos x="6" y="0"/>
                  </a:cxn>
                  <a:cxn ang="0">
                    <a:pos x="2" y="0"/>
                  </a:cxn>
                </a:cxnLst>
                <a:rect l="0" t="0" r="r" b="b"/>
                <a:pathLst>
                  <a:path w="10" h="24">
                    <a:moveTo>
                      <a:pt x="2" y="0"/>
                    </a:moveTo>
                    <a:lnTo>
                      <a:pt x="2" y="0"/>
                    </a:lnTo>
                    <a:lnTo>
                      <a:pt x="2" y="2"/>
                    </a:lnTo>
                    <a:lnTo>
                      <a:pt x="4" y="4"/>
                    </a:lnTo>
                    <a:lnTo>
                      <a:pt x="4" y="6"/>
                    </a:lnTo>
                    <a:lnTo>
                      <a:pt x="4" y="14"/>
                    </a:lnTo>
                    <a:lnTo>
                      <a:pt x="0" y="16"/>
                    </a:lnTo>
                    <a:lnTo>
                      <a:pt x="2" y="20"/>
                    </a:lnTo>
                    <a:lnTo>
                      <a:pt x="2" y="22"/>
                    </a:lnTo>
                    <a:lnTo>
                      <a:pt x="4" y="24"/>
                    </a:lnTo>
                    <a:lnTo>
                      <a:pt x="6" y="16"/>
                    </a:lnTo>
                    <a:lnTo>
                      <a:pt x="10" y="14"/>
                    </a:lnTo>
                    <a:lnTo>
                      <a:pt x="10" y="10"/>
                    </a:lnTo>
                    <a:lnTo>
                      <a:pt x="8" y="10"/>
                    </a:lnTo>
                    <a:lnTo>
                      <a:pt x="10" y="8"/>
                    </a:lnTo>
                    <a:lnTo>
                      <a:pt x="10" y="4"/>
                    </a:lnTo>
                    <a:lnTo>
                      <a:pt x="8" y="2"/>
                    </a:lnTo>
                    <a:lnTo>
                      <a:pt x="6" y="0"/>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61" name="Freeform 335">
                <a:extLst>
                  <a:ext uri="{FF2B5EF4-FFF2-40B4-BE49-F238E27FC236}">
                    <a16:creationId xmlns:a16="http://schemas.microsoft.com/office/drawing/2014/main" id="{19C9B0B6-F845-E180-0B17-0DB629FBDEE0}"/>
                  </a:ext>
                </a:extLst>
              </p:cNvPr>
              <p:cNvSpPr>
                <a:spLocks/>
              </p:cNvSpPr>
              <p:nvPr/>
            </p:nvSpPr>
            <p:spPr bwMode="auto">
              <a:xfrm>
                <a:off x="6517126" y="4356004"/>
                <a:ext cx="9723" cy="23057"/>
              </a:xfrm>
              <a:custGeom>
                <a:avLst/>
                <a:gdLst/>
                <a:ahLst/>
                <a:cxnLst>
                  <a:cxn ang="0">
                    <a:pos x="2" y="0"/>
                  </a:cxn>
                  <a:cxn ang="0">
                    <a:pos x="2" y="0"/>
                  </a:cxn>
                  <a:cxn ang="0">
                    <a:pos x="2" y="2"/>
                  </a:cxn>
                  <a:cxn ang="0">
                    <a:pos x="4" y="4"/>
                  </a:cxn>
                  <a:cxn ang="0">
                    <a:pos x="4" y="6"/>
                  </a:cxn>
                  <a:cxn ang="0">
                    <a:pos x="4" y="14"/>
                  </a:cxn>
                  <a:cxn ang="0">
                    <a:pos x="0" y="16"/>
                  </a:cxn>
                  <a:cxn ang="0">
                    <a:pos x="2" y="20"/>
                  </a:cxn>
                  <a:cxn ang="0">
                    <a:pos x="2" y="22"/>
                  </a:cxn>
                  <a:cxn ang="0">
                    <a:pos x="4" y="24"/>
                  </a:cxn>
                  <a:cxn ang="0">
                    <a:pos x="6" y="16"/>
                  </a:cxn>
                  <a:cxn ang="0">
                    <a:pos x="10" y="14"/>
                  </a:cxn>
                  <a:cxn ang="0">
                    <a:pos x="10" y="10"/>
                  </a:cxn>
                  <a:cxn ang="0">
                    <a:pos x="8" y="10"/>
                  </a:cxn>
                  <a:cxn ang="0">
                    <a:pos x="10" y="8"/>
                  </a:cxn>
                  <a:cxn ang="0">
                    <a:pos x="10" y="4"/>
                  </a:cxn>
                  <a:cxn ang="0">
                    <a:pos x="8" y="2"/>
                  </a:cxn>
                  <a:cxn ang="0">
                    <a:pos x="6" y="0"/>
                  </a:cxn>
                  <a:cxn ang="0">
                    <a:pos x="2" y="0"/>
                  </a:cxn>
                </a:cxnLst>
                <a:rect l="0" t="0" r="r" b="b"/>
                <a:pathLst>
                  <a:path w="10" h="24">
                    <a:moveTo>
                      <a:pt x="2" y="0"/>
                    </a:moveTo>
                    <a:lnTo>
                      <a:pt x="2" y="0"/>
                    </a:lnTo>
                    <a:lnTo>
                      <a:pt x="2" y="2"/>
                    </a:lnTo>
                    <a:lnTo>
                      <a:pt x="4" y="4"/>
                    </a:lnTo>
                    <a:lnTo>
                      <a:pt x="4" y="6"/>
                    </a:lnTo>
                    <a:lnTo>
                      <a:pt x="4" y="14"/>
                    </a:lnTo>
                    <a:lnTo>
                      <a:pt x="0" y="16"/>
                    </a:lnTo>
                    <a:lnTo>
                      <a:pt x="2" y="20"/>
                    </a:lnTo>
                    <a:lnTo>
                      <a:pt x="2" y="22"/>
                    </a:lnTo>
                    <a:lnTo>
                      <a:pt x="4" y="24"/>
                    </a:lnTo>
                    <a:lnTo>
                      <a:pt x="6" y="16"/>
                    </a:lnTo>
                    <a:lnTo>
                      <a:pt x="10" y="14"/>
                    </a:lnTo>
                    <a:lnTo>
                      <a:pt x="10" y="10"/>
                    </a:lnTo>
                    <a:lnTo>
                      <a:pt x="8" y="10"/>
                    </a:lnTo>
                    <a:lnTo>
                      <a:pt x="10" y="8"/>
                    </a:lnTo>
                    <a:lnTo>
                      <a:pt x="10" y="4"/>
                    </a:lnTo>
                    <a:lnTo>
                      <a:pt x="8" y="2"/>
                    </a:lnTo>
                    <a:lnTo>
                      <a:pt x="6" y="0"/>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62" name="Freeform 336">
                <a:extLst>
                  <a:ext uri="{FF2B5EF4-FFF2-40B4-BE49-F238E27FC236}">
                    <a16:creationId xmlns:a16="http://schemas.microsoft.com/office/drawing/2014/main" id="{062DEFB8-1E06-0E79-ADBB-456794F1ED62}"/>
                  </a:ext>
                </a:extLst>
              </p:cNvPr>
              <p:cNvSpPr>
                <a:spLocks/>
              </p:cNvSpPr>
              <p:nvPr/>
            </p:nvSpPr>
            <p:spPr bwMode="auto">
              <a:xfrm>
                <a:off x="6279873" y="4388667"/>
                <a:ext cx="7779" cy="11528"/>
              </a:xfrm>
              <a:custGeom>
                <a:avLst/>
                <a:gdLst/>
                <a:ahLst/>
                <a:cxnLst>
                  <a:cxn ang="0">
                    <a:pos x="0" y="0"/>
                  </a:cxn>
                  <a:cxn ang="0">
                    <a:pos x="0" y="0"/>
                  </a:cxn>
                  <a:cxn ang="0">
                    <a:pos x="0" y="6"/>
                  </a:cxn>
                  <a:cxn ang="0">
                    <a:pos x="2" y="6"/>
                  </a:cxn>
                  <a:cxn ang="0">
                    <a:pos x="4" y="10"/>
                  </a:cxn>
                  <a:cxn ang="0">
                    <a:pos x="4" y="12"/>
                  </a:cxn>
                  <a:cxn ang="0">
                    <a:pos x="4" y="10"/>
                  </a:cxn>
                  <a:cxn ang="0">
                    <a:pos x="8" y="6"/>
                  </a:cxn>
                  <a:cxn ang="0">
                    <a:pos x="8" y="4"/>
                  </a:cxn>
                  <a:cxn ang="0">
                    <a:pos x="8" y="2"/>
                  </a:cxn>
                  <a:cxn ang="0">
                    <a:pos x="4" y="2"/>
                  </a:cxn>
                  <a:cxn ang="0">
                    <a:pos x="0" y="0"/>
                  </a:cxn>
                </a:cxnLst>
                <a:rect l="0" t="0" r="r" b="b"/>
                <a:pathLst>
                  <a:path w="8" h="12">
                    <a:moveTo>
                      <a:pt x="0" y="0"/>
                    </a:moveTo>
                    <a:lnTo>
                      <a:pt x="0" y="0"/>
                    </a:lnTo>
                    <a:lnTo>
                      <a:pt x="0" y="6"/>
                    </a:lnTo>
                    <a:lnTo>
                      <a:pt x="2" y="6"/>
                    </a:lnTo>
                    <a:lnTo>
                      <a:pt x="4" y="10"/>
                    </a:lnTo>
                    <a:lnTo>
                      <a:pt x="4" y="12"/>
                    </a:lnTo>
                    <a:lnTo>
                      <a:pt x="4" y="10"/>
                    </a:lnTo>
                    <a:lnTo>
                      <a:pt x="8" y="6"/>
                    </a:lnTo>
                    <a:lnTo>
                      <a:pt x="8" y="4"/>
                    </a:lnTo>
                    <a:lnTo>
                      <a:pt x="8" y="2"/>
                    </a:lnTo>
                    <a:lnTo>
                      <a:pt x="4"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63" name="Freeform 337">
                <a:extLst>
                  <a:ext uri="{FF2B5EF4-FFF2-40B4-BE49-F238E27FC236}">
                    <a16:creationId xmlns:a16="http://schemas.microsoft.com/office/drawing/2014/main" id="{E964DBB4-A725-ACBA-1CB5-4AB0BEF346AA}"/>
                  </a:ext>
                </a:extLst>
              </p:cNvPr>
              <p:cNvSpPr>
                <a:spLocks/>
              </p:cNvSpPr>
              <p:nvPr/>
            </p:nvSpPr>
            <p:spPr bwMode="auto">
              <a:xfrm>
                <a:off x="6279873" y="4388667"/>
                <a:ext cx="7779" cy="11528"/>
              </a:xfrm>
              <a:custGeom>
                <a:avLst/>
                <a:gdLst/>
                <a:ahLst/>
                <a:cxnLst>
                  <a:cxn ang="0">
                    <a:pos x="0" y="0"/>
                  </a:cxn>
                  <a:cxn ang="0">
                    <a:pos x="0" y="0"/>
                  </a:cxn>
                  <a:cxn ang="0">
                    <a:pos x="0" y="6"/>
                  </a:cxn>
                  <a:cxn ang="0">
                    <a:pos x="2" y="6"/>
                  </a:cxn>
                  <a:cxn ang="0">
                    <a:pos x="4" y="10"/>
                  </a:cxn>
                  <a:cxn ang="0">
                    <a:pos x="4" y="12"/>
                  </a:cxn>
                  <a:cxn ang="0">
                    <a:pos x="4" y="10"/>
                  </a:cxn>
                  <a:cxn ang="0">
                    <a:pos x="8" y="6"/>
                  </a:cxn>
                  <a:cxn ang="0">
                    <a:pos x="8" y="4"/>
                  </a:cxn>
                  <a:cxn ang="0">
                    <a:pos x="8" y="2"/>
                  </a:cxn>
                  <a:cxn ang="0">
                    <a:pos x="4" y="2"/>
                  </a:cxn>
                  <a:cxn ang="0">
                    <a:pos x="0" y="0"/>
                  </a:cxn>
                </a:cxnLst>
                <a:rect l="0" t="0" r="r" b="b"/>
                <a:pathLst>
                  <a:path w="8" h="12">
                    <a:moveTo>
                      <a:pt x="0" y="0"/>
                    </a:moveTo>
                    <a:lnTo>
                      <a:pt x="0" y="0"/>
                    </a:lnTo>
                    <a:lnTo>
                      <a:pt x="0" y="6"/>
                    </a:lnTo>
                    <a:lnTo>
                      <a:pt x="2" y="6"/>
                    </a:lnTo>
                    <a:lnTo>
                      <a:pt x="4" y="10"/>
                    </a:lnTo>
                    <a:lnTo>
                      <a:pt x="4" y="12"/>
                    </a:lnTo>
                    <a:lnTo>
                      <a:pt x="4" y="10"/>
                    </a:lnTo>
                    <a:lnTo>
                      <a:pt x="8" y="6"/>
                    </a:lnTo>
                    <a:lnTo>
                      <a:pt x="8" y="4"/>
                    </a:lnTo>
                    <a:lnTo>
                      <a:pt x="8" y="2"/>
                    </a:lnTo>
                    <a:lnTo>
                      <a:pt x="4" y="2"/>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64" name="Freeform 338">
                <a:extLst>
                  <a:ext uri="{FF2B5EF4-FFF2-40B4-BE49-F238E27FC236}">
                    <a16:creationId xmlns:a16="http://schemas.microsoft.com/office/drawing/2014/main" id="{384DA5C6-A247-5626-C194-CA09892D6487}"/>
                  </a:ext>
                </a:extLst>
              </p:cNvPr>
              <p:cNvSpPr>
                <a:spLocks/>
              </p:cNvSpPr>
              <p:nvPr/>
            </p:nvSpPr>
            <p:spPr bwMode="auto">
              <a:xfrm>
                <a:off x="6293486" y="4396352"/>
                <a:ext cx="7779" cy="5764"/>
              </a:xfrm>
              <a:custGeom>
                <a:avLst/>
                <a:gdLst/>
                <a:ahLst/>
                <a:cxnLst>
                  <a:cxn ang="0">
                    <a:pos x="4" y="0"/>
                  </a:cxn>
                  <a:cxn ang="0">
                    <a:pos x="4" y="0"/>
                  </a:cxn>
                  <a:cxn ang="0">
                    <a:pos x="0" y="6"/>
                  </a:cxn>
                  <a:cxn ang="0">
                    <a:pos x="8" y="6"/>
                  </a:cxn>
                  <a:cxn ang="0">
                    <a:pos x="8" y="0"/>
                  </a:cxn>
                  <a:cxn ang="0">
                    <a:pos x="4" y="0"/>
                  </a:cxn>
                </a:cxnLst>
                <a:rect l="0" t="0" r="r" b="b"/>
                <a:pathLst>
                  <a:path w="8" h="6">
                    <a:moveTo>
                      <a:pt x="4" y="0"/>
                    </a:moveTo>
                    <a:lnTo>
                      <a:pt x="4" y="0"/>
                    </a:lnTo>
                    <a:lnTo>
                      <a:pt x="0" y="6"/>
                    </a:lnTo>
                    <a:lnTo>
                      <a:pt x="8" y="6"/>
                    </a:lnTo>
                    <a:lnTo>
                      <a:pt x="8" y="0"/>
                    </a:lnTo>
                    <a:lnTo>
                      <a:pt x="4"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65" name="Freeform 339">
                <a:extLst>
                  <a:ext uri="{FF2B5EF4-FFF2-40B4-BE49-F238E27FC236}">
                    <a16:creationId xmlns:a16="http://schemas.microsoft.com/office/drawing/2014/main" id="{1271D389-BAAF-4E98-6E66-32673307DECA}"/>
                  </a:ext>
                </a:extLst>
              </p:cNvPr>
              <p:cNvSpPr>
                <a:spLocks/>
              </p:cNvSpPr>
              <p:nvPr/>
            </p:nvSpPr>
            <p:spPr bwMode="auto">
              <a:xfrm>
                <a:off x="6293486" y="4396352"/>
                <a:ext cx="7779" cy="5764"/>
              </a:xfrm>
              <a:custGeom>
                <a:avLst/>
                <a:gdLst/>
                <a:ahLst/>
                <a:cxnLst>
                  <a:cxn ang="0">
                    <a:pos x="4" y="0"/>
                  </a:cxn>
                  <a:cxn ang="0">
                    <a:pos x="4" y="0"/>
                  </a:cxn>
                  <a:cxn ang="0">
                    <a:pos x="0" y="6"/>
                  </a:cxn>
                  <a:cxn ang="0">
                    <a:pos x="8" y="6"/>
                  </a:cxn>
                  <a:cxn ang="0">
                    <a:pos x="8" y="0"/>
                  </a:cxn>
                  <a:cxn ang="0">
                    <a:pos x="4" y="0"/>
                  </a:cxn>
                </a:cxnLst>
                <a:rect l="0" t="0" r="r" b="b"/>
                <a:pathLst>
                  <a:path w="8" h="6">
                    <a:moveTo>
                      <a:pt x="4" y="0"/>
                    </a:moveTo>
                    <a:lnTo>
                      <a:pt x="4" y="0"/>
                    </a:lnTo>
                    <a:lnTo>
                      <a:pt x="0" y="6"/>
                    </a:lnTo>
                    <a:lnTo>
                      <a:pt x="8" y="6"/>
                    </a:lnTo>
                    <a:lnTo>
                      <a:pt x="8" y="0"/>
                    </a:lnTo>
                    <a:lnTo>
                      <a:pt x="4"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66" name="Freeform 340">
                <a:extLst>
                  <a:ext uri="{FF2B5EF4-FFF2-40B4-BE49-F238E27FC236}">
                    <a16:creationId xmlns:a16="http://schemas.microsoft.com/office/drawing/2014/main" id="{7BCB496E-C091-E2C2-B95D-33250C01F351}"/>
                  </a:ext>
                </a:extLst>
              </p:cNvPr>
              <p:cNvSpPr>
                <a:spLocks/>
              </p:cNvSpPr>
              <p:nvPr/>
            </p:nvSpPr>
            <p:spPr bwMode="auto">
              <a:xfrm>
                <a:off x="5043046" y="3470252"/>
                <a:ext cx="89456" cy="59562"/>
              </a:xfrm>
              <a:custGeom>
                <a:avLst/>
                <a:gdLst/>
                <a:ahLst/>
                <a:cxnLst>
                  <a:cxn ang="0">
                    <a:pos x="40" y="62"/>
                  </a:cxn>
                  <a:cxn ang="0">
                    <a:pos x="34" y="62"/>
                  </a:cxn>
                  <a:cxn ang="0">
                    <a:pos x="26" y="58"/>
                  </a:cxn>
                  <a:cxn ang="0">
                    <a:pos x="14" y="50"/>
                  </a:cxn>
                  <a:cxn ang="0">
                    <a:pos x="8" y="40"/>
                  </a:cxn>
                  <a:cxn ang="0">
                    <a:pos x="2" y="34"/>
                  </a:cxn>
                  <a:cxn ang="0">
                    <a:pos x="0" y="26"/>
                  </a:cxn>
                  <a:cxn ang="0">
                    <a:pos x="0" y="22"/>
                  </a:cxn>
                  <a:cxn ang="0">
                    <a:pos x="4" y="20"/>
                  </a:cxn>
                  <a:cxn ang="0">
                    <a:pos x="6" y="16"/>
                  </a:cxn>
                  <a:cxn ang="0">
                    <a:pos x="6" y="8"/>
                  </a:cxn>
                  <a:cxn ang="0">
                    <a:pos x="10" y="6"/>
                  </a:cxn>
                  <a:cxn ang="0">
                    <a:pos x="20" y="10"/>
                  </a:cxn>
                  <a:cxn ang="0">
                    <a:pos x="32" y="12"/>
                  </a:cxn>
                  <a:cxn ang="0">
                    <a:pos x="38" y="8"/>
                  </a:cxn>
                  <a:cxn ang="0">
                    <a:pos x="50" y="4"/>
                  </a:cxn>
                  <a:cxn ang="0">
                    <a:pos x="52" y="6"/>
                  </a:cxn>
                  <a:cxn ang="0">
                    <a:pos x="56" y="8"/>
                  </a:cxn>
                  <a:cxn ang="0">
                    <a:pos x="60" y="6"/>
                  </a:cxn>
                  <a:cxn ang="0">
                    <a:pos x="70" y="2"/>
                  </a:cxn>
                  <a:cxn ang="0">
                    <a:pos x="82" y="0"/>
                  </a:cxn>
                  <a:cxn ang="0">
                    <a:pos x="86" y="2"/>
                  </a:cxn>
                  <a:cxn ang="0">
                    <a:pos x="92" y="4"/>
                  </a:cxn>
                  <a:cxn ang="0">
                    <a:pos x="88" y="20"/>
                  </a:cxn>
                  <a:cxn ang="0">
                    <a:pos x="80" y="28"/>
                  </a:cxn>
                  <a:cxn ang="0">
                    <a:pos x="78" y="42"/>
                  </a:cxn>
                  <a:cxn ang="0">
                    <a:pos x="72" y="52"/>
                  </a:cxn>
                  <a:cxn ang="0">
                    <a:pos x="66" y="56"/>
                  </a:cxn>
                  <a:cxn ang="0">
                    <a:pos x="56" y="56"/>
                  </a:cxn>
                  <a:cxn ang="0">
                    <a:pos x="48" y="58"/>
                  </a:cxn>
                  <a:cxn ang="0">
                    <a:pos x="42" y="62"/>
                  </a:cxn>
                  <a:cxn ang="0">
                    <a:pos x="40" y="62"/>
                  </a:cxn>
                </a:cxnLst>
                <a:rect l="0" t="0" r="r" b="b"/>
                <a:pathLst>
                  <a:path w="92" h="62">
                    <a:moveTo>
                      <a:pt x="40" y="62"/>
                    </a:moveTo>
                    <a:lnTo>
                      <a:pt x="40" y="62"/>
                    </a:lnTo>
                    <a:lnTo>
                      <a:pt x="36" y="62"/>
                    </a:lnTo>
                    <a:lnTo>
                      <a:pt x="34" y="62"/>
                    </a:lnTo>
                    <a:lnTo>
                      <a:pt x="30" y="60"/>
                    </a:lnTo>
                    <a:lnTo>
                      <a:pt x="26" y="58"/>
                    </a:lnTo>
                    <a:lnTo>
                      <a:pt x="20" y="56"/>
                    </a:lnTo>
                    <a:lnTo>
                      <a:pt x="14" y="50"/>
                    </a:lnTo>
                    <a:lnTo>
                      <a:pt x="10" y="44"/>
                    </a:lnTo>
                    <a:lnTo>
                      <a:pt x="8" y="40"/>
                    </a:lnTo>
                    <a:lnTo>
                      <a:pt x="6" y="38"/>
                    </a:lnTo>
                    <a:lnTo>
                      <a:pt x="2" y="34"/>
                    </a:lnTo>
                    <a:lnTo>
                      <a:pt x="2" y="30"/>
                    </a:lnTo>
                    <a:lnTo>
                      <a:pt x="0" y="26"/>
                    </a:lnTo>
                    <a:lnTo>
                      <a:pt x="0" y="24"/>
                    </a:lnTo>
                    <a:lnTo>
                      <a:pt x="0" y="22"/>
                    </a:lnTo>
                    <a:lnTo>
                      <a:pt x="2" y="20"/>
                    </a:lnTo>
                    <a:lnTo>
                      <a:pt x="4" y="20"/>
                    </a:lnTo>
                    <a:lnTo>
                      <a:pt x="6" y="20"/>
                    </a:lnTo>
                    <a:lnTo>
                      <a:pt x="6" y="16"/>
                    </a:lnTo>
                    <a:lnTo>
                      <a:pt x="8" y="12"/>
                    </a:lnTo>
                    <a:lnTo>
                      <a:pt x="6" y="8"/>
                    </a:lnTo>
                    <a:lnTo>
                      <a:pt x="8" y="6"/>
                    </a:lnTo>
                    <a:lnTo>
                      <a:pt x="10" y="6"/>
                    </a:lnTo>
                    <a:lnTo>
                      <a:pt x="14" y="8"/>
                    </a:lnTo>
                    <a:lnTo>
                      <a:pt x="20" y="10"/>
                    </a:lnTo>
                    <a:lnTo>
                      <a:pt x="24" y="10"/>
                    </a:lnTo>
                    <a:lnTo>
                      <a:pt x="32" y="12"/>
                    </a:lnTo>
                    <a:lnTo>
                      <a:pt x="38" y="12"/>
                    </a:lnTo>
                    <a:lnTo>
                      <a:pt x="38" y="8"/>
                    </a:lnTo>
                    <a:lnTo>
                      <a:pt x="44" y="6"/>
                    </a:lnTo>
                    <a:lnTo>
                      <a:pt x="50" y="4"/>
                    </a:lnTo>
                    <a:lnTo>
                      <a:pt x="52" y="4"/>
                    </a:lnTo>
                    <a:lnTo>
                      <a:pt x="52" y="6"/>
                    </a:lnTo>
                    <a:lnTo>
                      <a:pt x="54" y="6"/>
                    </a:lnTo>
                    <a:lnTo>
                      <a:pt x="56" y="8"/>
                    </a:lnTo>
                    <a:lnTo>
                      <a:pt x="58" y="6"/>
                    </a:lnTo>
                    <a:lnTo>
                      <a:pt x="60" y="6"/>
                    </a:lnTo>
                    <a:lnTo>
                      <a:pt x="64" y="2"/>
                    </a:lnTo>
                    <a:lnTo>
                      <a:pt x="70" y="2"/>
                    </a:lnTo>
                    <a:lnTo>
                      <a:pt x="76" y="2"/>
                    </a:lnTo>
                    <a:lnTo>
                      <a:pt x="82" y="0"/>
                    </a:lnTo>
                    <a:lnTo>
                      <a:pt x="84" y="0"/>
                    </a:lnTo>
                    <a:lnTo>
                      <a:pt x="86" y="2"/>
                    </a:lnTo>
                    <a:lnTo>
                      <a:pt x="90" y="4"/>
                    </a:lnTo>
                    <a:lnTo>
                      <a:pt x="92" y="4"/>
                    </a:lnTo>
                    <a:lnTo>
                      <a:pt x="90" y="16"/>
                    </a:lnTo>
                    <a:lnTo>
                      <a:pt x="88" y="20"/>
                    </a:lnTo>
                    <a:lnTo>
                      <a:pt x="82" y="24"/>
                    </a:lnTo>
                    <a:lnTo>
                      <a:pt x="80" y="28"/>
                    </a:lnTo>
                    <a:lnTo>
                      <a:pt x="78" y="34"/>
                    </a:lnTo>
                    <a:lnTo>
                      <a:pt x="78" y="42"/>
                    </a:lnTo>
                    <a:lnTo>
                      <a:pt x="76" y="48"/>
                    </a:lnTo>
                    <a:lnTo>
                      <a:pt x="72" y="52"/>
                    </a:lnTo>
                    <a:lnTo>
                      <a:pt x="70" y="54"/>
                    </a:lnTo>
                    <a:lnTo>
                      <a:pt x="66" y="56"/>
                    </a:lnTo>
                    <a:lnTo>
                      <a:pt x="64" y="56"/>
                    </a:lnTo>
                    <a:lnTo>
                      <a:pt x="56" y="56"/>
                    </a:lnTo>
                    <a:lnTo>
                      <a:pt x="50" y="56"/>
                    </a:lnTo>
                    <a:lnTo>
                      <a:pt x="48" y="58"/>
                    </a:lnTo>
                    <a:lnTo>
                      <a:pt x="44" y="62"/>
                    </a:lnTo>
                    <a:lnTo>
                      <a:pt x="42" y="62"/>
                    </a:lnTo>
                    <a:lnTo>
                      <a:pt x="40" y="62"/>
                    </a:lnTo>
                    <a:lnTo>
                      <a:pt x="40" y="6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67" name="Freeform 341">
                <a:extLst>
                  <a:ext uri="{FF2B5EF4-FFF2-40B4-BE49-F238E27FC236}">
                    <a16:creationId xmlns:a16="http://schemas.microsoft.com/office/drawing/2014/main" id="{0941E877-E0F1-BF1B-C17E-584AE39FAD41}"/>
                  </a:ext>
                </a:extLst>
              </p:cNvPr>
              <p:cNvSpPr>
                <a:spLocks/>
              </p:cNvSpPr>
              <p:nvPr/>
            </p:nvSpPr>
            <p:spPr bwMode="auto">
              <a:xfrm>
                <a:off x="6275983" y="3914088"/>
                <a:ext cx="5834" cy="3843"/>
              </a:xfrm>
              <a:custGeom>
                <a:avLst/>
                <a:gdLst/>
                <a:ahLst/>
                <a:cxnLst>
                  <a:cxn ang="0">
                    <a:pos x="6" y="2"/>
                  </a:cxn>
                  <a:cxn ang="0">
                    <a:pos x="6" y="2"/>
                  </a:cxn>
                  <a:cxn ang="0">
                    <a:pos x="2" y="4"/>
                  </a:cxn>
                  <a:cxn ang="0">
                    <a:pos x="0" y="0"/>
                  </a:cxn>
                  <a:cxn ang="0">
                    <a:pos x="4" y="0"/>
                  </a:cxn>
                  <a:cxn ang="0">
                    <a:pos x="6" y="0"/>
                  </a:cxn>
                  <a:cxn ang="0">
                    <a:pos x="6" y="2"/>
                  </a:cxn>
                  <a:cxn ang="0">
                    <a:pos x="6" y="2"/>
                  </a:cxn>
                </a:cxnLst>
                <a:rect l="0" t="0" r="r" b="b"/>
                <a:pathLst>
                  <a:path w="6" h="4">
                    <a:moveTo>
                      <a:pt x="6" y="2"/>
                    </a:moveTo>
                    <a:lnTo>
                      <a:pt x="6" y="2"/>
                    </a:lnTo>
                    <a:lnTo>
                      <a:pt x="2" y="4"/>
                    </a:lnTo>
                    <a:lnTo>
                      <a:pt x="0" y="0"/>
                    </a:lnTo>
                    <a:lnTo>
                      <a:pt x="4" y="0"/>
                    </a:lnTo>
                    <a:lnTo>
                      <a:pt x="6" y="0"/>
                    </a:lnTo>
                    <a:lnTo>
                      <a:pt x="6" y="2"/>
                    </a:lnTo>
                    <a:lnTo>
                      <a:pt x="6"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68" name="Freeform 342">
                <a:extLst>
                  <a:ext uri="{FF2B5EF4-FFF2-40B4-BE49-F238E27FC236}">
                    <a16:creationId xmlns:a16="http://schemas.microsoft.com/office/drawing/2014/main" id="{EBE86949-E9E2-0BE4-02D0-E6329D07D608}"/>
                  </a:ext>
                </a:extLst>
              </p:cNvPr>
              <p:cNvSpPr>
                <a:spLocks/>
              </p:cNvSpPr>
              <p:nvPr/>
            </p:nvSpPr>
            <p:spPr bwMode="auto">
              <a:xfrm>
                <a:off x="6275983" y="3914088"/>
                <a:ext cx="5834" cy="3843"/>
              </a:xfrm>
              <a:custGeom>
                <a:avLst/>
                <a:gdLst/>
                <a:ahLst/>
                <a:cxnLst>
                  <a:cxn ang="0">
                    <a:pos x="6" y="2"/>
                  </a:cxn>
                  <a:cxn ang="0">
                    <a:pos x="6" y="2"/>
                  </a:cxn>
                  <a:cxn ang="0">
                    <a:pos x="2" y="4"/>
                  </a:cxn>
                  <a:cxn ang="0">
                    <a:pos x="0" y="0"/>
                  </a:cxn>
                  <a:cxn ang="0">
                    <a:pos x="4" y="0"/>
                  </a:cxn>
                  <a:cxn ang="0">
                    <a:pos x="6" y="0"/>
                  </a:cxn>
                  <a:cxn ang="0">
                    <a:pos x="6" y="2"/>
                  </a:cxn>
                  <a:cxn ang="0">
                    <a:pos x="6" y="2"/>
                  </a:cxn>
                </a:cxnLst>
                <a:rect l="0" t="0" r="r" b="b"/>
                <a:pathLst>
                  <a:path w="6" h="4">
                    <a:moveTo>
                      <a:pt x="6" y="2"/>
                    </a:moveTo>
                    <a:lnTo>
                      <a:pt x="6" y="2"/>
                    </a:lnTo>
                    <a:lnTo>
                      <a:pt x="2" y="4"/>
                    </a:lnTo>
                    <a:lnTo>
                      <a:pt x="0" y="0"/>
                    </a:lnTo>
                    <a:lnTo>
                      <a:pt x="4" y="0"/>
                    </a:lnTo>
                    <a:lnTo>
                      <a:pt x="6" y="0"/>
                    </a:lnTo>
                    <a:lnTo>
                      <a:pt x="6" y="2"/>
                    </a:lnTo>
                    <a:lnTo>
                      <a:pt x="6"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69" name="Freeform 343">
                <a:extLst>
                  <a:ext uri="{FF2B5EF4-FFF2-40B4-BE49-F238E27FC236}">
                    <a16:creationId xmlns:a16="http://schemas.microsoft.com/office/drawing/2014/main" id="{EE2EF03A-042B-D25C-A0ED-95F190E3A4B0}"/>
                  </a:ext>
                </a:extLst>
              </p:cNvPr>
              <p:cNvSpPr>
                <a:spLocks/>
              </p:cNvSpPr>
              <p:nvPr/>
            </p:nvSpPr>
            <p:spPr bwMode="auto">
              <a:xfrm>
                <a:off x="3708986" y="4012078"/>
                <a:ext cx="77788" cy="48034"/>
              </a:xfrm>
              <a:custGeom>
                <a:avLst/>
                <a:gdLst/>
                <a:ahLst/>
                <a:cxnLst>
                  <a:cxn ang="0">
                    <a:pos x="80" y="20"/>
                  </a:cxn>
                  <a:cxn ang="0">
                    <a:pos x="80" y="20"/>
                  </a:cxn>
                  <a:cxn ang="0">
                    <a:pos x="80" y="18"/>
                  </a:cxn>
                  <a:cxn ang="0">
                    <a:pos x="80" y="16"/>
                  </a:cxn>
                  <a:cxn ang="0">
                    <a:pos x="74" y="16"/>
                  </a:cxn>
                  <a:cxn ang="0">
                    <a:pos x="70" y="14"/>
                  </a:cxn>
                  <a:cxn ang="0">
                    <a:pos x="70" y="10"/>
                  </a:cxn>
                  <a:cxn ang="0">
                    <a:pos x="68" y="6"/>
                  </a:cxn>
                  <a:cxn ang="0">
                    <a:pos x="64" y="6"/>
                  </a:cxn>
                  <a:cxn ang="0">
                    <a:pos x="64" y="4"/>
                  </a:cxn>
                  <a:cxn ang="0">
                    <a:pos x="56" y="2"/>
                  </a:cxn>
                  <a:cxn ang="0">
                    <a:pos x="50" y="2"/>
                  </a:cxn>
                  <a:cxn ang="0">
                    <a:pos x="48" y="0"/>
                  </a:cxn>
                  <a:cxn ang="0">
                    <a:pos x="46" y="0"/>
                  </a:cxn>
                  <a:cxn ang="0">
                    <a:pos x="46" y="4"/>
                  </a:cxn>
                  <a:cxn ang="0">
                    <a:pos x="40" y="4"/>
                  </a:cxn>
                  <a:cxn ang="0">
                    <a:pos x="34" y="4"/>
                  </a:cxn>
                  <a:cxn ang="0">
                    <a:pos x="34" y="6"/>
                  </a:cxn>
                  <a:cxn ang="0">
                    <a:pos x="24" y="6"/>
                  </a:cxn>
                  <a:cxn ang="0">
                    <a:pos x="14" y="6"/>
                  </a:cxn>
                  <a:cxn ang="0">
                    <a:pos x="12" y="8"/>
                  </a:cxn>
                  <a:cxn ang="0">
                    <a:pos x="12" y="10"/>
                  </a:cxn>
                  <a:cxn ang="0">
                    <a:pos x="10" y="10"/>
                  </a:cxn>
                  <a:cxn ang="0">
                    <a:pos x="4" y="12"/>
                  </a:cxn>
                  <a:cxn ang="0">
                    <a:pos x="4" y="16"/>
                  </a:cxn>
                  <a:cxn ang="0">
                    <a:pos x="2" y="22"/>
                  </a:cxn>
                  <a:cxn ang="0">
                    <a:pos x="0" y="24"/>
                  </a:cxn>
                  <a:cxn ang="0">
                    <a:pos x="6" y="26"/>
                  </a:cxn>
                  <a:cxn ang="0">
                    <a:pos x="14" y="28"/>
                  </a:cxn>
                  <a:cxn ang="0">
                    <a:pos x="16" y="30"/>
                  </a:cxn>
                  <a:cxn ang="0">
                    <a:pos x="20" y="32"/>
                  </a:cxn>
                  <a:cxn ang="0">
                    <a:pos x="26" y="34"/>
                  </a:cxn>
                  <a:cxn ang="0">
                    <a:pos x="26" y="44"/>
                  </a:cxn>
                  <a:cxn ang="0">
                    <a:pos x="30" y="44"/>
                  </a:cxn>
                  <a:cxn ang="0">
                    <a:pos x="28" y="50"/>
                  </a:cxn>
                  <a:cxn ang="0">
                    <a:pos x="30" y="50"/>
                  </a:cxn>
                  <a:cxn ang="0">
                    <a:pos x="32" y="48"/>
                  </a:cxn>
                  <a:cxn ang="0">
                    <a:pos x="34" y="48"/>
                  </a:cxn>
                  <a:cxn ang="0">
                    <a:pos x="34" y="40"/>
                  </a:cxn>
                  <a:cxn ang="0">
                    <a:pos x="34" y="34"/>
                  </a:cxn>
                  <a:cxn ang="0">
                    <a:pos x="44" y="30"/>
                  </a:cxn>
                  <a:cxn ang="0">
                    <a:pos x="48" y="30"/>
                  </a:cxn>
                  <a:cxn ang="0">
                    <a:pos x="50" y="32"/>
                  </a:cxn>
                  <a:cxn ang="0">
                    <a:pos x="52" y="34"/>
                  </a:cxn>
                  <a:cxn ang="0">
                    <a:pos x="52" y="32"/>
                  </a:cxn>
                  <a:cxn ang="0">
                    <a:pos x="56" y="32"/>
                  </a:cxn>
                  <a:cxn ang="0">
                    <a:pos x="62" y="30"/>
                  </a:cxn>
                  <a:cxn ang="0">
                    <a:pos x="66" y="30"/>
                  </a:cxn>
                  <a:cxn ang="0">
                    <a:pos x="66" y="28"/>
                  </a:cxn>
                  <a:cxn ang="0">
                    <a:pos x="68" y="24"/>
                  </a:cxn>
                  <a:cxn ang="0">
                    <a:pos x="72" y="22"/>
                  </a:cxn>
                  <a:cxn ang="0">
                    <a:pos x="80" y="20"/>
                  </a:cxn>
                  <a:cxn ang="0">
                    <a:pos x="80" y="20"/>
                  </a:cxn>
                </a:cxnLst>
                <a:rect l="0" t="0" r="r" b="b"/>
                <a:pathLst>
                  <a:path w="80" h="50">
                    <a:moveTo>
                      <a:pt x="80" y="20"/>
                    </a:moveTo>
                    <a:lnTo>
                      <a:pt x="80" y="20"/>
                    </a:lnTo>
                    <a:lnTo>
                      <a:pt x="80" y="18"/>
                    </a:lnTo>
                    <a:lnTo>
                      <a:pt x="80" y="16"/>
                    </a:lnTo>
                    <a:lnTo>
                      <a:pt x="74" y="16"/>
                    </a:lnTo>
                    <a:lnTo>
                      <a:pt x="70" y="14"/>
                    </a:lnTo>
                    <a:lnTo>
                      <a:pt x="70" y="10"/>
                    </a:lnTo>
                    <a:lnTo>
                      <a:pt x="68" y="6"/>
                    </a:lnTo>
                    <a:lnTo>
                      <a:pt x="64" y="6"/>
                    </a:lnTo>
                    <a:lnTo>
                      <a:pt x="64" y="4"/>
                    </a:lnTo>
                    <a:lnTo>
                      <a:pt x="56" y="2"/>
                    </a:lnTo>
                    <a:lnTo>
                      <a:pt x="50" y="2"/>
                    </a:lnTo>
                    <a:lnTo>
                      <a:pt x="48" y="0"/>
                    </a:lnTo>
                    <a:lnTo>
                      <a:pt x="46" y="0"/>
                    </a:lnTo>
                    <a:lnTo>
                      <a:pt x="46" y="4"/>
                    </a:lnTo>
                    <a:lnTo>
                      <a:pt x="40" y="4"/>
                    </a:lnTo>
                    <a:lnTo>
                      <a:pt x="34" y="4"/>
                    </a:lnTo>
                    <a:lnTo>
                      <a:pt x="34" y="6"/>
                    </a:lnTo>
                    <a:lnTo>
                      <a:pt x="24" y="6"/>
                    </a:lnTo>
                    <a:lnTo>
                      <a:pt x="14" y="6"/>
                    </a:lnTo>
                    <a:lnTo>
                      <a:pt x="12" y="8"/>
                    </a:lnTo>
                    <a:lnTo>
                      <a:pt x="12" y="10"/>
                    </a:lnTo>
                    <a:lnTo>
                      <a:pt x="10" y="10"/>
                    </a:lnTo>
                    <a:lnTo>
                      <a:pt x="4" y="12"/>
                    </a:lnTo>
                    <a:lnTo>
                      <a:pt x="4" y="16"/>
                    </a:lnTo>
                    <a:lnTo>
                      <a:pt x="2" y="22"/>
                    </a:lnTo>
                    <a:lnTo>
                      <a:pt x="0" y="24"/>
                    </a:lnTo>
                    <a:lnTo>
                      <a:pt x="6" y="26"/>
                    </a:lnTo>
                    <a:lnTo>
                      <a:pt x="14" y="28"/>
                    </a:lnTo>
                    <a:lnTo>
                      <a:pt x="16" y="30"/>
                    </a:lnTo>
                    <a:lnTo>
                      <a:pt x="20" y="32"/>
                    </a:lnTo>
                    <a:lnTo>
                      <a:pt x="26" y="34"/>
                    </a:lnTo>
                    <a:lnTo>
                      <a:pt x="26" y="44"/>
                    </a:lnTo>
                    <a:lnTo>
                      <a:pt x="30" y="44"/>
                    </a:lnTo>
                    <a:lnTo>
                      <a:pt x="28" y="50"/>
                    </a:lnTo>
                    <a:lnTo>
                      <a:pt x="30" y="50"/>
                    </a:lnTo>
                    <a:lnTo>
                      <a:pt x="32" y="48"/>
                    </a:lnTo>
                    <a:lnTo>
                      <a:pt x="34" y="48"/>
                    </a:lnTo>
                    <a:lnTo>
                      <a:pt x="34" y="40"/>
                    </a:lnTo>
                    <a:lnTo>
                      <a:pt x="34" y="34"/>
                    </a:lnTo>
                    <a:lnTo>
                      <a:pt x="44" y="30"/>
                    </a:lnTo>
                    <a:lnTo>
                      <a:pt x="48" y="30"/>
                    </a:lnTo>
                    <a:lnTo>
                      <a:pt x="50" y="32"/>
                    </a:lnTo>
                    <a:lnTo>
                      <a:pt x="52" y="34"/>
                    </a:lnTo>
                    <a:lnTo>
                      <a:pt x="52" y="32"/>
                    </a:lnTo>
                    <a:lnTo>
                      <a:pt x="56" y="32"/>
                    </a:lnTo>
                    <a:lnTo>
                      <a:pt x="62" y="30"/>
                    </a:lnTo>
                    <a:lnTo>
                      <a:pt x="66" y="30"/>
                    </a:lnTo>
                    <a:lnTo>
                      <a:pt x="66" y="28"/>
                    </a:lnTo>
                    <a:lnTo>
                      <a:pt x="68" y="24"/>
                    </a:lnTo>
                    <a:lnTo>
                      <a:pt x="72" y="22"/>
                    </a:lnTo>
                    <a:lnTo>
                      <a:pt x="80" y="20"/>
                    </a:lnTo>
                    <a:lnTo>
                      <a:pt x="80" y="2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70" name="Freeform 344">
                <a:extLst>
                  <a:ext uri="{FF2B5EF4-FFF2-40B4-BE49-F238E27FC236}">
                    <a16:creationId xmlns:a16="http://schemas.microsoft.com/office/drawing/2014/main" id="{85F00990-8F99-6F0D-2FD8-DAC8C781C0FE}"/>
                  </a:ext>
                </a:extLst>
              </p:cNvPr>
              <p:cNvSpPr>
                <a:spLocks/>
              </p:cNvSpPr>
              <p:nvPr/>
            </p:nvSpPr>
            <p:spPr bwMode="auto">
              <a:xfrm>
                <a:off x="3899566" y="3950595"/>
                <a:ext cx="35004" cy="24978"/>
              </a:xfrm>
              <a:custGeom>
                <a:avLst/>
                <a:gdLst/>
                <a:ahLst/>
                <a:cxnLst>
                  <a:cxn ang="0">
                    <a:pos x="36" y="26"/>
                  </a:cxn>
                  <a:cxn ang="0">
                    <a:pos x="36" y="26"/>
                  </a:cxn>
                  <a:cxn ang="0">
                    <a:pos x="36" y="22"/>
                  </a:cxn>
                  <a:cxn ang="0">
                    <a:pos x="36" y="18"/>
                  </a:cxn>
                  <a:cxn ang="0">
                    <a:pos x="36" y="16"/>
                  </a:cxn>
                  <a:cxn ang="0">
                    <a:pos x="36" y="12"/>
                  </a:cxn>
                  <a:cxn ang="0">
                    <a:pos x="36" y="2"/>
                  </a:cxn>
                  <a:cxn ang="0">
                    <a:pos x="32" y="2"/>
                  </a:cxn>
                  <a:cxn ang="0">
                    <a:pos x="30" y="2"/>
                  </a:cxn>
                  <a:cxn ang="0">
                    <a:pos x="26" y="0"/>
                  </a:cxn>
                  <a:cxn ang="0">
                    <a:pos x="20" y="0"/>
                  </a:cxn>
                  <a:cxn ang="0">
                    <a:pos x="26" y="4"/>
                  </a:cxn>
                  <a:cxn ang="0">
                    <a:pos x="26" y="6"/>
                  </a:cxn>
                  <a:cxn ang="0">
                    <a:pos x="26" y="12"/>
                  </a:cxn>
                  <a:cxn ang="0">
                    <a:pos x="30" y="16"/>
                  </a:cxn>
                  <a:cxn ang="0">
                    <a:pos x="30" y="20"/>
                  </a:cxn>
                  <a:cxn ang="0">
                    <a:pos x="28" y="22"/>
                  </a:cxn>
                  <a:cxn ang="0">
                    <a:pos x="26" y="22"/>
                  </a:cxn>
                  <a:cxn ang="0">
                    <a:pos x="16" y="18"/>
                  </a:cxn>
                  <a:cxn ang="0">
                    <a:pos x="12" y="20"/>
                  </a:cxn>
                  <a:cxn ang="0">
                    <a:pos x="10" y="20"/>
                  </a:cxn>
                  <a:cxn ang="0">
                    <a:pos x="8" y="18"/>
                  </a:cxn>
                  <a:cxn ang="0">
                    <a:pos x="4" y="16"/>
                  </a:cxn>
                  <a:cxn ang="0">
                    <a:pos x="0" y="18"/>
                  </a:cxn>
                  <a:cxn ang="0">
                    <a:pos x="0" y="22"/>
                  </a:cxn>
                  <a:cxn ang="0">
                    <a:pos x="6" y="26"/>
                  </a:cxn>
                  <a:cxn ang="0">
                    <a:pos x="10" y="26"/>
                  </a:cxn>
                  <a:cxn ang="0">
                    <a:pos x="14" y="24"/>
                  </a:cxn>
                  <a:cxn ang="0">
                    <a:pos x="36" y="26"/>
                  </a:cxn>
                  <a:cxn ang="0">
                    <a:pos x="36" y="26"/>
                  </a:cxn>
                </a:cxnLst>
                <a:rect l="0" t="0" r="r" b="b"/>
                <a:pathLst>
                  <a:path w="36" h="26">
                    <a:moveTo>
                      <a:pt x="36" y="26"/>
                    </a:moveTo>
                    <a:lnTo>
                      <a:pt x="36" y="26"/>
                    </a:lnTo>
                    <a:lnTo>
                      <a:pt x="36" y="22"/>
                    </a:lnTo>
                    <a:lnTo>
                      <a:pt x="36" y="18"/>
                    </a:lnTo>
                    <a:lnTo>
                      <a:pt x="36" y="16"/>
                    </a:lnTo>
                    <a:lnTo>
                      <a:pt x="36" y="12"/>
                    </a:lnTo>
                    <a:lnTo>
                      <a:pt x="36" y="2"/>
                    </a:lnTo>
                    <a:lnTo>
                      <a:pt x="32" y="2"/>
                    </a:lnTo>
                    <a:lnTo>
                      <a:pt x="30" y="2"/>
                    </a:lnTo>
                    <a:lnTo>
                      <a:pt x="26" y="0"/>
                    </a:lnTo>
                    <a:lnTo>
                      <a:pt x="20" y="0"/>
                    </a:lnTo>
                    <a:lnTo>
                      <a:pt x="26" y="4"/>
                    </a:lnTo>
                    <a:lnTo>
                      <a:pt x="26" y="6"/>
                    </a:lnTo>
                    <a:lnTo>
                      <a:pt x="26" y="12"/>
                    </a:lnTo>
                    <a:lnTo>
                      <a:pt x="30" y="16"/>
                    </a:lnTo>
                    <a:lnTo>
                      <a:pt x="30" y="20"/>
                    </a:lnTo>
                    <a:lnTo>
                      <a:pt x="28" y="22"/>
                    </a:lnTo>
                    <a:lnTo>
                      <a:pt x="26" y="22"/>
                    </a:lnTo>
                    <a:lnTo>
                      <a:pt x="16" y="18"/>
                    </a:lnTo>
                    <a:lnTo>
                      <a:pt x="12" y="20"/>
                    </a:lnTo>
                    <a:lnTo>
                      <a:pt x="10" y="20"/>
                    </a:lnTo>
                    <a:lnTo>
                      <a:pt x="8" y="18"/>
                    </a:lnTo>
                    <a:lnTo>
                      <a:pt x="4" y="16"/>
                    </a:lnTo>
                    <a:lnTo>
                      <a:pt x="0" y="18"/>
                    </a:lnTo>
                    <a:lnTo>
                      <a:pt x="0" y="22"/>
                    </a:lnTo>
                    <a:lnTo>
                      <a:pt x="6" y="26"/>
                    </a:lnTo>
                    <a:lnTo>
                      <a:pt x="10" y="26"/>
                    </a:lnTo>
                    <a:lnTo>
                      <a:pt x="14" y="24"/>
                    </a:lnTo>
                    <a:lnTo>
                      <a:pt x="36" y="26"/>
                    </a:lnTo>
                    <a:lnTo>
                      <a:pt x="36" y="2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71" name="Freeform 345">
                <a:extLst>
                  <a:ext uri="{FF2B5EF4-FFF2-40B4-BE49-F238E27FC236}">
                    <a16:creationId xmlns:a16="http://schemas.microsoft.com/office/drawing/2014/main" id="{0A347D67-A657-3698-D780-08C167D14929}"/>
                  </a:ext>
                </a:extLst>
              </p:cNvPr>
              <p:cNvSpPr>
                <a:spLocks/>
              </p:cNvSpPr>
              <p:nvPr/>
            </p:nvSpPr>
            <p:spPr bwMode="auto">
              <a:xfrm>
                <a:off x="4057086" y="4129282"/>
                <a:ext cx="60285" cy="121046"/>
              </a:xfrm>
              <a:custGeom>
                <a:avLst/>
                <a:gdLst/>
                <a:ahLst/>
                <a:cxnLst>
                  <a:cxn ang="0">
                    <a:pos x="20" y="8"/>
                  </a:cxn>
                  <a:cxn ang="0">
                    <a:pos x="12" y="14"/>
                  </a:cxn>
                  <a:cxn ang="0">
                    <a:pos x="6" y="14"/>
                  </a:cxn>
                  <a:cxn ang="0">
                    <a:pos x="8" y="20"/>
                  </a:cxn>
                  <a:cxn ang="0">
                    <a:pos x="12" y="26"/>
                  </a:cxn>
                  <a:cxn ang="0">
                    <a:pos x="16" y="28"/>
                  </a:cxn>
                  <a:cxn ang="0">
                    <a:pos x="14" y="32"/>
                  </a:cxn>
                  <a:cxn ang="0">
                    <a:pos x="4" y="34"/>
                  </a:cxn>
                  <a:cxn ang="0">
                    <a:pos x="4" y="40"/>
                  </a:cxn>
                  <a:cxn ang="0">
                    <a:pos x="10" y="58"/>
                  </a:cxn>
                  <a:cxn ang="0">
                    <a:pos x="20" y="60"/>
                  </a:cxn>
                  <a:cxn ang="0">
                    <a:pos x="24" y="62"/>
                  </a:cxn>
                  <a:cxn ang="0">
                    <a:pos x="20" y="68"/>
                  </a:cxn>
                  <a:cxn ang="0">
                    <a:pos x="28" y="72"/>
                  </a:cxn>
                  <a:cxn ang="0">
                    <a:pos x="26" y="76"/>
                  </a:cxn>
                  <a:cxn ang="0">
                    <a:pos x="28" y="80"/>
                  </a:cxn>
                  <a:cxn ang="0">
                    <a:pos x="20" y="90"/>
                  </a:cxn>
                  <a:cxn ang="0">
                    <a:pos x="18" y="108"/>
                  </a:cxn>
                  <a:cxn ang="0">
                    <a:pos x="20" y="114"/>
                  </a:cxn>
                  <a:cxn ang="0">
                    <a:pos x="26" y="120"/>
                  </a:cxn>
                  <a:cxn ang="0">
                    <a:pos x="28" y="122"/>
                  </a:cxn>
                  <a:cxn ang="0">
                    <a:pos x="34" y="126"/>
                  </a:cxn>
                  <a:cxn ang="0">
                    <a:pos x="38" y="122"/>
                  </a:cxn>
                  <a:cxn ang="0">
                    <a:pos x="42" y="122"/>
                  </a:cxn>
                  <a:cxn ang="0">
                    <a:pos x="42" y="118"/>
                  </a:cxn>
                  <a:cxn ang="0">
                    <a:pos x="46" y="116"/>
                  </a:cxn>
                  <a:cxn ang="0">
                    <a:pos x="48" y="114"/>
                  </a:cxn>
                  <a:cxn ang="0">
                    <a:pos x="54" y="116"/>
                  </a:cxn>
                  <a:cxn ang="0">
                    <a:pos x="50" y="98"/>
                  </a:cxn>
                  <a:cxn ang="0">
                    <a:pos x="52" y="92"/>
                  </a:cxn>
                  <a:cxn ang="0">
                    <a:pos x="48" y="86"/>
                  </a:cxn>
                  <a:cxn ang="0">
                    <a:pos x="46" y="70"/>
                  </a:cxn>
                  <a:cxn ang="0">
                    <a:pos x="46" y="66"/>
                  </a:cxn>
                  <a:cxn ang="0">
                    <a:pos x="54" y="60"/>
                  </a:cxn>
                  <a:cxn ang="0">
                    <a:pos x="62" y="42"/>
                  </a:cxn>
                  <a:cxn ang="0">
                    <a:pos x="58" y="32"/>
                  </a:cxn>
                  <a:cxn ang="0">
                    <a:pos x="50" y="28"/>
                  </a:cxn>
                  <a:cxn ang="0">
                    <a:pos x="46" y="28"/>
                  </a:cxn>
                  <a:cxn ang="0">
                    <a:pos x="46" y="26"/>
                  </a:cxn>
                  <a:cxn ang="0">
                    <a:pos x="42" y="30"/>
                  </a:cxn>
                  <a:cxn ang="0">
                    <a:pos x="38" y="36"/>
                  </a:cxn>
                  <a:cxn ang="0">
                    <a:pos x="36" y="34"/>
                  </a:cxn>
                  <a:cxn ang="0">
                    <a:pos x="36" y="30"/>
                  </a:cxn>
                  <a:cxn ang="0">
                    <a:pos x="42" y="22"/>
                  </a:cxn>
                  <a:cxn ang="0">
                    <a:pos x="34" y="8"/>
                  </a:cxn>
                  <a:cxn ang="0">
                    <a:pos x="22" y="2"/>
                  </a:cxn>
                  <a:cxn ang="0">
                    <a:pos x="22" y="0"/>
                  </a:cxn>
                </a:cxnLst>
                <a:rect l="0" t="0" r="r" b="b"/>
                <a:pathLst>
                  <a:path w="62" h="126">
                    <a:moveTo>
                      <a:pt x="22" y="0"/>
                    </a:moveTo>
                    <a:lnTo>
                      <a:pt x="20" y="8"/>
                    </a:lnTo>
                    <a:lnTo>
                      <a:pt x="18" y="10"/>
                    </a:lnTo>
                    <a:lnTo>
                      <a:pt x="12" y="14"/>
                    </a:lnTo>
                    <a:lnTo>
                      <a:pt x="8" y="14"/>
                    </a:lnTo>
                    <a:lnTo>
                      <a:pt x="6" y="14"/>
                    </a:lnTo>
                    <a:lnTo>
                      <a:pt x="6" y="16"/>
                    </a:lnTo>
                    <a:lnTo>
                      <a:pt x="8" y="20"/>
                    </a:lnTo>
                    <a:lnTo>
                      <a:pt x="10" y="22"/>
                    </a:lnTo>
                    <a:lnTo>
                      <a:pt x="12" y="26"/>
                    </a:lnTo>
                    <a:lnTo>
                      <a:pt x="14" y="26"/>
                    </a:lnTo>
                    <a:lnTo>
                      <a:pt x="16" y="28"/>
                    </a:lnTo>
                    <a:lnTo>
                      <a:pt x="16" y="30"/>
                    </a:lnTo>
                    <a:lnTo>
                      <a:pt x="14" y="32"/>
                    </a:lnTo>
                    <a:lnTo>
                      <a:pt x="12" y="32"/>
                    </a:lnTo>
                    <a:lnTo>
                      <a:pt x="4" y="34"/>
                    </a:lnTo>
                    <a:lnTo>
                      <a:pt x="4" y="36"/>
                    </a:lnTo>
                    <a:lnTo>
                      <a:pt x="4" y="40"/>
                    </a:lnTo>
                    <a:lnTo>
                      <a:pt x="0" y="42"/>
                    </a:lnTo>
                    <a:lnTo>
                      <a:pt x="10" y="58"/>
                    </a:lnTo>
                    <a:lnTo>
                      <a:pt x="14" y="60"/>
                    </a:lnTo>
                    <a:lnTo>
                      <a:pt x="20" y="60"/>
                    </a:lnTo>
                    <a:lnTo>
                      <a:pt x="22" y="60"/>
                    </a:lnTo>
                    <a:lnTo>
                      <a:pt x="24" y="62"/>
                    </a:lnTo>
                    <a:lnTo>
                      <a:pt x="24" y="64"/>
                    </a:lnTo>
                    <a:lnTo>
                      <a:pt x="20" y="68"/>
                    </a:lnTo>
                    <a:lnTo>
                      <a:pt x="26" y="72"/>
                    </a:lnTo>
                    <a:lnTo>
                      <a:pt x="28" y="72"/>
                    </a:lnTo>
                    <a:lnTo>
                      <a:pt x="26" y="74"/>
                    </a:lnTo>
                    <a:lnTo>
                      <a:pt x="26" y="76"/>
                    </a:lnTo>
                    <a:lnTo>
                      <a:pt x="26" y="78"/>
                    </a:lnTo>
                    <a:lnTo>
                      <a:pt x="28" y="80"/>
                    </a:lnTo>
                    <a:lnTo>
                      <a:pt x="26" y="84"/>
                    </a:lnTo>
                    <a:lnTo>
                      <a:pt x="20" y="90"/>
                    </a:lnTo>
                    <a:lnTo>
                      <a:pt x="20" y="98"/>
                    </a:lnTo>
                    <a:lnTo>
                      <a:pt x="18" y="108"/>
                    </a:lnTo>
                    <a:lnTo>
                      <a:pt x="18" y="110"/>
                    </a:lnTo>
                    <a:lnTo>
                      <a:pt x="20" y="114"/>
                    </a:lnTo>
                    <a:lnTo>
                      <a:pt x="22" y="116"/>
                    </a:lnTo>
                    <a:lnTo>
                      <a:pt x="26" y="120"/>
                    </a:lnTo>
                    <a:lnTo>
                      <a:pt x="28" y="120"/>
                    </a:lnTo>
                    <a:lnTo>
                      <a:pt x="28" y="122"/>
                    </a:lnTo>
                    <a:lnTo>
                      <a:pt x="30" y="126"/>
                    </a:lnTo>
                    <a:lnTo>
                      <a:pt x="34" y="126"/>
                    </a:lnTo>
                    <a:lnTo>
                      <a:pt x="36" y="124"/>
                    </a:lnTo>
                    <a:lnTo>
                      <a:pt x="38" y="122"/>
                    </a:lnTo>
                    <a:lnTo>
                      <a:pt x="40" y="122"/>
                    </a:lnTo>
                    <a:lnTo>
                      <a:pt x="42" y="122"/>
                    </a:lnTo>
                    <a:lnTo>
                      <a:pt x="42" y="120"/>
                    </a:lnTo>
                    <a:lnTo>
                      <a:pt x="42" y="118"/>
                    </a:lnTo>
                    <a:lnTo>
                      <a:pt x="44" y="118"/>
                    </a:lnTo>
                    <a:lnTo>
                      <a:pt x="46" y="116"/>
                    </a:lnTo>
                    <a:lnTo>
                      <a:pt x="46" y="114"/>
                    </a:lnTo>
                    <a:lnTo>
                      <a:pt x="48" y="114"/>
                    </a:lnTo>
                    <a:lnTo>
                      <a:pt x="52" y="116"/>
                    </a:lnTo>
                    <a:lnTo>
                      <a:pt x="54" y="116"/>
                    </a:lnTo>
                    <a:lnTo>
                      <a:pt x="52" y="108"/>
                    </a:lnTo>
                    <a:lnTo>
                      <a:pt x="50" y="98"/>
                    </a:lnTo>
                    <a:lnTo>
                      <a:pt x="52" y="94"/>
                    </a:lnTo>
                    <a:lnTo>
                      <a:pt x="52" y="92"/>
                    </a:lnTo>
                    <a:lnTo>
                      <a:pt x="50" y="90"/>
                    </a:lnTo>
                    <a:lnTo>
                      <a:pt x="48" y="86"/>
                    </a:lnTo>
                    <a:lnTo>
                      <a:pt x="48" y="76"/>
                    </a:lnTo>
                    <a:lnTo>
                      <a:pt x="46" y="70"/>
                    </a:lnTo>
                    <a:lnTo>
                      <a:pt x="46" y="68"/>
                    </a:lnTo>
                    <a:lnTo>
                      <a:pt x="46" y="66"/>
                    </a:lnTo>
                    <a:lnTo>
                      <a:pt x="50" y="64"/>
                    </a:lnTo>
                    <a:lnTo>
                      <a:pt x="54" y="60"/>
                    </a:lnTo>
                    <a:lnTo>
                      <a:pt x="54" y="52"/>
                    </a:lnTo>
                    <a:lnTo>
                      <a:pt x="62" y="42"/>
                    </a:lnTo>
                    <a:lnTo>
                      <a:pt x="60" y="36"/>
                    </a:lnTo>
                    <a:lnTo>
                      <a:pt x="58" y="32"/>
                    </a:lnTo>
                    <a:lnTo>
                      <a:pt x="52" y="30"/>
                    </a:lnTo>
                    <a:lnTo>
                      <a:pt x="50" y="28"/>
                    </a:lnTo>
                    <a:lnTo>
                      <a:pt x="48" y="26"/>
                    </a:lnTo>
                    <a:lnTo>
                      <a:pt x="46" y="28"/>
                    </a:lnTo>
                    <a:lnTo>
                      <a:pt x="46" y="28"/>
                    </a:lnTo>
                    <a:lnTo>
                      <a:pt x="46" y="26"/>
                    </a:lnTo>
                    <a:lnTo>
                      <a:pt x="44" y="26"/>
                    </a:lnTo>
                    <a:lnTo>
                      <a:pt x="42" y="30"/>
                    </a:lnTo>
                    <a:lnTo>
                      <a:pt x="42" y="38"/>
                    </a:lnTo>
                    <a:lnTo>
                      <a:pt x="38" y="36"/>
                    </a:lnTo>
                    <a:lnTo>
                      <a:pt x="36" y="36"/>
                    </a:lnTo>
                    <a:lnTo>
                      <a:pt x="36" y="34"/>
                    </a:lnTo>
                    <a:lnTo>
                      <a:pt x="36" y="32"/>
                    </a:lnTo>
                    <a:lnTo>
                      <a:pt x="36" y="30"/>
                    </a:lnTo>
                    <a:lnTo>
                      <a:pt x="40" y="28"/>
                    </a:lnTo>
                    <a:lnTo>
                      <a:pt x="42" y="22"/>
                    </a:lnTo>
                    <a:lnTo>
                      <a:pt x="42" y="16"/>
                    </a:lnTo>
                    <a:lnTo>
                      <a:pt x="34" y="8"/>
                    </a:lnTo>
                    <a:lnTo>
                      <a:pt x="26" y="0"/>
                    </a:lnTo>
                    <a:lnTo>
                      <a:pt x="22" y="2"/>
                    </a:lnTo>
                    <a:lnTo>
                      <a:pt x="22" y="0"/>
                    </a:lnTo>
                    <a:lnTo>
                      <a:pt x="2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72" name="Freeform 346">
                <a:extLst>
                  <a:ext uri="{FF2B5EF4-FFF2-40B4-BE49-F238E27FC236}">
                    <a16:creationId xmlns:a16="http://schemas.microsoft.com/office/drawing/2014/main" id="{BD701240-8AD0-AF78-EBC5-F0F66AA46EB5}"/>
                  </a:ext>
                </a:extLst>
              </p:cNvPr>
              <p:cNvSpPr>
                <a:spLocks/>
              </p:cNvSpPr>
              <p:nvPr/>
            </p:nvSpPr>
            <p:spPr bwMode="auto">
              <a:xfrm>
                <a:off x="3670092" y="3981336"/>
                <a:ext cx="52507" cy="65327"/>
              </a:xfrm>
              <a:custGeom>
                <a:avLst/>
                <a:gdLst/>
                <a:ahLst/>
                <a:cxnLst>
                  <a:cxn ang="0">
                    <a:pos x="28" y="68"/>
                  </a:cxn>
                  <a:cxn ang="0">
                    <a:pos x="28" y="68"/>
                  </a:cxn>
                  <a:cxn ang="0">
                    <a:pos x="28" y="66"/>
                  </a:cxn>
                  <a:cxn ang="0">
                    <a:pos x="30" y="66"/>
                  </a:cxn>
                  <a:cxn ang="0">
                    <a:pos x="34" y="66"/>
                  </a:cxn>
                  <a:cxn ang="0">
                    <a:pos x="34" y="64"/>
                  </a:cxn>
                  <a:cxn ang="0">
                    <a:pos x="34" y="60"/>
                  </a:cxn>
                  <a:cxn ang="0">
                    <a:pos x="38" y="58"/>
                  </a:cxn>
                  <a:cxn ang="0">
                    <a:pos x="40" y="56"/>
                  </a:cxn>
                  <a:cxn ang="0">
                    <a:pos x="42" y="54"/>
                  </a:cxn>
                  <a:cxn ang="0">
                    <a:pos x="44" y="48"/>
                  </a:cxn>
                  <a:cxn ang="0">
                    <a:pos x="44" y="44"/>
                  </a:cxn>
                  <a:cxn ang="0">
                    <a:pos x="50" y="42"/>
                  </a:cxn>
                  <a:cxn ang="0">
                    <a:pos x="52" y="42"/>
                  </a:cxn>
                  <a:cxn ang="0">
                    <a:pos x="52" y="40"/>
                  </a:cxn>
                  <a:cxn ang="0">
                    <a:pos x="54" y="38"/>
                  </a:cxn>
                  <a:cxn ang="0">
                    <a:pos x="46" y="38"/>
                  </a:cxn>
                  <a:cxn ang="0">
                    <a:pos x="46" y="36"/>
                  </a:cxn>
                  <a:cxn ang="0">
                    <a:pos x="42" y="36"/>
                  </a:cxn>
                  <a:cxn ang="0">
                    <a:pos x="42" y="0"/>
                  </a:cxn>
                  <a:cxn ang="0">
                    <a:pos x="22" y="0"/>
                  </a:cxn>
                  <a:cxn ang="0">
                    <a:pos x="20" y="8"/>
                  </a:cxn>
                  <a:cxn ang="0">
                    <a:pos x="16" y="8"/>
                  </a:cxn>
                  <a:cxn ang="0">
                    <a:pos x="16" y="12"/>
                  </a:cxn>
                  <a:cxn ang="0">
                    <a:pos x="18" y="16"/>
                  </a:cxn>
                  <a:cxn ang="0">
                    <a:pos x="22" y="20"/>
                  </a:cxn>
                  <a:cxn ang="0">
                    <a:pos x="24" y="24"/>
                  </a:cxn>
                  <a:cxn ang="0">
                    <a:pos x="26" y="26"/>
                  </a:cxn>
                  <a:cxn ang="0">
                    <a:pos x="26" y="30"/>
                  </a:cxn>
                  <a:cxn ang="0">
                    <a:pos x="10" y="28"/>
                  </a:cxn>
                  <a:cxn ang="0">
                    <a:pos x="4" y="32"/>
                  </a:cxn>
                  <a:cxn ang="0">
                    <a:pos x="2" y="36"/>
                  </a:cxn>
                  <a:cxn ang="0">
                    <a:pos x="2" y="40"/>
                  </a:cxn>
                  <a:cxn ang="0">
                    <a:pos x="2" y="42"/>
                  </a:cxn>
                  <a:cxn ang="0">
                    <a:pos x="2" y="44"/>
                  </a:cxn>
                  <a:cxn ang="0">
                    <a:pos x="0" y="48"/>
                  </a:cxn>
                  <a:cxn ang="0">
                    <a:pos x="2" y="48"/>
                  </a:cxn>
                  <a:cxn ang="0">
                    <a:pos x="6" y="50"/>
                  </a:cxn>
                  <a:cxn ang="0">
                    <a:pos x="8" y="54"/>
                  </a:cxn>
                  <a:cxn ang="0">
                    <a:pos x="12" y="58"/>
                  </a:cxn>
                  <a:cxn ang="0">
                    <a:pos x="18" y="60"/>
                  </a:cxn>
                  <a:cxn ang="0">
                    <a:pos x="18" y="62"/>
                  </a:cxn>
                  <a:cxn ang="0">
                    <a:pos x="20" y="66"/>
                  </a:cxn>
                  <a:cxn ang="0">
                    <a:pos x="24" y="66"/>
                  </a:cxn>
                  <a:cxn ang="0">
                    <a:pos x="26" y="66"/>
                  </a:cxn>
                  <a:cxn ang="0">
                    <a:pos x="26" y="68"/>
                  </a:cxn>
                  <a:cxn ang="0">
                    <a:pos x="28" y="68"/>
                  </a:cxn>
                  <a:cxn ang="0">
                    <a:pos x="28" y="68"/>
                  </a:cxn>
                </a:cxnLst>
                <a:rect l="0" t="0" r="r" b="b"/>
                <a:pathLst>
                  <a:path w="54" h="68">
                    <a:moveTo>
                      <a:pt x="28" y="68"/>
                    </a:moveTo>
                    <a:lnTo>
                      <a:pt x="28" y="68"/>
                    </a:lnTo>
                    <a:lnTo>
                      <a:pt x="28" y="66"/>
                    </a:lnTo>
                    <a:lnTo>
                      <a:pt x="30" y="66"/>
                    </a:lnTo>
                    <a:lnTo>
                      <a:pt x="34" y="66"/>
                    </a:lnTo>
                    <a:lnTo>
                      <a:pt x="34" y="64"/>
                    </a:lnTo>
                    <a:lnTo>
                      <a:pt x="34" y="60"/>
                    </a:lnTo>
                    <a:lnTo>
                      <a:pt x="38" y="58"/>
                    </a:lnTo>
                    <a:lnTo>
                      <a:pt x="40" y="56"/>
                    </a:lnTo>
                    <a:lnTo>
                      <a:pt x="42" y="54"/>
                    </a:lnTo>
                    <a:lnTo>
                      <a:pt x="44" y="48"/>
                    </a:lnTo>
                    <a:lnTo>
                      <a:pt x="44" y="44"/>
                    </a:lnTo>
                    <a:lnTo>
                      <a:pt x="50" y="42"/>
                    </a:lnTo>
                    <a:lnTo>
                      <a:pt x="52" y="42"/>
                    </a:lnTo>
                    <a:lnTo>
                      <a:pt x="52" y="40"/>
                    </a:lnTo>
                    <a:lnTo>
                      <a:pt x="54" y="38"/>
                    </a:lnTo>
                    <a:lnTo>
                      <a:pt x="46" y="38"/>
                    </a:lnTo>
                    <a:lnTo>
                      <a:pt x="46" y="36"/>
                    </a:lnTo>
                    <a:lnTo>
                      <a:pt x="42" y="36"/>
                    </a:lnTo>
                    <a:lnTo>
                      <a:pt x="42" y="0"/>
                    </a:lnTo>
                    <a:lnTo>
                      <a:pt x="22" y="0"/>
                    </a:lnTo>
                    <a:lnTo>
                      <a:pt x="20" y="8"/>
                    </a:lnTo>
                    <a:lnTo>
                      <a:pt x="16" y="8"/>
                    </a:lnTo>
                    <a:lnTo>
                      <a:pt x="16" y="12"/>
                    </a:lnTo>
                    <a:lnTo>
                      <a:pt x="18" y="16"/>
                    </a:lnTo>
                    <a:lnTo>
                      <a:pt x="22" y="20"/>
                    </a:lnTo>
                    <a:lnTo>
                      <a:pt x="24" y="24"/>
                    </a:lnTo>
                    <a:lnTo>
                      <a:pt x="26" y="26"/>
                    </a:lnTo>
                    <a:lnTo>
                      <a:pt x="26" y="30"/>
                    </a:lnTo>
                    <a:lnTo>
                      <a:pt x="10" y="28"/>
                    </a:lnTo>
                    <a:lnTo>
                      <a:pt x="4" y="32"/>
                    </a:lnTo>
                    <a:lnTo>
                      <a:pt x="2" y="36"/>
                    </a:lnTo>
                    <a:lnTo>
                      <a:pt x="2" y="40"/>
                    </a:lnTo>
                    <a:lnTo>
                      <a:pt x="2" y="42"/>
                    </a:lnTo>
                    <a:lnTo>
                      <a:pt x="2" y="44"/>
                    </a:lnTo>
                    <a:lnTo>
                      <a:pt x="0" y="48"/>
                    </a:lnTo>
                    <a:lnTo>
                      <a:pt x="2" y="48"/>
                    </a:lnTo>
                    <a:lnTo>
                      <a:pt x="6" y="50"/>
                    </a:lnTo>
                    <a:lnTo>
                      <a:pt x="8" y="54"/>
                    </a:lnTo>
                    <a:lnTo>
                      <a:pt x="12" y="58"/>
                    </a:lnTo>
                    <a:lnTo>
                      <a:pt x="18" y="60"/>
                    </a:lnTo>
                    <a:lnTo>
                      <a:pt x="18" y="62"/>
                    </a:lnTo>
                    <a:lnTo>
                      <a:pt x="20" y="66"/>
                    </a:lnTo>
                    <a:lnTo>
                      <a:pt x="24" y="66"/>
                    </a:lnTo>
                    <a:lnTo>
                      <a:pt x="26" y="66"/>
                    </a:lnTo>
                    <a:lnTo>
                      <a:pt x="26" y="68"/>
                    </a:lnTo>
                    <a:lnTo>
                      <a:pt x="28" y="68"/>
                    </a:lnTo>
                    <a:lnTo>
                      <a:pt x="28" y="6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73" name="Freeform 347">
                <a:extLst>
                  <a:ext uri="{FF2B5EF4-FFF2-40B4-BE49-F238E27FC236}">
                    <a16:creationId xmlns:a16="http://schemas.microsoft.com/office/drawing/2014/main" id="{D45F7371-C7F7-D47E-4951-59072ED58AC9}"/>
                  </a:ext>
                </a:extLst>
              </p:cNvPr>
              <p:cNvSpPr>
                <a:spLocks noEditPoints="1"/>
              </p:cNvSpPr>
              <p:nvPr/>
            </p:nvSpPr>
            <p:spPr bwMode="auto">
              <a:xfrm>
                <a:off x="5091664" y="3595141"/>
                <a:ext cx="91401" cy="119125"/>
              </a:xfrm>
              <a:custGeom>
                <a:avLst/>
                <a:gdLst/>
                <a:ahLst/>
                <a:cxnLst>
                  <a:cxn ang="0">
                    <a:pos x="4" y="42"/>
                  </a:cxn>
                  <a:cxn ang="0">
                    <a:pos x="10" y="50"/>
                  </a:cxn>
                  <a:cxn ang="0">
                    <a:pos x="12" y="58"/>
                  </a:cxn>
                  <a:cxn ang="0">
                    <a:pos x="26" y="64"/>
                  </a:cxn>
                  <a:cxn ang="0">
                    <a:pos x="32" y="70"/>
                  </a:cxn>
                  <a:cxn ang="0">
                    <a:pos x="22" y="64"/>
                  </a:cxn>
                  <a:cxn ang="0">
                    <a:pos x="18" y="76"/>
                  </a:cxn>
                  <a:cxn ang="0">
                    <a:pos x="22" y="84"/>
                  </a:cxn>
                  <a:cxn ang="0">
                    <a:pos x="32" y="84"/>
                  </a:cxn>
                  <a:cxn ang="0">
                    <a:pos x="34" y="80"/>
                  </a:cxn>
                  <a:cxn ang="0">
                    <a:pos x="44" y="80"/>
                  </a:cxn>
                  <a:cxn ang="0">
                    <a:pos x="40" y="72"/>
                  </a:cxn>
                  <a:cxn ang="0">
                    <a:pos x="52" y="66"/>
                  </a:cxn>
                  <a:cxn ang="0">
                    <a:pos x="42" y="56"/>
                  </a:cxn>
                  <a:cxn ang="0">
                    <a:pos x="44" y="58"/>
                  </a:cxn>
                  <a:cxn ang="0">
                    <a:pos x="56" y="64"/>
                  </a:cxn>
                  <a:cxn ang="0">
                    <a:pos x="60" y="68"/>
                  </a:cxn>
                  <a:cxn ang="0">
                    <a:pos x="48" y="56"/>
                  </a:cxn>
                  <a:cxn ang="0">
                    <a:pos x="38" y="52"/>
                  </a:cxn>
                  <a:cxn ang="0">
                    <a:pos x="36" y="42"/>
                  </a:cxn>
                  <a:cxn ang="0">
                    <a:pos x="42" y="42"/>
                  </a:cxn>
                  <a:cxn ang="0">
                    <a:pos x="36" y="30"/>
                  </a:cxn>
                  <a:cxn ang="0">
                    <a:pos x="34" y="24"/>
                  </a:cxn>
                  <a:cxn ang="0">
                    <a:pos x="44" y="30"/>
                  </a:cxn>
                  <a:cxn ang="0">
                    <a:pos x="46" y="26"/>
                  </a:cxn>
                  <a:cxn ang="0">
                    <a:pos x="52" y="24"/>
                  </a:cxn>
                  <a:cxn ang="0">
                    <a:pos x="54" y="22"/>
                  </a:cxn>
                  <a:cxn ang="0">
                    <a:pos x="50" y="14"/>
                  </a:cxn>
                  <a:cxn ang="0">
                    <a:pos x="78" y="14"/>
                  </a:cxn>
                  <a:cxn ang="0">
                    <a:pos x="82" y="16"/>
                  </a:cxn>
                  <a:cxn ang="0">
                    <a:pos x="86" y="8"/>
                  </a:cxn>
                  <a:cxn ang="0">
                    <a:pos x="92" y="10"/>
                  </a:cxn>
                  <a:cxn ang="0">
                    <a:pos x="92" y="4"/>
                  </a:cxn>
                  <a:cxn ang="0">
                    <a:pos x="82" y="2"/>
                  </a:cxn>
                  <a:cxn ang="0">
                    <a:pos x="82" y="6"/>
                  </a:cxn>
                  <a:cxn ang="0">
                    <a:pos x="72" y="4"/>
                  </a:cxn>
                  <a:cxn ang="0">
                    <a:pos x="62" y="0"/>
                  </a:cxn>
                  <a:cxn ang="0">
                    <a:pos x="56" y="8"/>
                  </a:cxn>
                  <a:cxn ang="0">
                    <a:pos x="44" y="6"/>
                  </a:cxn>
                  <a:cxn ang="0">
                    <a:pos x="40" y="12"/>
                  </a:cxn>
                  <a:cxn ang="0">
                    <a:pos x="32" y="14"/>
                  </a:cxn>
                  <a:cxn ang="0">
                    <a:pos x="28" y="18"/>
                  </a:cxn>
                  <a:cxn ang="0">
                    <a:pos x="12" y="20"/>
                  </a:cxn>
                  <a:cxn ang="0">
                    <a:pos x="8" y="32"/>
                  </a:cxn>
                  <a:cxn ang="0">
                    <a:pos x="2" y="34"/>
                  </a:cxn>
                  <a:cxn ang="0">
                    <a:pos x="48" y="112"/>
                  </a:cxn>
                  <a:cxn ang="0">
                    <a:pos x="54" y="120"/>
                  </a:cxn>
                  <a:cxn ang="0">
                    <a:pos x="64" y="124"/>
                  </a:cxn>
                  <a:cxn ang="0">
                    <a:pos x="74" y="122"/>
                  </a:cxn>
                  <a:cxn ang="0">
                    <a:pos x="82" y="120"/>
                  </a:cxn>
                  <a:cxn ang="0">
                    <a:pos x="76" y="114"/>
                  </a:cxn>
                  <a:cxn ang="0">
                    <a:pos x="64" y="116"/>
                  </a:cxn>
                  <a:cxn ang="0">
                    <a:pos x="48" y="112"/>
                  </a:cxn>
                  <a:cxn ang="0">
                    <a:pos x="40" y="54"/>
                  </a:cxn>
                  <a:cxn ang="0">
                    <a:pos x="38" y="52"/>
                  </a:cxn>
                  <a:cxn ang="0">
                    <a:pos x="78" y="46"/>
                  </a:cxn>
                  <a:cxn ang="0">
                    <a:pos x="84" y="50"/>
                  </a:cxn>
                  <a:cxn ang="0">
                    <a:pos x="80" y="44"/>
                  </a:cxn>
                  <a:cxn ang="0">
                    <a:pos x="0" y="34"/>
                  </a:cxn>
                  <a:cxn ang="0">
                    <a:pos x="0" y="34"/>
                  </a:cxn>
                </a:cxnLst>
                <a:rect l="0" t="0" r="r" b="b"/>
                <a:pathLst>
                  <a:path w="94" h="124">
                    <a:moveTo>
                      <a:pt x="2" y="34"/>
                    </a:moveTo>
                    <a:lnTo>
                      <a:pt x="2" y="34"/>
                    </a:lnTo>
                    <a:lnTo>
                      <a:pt x="4" y="42"/>
                    </a:lnTo>
                    <a:lnTo>
                      <a:pt x="8" y="44"/>
                    </a:lnTo>
                    <a:lnTo>
                      <a:pt x="8" y="46"/>
                    </a:lnTo>
                    <a:lnTo>
                      <a:pt x="10" y="50"/>
                    </a:lnTo>
                    <a:lnTo>
                      <a:pt x="16" y="50"/>
                    </a:lnTo>
                    <a:lnTo>
                      <a:pt x="12" y="52"/>
                    </a:lnTo>
                    <a:lnTo>
                      <a:pt x="12" y="58"/>
                    </a:lnTo>
                    <a:lnTo>
                      <a:pt x="14" y="62"/>
                    </a:lnTo>
                    <a:lnTo>
                      <a:pt x="20" y="62"/>
                    </a:lnTo>
                    <a:lnTo>
                      <a:pt x="26" y="64"/>
                    </a:lnTo>
                    <a:lnTo>
                      <a:pt x="36" y="68"/>
                    </a:lnTo>
                    <a:lnTo>
                      <a:pt x="36" y="70"/>
                    </a:lnTo>
                    <a:lnTo>
                      <a:pt x="32" y="70"/>
                    </a:lnTo>
                    <a:lnTo>
                      <a:pt x="30" y="68"/>
                    </a:lnTo>
                    <a:lnTo>
                      <a:pt x="28" y="66"/>
                    </a:lnTo>
                    <a:lnTo>
                      <a:pt x="22" y="64"/>
                    </a:lnTo>
                    <a:lnTo>
                      <a:pt x="20" y="66"/>
                    </a:lnTo>
                    <a:lnTo>
                      <a:pt x="14" y="70"/>
                    </a:lnTo>
                    <a:lnTo>
                      <a:pt x="18" y="76"/>
                    </a:lnTo>
                    <a:lnTo>
                      <a:pt x="18" y="82"/>
                    </a:lnTo>
                    <a:lnTo>
                      <a:pt x="20" y="84"/>
                    </a:lnTo>
                    <a:lnTo>
                      <a:pt x="22" y="84"/>
                    </a:lnTo>
                    <a:lnTo>
                      <a:pt x="22" y="82"/>
                    </a:lnTo>
                    <a:lnTo>
                      <a:pt x="26" y="84"/>
                    </a:lnTo>
                    <a:lnTo>
                      <a:pt x="32" y="84"/>
                    </a:lnTo>
                    <a:lnTo>
                      <a:pt x="36" y="84"/>
                    </a:lnTo>
                    <a:lnTo>
                      <a:pt x="36" y="82"/>
                    </a:lnTo>
                    <a:lnTo>
                      <a:pt x="34" y="80"/>
                    </a:lnTo>
                    <a:lnTo>
                      <a:pt x="34" y="80"/>
                    </a:lnTo>
                    <a:lnTo>
                      <a:pt x="40" y="80"/>
                    </a:lnTo>
                    <a:lnTo>
                      <a:pt x="44" y="80"/>
                    </a:lnTo>
                    <a:lnTo>
                      <a:pt x="46" y="78"/>
                    </a:lnTo>
                    <a:lnTo>
                      <a:pt x="40" y="74"/>
                    </a:lnTo>
                    <a:lnTo>
                      <a:pt x="40" y="72"/>
                    </a:lnTo>
                    <a:lnTo>
                      <a:pt x="46" y="72"/>
                    </a:lnTo>
                    <a:lnTo>
                      <a:pt x="52" y="76"/>
                    </a:lnTo>
                    <a:lnTo>
                      <a:pt x="52" y="66"/>
                    </a:lnTo>
                    <a:lnTo>
                      <a:pt x="46" y="64"/>
                    </a:lnTo>
                    <a:lnTo>
                      <a:pt x="42" y="60"/>
                    </a:lnTo>
                    <a:lnTo>
                      <a:pt x="42" y="56"/>
                    </a:lnTo>
                    <a:lnTo>
                      <a:pt x="40" y="56"/>
                    </a:lnTo>
                    <a:lnTo>
                      <a:pt x="42" y="54"/>
                    </a:lnTo>
                    <a:lnTo>
                      <a:pt x="44" y="58"/>
                    </a:lnTo>
                    <a:lnTo>
                      <a:pt x="48" y="62"/>
                    </a:lnTo>
                    <a:lnTo>
                      <a:pt x="50" y="64"/>
                    </a:lnTo>
                    <a:lnTo>
                      <a:pt x="56" y="64"/>
                    </a:lnTo>
                    <a:lnTo>
                      <a:pt x="58" y="66"/>
                    </a:lnTo>
                    <a:lnTo>
                      <a:pt x="60" y="70"/>
                    </a:lnTo>
                    <a:lnTo>
                      <a:pt x="60" y="68"/>
                    </a:lnTo>
                    <a:lnTo>
                      <a:pt x="60" y="66"/>
                    </a:lnTo>
                    <a:lnTo>
                      <a:pt x="56" y="58"/>
                    </a:lnTo>
                    <a:lnTo>
                      <a:pt x="48" y="56"/>
                    </a:lnTo>
                    <a:lnTo>
                      <a:pt x="48" y="52"/>
                    </a:lnTo>
                    <a:lnTo>
                      <a:pt x="44" y="50"/>
                    </a:lnTo>
                    <a:lnTo>
                      <a:pt x="38" y="52"/>
                    </a:lnTo>
                    <a:lnTo>
                      <a:pt x="40" y="50"/>
                    </a:lnTo>
                    <a:lnTo>
                      <a:pt x="38" y="46"/>
                    </a:lnTo>
                    <a:lnTo>
                      <a:pt x="36" y="42"/>
                    </a:lnTo>
                    <a:lnTo>
                      <a:pt x="40" y="46"/>
                    </a:lnTo>
                    <a:lnTo>
                      <a:pt x="44" y="46"/>
                    </a:lnTo>
                    <a:lnTo>
                      <a:pt x="42" y="42"/>
                    </a:lnTo>
                    <a:lnTo>
                      <a:pt x="38" y="38"/>
                    </a:lnTo>
                    <a:lnTo>
                      <a:pt x="38" y="34"/>
                    </a:lnTo>
                    <a:lnTo>
                      <a:pt x="36" y="30"/>
                    </a:lnTo>
                    <a:lnTo>
                      <a:pt x="34" y="30"/>
                    </a:lnTo>
                    <a:lnTo>
                      <a:pt x="32" y="28"/>
                    </a:lnTo>
                    <a:lnTo>
                      <a:pt x="34" y="24"/>
                    </a:lnTo>
                    <a:lnTo>
                      <a:pt x="38" y="20"/>
                    </a:lnTo>
                    <a:lnTo>
                      <a:pt x="40" y="24"/>
                    </a:lnTo>
                    <a:lnTo>
                      <a:pt x="44" y="30"/>
                    </a:lnTo>
                    <a:lnTo>
                      <a:pt x="48" y="30"/>
                    </a:lnTo>
                    <a:lnTo>
                      <a:pt x="44" y="26"/>
                    </a:lnTo>
                    <a:lnTo>
                      <a:pt x="46" y="26"/>
                    </a:lnTo>
                    <a:lnTo>
                      <a:pt x="46" y="24"/>
                    </a:lnTo>
                    <a:lnTo>
                      <a:pt x="52" y="26"/>
                    </a:lnTo>
                    <a:lnTo>
                      <a:pt x="52" y="24"/>
                    </a:lnTo>
                    <a:lnTo>
                      <a:pt x="52" y="24"/>
                    </a:lnTo>
                    <a:lnTo>
                      <a:pt x="56" y="24"/>
                    </a:lnTo>
                    <a:lnTo>
                      <a:pt x="54" y="22"/>
                    </a:lnTo>
                    <a:lnTo>
                      <a:pt x="50" y="18"/>
                    </a:lnTo>
                    <a:lnTo>
                      <a:pt x="50" y="16"/>
                    </a:lnTo>
                    <a:lnTo>
                      <a:pt x="50" y="14"/>
                    </a:lnTo>
                    <a:lnTo>
                      <a:pt x="58" y="14"/>
                    </a:lnTo>
                    <a:lnTo>
                      <a:pt x="64" y="16"/>
                    </a:lnTo>
                    <a:lnTo>
                      <a:pt x="78" y="14"/>
                    </a:lnTo>
                    <a:lnTo>
                      <a:pt x="78" y="16"/>
                    </a:lnTo>
                    <a:lnTo>
                      <a:pt x="80" y="18"/>
                    </a:lnTo>
                    <a:lnTo>
                      <a:pt x="82" y="16"/>
                    </a:lnTo>
                    <a:lnTo>
                      <a:pt x="84" y="14"/>
                    </a:lnTo>
                    <a:lnTo>
                      <a:pt x="84" y="10"/>
                    </a:lnTo>
                    <a:lnTo>
                      <a:pt x="86" y="8"/>
                    </a:lnTo>
                    <a:lnTo>
                      <a:pt x="86" y="10"/>
                    </a:lnTo>
                    <a:lnTo>
                      <a:pt x="90" y="10"/>
                    </a:lnTo>
                    <a:lnTo>
                      <a:pt x="92" y="10"/>
                    </a:lnTo>
                    <a:lnTo>
                      <a:pt x="94" y="8"/>
                    </a:lnTo>
                    <a:lnTo>
                      <a:pt x="94" y="6"/>
                    </a:lnTo>
                    <a:lnTo>
                      <a:pt x="92" y="4"/>
                    </a:lnTo>
                    <a:lnTo>
                      <a:pt x="88" y="0"/>
                    </a:lnTo>
                    <a:lnTo>
                      <a:pt x="84" y="0"/>
                    </a:lnTo>
                    <a:lnTo>
                      <a:pt x="82" y="2"/>
                    </a:lnTo>
                    <a:lnTo>
                      <a:pt x="82" y="4"/>
                    </a:lnTo>
                    <a:lnTo>
                      <a:pt x="84" y="6"/>
                    </a:lnTo>
                    <a:lnTo>
                      <a:pt x="82" y="6"/>
                    </a:lnTo>
                    <a:lnTo>
                      <a:pt x="78" y="6"/>
                    </a:lnTo>
                    <a:lnTo>
                      <a:pt x="72" y="6"/>
                    </a:lnTo>
                    <a:lnTo>
                      <a:pt x="72" y="4"/>
                    </a:lnTo>
                    <a:lnTo>
                      <a:pt x="70" y="2"/>
                    </a:lnTo>
                    <a:lnTo>
                      <a:pt x="68" y="2"/>
                    </a:lnTo>
                    <a:lnTo>
                      <a:pt x="62" y="0"/>
                    </a:lnTo>
                    <a:lnTo>
                      <a:pt x="60" y="2"/>
                    </a:lnTo>
                    <a:lnTo>
                      <a:pt x="58" y="4"/>
                    </a:lnTo>
                    <a:lnTo>
                      <a:pt x="56" y="8"/>
                    </a:lnTo>
                    <a:lnTo>
                      <a:pt x="54" y="8"/>
                    </a:lnTo>
                    <a:lnTo>
                      <a:pt x="48" y="6"/>
                    </a:lnTo>
                    <a:lnTo>
                      <a:pt x="44" y="6"/>
                    </a:lnTo>
                    <a:lnTo>
                      <a:pt x="42" y="10"/>
                    </a:lnTo>
                    <a:lnTo>
                      <a:pt x="42" y="12"/>
                    </a:lnTo>
                    <a:lnTo>
                      <a:pt x="40" y="12"/>
                    </a:lnTo>
                    <a:lnTo>
                      <a:pt x="36" y="12"/>
                    </a:lnTo>
                    <a:lnTo>
                      <a:pt x="34" y="14"/>
                    </a:lnTo>
                    <a:lnTo>
                      <a:pt x="32" y="14"/>
                    </a:lnTo>
                    <a:lnTo>
                      <a:pt x="32" y="16"/>
                    </a:lnTo>
                    <a:lnTo>
                      <a:pt x="30" y="16"/>
                    </a:lnTo>
                    <a:lnTo>
                      <a:pt x="28" y="18"/>
                    </a:lnTo>
                    <a:lnTo>
                      <a:pt x="26" y="20"/>
                    </a:lnTo>
                    <a:lnTo>
                      <a:pt x="24" y="20"/>
                    </a:lnTo>
                    <a:lnTo>
                      <a:pt x="12" y="20"/>
                    </a:lnTo>
                    <a:lnTo>
                      <a:pt x="12" y="24"/>
                    </a:lnTo>
                    <a:lnTo>
                      <a:pt x="10" y="30"/>
                    </a:lnTo>
                    <a:lnTo>
                      <a:pt x="8" y="32"/>
                    </a:lnTo>
                    <a:lnTo>
                      <a:pt x="8" y="34"/>
                    </a:lnTo>
                    <a:lnTo>
                      <a:pt x="6" y="34"/>
                    </a:lnTo>
                    <a:lnTo>
                      <a:pt x="2" y="34"/>
                    </a:lnTo>
                    <a:lnTo>
                      <a:pt x="2" y="34"/>
                    </a:lnTo>
                    <a:close/>
                    <a:moveTo>
                      <a:pt x="48" y="112"/>
                    </a:moveTo>
                    <a:lnTo>
                      <a:pt x="48" y="112"/>
                    </a:lnTo>
                    <a:lnTo>
                      <a:pt x="44" y="114"/>
                    </a:lnTo>
                    <a:lnTo>
                      <a:pt x="44" y="116"/>
                    </a:lnTo>
                    <a:lnTo>
                      <a:pt x="54" y="120"/>
                    </a:lnTo>
                    <a:lnTo>
                      <a:pt x="58" y="120"/>
                    </a:lnTo>
                    <a:lnTo>
                      <a:pt x="62" y="122"/>
                    </a:lnTo>
                    <a:lnTo>
                      <a:pt x="64" y="124"/>
                    </a:lnTo>
                    <a:lnTo>
                      <a:pt x="68" y="124"/>
                    </a:lnTo>
                    <a:lnTo>
                      <a:pt x="70" y="122"/>
                    </a:lnTo>
                    <a:lnTo>
                      <a:pt x="74" y="122"/>
                    </a:lnTo>
                    <a:lnTo>
                      <a:pt x="76" y="122"/>
                    </a:lnTo>
                    <a:lnTo>
                      <a:pt x="80" y="122"/>
                    </a:lnTo>
                    <a:lnTo>
                      <a:pt x="82" y="120"/>
                    </a:lnTo>
                    <a:lnTo>
                      <a:pt x="80" y="118"/>
                    </a:lnTo>
                    <a:lnTo>
                      <a:pt x="76" y="118"/>
                    </a:lnTo>
                    <a:lnTo>
                      <a:pt x="76" y="114"/>
                    </a:lnTo>
                    <a:lnTo>
                      <a:pt x="74" y="114"/>
                    </a:lnTo>
                    <a:lnTo>
                      <a:pt x="74" y="116"/>
                    </a:lnTo>
                    <a:lnTo>
                      <a:pt x="64" y="116"/>
                    </a:lnTo>
                    <a:lnTo>
                      <a:pt x="56" y="114"/>
                    </a:lnTo>
                    <a:lnTo>
                      <a:pt x="48" y="112"/>
                    </a:lnTo>
                    <a:lnTo>
                      <a:pt x="48" y="112"/>
                    </a:lnTo>
                    <a:close/>
                    <a:moveTo>
                      <a:pt x="38" y="52"/>
                    </a:moveTo>
                    <a:lnTo>
                      <a:pt x="38" y="52"/>
                    </a:lnTo>
                    <a:lnTo>
                      <a:pt x="40" y="54"/>
                    </a:lnTo>
                    <a:lnTo>
                      <a:pt x="36" y="52"/>
                    </a:lnTo>
                    <a:lnTo>
                      <a:pt x="38" y="52"/>
                    </a:lnTo>
                    <a:lnTo>
                      <a:pt x="38" y="52"/>
                    </a:lnTo>
                    <a:close/>
                    <a:moveTo>
                      <a:pt x="80" y="44"/>
                    </a:moveTo>
                    <a:lnTo>
                      <a:pt x="80" y="44"/>
                    </a:lnTo>
                    <a:lnTo>
                      <a:pt x="78" y="46"/>
                    </a:lnTo>
                    <a:lnTo>
                      <a:pt x="80" y="46"/>
                    </a:lnTo>
                    <a:lnTo>
                      <a:pt x="80" y="50"/>
                    </a:lnTo>
                    <a:lnTo>
                      <a:pt x="84" y="50"/>
                    </a:lnTo>
                    <a:lnTo>
                      <a:pt x="84" y="48"/>
                    </a:lnTo>
                    <a:lnTo>
                      <a:pt x="84" y="44"/>
                    </a:lnTo>
                    <a:lnTo>
                      <a:pt x="80" y="44"/>
                    </a:lnTo>
                    <a:lnTo>
                      <a:pt x="80" y="44"/>
                    </a:lnTo>
                    <a:close/>
                    <a:moveTo>
                      <a:pt x="0" y="34"/>
                    </a:moveTo>
                    <a:lnTo>
                      <a:pt x="0" y="34"/>
                    </a:lnTo>
                    <a:lnTo>
                      <a:pt x="0" y="38"/>
                    </a:lnTo>
                    <a:lnTo>
                      <a:pt x="2" y="38"/>
                    </a:lnTo>
                    <a:lnTo>
                      <a:pt x="0" y="34"/>
                    </a:lnTo>
                    <a:lnTo>
                      <a:pt x="0" y="3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74" name="Freeform 348">
                <a:extLst>
                  <a:ext uri="{FF2B5EF4-FFF2-40B4-BE49-F238E27FC236}">
                    <a16:creationId xmlns:a16="http://schemas.microsoft.com/office/drawing/2014/main" id="{210023D4-F16E-3D11-2495-D1441BDC53B2}"/>
                  </a:ext>
                </a:extLst>
              </p:cNvPr>
              <p:cNvSpPr>
                <a:spLocks/>
              </p:cNvSpPr>
              <p:nvPr/>
            </p:nvSpPr>
            <p:spPr bwMode="auto">
              <a:xfrm>
                <a:off x="5126668" y="3645096"/>
                <a:ext cx="3890" cy="1921"/>
              </a:xfrm>
              <a:custGeom>
                <a:avLst/>
                <a:gdLst/>
                <a:ahLst/>
                <a:cxnLst>
                  <a:cxn ang="0">
                    <a:pos x="2" y="0"/>
                  </a:cxn>
                  <a:cxn ang="0">
                    <a:pos x="2" y="0"/>
                  </a:cxn>
                  <a:cxn ang="0">
                    <a:pos x="4" y="2"/>
                  </a:cxn>
                  <a:cxn ang="0">
                    <a:pos x="0" y="0"/>
                  </a:cxn>
                  <a:cxn ang="0">
                    <a:pos x="2" y="0"/>
                  </a:cxn>
                </a:cxnLst>
                <a:rect l="0" t="0" r="r" b="b"/>
                <a:pathLst>
                  <a:path w="4" h="2">
                    <a:moveTo>
                      <a:pt x="2" y="0"/>
                    </a:moveTo>
                    <a:lnTo>
                      <a:pt x="2" y="0"/>
                    </a:lnTo>
                    <a:lnTo>
                      <a:pt x="4" y="2"/>
                    </a:lnTo>
                    <a:lnTo>
                      <a:pt x="0" y="0"/>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75" name="Freeform 349">
                <a:extLst>
                  <a:ext uri="{FF2B5EF4-FFF2-40B4-BE49-F238E27FC236}">
                    <a16:creationId xmlns:a16="http://schemas.microsoft.com/office/drawing/2014/main" id="{5FC8C668-E337-DC34-6760-C8887D4683EF}"/>
                  </a:ext>
                </a:extLst>
              </p:cNvPr>
              <p:cNvSpPr>
                <a:spLocks/>
              </p:cNvSpPr>
              <p:nvPr/>
            </p:nvSpPr>
            <p:spPr bwMode="auto">
              <a:xfrm>
                <a:off x="5126668" y="3645096"/>
                <a:ext cx="3890" cy="1921"/>
              </a:xfrm>
              <a:custGeom>
                <a:avLst/>
                <a:gdLst/>
                <a:ahLst/>
                <a:cxnLst>
                  <a:cxn ang="0">
                    <a:pos x="2" y="0"/>
                  </a:cxn>
                  <a:cxn ang="0">
                    <a:pos x="2" y="0"/>
                  </a:cxn>
                  <a:cxn ang="0">
                    <a:pos x="4" y="2"/>
                  </a:cxn>
                  <a:cxn ang="0">
                    <a:pos x="0" y="0"/>
                  </a:cxn>
                  <a:cxn ang="0">
                    <a:pos x="2" y="0"/>
                  </a:cxn>
                </a:cxnLst>
                <a:rect l="0" t="0" r="r" b="b"/>
                <a:pathLst>
                  <a:path w="4" h="2">
                    <a:moveTo>
                      <a:pt x="2" y="0"/>
                    </a:moveTo>
                    <a:lnTo>
                      <a:pt x="2" y="0"/>
                    </a:lnTo>
                    <a:lnTo>
                      <a:pt x="4" y="2"/>
                    </a:lnTo>
                    <a:lnTo>
                      <a:pt x="0" y="0"/>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76" name="Freeform 350">
                <a:extLst>
                  <a:ext uri="{FF2B5EF4-FFF2-40B4-BE49-F238E27FC236}">
                    <a16:creationId xmlns:a16="http://schemas.microsoft.com/office/drawing/2014/main" id="{21EE5B5E-D951-754A-D2FB-A5DA750F9016}"/>
                  </a:ext>
                </a:extLst>
              </p:cNvPr>
              <p:cNvSpPr>
                <a:spLocks/>
              </p:cNvSpPr>
              <p:nvPr/>
            </p:nvSpPr>
            <p:spPr bwMode="auto">
              <a:xfrm>
                <a:off x="5167507" y="3637411"/>
                <a:ext cx="5834" cy="5764"/>
              </a:xfrm>
              <a:custGeom>
                <a:avLst/>
                <a:gdLst/>
                <a:ahLst/>
                <a:cxnLst>
                  <a:cxn ang="0">
                    <a:pos x="2" y="0"/>
                  </a:cxn>
                  <a:cxn ang="0">
                    <a:pos x="2" y="0"/>
                  </a:cxn>
                  <a:cxn ang="0">
                    <a:pos x="0" y="2"/>
                  </a:cxn>
                  <a:cxn ang="0">
                    <a:pos x="2" y="2"/>
                  </a:cxn>
                  <a:cxn ang="0">
                    <a:pos x="2" y="6"/>
                  </a:cxn>
                  <a:cxn ang="0">
                    <a:pos x="6" y="6"/>
                  </a:cxn>
                  <a:cxn ang="0">
                    <a:pos x="6" y="4"/>
                  </a:cxn>
                  <a:cxn ang="0">
                    <a:pos x="6" y="0"/>
                  </a:cxn>
                  <a:cxn ang="0">
                    <a:pos x="2" y="0"/>
                  </a:cxn>
                </a:cxnLst>
                <a:rect l="0" t="0" r="r" b="b"/>
                <a:pathLst>
                  <a:path w="6" h="6">
                    <a:moveTo>
                      <a:pt x="2" y="0"/>
                    </a:moveTo>
                    <a:lnTo>
                      <a:pt x="2" y="0"/>
                    </a:lnTo>
                    <a:lnTo>
                      <a:pt x="0" y="2"/>
                    </a:lnTo>
                    <a:lnTo>
                      <a:pt x="2" y="2"/>
                    </a:lnTo>
                    <a:lnTo>
                      <a:pt x="2" y="6"/>
                    </a:lnTo>
                    <a:lnTo>
                      <a:pt x="6" y="6"/>
                    </a:lnTo>
                    <a:lnTo>
                      <a:pt x="6" y="4"/>
                    </a:lnTo>
                    <a:lnTo>
                      <a:pt x="6" y="0"/>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77" name="Freeform 351">
                <a:extLst>
                  <a:ext uri="{FF2B5EF4-FFF2-40B4-BE49-F238E27FC236}">
                    <a16:creationId xmlns:a16="http://schemas.microsoft.com/office/drawing/2014/main" id="{BA1A554B-C537-C50F-0D60-448AA476BF5B}"/>
                  </a:ext>
                </a:extLst>
              </p:cNvPr>
              <p:cNvSpPr>
                <a:spLocks/>
              </p:cNvSpPr>
              <p:nvPr/>
            </p:nvSpPr>
            <p:spPr bwMode="auto">
              <a:xfrm>
                <a:off x="5167507" y="3637411"/>
                <a:ext cx="5834" cy="5764"/>
              </a:xfrm>
              <a:custGeom>
                <a:avLst/>
                <a:gdLst/>
                <a:ahLst/>
                <a:cxnLst>
                  <a:cxn ang="0">
                    <a:pos x="2" y="0"/>
                  </a:cxn>
                  <a:cxn ang="0">
                    <a:pos x="2" y="0"/>
                  </a:cxn>
                  <a:cxn ang="0">
                    <a:pos x="0" y="2"/>
                  </a:cxn>
                  <a:cxn ang="0">
                    <a:pos x="2" y="2"/>
                  </a:cxn>
                  <a:cxn ang="0">
                    <a:pos x="2" y="6"/>
                  </a:cxn>
                  <a:cxn ang="0">
                    <a:pos x="6" y="6"/>
                  </a:cxn>
                  <a:cxn ang="0">
                    <a:pos x="6" y="4"/>
                  </a:cxn>
                  <a:cxn ang="0">
                    <a:pos x="6" y="0"/>
                  </a:cxn>
                  <a:cxn ang="0">
                    <a:pos x="2" y="0"/>
                  </a:cxn>
                </a:cxnLst>
                <a:rect l="0" t="0" r="r" b="b"/>
                <a:pathLst>
                  <a:path w="6" h="6">
                    <a:moveTo>
                      <a:pt x="2" y="0"/>
                    </a:moveTo>
                    <a:lnTo>
                      <a:pt x="2" y="0"/>
                    </a:lnTo>
                    <a:lnTo>
                      <a:pt x="0" y="2"/>
                    </a:lnTo>
                    <a:lnTo>
                      <a:pt x="2" y="2"/>
                    </a:lnTo>
                    <a:lnTo>
                      <a:pt x="2" y="6"/>
                    </a:lnTo>
                    <a:lnTo>
                      <a:pt x="6" y="6"/>
                    </a:lnTo>
                    <a:lnTo>
                      <a:pt x="6" y="4"/>
                    </a:lnTo>
                    <a:lnTo>
                      <a:pt x="6" y="0"/>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78" name="Freeform 352">
                <a:extLst>
                  <a:ext uri="{FF2B5EF4-FFF2-40B4-BE49-F238E27FC236}">
                    <a16:creationId xmlns:a16="http://schemas.microsoft.com/office/drawing/2014/main" id="{73A3E5DB-BB0E-E515-6F52-6F6F06136CBB}"/>
                  </a:ext>
                </a:extLst>
              </p:cNvPr>
              <p:cNvSpPr>
                <a:spLocks/>
              </p:cNvSpPr>
              <p:nvPr/>
            </p:nvSpPr>
            <p:spPr bwMode="auto">
              <a:xfrm>
                <a:off x="5091664" y="3627804"/>
                <a:ext cx="1944" cy="3843"/>
              </a:xfrm>
              <a:custGeom>
                <a:avLst/>
                <a:gdLst/>
                <a:ahLst/>
                <a:cxnLst>
                  <a:cxn ang="0">
                    <a:pos x="0" y="0"/>
                  </a:cxn>
                  <a:cxn ang="0">
                    <a:pos x="0" y="0"/>
                  </a:cxn>
                  <a:cxn ang="0">
                    <a:pos x="0" y="4"/>
                  </a:cxn>
                  <a:cxn ang="0">
                    <a:pos x="2" y="4"/>
                  </a:cxn>
                  <a:cxn ang="0">
                    <a:pos x="0" y="0"/>
                  </a:cxn>
                </a:cxnLst>
                <a:rect l="0" t="0" r="r" b="b"/>
                <a:pathLst>
                  <a:path w="2" h="4">
                    <a:moveTo>
                      <a:pt x="0" y="0"/>
                    </a:moveTo>
                    <a:lnTo>
                      <a:pt x="0" y="0"/>
                    </a:lnTo>
                    <a:lnTo>
                      <a:pt x="0" y="4"/>
                    </a:lnTo>
                    <a:lnTo>
                      <a:pt x="2" y="4"/>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79" name="Freeform 353">
                <a:extLst>
                  <a:ext uri="{FF2B5EF4-FFF2-40B4-BE49-F238E27FC236}">
                    <a16:creationId xmlns:a16="http://schemas.microsoft.com/office/drawing/2014/main" id="{1FD8D25F-5F42-F0BA-5D43-059914ABD379}"/>
                  </a:ext>
                </a:extLst>
              </p:cNvPr>
              <p:cNvSpPr>
                <a:spLocks/>
              </p:cNvSpPr>
              <p:nvPr/>
            </p:nvSpPr>
            <p:spPr bwMode="auto">
              <a:xfrm>
                <a:off x="5091664" y="3627804"/>
                <a:ext cx="1944" cy="3843"/>
              </a:xfrm>
              <a:custGeom>
                <a:avLst/>
                <a:gdLst/>
                <a:ahLst/>
                <a:cxnLst>
                  <a:cxn ang="0">
                    <a:pos x="0" y="0"/>
                  </a:cxn>
                  <a:cxn ang="0">
                    <a:pos x="0" y="0"/>
                  </a:cxn>
                  <a:cxn ang="0">
                    <a:pos x="0" y="4"/>
                  </a:cxn>
                  <a:cxn ang="0">
                    <a:pos x="2" y="4"/>
                  </a:cxn>
                  <a:cxn ang="0">
                    <a:pos x="0" y="0"/>
                  </a:cxn>
                </a:cxnLst>
                <a:rect l="0" t="0" r="r" b="b"/>
                <a:pathLst>
                  <a:path w="2" h="4">
                    <a:moveTo>
                      <a:pt x="0" y="0"/>
                    </a:moveTo>
                    <a:lnTo>
                      <a:pt x="0" y="0"/>
                    </a:lnTo>
                    <a:lnTo>
                      <a:pt x="0" y="4"/>
                    </a:lnTo>
                    <a:lnTo>
                      <a:pt x="2" y="4"/>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80" name="Freeform 354">
                <a:extLst>
                  <a:ext uri="{FF2B5EF4-FFF2-40B4-BE49-F238E27FC236}">
                    <a16:creationId xmlns:a16="http://schemas.microsoft.com/office/drawing/2014/main" id="{19F2280A-EF4E-36A0-9193-254A9CCD2836}"/>
                  </a:ext>
                </a:extLst>
              </p:cNvPr>
              <p:cNvSpPr>
                <a:spLocks/>
              </p:cNvSpPr>
              <p:nvPr/>
            </p:nvSpPr>
            <p:spPr bwMode="auto">
              <a:xfrm>
                <a:off x="4146542" y="4163867"/>
                <a:ext cx="38894" cy="73012"/>
              </a:xfrm>
              <a:custGeom>
                <a:avLst/>
                <a:gdLst/>
                <a:ahLst/>
                <a:cxnLst>
                  <a:cxn ang="0">
                    <a:pos x="6" y="2"/>
                  </a:cxn>
                  <a:cxn ang="0">
                    <a:pos x="6" y="2"/>
                  </a:cxn>
                  <a:cxn ang="0">
                    <a:pos x="6" y="4"/>
                  </a:cxn>
                  <a:cxn ang="0">
                    <a:pos x="6" y="10"/>
                  </a:cxn>
                  <a:cxn ang="0">
                    <a:pos x="0" y="20"/>
                  </a:cxn>
                  <a:cxn ang="0">
                    <a:pos x="0" y="38"/>
                  </a:cxn>
                  <a:cxn ang="0">
                    <a:pos x="2" y="42"/>
                  </a:cxn>
                  <a:cxn ang="0">
                    <a:pos x="4" y="46"/>
                  </a:cxn>
                  <a:cxn ang="0">
                    <a:pos x="8" y="50"/>
                  </a:cxn>
                  <a:cxn ang="0">
                    <a:pos x="8" y="54"/>
                  </a:cxn>
                  <a:cxn ang="0">
                    <a:pos x="4" y="58"/>
                  </a:cxn>
                  <a:cxn ang="0">
                    <a:pos x="0" y="68"/>
                  </a:cxn>
                  <a:cxn ang="0">
                    <a:pos x="0" y="72"/>
                  </a:cxn>
                  <a:cxn ang="0">
                    <a:pos x="4" y="76"/>
                  </a:cxn>
                  <a:cxn ang="0">
                    <a:pos x="6" y="76"/>
                  </a:cxn>
                  <a:cxn ang="0">
                    <a:pos x="8" y="76"/>
                  </a:cxn>
                  <a:cxn ang="0">
                    <a:pos x="12" y="74"/>
                  </a:cxn>
                  <a:cxn ang="0">
                    <a:pos x="18" y="72"/>
                  </a:cxn>
                  <a:cxn ang="0">
                    <a:pos x="24" y="76"/>
                  </a:cxn>
                  <a:cxn ang="0">
                    <a:pos x="26" y="72"/>
                  </a:cxn>
                  <a:cxn ang="0">
                    <a:pos x="30" y="64"/>
                  </a:cxn>
                  <a:cxn ang="0">
                    <a:pos x="32" y="52"/>
                  </a:cxn>
                  <a:cxn ang="0">
                    <a:pos x="36" y="44"/>
                  </a:cxn>
                  <a:cxn ang="0">
                    <a:pos x="40" y="32"/>
                  </a:cxn>
                  <a:cxn ang="0">
                    <a:pos x="40" y="28"/>
                  </a:cxn>
                  <a:cxn ang="0">
                    <a:pos x="38" y="26"/>
                  </a:cxn>
                  <a:cxn ang="0">
                    <a:pos x="36" y="26"/>
                  </a:cxn>
                  <a:cxn ang="0">
                    <a:pos x="32" y="20"/>
                  </a:cxn>
                  <a:cxn ang="0">
                    <a:pos x="30" y="20"/>
                  </a:cxn>
                  <a:cxn ang="0">
                    <a:pos x="28" y="16"/>
                  </a:cxn>
                  <a:cxn ang="0">
                    <a:pos x="26" y="10"/>
                  </a:cxn>
                  <a:cxn ang="0">
                    <a:pos x="16" y="4"/>
                  </a:cxn>
                  <a:cxn ang="0">
                    <a:pos x="12" y="6"/>
                  </a:cxn>
                  <a:cxn ang="0">
                    <a:pos x="8" y="6"/>
                  </a:cxn>
                  <a:cxn ang="0">
                    <a:pos x="8" y="4"/>
                  </a:cxn>
                  <a:cxn ang="0">
                    <a:pos x="6" y="0"/>
                  </a:cxn>
                  <a:cxn ang="0">
                    <a:pos x="6" y="2"/>
                  </a:cxn>
                  <a:cxn ang="0">
                    <a:pos x="6" y="2"/>
                  </a:cxn>
                </a:cxnLst>
                <a:rect l="0" t="0" r="r" b="b"/>
                <a:pathLst>
                  <a:path w="40" h="76">
                    <a:moveTo>
                      <a:pt x="6" y="2"/>
                    </a:moveTo>
                    <a:lnTo>
                      <a:pt x="6" y="2"/>
                    </a:lnTo>
                    <a:lnTo>
                      <a:pt x="6" y="4"/>
                    </a:lnTo>
                    <a:lnTo>
                      <a:pt x="6" y="10"/>
                    </a:lnTo>
                    <a:lnTo>
                      <a:pt x="0" y="20"/>
                    </a:lnTo>
                    <a:lnTo>
                      <a:pt x="0" y="38"/>
                    </a:lnTo>
                    <a:lnTo>
                      <a:pt x="2" y="42"/>
                    </a:lnTo>
                    <a:lnTo>
                      <a:pt x="4" y="46"/>
                    </a:lnTo>
                    <a:lnTo>
                      <a:pt x="8" y="50"/>
                    </a:lnTo>
                    <a:lnTo>
                      <a:pt x="8" y="54"/>
                    </a:lnTo>
                    <a:lnTo>
                      <a:pt x="4" y="58"/>
                    </a:lnTo>
                    <a:lnTo>
                      <a:pt x="0" y="68"/>
                    </a:lnTo>
                    <a:lnTo>
                      <a:pt x="0" y="72"/>
                    </a:lnTo>
                    <a:lnTo>
                      <a:pt x="4" y="76"/>
                    </a:lnTo>
                    <a:lnTo>
                      <a:pt x="6" y="76"/>
                    </a:lnTo>
                    <a:lnTo>
                      <a:pt x="8" y="76"/>
                    </a:lnTo>
                    <a:lnTo>
                      <a:pt x="12" y="74"/>
                    </a:lnTo>
                    <a:lnTo>
                      <a:pt x="18" y="72"/>
                    </a:lnTo>
                    <a:lnTo>
                      <a:pt x="24" y="76"/>
                    </a:lnTo>
                    <a:lnTo>
                      <a:pt x="26" y="72"/>
                    </a:lnTo>
                    <a:lnTo>
                      <a:pt x="30" y="64"/>
                    </a:lnTo>
                    <a:lnTo>
                      <a:pt x="32" y="52"/>
                    </a:lnTo>
                    <a:lnTo>
                      <a:pt x="36" y="44"/>
                    </a:lnTo>
                    <a:lnTo>
                      <a:pt x="40" y="32"/>
                    </a:lnTo>
                    <a:lnTo>
                      <a:pt x="40" y="28"/>
                    </a:lnTo>
                    <a:lnTo>
                      <a:pt x="38" y="26"/>
                    </a:lnTo>
                    <a:lnTo>
                      <a:pt x="36" y="26"/>
                    </a:lnTo>
                    <a:lnTo>
                      <a:pt x="32" y="20"/>
                    </a:lnTo>
                    <a:lnTo>
                      <a:pt x="30" y="20"/>
                    </a:lnTo>
                    <a:lnTo>
                      <a:pt x="28" y="16"/>
                    </a:lnTo>
                    <a:lnTo>
                      <a:pt x="26" y="10"/>
                    </a:lnTo>
                    <a:lnTo>
                      <a:pt x="16" y="4"/>
                    </a:lnTo>
                    <a:lnTo>
                      <a:pt x="12" y="6"/>
                    </a:lnTo>
                    <a:lnTo>
                      <a:pt x="8" y="6"/>
                    </a:lnTo>
                    <a:lnTo>
                      <a:pt x="8" y="4"/>
                    </a:lnTo>
                    <a:lnTo>
                      <a:pt x="6" y="0"/>
                    </a:lnTo>
                    <a:lnTo>
                      <a:pt x="6" y="2"/>
                    </a:lnTo>
                    <a:lnTo>
                      <a:pt x="6"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81" name="Freeform 355">
                <a:extLst>
                  <a:ext uri="{FF2B5EF4-FFF2-40B4-BE49-F238E27FC236}">
                    <a16:creationId xmlns:a16="http://schemas.microsoft.com/office/drawing/2014/main" id="{F82B325A-B0F0-C667-E467-CA83924DDE2E}"/>
                  </a:ext>
                </a:extLst>
              </p:cNvPr>
              <p:cNvSpPr>
                <a:spLocks/>
              </p:cNvSpPr>
              <p:nvPr/>
            </p:nvSpPr>
            <p:spPr bwMode="auto">
              <a:xfrm>
                <a:off x="4941923" y="3570163"/>
                <a:ext cx="15557" cy="30742"/>
              </a:xfrm>
              <a:custGeom>
                <a:avLst/>
                <a:gdLst/>
                <a:ahLst/>
                <a:cxnLst>
                  <a:cxn ang="0">
                    <a:pos x="12" y="0"/>
                  </a:cxn>
                  <a:cxn ang="0">
                    <a:pos x="12" y="0"/>
                  </a:cxn>
                  <a:cxn ang="0">
                    <a:pos x="10" y="4"/>
                  </a:cxn>
                  <a:cxn ang="0">
                    <a:pos x="8" y="8"/>
                  </a:cxn>
                  <a:cxn ang="0">
                    <a:pos x="4" y="8"/>
                  </a:cxn>
                  <a:cxn ang="0">
                    <a:pos x="0" y="10"/>
                  </a:cxn>
                  <a:cxn ang="0">
                    <a:pos x="0" y="16"/>
                  </a:cxn>
                  <a:cxn ang="0">
                    <a:pos x="2" y="22"/>
                  </a:cxn>
                  <a:cxn ang="0">
                    <a:pos x="0" y="22"/>
                  </a:cxn>
                  <a:cxn ang="0">
                    <a:pos x="0" y="24"/>
                  </a:cxn>
                  <a:cxn ang="0">
                    <a:pos x="2" y="26"/>
                  </a:cxn>
                  <a:cxn ang="0">
                    <a:pos x="6" y="28"/>
                  </a:cxn>
                  <a:cxn ang="0">
                    <a:pos x="12" y="32"/>
                  </a:cxn>
                  <a:cxn ang="0">
                    <a:pos x="16" y="16"/>
                  </a:cxn>
                  <a:cxn ang="0">
                    <a:pos x="16" y="10"/>
                  </a:cxn>
                  <a:cxn ang="0">
                    <a:pos x="14" y="2"/>
                  </a:cxn>
                  <a:cxn ang="0">
                    <a:pos x="12" y="0"/>
                  </a:cxn>
                </a:cxnLst>
                <a:rect l="0" t="0" r="r" b="b"/>
                <a:pathLst>
                  <a:path w="16" h="32">
                    <a:moveTo>
                      <a:pt x="12" y="0"/>
                    </a:moveTo>
                    <a:lnTo>
                      <a:pt x="12" y="0"/>
                    </a:lnTo>
                    <a:lnTo>
                      <a:pt x="10" y="4"/>
                    </a:lnTo>
                    <a:lnTo>
                      <a:pt x="8" y="8"/>
                    </a:lnTo>
                    <a:lnTo>
                      <a:pt x="4" y="8"/>
                    </a:lnTo>
                    <a:lnTo>
                      <a:pt x="0" y="10"/>
                    </a:lnTo>
                    <a:lnTo>
                      <a:pt x="0" y="16"/>
                    </a:lnTo>
                    <a:lnTo>
                      <a:pt x="2" y="22"/>
                    </a:lnTo>
                    <a:lnTo>
                      <a:pt x="0" y="22"/>
                    </a:lnTo>
                    <a:lnTo>
                      <a:pt x="0" y="24"/>
                    </a:lnTo>
                    <a:lnTo>
                      <a:pt x="2" y="26"/>
                    </a:lnTo>
                    <a:lnTo>
                      <a:pt x="6" y="28"/>
                    </a:lnTo>
                    <a:lnTo>
                      <a:pt x="12" y="32"/>
                    </a:lnTo>
                    <a:lnTo>
                      <a:pt x="16" y="16"/>
                    </a:lnTo>
                    <a:lnTo>
                      <a:pt x="16" y="10"/>
                    </a:lnTo>
                    <a:lnTo>
                      <a:pt x="14" y="2"/>
                    </a:lnTo>
                    <a:lnTo>
                      <a:pt x="1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82" name="Freeform 356">
                <a:extLst>
                  <a:ext uri="{FF2B5EF4-FFF2-40B4-BE49-F238E27FC236}">
                    <a16:creationId xmlns:a16="http://schemas.microsoft.com/office/drawing/2014/main" id="{E77C784A-1112-7209-D04B-804DE6A9A187}"/>
                  </a:ext>
                </a:extLst>
              </p:cNvPr>
              <p:cNvSpPr>
                <a:spLocks/>
              </p:cNvSpPr>
              <p:nvPr/>
            </p:nvSpPr>
            <p:spPr bwMode="auto">
              <a:xfrm>
                <a:off x="4941923" y="3570163"/>
                <a:ext cx="15557" cy="30742"/>
              </a:xfrm>
              <a:custGeom>
                <a:avLst/>
                <a:gdLst/>
                <a:ahLst/>
                <a:cxnLst>
                  <a:cxn ang="0">
                    <a:pos x="12" y="0"/>
                  </a:cxn>
                  <a:cxn ang="0">
                    <a:pos x="12" y="0"/>
                  </a:cxn>
                  <a:cxn ang="0">
                    <a:pos x="10" y="4"/>
                  </a:cxn>
                  <a:cxn ang="0">
                    <a:pos x="8" y="8"/>
                  </a:cxn>
                  <a:cxn ang="0">
                    <a:pos x="4" y="8"/>
                  </a:cxn>
                  <a:cxn ang="0">
                    <a:pos x="0" y="10"/>
                  </a:cxn>
                  <a:cxn ang="0">
                    <a:pos x="0" y="16"/>
                  </a:cxn>
                  <a:cxn ang="0">
                    <a:pos x="2" y="22"/>
                  </a:cxn>
                  <a:cxn ang="0">
                    <a:pos x="0" y="22"/>
                  </a:cxn>
                  <a:cxn ang="0">
                    <a:pos x="0" y="24"/>
                  </a:cxn>
                  <a:cxn ang="0">
                    <a:pos x="2" y="26"/>
                  </a:cxn>
                  <a:cxn ang="0">
                    <a:pos x="6" y="28"/>
                  </a:cxn>
                  <a:cxn ang="0">
                    <a:pos x="12" y="32"/>
                  </a:cxn>
                  <a:cxn ang="0">
                    <a:pos x="16" y="16"/>
                  </a:cxn>
                  <a:cxn ang="0">
                    <a:pos x="16" y="10"/>
                  </a:cxn>
                  <a:cxn ang="0">
                    <a:pos x="14" y="2"/>
                  </a:cxn>
                  <a:cxn ang="0">
                    <a:pos x="12" y="0"/>
                  </a:cxn>
                </a:cxnLst>
                <a:rect l="0" t="0" r="r" b="b"/>
                <a:pathLst>
                  <a:path w="16" h="32">
                    <a:moveTo>
                      <a:pt x="12" y="0"/>
                    </a:moveTo>
                    <a:lnTo>
                      <a:pt x="12" y="0"/>
                    </a:lnTo>
                    <a:lnTo>
                      <a:pt x="10" y="4"/>
                    </a:lnTo>
                    <a:lnTo>
                      <a:pt x="8" y="8"/>
                    </a:lnTo>
                    <a:lnTo>
                      <a:pt x="4" y="8"/>
                    </a:lnTo>
                    <a:lnTo>
                      <a:pt x="0" y="10"/>
                    </a:lnTo>
                    <a:lnTo>
                      <a:pt x="0" y="16"/>
                    </a:lnTo>
                    <a:lnTo>
                      <a:pt x="2" y="22"/>
                    </a:lnTo>
                    <a:lnTo>
                      <a:pt x="0" y="22"/>
                    </a:lnTo>
                    <a:lnTo>
                      <a:pt x="0" y="24"/>
                    </a:lnTo>
                    <a:lnTo>
                      <a:pt x="2" y="26"/>
                    </a:lnTo>
                    <a:lnTo>
                      <a:pt x="6" y="28"/>
                    </a:lnTo>
                    <a:lnTo>
                      <a:pt x="12" y="32"/>
                    </a:lnTo>
                    <a:lnTo>
                      <a:pt x="16" y="16"/>
                    </a:lnTo>
                    <a:lnTo>
                      <a:pt x="16" y="10"/>
                    </a:lnTo>
                    <a:lnTo>
                      <a:pt x="14" y="2"/>
                    </a:lnTo>
                    <a:lnTo>
                      <a:pt x="1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83" name="Freeform 357">
                <a:extLst>
                  <a:ext uri="{FF2B5EF4-FFF2-40B4-BE49-F238E27FC236}">
                    <a16:creationId xmlns:a16="http://schemas.microsoft.com/office/drawing/2014/main" id="{BD53EF63-9E01-4407-5628-F9F5F8332F81}"/>
                  </a:ext>
                </a:extLst>
              </p:cNvPr>
              <p:cNvSpPr>
                <a:spLocks/>
              </p:cNvSpPr>
              <p:nvPr/>
            </p:nvSpPr>
            <p:spPr bwMode="auto">
              <a:xfrm>
                <a:off x="6946903" y="4609624"/>
                <a:ext cx="1944" cy="1921"/>
              </a:xfrm>
              <a:custGeom>
                <a:avLst/>
                <a:gdLst/>
                <a:ahLst/>
                <a:cxnLst>
                  <a:cxn ang="0">
                    <a:pos x="0" y="0"/>
                  </a:cxn>
                  <a:cxn ang="0">
                    <a:pos x="2" y="2"/>
                  </a:cxn>
                  <a:cxn ang="0">
                    <a:pos x="0" y="0"/>
                  </a:cxn>
                </a:cxnLst>
                <a:rect l="0" t="0" r="r" b="b"/>
                <a:pathLst>
                  <a:path w="2" h="2">
                    <a:moveTo>
                      <a:pt x="0" y="0"/>
                    </a:moveTo>
                    <a:lnTo>
                      <a:pt x="2"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84" name="Line 358">
                <a:extLst>
                  <a:ext uri="{FF2B5EF4-FFF2-40B4-BE49-F238E27FC236}">
                    <a16:creationId xmlns:a16="http://schemas.microsoft.com/office/drawing/2014/main" id="{DBF3A175-B63A-4E25-25D5-E2BE35227242}"/>
                  </a:ext>
                </a:extLst>
              </p:cNvPr>
              <p:cNvSpPr>
                <a:spLocks noChangeShapeType="1"/>
              </p:cNvSpPr>
              <p:nvPr/>
            </p:nvSpPr>
            <p:spPr bwMode="auto">
              <a:xfrm>
                <a:off x="6946903" y="4609624"/>
                <a:ext cx="1944"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85" name="Freeform 359">
                <a:extLst>
                  <a:ext uri="{FF2B5EF4-FFF2-40B4-BE49-F238E27FC236}">
                    <a16:creationId xmlns:a16="http://schemas.microsoft.com/office/drawing/2014/main" id="{A601D10A-858B-2ED4-7EEB-299FF43341AC}"/>
                  </a:ext>
                </a:extLst>
              </p:cNvPr>
              <p:cNvSpPr>
                <a:spLocks/>
              </p:cNvSpPr>
              <p:nvPr/>
            </p:nvSpPr>
            <p:spPr bwMode="auto">
              <a:xfrm>
                <a:off x="6955259" y="4609231"/>
                <a:ext cx="1944" cy="1921"/>
              </a:xfrm>
              <a:custGeom>
                <a:avLst/>
                <a:gdLst/>
                <a:ahLst/>
                <a:cxnLst>
                  <a:cxn ang="0">
                    <a:pos x="0" y="0"/>
                  </a:cxn>
                  <a:cxn ang="0">
                    <a:pos x="2" y="2"/>
                  </a:cxn>
                  <a:cxn ang="0">
                    <a:pos x="0" y="0"/>
                  </a:cxn>
                </a:cxnLst>
                <a:rect l="0" t="0" r="r" b="b"/>
                <a:pathLst>
                  <a:path w="2" h="2">
                    <a:moveTo>
                      <a:pt x="0" y="0"/>
                    </a:moveTo>
                    <a:lnTo>
                      <a:pt x="2" y="2"/>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86" name="Line 360">
                <a:extLst>
                  <a:ext uri="{FF2B5EF4-FFF2-40B4-BE49-F238E27FC236}">
                    <a16:creationId xmlns:a16="http://schemas.microsoft.com/office/drawing/2014/main" id="{3514483B-DD7E-EB6C-F025-BD2C4A7D6C83}"/>
                  </a:ext>
                </a:extLst>
              </p:cNvPr>
              <p:cNvSpPr>
                <a:spLocks noChangeShapeType="1"/>
              </p:cNvSpPr>
              <p:nvPr/>
            </p:nvSpPr>
            <p:spPr bwMode="auto">
              <a:xfrm>
                <a:off x="6946903" y="4609624"/>
                <a:ext cx="1944" cy="1921"/>
              </a:xfrm>
              <a:prstGeom prst="line">
                <a:avLst/>
              </a:pr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87" name="Freeform 361">
                <a:extLst>
                  <a:ext uri="{FF2B5EF4-FFF2-40B4-BE49-F238E27FC236}">
                    <a16:creationId xmlns:a16="http://schemas.microsoft.com/office/drawing/2014/main" id="{C6FCCD70-03D4-C857-B53E-A0A2B77752DC}"/>
                  </a:ext>
                </a:extLst>
              </p:cNvPr>
              <p:cNvSpPr>
                <a:spLocks noEditPoints="1"/>
              </p:cNvSpPr>
              <p:nvPr/>
            </p:nvSpPr>
            <p:spPr bwMode="auto">
              <a:xfrm>
                <a:off x="4060976" y="5109181"/>
                <a:ext cx="46673" cy="21135"/>
              </a:xfrm>
              <a:custGeom>
                <a:avLst/>
                <a:gdLst/>
                <a:ahLst/>
                <a:cxnLst>
                  <a:cxn ang="0">
                    <a:pos x="48" y="8"/>
                  </a:cxn>
                  <a:cxn ang="0">
                    <a:pos x="46" y="10"/>
                  </a:cxn>
                  <a:cxn ang="0">
                    <a:pos x="42" y="10"/>
                  </a:cxn>
                  <a:cxn ang="0">
                    <a:pos x="40" y="8"/>
                  </a:cxn>
                  <a:cxn ang="0">
                    <a:pos x="40" y="10"/>
                  </a:cxn>
                  <a:cxn ang="0">
                    <a:pos x="34" y="14"/>
                  </a:cxn>
                  <a:cxn ang="0">
                    <a:pos x="30" y="12"/>
                  </a:cxn>
                  <a:cxn ang="0">
                    <a:pos x="32" y="18"/>
                  </a:cxn>
                  <a:cxn ang="0">
                    <a:pos x="28" y="18"/>
                  </a:cxn>
                  <a:cxn ang="0">
                    <a:pos x="24" y="18"/>
                  </a:cxn>
                  <a:cxn ang="0">
                    <a:pos x="22" y="18"/>
                  </a:cxn>
                  <a:cxn ang="0">
                    <a:pos x="22" y="20"/>
                  </a:cxn>
                  <a:cxn ang="0">
                    <a:pos x="22" y="22"/>
                  </a:cxn>
                  <a:cxn ang="0">
                    <a:pos x="18" y="20"/>
                  </a:cxn>
                  <a:cxn ang="0">
                    <a:pos x="16" y="18"/>
                  </a:cxn>
                  <a:cxn ang="0">
                    <a:pos x="18" y="18"/>
                  </a:cxn>
                  <a:cxn ang="0">
                    <a:pos x="18" y="16"/>
                  </a:cxn>
                  <a:cxn ang="0">
                    <a:pos x="20" y="12"/>
                  </a:cxn>
                  <a:cxn ang="0">
                    <a:pos x="24" y="8"/>
                  </a:cxn>
                  <a:cxn ang="0">
                    <a:pos x="26" y="8"/>
                  </a:cxn>
                  <a:cxn ang="0">
                    <a:pos x="26" y="6"/>
                  </a:cxn>
                  <a:cxn ang="0">
                    <a:pos x="26" y="4"/>
                  </a:cxn>
                  <a:cxn ang="0">
                    <a:pos x="32" y="0"/>
                  </a:cxn>
                  <a:cxn ang="0">
                    <a:pos x="36" y="0"/>
                  </a:cxn>
                  <a:cxn ang="0">
                    <a:pos x="36" y="2"/>
                  </a:cxn>
                  <a:cxn ang="0">
                    <a:pos x="34" y="4"/>
                  </a:cxn>
                  <a:cxn ang="0">
                    <a:pos x="36" y="6"/>
                  </a:cxn>
                  <a:cxn ang="0">
                    <a:pos x="40" y="4"/>
                  </a:cxn>
                  <a:cxn ang="0">
                    <a:pos x="40" y="2"/>
                  </a:cxn>
                  <a:cxn ang="0">
                    <a:pos x="42" y="2"/>
                  </a:cxn>
                  <a:cxn ang="0">
                    <a:pos x="42" y="6"/>
                  </a:cxn>
                  <a:cxn ang="0">
                    <a:pos x="48" y="8"/>
                  </a:cxn>
                  <a:cxn ang="0">
                    <a:pos x="48" y="8"/>
                  </a:cxn>
                  <a:cxn ang="0">
                    <a:pos x="20" y="6"/>
                  </a:cxn>
                  <a:cxn ang="0">
                    <a:pos x="24" y="2"/>
                  </a:cxn>
                  <a:cxn ang="0">
                    <a:pos x="14" y="2"/>
                  </a:cxn>
                  <a:cxn ang="0">
                    <a:pos x="6" y="0"/>
                  </a:cxn>
                  <a:cxn ang="0">
                    <a:pos x="6" y="4"/>
                  </a:cxn>
                  <a:cxn ang="0">
                    <a:pos x="6" y="6"/>
                  </a:cxn>
                  <a:cxn ang="0">
                    <a:pos x="4" y="6"/>
                  </a:cxn>
                  <a:cxn ang="0">
                    <a:pos x="8" y="6"/>
                  </a:cxn>
                  <a:cxn ang="0">
                    <a:pos x="8" y="10"/>
                  </a:cxn>
                  <a:cxn ang="0">
                    <a:pos x="2" y="14"/>
                  </a:cxn>
                  <a:cxn ang="0">
                    <a:pos x="0" y="16"/>
                  </a:cxn>
                  <a:cxn ang="0">
                    <a:pos x="2" y="20"/>
                  </a:cxn>
                  <a:cxn ang="0">
                    <a:pos x="6" y="18"/>
                  </a:cxn>
                  <a:cxn ang="0">
                    <a:pos x="6" y="16"/>
                  </a:cxn>
                  <a:cxn ang="0">
                    <a:pos x="6" y="14"/>
                  </a:cxn>
                  <a:cxn ang="0">
                    <a:pos x="10" y="14"/>
                  </a:cxn>
                  <a:cxn ang="0">
                    <a:pos x="14" y="14"/>
                  </a:cxn>
                  <a:cxn ang="0">
                    <a:pos x="18" y="6"/>
                  </a:cxn>
                  <a:cxn ang="0">
                    <a:pos x="20" y="6"/>
                  </a:cxn>
                  <a:cxn ang="0">
                    <a:pos x="20" y="6"/>
                  </a:cxn>
                </a:cxnLst>
                <a:rect l="0" t="0" r="r" b="b"/>
                <a:pathLst>
                  <a:path w="48" h="22">
                    <a:moveTo>
                      <a:pt x="48" y="8"/>
                    </a:moveTo>
                    <a:lnTo>
                      <a:pt x="46" y="10"/>
                    </a:lnTo>
                    <a:lnTo>
                      <a:pt x="42" y="10"/>
                    </a:lnTo>
                    <a:lnTo>
                      <a:pt x="40" y="8"/>
                    </a:lnTo>
                    <a:lnTo>
                      <a:pt x="40" y="10"/>
                    </a:lnTo>
                    <a:lnTo>
                      <a:pt x="34" y="14"/>
                    </a:lnTo>
                    <a:lnTo>
                      <a:pt x="30" y="12"/>
                    </a:lnTo>
                    <a:lnTo>
                      <a:pt x="32" y="18"/>
                    </a:lnTo>
                    <a:lnTo>
                      <a:pt x="28" y="18"/>
                    </a:lnTo>
                    <a:lnTo>
                      <a:pt x="24" y="18"/>
                    </a:lnTo>
                    <a:lnTo>
                      <a:pt x="22" y="18"/>
                    </a:lnTo>
                    <a:lnTo>
                      <a:pt x="22" y="20"/>
                    </a:lnTo>
                    <a:lnTo>
                      <a:pt x="22" y="22"/>
                    </a:lnTo>
                    <a:lnTo>
                      <a:pt x="18" y="20"/>
                    </a:lnTo>
                    <a:lnTo>
                      <a:pt x="16" y="18"/>
                    </a:lnTo>
                    <a:lnTo>
                      <a:pt x="18" y="18"/>
                    </a:lnTo>
                    <a:lnTo>
                      <a:pt x="18" y="16"/>
                    </a:lnTo>
                    <a:lnTo>
                      <a:pt x="20" y="12"/>
                    </a:lnTo>
                    <a:lnTo>
                      <a:pt x="24" y="8"/>
                    </a:lnTo>
                    <a:lnTo>
                      <a:pt x="26" y="8"/>
                    </a:lnTo>
                    <a:lnTo>
                      <a:pt x="26" y="6"/>
                    </a:lnTo>
                    <a:lnTo>
                      <a:pt x="26" y="4"/>
                    </a:lnTo>
                    <a:lnTo>
                      <a:pt x="32" y="0"/>
                    </a:lnTo>
                    <a:lnTo>
                      <a:pt x="36" y="0"/>
                    </a:lnTo>
                    <a:lnTo>
                      <a:pt x="36" y="2"/>
                    </a:lnTo>
                    <a:lnTo>
                      <a:pt x="34" y="4"/>
                    </a:lnTo>
                    <a:lnTo>
                      <a:pt x="36" y="6"/>
                    </a:lnTo>
                    <a:lnTo>
                      <a:pt x="40" y="4"/>
                    </a:lnTo>
                    <a:lnTo>
                      <a:pt x="40" y="2"/>
                    </a:lnTo>
                    <a:lnTo>
                      <a:pt x="42" y="2"/>
                    </a:lnTo>
                    <a:lnTo>
                      <a:pt x="42" y="6"/>
                    </a:lnTo>
                    <a:lnTo>
                      <a:pt x="48" y="8"/>
                    </a:lnTo>
                    <a:lnTo>
                      <a:pt x="48" y="8"/>
                    </a:lnTo>
                    <a:close/>
                    <a:moveTo>
                      <a:pt x="20" y="6"/>
                    </a:moveTo>
                    <a:lnTo>
                      <a:pt x="24" y="2"/>
                    </a:lnTo>
                    <a:lnTo>
                      <a:pt x="14" y="2"/>
                    </a:lnTo>
                    <a:lnTo>
                      <a:pt x="6" y="0"/>
                    </a:lnTo>
                    <a:lnTo>
                      <a:pt x="6" y="4"/>
                    </a:lnTo>
                    <a:lnTo>
                      <a:pt x="6" y="6"/>
                    </a:lnTo>
                    <a:lnTo>
                      <a:pt x="4" y="6"/>
                    </a:lnTo>
                    <a:lnTo>
                      <a:pt x="8" y="6"/>
                    </a:lnTo>
                    <a:lnTo>
                      <a:pt x="8" y="10"/>
                    </a:lnTo>
                    <a:lnTo>
                      <a:pt x="2" y="14"/>
                    </a:lnTo>
                    <a:lnTo>
                      <a:pt x="0" y="16"/>
                    </a:lnTo>
                    <a:lnTo>
                      <a:pt x="2" y="20"/>
                    </a:lnTo>
                    <a:lnTo>
                      <a:pt x="6" y="18"/>
                    </a:lnTo>
                    <a:lnTo>
                      <a:pt x="6" y="16"/>
                    </a:lnTo>
                    <a:lnTo>
                      <a:pt x="6" y="14"/>
                    </a:lnTo>
                    <a:lnTo>
                      <a:pt x="10" y="14"/>
                    </a:lnTo>
                    <a:lnTo>
                      <a:pt x="14" y="14"/>
                    </a:lnTo>
                    <a:lnTo>
                      <a:pt x="18" y="6"/>
                    </a:lnTo>
                    <a:lnTo>
                      <a:pt x="20" y="6"/>
                    </a:lnTo>
                    <a:lnTo>
                      <a:pt x="20" y="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88" name="Freeform 362">
                <a:extLst>
                  <a:ext uri="{FF2B5EF4-FFF2-40B4-BE49-F238E27FC236}">
                    <a16:creationId xmlns:a16="http://schemas.microsoft.com/office/drawing/2014/main" id="{5C286CCA-B0BC-F697-B613-1E1079A87102}"/>
                  </a:ext>
                </a:extLst>
              </p:cNvPr>
              <p:cNvSpPr>
                <a:spLocks/>
              </p:cNvSpPr>
              <p:nvPr/>
            </p:nvSpPr>
            <p:spPr bwMode="auto">
              <a:xfrm>
                <a:off x="5303636" y="4085090"/>
                <a:ext cx="7779" cy="9607"/>
              </a:xfrm>
              <a:custGeom>
                <a:avLst/>
                <a:gdLst/>
                <a:ahLst/>
                <a:cxnLst>
                  <a:cxn ang="0">
                    <a:pos x="6" y="0"/>
                  </a:cxn>
                  <a:cxn ang="0">
                    <a:pos x="6" y="0"/>
                  </a:cxn>
                  <a:cxn ang="0">
                    <a:pos x="8" y="2"/>
                  </a:cxn>
                  <a:cxn ang="0">
                    <a:pos x="8" y="6"/>
                  </a:cxn>
                  <a:cxn ang="0">
                    <a:pos x="4" y="10"/>
                  </a:cxn>
                  <a:cxn ang="0">
                    <a:pos x="0" y="6"/>
                  </a:cxn>
                  <a:cxn ang="0">
                    <a:pos x="0" y="2"/>
                  </a:cxn>
                  <a:cxn ang="0">
                    <a:pos x="0" y="0"/>
                  </a:cxn>
                  <a:cxn ang="0">
                    <a:pos x="6" y="0"/>
                  </a:cxn>
                  <a:cxn ang="0">
                    <a:pos x="6" y="0"/>
                  </a:cxn>
                </a:cxnLst>
                <a:rect l="0" t="0" r="r" b="b"/>
                <a:pathLst>
                  <a:path w="8" h="10">
                    <a:moveTo>
                      <a:pt x="6" y="0"/>
                    </a:moveTo>
                    <a:lnTo>
                      <a:pt x="6" y="0"/>
                    </a:lnTo>
                    <a:lnTo>
                      <a:pt x="8" y="2"/>
                    </a:lnTo>
                    <a:lnTo>
                      <a:pt x="8" y="6"/>
                    </a:lnTo>
                    <a:lnTo>
                      <a:pt x="4" y="10"/>
                    </a:lnTo>
                    <a:lnTo>
                      <a:pt x="0" y="6"/>
                    </a:lnTo>
                    <a:lnTo>
                      <a:pt x="0" y="2"/>
                    </a:lnTo>
                    <a:lnTo>
                      <a:pt x="0" y="0"/>
                    </a:lnTo>
                    <a:lnTo>
                      <a:pt x="6" y="0"/>
                    </a:lnTo>
                    <a:lnTo>
                      <a:pt x="6"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89" name="Freeform 363">
                <a:extLst>
                  <a:ext uri="{FF2B5EF4-FFF2-40B4-BE49-F238E27FC236}">
                    <a16:creationId xmlns:a16="http://schemas.microsoft.com/office/drawing/2014/main" id="{83CE654C-74F4-D1F6-6345-CB95D269F7E6}"/>
                  </a:ext>
                </a:extLst>
              </p:cNvPr>
              <p:cNvSpPr>
                <a:spLocks/>
              </p:cNvSpPr>
              <p:nvPr/>
            </p:nvSpPr>
            <p:spPr bwMode="auto">
              <a:xfrm>
                <a:off x="5303636" y="4085090"/>
                <a:ext cx="7779" cy="9607"/>
              </a:xfrm>
              <a:custGeom>
                <a:avLst/>
                <a:gdLst/>
                <a:ahLst/>
                <a:cxnLst>
                  <a:cxn ang="0">
                    <a:pos x="6" y="0"/>
                  </a:cxn>
                  <a:cxn ang="0">
                    <a:pos x="6" y="0"/>
                  </a:cxn>
                  <a:cxn ang="0">
                    <a:pos x="8" y="2"/>
                  </a:cxn>
                  <a:cxn ang="0">
                    <a:pos x="8" y="6"/>
                  </a:cxn>
                  <a:cxn ang="0">
                    <a:pos x="4" y="10"/>
                  </a:cxn>
                  <a:cxn ang="0">
                    <a:pos x="0" y="6"/>
                  </a:cxn>
                  <a:cxn ang="0">
                    <a:pos x="0" y="2"/>
                  </a:cxn>
                  <a:cxn ang="0">
                    <a:pos x="0" y="0"/>
                  </a:cxn>
                  <a:cxn ang="0">
                    <a:pos x="6" y="0"/>
                  </a:cxn>
                  <a:cxn ang="0">
                    <a:pos x="6" y="0"/>
                  </a:cxn>
                </a:cxnLst>
                <a:rect l="0" t="0" r="r" b="b"/>
                <a:pathLst>
                  <a:path w="8" h="10">
                    <a:moveTo>
                      <a:pt x="6" y="0"/>
                    </a:moveTo>
                    <a:lnTo>
                      <a:pt x="6" y="0"/>
                    </a:lnTo>
                    <a:lnTo>
                      <a:pt x="8" y="2"/>
                    </a:lnTo>
                    <a:lnTo>
                      <a:pt x="8" y="6"/>
                    </a:lnTo>
                    <a:lnTo>
                      <a:pt x="4" y="10"/>
                    </a:lnTo>
                    <a:lnTo>
                      <a:pt x="0" y="6"/>
                    </a:lnTo>
                    <a:lnTo>
                      <a:pt x="0" y="2"/>
                    </a:lnTo>
                    <a:lnTo>
                      <a:pt x="0" y="0"/>
                    </a:lnTo>
                    <a:lnTo>
                      <a:pt x="6" y="0"/>
                    </a:lnTo>
                    <a:lnTo>
                      <a:pt x="6"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90" name="Freeform 364">
                <a:extLst>
                  <a:ext uri="{FF2B5EF4-FFF2-40B4-BE49-F238E27FC236}">
                    <a16:creationId xmlns:a16="http://schemas.microsoft.com/office/drawing/2014/main" id="{3780F595-CAF2-310C-C7A1-5513141F6D74}"/>
                  </a:ext>
                </a:extLst>
              </p:cNvPr>
              <p:cNvSpPr>
                <a:spLocks/>
              </p:cNvSpPr>
              <p:nvPr/>
            </p:nvSpPr>
            <p:spPr bwMode="auto">
              <a:xfrm>
                <a:off x="3697318" y="4035135"/>
                <a:ext cx="36949" cy="23057"/>
              </a:xfrm>
              <a:custGeom>
                <a:avLst/>
                <a:gdLst/>
                <a:ahLst/>
                <a:cxnLst>
                  <a:cxn ang="0">
                    <a:pos x="0" y="12"/>
                  </a:cxn>
                  <a:cxn ang="0">
                    <a:pos x="0" y="12"/>
                  </a:cxn>
                  <a:cxn ang="0">
                    <a:pos x="4" y="14"/>
                  </a:cxn>
                  <a:cxn ang="0">
                    <a:pos x="8" y="16"/>
                  </a:cxn>
                  <a:cxn ang="0">
                    <a:pos x="8" y="18"/>
                  </a:cxn>
                  <a:cxn ang="0">
                    <a:pos x="8" y="20"/>
                  </a:cxn>
                  <a:cxn ang="0">
                    <a:pos x="14" y="20"/>
                  </a:cxn>
                  <a:cxn ang="0">
                    <a:pos x="18" y="20"/>
                  </a:cxn>
                  <a:cxn ang="0">
                    <a:pos x="26" y="20"/>
                  </a:cxn>
                  <a:cxn ang="0">
                    <a:pos x="34" y="24"/>
                  </a:cxn>
                  <a:cxn ang="0">
                    <a:pos x="36" y="20"/>
                  </a:cxn>
                  <a:cxn ang="0">
                    <a:pos x="38" y="20"/>
                  </a:cxn>
                  <a:cxn ang="0">
                    <a:pos x="38" y="10"/>
                  </a:cxn>
                  <a:cxn ang="0">
                    <a:pos x="32" y="8"/>
                  </a:cxn>
                  <a:cxn ang="0">
                    <a:pos x="28" y="6"/>
                  </a:cxn>
                  <a:cxn ang="0">
                    <a:pos x="26" y="4"/>
                  </a:cxn>
                  <a:cxn ang="0">
                    <a:pos x="18" y="2"/>
                  </a:cxn>
                  <a:cxn ang="0">
                    <a:pos x="12" y="0"/>
                  </a:cxn>
                  <a:cxn ang="0">
                    <a:pos x="10" y="2"/>
                  </a:cxn>
                  <a:cxn ang="0">
                    <a:pos x="6" y="4"/>
                  </a:cxn>
                  <a:cxn ang="0">
                    <a:pos x="6" y="8"/>
                  </a:cxn>
                  <a:cxn ang="0">
                    <a:pos x="6" y="10"/>
                  </a:cxn>
                  <a:cxn ang="0">
                    <a:pos x="2" y="10"/>
                  </a:cxn>
                  <a:cxn ang="0">
                    <a:pos x="0" y="10"/>
                  </a:cxn>
                  <a:cxn ang="0">
                    <a:pos x="0" y="12"/>
                  </a:cxn>
                  <a:cxn ang="0">
                    <a:pos x="0" y="12"/>
                  </a:cxn>
                </a:cxnLst>
                <a:rect l="0" t="0" r="r" b="b"/>
                <a:pathLst>
                  <a:path w="38" h="24">
                    <a:moveTo>
                      <a:pt x="0" y="12"/>
                    </a:moveTo>
                    <a:lnTo>
                      <a:pt x="0" y="12"/>
                    </a:lnTo>
                    <a:lnTo>
                      <a:pt x="4" y="14"/>
                    </a:lnTo>
                    <a:lnTo>
                      <a:pt x="8" y="16"/>
                    </a:lnTo>
                    <a:lnTo>
                      <a:pt x="8" y="18"/>
                    </a:lnTo>
                    <a:lnTo>
                      <a:pt x="8" y="20"/>
                    </a:lnTo>
                    <a:lnTo>
                      <a:pt x="14" y="20"/>
                    </a:lnTo>
                    <a:lnTo>
                      <a:pt x="18" y="20"/>
                    </a:lnTo>
                    <a:lnTo>
                      <a:pt x="26" y="20"/>
                    </a:lnTo>
                    <a:lnTo>
                      <a:pt x="34" y="24"/>
                    </a:lnTo>
                    <a:lnTo>
                      <a:pt x="36" y="20"/>
                    </a:lnTo>
                    <a:lnTo>
                      <a:pt x="38" y="20"/>
                    </a:lnTo>
                    <a:lnTo>
                      <a:pt x="38" y="10"/>
                    </a:lnTo>
                    <a:lnTo>
                      <a:pt x="32" y="8"/>
                    </a:lnTo>
                    <a:lnTo>
                      <a:pt x="28" y="6"/>
                    </a:lnTo>
                    <a:lnTo>
                      <a:pt x="26" y="4"/>
                    </a:lnTo>
                    <a:lnTo>
                      <a:pt x="18" y="2"/>
                    </a:lnTo>
                    <a:lnTo>
                      <a:pt x="12" y="0"/>
                    </a:lnTo>
                    <a:lnTo>
                      <a:pt x="10" y="2"/>
                    </a:lnTo>
                    <a:lnTo>
                      <a:pt x="6" y="4"/>
                    </a:lnTo>
                    <a:lnTo>
                      <a:pt x="6" y="8"/>
                    </a:lnTo>
                    <a:lnTo>
                      <a:pt x="6" y="10"/>
                    </a:lnTo>
                    <a:lnTo>
                      <a:pt x="2" y="10"/>
                    </a:lnTo>
                    <a:lnTo>
                      <a:pt x="0" y="10"/>
                    </a:lnTo>
                    <a:lnTo>
                      <a:pt x="0" y="12"/>
                    </a:lnTo>
                    <a:lnTo>
                      <a:pt x="0" y="1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91" name="Freeform 365">
                <a:extLst>
                  <a:ext uri="{FF2B5EF4-FFF2-40B4-BE49-F238E27FC236}">
                    <a16:creationId xmlns:a16="http://schemas.microsoft.com/office/drawing/2014/main" id="{3421DBF0-B763-2459-EFE0-985A43D67ADC}"/>
                  </a:ext>
                </a:extLst>
              </p:cNvPr>
              <p:cNvSpPr>
                <a:spLocks/>
              </p:cNvSpPr>
              <p:nvPr/>
            </p:nvSpPr>
            <p:spPr bwMode="auto">
              <a:xfrm>
                <a:off x="3813999" y="4240721"/>
                <a:ext cx="68064" cy="101833"/>
              </a:xfrm>
              <a:custGeom>
                <a:avLst/>
                <a:gdLst/>
                <a:ahLst/>
                <a:cxnLst>
                  <a:cxn ang="0">
                    <a:pos x="24" y="0"/>
                  </a:cxn>
                  <a:cxn ang="0">
                    <a:pos x="12" y="10"/>
                  </a:cxn>
                  <a:cxn ang="0">
                    <a:pos x="14" y="20"/>
                  </a:cxn>
                  <a:cxn ang="0">
                    <a:pos x="8" y="28"/>
                  </a:cxn>
                  <a:cxn ang="0">
                    <a:pos x="10" y="40"/>
                  </a:cxn>
                  <a:cxn ang="0">
                    <a:pos x="6" y="42"/>
                  </a:cxn>
                  <a:cxn ang="0">
                    <a:pos x="4" y="44"/>
                  </a:cxn>
                  <a:cxn ang="0">
                    <a:pos x="4" y="50"/>
                  </a:cxn>
                  <a:cxn ang="0">
                    <a:pos x="4" y="52"/>
                  </a:cxn>
                  <a:cxn ang="0">
                    <a:pos x="2" y="54"/>
                  </a:cxn>
                  <a:cxn ang="0">
                    <a:pos x="4" y="60"/>
                  </a:cxn>
                  <a:cxn ang="0">
                    <a:pos x="4" y="64"/>
                  </a:cxn>
                  <a:cxn ang="0">
                    <a:pos x="6" y="70"/>
                  </a:cxn>
                  <a:cxn ang="0">
                    <a:pos x="12" y="70"/>
                  </a:cxn>
                  <a:cxn ang="0">
                    <a:pos x="14" y="68"/>
                  </a:cxn>
                  <a:cxn ang="0">
                    <a:pos x="16" y="72"/>
                  </a:cxn>
                  <a:cxn ang="0">
                    <a:pos x="10" y="74"/>
                  </a:cxn>
                  <a:cxn ang="0">
                    <a:pos x="12" y="76"/>
                  </a:cxn>
                  <a:cxn ang="0">
                    <a:pos x="4" y="86"/>
                  </a:cxn>
                  <a:cxn ang="0">
                    <a:pos x="8" y="92"/>
                  </a:cxn>
                  <a:cxn ang="0">
                    <a:pos x="4" y="98"/>
                  </a:cxn>
                  <a:cxn ang="0">
                    <a:pos x="12" y="100"/>
                  </a:cxn>
                  <a:cxn ang="0">
                    <a:pos x="14" y="100"/>
                  </a:cxn>
                  <a:cxn ang="0">
                    <a:pos x="18" y="106"/>
                  </a:cxn>
                  <a:cxn ang="0">
                    <a:pos x="24" y="106"/>
                  </a:cxn>
                  <a:cxn ang="0">
                    <a:pos x="28" y="102"/>
                  </a:cxn>
                  <a:cxn ang="0">
                    <a:pos x="36" y="86"/>
                  </a:cxn>
                  <a:cxn ang="0">
                    <a:pos x="48" y="74"/>
                  </a:cxn>
                  <a:cxn ang="0">
                    <a:pos x="66" y="62"/>
                  </a:cxn>
                  <a:cxn ang="0">
                    <a:pos x="68" y="52"/>
                  </a:cxn>
                  <a:cxn ang="0">
                    <a:pos x="70" y="50"/>
                  </a:cxn>
                  <a:cxn ang="0">
                    <a:pos x="70" y="34"/>
                  </a:cxn>
                  <a:cxn ang="0">
                    <a:pos x="70" y="28"/>
                  </a:cxn>
                  <a:cxn ang="0">
                    <a:pos x="60" y="22"/>
                  </a:cxn>
                  <a:cxn ang="0">
                    <a:pos x="58" y="22"/>
                  </a:cxn>
                  <a:cxn ang="0">
                    <a:pos x="44" y="20"/>
                  </a:cxn>
                  <a:cxn ang="0">
                    <a:pos x="40" y="16"/>
                  </a:cxn>
                  <a:cxn ang="0">
                    <a:pos x="38" y="10"/>
                  </a:cxn>
                  <a:cxn ang="0">
                    <a:pos x="26" y="2"/>
                  </a:cxn>
                  <a:cxn ang="0">
                    <a:pos x="24" y="0"/>
                  </a:cxn>
                </a:cxnLst>
                <a:rect l="0" t="0" r="r" b="b"/>
                <a:pathLst>
                  <a:path w="70" h="106">
                    <a:moveTo>
                      <a:pt x="24" y="0"/>
                    </a:moveTo>
                    <a:lnTo>
                      <a:pt x="24" y="0"/>
                    </a:lnTo>
                    <a:lnTo>
                      <a:pt x="12" y="8"/>
                    </a:lnTo>
                    <a:lnTo>
                      <a:pt x="12" y="10"/>
                    </a:lnTo>
                    <a:lnTo>
                      <a:pt x="12" y="12"/>
                    </a:lnTo>
                    <a:lnTo>
                      <a:pt x="14" y="20"/>
                    </a:lnTo>
                    <a:lnTo>
                      <a:pt x="10" y="24"/>
                    </a:lnTo>
                    <a:lnTo>
                      <a:pt x="8" y="28"/>
                    </a:lnTo>
                    <a:lnTo>
                      <a:pt x="8" y="34"/>
                    </a:lnTo>
                    <a:lnTo>
                      <a:pt x="10" y="40"/>
                    </a:lnTo>
                    <a:lnTo>
                      <a:pt x="6" y="40"/>
                    </a:lnTo>
                    <a:lnTo>
                      <a:pt x="6" y="42"/>
                    </a:lnTo>
                    <a:lnTo>
                      <a:pt x="4" y="44"/>
                    </a:lnTo>
                    <a:lnTo>
                      <a:pt x="4" y="44"/>
                    </a:lnTo>
                    <a:lnTo>
                      <a:pt x="4" y="48"/>
                    </a:lnTo>
                    <a:lnTo>
                      <a:pt x="4" y="50"/>
                    </a:lnTo>
                    <a:lnTo>
                      <a:pt x="4" y="52"/>
                    </a:lnTo>
                    <a:lnTo>
                      <a:pt x="4" y="52"/>
                    </a:lnTo>
                    <a:lnTo>
                      <a:pt x="4" y="52"/>
                    </a:lnTo>
                    <a:lnTo>
                      <a:pt x="2" y="54"/>
                    </a:lnTo>
                    <a:lnTo>
                      <a:pt x="4" y="60"/>
                    </a:lnTo>
                    <a:lnTo>
                      <a:pt x="4" y="60"/>
                    </a:lnTo>
                    <a:lnTo>
                      <a:pt x="4" y="64"/>
                    </a:lnTo>
                    <a:lnTo>
                      <a:pt x="4" y="64"/>
                    </a:lnTo>
                    <a:lnTo>
                      <a:pt x="0" y="68"/>
                    </a:lnTo>
                    <a:lnTo>
                      <a:pt x="6" y="70"/>
                    </a:lnTo>
                    <a:lnTo>
                      <a:pt x="8" y="72"/>
                    </a:lnTo>
                    <a:lnTo>
                      <a:pt x="12" y="70"/>
                    </a:lnTo>
                    <a:lnTo>
                      <a:pt x="14" y="70"/>
                    </a:lnTo>
                    <a:lnTo>
                      <a:pt x="14" y="68"/>
                    </a:lnTo>
                    <a:lnTo>
                      <a:pt x="16" y="68"/>
                    </a:lnTo>
                    <a:lnTo>
                      <a:pt x="16" y="72"/>
                    </a:lnTo>
                    <a:lnTo>
                      <a:pt x="12" y="72"/>
                    </a:lnTo>
                    <a:lnTo>
                      <a:pt x="10" y="74"/>
                    </a:lnTo>
                    <a:lnTo>
                      <a:pt x="10" y="76"/>
                    </a:lnTo>
                    <a:lnTo>
                      <a:pt x="12" y="76"/>
                    </a:lnTo>
                    <a:lnTo>
                      <a:pt x="12" y="78"/>
                    </a:lnTo>
                    <a:lnTo>
                      <a:pt x="4" y="86"/>
                    </a:lnTo>
                    <a:lnTo>
                      <a:pt x="6" y="90"/>
                    </a:lnTo>
                    <a:lnTo>
                      <a:pt x="8" y="92"/>
                    </a:lnTo>
                    <a:lnTo>
                      <a:pt x="4" y="96"/>
                    </a:lnTo>
                    <a:lnTo>
                      <a:pt x="4" y="98"/>
                    </a:lnTo>
                    <a:lnTo>
                      <a:pt x="8" y="102"/>
                    </a:lnTo>
                    <a:lnTo>
                      <a:pt x="12" y="100"/>
                    </a:lnTo>
                    <a:lnTo>
                      <a:pt x="12" y="98"/>
                    </a:lnTo>
                    <a:lnTo>
                      <a:pt x="14" y="100"/>
                    </a:lnTo>
                    <a:lnTo>
                      <a:pt x="16" y="106"/>
                    </a:lnTo>
                    <a:lnTo>
                      <a:pt x="18" y="106"/>
                    </a:lnTo>
                    <a:lnTo>
                      <a:pt x="20" y="106"/>
                    </a:lnTo>
                    <a:lnTo>
                      <a:pt x="24" y="106"/>
                    </a:lnTo>
                    <a:lnTo>
                      <a:pt x="26" y="104"/>
                    </a:lnTo>
                    <a:lnTo>
                      <a:pt x="28" y="102"/>
                    </a:lnTo>
                    <a:lnTo>
                      <a:pt x="32" y="92"/>
                    </a:lnTo>
                    <a:lnTo>
                      <a:pt x="36" y="86"/>
                    </a:lnTo>
                    <a:lnTo>
                      <a:pt x="42" y="78"/>
                    </a:lnTo>
                    <a:lnTo>
                      <a:pt x="48" y="74"/>
                    </a:lnTo>
                    <a:lnTo>
                      <a:pt x="60" y="68"/>
                    </a:lnTo>
                    <a:lnTo>
                      <a:pt x="66" y="62"/>
                    </a:lnTo>
                    <a:lnTo>
                      <a:pt x="68" y="56"/>
                    </a:lnTo>
                    <a:lnTo>
                      <a:pt x="68" y="52"/>
                    </a:lnTo>
                    <a:lnTo>
                      <a:pt x="70" y="52"/>
                    </a:lnTo>
                    <a:lnTo>
                      <a:pt x="70" y="50"/>
                    </a:lnTo>
                    <a:lnTo>
                      <a:pt x="70" y="44"/>
                    </a:lnTo>
                    <a:lnTo>
                      <a:pt x="70" y="34"/>
                    </a:lnTo>
                    <a:lnTo>
                      <a:pt x="66" y="32"/>
                    </a:lnTo>
                    <a:lnTo>
                      <a:pt x="70" y="28"/>
                    </a:lnTo>
                    <a:lnTo>
                      <a:pt x="66" y="26"/>
                    </a:lnTo>
                    <a:lnTo>
                      <a:pt x="60" y="22"/>
                    </a:lnTo>
                    <a:lnTo>
                      <a:pt x="60" y="20"/>
                    </a:lnTo>
                    <a:lnTo>
                      <a:pt x="58" y="22"/>
                    </a:lnTo>
                    <a:lnTo>
                      <a:pt x="58" y="24"/>
                    </a:lnTo>
                    <a:lnTo>
                      <a:pt x="44" y="20"/>
                    </a:lnTo>
                    <a:lnTo>
                      <a:pt x="42" y="20"/>
                    </a:lnTo>
                    <a:lnTo>
                      <a:pt x="40" y="16"/>
                    </a:lnTo>
                    <a:lnTo>
                      <a:pt x="40" y="12"/>
                    </a:lnTo>
                    <a:lnTo>
                      <a:pt x="38" y="10"/>
                    </a:lnTo>
                    <a:lnTo>
                      <a:pt x="30" y="6"/>
                    </a:lnTo>
                    <a:lnTo>
                      <a:pt x="26" y="2"/>
                    </a:lnTo>
                    <a:lnTo>
                      <a:pt x="26" y="0"/>
                    </a:lnTo>
                    <a:lnTo>
                      <a:pt x="24" y="0"/>
                    </a:lnTo>
                    <a:lnTo>
                      <a:pt x="24"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92" name="Freeform 366">
                <a:extLst>
                  <a:ext uri="{FF2B5EF4-FFF2-40B4-BE49-F238E27FC236}">
                    <a16:creationId xmlns:a16="http://schemas.microsoft.com/office/drawing/2014/main" id="{D281A769-D213-1096-1D86-BA891A085E8F}"/>
                  </a:ext>
                </a:extLst>
              </p:cNvPr>
              <p:cNvSpPr>
                <a:spLocks/>
              </p:cNvSpPr>
              <p:nvPr/>
            </p:nvSpPr>
            <p:spPr bwMode="auto">
              <a:xfrm>
                <a:off x="3934570" y="3950595"/>
                <a:ext cx="44728" cy="30742"/>
              </a:xfrm>
              <a:custGeom>
                <a:avLst/>
                <a:gdLst/>
                <a:ahLst/>
                <a:cxnLst>
                  <a:cxn ang="0">
                    <a:pos x="2" y="26"/>
                  </a:cxn>
                  <a:cxn ang="0">
                    <a:pos x="2" y="26"/>
                  </a:cxn>
                  <a:cxn ang="0">
                    <a:pos x="4" y="32"/>
                  </a:cxn>
                  <a:cxn ang="0">
                    <a:pos x="6" y="32"/>
                  </a:cxn>
                  <a:cxn ang="0">
                    <a:pos x="10" y="26"/>
                  </a:cxn>
                  <a:cxn ang="0">
                    <a:pos x="8" y="20"/>
                  </a:cxn>
                  <a:cxn ang="0">
                    <a:pos x="16" y="22"/>
                  </a:cxn>
                  <a:cxn ang="0">
                    <a:pos x="18" y="26"/>
                  </a:cxn>
                  <a:cxn ang="0">
                    <a:pos x="22" y="26"/>
                  </a:cxn>
                  <a:cxn ang="0">
                    <a:pos x="26" y="24"/>
                  </a:cxn>
                  <a:cxn ang="0">
                    <a:pos x="26" y="20"/>
                  </a:cxn>
                  <a:cxn ang="0">
                    <a:pos x="32" y="20"/>
                  </a:cxn>
                  <a:cxn ang="0">
                    <a:pos x="40" y="22"/>
                  </a:cxn>
                  <a:cxn ang="0">
                    <a:pos x="44" y="22"/>
                  </a:cxn>
                  <a:cxn ang="0">
                    <a:pos x="46" y="20"/>
                  </a:cxn>
                  <a:cxn ang="0">
                    <a:pos x="46" y="18"/>
                  </a:cxn>
                  <a:cxn ang="0">
                    <a:pos x="44" y="14"/>
                  </a:cxn>
                  <a:cxn ang="0">
                    <a:pos x="40" y="12"/>
                  </a:cxn>
                  <a:cxn ang="0">
                    <a:pos x="36" y="10"/>
                  </a:cxn>
                  <a:cxn ang="0">
                    <a:pos x="34" y="10"/>
                  </a:cxn>
                  <a:cxn ang="0">
                    <a:pos x="26" y="8"/>
                  </a:cxn>
                  <a:cxn ang="0">
                    <a:pos x="24" y="6"/>
                  </a:cxn>
                  <a:cxn ang="0">
                    <a:pos x="20" y="2"/>
                  </a:cxn>
                  <a:cxn ang="0">
                    <a:pos x="16" y="2"/>
                  </a:cxn>
                  <a:cxn ang="0">
                    <a:pos x="14" y="0"/>
                  </a:cxn>
                  <a:cxn ang="0">
                    <a:pos x="4" y="0"/>
                  </a:cxn>
                  <a:cxn ang="0">
                    <a:pos x="2" y="2"/>
                  </a:cxn>
                  <a:cxn ang="0">
                    <a:pos x="0" y="2"/>
                  </a:cxn>
                  <a:cxn ang="0">
                    <a:pos x="2" y="12"/>
                  </a:cxn>
                  <a:cxn ang="0">
                    <a:pos x="0" y="16"/>
                  </a:cxn>
                  <a:cxn ang="0">
                    <a:pos x="0" y="18"/>
                  </a:cxn>
                  <a:cxn ang="0">
                    <a:pos x="2" y="22"/>
                  </a:cxn>
                  <a:cxn ang="0">
                    <a:pos x="2" y="26"/>
                  </a:cxn>
                  <a:cxn ang="0">
                    <a:pos x="2" y="26"/>
                  </a:cxn>
                </a:cxnLst>
                <a:rect l="0" t="0" r="r" b="b"/>
                <a:pathLst>
                  <a:path w="46" h="32">
                    <a:moveTo>
                      <a:pt x="2" y="26"/>
                    </a:moveTo>
                    <a:lnTo>
                      <a:pt x="2" y="26"/>
                    </a:lnTo>
                    <a:lnTo>
                      <a:pt x="4" y="32"/>
                    </a:lnTo>
                    <a:lnTo>
                      <a:pt x="6" y="32"/>
                    </a:lnTo>
                    <a:lnTo>
                      <a:pt x="10" y="26"/>
                    </a:lnTo>
                    <a:lnTo>
                      <a:pt x="8" y="20"/>
                    </a:lnTo>
                    <a:lnTo>
                      <a:pt x="16" y="22"/>
                    </a:lnTo>
                    <a:lnTo>
                      <a:pt x="18" y="26"/>
                    </a:lnTo>
                    <a:lnTo>
                      <a:pt x="22" y="26"/>
                    </a:lnTo>
                    <a:lnTo>
                      <a:pt x="26" y="24"/>
                    </a:lnTo>
                    <a:lnTo>
                      <a:pt x="26" y="20"/>
                    </a:lnTo>
                    <a:lnTo>
                      <a:pt x="32" y="20"/>
                    </a:lnTo>
                    <a:lnTo>
                      <a:pt x="40" y="22"/>
                    </a:lnTo>
                    <a:lnTo>
                      <a:pt x="44" y="22"/>
                    </a:lnTo>
                    <a:lnTo>
                      <a:pt x="46" y="20"/>
                    </a:lnTo>
                    <a:lnTo>
                      <a:pt x="46" y="18"/>
                    </a:lnTo>
                    <a:lnTo>
                      <a:pt x="44" y="14"/>
                    </a:lnTo>
                    <a:lnTo>
                      <a:pt x="40" y="12"/>
                    </a:lnTo>
                    <a:lnTo>
                      <a:pt x="36" y="10"/>
                    </a:lnTo>
                    <a:lnTo>
                      <a:pt x="34" y="10"/>
                    </a:lnTo>
                    <a:lnTo>
                      <a:pt x="26" y="8"/>
                    </a:lnTo>
                    <a:lnTo>
                      <a:pt x="24" y="6"/>
                    </a:lnTo>
                    <a:lnTo>
                      <a:pt x="20" y="2"/>
                    </a:lnTo>
                    <a:lnTo>
                      <a:pt x="16" y="2"/>
                    </a:lnTo>
                    <a:lnTo>
                      <a:pt x="14" y="0"/>
                    </a:lnTo>
                    <a:lnTo>
                      <a:pt x="4" y="0"/>
                    </a:lnTo>
                    <a:lnTo>
                      <a:pt x="2" y="2"/>
                    </a:lnTo>
                    <a:lnTo>
                      <a:pt x="0" y="2"/>
                    </a:lnTo>
                    <a:lnTo>
                      <a:pt x="2" y="12"/>
                    </a:lnTo>
                    <a:lnTo>
                      <a:pt x="0" y="16"/>
                    </a:lnTo>
                    <a:lnTo>
                      <a:pt x="0" y="18"/>
                    </a:lnTo>
                    <a:lnTo>
                      <a:pt x="2" y="22"/>
                    </a:lnTo>
                    <a:lnTo>
                      <a:pt x="2" y="26"/>
                    </a:lnTo>
                    <a:lnTo>
                      <a:pt x="2" y="2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93" name="Freeform 367">
                <a:extLst>
                  <a:ext uri="{FF2B5EF4-FFF2-40B4-BE49-F238E27FC236}">
                    <a16:creationId xmlns:a16="http://schemas.microsoft.com/office/drawing/2014/main" id="{6EBD7633-3301-232C-AAE5-4E56A81A1D4A}"/>
                  </a:ext>
                </a:extLst>
              </p:cNvPr>
              <p:cNvSpPr>
                <a:spLocks/>
              </p:cNvSpPr>
              <p:nvPr/>
            </p:nvSpPr>
            <p:spPr bwMode="auto">
              <a:xfrm>
                <a:off x="5360032" y="4063955"/>
                <a:ext cx="25281" cy="32663"/>
              </a:xfrm>
              <a:custGeom>
                <a:avLst/>
                <a:gdLst/>
                <a:ahLst/>
                <a:cxnLst>
                  <a:cxn ang="0">
                    <a:pos x="24" y="26"/>
                  </a:cxn>
                  <a:cxn ang="0">
                    <a:pos x="24" y="26"/>
                  </a:cxn>
                  <a:cxn ang="0">
                    <a:pos x="22" y="22"/>
                  </a:cxn>
                  <a:cxn ang="0">
                    <a:pos x="20" y="22"/>
                  </a:cxn>
                  <a:cxn ang="0">
                    <a:pos x="20" y="20"/>
                  </a:cxn>
                  <a:cxn ang="0">
                    <a:pos x="26" y="14"/>
                  </a:cxn>
                  <a:cxn ang="0">
                    <a:pos x="26" y="8"/>
                  </a:cxn>
                  <a:cxn ang="0">
                    <a:pos x="26" y="4"/>
                  </a:cxn>
                  <a:cxn ang="0">
                    <a:pos x="22" y="0"/>
                  </a:cxn>
                  <a:cxn ang="0">
                    <a:pos x="16" y="6"/>
                  </a:cxn>
                  <a:cxn ang="0">
                    <a:pos x="12" y="2"/>
                  </a:cxn>
                  <a:cxn ang="0">
                    <a:pos x="10" y="4"/>
                  </a:cxn>
                  <a:cxn ang="0">
                    <a:pos x="6" y="10"/>
                  </a:cxn>
                  <a:cxn ang="0">
                    <a:pos x="4" y="14"/>
                  </a:cxn>
                  <a:cxn ang="0">
                    <a:pos x="4" y="18"/>
                  </a:cxn>
                  <a:cxn ang="0">
                    <a:pos x="2" y="22"/>
                  </a:cxn>
                  <a:cxn ang="0">
                    <a:pos x="2" y="24"/>
                  </a:cxn>
                  <a:cxn ang="0">
                    <a:pos x="0" y="28"/>
                  </a:cxn>
                  <a:cxn ang="0">
                    <a:pos x="0" y="30"/>
                  </a:cxn>
                  <a:cxn ang="0">
                    <a:pos x="4" y="34"/>
                  </a:cxn>
                  <a:cxn ang="0">
                    <a:pos x="8" y="34"/>
                  </a:cxn>
                  <a:cxn ang="0">
                    <a:pos x="12" y="32"/>
                  </a:cxn>
                  <a:cxn ang="0">
                    <a:pos x="18" y="34"/>
                  </a:cxn>
                  <a:cxn ang="0">
                    <a:pos x="24" y="26"/>
                  </a:cxn>
                  <a:cxn ang="0">
                    <a:pos x="24" y="26"/>
                  </a:cxn>
                </a:cxnLst>
                <a:rect l="0" t="0" r="r" b="b"/>
                <a:pathLst>
                  <a:path w="26" h="34">
                    <a:moveTo>
                      <a:pt x="24" y="26"/>
                    </a:moveTo>
                    <a:lnTo>
                      <a:pt x="24" y="26"/>
                    </a:lnTo>
                    <a:lnTo>
                      <a:pt x="22" y="22"/>
                    </a:lnTo>
                    <a:lnTo>
                      <a:pt x="20" y="22"/>
                    </a:lnTo>
                    <a:lnTo>
                      <a:pt x="20" y="20"/>
                    </a:lnTo>
                    <a:lnTo>
                      <a:pt x="26" y="14"/>
                    </a:lnTo>
                    <a:lnTo>
                      <a:pt x="26" y="8"/>
                    </a:lnTo>
                    <a:lnTo>
                      <a:pt x="26" y="4"/>
                    </a:lnTo>
                    <a:lnTo>
                      <a:pt x="22" y="0"/>
                    </a:lnTo>
                    <a:lnTo>
                      <a:pt x="16" y="6"/>
                    </a:lnTo>
                    <a:lnTo>
                      <a:pt x="12" y="2"/>
                    </a:lnTo>
                    <a:lnTo>
                      <a:pt x="10" y="4"/>
                    </a:lnTo>
                    <a:lnTo>
                      <a:pt x="6" y="10"/>
                    </a:lnTo>
                    <a:lnTo>
                      <a:pt x="4" y="14"/>
                    </a:lnTo>
                    <a:lnTo>
                      <a:pt x="4" y="18"/>
                    </a:lnTo>
                    <a:lnTo>
                      <a:pt x="2" y="22"/>
                    </a:lnTo>
                    <a:lnTo>
                      <a:pt x="2" y="24"/>
                    </a:lnTo>
                    <a:lnTo>
                      <a:pt x="0" y="28"/>
                    </a:lnTo>
                    <a:lnTo>
                      <a:pt x="0" y="30"/>
                    </a:lnTo>
                    <a:lnTo>
                      <a:pt x="4" y="34"/>
                    </a:lnTo>
                    <a:lnTo>
                      <a:pt x="8" y="34"/>
                    </a:lnTo>
                    <a:lnTo>
                      <a:pt x="12" y="32"/>
                    </a:lnTo>
                    <a:lnTo>
                      <a:pt x="18" y="34"/>
                    </a:lnTo>
                    <a:lnTo>
                      <a:pt x="24" y="26"/>
                    </a:lnTo>
                    <a:lnTo>
                      <a:pt x="24" y="2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94" name="Freeform 368">
                <a:extLst>
                  <a:ext uri="{FF2B5EF4-FFF2-40B4-BE49-F238E27FC236}">
                    <a16:creationId xmlns:a16="http://schemas.microsoft.com/office/drawing/2014/main" id="{E56BA52B-CAE9-1732-77B0-08BCB937E02D}"/>
                  </a:ext>
                </a:extLst>
              </p:cNvPr>
              <p:cNvSpPr>
                <a:spLocks/>
              </p:cNvSpPr>
              <p:nvPr/>
            </p:nvSpPr>
            <p:spPr bwMode="auto">
              <a:xfrm>
                <a:off x="5360032" y="4063955"/>
                <a:ext cx="25281" cy="32663"/>
              </a:xfrm>
              <a:custGeom>
                <a:avLst/>
                <a:gdLst/>
                <a:ahLst/>
                <a:cxnLst>
                  <a:cxn ang="0">
                    <a:pos x="24" y="26"/>
                  </a:cxn>
                  <a:cxn ang="0">
                    <a:pos x="24" y="26"/>
                  </a:cxn>
                  <a:cxn ang="0">
                    <a:pos x="22" y="22"/>
                  </a:cxn>
                  <a:cxn ang="0">
                    <a:pos x="20" y="22"/>
                  </a:cxn>
                  <a:cxn ang="0">
                    <a:pos x="20" y="20"/>
                  </a:cxn>
                  <a:cxn ang="0">
                    <a:pos x="26" y="14"/>
                  </a:cxn>
                  <a:cxn ang="0">
                    <a:pos x="26" y="8"/>
                  </a:cxn>
                  <a:cxn ang="0">
                    <a:pos x="26" y="4"/>
                  </a:cxn>
                  <a:cxn ang="0">
                    <a:pos x="22" y="0"/>
                  </a:cxn>
                  <a:cxn ang="0">
                    <a:pos x="16" y="6"/>
                  </a:cxn>
                  <a:cxn ang="0">
                    <a:pos x="12" y="2"/>
                  </a:cxn>
                  <a:cxn ang="0">
                    <a:pos x="10" y="4"/>
                  </a:cxn>
                  <a:cxn ang="0">
                    <a:pos x="6" y="10"/>
                  </a:cxn>
                  <a:cxn ang="0">
                    <a:pos x="4" y="14"/>
                  </a:cxn>
                  <a:cxn ang="0">
                    <a:pos x="4" y="18"/>
                  </a:cxn>
                  <a:cxn ang="0">
                    <a:pos x="2" y="22"/>
                  </a:cxn>
                  <a:cxn ang="0">
                    <a:pos x="2" y="24"/>
                  </a:cxn>
                  <a:cxn ang="0">
                    <a:pos x="0" y="28"/>
                  </a:cxn>
                  <a:cxn ang="0">
                    <a:pos x="0" y="30"/>
                  </a:cxn>
                  <a:cxn ang="0">
                    <a:pos x="4" y="34"/>
                  </a:cxn>
                  <a:cxn ang="0">
                    <a:pos x="8" y="34"/>
                  </a:cxn>
                  <a:cxn ang="0">
                    <a:pos x="12" y="32"/>
                  </a:cxn>
                  <a:cxn ang="0">
                    <a:pos x="18" y="34"/>
                  </a:cxn>
                  <a:cxn ang="0">
                    <a:pos x="24" y="26"/>
                  </a:cxn>
                  <a:cxn ang="0">
                    <a:pos x="24" y="26"/>
                  </a:cxn>
                </a:cxnLst>
                <a:rect l="0" t="0" r="r" b="b"/>
                <a:pathLst>
                  <a:path w="26" h="34">
                    <a:moveTo>
                      <a:pt x="24" y="26"/>
                    </a:moveTo>
                    <a:lnTo>
                      <a:pt x="24" y="26"/>
                    </a:lnTo>
                    <a:lnTo>
                      <a:pt x="22" y="22"/>
                    </a:lnTo>
                    <a:lnTo>
                      <a:pt x="20" y="22"/>
                    </a:lnTo>
                    <a:lnTo>
                      <a:pt x="20" y="20"/>
                    </a:lnTo>
                    <a:lnTo>
                      <a:pt x="26" y="14"/>
                    </a:lnTo>
                    <a:lnTo>
                      <a:pt x="26" y="8"/>
                    </a:lnTo>
                    <a:lnTo>
                      <a:pt x="26" y="4"/>
                    </a:lnTo>
                    <a:lnTo>
                      <a:pt x="22" y="0"/>
                    </a:lnTo>
                    <a:lnTo>
                      <a:pt x="16" y="6"/>
                    </a:lnTo>
                    <a:lnTo>
                      <a:pt x="12" y="2"/>
                    </a:lnTo>
                    <a:lnTo>
                      <a:pt x="10" y="4"/>
                    </a:lnTo>
                    <a:lnTo>
                      <a:pt x="6" y="10"/>
                    </a:lnTo>
                    <a:lnTo>
                      <a:pt x="4" y="14"/>
                    </a:lnTo>
                    <a:lnTo>
                      <a:pt x="4" y="18"/>
                    </a:lnTo>
                    <a:lnTo>
                      <a:pt x="2" y="22"/>
                    </a:lnTo>
                    <a:lnTo>
                      <a:pt x="2" y="24"/>
                    </a:lnTo>
                    <a:lnTo>
                      <a:pt x="0" y="28"/>
                    </a:lnTo>
                    <a:lnTo>
                      <a:pt x="0" y="30"/>
                    </a:lnTo>
                    <a:lnTo>
                      <a:pt x="4" y="34"/>
                    </a:lnTo>
                    <a:lnTo>
                      <a:pt x="8" y="34"/>
                    </a:lnTo>
                    <a:lnTo>
                      <a:pt x="12" y="32"/>
                    </a:lnTo>
                    <a:lnTo>
                      <a:pt x="18" y="34"/>
                    </a:lnTo>
                    <a:lnTo>
                      <a:pt x="24" y="26"/>
                    </a:lnTo>
                    <a:lnTo>
                      <a:pt x="24" y="2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95" name="Freeform 369">
                <a:extLst>
                  <a:ext uri="{FF2B5EF4-FFF2-40B4-BE49-F238E27FC236}">
                    <a16:creationId xmlns:a16="http://schemas.microsoft.com/office/drawing/2014/main" id="{D443E0BC-F554-3797-F8D7-0181EC8BEA78}"/>
                  </a:ext>
                </a:extLst>
              </p:cNvPr>
              <p:cNvSpPr>
                <a:spLocks noEditPoints="1"/>
              </p:cNvSpPr>
              <p:nvPr/>
            </p:nvSpPr>
            <p:spPr bwMode="auto">
              <a:xfrm>
                <a:off x="5245295" y="3698895"/>
                <a:ext cx="29170" cy="19214"/>
              </a:xfrm>
              <a:custGeom>
                <a:avLst/>
                <a:gdLst/>
                <a:ahLst/>
                <a:cxnLst>
                  <a:cxn ang="0">
                    <a:pos x="24" y="12"/>
                  </a:cxn>
                  <a:cxn ang="0">
                    <a:pos x="24" y="12"/>
                  </a:cxn>
                  <a:cxn ang="0">
                    <a:pos x="22" y="6"/>
                  </a:cxn>
                  <a:cxn ang="0">
                    <a:pos x="26" y="6"/>
                  </a:cxn>
                  <a:cxn ang="0">
                    <a:pos x="28" y="2"/>
                  </a:cxn>
                  <a:cxn ang="0">
                    <a:pos x="30" y="0"/>
                  </a:cxn>
                  <a:cxn ang="0">
                    <a:pos x="24" y="4"/>
                  </a:cxn>
                  <a:cxn ang="0">
                    <a:pos x="20" y="6"/>
                  </a:cxn>
                  <a:cxn ang="0">
                    <a:pos x="16" y="6"/>
                  </a:cxn>
                  <a:cxn ang="0">
                    <a:pos x="10" y="6"/>
                  </a:cxn>
                  <a:cxn ang="0">
                    <a:pos x="12" y="10"/>
                  </a:cxn>
                  <a:cxn ang="0">
                    <a:pos x="8" y="10"/>
                  </a:cxn>
                  <a:cxn ang="0">
                    <a:pos x="10" y="12"/>
                  </a:cxn>
                  <a:cxn ang="0">
                    <a:pos x="14" y="12"/>
                  </a:cxn>
                  <a:cxn ang="0">
                    <a:pos x="18" y="10"/>
                  </a:cxn>
                  <a:cxn ang="0">
                    <a:pos x="20" y="10"/>
                  </a:cxn>
                  <a:cxn ang="0">
                    <a:pos x="24" y="12"/>
                  </a:cxn>
                  <a:cxn ang="0">
                    <a:pos x="24" y="12"/>
                  </a:cxn>
                  <a:cxn ang="0">
                    <a:pos x="24" y="12"/>
                  </a:cxn>
                  <a:cxn ang="0">
                    <a:pos x="24" y="12"/>
                  </a:cxn>
                  <a:cxn ang="0">
                    <a:pos x="22" y="12"/>
                  </a:cxn>
                  <a:cxn ang="0">
                    <a:pos x="20" y="14"/>
                  </a:cxn>
                  <a:cxn ang="0">
                    <a:pos x="18" y="16"/>
                  </a:cxn>
                  <a:cxn ang="0">
                    <a:pos x="12" y="20"/>
                  </a:cxn>
                  <a:cxn ang="0">
                    <a:pos x="8" y="20"/>
                  </a:cxn>
                  <a:cxn ang="0">
                    <a:pos x="2" y="16"/>
                  </a:cxn>
                  <a:cxn ang="0">
                    <a:pos x="0" y="12"/>
                  </a:cxn>
                  <a:cxn ang="0">
                    <a:pos x="8" y="10"/>
                  </a:cxn>
                  <a:cxn ang="0">
                    <a:pos x="10" y="12"/>
                  </a:cxn>
                  <a:cxn ang="0">
                    <a:pos x="14" y="12"/>
                  </a:cxn>
                  <a:cxn ang="0">
                    <a:pos x="18" y="10"/>
                  </a:cxn>
                  <a:cxn ang="0">
                    <a:pos x="20" y="10"/>
                  </a:cxn>
                  <a:cxn ang="0">
                    <a:pos x="24" y="12"/>
                  </a:cxn>
                  <a:cxn ang="0">
                    <a:pos x="24" y="12"/>
                  </a:cxn>
                </a:cxnLst>
                <a:rect l="0" t="0" r="r" b="b"/>
                <a:pathLst>
                  <a:path w="30" h="20">
                    <a:moveTo>
                      <a:pt x="24" y="12"/>
                    </a:moveTo>
                    <a:lnTo>
                      <a:pt x="24" y="12"/>
                    </a:lnTo>
                    <a:lnTo>
                      <a:pt x="22" y="6"/>
                    </a:lnTo>
                    <a:lnTo>
                      <a:pt x="26" y="6"/>
                    </a:lnTo>
                    <a:lnTo>
                      <a:pt x="28" y="2"/>
                    </a:lnTo>
                    <a:lnTo>
                      <a:pt x="30" y="0"/>
                    </a:lnTo>
                    <a:lnTo>
                      <a:pt x="24" y="4"/>
                    </a:lnTo>
                    <a:lnTo>
                      <a:pt x="20" y="6"/>
                    </a:lnTo>
                    <a:lnTo>
                      <a:pt x="16" y="6"/>
                    </a:lnTo>
                    <a:lnTo>
                      <a:pt x="10" y="6"/>
                    </a:lnTo>
                    <a:lnTo>
                      <a:pt x="12" y="10"/>
                    </a:lnTo>
                    <a:lnTo>
                      <a:pt x="8" y="10"/>
                    </a:lnTo>
                    <a:lnTo>
                      <a:pt x="10" y="12"/>
                    </a:lnTo>
                    <a:lnTo>
                      <a:pt x="14" y="12"/>
                    </a:lnTo>
                    <a:lnTo>
                      <a:pt x="18" y="10"/>
                    </a:lnTo>
                    <a:lnTo>
                      <a:pt x="20" y="10"/>
                    </a:lnTo>
                    <a:lnTo>
                      <a:pt x="24" y="12"/>
                    </a:lnTo>
                    <a:lnTo>
                      <a:pt x="24" y="12"/>
                    </a:lnTo>
                    <a:close/>
                    <a:moveTo>
                      <a:pt x="24" y="12"/>
                    </a:moveTo>
                    <a:lnTo>
                      <a:pt x="24" y="12"/>
                    </a:lnTo>
                    <a:lnTo>
                      <a:pt x="22" y="12"/>
                    </a:lnTo>
                    <a:lnTo>
                      <a:pt x="20" y="14"/>
                    </a:lnTo>
                    <a:lnTo>
                      <a:pt x="18" y="16"/>
                    </a:lnTo>
                    <a:lnTo>
                      <a:pt x="12" y="20"/>
                    </a:lnTo>
                    <a:lnTo>
                      <a:pt x="8" y="20"/>
                    </a:lnTo>
                    <a:lnTo>
                      <a:pt x="2" y="16"/>
                    </a:lnTo>
                    <a:lnTo>
                      <a:pt x="0" y="12"/>
                    </a:lnTo>
                    <a:lnTo>
                      <a:pt x="8" y="10"/>
                    </a:lnTo>
                    <a:lnTo>
                      <a:pt x="10" y="12"/>
                    </a:lnTo>
                    <a:lnTo>
                      <a:pt x="14" y="12"/>
                    </a:lnTo>
                    <a:lnTo>
                      <a:pt x="18" y="10"/>
                    </a:lnTo>
                    <a:lnTo>
                      <a:pt x="20" y="10"/>
                    </a:lnTo>
                    <a:lnTo>
                      <a:pt x="24" y="12"/>
                    </a:lnTo>
                    <a:lnTo>
                      <a:pt x="24" y="1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96" name="Freeform 370">
                <a:extLst>
                  <a:ext uri="{FF2B5EF4-FFF2-40B4-BE49-F238E27FC236}">
                    <a16:creationId xmlns:a16="http://schemas.microsoft.com/office/drawing/2014/main" id="{0719EC3D-CA90-3A03-E5EF-AFD729112119}"/>
                  </a:ext>
                </a:extLst>
              </p:cNvPr>
              <p:cNvSpPr>
                <a:spLocks/>
              </p:cNvSpPr>
              <p:nvPr/>
            </p:nvSpPr>
            <p:spPr bwMode="auto">
              <a:xfrm>
                <a:off x="5253073" y="3698895"/>
                <a:ext cx="21391" cy="11528"/>
              </a:xfrm>
              <a:custGeom>
                <a:avLst/>
                <a:gdLst/>
                <a:ahLst/>
                <a:cxnLst>
                  <a:cxn ang="0">
                    <a:pos x="16" y="12"/>
                  </a:cxn>
                  <a:cxn ang="0">
                    <a:pos x="16" y="12"/>
                  </a:cxn>
                  <a:cxn ang="0">
                    <a:pos x="14" y="6"/>
                  </a:cxn>
                  <a:cxn ang="0">
                    <a:pos x="18" y="6"/>
                  </a:cxn>
                  <a:cxn ang="0">
                    <a:pos x="20" y="2"/>
                  </a:cxn>
                  <a:cxn ang="0">
                    <a:pos x="22" y="0"/>
                  </a:cxn>
                  <a:cxn ang="0">
                    <a:pos x="16" y="4"/>
                  </a:cxn>
                  <a:cxn ang="0">
                    <a:pos x="12" y="6"/>
                  </a:cxn>
                  <a:cxn ang="0">
                    <a:pos x="8" y="6"/>
                  </a:cxn>
                  <a:cxn ang="0">
                    <a:pos x="2" y="6"/>
                  </a:cxn>
                  <a:cxn ang="0">
                    <a:pos x="4" y="10"/>
                  </a:cxn>
                  <a:cxn ang="0">
                    <a:pos x="0" y="10"/>
                  </a:cxn>
                  <a:cxn ang="0">
                    <a:pos x="2" y="12"/>
                  </a:cxn>
                  <a:cxn ang="0">
                    <a:pos x="6" y="12"/>
                  </a:cxn>
                  <a:cxn ang="0">
                    <a:pos x="10" y="10"/>
                  </a:cxn>
                  <a:cxn ang="0">
                    <a:pos x="12" y="10"/>
                  </a:cxn>
                  <a:cxn ang="0">
                    <a:pos x="16" y="12"/>
                  </a:cxn>
                  <a:cxn ang="0">
                    <a:pos x="16" y="12"/>
                  </a:cxn>
                </a:cxnLst>
                <a:rect l="0" t="0" r="r" b="b"/>
                <a:pathLst>
                  <a:path w="22" h="12">
                    <a:moveTo>
                      <a:pt x="16" y="12"/>
                    </a:moveTo>
                    <a:lnTo>
                      <a:pt x="16" y="12"/>
                    </a:lnTo>
                    <a:lnTo>
                      <a:pt x="14" y="6"/>
                    </a:lnTo>
                    <a:lnTo>
                      <a:pt x="18" y="6"/>
                    </a:lnTo>
                    <a:lnTo>
                      <a:pt x="20" y="2"/>
                    </a:lnTo>
                    <a:lnTo>
                      <a:pt x="22" y="0"/>
                    </a:lnTo>
                    <a:lnTo>
                      <a:pt x="16" y="4"/>
                    </a:lnTo>
                    <a:lnTo>
                      <a:pt x="12" y="6"/>
                    </a:lnTo>
                    <a:lnTo>
                      <a:pt x="8" y="6"/>
                    </a:lnTo>
                    <a:lnTo>
                      <a:pt x="2" y="6"/>
                    </a:lnTo>
                    <a:lnTo>
                      <a:pt x="4" y="10"/>
                    </a:lnTo>
                    <a:lnTo>
                      <a:pt x="0" y="10"/>
                    </a:lnTo>
                    <a:lnTo>
                      <a:pt x="2" y="12"/>
                    </a:lnTo>
                    <a:lnTo>
                      <a:pt x="6" y="12"/>
                    </a:lnTo>
                    <a:lnTo>
                      <a:pt x="10" y="10"/>
                    </a:lnTo>
                    <a:lnTo>
                      <a:pt x="12" y="10"/>
                    </a:lnTo>
                    <a:lnTo>
                      <a:pt x="16" y="12"/>
                    </a:lnTo>
                    <a:lnTo>
                      <a:pt x="16" y="1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97" name="Freeform 371">
                <a:extLst>
                  <a:ext uri="{FF2B5EF4-FFF2-40B4-BE49-F238E27FC236}">
                    <a16:creationId xmlns:a16="http://schemas.microsoft.com/office/drawing/2014/main" id="{77B9DF60-BC58-8ED3-74E6-674FEAF8FC21}"/>
                  </a:ext>
                </a:extLst>
              </p:cNvPr>
              <p:cNvSpPr>
                <a:spLocks/>
              </p:cNvSpPr>
              <p:nvPr/>
            </p:nvSpPr>
            <p:spPr bwMode="auto">
              <a:xfrm>
                <a:off x="5245295" y="3708501"/>
                <a:ext cx="23336" cy="9607"/>
              </a:xfrm>
              <a:custGeom>
                <a:avLst/>
                <a:gdLst/>
                <a:ahLst/>
                <a:cxnLst>
                  <a:cxn ang="0">
                    <a:pos x="24" y="2"/>
                  </a:cxn>
                  <a:cxn ang="0">
                    <a:pos x="24" y="2"/>
                  </a:cxn>
                  <a:cxn ang="0">
                    <a:pos x="22" y="2"/>
                  </a:cxn>
                  <a:cxn ang="0">
                    <a:pos x="20" y="4"/>
                  </a:cxn>
                  <a:cxn ang="0">
                    <a:pos x="18" y="6"/>
                  </a:cxn>
                  <a:cxn ang="0">
                    <a:pos x="12" y="10"/>
                  </a:cxn>
                  <a:cxn ang="0">
                    <a:pos x="8" y="10"/>
                  </a:cxn>
                  <a:cxn ang="0">
                    <a:pos x="2" y="6"/>
                  </a:cxn>
                  <a:cxn ang="0">
                    <a:pos x="0" y="2"/>
                  </a:cxn>
                  <a:cxn ang="0">
                    <a:pos x="8" y="0"/>
                  </a:cxn>
                  <a:cxn ang="0">
                    <a:pos x="10" y="2"/>
                  </a:cxn>
                  <a:cxn ang="0">
                    <a:pos x="14" y="2"/>
                  </a:cxn>
                  <a:cxn ang="0">
                    <a:pos x="18" y="0"/>
                  </a:cxn>
                  <a:cxn ang="0">
                    <a:pos x="20" y="0"/>
                  </a:cxn>
                  <a:cxn ang="0">
                    <a:pos x="24" y="2"/>
                  </a:cxn>
                </a:cxnLst>
                <a:rect l="0" t="0" r="r" b="b"/>
                <a:pathLst>
                  <a:path w="24" h="10">
                    <a:moveTo>
                      <a:pt x="24" y="2"/>
                    </a:moveTo>
                    <a:lnTo>
                      <a:pt x="24" y="2"/>
                    </a:lnTo>
                    <a:lnTo>
                      <a:pt x="22" y="2"/>
                    </a:lnTo>
                    <a:lnTo>
                      <a:pt x="20" y="4"/>
                    </a:lnTo>
                    <a:lnTo>
                      <a:pt x="18" y="6"/>
                    </a:lnTo>
                    <a:lnTo>
                      <a:pt x="12" y="10"/>
                    </a:lnTo>
                    <a:lnTo>
                      <a:pt x="8" y="10"/>
                    </a:lnTo>
                    <a:lnTo>
                      <a:pt x="2" y="6"/>
                    </a:lnTo>
                    <a:lnTo>
                      <a:pt x="0" y="2"/>
                    </a:lnTo>
                    <a:lnTo>
                      <a:pt x="8" y="0"/>
                    </a:lnTo>
                    <a:lnTo>
                      <a:pt x="10" y="2"/>
                    </a:lnTo>
                    <a:lnTo>
                      <a:pt x="14" y="2"/>
                    </a:lnTo>
                    <a:lnTo>
                      <a:pt x="18" y="0"/>
                    </a:lnTo>
                    <a:lnTo>
                      <a:pt x="20" y="0"/>
                    </a:lnTo>
                    <a:lnTo>
                      <a:pt x="24" y="2"/>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98" name="Freeform 372">
                <a:extLst>
                  <a:ext uri="{FF2B5EF4-FFF2-40B4-BE49-F238E27FC236}">
                    <a16:creationId xmlns:a16="http://schemas.microsoft.com/office/drawing/2014/main" id="{1D7B5AA9-1289-E925-1F08-A303A060EDA1}"/>
                  </a:ext>
                </a:extLst>
              </p:cNvPr>
              <p:cNvSpPr>
                <a:spLocks/>
              </p:cNvSpPr>
              <p:nvPr/>
            </p:nvSpPr>
            <p:spPr bwMode="auto">
              <a:xfrm>
                <a:off x="5245295" y="3708501"/>
                <a:ext cx="23336" cy="9607"/>
              </a:xfrm>
              <a:custGeom>
                <a:avLst/>
                <a:gdLst/>
                <a:ahLst/>
                <a:cxnLst>
                  <a:cxn ang="0">
                    <a:pos x="24" y="2"/>
                  </a:cxn>
                  <a:cxn ang="0">
                    <a:pos x="24" y="2"/>
                  </a:cxn>
                  <a:cxn ang="0">
                    <a:pos x="22" y="2"/>
                  </a:cxn>
                  <a:cxn ang="0">
                    <a:pos x="20" y="4"/>
                  </a:cxn>
                  <a:cxn ang="0">
                    <a:pos x="18" y="6"/>
                  </a:cxn>
                  <a:cxn ang="0">
                    <a:pos x="12" y="10"/>
                  </a:cxn>
                  <a:cxn ang="0">
                    <a:pos x="8" y="10"/>
                  </a:cxn>
                  <a:cxn ang="0">
                    <a:pos x="2" y="6"/>
                  </a:cxn>
                  <a:cxn ang="0">
                    <a:pos x="0" y="2"/>
                  </a:cxn>
                  <a:cxn ang="0">
                    <a:pos x="8" y="0"/>
                  </a:cxn>
                  <a:cxn ang="0">
                    <a:pos x="10" y="2"/>
                  </a:cxn>
                  <a:cxn ang="0">
                    <a:pos x="14" y="2"/>
                  </a:cxn>
                  <a:cxn ang="0">
                    <a:pos x="18" y="0"/>
                  </a:cxn>
                  <a:cxn ang="0">
                    <a:pos x="20" y="0"/>
                  </a:cxn>
                  <a:cxn ang="0">
                    <a:pos x="24" y="2"/>
                  </a:cxn>
                </a:cxnLst>
                <a:rect l="0" t="0" r="r" b="b"/>
                <a:pathLst>
                  <a:path w="24" h="10">
                    <a:moveTo>
                      <a:pt x="24" y="2"/>
                    </a:moveTo>
                    <a:lnTo>
                      <a:pt x="24" y="2"/>
                    </a:lnTo>
                    <a:lnTo>
                      <a:pt x="22" y="2"/>
                    </a:lnTo>
                    <a:lnTo>
                      <a:pt x="20" y="4"/>
                    </a:lnTo>
                    <a:lnTo>
                      <a:pt x="18" y="6"/>
                    </a:lnTo>
                    <a:lnTo>
                      <a:pt x="12" y="10"/>
                    </a:lnTo>
                    <a:lnTo>
                      <a:pt x="8" y="10"/>
                    </a:lnTo>
                    <a:lnTo>
                      <a:pt x="2" y="6"/>
                    </a:lnTo>
                    <a:lnTo>
                      <a:pt x="0" y="2"/>
                    </a:lnTo>
                    <a:lnTo>
                      <a:pt x="8" y="0"/>
                    </a:lnTo>
                    <a:lnTo>
                      <a:pt x="10" y="2"/>
                    </a:lnTo>
                    <a:lnTo>
                      <a:pt x="14" y="2"/>
                    </a:lnTo>
                    <a:lnTo>
                      <a:pt x="18" y="0"/>
                    </a:lnTo>
                    <a:lnTo>
                      <a:pt x="20" y="0"/>
                    </a:lnTo>
                    <a:lnTo>
                      <a:pt x="24" y="2"/>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399" name="Freeform 373">
                <a:extLst>
                  <a:ext uri="{FF2B5EF4-FFF2-40B4-BE49-F238E27FC236}">
                    <a16:creationId xmlns:a16="http://schemas.microsoft.com/office/drawing/2014/main" id="{17B131A2-51B3-447A-02D5-EA805D2D2256}"/>
                  </a:ext>
                </a:extLst>
              </p:cNvPr>
              <p:cNvSpPr>
                <a:spLocks noEditPoints="1"/>
              </p:cNvSpPr>
              <p:nvPr/>
            </p:nvSpPr>
            <p:spPr bwMode="auto">
              <a:xfrm>
                <a:off x="3773161" y="3896796"/>
                <a:ext cx="128350" cy="53798"/>
              </a:xfrm>
              <a:custGeom>
                <a:avLst/>
                <a:gdLst/>
                <a:ahLst/>
                <a:cxnLst>
                  <a:cxn ang="0">
                    <a:pos x="22" y="16"/>
                  </a:cxn>
                  <a:cxn ang="0">
                    <a:pos x="24" y="20"/>
                  </a:cxn>
                  <a:cxn ang="0">
                    <a:pos x="24" y="24"/>
                  </a:cxn>
                  <a:cxn ang="0">
                    <a:pos x="18" y="28"/>
                  </a:cxn>
                  <a:cxn ang="0">
                    <a:pos x="22" y="28"/>
                  </a:cxn>
                  <a:cxn ang="0">
                    <a:pos x="28" y="18"/>
                  </a:cxn>
                  <a:cxn ang="0">
                    <a:pos x="22" y="16"/>
                  </a:cxn>
                  <a:cxn ang="0">
                    <a:pos x="22" y="0"/>
                  </a:cxn>
                  <a:cxn ang="0">
                    <a:pos x="4" y="12"/>
                  </a:cxn>
                  <a:cxn ang="0">
                    <a:pos x="0" y="18"/>
                  </a:cxn>
                  <a:cxn ang="0">
                    <a:pos x="12" y="18"/>
                  </a:cxn>
                  <a:cxn ang="0">
                    <a:pos x="16" y="14"/>
                  </a:cxn>
                  <a:cxn ang="0">
                    <a:pos x="22" y="6"/>
                  </a:cxn>
                  <a:cxn ang="0">
                    <a:pos x="30" y="4"/>
                  </a:cxn>
                  <a:cxn ang="0">
                    <a:pos x="36" y="10"/>
                  </a:cxn>
                  <a:cxn ang="0">
                    <a:pos x="46" y="12"/>
                  </a:cxn>
                  <a:cxn ang="0">
                    <a:pos x="54" y="16"/>
                  </a:cxn>
                  <a:cxn ang="0">
                    <a:pos x="56" y="22"/>
                  </a:cxn>
                  <a:cxn ang="0">
                    <a:pos x="62" y="24"/>
                  </a:cxn>
                  <a:cxn ang="0">
                    <a:pos x="72" y="28"/>
                  </a:cxn>
                  <a:cxn ang="0">
                    <a:pos x="78" y="32"/>
                  </a:cxn>
                  <a:cxn ang="0">
                    <a:pos x="84" y="40"/>
                  </a:cxn>
                  <a:cxn ang="0">
                    <a:pos x="94" y="48"/>
                  </a:cxn>
                  <a:cxn ang="0">
                    <a:pos x="90" y="52"/>
                  </a:cxn>
                  <a:cxn ang="0">
                    <a:pos x="106" y="52"/>
                  </a:cxn>
                  <a:cxn ang="0">
                    <a:pos x="124" y="52"/>
                  </a:cxn>
                  <a:cxn ang="0">
                    <a:pos x="132" y="50"/>
                  </a:cxn>
                  <a:cxn ang="0">
                    <a:pos x="132" y="46"/>
                  </a:cxn>
                  <a:cxn ang="0">
                    <a:pos x="120" y="44"/>
                  </a:cxn>
                  <a:cxn ang="0">
                    <a:pos x="114" y="42"/>
                  </a:cxn>
                  <a:cxn ang="0">
                    <a:pos x="104" y="34"/>
                  </a:cxn>
                  <a:cxn ang="0">
                    <a:pos x="98" y="28"/>
                  </a:cxn>
                  <a:cxn ang="0">
                    <a:pos x="94" y="28"/>
                  </a:cxn>
                  <a:cxn ang="0">
                    <a:pos x="92" y="22"/>
                  </a:cxn>
                  <a:cxn ang="0">
                    <a:pos x="88" y="22"/>
                  </a:cxn>
                  <a:cxn ang="0">
                    <a:pos x="84" y="18"/>
                  </a:cxn>
                  <a:cxn ang="0">
                    <a:pos x="76" y="16"/>
                  </a:cxn>
                  <a:cxn ang="0">
                    <a:pos x="68" y="12"/>
                  </a:cxn>
                  <a:cxn ang="0">
                    <a:pos x="64" y="4"/>
                  </a:cxn>
                  <a:cxn ang="0">
                    <a:pos x="40" y="2"/>
                  </a:cxn>
                  <a:cxn ang="0">
                    <a:pos x="38" y="4"/>
                  </a:cxn>
                  <a:cxn ang="0">
                    <a:pos x="36" y="0"/>
                  </a:cxn>
                  <a:cxn ang="0">
                    <a:pos x="22" y="0"/>
                  </a:cxn>
                </a:cxnLst>
                <a:rect l="0" t="0" r="r" b="b"/>
                <a:pathLst>
                  <a:path w="132" h="56">
                    <a:moveTo>
                      <a:pt x="22" y="16"/>
                    </a:moveTo>
                    <a:lnTo>
                      <a:pt x="22" y="16"/>
                    </a:lnTo>
                    <a:lnTo>
                      <a:pt x="22" y="22"/>
                    </a:lnTo>
                    <a:lnTo>
                      <a:pt x="24" y="20"/>
                    </a:lnTo>
                    <a:lnTo>
                      <a:pt x="24" y="22"/>
                    </a:lnTo>
                    <a:lnTo>
                      <a:pt x="24" y="24"/>
                    </a:lnTo>
                    <a:lnTo>
                      <a:pt x="20" y="28"/>
                    </a:lnTo>
                    <a:lnTo>
                      <a:pt x="18" y="28"/>
                    </a:lnTo>
                    <a:lnTo>
                      <a:pt x="20" y="28"/>
                    </a:lnTo>
                    <a:lnTo>
                      <a:pt x="22" y="28"/>
                    </a:lnTo>
                    <a:lnTo>
                      <a:pt x="28" y="24"/>
                    </a:lnTo>
                    <a:lnTo>
                      <a:pt x="28" y="18"/>
                    </a:lnTo>
                    <a:lnTo>
                      <a:pt x="22" y="16"/>
                    </a:lnTo>
                    <a:lnTo>
                      <a:pt x="22" y="16"/>
                    </a:lnTo>
                    <a:close/>
                    <a:moveTo>
                      <a:pt x="22" y="0"/>
                    </a:moveTo>
                    <a:lnTo>
                      <a:pt x="22" y="0"/>
                    </a:lnTo>
                    <a:lnTo>
                      <a:pt x="12" y="4"/>
                    </a:lnTo>
                    <a:lnTo>
                      <a:pt x="4" y="12"/>
                    </a:lnTo>
                    <a:lnTo>
                      <a:pt x="4" y="16"/>
                    </a:lnTo>
                    <a:lnTo>
                      <a:pt x="0" y="18"/>
                    </a:lnTo>
                    <a:lnTo>
                      <a:pt x="6" y="20"/>
                    </a:lnTo>
                    <a:lnTo>
                      <a:pt x="12" y="18"/>
                    </a:lnTo>
                    <a:lnTo>
                      <a:pt x="12" y="14"/>
                    </a:lnTo>
                    <a:lnTo>
                      <a:pt x="16" y="14"/>
                    </a:lnTo>
                    <a:lnTo>
                      <a:pt x="18" y="10"/>
                    </a:lnTo>
                    <a:lnTo>
                      <a:pt x="22" y="6"/>
                    </a:lnTo>
                    <a:lnTo>
                      <a:pt x="26" y="6"/>
                    </a:lnTo>
                    <a:lnTo>
                      <a:pt x="30" y="4"/>
                    </a:lnTo>
                    <a:lnTo>
                      <a:pt x="36" y="6"/>
                    </a:lnTo>
                    <a:lnTo>
                      <a:pt x="36" y="10"/>
                    </a:lnTo>
                    <a:lnTo>
                      <a:pt x="40" y="12"/>
                    </a:lnTo>
                    <a:lnTo>
                      <a:pt x="46" y="12"/>
                    </a:lnTo>
                    <a:lnTo>
                      <a:pt x="50" y="16"/>
                    </a:lnTo>
                    <a:lnTo>
                      <a:pt x="54" y="16"/>
                    </a:lnTo>
                    <a:lnTo>
                      <a:pt x="54" y="18"/>
                    </a:lnTo>
                    <a:lnTo>
                      <a:pt x="56" y="22"/>
                    </a:lnTo>
                    <a:lnTo>
                      <a:pt x="58" y="22"/>
                    </a:lnTo>
                    <a:lnTo>
                      <a:pt x="62" y="24"/>
                    </a:lnTo>
                    <a:lnTo>
                      <a:pt x="64" y="28"/>
                    </a:lnTo>
                    <a:lnTo>
                      <a:pt x="72" y="28"/>
                    </a:lnTo>
                    <a:lnTo>
                      <a:pt x="78" y="26"/>
                    </a:lnTo>
                    <a:lnTo>
                      <a:pt x="78" y="32"/>
                    </a:lnTo>
                    <a:lnTo>
                      <a:pt x="80" y="36"/>
                    </a:lnTo>
                    <a:lnTo>
                      <a:pt x="84" y="40"/>
                    </a:lnTo>
                    <a:lnTo>
                      <a:pt x="94" y="44"/>
                    </a:lnTo>
                    <a:lnTo>
                      <a:pt x="94" y="48"/>
                    </a:lnTo>
                    <a:lnTo>
                      <a:pt x="92" y="50"/>
                    </a:lnTo>
                    <a:lnTo>
                      <a:pt x="90" y="52"/>
                    </a:lnTo>
                    <a:lnTo>
                      <a:pt x="90" y="56"/>
                    </a:lnTo>
                    <a:lnTo>
                      <a:pt x="106" y="52"/>
                    </a:lnTo>
                    <a:lnTo>
                      <a:pt x="122" y="50"/>
                    </a:lnTo>
                    <a:lnTo>
                      <a:pt x="124" y="52"/>
                    </a:lnTo>
                    <a:lnTo>
                      <a:pt x="126" y="52"/>
                    </a:lnTo>
                    <a:lnTo>
                      <a:pt x="132" y="50"/>
                    </a:lnTo>
                    <a:lnTo>
                      <a:pt x="132" y="48"/>
                    </a:lnTo>
                    <a:lnTo>
                      <a:pt x="132" y="46"/>
                    </a:lnTo>
                    <a:lnTo>
                      <a:pt x="126" y="42"/>
                    </a:lnTo>
                    <a:lnTo>
                      <a:pt x="120" y="44"/>
                    </a:lnTo>
                    <a:lnTo>
                      <a:pt x="116" y="44"/>
                    </a:lnTo>
                    <a:lnTo>
                      <a:pt x="114" y="42"/>
                    </a:lnTo>
                    <a:lnTo>
                      <a:pt x="116" y="34"/>
                    </a:lnTo>
                    <a:lnTo>
                      <a:pt x="104" y="34"/>
                    </a:lnTo>
                    <a:lnTo>
                      <a:pt x="102" y="32"/>
                    </a:lnTo>
                    <a:lnTo>
                      <a:pt x="98" y="28"/>
                    </a:lnTo>
                    <a:lnTo>
                      <a:pt x="96" y="28"/>
                    </a:lnTo>
                    <a:lnTo>
                      <a:pt x="94" y="28"/>
                    </a:lnTo>
                    <a:lnTo>
                      <a:pt x="94" y="24"/>
                    </a:lnTo>
                    <a:lnTo>
                      <a:pt x="92" y="22"/>
                    </a:lnTo>
                    <a:lnTo>
                      <a:pt x="90" y="20"/>
                    </a:lnTo>
                    <a:lnTo>
                      <a:pt x="88" y="22"/>
                    </a:lnTo>
                    <a:lnTo>
                      <a:pt x="88" y="18"/>
                    </a:lnTo>
                    <a:lnTo>
                      <a:pt x="84" y="18"/>
                    </a:lnTo>
                    <a:lnTo>
                      <a:pt x="82" y="16"/>
                    </a:lnTo>
                    <a:lnTo>
                      <a:pt x="76" y="16"/>
                    </a:lnTo>
                    <a:lnTo>
                      <a:pt x="70" y="14"/>
                    </a:lnTo>
                    <a:lnTo>
                      <a:pt x="68" y="12"/>
                    </a:lnTo>
                    <a:lnTo>
                      <a:pt x="66" y="10"/>
                    </a:lnTo>
                    <a:lnTo>
                      <a:pt x="64" y="4"/>
                    </a:lnTo>
                    <a:lnTo>
                      <a:pt x="52" y="4"/>
                    </a:lnTo>
                    <a:lnTo>
                      <a:pt x="40" y="2"/>
                    </a:lnTo>
                    <a:lnTo>
                      <a:pt x="40" y="4"/>
                    </a:lnTo>
                    <a:lnTo>
                      <a:pt x="38" y="4"/>
                    </a:lnTo>
                    <a:lnTo>
                      <a:pt x="36" y="4"/>
                    </a:lnTo>
                    <a:lnTo>
                      <a:pt x="36" y="0"/>
                    </a:lnTo>
                    <a:lnTo>
                      <a:pt x="30" y="0"/>
                    </a:lnTo>
                    <a:lnTo>
                      <a:pt x="22" y="0"/>
                    </a:lnTo>
                    <a:lnTo>
                      <a:pt x="2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00" name="Freeform 374">
                <a:extLst>
                  <a:ext uri="{FF2B5EF4-FFF2-40B4-BE49-F238E27FC236}">
                    <a16:creationId xmlns:a16="http://schemas.microsoft.com/office/drawing/2014/main" id="{A67FBADC-A393-45D5-D8B1-9AB0A0E378A5}"/>
                  </a:ext>
                </a:extLst>
              </p:cNvPr>
              <p:cNvSpPr>
                <a:spLocks/>
              </p:cNvSpPr>
              <p:nvPr/>
            </p:nvSpPr>
            <p:spPr bwMode="auto">
              <a:xfrm>
                <a:off x="3790663" y="3912167"/>
                <a:ext cx="9723" cy="11528"/>
              </a:xfrm>
              <a:custGeom>
                <a:avLst/>
                <a:gdLst/>
                <a:ahLst/>
                <a:cxnLst>
                  <a:cxn ang="0">
                    <a:pos x="4" y="0"/>
                  </a:cxn>
                  <a:cxn ang="0">
                    <a:pos x="4" y="0"/>
                  </a:cxn>
                  <a:cxn ang="0">
                    <a:pos x="4" y="6"/>
                  </a:cxn>
                  <a:cxn ang="0">
                    <a:pos x="6" y="4"/>
                  </a:cxn>
                  <a:cxn ang="0">
                    <a:pos x="6" y="6"/>
                  </a:cxn>
                  <a:cxn ang="0">
                    <a:pos x="6" y="8"/>
                  </a:cxn>
                  <a:cxn ang="0">
                    <a:pos x="2" y="12"/>
                  </a:cxn>
                  <a:cxn ang="0">
                    <a:pos x="0" y="12"/>
                  </a:cxn>
                  <a:cxn ang="0">
                    <a:pos x="2" y="12"/>
                  </a:cxn>
                  <a:cxn ang="0">
                    <a:pos x="4" y="12"/>
                  </a:cxn>
                  <a:cxn ang="0">
                    <a:pos x="10" y="8"/>
                  </a:cxn>
                  <a:cxn ang="0">
                    <a:pos x="10" y="2"/>
                  </a:cxn>
                  <a:cxn ang="0">
                    <a:pos x="4" y="0"/>
                  </a:cxn>
                  <a:cxn ang="0">
                    <a:pos x="4" y="0"/>
                  </a:cxn>
                </a:cxnLst>
                <a:rect l="0" t="0" r="r" b="b"/>
                <a:pathLst>
                  <a:path w="10" h="12">
                    <a:moveTo>
                      <a:pt x="4" y="0"/>
                    </a:moveTo>
                    <a:lnTo>
                      <a:pt x="4" y="0"/>
                    </a:lnTo>
                    <a:lnTo>
                      <a:pt x="4" y="6"/>
                    </a:lnTo>
                    <a:lnTo>
                      <a:pt x="6" y="4"/>
                    </a:lnTo>
                    <a:lnTo>
                      <a:pt x="6" y="6"/>
                    </a:lnTo>
                    <a:lnTo>
                      <a:pt x="6" y="8"/>
                    </a:lnTo>
                    <a:lnTo>
                      <a:pt x="2" y="12"/>
                    </a:lnTo>
                    <a:lnTo>
                      <a:pt x="0" y="12"/>
                    </a:lnTo>
                    <a:lnTo>
                      <a:pt x="2" y="12"/>
                    </a:lnTo>
                    <a:lnTo>
                      <a:pt x="4" y="12"/>
                    </a:lnTo>
                    <a:lnTo>
                      <a:pt x="10" y="8"/>
                    </a:lnTo>
                    <a:lnTo>
                      <a:pt x="10" y="2"/>
                    </a:lnTo>
                    <a:lnTo>
                      <a:pt x="4" y="0"/>
                    </a:lnTo>
                    <a:lnTo>
                      <a:pt x="4"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01" name="Freeform 375">
                <a:extLst>
                  <a:ext uri="{FF2B5EF4-FFF2-40B4-BE49-F238E27FC236}">
                    <a16:creationId xmlns:a16="http://schemas.microsoft.com/office/drawing/2014/main" id="{57FB8D3B-958C-4DAA-EB8C-9146B252C0CD}"/>
                  </a:ext>
                </a:extLst>
              </p:cNvPr>
              <p:cNvSpPr>
                <a:spLocks/>
              </p:cNvSpPr>
              <p:nvPr/>
            </p:nvSpPr>
            <p:spPr bwMode="auto">
              <a:xfrm>
                <a:off x="5006097" y="3502915"/>
                <a:ext cx="75843" cy="80698"/>
              </a:xfrm>
              <a:custGeom>
                <a:avLst/>
                <a:gdLst/>
                <a:ahLst/>
                <a:cxnLst>
                  <a:cxn ang="0">
                    <a:pos x="68" y="84"/>
                  </a:cxn>
                  <a:cxn ang="0">
                    <a:pos x="60" y="76"/>
                  </a:cxn>
                  <a:cxn ang="0">
                    <a:pos x="54" y="72"/>
                  </a:cxn>
                  <a:cxn ang="0">
                    <a:pos x="44" y="62"/>
                  </a:cxn>
                  <a:cxn ang="0">
                    <a:pos x="36" y="52"/>
                  </a:cxn>
                  <a:cxn ang="0">
                    <a:pos x="38" y="50"/>
                  </a:cxn>
                  <a:cxn ang="0">
                    <a:pos x="30" y="38"/>
                  </a:cxn>
                  <a:cxn ang="0">
                    <a:pos x="30" y="32"/>
                  </a:cxn>
                  <a:cxn ang="0">
                    <a:pos x="34" y="32"/>
                  </a:cxn>
                  <a:cxn ang="0">
                    <a:pos x="38" y="36"/>
                  </a:cxn>
                  <a:cxn ang="0">
                    <a:pos x="40" y="34"/>
                  </a:cxn>
                  <a:cxn ang="0">
                    <a:pos x="46" y="38"/>
                  </a:cxn>
                  <a:cxn ang="0">
                    <a:pos x="50" y="36"/>
                  </a:cxn>
                  <a:cxn ang="0">
                    <a:pos x="58" y="36"/>
                  </a:cxn>
                  <a:cxn ang="0">
                    <a:pos x="66" y="40"/>
                  </a:cxn>
                  <a:cxn ang="0">
                    <a:pos x="72" y="42"/>
                  </a:cxn>
                  <a:cxn ang="0">
                    <a:pos x="78" y="40"/>
                  </a:cxn>
                  <a:cxn ang="0">
                    <a:pos x="76" y="34"/>
                  </a:cxn>
                  <a:cxn ang="0">
                    <a:pos x="76" y="30"/>
                  </a:cxn>
                  <a:cxn ang="0">
                    <a:pos x="76" y="28"/>
                  </a:cxn>
                  <a:cxn ang="0">
                    <a:pos x="72" y="28"/>
                  </a:cxn>
                  <a:cxn ang="0">
                    <a:pos x="64" y="24"/>
                  </a:cxn>
                  <a:cxn ang="0">
                    <a:pos x="52" y="14"/>
                  </a:cxn>
                  <a:cxn ang="0">
                    <a:pos x="46" y="4"/>
                  </a:cxn>
                  <a:cxn ang="0">
                    <a:pos x="40" y="0"/>
                  </a:cxn>
                  <a:cxn ang="0">
                    <a:pos x="36" y="2"/>
                  </a:cxn>
                  <a:cxn ang="0">
                    <a:pos x="30" y="6"/>
                  </a:cxn>
                  <a:cxn ang="0">
                    <a:pos x="26" y="8"/>
                  </a:cxn>
                  <a:cxn ang="0">
                    <a:pos x="22" y="20"/>
                  </a:cxn>
                  <a:cxn ang="0">
                    <a:pos x="20" y="20"/>
                  </a:cxn>
                  <a:cxn ang="0">
                    <a:pos x="18" y="16"/>
                  </a:cxn>
                  <a:cxn ang="0">
                    <a:pos x="18" y="22"/>
                  </a:cxn>
                  <a:cxn ang="0">
                    <a:pos x="12" y="28"/>
                  </a:cxn>
                  <a:cxn ang="0">
                    <a:pos x="0" y="32"/>
                  </a:cxn>
                  <a:cxn ang="0">
                    <a:pos x="2" y="44"/>
                  </a:cxn>
                  <a:cxn ang="0">
                    <a:pos x="6" y="40"/>
                  </a:cxn>
                  <a:cxn ang="0">
                    <a:pos x="10" y="38"/>
                  </a:cxn>
                  <a:cxn ang="0">
                    <a:pos x="16" y="32"/>
                  </a:cxn>
                  <a:cxn ang="0">
                    <a:pos x="16" y="44"/>
                  </a:cxn>
                  <a:cxn ang="0">
                    <a:pos x="24" y="52"/>
                  </a:cxn>
                  <a:cxn ang="0">
                    <a:pos x="20" y="54"/>
                  </a:cxn>
                  <a:cxn ang="0">
                    <a:pos x="26" y="62"/>
                  </a:cxn>
                  <a:cxn ang="0">
                    <a:pos x="32" y="64"/>
                  </a:cxn>
                  <a:cxn ang="0">
                    <a:pos x="36" y="66"/>
                  </a:cxn>
                  <a:cxn ang="0">
                    <a:pos x="52" y="76"/>
                  </a:cxn>
                  <a:cxn ang="0">
                    <a:pos x="58" y="76"/>
                  </a:cxn>
                  <a:cxn ang="0">
                    <a:pos x="64" y="84"/>
                  </a:cxn>
                  <a:cxn ang="0">
                    <a:pos x="68" y="84"/>
                  </a:cxn>
                </a:cxnLst>
                <a:rect l="0" t="0" r="r" b="b"/>
                <a:pathLst>
                  <a:path w="78" h="84">
                    <a:moveTo>
                      <a:pt x="68" y="84"/>
                    </a:moveTo>
                    <a:lnTo>
                      <a:pt x="68" y="84"/>
                    </a:lnTo>
                    <a:lnTo>
                      <a:pt x="64" y="80"/>
                    </a:lnTo>
                    <a:lnTo>
                      <a:pt x="60" y="76"/>
                    </a:lnTo>
                    <a:lnTo>
                      <a:pt x="58" y="74"/>
                    </a:lnTo>
                    <a:lnTo>
                      <a:pt x="54" y="72"/>
                    </a:lnTo>
                    <a:lnTo>
                      <a:pt x="50" y="68"/>
                    </a:lnTo>
                    <a:lnTo>
                      <a:pt x="44" y="62"/>
                    </a:lnTo>
                    <a:lnTo>
                      <a:pt x="38" y="54"/>
                    </a:lnTo>
                    <a:lnTo>
                      <a:pt x="36" y="52"/>
                    </a:lnTo>
                    <a:lnTo>
                      <a:pt x="38" y="52"/>
                    </a:lnTo>
                    <a:lnTo>
                      <a:pt x="38" y="50"/>
                    </a:lnTo>
                    <a:lnTo>
                      <a:pt x="34" y="42"/>
                    </a:lnTo>
                    <a:lnTo>
                      <a:pt x="30" y="38"/>
                    </a:lnTo>
                    <a:lnTo>
                      <a:pt x="30" y="34"/>
                    </a:lnTo>
                    <a:lnTo>
                      <a:pt x="30" y="32"/>
                    </a:lnTo>
                    <a:lnTo>
                      <a:pt x="32" y="32"/>
                    </a:lnTo>
                    <a:lnTo>
                      <a:pt x="34" y="32"/>
                    </a:lnTo>
                    <a:lnTo>
                      <a:pt x="36" y="36"/>
                    </a:lnTo>
                    <a:lnTo>
                      <a:pt x="38" y="36"/>
                    </a:lnTo>
                    <a:lnTo>
                      <a:pt x="40" y="36"/>
                    </a:lnTo>
                    <a:lnTo>
                      <a:pt x="40" y="34"/>
                    </a:lnTo>
                    <a:lnTo>
                      <a:pt x="42" y="36"/>
                    </a:lnTo>
                    <a:lnTo>
                      <a:pt x="46" y="38"/>
                    </a:lnTo>
                    <a:lnTo>
                      <a:pt x="48" y="38"/>
                    </a:lnTo>
                    <a:lnTo>
                      <a:pt x="50" y="36"/>
                    </a:lnTo>
                    <a:lnTo>
                      <a:pt x="54" y="36"/>
                    </a:lnTo>
                    <a:lnTo>
                      <a:pt x="58" y="36"/>
                    </a:lnTo>
                    <a:lnTo>
                      <a:pt x="64" y="38"/>
                    </a:lnTo>
                    <a:lnTo>
                      <a:pt x="66" y="40"/>
                    </a:lnTo>
                    <a:lnTo>
                      <a:pt x="68" y="42"/>
                    </a:lnTo>
                    <a:lnTo>
                      <a:pt x="72" y="42"/>
                    </a:lnTo>
                    <a:lnTo>
                      <a:pt x="76" y="42"/>
                    </a:lnTo>
                    <a:lnTo>
                      <a:pt x="78" y="40"/>
                    </a:lnTo>
                    <a:lnTo>
                      <a:pt x="78" y="38"/>
                    </a:lnTo>
                    <a:lnTo>
                      <a:pt x="76" y="34"/>
                    </a:lnTo>
                    <a:lnTo>
                      <a:pt x="76" y="32"/>
                    </a:lnTo>
                    <a:lnTo>
                      <a:pt x="76" y="30"/>
                    </a:lnTo>
                    <a:lnTo>
                      <a:pt x="78" y="28"/>
                    </a:lnTo>
                    <a:lnTo>
                      <a:pt x="76" y="28"/>
                    </a:lnTo>
                    <a:lnTo>
                      <a:pt x="74" y="28"/>
                    </a:lnTo>
                    <a:lnTo>
                      <a:pt x="72" y="28"/>
                    </a:lnTo>
                    <a:lnTo>
                      <a:pt x="68" y="26"/>
                    </a:lnTo>
                    <a:lnTo>
                      <a:pt x="64" y="24"/>
                    </a:lnTo>
                    <a:lnTo>
                      <a:pt x="58" y="20"/>
                    </a:lnTo>
                    <a:lnTo>
                      <a:pt x="52" y="14"/>
                    </a:lnTo>
                    <a:lnTo>
                      <a:pt x="48" y="8"/>
                    </a:lnTo>
                    <a:lnTo>
                      <a:pt x="46" y="4"/>
                    </a:lnTo>
                    <a:lnTo>
                      <a:pt x="44" y="2"/>
                    </a:lnTo>
                    <a:lnTo>
                      <a:pt x="40" y="0"/>
                    </a:lnTo>
                    <a:lnTo>
                      <a:pt x="38" y="2"/>
                    </a:lnTo>
                    <a:lnTo>
                      <a:pt x="36" y="2"/>
                    </a:lnTo>
                    <a:lnTo>
                      <a:pt x="34" y="6"/>
                    </a:lnTo>
                    <a:lnTo>
                      <a:pt x="30" y="6"/>
                    </a:lnTo>
                    <a:lnTo>
                      <a:pt x="28" y="6"/>
                    </a:lnTo>
                    <a:lnTo>
                      <a:pt x="26" y="8"/>
                    </a:lnTo>
                    <a:lnTo>
                      <a:pt x="24" y="16"/>
                    </a:lnTo>
                    <a:lnTo>
                      <a:pt x="22" y="20"/>
                    </a:lnTo>
                    <a:lnTo>
                      <a:pt x="20" y="20"/>
                    </a:lnTo>
                    <a:lnTo>
                      <a:pt x="20" y="20"/>
                    </a:lnTo>
                    <a:lnTo>
                      <a:pt x="18" y="18"/>
                    </a:lnTo>
                    <a:lnTo>
                      <a:pt x="18" y="16"/>
                    </a:lnTo>
                    <a:lnTo>
                      <a:pt x="16" y="18"/>
                    </a:lnTo>
                    <a:lnTo>
                      <a:pt x="18" y="22"/>
                    </a:lnTo>
                    <a:lnTo>
                      <a:pt x="16" y="26"/>
                    </a:lnTo>
                    <a:lnTo>
                      <a:pt x="12" y="28"/>
                    </a:lnTo>
                    <a:lnTo>
                      <a:pt x="8" y="30"/>
                    </a:lnTo>
                    <a:lnTo>
                      <a:pt x="0" y="32"/>
                    </a:lnTo>
                    <a:lnTo>
                      <a:pt x="2" y="38"/>
                    </a:lnTo>
                    <a:lnTo>
                      <a:pt x="2" y="44"/>
                    </a:lnTo>
                    <a:lnTo>
                      <a:pt x="6" y="42"/>
                    </a:lnTo>
                    <a:lnTo>
                      <a:pt x="6" y="40"/>
                    </a:lnTo>
                    <a:lnTo>
                      <a:pt x="8" y="38"/>
                    </a:lnTo>
                    <a:lnTo>
                      <a:pt x="10" y="38"/>
                    </a:lnTo>
                    <a:lnTo>
                      <a:pt x="14" y="28"/>
                    </a:lnTo>
                    <a:lnTo>
                      <a:pt x="16" y="32"/>
                    </a:lnTo>
                    <a:lnTo>
                      <a:pt x="18" y="36"/>
                    </a:lnTo>
                    <a:lnTo>
                      <a:pt x="16" y="44"/>
                    </a:lnTo>
                    <a:lnTo>
                      <a:pt x="22" y="50"/>
                    </a:lnTo>
                    <a:lnTo>
                      <a:pt x="24" y="52"/>
                    </a:lnTo>
                    <a:lnTo>
                      <a:pt x="22" y="54"/>
                    </a:lnTo>
                    <a:lnTo>
                      <a:pt x="20" y="54"/>
                    </a:lnTo>
                    <a:lnTo>
                      <a:pt x="20" y="58"/>
                    </a:lnTo>
                    <a:lnTo>
                      <a:pt x="26" y="62"/>
                    </a:lnTo>
                    <a:lnTo>
                      <a:pt x="30" y="62"/>
                    </a:lnTo>
                    <a:lnTo>
                      <a:pt x="32" y="64"/>
                    </a:lnTo>
                    <a:lnTo>
                      <a:pt x="32" y="66"/>
                    </a:lnTo>
                    <a:lnTo>
                      <a:pt x="36" y="66"/>
                    </a:lnTo>
                    <a:lnTo>
                      <a:pt x="40" y="64"/>
                    </a:lnTo>
                    <a:lnTo>
                      <a:pt x="52" y="76"/>
                    </a:lnTo>
                    <a:lnTo>
                      <a:pt x="56" y="76"/>
                    </a:lnTo>
                    <a:lnTo>
                      <a:pt x="58" y="76"/>
                    </a:lnTo>
                    <a:lnTo>
                      <a:pt x="60" y="80"/>
                    </a:lnTo>
                    <a:lnTo>
                      <a:pt x="64" y="84"/>
                    </a:lnTo>
                    <a:lnTo>
                      <a:pt x="68" y="84"/>
                    </a:lnTo>
                    <a:lnTo>
                      <a:pt x="68" y="8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02" name="Freeform 376">
                <a:extLst>
                  <a:ext uri="{FF2B5EF4-FFF2-40B4-BE49-F238E27FC236}">
                    <a16:creationId xmlns:a16="http://schemas.microsoft.com/office/drawing/2014/main" id="{6BEB1E58-C109-3D28-1C8E-6AE6AD725393}"/>
                  </a:ext>
                </a:extLst>
              </p:cNvPr>
              <p:cNvSpPr>
                <a:spLocks/>
              </p:cNvSpPr>
              <p:nvPr/>
            </p:nvSpPr>
            <p:spPr bwMode="auto">
              <a:xfrm>
                <a:off x="4974982" y="4202294"/>
                <a:ext cx="95290" cy="128732"/>
              </a:xfrm>
              <a:custGeom>
                <a:avLst/>
                <a:gdLst/>
                <a:ahLst/>
                <a:cxnLst>
                  <a:cxn ang="0">
                    <a:pos x="12" y="132"/>
                  </a:cxn>
                  <a:cxn ang="0">
                    <a:pos x="18" y="130"/>
                  </a:cxn>
                  <a:cxn ang="0">
                    <a:pos x="24" y="128"/>
                  </a:cxn>
                  <a:cxn ang="0">
                    <a:pos x="30" y="130"/>
                  </a:cxn>
                  <a:cxn ang="0">
                    <a:pos x="38" y="130"/>
                  </a:cxn>
                  <a:cxn ang="0">
                    <a:pos x="40" y="122"/>
                  </a:cxn>
                  <a:cxn ang="0">
                    <a:pos x="48" y="122"/>
                  </a:cxn>
                  <a:cxn ang="0">
                    <a:pos x="54" y="134"/>
                  </a:cxn>
                  <a:cxn ang="0">
                    <a:pos x="68" y="122"/>
                  </a:cxn>
                  <a:cxn ang="0">
                    <a:pos x="74" y="106"/>
                  </a:cxn>
                  <a:cxn ang="0">
                    <a:pos x="76" y="92"/>
                  </a:cxn>
                  <a:cxn ang="0">
                    <a:pos x="82" y="78"/>
                  </a:cxn>
                  <a:cxn ang="0">
                    <a:pos x="84" y="66"/>
                  </a:cxn>
                  <a:cxn ang="0">
                    <a:pos x="90" y="46"/>
                  </a:cxn>
                  <a:cxn ang="0">
                    <a:pos x="90" y="28"/>
                  </a:cxn>
                  <a:cxn ang="0">
                    <a:pos x="96" y="16"/>
                  </a:cxn>
                  <a:cxn ang="0">
                    <a:pos x="88" y="4"/>
                  </a:cxn>
                  <a:cxn ang="0">
                    <a:pos x="78" y="4"/>
                  </a:cxn>
                  <a:cxn ang="0">
                    <a:pos x="74" y="12"/>
                  </a:cxn>
                  <a:cxn ang="0">
                    <a:pos x="68" y="20"/>
                  </a:cxn>
                  <a:cxn ang="0">
                    <a:pos x="56" y="24"/>
                  </a:cxn>
                  <a:cxn ang="0">
                    <a:pos x="48" y="20"/>
                  </a:cxn>
                  <a:cxn ang="0">
                    <a:pos x="32" y="28"/>
                  </a:cxn>
                  <a:cxn ang="0">
                    <a:pos x="34" y="34"/>
                  </a:cxn>
                  <a:cxn ang="0">
                    <a:pos x="48" y="34"/>
                  </a:cxn>
                  <a:cxn ang="0">
                    <a:pos x="42" y="44"/>
                  </a:cxn>
                  <a:cxn ang="0">
                    <a:pos x="38" y="56"/>
                  </a:cxn>
                  <a:cxn ang="0">
                    <a:pos x="40" y="60"/>
                  </a:cxn>
                  <a:cxn ang="0">
                    <a:pos x="42" y="72"/>
                  </a:cxn>
                  <a:cxn ang="0">
                    <a:pos x="44" y="80"/>
                  </a:cxn>
                  <a:cxn ang="0">
                    <a:pos x="46" y="86"/>
                  </a:cxn>
                  <a:cxn ang="0">
                    <a:pos x="44" y="100"/>
                  </a:cxn>
                  <a:cxn ang="0">
                    <a:pos x="38" y="92"/>
                  </a:cxn>
                  <a:cxn ang="0">
                    <a:pos x="26" y="94"/>
                  </a:cxn>
                  <a:cxn ang="0">
                    <a:pos x="20" y="90"/>
                  </a:cxn>
                  <a:cxn ang="0">
                    <a:pos x="14" y="94"/>
                  </a:cxn>
                  <a:cxn ang="0">
                    <a:pos x="14" y="100"/>
                  </a:cxn>
                  <a:cxn ang="0">
                    <a:pos x="12" y="106"/>
                  </a:cxn>
                  <a:cxn ang="0">
                    <a:pos x="14" y="118"/>
                  </a:cxn>
                  <a:cxn ang="0">
                    <a:pos x="4" y="114"/>
                  </a:cxn>
                  <a:cxn ang="0">
                    <a:pos x="0" y="124"/>
                  </a:cxn>
                  <a:cxn ang="0">
                    <a:pos x="6" y="130"/>
                  </a:cxn>
                  <a:cxn ang="0">
                    <a:pos x="12" y="134"/>
                  </a:cxn>
                </a:cxnLst>
                <a:rect l="0" t="0" r="r" b="b"/>
                <a:pathLst>
                  <a:path w="98" h="134">
                    <a:moveTo>
                      <a:pt x="12" y="134"/>
                    </a:moveTo>
                    <a:lnTo>
                      <a:pt x="12" y="134"/>
                    </a:lnTo>
                    <a:lnTo>
                      <a:pt x="12" y="132"/>
                    </a:lnTo>
                    <a:lnTo>
                      <a:pt x="16" y="132"/>
                    </a:lnTo>
                    <a:lnTo>
                      <a:pt x="20" y="132"/>
                    </a:lnTo>
                    <a:lnTo>
                      <a:pt x="18" y="130"/>
                    </a:lnTo>
                    <a:lnTo>
                      <a:pt x="20" y="128"/>
                    </a:lnTo>
                    <a:lnTo>
                      <a:pt x="22" y="128"/>
                    </a:lnTo>
                    <a:lnTo>
                      <a:pt x="24" y="128"/>
                    </a:lnTo>
                    <a:lnTo>
                      <a:pt x="26" y="130"/>
                    </a:lnTo>
                    <a:lnTo>
                      <a:pt x="28" y="130"/>
                    </a:lnTo>
                    <a:lnTo>
                      <a:pt x="30" y="130"/>
                    </a:lnTo>
                    <a:lnTo>
                      <a:pt x="32" y="128"/>
                    </a:lnTo>
                    <a:lnTo>
                      <a:pt x="34" y="128"/>
                    </a:lnTo>
                    <a:lnTo>
                      <a:pt x="38" y="130"/>
                    </a:lnTo>
                    <a:lnTo>
                      <a:pt x="40" y="128"/>
                    </a:lnTo>
                    <a:lnTo>
                      <a:pt x="40" y="126"/>
                    </a:lnTo>
                    <a:lnTo>
                      <a:pt x="40" y="122"/>
                    </a:lnTo>
                    <a:lnTo>
                      <a:pt x="44" y="124"/>
                    </a:lnTo>
                    <a:lnTo>
                      <a:pt x="48" y="124"/>
                    </a:lnTo>
                    <a:lnTo>
                      <a:pt x="48" y="122"/>
                    </a:lnTo>
                    <a:lnTo>
                      <a:pt x="48" y="132"/>
                    </a:lnTo>
                    <a:lnTo>
                      <a:pt x="50" y="134"/>
                    </a:lnTo>
                    <a:lnTo>
                      <a:pt x="54" y="134"/>
                    </a:lnTo>
                    <a:lnTo>
                      <a:pt x="62" y="132"/>
                    </a:lnTo>
                    <a:lnTo>
                      <a:pt x="68" y="126"/>
                    </a:lnTo>
                    <a:lnTo>
                      <a:pt x="68" y="122"/>
                    </a:lnTo>
                    <a:lnTo>
                      <a:pt x="72" y="116"/>
                    </a:lnTo>
                    <a:lnTo>
                      <a:pt x="72" y="110"/>
                    </a:lnTo>
                    <a:lnTo>
                      <a:pt x="74" y="106"/>
                    </a:lnTo>
                    <a:lnTo>
                      <a:pt x="74" y="102"/>
                    </a:lnTo>
                    <a:lnTo>
                      <a:pt x="74" y="96"/>
                    </a:lnTo>
                    <a:lnTo>
                      <a:pt x="76" y="92"/>
                    </a:lnTo>
                    <a:lnTo>
                      <a:pt x="78" y="86"/>
                    </a:lnTo>
                    <a:lnTo>
                      <a:pt x="78" y="80"/>
                    </a:lnTo>
                    <a:lnTo>
                      <a:pt x="82" y="78"/>
                    </a:lnTo>
                    <a:lnTo>
                      <a:pt x="82" y="78"/>
                    </a:lnTo>
                    <a:lnTo>
                      <a:pt x="84" y="72"/>
                    </a:lnTo>
                    <a:lnTo>
                      <a:pt x="84" y="66"/>
                    </a:lnTo>
                    <a:lnTo>
                      <a:pt x="88" y="60"/>
                    </a:lnTo>
                    <a:lnTo>
                      <a:pt x="90" y="54"/>
                    </a:lnTo>
                    <a:lnTo>
                      <a:pt x="90" y="46"/>
                    </a:lnTo>
                    <a:lnTo>
                      <a:pt x="90" y="40"/>
                    </a:lnTo>
                    <a:lnTo>
                      <a:pt x="90" y="34"/>
                    </a:lnTo>
                    <a:lnTo>
                      <a:pt x="90" y="28"/>
                    </a:lnTo>
                    <a:lnTo>
                      <a:pt x="92" y="24"/>
                    </a:lnTo>
                    <a:lnTo>
                      <a:pt x="92" y="20"/>
                    </a:lnTo>
                    <a:lnTo>
                      <a:pt x="96" y="16"/>
                    </a:lnTo>
                    <a:lnTo>
                      <a:pt x="98" y="10"/>
                    </a:lnTo>
                    <a:lnTo>
                      <a:pt x="98" y="0"/>
                    </a:lnTo>
                    <a:lnTo>
                      <a:pt x="88" y="4"/>
                    </a:lnTo>
                    <a:lnTo>
                      <a:pt x="86" y="4"/>
                    </a:lnTo>
                    <a:lnTo>
                      <a:pt x="82" y="2"/>
                    </a:lnTo>
                    <a:lnTo>
                      <a:pt x="78" y="4"/>
                    </a:lnTo>
                    <a:lnTo>
                      <a:pt x="78" y="8"/>
                    </a:lnTo>
                    <a:lnTo>
                      <a:pt x="76" y="10"/>
                    </a:lnTo>
                    <a:lnTo>
                      <a:pt x="74" y="12"/>
                    </a:lnTo>
                    <a:lnTo>
                      <a:pt x="72" y="12"/>
                    </a:lnTo>
                    <a:lnTo>
                      <a:pt x="70" y="14"/>
                    </a:lnTo>
                    <a:lnTo>
                      <a:pt x="68" y="20"/>
                    </a:lnTo>
                    <a:lnTo>
                      <a:pt x="70" y="26"/>
                    </a:lnTo>
                    <a:lnTo>
                      <a:pt x="64" y="24"/>
                    </a:lnTo>
                    <a:lnTo>
                      <a:pt x="56" y="24"/>
                    </a:lnTo>
                    <a:lnTo>
                      <a:pt x="52" y="24"/>
                    </a:lnTo>
                    <a:lnTo>
                      <a:pt x="50" y="22"/>
                    </a:lnTo>
                    <a:lnTo>
                      <a:pt x="48" y="20"/>
                    </a:lnTo>
                    <a:lnTo>
                      <a:pt x="42" y="20"/>
                    </a:lnTo>
                    <a:lnTo>
                      <a:pt x="32" y="20"/>
                    </a:lnTo>
                    <a:lnTo>
                      <a:pt x="32" y="28"/>
                    </a:lnTo>
                    <a:lnTo>
                      <a:pt x="32" y="32"/>
                    </a:lnTo>
                    <a:lnTo>
                      <a:pt x="32" y="34"/>
                    </a:lnTo>
                    <a:lnTo>
                      <a:pt x="34" y="34"/>
                    </a:lnTo>
                    <a:lnTo>
                      <a:pt x="38" y="32"/>
                    </a:lnTo>
                    <a:lnTo>
                      <a:pt x="42" y="32"/>
                    </a:lnTo>
                    <a:lnTo>
                      <a:pt x="48" y="34"/>
                    </a:lnTo>
                    <a:lnTo>
                      <a:pt x="48" y="44"/>
                    </a:lnTo>
                    <a:lnTo>
                      <a:pt x="46" y="44"/>
                    </a:lnTo>
                    <a:lnTo>
                      <a:pt x="42" y="44"/>
                    </a:lnTo>
                    <a:lnTo>
                      <a:pt x="38" y="46"/>
                    </a:lnTo>
                    <a:lnTo>
                      <a:pt x="36" y="50"/>
                    </a:lnTo>
                    <a:lnTo>
                      <a:pt x="38" y="56"/>
                    </a:lnTo>
                    <a:lnTo>
                      <a:pt x="36" y="56"/>
                    </a:lnTo>
                    <a:lnTo>
                      <a:pt x="36" y="58"/>
                    </a:lnTo>
                    <a:lnTo>
                      <a:pt x="40" y="60"/>
                    </a:lnTo>
                    <a:lnTo>
                      <a:pt x="42" y="64"/>
                    </a:lnTo>
                    <a:lnTo>
                      <a:pt x="42" y="68"/>
                    </a:lnTo>
                    <a:lnTo>
                      <a:pt x="42" y="72"/>
                    </a:lnTo>
                    <a:lnTo>
                      <a:pt x="42" y="76"/>
                    </a:lnTo>
                    <a:lnTo>
                      <a:pt x="44" y="78"/>
                    </a:lnTo>
                    <a:lnTo>
                      <a:pt x="44" y="80"/>
                    </a:lnTo>
                    <a:lnTo>
                      <a:pt x="42" y="82"/>
                    </a:lnTo>
                    <a:lnTo>
                      <a:pt x="42" y="84"/>
                    </a:lnTo>
                    <a:lnTo>
                      <a:pt x="46" y="86"/>
                    </a:lnTo>
                    <a:lnTo>
                      <a:pt x="46" y="92"/>
                    </a:lnTo>
                    <a:lnTo>
                      <a:pt x="44" y="98"/>
                    </a:lnTo>
                    <a:lnTo>
                      <a:pt x="44" y="100"/>
                    </a:lnTo>
                    <a:lnTo>
                      <a:pt x="42" y="98"/>
                    </a:lnTo>
                    <a:lnTo>
                      <a:pt x="38" y="94"/>
                    </a:lnTo>
                    <a:lnTo>
                      <a:pt x="38" y="92"/>
                    </a:lnTo>
                    <a:lnTo>
                      <a:pt x="36" y="92"/>
                    </a:lnTo>
                    <a:lnTo>
                      <a:pt x="30" y="92"/>
                    </a:lnTo>
                    <a:lnTo>
                      <a:pt x="26" y="94"/>
                    </a:lnTo>
                    <a:lnTo>
                      <a:pt x="26" y="92"/>
                    </a:lnTo>
                    <a:lnTo>
                      <a:pt x="22" y="90"/>
                    </a:lnTo>
                    <a:lnTo>
                      <a:pt x="20" y="90"/>
                    </a:lnTo>
                    <a:lnTo>
                      <a:pt x="22" y="94"/>
                    </a:lnTo>
                    <a:lnTo>
                      <a:pt x="20" y="94"/>
                    </a:lnTo>
                    <a:lnTo>
                      <a:pt x="14" y="94"/>
                    </a:lnTo>
                    <a:lnTo>
                      <a:pt x="12" y="94"/>
                    </a:lnTo>
                    <a:lnTo>
                      <a:pt x="12" y="98"/>
                    </a:lnTo>
                    <a:lnTo>
                      <a:pt x="14" y="100"/>
                    </a:lnTo>
                    <a:lnTo>
                      <a:pt x="12" y="102"/>
                    </a:lnTo>
                    <a:lnTo>
                      <a:pt x="12" y="104"/>
                    </a:lnTo>
                    <a:lnTo>
                      <a:pt x="12" y="106"/>
                    </a:lnTo>
                    <a:lnTo>
                      <a:pt x="14" y="112"/>
                    </a:lnTo>
                    <a:lnTo>
                      <a:pt x="16" y="116"/>
                    </a:lnTo>
                    <a:lnTo>
                      <a:pt x="14" y="118"/>
                    </a:lnTo>
                    <a:lnTo>
                      <a:pt x="12" y="118"/>
                    </a:lnTo>
                    <a:lnTo>
                      <a:pt x="8" y="116"/>
                    </a:lnTo>
                    <a:lnTo>
                      <a:pt x="4" y="114"/>
                    </a:lnTo>
                    <a:lnTo>
                      <a:pt x="2" y="116"/>
                    </a:lnTo>
                    <a:lnTo>
                      <a:pt x="0" y="120"/>
                    </a:lnTo>
                    <a:lnTo>
                      <a:pt x="0" y="124"/>
                    </a:lnTo>
                    <a:lnTo>
                      <a:pt x="2" y="126"/>
                    </a:lnTo>
                    <a:lnTo>
                      <a:pt x="6" y="128"/>
                    </a:lnTo>
                    <a:lnTo>
                      <a:pt x="6" y="130"/>
                    </a:lnTo>
                    <a:lnTo>
                      <a:pt x="8" y="130"/>
                    </a:lnTo>
                    <a:lnTo>
                      <a:pt x="8" y="134"/>
                    </a:lnTo>
                    <a:lnTo>
                      <a:pt x="12" y="134"/>
                    </a:lnTo>
                    <a:lnTo>
                      <a:pt x="12" y="13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03" name="Freeform 377">
                <a:extLst>
                  <a:ext uri="{FF2B5EF4-FFF2-40B4-BE49-F238E27FC236}">
                    <a16:creationId xmlns:a16="http://schemas.microsoft.com/office/drawing/2014/main" id="{D2420CEF-4425-558D-F780-F02E8CA16717}"/>
                  </a:ext>
                </a:extLst>
              </p:cNvPr>
              <p:cNvSpPr>
                <a:spLocks/>
              </p:cNvSpPr>
              <p:nvPr/>
            </p:nvSpPr>
            <p:spPr bwMode="auto">
              <a:xfrm>
                <a:off x="3837335" y="4071641"/>
                <a:ext cx="161410" cy="257463"/>
              </a:xfrm>
              <a:custGeom>
                <a:avLst/>
                <a:gdLst/>
                <a:ahLst/>
                <a:cxnLst>
                  <a:cxn ang="0">
                    <a:pos x="102" y="10"/>
                  </a:cxn>
                  <a:cxn ang="0">
                    <a:pos x="100" y="4"/>
                  </a:cxn>
                  <a:cxn ang="0">
                    <a:pos x="96" y="2"/>
                  </a:cxn>
                  <a:cxn ang="0">
                    <a:pos x="88" y="12"/>
                  </a:cxn>
                  <a:cxn ang="0">
                    <a:pos x="80" y="16"/>
                  </a:cxn>
                  <a:cxn ang="0">
                    <a:pos x="66" y="22"/>
                  </a:cxn>
                  <a:cxn ang="0">
                    <a:pos x="60" y="26"/>
                  </a:cxn>
                  <a:cxn ang="0">
                    <a:pos x="58" y="28"/>
                  </a:cxn>
                  <a:cxn ang="0">
                    <a:pos x="52" y="30"/>
                  </a:cxn>
                  <a:cxn ang="0">
                    <a:pos x="50" y="42"/>
                  </a:cxn>
                  <a:cxn ang="0">
                    <a:pos x="46" y="50"/>
                  </a:cxn>
                  <a:cxn ang="0">
                    <a:pos x="34" y="74"/>
                  </a:cxn>
                  <a:cxn ang="0">
                    <a:pos x="28" y="70"/>
                  </a:cxn>
                  <a:cxn ang="0">
                    <a:pos x="22" y="68"/>
                  </a:cxn>
                  <a:cxn ang="0">
                    <a:pos x="24" y="80"/>
                  </a:cxn>
                  <a:cxn ang="0">
                    <a:pos x="22" y="86"/>
                  </a:cxn>
                  <a:cxn ang="0">
                    <a:pos x="24" y="108"/>
                  </a:cxn>
                  <a:cxn ang="0">
                    <a:pos x="20" y="120"/>
                  </a:cxn>
                  <a:cxn ang="0">
                    <a:pos x="16" y="134"/>
                  </a:cxn>
                  <a:cxn ang="0">
                    <a:pos x="22" y="140"/>
                  </a:cxn>
                  <a:cxn ang="0">
                    <a:pos x="20" y="144"/>
                  </a:cxn>
                  <a:cxn ang="0">
                    <a:pos x="16" y="154"/>
                  </a:cxn>
                  <a:cxn ang="0">
                    <a:pos x="6" y="158"/>
                  </a:cxn>
                  <a:cxn ang="0">
                    <a:pos x="4" y="164"/>
                  </a:cxn>
                  <a:cxn ang="0">
                    <a:pos x="4" y="168"/>
                  </a:cxn>
                  <a:cxn ang="0">
                    <a:pos x="2" y="176"/>
                  </a:cxn>
                  <a:cxn ang="0">
                    <a:pos x="14" y="186"/>
                  </a:cxn>
                  <a:cxn ang="0">
                    <a:pos x="16" y="196"/>
                  </a:cxn>
                  <a:cxn ang="0">
                    <a:pos x="32" y="198"/>
                  </a:cxn>
                  <a:cxn ang="0">
                    <a:pos x="38" y="200"/>
                  </a:cxn>
                  <a:cxn ang="0">
                    <a:pos x="52" y="204"/>
                  </a:cxn>
                  <a:cxn ang="0">
                    <a:pos x="56" y="210"/>
                  </a:cxn>
                  <a:cxn ang="0">
                    <a:pos x="62" y="218"/>
                  </a:cxn>
                  <a:cxn ang="0">
                    <a:pos x="76" y="222"/>
                  </a:cxn>
                  <a:cxn ang="0">
                    <a:pos x="78" y="232"/>
                  </a:cxn>
                  <a:cxn ang="0">
                    <a:pos x="88" y="230"/>
                  </a:cxn>
                  <a:cxn ang="0">
                    <a:pos x="98" y="232"/>
                  </a:cxn>
                  <a:cxn ang="0">
                    <a:pos x="110" y="238"/>
                  </a:cxn>
                  <a:cxn ang="0">
                    <a:pos x="106" y="266"/>
                  </a:cxn>
                  <a:cxn ang="0">
                    <a:pos x="126" y="224"/>
                  </a:cxn>
                  <a:cxn ang="0">
                    <a:pos x="122" y="206"/>
                  </a:cxn>
                  <a:cxn ang="0">
                    <a:pos x="126" y="198"/>
                  </a:cxn>
                  <a:cxn ang="0">
                    <a:pos x="122" y="188"/>
                  </a:cxn>
                  <a:cxn ang="0">
                    <a:pos x="144" y="190"/>
                  </a:cxn>
                  <a:cxn ang="0">
                    <a:pos x="152" y="188"/>
                  </a:cxn>
                  <a:cxn ang="0">
                    <a:pos x="160" y="188"/>
                  </a:cxn>
                  <a:cxn ang="0">
                    <a:pos x="162" y="176"/>
                  </a:cxn>
                  <a:cxn ang="0">
                    <a:pos x="158" y="172"/>
                  </a:cxn>
                  <a:cxn ang="0">
                    <a:pos x="160" y="164"/>
                  </a:cxn>
                  <a:cxn ang="0">
                    <a:pos x="160" y="148"/>
                  </a:cxn>
                  <a:cxn ang="0">
                    <a:pos x="146" y="134"/>
                  </a:cxn>
                  <a:cxn ang="0">
                    <a:pos x="140" y="124"/>
                  </a:cxn>
                  <a:cxn ang="0">
                    <a:pos x="142" y="116"/>
                  </a:cxn>
                  <a:cxn ang="0">
                    <a:pos x="124" y="108"/>
                  </a:cxn>
                  <a:cxn ang="0">
                    <a:pos x="108" y="96"/>
                  </a:cxn>
                  <a:cxn ang="0">
                    <a:pos x="90" y="94"/>
                  </a:cxn>
                  <a:cxn ang="0">
                    <a:pos x="84" y="80"/>
                  </a:cxn>
                  <a:cxn ang="0">
                    <a:pos x="84" y="74"/>
                  </a:cxn>
                  <a:cxn ang="0">
                    <a:pos x="74" y="62"/>
                  </a:cxn>
                  <a:cxn ang="0">
                    <a:pos x="72" y="56"/>
                  </a:cxn>
                  <a:cxn ang="0">
                    <a:pos x="74" y="44"/>
                  </a:cxn>
                  <a:cxn ang="0">
                    <a:pos x="80" y="36"/>
                  </a:cxn>
                  <a:cxn ang="0">
                    <a:pos x="98" y="10"/>
                  </a:cxn>
                </a:cxnLst>
                <a:rect l="0" t="0" r="r" b="b"/>
                <a:pathLst>
                  <a:path w="166" h="268">
                    <a:moveTo>
                      <a:pt x="98" y="10"/>
                    </a:moveTo>
                    <a:lnTo>
                      <a:pt x="98" y="10"/>
                    </a:lnTo>
                    <a:lnTo>
                      <a:pt x="102" y="10"/>
                    </a:lnTo>
                    <a:lnTo>
                      <a:pt x="104" y="8"/>
                    </a:lnTo>
                    <a:lnTo>
                      <a:pt x="104" y="6"/>
                    </a:lnTo>
                    <a:lnTo>
                      <a:pt x="100" y="4"/>
                    </a:lnTo>
                    <a:lnTo>
                      <a:pt x="98" y="0"/>
                    </a:lnTo>
                    <a:lnTo>
                      <a:pt x="98" y="2"/>
                    </a:lnTo>
                    <a:lnTo>
                      <a:pt x="96" y="2"/>
                    </a:lnTo>
                    <a:lnTo>
                      <a:pt x="92" y="4"/>
                    </a:lnTo>
                    <a:lnTo>
                      <a:pt x="92" y="8"/>
                    </a:lnTo>
                    <a:lnTo>
                      <a:pt x="88" y="12"/>
                    </a:lnTo>
                    <a:lnTo>
                      <a:pt x="84" y="14"/>
                    </a:lnTo>
                    <a:lnTo>
                      <a:pt x="82" y="14"/>
                    </a:lnTo>
                    <a:lnTo>
                      <a:pt x="80" y="16"/>
                    </a:lnTo>
                    <a:lnTo>
                      <a:pt x="76" y="20"/>
                    </a:lnTo>
                    <a:lnTo>
                      <a:pt x="70" y="22"/>
                    </a:lnTo>
                    <a:lnTo>
                      <a:pt x="66" y="22"/>
                    </a:lnTo>
                    <a:lnTo>
                      <a:pt x="62" y="22"/>
                    </a:lnTo>
                    <a:lnTo>
                      <a:pt x="62" y="24"/>
                    </a:lnTo>
                    <a:lnTo>
                      <a:pt x="60" y="26"/>
                    </a:lnTo>
                    <a:lnTo>
                      <a:pt x="60" y="30"/>
                    </a:lnTo>
                    <a:lnTo>
                      <a:pt x="60" y="28"/>
                    </a:lnTo>
                    <a:lnTo>
                      <a:pt x="58" y="28"/>
                    </a:lnTo>
                    <a:lnTo>
                      <a:pt x="54" y="26"/>
                    </a:lnTo>
                    <a:lnTo>
                      <a:pt x="52" y="28"/>
                    </a:lnTo>
                    <a:lnTo>
                      <a:pt x="52" y="30"/>
                    </a:lnTo>
                    <a:lnTo>
                      <a:pt x="50" y="32"/>
                    </a:lnTo>
                    <a:lnTo>
                      <a:pt x="48" y="38"/>
                    </a:lnTo>
                    <a:lnTo>
                      <a:pt x="50" y="42"/>
                    </a:lnTo>
                    <a:lnTo>
                      <a:pt x="46" y="42"/>
                    </a:lnTo>
                    <a:lnTo>
                      <a:pt x="44" y="44"/>
                    </a:lnTo>
                    <a:lnTo>
                      <a:pt x="46" y="50"/>
                    </a:lnTo>
                    <a:lnTo>
                      <a:pt x="40" y="50"/>
                    </a:lnTo>
                    <a:lnTo>
                      <a:pt x="36" y="62"/>
                    </a:lnTo>
                    <a:lnTo>
                      <a:pt x="34" y="74"/>
                    </a:lnTo>
                    <a:lnTo>
                      <a:pt x="30" y="74"/>
                    </a:lnTo>
                    <a:lnTo>
                      <a:pt x="30" y="72"/>
                    </a:lnTo>
                    <a:lnTo>
                      <a:pt x="28" y="70"/>
                    </a:lnTo>
                    <a:lnTo>
                      <a:pt x="26" y="64"/>
                    </a:lnTo>
                    <a:lnTo>
                      <a:pt x="24" y="64"/>
                    </a:lnTo>
                    <a:lnTo>
                      <a:pt x="22" y="68"/>
                    </a:lnTo>
                    <a:lnTo>
                      <a:pt x="24" y="70"/>
                    </a:lnTo>
                    <a:lnTo>
                      <a:pt x="26" y="74"/>
                    </a:lnTo>
                    <a:lnTo>
                      <a:pt x="24" y="80"/>
                    </a:lnTo>
                    <a:lnTo>
                      <a:pt x="22" y="82"/>
                    </a:lnTo>
                    <a:lnTo>
                      <a:pt x="20" y="86"/>
                    </a:lnTo>
                    <a:lnTo>
                      <a:pt x="22" y="86"/>
                    </a:lnTo>
                    <a:lnTo>
                      <a:pt x="22" y="96"/>
                    </a:lnTo>
                    <a:lnTo>
                      <a:pt x="22" y="102"/>
                    </a:lnTo>
                    <a:lnTo>
                      <a:pt x="24" y="108"/>
                    </a:lnTo>
                    <a:lnTo>
                      <a:pt x="18" y="110"/>
                    </a:lnTo>
                    <a:lnTo>
                      <a:pt x="22" y="112"/>
                    </a:lnTo>
                    <a:lnTo>
                      <a:pt x="20" y="120"/>
                    </a:lnTo>
                    <a:lnTo>
                      <a:pt x="20" y="126"/>
                    </a:lnTo>
                    <a:lnTo>
                      <a:pt x="16" y="132"/>
                    </a:lnTo>
                    <a:lnTo>
                      <a:pt x="16" y="134"/>
                    </a:lnTo>
                    <a:lnTo>
                      <a:pt x="16" y="136"/>
                    </a:lnTo>
                    <a:lnTo>
                      <a:pt x="20" y="140"/>
                    </a:lnTo>
                    <a:lnTo>
                      <a:pt x="22" y="140"/>
                    </a:lnTo>
                    <a:lnTo>
                      <a:pt x="24" y="140"/>
                    </a:lnTo>
                    <a:lnTo>
                      <a:pt x="24" y="142"/>
                    </a:lnTo>
                    <a:lnTo>
                      <a:pt x="20" y="144"/>
                    </a:lnTo>
                    <a:lnTo>
                      <a:pt x="18" y="146"/>
                    </a:lnTo>
                    <a:lnTo>
                      <a:pt x="16" y="150"/>
                    </a:lnTo>
                    <a:lnTo>
                      <a:pt x="16" y="154"/>
                    </a:lnTo>
                    <a:lnTo>
                      <a:pt x="14" y="154"/>
                    </a:lnTo>
                    <a:lnTo>
                      <a:pt x="8" y="154"/>
                    </a:lnTo>
                    <a:lnTo>
                      <a:pt x="6" y="158"/>
                    </a:lnTo>
                    <a:lnTo>
                      <a:pt x="4" y="158"/>
                    </a:lnTo>
                    <a:lnTo>
                      <a:pt x="4" y="162"/>
                    </a:lnTo>
                    <a:lnTo>
                      <a:pt x="4" y="164"/>
                    </a:lnTo>
                    <a:lnTo>
                      <a:pt x="6" y="166"/>
                    </a:lnTo>
                    <a:lnTo>
                      <a:pt x="6" y="170"/>
                    </a:lnTo>
                    <a:lnTo>
                      <a:pt x="4" y="168"/>
                    </a:lnTo>
                    <a:lnTo>
                      <a:pt x="0" y="170"/>
                    </a:lnTo>
                    <a:lnTo>
                      <a:pt x="0" y="176"/>
                    </a:lnTo>
                    <a:lnTo>
                      <a:pt x="2" y="176"/>
                    </a:lnTo>
                    <a:lnTo>
                      <a:pt x="2" y="178"/>
                    </a:lnTo>
                    <a:lnTo>
                      <a:pt x="6" y="182"/>
                    </a:lnTo>
                    <a:lnTo>
                      <a:pt x="14" y="186"/>
                    </a:lnTo>
                    <a:lnTo>
                      <a:pt x="16" y="188"/>
                    </a:lnTo>
                    <a:lnTo>
                      <a:pt x="16" y="192"/>
                    </a:lnTo>
                    <a:lnTo>
                      <a:pt x="16" y="196"/>
                    </a:lnTo>
                    <a:lnTo>
                      <a:pt x="18" y="196"/>
                    </a:lnTo>
                    <a:lnTo>
                      <a:pt x="32" y="200"/>
                    </a:lnTo>
                    <a:lnTo>
                      <a:pt x="32" y="198"/>
                    </a:lnTo>
                    <a:lnTo>
                      <a:pt x="34" y="196"/>
                    </a:lnTo>
                    <a:lnTo>
                      <a:pt x="34" y="198"/>
                    </a:lnTo>
                    <a:lnTo>
                      <a:pt x="38" y="200"/>
                    </a:lnTo>
                    <a:lnTo>
                      <a:pt x="40" y="202"/>
                    </a:lnTo>
                    <a:lnTo>
                      <a:pt x="46" y="204"/>
                    </a:lnTo>
                    <a:lnTo>
                      <a:pt x="52" y="204"/>
                    </a:lnTo>
                    <a:lnTo>
                      <a:pt x="52" y="208"/>
                    </a:lnTo>
                    <a:lnTo>
                      <a:pt x="54" y="210"/>
                    </a:lnTo>
                    <a:lnTo>
                      <a:pt x="56" y="210"/>
                    </a:lnTo>
                    <a:lnTo>
                      <a:pt x="60" y="212"/>
                    </a:lnTo>
                    <a:lnTo>
                      <a:pt x="62" y="216"/>
                    </a:lnTo>
                    <a:lnTo>
                      <a:pt x="62" y="218"/>
                    </a:lnTo>
                    <a:lnTo>
                      <a:pt x="64" y="220"/>
                    </a:lnTo>
                    <a:lnTo>
                      <a:pt x="68" y="222"/>
                    </a:lnTo>
                    <a:lnTo>
                      <a:pt x="76" y="222"/>
                    </a:lnTo>
                    <a:lnTo>
                      <a:pt x="76" y="228"/>
                    </a:lnTo>
                    <a:lnTo>
                      <a:pt x="76" y="230"/>
                    </a:lnTo>
                    <a:lnTo>
                      <a:pt x="78" y="232"/>
                    </a:lnTo>
                    <a:lnTo>
                      <a:pt x="80" y="232"/>
                    </a:lnTo>
                    <a:lnTo>
                      <a:pt x="88" y="234"/>
                    </a:lnTo>
                    <a:lnTo>
                      <a:pt x="88" y="230"/>
                    </a:lnTo>
                    <a:lnTo>
                      <a:pt x="92" y="230"/>
                    </a:lnTo>
                    <a:lnTo>
                      <a:pt x="96" y="230"/>
                    </a:lnTo>
                    <a:lnTo>
                      <a:pt x="98" y="232"/>
                    </a:lnTo>
                    <a:lnTo>
                      <a:pt x="100" y="234"/>
                    </a:lnTo>
                    <a:lnTo>
                      <a:pt x="106" y="236"/>
                    </a:lnTo>
                    <a:lnTo>
                      <a:pt x="110" y="238"/>
                    </a:lnTo>
                    <a:lnTo>
                      <a:pt x="112" y="240"/>
                    </a:lnTo>
                    <a:lnTo>
                      <a:pt x="100" y="266"/>
                    </a:lnTo>
                    <a:lnTo>
                      <a:pt x="106" y="266"/>
                    </a:lnTo>
                    <a:lnTo>
                      <a:pt x="110" y="268"/>
                    </a:lnTo>
                    <a:lnTo>
                      <a:pt x="124" y="230"/>
                    </a:lnTo>
                    <a:lnTo>
                      <a:pt x="126" y="224"/>
                    </a:lnTo>
                    <a:lnTo>
                      <a:pt x="128" y="220"/>
                    </a:lnTo>
                    <a:lnTo>
                      <a:pt x="128" y="218"/>
                    </a:lnTo>
                    <a:lnTo>
                      <a:pt x="122" y="206"/>
                    </a:lnTo>
                    <a:lnTo>
                      <a:pt x="118" y="204"/>
                    </a:lnTo>
                    <a:lnTo>
                      <a:pt x="118" y="198"/>
                    </a:lnTo>
                    <a:lnTo>
                      <a:pt x="126" y="198"/>
                    </a:lnTo>
                    <a:lnTo>
                      <a:pt x="128" y="196"/>
                    </a:lnTo>
                    <a:lnTo>
                      <a:pt x="120" y="194"/>
                    </a:lnTo>
                    <a:lnTo>
                      <a:pt x="122" y="188"/>
                    </a:lnTo>
                    <a:lnTo>
                      <a:pt x="124" y="190"/>
                    </a:lnTo>
                    <a:lnTo>
                      <a:pt x="130" y="190"/>
                    </a:lnTo>
                    <a:lnTo>
                      <a:pt x="144" y="190"/>
                    </a:lnTo>
                    <a:lnTo>
                      <a:pt x="144" y="186"/>
                    </a:lnTo>
                    <a:lnTo>
                      <a:pt x="148" y="188"/>
                    </a:lnTo>
                    <a:lnTo>
                      <a:pt x="152" y="188"/>
                    </a:lnTo>
                    <a:lnTo>
                      <a:pt x="154" y="180"/>
                    </a:lnTo>
                    <a:lnTo>
                      <a:pt x="160" y="182"/>
                    </a:lnTo>
                    <a:lnTo>
                      <a:pt x="160" y="188"/>
                    </a:lnTo>
                    <a:lnTo>
                      <a:pt x="164" y="188"/>
                    </a:lnTo>
                    <a:lnTo>
                      <a:pt x="166" y="180"/>
                    </a:lnTo>
                    <a:lnTo>
                      <a:pt x="162" y="176"/>
                    </a:lnTo>
                    <a:lnTo>
                      <a:pt x="162" y="170"/>
                    </a:lnTo>
                    <a:lnTo>
                      <a:pt x="160" y="172"/>
                    </a:lnTo>
                    <a:lnTo>
                      <a:pt x="158" y="172"/>
                    </a:lnTo>
                    <a:lnTo>
                      <a:pt x="156" y="170"/>
                    </a:lnTo>
                    <a:lnTo>
                      <a:pt x="158" y="166"/>
                    </a:lnTo>
                    <a:lnTo>
                      <a:pt x="160" y="164"/>
                    </a:lnTo>
                    <a:lnTo>
                      <a:pt x="164" y="158"/>
                    </a:lnTo>
                    <a:lnTo>
                      <a:pt x="166" y="150"/>
                    </a:lnTo>
                    <a:lnTo>
                      <a:pt x="160" y="148"/>
                    </a:lnTo>
                    <a:lnTo>
                      <a:pt x="154" y="142"/>
                    </a:lnTo>
                    <a:lnTo>
                      <a:pt x="150" y="138"/>
                    </a:lnTo>
                    <a:lnTo>
                      <a:pt x="146" y="134"/>
                    </a:lnTo>
                    <a:lnTo>
                      <a:pt x="142" y="130"/>
                    </a:lnTo>
                    <a:lnTo>
                      <a:pt x="140" y="128"/>
                    </a:lnTo>
                    <a:lnTo>
                      <a:pt x="140" y="124"/>
                    </a:lnTo>
                    <a:lnTo>
                      <a:pt x="138" y="120"/>
                    </a:lnTo>
                    <a:lnTo>
                      <a:pt x="140" y="118"/>
                    </a:lnTo>
                    <a:lnTo>
                      <a:pt x="142" y="116"/>
                    </a:lnTo>
                    <a:lnTo>
                      <a:pt x="142" y="108"/>
                    </a:lnTo>
                    <a:lnTo>
                      <a:pt x="134" y="106"/>
                    </a:lnTo>
                    <a:lnTo>
                      <a:pt x="124" y="108"/>
                    </a:lnTo>
                    <a:lnTo>
                      <a:pt x="118" y="96"/>
                    </a:lnTo>
                    <a:lnTo>
                      <a:pt x="114" y="96"/>
                    </a:lnTo>
                    <a:lnTo>
                      <a:pt x="108" y="96"/>
                    </a:lnTo>
                    <a:lnTo>
                      <a:pt x="102" y="96"/>
                    </a:lnTo>
                    <a:lnTo>
                      <a:pt x="98" y="96"/>
                    </a:lnTo>
                    <a:lnTo>
                      <a:pt x="90" y="94"/>
                    </a:lnTo>
                    <a:lnTo>
                      <a:pt x="90" y="92"/>
                    </a:lnTo>
                    <a:lnTo>
                      <a:pt x="88" y="86"/>
                    </a:lnTo>
                    <a:lnTo>
                      <a:pt x="84" y="80"/>
                    </a:lnTo>
                    <a:lnTo>
                      <a:pt x="82" y="76"/>
                    </a:lnTo>
                    <a:lnTo>
                      <a:pt x="82" y="74"/>
                    </a:lnTo>
                    <a:lnTo>
                      <a:pt x="84" y="74"/>
                    </a:lnTo>
                    <a:lnTo>
                      <a:pt x="86" y="72"/>
                    </a:lnTo>
                    <a:lnTo>
                      <a:pt x="80" y="60"/>
                    </a:lnTo>
                    <a:lnTo>
                      <a:pt x="74" y="62"/>
                    </a:lnTo>
                    <a:lnTo>
                      <a:pt x="72" y="62"/>
                    </a:lnTo>
                    <a:lnTo>
                      <a:pt x="72" y="60"/>
                    </a:lnTo>
                    <a:lnTo>
                      <a:pt x="72" y="56"/>
                    </a:lnTo>
                    <a:lnTo>
                      <a:pt x="74" y="52"/>
                    </a:lnTo>
                    <a:lnTo>
                      <a:pt x="74" y="50"/>
                    </a:lnTo>
                    <a:lnTo>
                      <a:pt x="74" y="44"/>
                    </a:lnTo>
                    <a:lnTo>
                      <a:pt x="76" y="38"/>
                    </a:lnTo>
                    <a:lnTo>
                      <a:pt x="74" y="38"/>
                    </a:lnTo>
                    <a:lnTo>
                      <a:pt x="80" y="36"/>
                    </a:lnTo>
                    <a:lnTo>
                      <a:pt x="86" y="22"/>
                    </a:lnTo>
                    <a:lnTo>
                      <a:pt x="92" y="12"/>
                    </a:lnTo>
                    <a:lnTo>
                      <a:pt x="98" y="10"/>
                    </a:lnTo>
                    <a:lnTo>
                      <a:pt x="98" y="1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04" name="Freeform 378">
                <a:extLst>
                  <a:ext uri="{FF2B5EF4-FFF2-40B4-BE49-F238E27FC236}">
                    <a16:creationId xmlns:a16="http://schemas.microsoft.com/office/drawing/2014/main" id="{52FDEE42-F207-72EC-11DB-948C54F5BC3E}"/>
                  </a:ext>
                </a:extLst>
              </p:cNvPr>
              <p:cNvSpPr>
                <a:spLocks/>
              </p:cNvSpPr>
              <p:nvPr/>
            </p:nvSpPr>
            <p:spPr bwMode="auto">
              <a:xfrm>
                <a:off x="6347937" y="3769985"/>
                <a:ext cx="3890" cy="7686"/>
              </a:xfrm>
              <a:custGeom>
                <a:avLst/>
                <a:gdLst/>
                <a:ahLst/>
                <a:cxnLst>
                  <a:cxn ang="0">
                    <a:pos x="2" y="0"/>
                  </a:cxn>
                  <a:cxn ang="0">
                    <a:pos x="4" y="0"/>
                  </a:cxn>
                  <a:cxn ang="0">
                    <a:pos x="4" y="4"/>
                  </a:cxn>
                  <a:cxn ang="0">
                    <a:pos x="4" y="8"/>
                  </a:cxn>
                  <a:cxn ang="0">
                    <a:pos x="2" y="8"/>
                  </a:cxn>
                  <a:cxn ang="0">
                    <a:pos x="0" y="8"/>
                  </a:cxn>
                  <a:cxn ang="0">
                    <a:pos x="0" y="6"/>
                  </a:cxn>
                  <a:cxn ang="0">
                    <a:pos x="0" y="6"/>
                  </a:cxn>
                  <a:cxn ang="0">
                    <a:pos x="0" y="2"/>
                  </a:cxn>
                  <a:cxn ang="0">
                    <a:pos x="2" y="0"/>
                  </a:cxn>
                  <a:cxn ang="0">
                    <a:pos x="2" y="0"/>
                  </a:cxn>
                </a:cxnLst>
                <a:rect l="0" t="0" r="r" b="b"/>
                <a:pathLst>
                  <a:path w="4" h="8">
                    <a:moveTo>
                      <a:pt x="2" y="0"/>
                    </a:moveTo>
                    <a:lnTo>
                      <a:pt x="4" y="0"/>
                    </a:lnTo>
                    <a:lnTo>
                      <a:pt x="4" y="4"/>
                    </a:lnTo>
                    <a:lnTo>
                      <a:pt x="4" y="8"/>
                    </a:lnTo>
                    <a:lnTo>
                      <a:pt x="2" y="8"/>
                    </a:lnTo>
                    <a:lnTo>
                      <a:pt x="0" y="8"/>
                    </a:lnTo>
                    <a:lnTo>
                      <a:pt x="0" y="6"/>
                    </a:lnTo>
                    <a:lnTo>
                      <a:pt x="0" y="6"/>
                    </a:lnTo>
                    <a:lnTo>
                      <a:pt x="0" y="2"/>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05" name="Freeform 379">
                <a:extLst>
                  <a:ext uri="{FF2B5EF4-FFF2-40B4-BE49-F238E27FC236}">
                    <a16:creationId xmlns:a16="http://schemas.microsoft.com/office/drawing/2014/main" id="{3A4206CE-2249-E028-90FC-93A493BD27FE}"/>
                  </a:ext>
                </a:extLst>
              </p:cNvPr>
              <p:cNvSpPr>
                <a:spLocks/>
              </p:cNvSpPr>
              <p:nvPr/>
            </p:nvSpPr>
            <p:spPr bwMode="auto">
              <a:xfrm>
                <a:off x="6347937" y="3769985"/>
                <a:ext cx="3890" cy="7686"/>
              </a:xfrm>
              <a:custGeom>
                <a:avLst/>
                <a:gdLst/>
                <a:ahLst/>
                <a:cxnLst>
                  <a:cxn ang="0">
                    <a:pos x="2" y="0"/>
                  </a:cxn>
                  <a:cxn ang="0">
                    <a:pos x="4" y="0"/>
                  </a:cxn>
                  <a:cxn ang="0">
                    <a:pos x="4" y="4"/>
                  </a:cxn>
                  <a:cxn ang="0">
                    <a:pos x="4" y="8"/>
                  </a:cxn>
                  <a:cxn ang="0">
                    <a:pos x="2" y="8"/>
                  </a:cxn>
                  <a:cxn ang="0">
                    <a:pos x="0" y="8"/>
                  </a:cxn>
                  <a:cxn ang="0">
                    <a:pos x="0" y="6"/>
                  </a:cxn>
                  <a:cxn ang="0">
                    <a:pos x="0" y="6"/>
                  </a:cxn>
                  <a:cxn ang="0">
                    <a:pos x="0" y="2"/>
                  </a:cxn>
                  <a:cxn ang="0">
                    <a:pos x="2" y="0"/>
                  </a:cxn>
                  <a:cxn ang="0">
                    <a:pos x="2" y="0"/>
                  </a:cxn>
                </a:cxnLst>
                <a:rect l="0" t="0" r="r" b="b"/>
                <a:pathLst>
                  <a:path w="4" h="8">
                    <a:moveTo>
                      <a:pt x="2" y="0"/>
                    </a:moveTo>
                    <a:lnTo>
                      <a:pt x="4" y="0"/>
                    </a:lnTo>
                    <a:lnTo>
                      <a:pt x="4" y="4"/>
                    </a:lnTo>
                    <a:lnTo>
                      <a:pt x="4" y="8"/>
                    </a:lnTo>
                    <a:lnTo>
                      <a:pt x="2" y="8"/>
                    </a:lnTo>
                    <a:lnTo>
                      <a:pt x="0" y="8"/>
                    </a:lnTo>
                    <a:lnTo>
                      <a:pt x="0" y="6"/>
                    </a:lnTo>
                    <a:lnTo>
                      <a:pt x="0" y="6"/>
                    </a:lnTo>
                    <a:lnTo>
                      <a:pt x="0" y="2"/>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06" name="Freeform 380">
                <a:extLst>
                  <a:ext uri="{FF2B5EF4-FFF2-40B4-BE49-F238E27FC236}">
                    <a16:creationId xmlns:a16="http://schemas.microsoft.com/office/drawing/2014/main" id="{C4CE19E1-B872-473C-2F5C-C54AE2756E7A}"/>
                  </a:ext>
                </a:extLst>
              </p:cNvPr>
              <p:cNvSpPr>
                <a:spLocks/>
              </p:cNvSpPr>
              <p:nvPr/>
            </p:nvSpPr>
            <p:spPr bwMode="auto">
              <a:xfrm>
                <a:off x="6202085" y="3958280"/>
                <a:ext cx="33060" cy="30742"/>
              </a:xfrm>
              <a:custGeom>
                <a:avLst/>
                <a:gdLst/>
                <a:ahLst/>
                <a:cxnLst>
                  <a:cxn ang="0">
                    <a:pos x="30" y="0"/>
                  </a:cxn>
                  <a:cxn ang="0">
                    <a:pos x="30" y="0"/>
                  </a:cxn>
                  <a:cxn ang="0">
                    <a:pos x="22" y="2"/>
                  </a:cxn>
                  <a:cxn ang="0">
                    <a:pos x="16" y="2"/>
                  </a:cxn>
                  <a:cxn ang="0">
                    <a:pos x="12" y="2"/>
                  </a:cxn>
                  <a:cxn ang="0">
                    <a:pos x="10" y="4"/>
                  </a:cxn>
                  <a:cxn ang="0">
                    <a:pos x="10" y="6"/>
                  </a:cxn>
                  <a:cxn ang="0">
                    <a:pos x="10" y="8"/>
                  </a:cxn>
                  <a:cxn ang="0">
                    <a:pos x="8" y="8"/>
                  </a:cxn>
                  <a:cxn ang="0">
                    <a:pos x="6" y="8"/>
                  </a:cxn>
                  <a:cxn ang="0">
                    <a:pos x="0" y="12"/>
                  </a:cxn>
                  <a:cxn ang="0">
                    <a:pos x="0" y="20"/>
                  </a:cxn>
                  <a:cxn ang="0">
                    <a:pos x="2" y="26"/>
                  </a:cxn>
                  <a:cxn ang="0">
                    <a:pos x="4" y="26"/>
                  </a:cxn>
                  <a:cxn ang="0">
                    <a:pos x="8" y="28"/>
                  </a:cxn>
                  <a:cxn ang="0">
                    <a:pos x="12" y="32"/>
                  </a:cxn>
                  <a:cxn ang="0">
                    <a:pos x="22" y="28"/>
                  </a:cxn>
                  <a:cxn ang="0">
                    <a:pos x="22" y="24"/>
                  </a:cxn>
                  <a:cxn ang="0">
                    <a:pos x="26" y="24"/>
                  </a:cxn>
                  <a:cxn ang="0">
                    <a:pos x="28" y="22"/>
                  </a:cxn>
                  <a:cxn ang="0">
                    <a:pos x="28" y="20"/>
                  </a:cxn>
                  <a:cxn ang="0">
                    <a:pos x="28" y="16"/>
                  </a:cxn>
                  <a:cxn ang="0">
                    <a:pos x="30" y="14"/>
                  </a:cxn>
                  <a:cxn ang="0">
                    <a:pos x="32" y="8"/>
                  </a:cxn>
                  <a:cxn ang="0">
                    <a:pos x="34" y="6"/>
                  </a:cxn>
                  <a:cxn ang="0">
                    <a:pos x="34" y="4"/>
                  </a:cxn>
                  <a:cxn ang="0">
                    <a:pos x="34" y="2"/>
                  </a:cxn>
                  <a:cxn ang="0">
                    <a:pos x="30" y="0"/>
                  </a:cxn>
                  <a:cxn ang="0">
                    <a:pos x="30" y="0"/>
                  </a:cxn>
                </a:cxnLst>
                <a:rect l="0" t="0" r="r" b="b"/>
                <a:pathLst>
                  <a:path w="34" h="32">
                    <a:moveTo>
                      <a:pt x="30" y="0"/>
                    </a:moveTo>
                    <a:lnTo>
                      <a:pt x="30" y="0"/>
                    </a:lnTo>
                    <a:lnTo>
                      <a:pt x="22" y="2"/>
                    </a:lnTo>
                    <a:lnTo>
                      <a:pt x="16" y="2"/>
                    </a:lnTo>
                    <a:lnTo>
                      <a:pt x="12" y="2"/>
                    </a:lnTo>
                    <a:lnTo>
                      <a:pt x="10" y="4"/>
                    </a:lnTo>
                    <a:lnTo>
                      <a:pt x="10" y="6"/>
                    </a:lnTo>
                    <a:lnTo>
                      <a:pt x="10" y="8"/>
                    </a:lnTo>
                    <a:lnTo>
                      <a:pt x="8" y="8"/>
                    </a:lnTo>
                    <a:lnTo>
                      <a:pt x="6" y="8"/>
                    </a:lnTo>
                    <a:lnTo>
                      <a:pt x="0" y="12"/>
                    </a:lnTo>
                    <a:lnTo>
                      <a:pt x="0" y="20"/>
                    </a:lnTo>
                    <a:lnTo>
                      <a:pt x="2" y="26"/>
                    </a:lnTo>
                    <a:lnTo>
                      <a:pt x="4" y="26"/>
                    </a:lnTo>
                    <a:lnTo>
                      <a:pt x="8" y="28"/>
                    </a:lnTo>
                    <a:lnTo>
                      <a:pt x="12" y="32"/>
                    </a:lnTo>
                    <a:lnTo>
                      <a:pt x="22" y="28"/>
                    </a:lnTo>
                    <a:lnTo>
                      <a:pt x="22" y="24"/>
                    </a:lnTo>
                    <a:lnTo>
                      <a:pt x="26" y="24"/>
                    </a:lnTo>
                    <a:lnTo>
                      <a:pt x="28" y="22"/>
                    </a:lnTo>
                    <a:lnTo>
                      <a:pt x="28" y="20"/>
                    </a:lnTo>
                    <a:lnTo>
                      <a:pt x="28" y="16"/>
                    </a:lnTo>
                    <a:lnTo>
                      <a:pt x="30" y="14"/>
                    </a:lnTo>
                    <a:lnTo>
                      <a:pt x="32" y="8"/>
                    </a:lnTo>
                    <a:lnTo>
                      <a:pt x="34" y="6"/>
                    </a:lnTo>
                    <a:lnTo>
                      <a:pt x="34" y="4"/>
                    </a:lnTo>
                    <a:lnTo>
                      <a:pt x="34" y="2"/>
                    </a:lnTo>
                    <a:lnTo>
                      <a:pt x="30" y="0"/>
                    </a:lnTo>
                    <a:lnTo>
                      <a:pt x="3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07" name="Freeform 381">
                <a:extLst>
                  <a:ext uri="{FF2B5EF4-FFF2-40B4-BE49-F238E27FC236}">
                    <a16:creationId xmlns:a16="http://schemas.microsoft.com/office/drawing/2014/main" id="{473242FB-DFC1-6D9F-3F00-89AEFCB50385}"/>
                  </a:ext>
                </a:extLst>
              </p:cNvPr>
              <p:cNvSpPr>
                <a:spLocks/>
              </p:cNvSpPr>
              <p:nvPr/>
            </p:nvSpPr>
            <p:spPr bwMode="auto">
              <a:xfrm>
                <a:off x="6202085" y="3956359"/>
                <a:ext cx="33060" cy="32663"/>
              </a:xfrm>
              <a:custGeom>
                <a:avLst/>
                <a:gdLst/>
                <a:ahLst/>
                <a:cxnLst>
                  <a:cxn ang="0">
                    <a:pos x="30" y="0"/>
                  </a:cxn>
                  <a:cxn ang="0">
                    <a:pos x="30" y="0"/>
                  </a:cxn>
                  <a:cxn ang="0">
                    <a:pos x="22" y="2"/>
                  </a:cxn>
                  <a:cxn ang="0">
                    <a:pos x="16" y="4"/>
                  </a:cxn>
                  <a:cxn ang="0">
                    <a:pos x="12" y="4"/>
                  </a:cxn>
                  <a:cxn ang="0">
                    <a:pos x="8" y="6"/>
                  </a:cxn>
                  <a:cxn ang="0">
                    <a:pos x="8" y="8"/>
                  </a:cxn>
                  <a:cxn ang="0">
                    <a:pos x="8" y="10"/>
                  </a:cxn>
                  <a:cxn ang="0">
                    <a:pos x="6" y="10"/>
                  </a:cxn>
                  <a:cxn ang="0">
                    <a:pos x="6" y="10"/>
                  </a:cxn>
                  <a:cxn ang="0">
                    <a:pos x="0" y="14"/>
                  </a:cxn>
                  <a:cxn ang="0">
                    <a:pos x="0" y="22"/>
                  </a:cxn>
                  <a:cxn ang="0">
                    <a:pos x="2" y="28"/>
                  </a:cxn>
                  <a:cxn ang="0">
                    <a:pos x="4" y="28"/>
                  </a:cxn>
                  <a:cxn ang="0">
                    <a:pos x="6" y="30"/>
                  </a:cxn>
                  <a:cxn ang="0">
                    <a:pos x="12" y="34"/>
                  </a:cxn>
                  <a:cxn ang="0">
                    <a:pos x="22" y="30"/>
                  </a:cxn>
                  <a:cxn ang="0">
                    <a:pos x="22" y="26"/>
                  </a:cxn>
                  <a:cxn ang="0">
                    <a:pos x="26" y="26"/>
                  </a:cxn>
                  <a:cxn ang="0">
                    <a:pos x="28" y="24"/>
                  </a:cxn>
                  <a:cxn ang="0">
                    <a:pos x="28" y="22"/>
                  </a:cxn>
                  <a:cxn ang="0">
                    <a:pos x="28" y="18"/>
                  </a:cxn>
                  <a:cxn ang="0">
                    <a:pos x="30" y="16"/>
                  </a:cxn>
                  <a:cxn ang="0">
                    <a:pos x="32" y="10"/>
                  </a:cxn>
                  <a:cxn ang="0">
                    <a:pos x="34" y="8"/>
                  </a:cxn>
                  <a:cxn ang="0">
                    <a:pos x="34" y="6"/>
                  </a:cxn>
                  <a:cxn ang="0">
                    <a:pos x="34" y="2"/>
                  </a:cxn>
                  <a:cxn ang="0">
                    <a:pos x="30" y="0"/>
                  </a:cxn>
                  <a:cxn ang="0">
                    <a:pos x="30" y="0"/>
                  </a:cxn>
                </a:cxnLst>
                <a:rect l="0" t="0" r="r" b="b"/>
                <a:pathLst>
                  <a:path w="34" h="34">
                    <a:moveTo>
                      <a:pt x="30" y="0"/>
                    </a:moveTo>
                    <a:lnTo>
                      <a:pt x="30" y="0"/>
                    </a:lnTo>
                    <a:lnTo>
                      <a:pt x="22" y="2"/>
                    </a:lnTo>
                    <a:lnTo>
                      <a:pt x="16" y="4"/>
                    </a:lnTo>
                    <a:lnTo>
                      <a:pt x="12" y="4"/>
                    </a:lnTo>
                    <a:lnTo>
                      <a:pt x="8" y="6"/>
                    </a:lnTo>
                    <a:lnTo>
                      <a:pt x="8" y="8"/>
                    </a:lnTo>
                    <a:lnTo>
                      <a:pt x="8" y="10"/>
                    </a:lnTo>
                    <a:lnTo>
                      <a:pt x="6" y="10"/>
                    </a:lnTo>
                    <a:lnTo>
                      <a:pt x="6" y="10"/>
                    </a:lnTo>
                    <a:lnTo>
                      <a:pt x="0" y="14"/>
                    </a:lnTo>
                    <a:lnTo>
                      <a:pt x="0" y="22"/>
                    </a:lnTo>
                    <a:lnTo>
                      <a:pt x="2" y="28"/>
                    </a:lnTo>
                    <a:lnTo>
                      <a:pt x="4" y="28"/>
                    </a:lnTo>
                    <a:lnTo>
                      <a:pt x="6" y="30"/>
                    </a:lnTo>
                    <a:lnTo>
                      <a:pt x="12" y="34"/>
                    </a:lnTo>
                    <a:lnTo>
                      <a:pt x="22" y="30"/>
                    </a:lnTo>
                    <a:lnTo>
                      <a:pt x="22" y="26"/>
                    </a:lnTo>
                    <a:lnTo>
                      <a:pt x="26" y="26"/>
                    </a:lnTo>
                    <a:lnTo>
                      <a:pt x="28" y="24"/>
                    </a:lnTo>
                    <a:lnTo>
                      <a:pt x="28" y="22"/>
                    </a:lnTo>
                    <a:lnTo>
                      <a:pt x="28" y="18"/>
                    </a:lnTo>
                    <a:lnTo>
                      <a:pt x="30" y="16"/>
                    </a:lnTo>
                    <a:lnTo>
                      <a:pt x="32" y="10"/>
                    </a:lnTo>
                    <a:lnTo>
                      <a:pt x="34" y="8"/>
                    </a:lnTo>
                    <a:lnTo>
                      <a:pt x="34" y="6"/>
                    </a:lnTo>
                    <a:lnTo>
                      <a:pt x="34" y="2"/>
                    </a:lnTo>
                    <a:lnTo>
                      <a:pt x="30" y="0"/>
                    </a:lnTo>
                    <a:lnTo>
                      <a:pt x="3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08" name="Freeform 382">
                <a:extLst>
                  <a:ext uri="{FF2B5EF4-FFF2-40B4-BE49-F238E27FC236}">
                    <a16:creationId xmlns:a16="http://schemas.microsoft.com/office/drawing/2014/main" id="{853C7EF8-C4AE-F119-11DE-4234969B5E1D}"/>
                  </a:ext>
                </a:extLst>
              </p:cNvPr>
              <p:cNvSpPr>
                <a:spLocks noEditPoints="1"/>
              </p:cNvSpPr>
              <p:nvPr/>
            </p:nvSpPr>
            <p:spPr bwMode="auto">
              <a:xfrm>
                <a:off x="3884008" y="4536612"/>
                <a:ext cx="106958" cy="651345"/>
              </a:xfrm>
              <a:custGeom>
                <a:avLst/>
                <a:gdLst/>
                <a:ahLst/>
                <a:cxnLst>
                  <a:cxn ang="0">
                    <a:pos x="90" y="664"/>
                  </a:cxn>
                  <a:cxn ang="0">
                    <a:pos x="64" y="664"/>
                  </a:cxn>
                  <a:cxn ang="0">
                    <a:pos x="46" y="664"/>
                  </a:cxn>
                  <a:cxn ang="0">
                    <a:pos x="50" y="654"/>
                  </a:cxn>
                  <a:cxn ang="0">
                    <a:pos x="54" y="644"/>
                  </a:cxn>
                  <a:cxn ang="0">
                    <a:pos x="72" y="656"/>
                  </a:cxn>
                  <a:cxn ang="0">
                    <a:pos x="60" y="638"/>
                  </a:cxn>
                  <a:cxn ang="0">
                    <a:pos x="80" y="624"/>
                  </a:cxn>
                  <a:cxn ang="0">
                    <a:pos x="104" y="666"/>
                  </a:cxn>
                  <a:cxn ang="0">
                    <a:pos x="96" y="112"/>
                  </a:cxn>
                  <a:cxn ang="0">
                    <a:pos x="92" y="144"/>
                  </a:cxn>
                  <a:cxn ang="0">
                    <a:pos x="80" y="180"/>
                  </a:cxn>
                  <a:cxn ang="0">
                    <a:pos x="72" y="242"/>
                  </a:cxn>
                  <a:cxn ang="0">
                    <a:pos x="64" y="296"/>
                  </a:cxn>
                  <a:cxn ang="0">
                    <a:pos x="56" y="320"/>
                  </a:cxn>
                  <a:cxn ang="0">
                    <a:pos x="54" y="352"/>
                  </a:cxn>
                  <a:cxn ang="0">
                    <a:pos x="44" y="392"/>
                  </a:cxn>
                  <a:cxn ang="0">
                    <a:pos x="46" y="430"/>
                  </a:cxn>
                  <a:cxn ang="0">
                    <a:pos x="50" y="462"/>
                  </a:cxn>
                  <a:cxn ang="0">
                    <a:pos x="48" y="480"/>
                  </a:cxn>
                  <a:cxn ang="0">
                    <a:pos x="46" y="518"/>
                  </a:cxn>
                  <a:cxn ang="0">
                    <a:pos x="30" y="548"/>
                  </a:cxn>
                  <a:cxn ang="0">
                    <a:pos x="30" y="582"/>
                  </a:cxn>
                  <a:cxn ang="0">
                    <a:pos x="36" y="592"/>
                  </a:cxn>
                  <a:cxn ang="0">
                    <a:pos x="76" y="616"/>
                  </a:cxn>
                  <a:cxn ang="0">
                    <a:pos x="48" y="642"/>
                  </a:cxn>
                  <a:cxn ang="0">
                    <a:pos x="36" y="640"/>
                  </a:cxn>
                  <a:cxn ang="0">
                    <a:pos x="32" y="648"/>
                  </a:cxn>
                  <a:cxn ang="0">
                    <a:pos x="24" y="642"/>
                  </a:cxn>
                  <a:cxn ang="0">
                    <a:pos x="26" y="630"/>
                  </a:cxn>
                  <a:cxn ang="0">
                    <a:pos x="36" y="610"/>
                  </a:cxn>
                  <a:cxn ang="0">
                    <a:pos x="24" y="612"/>
                  </a:cxn>
                  <a:cxn ang="0">
                    <a:pos x="16" y="626"/>
                  </a:cxn>
                  <a:cxn ang="0">
                    <a:pos x="6" y="618"/>
                  </a:cxn>
                  <a:cxn ang="0">
                    <a:pos x="14" y="606"/>
                  </a:cxn>
                  <a:cxn ang="0">
                    <a:pos x="18" y="592"/>
                  </a:cxn>
                  <a:cxn ang="0">
                    <a:pos x="20" y="582"/>
                  </a:cxn>
                  <a:cxn ang="0">
                    <a:pos x="20" y="562"/>
                  </a:cxn>
                  <a:cxn ang="0">
                    <a:pos x="16" y="536"/>
                  </a:cxn>
                  <a:cxn ang="0">
                    <a:pos x="18" y="512"/>
                  </a:cxn>
                  <a:cxn ang="0">
                    <a:pos x="6" y="508"/>
                  </a:cxn>
                  <a:cxn ang="0">
                    <a:pos x="6" y="498"/>
                  </a:cxn>
                  <a:cxn ang="0">
                    <a:pos x="18" y="502"/>
                  </a:cxn>
                  <a:cxn ang="0">
                    <a:pos x="26" y="488"/>
                  </a:cxn>
                  <a:cxn ang="0">
                    <a:pos x="34" y="464"/>
                  </a:cxn>
                  <a:cxn ang="0">
                    <a:pos x="32" y="442"/>
                  </a:cxn>
                  <a:cxn ang="0">
                    <a:pos x="38" y="414"/>
                  </a:cxn>
                  <a:cxn ang="0">
                    <a:pos x="30" y="382"/>
                  </a:cxn>
                  <a:cxn ang="0">
                    <a:pos x="30" y="354"/>
                  </a:cxn>
                  <a:cxn ang="0">
                    <a:pos x="32" y="330"/>
                  </a:cxn>
                  <a:cxn ang="0">
                    <a:pos x="42" y="302"/>
                  </a:cxn>
                  <a:cxn ang="0">
                    <a:pos x="50" y="260"/>
                  </a:cxn>
                  <a:cxn ang="0">
                    <a:pos x="56" y="202"/>
                  </a:cxn>
                  <a:cxn ang="0">
                    <a:pos x="58" y="166"/>
                  </a:cxn>
                  <a:cxn ang="0">
                    <a:pos x="66" y="134"/>
                  </a:cxn>
                  <a:cxn ang="0">
                    <a:pos x="68" y="98"/>
                  </a:cxn>
                  <a:cxn ang="0">
                    <a:pos x="70" y="62"/>
                  </a:cxn>
                  <a:cxn ang="0">
                    <a:pos x="70" y="10"/>
                  </a:cxn>
                  <a:cxn ang="0">
                    <a:pos x="82" y="14"/>
                  </a:cxn>
                  <a:cxn ang="0">
                    <a:pos x="96" y="60"/>
                  </a:cxn>
                  <a:cxn ang="0">
                    <a:pos x="108" y="98"/>
                  </a:cxn>
                </a:cxnLst>
                <a:rect l="0" t="0" r="r" b="b"/>
                <a:pathLst>
                  <a:path w="110" h="678">
                    <a:moveTo>
                      <a:pt x="104" y="666"/>
                    </a:moveTo>
                    <a:lnTo>
                      <a:pt x="104" y="666"/>
                    </a:lnTo>
                    <a:lnTo>
                      <a:pt x="102" y="672"/>
                    </a:lnTo>
                    <a:lnTo>
                      <a:pt x="98" y="678"/>
                    </a:lnTo>
                    <a:lnTo>
                      <a:pt x="98" y="672"/>
                    </a:lnTo>
                    <a:lnTo>
                      <a:pt x="92" y="670"/>
                    </a:lnTo>
                    <a:lnTo>
                      <a:pt x="92" y="668"/>
                    </a:lnTo>
                    <a:lnTo>
                      <a:pt x="90" y="664"/>
                    </a:lnTo>
                    <a:lnTo>
                      <a:pt x="78" y="668"/>
                    </a:lnTo>
                    <a:lnTo>
                      <a:pt x="76" y="670"/>
                    </a:lnTo>
                    <a:lnTo>
                      <a:pt x="72" y="670"/>
                    </a:lnTo>
                    <a:lnTo>
                      <a:pt x="66" y="670"/>
                    </a:lnTo>
                    <a:lnTo>
                      <a:pt x="66" y="668"/>
                    </a:lnTo>
                    <a:lnTo>
                      <a:pt x="68" y="668"/>
                    </a:lnTo>
                    <a:lnTo>
                      <a:pt x="68" y="666"/>
                    </a:lnTo>
                    <a:lnTo>
                      <a:pt x="64" y="664"/>
                    </a:lnTo>
                    <a:lnTo>
                      <a:pt x="60" y="666"/>
                    </a:lnTo>
                    <a:lnTo>
                      <a:pt x="56" y="666"/>
                    </a:lnTo>
                    <a:lnTo>
                      <a:pt x="56" y="662"/>
                    </a:lnTo>
                    <a:lnTo>
                      <a:pt x="50" y="662"/>
                    </a:lnTo>
                    <a:lnTo>
                      <a:pt x="50" y="660"/>
                    </a:lnTo>
                    <a:lnTo>
                      <a:pt x="46" y="660"/>
                    </a:lnTo>
                    <a:lnTo>
                      <a:pt x="46" y="662"/>
                    </a:lnTo>
                    <a:lnTo>
                      <a:pt x="46" y="664"/>
                    </a:lnTo>
                    <a:lnTo>
                      <a:pt x="42" y="662"/>
                    </a:lnTo>
                    <a:lnTo>
                      <a:pt x="42" y="660"/>
                    </a:lnTo>
                    <a:lnTo>
                      <a:pt x="44" y="660"/>
                    </a:lnTo>
                    <a:lnTo>
                      <a:pt x="44" y="658"/>
                    </a:lnTo>
                    <a:lnTo>
                      <a:pt x="54" y="656"/>
                    </a:lnTo>
                    <a:lnTo>
                      <a:pt x="54" y="654"/>
                    </a:lnTo>
                    <a:lnTo>
                      <a:pt x="54" y="652"/>
                    </a:lnTo>
                    <a:lnTo>
                      <a:pt x="50" y="654"/>
                    </a:lnTo>
                    <a:lnTo>
                      <a:pt x="48" y="654"/>
                    </a:lnTo>
                    <a:lnTo>
                      <a:pt x="46" y="652"/>
                    </a:lnTo>
                    <a:lnTo>
                      <a:pt x="44" y="646"/>
                    </a:lnTo>
                    <a:lnTo>
                      <a:pt x="50" y="646"/>
                    </a:lnTo>
                    <a:lnTo>
                      <a:pt x="50" y="650"/>
                    </a:lnTo>
                    <a:lnTo>
                      <a:pt x="52" y="648"/>
                    </a:lnTo>
                    <a:lnTo>
                      <a:pt x="52" y="650"/>
                    </a:lnTo>
                    <a:lnTo>
                      <a:pt x="54" y="644"/>
                    </a:lnTo>
                    <a:lnTo>
                      <a:pt x="58" y="644"/>
                    </a:lnTo>
                    <a:lnTo>
                      <a:pt x="58" y="652"/>
                    </a:lnTo>
                    <a:lnTo>
                      <a:pt x="62" y="654"/>
                    </a:lnTo>
                    <a:lnTo>
                      <a:pt x="60" y="658"/>
                    </a:lnTo>
                    <a:lnTo>
                      <a:pt x="64" y="658"/>
                    </a:lnTo>
                    <a:lnTo>
                      <a:pt x="64" y="654"/>
                    </a:lnTo>
                    <a:lnTo>
                      <a:pt x="70" y="654"/>
                    </a:lnTo>
                    <a:lnTo>
                      <a:pt x="72" y="656"/>
                    </a:lnTo>
                    <a:lnTo>
                      <a:pt x="76" y="656"/>
                    </a:lnTo>
                    <a:lnTo>
                      <a:pt x="70" y="650"/>
                    </a:lnTo>
                    <a:lnTo>
                      <a:pt x="64" y="650"/>
                    </a:lnTo>
                    <a:lnTo>
                      <a:pt x="62" y="646"/>
                    </a:lnTo>
                    <a:lnTo>
                      <a:pt x="62" y="642"/>
                    </a:lnTo>
                    <a:lnTo>
                      <a:pt x="72" y="638"/>
                    </a:lnTo>
                    <a:lnTo>
                      <a:pt x="62" y="638"/>
                    </a:lnTo>
                    <a:lnTo>
                      <a:pt x="60" y="638"/>
                    </a:lnTo>
                    <a:lnTo>
                      <a:pt x="60" y="636"/>
                    </a:lnTo>
                    <a:lnTo>
                      <a:pt x="60" y="632"/>
                    </a:lnTo>
                    <a:lnTo>
                      <a:pt x="60" y="624"/>
                    </a:lnTo>
                    <a:lnTo>
                      <a:pt x="62" y="624"/>
                    </a:lnTo>
                    <a:lnTo>
                      <a:pt x="66" y="624"/>
                    </a:lnTo>
                    <a:lnTo>
                      <a:pt x="70" y="626"/>
                    </a:lnTo>
                    <a:lnTo>
                      <a:pt x="76" y="620"/>
                    </a:lnTo>
                    <a:lnTo>
                      <a:pt x="80" y="624"/>
                    </a:lnTo>
                    <a:lnTo>
                      <a:pt x="84" y="622"/>
                    </a:lnTo>
                    <a:lnTo>
                      <a:pt x="88" y="666"/>
                    </a:lnTo>
                    <a:lnTo>
                      <a:pt x="92" y="664"/>
                    </a:lnTo>
                    <a:lnTo>
                      <a:pt x="98" y="664"/>
                    </a:lnTo>
                    <a:lnTo>
                      <a:pt x="94" y="664"/>
                    </a:lnTo>
                    <a:lnTo>
                      <a:pt x="96" y="664"/>
                    </a:lnTo>
                    <a:lnTo>
                      <a:pt x="104" y="666"/>
                    </a:lnTo>
                    <a:lnTo>
                      <a:pt x="104" y="666"/>
                    </a:lnTo>
                    <a:close/>
                    <a:moveTo>
                      <a:pt x="108" y="98"/>
                    </a:moveTo>
                    <a:lnTo>
                      <a:pt x="108" y="98"/>
                    </a:lnTo>
                    <a:lnTo>
                      <a:pt x="108" y="102"/>
                    </a:lnTo>
                    <a:lnTo>
                      <a:pt x="104" y="102"/>
                    </a:lnTo>
                    <a:lnTo>
                      <a:pt x="104" y="104"/>
                    </a:lnTo>
                    <a:lnTo>
                      <a:pt x="102" y="106"/>
                    </a:lnTo>
                    <a:lnTo>
                      <a:pt x="100" y="110"/>
                    </a:lnTo>
                    <a:lnTo>
                      <a:pt x="96" y="112"/>
                    </a:lnTo>
                    <a:lnTo>
                      <a:pt x="94" y="112"/>
                    </a:lnTo>
                    <a:lnTo>
                      <a:pt x="92" y="114"/>
                    </a:lnTo>
                    <a:lnTo>
                      <a:pt x="92" y="130"/>
                    </a:lnTo>
                    <a:lnTo>
                      <a:pt x="96" y="136"/>
                    </a:lnTo>
                    <a:lnTo>
                      <a:pt x="96" y="138"/>
                    </a:lnTo>
                    <a:lnTo>
                      <a:pt x="94" y="140"/>
                    </a:lnTo>
                    <a:lnTo>
                      <a:pt x="92" y="142"/>
                    </a:lnTo>
                    <a:lnTo>
                      <a:pt x="92" y="144"/>
                    </a:lnTo>
                    <a:lnTo>
                      <a:pt x="94" y="148"/>
                    </a:lnTo>
                    <a:lnTo>
                      <a:pt x="94" y="154"/>
                    </a:lnTo>
                    <a:lnTo>
                      <a:pt x="92" y="160"/>
                    </a:lnTo>
                    <a:lnTo>
                      <a:pt x="88" y="166"/>
                    </a:lnTo>
                    <a:lnTo>
                      <a:pt x="86" y="172"/>
                    </a:lnTo>
                    <a:lnTo>
                      <a:pt x="84" y="176"/>
                    </a:lnTo>
                    <a:lnTo>
                      <a:pt x="82" y="178"/>
                    </a:lnTo>
                    <a:lnTo>
                      <a:pt x="80" y="180"/>
                    </a:lnTo>
                    <a:lnTo>
                      <a:pt x="78" y="186"/>
                    </a:lnTo>
                    <a:lnTo>
                      <a:pt x="76" y="202"/>
                    </a:lnTo>
                    <a:lnTo>
                      <a:pt x="76" y="210"/>
                    </a:lnTo>
                    <a:lnTo>
                      <a:pt x="76" y="216"/>
                    </a:lnTo>
                    <a:lnTo>
                      <a:pt x="74" y="220"/>
                    </a:lnTo>
                    <a:lnTo>
                      <a:pt x="72" y="228"/>
                    </a:lnTo>
                    <a:lnTo>
                      <a:pt x="72" y="236"/>
                    </a:lnTo>
                    <a:lnTo>
                      <a:pt x="72" y="242"/>
                    </a:lnTo>
                    <a:lnTo>
                      <a:pt x="72" y="248"/>
                    </a:lnTo>
                    <a:lnTo>
                      <a:pt x="72" y="252"/>
                    </a:lnTo>
                    <a:lnTo>
                      <a:pt x="68" y="258"/>
                    </a:lnTo>
                    <a:lnTo>
                      <a:pt x="70" y="264"/>
                    </a:lnTo>
                    <a:lnTo>
                      <a:pt x="70" y="270"/>
                    </a:lnTo>
                    <a:lnTo>
                      <a:pt x="70" y="276"/>
                    </a:lnTo>
                    <a:lnTo>
                      <a:pt x="68" y="286"/>
                    </a:lnTo>
                    <a:lnTo>
                      <a:pt x="64" y="296"/>
                    </a:lnTo>
                    <a:lnTo>
                      <a:pt x="62" y="302"/>
                    </a:lnTo>
                    <a:lnTo>
                      <a:pt x="64" y="304"/>
                    </a:lnTo>
                    <a:lnTo>
                      <a:pt x="64" y="310"/>
                    </a:lnTo>
                    <a:lnTo>
                      <a:pt x="64" y="314"/>
                    </a:lnTo>
                    <a:lnTo>
                      <a:pt x="62" y="316"/>
                    </a:lnTo>
                    <a:lnTo>
                      <a:pt x="60" y="316"/>
                    </a:lnTo>
                    <a:lnTo>
                      <a:pt x="58" y="316"/>
                    </a:lnTo>
                    <a:lnTo>
                      <a:pt x="56" y="320"/>
                    </a:lnTo>
                    <a:lnTo>
                      <a:pt x="54" y="322"/>
                    </a:lnTo>
                    <a:lnTo>
                      <a:pt x="52" y="326"/>
                    </a:lnTo>
                    <a:lnTo>
                      <a:pt x="52" y="332"/>
                    </a:lnTo>
                    <a:lnTo>
                      <a:pt x="52" y="340"/>
                    </a:lnTo>
                    <a:lnTo>
                      <a:pt x="52" y="342"/>
                    </a:lnTo>
                    <a:lnTo>
                      <a:pt x="54" y="344"/>
                    </a:lnTo>
                    <a:lnTo>
                      <a:pt x="56" y="350"/>
                    </a:lnTo>
                    <a:lnTo>
                      <a:pt x="54" y="352"/>
                    </a:lnTo>
                    <a:lnTo>
                      <a:pt x="52" y="354"/>
                    </a:lnTo>
                    <a:lnTo>
                      <a:pt x="50" y="362"/>
                    </a:lnTo>
                    <a:lnTo>
                      <a:pt x="48" y="372"/>
                    </a:lnTo>
                    <a:lnTo>
                      <a:pt x="48" y="378"/>
                    </a:lnTo>
                    <a:lnTo>
                      <a:pt x="44" y="382"/>
                    </a:lnTo>
                    <a:lnTo>
                      <a:pt x="42" y="386"/>
                    </a:lnTo>
                    <a:lnTo>
                      <a:pt x="44" y="388"/>
                    </a:lnTo>
                    <a:lnTo>
                      <a:pt x="44" y="392"/>
                    </a:lnTo>
                    <a:lnTo>
                      <a:pt x="46" y="396"/>
                    </a:lnTo>
                    <a:lnTo>
                      <a:pt x="44" y="402"/>
                    </a:lnTo>
                    <a:lnTo>
                      <a:pt x="44" y="406"/>
                    </a:lnTo>
                    <a:lnTo>
                      <a:pt x="46" y="408"/>
                    </a:lnTo>
                    <a:lnTo>
                      <a:pt x="50" y="408"/>
                    </a:lnTo>
                    <a:lnTo>
                      <a:pt x="50" y="412"/>
                    </a:lnTo>
                    <a:lnTo>
                      <a:pt x="50" y="422"/>
                    </a:lnTo>
                    <a:lnTo>
                      <a:pt x="46" y="430"/>
                    </a:lnTo>
                    <a:lnTo>
                      <a:pt x="46" y="434"/>
                    </a:lnTo>
                    <a:lnTo>
                      <a:pt x="46" y="436"/>
                    </a:lnTo>
                    <a:lnTo>
                      <a:pt x="48" y="442"/>
                    </a:lnTo>
                    <a:lnTo>
                      <a:pt x="50" y="444"/>
                    </a:lnTo>
                    <a:lnTo>
                      <a:pt x="50" y="446"/>
                    </a:lnTo>
                    <a:lnTo>
                      <a:pt x="50" y="450"/>
                    </a:lnTo>
                    <a:lnTo>
                      <a:pt x="50" y="456"/>
                    </a:lnTo>
                    <a:lnTo>
                      <a:pt x="50" y="462"/>
                    </a:lnTo>
                    <a:lnTo>
                      <a:pt x="50" y="464"/>
                    </a:lnTo>
                    <a:lnTo>
                      <a:pt x="50" y="466"/>
                    </a:lnTo>
                    <a:lnTo>
                      <a:pt x="50" y="470"/>
                    </a:lnTo>
                    <a:lnTo>
                      <a:pt x="50" y="472"/>
                    </a:lnTo>
                    <a:lnTo>
                      <a:pt x="50" y="476"/>
                    </a:lnTo>
                    <a:lnTo>
                      <a:pt x="50" y="478"/>
                    </a:lnTo>
                    <a:lnTo>
                      <a:pt x="48" y="478"/>
                    </a:lnTo>
                    <a:lnTo>
                      <a:pt x="48" y="480"/>
                    </a:lnTo>
                    <a:lnTo>
                      <a:pt x="46" y="484"/>
                    </a:lnTo>
                    <a:lnTo>
                      <a:pt x="46" y="486"/>
                    </a:lnTo>
                    <a:lnTo>
                      <a:pt x="48" y="492"/>
                    </a:lnTo>
                    <a:lnTo>
                      <a:pt x="48" y="496"/>
                    </a:lnTo>
                    <a:lnTo>
                      <a:pt x="48" y="502"/>
                    </a:lnTo>
                    <a:lnTo>
                      <a:pt x="46" y="508"/>
                    </a:lnTo>
                    <a:lnTo>
                      <a:pt x="46" y="514"/>
                    </a:lnTo>
                    <a:lnTo>
                      <a:pt x="46" y="518"/>
                    </a:lnTo>
                    <a:lnTo>
                      <a:pt x="46" y="520"/>
                    </a:lnTo>
                    <a:lnTo>
                      <a:pt x="42" y="524"/>
                    </a:lnTo>
                    <a:lnTo>
                      <a:pt x="40" y="528"/>
                    </a:lnTo>
                    <a:lnTo>
                      <a:pt x="40" y="532"/>
                    </a:lnTo>
                    <a:lnTo>
                      <a:pt x="42" y="538"/>
                    </a:lnTo>
                    <a:lnTo>
                      <a:pt x="38" y="542"/>
                    </a:lnTo>
                    <a:lnTo>
                      <a:pt x="32" y="546"/>
                    </a:lnTo>
                    <a:lnTo>
                      <a:pt x="30" y="548"/>
                    </a:lnTo>
                    <a:lnTo>
                      <a:pt x="30" y="550"/>
                    </a:lnTo>
                    <a:lnTo>
                      <a:pt x="32" y="558"/>
                    </a:lnTo>
                    <a:lnTo>
                      <a:pt x="30" y="562"/>
                    </a:lnTo>
                    <a:lnTo>
                      <a:pt x="28" y="568"/>
                    </a:lnTo>
                    <a:lnTo>
                      <a:pt x="28" y="574"/>
                    </a:lnTo>
                    <a:lnTo>
                      <a:pt x="28" y="580"/>
                    </a:lnTo>
                    <a:lnTo>
                      <a:pt x="28" y="582"/>
                    </a:lnTo>
                    <a:lnTo>
                      <a:pt x="30" y="582"/>
                    </a:lnTo>
                    <a:lnTo>
                      <a:pt x="32" y="582"/>
                    </a:lnTo>
                    <a:lnTo>
                      <a:pt x="34" y="580"/>
                    </a:lnTo>
                    <a:lnTo>
                      <a:pt x="36" y="580"/>
                    </a:lnTo>
                    <a:lnTo>
                      <a:pt x="38" y="580"/>
                    </a:lnTo>
                    <a:lnTo>
                      <a:pt x="40" y="584"/>
                    </a:lnTo>
                    <a:lnTo>
                      <a:pt x="38" y="588"/>
                    </a:lnTo>
                    <a:lnTo>
                      <a:pt x="36" y="590"/>
                    </a:lnTo>
                    <a:lnTo>
                      <a:pt x="36" y="592"/>
                    </a:lnTo>
                    <a:lnTo>
                      <a:pt x="38" y="598"/>
                    </a:lnTo>
                    <a:lnTo>
                      <a:pt x="46" y="606"/>
                    </a:lnTo>
                    <a:lnTo>
                      <a:pt x="50" y="612"/>
                    </a:lnTo>
                    <a:lnTo>
                      <a:pt x="66" y="610"/>
                    </a:lnTo>
                    <a:lnTo>
                      <a:pt x="90" y="612"/>
                    </a:lnTo>
                    <a:lnTo>
                      <a:pt x="90" y="614"/>
                    </a:lnTo>
                    <a:lnTo>
                      <a:pt x="80" y="614"/>
                    </a:lnTo>
                    <a:lnTo>
                      <a:pt x="76" y="616"/>
                    </a:lnTo>
                    <a:lnTo>
                      <a:pt x="74" y="622"/>
                    </a:lnTo>
                    <a:lnTo>
                      <a:pt x="56" y="622"/>
                    </a:lnTo>
                    <a:lnTo>
                      <a:pt x="58" y="626"/>
                    </a:lnTo>
                    <a:lnTo>
                      <a:pt x="54" y="632"/>
                    </a:lnTo>
                    <a:lnTo>
                      <a:pt x="56" y="638"/>
                    </a:lnTo>
                    <a:lnTo>
                      <a:pt x="54" y="642"/>
                    </a:lnTo>
                    <a:lnTo>
                      <a:pt x="52" y="644"/>
                    </a:lnTo>
                    <a:lnTo>
                      <a:pt x="48" y="642"/>
                    </a:lnTo>
                    <a:lnTo>
                      <a:pt x="44" y="640"/>
                    </a:lnTo>
                    <a:lnTo>
                      <a:pt x="44" y="640"/>
                    </a:lnTo>
                    <a:lnTo>
                      <a:pt x="44" y="634"/>
                    </a:lnTo>
                    <a:lnTo>
                      <a:pt x="40" y="636"/>
                    </a:lnTo>
                    <a:lnTo>
                      <a:pt x="40" y="640"/>
                    </a:lnTo>
                    <a:lnTo>
                      <a:pt x="34" y="636"/>
                    </a:lnTo>
                    <a:lnTo>
                      <a:pt x="32" y="636"/>
                    </a:lnTo>
                    <a:lnTo>
                      <a:pt x="36" y="640"/>
                    </a:lnTo>
                    <a:lnTo>
                      <a:pt x="42" y="642"/>
                    </a:lnTo>
                    <a:lnTo>
                      <a:pt x="40" y="646"/>
                    </a:lnTo>
                    <a:lnTo>
                      <a:pt x="42" y="650"/>
                    </a:lnTo>
                    <a:lnTo>
                      <a:pt x="38" y="652"/>
                    </a:lnTo>
                    <a:lnTo>
                      <a:pt x="38" y="650"/>
                    </a:lnTo>
                    <a:lnTo>
                      <a:pt x="36" y="650"/>
                    </a:lnTo>
                    <a:lnTo>
                      <a:pt x="34" y="650"/>
                    </a:lnTo>
                    <a:lnTo>
                      <a:pt x="32" y="648"/>
                    </a:lnTo>
                    <a:lnTo>
                      <a:pt x="32" y="646"/>
                    </a:lnTo>
                    <a:lnTo>
                      <a:pt x="32" y="644"/>
                    </a:lnTo>
                    <a:lnTo>
                      <a:pt x="30" y="644"/>
                    </a:lnTo>
                    <a:lnTo>
                      <a:pt x="28" y="646"/>
                    </a:lnTo>
                    <a:lnTo>
                      <a:pt x="28" y="644"/>
                    </a:lnTo>
                    <a:lnTo>
                      <a:pt x="26" y="644"/>
                    </a:lnTo>
                    <a:lnTo>
                      <a:pt x="26" y="642"/>
                    </a:lnTo>
                    <a:lnTo>
                      <a:pt x="24" y="642"/>
                    </a:lnTo>
                    <a:lnTo>
                      <a:pt x="24" y="640"/>
                    </a:lnTo>
                    <a:lnTo>
                      <a:pt x="26" y="632"/>
                    </a:lnTo>
                    <a:lnTo>
                      <a:pt x="30" y="632"/>
                    </a:lnTo>
                    <a:lnTo>
                      <a:pt x="30" y="634"/>
                    </a:lnTo>
                    <a:lnTo>
                      <a:pt x="32" y="634"/>
                    </a:lnTo>
                    <a:lnTo>
                      <a:pt x="32" y="632"/>
                    </a:lnTo>
                    <a:lnTo>
                      <a:pt x="30" y="630"/>
                    </a:lnTo>
                    <a:lnTo>
                      <a:pt x="26" y="630"/>
                    </a:lnTo>
                    <a:lnTo>
                      <a:pt x="24" y="622"/>
                    </a:lnTo>
                    <a:lnTo>
                      <a:pt x="22" y="614"/>
                    </a:lnTo>
                    <a:lnTo>
                      <a:pt x="26" y="614"/>
                    </a:lnTo>
                    <a:lnTo>
                      <a:pt x="30" y="614"/>
                    </a:lnTo>
                    <a:lnTo>
                      <a:pt x="30" y="616"/>
                    </a:lnTo>
                    <a:lnTo>
                      <a:pt x="32" y="616"/>
                    </a:lnTo>
                    <a:lnTo>
                      <a:pt x="34" y="610"/>
                    </a:lnTo>
                    <a:lnTo>
                      <a:pt x="36" y="610"/>
                    </a:lnTo>
                    <a:lnTo>
                      <a:pt x="40" y="606"/>
                    </a:lnTo>
                    <a:lnTo>
                      <a:pt x="40" y="604"/>
                    </a:lnTo>
                    <a:lnTo>
                      <a:pt x="38" y="606"/>
                    </a:lnTo>
                    <a:lnTo>
                      <a:pt x="36" y="606"/>
                    </a:lnTo>
                    <a:lnTo>
                      <a:pt x="34" y="602"/>
                    </a:lnTo>
                    <a:lnTo>
                      <a:pt x="30" y="608"/>
                    </a:lnTo>
                    <a:lnTo>
                      <a:pt x="26" y="612"/>
                    </a:lnTo>
                    <a:lnTo>
                      <a:pt x="24" y="612"/>
                    </a:lnTo>
                    <a:lnTo>
                      <a:pt x="24" y="606"/>
                    </a:lnTo>
                    <a:lnTo>
                      <a:pt x="18" y="610"/>
                    </a:lnTo>
                    <a:lnTo>
                      <a:pt x="16" y="610"/>
                    </a:lnTo>
                    <a:lnTo>
                      <a:pt x="20" y="616"/>
                    </a:lnTo>
                    <a:lnTo>
                      <a:pt x="20" y="626"/>
                    </a:lnTo>
                    <a:lnTo>
                      <a:pt x="12" y="624"/>
                    </a:lnTo>
                    <a:lnTo>
                      <a:pt x="14" y="626"/>
                    </a:lnTo>
                    <a:lnTo>
                      <a:pt x="16" y="626"/>
                    </a:lnTo>
                    <a:lnTo>
                      <a:pt x="24" y="632"/>
                    </a:lnTo>
                    <a:lnTo>
                      <a:pt x="24" y="634"/>
                    </a:lnTo>
                    <a:lnTo>
                      <a:pt x="22" y="634"/>
                    </a:lnTo>
                    <a:lnTo>
                      <a:pt x="18" y="634"/>
                    </a:lnTo>
                    <a:lnTo>
                      <a:pt x="16" y="634"/>
                    </a:lnTo>
                    <a:lnTo>
                      <a:pt x="8" y="626"/>
                    </a:lnTo>
                    <a:lnTo>
                      <a:pt x="10" y="622"/>
                    </a:lnTo>
                    <a:lnTo>
                      <a:pt x="6" y="618"/>
                    </a:lnTo>
                    <a:lnTo>
                      <a:pt x="4" y="616"/>
                    </a:lnTo>
                    <a:lnTo>
                      <a:pt x="2" y="610"/>
                    </a:lnTo>
                    <a:lnTo>
                      <a:pt x="2" y="608"/>
                    </a:lnTo>
                    <a:lnTo>
                      <a:pt x="4" y="606"/>
                    </a:lnTo>
                    <a:lnTo>
                      <a:pt x="8" y="604"/>
                    </a:lnTo>
                    <a:lnTo>
                      <a:pt x="12" y="608"/>
                    </a:lnTo>
                    <a:lnTo>
                      <a:pt x="14" y="608"/>
                    </a:lnTo>
                    <a:lnTo>
                      <a:pt x="14" y="606"/>
                    </a:lnTo>
                    <a:lnTo>
                      <a:pt x="16" y="606"/>
                    </a:lnTo>
                    <a:lnTo>
                      <a:pt x="20" y="606"/>
                    </a:lnTo>
                    <a:lnTo>
                      <a:pt x="20" y="602"/>
                    </a:lnTo>
                    <a:lnTo>
                      <a:pt x="24" y="602"/>
                    </a:lnTo>
                    <a:lnTo>
                      <a:pt x="22" y="598"/>
                    </a:lnTo>
                    <a:lnTo>
                      <a:pt x="20" y="596"/>
                    </a:lnTo>
                    <a:lnTo>
                      <a:pt x="18" y="594"/>
                    </a:lnTo>
                    <a:lnTo>
                      <a:pt x="18" y="592"/>
                    </a:lnTo>
                    <a:lnTo>
                      <a:pt x="18" y="590"/>
                    </a:lnTo>
                    <a:lnTo>
                      <a:pt x="24" y="586"/>
                    </a:lnTo>
                    <a:lnTo>
                      <a:pt x="22" y="586"/>
                    </a:lnTo>
                    <a:lnTo>
                      <a:pt x="18" y="584"/>
                    </a:lnTo>
                    <a:lnTo>
                      <a:pt x="18" y="582"/>
                    </a:lnTo>
                    <a:lnTo>
                      <a:pt x="20" y="582"/>
                    </a:lnTo>
                    <a:lnTo>
                      <a:pt x="22" y="582"/>
                    </a:lnTo>
                    <a:lnTo>
                      <a:pt x="20" y="582"/>
                    </a:lnTo>
                    <a:lnTo>
                      <a:pt x="16" y="580"/>
                    </a:lnTo>
                    <a:lnTo>
                      <a:pt x="12" y="580"/>
                    </a:lnTo>
                    <a:lnTo>
                      <a:pt x="12" y="574"/>
                    </a:lnTo>
                    <a:lnTo>
                      <a:pt x="16" y="570"/>
                    </a:lnTo>
                    <a:lnTo>
                      <a:pt x="16" y="566"/>
                    </a:lnTo>
                    <a:lnTo>
                      <a:pt x="18" y="564"/>
                    </a:lnTo>
                    <a:lnTo>
                      <a:pt x="20" y="564"/>
                    </a:lnTo>
                    <a:lnTo>
                      <a:pt x="20" y="562"/>
                    </a:lnTo>
                    <a:lnTo>
                      <a:pt x="22" y="556"/>
                    </a:lnTo>
                    <a:lnTo>
                      <a:pt x="18" y="558"/>
                    </a:lnTo>
                    <a:lnTo>
                      <a:pt x="18" y="560"/>
                    </a:lnTo>
                    <a:lnTo>
                      <a:pt x="16" y="560"/>
                    </a:lnTo>
                    <a:lnTo>
                      <a:pt x="16" y="548"/>
                    </a:lnTo>
                    <a:lnTo>
                      <a:pt x="18" y="548"/>
                    </a:lnTo>
                    <a:lnTo>
                      <a:pt x="16" y="544"/>
                    </a:lnTo>
                    <a:lnTo>
                      <a:pt x="16" y="536"/>
                    </a:lnTo>
                    <a:lnTo>
                      <a:pt x="16" y="528"/>
                    </a:lnTo>
                    <a:lnTo>
                      <a:pt x="20" y="530"/>
                    </a:lnTo>
                    <a:lnTo>
                      <a:pt x="20" y="528"/>
                    </a:lnTo>
                    <a:lnTo>
                      <a:pt x="22" y="526"/>
                    </a:lnTo>
                    <a:lnTo>
                      <a:pt x="18" y="526"/>
                    </a:lnTo>
                    <a:lnTo>
                      <a:pt x="20" y="524"/>
                    </a:lnTo>
                    <a:lnTo>
                      <a:pt x="20" y="520"/>
                    </a:lnTo>
                    <a:lnTo>
                      <a:pt x="18" y="512"/>
                    </a:lnTo>
                    <a:lnTo>
                      <a:pt x="12" y="512"/>
                    </a:lnTo>
                    <a:lnTo>
                      <a:pt x="12" y="516"/>
                    </a:lnTo>
                    <a:lnTo>
                      <a:pt x="6" y="514"/>
                    </a:lnTo>
                    <a:lnTo>
                      <a:pt x="6" y="512"/>
                    </a:lnTo>
                    <a:lnTo>
                      <a:pt x="6" y="510"/>
                    </a:lnTo>
                    <a:lnTo>
                      <a:pt x="8" y="510"/>
                    </a:lnTo>
                    <a:lnTo>
                      <a:pt x="8" y="508"/>
                    </a:lnTo>
                    <a:lnTo>
                      <a:pt x="6" y="508"/>
                    </a:lnTo>
                    <a:lnTo>
                      <a:pt x="6" y="510"/>
                    </a:lnTo>
                    <a:lnTo>
                      <a:pt x="2" y="510"/>
                    </a:lnTo>
                    <a:lnTo>
                      <a:pt x="2" y="514"/>
                    </a:lnTo>
                    <a:lnTo>
                      <a:pt x="0" y="514"/>
                    </a:lnTo>
                    <a:lnTo>
                      <a:pt x="0" y="508"/>
                    </a:lnTo>
                    <a:lnTo>
                      <a:pt x="6" y="504"/>
                    </a:lnTo>
                    <a:lnTo>
                      <a:pt x="2" y="500"/>
                    </a:lnTo>
                    <a:lnTo>
                      <a:pt x="6" y="498"/>
                    </a:lnTo>
                    <a:lnTo>
                      <a:pt x="8" y="496"/>
                    </a:lnTo>
                    <a:lnTo>
                      <a:pt x="12" y="496"/>
                    </a:lnTo>
                    <a:lnTo>
                      <a:pt x="12" y="502"/>
                    </a:lnTo>
                    <a:lnTo>
                      <a:pt x="16" y="498"/>
                    </a:lnTo>
                    <a:lnTo>
                      <a:pt x="16" y="502"/>
                    </a:lnTo>
                    <a:lnTo>
                      <a:pt x="14" y="502"/>
                    </a:lnTo>
                    <a:lnTo>
                      <a:pt x="16" y="502"/>
                    </a:lnTo>
                    <a:lnTo>
                      <a:pt x="18" y="502"/>
                    </a:lnTo>
                    <a:lnTo>
                      <a:pt x="18" y="500"/>
                    </a:lnTo>
                    <a:lnTo>
                      <a:pt x="22" y="500"/>
                    </a:lnTo>
                    <a:lnTo>
                      <a:pt x="22" y="502"/>
                    </a:lnTo>
                    <a:lnTo>
                      <a:pt x="22" y="504"/>
                    </a:lnTo>
                    <a:lnTo>
                      <a:pt x="24" y="502"/>
                    </a:lnTo>
                    <a:lnTo>
                      <a:pt x="26" y="502"/>
                    </a:lnTo>
                    <a:lnTo>
                      <a:pt x="26" y="496"/>
                    </a:lnTo>
                    <a:lnTo>
                      <a:pt x="26" y="488"/>
                    </a:lnTo>
                    <a:lnTo>
                      <a:pt x="30" y="486"/>
                    </a:lnTo>
                    <a:lnTo>
                      <a:pt x="28" y="484"/>
                    </a:lnTo>
                    <a:lnTo>
                      <a:pt x="26" y="484"/>
                    </a:lnTo>
                    <a:lnTo>
                      <a:pt x="28" y="476"/>
                    </a:lnTo>
                    <a:lnTo>
                      <a:pt x="26" y="470"/>
                    </a:lnTo>
                    <a:lnTo>
                      <a:pt x="30" y="468"/>
                    </a:lnTo>
                    <a:lnTo>
                      <a:pt x="26" y="464"/>
                    </a:lnTo>
                    <a:lnTo>
                      <a:pt x="34" y="464"/>
                    </a:lnTo>
                    <a:lnTo>
                      <a:pt x="32" y="462"/>
                    </a:lnTo>
                    <a:lnTo>
                      <a:pt x="30" y="462"/>
                    </a:lnTo>
                    <a:lnTo>
                      <a:pt x="30" y="458"/>
                    </a:lnTo>
                    <a:lnTo>
                      <a:pt x="38" y="454"/>
                    </a:lnTo>
                    <a:lnTo>
                      <a:pt x="34" y="450"/>
                    </a:lnTo>
                    <a:lnTo>
                      <a:pt x="34" y="446"/>
                    </a:lnTo>
                    <a:lnTo>
                      <a:pt x="32" y="446"/>
                    </a:lnTo>
                    <a:lnTo>
                      <a:pt x="32" y="442"/>
                    </a:lnTo>
                    <a:lnTo>
                      <a:pt x="34" y="440"/>
                    </a:lnTo>
                    <a:lnTo>
                      <a:pt x="36" y="438"/>
                    </a:lnTo>
                    <a:lnTo>
                      <a:pt x="36" y="440"/>
                    </a:lnTo>
                    <a:lnTo>
                      <a:pt x="38" y="438"/>
                    </a:lnTo>
                    <a:lnTo>
                      <a:pt x="36" y="418"/>
                    </a:lnTo>
                    <a:lnTo>
                      <a:pt x="40" y="416"/>
                    </a:lnTo>
                    <a:lnTo>
                      <a:pt x="40" y="414"/>
                    </a:lnTo>
                    <a:lnTo>
                      <a:pt x="38" y="414"/>
                    </a:lnTo>
                    <a:lnTo>
                      <a:pt x="36" y="410"/>
                    </a:lnTo>
                    <a:lnTo>
                      <a:pt x="32" y="414"/>
                    </a:lnTo>
                    <a:lnTo>
                      <a:pt x="32" y="416"/>
                    </a:lnTo>
                    <a:lnTo>
                      <a:pt x="26" y="416"/>
                    </a:lnTo>
                    <a:lnTo>
                      <a:pt x="26" y="410"/>
                    </a:lnTo>
                    <a:lnTo>
                      <a:pt x="24" y="404"/>
                    </a:lnTo>
                    <a:lnTo>
                      <a:pt x="26" y="394"/>
                    </a:lnTo>
                    <a:lnTo>
                      <a:pt x="30" y="382"/>
                    </a:lnTo>
                    <a:lnTo>
                      <a:pt x="32" y="382"/>
                    </a:lnTo>
                    <a:lnTo>
                      <a:pt x="32" y="370"/>
                    </a:lnTo>
                    <a:lnTo>
                      <a:pt x="30" y="362"/>
                    </a:lnTo>
                    <a:lnTo>
                      <a:pt x="30" y="360"/>
                    </a:lnTo>
                    <a:lnTo>
                      <a:pt x="32" y="360"/>
                    </a:lnTo>
                    <a:lnTo>
                      <a:pt x="30" y="358"/>
                    </a:lnTo>
                    <a:lnTo>
                      <a:pt x="30" y="356"/>
                    </a:lnTo>
                    <a:lnTo>
                      <a:pt x="30" y="354"/>
                    </a:lnTo>
                    <a:lnTo>
                      <a:pt x="32" y="350"/>
                    </a:lnTo>
                    <a:lnTo>
                      <a:pt x="28" y="348"/>
                    </a:lnTo>
                    <a:lnTo>
                      <a:pt x="28" y="344"/>
                    </a:lnTo>
                    <a:lnTo>
                      <a:pt x="30" y="342"/>
                    </a:lnTo>
                    <a:lnTo>
                      <a:pt x="26" y="338"/>
                    </a:lnTo>
                    <a:lnTo>
                      <a:pt x="30" y="336"/>
                    </a:lnTo>
                    <a:lnTo>
                      <a:pt x="34" y="336"/>
                    </a:lnTo>
                    <a:lnTo>
                      <a:pt x="32" y="330"/>
                    </a:lnTo>
                    <a:lnTo>
                      <a:pt x="34" y="328"/>
                    </a:lnTo>
                    <a:lnTo>
                      <a:pt x="36" y="326"/>
                    </a:lnTo>
                    <a:lnTo>
                      <a:pt x="38" y="324"/>
                    </a:lnTo>
                    <a:lnTo>
                      <a:pt x="38" y="318"/>
                    </a:lnTo>
                    <a:lnTo>
                      <a:pt x="42" y="314"/>
                    </a:lnTo>
                    <a:lnTo>
                      <a:pt x="42" y="308"/>
                    </a:lnTo>
                    <a:lnTo>
                      <a:pt x="42" y="302"/>
                    </a:lnTo>
                    <a:lnTo>
                      <a:pt x="42" y="302"/>
                    </a:lnTo>
                    <a:lnTo>
                      <a:pt x="40" y="298"/>
                    </a:lnTo>
                    <a:lnTo>
                      <a:pt x="44" y="292"/>
                    </a:lnTo>
                    <a:lnTo>
                      <a:pt x="48" y="286"/>
                    </a:lnTo>
                    <a:lnTo>
                      <a:pt x="48" y="276"/>
                    </a:lnTo>
                    <a:lnTo>
                      <a:pt x="50" y="270"/>
                    </a:lnTo>
                    <a:lnTo>
                      <a:pt x="50" y="268"/>
                    </a:lnTo>
                    <a:lnTo>
                      <a:pt x="50" y="266"/>
                    </a:lnTo>
                    <a:lnTo>
                      <a:pt x="50" y="260"/>
                    </a:lnTo>
                    <a:lnTo>
                      <a:pt x="54" y="256"/>
                    </a:lnTo>
                    <a:lnTo>
                      <a:pt x="56" y="236"/>
                    </a:lnTo>
                    <a:lnTo>
                      <a:pt x="54" y="230"/>
                    </a:lnTo>
                    <a:lnTo>
                      <a:pt x="52" y="226"/>
                    </a:lnTo>
                    <a:lnTo>
                      <a:pt x="52" y="220"/>
                    </a:lnTo>
                    <a:lnTo>
                      <a:pt x="54" y="216"/>
                    </a:lnTo>
                    <a:lnTo>
                      <a:pt x="56" y="216"/>
                    </a:lnTo>
                    <a:lnTo>
                      <a:pt x="56" y="202"/>
                    </a:lnTo>
                    <a:lnTo>
                      <a:pt x="54" y="196"/>
                    </a:lnTo>
                    <a:lnTo>
                      <a:pt x="52" y="192"/>
                    </a:lnTo>
                    <a:lnTo>
                      <a:pt x="52" y="190"/>
                    </a:lnTo>
                    <a:lnTo>
                      <a:pt x="56" y="182"/>
                    </a:lnTo>
                    <a:lnTo>
                      <a:pt x="56" y="176"/>
                    </a:lnTo>
                    <a:lnTo>
                      <a:pt x="56" y="172"/>
                    </a:lnTo>
                    <a:lnTo>
                      <a:pt x="58" y="172"/>
                    </a:lnTo>
                    <a:lnTo>
                      <a:pt x="58" y="166"/>
                    </a:lnTo>
                    <a:lnTo>
                      <a:pt x="58" y="162"/>
                    </a:lnTo>
                    <a:lnTo>
                      <a:pt x="62" y="160"/>
                    </a:lnTo>
                    <a:lnTo>
                      <a:pt x="62" y="156"/>
                    </a:lnTo>
                    <a:lnTo>
                      <a:pt x="62" y="152"/>
                    </a:lnTo>
                    <a:lnTo>
                      <a:pt x="62" y="144"/>
                    </a:lnTo>
                    <a:lnTo>
                      <a:pt x="64" y="144"/>
                    </a:lnTo>
                    <a:lnTo>
                      <a:pt x="62" y="142"/>
                    </a:lnTo>
                    <a:lnTo>
                      <a:pt x="66" y="134"/>
                    </a:lnTo>
                    <a:lnTo>
                      <a:pt x="64" y="130"/>
                    </a:lnTo>
                    <a:lnTo>
                      <a:pt x="64" y="128"/>
                    </a:lnTo>
                    <a:lnTo>
                      <a:pt x="62" y="120"/>
                    </a:lnTo>
                    <a:lnTo>
                      <a:pt x="64" y="114"/>
                    </a:lnTo>
                    <a:lnTo>
                      <a:pt x="66" y="104"/>
                    </a:lnTo>
                    <a:lnTo>
                      <a:pt x="66" y="102"/>
                    </a:lnTo>
                    <a:lnTo>
                      <a:pt x="68" y="102"/>
                    </a:lnTo>
                    <a:lnTo>
                      <a:pt x="68" y="98"/>
                    </a:lnTo>
                    <a:lnTo>
                      <a:pt x="64" y="96"/>
                    </a:lnTo>
                    <a:lnTo>
                      <a:pt x="64" y="94"/>
                    </a:lnTo>
                    <a:lnTo>
                      <a:pt x="64" y="90"/>
                    </a:lnTo>
                    <a:lnTo>
                      <a:pt x="68" y="90"/>
                    </a:lnTo>
                    <a:lnTo>
                      <a:pt x="68" y="80"/>
                    </a:lnTo>
                    <a:lnTo>
                      <a:pt x="68" y="68"/>
                    </a:lnTo>
                    <a:lnTo>
                      <a:pt x="70" y="68"/>
                    </a:lnTo>
                    <a:lnTo>
                      <a:pt x="70" y="62"/>
                    </a:lnTo>
                    <a:lnTo>
                      <a:pt x="72" y="62"/>
                    </a:lnTo>
                    <a:lnTo>
                      <a:pt x="72" y="58"/>
                    </a:lnTo>
                    <a:lnTo>
                      <a:pt x="70" y="56"/>
                    </a:lnTo>
                    <a:lnTo>
                      <a:pt x="72" y="48"/>
                    </a:lnTo>
                    <a:lnTo>
                      <a:pt x="72" y="42"/>
                    </a:lnTo>
                    <a:lnTo>
                      <a:pt x="72" y="28"/>
                    </a:lnTo>
                    <a:lnTo>
                      <a:pt x="70" y="18"/>
                    </a:lnTo>
                    <a:lnTo>
                      <a:pt x="70" y="10"/>
                    </a:lnTo>
                    <a:lnTo>
                      <a:pt x="68" y="8"/>
                    </a:lnTo>
                    <a:lnTo>
                      <a:pt x="70" y="8"/>
                    </a:lnTo>
                    <a:lnTo>
                      <a:pt x="72" y="4"/>
                    </a:lnTo>
                    <a:lnTo>
                      <a:pt x="74" y="0"/>
                    </a:lnTo>
                    <a:lnTo>
                      <a:pt x="76" y="0"/>
                    </a:lnTo>
                    <a:lnTo>
                      <a:pt x="78" y="6"/>
                    </a:lnTo>
                    <a:lnTo>
                      <a:pt x="80" y="12"/>
                    </a:lnTo>
                    <a:lnTo>
                      <a:pt x="82" y="14"/>
                    </a:lnTo>
                    <a:lnTo>
                      <a:pt x="86" y="20"/>
                    </a:lnTo>
                    <a:lnTo>
                      <a:pt x="88" y="22"/>
                    </a:lnTo>
                    <a:lnTo>
                      <a:pt x="92" y="34"/>
                    </a:lnTo>
                    <a:lnTo>
                      <a:pt x="92" y="40"/>
                    </a:lnTo>
                    <a:lnTo>
                      <a:pt x="96" y="46"/>
                    </a:lnTo>
                    <a:lnTo>
                      <a:pt x="96" y="50"/>
                    </a:lnTo>
                    <a:lnTo>
                      <a:pt x="96" y="54"/>
                    </a:lnTo>
                    <a:lnTo>
                      <a:pt x="96" y="60"/>
                    </a:lnTo>
                    <a:lnTo>
                      <a:pt x="98" y="72"/>
                    </a:lnTo>
                    <a:lnTo>
                      <a:pt x="104" y="76"/>
                    </a:lnTo>
                    <a:lnTo>
                      <a:pt x="104" y="80"/>
                    </a:lnTo>
                    <a:lnTo>
                      <a:pt x="104" y="82"/>
                    </a:lnTo>
                    <a:lnTo>
                      <a:pt x="106" y="84"/>
                    </a:lnTo>
                    <a:lnTo>
                      <a:pt x="110" y="88"/>
                    </a:lnTo>
                    <a:lnTo>
                      <a:pt x="110" y="90"/>
                    </a:lnTo>
                    <a:lnTo>
                      <a:pt x="108" y="98"/>
                    </a:lnTo>
                    <a:lnTo>
                      <a:pt x="108" y="9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09" name="Freeform 383">
                <a:extLst>
                  <a:ext uri="{FF2B5EF4-FFF2-40B4-BE49-F238E27FC236}">
                    <a16:creationId xmlns:a16="http://schemas.microsoft.com/office/drawing/2014/main" id="{0DD12170-FDDA-EBC7-51E0-30ED3910ABBD}"/>
                  </a:ext>
                </a:extLst>
              </p:cNvPr>
              <p:cNvSpPr>
                <a:spLocks noEditPoints="1"/>
              </p:cNvSpPr>
              <p:nvPr/>
            </p:nvSpPr>
            <p:spPr bwMode="auto">
              <a:xfrm>
                <a:off x="5009987" y="3892953"/>
                <a:ext cx="132239" cy="253621"/>
              </a:xfrm>
              <a:custGeom>
                <a:avLst/>
                <a:gdLst/>
                <a:ahLst/>
                <a:cxnLst>
                  <a:cxn ang="0">
                    <a:pos x="8" y="168"/>
                  </a:cxn>
                  <a:cxn ang="0">
                    <a:pos x="16" y="178"/>
                  </a:cxn>
                  <a:cxn ang="0">
                    <a:pos x="16" y="182"/>
                  </a:cxn>
                  <a:cxn ang="0">
                    <a:pos x="20" y="190"/>
                  </a:cxn>
                  <a:cxn ang="0">
                    <a:pos x="18" y="196"/>
                  </a:cxn>
                  <a:cxn ang="0">
                    <a:pos x="18" y="206"/>
                  </a:cxn>
                  <a:cxn ang="0">
                    <a:pos x="20" y="214"/>
                  </a:cxn>
                  <a:cxn ang="0">
                    <a:pos x="22" y="222"/>
                  </a:cxn>
                  <a:cxn ang="0">
                    <a:pos x="16" y="224"/>
                  </a:cxn>
                  <a:cxn ang="0">
                    <a:pos x="8" y="224"/>
                  </a:cxn>
                  <a:cxn ang="0">
                    <a:pos x="6" y="230"/>
                  </a:cxn>
                  <a:cxn ang="0">
                    <a:pos x="14" y="244"/>
                  </a:cxn>
                  <a:cxn ang="0">
                    <a:pos x="18" y="256"/>
                  </a:cxn>
                  <a:cxn ang="0">
                    <a:pos x="20" y="264"/>
                  </a:cxn>
                  <a:cxn ang="0">
                    <a:pos x="30" y="258"/>
                  </a:cxn>
                  <a:cxn ang="0">
                    <a:pos x="36" y="260"/>
                  </a:cxn>
                  <a:cxn ang="0">
                    <a:pos x="58" y="256"/>
                  </a:cxn>
                  <a:cxn ang="0">
                    <a:pos x="66" y="246"/>
                  </a:cxn>
                  <a:cxn ang="0">
                    <a:pos x="68" y="242"/>
                  </a:cxn>
                  <a:cxn ang="0">
                    <a:pos x="68" y="236"/>
                  </a:cxn>
                  <a:cxn ang="0">
                    <a:pos x="74" y="232"/>
                  </a:cxn>
                  <a:cxn ang="0">
                    <a:pos x="82" y="230"/>
                  </a:cxn>
                  <a:cxn ang="0">
                    <a:pos x="90" y="226"/>
                  </a:cxn>
                  <a:cxn ang="0">
                    <a:pos x="94" y="224"/>
                  </a:cxn>
                  <a:cxn ang="0">
                    <a:pos x="104" y="218"/>
                  </a:cxn>
                  <a:cxn ang="0">
                    <a:pos x="108" y="212"/>
                  </a:cxn>
                  <a:cxn ang="0">
                    <a:pos x="112" y="208"/>
                  </a:cxn>
                  <a:cxn ang="0">
                    <a:pos x="114" y="206"/>
                  </a:cxn>
                  <a:cxn ang="0">
                    <a:pos x="110" y="198"/>
                  </a:cxn>
                  <a:cxn ang="0">
                    <a:pos x="112" y="190"/>
                  </a:cxn>
                  <a:cxn ang="0">
                    <a:pos x="110" y="184"/>
                  </a:cxn>
                  <a:cxn ang="0">
                    <a:pos x="114" y="180"/>
                  </a:cxn>
                  <a:cxn ang="0">
                    <a:pos x="110" y="176"/>
                  </a:cxn>
                  <a:cxn ang="0">
                    <a:pos x="104" y="176"/>
                  </a:cxn>
                  <a:cxn ang="0">
                    <a:pos x="102" y="174"/>
                  </a:cxn>
                  <a:cxn ang="0">
                    <a:pos x="102" y="170"/>
                  </a:cxn>
                  <a:cxn ang="0">
                    <a:pos x="106" y="164"/>
                  </a:cxn>
                  <a:cxn ang="0">
                    <a:pos x="110" y="160"/>
                  </a:cxn>
                  <a:cxn ang="0">
                    <a:pos x="114" y="150"/>
                  </a:cxn>
                  <a:cxn ang="0">
                    <a:pos x="116" y="144"/>
                  </a:cxn>
                  <a:cxn ang="0">
                    <a:pos x="118" y="136"/>
                  </a:cxn>
                  <a:cxn ang="0">
                    <a:pos x="118" y="132"/>
                  </a:cxn>
                  <a:cxn ang="0">
                    <a:pos x="120" y="126"/>
                  </a:cxn>
                  <a:cxn ang="0">
                    <a:pos x="126" y="126"/>
                  </a:cxn>
                  <a:cxn ang="0">
                    <a:pos x="136" y="126"/>
                  </a:cxn>
                  <a:cxn ang="0">
                    <a:pos x="24" y="0"/>
                  </a:cxn>
                  <a:cxn ang="0">
                    <a:pos x="18" y="42"/>
                  </a:cxn>
                  <a:cxn ang="0">
                    <a:pos x="24" y="52"/>
                  </a:cxn>
                  <a:cxn ang="0">
                    <a:pos x="20" y="62"/>
                  </a:cxn>
                  <a:cxn ang="0">
                    <a:pos x="18" y="98"/>
                  </a:cxn>
                  <a:cxn ang="0">
                    <a:pos x="0" y="140"/>
                  </a:cxn>
                  <a:cxn ang="0">
                    <a:pos x="8" y="168"/>
                  </a:cxn>
                  <a:cxn ang="0">
                    <a:pos x="2" y="154"/>
                  </a:cxn>
                  <a:cxn ang="0">
                    <a:pos x="6" y="154"/>
                  </a:cxn>
                  <a:cxn ang="0">
                    <a:pos x="12" y="162"/>
                  </a:cxn>
                  <a:cxn ang="0">
                    <a:pos x="22" y="168"/>
                  </a:cxn>
                  <a:cxn ang="0">
                    <a:pos x="18" y="166"/>
                  </a:cxn>
                  <a:cxn ang="0">
                    <a:pos x="10" y="168"/>
                  </a:cxn>
                  <a:cxn ang="0">
                    <a:pos x="2" y="154"/>
                  </a:cxn>
                </a:cxnLst>
                <a:rect l="0" t="0" r="r" b="b"/>
                <a:pathLst>
                  <a:path w="136" h="264">
                    <a:moveTo>
                      <a:pt x="8" y="168"/>
                    </a:moveTo>
                    <a:lnTo>
                      <a:pt x="8" y="168"/>
                    </a:lnTo>
                    <a:lnTo>
                      <a:pt x="16" y="174"/>
                    </a:lnTo>
                    <a:lnTo>
                      <a:pt x="16" y="178"/>
                    </a:lnTo>
                    <a:lnTo>
                      <a:pt x="16" y="180"/>
                    </a:lnTo>
                    <a:lnTo>
                      <a:pt x="16" y="182"/>
                    </a:lnTo>
                    <a:lnTo>
                      <a:pt x="20" y="186"/>
                    </a:lnTo>
                    <a:lnTo>
                      <a:pt x="20" y="190"/>
                    </a:lnTo>
                    <a:lnTo>
                      <a:pt x="20" y="194"/>
                    </a:lnTo>
                    <a:lnTo>
                      <a:pt x="18" y="196"/>
                    </a:lnTo>
                    <a:lnTo>
                      <a:pt x="16" y="200"/>
                    </a:lnTo>
                    <a:lnTo>
                      <a:pt x="18" y="206"/>
                    </a:lnTo>
                    <a:lnTo>
                      <a:pt x="20" y="210"/>
                    </a:lnTo>
                    <a:lnTo>
                      <a:pt x="20" y="214"/>
                    </a:lnTo>
                    <a:lnTo>
                      <a:pt x="22" y="218"/>
                    </a:lnTo>
                    <a:lnTo>
                      <a:pt x="22" y="222"/>
                    </a:lnTo>
                    <a:lnTo>
                      <a:pt x="22" y="224"/>
                    </a:lnTo>
                    <a:lnTo>
                      <a:pt x="16" y="224"/>
                    </a:lnTo>
                    <a:lnTo>
                      <a:pt x="12" y="224"/>
                    </a:lnTo>
                    <a:lnTo>
                      <a:pt x="8" y="224"/>
                    </a:lnTo>
                    <a:lnTo>
                      <a:pt x="6" y="228"/>
                    </a:lnTo>
                    <a:lnTo>
                      <a:pt x="6" y="230"/>
                    </a:lnTo>
                    <a:lnTo>
                      <a:pt x="6" y="232"/>
                    </a:lnTo>
                    <a:lnTo>
                      <a:pt x="14" y="244"/>
                    </a:lnTo>
                    <a:lnTo>
                      <a:pt x="16" y="250"/>
                    </a:lnTo>
                    <a:lnTo>
                      <a:pt x="18" y="256"/>
                    </a:lnTo>
                    <a:lnTo>
                      <a:pt x="14" y="264"/>
                    </a:lnTo>
                    <a:lnTo>
                      <a:pt x="20" y="264"/>
                    </a:lnTo>
                    <a:lnTo>
                      <a:pt x="26" y="264"/>
                    </a:lnTo>
                    <a:lnTo>
                      <a:pt x="30" y="258"/>
                    </a:lnTo>
                    <a:lnTo>
                      <a:pt x="32" y="260"/>
                    </a:lnTo>
                    <a:lnTo>
                      <a:pt x="36" y="260"/>
                    </a:lnTo>
                    <a:lnTo>
                      <a:pt x="52" y="258"/>
                    </a:lnTo>
                    <a:lnTo>
                      <a:pt x="58" y="256"/>
                    </a:lnTo>
                    <a:lnTo>
                      <a:pt x="62" y="250"/>
                    </a:lnTo>
                    <a:lnTo>
                      <a:pt x="66" y="246"/>
                    </a:lnTo>
                    <a:lnTo>
                      <a:pt x="70" y="244"/>
                    </a:lnTo>
                    <a:lnTo>
                      <a:pt x="68" y="242"/>
                    </a:lnTo>
                    <a:lnTo>
                      <a:pt x="66" y="240"/>
                    </a:lnTo>
                    <a:lnTo>
                      <a:pt x="68" y="236"/>
                    </a:lnTo>
                    <a:lnTo>
                      <a:pt x="70" y="234"/>
                    </a:lnTo>
                    <a:lnTo>
                      <a:pt x="74" y="232"/>
                    </a:lnTo>
                    <a:lnTo>
                      <a:pt x="80" y="232"/>
                    </a:lnTo>
                    <a:lnTo>
                      <a:pt x="82" y="230"/>
                    </a:lnTo>
                    <a:lnTo>
                      <a:pt x="86" y="228"/>
                    </a:lnTo>
                    <a:lnTo>
                      <a:pt x="90" y="226"/>
                    </a:lnTo>
                    <a:lnTo>
                      <a:pt x="92" y="226"/>
                    </a:lnTo>
                    <a:lnTo>
                      <a:pt x="94" y="224"/>
                    </a:lnTo>
                    <a:lnTo>
                      <a:pt x="96" y="222"/>
                    </a:lnTo>
                    <a:lnTo>
                      <a:pt x="104" y="218"/>
                    </a:lnTo>
                    <a:lnTo>
                      <a:pt x="106" y="216"/>
                    </a:lnTo>
                    <a:lnTo>
                      <a:pt x="108" y="212"/>
                    </a:lnTo>
                    <a:lnTo>
                      <a:pt x="110" y="210"/>
                    </a:lnTo>
                    <a:lnTo>
                      <a:pt x="112" y="208"/>
                    </a:lnTo>
                    <a:lnTo>
                      <a:pt x="114" y="208"/>
                    </a:lnTo>
                    <a:lnTo>
                      <a:pt x="114" y="206"/>
                    </a:lnTo>
                    <a:lnTo>
                      <a:pt x="114" y="202"/>
                    </a:lnTo>
                    <a:lnTo>
                      <a:pt x="110" y="198"/>
                    </a:lnTo>
                    <a:lnTo>
                      <a:pt x="112" y="196"/>
                    </a:lnTo>
                    <a:lnTo>
                      <a:pt x="112" y="190"/>
                    </a:lnTo>
                    <a:lnTo>
                      <a:pt x="110" y="186"/>
                    </a:lnTo>
                    <a:lnTo>
                      <a:pt x="110" y="184"/>
                    </a:lnTo>
                    <a:lnTo>
                      <a:pt x="112" y="182"/>
                    </a:lnTo>
                    <a:lnTo>
                      <a:pt x="114" y="180"/>
                    </a:lnTo>
                    <a:lnTo>
                      <a:pt x="114" y="178"/>
                    </a:lnTo>
                    <a:lnTo>
                      <a:pt x="110" y="176"/>
                    </a:lnTo>
                    <a:lnTo>
                      <a:pt x="108" y="174"/>
                    </a:lnTo>
                    <a:lnTo>
                      <a:pt x="104" y="176"/>
                    </a:lnTo>
                    <a:lnTo>
                      <a:pt x="102" y="176"/>
                    </a:lnTo>
                    <a:lnTo>
                      <a:pt x="102" y="174"/>
                    </a:lnTo>
                    <a:lnTo>
                      <a:pt x="102" y="170"/>
                    </a:lnTo>
                    <a:lnTo>
                      <a:pt x="102" y="170"/>
                    </a:lnTo>
                    <a:lnTo>
                      <a:pt x="106" y="168"/>
                    </a:lnTo>
                    <a:lnTo>
                      <a:pt x="106" y="164"/>
                    </a:lnTo>
                    <a:lnTo>
                      <a:pt x="108" y="162"/>
                    </a:lnTo>
                    <a:lnTo>
                      <a:pt x="110" y="160"/>
                    </a:lnTo>
                    <a:lnTo>
                      <a:pt x="112" y="154"/>
                    </a:lnTo>
                    <a:lnTo>
                      <a:pt x="114" y="150"/>
                    </a:lnTo>
                    <a:lnTo>
                      <a:pt x="114" y="146"/>
                    </a:lnTo>
                    <a:lnTo>
                      <a:pt x="116" y="144"/>
                    </a:lnTo>
                    <a:lnTo>
                      <a:pt x="118" y="140"/>
                    </a:lnTo>
                    <a:lnTo>
                      <a:pt x="118" y="136"/>
                    </a:lnTo>
                    <a:lnTo>
                      <a:pt x="118" y="134"/>
                    </a:lnTo>
                    <a:lnTo>
                      <a:pt x="118" y="132"/>
                    </a:lnTo>
                    <a:lnTo>
                      <a:pt x="120" y="128"/>
                    </a:lnTo>
                    <a:lnTo>
                      <a:pt x="120" y="126"/>
                    </a:lnTo>
                    <a:lnTo>
                      <a:pt x="124" y="126"/>
                    </a:lnTo>
                    <a:lnTo>
                      <a:pt x="126" y="126"/>
                    </a:lnTo>
                    <a:lnTo>
                      <a:pt x="132" y="128"/>
                    </a:lnTo>
                    <a:lnTo>
                      <a:pt x="136" y="126"/>
                    </a:lnTo>
                    <a:lnTo>
                      <a:pt x="136" y="66"/>
                    </a:lnTo>
                    <a:lnTo>
                      <a:pt x="24" y="0"/>
                    </a:lnTo>
                    <a:lnTo>
                      <a:pt x="12" y="10"/>
                    </a:lnTo>
                    <a:lnTo>
                      <a:pt x="18" y="42"/>
                    </a:lnTo>
                    <a:lnTo>
                      <a:pt x="22" y="48"/>
                    </a:lnTo>
                    <a:lnTo>
                      <a:pt x="24" y="52"/>
                    </a:lnTo>
                    <a:lnTo>
                      <a:pt x="24" y="56"/>
                    </a:lnTo>
                    <a:lnTo>
                      <a:pt x="20" y="62"/>
                    </a:lnTo>
                    <a:lnTo>
                      <a:pt x="20" y="68"/>
                    </a:lnTo>
                    <a:lnTo>
                      <a:pt x="18" y="98"/>
                    </a:lnTo>
                    <a:lnTo>
                      <a:pt x="20" y="122"/>
                    </a:lnTo>
                    <a:lnTo>
                      <a:pt x="0" y="140"/>
                    </a:lnTo>
                    <a:lnTo>
                      <a:pt x="0" y="154"/>
                    </a:lnTo>
                    <a:lnTo>
                      <a:pt x="8" y="168"/>
                    </a:lnTo>
                    <a:lnTo>
                      <a:pt x="8" y="168"/>
                    </a:lnTo>
                    <a:close/>
                    <a:moveTo>
                      <a:pt x="2" y="154"/>
                    </a:moveTo>
                    <a:lnTo>
                      <a:pt x="2" y="154"/>
                    </a:lnTo>
                    <a:lnTo>
                      <a:pt x="6" y="154"/>
                    </a:lnTo>
                    <a:lnTo>
                      <a:pt x="6" y="158"/>
                    </a:lnTo>
                    <a:lnTo>
                      <a:pt x="12" y="162"/>
                    </a:lnTo>
                    <a:lnTo>
                      <a:pt x="22" y="162"/>
                    </a:lnTo>
                    <a:lnTo>
                      <a:pt x="22" y="168"/>
                    </a:lnTo>
                    <a:lnTo>
                      <a:pt x="20" y="168"/>
                    </a:lnTo>
                    <a:lnTo>
                      <a:pt x="18" y="166"/>
                    </a:lnTo>
                    <a:lnTo>
                      <a:pt x="12" y="166"/>
                    </a:lnTo>
                    <a:lnTo>
                      <a:pt x="10" y="168"/>
                    </a:lnTo>
                    <a:lnTo>
                      <a:pt x="2" y="154"/>
                    </a:lnTo>
                    <a:lnTo>
                      <a:pt x="2" y="15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10" name="Freeform 384">
                <a:extLst>
                  <a:ext uri="{FF2B5EF4-FFF2-40B4-BE49-F238E27FC236}">
                    <a16:creationId xmlns:a16="http://schemas.microsoft.com/office/drawing/2014/main" id="{ACCC0619-9730-3A40-7065-4572F9E5CF51}"/>
                  </a:ext>
                </a:extLst>
              </p:cNvPr>
              <p:cNvSpPr>
                <a:spLocks/>
              </p:cNvSpPr>
              <p:nvPr/>
            </p:nvSpPr>
            <p:spPr bwMode="auto">
              <a:xfrm>
                <a:off x="5011931" y="4040899"/>
                <a:ext cx="19447" cy="13450"/>
              </a:xfrm>
              <a:custGeom>
                <a:avLst/>
                <a:gdLst/>
                <a:ahLst/>
                <a:cxnLst>
                  <a:cxn ang="0">
                    <a:pos x="0" y="0"/>
                  </a:cxn>
                  <a:cxn ang="0">
                    <a:pos x="0" y="0"/>
                  </a:cxn>
                  <a:cxn ang="0">
                    <a:pos x="4" y="0"/>
                  </a:cxn>
                  <a:cxn ang="0">
                    <a:pos x="4" y="4"/>
                  </a:cxn>
                  <a:cxn ang="0">
                    <a:pos x="10" y="8"/>
                  </a:cxn>
                  <a:cxn ang="0">
                    <a:pos x="20" y="8"/>
                  </a:cxn>
                  <a:cxn ang="0">
                    <a:pos x="20" y="14"/>
                  </a:cxn>
                  <a:cxn ang="0">
                    <a:pos x="18" y="14"/>
                  </a:cxn>
                  <a:cxn ang="0">
                    <a:pos x="16" y="12"/>
                  </a:cxn>
                  <a:cxn ang="0">
                    <a:pos x="10" y="12"/>
                  </a:cxn>
                  <a:cxn ang="0">
                    <a:pos x="8" y="14"/>
                  </a:cxn>
                  <a:cxn ang="0">
                    <a:pos x="0" y="0"/>
                  </a:cxn>
                </a:cxnLst>
                <a:rect l="0" t="0" r="r" b="b"/>
                <a:pathLst>
                  <a:path w="20" h="14">
                    <a:moveTo>
                      <a:pt x="0" y="0"/>
                    </a:moveTo>
                    <a:lnTo>
                      <a:pt x="0" y="0"/>
                    </a:lnTo>
                    <a:lnTo>
                      <a:pt x="4" y="0"/>
                    </a:lnTo>
                    <a:lnTo>
                      <a:pt x="4" y="4"/>
                    </a:lnTo>
                    <a:lnTo>
                      <a:pt x="10" y="8"/>
                    </a:lnTo>
                    <a:lnTo>
                      <a:pt x="20" y="8"/>
                    </a:lnTo>
                    <a:lnTo>
                      <a:pt x="20" y="14"/>
                    </a:lnTo>
                    <a:lnTo>
                      <a:pt x="18" y="14"/>
                    </a:lnTo>
                    <a:lnTo>
                      <a:pt x="16" y="12"/>
                    </a:lnTo>
                    <a:lnTo>
                      <a:pt x="10" y="12"/>
                    </a:lnTo>
                    <a:lnTo>
                      <a:pt x="8" y="14"/>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11" name="Freeform 385">
                <a:extLst>
                  <a:ext uri="{FF2B5EF4-FFF2-40B4-BE49-F238E27FC236}">
                    <a16:creationId xmlns:a16="http://schemas.microsoft.com/office/drawing/2014/main" id="{1DCC7F40-2DFD-CE0D-901B-8F20A65DD07B}"/>
                  </a:ext>
                </a:extLst>
              </p:cNvPr>
              <p:cNvSpPr>
                <a:spLocks/>
              </p:cNvSpPr>
              <p:nvPr/>
            </p:nvSpPr>
            <p:spPr bwMode="auto">
              <a:xfrm>
                <a:off x="5011931" y="4040899"/>
                <a:ext cx="19447" cy="13450"/>
              </a:xfrm>
              <a:custGeom>
                <a:avLst/>
                <a:gdLst/>
                <a:ahLst/>
                <a:cxnLst>
                  <a:cxn ang="0">
                    <a:pos x="0" y="0"/>
                  </a:cxn>
                  <a:cxn ang="0">
                    <a:pos x="0" y="0"/>
                  </a:cxn>
                  <a:cxn ang="0">
                    <a:pos x="4" y="0"/>
                  </a:cxn>
                  <a:cxn ang="0">
                    <a:pos x="4" y="4"/>
                  </a:cxn>
                  <a:cxn ang="0">
                    <a:pos x="10" y="8"/>
                  </a:cxn>
                  <a:cxn ang="0">
                    <a:pos x="20" y="8"/>
                  </a:cxn>
                  <a:cxn ang="0">
                    <a:pos x="20" y="14"/>
                  </a:cxn>
                  <a:cxn ang="0">
                    <a:pos x="18" y="14"/>
                  </a:cxn>
                  <a:cxn ang="0">
                    <a:pos x="16" y="12"/>
                  </a:cxn>
                  <a:cxn ang="0">
                    <a:pos x="10" y="12"/>
                  </a:cxn>
                  <a:cxn ang="0">
                    <a:pos x="8" y="14"/>
                  </a:cxn>
                  <a:cxn ang="0">
                    <a:pos x="0" y="0"/>
                  </a:cxn>
                </a:cxnLst>
                <a:rect l="0" t="0" r="r" b="b"/>
                <a:pathLst>
                  <a:path w="20" h="14">
                    <a:moveTo>
                      <a:pt x="0" y="0"/>
                    </a:moveTo>
                    <a:lnTo>
                      <a:pt x="0" y="0"/>
                    </a:lnTo>
                    <a:lnTo>
                      <a:pt x="4" y="0"/>
                    </a:lnTo>
                    <a:lnTo>
                      <a:pt x="4" y="4"/>
                    </a:lnTo>
                    <a:lnTo>
                      <a:pt x="10" y="8"/>
                    </a:lnTo>
                    <a:lnTo>
                      <a:pt x="20" y="8"/>
                    </a:lnTo>
                    <a:lnTo>
                      <a:pt x="20" y="14"/>
                    </a:lnTo>
                    <a:lnTo>
                      <a:pt x="18" y="14"/>
                    </a:lnTo>
                    <a:lnTo>
                      <a:pt x="16" y="12"/>
                    </a:lnTo>
                    <a:lnTo>
                      <a:pt x="10" y="12"/>
                    </a:lnTo>
                    <a:lnTo>
                      <a:pt x="8" y="14"/>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12" name="Freeform 386">
                <a:extLst>
                  <a:ext uri="{FF2B5EF4-FFF2-40B4-BE49-F238E27FC236}">
                    <a16:creationId xmlns:a16="http://schemas.microsoft.com/office/drawing/2014/main" id="{6CE76149-8B72-F9F4-DEB4-AADC2793A745}"/>
                  </a:ext>
                </a:extLst>
              </p:cNvPr>
              <p:cNvSpPr>
                <a:spLocks/>
              </p:cNvSpPr>
              <p:nvPr/>
            </p:nvSpPr>
            <p:spPr bwMode="auto">
              <a:xfrm>
                <a:off x="5011931" y="4092776"/>
                <a:ext cx="167244" cy="121046"/>
              </a:xfrm>
              <a:custGeom>
                <a:avLst/>
                <a:gdLst/>
                <a:ahLst/>
                <a:cxnLst>
                  <a:cxn ang="0">
                    <a:pos x="62" y="102"/>
                  </a:cxn>
                  <a:cxn ang="0">
                    <a:pos x="68" y="98"/>
                  </a:cxn>
                  <a:cxn ang="0">
                    <a:pos x="70" y="90"/>
                  </a:cxn>
                  <a:cxn ang="0">
                    <a:pos x="76" y="86"/>
                  </a:cxn>
                  <a:cxn ang="0">
                    <a:pos x="86" y="92"/>
                  </a:cxn>
                  <a:cxn ang="0">
                    <a:pos x="96" y="96"/>
                  </a:cxn>
                  <a:cxn ang="0">
                    <a:pos x="110" y="98"/>
                  </a:cxn>
                  <a:cxn ang="0">
                    <a:pos x="118" y="96"/>
                  </a:cxn>
                  <a:cxn ang="0">
                    <a:pos x="122" y="92"/>
                  </a:cxn>
                  <a:cxn ang="0">
                    <a:pos x="126" y="94"/>
                  </a:cxn>
                  <a:cxn ang="0">
                    <a:pos x="130" y="94"/>
                  </a:cxn>
                  <a:cxn ang="0">
                    <a:pos x="136" y="92"/>
                  </a:cxn>
                  <a:cxn ang="0">
                    <a:pos x="138" y="88"/>
                  </a:cxn>
                  <a:cxn ang="0">
                    <a:pos x="142" y="92"/>
                  </a:cxn>
                  <a:cxn ang="0">
                    <a:pos x="146" y="86"/>
                  </a:cxn>
                  <a:cxn ang="0">
                    <a:pos x="160" y="84"/>
                  </a:cxn>
                  <a:cxn ang="0">
                    <a:pos x="172" y="86"/>
                  </a:cxn>
                  <a:cxn ang="0">
                    <a:pos x="170" y="80"/>
                  </a:cxn>
                  <a:cxn ang="0">
                    <a:pos x="168" y="78"/>
                  </a:cxn>
                  <a:cxn ang="0">
                    <a:pos x="164" y="68"/>
                  </a:cxn>
                  <a:cxn ang="0">
                    <a:pos x="156" y="64"/>
                  </a:cxn>
                  <a:cxn ang="0">
                    <a:pos x="154" y="56"/>
                  </a:cxn>
                  <a:cxn ang="0">
                    <a:pos x="148" y="54"/>
                  </a:cxn>
                  <a:cxn ang="0">
                    <a:pos x="142" y="50"/>
                  </a:cxn>
                  <a:cxn ang="0">
                    <a:pos x="134" y="48"/>
                  </a:cxn>
                  <a:cxn ang="0">
                    <a:pos x="132" y="46"/>
                  </a:cxn>
                  <a:cxn ang="0">
                    <a:pos x="126" y="36"/>
                  </a:cxn>
                  <a:cxn ang="0">
                    <a:pos x="126" y="30"/>
                  </a:cxn>
                  <a:cxn ang="0">
                    <a:pos x="122" y="20"/>
                  </a:cxn>
                  <a:cxn ang="0">
                    <a:pos x="120" y="16"/>
                  </a:cxn>
                  <a:cxn ang="0">
                    <a:pos x="120" y="8"/>
                  </a:cxn>
                  <a:cxn ang="0">
                    <a:pos x="110" y="0"/>
                  </a:cxn>
                  <a:cxn ang="0">
                    <a:pos x="106" y="4"/>
                  </a:cxn>
                  <a:cxn ang="0">
                    <a:pos x="102" y="10"/>
                  </a:cxn>
                  <a:cxn ang="0">
                    <a:pos x="92" y="18"/>
                  </a:cxn>
                  <a:cxn ang="0">
                    <a:pos x="88" y="20"/>
                  </a:cxn>
                  <a:cxn ang="0">
                    <a:pos x="80" y="22"/>
                  </a:cxn>
                  <a:cxn ang="0">
                    <a:pos x="72" y="24"/>
                  </a:cxn>
                  <a:cxn ang="0">
                    <a:pos x="68" y="28"/>
                  </a:cxn>
                  <a:cxn ang="0">
                    <a:pos x="68" y="34"/>
                  </a:cxn>
                  <a:cxn ang="0">
                    <a:pos x="66" y="38"/>
                  </a:cxn>
                  <a:cxn ang="0">
                    <a:pos x="56" y="48"/>
                  </a:cxn>
                  <a:cxn ang="0">
                    <a:pos x="34" y="52"/>
                  </a:cxn>
                  <a:cxn ang="0">
                    <a:pos x="28" y="50"/>
                  </a:cxn>
                  <a:cxn ang="0">
                    <a:pos x="18" y="56"/>
                  </a:cxn>
                  <a:cxn ang="0">
                    <a:pos x="10" y="64"/>
                  </a:cxn>
                  <a:cxn ang="0">
                    <a:pos x="4" y="74"/>
                  </a:cxn>
                  <a:cxn ang="0">
                    <a:pos x="2" y="78"/>
                  </a:cxn>
                  <a:cxn ang="0">
                    <a:pos x="6" y="84"/>
                  </a:cxn>
                  <a:cxn ang="0">
                    <a:pos x="14" y="102"/>
                  </a:cxn>
                  <a:cxn ang="0">
                    <a:pos x="22" y="112"/>
                  </a:cxn>
                  <a:cxn ang="0">
                    <a:pos x="30" y="122"/>
                  </a:cxn>
                  <a:cxn ang="0">
                    <a:pos x="36" y="126"/>
                  </a:cxn>
                  <a:cxn ang="0">
                    <a:pos x="40" y="122"/>
                  </a:cxn>
                  <a:cxn ang="0">
                    <a:pos x="44" y="116"/>
                  </a:cxn>
                  <a:cxn ang="0">
                    <a:pos x="50" y="118"/>
                  </a:cxn>
                  <a:cxn ang="0">
                    <a:pos x="60" y="114"/>
                  </a:cxn>
                </a:cxnLst>
                <a:rect l="0" t="0" r="r" b="b"/>
                <a:pathLst>
                  <a:path w="172" h="126">
                    <a:moveTo>
                      <a:pt x="60" y="114"/>
                    </a:moveTo>
                    <a:lnTo>
                      <a:pt x="62" y="102"/>
                    </a:lnTo>
                    <a:lnTo>
                      <a:pt x="64" y="100"/>
                    </a:lnTo>
                    <a:lnTo>
                      <a:pt x="68" y="98"/>
                    </a:lnTo>
                    <a:lnTo>
                      <a:pt x="68" y="94"/>
                    </a:lnTo>
                    <a:lnTo>
                      <a:pt x="70" y="90"/>
                    </a:lnTo>
                    <a:lnTo>
                      <a:pt x="72" y="86"/>
                    </a:lnTo>
                    <a:lnTo>
                      <a:pt x="76" y="86"/>
                    </a:lnTo>
                    <a:lnTo>
                      <a:pt x="82" y="88"/>
                    </a:lnTo>
                    <a:lnTo>
                      <a:pt x="86" y="92"/>
                    </a:lnTo>
                    <a:lnTo>
                      <a:pt x="90" y="94"/>
                    </a:lnTo>
                    <a:lnTo>
                      <a:pt x="96" y="96"/>
                    </a:lnTo>
                    <a:lnTo>
                      <a:pt x="102" y="96"/>
                    </a:lnTo>
                    <a:lnTo>
                      <a:pt x="110" y="98"/>
                    </a:lnTo>
                    <a:lnTo>
                      <a:pt x="118" y="100"/>
                    </a:lnTo>
                    <a:lnTo>
                      <a:pt x="118" y="96"/>
                    </a:lnTo>
                    <a:lnTo>
                      <a:pt x="120" y="92"/>
                    </a:lnTo>
                    <a:lnTo>
                      <a:pt x="122" y="92"/>
                    </a:lnTo>
                    <a:lnTo>
                      <a:pt x="124" y="92"/>
                    </a:lnTo>
                    <a:lnTo>
                      <a:pt x="126" y="94"/>
                    </a:lnTo>
                    <a:lnTo>
                      <a:pt x="128" y="96"/>
                    </a:lnTo>
                    <a:lnTo>
                      <a:pt x="130" y="94"/>
                    </a:lnTo>
                    <a:lnTo>
                      <a:pt x="136" y="94"/>
                    </a:lnTo>
                    <a:lnTo>
                      <a:pt x="136" y="92"/>
                    </a:lnTo>
                    <a:lnTo>
                      <a:pt x="136" y="90"/>
                    </a:lnTo>
                    <a:lnTo>
                      <a:pt x="138" y="88"/>
                    </a:lnTo>
                    <a:lnTo>
                      <a:pt x="140" y="90"/>
                    </a:lnTo>
                    <a:lnTo>
                      <a:pt x="142" y="92"/>
                    </a:lnTo>
                    <a:lnTo>
                      <a:pt x="144" y="90"/>
                    </a:lnTo>
                    <a:lnTo>
                      <a:pt x="146" y="86"/>
                    </a:lnTo>
                    <a:lnTo>
                      <a:pt x="150" y="84"/>
                    </a:lnTo>
                    <a:lnTo>
                      <a:pt x="160" y="84"/>
                    </a:lnTo>
                    <a:lnTo>
                      <a:pt x="164" y="86"/>
                    </a:lnTo>
                    <a:lnTo>
                      <a:pt x="172" y="86"/>
                    </a:lnTo>
                    <a:lnTo>
                      <a:pt x="172" y="84"/>
                    </a:lnTo>
                    <a:lnTo>
                      <a:pt x="170" y="80"/>
                    </a:lnTo>
                    <a:lnTo>
                      <a:pt x="168" y="80"/>
                    </a:lnTo>
                    <a:lnTo>
                      <a:pt x="168" y="78"/>
                    </a:lnTo>
                    <a:lnTo>
                      <a:pt x="168" y="74"/>
                    </a:lnTo>
                    <a:lnTo>
                      <a:pt x="164" y="68"/>
                    </a:lnTo>
                    <a:lnTo>
                      <a:pt x="160" y="66"/>
                    </a:lnTo>
                    <a:lnTo>
                      <a:pt x="156" y="64"/>
                    </a:lnTo>
                    <a:lnTo>
                      <a:pt x="154" y="62"/>
                    </a:lnTo>
                    <a:lnTo>
                      <a:pt x="154" y="56"/>
                    </a:lnTo>
                    <a:lnTo>
                      <a:pt x="150" y="54"/>
                    </a:lnTo>
                    <a:lnTo>
                      <a:pt x="148" y="54"/>
                    </a:lnTo>
                    <a:lnTo>
                      <a:pt x="144" y="52"/>
                    </a:lnTo>
                    <a:lnTo>
                      <a:pt x="142" y="50"/>
                    </a:lnTo>
                    <a:lnTo>
                      <a:pt x="138" y="48"/>
                    </a:lnTo>
                    <a:lnTo>
                      <a:pt x="134" y="48"/>
                    </a:lnTo>
                    <a:lnTo>
                      <a:pt x="134" y="46"/>
                    </a:lnTo>
                    <a:lnTo>
                      <a:pt x="132" y="46"/>
                    </a:lnTo>
                    <a:lnTo>
                      <a:pt x="132" y="42"/>
                    </a:lnTo>
                    <a:lnTo>
                      <a:pt x="126" y="36"/>
                    </a:lnTo>
                    <a:lnTo>
                      <a:pt x="126" y="34"/>
                    </a:lnTo>
                    <a:lnTo>
                      <a:pt x="126" y="30"/>
                    </a:lnTo>
                    <a:lnTo>
                      <a:pt x="126" y="24"/>
                    </a:lnTo>
                    <a:lnTo>
                      <a:pt x="122" y="20"/>
                    </a:lnTo>
                    <a:lnTo>
                      <a:pt x="120" y="20"/>
                    </a:lnTo>
                    <a:lnTo>
                      <a:pt x="120" y="16"/>
                    </a:lnTo>
                    <a:lnTo>
                      <a:pt x="120" y="10"/>
                    </a:lnTo>
                    <a:lnTo>
                      <a:pt x="120" y="8"/>
                    </a:lnTo>
                    <a:lnTo>
                      <a:pt x="112" y="0"/>
                    </a:lnTo>
                    <a:lnTo>
                      <a:pt x="110" y="0"/>
                    </a:lnTo>
                    <a:lnTo>
                      <a:pt x="108" y="2"/>
                    </a:lnTo>
                    <a:lnTo>
                      <a:pt x="106" y="4"/>
                    </a:lnTo>
                    <a:lnTo>
                      <a:pt x="104" y="8"/>
                    </a:lnTo>
                    <a:lnTo>
                      <a:pt x="102" y="10"/>
                    </a:lnTo>
                    <a:lnTo>
                      <a:pt x="94" y="14"/>
                    </a:lnTo>
                    <a:lnTo>
                      <a:pt x="92" y="18"/>
                    </a:lnTo>
                    <a:lnTo>
                      <a:pt x="90" y="20"/>
                    </a:lnTo>
                    <a:lnTo>
                      <a:pt x="88" y="20"/>
                    </a:lnTo>
                    <a:lnTo>
                      <a:pt x="84" y="20"/>
                    </a:lnTo>
                    <a:lnTo>
                      <a:pt x="80" y="22"/>
                    </a:lnTo>
                    <a:lnTo>
                      <a:pt x="78" y="24"/>
                    </a:lnTo>
                    <a:lnTo>
                      <a:pt x="72" y="24"/>
                    </a:lnTo>
                    <a:lnTo>
                      <a:pt x="70" y="26"/>
                    </a:lnTo>
                    <a:lnTo>
                      <a:pt x="68" y="28"/>
                    </a:lnTo>
                    <a:lnTo>
                      <a:pt x="66" y="32"/>
                    </a:lnTo>
                    <a:lnTo>
                      <a:pt x="68" y="34"/>
                    </a:lnTo>
                    <a:lnTo>
                      <a:pt x="70" y="36"/>
                    </a:lnTo>
                    <a:lnTo>
                      <a:pt x="66" y="38"/>
                    </a:lnTo>
                    <a:lnTo>
                      <a:pt x="60" y="42"/>
                    </a:lnTo>
                    <a:lnTo>
                      <a:pt x="56" y="48"/>
                    </a:lnTo>
                    <a:lnTo>
                      <a:pt x="50" y="50"/>
                    </a:lnTo>
                    <a:lnTo>
                      <a:pt x="34" y="52"/>
                    </a:lnTo>
                    <a:lnTo>
                      <a:pt x="30" y="52"/>
                    </a:lnTo>
                    <a:lnTo>
                      <a:pt x="28" y="50"/>
                    </a:lnTo>
                    <a:lnTo>
                      <a:pt x="24" y="56"/>
                    </a:lnTo>
                    <a:lnTo>
                      <a:pt x="18" y="56"/>
                    </a:lnTo>
                    <a:lnTo>
                      <a:pt x="12" y="56"/>
                    </a:lnTo>
                    <a:lnTo>
                      <a:pt x="10" y="64"/>
                    </a:lnTo>
                    <a:lnTo>
                      <a:pt x="8" y="70"/>
                    </a:lnTo>
                    <a:lnTo>
                      <a:pt x="4" y="74"/>
                    </a:lnTo>
                    <a:lnTo>
                      <a:pt x="0" y="76"/>
                    </a:lnTo>
                    <a:lnTo>
                      <a:pt x="2" y="78"/>
                    </a:lnTo>
                    <a:lnTo>
                      <a:pt x="4" y="80"/>
                    </a:lnTo>
                    <a:lnTo>
                      <a:pt x="6" y="84"/>
                    </a:lnTo>
                    <a:lnTo>
                      <a:pt x="10" y="98"/>
                    </a:lnTo>
                    <a:lnTo>
                      <a:pt x="14" y="102"/>
                    </a:lnTo>
                    <a:lnTo>
                      <a:pt x="16" y="108"/>
                    </a:lnTo>
                    <a:lnTo>
                      <a:pt x="22" y="112"/>
                    </a:lnTo>
                    <a:lnTo>
                      <a:pt x="24" y="116"/>
                    </a:lnTo>
                    <a:lnTo>
                      <a:pt x="30" y="122"/>
                    </a:lnTo>
                    <a:lnTo>
                      <a:pt x="34" y="126"/>
                    </a:lnTo>
                    <a:lnTo>
                      <a:pt x="36" y="126"/>
                    </a:lnTo>
                    <a:lnTo>
                      <a:pt x="38" y="124"/>
                    </a:lnTo>
                    <a:lnTo>
                      <a:pt x="40" y="122"/>
                    </a:lnTo>
                    <a:lnTo>
                      <a:pt x="40" y="118"/>
                    </a:lnTo>
                    <a:lnTo>
                      <a:pt x="44" y="116"/>
                    </a:lnTo>
                    <a:lnTo>
                      <a:pt x="48" y="118"/>
                    </a:lnTo>
                    <a:lnTo>
                      <a:pt x="50" y="118"/>
                    </a:lnTo>
                    <a:lnTo>
                      <a:pt x="60" y="114"/>
                    </a:lnTo>
                    <a:lnTo>
                      <a:pt x="60" y="11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13" name="Freeform 387">
                <a:extLst>
                  <a:ext uri="{FF2B5EF4-FFF2-40B4-BE49-F238E27FC236}">
                    <a16:creationId xmlns:a16="http://schemas.microsoft.com/office/drawing/2014/main" id="{919B831F-376B-1B8A-958B-972421DD3D76}"/>
                  </a:ext>
                </a:extLst>
              </p:cNvPr>
              <p:cNvSpPr>
                <a:spLocks/>
              </p:cNvSpPr>
              <p:nvPr/>
            </p:nvSpPr>
            <p:spPr bwMode="auto">
              <a:xfrm>
                <a:off x="3825668" y="3030258"/>
                <a:ext cx="3890" cy="1921"/>
              </a:xfrm>
              <a:custGeom>
                <a:avLst/>
                <a:gdLst/>
                <a:ahLst/>
                <a:cxnLst>
                  <a:cxn ang="0">
                    <a:pos x="0" y="0"/>
                  </a:cxn>
                  <a:cxn ang="0">
                    <a:pos x="4" y="2"/>
                  </a:cxn>
                  <a:cxn ang="0">
                    <a:pos x="4" y="0"/>
                  </a:cxn>
                  <a:cxn ang="0">
                    <a:pos x="0" y="0"/>
                  </a:cxn>
                  <a:cxn ang="0">
                    <a:pos x="0" y="0"/>
                  </a:cxn>
                </a:cxnLst>
                <a:rect l="0" t="0" r="r" b="b"/>
                <a:pathLst>
                  <a:path w="4" h="2">
                    <a:moveTo>
                      <a:pt x="0" y="0"/>
                    </a:moveTo>
                    <a:lnTo>
                      <a:pt x="4" y="2"/>
                    </a:lnTo>
                    <a:lnTo>
                      <a:pt x="4" y="0"/>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14" name="Freeform 388">
                <a:extLst>
                  <a:ext uri="{FF2B5EF4-FFF2-40B4-BE49-F238E27FC236}">
                    <a16:creationId xmlns:a16="http://schemas.microsoft.com/office/drawing/2014/main" id="{D15C4593-3E3A-CB93-23FA-B88DD0E7BE03}"/>
                  </a:ext>
                </a:extLst>
              </p:cNvPr>
              <p:cNvSpPr>
                <a:spLocks/>
              </p:cNvSpPr>
              <p:nvPr/>
            </p:nvSpPr>
            <p:spPr bwMode="auto">
              <a:xfrm>
                <a:off x="3825668" y="3030258"/>
                <a:ext cx="3890" cy="1921"/>
              </a:xfrm>
              <a:custGeom>
                <a:avLst/>
                <a:gdLst/>
                <a:ahLst/>
                <a:cxnLst>
                  <a:cxn ang="0">
                    <a:pos x="0" y="0"/>
                  </a:cxn>
                  <a:cxn ang="0">
                    <a:pos x="4" y="2"/>
                  </a:cxn>
                  <a:cxn ang="0">
                    <a:pos x="4" y="0"/>
                  </a:cxn>
                  <a:cxn ang="0">
                    <a:pos x="0" y="0"/>
                  </a:cxn>
                  <a:cxn ang="0">
                    <a:pos x="0" y="0"/>
                  </a:cxn>
                </a:cxnLst>
                <a:rect l="0" t="0" r="r" b="b"/>
                <a:pathLst>
                  <a:path w="4" h="2">
                    <a:moveTo>
                      <a:pt x="0" y="0"/>
                    </a:moveTo>
                    <a:lnTo>
                      <a:pt x="4" y="2"/>
                    </a:lnTo>
                    <a:lnTo>
                      <a:pt x="4" y="0"/>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15" name="Freeform 389">
                <a:extLst>
                  <a:ext uri="{FF2B5EF4-FFF2-40B4-BE49-F238E27FC236}">
                    <a16:creationId xmlns:a16="http://schemas.microsoft.com/office/drawing/2014/main" id="{5002D4B2-F714-76DE-AB2F-5099119F5D66}"/>
                  </a:ext>
                </a:extLst>
              </p:cNvPr>
              <p:cNvSpPr>
                <a:spLocks/>
              </p:cNvSpPr>
              <p:nvPr/>
            </p:nvSpPr>
            <p:spPr bwMode="auto">
              <a:xfrm>
                <a:off x="3847059" y="2968774"/>
                <a:ext cx="1944" cy="1921"/>
              </a:xfrm>
              <a:custGeom>
                <a:avLst/>
                <a:gdLst/>
                <a:ahLst/>
                <a:cxnLst>
                  <a:cxn ang="0">
                    <a:pos x="2" y="0"/>
                  </a:cxn>
                  <a:cxn ang="0">
                    <a:pos x="2" y="0"/>
                  </a:cxn>
                  <a:cxn ang="0">
                    <a:pos x="2" y="2"/>
                  </a:cxn>
                  <a:cxn ang="0">
                    <a:pos x="0" y="2"/>
                  </a:cxn>
                  <a:cxn ang="0">
                    <a:pos x="0" y="0"/>
                  </a:cxn>
                  <a:cxn ang="0">
                    <a:pos x="2" y="0"/>
                  </a:cxn>
                  <a:cxn ang="0">
                    <a:pos x="2" y="0"/>
                  </a:cxn>
                </a:cxnLst>
                <a:rect l="0" t="0" r="r" b="b"/>
                <a:pathLst>
                  <a:path w="2" h="2">
                    <a:moveTo>
                      <a:pt x="2" y="0"/>
                    </a:moveTo>
                    <a:lnTo>
                      <a:pt x="2" y="0"/>
                    </a:lnTo>
                    <a:lnTo>
                      <a:pt x="2" y="2"/>
                    </a:lnTo>
                    <a:lnTo>
                      <a:pt x="0" y="2"/>
                    </a:lnTo>
                    <a:lnTo>
                      <a:pt x="0" y="0"/>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16" name="Freeform 390">
                <a:extLst>
                  <a:ext uri="{FF2B5EF4-FFF2-40B4-BE49-F238E27FC236}">
                    <a16:creationId xmlns:a16="http://schemas.microsoft.com/office/drawing/2014/main" id="{DA6DDFD7-20D8-9F32-0122-2809B06FC9CC}"/>
                  </a:ext>
                </a:extLst>
              </p:cNvPr>
              <p:cNvSpPr>
                <a:spLocks/>
              </p:cNvSpPr>
              <p:nvPr/>
            </p:nvSpPr>
            <p:spPr bwMode="auto">
              <a:xfrm>
                <a:off x="3847059" y="2968774"/>
                <a:ext cx="1944" cy="1921"/>
              </a:xfrm>
              <a:custGeom>
                <a:avLst/>
                <a:gdLst/>
                <a:ahLst/>
                <a:cxnLst>
                  <a:cxn ang="0">
                    <a:pos x="2" y="0"/>
                  </a:cxn>
                  <a:cxn ang="0">
                    <a:pos x="2" y="0"/>
                  </a:cxn>
                  <a:cxn ang="0">
                    <a:pos x="2" y="2"/>
                  </a:cxn>
                  <a:cxn ang="0">
                    <a:pos x="0" y="2"/>
                  </a:cxn>
                  <a:cxn ang="0">
                    <a:pos x="0" y="0"/>
                  </a:cxn>
                  <a:cxn ang="0">
                    <a:pos x="2" y="0"/>
                  </a:cxn>
                  <a:cxn ang="0">
                    <a:pos x="2" y="0"/>
                  </a:cxn>
                </a:cxnLst>
                <a:rect l="0" t="0" r="r" b="b"/>
                <a:pathLst>
                  <a:path w="2" h="2">
                    <a:moveTo>
                      <a:pt x="2" y="0"/>
                    </a:moveTo>
                    <a:lnTo>
                      <a:pt x="2" y="0"/>
                    </a:lnTo>
                    <a:lnTo>
                      <a:pt x="2" y="2"/>
                    </a:lnTo>
                    <a:lnTo>
                      <a:pt x="0" y="2"/>
                    </a:lnTo>
                    <a:lnTo>
                      <a:pt x="0" y="0"/>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17" name="Freeform 391">
                <a:extLst>
                  <a:ext uri="{FF2B5EF4-FFF2-40B4-BE49-F238E27FC236}">
                    <a16:creationId xmlns:a16="http://schemas.microsoft.com/office/drawing/2014/main" id="{E0A3EB78-1A76-A211-31EF-AC6B879EEA71}"/>
                  </a:ext>
                </a:extLst>
              </p:cNvPr>
              <p:cNvSpPr>
                <a:spLocks/>
              </p:cNvSpPr>
              <p:nvPr/>
            </p:nvSpPr>
            <p:spPr bwMode="auto">
              <a:xfrm>
                <a:off x="3849004" y="2972617"/>
                <a:ext cx="973" cy="1921"/>
              </a:xfrm>
              <a:custGeom>
                <a:avLst/>
                <a:gdLst/>
                <a:ahLst/>
                <a:cxnLst>
                  <a:cxn ang="0">
                    <a:pos x="0" y="2"/>
                  </a:cxn>
                  <a:cxn ang="0">
                    <a:pos x="0" y="2"/>
                  </a:cxn>
                  <a:cxn ang="0">
                    <a:pos x="0" y="0"/>
                  </a:cxn>
                  <a:cxn ang="0">
                    <a:pos x="0" y="2"/>
                  </a:cxn>
                  <a:cxn ang="0">
                    <a:pos x="0" y="2"/>
                  </a:cxn>
                </a:cxnLst>
                <a:rect l="0" t="0" r="r" b="b"/>
                <a:pathLst>
                  <a:path h="2">
                    <a:moveTo>
                      <a:pt x="0" y="2"/>
                    </a:moveTo>
                    <a:lnTo>
                      <a:pt x="0" y="2"/>
                    </a:lnTo>
                    <a:lnTo>
                      <a:pt x="0" y="0"/>
                    </a:lnTo>
                    <a:lnTo>
                      <a:pt x="0" y="2"/>
                    </a:lnTo>
                    <a:lnTo>
                      <a:pt x="0"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18" name="Freeform 392">
                <a:extLst>
                  <a:ext uri="{FF2B5EF4-FFF2-40B4-BE49-F238E27FC236}">
                    <a16:creationId xmlns:a16="http://schemas.microsoft.com/office/drawing/2014/main" id="{C1055CD7-F024-45D0-C1E3-207DFFF635D5}"/>
                  </a:ext>
                </a:extLst>
              </p:cNvPr>
              <p:cNvSpPr>
                <a:spLocks/>
              </p:cNvSpPr>
              <p:nvPr/>
            </p:nvSpPr>
            <p:spPr bwMode="auto">
              <a:xfrm>
                <a:off x="3959851" y="3020651"/>
                <a:ext cx="11668" cy="3843"/>
              </a:xfrm>
              <a:custGeom>
                <a:avLst/>
                <a:gdLst/>
                <a:ahLst/>
                <a:cxnLst>
                  <a:cxn ang="0">
                    <a:pos x="2" y="0"/>
                  </a:cxn>
                  <a:cxn ang="0">
                    <a:pos x="2" y="0"/>
                  </a:cxn>
                  <a:cxn ang="0">
                    <a:pos x="10" y="2"/>
                  </a:cxn>
                  <a:cxn ang="0">
                    <a:pos x="12" y="4"/>
                  </a:cxn>
                  <a:cxn ang="0">
                    <a:pos x="4" y="2"/>
                  </a:cxn>
                  <a:cxn ang="0">
                    <a:pos x="0" y="2"/>
                  </a:cxn>
                  <a:cxn ang="0">
                    <a:pos x="2" y="0"/>
                  </a:cxn>
                  <a:cxn ang="0">
                    <a:pos x="2" y="0"/>
                  </a:cxn>
                </a:cxnLst>
                <a:rect l="0" t="0" r="r" b="b"/>
                <a:pathLst>
                  <a:path w="12" h="4">
                    <a:moveTo>
                      <a:pt x="2" y="0"/>
                    </a:moveTo>
                    <a:lnTo>
                      <a:pt x="2" y="0"/>
                    </a:lnTo>
                    <a:lnTo>
                      <a:pt x="10" y="2"/>
                    </a:lnTo>
                    <a:lnTo>
                      <a:pt x="12" y="4"/>
                    </a:lnTo>
                    <a:lnTo>
                      <a:pt x="4" y="2"/>
                    </a:lnTo>
                    <a:lnTo>
                      <a:pt x="0" y="2"/>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19" name="Freeform 393">
                <a:extLst>
                  <a:ext uri="{FF2B5EF4-FFF2-40B4-BE49-F238E27FC236}">
                    <a16:creationId xmlns:a16="http://schemas.microsoft.com/office/drawing/2014/main" id="{B8EA3495-EF62-B220-D066-21E6AE3C3E7F}"/>
                  </a:ext>
                </a:extLst>
              </p:cNvPr>
              <p:cNvSpPr>
                <a:spLocks/>
              </p:cNvSpPr>
              <p:nvPr/>
            </p:nvSpPr>
            <p:spPr bwMode="auto">
              <a:xfrm>
                <a:off x="3959851" y="3020651"/>
                <a:ext cx="11668" cy="3843"/>
              </a:xfrm>
              <a:custGeom>
                <a:avLst/>
                <a:gdLst/>
                <a:ahLst/>
                <a:cxnLst>
                  <a:cxn ang="0">
                    <a:pos x="2" y="0"/>
                  </a:cxn>
                  <a:cxn ang="0">
                    <a:pos x="2" y="0"/>
                  </a:cxn>
                  <a:cxn ang="0">
                    <a:pos x="10" y="2"/>
                  </a:cxn>
                  <a:cxn ang="0">
                    <a:pos x="12" y="4"/>
                  </a:cxn>
                  <a:cxn ang="0">
                    <a:pos x="4" y="2"/>
                  </a:cxn>
                  <a:cxn ang="0">
                    <a:pos x="0" y="2"/>
                  </a:cxn>
                  <a:cxn ang="0">
                    <a:pos x="2" y="0"/>
                  </a:cxn>
                  <a:cxn ang="0">
                    <a:pos x="2" y="0"/>
                  </a:cxn>
                </a:cxnLst>
                <a:rect l="0" t="0" r="r" b="b"/>
                <a:pathLst>
                  <a:path w="12" h="4">
                    <a:moveTo>
                      <a:pt x="2" y="0"/>
                    </a:moveTo>
                    <a:lnTo>
                      <a:pt x="2" y="0"/>
                    </a:lnTo>
                    <a:lnTo>
                      <a:pt x="10" y="2"/>
                    </a:lnTo>
                    <a:lnTo>
                      <a:pt x="12" y="4"/>
                    </a:lnTo>
                    <a:lnTo>
                      <a:pt x="4" y="2"/>
                    </a:lnTo>
                    <a:lnTo>
                      <a:pt x="0" y="2"/>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20" name="Freeform 394">
                <a:extLst>
                  <a:ext uri="{FF2B5EF4-FFF2-40B4-BE49-F238E27FC236}">
                    <a16:creationId xmlns:a16="http://schemas.microsoft.com/office/drawing/2014/main" id="{A8D88C45-5A5C-CBD7-8A42-951D98F17C62}"/>
                  </a:ext>
                </a:extLst>
              </p:cNvPr>
              <p:cNvSpPr>
                <a:spLocks/>
              </p:cNvSpPr>
              <p:nvPr/>
            </p:nvSpPr>
            <p:spPr bwMode="auto">
              <a:xfrm>
                <a:off x="3948183" y="3005280"/>
                <a:ext cx="3890" cy="5764"/>
              </a:xfrm>
              <a:custGeom>
                <a:avLst/>
                <a:gdLst/>
                <a:ahLst/>
                <a:cxnLst>
                  <a:cxn ang="0">
                    <a:pos x="2" y="0"/>
                  </a:cxn>
                  <a:cxn ang="0">
                    <a:pos x="2" y="0"/>
                  </a:cxn>
                  <a:cxn ang="0">
                    <a:pos x="4" y="0"/>
                  </a:cxn>
                  <a:cxn ang="0">
                    <a:pos x="4" y="2"/>
                  </a:cxn>
                  <a:cxn ang="0">
                    <a:pos x="4" y="6"/>
                  </a:cxn>
                  <a:cxn ang="0">
                    <a:pos x="0" y="6"/>
                  </a:cxn>
                  <a:cxn ang="0">
                    <a:pos x="0" y="2"/>
                  </a:cxn>
                  <a:cxn ang="0">
                    <a:pos x="0" y="0"/>
                  </a:cxn>
                  <a:cxn ang="0">
                    <a:pos x="2" y="0"/>
                  </a:cxn>
                  <a:cxn ang="0">
                    <a:pos x="2" y="0"/>
                  </a:cxn>
                </a:cxnLst>
                <a:rect l="0" t="0" r="r" b="b"/>
                <a:pathLst>
                  <a:path w="4" h="6">
                    <a:moveTo>
                      <a:pt x="2" y="0"/>
                    </a:moveTo>
                    <a:lnTo>
                      <a:pt x="2" y="0"/>
                    </a:lnTo>
                    <a:lnTo>
                      <a:pt x="4" y="0"/>
                    </a:lnTo>
                    <a:lnTo>
                      <a:pt x="4" y="2"/>
                    </a:lnTo>
                    <a:lnTo>
                      <a:pt x="4" y="6"/>
                    </a:lnTo>
                    <a:lnTo>
                      <a:pt x="0" y="6"/>
                    </a:lnTo>
                    <a:lnTo>
                      <a:pt x="0" y="2"/>
                    </a:lnTo>
                    <a:lnTo>
                      <a:pt x="0" y="0"/>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21" name="Freeform 395">
                <a:extLst>
                  <a:ext uri="{FF2B5EF4-FFF2-40B4-BE49-F238E27FC236}">
                    <a16:creationId xmlns:a16="http://schemas.microsoft.com/office/drawing/2014/main" id="{0743561D-118B-B118-A9C8-094B413F6078}"/>
                  </a:ext>
                </a:extLst>
              </p:cNvPr>
              <p:cNvSpPr>
                <a:spLocks/>
              </p:cNvSpPr>
              <p:nvPr/>
            </p:nvSpPr>
            <p:spPr bwMode="auto">
              <a:xfrm>
                <a:off x="3948183" y="3005280"/>
                <a:ext cx="3890" cy="5764"/>
              </a:xfrm>
              <a:custGeom>
                <a:avLst/>
                <a:gdLst/>
                <a:ahLst/>
                <a:cxnLst>
                  <a:cxn ang="0">
                    <a:pos x="2" y="0"/>
                  </a:cxn>
                  <a:cxn ang="0">
                    <a:pos x="2" y="0"/>
                  </a:cxn>
                  <a:cxn ang="0">
                    <a:pos x="4" y="0"/>
                  </a:cxn>
                  <a:cxn ang="0">
                    <a:pos x="4" y="2"/>
                  </a:cxn>
                  <a:cxn ang="0">
                    <a:pos x="4" y="6"/>
                  </a:cxn>
                  <a:cxn ang="0">
                    <a:pos x="0" y="6"/>
                  </a:cxn>
                  <a:cxn ang="0">
                    <a:pos x="0" y="2"/>
                  </a:cxn>
                  <a:cxn ang="0">
                    <a:pos x="0" y="0"/>
                  </a:cxn>
                  <a:cxn ang="0">
                    <a:pos x="2" y="0"/>
                  </a:cxn>
                  <a:cxn ang="0">
                    <a:pos x="2" y="0"/>
                  </a:cxn>
                </a:cxnLst>
                <a:rect l="0" t="0" r="r" b="b"/>
                <a:pathLst>
                  <a:path w="4" h="6">
                    <a:moveTo>
                      <a:pt x="2" y="0"/>
                    </a:moveTo>
                    <a:lnTo>
                      <a:pt x="2" y="0"/>
                    </a:lnTo>
                    <a:lnTo>
                      <a:pt x="4" y="0"/>
                    </a:lnTo>
                    <a:lnTo>
                      <a:pt x="4" y="2"/>
                    </a:lnTo>
                    <a:lnTo>
                      <a:pt x="4" y="6"/>
                    </a:lnTo>
                    <a:lnTo>
                      <a:pt x="0" y="6"/>
                    </a:lnTo>
                    <a:lnTo>
                      <a:pt x="0" y="2"/>
                    </a:lnTo>
                    <a:lnTo>
                      <a:pt x="0" y="0"/>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22" name="Freeform 396">
                <a:extLst>
                  <a:ext uri="{FF2B5EF4-FFF2-40B4-BE49-F238E27FC236}">
                    <a16:creationId xmlns:a16="http://schemas.microsoft.com/office/drawing/2014/main" id="{230C4099-8B41-625F-00CF-7EE8CC0B11F5}"/>
                  </a:ext>
                </a:extLst>
              </p:cNvPr>
              <p:cNvSpPr>
                <a:spLocks/>
              </p:cNvSpPr>
              <p:nvPr/>
            </p:nvSpPr>
            <p:spPr bwMode="auto">
              <a:xfrm>
                <a:off x="4010414" y="3149382"/>
                <a:ext cx="1944" cy="3843"/>
              </a:xfrm>
              <a:custGeom>
                <a:avLst/>
                <a:gdLst/>
                <a:ahLst/>
                <a:cxnLst>
                  <a:cxn ang="0">
                    <a:pos x="0" y="0"/>
                  </a:cxn>
                  <a:cxn ang="0">
                    <a:pos x="0" y="0"/>
                  </a:cxn>
                  <a:cxn ang="0">
                    <a:pos x="2" y="2"/>
                  </a:cxn>
                  <a:cxn ang="0">
                    <a:pos x="2" y="4"/>
                  </a:cxn>
                  <a:cxn ang="0">
                    <a:pos x="2" y="2"/>
                  </a:cxn>
                  <a:cxn ang="0">
                    <a:pos x="0" y="0"/>
                  </a:cxn>
                  <a:cxn ang="0">
                    <a:pos x="0" y="0"/>
                  </a:cxn>
                </a:cxnLst>
                <a:rect l="0" t="0" r="r" b="b"/>
                <a:pathLst>
                  <a:path w="2" h="4">
                    <a:moveTo>
                      <a:pt x="0" y="0"/>
                    </a:moveTo>
                    <a:lnTo>
                      <a:pt x="0" y="0"/>
                    </a:lnTo>
                    <a:lnTo>
                      <a:pt x="2" y="2"/>
                    </a:lnTo>
                    <a:lnTo>
                      <a:pt x="2" y="4"/>
                    </a:lnTo>
                    <a:lnTo>
                      <a:pt x="2" y="2"/>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23" name="Freeform 397">
                <a:extLst>
                  <a:ext uri="{FF2B5EF4-FFF2-40B4-BE49-F238E27FC236}">
                    <a16:creationId xmlns:a16="http://schemas.microsoft.com/office/drawing/2014/main" id="{14B25F60-506D-F358-9D79-E6C708692222}"/>
                  </a:ext>
                </a:extLst>
              </p:cNvPr>
              <p:cNvSpPr>
                <a:spLocks/>
              </p:cNvSpPr>
              <p:nvPr/>
            </p:nvSpPr>
            <p:spPr bwMode="auto">
              <a:xfrm>
                <a:off x="4010414" y="3149382"/>
                <a:ext cx="1944" cy="3843"/>
              </a:xfrm>
              <a:custGeom>
                <a:avLst/>
                <a:gdLst/>
                <a:ahLst/>
                <a:cxnLst>
                  <a:cxn ang="0">
                    <a:pos x="0" y="0"/>
                  </a:cxn>
                  <a:cxn ang="0">
                    <a:pos x="0" y="0"/>
                  </a:cxn>
                  <a:cxn ang="0">
                    <a:pos x="2" y="2"/>
                  </a:cxn>
                  <a:cxn ang="0">
                    <a:pos x="2" y="4"/>
                  </a:cxn>
                  <a:cxn ang="0">
                    <a:pos x="2" y="2"/>
                  </a:cxn>
                  <a:cxn ang="0">
                    <a:pos x="0" y="0"/>
                  </a:cxn>
                  <a:cxn ang="0">
                    <a:pos x="0" y="0"/>
                  </a:cxn>
                </a:cxnLst>
                <a:rect l="0" t="0" r="r" b="b"/>
                <a:pathLst>
                  <a:path w="2" h="4">
                    <a:moveTo>
                      <a:pt x="0" y="0"/>
                    </a:moveTo>
                    <a:lnTo>
                      <a:pt x="0" y="0"/>
                    </a:lnTo>
                    <a:lnTo>
                      <a:pt x="2" y="2"/>
                    </a:lnTo>
                    <a:lnTo>
                      <a:pt x="2" y="4"/>
                    </a:lnTo>
                    <a:lnTo>
                      <a:pt x="2" y="2"/>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24" name="Freeform 398">
                <a:extLst>
                  <a:ext uri="{FF2B5EF4-FFF2-40B4-BE49-F238E27FC236}">
                    <a16:creationId xmlns:a16="http://schemas.microsoft.com/office/drawing/2014/main" id="{8D6B2FBA-4B07-D27F-2E51-CAEDDB90FD12}"/>
                  </a:ext>
                </a:extLst>
              </p:cNvPr>
              <p:cNvSpPr>
                <a:spLocks/>
              </p:cNvSpPr>
              <p:nvPr/>
            </p:nvSpPr>
            <p:spPr bwMode="auto">
              <a:xfrm>
                <a:off x="3712875" y="3468331"/>
                <a:ext cx="1944" cy="1921"/>
              </a:xfrm>
              <a:custGeom>
                <a:avLst/>
                <a:gdLst/>
                <a:ahLst/>
                <a:cxnLst>
                  <a:cxn ang="0">
                    <a:pos x="0" y="0"/>
                  </a:cxn>
                  <a:cxn ang="0">
                    <a:pos x="0" y="0"/>
                  </a:cxn>
                  <a:cxn ang="0">
                    <a:pos x="0" y="2"/>
                  </a:cxn>
                  <a:cxn ang="0">
                    <a:pos x="2" y="2"/>
                  </a:cxn>
                  <a:cxn ang="0">
                    <a:pos x="2" y="0"/>
                  </a:cxn>
                  <a:cxn ang="0">
                    <a:pos x="0" y="0"/>
                  </a:cxn>
                  <a:cxn ang="0">
                    <a:pos x="0" y="0"/>
                  </a:cxn>
                </a:cxnLst>
                <a:rect l="0" t="0" r="r" b="b"/>
                <a:pathLst>
                  <a:path w="2" h="2">
                    <a:moveTo>
                      <a:pt x="0" y="0"/>
                    </a:moveTo>
                    <a:lnTo>
                      <a:pt x="0" y="0"/>
                    </a:lnTo>
                    <a:lnTo>
                      <a:pt x="0" y="2"/>
                    </a:lnTo>
                    <a:lnTo>
                      <a:pt x="2" y="2"/>
                    </a:lnTo>
                    <a:lnTo>
                      <a:pt x="2" y="0"/>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25" name="Freeform 399">
                <a:extLst>
                  <a:ext uri="{FF2B5EF4-FFF2-40B4-BE49-F238E27FC236}">
                    <a16:creationId xmlns:a16="http://schemas.microsoft.com/office/drawing/2014/main" id="{9A85A2DD-E796-34A6-7108-D2F20AE911F8}"/>
                  </a:ext>
                </a:extLst>
              </p:cNvPr>
              <p:cNvSpPr>
                <a:spLocks/>
              </p:cNvSpPr>
              <p:nvPr/>
            </p:nvSpPr>
            <p:spPr bwMode="auto">
              <a:xfrm>
                <a:off x="3712875" y="3468331"/>
                <a:ext cx="1944" cy="1921"/>
              </a:xfrm>
              <a:custGeom>
                <a:avLst/>
                <a:gdLst/>
                <a:ahLst/>
                <a:cxnLst>
                  <a:cxn ang="0">
                    <a:pos x="0" y="0"/>
                  </a:cxn>
                  <a:cxn ang="0">
                    <a:pos x="0" y="0"/>
                  </a:cxn>
                  <a:cxn ang="0">
                    <a:pos x="0" y="2"/>
                  </a:cxn>
                  <a:cxn ang="0">
                    <a:pos x="2" y="2"/>
                  </a:cxn>
                  <a:cxn ang="0">
                    <a:pos x="2" y="0"/>
                  </a:cxn>
                  <a:cxn ang="0">
                    <a:pos x="0" y="0"/>
                  </a:cxn>
                  <a:cxn ang="0">
                    <a:pos x="0" y="0"/>
                  </a:cxn>
                </a:cxnLst>
                <a:rect l="0" t="0" r="r" b="b"/>
                <a:pathLst>
                  <a:path w="2" h="2">
                    <a:moveTo>
                      <a:pt x="0" y="0"/>
                    </a:moveTo>
                    <a:lnTo>
                      <a:pt x="0" y="0"/>
                    </a:lnTo>
                    <a:lnTo>
                      <a:pt x="0" y="2"/>
                    </a:lnTo>
                    <a:lnTo>
                      <a:pt x="2" y="2"/>
                    </a:lnTo>
                    <a:lnTo>
                      <a:pt x="2" y="0"/>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26" name="Freeform 400">
                <a:extLst>
                  <a:ext uri="{FF2B5EF4-FFF2-40B4-BE49-F238E27FC236}">
                    <a16:creationId xmlns:a16="http://schemas.microsoft.com/office/drawing/2014/main" id="{54C282B7-64D7-0DC3-1D67-1518F78B61BD}"/>
                  </a:ext>
                </a:extLst>
              </p:cNvPr>
              <p:cNvSpPr>
                <a:spLocks/>
              </p:cNvSpPr>
              <p:nvPr/>
            </p:nvSpPr>
            <p:spPr bwMode="auto">
              <a:xfrm>
                <a:off x="3728433" y="3460645"/>
                <a:ext cx="3890" cy="1921"/>
              </a:xfrm>
              <a:custGeom>
                <a:avLst/>
                <a:gdLst/>
                <a:ahLst/>
                <a:cxnLst>
                  <a:cxn ang="0">
                    <a:pos x="2" y="0"/>
                  </a:cxn>
                  <a:cxn ang="0">
                    <a:pos x="2" y="0"/>
                  </a:cxn>
                  <a:cxn ang="0">
                    <a:pos x="0" y="2"/>
                  </a:cxn>
                  <a:cxn ang="0">
                    <a:pos x="4" y="0"/>
                  </a:cxn>
                  <a:cxn ang="0">
                    <a:pos x="2" y="0"/>
                  </a:cxn>
                  <a:cxn ang="0">
                    <a:pos x="2" y="0"/>
                  </a:cxn>
                </a:cxnLst>
                <a:rect l="0" t="0" r="r" b="b"/>
                <a:pathLst>
                  <a:path w="4" h="2">
                    <a:moveTo>
                      <a:pt x="2" y="0"/>
                    </a:moveTo>
                    <a:lnTo>
                      <a:pt x="2" y="0"/>
                    </a:lnTo>
                    <a:lnTo>
                      <a:pt x="0" y="2"/>
                    </a:lnTo>
                    <a:lnTo>
                      <a:pt x="4" y="0"/>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27" name="Freeform 401">
                <a:extLst>
                  <a:ext uri="{FF2B5EF4-FFF2-40B4-BE49-F238E27FC236}">
                    <a16:creationId xmlns:a16="http://schemas.microsoft.com/office/drawing/2014/main" id="{EB565A14-37D9-E123-E78F-C63B7FB0FE9A}"/>
                  </a:ext>
                </a:extLst>
              </p:cNvPr>
              <p:cNvSpPr>
                <a:spLocks/>
              </p:cNvSpPr>
              <p:nvPr/>
            </p:nvSpPr>
            <p:spPr bwMode="auto">
              <a:xfrm>
                <a:off x="3728433" y="3460645"/>
                <a:ext cx="3890" cy="1921"/>
              </a:xfrm>
              <a:custGeom>
                <a:avLst/>
                <a:gdLst/>
                <a:ahLst/>
                <a:cxnLst>
                  <a:cxn ang="0">
                    <a:pos x="2" y="0"/>
                  </a:cxn>
                  <a:cxn ang="0">
                    <a:pos x="2" y="0"/>
                  </a:cxn>
                  <a:cxn ang="0">
                    <a:pos x="0" y="2"/>
                  </a:cxn>
                  <a:cxn ang="0">
                    <a:pos x="4" y="0"/>
                  </a:cxn>
                  <a:cxn ang="0">
                    <a:pos x="2" y="0"/>
                  </a:cxn>
                  <a:cxn ang="0">
                    <a:pos x="2" y="0"/>
                  </a:cxn>
                </a:cxnLst>
                <a:rect l="0" t="0" r="r" b="b"/>
                <a:pathLst>
                  <a:path w="4" h="2">
                    <a:moveTo>
                      <a:pt x="2" y="0"/>
                    </a:moveTo>
                    <a:lnTo>
                      <a:pt x="2" y="0"/>
                    </a:lnTo>
                    <a:lnTo>
                      <a:pt x="0" y="2"/>
                    </a:lnTo>
                    <a:lnTo>
                      <a:pt x="4" y="0"/>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28" name="Rectangle 402">
                <a:extLst>
                  <a:ext uri="{FF2B5EF4-FFF2-40B4-BE49-F238E27FC236}">
                    <a16:creationId xmlns:a16="http://schemas.microsoft.com/office/drawing/2014/main" id="{BC86E3E6-7722-CBD4-1174-6AC1DCCAF3CC}"/>
                  </a:ext>
                </a:extLst>
              </p:cNvPr>
              <p:cNvSpPr>
                <a:spLocks noChangeArrowheads="1"/>
              </p:cNvSpPr>
              <p:nvPr/>
            </p:nvSpPr>
            <p:spPr bwMode="auto">
              <a:xfrm>
                <a:off x="3788718" y="3579770"/>
                <a:ext cx="973" cy="1921"/>
              </a:xfrm>
              <a:prstGeom prst="rect">
                <a:avLst/>
              </a:prstGeom>
              <a:solidFill>
                <a:srgbClr val="C4C4CD"/>
              </a:solidFill>
              <a:ln w="3175">
                <a:solidFill>
                  <a:srgbClr val="2E2E38">
                    <a:lumMod val="20000"/>
                    <a:lumOff val="80000"/>
                  </a:srgbClr>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29" name="Rectangle 403">
                <a:extLst>
                  <a:ext uri="{FF2B5EF4-FFF2-40B4-BE49-F238E27FC236}">
                    <a16:creationId xmlns:a16="http://schemas.microsoft.com/office/drawing/2014/main" id="{7C4B8940-8E90-C674-BDB5-C14A0EEE477A}"/>
                  </a:ext>
                </a:extLst>
              </p:cNvPr>
              <p:cNvSpPr>
                <a:spLocks noChangeArrowheads="1"/>
              </p:cNvSpPr>
              <p:nvPr/>
            </p:nvSpPr>
            <p:spPr bwMode="auto">
              <a:xfrm>
                <a:off x="3615641" y="3070606"/>
                <a:ext cx="973" cy="961"/>
              </a:xfrm>
              <a:prstGeom prst="rect">
                <a:avLst/>
              </a:prstGeom>
              <a:solidFill>
                <a:srgbClr val="C4C4CD"/>
              </a:solidFill>
              <a:ln w="3175">
                <a:solidFill>
                  <a:srgbClr val="2E2E38">
                    <a:lumMod val="20000"/>
                    <a:lumOff val="80000"/>
                  </a:srgbClr>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30" name="Freeform 404">
                <a:extLst>
                  <a:ext uri="{FF2B5EF4-FFF2-40B4-BE49-F238E27FC236}">
                    <a16:creationId xmlns:a16="http://schemas.microsoft.com/office/drawing/2014/main" id="{48871064-28EF-0494-766C-01F70D199115}"/>
                  </a:ext>
                </a:extLst>
              </p:cNvPr>
              <p:cNvSpPr>
                <a:spLocks/>
              </p:cNvSpPr>
              <p:nvPr/>
            </p:nvSpPr>
            <p:spPr bwMode="auto">
              <a:xfrm>
                <a:off x="3942349" y="3493308"/>
                <a:ext cx="7779" cy="5764"/>
              </a:xfrm>
              <a:custGeom>
                <a:avLst/>
                <a:gdLst/>
                <a:ahLst/>
                <a:cxnLst>
                  <a:cxn ang="0">
                    <a:pos x="2" y="4"/>
                  </a:cxn>
                  <a:cxn ang="0">
                    <a:pos x="2" y="4"/>
                  </a:cxn>
                  <a:cxn ang="0">
                    <a:pos x="0" y="6"/>
                  </a:cxn>
                  <a:cxn ang="0">
                    <a:pos x="0" y="4"/>
                  </a:cxn>
                  <a:cxn ang="0">
                    <a:pos x="6" y="0"/>
                  </a:cxn>
                  <a:cxn ang="0">
                    <a:pos x="8" y="0"/>
                  </a:cxn>
                  <a:cxn ang="0">
                    <a:pos x="6" y="2"/>
                  </a:cxn>
                  <a:cxn ang="0">
                    <a:pos x="2" y="4"/>
                  </a:cxn>
                  <a:cxn ang="0">
                    <a:pos x="2" y="4"/>
                  </a:cxn>
                </a:cxnLst>
                <a:rect l="0" t="0" r="r" b="b"/>
                <a:pathLst>
                  <a:path w="8" h="6">
                    <a:moveTo>
                      <a:pt x="2" y="4"/>
                    </a:moveTo>
                    <a:lnTo>
                      <a:pt x="2" y="4"/>
                    </a:lnTo>
                    <a:lnTo>
                      <a:pt x="0" y="6"/>
                    </a:lnTo>
                    <a:lnTo>
                      <a:pt x="0" y="4"/>
                    </a:lnTo>
                    <a:lnTo>
                      <a:pt x="6" y="0"/>
                    </a:lnTo>
                    <a:lnTo>
                      <a:pt x="8" y="0"/>
                    </a:lnTo>
                    <a:lnTo>
                      <a:pt x="6" y="2"/>
                    </a:lnTo>
                    <a:lnTo>
                      <a:pt x="2" y="4"/>
                    </a:lnTo>
                    <a:lnTo>
                      <a:pt x="2" y="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31" name="Freeform 405">
                <a:extLst>
                  <a:ext uri="{FF2B5EF4-FFF2-40B4-BE49-F238E27FC236}">
                    <a16:creationId xmlns:a16="http://schemas.microsoft.com/office/drawing/2014/main" id="{6F567C30-D59C-B618-1E40-0A912863A54E}"/>
                  </a:ext>
                </a:extLst>
              </p:cNvPr>
              <p:cNvSpPr>
                <a:spLocks/>
              </p:cNvSpPr>
              <p:nvPr/>
            </p:nvSpPr>
            <p:spPr bwMode="auto">
              <a:xfrm>
                <a:off x="3942349" y="3493308"/>
                <a:ext cx="7779" cy="5764"/>
              </a:xfrm>
              <a:custGeom>
                <a:avLst/>
                <a:gdLst/>
                <a:ahLst/>
                <a:cxnLst>
                  <a:cxn ang="0">
                    <a:pos x="2" y="4"/>
                  </a:cxn>
                  <a:cxn ang="0">
                    <a:pos x="2" y="4"/>
                  </a:cxn>
                  <a:cxn ang="0">
                    <a:pos x="0" y="6"/>
                  </a:cxn>
                  <a:cxn ang="0">
                    <a:pos x="0" y="4"/>
                  </a:cxn>
                  <a:cxn ang="0">
                    <a:pos x="6" y="0"/>
                  </a:cxn>
                  <a:cxn ang="0">
                    <a:pos x="8" y="0"/>
                  </a:cxn>
                  <a:cxn ang="0">
                    <a:pos x="6" y="2"/>
                  </a:cxn>
                  <a:cxn ang="0">
                    <a:pos x="2" y="4"/>
                  </a:cxn>
                  <a:cxn ang="0">
                    <a:pos x="2" y="4"/>
                  </a:cxn>
                </a:cxnLst>
                <a:rect l="0" t="0" r="r" b="b"/>
                <a:pathLst>
                  <a:path w="8" h="6">
                    <a:moveTo>
                      <a:pt x="2" y="4"/>
                    </a:moveTo>
                    <a:lnTo>
                      <a:pt x="2" y="4"/>
                    </a:lnTo>
                    <a:lnTo>
                      <a:pt x="0" y="6"/>
                    </a:lnTo>
                    <a:lnTo>
                      <a:pt x="0" y="4"/>
                    </a:lnTo>
                    <a:lnTo>
                      <a:pt x="6" y="0"/>
                    </a:lnTo>
                    <a:lnTo>
                      <a:pt x="8" y="0"/>
                    </a:lnTo>
                    <a:lnTo>
                      <a:pt x="6" y="2"/>
                    </a:lnTo>
                    <a:lnTo>
                      <a:pt x="2" y="4"/>
                    </a:lnTo>
                    <a:lnTo>
                      <a:pt x="2" y="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32" name="Freeform 407">
                <a:extLst>
                  <a:ext uri="{FF2B5EF4-FFF2-40B4-BE49-F238E27FC236}">
                    <a16:creationId xmlns:a16="http://schemas.microsoft.com/office/drawing/2014/main" id="{4372D837-0CC6-5685-BDB0-53C8D743184A}"/>
                  </a:ext>
                </a:extLst>
              </p:cNvPr>
              <p:cNvSpPr>
                <a:spLocks/>
              </p:cNvSpPr>
              <p:nvPr/>
            </p:nvSpPr>
            <p:spPr bwMode="auto">
              <a:xfrm>
                <a:off x="3981243" y="3514443"/>
                <a:ext cx="1944" cy="1921"/>
              </a:xfrm>
              <a:custGeom>
                <a:avLst/>
                <a:gdLst/>
                <a:ahLst/>
                <a:cxnLst>
                  <a:cxn ang="0">
                    <a:pos x="0" y="2"/>
                  </a:cxn>
                  <a:cxn ang="0">
                    <a:pos x="0" y="2"/>
                  </a:cxn>
                  <a:cxn ang="0">
                    <a:pos x="0" y="0"/>
                  </a:cxn>
                  <a:cxn ang="0">
                    <a:pos x="2" y="0"/>
                  </a:cxn>
                  <a:cxn ang="0">
                    <a:pos x="0" y="2"/>
                  </a:cxn>
                  <a:cxn ang="0">
                    <a:pos x="0" y="2"/>
                  </a:cxn>
                </a:cxnLst>
                <a:rect l="0" t="0" r="r" b="b"/>
                <a:pathLst>
                  <a:path w="2" h="2">
                    <a:moveTo>
                      <a:pt x="0" y="2"/>
                    </a:moveTo>
                    <a:lnTo>
                      <a:pt x="0" y="2"/>
                    </a:lnTo>
                    <a:lnTo>
                      <a:pt x="0" y="0"/>
                    </a:lnTo>
                    <a:lnTo>
                      <a:pt x="2" y="0"/>
                    </a:lnTo>
                    <a:lnTo>
                      <a:pt x="0" y="2"/>
                    </a:lnTo>
                    <a:lnTo>
                      <a:pt x="0"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33" name="Freeform 408">
                <a:extLst>
                  <a:ext uri="{FF2B5EF4-FFF2-40B4-BE49-F238E27FC236}">
                    <a16:creationId xmlns:a16="http://schemas.microsoft.com/office/drawing/2014/main" id="{8C2D72EE-8AEA-C63B-7BF3-AA28335D90EF}"/>
                  </a:ext>
                </a:extLst>
              </p:cNvPr>
              <p:cNvSpPr>
                <a:spLocks/>
              </p:cNvSpPr>
              <p:nvPr/>
            </p:nvSpPr>
            <p:spPr bwMode="auto">
              <a:xfrm>
                <a:off x="3981243" y="3514443"/>
                <a:ext cx="1944" cy="1921"/>
              </a:xfrm>
              <a:custGeom>
                <a:avLst/>
                <a:gdLst/>
                <a:ahLst/>
                <a:cxnLst>
                  <a:cxn ang="0">
                    <a:pos x="0" y="2"/>
                  </a:cxn>
                  <a:cxn ang="0">
                    <a:pos x="0" y="2"/>
                  </a:cxn>
                  <a:cxn ang="0">
                    <a:pos x="0" y="0"/>
                  </a:cxn>
                  <a:cxn ang="0">
                    <a:pos x="2" y="0"/>
                  </a:cxn>
                  <a:cxn ang="0">
                    <a:pos x="0" y="2"/>
                  </a:cxn>
                  <a:cxn ang="0">
                    <a:pos x="0" y="2"/>
                  </a:cxn>
                </a:cxnLst>
                <a:rect l="0" t="0" r="r" b="b"/>
                <a:pathLst>
                  <a:path w="2" h="2">
                    <a:moveTo>
                      <a:pt x="0" y="2"/>
                    </a:moveTo>
                    <a:lnTo>
                      <a:pt x="0" y="2"/>
                    </a:lnTo>
                    <a:lnTo>
                      <a:pt x="0" y="0"/>
                    </a:lnTo>
                    <a:lnTo>
                      <a:pt x="2" y="0"/>
                    </a:lnTo>
                    <a:lnTo>
                      <a:pt x="0" y="2"/>
                    </a:lnTo>
                    <a:lnTo>
                      <a:pt x="0"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34" name="Freeform 409">
                <a:extLst>
                  <a:ext uri="{FF2B5EF4-FFF2-40B4-BE49-F238E27FC236}">
                    <a16:creationId xmlns:a16="http://schemas.microsoft.com/office/drawing/2014/main" id="{2B7A1A57-8B2F-172F-B522-808B1411DE7C}"/>
                  </a:ext>
                </a:extLst>
              </p:cNvPr>
              <p:cNvSpPr>
                <a:spLocks/>
              </p:cNvSpPr>
              <p:nvPr/>
            </p:nvSpPr>
            <p:spPr bwMode="auto">
              <a:xfrm>
                <a:off x="3773161" y="3105191"/>
                <a:ext cx="1944" cy="1921"/>
              </a:xfrm>
              <a:custGeom>
                <a:avLst/>
                <a:gdLst/>
                <a:ahLst/>
                <a:cxnLst>
                  <a:cxn ang="0">
                    <a:pos x="0" y="0"/>
                  </a:cxn>
                  <a:cxn ang="0">
                    <a:pos x="0" y="2"/>
                  </a:cxn>
                  <a:cxn ang="0">
                    <a:pos x="2" y="0"/>
                  </a:cxn>
                  <a:cxn ang="0">
                    <a:pos x="0" y="0"/>
                  </a:cxn>
                  <a:cxn ang="0">
                    <a:pos x="0" y="0"/>
                  </a:cxn>
                </a:cxnLst>
                <a:rect l="0" t="0" r="r" b="b"/>
                <a:pathLst>
                  <a:path w="2" h="2">
                    <a:moveTo>
                      <a:pt x="0" y="0"/>
                    </a:moveTo>
                    <a:lnTo>
                      <a:pt x="0" y="2"/>
                    </a:lnTo>
                    <a:lnTo>
                      <a:pt x="2" y="0"/>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35" name="Freeform 410">
                <a:extLst>
                  <a:ext uri="{FF2B5EF4-FFF2-40B4-BE49-F238E27FC236}">
                    <a16:creationId xmlns:a16="http://schemas.microsoft.com/office/drawing/2014/main" id="{D7738054-6CFE-15C9-6CB0-62EE83447843}"/>
                  </a:ext>
                </a:extLst>
              </p:cNvPr>
              <p:cNvSpPr>
                <a:spLocks/>
              </p:cNvSpPr>
              <p:nvPr/>
            </p:nvSpPr>
            <p:spPr bwMode="auto">
              <a:xfrm>
                <a:off x="3773161" y="3105191"/>
                <a:ext cx="1944" cy="1921"/>
              </a:xfrm>
              <a:custGeom>
                <a:avLst/>
                <a:gdLst/>
                <a:ahLst/>
                <a:cxnLst>
                  <a:cxn ang="0">
                    <a:pos x="0" y="0"/>
                  </a:cxn>
                  <a:cxn ang="0">
                    <a:pos x="0" y="2"/>
                  </a:cxn>
                  <a:cxn ang="0">
                    <a:pos x="2" y="0"/>
                  </a:cxn>
                  <a:cxn ang="0">
                    <a:pos x="0" y="0"/>
                  </a:cxn>
                  <a:cxn ang="0">
                    <a:pos x="0" y="0"/>
                  </a:cxn>
                </a:cxnLst>
                <a:rect l="0" t="0" r="r" b="b"/>
                <a:pathLst>
                  <a:path w="2" h="2">
                    <a:moveTo>
                      <a:pt x="0" y="0"/>
                    </a:moveTo>
                    <a:lnTo>
                      <a:pt x="0" y="2"/>
                    </a:lnTo>
                    <a:lnTo>
                      <a:pt x="2" y="0"/>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36" name="Freeform 411">
                <a:extLst>
                  <a:ext uri="{FF2B5EF4-FFF2-40B4-BE49-F238E27FC236}">
                    <a16:creationId xmlns:a16="http://schemas.microsoft.com/office/drawing/2014/main" id="{29BF4C13-FBE8-B63E-077A-3F8DC5AA4B6F}"/>
                  </a:ext>
                </a:extLst>
              </p:cNvPr>
              <p:cNvSpPr>
                <a:spLocks/>
              </p:cNvSpPr>
              <p:nvPr/>
            </p:nvSpPr>
            <p:spPr bwMode="auto">
              <a:xfrm>
                <a:off x="3705096" y="2878469"/>
                <a:ext cx="973" cy="1921"/>
              </a:xfrm>
              <a:custGeom>
                <a:avLst/>
                <a:gdLst/>
                <a:ahLst/>
                <a:cxnLst>
                  <a:cxn ang="0">
                    <a:pos x="0" y="0"/>
                  </a:cxn>
                  <a:cxn ang="0">
                    <a:pos x="0" y="0"/>
                  </a:cxn>
                  <a:cxn ang="0">
                    <a:pos x="0" y="2"/>
                  </a:cxn>
                  <a:cxn ang="0">
                    <a:pos x="0" y="0"/>
                  </a:cxn>
                  <a:cxn ang="0">
                    <a:pos x="0" y="0"/>
                  </a:cxn>
                </a:cxnLst>
                <a:rect l="0" t="0" r="r" b="b"/>
                <a:pathLst>
                  <a:path h="2">
                    <a:moveTo>
                      <a:pt x="0" y="0"/>
                    </a:moveTo>
                    <a:lnTo>
                      <a:pt x="0" y="0"/>
                    </a:lnTo>
                    <a:lnTo>
                      <a:pt x="0" y="2"/>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37" name="Freeform 412">
                <a:extLst>
                  <a:ext uri="{FF2B5EF4-FFF2-40B4-BE49-F238E27FC236}">
                    <a16:creationId xmlns:a16="http://schemas.microsoft.com/office/drawing/2014/main" id="{F0DCFC5D-9609-ACC1-59E2-C60FB181B885}"/>
                  </a:ext>
                </a:extLst>
              </p:cNvPr>
              <p:cNvSpPr>
                <a:spLocks noEditPoints="1"/>
              </p:cNvSpPr>
              <p:nvPr/>
            </p:nvSpPr>
            <p:spPr bwMode="auto">
              <a:xfrm>
                <a:off x="3051679" y="2847728"/>
                <a:ext cx="1137646" cy="733964"/>
              </a:xfrm>
              <a:custGeom>
                <a:avLst/>
                <a:gdLst/>
                <a:ahLst/>
                <a:cxnLst>
                  <a:cxn ang="0">
                    <a:pos x="818" y="108"/>
                  </a:cxn>
                  <a:cxn ang="0">
                    <a:pos x="508" y="48"/>
                  </a:cxn>
                  <a:cxn ang="0">
                    <a:pos x="508" y="36"/>
                  </a:cxn>
                  <a:cxn ang="0">
                    <a:pos x="648" y="72"/>
                  </a:cxn>
                  <a:cxn ang="0">
                    <a:pos x="680" y="34"/>
                  </a:cxn>
                  <a:cxn ang="0">
                    <a:pos x="724" y="70"/>
                  </a:cxn>
                  <a:cxn ang="0">
                    <a:pos x="384" y="48"/>
                  </a:cxn>
                  <a:cxn ang="0">
                    <a:pos x="452" y="32"/>
                  </a:cxn>
                  <a:cxn ang="0">
                    <a:pos x="772" y="322"/>
                  </a:cxn>
                  <a:cxn ang="0">
                    <a:pos x="778" y="322"/>
                  </a:cxn>
                  <a:cxn ang="0">
                    <a:pos x="1000" y="288"/>
                  </a:cxn>
                  <a:cxn ang="0">
                    <a:pos x="990" y="306"/>
                  </a:cxn>
                  <a:cxn ang="0">
                    <a:pos x="976" y="362"/>
                  </a:cxn>
                  <a:cxn ang="0">
                    <a:pos x="858" y="328"/>
                  </a:cxn>
                  <a:cxn ang="0">
                    <a:pos x="896" y="236"/>
                  </a:cxn>
                  <a:cxn ang="0">
                    <a:pos x="832" y="172"/>
                  </a:cxn>
                  <a:cxn ang="0">
                    <a:pos x="714" y="164"/>
                  </a:cxn>
                  <a:cxn ang="0">
                    <a:pos x="738" y="148"/>
                  </a:cxn>
                  <a:cxn ang="0">
                    <a:pos x="784" y="134"/>
                  </a:cxn>
                  <a:cxn ang="0">
                    <a:pos x="886" y="136"/>
                  </a:cxn>
                  <a:cxn ang="0">
                    <a:pos x="946" y="170"/>
                  </a:cxn>
                  <a:cxn ang="0">
                    <a:pos x="982" y="234"/>
                  </a:cxn>
                  <a:cxn ang="0">
                    <a:pos x="1014" y="728"/>
                  </a:cxn>
                  <a:cxn ang="0">
                    <a:pos x="982" y="702"/>
                  </a:cxn>
                  <a:cxn ang="0">
                    <a:pos x="832" y="732"/>
                  </a:cxn>
                  <a:cxn ang="0">
                    <a:pos x="788" y="692"/>
                  </a:cxn>
                  <a:cxn ang="0">
                    <a:pos x="630" y="644"/>
                  </a:cxn>
                  <a:cxn ang="0">
                    <a:pos x="220" y="620"/>
                  </a:cxn>
                  <a:cxn ang="0">
                    <a:pos x="164" y="546"/>
                  </a:cxn>
                  <a:cxn ang="0">
                    <a:pos x="86" y="410"/>
                  </a:cxn>
                  <a:cxn ang="0">
                    <a:pos x="80" y="200"/>
                  </a:cxn>
                  <a:cxn ang="0">
                    <a:pos x="168" y="174"/>
                  </a:cxn>
                  <a:cxn ang="0">
                    <a:pos x="340" y="208"/>
                  </a:cxn>
                  <a:cxn ang="0">
                    <a:pos x="460" y="216"/>
                  </a:cxn>
                  <a:cxn ang="0">
                    <a:pos x="544" y="238"/>
                  </a:cxn>
                  <a:cxn ang="0">
                    <a:pos x="618" y="216"/>
                  </a:cxn>
                  <a:cxn ang="0">
                    <a:pos x="604" y="120"/>
                  </a:cxn>
                  <a:cxn ang="0">
                    <a:pos x="632" y="150"/>
                  </a:cxn>
                  <a:cxn ang="0">
                    <a:pos x="700" y="244"/>
                  </a:cxn>
                  <a:cxn ang="0">
                    <a:pos x="782" y="242"/>
                  </a:cxn>
                  <a:cxn ang="0">
                    <a:pos x="676" y="290"/>
                  </a:cxn>
                  <a:cxn ang="0">
                    <a:pos x="618" y="388"/>
                  </a:cxn>
                  <a:cxn ang="0">
                    <a:pos x="772" y="526"/>
                  </a:cxn>
                  <a:cxn ang="0">
                    <a:pos x="844" y="472"/>
                  </a:cxn>
                  <a:cxn ang="0">
                    <a:pos x="890" y="356"/>
                  </a:cxn>
                  <a:cxn ang="0">
                    <a:pos x="994" y="412"/>
                  </a:cxn>
                  <a:cxn ang="0">
                    <a:pos x="1038" y="492"/>
                  </a:cxn>
                  <a:cxn ang="0">
                    <a:pos x="1114" y="554"/>
                  </a:cxn>
                  <a:cxn ang="0">
                    <a:pos x="974" y="608"/>
                  </a:cxn>
                  <a:cxn ang="0">
                    <a:pos x="1002" y="644"/>
                  </a:cxn>
                  <a:cxn ang="0">
                    <a:pos x="1168" y="658"/>
                  </a:cxn>
                  <a:cxn ang="0">
                    <a:pos x="1102" y="616"/>
                  </a:cxn>
                  <a:cxn ang="0">
                    <a:pos x="1082" y="652"/>
                  </a:cxn>
                  <a:cxn ang="0">
                    <a:pos x="1046" y="676"/>
                  </a:cxn>
                  <a:cxn ang="0">
                    <a:pos x="534" y="186"/>
                  </a:cxn>
                  <a:cxn ang="0">
                    <a:pos x="408" y="116"/>
                  </a:cxn>
                  <a:cxn ang="0">
                    <a:pos x="330" y="146"/>
                  </a:cxn>
                  <a:cxn ang="0">
                    <a:pos x="324" y="190"/>
                  </a:cxn>
                  <a:cxn ang="0">
                    <a:pos x="522" y="198"/>
                  </a:cxn>
                  <a:cxn ang="0">
                    <a:pos x="566" y="78"/>
                  </a:cxn>
                  <a:cxn ang="0">
                    <a:pos x="590" y="130"/>
                  </a:cxn>
                  <a:cxn ang="0">
                    <a:pos x="122" y="556"/>
                  </a:cxn>
                  <a:cxn ang="0">
                    <a:pos x="306" y="104"/>
                  </a:cxn>
                </a:cxnLst>
                <a:rect l="0" t="0" r="r" b="b"/>
                <a:pathLst>
                  <a:path w="1170" h="764">
                    <a:moveTo>
                      <a:pt x="766" y="700"/>
                    </a:moveTo>
                    <a:lnTo>
                      <a:pt x="766" y="700"/>
                    </a:lnTo>
                    <a:lnTo>
                      <a:pt x="760" y="698"/>
                    </a:lnTo>
                    <a:lnTo>
                      <a:pt x="762" y="696"/>
                    </a:lnTo>
                    <a:lnTo>
                      <a:pt x="768" y="698"/>
                    </a:lnTo>
                    <a:lnTo>
                      <a:pt x="772" y="700"/>
                    </a:lnTo>
                    <a:lnTo>
                      <a:pt x="774" y="700"/>
                    </a:lnTo>
                    <a:lnTo>
                      <a:pt x="776" y="700"/>
                    </a:lnTo>
                    <a:lnTo>
                      <a:pt x="774" y="700"/>
                    </a:lnTo>
                    <a:lnTo>
                      <a:pt x="766" y="700"/>
                    </a:lnTo>
                    <a:lnTo>
                      <a:pt x="766" y="700"/>
                    </a:lnTo>
                    <a:close/>
                    <a:moveTo>
                      <a:pt x="814" y="184"/>
                    </a:moveTo>
                    <a:lnTo>
                      <a:pt x="814" y="184"/>
                    </a:lnTo>
                    <a:lnTo>
                      <a:pt x="812" y="186"/>
                    </a:lnTo>
                    <a:lnTo>
                      <a:pt x="808" y="186"/>
                    </a:lnTo>
                    <a:lnTo>
                      <a:pt x="798" y="186"/>
                    </a:lnTo>
                    <a:lnTo>
                      <a:pt x="798" y="188"/>
                    </a:lnTo>
                    <a:lnTo>
                      <a:pt x="800" y="188"/>
                    </a:lnTo>
                    <a:lnTo>
                      <a:pt x="800" y="190"/>
                    </a:lnTo>
                    <a:lnTo>
                      <a:pt x="802" y="192"/>
                    </a:lnTo>
                    <a:lnTo>
                      <a:pt x="804" y="190"/>
                    </a:lnTo>
                    <a:lnTo>
                      <a:pt x="806" y="194"/>
                    </a:lnTo>
                    <a:lnTo>
                      <a:pt x="808" y="194"/>
                    </a:lnTo>
                    <a:lnTo>
                      <a:pt x="816" y="186"/>
                    </a:lnTo>
                    <a:lnTo>
                      <a:pt x="820" y="184"/>
                    </a:lnTo>
                    <a:lnTo>
                      <a:pt x="818" y="184"/>
                    </a:lnTo>
                    <a:lnTo>
                      <a:pt x="814" y="184"/>
                    </a:lnTo>
                    <a:lnTo>
                      <a:pt x="814" y="184"/>
                    </a:lnTo>
                    <a:close/>
                    <a:moveTo>
                      <a:pt x="840" y="96"/>
                    </a:moveTo>
                    <a:lnTo>
                      <a:pt x="838" y="96"/>
                    </a:lnTo>
                    <a:lnTo>
                      <a:pt x="834" y="84"/>
                    </a:lnTo>
                    <a:lnTo>
                      <a:pt x="832" y="80"/>
                    </a:lnTo>
                    <a:lnTo>
                      <a:pt x="830" y="80"/>
                    </a:lnTo>
                    <a:lnTo>
                      <a:pt x="828" y="80"/>
                    </a:lnTo>
                    <a:lnTo>
                      <a:pt x="826" y="78"/>
                    </a:lnTo>
                    <a:lnTo>
                      <a:pt x="820" y="80"/>
                    </a:lnTo>
                    <a:lnTo>
                      <a:pt x="814" y="82"/>
                    </a:lnTo>
                    <a:lnTo>
                      <a:pt x="810" y="82"/>
                    </a:lnTo>
                    <a:lnTo>
                      <a:pt x="808" y="82"/>
                    </a:lnTo>
                    <a:lnTo>
                      <a:pt x="804" y="78"/>
                    </a:lnTo>
                    <a:lnTo>
                      <a:pt x="800" y="80"/>
                    </a:lnTo>
                    <a:lnTo>
                      <a:pt x="796" y="82"/>
                    </a:lnTo>
                    <a:lnTo>
                      <a:pt x="792" y="82"/>
                    </a:lnTo>
                    <a:lnTo>
                      <a:pt x="788" y="86"/>
                    </a:lnTo>
                    <a:lnTo>
                      <a:pt x="786" y="92"/>
                    </a:lnTo>
                    <a:lnTo>
                      <a:pt x="782" y="104"/>
                    </a:lnTo>
                    <a:lnTo>
                      <a:pt x="782" y="102"/>
                    </a:lnTo>
                    <a:lnTo>
                      <a:pt x="782" y="106"/>
                    </a:lnTo>
                    <a:lnTo>
                      <a:pt x="784" y="110"/>
                    </a:lnTo>
                    <a:lnTo>
                      <a:pt x="788" y="114"/>
                    </a:lnTo>
                    <a:lnTo>
                      <a:pt x="792" y="114"/>
                    </a:lnTo>
                    <a:lnTo>
                      <a:pt x="794" y="112"/>
                    </a:lnTo>
                    <a:lnTo>
                      <a:pt x="798" y="110"/>
                    </a:lnTo>
                    <a:lnTo>
                      <a:pt x="804" y="112"/>
                    </a:lnTo>
                    <a:lnTo>
                      <a:pt x="812" y="112"/>
                    </a:lnTo>
                    <a:lnTo>
                      <a:pt x="816" y="112"/>
                    </a:lnTo>
                    <a:lnTo>
                      <a:pt x="818" y="108"/>
                    </a:lnTo>
                    <a:lnTo>
                      <a:pt x="824" y="104"/>
                    </a:lnTo>
                    <a:lnTo>
                      <a:pt x="826" y="104"/>
                    </a:lnTo>
                    <a:lnTo>
                      <a:pt x="830" y="104"/>
                    </a:lnTo>
                    <a:lnTo>
                      <a:pt x="832" y="102"/>
                    </a:lnTo>
                    <a:lnTo>
                      <a:pt x="832" y="102"/>
                    </a:lnTo>
                    <a:lnTo>
                      <a:pt x="836" y="102"/>
                    </a:lnTo>
                    <a:lnTo>
                      <a:pt x="840" y="100"/>
                    </a:lnTo>
                    <a:lnTo>
                      <a:pt x="840" y="96"/>
                    </a:lnTo>
                    <a:lnTo>
                      <a:pt x="840" y="96"/>
                    </a:lnTo>
                    <a:close/>
                    <a:moveTo>
                      <a:pt x="552" y="12"/>
                    </a:moveTo>
                    <a:lnTo>
                      <a:pt x="552" y="12"/>
                    </a:lnTo>
                    <a:lnTo>
                      <a:pt x="554" y="14"/>
                    </a:lnTo>
                    <a:lnTo>
                      <a:pt x="554" y="14"/>
                    </a:lnTo>
                    <a:lnTo>
                      <a:pt x="552" y="14"/>
                    </a:lnTo>
                    <a:lnTo>
                      <a:pt x="546" y="14"/>
                    </a:lnTo>
                    <a:lnTo>
                      <a:pt x="546" y="14"/>
                    </a:lnTo>
                    <a:lnTo>
                      <a:pt x="548" y="12"/>
                    </a:lnTo>
                    <a:lnTo>
                      <a:pt x="542" y="4"/>
                    </a:lnTo>
                    <a:lnTo>
                      <a:pt x="542" y="6"/>
                    </a:lnTo>
                    <a:lnTo>
                      <a:pt x="536" y="6"/>
                    </a:lnTo>
                    <a:lnTo>
                      <a:pt x="536" y="8"/>
                    </a:lnTo>
                    <a:lnTo>
                      <a:pt x="534" y="8"/>
                    </a:lnTo>
                    <a:lnTo>
                      <a:pt x="536" y="12"/>
                    </a:lnTo>
                    <a:lnTo>
                      <a:pt x="544" y="14"/>
                    </a:lnTo>
                    <a:lnTo>
                      <a:pt x="544" y="14"/>
                    </a:lnTo>
                    <a:lnTo>
                      <a:pt x="534" y="14"/>
                    </a:lnTo>
                    <a:lnTo>
                      <a:pt x="534" y="18"/>
                    </a:lnTo>
                    <a:lnTo>
                      <a:pt x="536" y="20"/>
                    </a:lnTo>
                    <a:lnTo>
                      <a:pt x="540" y="22"/>
                    </a:lnTo>
                    <a:lnTo>
                      <a:pt x="540" y="30"/>
                    </a:lnTo>
                    <a:lnTo>
                      <a:pt x="542" y="30"/>
                    </a:lnTo>
                    <a:lnTo>
                      <a:pt x="542" y="32"/>
                    </a:lnTo>
                    <a:lnTo>
                      <a:pt x="540" y="36"/>
                    </a:lnTo>
                    <a:lnTo>
                      <a:pt x="536" y="34"/>
                    </a:lnTo>
                    <a:lnTo>
                      <a:pt x="536" y="32"/>
                    </a:lnTo>
                    <a:lnTo>
                      <a:pt x="536" y="28"/>
                    </a:lnTo>
                    <a:lnTo>
                      <a:pt x="528" y="20"/>
                    </a:lnTo>
                    <a:lnTo>
                      <a:pt x="526" y="14"/>
                    </a:lnTo>
                    <a:lnTo>
                      <a:pt x="522" y="14"/>
                    </a:lnTo>
                    <a:lnTo>
                      <a:pt x="520" y="14"/>
                    </a:lnTo>
                    <a:lnTo>
                      <a:pt x="518" y="14"/>
                    </a:lnTo>
                    <a:lnTo>
                      <a:pt x="518" y="16"/>
                    </a:lnTo>
                    <a:lnTo>
                      <a:pt x="516" y="18"/>
                    </a:lnTo>
                    <a:lnTo>
                      <a:pt x="520" y="18"/>
                    </a:lnTo>
                    <a:lnTo>
                      <a:pt x="520" y="24"/>
                    </a:lnTo>
                    <a:lnTo>
                      <a:pt x="522" y="30"/>
                    </a:lnTo>
                    <a:lnTo>
                      <a:pt x="524" y="30"/>
                    </a:lnTo>
                    <a:lnTo>
                      <a:pt x="526" y="36"/>
                    </a:lnTo>
                    <a:lnTo>
                      <a:pt x="524" y="38"/>
                    </a:lnTo>
                    <a:lnTo>
                      <a:pt x="522" y="38"/>
                    </a:lnTo>
                    <a:lnTo>
                      <a:pt x="522" y="36"/>
                    </a:lnTo>
                    <a:lnTo>
                      <a:pt x="510" y="38"/>
                    </a:lnTo>
                    <a:lnTo>
                      <a:pt x="512" y="38"/>
                    </a:lnTo>
                    <a:lnTo>
                      <a:pt x="514" y="40"/>
                    </a:lnTo>
                    <a:lnTo>
                      <a:pt x="512" y="42"/>
                    </a:lnTo>
                    <a:lnTo>
                      <a:pt x="508" y="42"/>
                    </a:lnTo>
                    <a:lnTo>
                      <a:pt x="508" y="48"/>
                    </a:lnTo>
                    <a:lnTo>
                      <a:pt x="510" y="50"/>
                    </a:lnTo>
                    <a:lnTo>
                      <a:pt x="514" y="50"/>
                    </a:lnTo>
                    <a:lnTo>
                      <a:pt x="520" y="48"/>
                    </a:lnTo>
                    <a:lnTo>
                      <a:pt x="524" y="44"/>
                    </a:lnTo>
                    <a:lnTo>
                      <a:pt x="528" y="44"/>
                    </a:lnTo>
                    <a:lnTo>
                      <a:pt x="536" y="44"/>
                    </a:lnTo>
                    <a:lnTo>
                      <a:pt x="542" y="40"/>
                    </a:lnTo>
                    <a:lnTo>
                      <a:pt x="542" y="44"/>
                    </a:lnTo>
                    <a:lnTo>
                      <a:pt x="540" y="44"/>
                    </a:lnTo>
                    <a:lnTo>
                      <a:pt x="538" y="46"/>
                    </a:lnTo>
                    <a:lnTo>
                      <a:pt x="532" y="50"/>
                    </a:lnTo>
                    <a:lnTo>
                      <a:pt x="532" y="56"/>
                    </a:lnTo>
                    <a:lnTo>
                      <a:pt x="536" y="58"/>
                    </a:lnTo>
                    <a:lnTo>
                      <a:pt x="540" y="58"/>
                    </a:lnTo>
                    <a:lnTo>
                      <a:pt x="546" y="58"/>
                    </a:lnTo>
                    <a:lnTo>
                      <a:pt x="554" y="60"/>
                    </a:lnTo>
                    <a:lnTo>
                      <a:pt x="564" y="58"/>
                    </a:lnTo>
                    <a:lnTo>
                      <a:pt x="576" y="58"/>
                    </a:lnTo>
                    <a:lnTo>
                      <a:pt x="578" y="56"/>
                    </a:lnTo>
                    <a:lnTo>
                      <a:pt x="576" y="52"/>
                    </a:lnTo>
                    <a:lnTo>
                      <a:pt x="578" y="52"/>
                    </a:lnTo>
                    <a:lnTo>
                      <a:pt x="580" y="50"/>
                    </a:lnTo>
                    <a:lnTo>
                      <a:pt x="578" y="48"/>
                    </a:lnTo>
                    <a:lnTo>
                      <a:pt x="576" y="46"/>
                    </a:lnTo>
                    <a:lnTo>
                      <a:pt x="574" y="46"/>
                    </a:lnTo>
                    <a:lnTo>
                      <a:pt x="574" y="40"/>
                    </a:lnTo>
                    <a:lnTo>
                      <a:pt x="576" y="40"/>
                    </a:lnTo>
                    <a:lnTo>
                      <a:pt x="576" y="36"/>
                    </a:lnTo>
                    <a:lnTo>
                      <a:pt x="570" y="36"/>
                    </a:lnTo>
                    <a:lnTo>
                      <a:pt x="572" y="32"/>
                    </a:lnTo>
                    <a:lnTo>
                      <a:pt x="572" y="28"/>
                    </a:lnTo>
                    <a:lnTo>
                      <a:pt x="570" y="24"/>
                    </a:lnTo>
                    <a:lnTo>
                      <a:pt x="568" y="20"/>
                    </a:lnTo>
                    <a:lnTo>
                      <a:pt x="570" y="14"/>
                    </a:lnTo>
                    <a:lnTo>
                      <a:pt x="560" y="12"/>
                    </a:lnTo>
                    <a:lnTo>
                      <a:pt x="562" y="12"/>
                    </a:lnTo>
                    <a:lnTo>
                      <a:pt x="562" y="10"/>
                    </a:lnTo>
                    <a:lnTo>
                      <a:pt x="558" y="8"/>
                    </a:lnTo>
                    <a:lnTo>
                      <a:pt x="554" y="6"/>
                    </a:lnTo>
                    <a:lnTo>
                      <a:pt x="552" y="12"/>
                    </a:lnTo>
                    <a:lnTo>
                      <a:pt x="552" y="12"/>
                    </a:lnTo>
                    <a:close/>
                    <a:moveTo>
                      <a:pt x="488" y="24"/>
                    </a:moveTo>
                    <a:lnTo>
                      <a:pt x="488" y="26"/>
                    </a:lnTo>
                    <a:lnTo>
                      <a:pt x="502" y="24"/>
                    </a:lnTo>
                    <a:lnTo>
                      <a:pt x="500" y="26"/>
                    </a:lnTo>
                    <a:lnTo>
                      <a:pt x="490" y="30"/>
                    </a:lnTo>
                    <a:lnTo>
                      <a:pt x="488" y="32"/>
                    </a:lnTo>
                    <a:lnTo>
                      <a:pt x="500" y="30"/>
                    </a:lnTo>
                    <a:lnTo>
                      <a:pt x="502" y="32"/>
                    </a:lnTo>
                    <a:lnTo>
                      <a:pt x="498" y="34"/>
                    </a:lnTo>
                    <a:lnTo>
                      <a:pt x="496" y="38"/>
                    </a:lnTo>
                    <a:lnTo>
                      <a:pt x="492" y="38"/>
                    </a:lnTo>
                    <a:lnTo>
                      <a:pt x="492" y="42"/>
                    </a:lnTo>
                    <a:lnTo>
                      <a:pt x="498" y="42"/>
                    </a:lnTo>
                    <a:lnTo>
                      <a:pt x="504" y="40"/>
                    </a:lnTo>
                    <a:lnTo>
                      <a:pt x="506" y="38"/>
                    </a:lnTo>
                    <a:lnTo>
                      <a:pt x="508" y="36"/>
                    </a:lnTo>
                    <a:lnTo>
                      <a:pt x="514" y="32"/>
                    </a:lnTo>
                    <a:lnTo>
                      <a:pt x="514" y="30"/>
                    </a:lnTo>
                    <a:lnTo>
                      <a:pt x="512" y="30"/>
                    </a:lnTo>
                    <a:lnTo>
                      <a:pt x="512" y="28"/>
                    </a:lnTo>
                    <a:lnTo>
                      <a:pt x="514" y="26"/>
                    </a:lnTo>
                    <a:lnTo>
                      <a:pt x="514" y="24"/>
                    </a:lnTo>
                    <a:lnTo>
                      <a:pt x="514" y="22"/>
                    </a:lnTo>
                    <a:lnTo>
                      <a:pt x="510" y="20"/>
                    </a:lnTo>
                    <a:lnTo>
                      <a:pt x="504" y="22"/>
                    </a:lnTo>
                    <a:lnTo>
                      <a:pt x="508" y="16"/>
                    </a:lnTo>
                    <a:lnTo>
                      <a:pt x="508" y="14"/>
                    </a:lnTo>
                    <a:lnTo>
                      <a:pt x="504" y="14"/>
                    </a:lnTo>
                    <a:lnTo>
                      <a:pt x="496" y="14"/>
                    </a:lnTo>
                    <a:lnTo>
                      <a:pt x="490" y="16"/>
                    </a:lnTo>
                    <a:lnTo>
                      <a:pt x="486" y="18"/>
                    </a:lnTo>
                    <a:lnTo>
                      <a:pt x="484" y="18"/>
                    </a:lnTo>
                    <a:lnTo>
                      <a:pt x="484" y="20"/>
                    </a:lnTo>
                    <a:lnTo>
                      <a:pt x="484" y="22"/>
                    </a:lnTo>
                    <a:lnTo>
                      <a:pt x="488" y="24"/>
                    </a:lnTo>
                    <a:lnTo>
                      <a:pt x="488" y="24"/>
                    </a:lnTo>
                    <a:close/>
                    <a:moveTo>
                      <a:pt x="596" y="62"/>
                    </a:moveTo>
                    <a:lnTo>
                      <a:pt x="596" y="62"/>
                    </a:lnTo>
                    <a:lnTo>
                      <a:pt x="608" y="66"/>
                    </a:lnTo>
                    <a:lnTo>
                      <a:pt x="608" y="64"/>
                    </a:lnTo>
                    <a:lnTo>
                      <a:pt x="610" y="64"/>
                    </a:lnTo>
                    <a:lnTo>
                      <a:pt x="614" y="68"/>
                    </a:lnTo>
                    <a:lnTo>
                      <a:pt x="620" y="68"/>
                    </a:lnTo>
                    <a:lnTo>
                      <a:pt x="622" y="56"/>
                    </a:lnTo>
                    <a:lnTo>
                      <a:pt x="622" y="50"/>
                    </a:lnTo>
                    <a:lnTo>
                      <a:pt x="622" y="46"/>
                    </a:lnTo>
                    <a:lnTo>
                      <a:pt x="618" y="44"/>
                    </a:lnTo>
                    <a:lnTo>
                      <a:pt x="616" y="42"/>
                    </a:lnTo>
                    <a:lnTo>
                      <a:pt x="614" y="38"/>
                    </a:lnTo>
                    <a:lnTo>
                      <a:pt x="612" y="38"/>
                    </a:lnTo>
                    <a:lnTo>
                      <a:pt x="608" y="36"/>
                    </a:lnTo>
                    <a:lnTo>
                      <a:pt x="600" y="36"/>
                    </a:lnTo>
                    <a:lnTo>
                      <a:pt x="598" y="42"/>
                    </a:lnTo>
                    <a:lnTo>
                      <a:pt x="594" y="46"/>
                    </a:lnTo>
                    <a:lnTo>
                      <a:pt x="592" y="48"/>
                    </a:lnTo>
                    <a:lnTo>
                      <a:pt x="590" y="48"/>
                    </a:lnTo>
                    <a:lnTo>
                      <a:pt x="590" y="52"/>
                    </a:lnTo>
                    <a:lnTo>
                      <a:pt x="588" y="54"/>
                    </a:lnTo>
                    <a:lnTo>
                      <a:pt x="588" y="58"/>
                    </a:lnTo>
                    <a:lnTo>
                      <a:pt x="588" y="60"/>
                    </a:lnTo>
                    <a:lnTo>
                      <a:pt x="590" y="60"/>
                    </a:lnTo>
                    <a:lnTo>
                      <a:pt x="590" y="58"/>
                    </a:lnTo>
                    <a:lnTo>
                      <a:pt x="594" y="60"/>
                    </a:lnTo>
                    <a:lnTo>
                      <a:pt x="596" y="62"/>
                    </a:lnTo>
                    <a:lnTo>
                      <a:pt x="596" y="62"/>
                    </a:lnTo>
                    <a:close/>
                    <a:moveTo>
                      <a:pt x="660" y="72"/>
                    </a:moveTo>
                    <a:lnTo>
                      <a:pt x="660" y="72"/>
                    </a:lnTo>
                    <a:lnTo>
                      <a:pt x="658" y="70"/>
                    </a:lnTo>
                    <a:lnTo>
                      <a:pt x="658" y="68"/>
                    </a:lnTo>
                    <a:lnTo>
                      <a:pt x="654" y="68"/>
                    </a:lnTo>
                    <a:lnTo>
                      <a:pt x="654" y="72"/>
                    </a:lnTo>
                    <a:lnTo>
                      <a:pt x="650" y="72"/>
                    </a:lnTo>
                    <a:lnTo>
                      <a:pt x="648" y="72"/>
                    </a:lnTo>
                    <a:lnTo>
                      <a:pt x="648" y="66"/>
                    </a:lnTo>
                    <a:lnTo>
                      <a:pt x="648" y="64"/>
                    </a:lnTo>
                    <a:lnTo>
                      <a:pt x="646" y="56"/>
                    </a:lnTo>
                    <a:lnTo>
                      <a:pt x="648" y="54"/>
                    </a:lnTo>
                    <a:lnTo>
                      <a:pt x="648" y="50"/>
                    </a:lnTo>
                    <a:lnTo>
                      <a:pt x="646" y="46"/>
                    </a:lnTo>
                    <a:lnTo>
                      <a:pt x="650" y="42"/>
                    </a:lnTo>
                    <a:lnTo>
                      <a:pt x="650" y="38"/>
                    </a:lnTo>
                    <a:lnTo>
                      <a:pt x="648" y="34"/>
                    </a:lnTo>
                    <a:lnTo>
                      <a:pt x="644" y="32"/>
                    </a:lnTo>
                    <a:lnTo>
                      <a:pt x="644" y="30"/>
                    </a:lnTo>
                    <a:lnTo>
                      <a:pt x="642" y="26"/>
                    </a:lnTo>
                    <a:lnTo>
                      <a:pt x="638" y="26"/>
                    </a:lnTo>
                    <a:lnTo>
                      <a:pt x="628" y="24"/>
                    </a:lnTo>
                    <a:lnTo>
                      <a:pt x="628" y="20"/>
                    </a:lnTo>
                    <a:lnTo>
                      <a:pt x="626" y="20"/>
                    </a:lnTo>
                    <a:lnTo>
                      <a:pt x="624" y="22"/>
                    </a:lnTo>
                    <a:lnTo>
                      <a:pt x="622" y="26"/>
                    </a:lnTo>
                    <a:lnTo>
                      <a:pt x="620" y="26"/>
                    </a:lnTo>
                    <a:lnTo>
                      <a:pt x="614" y="22"/>
                    </a:lnTo>
                    <a:lnTo>
                      <a:pt x="608" y="20"/>
                    </a:lnTo>
                    <a:lnTo>
                      <a:pt x="602" y="20"/>
                    </a:lnTo>
                    <a:lnTo>
                      <a:pt x="598" y="18"/>
                    </a:lnTo>
                    <a:lnTo>
                      <a:pt x="596" y="16"/>
                    </a:lnTo>
                    <a:lnTo>
                      <a:pt x="594" y="14"/>
                    </a:lnTo>
                    <a:lnTo>
                      <a:pt x="588" y="10"/>
                    </a:lnTo>
                    <a:lnTo>
                      <a:pt x="588" y="8"/>
                    </a:lnTo>
                    <a:lnTo>
                      <a:pt x="590" y="8"/>
                    </a:lnTo>
                    <a:lnTo>
                      <a:pt x="594" y="2"/>
                    </a:lnTo>
                    <a:lnTo>
                      <a:pt x="600" y="4"/>
                    </a:lnTo>
                    <a:lnTo>
                      <a:pt x="604" y="2"/>
                    </a:lnTo>
                    <a:lnTo>
                      <a:pt x="604" y="4"/>
                    </a:lnTo>
                    <a:lnTo>
                      <a:pt x="614" y="6"/>
                    </a:lnTo>
                    <a:lnTo>
                      <a:pt x="620" y="6"/>
                    </a:lnTo>
                    <a:lnTo>
                      <a:pt x="624" y="6"/>
                    </a:lnTo>
                    <a:lnTo>
                      <a:pt x="630" y="10"/>
                    </a:lnTo>
                    <a:lnTo>
                      <a:pt x="630" y="14"/>
                    </a:lnTo>
                    <a:lnTo>
                      <a:pt x="640" y="14"/>
                    </a:lnTo>
                    <a:lnTo>
                      <a:pt x="652" y="10"/>
                    </a:lnTo>
                    <a:lnTo>
                      <a:pt x="654" y="14"/>
                    </a:lnTo>
                    <a:lnTo>
                      <a:pt x="658" y="14"/>
                    </a:lnTo>
                    <a:lnTo>
                      <a:pt x="662" y="14"/>
                    </a:lnTo>
                    <a:lnTo>
                      <a:pt x="664" y="18"/>
                    </a:lnTo>
                    <a:lnTo>
                      <a:pt x="674" y="20"/>
                    </a:lnTo>
                    <a:lnTo>
                      <a:pt x="674" y="24"/>
                    </a:lnTo>
                    <a:lnTo>
                      <a:pt x="668" y="26"/>
                    </a:lnTo>
                    <a:lnTo>
                      <a:pt x="660" y="26"/>
                    </a:lnTo>
                    <a:lnTo>
                      <a:pt x="660" y="28"/>
                    </a:lnTo>
                    <a:lnTo>
                      <a:pt x="664" y="30"/>
                    </a:lnTo>
                    <a:lnTo>
                      <a:pt x="662" y="34"/>
                    </a:lnTo>
                    <a:lnTo>
                      <a:pt x="664" y="34"/>
                    </a:lnTo>
                    <a:lnTo>
                      <a:pt x="666" y="30"/>
                    </a:lnTo>
                    <a:lnTo>
                      <a:pt x="672" y="30"/>
                    </a:lnTo>
                    <a:lnTo>
                      <a:pt x="678" y="32"/>
                    </a:lnTo>
                    <a:lnTo>
                      <a:pt x="678" y="38"/>
                    </a:lnTo>
                    <a:lnTo>
                      <a:pt x="680" y="36"/>
                    </a:lnTo>
                    <a:lnTo>
                      <a:pt x="680" y="34"/>
                    </a:lnTo>
                    <a:lnTo>
                      <a:pt x="694" y="38"/>
                    </a:lnTo>
                    <a:lnTo>
                      <a:pt x="694" y="40"/>
                    </a:lnTo>
                    <a:lnTo>
                      <a:pt x="696" y="40"/>
                    </a:lnTo>
                    <a:lnTo>
                      <a:pt x="696" y="38"/>
                    </a:lnTo>
                    <a:lnTo>
                      <a:pt x="700" y="40"/>
                    </a:lnTo>
                    <a:lnTo>
                      <a:pt x="704" y="42"/>
                    </a:lnTo>
                    <a:lnTo>
                      <a:pt x="704" y="36"/>
                    </a:lnTo>
                    <a:lnTo>
                      <a:pt x="712" y="40"/>
                    </a:lnTo>
                    <a:lnTo>
                      <a:pt x="720" y="40"/>
                    </a:lnTo>
                    <a:lnTo>
                      <a:pt x="720" y="38"/>
                    </a:lnTo>
                    <a:lnTo>
                      <a:pt x="724" y="36"/>
                    </a:lnTo>
                    <a:lnTo>
                      <a:pt x="732" y="36"/>
                    </a:lnTo>
                    <a:lnTo>
                      <a:pt x="738" y="36"/>
                    </a:lnTo>
                    <a:lnTo>
                      <a:pt x="738" y="32"/>
                    </a:lnTo>
                    <a:lnTo>
                      <a:pt x="744" y="32"/>
                    </a:lnTo>
                    <a:lnTo>
                      <a:pt x="746" y="30"/>
                    </a:lnTo>
                    <a:lnTo>
                      <a:pt x="750" y="30"/>
                    </a:lnTo>
                    <a:lnTo>
                      <a:pt x="752" y="32"/>
                    </a:lnTo>
                    <a:lnTo>
                      <a:pt x="756" y="34"/>
                    </a:lnTo>
                    <a:lnTo>
                      <a:pt x="760" y="32"/>
                    </a:lnTo>
                    <a:lnTo>
                      <a:pt x="762" y="32"/>
                    </a:lnTo>
                    <a:lnTo>
                      <a:pt x="776" y="32"/>
                    </a:lnTo>
                    <a:lnTo>
                      <a:pt x="776" y="36"/>
                    </a:lnTo>
                    <a:lnTo>
                      <a:pt x="780" y="38"/>
                    </a:lnTo>
                    <a:lnTo>
                      <a:pt x="784" y="38"/>
                    </a:lnTo>
                    <a:lnTo>
                      <a:pt x="786" y="36"/>
                    </a:lnTo>
                    <a:lnTo>
                      <a:pt x="790" y="36"/>
                    </a:lnTo>
                    <a:lnTo>
                      <a:pt x="794" y="38"/>
                    </a:lnTo>
                    <a:lnTo>
                      <a:pt x="800" y="42"/>
                    </a:lnTo>
                    <a:lnTo>
                      <a:pt x="804" y="42"/>
                    </a:lnTo>
                    <a:lnTo>
                      <a:pt x="806" y="48"/>
                    </a:lnTo>
                    <a:lnTo>
                      <a:pt x="806" y="50"/>
                    </a:lnTo>
                    <a:lnTo>
                      <a:pt x="804" y="52"/>
                    </a:lnTo>
                    <a:lnTo>
                      <a:pt x="796" y="58"/>
                    </a:lnTo>
                    <a:lnTo>
                      <a:pt x="796" y="56"/>
                    </a:lnTo>
                    <a:lnTo>
                      <a:pt x="796" y="58"/>
                    </a:lnTo>
                    <a:lnTo>
                      <a:pt x="796" y="62"/>
                    </a:lnTo>
                    <a:lnTo>
                      <a:pt x="796" y="64"/>
                    </a:lnTo>
                    <a:lnTo>
                      <a:pt x="796" y="62"/>
                    </a:lnTo>
                    <a:lnTo>
                      <a:pt x="794" y="66"/>
                    </a:lnTo>
                    <a:lnTo>
                      <a:pt x="780" y="68"/>
                    </a:lnTo>
                    <a:lnTo>
                      <a:pt x="770" y="68"/>
                    </a:lnTo>
                    <a:lnTo>
                      <a:pt x="768" y="66"/>
                    </a:lnTo>
                    <a:lnTo>
                      <a:pt x="768" y="68"/>
                    </a:lnTo>
                    <a:lnTo>
                      <a:pt x="766" y="68"/>
                    </a:lnTo>
                    <a:lnTo>
                      <a:pt x="764" y="68"/>
                    </a:lnTo>
                    <a:lnTo>
                      <a:pt x="760" y="66"/>
                    </a:lnTo>
                    <a:lnTo>
                      <a:pt x="758" y="62"/>
                    </a:lnTo>
                    <a:lnTo>
                      <a:pt x="756" y="62"/>
                    </a:lnTo>
                    <a:lnTo>
                      <a:pt x="756" y="68"/>
                    </a:lnTo>
                    <a:lnTo>
                      <a:pt x="754" y="68"/>
                    </a:lnTo>
                    <a:lnTo>
                      <a:pt x="738" y="70"/>
                    </a:lnTo>
                    <a:lnTo>
                      <a:pt x="730" y="68"/>
                    </a:lnTo>
                    <a:lnTo>
                      <a:pt x="726" y="70"/>
                    </a:lnTo>
                    <a:lnTo>
                      <a:pt x="726" y="68"/>
                    </a:lnTo>
                    <a:lnTo>
                      <a:pt x="724" y="66"/>
                    </a:lnTo>
                    <a:lnTo>
                      <a:pt x="724" y="70"/>
                    </a:lnTo>
                    <a:lnTo>
                      <a:pt x="712" y="70"/>
                    </a:lnTo>
                    <a:lnTo>
                      <a:pt x="712" y="68"/>
                    </a:lnTo>
                    <a:lnTo>
                      <a:pt x="712" y="66"/>
                    </a:lnTo>
                    <a:lnTo>
                      <a:pt x="708" y="66"/>
                    </a:lnTo>
                    <a:lnTo>
                      <a:pt x="708" y="70"/>
                    </a:lnTo>
                    <a:lnTo>
                      <a:pt x="702" y="70"/>
                    </a:lnTo>
                    <a:lnTo>
                      <a:pt x="700" y="68"/>
                    </a:lnTo>
                    <a:lnTo>
                      <a:pt x="694" y="72"/>
                    </a:lnTo>
                    <a:lnTo>
                      <a:pt x="690" y="72"/>
                    </a:lnTo>
                    <a:lnTo>
                      <a:pt x="688" y="70"/>
                    </a:lnTo>
                    <a:lnTo>
                      <a:pt x="684" y="60"/>
                    </a:lnTo>
                    <a:lnTo>
                      <a:pt x="678" y="64"/>
                    </a:lnTo>
                    <a:lnTo>
                      <a:pt x="678" y="66"/>
                    </a:lnTo>
                    <a:lnTo>
                      <a:pt x="678" y="68"/>
                    </a:lnTo>
                    <a:lnTo>
                      <a:pt x="660" y="72"/>
                    </a:lnTo>
                    <a:lnTo>
                      <a:pt x="660" y="72"/>
                    </a:lnTo>
                    <a:close/>
                    <a:moveTo>
                      <a:pt x="338" y="34"/>
                    </a:moveTo>
                    <a:lnTo>
                      <a:pt x="338" y="34"/>
                    </a:lnTo>
                    <a:lnTo>
                      <a:pt x="332" y="36"/>
                    </a:lnTo>
                    <a:lnTo>
                      <a:pt x="326" y="36"/>
                    </a:lnTo>
                    <a:lnTo>
                      <a:pt x="324" y="38"/>
                    </a:lnTo>
                    <a:lnTo>
                      <a:pt x="326" y="42"/>
                    </a:lnTo>
                    <a:lnTo>
                      <a:pt x="334" y="40"/>
                    </a:lnTo>
                    <a:lnTo>
                      <a:pt x="336" y="42"/>
                    </a:lnTo>
                    <a:lnTo>
                      <a:pt x="334" y="42"/>
                    </a:lnTo>
                    <a:lnTo>
                      <a:pt x="332" y="44"/>
                    </a:lnTo>
                    <a:lnTo>
                      <a:pt x="324" y="46"/>
                    </a:lnTo>
                    <a:lnTo>
                      <a:pt x="322" y="48"/>
                    </a:lnTo>
                    <a:lnTo>
                      <a:pt x="322" y="50"/>
                    </a:lnTo>
                    <a:lnTo>
                      <a:pt x="326" y="52"/>
                    </a:lnTo>
                    <a:lnTo>
                      <a:pt x="330" y="52"/>
                    </a:lnTo>
                    <a:lnTo>
                      <a:pt x="338" y="50"/>
                    </a:lnTo>
                    <a:lnTo>
                      <a:pt x="340" y="50"/>
                    </a:lnTo>
                    <a:lnTo>
                      <a:pt x="340" y="54"/>
                    </a:lnTo>
                    <a:lnTo>
                      <a:pt x="342" y="54"/>
                    </a:lnTo>
                    <a:lnTo>
                      <a:pt x="342" y="48"/>
                    </a:lnTo>
                    <a:lnTo>
                      <a:pt x="346" y="48"/>
                    </a:lnTo>
                    <a:lnTo>
                      <a:pt x="346" y="52"/>
                    </a:lnTo>
                    <a:lnTo>
                      <a:pt x="346" y="56"/>
                    </a:lnTo>
                    <a:lnTo>
                      <a:pt x="348" y="56"/>
                    </a:lnTo>
                    <a:lnTo>
                      <a:pt x="350" y="52"/>
                    </a:lnTo>
                    <a:lnTo>
                      <a:pt x="352" y="52"/>
                    </a:lnTo>
                    <a:lnTo>
                      <a:pt x="352" y="50"/>
                    </a:lnTo>
                    <a:lnTo>
                      <a:pt x="352" y="46"/>
                    </a:lnTo>
                    <a:lnTo>
                      <a:pt x="352" y="44"/>
                    </a:lnTo>
                    <a:lnTo>
                      <a:pt x="354" y="44"/>
                    </a:lnTo>
                    <a:lnTo>
                      <a:pt x="352" y="42"/>
                    </a:lnTo>
                    <a:lnTo>
                      <a:pt x="352" y="40"/>
                    </a:lnTo>
                    <a:lnTo>
                      <a:pt x="352" y="36"/>
                    </a:lnTo>
                    <a:lnTo>
                      <a:pt x="356" y="36"/>
                    </a:lnTo>
                    <a:lnTo>
                      <a:pt x="356" y="50"/>
                    </a:lnTo>
                    <a:lnTo>
                      <a:pt x="366" y="50"/>
                    </a:lnTo>
                    <a:lnTo>
                      <a:pt x="370" y="50"/>
                    </a:lnTo>
                    <a:lnTo>
                      <a:pt x="376" y="48"/>
                    </a:lnTo>
                    <a:lnTo>
                      <a:pt x="378" y="44"/>
                    </a:lnTo>
                    <a:lnTo>
                      <a:pt x="382" y="44"/>
                    </a:lnTo>
                    <a:lnTo>
                      <a:pt x="384" y="48"/>
                    </a:lnTo>
                    <a:lnTo>
                      <a:pt x="388" y="48"/>
                    </a:lnTo>
                    <a:lnTo>
                      <a:pt x="388" y="46"/>
                    </a:lnTo>
                    <a:lnTo>
                      <a:pt x="394" y="48"/>
                    </a:lnTo>
                    <a:lnTo>
                      <a:pt x="400" y="46"/>
                    </a:lnTo>
                    <a:lnTo>
                      <a:pt x="400" y="42"/>
                    </a:lnTo>
                    <a:lnTo>
                      <a:pt x="402" y="42"/>
                    </a:lnTo>
                    <a:lnTo>
                      <a:pt x="402" y="46"/>
                    </a:lnTo>
                    <a:lnTo>
                      <a:pt x="398" y="50"/>
                    </a:lnTo>
                    <a:lnTo>
                      <a:pt x="394" y="54"/>
                    </a:lnTo>
                    <a:lnTo>
                      <a:pt x="390" y="56"/>
                    </a:lnTo>
                    <a:lnTo>
                      <a:pt x="386" y="56"/>
                    </a:lnTo>
                    <a:lnTo>
                      <a:pt x="376" y="56"/>
                    </a:lnTo>
                    <a:lnTo>
                      <a:pt x="370" y="58"/>
                    </a:lnTo>
                    <a:lnTo>
                      <a:pt x="368" y="62"/>
                    </a:lnTo>
                    <a:lnTo>
                      <a:pt x="364" y="62"/>
                    </a:lnTo>
                    <a:lnTo>
                      <a:pt x="360" y="62"/>
                    </a:lnTo>
                    <a:lnTo>
                      <a:pt x="358" y="66"/>
                    </a:lnTo>
                    <a:lnTo>
                      <a:pt x="358" y="68"/>
                    </a:lnTo>
                    <a:lnTo>
                      <a:pt x="360" y="72"/>
                    </a:lnTo>
                    <a:lnTo>
                      <a:pt x="364" y="72"/>
                    </a:lnTo>
                    <a:lnTo>
                      <a:pt x="374" y="72"/>
                    </a:lnTo>
                    <a:lnTo>
                      <a:pt x="380" y="72"/>
                    </a:lnTo>
                    <a:lnTo>
                      <a:pt x="384" y="68"/>
                    </a:lnTo>
                    <a:lnTo>
                      <a:pt x="388" y="68"/>
                    </a:lnTo>
                    <a:lnTo>
                      <a:pt x="392" y="66"/>
                    </a:lnTo>
                    <a:lnTo>
                      <a:pt x="394" y="62"/>
                    </a:lnTo>
                    <a:lnTo>
                      <a:pt x="398" y="58"/>
                    </a:lnTo>
                    <a:lnTo>
                      <a:pt x="402" y="58"/>
                    </a:lnTo>
                    <a:lnTo>
                      <a:pt x="406" y="60"/>
                    </a:lnTo>
                    <a:lnTo>
                      <a:pt x="408" y="56"/>
                    </a:lnTo>
                    <a:lnTo>
                      <a:pt x="414" y="56"/>
                    </a:lnTo>
                    <a:lnTo>
                      <a:pt x="420" y="54"/>
                    </a:lnTo>
                    <a:lnTo>
                      <a:pt x="422" y="52"/>
                    </a:lnTo>
                    <a:lnTo>
                      <a:pt x="426" y="52"/>
                    </a:lnTo>
                    <a:lnTo>
                      <a:pt x="426" y="54"/>
                    </a:lnTo>
                    <a:lnTo>
                      <a:pt x="426" y="56"/>
                    </a:lnTo>
                    <a:lnTo>
                      <a:pt x="428" y="58"/>
                    </a:lnTo>
                    <a:lnTo>
                      <a:pt x="434" y="58"/>
                    </a:lnTo>
                    <a:lnTo>
                      <a:pt x="438" y="54"/>
                    </a:lnTo>
                    <a:lnTo>
                      <a:pt x="440" y="50"/>
                    </a:lnTo>
                    <a:lnTo>
                      <a:pt x="442" y="52"/>
                    </a:lnTo>
                    <a:lnTo>
                      <a:pt x="444" y="52"/>
                    </a:lnTo>
                    <a:lnTo>
                      <a:pt x="454" y="52"/>
                    </a:lnTo>
                    <a:lnTo>
                      <a:pt x="456" y="52"/>
                    </a:lnTo>
                    <a:lnTo>
                      <a:pt x="460" y="52"/>
                    </a:lnTo>
                    <a:lnTo>
                      <a:pt x="464" y="48"/>
                    </a:lnTo>
                    <a:lnTo>
                      <a:pt x="466" y="48"/>
                    </a:lnTo>
                    <a:lnTo>
                      <a:pt x="464" y="34"/>
                    </a:lnTo>
                    <a:lnTo>
                      <a:pt x="464" y="28"/>
                    </a:lnTo>
                    <a:lnTo>
                      <a:pt x="462" y="24"/>
                    </a:lnTo>
                    <a:lnTo>
                      <a:pt x="456" y="20"/>
                    </a:lnTo>
                    <a:lnTo>
                      <a:pt x="456" y="18"/>
                    </a:lnTo>
                    <a:lnTo>
                      <a:pt x="454" y="20"/>
                    </a:lnTo>
                    <a:lnTo>
                      <a:pt x="454" y="26"/>
                    </a:lnTo>
                    <a:lnTo>
                      <a:pt x="456" y="28"/>
                    </a:lnTo>
                    <a:lnTo>
                      <a:pt x="454" y="30"/>
                    </a:lnTo>
                    <a:lnTo>
                      <a:pt x="452" y="32"/>
                    </a:lnTo>
                    <a:lnTo>
                      <a:pt x="452" y="36"/>
                    </a:lnTo>
                    <a:lnTo>
                      <a:pt x="450" y="38"/>
                    </a:lnTo>
                    <a:lnTo>
                      <a:pt x="448" y="28"/>
                    </a:lnTo>
                    <a:lnTo>
                      <a:pt x="442" y="30"/>
                    </a:lnTo>
                    <a:lnTo>
                      <a:pt x="442" y="34"/>
                    </a:lnTo>
                    <a:lnTo>
                      <a:pt x="440" y="34"/>
                    </a:lnTo>
                    <a:lnTo>
                      <a:pt x="440" y="32"/>
                    </a:lnTo>
                    <a:lnTo>
                      <a:pt x="442" y="30"/>
                    </a:lnTo>
                    <a:lnTo>
                      <a:pt x="442" y="26"/>
                    </a:lnTo>
                    <a:lnTo>
                      <a:pt x="442" y="20"/>
                    </a:lnTo>
                    <a:lnTo>
                      <a:pt x="442" y="18"/>
                    </a:lnTo>
                    <a:lnTo>
                      <a:pt x="438" y="18"/>
                    </a:lnTo>
                    <a:lnTo>
                      <a:pt x="436" y="20"/>
                    </a:lnTo>
                    <a:lnTo>
                      <a:pt x="432" y="22"/>
                    </a:lnTo>
                    <a:lnTo>
                      <a:pt x="426" y="14"/>
                    </a:lnTo>
                    <a:lnTo>
                      <a:pt x="422" y="14"/>
                    </a:lnTo>
                    <a:lnTo>
                      <a:pt x="420" y="14"/>
                    </a:lnTo>
                    <a:lnTo>
                      <a:pt x="420" y="10"/>
                    </a:lnTo>
                    <a:lnTo>
                      <a:pt x="418" y="6"/>
                    </a:lnTo>
                    <a:lnTo>
                      <a:pt x="418" y="2"/>
                    </a:lnTo>
                    <a:lnTo>
                      <a:pt x="414" y="0"/>
                    </a:lnTo>
                    <a:lnTo>
                      <a:pt x="414" y="4"/>
                    </a:lnTo>
                    <a:lnTo>
                      <a:pt x="412" y="4"/>
                    </a:lnTo>
                    <a:lnTo>
                      <a:pt x="408" y="2"/>
                    </a:lnTo>
                    <a:lnTo>
                      <a:pt x="412" y="12"/>
                    </a:lnTo>
                    <a:lnTo>
                      <a:pt x="410" y="12"/>
                    </a:lnTo>
                    <a:lnTo>
                      <a:pt x="408" y="14"/>
                    </a:lnTo>
                    <a:lnTo>
                      <a:pt x="410" y="14"/>
                    </a:lnTo>
                    <a:lnTo>
                      <a:pt x="410" y="16"/>
                    </a:lnTo>
                    <a:lnTo>
                      <a:pt x="408" y="22"/>
                    </a:lnTo>
                    <a:lnTo>
                      <a:pt x="418" y="26"/>
                    </a:lnTo>
                    <a:lnTo>
                      <a:pt x="414" y="34"/>
                    </a:lnTo>
                    <a:lnTo>
                      <a:pt x="420" y="34"/>
                    </a:lnTo>
                    <a:lnTo>
                      <a:pt x="422" y="36"/>
                    </a:lnTo>
                    <a:lnTo>
                      <a:pt x="422" y="40"/>
                    </a:lnTo>
                    <a:lnTo>
                      <a:pt x="404" y="38"/>
                    </a:lnTo>
                    <a:lnTo>
                      <a:pt x="398" y="38"/>
                    </a:lnTo>
                    <a:lnTo>
                      <a:pt x="392" y="38"/>
                    </a:lnTo>
                    <a:lnTo>
                      <a:pt x="392" y="34"/>
                    </a:lnTo>
                    <a:lnTo>
                      <a:pt x="386" y="34"/>
                    </a:lnTo>
                    <a:lnTo>
                      <a:pt x="382" y="30"/>
                    </a:lnTo>
                    <a:lnTo>
                      <a:pt x="378" y="28"/>
                    </a:lnTo>
                    <a:lnTo>
                      <a:pt x="372" y="28"/>
                    </a:lnTo>
                    <a:lnTo>
                      <a:pt x="368" y="26"/>
                    </a:lnTo>
                    <a:lnTo>
                      <a:pt x="366" y="24"/>
                    </a:lnTo>
                    <a:lnTo>
                      <a:pt x="358" y="22"/>
                    </a:lnTo>
                    <a:lnTo>
                      <a:pt x="352" y="24"/>
                    </a:lnTo>
                    <a:lnTo>
                      <a:pt x="348" y="20"/>
                    </a:lnTo>
                    <a:lnTo>
                      <a:pt x="342" y="20"/>
                    </a:lnTo>
                    <a:lnTo>
                      <a:pt x="342" y="24"/>
                    </a:lnTo>
                    <a:lnTo>
                      <a:pt x="332" y="22"/>
                    </a:lnTo>
                    <a:lnTo>
                      <a:pt x="332" y="30"/>
                    </a:lnTo>
                    <a:lnTo>
                      <a:pt x="334" y="32"/>
                    </a:lnTo>
                    <a:lnTo>
                      <a:pt x="338" y="34"/>
                    </a:lnTo>
                    <a:lnTo>
                      <a:pt x="338" y="34"/>
                    </a:lnTo>
                    <a:close/>
                    <a:moveTo>
                      <a:pt x="772" y="322"/>
                    </a:moveTo>
                    <a:lnTo>
                      <a:pt x="772" y="322"/>
                    </a:lnTo>
                    <a:lnTo>
                      <a:pt x="768" y="322"/>
                    </a:lnTo>
                    <a:lnTo>
                      <a:pt x="766" y="326"/>
                    </a:lnTo>
                    <a:lnTo>
                      <a:pt x="764" y="320"/>
                    </a:lnTo>
                    <a:lnTo>
                      <a:pt x="762" y="312"/>
                    </a:lnTo>
                    <a:lnTo>
                      <a:pt x="760" y="312"/>
                    </a:lnTo>
                    <a:lnTo>
                      <a:pt x="760" y="310"/>
                    </a:lnTo>
                    <a:lnTo>
                      <a:pt x="752" y="304"/>
                    </a:lnTo>
                    <a:lnTo>
                      <a:pt x="752" y="302"/>
                    </a:lnTo>
                    <a:lnTo>
                      <a:pt x="750" y="302"/>
                    </a:lnTo>
                    <a:lnTo>
                      <a:pt x="750" y="300"/>
                    </a:lnTo>
                    <a:lnTo>
                      <a:pt x="748" y="300"/>
                    </a:lnTo>
                    <a:lnTo>
                      <a:pt x="744" y="300"/>
                    </a:lnTo>
                    <a:lnTo>
                      <a:pt x="738" y="300"/>
                    </a:lnTo>
                    <a:lnTo>
                      <a:pt x="738" y="298"/>
                    </a:lnTo>
                    <a:lnTo>
                      <a:pt x="736" y="298"/>
                    </a:lnTo>
                    <a:lnTo>
                      <a:pt x="734" y="298"/>
                    </a:lnTo>
                    <a:lnTo>
                      <a:pt x="734" y="300"/>
                    </a:lnTo>
                    <a:lnTo>
                      <a:pt x="732" y="300"/>
                    </a:lnTo>
                    <a:lnTo>
                      <a:pt x="730" y="300"/>
                    </a:lnTo>
                    <a:lnTo>
                      <a:pt x="728" y="296"/>
                    </a:lnTo>
                    <a:lnTo>
                      <a:pt x="732" y="292"/>
                    </a:lnTo>
                    <a:lnTo>
                      <a:pt x="730" y="290"/>
                    </a:lnTo>
                    <a:lnTo>
                      <a:pt x="726" y="290"/>
                    </a:lnTo>
                    <a:lnTo>
                      <a:pt x="724" y="302"/>
                    </a:lnTo>
                    <a:lnTo>
                      <a:pt x="726" y="318"/>
                    </a:lnTo>
                    <a:lnTo>
                      <a:pt x="712" y="328"/>
                    </a:lnTo>
                    <a:lnTo>
                      <a:pt x="712" y="330"/>
                    </a:lnTo>
                    <a:lnTo>
                      <a:pt x="712" y="332"/>
                    </a:lnTo>
                    <a:lnTo>
                      <a:pt x="712" y="334"/>
                    </a:lnTo>
                    <a:lnTo>
                      <a:pt x="716" y="336"/>
                    </a:lnTo>
                    <a:lnTo>
                      <a:pt x="718" y="334"/>
                    </a:lnTo>
                    <a:lnTo>
                      <a:pt x="724" y="332"/>
                    </a:lnTo>
                    <a:lnTo>
                      <a:pt x="726" y="334"/>
                    </a:lnTo>
                    <a:lnTo>
                      <a:pt x="724" y="334"/>
                    </a:lnTo>
                    <a:lnTo>
                      <a:pt x="726" y="342"/>
                    </a:lnTo>
                    <a:lnTo>
                      <a:pt x="732" y="342"/>
                    </a:lnTo>
                    <a:lnTo>
                      <a:pt x="738" y="340"/>
                    </a:lnTo>
                    <a:lnTo>
                      <a:pt x="738" y="338"/>
                    </a:lnTo>
                    <a:lnTo>
                      <a:pt x="740" y="334"/>
                    </a:lnTo>
                    <a:lnTo>
                      <a:pt x="740" y="328"/>
                    </a:lnTo>
                    <a:lnTo>
                      <a:pt x="740" y="322"/>
                    </a:lnTo>
                    <a:lnTo>
                      <a:pt x="746" y="316"/>
                    </a:lnTo>
                    <a:lnTo>
                      <a:pt x="750" y="316"/>
                    </a:lnTo>
                    <a:lnTo>
                      <a:pt x="750" y="314"/>
                    </a:lnTo>
                    <a:lnTo>
                      <a:pt x="754" y="314"/>
                    </a:lnTo>
                    <a:lnTo>
                      <a:pt x="756" y="320"/>
                    </a:lnTo>
                    <a:lnTo>
                      <a:pt x="756" y="324"/>
                    </a:lnTo>
                    <a:lnTo>
                      <a:pt x="752" y="326"/>
                    </a:lnTo>
                    <a:lnTo>
                      <a:pt x="752" y="328"/>
                    </a:lnTo>
                    <a:lnTo>
                      <a:pt x="756" y="328"/>
                    </a:lnTo>
                    <a:lnTo>
                      <a:pt x="758" y="332"/>
                    </a:lnTo>
                    <a:lnTo>
                      <a:pt x="766" y="332"/>
                    </a:lnTo>
                    <a:lnTo>
                      <a:pt x="772" y="336"/>
                    </a:lnTo>
                    <a:lnTo>
                      <a:pt x="776" y="332"/>
                    </a:lnTo>
                    <a:lnTo>
                      <a:pt x="776" y="326"/>
                    </a:lnTo>
                    <a:lnTo>
                      <a:pt x="778" y="326"/>
                    </a:lnTo>
                    <a:lnTo>
                      <a:pt x="778" y="322"/>
                    </a:lnTo>
                    <a:lnTo>
                      <a:pt x="772" y="322"/>
                    </a:lnTo>
                    <a:lnTo>
                      <a:pt x="772" y="322"/>
                    </a:lnTo>
                    <a:close/>
                    <a:moveTo>
                      <a:pt x="1048" y="260"/>
                    </a:moveTo>
                    <a:lnTo>
                      <a:pt x="1048" y="260"/>
                    </a:lnTo>
                    <a:lnTo>
                      <a:pt x="1046" y="260"/>
                    </a:lnTo>
                    <a:lnTo>
                      <a:pt x="1046" y="258"/>
                    </a:lnTo>
                    <a:lnTo>
                      <a:pt x="1042" y="258"/>
                    </a:lnTo>
                    <a:lnTo>
                      <a:pt x="1044" y="260"/>
                    </a:lnTo>
                    <a:lnTo>
                      <a:pt x="1044" y="262"/>
                    </a:lnTo>
                    <a:lnTo>
                      <a:pt x="1044" y="264"/>
                    </a:lnTo>
                    <a:lnTo>
                      <a:pt x="1044" y="266"/>
                    </a:lnTo>
                    <a:lnTo>
                      <a:pt x="1044" y="268"/>
                    </a:lnTo>
                    <a:lnTo>
                      <a:pt x="1044" y="266"/>
                    </a:lnTo>
                    <a:lnTo>
                      <a:pt x="1042" y="266"/>
                    </a:lnTo>
                    <a:lnTo>
                      <a:pt x="1038" y="266"/>
                    </a:lnTo>
                    <a:lnTo>
                      <a:pt x="1038" y="262"/>
                    </a:lnTo>
                    <a:lnTo>
                      <a:pt x="1034" y="262"/>
                    </a:lnTo>
                    <a:lnTo>
                      <a:pt x="1032" y="266"/>
                    </a:lnTo>
                    <a:lnTo>
                      <a:pt x="1034" y="266"/>
                    </a:lnTo>
                    <a:lnTo>
                      <a:pt x="1034" y="270"/>
                    </a:lnTo>
                    <a:lnTo>
                      <a:pt x="1028" y="270"/>
                    </a:lnTo>
                    <a:lnTo>
                      <a:pt x="1028" y="274"/>
                    </a:lnTo>
                    <a:lnTo>
                      <a:pt x="1030" y="276"/>
                    </a:lnTo>
                    <a:lnTo>
                      <a:pt x="1030" y="278"/>
                    </a:lnTo>
                    <a:lnTo>
                      <a:pt x="1026" y="278"/>
                    </a:lnTo>
                    <a:lnTo>
                      <a:pt x="1026" y="280"/>
                    </a:lnTo>
                    <a:lnTo>
                      <a:pt x="1028" y="282"/>
                    </a:lnTo>
                    <a:lnTo>
                      <a:pt x="1030" y="282"/>
                    </a:lnTo>
                    <a:lnTo>
                      <a:pt x="1030" y="284"/>
                    </a:lnTo>
                    <a:lnTo>
                      <a:pt x="1024" y="284"/>
                    </a:lnTo>
                    <a:lnTo>
                      <a:pt x="1024" y="286"/>
                    </a:lnTo>
                    <a:lnTo>
                      <a:pt x="1020" y="286"/>
                    </a:lnTo>
                    <a:lnTo>
                      <a:pt x="1020" y="284"/>
                    </a:lnTo>
                    <a:lnTo>
                      <a:pt x="1018" y="282"/>
                    </a:lnTo>
                    <a:lnTo>
                      <a:pt x="1018" y="284"/>
                    </a:lnTo>
                    <a:lnTo>
                      <a:pt x="1016" y="286"/>
                    </a:lnTo>
                    <a:lnTo>
                      <a:pt x="1020" y="288"/>
                    </a:lnTo>
                    <a:lnTo>
                      <a:pt x="1020" y="292"/>
                    </a:lnTo>
                    <a:lnTo>
                      <a:pt x="1022" y="296"/>
                    </a:lnTo>
                    <a:lnTo>
                      <a:pt x="1022" y="298"/>
                    </a:lnTo>
                    <a:lnTo>
                      <a:pt x="1020" y="300"/>
                    </a:lnTo>
                    <a:lnTo>
                      <a:pt x="1018" y="300"/>
                    </a:lnTo>
                    <a:lnTo>
                      <a:pt x="1016" y="300"/>
                    </a:lnTo>
                    <a:lnTo>
                      <a:pt x="1016" y="300"/>
                    </a:lnTo>
                    <a:lnTo>
                      <a:pt x="1014" y="300"/>
                    </a:lnTo>
                    <a:lnTo>
                      <a:pt x="1012" y="300"/>
                    </a:lnTo>
                    <a:lnTo>
                      <a:pt x="1010" y="298"/>
                    </a:lnTo>
                    <a:lnTo>
                      <a:pt x="1010" y="294"/>
                    </a:lnTo>
                    <a:lnTo>
                      <a:pt x="1006" y="298"/>
                    </a:lnTo>
                    <a:lnTo>
                      <a:pt x="1004" y="296"/>
                    </a:lnTo>
                    <a:lnTo>
                      <a:pt x="1006" y="294"/>
                    </a:lnTo>
                    <a:lnTo>
                      <a:pt x="1008" y="290"/>
                    </a:lnTo>
                    <a:lnTo>
                      <a:pt x="1006" y="290"/>
                    </a:lnTo>
                    <a:lnTo>
                      <a:pt x="998" y="292"/>
                    </a:lnTo>
                    <a:lnTo>
                      <a:pt x="998" y="290"/>
                    </a:lnTo>
                    <a:lnTo>
                      <a:pt x="1000" y="290"/>
                    </a:lnTo>
                    <a:lnTo>
                      <a:pt x="1000" y="288"/>
                    </a:lnTo>
                    <a:lnTo>
                      <a:pt x="1002" y="284"/>
                    </a:lnTo>
                    <a:lnTo>
                      <a:pt x="1000" y="284"/>
                    </a:lnTo>
                    <a:lnTo>
                      <a:pt x="998" y="286"/>
                    </a:lnTo>
                    <a:lnTo>
                      <a:pt x="996" y="286"/>
                    </a:lnTo>
                    <a:lnTo>
                      <a:pt x="996" y="282"/>
                    </a:lnTo>
                    <a:lnTo>
                      <a:pt x="990" y="282"/>
                    </a:lnTo>
                    <a:lnTo>
                      <a:pt x="990" y="280"/>
                    </a:lnTo>
                    <a:lnTo>
                      <a:pt x="994" y="280"/>
                    </a:lnTo>
                    <a:lnTo>
                      <a:pt x="996" y="276"/>
                    </a:lnTo>
                    <a:lnTo>
                      <a:pt x="990" y="278"/>
                    </a:lnTo>
                    <a:lnTo>
                      <a:pt x="984" y="278"/>
                    </a:lnTo>
                    <a:lnTo>
                      <a:pt x="980" y="276"/>
                    </a:lnTo>
                    <a:lnTo>
                      <a:pt x="978" y="276"/>
                    </a:lnTo>
                    <a:lnTo>
                      <a:pt x="976" y="274"/>
                    </a:lnTo>
                    <a:lnTo>
                      <a:pt x="974" y="272"/>
                    </a:lnTo>
                    <a:lnTo>
                      <a:pt x="974" y="268"/>
                    </a:lnTo>
                    <a:lnTo>
                      <a:pt x="970" y="266"/>
                    </a:lnTo>
                    <a:lnTo>
                      <a:pt x="972" y="264"/>
                    </a:lnTo>
                    <a:lnTo>
                      <a:pt x="972" y="262"/>
                    </a:lnTo>
                    <a:lnTo>
                      <a:pt x="970" y="262"/>
                    </a:lnTo>
                    <a:lnTo>
                      <a:pt x="968" y="262"/>
                    </a:lnTo>
                    <a:lnTo>
                      <a:pt x="966" y="260"/>
                    </a:lnTo>
                    <a:lnTo>
                      <a:pt x="964" y="260"/>
                    </a:lnTo>
                    <a:lnTo>
                      <a:pt x="966" y="262"/>
                    </a:lnTo>
                    <a:lnTo>
                      <a:pt x="966" y="268"/>
                    </a:lnTo>
                    <a:lnTo>
                      <a:pt x="966" y="270"/>
                    </a:lnTo>
                    <a:lnTo>
                      <a:pt x="964" y="270"/>
                    </a:lnTo>
                    <a:lnTo>
                      <a:pt x="962" y="264"/>
                    </a:lnTo>
                    <a:lnTo>
                      <a:pt x="958" y="264"/>
                    </a:lnTo>
                    <a:lnTo>
                      <a:pt x="960" y="268"/>
                    </a:lnTo>
                    <a:lnTo>
                      <a:pt x="962" y="274"/>
                    </a:lnTo>
                    <a:lnTo>
                      <a:pt x="964" y="274"/>
                    </a:lnTo>
                    <a:lnTo>
                      <a:pt x="964" y="276"/>
                    </a:lnTo>
                    <a:lnTo>
                      <a:pt x="964" y="278"/>
                    </a:lnTo>
                    <a:lnTo>
                      <a:pt x="960" y="278"/>
                    </a:lnTo>
                    <a:lnTo>
                      <a:pt x="958" y="276"/>
                    </a:lnTo>
                    <a:lnTo>
                      <a:pt x="956" y="276"/>
                    </a:lnTo>
                    <a:lnTo>
                      <a:pt x="954" y="276"/>
                    </a:lnTo>
                    <a:lnTo>
                      <a:pt x="958" y="284"/>
                    </a:lnTo>
                    <a:lnTo>
                      <a:pt x="960" y="286"/>
                    </a:lnTo>
                    <a:lnTo>
                      <a:pt x="966" y="286"/>
                    </a:lnTo>
                    <a:lnTo>
                      <a:pt x="966" y="292"/>
                    </a:lnTo>
                    <a:lnTo>
                      <a:pt x="968" y="296"/>
                    </a:lnTo>
                    <a:lnTo>
                      <a:pt x="972" y="298"/>
                    </a:lnTo>
                    <a:lnTo>
                      <a:pt x="972" y="300"/>
                    </a:lnTo>
                    <a:lnTo>
                      <a:pt x="974" y="300"/>
                    </a:lnTo>
                    <a:lnTo>
                      <a:pt x="976" y="300"/>
                    </a:lnTo>
                    <a:lnTo>
                      <a:pt x="978" y="300"/>
                    </a:lnTo>
                    <a:lnTo>
                      <a:pt x="982" y="304"/>
                    </a:lnTo>
                    <a:lnTo>
                      <a:pt x="982" y="308"/>
                    </a:lnTo>
                    <a:lnTo>
                      <a:pt x="984" y="306"/>
                    </a:lnTo>
                    <a:lnTo>
                      <a:pt x="988" y="306"/>
                    </a:lnTo>
                    <a:lnTo>
                      <a:pt x="988" y="308"/>
                    </a:lnTo>
                    <a:lnTo>
                      <a:pt x="990" y="310"/>
                    </a:lnTo>
                    <a:lnTo>
                      <a:pt x="992" y="310"/>
                    </a:lnTo>
                    <a:lnTo>
                      <a:pt x="990" y="308"/>
                    </a:lnTo>
                    <a:lnTo>
                      <a:pt x="990" y="306"/>
                    </a:lnTo>
                    <a:lnTo>
                      <a:pt x="988" y="306"/>
                    </a:lnTo>
                    <a:lnTo>
                      <a:pt x="990" y="306"/>
                    </a:lnTo>
                    <a:lnTo>
                      <a:pt x="990" y="304"/>
                    </a:lnTo>
                    <a:lnTo>
                      <a:pt x="992" y="306"/>
                    </a:lnTo>
                    <a:lnTo>
                      <a:pt x="994" y="306"/>
                    </a:lnTo>
                    <a:lnTo>
                      <a:pt x="998" y="316"/>
                    </a:lnTo>
                    <a:lnTo>
                      <a:pt x="998" y="318"/>
                    </a:lnTo>
                    <a:lnTo>
                      <a:pt x="996" y="320"/>
                    </a:lnTo>
                    <a:lnTo>
                      <a:pt x="992" y="318"/>
                    </a:lnTo>
                    <a:lnTo>
                      <a:pt x="992" y="320"/>
                    </a:lnTo>
                    <a:lnTo>
                      <a:pt x="994" y="326"/>
                    </a:lnTo>
                    <a:lnTo>
                      <a:pt x="988" y="326"/>
                    </a:lnTo>
                    <a:lnTo>
                      <a:pt x="988" y="330"/>
                    </a:lnTo>
                    <a:lnTo>
                      <a:pt x="992" y="330"/>
                    </a:lnTo>
                    <a:lnTo>
                      <a:pt x="994" y="338"/>
                    </a:lnTo>
                    <a:lnTo>
                      <a:pt x="998" y="336"/>
                    </a:lnTo>
                    <a:lnTo>
                      <a:pt x="998" y="338"/>
                    </a:lnTo>
                    <a:lnTo>
                      <a:pt x="994" y="340"/>
                    </a:lnTo>
                    <a:lnTo>
                      <a:pt x="990" y="334"/>
                    </a:lnTo>
                    <a:lnTo>
                      <a:pt x="986" y="332"/>
                    </a:lnTo>
                    <a:lnTo>
                      <a:pt x="984" y="334"/>
                    </a:lnTo>
                    <a:lnTo>
                      <a:pt x="984" y="330"/>
                    </a:lnTo>
                    <a:lnTo>
                      <a:pt x="982" y="330"/>
                    </a:lnTo>
                    <a:lnTo>
                      <a:pt x="978" y="328"/>
                    </a:lnTo>
                    <a:lnTo>
                      <a:pt x="972" y="330"/>
                    </a:lnTo>
                    <a:lnTo>
                      <a:pt x="970" y="330"/>
                    </a:lnTo>
                    <a:lnTo>
                      <a:pt x="970" y="332"/>
                    </a:lnTo>
                    <a:lnTo>
                      <a:pt x="966" y="328"/>
                    </a:lnTo>
                    <a:lnTo>
                      <a:pt x="962" y="326"/>
                    </a:lnTo>
                    <a:lnTo>
                      <a:pt x="960" y="326"/>
                    </a:lnTo>
                    <a:lnTo>
                      <a:pt x="960" y="330"/>
                    </a:lnTo>
                    <a:lnTo>
                      <a:pt x="956" y="330"/>
                    </a:lnTo>
                    <a:lnTo>
                      <a:pt x="954" y="326"/>
                    </a:lnTo>
                    <a:lnTo>
                      <a:pt x="950" y="324"/>
                    </a:lnTo>
                    <a:lnTo>
                      <a:pt x="944" y="324"/>
                    </a:lnTo>
                    <a:lnTo>
                      <a:pt x="942" y="328"/>
                    </a:lnTo>
                    <a:lnTo>
                      <a:pt x="942" y="326"/>
                    </a:lnTo>
                    <a:lnTo>
                      <a:pt x="942" y="328"/>
                    </a:lnTo>
                    <a:lnTo>
                      <a:pt x="942" y="330"/>
                    </a:lnTo>
                    <a:lnTo>
                      <a:pt x="950" y="336"/>
                    </a:lnTo>
                    <a:lnTo>
                      <a:pt x="958" y="342"/>
                    </a:lnTo>
                    <a:lnTo>
                      <a:pt x="960" y="342"/>
                    </a:lnTo>
                    <a:lnTo>
                      <a:pt x="960" y="344"/>
                    </a:lnTo>
                    <a:lnTo>
                      <a:pt x="962" y="344"/>
                    </a:lnTo>
                    <a:lnTo>
                      <a:pt x="968" y="344"/>
                    </a:lnTo>
                    <a:lnTo>
                      <a:pt x="972" y="348"/>
                    </a:lnTo>
                    <a:lnTo>
                      <a:pt x="974" y="348"/>
                    </a:lnTo>
                    <a:lnTo>
                      <a:pt x="974" y="354"/>
                    </a:lnTo>
                    <a:lnTo>
                      <a:pt x="980" y="354"/>
                    </a:lnTo>
                    <a:lnTo>
                      <a:pt x="986" y="356"/>
                    </a:lnTo>
                    <a:lnTo>
                      <a:pt x="988" y="356"/>
                    </a:lnTo>
                    <a:lnTo>
                      <a:pt x="988" y="358"/>
                    </a:lnTo>
                    <a:lnTo>
                      <a:pt x="986" y="358"/>
                    </a:lnTo>
                    <a:lnTo>
                      <a:pt x="986" y="358"/>
                    </a:lnTo>
                    <a:lnTo>
                      <a:pt x="986" y="362"/>
                    </a:lnTo>
                    <a:lnTo>
                      <a:pt x="984" y="364"/>
                    </a:lnTo>
                    <a:lnTo>
                      <a:pt x="976" y="362"/>
                    </a:lnTo>
                    <a:lnTo>
                      <a:pt x="974" y="362"/>
                    </a:lnTo>
                    <a:lnTo>
                      <a:pt x="966" y="358"/>
                    </a:lnTo>
                    <a:lnTo>
                      <a:pt x="962" y="358"/>
                    </a:lnTo>
                    <a:lnTo>
                      <a:pt x="956" y="360"/>
                    </a:lnTo>
                    <a:lnTo>
                      <a:pt x="954" y="358"/>
                    </a:lnTo>
                    <a:lnTo>
                      <a:pt x="952" y="358"/>
                    </a:lnTo>
                    <a:lnTo>
                      <a:pt x="952" y="360"/>
                    </a:lnTo>
                    <a:lnTo>
                      <a:pt x="940" y="358"/>
                    </a:lnTo>
                    <a:lnTo>
                      <a:pt x="938" y="358"/>
                    </a:lnTo>
                    <a:lnTo>
                      <a:pt x="934" y="356"/>
                    </a:lnTo>
                    <a:lnTo>
                      <a:pt x="932" y="360"/>
                    </a:lnTo>
                    <a:lnTo>
                      <a:pt x="924" y="360"/>
                    </a:lnTo>
                    <a:lnTo>
                      <a:pt x="922" y="358"/>
                    </a:lnTo>
                    <a:lnTo>
                      <a:pt x="922" y="358"/>
                    </a:lnTo>
                    <a:lnTo>
                      <a:pt x="918" y="358"/>
                    </a:lnTo>
                    <a:lnTo>
                      <a:pt x="916" y="360"/>
                    </a:lnTo>
                    <a:lnTo>
                      <a:pt x="910" y="358"/>
                    </a:lnTo>
                    <a:lnTo>
                      <a:pt x="906" y="358"/>
                    </a:lnTo>
                    <a:lnTo>
                      <a:pt x="906" y="356"/>
                    </a:lnTo>
                    <a:lnTo>
                      <a:pt x="916" y="352"/>
                    </a:lnTo>
                    <a:lnTo>
                      <a:pt x="916" y="350"/>
                    </a:lnTo>
                    <a:lnTo>
                      <a:pt x="918" y="350"/>
                    </a:lnTo>
                    <a:lnTo>
                      <a:pt x="916" y="348"/>
                    </a:lnTo>
                    <a:lnTo>
                      <a:pt x="912" y="348"/>
                    </a:lnTo>
                    <a:lnTo>
                      <a:pt x="912" y="346"/>
                    </a:lnTo>
                    <a:lnTo>
                      <a:pt x="910" y="346"/>
                    </a:lnTo>
                    <a:lnTo>
                      <a:pt x="910" y="350"/>
                    </a:lnTo>
                    <a:lnTo>
                      <a:pt x="908" y="350"/>
                    </a:lnTo>
                    <a:lnTo>
                      <a:pt x="904" y="348"/>
                    </a:lnTo>
                    <a:lnTo>
                      <a:pt x="904" y="346"/>
                    </a:lnTo>
                    <a:lnTo>
                      <a:pt x="902" y="348"/>
                    </a:lnTo>
                    <a:lnTo>
                      <a:pt x="900" y="348"/>
                    </a:lnTo>
                    <a:lnTo>
                      <a:pt x="898" y="336"/>
                    </a:lnTo>
                    <a:lnTo>
                      <a:pt x="894" y="336"/>
                    </a:lnTo>
                    <a:lnTo>
                      <a:pt x="892" y="324"/>
                    </a:lnTo>
                    <a:lnTo>
                      <a:pt x="888" y="324"/>
                    </a:lnTo>
                    <a:lnTo>
                      <a:pt x="886" y="328"/>
                    </a:lnTo>
                    <a:lnTo>
                      <a:pt x="886" y="324"/>
                    </a:lnTo>
                    <a:lnTo>
                      <a:pt x="880" y="322"/>
                    </a:lnTo>
                    <a:lnTo>
                      <a:pt x="880" y="318"/>
                    </a:lnTo>
                    <a:lnTo>
                      <a:pt x="878" y="318"/>
                    </a:lnTo>
                    <a:lnTo>
                      <a:pt x="878" y="320"/>
                    </a:lnTo>
                    <a:lnTo>
                      <a:pt x="878" y="322"/>
                    </a:lnTo>
                    <a:lnTo>
                      <a:pt x="874" y="324"/>
                    </a:lnTo>
                    <a:lnTo>
                      <a:pt x="870" y="318"/>
                    </a:lnTo>
                    <a:lnTo>
                      <a:pt x="870" y="314"/>
                    </a:lnTo>
                    <a:lnTo>
                      <a:pt x="868" y="314"/>
                    </a:lnTo>
                    <a:lnTo>
                      <a:pt x="868" y="316"/>
                    </a:lnTo>
                    <a:lnTo>
                      <a:pt x="866" y="318"/>
                    </a:lnTo>
                    <a:lnTo>
                      <a:pt x="866" y="320"/>
                    </a:lnTo>
                    <a:lnTo>
                      <a:pt x="872" y="324"/>
                    </a:lnTo>
                    <a:lnTo>
                      <a:pt x="872" y="328"/>
                    </a:lnTo>
                    <a:lnTo>
                      <a:pt x="870" y="328"/>
                    </a:lnTo>
                    <a:lnTo>
                      <a:pt x="870" y="330"/>
                    </a:lnTo>
                    <a:lnTo>
                      <a:pt x="862" y="328"/>
                    </a:lnTo>
                    <a:lnTo>
                      <a:pt x="860" y="324"/>
                    </a:lnTo>
                    <a:lnTo>
                      <a:pt x="858" y="328"/>
                    </a:lnTo>
                    <a:lnTo>
                      <a:pt x="856" y="328"/>
                    </a:lnTo>
                    <a:lnTo>
                      <a:pt x="856" y="332"/>
                    </a:lnTo>
                    <a:lnTo>
                      <a:pt x="852" y="332"/>
                    </a:lnTo>
                    <a:lnTo>
                      <a:pt x="850" y="332"/>
                    </a:lnTo>
                    <a:lnTo>
                      <a:pt x="848" y="336"/>
                    </a:lnTo>
                    <a:lnTo>
                      <a:pt x="840" y="336"/>
                    </a:lnTo>
                    <a:lnTo>
                      <a:pt x="838" y="334"/>
                    </a:lnTo>
                    <a:lnTo>
                      <a:pt x="836" y="334"/>
                    </a:lnTo>
                    <a:lnTo>
                      <a:pt x="834" y="336"/>
                    </a:lnTo>
                    <a:lnTo>
                      <a:pt x="834" y="334"/>
                    </a:lnTo>
                    <a:lnTo>
                      <a:pt x="832" y="332"/>
                    </a:lnTo>
                    <a:lnTo>
                      <a:pt x="830" y="332"/>
                    </a:lnTo>
                    <a:lnTo>
                      <a:pt x="828" y="326"/>
                    </a:lnTo>
                    <a:lnTo>
                      <a:pt x="830" y="322"/>
                    </a:lnTo>
                    <a:lnTo>
                      <a:pt x="832" y="318"/>
                    </a:lnTo>
                    <a:lnTo>
                      <a:pt x="830" y="318"/>
                    </a:lnTo>
                    <a:lnTo>
                      <a:pt x="830" y="314"/>
                    </a:lnTo>
                    <a:lnTo>
                      <a:pt x="832" y="304"/>
                    </a:lnTo>
                    <a:lnTo>
                      <a:pt x="844" y="304"/>
                    </a:lnTo>
                    <a:lnTo>
                      <a:pt x="848" y="306"/>
                    </a:lnTo>
                    <a:lnTo>
                      <a:pt x="852" y="306"/>
                    </a:lnTo>
                    <a:lnTo>
                      <a:pt x="852" y="304"/>
                    </a:lnTo>
                    <a:lnTo>
                      <a:pt x="858" y="304"/>
                    </a:lnTo>
                    <a:lnTo>
                      <a:pt x="860" y="302"/>
                    </a:lnTo>
                    <a:lnTo>
                      <a:pt x="862" y="302"/>
                    </a:lnTo>
                    <a:lnTo>
                      <a:pt x="864" y="304"/>
                    </a:lnTo>
                    <a:lnTo>
                      <a:pt x="864" y="302"/>
                    </a:lnTo>
                    <a:lnTo>
                      <a:pt x="868" y="300"/>
                    </a:lnTo>
                    <a:lnTo>
                      <a:pt x="870" y="302"/>
                    </a:lnTo>
                    <a:lnTo>
                      <a:pt x="874" y="302"/>
                    </a:lnTo>
                    <a:lnTo>
                      <a:pt x="878" y="300"/>
                    </a:lnTo>
                    <a:lnTo>
                      <a:pt x="888" y="300"/>
                    </a:lnTo>
                    <a:lnTo>
                      <a:pt x="894" y="300"/>
                    </a:lnTo>
                    <a:lnTo>
                      <a:pt x="894" y="294"/>
                    </a:lnTo>
                    <a:lnTo>
                      <a:pt x="890" y="292"/>
                    </a:lnTo>
                    <a:lnTo>
                      <a:pt x="888" y="290"/>
                    </a:lnTo>
                    <a:lnTo>
                      <a:pt x="886" y="284"/>
                    </a:lnTo>
                    <a:lnTo>
                      <a:pt x="882" y="284"/>
                    </a:lnTo>
                    <a:lnTo>
                      <a:pt x="878" y="278"/>
                    </a:lnTo>
                    <a:lnTo>
                      <a:pt x="878" y="274"/>
                    </a:lnTo>
                    <a:lnTo>
                      <a:pt x="886" y="272"/>
                    </a:lnTo>
                    <a:lnTo>
                      <a:pt x="886" y="268"/>
                    </a:lnTo>
                    <a:lnTo>
                      <a:pt x="888" y="266"/>
                    </a:lnTo>
                    <a:lnTo>
                      <a:pt x="894" y="260"/>
                    </a:lnTo>
                    <a:lnTo>
                      <a:pt x="900" y="258"/>
                    </a:lnTo>
                    <a:lnTo>
                      <a:pt x="894" y="254"/>
                    </a:lnTo>
                    <a:lnTo>
                      <a:pt x="894" y="250"/>
                    </a:lnTo>
                    <a:lnTo>
                      <a:pt x="894" y="246"/>
                    </a:lnTo>
                    <a:lnTo>
                      <a:pt x="894" y="244"/>
                    </a:lnTo>
                    <a:lnTo>
                      <a:pt x="896" y="244"/>
                    </a:lnTo>
                    <a:lnTo>
                      <a:pt x="898" y="244"/>
                    </a:lnTo>
                    <a:lnTo>
                      <a:pt x="900" y="244"/>
                    </a:lnTo>
                    <a:lnTo>
                      <a:pt x="902" y="244"/>
                    </a:lnTo>
                    <a:lnTo>
                      <a:pt x="902" y="242"/>
                    </a:lnTo>
                    <a:lnTo>
                      <a:pt x="898" y="240"/>
                    </a:lnTo>
                    <a:lnTo>
                      <a:pt x="898" y="236"/>
                    </a:lnTo>
                    <a:lnTo>
                      <a:pt x="896" y="236"/>
                    </a:lnTo>
                    <a:lnTo>
                      <a:pt x="896" y="230"/>
                    </a:lnTo>
                    <a:lnTo>
                      <a:pt x="896" y="224"/>
                    </a:lnTo>
                    <a:lnTo>
                      <a:pt x="894" y="224"/>
                    </a:lnTo>
                    <a:lnTo>
                      <a:pt x="894" y="224"/>
                    </a:lnTo>
                    <a:lnTo>
                      <a:pt x="892" y="220"/>
                    </a:lnTo>
                    <a:lnTo>
                      <a:pt x="894" y="220"/>
                    </a:lnTo>
                    <a:lnTo>
                      <a:pt x="892" y="218"/>
                    </a:lnTo>
                    <a:lnTo>
                      <a:pt x="886" y="218"/>
                    </a:lnTo>
                    <a:lnTo>
                      <a:pt x="886" y="216"/>
                    </a:lnTo>
                    <a:lnTo>
                      <a:pt x="886" y="214"/>
                    </a:lnTo>
                    <a:lnTo>
                      <a:pt x="886" y="212"/>
                    </a:lnTo>
                    <a:lnTo>
                      <a:pt x="884" y="212"/>
                    </a:lnTo>
                    <a:lnTo>
                      <a:pt x="884" y="210"/>
                    </a:lnTo>
                    <a:lnTo>
                      <a:pt x="888" y="208"/>
                    </a:lnTo>
                    <a:lnTo>
                      <a:pt x="888" y="204"/>
                    </a:lnTo>
                    <a:lnTo>
                      <a:pt x="888" y="202"/>
                    </a:lnTo>
                    <a:lnTo>
                      <a:pt x="886" y="202"/>
                    </a:lnTo>
                    <a:lnTo>
                      <a:pt x="886" y="204"/>
                    </a:lnTo>
                    <a:lnTo>
                      <a:pt x="884" y="206"/>
                    </a:lnTo>
                    <a:lnTo>
                      <a:pt x="882" y="206"/>
                    </a:lnTo>
                    <a:lnTo>
                      <a:pt x="880" y="204"/>
                    </a:lnTo>
                    <a:lnTo>
                      <a:pt x="874" y="210"/>
                    </a:lnTo>
                    <a:lnTo>
                      <a:pt x="868" y="216"/>
                    </a:lnTo>
                    <a:lnTo>
                      <a:pt x="866" y="216"/>
                    </a:lnTo>
                    <a:lnTo>
                      <a:pt x="866" y="212"/>
                    </a:lnTo>
                    <a:lnTo>
                      <a:pt x="866" y="210"/>
                    </a:lnTo>
                    <a:lnTo>
                      <a:pt x="862" y="210"/>
                    </a:lnTo>
                    <a:lnTo>
                      <a:pt x="860" y="206"/>
                    </a:lnTo>
                    <a:lnTo>
                      <a:pt x="862" y="204"/>
                    </a:lnTo>
                    <a:lnTo>
                      <a:pt x="864" y="200"/>
                    </a:lnTo>
                    <a:lnTo>
                      <a:pt x="864" y="198"/>
                    </a:lnTo>
                    <a:lnTo>
                      <a:pt x="868" y="198"/>
                    </a:lnTo>
                    <a:lnTo>
                      <a:pt x="868" y="200"/>
                    </a:lnTo>
                    <a:lnTo>
                      <a:pt x="870" y="198"/>
                    </a:lnTo>
                    <a:lnTo>
                      <a:pt x="868" y="196"/>
                    </a:lnTo>
                    <a:lnTo>
                      <a:pt x="862" y="194"/>
                    </a:lnTo>
                    <a:lnTo>
                      <a:pt x="860" y="192"/>
                    </a:lnTo>
                    <a:lnTo>
                      <a:pt x="860" y="186"/>
                    </a:lnTo>
                    <a:lnTo>
                      <a:pt x="860" y="186"/>
                    </a:lnTo>
                    <a:lnTo>
                      <a:pt x="866" y="186"/>
                    </a:lnTo>
                    <a:lnTo>
                      <a:pt x="864" y="182"/>
                    </a:lnTo>
                    <a:lnTo>
                      <a:pt x="858" y="182"/>
                    </a:lnTo>
                    <a:lnTo>
                      <a:pt x="856" y="186"/>
                    </a:lnTo>
                    <a:lnTo>
                      <a:pt x="852" y="186"/>
                    </a:lnTo>
                    <a:lnTo>
                      <a:pt x="854" y="182"/>
                    </a:lnTo>
                    <a:lnTo>
                      <a:pt x="850" y="182"/>
                    </a:lnTo>
                    <a:lnTo>
                      <a:pt x="850" y="180"/>
                    </a:lnTo>
                    <a:lnTo>
                      <a:pt x="848" y="178"/>
                    </a:lnTo>
                    <a:lnTo>
                      <a:pt x="846" y="178"/>
                    </a:lnTo>
                    <a:lnTo>
                      <a:pt x="844" y="176"/>
                    </a:lnTo>
                    <a:lnTo>
                      <a:pt x="844" y="178"/>
                    </a:lnTo>
                    <a:lnTo>
                      <a:pt x="840" y="178"/>
                    </a:lnTo>
                    <a:lnTo>
                      <a:pt x="840" y="184"/>
                    </a:lnTo>
                    <a:lnTo>
                      <a:pt x="838" y="184"/>
                    </a:lnTo>
                    <a:lnTo>
                      <a:pt x="834" y="168"/>
                    </a:lnTo>
                    <a:lnTo>
                      <a:pt x="832" y="168"/>
                    </a:lnTo>
                    <a:lnTo>
                      <a:pt x="832" y="172"/>
                    </a:lnTo>
                    <a:lnTo>
                      <a:pt x="828" y="170"/>
                    </a:lnTo>
                    <a:lnTo>
                      <a:pt x="824" y="162"/>
                    </a:lnTo>
                    <a:lnTo>
                      <a:pt x="816" y="166"/>
                    </a:lnTo>
                    <a:lnTo>
                      <a:pt x="816" y="170"/>
                    </a:lnTo>
                    <a:lnTo>
                      <a:pt x="820" y="170"/>
                    </a:lnTo>
                    <a:lnTo>
                      <a:pt x="822" y="166"/>
                    </a:lnTo>
                    <a:lnTo>
                      <a:pt x="824" y="166"/>
                    </a:lnTo>
                    <a:lnTo>
                      <a:pt x="826" y="174"/>
                    </a:lnTo>
                    <a:lnTo>
                      <a:pt x="824" y="176"/>
                    </a:lnTo>
                    <a:lnTo>
                      <a:pt x="820" y="176"/>
                    </a:lnTo>
                    <a:lnTo>
                      <a:pt x="814" y="178"/>
                    </a:lnTo>
                    <a:lnTo>
                      <a:pt x="812" y="176"/>
                    </a:lnTo>
                    <a:lnTo>
                      <a:pt x="808" y="174"/>
                    </a:lnTo>
                    <a:lnTo>
                      <a:pt x="806" y="172"/>
                    </a:lnTo>
                    <a:lnTo>
                      <a:pt x="804" y="170"/>
                    </a:lnTo>
                    <a:lnTo>
                      <a:pt x="802" y="170"/>
                    </a:lnTo>
                    <a:lnTo>
                      <a:pt x="798" y="168"/>
                    </a:lnTo>
                    <a:lnTo>
                      <a:pt x="798" y="170"/>
                    </a:lnTo>
                    <a:lnTo>
                      <a:pt x="790" y="170"/>
                    </a:lnTo>
                    <a:lnTo>
                      <a:pt x="788" y="172"/>
                    </a:lnTo>
                    <a:lnTo>
                      <a:pt x="788" y="174"/>
                    </a:lnTo>
                    <a:lnTo>
                      <a:pt x="792" y="176"/>
                    </a:lnTo>
                    <a:lnTo>
                      <a:pt x="792" y="178"/>
                    </a:lnTo>
                    <a:lnTo>
                      <a:pt x="796" y="180"/>
                    </a:lnTo>
                    <a:lnTo>
                      <a:pt x="796" y="184"/>
                    </a:lnTo>
                    <a:lnTo>
                      <a:pt x="796" y="186"/>
                    </a:lnTo>
                    <a:lnTo>
                      <a:pt x="792" y="186"/>
                    </a:lnTo>
                    <a:lnTo>
                      <a:pt x="790" y="182"/>
                    </a:lnTo>
                    <a:lnTo>
                      <a:pt x="786" y="178"/>
                    </a:lnTo>
                    <a:lnTo>
                      <a:pt x="782" y="178"/>
                    </a:lnTo>
                    <a:lnTo>
                      <a:pt x="778" y="174"/>
                    </a:lnTo>
                    <a:lnTo>
                      <a:pt x="774" y="168"/>
                    </a:lnTo>
                    <a:lnTo>
                      <a:pt x="772" y="168"/>
                    </a:lnTo>
                    <a:lnTo>
                      <a:pt x="772" y="170"/>
                    </a:lnTo>
                    <a:lnTo>
                      <a:pt x="776" y="176"/>
                    </a:lnTo>
                    <a:lnTo>
                      <a:pt x="778" y="178"/>
                    </a:lnTo>
                    <a:lnTo>
                      <a:pt x="782" y="182"/>
                    </a:lnTo>
                    <a:lnTo>
                      <a:pt x="782" y="184"/>
                    </a:lnTo>
                    <a:lnTo>
                      <a:pt x="776" y="184"/>
                    </a:lnTo>
                    <a:lnTo>
                      <a:pt x="770" y="182"/>
                    </a:lnTo>
                    <a:lnTo>
                      <a:pt x="768" y="178"/>
                    </a:lnTo>
                    <a:lnTo>
                      <a:pt x="762" y="180"/>
                    </a:lnTo>
                    <a:lnTo>
                      <a:pt x="758" y="180"/>
                    </a:lnTo>
                    <a:lnTo>
                      <a:pt x="752" y="180"/>
                    </a:lnTo>
                    <a:lnTo>
                      <a:pt x="750" y="178"/>
                    </a:lnTo>
                    <a:lnTo>
                      <a:pt x="746" y="178"/>
                    </a:lnTo>
                    <a:lnTo>
                      <a:pt x="740" y="178"/>
                    </a:lnTo>
                    <a:lnTo>
                      <a:pt x="736" y="174"/>
                    </a:lnTo>
                    <a:lnTo>
                      <a:pt x="734" y="174"/>
                    </a:lnTo>
                    <a:lnTo>
                      <a:pt x="734" y="176"/>
                    </a:lnTo>
                    <a:lnTo>
                      <a:pt x="736" y="178"/>
                    </a:lnTo>
                    <a:lnTo>
                      <a:pt x="726" y="178"/>
                    </a:lnTo>
                    <a:lnTo>
                      <a:pt x="726" y="176"/>
                    </a:lnTo>
                    <a:lnTo>
                      <a:pt x="726" y="174"/>
                    </a:lnTo>
                    <a:lnTo>
                      <a:pt x="718" y="168"/>
                    </a:lnTo>
                    <a:lnTo>
                      <a:pt x="718" y="166"/>
                    </a:lnTo>
                    <a:lnTo>
                      <a:pt x="714" y="164"/>
                    </a:lnTo>
                    <a:lnTo>
                      <a:pt x="712" y="166"/>
                    </a:lnTo>
                    <a:lnTo>
                      <a:pt x="710" y="170"/>
                    </a:lnTo>
                    <a:lnTo>
                      <a:pt x="704" y="168"/>
                    </a:lnTo>
                    <a:lnTo>
                      <a:pt x="704" y="166"/>
                    </a:lnTo>
                    <a:lnTo>
                      <a:pt x="706" y="166"/>
                    </a:lnTo>
                    <a:lnTo>
                      <a:pt x="700" y="162"/>
                    </a:lnTo>
                    <a:lnTo>
                      <a:pt x="698" y="162"/>
                    </a:lnTo>
                    <a:lnTo>
                      <a:pt x="694" y="156"/>
                    </a:lnTo>
                    <a:lnTo>
                      <a:pt x="694" y="152"/>
                    </a:lnTo>
                    <a:lnTo>
                      <a:pt x="702" y="152"/>
                    </a:lnTo>
                    <a:lnTo>
                      <a:pt x="702" y="148"/>
                    </a:lnTo>
                    <a:lnTo>
                      <a:pt x="692" y="150"/>
                    </a:lnTo>
                    <a:lnTo>
                      <a:pt x="682" y="148"/>
                    </a:lnTo>
                    <a:lnTo>
                      <a:pt x="680" y="144"/>
                    </a:lnTo>
                    <a:lnTo>
                      <a:pt x="678" y="142"/>
                    </a:lnTo>
                    <a:lnTo>
                      <a:pt x="680" y="142"/>
                    </a:lnTo>
                    <a:lnTo>
                      <a:pt x="680" y="140"/>
                    </a:lnTo>
                    <a:lnTo>
                      <a:pt x="670" y="134"/>
                    </a:lnTo>
                    <a:lnTo>
                      <a:pt x="670" y="130"/>
                    </a:lnTo>
                    <a:lnTo>
                      <a:pt x="676" y="126"/>
                    </a:lnTo>
                    <a:lnTo>
                      <a:pt x="674" y="122"/>
                    </a:lnTo>
                    <a:lnTo>
                      <a:pt x="674" y="120"/>
                    </a:lnTo>
                    <a:lnTo>
                      <a:pt x="680" y="114"/>
                    </a:lnTo>
                    <a:lnTo>
                      <a:pt x="686" y="106"/>
                    </a:lnTo>
                    <a:lnTo>
                      <a:pt x="686" y="102"/>
                    </a:lnTo>
                    <a:lnTo>
                      <a:pt x="692" y="98"/>
                    </a:lnTo>
                    <a:lnTo>
                      <a:pt x="692" y="92"/>
                    </a:lnTo>
                    <a:lnTo>
                      <a:pt x="698" y="86"/>
                    </a:lnTo>
                    <a:lnTo>
                      <a:pt x="698" y="84"/>
                    </a:lnTo>
                    <a:lnTo>
                      <a:pt x="702" y="86"/>
                    </a:lnTo>
                    <a:lnTo>
                      <a:pt x="706" y="86"/>
                    </a:lnTo>
                    <a:lnTo>
                      <a:pt x="712" y="82"/>
                    </a:lnTo>
                    <a:lnTo>
                      <a:pt x="716" y="84"/>
                    </a:lnTo>
                    <a:lnTo>
                      <a:pt x="720" y="84"/>
                    </a:lnTo>
                    <a:lnTo>
                      <a:pt x="724" y="82"/>
                    </a:lnTo>
                    <a:lnTo>
                      <a:pt x="734" y="82"/>
                    </a:lnTo>
                    <a:lnTo>
                      <a:pt x="744" y="82"/>
                    </a:lnTo>
                    <a:lnTo>
                      <a:pt x="754" y="84"/>
                    </a:lnTo>
                    <a:lnTo>
                      <a:pt x="754" y="86"/>
                    </a:lnTo>
                    <a:lnTo>
                      <a:pt x="752" y="86"/>
                    </a:lnTo>
                    <a:lnTo>
                      <a:pt x="752" y="88"/>
                    </a:lnTo>
                    <a:lnTo>
                      <a:pt x="742" y="90"/>
                    </a:lnTo>
                    <a:lnTo>
                      <a:pt x="732" y="92"/>
                    </a:lnTo>
                    <a:lnTo>
                      <a:pt x="724" y="96"/>
                    </a:lnTo>
                    <a:lnTo>
                      <a:pt x="722" y="100"/>
                    </a:lnTo>
                    <a:lnTo>
                      <a:pt x="720" y="104"/>
                    </a:lnTo>
                    <a:lnTo>
                      <a:pt x="718" y="120"/>
                    </a:lnTo>
                    <a:lnTo>
                      <a:pt x="720" y="128"/>
                    </a:lnTo>
                    <a:lnTo>
                      <a:pt x="722" y="132"/>
                    </a:lnTo>
                    <a:lnTo>
                      <a:pt x="724" y="134"/>
                    </a:lnTo>
                    <a:lnTo>
                      <a:pt x="728" y="136"/>
                    </a:lnTo>
                    <a:lnTo>
                      <a:pt x="730" y="142"/>
                    </a:lnTo>
                    <a:lnTo>
                      <a:pt x="726" y="142"/>
                    </a:lnTo>
                    <a:lnTo>
                      <a:pt x="722" y="144"/>
                    </a:lnTo>
                    <a:lnTo>
                      <a:pt x="718" y="148"/>
                    </a:lnTo>
                    <a:lnTo>
                      <a:pt x="728" y="146"/>
                    </a:lnTo>
                    <a:lnTo>
                      <a:pt x="738" y="148"/>
                    </a:lnTo>
                    <a:lnTo>
                      <a:pt x="736" y="138"/>
                    </a:lnTo>
                    <a:lnTo>
                      <a:pt x="740" y="134"/>
                    </a:lnTo>
                    <a:lnTo>
                      <a:pt x="738" y="132"/>
                    </a:lnTo>
                    <a:lnTo>
                      <a:pt x="736" y="130"/>
                    </a:lnTo>
                    <a:lnTo>
                      <a:pt x="730" y="130"/>
                    </a:lnTo>
                    <a:lnTo>
                      <a:pt x="730" y="124"/>
                    </a:lnTo>
                    <a:lnTo>
                      <a:pt x="738" y="124"/>
                    </a:lnTo>
                    <a:lnTo>
                      <a:pt x="744" y="128"/>
                    </a:lnTo>
                    <a:lnTo>
                      <a:pt x="744" y="122"/>
                    </a:lnTo>
                    <a:lnTo>
                      <a:pt x="744" y="118"/>
                    </a:lnTo>
                    <a:lnTo>
                      <a:pt x="742" y="118"/>
                    </a:lnTo>
                    <a:lnTo>
                      <a:pt x="740" y="118"/>
                    </a:lnTo>
                    <a:lnTo>
                      <a:pt x="734" y="118"/>
                    </a:lnTo>
                    <a:lnTo>
                      <a:pt x="732" y="116"/>
                    </a:lnTo>
                    <a:lnTo>
                      <a:pt x="732" y="106"/>
                    </a:lnTo>
                    <a:lnTo>
                      <a:pt x="732" y="104"/>
                    </a:lnTo>
                    <a:lnTo>
                      <a:pt x="736" y="102"/>
                    </a:lnTo>
                    <a:lnTo>
                      <a:pt x="738" y="104"/>
                    </a:lnTo>
                    <a:lnTo>
                      <a:pt x="742" y="104"/>
                    </a:lnTo>
                    <a:lnTo>
                      <a:pt x="742" y="102"/>
                    </a:lnTo>
                    <a:lnTo>
                      <a:pt x="740" y="102"/>
                    </a:lnTo>
                    <a:lnTo>
                      <a:pt x="742" y="98"/>
                    </a:lnTo>
                    <a:lnTo>
                      <a:pt x="742" y="96"/>
                    </a:lnTo>
                    <a:lnTo>
                      <a:pt x="740" y="96"/>
                    </a:lnTo>
                    <a:lnTo>
                      <a:pt x="746" y="94"/>
                    </a:lnTo>
                    <a:lnTo>
                      <a:pt x="748" y="94"/>
                    </a:lnTo>
                    <a:lnTo>
                      <a:pt x="748" y="92"/>
                    </a:lnTo>
                    <a:lnTo>
                      <a:pt x="758" y="90"/>
                    </a:lnTo>
                    <a:lnTo>
                      <a:pt x="758" y="88"/>
                    </a:lnTo>
                    <a:lnTo>
                      <a:pt x="758" y="86"/>
                    </a:lnTo>
                    <a:lnTo>
                      <a:pt x="764" y="86"/>
                    </a:lnTo>
                    <a:lnTo>
                      <a:pt x="768" y="82"/>
                    </a:lnTo>
                    <a:lnTo>
                      <a:pt x="772" y="82"/>
                    </a:lnTo>
                    <a:lnTo>
                      <a:pt x="778" y="84"/>
                    </a:lnTo>
                    <a:lnTo>
                      <a:pt x="782" y="86"/>
                    </a:lnTo>
                    <a:lnTo>
                      <a:pt x="784" y="88"/>
                    </a:lnTo>
                    <a:lnTo>
                      <a:pt x="780" y="96"/>
                    </a:lnTo>
                    <a:lnTo>
                      <a:pt x="780" y="98"/>
                    </a:lnTo>
                    <a:lnTo>
                      <a:pt x="782" y="98"/>
                    </a:lnTo>
                    <a:lnTo>
                      <a:pt x="782" y="100"/>
                    </a:lnTo>
                    <a:lnTo>
                      <a:pt x="778" y="102"/>
                    </a:lnTo>
                    <a:lnTo>
                      <a:pt x="778" y="106"/>
                    </a:lnTo>
                    <a:lnTo>
                      <a:pt x="778" y="110"/>
                    </a:lnTo>
                    <a:lnTo>
                      <a:pt x="780" y="110"/>
                    </a:lnTo>
                    <a:lnTo>
                      <a:pt x="782" y="112"/>
                    </a:lnTo>
                    <a:lnTo>
                      <a:pt x="782" y="114"/>
                    </a:lnTo>
                    <a:lnTo>
                      <a:pt x="784" y="114"/>
                    </a:lnTo>
                    <a:lnTo>
                      <a:pt x="782" y="120"/>
                    </a:lnTo>
                    <a:lnTo>
                      <a:pt x="782" y="122"/>
                    </a:lnTo>
                    <a:lnTo>
                      <a:pt x="786" y="122"/>
                    </a:lnTo>
                    <a:lnTo>
                      <a:pt x="786" y="124"/>
                    </a:lnTo>
                    <a:lnTo>
                      <a:pt x="786" y="126"/>
                    </a:lnTo>
                    <a:lnTo>
                      <a:pt x="784" y="128"/>
                    </a:lnTo>
                    <a:lnTo>
                      <a:pt x="784" y="130"/>
                    </a:lnTo>
                    <a:lnTo>
                      <a:pt x="778" y="130"/>
                    </a:lnTo>
                    <a:lnTo>
                      <a:pt x="778" y="132"/>
                    </a:lnTo>
                    <a:lnTo>
                      <a:pt x="784" y="134"/>
                    </a:lnTo>
                    <a:lnTo>
                      <a:pt x="790" y="134"/>
                    </a:lnTo>
                    <a:lnTo>
                      <a:pt x="792" y="130"/>
                    </a:lnTo>
                    <a:lnTo>
                      <a:pt x="788" y="128"/>
                    </a:lnTo>
                    <a:lnTo>
                      <a:pt x="792" y="124"/>
                    </a:lnTo>
                    <a:lnTo>
                      <a:pt x="796" y="120"/>
                    </a:lnTo>
                    <a:lnTo>
                      <a:pt x="798" y="118"/>
                    </a:lnTo>
                    <a:lnTo>
                      <a:pt x="800" y="120"/>
                    </a:lnTo>
                    <a:lnTo>
                      <a:pt x="802" y="120"/>
                    </a:lnTo>
                    <a:lnTo>
                      <a:pt x="802" y="122"/>
                    </a:lnTo>
                    <a:lnTo>
                      <a:pt x="800" y="122"/>
                    </a:lnTo>
                    <a:lnTo>
                      <a:pt x="802" y="126"/>
                    </a:lnTo>
                    <a:lnTo>
                      <a:pt x="810" y="122"/>
                    </a:lnTo>
                    <a:lnTo>
                      <a:pt x="812" y="124"/>
                    </a:lnTo>
                    <a:lnTo>
                      <a:pt x="810" y="130"/>
                    </a:lnTo>
                    <a:lnTo>
                      <a:pt x="810" y="132"/>
                    </a:lnTo>
                    <a:lnTo>
                      <a:pt x="810" y="134"/>
                    </a:lnTo>
                    <a:lnTo>
                      <a:pt x="812" y="134"/>
                    </a:lnTo>
                    <a:lnTo>
                      <a:pt x="814" y="134"/>
                    </a:lnTo>
                    <a:lnTo>
                      <a:pt x="814" y="132"/>
                    </a:lnTo>
                    <a:lnTo>
                      <a:pt x="812" y="132"/>
                    </a:lnTo>
                    <a:lnTo>
                      <a:pt x="812" y="130"/>
                    </a:lnTo>
                    <a:lnTo>
                      <a:pt x="812" y="130"/>
                    </a:lnTo>
                    <a:lnTo>
                      <a:pt x="812" y="130"/>
                    </a:lnTo>
                    <a:lnTo>
                      <a:pt x="814" y="128"/>
                    </a:lnTo>
                    <a:lnTo>
                      <a:pt x="818" y="128"/>
                    </a:lnTo>
                    <a:lnTo>
                      <a:pt x="818" y="126"/>
                    </a:lnTo>
                    <a:lnTo>
                      <a:pt x="816" y="124"/>
                    </a:lnTo>
                    <a:lnTo>
                      <a:pt x="816" y="120"/>
                    </a:lnTo>
                    <a:lnTo>
                      <a:pt x="822" y="120"/>
                    </a:lnTo>
                    <a:lnTo>
                      <a:pt x="824" y="122"/>
                    </a:lnTo>
                    <a:lnTo>
                      <a:pt x="828" y="124"/>
                    </a:lnTo>
                    <a:lnTo>
                      <a:pt x="832" y="124"/>
                    </a:lnTo>
                    <a:lnTo>
                      <a:pt x="832" y="124"/>
                    </a:lnTo>
                    <a:lnTo>
                      <a:pt x="832" y="126"/>
                    </a:lnTo>
                    <a:lnTo>
                      <a:pt x="834" y="124"/>
                    </a:lnTo>
                    <a:lnTo>
                      <a:pt x="832" y="122"/>
                    </a:lnTo>
                    <a:lnTo>
                      <a:pt x="824" y="118"/>
                    </a:lnTo>
                    <a:lnTo>
                      <a:pt x="820" y="116"/>
                    </a:lnTo>
                    <a:lnTo>
                      <a:pt x="818" y="112"/>
                    </a:lnTo>
                    <a:lnTo>
                      <a:pt x="820" y="110"/>
                    </a:lnTo>
                    <a:lnTo>
                      <a:pt x="826" y="108"/>
                    </a:lnTo>
                    <a:lnTo>
                      <a:pt x="832" y="108"/>
                    </a:lnTo>
                    <a:lnTo>
                      <a:pt x="836" y="108"/>
                    </a:lnTo>
                    <a:lnTo>
                      <a:pt x="838" y="112"/>
                    </a:lnTo>
                    <a:lnTo>
                      <a:pt x="848" y="114"/>
                    </a:lnTo>
                    <a:lnTo>
                      <a:pt x="852" y="116"/>
                    </a:lnTo>
                    <a:lnTo>
                      <a:pt x="856" y="118"/>
                    </a:lnTo>
                    <a:lnTo>
                      <a:pt x="860" y="116"/>
                    </a:lnTo>
                    <a:lnTo>
                      <a:pt x="864" y="114"/>
                    </a:lnTo>
                    <a:lnTo>
                      <a:pt x="868" y="116"/>
                    </a:lnTo>
                    <a:lnTo>
                      <a:pt x="876" y="114"/>
                    </a:lnTo>
                    <a:lnTo>
                      <a:pt x="880" y="120"/>
                    </a:lnTo>
                    <a:lnTo>
                      <a:pt x="880" y="126"/>
                    </a:lnTo>
                    <a:lnTo>
                      <a:pt x="876" y="126"/>
                    </a:lnTo>
                    <a:lnTo>
                      <a:pt x="882" y="126"/>
                    </a:lnTo>
                    <a:lnTo>
                      <a:pt x="884" y="128"/>
                    </a:lnTo>
                    <a:lnTo>
                      <a:pt x="886" y="136"/>
                    </a:lnTo>
                    <a:lnTo>
                      <a:pt x="878" y="138"/>
                    </a:lnTo>
                    <a:lnTo>
                      <a:pt x="878" y="140"/>
                    </a:lnTo>
                    <a:lnTo>
                      <a:pt x="878" y="142"/>
                    </a:lnTo>
                    <a:lnTo>
                      <a:pt x="882" y="142"/>
                    </a:lnTo>
                    <a:lnTo>
                      <a:pt x="882" y="144"/>
                    </a:lnTo>
                    <a:lnTo>
                      <a:pt x="880" y="146"/>
                    </a:lnTo>
                    <a:lnTo>
                      <a:pt x="882" y="148"/>
                    </a:lnTo>
                    <a:lnTo>
                      <a:pt x="886" y="148"/>
                    </a:lnTo>
                    <a:lnTo>
                      <a:pt x="888" y="142"/>
                    </a:lnTo>
                    <a:lnTo>
                      <a:pt x="890" y="138"/>
                    </a:lnTo>
                    <a:lnTo>
                      <a:pt x="892" y="140"/>
                    </a:lnTo>
                    <a:lnTo>
                      <a:pt x="894" y="150"/>
                    </a:lnTo>
                    <a:lnTo>
                      <a:pt x="894" y="146"/>
                    </a:lnTo>
                    <a:lnTo>
                      <a:pt x="896" y="148"/>
                    </a:lnTo>
                    <a:lnTo>
                      <a:pt x="898" y="148"/>
                    </a:lnTo>
                    <a:lnTo>
                      <a:pt x="898" y="150"/>
                    </a:lnTo>
                    <a:lnTo>
                      <a:pt x="900" y="150"/>
                    </a:lnTo>
                    <a:lnTo>
                      <a:pt x="900" y="144"/>
                    </a:lnTo>
                    <a:lnTo>
                      <a:pt x="900" y="140"/>
                    </a:lnTo>
                    <a:lnTo>
                      <a:pt x="904" y="140"/>
                    </a:lnTo>
                    <a:lnTo>
                      <a:pt x="906" y="140"/>
                    </a:lnTo>
                    <a:lnTo>
                      <a:pt x="908" y="144"/>
                    </a:lnTo>
                    <a:lnTo>
                      <a:pt x="910" y="146"/>
                    </a:lnTo>
                    <a:lnTo>
                      <a:pt x="916" y="148"/>
                    </a:lnTo>
                    <a:lnTo>
                      <a:pt x="918" y="148"/>
                    </a:lnTo>
                    <a:lnTo>
                      <a:pt x="918" y="150"/>
                    </a:lnTo>
                    <a:lnTo>
                      <a:pt x="912" y="152"/>
                    </a:lnTo>
                    <a:lnTo>
                      <a:pt x="910" y="156"/>
                    </a:lnTo>
                    <a:lnTo>
                      <a:pt x="916" y="156"/>
                    </a:lnTo>
                    <a:lnTo>
                      <a:pt x="918" y="154"/>
                    </a:lnTo>
                    <a:lnTo>
                      <a:pt x="920" y="154"/>
                    </a:lnTo>
                    <a:lnTo>
                      <a:pt x="918" y="150"/>
                    </a:lnTo>
                    <a:lnTo>
                      <a:pt x="920" y="150"/>
                    </a:lnTo>
                    <a:lnTo>
                      <a:pt x="922" y="150"/>
                    </a:lnTo>
                    <a:lnTo>
                      <a:pt x="920" y="152"/>
                    </a:lnTo>
                    <a:lnTo>
                      <a:pt x="924" y="152"/>
                    </a:lnTo>
                    <a:lnTo>
                      <a:pt x="926" y="150"/>
                    </a:lnTo>
                    <a:lnTo>
                      <a:pt x="928" y="156"/>
                    </a:lnTo>
                    <a:lnTo>
                      <a:pt x="924" y="158"/>
                    </a:lnTo>
                    <a:lnTo>
                      <a:pt x="922" y="158"/>
                    </a:lnTo>
                    <a:lnTo>
                      <a:pt x="922" y="164"/>
                    </a:lnTo>
                    <a:lnTo>
                      <a:pt x="924" y="164"/>
                    </a:lnTo>
                    <a:lnTo>
                      <a:pt x="924" y="162"/>
                    </a:lnTo>
                    <a:lnTo>
                      <a:pt x="924" y="158"/>
                    </a:lnTo>
                    <a:lnTo>
                      <a:pt x="928" y="158"/>
                    </a:lnTo>
                    <a:lnTo>
                      <a:pt x="934" y="158"/>
                    </a:lnTo>
                    <a:lnTo>
                      <a:pt x="932" y="162"/>
                    </a:lnTo>
                    <a:lnTo>
                      <a:pt x="930" y="162"/>
                    </a:lnTo>
                    <a:lnTo>
                      <a:pt x="932" y="162"/>
                    </a:lnTo>
                    <a:lnTo>
                      <a:pt x="936" y="158"/>
                    </a:lnTo>
                    <a:lnTo>
                      <a:pt x="942" y="158"/>
                    </a:lnTo>
                    <a:lnTo>
                      <a:pt x="944" y="164"/>
                    </a:lnTo>
                    <a:lnTo>
                      <a:pt x="948" y="164"/>
                    </a:lnTo>
                    <a:lnTo>
                      <a:pt x="952" y="164"/>
                    </a:lnTo>
                    <a:lnTo>
                      <a:pt x="952" y="168"/>
                    </a:lnTo>
                    <a:lnTo>
                      <a:pt x="946" y="166"/>
                    </a:lnTo>
                    <a:lnTo>
                      <a:pt x="946" y="170"/>
                    </a:lnTo>
                    <a:lnTo>
                      <a:pt x="942" y="170"/>
                    </a:lnTo>
                    <a:lnTo>
                      <a:pt x="940" y="172"/>
                    </a:lnTo>
                    <a:lnTo>
                      <a:pt x="946" y="172"/>
                    </a:lnTo>
                    <a:lnTo>
                      <a:pt x="948" y="174"/>
                    </a:lnTo>
                    <a:lnTo>
                      <a:pt x="948" y="176"/>
                    </a:lnTo>
                    <a:lnTo>
                      <a:pt x="950" y="176"/>
                    </a:lnTo>
                    <a:lnTo>
                      <a:pt x="954" y="170"/>
                    </a:lnTo>
                    <a:lnTo>
                      <a:pt x="954" y="168"/>
                    </a:lnTo>
                    <a:lnTo>
                      <a:pt x="956" y="168"/>
                    </a:lnTo>
                    <a:lnTo>
                      <a:pt x="958" y="172"/>
                    </a:lnTo>
                    <a:lnTo>
                      <a:pt x="962" y="174"/>
                    </a:lnTo>
                    <a:lnTo>
                      <a:pt x="962" y="178"/>
                    </a:lnTo>
                    <a:lnTo>
                      <a:pt x="962" y="182"/>
                    </a:lnTo>
                    <a:lnTo>
                      <a:pt x="956" y="182"/>
                    </a:lnTo>
                    <a:lnTo>
                      <a:pt x="954" y="186"/>
                    </a:lnTo>
                    <a:lnTo>
                      <a:pt x="952" y="186"/>
                    </a:lnTo>
                    <a:lnTo>
                      <a:pt x="948" y="186"/>
                    </a:lnTo>
                    <a:lnTo>
                      <a:pt x="954" y="188"/>
                    </a:lnTo>
                    <a:lnTo>
                      <a:pt x="954" y="190"/>
                    </a:lnTo>
                    <a:lnTo>
                      <a:pt x="958" y="190"/>
                    </a:lnTo>
                    <a:lnTo>
                      <a:pt x="966" y="194"/>
                    </a:lnTo>
                    <a:lnTo>
                      <a:pt x="968" y="196"/>
                    </a:lnTo>
                    <a:lnTo>
                      <a:pt x="966" y="198"/>
                    </a:lnTo>
                    <a:lnTo>
                      <a:pt x="956" y="198"/>
                    </a:lnTo>
                    <a:lnTo>
                      <a:pt x="954" y="196"/>
                    </a:lnTo>
                    <a:lnTo>
                      <a:pt x="954" y="196"/>
                    </a:lnTo>
                    <a:lnTo>
                      <a:pt x="954" y="196"/>
                    </a:lnTo>
                    <a:lnTo>
                      <a:pt x="954" y="200"/>
                    </a:lnTo>
                    <a:lnTo>
                      <a:pt x="960" y="204"/>
                    </a:lnTo>
                    <a:lnTo>
                      <a:pt x="960" y="206"/>
                    </a:lnTo>
                    <a:lnTo>
                      <a:pt x="956" y="206"/>
                    </a:lnTo>
                    <a:lnTo>
                      <a:pt x="956" y="210"/>
                    </a:lnTo>
                    <a:lnTo>
                      <a:pt x="948" y="210"/>
                    </a:lnTo>
                    <a:lnTo>
                      <a:pt x="948" y="212"/>
                    </a:lnTo>
                    <a:lnTo>
                      <a:pt x="950" y="212"/>
                    </a:lnTo>
                    <a:lnTo>
                      <a:pt x="954" y="214"/>
                    </a:lnTo>
                    <a:lnTo>
                      <a:pt x="952" y="216"/>
                    </a:lnTo>
                    <a:lnTo>
                      <a:pt x="954" y="216"/>
                    </a:lnTo>
                    <a:lnTo>
                      <a:pt x="958" y="218"/>
                    </a:lnTo>
                    <a:lnTo>
                      <a:pt x="962" y="218"/>
                    </a:lnTo>
                    <a:lnTo>
                      <a:pt x="962" y="224"/>
                    </a:lnTo>
                    <a:lnTo>
                      <a:pt x="964" y="222"/>
                    </a:lnTo>
                    <a:lnTo>
                      <a:pt x="964" y="220"/>
                    </a:lnTo>
                    <a:lnTo>
                      <a:pt x="970" y="222"/>
                    </a:lnTo>
                    <a:lnTo>
                      <a:pt x="966" y="228"/>
                    </a:lnTo>
                    <a:lnTo>
                      <a:pt x="972" y="226"/>
                    </a:lnTo>
                    <a:lnTo>
                      <a:pt x="972" y="230"/>
                    </a:lnTo>
                    <a:lnTo>
                      <a:pt x="974" y="230"/>
                    </a:lnTo>
                    <a:lnTo>
                      <a:pt x="974" y="232"/>
                    </a:lnTo>
                    <a:lnTo>
                      <a:pt x="976" y="232"/>
                    </a:lnTo>
                    <a:lnTo>
                      <a:pt x="976" y="230"/>
                    </a:lnTo>
                    <a:lnTo>
                      <a:pt x="978" y="230"/>
                    </a:lnTo>
                    <a:lnTo>
                      <a:pt x="978" y="232"/>
                    </a:lnTo>
                    <a:lnTo>
                      <a:pt x="976" y="240"/>
                    </a:lnTo>
                    <a:lnTo>
                      <a:pt x="978" y="240"/>
                    </a:lnTo>
                    <a:lnTo>
                      <a:pt x="980" y="234"/>
                    </a:lnTo>
                    <a:lnTo>
                      <a:pt x="982" y="234"/>
                    </a:lnTo>
                    <a:lnTo>
                      <a:pt x="984" y="238"/>
                    </a:lnTo>
                    <a:lnTo>
                      <a:pt x="986" y="236"/>
                    </a:lnTo>
                    <a:lnTo>
                      <a:pt x="986" y="234"/>
                    </a:lnTo>
                    <a:lnTo>
                      <a:pt x="988" y="232"/>
                    </a:lnTo>
                    <a:lnTo>
                      <a:pt x="990" y="232"/>
                    </a:lnTo>
                    <a:lnTo>
                      <a:pt x="990" y="238"/>
                    </a:lnTo>
                    <a:lnTo>
                      <a:pt x="992" y="236"/>
                    </a:lnTo>
                    <a:lnTo>
                      <a:pt x="992" y="232"/>
                    </a:lnTo>
                    <a:lnTo>
                      <a:pt x="996" y="228"/>
                    </a:lnTo>
                    <a:lnTo>
                      <a:pt x="998" y="228"/>
                    </a:lnTo>
                    <a:lnTo>
                      <a:pt x="998" y="230"/>
                    </a:lnTo>
                    <a:lnTo>
                      <a:pt x="996" y="240"/>
                    </a:lnTo>
                    <a:lnTo>
                      <a:pt x="1000" y="240"/>
                    </a:lnTo>
                    <a:lnTo>
                      <a:pt x="1000" y="234"/>
                    </a:lnTo>
                    <a:lnTo>
                      <a:pt x="1004" y="236"/>
                    </a:lnTo>
                    <a:lnTo>
                      <a:pt x="1008" y="238"/>
                    </a:lnTo>
                    <a:lnTo>
                      <a:pt x="1008" y="242"/>
                    </a:lnTo>
                    <a:lnTo>
                      <a:pt x="1010" y="244"/>
                    </a:lnTo>
                    <a:lnTo>
                      <a:pt x="1004" y="244"/>
                    </a:lnTo>
                    <a:lnTo>
                      <a:pt x="1006" y="246"/>
                    </a:lnTo>
                    <a:lnTo>
                      <a:pt x="1010" y="246"/>
                    </a:lnTo>
                    <a:lnTo>
                      <a:pt x="1010" y="248"/>
                    </a:lnTo>
                    <a:lnTo>
                      <a:pt x="1016" y="248"/>
                    </a:lnTo>
                    <a:lnTo>
                      <a:pt x="1020" y="250"/>
                    </a:lnTo>
                    <a:lnTo>
                      <a:pt x="1020" y="244"/>
                    </a:lnTo>
                    <a:lnTo>
                      <a:pt x="1020" y="244"/>
                    </a:lnTo>
                    <a:lnTo>
                      <a:pt x="1024" y="244"/>
                    </a:lnTo>
                    <a:lnTo>
                      <a:pt x="1026" y="244"/>
                    </a:lnTo>
                    <a:lnTo>
                      <a:pt x="1022" y="248"/>
                    </a:lnTo>
                    <a:lnTo>
                      <a:pt x="1022" y="256"/>
                    </a:lnTo>
                    <a:lnTo>
                      <a:pt x="1026" y="256"/>
                    </a:lnTo>
                    <a:lnTo>
                      <a:pt x="1026" y="250"/>
                    </a:lnTo>
                    <a:lnTo>
                      <a:pt x="1028" y="248"/>
                    </a:lnTo>
                    <a:lnTo>
                      <a:pt x="1030" y="248"/>
                    </a:lnTo>
                    <a:lnTo>
                      <a:pt x="1030" y="250"/>
                    </a:lnTo>
                    <a:lnTo>
                      <a:pt x="1034" y="248"/>
                    </a:lnTo>
                    <a:lnTo>
                      <a:pt x="1036" y="250"/>
                    </a:lnTo>
                    <a:lnTo>
                      <a:pt x="1036" y="246"/>
                    </a:lnTo>
                    <a:lnTo>
                      <a:pt x="1036" y="244"/>
                    </a:lnTo>
                    <a:lnTo>
                      <a:pt x="1038" y="244"/>
                    </a:lnTo>
                    <a:lnTo>
                      <a:pt x="1044" y="246"/>
                    </a:lnTo>
                    <a:lnTo>
                      <a:pt x="1046" y="252"/>
                    </a:lnTo>
                    <a:lnTo>
                      <a:pt x="1048" y="254"/>
                    </a:lnTo>
                    <a:lnTo>
                      <a:pt x="1048" y="256"/>
                    </a:lnTo>
                    <a:lnTo>
                      <a:pt x="1048" y="258"/>
                    </a:lnTo>
                    <a:lnTo>
                      <a:pt x="1048" y="260"/>
                    </a:lnTo>
                    <a:lnTo>
                      <a:pt x="1048" y="260"/>
                    </a:lnTo>
                    <a:close/>
                    <a:moveTo>
                      <a:pt x="1040" y="704"/>
                    </a:moveTo>
                    <a:lnTo>
                      <a:pt x="1040" y="704"/>
                    </a:lnTo>
                    <a:lnTo>
                      <a:pt x="1038" y="704"/>
                    </a:lnTo>
                    <a:lnTo>
                      <a:pt x="1034" y="712"/>
                    </a:lnTo>
                    <a:lnTo>
                      <a:pt x="1030" y="716"/>
                    </a:lnTo>
                    <a:lnTo>
                      <a:pt x="1022" y="718"/>
                    </a:lnTo>
                    <a:lnTo>
                      <a:pt x="1016" y="720"/>
                    </a:lnTo>
                    <a:lnTo>
                      <a:pt x="1014" y="722"/>
                    </a:lnTo>
                    <a:lnTo>
                      <a:pt x="1014" y="724"/>
                    </a:lnTo>
                    <a:lnTo>
                      <a:pt x="1014" y="728"/>
                    </a:lnTo>
                    <a:lnTo>
                      <a:pt x="1008" y="722"/>
                    </a:lnTo>
                    <a:lnTo>
                      <a:pt x="1008" y="724"/>
                    </a:lnTo>
                    <a:lnTo>
                      <a:pt x="1008" y="726"/>
                    </a:lnTo>
                    <a:lnTo>
                      <a:pt x="1006" y="726"/>
                    </a:lnTo>
                    <a:lnTo>
                      <a:pt x="1004" y="724"/>
                    </a:lnTo>
                    <a:lnTo>
                      <a:pt x="1004" y="728"/>
                    </a:lnTo>
                    <a:lnTo>
                      <a:pt x="1004" y="734"/>
                    </a:lnTo>
                    <a:lnTo>
                      <a:pt x="1004" y="736"/>
                    </a:lnTo>
                    <a:lnTo>
                      <a:pt x="1002" y="736"/>
                    </a:lnTo>
                    <a:lnTo>
                      <a:pt x="1004" y="734"/>
                    </a:lnTo>
                    <a:lnTo>
                      <a:pt x="1002" y="734"/>
                    </a:lnTo>
                    <a:lnTo>
                      <a:pt x="1000" y="734"/>
                    </a:lnTo>
                    <a:lnTo>
                      <a:pt x="998" y="738"/>
                    </a:lnTo>
                    <a:lnTo>
                      <a:pt x="994" y="742"/>
                    </a:lnTo>
                    <a:lnTo>
                      <a:pt x="992" y="740"/>
                    </a:lnTo>
                    <a:lnTo>
                      <a:pt x="994" y="738"/>
                    </a:lnTo>
                    <a:lnTo>
                      <a:pt x="992" y="738"/>
                    </a:lnTo>
                    <a:lnTo>
                      <a:pt x="990" y="742"/>
                    </a:lnTo>
                    <a:lnTo>
                      <a:pt x="988" y="740"/>
                    </a:lnTo>
                    <a:lnTo>
                      <a:pt x="986" y="738"/>
                    </a:lnTo>
                    <a:lnTo>
                      <a:pt x="982" y="736"/>
                    </a:lnTo>
                    <a:lnTo>
                      <a:pt x="978" y="736"/>
                    </a:lnTo>
                    <a:lnTo>
                      <a:pt x="976" y="728"/>
                    </a:lnTo>
                    <a:lnTo>
                      <a:pt x="980" y="724"/>
                    </a:lnTo>
                    <a:lnTo>
                      <a:pt x="982" y="720"/>
                    </a:lnTo>
                    <a:lnTo>
                      <a:pt x="986" y="718"/>
                    </a:lnTo>
                    <a:lnTo>
                      <a:pt x="988" y="718"/>
                    </a:lnTo>
                    <a:lnTo>
                      <a:pt x="988" y="716"/>
                    </a:lnTo>
                    <a:lnTo>
                      <a:pt x="990" y="712"/>
                    </a:lnTo>
                    <a:lnTo>
                      <a:pt x="994" y="710"/>
                    </a:lnTo>
                    <a:lnTo>
                      <a:pt x="1000" y="708"/>
                    </a:lnTo>
                    <a:lnTo>
                      <a:pt x="1002" y="708"/>
                    </a:lnTo>
                    <a:lnTo>
                      <a:pt x="1002" y="710"/>
                    </a:lnTo>
                    <a:lnTo>
                      <a:pt x="1006" y="712"/>
                    </a:lnTo>
                    <a:lnTo>
                      <a:pt x="1012" y="704"/>
                    </a:lnTo>
                    <a:lnTo>
                      <a:pt x="1016" y="704"/>
                    </a:lnTo>
                    <a:lnTo>
                      <a:pt x="1006" y="702"/>
                    </a:lnTo>
                    <a:lnTo>
                      <a:pt x="1002" y="702"/>
                    </a:lnTo>
                    <a:lnTo>
                      <a:pt x="996" y="704"/>
                    </a:lnTo>
                    <a:lnTo>
                      <a:pt x="996" y="706"/>
                    </a:lnTo>
                    <a:lnTo>
                      <a:pt x="996" y="702"/>
                    </a:lnTo>
                    <a:lnTo>
                      <a:pt x="998" y="700"/>
                    </a:lnTo>
                    <a:lnTo>
                      <a:pt x="998" y="698"/>
                    </a:lnTo>
                    <a:lnTo>
                      <a:pt x="1000" y="696"/>
                    </a:lnTo>
                    <a:lnTo>
                      <a:pt x="1000" y="694"/>
                    </a:lnTo>
                    <a:lnTo>
                      <a:pt x="998" y="694"/>
                    </a:lnTo>
                    <a:lnTo>
                      <a:pt x="996" y="694"/>
                    </a:lnTo>
                    <a:lnTo>
                      <a:pt x="994" y="692"/>
                    </a:lnTo>
                    <a:lnTo>
                      <a:pt x="994" y="698"/>
                    </a:lnTo>
                    <a:lnTo>
                      <a:pt x="994" y="700"/>
                    </a:lnTo>
                    <a:lnTo>
                      <a:pt x="992" y="700"/>
                    </a:lnTo>
                    <a:lnTo>
                      <a:pt x="990" y="702"/>
                    </a:lnTo>
                    <a:lnTo>
                      <a:pt x="988" y="704"/>
                    </a:lnTo>
                    <a:lnTo>
                      <a:pt x="986" y="708"/>
                    </a:lnTo>
                    <a:lnTo>
                      <a:pt x="982" y="708"/>
                    </a:lnTo>
                    <a:lnTo>
                      <a:pt x="982" y="704"/>
                    </a:lnTo>
                    <a:lnTo>
                      <a:pt x="982" y="702"/>
                    </a:lnTo>
                    <a:lnTo>
                      <a:pt x="982" y="700"/>
                    </a:lnTo>
                    <a:lnTo>
                      <a:pt x="980" y="700"/>
                    </a:lnTo>
                    <a:lnTo>
                      <a:pt x="980" y="704"/>
                    </a:lnTo>
                    <a:lnTo>
                      <a:pt x="976" y="704"/>
                    </a:lnTo>
                    <a:lnTo>
                      <a:pt x="976" y="706"/>
                    </a:lnTo>
                    <a:lnTo>
                      <a:pt x="980" y="708"/>
                    </a:lnTo>
                    <a:lnTo>
                      <a:pt x="980" y="710"/>
                    </a:lnTo>
                    <a:lnTo>
                      <a:pt x="976" y="710"/>
                    </a:lnTo>
                    <a:lnTo>
                      <a:pt x="976" y="712"/>
                    </a:lnTo>
                    <a:lnTo>
                      <a:pt x="974" y="712"/>
                    </a:lnTo>
                    <a:lnTo>
                      <a:pt x="970" y="710"/>
                    </a:lnTo>
                    <a:lnTo>
                      <a:pt x="968" y="708"/>
                    </a:lnTo>
                    <a:lnTo>
                      <a:pt x="964" y="708"/>
                    </a:lnTo>
                    <a:lnTo>
                      <a:pt x="962" y="708"/>
                    </a:lnTo>
                    <a:lnTo>
                      <a:pt x="962" y="706"/>
                    </a:lnTo>
                    <a:lnTo>
                      <a:pt x="960" y="704"/>
                    </a:lnTo>
                    <a:lnTo>
                      <a:pt x="962" y="700"/>
                    </a:lnTo>
                    <a:lnTo>
                      <a:pt x="960" y="700"/>
                    </a:lnTo>
                    <a:lnTo>
                      <a:pt x="958" y="700"/>
                    </a:lnTo>
                    <a:lnTo>
                      <a:pt x="956" y="700"/>
                    </a:lnTo>
                    <a:lnTo>
                      <a:pt x="956" y="694"/>
                    </a:lnTo>
                    <a:lnTo>
                      <a:pt x="956" y="680"/>
                    </a:lnTo>
                    <a:lnTo>
                      <a:pt x="956" y="676"/>
                    </a:lnTo>
                    <a:lnTo>
                      <a:pt x="954" y="674"/>
                    </a:lnTo>
                    <a:lnTo>
                      <a:pt x="950" y="670"/>
                    </a:lnTo>
                    <a:lnTo>
                      <a:pt x="946" y="670"/>
                    </a:lnTo>
                    <a:lnTo>
                      <a:pt x="944" y="674"/>
                    </a:lnTo>
                    <a:lnTo>
                      <a:pt x="942" y="676"/>
                    </a:lnTo>
                    <a:lnTo>
                      <a:pt x="942" y="674"/>
                    </a:lnTo>
                    <a:lnTo>
                      <a:pt x="940" y="670"/>
                    </a:lnTo>
                    <a:lnTo>
                      <a:pt x="938" y="670"/>
                    </a:lnTo>
                    <a:lnTo>
                      <a:pt x="936" y="672"/>
                    </a:lnTo>
                    <a:lnTo>
                      <a:pt x="934" y="680"/>
                    </a:lnTo>
                    <a:lnTo>
                      <a:pt x="930" y="684"/>
                    </a:lnTo>
                    <a:lnTo>
                      <a:pt x="930" y="690"/>
                    </a:lnTo>
                    <a:lnTo>
                      <a:pt x="928" y="692"/>
                    </a:lnTo>
                    <a:lnTo>
                      <a:pt x="924" y="696"/>
                    </a:lnTo>
                    <a:lnTo>
                      <a:pt x="918" y="700"/>
                    </a:lnTo>
                    <a:lnTo>
                      <a:pt x="914" y="702"/>
                    </a:lnTo>
                    <a:lnTo>
                      <a:pt x="914" y="704"/>
                    </a:lnTo>
                    <a:lnTo>
                      <a:pt x="896" y="708"/>
                    </a:lnTo>
                    <a:lnTo>
                      <a:pt x="876" y="710"/>
                    </a:lnTo>
                    <a:lnTo>
                      <a:pt x="874" y="708"/>
                    </a:lnTo>
                    <a:lnTo>
                      <a:pt x="876" y="706"/>
                    </a:lnTo>
                    <a:lnTo>
                      <a:pt x="872" y="708"/>
                    </a:lnTo>
                    <a:lnTo>
                      <a:pt x="862" y="714"/>
                    </a:lnTo>
                    <a:lnTo>
                      <a:pt x="852" y="720"/>
                    </a:lnTo>
                    <a:lnTo>
                      <a:pt x="850" y="722"/>
                    </a:lnTo>
                    <a:lnTo>
                      <a:pt x="850" y="724"/>
                    </a:lnTo>
                    <a:lnTo>
                      <a:pt x="844" y="728"/>
                    </a:lnTo>
                    <a:lnTo>
                      <a:pt x="838" y="726"/>
                    </a:lnTo>
                    <a:lnTo>
                      <a:pt x="834" y="726"/>
                    </a:lnTo>
                    <a:lnTo>
                      <a:pt x="828" y="726"/>
                    </a:lnTo>
                    <a:lnTo>
                      <a:pt x="828" y="728"/>
                    </a:lnTo>
                    <a:lnTo>
                      <a:pt x="830" y="728"/>
                    </a:lnTo>
                    <a:lnTo>
                      <a:pt x="832" y="730"/>
                    </a:lnTo>
                    <a:lnTo>
                      <a:pt x="832" y="732"/>
                    </a:lnTo>
                    <a:lnTo>
                      <a:pt x="836" y="732"/>
                    </a:lnTo>
                    <a:lnTo>
                      <a:pt x="838" y="732"/>
                    </a:lnTo>
                    <a:lnTo>
                      <a:pt x="836" y="734"/>
                    </a:lnTo>
                    <a:lnTo>
                      <a:pt x="834" y="736"/>
                    </a:lnTo>
                    <a:lnTo>
                      <a:pt x="832" y="736"/>
                    </a:lnTo>
                    <a:lnTo>
                      <a:pt x="830" y="734"/>
                    </a:lnTo>
                    <a:lnTo>
                      <a:pt x="822" y="732"/>
                    </a:lnTo>
                    <a:lnTo>
                      <a:pt x="814" y="734"/>
                    </a:lnTo>
                    <a:lnTo>
                      <a:pt x="808" y="738"/>
                    </a:lnTo>
                    <a:lnTo>
                      <a:pt x="802" y="740"/>
                    </a:lnTo>
                    <a:lnTo>
                      <a:pt x="802" y="742"/>
                    </a:lnTo>
                    <a:lnTo>
                      <a:pt x="806" y="742"/>
                    </a:lnTo>
                    <a:lnTo>
                      <a:pt x="808" y="744"/>
                    </a:lnTo>
                    <a:lnTo>
                      <a:pt x="808" y="746"/>
                    </a:lnTo>
                    <a:lnTo>
                      <a:pt x="806" y="748"/>
                    </a:lnTo>
                    <a:lnTo>
                      <a:pt x="800" y="748"/>
                    </a:lnTo>
                    <a:lnTo>
                      <a:pt x="796" y="748"/>
                    </a:lnTo>
                    <a:lnTo>
                      <a:pt x="794" y="750"/>
                    </a:lnTo>
                    <a:lnTo>
                      <a:pt x="792" y="754"/>
                    </a:lnTo>
                    <a:lnTo>
                      <a:pt x="786" y="754"/>
                    </a:lnTo>
                    <a:lnTo>
                      <a:pt x="782" y="754"/>
                    </a:lnTo>
                    <a:lnTo>
                      <a:pt x="778" y="758"/>
                    </a:lnTo>
                    <a:lnTo>
                      <a:pt x="774" y="758"/>
                    </a:lnTo>
                    <a:lnTo>
                      <a:pt x="772" y="762"/>
                    </a:lnTo>
                    <a:lnTo>
                      <a:pt x="768" y="764"/>
                    </a:lnTo>
                    <a:lnTo>
                      <a:pt x="762" y="764"/>
                    </a:lnTo>
                    <a:lnTo>
                      <a:pt x="762" y="760"/>
                    </a:lnTo>
                    <a:lnTo>
                      <a:pt x="764" y="758"/>
                    </a:lnTo>
                    <a:lnTo>
                      <a:pt x="766" y="756"/>
                    </a:lnTo>
                    <a:lnTo>
                      <a:pt x="768" y="746"/>
                    </a:lnTo>
                    <a:lnTo>
                      <a:pt x="772" y="744"/>
                    </a:lnTo>
                    <a:lnTo>
                      <a:pt x="774" y="740"/>
                    </a:lnTo>
                    <a:lnTo>
                      <a:pt x="774" y="732"/>
                    </a:lnTo>
                    <a:lnTo>
                      <a:pt x="774" y="728"/>
                    </a:lnTo>
                    <a:lnTo>
                      <a:pt x="774" y="724"/>
                    </a:lnTo>
                    <a:lnTo>
                      <a:pt x="782" y="714"/>
                    </a:lnTo>
                    <a:lnTo>
                      <a:pt x="786" y="716"/>
                    </a:lnTo>
                    <a:lnTo>
                      <a:pt x="786" y="720"/>
                    </a:lnTo>
                    <a:lnTo>
                      <a:pt x="790" y="720"/>
                    </a:lnTo>
                    <a:lnTo>
                      <a:pt x="794" y="720"/>
                    </a:lnTo>
                    <a:lnTo>
                      <a:pt x="794" y="722"/>
                    </a:lnTo>
                    <a:lnTo>
                      <a:pt x="796" y="724"/>
                    </a:lnTo>
                    <a:lnTo>
                      <a:pt x="800" y="724"/>
                    </a:lnTo>
                    <a:lnTo>
                      <a:pt x="800" y="722"/>
                    </a:lnTo>
                    <a:lnTo>
                      <a:pt x="800" y="720"/>
                    </a:lnTo>
                    <a:lnTo>
                      <a:pt x="800" y="718"/>
                    </a:lnTo>
                    <a:lnTo>
                      <a:pt x="798" y="718"/>
                    </a:lnTo>
                    <a:lnTo>
                      <a:pt x="804" y="718"/>
                    </a:lnTo>
                    <a:lnTo>
                      <a:pt x="806" y="714"/>
                    </a:lnTo>
                    <a:lnTo>
                      <a:pt x="804" y="712"/>
                    </a:lnTo>
                    <a:lnTo>
                      <a:pt x="800" y="708"/>
                    </a:lnTo>
                    <a:lnTo>
                      <a:pt x="800" y="700"/>
                    </a:lnTo>
                    <a:lnTo>
                      <a:pt x="794" y="700"/>
                    </a:lnTo>
                    <a:lnTo>
                      <a:pt x="794" y="698"/>
                    </a:lnTo>
                    <a:lnTo>
                      <a:pt x="792" y="696"/>
                    </a:lnTo>
                    <a:lnTo>
                      <a:pt x="788" y="694"/>
                    </a:lnTo>
                    <a:lnTo>
                      <a:pt x="788" y="692"/>
                    </a:lnTo>
                    <a:lnTo>
                      <a:pt x="786" y="692"/>
                    </a:lnTo>
                    <a:lnTo>
                      <a:pt x="782" y="694"/>
                    </a:lnTo>
                    <a:lnTo>
                      <a:pt x="780" y="694"/>
                    </a:lnTo>
                    <a:lnTo>
                      <a:pt x="776" y="694"/>
                    </a:lnTo>
                    <a:lnTo>
                      <a:pt x="774" y="692"/>
                    </a:lnTo>
                    <a:lnTo>
                      <a:pt x="772" y="692"/>
                    </a:lnTo>
                    <a:lnTo>
                      <a:pt x="768" y="692"/>
                    </a:lnTo>
                    <a:lnTo>
                      <a:pt x="766" y="690"/>
                    </a:lnTo>
                    <a:lnTo>
                      <a:pt x="756" y="688"/>
                    </a:lnTo>
                    <a:lnTo>
                      <a:pt x="754" y="690"/>
                    </a:lnTo>
                    <a:lnTo>
                      <a:pt x="750" y="686"/>
                    </a:lnTo>
                    <a:lnTo>
                      <a:pt x="746" y="682"/>
                    </a:lnTo>
                    <a:lnTo>
                      <a:pt x="740" y="682"/>
                    </a:lnTo>
                    <a:lnTo>
                      <a:pt x="738" y="668"/>
                    </a:lnTo>
                    <a:lnTo>
                      <a:pt x="740" y="666"/>
                    </a:lnTo>
                    <a:lnTo>
                      <a:pt x="734" y="662"/>
                    </a:lnTo>
                    <a:lnTo>
                      <a:pt x="734" y="656"/>
                    </a:lnTo>
                    <a:lnTo>
                      <a:pt x="732" y="654"/>
                    </a:lnTo>
                    <a:lnTo>
                      <a:pt x="730" y="654"/>
                    </a:lnTo>
                    <a:lnTo>
                      <a:pt x="726" y="654"/>
                    </a:lnTo>
                    <a:lnTo>
                      <a:pt x="720" y="652"/>
                    </a:lnTo>
                    <a:lnTo>
                      <a:pt x="716" y="646"/>
                    </a:lnTo>
                    <a:lnTo>
                      <a:pt x="712" y="636"/>
                    </a:lnTo>
                    <a:lnTo>
                      <a:pt x="712" y="636"/>
                    </a:lnTo>
                    <a:lnTo>
                      <a:pt x="710" y="638"/>
                    </a:lnTo>
                    <a:lnTo>
                      <a:pt x="708" y="636"/>
                    </a:lnTo>
                    <a:lnTo>
                      <a:pt x="706" y="634"/>
                    </a:lnTo>
                    <a:lnTo>
                      <a:pt x="704" y="636"/>
                    </a:lnTo>
                    <a:lnTo>
                      <a:pt x="702" y="636"/>
                    </a:lnTo>
                    <a:lnTo>
                      <a:pt x="698" y="636"/>
                    </a:lnTo>
                    <a:lnTo>
                      <a:pt x="696" y="634"/>
                    </a:lnTo>
                    <a:lnTo>
                      <a:pt x="694" y="636"/>
                    </a:lnTo>
                    <a:lnTo>
                      <a:pt x="694" y="640"/>
                    </a:lnTo>
                    <a:lnTo>
                      <a:pt x="694" y="642"/>
                    </a:lnTo>
                    <a:lnTo>
                      <a:pt x="692" y="642"/>
                    </a:lnTo>
                    <a:lnTo>
                      <a:pt x="692" y="640"/>
                    </a:lnTo>
                    <a:lnTo>
                      <a:pt x="692" y="638"/>
                    </a:lnTo>
                    <a:lnTo>
                      <a:pt x="690" y="638"/>
                    </a:lnTo>
                    <a:lnTo>
                      <a:pt x="690" y="640"/>
                    </a:lnTo>
                    <a:lnTo>
                      <a:pt x="690" y="642"/>
                    </a:lnTo>
                    <a:lnTo>
                      <a:pt x="688" y="642"/>
                    </a:lnTo>
                    <a:lnTo>
                      <a:pt x="686" y="644"/>
                    </a:lnTo>
                    <a:lnTo>
                      <a:pt x="680" y="644"/>
                    </a:lnTo>
                    <a:lnTo>
                      <a:pt x="678" y="650"/>
                    </a:lnTo>
                    <a:lnTo>
                      <a:pt x="674" y="652"/>
                    </a:lnTo>
                    <a:lnTo>
                      <a:pt x="672" y="652"/>
                    </a:lnTo>
                    <a:lnTo>
                      <a:pt x="668" y="650"/>
                    </a:lnTo>
                    <a:lnTo>
                      <a:pt x="666" y="648"/>
                    </a:lnTo>
                    <a:lnTo>
                      <a:pt x="664" y="648"/>
                    </a:lnTo>
                    <a:lnTo>
                      <a:pt x="660" y="648"/>
                    </a:lnTo>
                    <a:lnTo>
                      <a:pt x="652" y="648"/>
                    </a:lnTo>
                    <a:lnTo>
                      <a:pt x="650" y="648"/>
                    </a:lnTo>
                    <a:lnTo>
                      <a:pt x="646" y="648"/>
                    </a:lnTo>
                    <a:lnTo>
                      <a:pt x="642" y="644"/>
                    </a:lnTo>
                    <a:lnTo>
                      <a:pt x="636" y="644"/>
                    </a:lnTo>
                    <a:lnTo>
                      <a:pt x="632" y="644"/>
                    </a:lnTo>
                    <a:lnTo>
                      <a:pt x="630" y="644"/>
                    </a:lnTo>
                    <a:lnTo>
                      <a:pt x="630" y="644"/>
                    </a:lnTo>
                    <a:lnTo>
                      <a:pt x="628" y="646"/>
                    </a:lnTo>
                    <a:lnTo>
                      <a:pt x="626" y="646"/>
                    </a:lnTo>
                    <a:lnTo>
                      <a:pt x="620" y="644"/>
                    </a:lnTo>
                    <a:lnTo>
                      <a:pt x="616" y="644"/>
                    </a:lnTo>
                    <a:lnTo>
                      <a:pt x="614" y="644"/>
                    </a:lnTo>
                    <a:lnTo>
                      <a:pt x="612" y="638"/>
                    </a:lnTo>
                    <a:lnTo>
                      <a:pt x="610" y="632"/>
                    </a:lnTo>
                    <a:lnTo>
                      <a:pt x="608" y="630"/>
                    </a:lnTo>
                    <a:lnTo>
                      <a:pt x="606" y="632"/>
                    </a:lnTo>
                    <a:lnTo>
                      <a:pt x="606" y="634"/>
                    </a:lnTo>
                    <a:lnTo>
                      <a:pt x="604" y="638"/>
                    </a:lnTo>
                    <a:lnTo>
                      <a:pt x="248" y="632"/>
                    </a:lnTo>
                    <a:lnTo>
                      <a:pt x="246" y="630"/>
                    </a:lnTo>
                    <a:lnTo>
                      <a:pt x="244" y="628"/>
                    </a:lnTo>
                    <a:lnTo>
                      <a:pt x="244" y="624"/>
                    </a:lnTo>
                    <a:lnTo>
                      <a:pt x="240" y="624"/>
                    </a:lnTo>
                    <a:lnTo>
                      <a:pt x="240" y="622"/>
                    </a:lnTo>
                    <a:lnTo>
                      <a:pt x="236" y="620"/>
                    </a:lnTo>
                    <a:lnTo>
                      <a:pt x="236" y="618"/>
                    </a:lnTo>
                    <a:lnTo>
                      <a:pt x="236" y="616"/>
                    </a:lnTo>
                    <a:lnTo>
                      <a:pt x="238" y="616"/>
                    </a:lnTo>
                    <a:lnTo>
                      <a:pt x="236" y="614"/>
                    </a:lnTo>
                    <a:lnTo>
                      <a:pt x="234" y="614"/>
                    </a:lnTo>
                    <a:lnTo>
                      <a:pt x="232" y="616"/>
                    </a:lnTo>
                    <a:lnTo>
                      <a:pt x="230" y="618"/>
                    </a:lnTo>
                    <a:lnTo>
                      <a:pt x="228" y="618"/>
                    </a:lnTo>
                    <a:lnTo>
                      <a:pt x="228" y="616"/>
                    </a:lnTo>
                    <a:lnTo>
                      <a:pt x="228" y="614"/>
                    </a:lnTo>
                    <a:lnTo>
                      <a:pt x="228" y="610"/>
                    </a:lnTo>
                    <a:lnTo>
                      <a:pt x="228" y="608"/>
                    </a:lnTo>
                    <a:lnTo>
                      <a:pt x="224" y="608"/>
                    </a:lnTo>
                    <a:lnTo>
                      <a:pt x="218" y="606"/>
                    </a:lnTo>
                    <a:lnTo>
                      <a:pt x="218" y="604"/>
                    </a:lnTo>
                    <a:lnTo>
                      <a:pt x="214" y="602"/>
                    </a:lnTo>
                    <a:lnTo>
                      <a:pt x="214" y="598"/>
                    </a:lnTo>
                    <a:lnTo>
                      <a:pt x="210" y="600"/>
                    </a:lnTo>
                    <a:lnTo>
                      <a:pt x="204" y="602"/>
                    </a:lnTo>
                    <a:lnTo>
                      <a:pt x="196" y="602"/>
                    </a:lnTo>
                    <a:lnTo>
                      <a:pt x="194" y="602"/>
                    </a:lnTo>
                    <a:lnTo>
                      <a:pt x="194" y="600"/>
                    </a:lnTo>
                    <a:lnTo>
                      <a:pt x="196" y="596"/>
                    </a:lnTo>
                    <a:lnTo>
                      <a:pt x="194" y="596"/>
                    </a:lnTo>
                    <a:lnTo>
                      <a:pt x="192" y="594"/>
                    </a:lnTo>
                    <a:lnTo>
                      <a:pt x="184" y="596"/>
                    </a:lnTo>
                    <a:lnTo>
                      <a:pt x="178" y="598"/>
                    </a:lnTo>
                    <a:lnTo>
                      <a:pt x="192" y="604"/>
                    </a:lnTo>
                    <a:lnTo>
                      <a:pt x="198" y="604"/>
                    </a:lnTo>
                    <a:lnTo>
                      <a:pt x="204" y="604"/>
                    </a:lnTo>
                    <a:lnTo>
                      <a:pt x="208" y="606"/>
                    </a:lnTo>
                    <a:lnTo>
                      <a:pt x="210" y="606"/>
                    </a:lnTo>
                    <a:lnTo>
                      <a:pt x="212" y="606"/>
                    </a:lnTo>
                    <a:lnTo>
                      <a:pt x="210" y="608"/>
                    </a:lnTo>
                    <a:lnTo>
                      <a:pt x="212" y="612"/>
                    </a:lnTo>
                    <a:lnTo>
                      <a:pt x="216" y="612"/>
                    </a:lnTo>
                    <a:lnTo>
                      <a:pt x="216" y="618"/>
                    </a:lnTo>
                    <a:lnTo>
                      <a:pt x="220" y="620"/>
                    </a:lnTo>
                    <a:lnTo>
                      <a:pt x="224" y="622"/>
                    </a:lnTo>
                    <a:lnTo>
                      <a:pt x="230" y="624"/>
                    </a:lnTo>
                    <a:lnTo>
                      <a:pt x="236" y="630"/>
                    </a:lnTo>
                    <a:lnTo>
                      <a:pt x="236" y="632"/>
                    </a:lnTo>
                    <a:lnTo>
                      <a:pt x="240" y="636"/>
                    </a:lnTo>
                    <a:lnTo>
                      <a:pt x="244" y="638"/>
                    </a:lnTo>
                    <a:lnTo>
                      <a:pt x="244" y="644"/>
                    </a:lnTo>
                    <a:lnTo>
                      <a:pt x="236" y="642"/>
                    </a:lnTo>
                    <a:lnTo>
                      <a:pt x="224" y="642"/>
                    </a:lnTo>
                    <a:lnTo>
                      <a:pt x="224" y="640"/>
                    </a:lnTo>
                    <a:lnTo>
                      <a:pt x="222" y="640"/>
                    </a:lnTo>
                    <a:lnTo>
                      <a:pt x="218" y="638"/>
                    </a:lnTo>
                    <a:lnTo>
                      <a:pt x="216" y="636"/>
                    </a:lnTo>
                    <a:lnTo>
                      <a:pt x="216" y="630"/>
                    </a:lnTo>
                    <a:lnTo>
                      <a:pt x="206" y="628"/>
                    </a:lnTo>
                    <a:lnTo>
                      <a:pt x="208" y="624"/>
                    </a:lnTo>
                    <a:lnTo>
                      <a:pt x="204" y="624"/>
                    </a:lnTo>
                    <a:lnTo>
                      <a:pt x="204" y="622"/>
                    </a:lnTo>
                    <a:lnTo>
                      <a:pt x="194" y="622"/>
                    </a:lnTo>
                    <a:lnTo>
                      <a:pt x="196" y="614"/>
                    </a:lnTo>
                    <a:lnTo>
                      <a:pt x="182" y="614"/>
                    </a:lnTo>
                    <a:lnTo>
                      <a:pt x="182" y="610"/>
                    </a:lnTo>
                    <a:lnTo>
                      <a:pt x="178" y="614"/>
                    </a:lnTo>
                    <a:lnTo>
                      <a:pt x="176" y="614"/>
                    </a:lnTo>
                    <a:lnTo>
                      <a:pt x="174" y="612"/>
                    </a:lnTo>
                    <a:lnTo>
                      <a:pt x="174" y="604"/>
                    </a:lnTo>
                    <a:lnTo>
                      <a:pt x="170" y="602"/>
                    </a:lnTo>
                    <a:lnTo>
                      <a:pt x="172" y="596"/>
                    </a:lnTo>
                    <a:lnTo>
                      <a:pt x="178" y="598"/>
                    </a:lnTo>
                    <a:lnTo>
                      <a:pt x="178" y="592"/>
                    </a:lnTo>
                    <a:lnTo>
                      <a:pt x="178" y="590"/>
                    </a:lnTo>
                    <a:lnTo>
                      <a:pt x="178" y="588"/>
                    </a:lnTo>
                    <a:lnTo>
                      <a:pt x="182" y="588"/>
                    </a:lnTo>
                    <a:lnTo>
                      <a:pt x="182" y="586"/>
                    </a:lnTo>
                    <a:lnTo>
                      <a:pt x="180" y="586"/>
                    </a:lnTo>
                    <a:lnTo>
                      <a:pt x="184" y="586"/>
                    </a:lnTo>
                    <a:lnTo>
                      <a:pt x="180" y="584"/>
                    </a:lnTo>
                    <a:lnTo>
                      <a:pt x="180" y="578"/>
                    </a:lnTo>
                    <a:lnTo>
                      <a:pt x="182" y="578"/>
                    </a:lnTo>
                    <a:lnTo>
                      <a:pt x="182" y="576"/>
                    </a:lnTo>
                    <a:lnTo>
                      <a:pt x="178" y="576"/>
                    </a:lnTo>
                    <a:lnTo>
                      <a:pt x="180" y="572"/>
                    </a:lnTo>
                    <a:lnTo>
                      <a:pt x="176" y="572"/>
                    </a:lnTo>
                    <a:lnTo>
                      <a:pt x="174" y="570"/>
                    </a:lnTo>
                    <a:lnTo>
                      <a:pt x="172" y="566"/>
                    </a:lnTo>
                    <a:lnTo>
                      <a:pt x="172" y="562"/>
                    </a:lnTo>
                    <a:lnTo>
                      <a:pt x="170" y="564"/>
                    </a:lnTo>
                    <a:lnTo>
                      <a:pt x="166" y="564"/>
                    </a:lnTo>
                    <a:lnTo>
                      <a:pt x="166" y="566"/>
                    </a:lnTo>
                    <a:lnTo>
                      <a:pt x="164" y="568"/>
                    </a:lnTo>
                    <a:lnTo>
                      <a:pt x="164" y="562"/>
                    </a:lnTo>
                    <a:lnTo>
                      <a:pt x="162" y="560"/>
                    </a:lnTo>
                    <a:lnTo>
                      <a:pt x="162" y="556"/>
                    </a:lnTo>
                    <a:lnTo>
                      <a:pt x="164" y="556"/>
                    </a:lnTo>
                    <a:lnTo>
                      <a:pt x="164" y="548"/>
                    </a:lnTo>
                    <a:lnTo>
                      <a:pt x="166" y="546"/>
                    </a:lnTo>
                    <a:lnTo>
                      <a:pt x="164" y="546"/>
                    </a:lnTo>
                    <a:lnTo>
                      <a:pt x="162" y="546"/>
                    </a:lnTo>
                    <a:lnTo>
                      <a:pt x="160" y="550"/>
                    </a:lnTo>
                    <a:lnTo>
                      <a:pt x="162" y="550"/>
                    </a:lnTo>
                    <a:lnTo>
                      <a:pt x="162" y="552"/>
                    </a:lnTo>
                    <a:lnTo>
                      <a:pt x="160" y="552"/>
                    </a:lnTo>
                    <a:lnTo>
                      <a:pt x="158" y="554"/>
                    </a:lnTo>
                    <a:lnTo>
                      <a:pt x="154" y="548"/>
                    </a:lnTo>
                    <a:lnTo>
                      <a:pt x="150" y="542"/>
                    </a:lnTo>
                    <a:lnTo>
                      <a:pt x="150" y="540"/>
                    </a:lnTo>
                    <a:lnTo>
                      <a:pt x="154" y="540"/>
                    </a:lnTo>
                    <a:lnTo>
                      <a:pt x="154" y="538"/>
                    </a:lnTo>
                    <a:lnTo>
                      <a:pt x="150" y="536"/>
                    </a:lnTo>
                    <a:lnTo>
                      <a:pt x="150" y="534"/>
                    </a:lnTo>
                    <a:lnTo>
                      <a:pt x="150" y="532"/>
                    </a:lnTo>
                    <a:lnTo>
                      <a:pt x="148" y="530"/>
                    </a:lnTo>
                    <a:lnTo>
                      <a:pt x="146" y="528"/>
                    </a:lnTo>
                    <a:lnTo>
                      <a:pt x="150" y="522"/>
                    </a:lnTo>
                    <a:lnTo>
                      <a:pt x="152" y="520"/>
                    </a:lnTo>
                    <a:lnTo>
                      <a:pt x="154" y="516"/>
                    </a:lnTo>
                    <a:lnTo>
                      <a:pt x="158" y="516"/>
                    </a:lnTo>
                    <a:lnTo>
                      <a:pt x="158" y="512"/>
                    </a:lnTo>
                    <a:lnTo>
                      <a:pt x="156" y="512"/>
                    </a:lnTo>
                    <a:lnTo>
                      <a:pt x="154" y="512"/>
                    </a:lnTo>
                    <a:lnTo>
                      <a:pt x="158" y="508"/>
                    </a:lnTo>
                    <a:lnTo>
                      <a:pt x="158" y="504"/>
                    </a:lnTo>
                    <a:lnTo>
                      <a:pt x="158" y="502"/>
                    </a:lnTo>
                    <a:lnTo>
                      <a:pt x="158" y="500"/>
                    </a:lnTo>
                    <a:lnTo>
                      <a:pt x="158" y="498"/>
                    </a:lnTo>
                    <a:lnTo>
                      <a:pt x="160" y="496"/>
                    </a:lnTo>
                    <a:lnTo>
                      <a:pt x="160" y="494"/>
                    </a:lnTo>
                    <a:lnTo>
                      <a:pt x="158" y="494"/>
                    </a:lnTo>
                    <a:lnTo>
                      <a:pt x="158" y="492"/>
                    </a:lnTo>
                    <a:lnTo>
                      <a:pt x="156" y="488"/>
                    </a:lnTo>
                    <a:lnTo>
                      <a:pt x="156" y="486"/>
                    </a:lnTo>
                    <a:lnTo>
                      <a:pt x="152" y="486"/>
                    </a:lnTo>
                    <a:lnTo>
                      <a:pt x="150" y="482"/>
                    </a:lnTo>
                    <a:lnTo>
                      <a:pt x="148" y="476"/>
                    </a:lnTo>
                    <a:lnTo>
                      <a:pt x="146" y="472"/>
                    </a:lnTo>
                    <a:lnTo>
                      <a:pt x="146" y="470"/>
                    </a:lnTo>
                    <a:lnTo>
                      <a:pt x="144" y="472"/>
                    </a:lnTo>
                    <a:lnTo>
                      <a:pt x="142" y="472"/>
                    </a:lnTo>
                    <a:lnTo>
                      <a:pt x="138" y="472"/>
                    </a:lnTo>
                    <a:lnTo>
                      <a:pt x="134" y="470"/>
                    </a:lnTo>
                    <a:lnTo>
                      <a:pt x="132" y="466"/>
                    </a:lnTo>
                    <a:lnTo>
                      <a:pt x="130" y="464"/>
                    </a:lnTo>
                    <a:lnTo>
                      <a:pt x="128" y="462"/>
                    </a:lnTo>
                    <a:lnTo>
                      <a:pt x="124" y="458"/>
                    </a:lnTo>
                    <a:lnTo>
                      <a:pt x="122" y="456"/>
                    </a:lnTo>
                    <a:lnTo>
                      <a:pt x="120" y="448"/>
                    </a:lnTo>
                    <a:lnTo>
                      <a:pt x="104" y="430"/>
                    </a:lnTo>
                    <a:lnTo>
                      <a:pt x="100" y="422"/>
                    </a:lnTo>
                    <a:lnTo>
                      <a:pt x="98" y="420"/>
                    </a:lnTo>
                    <a:lnTo>
                      <a:pt x="94" y="418"/>
                    </a:lnTo>
                    <a:lnTo>
                      <a:pt x="90" y="418"/>
                    </a:lnTo>
                    <a:lnTo>
                      <a:pt x="88" y="416"/>
                    </a:lnTo>
                    <a:lnTo>
                      <a:pt x="88" y="412"/>
                    </a:lnTo>
                    <a:lnTo>
                      <a:pt x="86" y="410"/>
                    </a:lnTo>
                    <a:lnTo>
                      <a:pt x="84" y="410"/>
                    </a:lnTo>
                    <a:lnTo>
                      <a:pt x="82" y="408"/>
                    </a:lnTo>
                    <a:lnTo>
                      <a:pt x="78" y="406"/>
                    </a:lnTo>
                    <a:lnTo>
                      <a:pt x="76" y="404"/>
                    </a:lnTo>
                    <a:lnTo>
                      <a:pt x="74" y="404"/>
                    </a:lnTo>
                    <a:lnTo>
                      <a:pt x="68" y="406"/>
                    </a:lnTo>
                    <a:lnTo>
                      <a:pt x="66" y="406"/>
                    </a:lnTo>
                    <a:lnTo>
                      <a:pt x="66" y="408"/>
                    </a:lnTo>
                    <a:lnTo>
                      <a:pt x="68" y="410"/>
                    </a:lnTo>
                    <a:lnTo>
                      <a:pt x="68" y="414"/>
                    </a:lnTo>
                    <a:lnTo>
                      <a:pt x="66" y="414"/>
                    </a:lnTo>
                    <a:lnTo>
                      <a:pt x="62" y="414"/>
                    </a:lnTo>
                    <a:lnTo>
                      <a:pt x="56" y="418"/>
                    </a:lnTo>
                    <a:lnTo>
                      <a:pt x="52" y="422"/>
                    </a:lnTo>
                    <a:lnTo>
                      <a:pt x="50" y="420"/>
                    </a:lnTo>
                    <a:lnTo>
                      <a:pt x="50" y="418"/>
                    </a:lnTo>
                    <a:lnTo>
                      <a:pt x="50" y="414"/>
                    </a:lnTo>
                    <a:lnTo>
                      <a:pt x="46" y="412"/>
                    </a:lnTo>
                    <a:lnTo>
                      <a:pt x="42" y="410"/>
                    </a:lnTo>
                    <a:lnTo>
                      <a:pt x="40" y="406"/>
                    </a:lnTo>
                    <a:lnTo>
                      <a:pt x="36" y="402"/>
                    </a:lnTo>
                    <a:lnTo>
                      <a:pt x="32" y="394"/>
                    </a:lnTo>
                    <a:lnTo>
                      <a:pt x="32" y="386"/>
                    </a:lnTo>
                    <a:lnTo>
                      <a:pt x="32" y="384"/>
                    </a:lnTo>
                    <a:lnTo>
                      <a:pt x="30" y="384"/>
                    </a:lnTo>
                    <a:lnTo>
                      <a:pt x="26" y="388"/>
                    </a:lnTo>
                    <a:lnTo>
                      <a:pt x="24" y="390"/>
                    </a:lnTo>
                    <a:lnTo>
                      <a:pt x="22" y="388"/>
                    </a:lnTo>
                    <a:lnTo>
                      <a:pt x="18" y="386"/>
                    </a:lnTo>
                    <a:lnTo>
                      <a:pt x="14" y="386"/>
                    </a:lnTo>
                    <a:lnTo>
                      <a:pt x="10" y="386"/>
                    </a:lnTo>
                    <a:lnTo>
                      <a:pt x="6" y="388"/>
                    </a:lnTo>
                    <a:lnTo>
                      <a:pt x="0" y="180"/>
                    </a:lnTo>
                    <a:lnTo>
                      <a:pt x="10" y="182"/>
                    </a:lnTo>
                    <a:lnTo>
                      <a:pt x="12" y="184"/>
                    </a:lnTo>
                    <a:lnTo>
                      <a:pt x="20" y="184"/>
                    </a:lnTo>
                    <a:lnTo>
                      <a:pt x="28" y="182"/>
                    </a:lnTo>
                    <a:lnTo>
                      <a:pt x="32" y="186"/>
                    </a:lnTo>
                    <a:lnTo>
                      <a:pt x="36" y="188"/>
                    </a:lnTo>
                    <a:lnTo>
                      <a:pt x="40" y="188"/>
                    </a:lnTo>
                    <a:lnTo>
                      <a:pt x="42" y="192"/>
                    </a:lnTo>
                    <a:lnTo>
                      <a:pt x="48" y="192"/>
                    </a:lnTo>
                    <a:lnTo>
                      <a:pt x="50" y="194"/>
                    </a:lnTo>
                    <a:lnTo>
                      <a:pt x="54" y="198"/>
                    </a:lnTo>
                    <a:lnTo>
                      <a:pt x="58" y="198"/>
                    </a:lnTo>
                    <a:lnTo>
                      <a:pt x="72" y="204"/>
                    </a:lnTo>
                    <a:lnTo>
                      <a:pt x="76" y="208"/>
                    </a:lnTo>
                    <a:lnTo>
                      <a:pt x="78" y="214"/>
                    </a:lnTo>
                    <a:lnTo>
                      <a:pt x="80" y="214"/>
                    </a:lnTo>
                    <a:lnTo>
                      <a:pt x="80" y="208"/>
                    </a:lnTo>
                    <a:lnTo>
                      <a:pt x="80" y="206"/>
                    </a:lnTo>
                    <a:lnTo>
                      <a:pt x="76" y="204"/>
                    </a:lnTo>
                    <a:lnTo>
                      <a:pt x="72" y="202"/>
                    </a:lnTo>
                    <a:lnTo>
                      <a:pt x="72" y="196"/>
                    </a:lnTo>
                    <a:lnTo>
                      <a:pt x="80" y="196"/>
                    </a:lnTo>
                    <a:lnTo>
                      <a:pt x="80" y="198"/>
                    </a:lnTo>
                    <a:lnTo>
                      <a:pt x="80" y="200"/>
                    </a:lnTo>
                    <a:lnTo>
                      <a:pt x="84" y="200"/>
                    </a:lnTo>
                    <a:lnTo>
                      <a:pt x="84" y="194"/>
                    </a:lnTo>
                    <a:lnTo>
                      <a:pt x="86" y="194"/>
                    </a:lnTo>
                    <a:lnTo>
                      <a:pt x="90" y="194"/>
                    </a:lnTo>
                    <a:lnTo>
                      <a:pt x="90" y="192"/>
                    </a:lnTo>
                    <a:lnTo>
                      <a:pt x="92" y="190"/>
                    </a:lnTo>
                    <a:lnTo>
                      <a:pt x="92" y="184"/>
                    </a:lnTo>
                    <a:lnTo>
                      <a:pt x="92" y="186"/>
                    </a:lnTo>
                    <a:lnTo>
                      <a:pt x="94" y="186"/>
                    </a:lnTo>
                    <a:lnTo>
                      <a:pt x="100" y="188"/>
                    </a:lnTo>
                    <a:lnTo>
                      <a:pt x="100" y="192"/>
                    </a:lnTo>
                    <a:lnTo>
                      <a:pt x="108" y="190"/>
                    </a:lnTo>
                    <a:lnTo>
                      <a:pt x="108" y="186"/>
                    </a:lnTo>
                    <a:lnTo>
                      <a:pt x="110" y="184"/>
                    </a:lnTo>
                    <a:lnTo>
                      <a:pt x="112" y="184"/>
                    </a:lnTo>
                    <a:lnTo>
                      <a:pt x="114" y="184"/>
                    </a:lnTo>
                    <a:lnTo>
                      <a:pt x="116" y="182"/>
                    </a:lnTo>
                    <a:lnTo>
                      <a:pt x="122" y="182"/>
                    </a:lnTo>
                    <a:lnTo>
                      <a:pt x="124" y="180"/>
                    </a:lnTo>
                    <a:lnTo>
                      <a:pt x="128" y="180"/>
                    </a:lnTo>
                    <a:lnTo>
                      <a:pt x="134" y="182"/>
                    </a:lnTo>
                    <a:lnTo>
                      <a:pt x="138" y="170"/>
                    </a:lnTo>
                    <a:lnTo>
                      <a:pt x="154" y="170"/>
                    </a:lnTo>
                    <a:lnTo>
                      <a:pt x="154" y="176"/>
                    </a:lnTo>
                    <a:lnTo>
                      <a:pt x="148" y="178"/>
                    </a:lnTo>
                    <a:lnTo>
                      <a:pt x="144" y="186"/>
                    </a:lnTo>
                    <a:lnTo>
                      <a:pt x="140" y="186"/>
                    </a:lnTo>
                    <a:lnTo>
                      <a:pt x="138" y="186"/>
                    </a:lnTo>
                    <a:lnTo>
                      <a:pt x="120" y="188"/>
                    </a:lnTo>
                    <a:lnTo>
                      <a:pt x="120" y="196"/>
                    </a:lnTo>
                    <a:lnTo>
                      <a:pt x="116" y="196"/>
                    </a:lnTo>
                    <a:lnTo>
                      <a:pt x="112" y="198"/>
                    </a:lnTo>
                    <a:lnTo>
                      <a:pt x="114" y="204"/>
                    </a:lnTo>
                    <a:lnTo>
                      <a:pt x="110" y="208"/>
                    </a:lnTo>
                    <a:lnTo>
                      <a:pt x="108" y="214"/>
                    </a:lnTo>
                    <a:lnTo>
                      <a:pt x="116" y="212"/>
                    </a:lnTo>
                    <a:lnTo>
                      <a:pt x="116" y="210"/>
                    </a:lnTo>
                    <a:lnTo>
                      <a:pt x="116" y="206"/>
                    </a:lnTo>
                    <a:lnTo>
                      <a:pt x="120" y="204"/>
                    </a:lnTo>
                    <a:lnTo>
                      <a:pt x="120" y="200"/>
                    </a:lnTo>
                    <a:lnTo>
                      <a:pt x="122" y="200"/>
                    </a:lnTo>
                    <a:lnTo>
                      <a:pt x="124" y="200"/>
                    </a:lnTo>
                    <a:lnTo>
                      <a:pt x="124" y="198"/>
                    </a:lnTo>
                    <a:lnTo>
                      <a:pt x="128" y="198"/>
                    </a:lnTo>
                    <a:lnTo>
                      <a:pt x="128" y="196"/>
                    </a:lnTo>
                    <a:lnTo>
                      <a:pt x="128" y="194"/>
                    </a:lnTo>
                    <a:lnTo>
                      <a:pt x="130" y="192"/>
                    </a:lnTo>
                    <a:lnTo>
                      <a:pt x="132" y="192"/>
                    </a:lnTo>
                    <a:lnTo>
                      <a:pt x="134" y="196"/>
                    </a:lnTo>
                    <a:lnTo>
                      <a:pt x="144" y="192"/>
                    </a:lnTo>
                    <a:lnTo>
                      <a:pt x="144" y="190"/>
                    </a:lnTo>
                    <a:lnTo>
                      <a:pt x="144" y="188"/>
                    </a:lnTo>
                    <a:lnTo>
                      <a:pt x="146" y="186"/>
                    </a:lnTo>
                    <a:lnTo>
                      <a:pt x="150" y="184"/>
                    </a:lnTo>
                    <a:lnTo>
                      <a:pt x="154" y="182"/>
                    </a:lnTo>
                    <a:lnTo>
                      <a:pt x="162" y="180"/>
                    </a:lnTo>
                    <a:lnTo>
                      <a:pt x="168" y="174"/>
                    </a:lnTo>
                    <a:lnTo>
                      <a:pt x="170" y="166"/>
                    </a:lnTo>
                    <a:lnTo>
                      <a:pt x="170" y="164"/>
                    </a:lnTo>
                    <a:lnTo>
                      <a:pt x="168" y="164"/>
                    </a:lnTo>
                    <a:lnTo>
                      <a:pt x="168" y="160"/>
                    </a:lnTo>
                    <a:lnTo>
                      <a:pt x="168" y="156"/>
                    </a:lnTo>
                    <a:lnTo>
                      <a:pt x="172" y="152"/>
                    </a:lnTo>
                    <a:lnTo>
                      <a:pt x="176" y="156"/>
                    </a:lnTo>
                    <a:lnTo>
                      <a:pt x="180" y="160"/>
                    </a:lnTo>
                    <a:lnTo>
                      <a:pt x="184" y="166"/>
                    </a:lnTo>
                    <a:lnTo>
                      <a:pt x="194" y="174"/>
                    </a:lnTo>
                    <a:lnTo>
                      <a:pt x="198" y="174"/>
                    </a:lnTo>
                    <a:lnTo>
                      <a:pt x="200" y="176"/>
                    </a:lnTo>
                    <a:lnTo>
                      <a:pt x="202" y="178"/>
                    </a:lnTo>
                    <a:lnTo>
                      <a:pt x="202" y="182"/>
                    </a:lnTo>
                    <a:lnTo>
                      <a:pt x="204" y="180"/>
                    </a:lnTo>
                    <a:lnTo>
                      <a:pt x="206" y="184"/>
                    </a:lnTo>
                    <a:lnTo>
                      <a:pt x="216" y="190"/>
                    </a:lnTo>
                    <a:lnTo>
                      <a:pt x="224" y="198"/>
                    </a:lnTo>
                    <a:lnTo>
                      <a:pt x="226" y="198"/>
                    </a:lnTo>
                    <a:lnTo>
                      <a:pt x="224" y="196"/>
                    </a:lnTo>
                    <a:lnTo>
                      <a:pt x="224" y="194"/>
                    </a:lnTo>
                    <a:lnTo>
                      <a:pt x="228" y="192"/>
                    </a:lnTo>
                    <a:lnTo>
                      <a:pt x="226" y="186"/>
                    </a:lnTo>
                    <a:lnTo>
                      <a:pt x="226" y="186"/>
                    </a:lnTo>
                    <a:lnTo>
                      <a:pt x="228" y="186"/>
                    </a:lnTo>
                    <a:lnTo>
                      <a:pt x="226" y="184"/>
                    </a:lnTo>
                    <a:lnTo>
                      <a:pt x="226" y="182"/>
                    </a:lnTo>
                    <a:lnTo>
                      <a:pt x="230" y="178"/>
                    </a:lnTo>
                    <a:lnTo>
                      <a:pt x="234" y="178"/>
                    </a:lnTo>
                    <a:lnTo>
                      <a:pt x="232" y="180"/>
                    </a:lnTo>
                    <a:lnTo>
                      <a:pt x="230" y="182"/>
                    </a:lnTo>
                    <a:lnTo>
                      <a:pt x="236" y="196"/>
                    </a:lnTo>
                    <a:lnTo>
                      <a:pt x="246" y="190"/>
                    </a:lnTo>
                    <a:lnTo>
                      <a:pt x="246" y="186"/>
                    </a:lnTo>
                    <a:lnTo>
                      <a:pt x="252" y="186"/>
                    </a:lnTo>
                    <a:lnTo>
                      <a:pt x="260" y="186"/>
                    </a:lnTo>
                    <a:lnTo>
                      <a:pt x="266" y="188"/>
                    </a:lnTo>
                    <a:lnTo>
                      <a:pt x="272" y="190"/>
                    </a:lnTo>
                    <a:lnTo>
                      <a:pt x="276" y="190"/>
                    </a:lnTo>
                    <a:lnTo>
                      <a:pt x="278" y="194"/>
                    </a:lnTo>
                    <a:lnTo>
                      <a:pt x="288" y="200"/>
                    </a:lnTo>
                    <a:lnTo>
                      <a:pt x="300" y="202"/>
                    </a:lnTo>
                    <a:lnTo>
                      <a:pt x="300" y="206"/>
                    </a:lnTo>
                    <a:lnTo>
                      <a:pt x="306" y="206"/>
                    </a:lnTo>
                    <a:lnTo>
                      <a:pt x="312" y="206"/>
                    </a:lnTo>
                    <a:lnTo>
                      <a:pt x="318" y="212"/>
                    </a:lnTo>
                    <a:lnTo>
                      <a:pt x="322" y="212"/>
                    </a:lnTo>
                    <a:lnTo>
                      <a:pt x="326" y="212"/>
                    </a:lnTo>
                    <a:lnTo>
                      <a:pt x="328" y="214"/>
                    </a:lnTo>
                    <a:lnTo>
                      <a:pt x="334" y="216"/>
                    </a:lnTo>
                    <a:lnTo>
                      <a:pt x="336" y="216"/>
                    </a:lnTo>
                    <a:lnTo>
                      <a:pt x="336" y="214"/>
                    </a:lnTo>
                    <a:lnTo>
                      <a:pt x="334" y="212"/>
                    </a:lnTo>
                    <a:lnTo>
                      <a:pt x="332" y="212"/>
                    </a:lnTo>
                    <a:lnTo>
                      <a:pt x="332" y="210"/>
                    </a:lnTo>
                    <a:lnTo>
                      <a:pt x="338" y="210"/>
                    </a:lnTo>
                    <a:lnTo>
                      <a:pt x="340" y="208"/>
                    </a:lnTo>
                    <a:lnTo>
                      <a:pt x="342" y="208"/>
                    </a:lnTo>
                    <a:lnTo>
                      <a:pt x="344" y="212"/>
                    </a:lnTo>
                    <a:lnTo>
                      <a:pt x="346" y="212"/>
                    </a:lnTo>
                    <a:lnTo>
                      <a:pt x="346" y="212"/>
                    </a:lnTo>
                    <a:lnTo>
                      <a:pt x="354" y="216"/>
                    </a:lnTo>
                    <a:lnTo>
                      <a:pt x="354" y="220"/>
                    </a:lnTo>
                    <a:lnTo>
                      <a:pt x="356" y="222"/>
                    </a:lnTo>
                    <a:lnTo>
                      <a:pt x="358" y="224"/>
                    </a:lnTo>
                    <a:lnTo>
                      <a:pt x="356" y="226"/>
                    </a:lnTo>
                    <a:lnTo>
                      <a:pt x="346" y="226"/>
                    </a:lnTo>
                    <a:lnTo>
                      <a:pt x="346" y="230"/>
                    </a:lnTo>
                    <a:lnTo>
                      <a:pt x="346" y="232"/>
                    </a:lnTo>
                    <a:lnTo>
                      <a:pt x="344" y="240"/>
                    </a:lnTo>
                    <a:lnTo>
                      <a:pt x="356" y="242"/>
                    </a:lnTo>
                    <a:lnTo>
                      <a:pt x="372" y="240"/>
                    </a:lnTo>
                    <a:lnTo>
                      <a:pt x="374" y="238"/>
                    </a:lnTo>
                    <a:lnTo>
                      <a:pt x="376" y="240"/>
                    </a:lnTo>
                    <a:lnTo>
                      <a:pt x="378" y="240"/>
                    </a:lnTo>
                    <a:lnTo>
                      <a:pt x="384" y="236"/>
                    </a:lnTo>
                    <a:lnTo>
                      <a:pt x="392" y="236"/>
                    </a:lnTo>
                    <a:lnTo>
                      <a:pt x="396" y="232"/>
                    </a:lnTo>
                    <a:lnTo>
                      <a:pt x="402" y="230"/>
                    </a:lnTo>
                    <a:lnTo>
                      <a:pt x="404" y="236"/>
                    </a:lnTo>
                    <a:lnTo>
                      <a:pt x="408" y="238"/>
                    </a:lnTo>
                    <a:lnTo>
                      <a:pt x="412" y="238"/>
                    </a:lnTo>
                    <a:lnTo>
                      <a:pt x="414" y="244"/>
                    </a:lnTo>
                    <a:lnTo>
                      <a:pt x="414" y="244"/>
                    </a:lnTo>
                    <a:lnTo>
                      <a:pt x="412" y="244"/>
                    </a:lnTo>
                    <a:lnTo>
                      <a:pt x="414" y="250"/>
                    </a:lnTo>
                    <a:lnTo>
                      <a:pt x="416" y="250"/>
                    </a:lnTo>
                    <a:lnTo>
                      <a:pt x="420" y="242"/>
                    </a:lnTo>
                    <a:lnTo>
                      <a:pt x="422" y="254"/>
                    </a:lnTo>
                    <a:lnTo>
                      <a:pt x="424" y="260"/>
                    </a:lnTo>
                    <a:lnTo>
                      <a:pt x="428" y="264"/>
                    </a:lnTo>
                    <a:lnTo>
                      <a:pt x="430" y="258"/>
                    </a:lnTo>
                    <a:lnTo>
                      <a:pt x="434" y="258"/>
                    </a:lnTo>
                    <a:lnTo>
                      <a:pt x="434" y="256"/>
                    </a:lnTo>
                    <a:lnTo>
                      <a:pt x="432" y="254"/>
                    </a:lnTo>
                    <a:lnTo>
                      <a:pt x="428" y="252"/>
                    </a:lnTo>
                    <a:lnTo>
                      <a:pt x="430" y="250"/>
                    </a:lnTo>
                    <a:lnTo>
                      <a:pt x="430" y="246"/>
                    </a:lnTo>
                    <a:lnTo>
                      <a:pt x="426" y="240"/>
                    </a:lnTo>
                    <a:lnTo>
                      <a:pt x="430" y="238"/>
                    </a:lnTo>
                    <a:lnTo>
                      <a:pt x="430" y="234"/>
                    </a:lnTo>
                    <a:lnTo>
                      <a:pt x="434" y="234"/>
                    </a:lnTo>
                    <a:lnTo>
                      <a:pt x="436" y="232"/>
                    </a:lnTo>
                    <a:lnTo>
                      <a:pt x="438" y="230"/>
                    </a:lnTo>
                    <a:lnTo>
                      <a:pt x="440" y="230"/>
                    </a:lnTo>
                    <a:lnTo>
                      <a:pt x="444" y="230"/>
                    </a:lnTo>
                    <a:lnTo>
                      <a:pt x="444" y="228"/>
                    </a:lnTo>
                    <a:lnTo>
                      <a:pt x="448" y="224"/>
                    </a:lnTo>
                    <a:lnTo>
                      <a:pt x="454" y="224"/>
                    </a:lnTo>
                    <a:lnTo>
                      <a:pt x="454" y="222"/>
                    </a:lnTo>
                    <a:lnTo>
                      <a:pt x="456" y="220"/>
                    </a:lnTo>
                    <a:lnTo>
                      <a:pt x="460" y="220"/>
                    </a:lnTo>
                    <a:lnTo>
                      <a:pt x="462" y="218"/>
                    </a:lnTo>
                    <a:lnTo>
                      <a:pt x="460" y="216"/>
                    </a:lnTo>
                    <a:lnTo>
                      <a:pt x="456" y="214"/>
                    </a:lnTo>
                    <a:lnTo>
                      <a:pt x="454" y="214"/>
                    </a:lnTo>
                    <a:lnTo>
                      <a:pt x="452" y="214"/>
                    </a:lnTo>
                    <a:lnTo>
                      <a:pt x="452" y="216"/>
                    </a:lnTo>
                    <a:lnTo>
                      <a:pt x="454" y="216"/>
                    </a:lnTo>
                    <a:lnTo>
                      <a:pt x="454" y="220"/>
                    </a:lnTo>
                    <a:lnTo>
                      <a:pt x="444" y="220"/>
                    </a:lnTo>
                    <a:lnTo>
                      <a:pt x="438" y="226"/>
                    </a:lnTo>
                    <a:lnTo>
                      <a:pt x="432" y="224"/>
                    </a:lnTo>
                    <a:lnTo>
                      <a:pt x="430" y="224"/>
                    </a:lnTo>
                    <a:lnTo>
                      <a:pt x="430" y="226"/>
                    </a:lnTo>
                    <a:lnTo>
                      <a:pt x="432" y="226"/>
                    </a:lnTo>
                    <a:lnTo>
                      <a:pt x="430" y="230"/>
                    </a:lnTo>
                    <a:lnTo>
                      <a:pt x="428" y="228"/>
                    </a:lnTo>
                    <a:lnTo>
                      <a:pt x="426" y="228"/>
                    </a:lnTo>
                    <a:lnTo>
                      <a:pt x="424" y="230"/>
                    </a:lnTo>
                    <a:lnTo>
                      <a:pt x="422" y="228"/>
                    </a:lnTo>
                    <a:lnTo>
                      <a:pt x="422" y="224"/>
                    </a:lnTo>
                    <a:lnTo>
                      <a:pt x="426" y="224"/>
                    </a:lnTo>
                    <a:lnTo>
                      <a:pt x="428" y="216"/>
                    </a:lnTo>
                    <a:lnTo>
                      <a:pt x="428" y="210"/>
                    </a:lnTo>
                    <a:lnTo>
                      <a:pt x="440" y="212"/>
                    </a:lnTo>
                    <a:lnTo>
                      <a:pt x="444" y="208"/>
                    </a:lnTo>
                    <a:lnTo>
                      <a:pt x="448" y="210"/>
                    </a:lnTo>
                    <a:lnTo>
                      <a:pt x="456" y="208"/>
                    </a:lnTo>
                    <a:lnTo>
                      <a:pt x="460" y="208"/>
                    </a:lnTo>
                    <a:lnTo>
                      <a:pt x="464" y="210"/>
                    </a:lnTo>
                    <a:lnTo>
                      <a:pt x="466" y="214"/>
                    </a:lnTo>
                    <a:lnTo>
                      <a:pt x="466" y="218"/>
                    </a:lnTo>
                    <a:lnTo>
                      <a:pt x="468" y="226"/>
                    </a:lnTo>
                    <a:lnTo>
                      <a:pt x="470" y="228"/>
                    </a:lnTo>
                    <a:lnTo>
                      <a:pt x="474" y="228"/>
                    </a:lnTo>
                    <a:lnTo>
                      <a:pt x="478" y="224"/>
                    </a:lnTo>
                    <a:lnTo>
                      <a:pt x="482" y="228"/>
                    </a:lnTo>
                    <a:lnTo>
                      <a:pt x="478" y="232"/>
                    </a:lnTo>
                    <a:lnTo>
                      <a:pt x="484" y="232"/>
                    </a:lnTo>
                    <a:lnTo>
                      <a:pt x="490" y="232"/>
                    </a:lnTo>
                    <a:lnTo>
                      <a:pt x="490" y="230"/>
                    </a:lnTo>
                    <a:lnTo>
                      <a:pt x="492" y="228"/>
                    </a:lnTo>
                    <a:lnTo>
                      <a:pt x="492" y="230"/>
                    </a:lnTo>
                    <a:lnTo>
                      <a:pt x="494" y="230"/>
                    </a:lnTo>
                    <a:lnTo>
                      <a:pt x="496" y="230"/>
                    </a:lnTo>
                    <a:lnTo>
                      <a:pt x="496" y="232"/>
                    </a:lnTo>
                    <a:lnTo>
                      <a:pt x="496" y="234"/>
                    </a:lnTo>
                    <a:lnTo>
                      <a:pt x="500" y="234"/>
                    </a:lnTo>
                    <a:lnTo>
                      <a:pt x="500" y="236"/>
                    </a:lnTo>
                    <a:lnTo>
                      <a:pt x="504" y="236"/>
                    </a:lnTo>
                    <a:lnTo>
                      <a:pt x="508" y="236"/>
                    </a:lnTo>
                    <a:lnTo>
                      <a:pt x="508" y="240"/>
                    </a:lnTo>
                    <a:lnTo>
                      <a:pt x="512" y="240"/>
                    </a:lnTo>
                    <a:lnTo>
                      <a:pt x="512" y="238"/>
                    </a:lnTo>
                    <a:lnTo>
                      <a:pt x="514" y="238"/>
                    </a:lnTo>
                    <a:lnTo>
                      <a:pt x="516" y="242"/>
                    </a:lnTo>
                    <a:lnTo>
                      <a:pt x="518" y="242"/>
                    </a:lnTo>
                    <a:lnTo>
                      <a:pt x="526" y="238"/>
                    </a:lnTo>
                    <a:lnTo>
                      <a:pt x="528" y="236"/>
                    </a:lnTo>
                    <a:lnTo>
                      <a:pt x="544" y="238"/>
                    </a:lnTo>
                    <a:lnTo>
                      <a:pt x="548" y="240"/>
                    </a:lnTo>
                    <a:lnTo>
                      <a:pt x="552" y="240"/>
                    </a:lnTo>
                    <a:lnTo>
                      <a:pt x="554" y="238"/>
                    </a:lnTo>
                    <a:lnTo>
                      <a:pt x="556" y="236"/>
                    </a:lnTo>
                    <a:lnTo>
                      <a:pt x="558" y="236"/>
                    </a:lnTo>
                    <a:lnTo>
                      <a:pt x="560" y="238"/>
                    </a:lnTo>
                    <a:lnTo>
                      <a:pt x="560" y="236"/>
                    </a:lnTo>
                    <a:lnTo>
                      <a:pt x="558" y="234"/>
                    </a:lnTo>
                    <a:lnTo>
                      <a:pt x="558" y="230"/>
                    </a:lnTo>
                    <a:lnTo>
                      <a:pt x="558" y="222"/>
                    </a:lnTo>
                    <a:lnTo>
                      <a:pt x="560" y="224"/>
                    </a:lnTo>
                    <a:lnTo>
                      <a:pt x="560" y="220"/>
                    </a:lnTo>
                    <a:lnTo>
                      <a:pt x="560" y="218"/>
                    </a:lnTo>
                    <a:lnTo>
                      <a:pt x="564" y="220"/>
                    </a:lnTo>
                    <a:lnTo>
                      <a:pt x="568" y="224"/>
                    </a:lnTo>
                    <a:lnTo>
                      <a:pt x="570" y="224"/>
                    </a:lnTo>
                    <a:lnTo>
                      <a:pt x="570" y="226"/>
                    </a:lnTo>
                    <a:lnTo>
                      <a:pt x="574" y="228"/>
                    </a:lnTo>
                    <a:lnTo>
                      <a:pt x="578" y="230"/>
                    </a:lnTo>
                    <a:lnTo>
                      <a:pt x="578" y="228"/>
                    </a:lnTo>
                    <a:lnTo>
                      <a:pt x="580" y="224"/>
                    </a:lnTo>
                    <a:lnTo>
                      <a:pt x="582" y="230"/>
                    </a:lnTo>
                    <a:lnTo>
                      <a:pt x="580" y="230"/>
                    </a:lnTo>
                    <a:lnTo>
                      <a:pt x="582" y="232"/>
                    </a:lnTo>
                    <a:lnTo>
                      <a:pt x="582" y="230"/>
                    </a:lnTo>
                    <a:lnTo>
                      <a:pt x="584" y="230"/>
                    </a:lnTo>
                    <a:lnTo>
                      <a:pt x="582" y="238"/>
                    </a:lnTo>
                    <a:lnTo>
                      <a:pt x="580" y="244"/>
                    </a:lnTo>
                    <a:lnTo>
                      <a:pt x="582" y="248"/>
                    </a:lnTo>
                    <a:lnTo>
                      <a:pt x="586" y="250"/>
                    </a:lnTo>
                    <a:lnTo>
                      <a:pt x="588" y="250"/>
                    </a:lnTo>
                    <a:lnTo>
                      <a:pt x="588" y="252"/>
                    </a:lnTo>
                    <a:lnTo>
                      <a:pt x="592" y="256"/>
                    </a:lnTo>
                    <a:lnTo>
                      <a:pt x="598" y="258"/>
                    </a:lnTo>
                    <a:lnTo>
                      <a:pt x="598" y="256"/>
                    </a:lnTo>
                    <a:lnTo>
                      <a:pt x="600" y="256"/>
                    </a:lnTo>
                    <a:lnTo>
                      <a:pt x="600" y="254"/>
                    </a:lnTo>
                    <a:lnTo>
                      <a:pt x="594" y="252"/>
                    </a:lnTo>
                    <a:lnTo>
                      <a:pt x="596" y="246"/>
                    </a:lnTo>
                    <a:lnTo>
                      <a:pt x="594" y="246"/>
                    </a:lnTo>
                    <a:lnTo>
                      <a:pt x="590" y="244"/>
                    </a:lnTo>
                    <a:lnTo>
                      <a:pt x="590" y="244"/>
                    </a:lnTo>
                    <a:lnTo>
                      <a:pt x="594" y="242"/>
                    </a:lnTo>
                    <a:lnTo>
                      <a:pt x="594" y="238"/>
                    </a:lnTo>
                    <a:lnTo>
                      <a:pt x="598" y="236"/>
                    </a:lnTo>
                    <a:lnTo>
                      <a:pt x="596" y="236"/>
                    </a:lnTo>
                    <a:lnTo>
                      <a:pt x="596" y="234"/>
                    </a:lnTo>
                    <a:lnTo>
                      <a:pt x="602" y="234"/>
                    </a:lnTo>
                    <a:lnTo>
                      <a:pt x="604" y="232"/>
                    </a:lnTo>
                    <a:lnTo>
                      <a:pt x="606" y="228"/>
                    </a:lnTo>
                    <a:lnTo>
                      <a:pt x="608" y="226"/>
                    </a:lnTo>
                    <a:lnTo>
                      <a:pt x="610" y="224"/>
                    </a:lnTo>
                    <a:lnTo>
                      <a:pt x="614" y="224"/>
                    </a:lnTo>
                    <a:lnTo>
                      <a:pt x="624" y="218"/>
                    </a:lnTo>
                    <a:lnTo>
                      <a:pt x="624" y="216"/>
                    </a:lnTo>
                    <a:lnTo>
                      <a:pt x="624" y="212"/>
                    </a:lnTo>
                    <a:lnTo>
                      <a:pt x="618" y="216"/>
                    </a:lnTo>
                    <a:lnTo>
                      <a:pt x="614" y="216"/>
                    </a:lnTo>
                    <a:lnTo>
                      <a:pt x="612" y="214"/>
                    </a:lnTo>
                    <a:lnTo>
                      <a:pt x="612" y="210"/>
                    </a:lnTo>
                    <a:lnTo>
                      <a:pt x="614" y="208"/>
                    </a:lnTo>
                    <a:lnTo>
                      <a:pt x="612" y="204"/>
                    </a:lnTo>
                    <a:lnTo>
                      <a:pt x="612" y="202"/>
                    </a:lnTo>
                    <a:lnTo>
                      <a:pt x="616" y="198"/>
                    </a:lnTo>
                    <a:lnTo>
                      <a:pt x="628" y="200"/>
                    </a:lnTo>
                    <a:lnTo>
                      <a:pt x="626" y="196"/>
                    </a:lnTo>
                    <a:lnTo>
                      <a:pt x="626" y="192"/>
                    </a:lnTo>
                    <a:lnTo>
                      <a:pt x="630" y="188"/>
                    </a:lnTo>
                    <a:lnTo>
                      <a:pt x="636" y="188"/>
                    </a:lnTo>
                    <a:lnTo>
                      <a:pt x="636" y="186"/>
                    </a:lnTo>
                    <a:lnTo>
                      <a:pt x="634" y="186"/>
                    </a:lnTo>
                    <a:lnTo>
                      <a:pt x="632" y="186"/>
                    </a:lnTo>
                    <a:lnTo>
                      <a:pt x="626" y="188"/>
                    </a:lnTo>
                    <a:lnTo>
                      <a:pt x="622" y="192"/>
                    </a:lnTo>
                    <a:lnTo>
                      <a:pt x="614" y="194"/>
                    </a:lnTo>
                    <a:lnTo>
                      <a:pt x="610" y="186"/>
                    </a:lnTo>
                    <a:lnTo>
                      <a:pt x="606" y="184"/>
                    </a:lnTo>
                    <a:lnTo>
                      <a:pt x="600" y="182"/>
                    </a:lnTo>
                    <a:lnTo>
                      <a:pt x="598" y="182"/>
                    </a:lnTo>
                    <a:lnTo>
                      <a:pt x="598" y="186"/>
                    </a:lnTo>
                    <a:lnTo>
                      <a:pt x="600" y="186"/>
                    </a:lnTo>
                    <a:lnTo>
                      <a:pt x="598" y="188"/>
                    </a:lnTo>
                    <a:lnTo>
                      <a:pt x="596" y="190"/>
                    </a:lnTo>
                    <a:lnTo>
                      <a:pt x="596" y="188"/>
                    </a:lnTo>
                    <a:lnTo>
                      <a:pt x="594" y="186"/>
                    </a:lnTo>
                    <a:lnTo>
                      <a:pt x="594" y="188"/>
                    </a:lnTo>
                    <a:lnTo>
                      <a:pt x="592" y="188"/>
                    </a:lnTo>
                    <a:lnTo>
                      <a:pt x="592" y="184"/>
                    </a:lnTo>
                    <a:lnTo>
                      <a:pt x="594" y="182"/>
                    </a:lnTo>
                    <a:lnTo>
                      <a:pt x="594" y="180"/>
                    </a:lnTo>
                    <a:lnTo>
                      <a:pt x="590" y="180"/>
                    </a:lnTo>
                    <a:lnTo>
                      <a:pt x="588" y="176"/>
                    </a:lnTo>
                    <a:lnTo>
                      <a:pt x="588" y="172"/>
                    </a:lnTo>
                    <a:lnTo>
                      <a:pt x="586" y="172"/>
                    </a:lnTo>
                    <a:lnTo>
                      <a:pt x="586" y="168"/>
                    </a:lnTo>
                    <a:lnTo>
                      <a:pt x="592" y="168"/>
                    </a:lnTo>
                    <a:lnTo>
                      <a:pt x="590" y="164"/>
                    </a:lnTo>
                    <a:lnTo>
                      <a:pt x="588" y="158"/>
                    </a:lnTo>
                    <a:lnTo>
                      <a:pt x="590" y="156"/>
                    </a:lnTo>
                    <a:lnTo>
                      <a:pt x="590" y="154"/>
                    </a:lnTo>
                    <a:lnTo>
                      <a:pt x="588" y="154"/>
                    </a:lnTo>
                    <a:lnTo>
                      <a:pt x="590" y="150"/>
                    </a:lnTo>
                    <a:lnTo>
                      <a:pt x="592" y="148"/>
                    </a:lnTo>
                    <a:lnTo>
                      <a:pt x="592" y="144"/>
                    </a:lnTo>
                    <a:lnTo>
                      <a:pt x="596" y="144"/>
                    </a:lnTo>
                    <a:lnTo>
                      <a:pt x="600" y="148"/>
                    </a:lnTo>
                    <a:lnTo>
                      <a:pt x="602" y="148"/>
                    </a:lnTo>
                    <a:lnTo>
                      <a:pt x="596" y="140"/>
                    </a:lnTo>
                    <a:lnTo>
                      <a:pt x="598" y="136"/>
                    </a:lnTo>
                    <a:lnTo>
                      <a:pt x="604" y="134"/>
                    </a:lnTo>
                    <a:lnTo>
                      <a:pt x="604" y="132"/>
                    </a:lnTo>
                    <a:lnTo>
                      <a:pt x="604" y="130"/>
                    </a:lnTo>
                    <a:lnTo>
                      <a:pt x="604" y="128"/>
                    </a:lnTo>
                    <a:lnTo>
                      <a:pt x="604" y="120"/>
                    </a:lnTo>
                    <a:lnTo>
                      <a:pt x="600" y="116"/>
                    </a:lnTo>
                    <a:lnTo>
                      <a:pt x="600" y="114"/>
                    </a:lnTo>
                    <a:lnTo>
                      <a:pt x="602" y="114"/>
                    </a:lnTo>
                    <a:lnTo>
                      <a:pt x="602" y="108"/>
                    </a:lnTo>
                    <a:lnTo>
                      <a:pt x="600" y="108"/>
                    </a:lnTo>
                    <a:lnTo>
                      <a:pt x="600" y="100"/>
                    </a:lnTo>
                    <a:lnTo>
                      <a:pt x="596" y="96"/>
                    </a:lnTo>
                    <a:lnTo>
                      <a:pt x="598" y="92"/>
                    </a:lnTo>
                    <a:lnTo>
                      <a:pt x="596" y="92"/>
                    </a:lnTo>
                    <a:lnTo>
                      <a:pt x="596" y="86"/>
                    </a:lnTo>
                    <a:lnTo>
                      <a:pt x="600" y="86"/>
                    </a:lnTo>
                    <a:lnTo>
                      <a:pt x="598" y="78"/>
                    </a:lnTo>
                    <a:lnTo>
                      <a:pt x="612" y="78"/>
                    </a:lnTo>
                    <a:lnTo>
                      <a:pt x="612" y="80"/>
                    </a:lnTo>
                    <a:lnTo>
                      <a:pt x="614" y="80"/>
                    </a:lnTo>
                    <a:lnTo>
                      <a:pt x="620" y="72"/>
                    </a:lnTo>
                    <a:lnTo>
                      <a:pt x="632" y="74"/>
                    </a:lnTo>
                    <a:lnTo>
                      <a:pt x="642" y="78"/>
                    </a:lnTo>
                    <a:lnTo>
                      <a:pt x="644" y="82"/>
                    </a:lnTo>
                    <a:lnTo>
                      <a:pt x="646" y="80"/>
                    </a:lnTo>
                    <a:lnTo>
                      <a:pt x="646" y="78"/>
                    </a:lnTo>
                    <a:lnTo>
                      <a:pt x="656" y="80"/>
                    </a:lnTo>
                    <a:lnTo>
                      <a:pt x="666" y="82"/>
                    </a:lnTo>
                    <a:lnTo>
                      <a:pt x="666" y="86"/>
                    </a:lnTo>
                    <a:lnTo>
                      <a:pt x="664" y="92"/>
                    </a:lnTo>
                    <a:lnTo>
                      <a:pt x="662" y="92"/>
                    </a:lnTo>
                    <a:lnTo>
                      <a:pt x="662" y="98"/>
                    </a:lnTo>
                    <a:lnTo>
                      <a:pt x="660" y="98"/>
                    </a:lnTo>
                    <a:lnTo>
                      <a:pt x="658" y="100"/>
                    </a:lnTo>
                    <a:lnTo>
                      <a:pt x="654" y="104"/>
                    </a:lnTo>
                    <a:lnTo>
                      <a:pt x="652" y="108"/>
                    </a:lnTo>
                    <a:lnTo>
                      <a:pt x="642" y="110"/>
                    </a:lnTo>
                    <a:lnTo>
                      <a:pt x="632" y="112"/>
                    </a:lnTo>
                    <a:lnTo>
                      <a:pt x="624" y="112"/>
                    </a:lnTo>
                    <a:lnTo>
                      <a:pt x="618" y="112"/>
                    </a:lnTo>
                    <a:lnTo>
                      <a:pt x="616" y="114"/>
                    </a:lnTo>
                    <a:lnTo>
                      <a:pt x="614" y="114"/>
                    </a:lnTo>
                    <a:lnTo>
                      <a:pt x="614" y="116"/>
                    </a:lnTo>
                    <a:lnTo>
                      <a:pt x="614" y="118"/>
                    </a:lnTo>
                    <a:lnTo>
                      <a:pt x="620" y="122"/>
                    </a:lnTo>
                    <a:lnTo>
                      <a:pt x="620" y="124"/>
                    </a:lnTo>
                    <a:lnTo>
                      <a:pt x="620" y="126"/>
                    </a:lnTo>
                    <a:lnTo>
                      <a:pt x="614" y="128"/>
                    </a:lnTo>
                    <a:lnTo>
                      <a:pt x="612" y="130"/>
                    </a:lnTo>
                    <a:lnTo>
                      <a:pt x="614" y="130"/>
                    </a:lnTo>
                    <a:lnTo>
                      <a:pt x="614" y="132"/>
                    </a:lnTo>
                    <a:lnTo>
                      <a:pt x="610" y="132"/>
                    </a:lnTo>
                    <a:lnTo>
                      <a:pt x="610" y="136"/>
                    </a:lnTo>
                    <a:lnTo>
                      <a:pt x="612" y="136"/>
                    </a:lnTo>
                    <a:lnTo>
                      <a:pt x="614" y="136"/>
                    </a:lnTo>
                    <a:lnTo>
                      <a:pt x="614" y="138"/>
                    </a:lnTo>
                    <a:lnTo>
                      <a:pt x="614" y="140"/>
                    </a:lnTo>
                    <a:lnTo>
                      <a:pt x="616" y="138"/>
                    </a:lnTo>
                    <a:lnTo>
                      <a:pt x="624" y="144"/>
                    </a:lnTo>
                    <a:lnTo>
                      <a:pt x="624" y="146"/>
                    </a:lnTo>
                    <a:lnTo>
                      <a:pt x="628" y="146"/>
                    </a:lnTo>
                    <a:lnTo>
                      <a:pt x="632" y="150"/>
                    </a:lnTo>
                    <a:lnTo>
                      <a:pt x="632" y="152"/>
                    </a:lnTo>
                    <a:lnTo>
                      <a:pt x="636" y="152"/>
                    </a:lnTo>
                    <a:lnTo>
                      <a:pt x="638" y="152"/>
                    </a:lnTo>
                    <a:lnTo>
                      <a:pt x="642" y="156"/>
                    </a:lnTo>
                    <a:lnTo>
                      <a:pt x="644" y="160"/>
                    </a:lnTo>
                    <a:lnTo>
                      <a:pt x="648" y="160"/>
                    </a:lnTo>
                    <a:lnTo>
                      <a:pt x="650" y="160"/>
                    </a:lnTo>
                    <a:lnTo>
                      <a:pt x="652" y="166"/>
                    </a:lnTo>
                    <a:lnTo>
                      <a:pt x="656" y="164"/>
                    </a:lnTo>
                    <a:lnTo>
                      <a:pt x="656" y="172"/>
                    </a:lnTo>
                    <a:lnTo>
                      <a:pt x="650" y="172"/>
                    </a:lnTo>
                    <a:lnTo>
                      <a:pt x="648" y="170"/>
                    </a:lnTo>
                    <a:lnTo>
                      <a:pt x="646" y="168"/>
                    </a:lnTo>
                    <a:lnTo>
                      <a:pt x="644" y="178"/>
                    </a:lnTo>
                    <a:lnTo>
                      <a:pt x="648" y="176"/>
                    </a:lnTo>
                    <a:lnTo>
                      <a:pt x="650" y="174"/>
                    </a:lnTo>
                    <a:lnTo>
                      <a:pt x="650" y="174"/>
                    </a:lnTo>
                    <a:lnTo>
                      <a:pt x="650" y="180"/>
                    </a:lnTo>
                    <a:lnTo>
                      <a:pt x="646" y="184"/>
                    </a:lnTo>
                    <a:lnTo>
                      <a:pt x="642" y="184"/>
                    </a:lnTo>
                    <a:lnTo>
                      <a:pt x="640" y="186"/>
                    </a:lnTo>
                    <a:lnTo>
                      <a:pt x="642" y="190"/>
                    </a:lnTo>
                    <a:lnTo>
                      <a:pt x="646" y="190"/>
                    </a:lnTo>
                    <a:lnTo>
                      <a:pt x="648" y="194"/>
                    </a:lnTo>
                    <a:lnTo>
                      <a:pt x="654" y="196"/>
                    </a:lnTo>
                    <a:lnTo>
                      <a:pt x="660" y="196"/>
                    </a:lnTo>
                    <a:lnTo>
                      <a:pt x="662" y="202"/>
                    </a:lnTo>
                    <a:lnTo>
                      <a:pt x="664" y="206"/>
                    </a:lnTo>
                    <a:lnTo>
                      <a:pt x="666" y="210"/>
                    </a:lnTo>
                    <a:lnTo>
                      <a:pt x="664" y="210"/>
                    </a:lnTo>
                    <a:lnTo>
                      <a:pt x="666" y="214"/>
                    </a:lnTo>
                    <a:lnTo>
                      <a:pt x="670" y="222"/>
                    </a:lnTo>
                    <a:lnTo>
                      <a:pt x="668" y="226"/>
                    </a:lnTo>
                    <a:lnTo>
                      <a:pt x="668" y="228"/>
                    </a:lnTo>
                    <a:lnTo>
                      <a:pt x="674" y="228"/>
                    </a:lnTo>
                    <a:lnTo>
                      <a:pt x="674" y="222"/>
                    </a:lnTo>
                    <a:lnTo>
                      <a:pt x="678" y="220"/>
                    </a:lnTo>
                    <a:lnTo>
                      <a:pt x="678" y="218"/>
                    </a:lnTo>
                    <a:lnTo>
                      <a:pt x="680" y="218"/>
                    </a:lnTo>
                    <a:lnTo>
                      <a:pt x="682" y="214"/>
                    </a:lnTo>
                    <a:lnTo>
                      <a:pt x="680" y="212"/>
                    </a:lnTo>
                    <a:lnTo>
                      <a:pt x="680" y="210"/>
                    </a:lnTo>
                    <a:lnTo>
                      <a:pt x="682" y="200"/>
                    </a:lnTo>
                    <a:lnTo>
                      <a:pt x="688" y="198"/>
                    </a:lnTo>
                    <a:lnTo>
                      <a:pt x="694" y="196"/>
                    </a:lnTo>
                    <a:lnTo>
                      <a:pt x="700" y="206"/>
                    </a:lnTo>
                    <a:lnTo>
                      <a:pt x="700" y="210"/>
                    </a:lnTo>
                    <a:lnTo>
                      <a:pt x="698" y="212"/>
                    </a:lnTo>
                    <a:lnTo>
                      <a:pt x="696" y="216"/>
                    </a:lnTo>
                    <a:lnTo>
                      <a:pt x="696" y="222"/>
                    </a:lnTo>
                    <a:lnTo>
                      <a:pt x="696" y="226"/>
                    </a:lnTo>
                    <a:lnTo>
                      <a:pt x="694" y="226"/>
                    </a:lnTo>
                    <a:lnTo>
                      <a:pt x="692" y="228"/>
                    </a:lnTo>
                    <a:lnTo>
                      <a:pt x="690" y="230"/>
                    </a:lnTo>
                    <a:lnTo>
                      <a:pt x="692" y="236"/>
                    </a:lnTo>
                    <a:lnTo>
                      <a:pt x="696" y="242"/>
                    </a:lnTo>
                    <a:lnTo>
                      <a:pt x="700" y="244"/>
                    </a:lnTo>
                    <a:lnTo>
                      <a:pt x="706" y="252"/>
                    </a:lnTo>
                    <a:lnTo>
                      <a:pt x="710" y="252"/>
                    </a:lnTo>
                    <a:lnTo>
                      <a:pt x="712" y="254"/>
                    </a:lnTo>
                    <a:lnTo>
                      <a:pt x="712" y="254"/>
                    </a:lnTo>
                    <a:lnTo>
                      <a:pt x="712" y="250"/>
                    </a:lnTo>
                    <a:lnTo>
                      <a:pt x="722" y="246"/>
                    </a:lnTo>
                    <a:lnTo>
                      <a:pt x="720" y="244"/>
                    </a:lnTo>
                    <a:lnTo>
                      <a:pt x="720" y="242"/>
                    </a:lnTo>
                    <a:lnTo>
                      <a:pt x="722" y="240"/>
                    </a:lnTo>
                    <a:lnTo>
                      <a:pt x="726" y="234"/>
                    </a:lnTo>
                    <a:lnTo>
                      <a:pt x="726" y="230"/>
                    </a:lnTo>
                    <a:lnTo>
                      <a:pt x="730" y="230"/>
                    </a:lnTo>
                    <a:lnTo>
                      <a:pt x="730" y="228"/>
                    </a:lnTo>
                    <a:lnTo>
                      <a:pt x="728" y="226"/>
                    </a:lnTo>
                    <a:lnTo>
                      <a:pt x="730" y="224"/>
                    </a:lnTo>
                    <a:lnTo>
                      <a:pt x="732" y="214"/>
                    </a:lnTo>
                    <a:lnTo>
                      <a:pt x="740" y="214"/>
                    </a:lnTo>
                    <a:lnTo>
                      <a:pt x="740" y="212"/>
                    </a:lnTo>
                    <a:lnTo>
                      <a:pt x="740" y="210"/>
                    </a:lnTo>
                    <a:lnTo>
                      <a:pt x="742" y="210"/>
                    </a:lnTo>
                    <a:lnTo>
                      <a:pt x="740" y="208"/>
                    </a:lnTo>
                    <a:lnTo>
                      <a:pt x="740" y="206"/>
                    </a:lnTo>
                    <a:lnTo>
                      <a:pt x="742" y="204"/>
                    </a:lnTo>
                    <a:lnTo>
                      <a:pt x="740" y="200"/>
                    </a:lnTo>
                    <a:lnTo>
                      <a:pt x="736" y="200"/>
                    </a:lnTo>
                    <a:lnTo>
                      <a:pt x="736" y="192"/>
                    </a:lnTo>
                    <a:lnTo>
                      <a:pt x="736" y="186"/>
                    </a:lnTo>
                    <a:lnTo>
                      <a:pt x="732" y="184"/>
                    </a:lnTo>
                    <a:lnTo>
                      <a:pt x="742" y="184"/>
                    </a:lnTo>
                    <a:lnTo>
                      <a:pt x="752" y="186"/>
                    </a:lnTo>
                    <a:lnTo>
                      <a:pt x="756" y="188"/>
                    </a:lnTo>
                    <a:lnTo>
                      <a:pt x="756" y="186"/>
                    </a:lnTo>
                    <a:lnTo>
                      <a:pt x="758" y="186"/>
                    </a:lnTo>
                    <a:lnTo>
                      <a:pt x="768" y="186"/>
                    </a:lnTo>
                    <a:lnTo>
                      <a:pt x="768" y="186"/>
                    </a:lnTo>
                    <a:lnTo>
                      <a:pt x="766" y="188"/>
                    </a:lnTo>
                    <a:lnTo>
                      <a:pt x="772" y="192"/>
                    </a:lnTo>
                    <a:lnTo>
                      <a:pt x="770" y="192"/>
                    </a:lnTo>
                    <a:lnTo>
                      <a:pt x="770" y="194"/>
                    </a:lnTo>
                    <a:lnTo>
                      <a:pt x="772" y="200"/>
                    </a:lnTo>
                    <a:lnTo>
                      <a:pt x="776" y="198"/>
                    </a:lnTo>
                    <a:lnTo>
                      <a:pt x="782" y="198"/>
                    </a:lnTo>
                    <a:lnTo>
                      <a:pt x="784" y="198"/>
                    </a:lnTo>
                    <a:lnTo>
                      <a:pt x="784" y="200"/>
                    </a:lnTo>
                    <a:lnTo>
                      <a:pt x="782" y="204"/>
                    </a:lnTo>
                    <a:lnTo>
                      <a:pt x="776" y="212"/>
                    </a:lnTo>
                    <a:lnTo>
                      <a:pt x="776" y="214"/>
                    </a:lnTo>
                    <a:lnTo>
                      <a:pt x="782" y="214"/>
                    </a:lnTo>
                    <a:lnTo>
                      <a:pt x="780" y="220"/>
                    </a:lnTo>
                    <a:lnTo>
                      <a:pt x="778" y="220"/>
                    </a:lnTo>
                    <a:lnTo>
                      <a:pt x="774" y="222"/>
                    </a:lnTo>
                    <a:lnTo>
                      <a:pt x="774" y="224"/>
                    </a:lnTo>
                    <a:lnTo>
                      <a:pt x="774" y="226"/>
                    </a:lnTo>
                    <a:lnTo>
                      <a:pt x="774" y="228"/>
                    </a:lnTo>
                    <a:lnTo>
                      <a:pt x="774" y="230"/>
                    </a:lnTo>
                    <a:lnTo>
                      <a:pt x="780" y="240"/>
                    </a:lnTo>
                    <a:lnTo>
                      <a:pt x="782" y="242"/>
                    </a:lnTo>
                    <a:lnTo>
                      <a:pt x="784" y="242"/>
                    </a:lnTo>
                    <a:lnTo>
                      <a:pt x="786" y="242"/>
                    </a:lnTo>
                    <a:lnTo>
                      <a:pt x="788" y="244"/>
                    </a:lnTo>
                    <a:lnTo>
                      <a:pt x="790" y="244"/>
                    </a:lnTo>
                    <a:lnTo>
                      <a:pt x="790" y="248"/>
                    </a:lnTo>
                    <a:lnTo>
                      <a:pt x="788" y="254"/>
                    </a:lnTo>
                    <a:lnTo>
                      <a:pt x="784" y="258"/>
                    </a:lnTo>
                    <a:lnTo>
                      <a:pt x="780" y="258"/>
                    </a:lnTo>
                    <a:lnTo>
                      <a:pt x="776" y="258"/>
                    </a:lnTo>
                    <a:lnTo>
                      <a:pt x="770" y="264"/>
                    </a:lnTo>
                    <a:lnTo>
                      <a:pt x="766" y="264"/>
                    </a:lnTo>
                    <a:lnTo>
                      <a:pt x="764" y="266"/>
                    </a:lnTo>
                    <a:lnTo>
                      <a:pt x="760" y="272"/>
                    </a:lnTo>
                    <a:lnTo>
                      <a:pt x="756" y="276"/>
                    </a:lnTo>
                    <a:lnTo>
                      <a:pt x="754" y="276"/>
                    </a:lnTo>
                    <a:lnTo>
                      <a:pt x="752" y="272"/>
                    </a:lnTo>
                    <a:lnTo>
                      <a:pt x="750" y="272"/>
                    </a:lnTo>
                    <a:lnTo>
                      <a:pt x="746" y="270"/>
                    </a:lnTo>
                    <a:lnTo>
                      <a:pt x="746" y="268"/>
                    </a:lnTo>
                    <a:lnTo>
                      <a:pt x="744" y="264"/>
                    </a:lnTo>
                    <a:lnTo>
                      <a:pt x="742" y="266"/>
                    </a:lnTo>
                    <a:lnTo>
                      <a:pt x="740" y="262"/>
                    </a:lnTo>
                    <a:lnTo>
                      <a:pt x="738" y="262"/>
                    </a:lnTo>
                    <a:lnTo>
                      <a:pt x="738" y="264"/>
                    </a:lnTo>
                    <a:lnTo>
                      <a:pt x="734" y="266"/>
                    </a:lnTo>
                    <a:lnTo>
                      <a:pt x="736" y="266"/>
                    </a:lnTo>
                    <a:lnTo>
                      <a:pt x="738" y="266"/>
                    </a:lnTo>
                    <a:lnTo>
                      <a:pt x="740" y="268"/>
                    </a:lnTo>
                    <a:lnTo>
                      <a:pt x="740" y="270"/>
                    </a:lnTo>
                    <a:lnTo>
                      <a:pt x="742" y="272"/>
                    </a:lnTo>
                    <a:lnTo>
                      <a:pt x="744" y="272"/>
                    </a:lnTo>
                    <a:lnTo>
                      <a:pt x="746" y="274"/>
                    </a:lnTo>
                    <a:lnTo>
                      <a:pt x="746" y="276"/>
                    </a:lnTo>
                    <a:lnTo>
                      <a:pt x="748" y="276"/>
                    </a:lnTo>
                    <a:lnTo>
                      <a:pt x="750" y="278"/>
                    </a:lnTo>
                    <a:lnTo>
                      <a:pt x="742" y="280"/>
                    </a:lnTo>
                    <a:lnTo>
                      <a:pt x="742" y="282"/>
                    </a:lnTo>
                    <a:lnTo>
                      <a:pt x="736" y="280"/>
                    </a:lnTo>
                    <a:lnTo>
                      <a:pt x="726" y="272"/>
                    </a:lnTo>
                    <a:lnTo>
                      <a:pt x="714" y="274"/>
                    </a:lnTo>
                    <a:lnTo>
                      <a:pt x="720" y="280"/>
                    </a:lnTo>
                    <a:lnTo>
                      <a:pt x="720" y="284"/>
                    </a:lnTo>
                    <a:lnTo>
                      <a:pt x="718" y="286"/>
                    </a:lnTo>
                    <a:lnTo>
                      <a:pt x="714" y="292"/>
                    </a:lnTo>
                    <a:lnTo>
                      <a:pt x="714" y="294"/>
                    </a:lnTo>
                    <a:lnTo>
                      <a:pt x="714" y="296"/>
                    </a:lnTo>
                    <a:lnTo>
                      <a:pt x="712" y="298"/>
                    </a:lnTo>
                    <a:lnTo>
                      <a:pt x="702" y="288"/>
                    </a:lnTo>
                    <a:lnTo>
                      <a:pt x="700" y="288"/>
                    </a:lnTo>
                    <a:lnTo>
                      <a:pt x="698" y="290"/>
                    </a:lnTo>
                    <a:lnTo>
                      <a:pt x="692" y="286"/>
                    </a:lnTo>
                    <a:lnTo>
                      <a:pt x="690" y="286"/>
                    </a:lnTo>
                    <a:lnTo>
                      <a:pt x="688" y="288"/>
                    </a:lnTo>
                    <a:lnTo>
                      <a:pt x="684" y="288"/>
                    </a:lnTo>
                    <a:lnTo>
                      <a:pt x="682" y="286"/>
                    </a:lnTo>
                    <a:lnTo>
                      <a:pt x="678" y="284"/>
                    </a:lnTo>
                    <a:lnTo>
                      <a:pt x="676" y="290"/>
                    </a:lnTo>
                    <a:lnTo>
                      <a:pt x="678" y="290"/>
                    </a:lnTo>
                    <a:lnTo>
                      <a:pt x="678" y="292"/>
                    </a:lnTo>
                    <a:lnTo>
                      <a:pt x="672" y="294"/>
                    </a:lnTo>
                    <a:lnTo>
                      <a:pt x="666" y="294"/>
                    </a:lnTo>
                    <a:lnTo>
                      <a:pt x="664" y="296"/>
                    </a:lnTo>
                    <a:lnTo>
                      <a:pt x="678" y="296"/>
                    </a:lnTo>
                    <a:lnTo>
                      <a:pt x="694" y="296"/>
                    </a:lnTo>
                    <a:lnTo>
                      <a:pt x="702" y="298"/>
                    </a:lnTo>
                    <a:lnTo>
                      <a:pt x="710" y="300"/>
                    </a:lnTo>
                    <a:lnTo>
                      <a:pt x="708" y="300"/>
                    </a:lnTo>
                    <a:lnTo>
                      <a:pt x="706" y="304"/>
                    </a:lnTo>
                    <a:lnTo>
                      <a:pt x="706" y="312"/>
                    </a:lnTo>
                    <a:lnTo>
                      <a:pt x="700" y="316"/>
                    </a:lnTo>
                    <a:lnTo>
                      <a:pt x="696" y="318"/>
                    </a:lnTo>
                    <a:lnTo>
                      <a:pt x="694" y="318"/>
                    </a:lnTo>
                    <a:lnTo>
                      <a:pt x="692" y="322"/>
                    </a:lnTo>
                    <a:lnTo>
                      <a:pt x="692" y="320"/>
                    </a:lnTo>
                    <a:lnTo>
                      <a:pt x="690" y="320"/>
                    </a:lnTo>
                    <a:lnTo>
                      <a:pt x="690" y="318"/>
                    </a:lnTo>
                    <a:lnTo>
                      <a:pt x="678" y="314"/>
                    </a:lnTo>
                    <a:lnTo>
                      <a:pt x="676" y="316"/>
                    </a:lnTo>
                    <a:lnTo>
                      <a:pt x="676" y="318"/>
                    </a:lnTo>
                    <a:lnTo>
                      <a:pt x="670" y="318"/>
                    </a:lnTo>
                    <a:lnTo>
                      <a:pt x="668" y="324"/>
                    </a:lnTo>
                    <a:lnTo>
                      <a:pt x="668" y="326"/>
                    </a:lnTo>
                    <a:lnTo>
                      <a:pt x="670" y="328"/>
                    </a:lnTo>
                    <a:lnTo>
                      <a:pt x="670" y="330"/>
                    </a:lnTo>
                    <a:lnTo>
                      <a:pt x="670" y="332"/>
                    </a:lnTo>
                    <a:lnTo>
                      <a:pt x="668" y="332"/>
                    </a:lnTo>
                    <a:lnTo>
                      <a:pt x="666" y="334"/>
                    </a:lnTo>
                    <a:lnTo>
                      <a:pt x="660" y="334"/>
                    </a:lnTo>
                    <a:lnTo>
                      <a:pt x="660" y="340"/>
                    </a:lnTo>
                    <a:lnTo>
                      <a:pt x="664" y="340"/>
                    </a:lnTo>
                    <a:lnTo>
                      <a:pt x="664" y="346"/>
                    </a:lnTo>
                    <a:lnTo>
                      <a:pt x="664" y="348"/>
                    </a:lnTo>
                    <a:lnTo>
                      <a:pt x="662" y="350"/>
                    </a:lnTo>
                    <a:lnTo>
                      <a:pt x="654" y="352"/>
                    </a:lnTo>
                    <a:lnTo>
                      <a:pt x="646" y="350"/>
                    </a:lnTo>
                    <a:lnTo>
                      <a:pt x="646" y="354"/>
                    </a:lnTo>
                    <a:lnTo>
                      <a:pt x="650" y="354"/>
                    </a:lnTo>
                    <a:lnTo>
                      <a:pt x="648" y="358"/>
                    </a:lnTo>
                    <a:lnTo>
                      <a:pt x="642" y="358"/>
                    </a:lnTo>
                    <a:lnTo>
                      <a:pt x="644" y="358"/>
                    </a:lnTo>
                    <a:lnTo>
                      <a:pt x="646" y="358"/>
                    </a:lnTo>
                    <a:lnTo>
                      <a:pt x="646" y="360"/>
                    </a:lnTo>
                    <a:lnTo>
                      <a:pt x="640" y="360"/>
                    </a:lnTo>
                    <a:lnTo>
                      <a:pt x="642" y="358"/>
                    </a:lnTo>
                    <a:lnTo>
                      <a:pt x="640" y="358"/>
                    </a:lnTo>
                    <a:lnTo>
                      <a:pt x="638" y="358"/>
                    </a:lnTo>
                    <a:lnTo>
                      <a:pt x="638" y="362"/>
                    </a:lnTo>
                    <a:lnTo>
                      <a:pt x="634" y="362"/>
                    </a:lnTo>
                    <a:lnTo>
                      <a:pt x="634" y="372"/>
                    </a:lnTo>
                    <a:lnTo>
                      <a:pt x="626" y="372"/>
                    </a:lnTo>
                    <a:lnTo>
                      <a:pt x="626" y="376"/>
                    </a:lnTo>
                    <a:lnTo>
                      <a:pt x="622" y="380"/>
                    </a:lnTo>
                    <a:lnTo>
                      <a:pt x="616" y="384"/>
                    </a:lnTo>
                    <a:lnTo>
                      <a:pt x="618" y="388"/>
                    </a:lnTo>
                    <a:lnTo>
                      <a:pt x="620" y="392"/>
                    </a:lnTo>
                    <a:lnTo>
                      <a:pt x="610" y="392"/>
                    </a:lnTo>
                    <a:lnTo>
                      <a:pt x="608" y="394"/>
                    </a:lnTo>
                    <a:lnTo>
                      <a:pt x="612" y="396"/>
                    </a:lnTo>
                    <a:lnTo>
                      <a:pt x="612" y="400"/>
                    </a:lnTo>
                    <a:lnTo>
                      <a:pt x="606" y="406"/>
                    </a:lnTo>
                    <a:lnTo>
                      <a:pt x="606" y="410"/>
                    </a:lnTo>
                    <a:lnTo>
                      <a:pt x="606" y="414"/>
                    </a:lnTo>
                    <a:lnTo>
                      <a:pt x="602" y="414"/>
                    </a:lnTo>
                    <a:lnTo>
                      <a:pt x="606" y="420"/>
                    </a:lnTo>
                    <a:lnTo>
                      <a:pt x="608" y="424"/>
                    </a:lnTo>
                    <a:lnTo>
                      <a:pt x="608" y="430"/>
                    </a:lnTo>
                    <a:lnTo>
                      <a:pt x="610" y="432"/>
                    </a:lnTo>
                    <a:lnTo>
                      <a:pt x="616" y="432"/>
                    </a:lnTo>
                    <a:lnTo>
                      <a:pt x="628" y="432"/>
                    </a:lnTo>
                    <a:lnTo>
                      <a:pt x="634" y="440"/>
                    </a:lnTo>
                    <a:lnTo>
                      <a:pt x="634" y="444"/>
                    </a:lnTo>
                    <a:lnTo>
                      <a:pt x="636" y="446"/>
                    </a:lnTo>
                    <a:lnTo>
                      <a:pt x="636" y="452"/>
                    </a:lnTo>
                    <a:lnTo>
                      <a:pt x="640" y="458"/>
                    </a:lnTo>
                    <a:lnTo>
                      <a:pt x="642" y="464"/>
                    </a:lnTo>
                    <a:lnTo>
                      <a:pt x="642" y="470"/>
                    </a:lnTo>
                    <a:lnTo>
                      <a:pt x="650" y="466"/>
                    </a:lnTo>
                    <a:lnTo>
                      <a:pt x="656" y="464"/>
                    </a:lnTo>
                    <a:lnTo>
                      <a:pt x="660" y="464"/>
                    </a:lnTo>
                    <a:lnTo>
                      <a:pt x="668" y="470"/>
                    </a:lnTo>
                    <a:lnTo>
                      <a:pt x="672" y="470"/>
                    </a:lnTo>
                    <a:lnTo>
                      <a:pt x="676" y="472"/>
                    </a:lnTo>
                    <a:lnTo>
                      <a:pt x="680" y="474"/>
                    </a:lnTo>
                    <a:lnTo>
                      <a:pt x="686" y="474"/>
                    </a:lnTo>
                    <a:lnTo>
                      <a:pt x="688" y="476"/>
                    </a:lnTo>
                    <a:lnTo>
                      <a:pt x="690" y="478"/>
                    </a:lnTo>
                    <a:lnTo>
                      <a:pt x="694" y="480"/>
                    </a:lnTo>
                    <a:lnTo>
                      <a:pt x="698" y="480"/>
                    </a:lnTo>
                    <a:lnTo>
                      <a:pt x="698" y="482"/>
                    </a:lnTo>
                    <a:lnTo>
                      <a:pt x="700" y="486"/>
                    </a:lnTo>
                    <a:lnTo>
                      <a:pt x="702" y="488"/>
                    </a:lnTo>
                    <a:lnTo>
                      <a:pt x="702" y="494"/>
                    </a:lnTo>
                    <a:lnTo>
                      <a:pt x="706" y="494"/>
                    </a:lnTo>
                    <a:lnTo>
                      <a:pt x="710" y="494"/>
                    </a:lnTo>
                    <a:lnTo>
                      <a:pt x="712" y="498"/>
                    </a:lnTo>
                    <a:lnTo>
                      <a:pt x="714" y="500"/>
                    </a:lnTo>
                    <a:lnTo>
                      <a:pt x="718" y="500"/>
                    </a:lnTo>
                    <a:lnTo>
                      <a:pt x="724" y="500"/>
                    </a:lnTo>
                    <a:lnTo>
                      <a:pt x="726" y="504"/>
                    </a:lnTo>
                    <a:lnTo>
                      <a:pt x="728" y="506"/>
                    </a:lnTo>
                    <a:lnTo>
                      <a:pt x="732" y="506"/>
                    </a:lnTo>
                    <a:lnTo>
                      <a:pt x="732" y="508"/>
                    </a:lnTo>
                    <a:lnTo>
                      <a:pt x="738" y="510"/>
                    </a:lnTo>
                    <a:lnTo>
                      <a:pt x="742" y="512"/>
                    </a:lnTo>
                    <a:lnTo>
                      <a:pt x="746" y="510"/>
                    </a:lnTo>
                    <a:lnTo>
                      <a:pt x="754" y="510"/>
                    </a:lnTo>
                    <a:lnTo>
                      <a:pt x="758" y="512"/>
                    </a:lnTo>
                    <a:lnTo>
                      <a:pt x="760" y="512"/>
                    </a:lnTo>
                    <a:lnTo>
                      <a:pt x="764" y="512"/>
                    </a:lnTo>
                    <a:lnTo>
                      <a:pt x="772" y="516"/>
                    </a:lnTo>
                    <a:lnTo>
                      <a:pt x="772" y="526"/>
                    </a:lnTo>
                    <a:lnTo>
                      <a:pt x="772" y="528"/>
                    </a:lnTo>
                    <a:lnTo>
                      <a:pt x="770" y="532"/>
                    </a:lnTo>
                    <a:lnTo>
                      <a:pt x="772" y="536"/>
                    </a:lnTo>
                    <a:lnTo>
                      <a:pt x="772" y="548"/>
                    </a:lnTo>
                    <a:lnTo>
                      <a:pt x="772" y="560"/>
                    </a:lnTo>
                    <a:lnTo>
                      <a:pt x="774" y="560"/>
                    </a:lnTo>
                    <a:lnTo>
                      <a:pt x="778" y="564"/>
                    </a:lnTo>
                    <a:lnTo>
                      <a:pt x="780" y="570"/>
                    </a:lnTo>
                    <a:lnTo>
                      <a:pt x="778" y="572"/>
                    </a:lnTo>
                    <a:lnTo>
                      <a:pt x="778" y="574"/>
                    </a:lnTo>
                    <a:lnTo>
                      <a:pt x="788" y="580"/>
                    </a:lnTo>
                    <a:lnTo>
                      <a:pt x="790" y="584"/>
                    </a:lnTo>
                    <a:lnTo>
                      <a:pt x="792" y="586"/>
                    </a:lnTo>
                    <a:lnTo>
                      <a:pt x="792" y="588"/>
                    </a:lnTo>
                    <a:lnTo>
                      <a:pt x="804" y="588"/>
                    </a:lnTo>
                    <a:lnTo>
                      <a:pt x="804" y="586"/>
                    </a:lnTo>
                    <a:lnTo>
                      <a:pt x="806" y="586"/>
                    </a:lnTo>
                    <a:lnTo>
                      <a:pt x="808" y="584"/>
                    </a:lnTo>
                    <a:lnTo>
                      <a:pt x="810" y="584"/>
                    </a:lnTo>
                    <a:lnTo>
                      <a:pt x="814" y="584"/>
                    </a:lnTo>
                    <a:lnTo>
                      <a:pt x="814" y="582"/>
                    </a:lnTo>
                    <a:lnTo>
                      <a:pt x="812" y="578"/>
                    </a:lnTo>
                    <a:lnTo>
                      <a:pt x="818" y="568"/>
                    </a:lnTo>
                    <a:lnTo>
                      <a:pt x="820" y="568"/>
                    </a:lnTo>
                    <a:lnTo>
                      <a:pt x="818" y="568"/>
                    </a:lnTo>
                    <a:lnTo>
                      <a:pt x="816" y="568"/>
                    </a:lnTo>
                    <a:lnTo>
                      <a:pt x="816" y="566"/>
                    </a:lnTo>
                    <a:lnTo>
                      <a:pt x="816" y="564"/>
                    </a:lnTo>
                    <a:lnTo>
                      <a:pt x="816" y="562"/>
                    </a:lnTo>
                    <a:lnTo>
                      <a:pt x="816" y="560"/>
                    </a:lnTo>
                    <a:lnTo>
                      <a:pt x="814" y="560"/>
                    </a:lnTo>
                    <a:lnTo>
                      <a:pt x="814" y="548"/>
                    </a:lnTo>
                    <a:lnTo>
                      <a:pt x="814" y="544"/>
                    </a:lnTo>
                    <a:lnTo>
                      <a:pt x="814" y="538"/>
                    </a:lnTo>
                    <a:lnTo>
                      <a:pt x="808" y="534"/>
                    </a:lnTo>
                    <a:lnTo>
                      <a:pt x="808" y="528"/>
                    </a:lnTo>
                    <a:lnTo>
                      <a:pt x="808" y="524"/>
                    </a:lnTo>
                    <a:lnTo>
                      <a:pt x="808" y="522"/>
                    </a:lnTo>
                    <a:lnTo>
                      <a:pt x="812" y="520"/>
                    </a:lnTo>
                    <a:lnTo>
                      <a:pt x="816" y="520"/>
                    </a:lnTo>
                    <a:lnTo>
                      <a:pt x="820" y="516"/>
                    </a:lnTo>
                    <a:lnTo>
                      <a:pt x="822" y="516"/>
                    </a:lnTo>
                    <a:lnTo>
                      <a:pt x="824" y="514"/>
                    </a:lnTo>
                    <a:lnTo>
                      <a:pt x="826" y="512"/>
                    </a:lnTo>
                    <a:lnTo>
                      <a:pt x="828" y="510"/>
                    </a:lnTo>
                    <a:lnTo>
                      <a:pt x="832" y="506"/>
                    </a:lnTo>
                    <a:lnTo>
                      <a:pt x="832" y="502"/>
                    </a:lnTo>
                    <a:lnTo>
                      <a:pt x="836" y="498"/>
                    </a:lnTo>
                    <a:lnTo>
                      <a:pt x="838" y="496"/>
                    </a:lnTo>
                    <a:lnTo>
                      <a:pt x="840" y="492"/>
                    </a:lnTo>
                    <a:lnTo>
                      <a:pt x="846" y="490"/>
                    </a:lnTo>
                    <a:lnTo>
                      <a:pt x="844" y="482"/>
                    </a:lnTo>
                    <a:lnTo>
                      <a:pt x="844" y="484"/>
                    </a:lnTo>
                    <a:lnTo>
                      <a:pt x="842" y="488"/>
                    </a:lnTo>
                    <a:lnTo>
                      <a:pt x="840" y="488"/>
                    </a:lnTo>
                    <a:lnTo>
                      <a:pt x="842" y="478"/>
                    </a:lnTo>
                    <a:lnTo>
                      <a:pt x="844" y="472"/>
                    </a:lnTo>
                    <a:lnTo>
                      <a:pt x="842" y="470"/>
                    </a:lnTo>
                    <a:lnTo>
                      <a:pt x="838" y="468"/>
                    </a:lnTo>
                    <a:lnTo>
                      <a:pt x="836" y="462"/>
                    </a:lnTo>
                    <a:lnTo>
                      <a:pt x="836" y="456"/>
                    </a:lnTo>
                    <a:lnTo>
                      <a:pt x="832" y="454"/>
                    </a:lnTo>
                    <a:lnTo>
                      <a:pt x="832" y="448"/>
                    </a:lnTo>
                    <a:lnTo>
                      <a:pt x="832" y="446"/>
                    </a:lnTo>
                    <a:lnTo>
                      <a:pt x="830" y="442"/>
                    </a:lnTo>
                    <a:lnTo>
                      <a:pt x="828" y="442"/>
                    </a:lnTo>
                    <a:lnTo>
                      <a:pt x="826" y="440"/>
                    </a:lnTo>
                    <a:lnTo>
                      <a:pt x="824" y="438"/>
                    </a:lnTo>
                    <a:lnTo>
                      <a:pt x="822" y="436"/>
                    </a:lnTo>
                    <a:lnTo>
                      <a:pt x="820" y="434"/>
                    </a:lnTo>
                    <a:lnTo>
                      <a:pt x="816" y="434"/>
                    </a:lnTo>
                    <a:lnTo>
                      <a:pt x="816" y="432"/>
                    </a:lnTo>
                    <a:lnTo>
                      <a:pt x="814" y="432"/>
                    </a:lnTo>
                    <a:lnTo>
                      <a:pt x="816" y="426"/>
                    </a:lnTo>
                    <a:lnTo>
                      <a:pt x="820" y="422"/>
                    </a:lnTo>
                    <a:lnTo>
                      <a:pt x="822" y="420"/>
                    </a:lnTo>
                    <a:lnTo>
                      <a:pt x="828" y="420"/>
                    </a:lnTo>
                    <a:lnTo>
                      <a:pt x="828" y="414"/>
                    </a:lnTo>
                    <a:lnTo>
                      <a:pt x="828" y="414"/>
                    </a:lnTo>
                    <a:lnTo>
                      <a:pt x="828" y="412"/>
                    </a:lnTo>
                    <a:lnTo>
                      <a:pt x="832" y="414"/>
                    </a:lnTo>
                    <a:lnTo>
                      <a:pt x="832" y="412"/>
                    </a:lnTo>
                    <a:lnTo>
                      <a:pt x="832" y="410"/>
                    </a:lnTo>
                    <a:lnTo>
                      <a:pt x="832" y="410"/>
                    </a:lnTo>
                    <a:lnTo>
                      <a:pt x="832" y="406"/>
                    </a:lnTo>
                    <a:lnTo>
                      <a:pt x="830" y="404"/>
                    </a:lnTo>
                    <a:lnTo>
                      <a:pt x="832" y="402"/>
                    </a:lnTo>
                    <a:lnTo>
                      <a:pt x="830" y="396"/>
                    </a:lnTo>
                    <a:lnTo>
                      <a:pt x="828" y="392"/>
                    </a:lnTo>
                    <a:lnTo>
                      <a:pt x="832" y="388"/>
                    </a:lnTo>
                    <a:lnTo>
                      <a:pt x="828" y="388"/>
                    </a:lnTo>
                    <a:lnTo>
                      <a:pt x="826" y="384"/>
                    </a:lnTo>
                    <a:lnTo>
                      <a:pt x="832" y="374"/>
                    </a:lnTo>
                    <a:lnTo>
                      <a:pt x="832" y="370"/>
                    </a:lnTo>
                    <a:lnTo>
                      <a:pt x="832" y="370"/>
                    </a:lnTo>
                    <a:lnTo>
                      <a:pt x="832" y="366"/>
                    </a:lnTo>
                    <a:lnTo>
                      <a:pt x="830" y="366"/>
                    </a:lnTo>
                    <a:lnTo>
                      <a:pt x="828" y="362"/>
                    </a:lnTo>
                    <a:lnTo>
                      <a:pt x="828" y="360"/>
                    </a:lnTo>
                    <a:lnTo>
                      <a:pt x="828" y="358"/>
                    </a:lnTo>
                    <a:lnTo>
                      <a:pt x="832" y="358"/>
                    </a:lnTo>
                    <a:lnTo>
                      <a:pt x="834" y="358"/>
                    </a:lnTo>
                    <a:lnTo>
                      <a:pt x="838" y="358"/>
                    </a:lnTo>
                    <a:lnTo>
                      <a:pt x="842" y="358"/>
                    </a:lnTo>
                    <a:lnTo>
                      <a:pt x="846" y="358"/>
                    </a:lnTo>
                    <a:lnTo>
                      <a:pt x="850" y="360"/>
                    </a:lnTo>
                    <a:lnTo>
                      <a:pt x="856" y="358"/>
                    </a:lnTo>
                    <a:lnTo>
                      <a:pt x="862" y="358"/>
                    </a:lnTo>
                    <a:lnTo>
                      <a:pt x="866" y="360"/>
                    </a:lnTo>
                    <a:lnTo>
                      <a:pt x="872" y="360"/>
                    </a:lnTo>
                    <a:lnTo>
                      <a:pt x="878" y="358"/>
                    </a:lnTo>
                    <a:lnTo>
                      <a:pt x="886" y="352"/>
                    </a:lnTo>
                    <a:lnTo>
                      <a:pt x="886" y="356"/>
                    </a:lnTo>
                    <a:lnTo>
                      <a:pt x="890" y="356"/>
                    </a:lnTo>
                    <a:lnTo>
                      <a:pt x="894" y="358"/>
                    </a:lnTo>
                    <a:lnTo>
                      <a:pt x="896" y="360"/>
                    </a:lnTo>
                    <a:lnTo>
                      <a:pt x="898" y="360"/>
                    </a:lnTo>
                    <a:lnTo>
                      <a:pt x="898" y="364"/>
                    </a:lnTo>
                    <a:lnTo>
                      <a:pt x="902" y="366"/>
                    </a:lnTo>
                    <a:lnTo>
                      <a:pt x="904" y="366"/>
                    </a:lnTo>
                    <a:lnTo>
                      <a:pt x="906" y="372"/>
                    </a:lnTo>
                    <a:lnTo>
                      <a:pt x="908" y="372"/>
                    </a:lnTo>
                    <a:lnTo>
                      <a:pt x="910" y="378"/>
                    </a:lnTo>
                    <a:lnTo>
                      <a:pt x="930" y="378"/>
                    </a:lnTo>
                    <a:lnTo>
                      <a:pt x="930" y="380"/>
                    </a:lnTo>
                    <a:lnTo>
                      <a:pt x="926" y="384"/>
                    </a:lnTo>
                    <a:lnTo>
                      <a:pt x="934" y="386"/>
                    </a:lnTo>
                    <a:lnTo>
                      <a:pt x="936" y="388"/>
                    </a:lnTo>
                    <a:lnTo>
                      <a:pt x="938" y="384"/>
                    </a:lnTo>
                    <a:lnTo>
                      <a:pt x="942" y="384"/>
                    </a:lnTo>
                    <a:lnTo>
                      <a:pt x="936" y="392"/>
                    </a:lnTo>
                    <a:lnTo>
                      <a:pt x="936" y="396"/>
                    </a:lnTo>
                    <a:lnTo>
                      <a:pt x="936" y="398"/>
                    </a:lnTo>
                    <a:lnTo>
                      <a:pt x="938" y="398"/>
                    </a:lnTo>
                    <a:lnTo>
                      <a:pt x="938" y="400"/>
                    </a:lnTo>
                    <a:lnTo>
                      <a:pt x="932" y="402"/>
                    </a:lnTo>
                    <a:lnTo>
                      <a:pt x="932" y="404"/>
                    </a:lnTo>
                    <a:lnTo>
                      <a:pt x="932" y="408"/>
                    </a:lnTo>
                    <a:lnTo>
                      <a:pt x="936" y="410"/>
                    </a:lnTo>
                    <a:lnTo>
                      <a:pt x="936" y="414"/>
                    </a:lnTo>
                    <a:lnTo>
                      <a:pt x="936" y="416"/>
                    </a:lnTo>
                    <a:lnTo>
                      <a:pt x="934" y="418"/>
                    </a:lnTo>
                    <a:lnTo>
                      <a:pt x="934" y="420"/>
                    </a:lnTo>
                    <a:lnTo>
                      <a:pt x="934" y="422"/>
                    </a:lnTo>
                    <a:lnTo>
                      <a:pt x="940" y="426"/>
                    </a:lnTo>
                    <a:lnTo>
                      <a:pt x="942" y="426"/>
                    </a:lnTo>
                    <a:lnTo>
                      <a:pt x="944" y="426"/>
                    </a:lnTo>
                    <a:lnTo>
                      <a:pt x="944" y="428"/>
                    </a:lnTo>
                    <a:lnTo>
                      <a:pt x="954" y="428"/>
                    </a:lnTo>
                    <a:lnTo>
                      <a:pt x="954" y="438"/>
                    </a:lnTo>
                    <a:lnTo>
                      <a:pt x="958" y="436"/>
                    </a:lnTo>
                    <a:lnTo>
                      <a:pt x="958" y="434"/>
                    </a:lnTo>
                    <a:lnTo>
                      <a:pt x="960" y="434"/>
                    </a:lnTo>
                    <a:lnTo>
                      <a:pt x="960" y="438"/>
                    </a:lnTo>
                    <a:lnTo>
                      <a:pt x="962" y="438"/>
                    </a:lnTo>
                    <a:lnTo>
                      <a:pt x="966" y="444"/>
                    </a:lnTo>
                    <a:lnTo>
                      <a:pt x="968" y="442"/>
                    </a:lnTo>
                    <a:lnTo>
                      <a:pt x="972" y="442"/>
                    </a:lnTo>
                    <a:lnTo>
                      <a:pt x="974" y="440"/>
                    </a:lnTo>
                    <a:lnTo>
                      <a:pt x="976" y="438"/>
                    </a:lnTo>
                    <a:lnTo>
                      <a:pt x="978" y="432"/>
                    </a:lnTo>
                    <a:lnTo>
                      <a:pt x="980" y="432"/>
                    </a:lnTo>
                    <a:lnTo>
                      <a:pt x="982" y="434"/>
                    </a:lnTo>
                    <a:lnTo>
                      <a:pt x="982" y="428"/>
                    </a:lnTo>
                    <a:lnTo>
                      <a:pt x="986" y="424"/>
                    </a:lnTo>
                    <a:lnTo>
                      <a:pt x="990" y="420"/>
                    </a:lnTo>
                    <a:lnTo>
                      <a:pt x="992" y="418"/>
                    </a:lnTo>
                    <a:lnTo>
                      <a:pt x="990" y="416"/>
                    </a:lnTo>
                    <a:lnTo>
                      <a:pt x="990" y="414"/>
                    </a:lnTo>
                    <a:lnTo>
                      <a:pt x="990" y="414"/>
                    </a:lnTo>
                    <a:lnTo>
                      <a:pt x="994" y="412"/>
                    </a:lnTo>
                    <a:lnTo>
                      <a:pt x="994" y="410"/>
                    </a:lnTo>
                    <a:lnTo>
                      <a:pt x="994" y="406"/>
                    </a:lnTo>
                    <a:lnTo>
                      <a:pt x="996" y="406"/>
                    </a:lnTo>
                    <a:lnTo>
                      <a:pt x="998" y="398"/>
                    </a:lnTo>
                    <a:lnTo>
                      <a:pt x="1004" y="398"/>
                    </a:lnTo>
                    <a:lnTo>
                      <a:pt x="1004" y="408"/>
                    </a:lnTo>
                    <a:lnTo>
                      <a:pt x="1006" y="408"/>
                    </a:lnTo>
                    <a:lnTo>
                      <a:pt x="1006" y="412"/>
                    </a:lnTo>
                    <a:lnTo>
                      <a:pt x="1004" y="414"/>
                    </a:lnTo>
                    <a:lnTo>
                      <a:pt x="1006" y="418"/>
                    </a:lnTo>
                    <a:lnTo>
                      <a:pt x="1006" y="424"/>
                    </a:lnTo>
                    <a:lnTo>
                      <a:pt x="1008" y="424"/>
                    </a:lnTo>
                    <a:lnTo>
                      <a:pt x="1008" y="428"/>
                    </a:lnTo>
                    <a:lnTo>
                      <a:pt x="1012" y="426"/>
                    </a:lnTo>
                    <a:lnTo>
                      <a:pt x="1014" y="426"/>
                    </a:lnTo>
                    <a:lnTo>
                      <a:pt x="1016" y="426"/>
                    </a:lnTo>
                    <a:lnTo>
                      <a:pt x="1016" y="430"/>
                    </a:lnTo>
                    <a:lnTo>
                      <a:pt x="1018" y="430"/>
                    </a:lnTo>
                    <a:lnTo>
                      <a:pt x="1018" y="432"/>
                    </a:lnTo>
                    <a:lnTo>
                      <a:pt x="1016" y="432"/>
                    </a:lnTo>
                    <a:lnTo>
                      <a:pt x="1016" y="434"/>
                    </a:lnTo>
                    <a:lnTo>
                      <a:pt x="1020" y="436"/>
                    </a:lnTo>
                    <a:lnTo>
                      <a:pt x="1020" y="438"/>
                    </a:lnTo>
                    <a:lnTo>
                      <a:pt x="1018" y="440"/>
                    </a:lnTo>
                    <a:lnTo>
                      <a:pt x="1014" y="442"/>
                    </a:lnTo>
                    <a:lnTo>
                      <a:pt x="1014" y="444"/>
                    </a:lnTo>
                    <a:lnTo>
                      <a:pt x="1024" y="444"/>
                    </a:lnTo>
                    <a:lnTo>
                      <a:pt x="1026" y="446"/>
                    </a:lnTo>
                    <a:lnTo>
                      <a:pt x="1022" y="452"/>
                    </a:lnTo>
                    <a:lnTo>
                      <a:pt x="1024" y="452"/>
                    </a:lnTo>
                    <a:lnTo>
                      <a:pt x="1026" y="454"/>
                    </a:lnTo>
                    <a:lnTo>
                      <a:pt x="1024" y="456"/>
                    </a:lnTo>
                    <a:lnTo>
                      <a:pt x="1028" y="456"/>
                    </a:lnTo>
                    <a:lnTo>
                      <a:pt x="1030" y="460"/>
                    </a:lnTo>
                    <a:lnTo>
                      <a:pt x="1034" y="460"/>
                    </a:lnTo>
                    <a:lnTo>
                      <a:pt x="1032" y="466"/>
                    </a:lnTo>
                    <a:lnTo>
                      <a:pt x="1028" y="470"/>
                    </a:lnTo>
                    <a:lnTo>
                      <a:pt x="1034" y="470"/>
                    </a:lnTo>
                    <a:lnTo>
                      <a:pt x="1034" y="472"/>
                    </a:lnTo>
                    <a:lnTo>
                      <a:pt x="1036" y="472"/>
                    </a:lnTo>
                    <a:lnTo>
                      <a:pt x="1040" y="472"/>
                    </a:lnTo>
                    <a:lnTo>
                      <a:pt x="1042" y="476"/>
                    </a:lnTo>
                    <a:lnTo>
                      <a:pt x="1042" y="478"/>
                    </a:lnTo>
                    <a:lnTo>
                      <a:pt x="1042" y="480"/>
                    </a:lnTo>
                    <a:lnTo>
                      <a:pt x="1040" y="480"/>
                    </a:lnTo>
                    <a:lnTo>
                      <a:pt x="1040" y="478"/>
                    </a:lnTo>
                    <a:lnTo>
                      <a:pt x="1038" y="480"/>
                    </a:lnTo>
                    <a:lnTo>
                      <a:pt x="1032" y="480"/>
                    </a:lnTo>
                    <a:lnTo>
                      <a:pt x="1028" y="480"/>
                    </a:lnTo>
                    <a:lnTo>
                      <a:pt x="1028" y="482"/>
                    </a:lnTo>
                    <a:lnTo>
                      <a:pt x="1032" y="484"/>
                    </a:lnTo>
                    <a:lnTo>
                      <a:pt x="1030" y="490"/>
                    </a:lnTo>
                    <a:lnTo>
                      <a:pt x="1034" y="488"/>
                    </a:lnTo>
                    <a:lnTo>
                      <a:pt x="1036" y="488"/>
                    </a:lnTo>
                    <a:lnTo>
                      <a:pt x="1036" y="492"/>
                    </a:lnTo>
                    <a:lnTo>
                      <a:pt x="1034" y="492"/>
                    </a:lnTo>
                    <a:lnTo>
                      <a:pt x="1038" y="492"/>
                    </a:lnTo>
                    <a:lnTo>
                      <a:pt x="1038" y="500"/>
                    </a:lnTo>
                    <a:lnTo>
                      <a:pt x="1044" y="500"/>
                    </a:lnTo>
                    <a:lnTo>
                      <a:pt x="1048" y="500"/>
                    </a:lnTo>
                    <a:lnTo>
                      <a:pt x="1052" y="504"/>
                    </a:lnTo>
                    <a:lnTo>
                      <a:pt x="1054" y="504"/>
                    </a:lnTo>
                    <a:lnTo>
                      <a:pt x="1054" y="510"/>
                    </a:lnTo>
                    <a:lnTo>
                      <a:pt x="1054" y="512"/>
                    </a:lnTo>
                    <a:lnTo>
                      <a:pt x="1054" y="516"/>
                    </a:lnTo>
                    <a:lnTo>
                      <a:pt x="1066" y="516"/>
                    </a:lnTo>
                    <a:lnTo>
                      <a:pt x="1066" y="520"/>
                    </a:lnTo>
                    <a:lnTo>
                      <a:pt x="1070" y="516"/>
                    </a:lnTo>
                    <a:lnTo>
                      <a:pt x="1070" y="518"/>
                    </a:lnTo>
                    <a:lnTo>
                      <a:pt x="1072" y="518"/>
                    </a:lnTo>
                    <a:lnTo>
                      <a:pt x="1072" y="516"/>
                    </a:lnTo>
                    <a:lnTo>
                      <a:pt x="1074" y="516"/>
                    </a:lnTo>
                    <a:lnTo>
                      <a:pt x="1074" y="522"/>
                    </a:lnTo>
                    <a:lnTo>
                      <a:pt x="1076" y="522"/>
                    </a:lnTo>
                    <a:lnTo>
                      <a:pt x="1078" y="526"/>
                    </a:lnTo>
                    <a:lnTo>
                      <a:pt x="1082" y="528"/>
                    </a:lnTo>
                    <a:lnTo>
                      <a:pt x="1084" y="524"/>
                    </a:lnTo>
                    <a:lnTo>
                      <a:pt x="1086" y="522"/>
                    </a:lnTo>
                    <a:lnTo>
                      <a:pt x="1088" y="528"/>
                    </a:lnTo>
                    <a:lnTo>
                      <a:pt x="1090" y="528"/>
                    </a:lnTo>
                    <a:lnTo>
                      <a:pt x="1094" y="528"/>
                    </a:lnTo>
                    <a:lnTo>
                      <a:pt x="1090" y="530"/>
                    </a:lnTo>
                    <a:lnTo>
                      <a:pt x="1088" y="534"/>
                    </a:lnTo>
                    <a:lnTo>
                      <a:pt x="1084" y="534"/>
                    </a:lnTo>
                    <a:lnTo>
                      <a:pt x="1082" y="536"/>
                    </a:lnTo>
                    <a:lnTo>
                      <a:pt x="1078" y="536"/>
                    </a:lnTo>
                    <a:lnTo>
                      <a:pt x="1078" y="536"/>
                    </a:lnTo>
                    <a:lnTo>
                      <a:pt x="1076" y="540"/>
                    </a:lnTo>
                    <a:lnTo>
                      <a:pt x="1072" y="540"/>
                    </a:lnTo>
                    <a:lnTo>
                      <a:pt x="1064" y="546"/>
                    </a:lnTo>
                    <a:lnTo>
                      <a:pt x="1054" y="546"/>
                    </a:lnTo>
                    <a:lnTo>
                      <a:pt x="1056" y="556"/>
                    </a:lnTo>
                    <a:lnTo>
                      <a:pt x="1060" y="556"/>
                    </a:lnTo>
                    <a:lnTo>
                      <a:pt x="1060" y="552"/>
                    </a:lnTo>
                    <a:lnTo>
                      <a:pt x="1062" y="550"/>
                    </a:lnTo>
                    <a:lnTo>
                      <a:pt x="1064" y="550"/>
                    </a:lnTo>
                    <a:lnTo>
                      <a:pt x="1068" y="548"/>
                    </a:lnTo>
                    <a:lnTo>
                      <a:pt x="1074" y="544"/>
                    </a:lnTo>
                    <a:lnTo>
                      <a:pt x="1078" y="540"/>
                    </a:lnTo>
                    <a:lnTo>
                      <a:pt x="1082" y="540"/>
                    </a:lnTo>
                    <a:lnTo>
                      <a:pt x="1086" y="540"/>
                    </a:lnTo>
                    <a:lnTo>
                      <a:pt x="1086" y="536"/>
                    </a:lnTo>
                    <a:lnTo>
                      <a:pt x="1090" y="536"/>
                    </a:lnTo>
                    <a:lnTo>
                      <a:pt x="1096" y="536"/>
                    </a:lnTo>
                    <a:lnTo>
                      <a:pt x="1098" y="540"/>
                    </a:lnTo>
                    <a:lnTo>
                      <a:pt x="1106" y="544"/>
                    </a:lnTo>
                    <a:lnTo>
                      <a:pt x="1106" y="548"/>
                    </a:lnTo>
                    <a:lnTo>
                      <a:pt x="1108" y="548"/>
                    </a:lnTo>
                    <a:lnTo>
                      <a:pt x="1108" y="546"/>
                    </a:lnTo>
                    <a:lnTo>
                      <a:pt x="1112" y="544"/>
                    </a:lnTo>
                    <a:lnTo>
                      <a:pt x="1112" y="546"/>
                    </a:lnTo>
                    <a:lnTo>
                      <a:pt x="1114" y="546"/>
                    </a:lnTo>
                    <a:lnTo>
                      <a:pt x="1114" y="552"/>
                    </a:lnTo>
                    <a:lnTo>
                      <a:pt x="1114" y="554"/>
                    </a:lnTo>
                    <a:lnTo>
                      <a:pt x="1112" y="556"/>
                    </a:lnTo>
                    <a:lnTo>
                      <a:pt x="1112" y="558"/>
                    </a:lnTo>
                    <a:lnTo>
                      <a:pt x="1114" y="558"/>
                    </a:lnTo>
                    <a:lnTo>
                      <a:pt x="1112" y="558"/>
                    </a:lnTo>
                    <a:lnTo>
                      <a:pt x="1114" y="562"/>
                    </a:lnTo>
                    <a:lnTo>
                      <a:pt x="1112" y="568"/>
                    </a:lnTo>
                    <a:lnTo>
                      <a:pt x="1110" y="568"/>
                    </a:lnTo>
                    <a:lnTo>
                      <a:pt x="1110" y="570"/>
                    </a:lnTo>
                    <a:lnTo>
                      <a:pt x="1108" y="570"/>
                    </a:lnTo>
                    <a:lnTo>
                      <a:pt x="1106" y="574"/>
                    </a:lnTo>
                    <a:lnTo>
                      <a:pt x="1102" y="574"/>
                    </a:lnTo>
                    <a:lnTo>
                      <a:pt x="1098" y="578"/>
                    </a:lnTo>
                    <a:lnTo>
                      <a:pt x="1096" y="578"/>
                    </a:lnTo>
                    <a:lnTo>
                      <a:pt x="1094" y="578"/>
                    </a:lnTo>
                    <a:lnTo>
                      <a:pt x="1090" y="578"/>
                    </a:lnTo>
                    <a:lnTo>
                      <a:pt x="1088" y="580"/>
                    </a:lnTo>
                    <a:lnTo>
                      <a:pt x="1086" y="582"/>
                    </a:lnTo>
                    <a:lnTo>
                      <a:pt x="1082" y="580"/>
                    </a:lnTo>
                    <a:lnTo>
                      <a:pt x="1080" y="580"/>
                    </a:lnTo>
                    <a:lnTo>
                      <a:pt x="1080" y="582"/>
                    </a:lnTo>
                    <a:lnTo>
                      <a:pt x="1078" y="584"/>
                    </a:lnTo>
                    <a:lnTo>
                      <a:pt x="1078" y="586"/>
                    </a:lnTo>
                    <a:lnTo>
                      <a:pt x="1074" y="590"/>
                    </a:lnTo>
                    <a:lnTo>
                      <a:pt x="1074" y="592"/>
                    </a:lnTo>
                    <a:lnTo>
                      <a:pt x="1074" y="594"/>
                    </a:lnTo>
                    <a:lnTo>
                      <a:pt x="1072" y="596"/>
                    </a:lnTo>
                    <a:lnTo>
                      <a:pt x="1070" y="598"/>
                    </a:lnTo>
                    <a:lnTo>
                      <a:pt x="1066" y="598"/>
                    </a:lnTo>
                    <a:lnTo>
                      <a:pt x="1066" y="602"/>
                    </a:lnTo>
                    <a:lnTo>
                      <a:pt x="1064" y="604"/>
                    </a:lnTo>
                    <a:lnTo>
                      <a:pt x="1056" y="604"/>
                    </a:lnTo>
                    <a:lnTo>
                      <a:pt x="1054" y="608"/>
                    </a:lnTo>
                    <a:lnTo>
                      <a:pt x="1052" y="608"/>
                    </a:lnTo>
                    <a:lnTo>
                      <a:pt x="1050" y="608"/>
                    </a:lnTo>
                    <a:lnTo>
                      <a:pt x="1048" y="606"/>
                    </a:lnTo>
                    <a:lnTo>
                      <a:pt x="1044" y="606"/>
                    </a:lnTo>
                    <a:lnTo>
                      <a:pt x="1044" y="608"/>
                    </a:lnTo>
                    <a:lnTo>
                      <a:pt x="1044" y="610"/>
                    </a:lnTo>
                    <a:lnTo>
                      <a:pt x="1042" y="610"/>
                    </a:lnTo>
                    <a:lnTo>
                      <a:pt x="1042" y="608"/>
                    </a:lnTo>
                    <a:lnTo>
                      <a:pt x="1038" y="610"/>
                    </a:lnTo>
                    <a:lnTo>
                      <a:pt x="1036" y="604"/>
                    </a:lnTo>
                    <a:lnTo>
                      <a:pt x="1030" y="606"/>
                    </a:lnTo>
                    <a:lnTo>
                      <a:pt x="1026" y="606"/>
                    </a:lnTo>
                    <a:lnTo>
                      <a:pt x="1024" y="606"/>
                    </a:lnTo>
                    <a:lnTo>
                      <a:pt x="1018" y="604"/>
                    </a:lnTo>
                    <a:lnTo>
                      <a:pt x="1016" y="608"/>
                    </a:lnTo>
                    <a:lnTo>
                      <a:pt x="1014" y="608"/>
                    </a:lnTo>
                    <a:lnTo>
                      <a:pt x="1010" y="606"/>
                    </a:lnTo>
                    <a:lnTo>
                      <a:pt x="1008" y="608"/>
                    </a:lnTo>
                    <a:lnTo>
                      <a:pt x="1004" y="608"/>
                    </a:lnTo>
                    <a:lnTo>
                      <a:pt x="1002" y="608"/>
                    </a:lnTo>
                    <a:lnTo>
                      <a:pt x="1000" y="606"/>
                    </a:lnTo>
                    <a:lnTo>
                      <a:pt x="998" y="608"/>
                    </a:lnTo>
                    <a:lnTo>
                      <a:pt x="988" y="608"/>
                    </a:lnTo>
                    <a:lnTo>
                      <a:pt x="974" y="606"/>
                    </a:lnTo>
                    <a:lnTo>
                      <a:pt x="974" y="608"/>
                    </a:lnTo>
                    <a:lnTo>
                      <a:pt x="970" y="612"/>
                    </a:lnTo>
                    <a:lnTo>
                      <a:pt x="968" y="610"/>
                    </a:lnTo>
                    <a:lnTo>
                      <a:pt x="968" y="612"/>
                    </a:lnTo>
                    <a:lnTo>
                      <a:pt x="966" y="612"/>
                    </a:lnTo>
                    <a:lnTo>
                      <a:pt x="966" y="616"/>
                    </a:lnTo>
                    <a:lnTo>
                      <a:pt x="964" y="622"/>
                    </a:lnTo>
                    <a:lnTo>
                      <a:pt x="960" y="624"/>
                    </a:lnTo>
                    <a:lnTo>
                      <a:pt x="958" y="624"/>
                    </a:lnTo>
                    <a:lnTo>
                      <a:pt x="956" y="626"/>
                    </a:lnTo>
                    <a:lnTo>
                      <a:pt x="956" y="628"/>
                    </a:lnTo>
                    <a:lnTo>
                      <a:pt x="954" y="630"/>
                    </a:lnTo>
                    <a:lnTo>
                      <a:pt x="954" y="630"/>
                    </a:lnTo>
                    <a:lnTo>
                      <a:pt x="952" y="632"/>
                    </a:lnTo>
                    <a:lnTo>
                      <a:pt x="952" y="634"/>
                    </a:lnTo>
                    <a:lnTo>
                      <a:pt x="950" y="636"/>
                    </a:lnTo>
                    <a:lnTo>
                      <a:pt x="946" y="636"/>
                    </a:lnTo>
                    <a:lnTo>
                      <a:pt x="944" y="638"/>
                    </a:lnTo>
                    <a:lnTo>
                      <a:pt x="942" y="640"/>
                    </a:lnTo>
                    <a:lnTo>
                      <a:pt x="938" y="644"/>
                    </a:lnTo>
                    <a:lnTo>
                      <a:pt x="938" y="644"/>
                    </a:lnTo>
                    <a:lnTo>
                      <a:pt x="936" y="646"/>
                    </a:lnTo>
                    <a:lnTo>
                      <a:pt x="930" y="646"/>
                    </a:lnTo>
                    <a:lnTo>
                      <a:pt x="934" y="648"/>
                    </a:lnTo>
                    <a:lnTo>
                      <a:pt x="930" y="660"/>
                    </a:lnTo>
                    <a:lnTo>
                      <a:pt x="924" y="670"/>
                    </a:lnTo>
                    <a:lnTo>
                      <a:pt x="926" y="670"/>
                    </a:lnTo>
                    <a:lnTo>
                      <a:pt x="926" y="668"/>
                    </a:lnTo>
                    <a:lnTo>
                      <a:pt x="928" y="668"/>
                    </a:lnTo>
                    <a:lnTo>
                      <a:pt x="934" y="660"/>
                    </a:lnTo>
                    <a:lnTo>
                      <a:pt x="934" y="656"/>
                    </a:lnTo>
                    <a:lnTo>
                      <a:pt x="936" y="654"/>
                    </a:lnTo>
                    <a:lnTo>
                      <a:pt x="940" y="652"/>
                    </a:lnTo>
                    <a:lnTo>
                      <a:pt x="944" y="652"/>
                    </a:lnTo>
                    <a:lnTo>
                      <a:pt x="944" y="648"/>
                    </a:lnTo>
                    <a:lnTo>
                      <a:pt x="944" y="646"/>
                    </a:lnTo>
                    <a:lnTo>
                      <a:pt x="948" y="644"/>
                    </a:lnTo>
                    <a:lnTo>
                      <a:pt x="954" y="644"/>
                    </a:lnTo>
                    <a:lnTo>
                      <a:pt x="956" y="638"/>
                    </a:lnTo>
                    <a:lnTo>
                      <a:pt x="958" y="638"/>
                    </a:lnTo>
                    <a:lnTo>
                      <a:pt x="960" y="634"/>
                    </a:lnTo>
                    <a:lnTo>
                      <a:pt x="966" y="634"/>
                    </a:lnTo>
                    <a:lnTo>
                      <a:pt x="968" y="630"/>
                    </a:lnTo>
                    <a:lnTo>
                      <a:pt x="974" y="628"/>
                    </a:lnTo>
                    <a:lnTo>
                      <a:pt x="982" y="626"/>
                    </a:lnTo>
                    <a:lnTo>
                      <a:pt x="986" y="624"/>
                    </a:lnTo>
                    <a:lnTo>
                      <a:pt x="988" y="624"/>
                    </a:lnTo>
                    <a:lnTo>
                      <a:pt x="988" y="626"/>
                    </a:lnTo>
                    <a:lnTo>
                      <a:pt x="994" y="626"/>
                    </a:lnTo>
                    <a:lnTo>
                      <a:pt x="1000" y="626"/>
                    </a:lnTo>
                    <a:lnTo>
                      <a:pt x="1002" y="626"/>
                    </a:lnTo>
                    <a:lnTo>
                      <a:pt x="1002" y="628"/>
                    </a:lnTo>
                    <a:lnTo>
                      <a:pt x="1004" y="630"/>
                    </a:lnTo>
                    <a:lnTo>
                      <a:pt x="1006" y="632"/>
                    </a:lnTo>
                    <a:lnTo>
                      <a:pt x="1006" y="636"/>
                    </a:lnTo>
                    <a:lnTo>
                      <a:pt x="1002" y="634"/>
                    </a:lnTo>
                    <a:lnTo>
                      <a:pt x="1004" y="640"/>
                    </a:lnTo>
                    <a:lnTo>
                      <a:pt x="1002" y="644"/>
                    </a:lnTo>
                    <a:lnTo>
                      <a:pt x="996" y="644"/>
                    </a:lnTo>
                    <a:lnTo>
                      <a:pt x="996" y="652"/>
                    </a:lnTo>
                    <a:lnTo>
                      <a:pt x="990" y="652"/>
                    </a:lnTo>
                    <a:lnTo>
                      <a:pt x="990" y="654"/>
                    </a:lnTo>
                    <a:lnTo>
                      <a:pt x="986" y="654"/>
                    </a:lnTo>
                    <a:lnTo>
                      <a:pt x="986" y="650"/>
                    </a:lnTo>
                    <a:lnTo>
                      <a:pt x="986" y="648"/>
                    </a:lnTo>
                    <a:lnTo>
                      <a:pt x="982" y="646"/>
                    </a:lnTo>
                    <a:lnTo>
                      <a:pt x="982" y="648"/>
                    </a:lnTo>
                    <a:lnTo>
                      <a:pt x="980" y="650"/>
                    </a:lnTo>
                    <a:lnTo>
                      <a:pt x="980" y="652"/>
                    </a:lnTo>
                    <a:lnTo>
                      <a:pt x="984" y="654"/>
                    </a:lnTo>
                    <a:lnTo>
                      <a:pt x="984" y="656"/>
                    </a:lnTo>
                    <a:lnTo>
                      <a:pt x="982" y="656"/>
                    </a:lnTo>
                    <a:lnTo>
                      <a:pt x="982" y="658"/>
                    </a:lnTo>
                    <a:lnTo>
                      <a:pt x="984" y="660"/>
                    </a:lnTo>
                    <a:lnTo>
                      <a:pt x="988" y="660"/>
                    </a:lnTo>
                    <a:lnTo>
                      <a:pt x="992" y="656"/>
                    </a:lnTo>
                    <a:lnTo>
                      <a:pt x="996" y="656"/>
                    </a:lnTo>
                    <a:lnTo>
                      <a:pt x="1000" y="656"/>
                    </a:lnTo>
                    <a:lnTo>
                      <a:pt x="1000" y="658"/>
                    </a:lnTo>
                    <a:lnTo>
                      <a:pt x="1000" y="660"/>
                    </a:lnTo>
                    <a:lnTo>
                      <a:pt x="998" y="662"/>
                    </a:lnTo>
                    <a:lnTo>
                      <a:pt x="998" y="666"/>
                    </a:lnTo>
                    <a:lnTo>
                      <a:pt x="998" y="668"/>
                    </a:lnTo>
                    <a:lnTo>
                      <a:pt x="996" y="668"/>
                    </a:lnTo>
                    <a:lnTo>
                      <a:pt x="994" y="672"/>
                    </a:lnTo>
                    <a:lnTo>
                      <a:pt x="992" y="672"/>
                    </a:lnTo>
                    <a:lnTo>
                      <a:pt x="994" y="672"/>
                    </a:lnTo>
                    <a:lnTo>
                      <a:pt x="996" y="674"/>
                    </a:lnTo>
                    <a:lnTo>
                      <a:pt x="1002" y="672"/>
                    </a:lnTo>
                    <a:lnTo>
                      <a:pt x="1002" y="676"/>
                    </a:lnTo>
                    <a:lnTo>
                      <a:pt x="1000" y="676"/>
                    </a:lnTo>
                    <a:lnTo>
                      <a:pt x="1000" y="686"/>
                    </a:lnTo>
                    <a:lnTo>
                      <a:pt x="1002" y="686"/>
                    </a:lnTo>
                    <a:lnTo>
                      <a:pt x="1002" y="690"/>
                    </a:lnTo>
                    <a:lnTo>
                      <a:pt x="1014" y="692"/>
                    </a:lnTo>
                    <a:lnTo>
                      <a:pt x="1012" y="694"/>
                    </a:lnTo>
                    <a:lnTo>
                      <a:pt x="1008" y="696"/>
                    </a:lnTo>
                    <a:lnTo>
                      <a:pt x="1010" y="698"/>
                    </a:lnTo>
                    <a:lnTo>
                      <a:pt x="1012" y="698"/>
                    </a:lnTo>
                    <a:lnTo>
                      <a:pt x="1012" y="696"/>
                    </a:lnTo>
                    <a:lnTo>
                      <a:pt x="1014" y="696"/>
                    </a:lnTo>
                    <a:lnTo>
                      <a:pt x="1018" y="700"/>
                    </a:lnTo>
                    <a:lnTo>
                      <a:pt x="1022" y="700"/>
                    </a:lnTo>
                    <a:lnTo>
                      <a:pt x="1022" y="702"/>
                    </a:lnTo>
                    <a:lnTo>
                      <a:pt x="1026" y="702"/>
                    </a:lnTo>
                    <a:lnTo>
                      <a:pt x="1030" y="700"/>
                    </a:lnTo>
                    <a:lnTo>
                      <a:pt x="1034" y="696"/>
                    </a:lnTo>
                    <a:lnTo>
                      <a:pt x="1036" y="696"/>
                    </a:lnTo>
                    <a:lnTo>
                      <a:pt x="1036" y="702"/>
                    </a:lnTo>
                    <a:lnTo>
                      <a:pt x="1040" y="702"/>
                    </a:lnTo>
                    <a:lnTo>
                      <a:pt x="1040" y="704"/>
                    </a:lnTo>
                    <a:lnTo>
                      <a:pt x="1040" y="704"/>
                    </a:lnTo>
                    <a:close/>
                    <a:moveTo>
                      <a:pt x="1168" y="654"/>
                    </a:moveTo>
                    <a:lnTo>
                      <a:pt x="1168" y="654"/>
                    </a:lnTo>
                    <a:lnTo>
                      <a:pt x="1168" y="658"/>
                    </a:lnTo>
                    <a:lnTo>
                      <a:pt x="1164" y="658"/>
                    </a:lnTo>
                    <a:lnTo>
                      <a:pt x="1162" y="656"/>
                    </a:lnTo>
                    <a:lnTo>
                      <a:pt x="1162" y="652"/>
                    </a:lnTo>
                    <a:lnTo>
                      <a:pt x="1168" y="646"/>
                    </a:lnTo>
                    <a:lnTo>
                      <a:pt x="1168" y="644"/>
                    </a:lnTo>
                    <a:lnTo>
                      <a:pt x="1164" y="644"/>
                    </a:lnTo>
                    <a:lnTo>
                      <a:pt x="1164" y="646"/>
                    </a:lnTo>
                    <a:lnTo>
                      <a:pt x="1162" y="648"/>
                    </a:lnTo>
                    <a:lnTo>
                      <a:pt x="1160" y="652"/>
                    </a:lnTo>
                    <a:lnTo>
                      <a:pt x="1160" y="656"/>
                    </a:lnTo>
                    <a:lnTo>
                      <a:pt x="1154" y="656"/>
                    </a:lnTo>
                    <a:lnTo>
                      <a:pt x="1154" y="652"/>
                    </a:lnTo>
                    <a:lnTo>
                      <a:pt x="1158" y="652"/>
                    </a:lnTo>
                    <a:lnTo>
                      <a:pt x="1158" y="648"/>
                    </a:lnTo>
                    <a:lnTo>
                      <a:pt x="1154" y="646"/>
                    </a:lnTo>
                    <a:lnTo>
                      <a:pt x="1154" y="644"/>
                    </a:lnTo>
                    <a:lnTo>
                      <a:pt x="1158" y="644"/>
                    </a:lnTo>
                    <a:lnTo>
                      <a:pt x="1158" y="640"/>
                    </a:lnTo>
                    <a:lnTo>
                      <a:pt x="1160" y="636"/>
                    </a:lnTo>
                    <a:lnTo>
                      <a:pt x="1156" y="638"/>
                    </a:lnTo>
                    <a:lnTo>
                      <a:pt x="1156" y="640"/>
                    </a:lnTo>
                    <a:lnTo>
                      <a:pt x="1152" y="640"/>
                    </a:lnTo>
                    <a:lnTo>
                      <a:pt x="1148" y="642"/>
                    </a:lnTo>
                    <a:lnTo>
                      <a:pt x="1146" y="642"/>
                    </a:lnTo>
                    <a:lnTo>
                      <a:pt x="1144" y="642"/>
                    </a:lnTo>
                    <a:lnTo>
                      <a:pt x="1148" y="634"/>
                    </a:lnTo>
                    <a:lnTo>
                      <a:pt x="1146" y="636"/>
                    </a:lnTo>
                    <a:lnTo>
                      <a:pt x="1142" y="636"/>
                    </a:lnTo>
                    <a:lnTo>
                      <a:pt x="1144" y="634"/>
                    </a:lnTo>
                    <a:lnTo>
                      <a:pt x="1140" y="632"/>
                    </a:lnTo>
                    <a:lnTo>
                      <a:pt x="1142" y="630"/>
                    </a:lnTo>
                    <a:lnTo>
                      <a:pt x="1146" y="624"/>
                    </a:lnTo>
                    <a:lnTo>
                      <a:pt x="1142" y="620"/>
                    </a:lnTo>
                    <a:lnTo>
                      <a:pt x="1140" y="620"/>
                    </a:lnTo>
                    <a:lnTo>
                      <a:pt x="1138" y="622"/>
                    </a:lnTo>
                    <a:lnTo>
                      <a:pt x="1138" y="622"/>
                    </a:lnTo>
                    <a:lnTo>
                      <a:pt x="1136" y="622"/>
                    </a:lnTo>
                    <a:lnTo>
                      <a:pt x="1134" y="618"/>
                    </a:lnTo>
                    <a:lnTo>
                      <a:pt x="1132" y="620"/>
                    </a:lnTo>
                    <a:lnTo>
                      <a:pt x="1126" y="622"/>
                    </a:lnTo>
                    <a:lnTo>
                      <a:pt x="1126" y="624"/>
                    </a:lnTo>
                    <a:lnTo>
                      <a:pt x="1126" y="626"/>
                    </a:lnTo>
                    <a:lnTo>
                      <a:pt x="1124" y="624"/>
                    </a:lnTo>
                    <a:lnTo>
                      <a:pt x="1124" y="622"/>
                    </a:lnTo>
                    <a:lnTo>
                      <a:pt x="1118" y="624"/>
                    </a:lnTo>
                    <a:lnTo>
                      <a:pt x="1120" y="622"/>
                    </a:lnTo>
                    <a:lnTo>
                      <a:pt x="1120" y="620"/>
                    </a:lnTo>
                    <a:lnTo>
                      <a:pt x="1112" y="622"/>
                    </a:lnTo>
                    <a:lnTo>
                      <a:pt x="1118" y="618"/>
                    </a:lnTo>
                    <a:lnTo>
                      <a:pt x="1118" y="614"/>
                    </a:lnTo>
                    <a:lnTo>
                      <a:pt x="1116" y="612"/>
                    </a:lnTo>
                    <a:lnTo>
                      <a:pt x="1110" y="610"/>
                    </a:lnTo>
                    <a:lnTo>
                      <a:pt x="1110" y="612"/>
                    </a:lnTo>
                    <a:lnTo>
                      <a:pt x="1108" y="612"/>
                    </a:lnTo>
                    <a:lnTo>
                      <a:pt x="1102" y="622"/>
                    </a:lnTo>
                    <a:lnTo>
                      <a:pt x="1104" y="616"/>
                    </a:lnTo>
                    <a:lnTo>
                      <a:pt x="1102" y="616"/>
                    </a:lnTo>
                    <a:lnTo>
                      <a:pt x="1102" y="614"/>
                    </a:lnTo>
                    <a:lnTo>
                      <a:pt x="1102" y="612"/>
                    </a:lnTo>
                    <a:lnTo>
                      <a:pt x="1102" y="610"/>
                    </a:lnTo>
                    <a:lnTo>
                      <a:pt x="1104" y="606"/>
                    </a:lnTo>
                    <a:lnTo>
                      <a:pt x="1106" y="604"/>
                    </a:lnTo>
                    <a:lnTo>
                      <a:pt x="1106" y="594"/>
                    </a:lnTo>
                    <a:lnTo>
                      <a:pt x="1108" y="594"/>
                    </a:lnTo>
                    <a:lnTo>
                      <a:pt x="1112" y="594"/>
                    </a:lnTo>
                    <a:lnTo>
                      <a:pt x="1114" y="590"/>
                    </a:lnTo>
                    <a:lnTo>
                      <a:pt x="1114" y="588"/>
                    </a:lnTo>
                    <a:lnTo>
                      <a:pt x="1110" y="588"/>
                    </a:lnTo>
                    <a:lnTo>
                      <a:pt x="1110" y="586"/>
                    </a:lnTo>
                    <a:lnTo>
                      <a:pt x="1114" y="586"/>
                    </a:lnTo>
                    <a:lnTo>
                      <a:pt x="1114" y="586"/>
                    </a:lnTo>
                    <a:lnTo>
                      <a:pt x="1118" y="586"/>
                    </a:lnTo>
                    <a:lnTo>
                      <a:pt x="1118" y="582"/>
                    </a:lnTo>
                    <a:lnTo>
                      <a:pt x="1112" y="584"/>
                    </a:lnTo>
                    <a:lnTo>
                      <a:pt x="1108" y="582"/>
                    </a:lnTo>
                    <a:lnTo>
                      <a:pt x="1102" y="584"/>
                    </a:lnTo>
                    <a:lnTo>
                      <a:pt x="1098" y="588"/>
                    </a:lnTo>
                    <a:lnTo>
                      <a:pt x="1100" y="592"/>
                    </a:lnTo>
                    <a:lnTo>
                      <a:pt x="1096" y="592"/>
                    </a:lnTo>
                    <a:lnTo>
                      <a:pt x="1094" y="594"/>
                    </a:lnTo>
                    <a:lnTo>
                      <a:pt x="1094" y="602"/>
                    </a:lnTo>
                    <a:lnTo>
                      <a:pt x="1092" y="604"/>
                    </a:lnTo>
                    <a:lnTo>
                      <a:pt x="1092" y="612"/>
                    </a:lnTo>
                    <a:lnTo>
                      <a:pt x="1092" y="614"/>
                    </a:lnTo>
                    <a:lnTo>
                      <a:pt x="1092" y="618"/>
                    </a:lnTo>
                    <a:lnTo>
                      <a:pt x="1088" y="622"/>
                    </a:lnTo>
                    <a:lnTo>
                      <a:pt x="1088" y="624"/>
                    </a:lnTo>
                    <a:lnTo>
                      <a:pt x="1094" y="624"/>
                    </a:lnTo>
                    <a:lnTo>
                      <a:pt x="1092" y="628"/>
                    </a:lnTo>
                    <a:lnTo>
                      <a:pt x="1092" y="630"/>
                    </a:lnTo>
                    <a:lnTo>
                      <a:pt x="1090" y="630"/>
                    </a:lnTo>
                    <a:lnTo>
                      <a:pt x="1088" y="628"/>
                    </a:lnTo>
                    <a:lnTo>
                      <a:pt x="1086" y="628"/>
                    </a:lnTo>
                    <a:lnTo>
                      <a:pt x="1084" y="628"/>
                    </a:lnTo>
                    <a:lnTo>
                      <a:pt x="1084" y="630"/>
                    </a:lnTo>
                    <a:lnTo>
                      <a:pt x="1082" y="630"/>
                    </a:lnTo>
                    <a:lnTo>
                      <a:pt x="1082" y="632"/>
                    </a:lnTo>
                    <a:lnTo>
                      <a:pt x="1084" y="632"/>
                    </a:lnTo>
                    <a:lnTo>
                      <a:pt x="1084" y="634"/>
                    </a:lnTo>
                    <a:lnTo>
                      <a:pt x="1080" y="634"/>
                    </a:lnTo>
                    <a:lnTo>
                      <a:pt x="1078" y="634"/>
                    </a:lnTo>
                    <a:lnTo>
                      <a:pt x="1078" y="638"/>
                    </a:lnTo>
                    <a:lnTo>
                      <a:pt x="1078" y="638"/>
                    </a:lnTo>
                    <a:lnTo>
                      <a:pt x="1078" y="636"/>
                    </a:lnTo>
                    <a:lnTo>
                      <a:pt x="1086" y="638"/>
                    </a:lnTo>
                    <a:lnTo>
                      <a:pt x="1084" y="640"/>
                    </a:lnTo>
                    <a:lnTo>
                      <a:pt x="1084" y="638"/>
                    </a:lnTo>
                    <a:lnTo>
                      <a:pt x="1080" y="640"/>
                    </a:lnTo>
                    <a:lnTo>
                      <a:pt x="1080" y="644"/>
                    </a:lnTo>
                    <a:lnTo>
                      <a:pt x="1076" y="646"/>
                    </a:lnTo>
                    <a:lnTo>
                      <a:pt x="1074" y="648"/>
                    </a:lnTo>
                    <a:lnTo>
                      <a:pt x="1076" y="654"/>
                    </a:lnTo>
                    <a:lnTo>
                      <a:pt x="1080" y="654"/>
                    </a:lnTo>
                    <a:lnTo>
                      <a:pt x="1082" y="652"/>
                    </a:lnTo>
                    <a:lnTo>
                      <a:pt x="1096" y="652"/>
                    </a:lnTo>
                    <a:lnTo>
                      <a:pt x="1104" y="652"/>
                    </a:lnTo>
                    <a:lnTo>
                      <a:pt x="1104" y="654"/>
                    </a:lnTo>
                    <a:lnTo>
                      <a:pt x="1106" y="654"/>
                    </a:lnTo>
                    <a:lnTo>
                      <a:pt x="1110" y="652"/>
                    </a:lnTo>
                    <a:lnTo>
                      <a:pt x="1112" y="650"/>
                    </a:lnTo>
                    <a:lnTo>
                      <a:pt x="1112" y="654"/>
                    </a:lnTo>
                    <a:lnTo>
                      <a:pt x="1132" y="650"/>
                    </a:lnTo>
                    <a:lnTo>
                      <a:pt x="1130" y="656"/>
                    </a:lnTo>
                    <a:lnTo>
                      <a:pt x="1136" y="656"/>
                    </a:lnTo>
                    <a:lnTo>
                      <a:pt x="1138" y="650"/>
                    </a:lnTo>
                    <a:lnTo>
                      <a:pt x="1140" y="650"/>
                    </a:lnTo>
                    <a:lnTo>
                      <a:pt x="1138" y="654"/>
                    </a:lnTo>
                    <a:lnTo>
                      <a:pt x="1138" y="656"/>
                    </a:lnTo>
                    <a:lnTo>
                      <a:pt x="1136" y="658"/>
                    </a:lnTo>
                    <a:lnTo>
                      <a:pt x="1134" y="662"/>
                    </a:lnTo>
                    <a:lnTo>
                      <a:pt x="1130" y="664"/>
                    </a:lnTo>
                    <a:lnTo>
                      <a:pt x="1130" y="668"/>
                    </a:lnTo>
                    <a:lnTo>
                      <a:pt x="1134" y="668"/>
                    </a:lnTo>
                    <a:lnTo>
                      <a:pt x="1138" y="664"/>
                    </a:lnTo>
                    <a:lnTo>
                      <a:pt x="1138" y="660"/>
                    </a:lnTo>
                    <a:lnTo>
                      <a:pt x="1138" y="658"/>
                    </a:lnTo>
                    <a:lnTo>
                      <a:pt x="1140" y="656"/>
                    </a:lnTo>
                    <a:lnTo>
                      <a:pt x="1144" y="656"/>
                    </a:lnTo>
                    <a:lnTo>
                      <a:pt x="1146" y="650"/>
                    </a:lnTo>
                    <a:lnTo>
                      <a:pt x="1150" y="650"/>
                    </a:lnTo>
                    <a:lnTo>
                      <a:pt x="1150" y="654"/>
                    </a:lnTo>
                    <a:lnTo>
                      <a:pt x="1154" y="656"/>
                    </a:lnTo>
                    <a:lnTo>
                      <a:pt x="1154" y="660"/>
                    </a:lnTo>
                    <a:lnTo>
                      <a:pt x="1152" y="660"/>
                    </a:lnTo>
                    <a:lnTo>
                      <a:pt x="1150" y="660"/>
                    </a:lnTo>
                    <a:lnTo>
                      <a:pt x="1150" y="668"/>
                    </a:lnTo>
                    <a:lnTo>
                      <a:pt x="1154" y="666"/>
                    </a:lnTo>
                    <a:lnTo>
                      <a:pt x="1154" y="662"/>
                    </a:lnTo>
                    <a:lnTo>
                      <a:pt x="1158" y="664"/>
                    </a:lnTo>
                    <a:lnTo>
                      <a:pt x="1158" y="670"/>
                    </a:lnTo>
                    <a:lnTo>
                      <a:pt x="1164" y="670"/>
                    </a:lnTo>
                    <a:lnTo>
                      <a:pt x="1166" y="664"/>
                    </a:lnTo>
                    <a:lnTo>
                      <a:pt x="1170" y="656"/>
                    </a:lnTo>
                    <a:lnTo>
                      <a:pt x="1170" y="652"/>
                    </a:lnTo>
                    <a:lnTo>
                      <a:pt x="1168" y="654"/>
                    </a:lnTo>
                    <a:lnTo>
                      <a:pt x="1168" y="654"/>
                    </a:lnTo>
                    <a:close/>
                    <a:moveTo>
                      <a:pt x="1054" y="690"/>
                    </a:moveTo>
                    <a:lnTo>
                      <a:pt x="1054" y="688"/>
                    </a:lnTo>
                    <a:lnTo>
                      <a:pt x="1050" y="688"/>
                    </a:lnTo>
                    <a:lnTo>
                      <a:pt x="1052" y="680"/>
                    </a:lnTo>
                    <a:lnTo>
                      <a:pt x="1056" y="676"/>
                    </a:lnTo>
                    <a:lnTo>
                      <a:pt x="1062" y="676"/>
                    </a:lnTo>
                    <a:lnTo>
                      <a:pt x="1064" y="674"/>
                    </a:lnTo>
                    <a:lnTo>
                      <a:pt x="1066" y="672"/>
                    </a:lnTo>
                    <a:lnTo>
                      <a:pt x="1064" y="670"/>
                    </a:lnTo>
                    <a:lnTo>
                      <a:pt x="1062" y="670"/>
                    </a:lnTo>
                    <a:lnTo>
                      <a:pt x="1062" y="672"/>
                    </a:lnTo>
                    <a:lnTo>
                      <a:pt x="1058" y="674"/>
                    </a:lnTo>
                    <a:lnTo>
                      <a:pt x="1056" y="674"/>
                    </a:lnTo>
                    <a:lnTo>
                      <a:pt x="1052" y="672"/>
                    </a:lnTo>
                    <a:lnTo>
                      <a:pt x="1046" y="676"/>
                    </a:lnTo>
                    <a:lnTo>
                      <a:pt x="1048" y="680"/>
                    </a:lnTo>
                    <a:lnTo>
                      <a:pt x="1046" y="682"/>
                    </a:lnTo>
                    <a:lnTo>
                      <a:pt x="1044" y="682"/>
                    </a:lnTo>
                    <a:lnTo>
                      <a:pt x="1042" y="686"/>
                    </a:lnTo>
                    <a:lnTo>
                      <a:pt x="1042" y="688"/>
                    </a:lnTo>
                    <a:lnTo>
                      <a:pt x="1042" y="690"/>
                    </a:lnTo>
                    <a:lnTo>
                      <a:pt x="1040" y="692"/>
                    </a:lnTo>
                    <a:lnTo>
                      <a:pt x="1040" y="698"/>
                    </a:lnTo>
                    <a:lnTo>
                      <a:pt x="1040" y="700"/>
                    </a:lnTo>
                    <a:lnTo>
                      <a:pt x="1042" y="700"/>
                    </a:lnTo>
                    <a:lnTo>
                      <a:pt x="1048" y="702"/>
                    </a:lnTo>
                    <a:lnTo>
                      <a:pt x="1048" y="700"/>
                    </a:lnTo>
                    <a:lnTo>
                      <a:pt x="1048" y="700"/>
                    </a:lnTo>
                    <a:lnTo>
                      <a:pt x="1046" y="698"/>
                    </a:lnTo>
                    <a:lnTo>
                      <a:pt x="1048" y="694"/>
                    </a:lnTo>
                    <a:lnTo>
                      <a:pt x="1054" y="690"/>
                    </a:lnTo>
                    <a:lnTo>
                      <a:pt x="1054" y="690"/>
                    </a:lnTo>
                    <a:close/>
                    <a:moveTo>
                      <a:pt x="1036" y="632"/>
                    </a:moveTo>
                    <a:lnTo>
                      <a:pt x="1030" y="628"/>
                    </a:lnTo>
                    <a:lnTo>
                      <a:pt x="1028" y="628"/>
                    </a:lnTo>
                    <a:lnTo>
                      <a:pt x="1024" y="624"/>
                    </a:lnTo>
                    <a:lnTo>
                      <a:pt x="1022" y="620"/>
                    </a:lnTo>
                    <a:lnTo>
                      <a:pt x="1018" y="620"/>
                    </a:lnTo>
                    <a:lnTo>
                      <a:pt x="1014" y="618"/>
                    </a:lnTo>
                    <a:lnTo>
                      <a:pt x="1010" y="614"/>
                    </a:lnTo>
                    <a:lnTo>
                      <a:pt x="1002" y="614"/>
                    </a:lnTo>
                    <a:lnTo>
                      <a:pt x="1002" y="620"/>
                    </a:lnTo>
                    <a:lnTo>
                      <a:pt x="1008" y="620"/>
                    </a:lnTo>
                    <a:lnTo>
                      <a:pt x="1012" y="624"/>
                    </a:lnTo>
                    <a:lnTo>
                      <a:pt x="1012" y="628"/>
                    </a:lnTo>
                    <a:lnTo>
                      <a:pt x="1016" y="628"/>
                    </a:lnTo>
                    <a:lnTo>
                      <a:pt x="1020" y="630"/>
                    </a:lnTo>
                    <a:lnTo>
                      <a:pt x="1024" y="632"/>
                    </a:lnTo>
                    <a:lnTo>
                      <a:pt x="1028" y="634"/>
                    </a:lnTo>
                    <a:lnTo>
                      <a:pt x="1034" y="636"/>
                    </a:lnTo>
                    <a:lnTo>
                      <a:pt x="1034" y="634"/>
                    </a:lnTo>
                    <a:lnTo>
                      <a:pt x="1036" y="632"/>
                    </a:lnTo>
                    <a:lnTo>
                      <a:pt x="1036" y="632"/>
                    </a:lnTo>
                    <a:close/>
                    <a:moveTo>
                      <a:pt x="124" y="548"/>
                    </a:moveTo>
                    <a:lnTo>
                      <a:pt x="124" y="548"/>
                    </a:lnTo>
                    <a:lnTo>
                      <a:pt x="124" y="546"/>
                    </a:lnTo>
                    <a:lnTo>
                      <a:pt x="124" y="542"/>
                    </a:lnTo>
                    <a:lnTo>
                      <a:pt x="128" y="534"/>
                    </a:lnTo>
                    <a:lnTo>
                      <a:pt x="118" y="536"/>
                    </a:lnTo>
                    <a:lnTo>
                      <a:pt x="114" y="536"/>
                    </a:lnTo>
                    <a:lnTo>
                      <a:pt x="110" y="534"/>
                    </a:lnTo>
                    <a:lnTo>
                      <a:pt x="112" y="544"/>
                    </a:lnTo>
                    <a:lnTo>
                      <a:pt x="112" y="546"/>
                    </a:lnTo>
                    <a:lnTo>
                      <a:pt x="112" y="548"/>
                    </a:lnTo>
                    <a:lnTo>
                      <a:pt x="114" y="548"/>
                    </a:lnTo>
                    <a:lnTo>
                      <a:pt x="114" y="550"/>
                    </a:lnTo>
                    <a:lnTo>
                      <a:pt x="114" y="554"/>
                    </a:lnTo>
                    <a:lnTo>
                      <a:pt x="118" y="552"/>
                    </a:lnTo>
                    <a:lnTo>
                      <a:pt x="120" y="552"/>
                    </a:lnTo>
                    <a:lnTo>
                      <a:pt x="124" y="548"/>
                    </a:lnTo>
                    <a:lnTo>
                      <a:pt x="124" y="548"/>
                    </a:lnTo>
                    <a:close/>
                    <a:moveTo>
                      <a:pt x="534" y="186"/>
                    </a:moveTo>
                    <a:lnTo>
                      <a:pt x="534" y="186"/>
                    </a:lnTo>
                    <a:lnTo>
                      <a:pt x="532" y="186"/>
                    </a:lnTo>
                    <a:lnTo>
                      <a:pt x="532" y="182"/>
                    </a:lnTo>
                    <a:lnTo>
                      <a:pt x="532" y="176"/>
                    </a:lnTo>
                    <a:lnTo>
                      <a:pt x="530" y="174"/>
                    </a:lnTo>
                    <a:lnTo>
                      <a:pt x="528" y="174"/>
                    </a:lnTo>
                    <a:lnTo>
                      <a:pt x="526" y="176"/>
                    </a:lnTo>
                    <a:lnTo>
                      <a:pt x="516" y="174"/>
                    </a:lnTo>
                    <a:lnTo>
                      <a:pt x="510" y="172"/>
                    </a:lnTo>
                    <a:lnTo>
                      <a:pt x="506" y="166"/>
                    </a:lnTo>
                    <a:lnTo>
                      <a:pt x="504" y="160"/>
                    </a:lnTo>
                    <a:lnTo>
                      <a:pt x="502" y="160"/>
                    </a:lnTo>
                    <a:lnTo>
                      <a:pt x="502" y="168"/>
                    </a:lnTo>
                    <a:lnTo>
                      <a:pt x="500" y="166"/>
                    </a:lnTo>
                    <a:lnTo>
                      <a:pt x="494" y="166"/>
                    </a:lnTo>
                    <a:lnTo>
                      <a:pt x="492" y="166"/>
                    </a:lnTo>
                    <a:lnTo>
                      <a:pt x="490" y="162"/>
                    </a:lnTo>
                    <a:lnTo>
                      <a:pt x="486" y="158"/>
                    </a:lnTo>
                    <a:lnTo>
                      <a:pt x="482" y="152"/>
                    </a:lnTo>
                    <a:lnTo>
                      <a:pt x="482" y="148"/>
                    </a:lnTo>
                    <a:lnTo>
                      <a:pt x="480" y="142"/>
                    </a:lnTo>
                    <a:lnTo>
                      <a:pt x="478" y="142"/>
                    </a:lnTo>
                    <a:lnTo>
                      <a:pt x="474" y="140"/>
                    </a:lnTo>
                    <a:lnTo>
                      <a:pt x="474" y="136"/>
                    </a:lnTo>
                    <a:lnTo>
                      <a:pt x="474" y="132"/>
                    </a:lnTo>
                    <a:lnTo>
                      <a:pt x="472" y="130"/>
                    </a:lnTo>
                    <a:lnTo>
                      <a:pt x="470" y="128"/>
                    </a:lnTo>
                    <a:lnTo>
                      <a:pt x="470" y="126"/>
                    </a:lnTo>
                    <a:lnTo>
                      <a:pt x="466" y="124"/>
                    </a:lnTo>
                    <a:lnTo>
                      <a:pt x="464" y="126"/>
                    </a:lnTo>
                    <a:lnTo>
                      <a:pt x="460" y="124"/>
                    </a:lnTo>
                    <a:lnTo>
                      <a:pt x="456" y="124"/>
                    </a:lnTo>
                    <a:lnTo>
                      <a:pt x="454" y="126"/>
                    </a:lnTo>
                    <a:lnTo>
                      <a:pt x="452" y="126"/>
                    </a:lnTo>
                    <a:lnTo>
                      <a:pt x="448" y="126"/>
                    </a:lnTo>
                    <a:lnTo>
                      <a:pt x="446" y="122"/>
                    </a:lnTo>
                    <a:lnTo>
                      <a:pt x="444" y="122"/>
                    </a:lnTo>
                    <a:lnTo>
                      <a:pt x="440" y="130"/>
                    </a:lnTo>
                    <a:lnTo>
                      <a:pt x="440" y="130"/>
                    </a:lnTo>
                    <a:lnTo>
                      <a:pt x="440" y="134"/>
                    </a:lnTo>
                    <a:lnTo>
                      <a:pt x="436" y="136"/>
                    </a:lnTo>
                    <a:lnTo>
                      <a:pt x="432" y="138"/>
                    </a:lnTo>
                    <a:lnTo>
                      <a:pt x="430" y="132"/>
                    </a:lnTo>
                    <a:lnTo>
                      <a:pt x="432" y="128"/>
                    </a:lnTo>
                    <a:lnTo>
                      <a:pt x="436" y="116"/>
                    </a:lnTo>
                    <a:lnTo>
                      <a:pt x="434" y="116"/>
                    </a:lnTo>
                    <a:lnTo>
                      <a:pt x="428" y="108"/>
                    </a:lnTo>
                    <a:lnTo>
                      <a:pt x="428" y="106"/>
                    </a:lnTo>
                    <a:lnTo>
                      <a:pt x="426" y="104"/>
                    </a:lnTo>
                    <a:lnTo>
                      <a:pt x="424" y="104"/>
                    </a:lnTo>
                    <a:lnTo>
                      <a:pt x="424" y="106"/>
                    </a:lnTo>
                    <a:lnTo>
                      <a:pt x="420" y="102"/>
                    </a:lnTo>
                    <a:lnTo>
                      <a:pt x="414" y="102"/>
                    </a:lnTo>
                    <a:lnTo>
                      <a:pt x="414" y="106"/>
                    </a:lnTo>
                    <a:lnTo>
                      <a:pt x="412" y="108"/>
                    </a:lnTo>
                    <a:lnTo>
                      <a:pt x="408" y="110"/>
                    </a:lnTo>
                    <a:lnTo>
                      <a:pt x="408" y="116"/>
                    </a:lnTo>
                    <a:lnTo>
                      <a:pt x="406" y="116"/>
                    </a:lnTo>
                    <a:lnTo>
                      <a:pt x="406" y="114"/>
                    </a:lnTo>
                    <a:lnTo>
                      <a:pt x="404" y="114"/>
                    </a:lnTo>
                    <a:lnTo>
                      <a:pt x="404" y="110"/>
                    </a:lnTo>
                    <a:lnTo>
                      <a:pt x="400" y="106"/>
                    </a:lnTo>
                    <a:lnTo>
                      <a:pt x="394" y="102"/>
                    </a:lnTo>
                    <a:lnTo>
                      <a:pt x="384" y="100"/>
                    </a:lnTo>
                    <a:lnTo>
                      <a:pt x="382" y="112"/>
                    </a:lnTo>
                    <a:lnTo>
                      <a:pt x="382" y="114"/>
                    </a:lnTo>
                    <a:lnTo>
                      <a:pt x="384" y="116"/>
                    </a:lnTo>
                    <a:lnTo>
                      <a:pt x="384" y="126"/>
                    </a:lnTo>
                    <a:lnTo>
                      <a:pt x="380" y="128"/>
                    </a:lnTo>
                    <a:lnTo>
                      <a:pt x="378" y="124"/>
                    </a:lnTo>
                    <a:lnTo>
                      <a:pt x="372" y="124"/>
                    </a:lnTo>
                    <a:lnTo>
                      <a:pt x="362" y="114"/>
                    </a:lnTo>
                    <a:lnTo>
                      <a:pt x="362" y="112"/>
                    </a:lnTo>
                    <a:lnTo>
                      <a:pt x="362" y="110"/>
                    </a:lnTo>
                    <a:lnTo>
                      <a:pt x="364" y="106"/>
                    </a:lnTo>
                    <a:lnTo>
                      <a:pt x="362" y="98"/>
                    </a:lnTo>
                    <a:lnTo>
                      <a:pt x="362" y="92"/>
                    </a:lnTo>
                    <a:lnTo>
                      <a:pt x="352" y="90"/>
                    </a:lnTo>
                    <a:lnTo>
                      <a:pt x="346" y="96"/>
                    </a:lnTo>
                    <a:lnTo>
                      <a:pt x="340" y="102"/>
                    </a:lnTo>
                    <a:lnTo>
                      <a:pt x="338" y="104"/>
                    </a:lnTo>
                    <a:lnTo>
                      <a:pt x="330" y="104"/>
                    </a:lnTo>
                    <a:lnTo>
                      <a:pt x="326" y="104"/>
                    </a:lnTo>
                    <a:lnTo>
                      <a:pt x="320" y="106"/>
                    </a:lnTo>
                    <a:lnTo>
                      <a:pt x="316" y="108"/>
                    </a:lnTo>
                    <a:lnTo>
                      <a:pt x="314" y="110"/>
                    </a:lnTo>
                    <a:lnTo>
                      <a:pt x="310" y="110"/>
                    </a:lnTo>
                    <a:lnTo>
                      <a:pt x="308" y="112"/>
                    </a:lnTo>
                    <a:lnTo>
                      <a:pt x="306" y="116"/>
                    </a:lnTo>
                    <a:lnTo>
                      <a:pt x="306" y="126"/>
                    </a:lnTo>
                    <a:lnTo>
                      <a:pt x="300" y="126"/>
                    </a:lnTo>
                    <a:lnTo>
                      <a:pt x="300" y="128"/>
                    </a:lnTo>
                    <a:lnTo>
                      <a:pt x="300" y="130"/>
                    </a:lnTo>
                    <a:lnTo>
                      <a:pt x="296" y="132"/>
                    </a:lnTo>
                    <a:lnTo>
                      <a:pt x="292" y="136"/>
                    </a:lnTo>
                    <a:lnTo>
                      <a:pt x="290" y="136"/>
                    </a:lnTo>
                    <a:lnTo>
                      <a:pt x="292" y="140"/>
                    </a:lnTo>
                    <a:lnTo>
                      <a:pt x="294" y="142"/>
                    </a:lnTo>
                    <a:lnTo>
                      <a:pt x="298" y="142"/>
                    </a:lnTo>
                    <a:lnTo>
                      <a:pt x="302" y="142"/>
                    </a:lnTo>
                    <a:lnTo>
                      <a:pt x="304" y="142"/>
                    </a:lnTo>
                    <a:lnTo>
                      <a:pt x="304" y="140"/>
                    </a:lnTo>
                    <a:lnTo>
                      <a:pt x="306" y="138"/>
                    </a:lnTo>
                    <a:lnTo>
                      <a:pt x="308" y="138"/>
                    </a:lnTo>
                    <a:lnTo>
                      <a:pt x="310" y="140"/>
                    </a:lnTo>
                    <a:lnTo>
                      <a:pt x="308" y="140"/>
                    </a:lnTo>
                    <a:lnTo>
                      <a:pt x="308" y="142"/>
                    </a:lnTo>
                    <a:lnTo>
                      <a:pt x="312" y="144"/>
                    </a:lnTo>
                    <a:lnTo>
                      <a:pt x="304" y="144"/>
                    </a:lnTo>
                    <a:lnTo>
                      <a:pt x="304" y="148"/>
                    </a:lnTo>
                    <a:lnTo>
                      <a:pt x="316" y="148"/>
                    </a:lnTo>
                    <a:lnTo>
                      <a:pt x="318" y="142"/>
                    </a:lnTo>
                    <a:lnTo>
                      <a:pt x="324" y="144"/>
                    </a:lnTo>
                    <a:lnTo>
                      <a:pt x="330" y="146"/>
                    </a:lnTo>
                    <a:lnTo>
                      <a:pt x="334" y="142"/>
                    </a:lnTo>
                    <a:lnTo>
                      <a:pt x="342" y="140"/>
                    </a:lnTo>
                    <a:lnTo>
                      <a:pt x="348" y="142"/>
                    </a:lnTo>
                    <a:lnTo>
                      <a:pt x="348" y="144"/>
                    </a:lnTo>
                    <a:lnTo>
                      <a:pt x="342" y="144"/>
                    </a:lnTo>
                    <a:lnTo>
                      <a:pt x="334" y="146"/>
                    </a:lnTo>
                    <a:lnTo>
                      <a:pt x="334" y="150"/>
                    </a:lnTo>
                    <a:lnTo>
                      <a:pt x="332" y="150"/>
                    </a:lnTo>
                    <a:lnTo>
                      <a:pt x="330" y="148"/>
                    </a:lnTo>
                    <a:lnTo>
                      <a:pt x="326" y="150"/>
                    </a:lnTo>
                    <a:lnTo>
                      <a:pt x="324" y="150"/>
                    </a:lnTo>
                    <a:lnTo>
                      <a:pt x="312" y="154"/>
                    </a:lnTo>
                    <a:lnTo>
                      <a:pt x="308" y="156"/>
                    </a:lnTo>
                    <a:lnTo>
                      <a:pt x="308" y="158"/>
                    </a:lnTo>
                    <a:lnTo>
                      <a:pt x="310" y="160"/>
                    </a:lnTo>
                    <a:lnTo>
                      <a:pt x="314" y="162"/>
                    </a:lnTo>
                    <a:lnTo>
                      <a:pt x="320" y="164"/>
                    </a:lnTo>
                    <a:lnTo>
                      <a:pt x="320" y="162"/>
                    </a:lnTo>
                    <a:lnTo>
                      <a:pt x="322" y="160"/>
                    </a:lnTo>
                    <a:lnTo>
                      <a:pt x="324" y="162"/>
                    </a:lnTo>
                    <a:lnTo>
                      <a:pt x="328" y="164"/>
                    </a:lnTo>
                    <a:lnTo>
                      <a:pt x="336" y="162"/>
                    </a:lnTo>
                    <a:lnTo>
                      <a:pt x="346" y="162"/>
                    </a:lnTo>
                    <a:lnTo>
                      <a:pt x="348" y="162"/>
                    </a:lnTo>
                    <a:lnTo>
                      <a:pt x="352" y="164"/>
                    </a:lnTo>
                    <a:lnTo>
                      <a:pt x="356" y="162"/>
                    </a:lnTo>
                    <a:lnTo>
                      <a:pt x="362" y="160"/>
                    </a:lnTo>
                    <a:lnTo>
                      <a:pt x="364" y="162"/>
                    </a:lnTo>
                    <a:lnTo>
                      <a:pt x="368" y="164"/>
                    </a:lnTo>
                    <a:lnTo>
                      <a:pt x="372" y="162"/>
                    </a:lnTo>
                    <a:lnTo>
                      <a:pt x="374" y="158"/>
                    </a:lnTo>
                    <a:lnTo>
                      <a:pt x="378" y="160"/>
                    </a:lnTo>
                    <a:lnTo>
                      <a:pt x="380" y="162"/>
                    </a:lnTo>
                    <a:lnTo>
                      <a:pt x="380" y="164"/>
                    </a:lnTo>
                    <a:lnTo>
                      <a:pt x="386" y="164"/>
                    </a:lnTo>
                    <a:lnTo>
                      <a:pt x="388" y="162"/>
                    </a:lnTo>
                    <a:lnTo>
                      <a:pt x="392" y="160"/>
                    </a:lnTo>
                    <a:lnTo>
                      <a:pt x="394" y="162"/>
                    </a:lnTo>
                    <a:lnTo>
                      <a:pt x="394" y="164"/>
                    </a:lnTo>
                    <a:lnTo>
                      <a:pt x="390" y="164"/>
                    </a:lnTo>
                    <a:lnTo>
                      <a:pt x="390" y="168"/>
                    </a:lnTo>
                    <a:lnTo>
                      <a:pt x="384" y="170"/>
                    </a:lnTo>
                    <a:lnTo>
                      <a:pt x="384" y="174"/>
                    </a:lnTo>
                    <a:lnTo>
                      <a:pt x="376" y="174"/>
                    </a:lnTo>
                    <a:lnTo>
                      <a:pt x="366" y="174"/>
                    </a:lnTo>
                    <a:lnTo>
                      <a:pt x="362" y="170"/>
                    </a:lnTo>
                    <a:lnTo>
                      <a:pt x="346" y="174"/>
                    </a:lnTo>
                    <a:lnTo>
                      <a:pt x="346" y="176"/>
                    </a:lnTo>
                    <a:lnTo>
                      <a:pt x="342" y="178"/>
                    </a:lnTo>
                    <a:lnTo>
                      <a:pt x="334" y="178"/>
                    </a:lnTo>
                    <a:lnTo>
                      <a:pt x="322" y="176"/>
                    </a:lnTo>
                    <a:lnTo>
                      <a:pt x="324" y="178"/>
                    </a:lnTo>
                    <a:lnTo>
                      <a:pt x="322" y="182"/>
                    </a:lnTo>
                    <a:lnTo>
                      <a:pt x="322" y="184"/>
                    </a:lnTo>
                    <a:lnTo>
                      <a:pt x="322" y="186"/>
                    </a:lnTo>
                    <a:lnTo>
                      <a:pt x="324" y="186"/>
                    </a:lnTo>
                    <a:lnTo>
                      <a:pt x="324" y="190"/>
                    </a:lnTo>
                    <a:lnTo>
                      <a:pt x="330" y="192"/>
                    </a:lnTo>
                    <a:lnTo>
                      <a:pt x="330" y="196"/>
                    </a:lnTo>
                    <a:lnTo>
                      <a:pt x="336" y="198"/>
                    </a:lnTo>
                    <a:lnTo>
                      <a:pt x="344" y="200"/>
                    </a:lnTo>
                    <a:lnTo>
                      <a:pt x="346" y="200"/>
                    </a:lnTo>
                    <a:lnTo>
                      <a:pt x="352" y="200"/>
                    </a:lnTo>
                    <a:lnTo>
                      <a:pt x="358" y="202"/>
                    </a:lnTo>
                    <a:lnTo>
                      <a:pt x="360" y="208"/>
                    </a:lnTo>
                    <a:lnTo>
                      <a:pt x="362" y="214"/>
                    </a:lnTo>
                    <a:lnTo>
                      <a:pt x="364" y="214"/>
                    </a:lnTo>
                    <a:lnTo>
                      <a:pt x="368" y="214"/>
                    </a:lnTo>
                    <a:lnTo>
                      <a:pt x="370" y="216"/>
                    </a:lnTo>
                    <a:lnTo>
                      <a:pt x="372" y="216"/>
                    </a:lnTo>
                    <a:lnTo>
                      <a:pt x="372" y="218"/>
                    </a:lnTo>
                    <a:lnTo>
                      <a:pt x="378" y="218"/>
                    </a:lnTo>
                    <a:lnTo>
                      <a:pt x="384" y="216"/>
                    </a:lnTo>
                    <a:lnTo>
                      <a:pt x="384" y="214"/>
                    </a:lnTo>
                    <a:lnTo>
                      <a:pt x="388" y="212"/>
                    </a:lnTo>
                    <a:lnTo>
                      <a:pt x="392" y="212"/>
                    </a:lnTo>
                    <a:lnTo>
                      <a:pt x="394" y="214"/>
                    </a:lnTo>
                    <a:lnTo>
                      <a:pt x="406" y="214"/>
                    </a:lnTo>
                    <a:lnTo>
                      <a:pt x="406" y="212"/>
                    </a:lnTo>
                    <a:lnTo>
                      <a:pt x="414" y="210"/>
                    </a:lnTo>
                    <a:lnTo>
                      <a:pt x="420" y="210"/>
                    </a:lnTo>
                    <a:lnTo>
                      <a:pt x="422" y="206"/>
                    </a:lnTo>
                    <a:lnTo>
                      <a:pt x="426" y="206"/>
                    </a:lnTo>
                    <a:lnTo>
                      <a:pt x="432" y="204"/>
                    </a:lnTo>
                    <a:lnTo>
                      <a:pt x="438" y="200"/>
                    </a:lnTo>
                    <a:lnTo>
                      <a:pt x="444" y="200"/>
                    </a:lnTo>
                    <a:lnTo>
                      <a:pt x="448" y="198"/>
                    </a:lnTo>
                    <a:lnTo>
                      <a:pt x="452" y="192"/>
                    </a:lnTo>
                    <a:lnTo>
                      <a:pt x="454" y="192"/>
                    </a:lnTo>
                    <a:lnTo>
                      <a:pt x="458" y="192"/>
                    </a:lnTo>
                    <a:lnTo>
                      <a:pt x="464" y="186"/>
                    </a:lnTo>
                    <a:lnTo>
                      <a:pt x="464" y="186"/>
                    </a:lnTo>
                    <a:lnTo>
                      <a:pt x="466" y="186"/>
                    </a:lnTo>
                    <a:lnTo>
                      <a:pt x="468" y="186"/>
                    </a:lnTo>
                    <a:lnTo>
                      <a:pt x="466" y="196"/>
                    </a:lnTo>
                    <a:lnTo>
                      <a:pt x="466" y="198"/>
                    </a:lnTo>
                    <a:lnTo>
                      <a:pt x="476" y="200"/>
                    </a:lnTo>
                    <a:lnTo>
                      <a:pt x="476" y="204"/>
                    </a:lnTo>
                    <a:lnTo>
                      <a:pt x="480" y="204"/>
                    </a:lnTo>
                    <a:lnTo>
                      <a:pt x="482" y="202"/>
                    </a:lnTo>
                    <a:lnTo>
                      <a:pt x="486" y="204"/>
                    </a:lnTo>
                    <a:lnTo>
                      <a:pt x="492" y="206"/>
                    </a:lnTo>
                    <a:lnTo>
                      <a:pt x="494" y="206"/>
                    </a:lnTo>
                    <a:lnTo>
                      <a:pt x="496" y="204"/>
                    </a:lnTo>
                    <a:lnTo>
                      <a:pt x="498" y="208"/>
                    </a:lnTo>
                    <a:lnTo>
                      <a:pt x="500" y="208"/>
                    </a:lnTo>
                    <a:lnTo>
                      <a:pt x="502" y="208"/>
                    </a:lnTo>
                    <a:lnTo>
                      <a:pt x="504" y="208"/>
                    </a:lnTo>
                    <a:lnTo>
                      <a:pt x="504" y="204"/>
                    </a:lnTo>
                    <a:lnTo>
                      <a:pt x="512" y="206"/>
                    </a:lnTo>
                    <a:lnTo>
                      <a:pt x="514" y="202"/>
                    </a:lnTo>
                    <a:lnTo>
                      <a:pt x="518" y="202"/>
                    </a:lnTo>
                    <a:lnTo>
                      <a:pt x="520" y="200"/>
                    </a:lnTo>
                    <a:lnTo>
                      <a:pt x="522" y="198"/>
                    </a:lnTo>
                    <a:lnTo>
                      <a:pt x="522" y="196"/>
                    </a:lnTo>
                    <a:lnTo>
                      <a:pt x="520" y="196"/>
                    </a:lnTo>
                    <a:lnTo>
                      <a:pt x="520" y="192"/>
                    </a:lnTo>
                    <a:lnTo>
                      <a:pt x="516" y="192"/>
                    </a:lnTo>
                    <a:lnTo>
                      <a:pt x="512" y="192"/>
                    </a:lnTo>
                    <a:lnTo>
                      <a:pt x="510" y="194"/>
                    </a:lnTo>
                    <a:lnTo>
                      <a:pt x="510" y="196"/>
                    </a:lnTo>
                    <a:lnTo>
                      <a:pt x="506" y="196"/>
                    </a:lnTo>
                    <a:lnTo>
                      <a:pt x="504" y="194"/>
                    </a:lnTo>
                    <a:lnTo>
                      <a:pt x="502" y="190"/>
                    </a:lnTo>
                    <a:lnTo>
                      <a:pt x="498" y="188"/>
                    </a:lnTo>
                    <a:lnTo>
                      <a:pt x="498" y="186"/>
                    </a:lnTo>
                    <a:lnTo>
                      <a:pt x="504" y="186"/>
                    </a:lnTo>
                    <a:lnTo>
                      <a:pt x="508" y="190"/>
                    </a:lnTo>
                    <a:lnTo>
                      <a:pt x="514" y="190"/>
                    </a:lnTo>
                    <a:lnTo>
                      <a:pt x="522" y="190"/>
                    </a:lnTo>
                    <a:lnTo>
                      <a:pt x="522" y="188"/>
                    </a:lnTo>
                    <a:lnTo>
                      <a:pt x="516" y="186"/>
                    </a:lnTo>
                    <a:lnTo>
                      <a:pt x="514" y="186"/>
                    </a:lnTo>
                    <a:lnTo>
                      <a:pt x="516" y="186"/>
                    </a:lnTo>
                    <a:lnTo>
                      <a:pt x="520" y="184"/>
                    </a:lnTo>
                    <a:lnTo>
                      <a:pt x="522" y="182"/>
                    </a:lnTo>
                    <a:lnTo>
                      <a:pt x="524" y="186"/>
                    </a:lnTo>
                    <a:lnTo>
                      <a:pt x="528" y="186"/>
                    </a:lnTo>
                    <a:lnTo>
                      <a:pt x="528" y="190"/>
                    </a:lnTo>
                    <a:lnTo>
                      <a:pt x="530" y="190"/>
                    </a:lnTo>
                    <a:lnTo>
                      <a:pt x="532" y="192"/>
                    </a:lnTo>
                    <a:lnTo>
                      <a:pt x="534" y="190"/>
                    </a:lnTo>
                    <a:lnTo>
                      <a:pt x="534" y="186"/>
                    </a:lnTo>
                    <a:lnTo>
                      <a:pt x="534" y="186"/>
                    </a:lnTo>
                    <a:close/>
                    <a:moveTo>
                      <a:pt x="590" y="130"/>
                    </a:moveTo>
                    <a:lnTo>
                      <a:pt x="590" y="130"/>
                    </a:lnTo>
                    <a:lnTo>
                      <a:pt x="590" y="120"/>
                    </a:lnTo>
                    <a:lnTo>
                      <a:pt x="588" y="118"/>
                    </a:lnTo>
                    <a:lnTo>
                      <a:pt x="588" y="116"/>
                    </a:lnTo>
                    <a:lnTo>
                      <a:pt x="590" y="112"/>
                    </a:lnTo>
                    <a:lnTo>
                      <a:pt x="588" y="110"/>
                    </a:lnTo>
                    <a:lnTo>
                      <a:pt x="578" y="116"/>
                    </a:lnTo>
                    <a:lnTo>
                      <a:pt x="576" y="104"/>
                    </a:lnTo>
                    <a:lnTo>
                      <a:pt x="572" y="106"/>
                    </a:lnTo>
                    <a:lnTo>
                      <a:pt x="570" y="106"/>
                    </a:lnTo>
                    <a:lnTo>
                      <a:pt x="566" y="100"/>
                    </a:lnTo>
                    <a:lnTo>
                      <a:pt x="564" y="100"/>
                    </a:lnTo>
                    <a:lnTo>
                      <a:pt x="566" y="96"/>
                    </a:lnTo>
                    <a:lnTo>
                      <a:pt x="578" y="96"/>
                    </a:lnTo>
                    <a:lnTo>
                      <a:pt x="578" y="92"/>
                    </a:lnTo>
                    <a:lnTo>
                      <a:pt x="576" y="92"/>
                    </a:lnTo>
                    <a:lnTo>
                      <a:pt x="578" y="86"/>
                    </a:lnTo>
                    <a:lnTo>
                      <a:pt x="574" y="86"/>
                    </a:lnTo>
                    <a:lnTo>
                      <a:pt x="572" y="82"/>
                    </a:lnTo>
                    <a:lnTo>
                      <a:pt x="566" y="82"/>
                    </a:lnTo>
                    <a:lnTo>
                      <a:pt x="560" y="82"/>
                    </a:lnTo>
                    <a:lnTo>
                      <a:pt x="560" y="84"/>
                    </a:lnTo>
                    <a:lnTo>
                      <a:pt x="554" y="84"/>
                    </a:lnTo>
                    <a:lnTo>
                      <a:pt x="558" y="82"/>
                    </a:lnTo>
                    <a:lnTo>
                      <a:pt x="562" y="80"/>
                    </a:lnTo>
                    <a:lnTo>
                      <a:pt x="566" y="78"/>
                    </a:lnTo>
                    <a:lnTo>
                      <a:pt x="568" y="76"/>
                    </a:lnTo>
                    <a:lnTo>
                      <a:pt x="568" y="74"/>
                    </a:lnTo>
                    <a:lnTo>
                      <a:pt x="566" y="72"/>
                    </a:lnTo>
                    <a:lnTo>
                      <a:pt x="562" y="72"/>
                    </a:lnTo>
                    <a:lnTo>
                      <a:pt x="560" y="76"/>
                    </a:lnTo>
                    <a:lnTo>
                      <a:pt x="558" y="78"/>
                    </a:lnTo>
                    <a:lnTo>
                      <a:pt x="548" y="80"/>
                    </a:lnTo>
                    <a:lnTo>
                      <a:pt x="544" y="82"/>
                    </a:lnTo>
                    <a:lnTo>
                      <a:pt x="548" y="84"/>
                    </a:lnTo>
                    <a:lnTo>
                      <a:pt x="546" y="86"/>
                    </a:lnTo>
                    <a:lnTo>
                      <a:pt x="542" y="86"/>
                    </a:lnTo>
                    <a:lnTo>
                      <a:pt x="536" y="84"/>
                    </a:lnTo>
                    <a:lnTo>
                      <a:pt x="534" y="80"/>
                    </a:lnTo>
                    <a:lnTo>
                      <a:pt x="528" y="86"/>
                    </a:lnTo>
                    <a:lnTo>
                      <a:pt x="524" y="92"/>
                    </a:lnTo>
                    <a:lnTo>
                      <a:pt x="524" y="96"/>
                    </a:lnTo>
                    <a:lnTo>
                      <a:pt x="526" y="98"/>
                    </a:lnTo>
                    <a:lnTo>
                      <a:pt x="530" y="100"/>
                    </a:lnTo>
                    <a:lnTo>
                      <a:pt x="536" y="102"/>
                    </a:lnTo>
                    <a:lnTo>
                      <a:pt x="538" y="104"/>
                    </a:lnTo>
                    <a:lnTo>
                      <a:pt x="536" y="106"/>
                    </a:lnTo>
                    <a:lnTo>
                      <a:pt x="536" y="112"/>
                    </a:lnTo>
                    <a:lnTo>
                      <a:pt x="534" y="114"/>
                    </a:lnTo>
                    <a:lnTo>
                      <a:pt x="528" y="114"/>
                    </a:lnTo>
                    <a:lnTo>
                      <a:pt x="516" y="114"/>
                    </a:lnTo>
                    <a:lnTo>
                      <a:pt x="512" y="104"/>
                    </a:lnTo>
                    <a:lnTo>
                      <a:pt x="508" y="106"/>
                    </a:lnTo>
                    <a:lnTo>
                      <a:pt x="506" y="106"/>
                    </a:lnTo>
                    <a:lnTo>
                      <a:pt x="504" y="106"/>
                    </a:lnTo>
                    <a:lnTo>
                      <a:pt x="504" y="108"/>
                    </a:lnTo>
                    <a:lnTo>
                      <a:pt x="504" y="110"/>
                    </a:lnTo>
                    <a:lnTo>
                      <a:pt x="506" y="114"/>
                    </a:lnTo>
                    <a:lnTo>
                      <a:pt x="504" y="116"/>
                    </a:lnTo>
                    <a:lnTo>
                      <a:pt x="508" y="120"/>
                    </a:lnTo>
                    <a:lnTo>
                      <a:pt x="512" y="126"/>
                    </a:lnTo>
                    <a:lnTo>
                      <a:pt x="518" y="126"/>
                    </a:lnTo>
                    <a:lnTo>
                      <a:pt x="522" y="130"/>
                    </a:lnTo>
                    <a:lnTo>
                      <a:pt x="524" y="130"/>
                    </a:lnTo>
                    <a:lnTo>
                      <a:pt x="524" y="126"/>
                    </a:lnTo>
                    <a:lnTo>
                      <a:pt x="528" y="124"/>
                    </a:lnTo>
                    <a:lnTo>
                      <a:pt x="532" y="130"/>
                    </a:lnTo>
                    <a:lnTo>
                      <a:pt x="536" y="132"/>
                    </a:lnTo>
                    <a:lnTo>
                      <a:pt x="540" y="132"/>
                    </a:lnTo>
                    <a:lnTo>
                      <a:pt x="546" y="138"/>
                    </a:lnTo>
                    <a:lnTo>
                      <a:pt x="546" y="142"/>
                    </a:lnTo>
                    <a:lnTo>
                      <a:pt x="552" y="150"/>
                    </a:lnTo>
                    <a:lnTo>
                      <a:pt x="554" y="150"/>
                    </a:lnTo>
                    <a:lnTo>
                      <a:pt x="560" y="150"/>
                    </a:lnTo>
                    <a:lnTo>
                      <a:pt x="564" y="146"/>
                    </a:lnTo>
                    <a:lnTo>
                      <a:pt x="568" y="140"/>
                    </a:lnTo>
                    <a:lnTo>
                      <a:pt x="572" y="140"/>
                    </a:lnTo>
                    <a:lnTo>
                      <a:pt x="576" y="138"/>
                    </a:lnTo>
                    <a:lnTo>
                      <a:pt x="582" y="136"/>
                    </a:lnTo>
                    <a:lnTo>
                      <a:pt x="588" y="134"/>
                    </a:lnTo>
                    <a:lnTo>
                      <a:pt x="588" y="130"/>
                    </a:lnTo>
                    <a:lnTo>
                      <a:pt x="590" y="130"/>
                    </a:lnTo>
                    <a:lnTo>
                      <a:pt x="590" y="130"/>
                    </a:lnTo>
                    <a:close/>
                    <a:moveTo>
                      <a:pt x="594" y="196"/>
                    </a:moveTo>
                    <a:lnTo>
                      <a:pt x="584" y="186"/>
                    </a:lnTo>
                    <a:lnTo>
                      <a:pt x="578" y="186"/>
                    </a:lnTo>
                    <a:lnTo>
                      <a:pt x="576" y="186"/>
                    </a:lnTo>
                    <a:lnTo>
                      <a:pt x="574" y="186"/>
                    </a:lnTo>
                    <a:lnTo>
                      <a:pt x="572" y="186"/>
                    </a:lnTo>
                    <a:lnTo>
                      <a:pt x="572" y="184"/>
                    </a:lnTo>
                    <a:lnTo>
                      <a:pt x="568" y="184"/>
                    </a:lnTo>
                    <a:lnTo>
                      <a:pt x="566" y="186"/>
                    </a:lnTo>
                    <a:lnTo>
                      <a:pt x="566" y="190"/>
                    </a:lnTo>
                    <a:lnTo>
                      <a:pt x="564" y="188"/>
                    </a:lnTo>
                    <a:lnTo>
                      <a:pt x="560" y="188"/>
                    </a:lnTo>
                    <a:lnTo>
                      <a:pt x="558" y="196"/>
                    </a:lnTo>
                    <a:lnTo>
                      <a:pt x="556" y="200"/>
                    </a:lnTo>
                    <a:lnTo>
                      <a:pt x="554" y="202"/>
                    </a:lnTo>
                    <a:lnTo>
                      <a:pt x="550" y="202"/>
                    </a:lnTo>
                    <a:lnTo>
                      <a:pt x="548" y="204"/>
                    </a:lnTo>
                    <a:lnTo>
                      <a:pt x="550" y="206"/>
                    </a:lnTo>
                    <a:lnTo>
                      <a:pt x="552" y="208"/>
                    </a:lnTo>
                    <a:lnTo>
                      <a:pt x="554" y="206"/>
                    </a:lnTo>
                    <a:lnTo>
                      <a:pt x="556" y="206"/>
                    </a:lnTo>
                    <a:lnTo>
                      <a:pt x="556" y="208"/>
                    </a:lnTo>
                    <a:lnTo>
                      <a:pt x="558" y="210"/>
                    </a:lnTo>
                    <a:lnTo>
                      <a:pt x="560" y="208"/>
                    </a:lnTo>
                    <a:lnTo>
                      <a:pt x="562" y="206"/>
                    </a:lnTo>
                    <a:lnTo>
                      <a:pt x="564" y="206"/>
                    </a:lnTo>
                    <a:lnTo>
                      <a:pt x="564" y="208"/>
                    </a:lnTo>
                    <a:lnTo>
                      <a:pt x="564" y="210"/>
                    </a:lnTo>
                    <a:lnTo>
                      <a:pt x="564" y="212"/>
                    </a:lnTo>
                    <a:lnTo>
                      <a:pt x="568" y="214"/>
                    </a:lnTo>
                    <a:lnTo>
                      <a:pt x="570" y="218"/>
                    </a:lnTo>
                    <a:lnTo>
                      <a:pt x="572" y="218"/>
                    </a:lnTo>
                    <a:lnTo>
                      <a:pt x="574" y="218"/>
                    </a:lnTo>
                    <a:lnTo>
                      <a:pt x="576" y="218"/>
                    </a:lnTo>
                    <a:lnTo>
                      <a:pt x="578" y="218"/>
                    </a:lnTo>
                    <a:lnTo>
                      <a:pt x="580" y="216"/>
                    </a:lnTo>
                    <a:lnTo>
                      <a:pt x="580" y="212"/>
                    </a:lnTo>
                    <a:lnTo>
                      <a:pt x="586" y="214"/>
                    </a:lnTo>
                    <a:lnTo>
                      <a:pt x="590" y="212"/>
                    </a:lnTo>
                    <a:lnTo>
                      <a:pt x="596" y="212"/>
                    </a:lnTo>
                    <a:lnTo>
                      <a:pt x="598" y="208"/>
                    </a:lnTo>
                    <a:lnTo>
                      <a:pt x="594" y="208"/>
                    </a:lnTo>
                    <a:lnTo>
                      <a:pt x="594" y="202"/>
                    </a:lnTo>
                    <a:lnTo>
                      <a:pt x="594" y="196"/>
                    </a:lnTo>
                    <a:lnTo>
                      <a:pt x="594" y="196"/>
                    </a:lnTo>
                    <a:close/>
                    <a:moveTo>
                      <a:pt x="130" y="562"/>
                    </a:moveTo>
                    <a:lnTo>
                      <a:pt x="130" y="562"/>
                    </a:lnTo>
                    <a:lnTo>
                      <a:pt x="132" y="558"/>
                    </a:lnTo>
                    <a:lnTo>
                      <a:pt x="132" y="556"/>
                    </a:lnTo>
                    <a:lnTo>
                      <a:pt x="128" y="556"/>
                    </a:lnTo>
                    <a:lnTo>
                      <a:pt x="130" y="554"/>
                    </a:lnTo>
                    <a:lnTo>
                      <a:pt x="130" y="552"/>
                    </a:lnTo>
                    <a:lnTo>
                      <a:pt x="128" y="550"/>
                    </a:lnTo>
                    <a:lnTo>
                      <a:pt x="126" y="550"/>
                    </a:lnTo>
                    <a:lnTo>
                      <a:pt x="120" y="554"/>
                    </a:lnTo>
                    <a:lnTo>
                      <a:pt x="120" y="556"/>
                    </a:lnTo>
                    <a:lnTo>
                      <a:pt x="122" y="556"/>
                    </a:lnTo>
                    <a:lnTo>
                      <a:pt x="122" y="558"/>
                    </a:lnTo>
                    <a:lnTo>
                      <a:pt x="120" y="556"/>
                    </a:lnTo>
                    <a:lnTo>
                      <a:pt x="120" y="558"/>
                    </a:lnTo>
                    <a:lnTo>
                      <a:pt x="122" y="564"/>
                    </a:lnTo>
                    <a:lnTo>
                      <a:pt x="126" y="568"/>
                    </a:lnTo>
                    <a:lnTo>
                      <a:pt x="134" y="572"/>
                    </a:lnTo>
                    <a:lnTo>
                      <a:pt x="134" y="570"/>
                    </a:lnTo>
                    <a:lnTo>
                      <a:pt x="132" y="566"/>
                    </a:lnTo>
                    <a:lnTo>
                      <a:pt x="130" y="566"/>
                    </a:lnTo>
                    <a:lnTo>
                      <a:pt x="134" y="564"/>
                    </a:lnTo>
                    <a:lnTo>
                      <a:pt x="130" y="562"/>
                    </a:lnTo>
                    <a:lnTo>
                      <a:pt x="130" y="562"/>
                    </a:lnTo>
                    <a:close/>
                    <a:moveTo>
                      <a:pt x="456" y="118"/>
                    </a:moveTo>
                    <a:lnTo>
                      <a:pt x="456" y="118"/>
                    </a:lnTo>
                    <a:lnTo>
                      <a:pt x="460" y="120"/>
                    </a:lnTo>
                    <a:lnTo>
                      <a:pt x="462" y="122"/>
                    </a:lnTo>
                    <a:lnTo>
                      <a:pt x="466" y="122"/>
                    </a:lnTo>
                    <a:lnTo>
                      <a:pt x="466" y="120"/>
                    </a:lnTo>
                    <a:lnTo>
                      <a:pt x="466" y="112"/>
                    </a:lnTo>
                    <a:lnTo>
                      <a:pt x="464" y="110"/>
                    </a:lnTo>
                    <a:lnTo>
                      <a:pt x="460" y="108"/>
                    </a:lnTo>
                    <a:lnTo>
                      <a:pt x="458" y="104"/>
                    </a:lnTo>
                    <a:lnTo>
                      <a:pt x="458" y="100"/>
                    </a:lnTo>
                    <a:lnTo>
                      <a:pt x="448" y="92"/>
                    </a:lnTo>
                    <a:lnTo>
                      <a:pt x="444" y="92"/>
                    </a:lnTo>
                    <a:lnTo>
                      <a:pt x="442" y="104"/>
                    </a:lnTo>
                    <a:lnTo>
                      <a:pt x="446" y="116"/>
                    </a:lnTo>
                    <a:lnTo>
                      <a:pt x="456" y="118"/>
                    </a:lnTo>
                    <a:lnTo>
                      <a:pt x="456" y="118"/>
                    </a:lnTo>
                    <a:close/>
                    <a:moveTo>
                      <a:pt x="230" y="138"/>
                    </a:moveTo>
                    <a:lnTo>
                      <a:pt x="230" y="140"/>
                    </a:lnTo>
                    <a:lnTo>
                      <a:pt x="232" y="140"/>
                    </a:lnTo>
                    <a:lnTo>
                      <a:pt x="234" y="146"/>
                    </a:lnTo>
                    <a:lnTo>
                      <a:pt x="236" y="150"/>
                    </a:lnTo>
                    <a:lnTo>
                      <a:pt x="238" y="152"/>
                    </a:lnTo>
                    <a:lnTo>
                      <a:pt x="242" y="152"/>
                    </a:lnTo>
                    <a:lnTo>
                      <a:pt x="246" y="152"/>
                    </a:lnTo>
                    <a:lnTo>
                      <a:pt x="252" y="148"/>
                    </a:lnTo>
                    <a:lnTo>
                      <a:pt x="260" y="138"/>
                    </a:lnTo>
                    <a:lnTo>
                      <a:pt x="262" y="138"/>
                    </a:lnTo>
                    <a:lnTo>
                      <a:pt x="264" y="142"/>
                    </a:lnTo>
                    <a:lnTo>
                      <a:pt x="272" y="142"/>
                    </a:lnTo>
                    <a:lnTo>
                      <a:pt x="278" y="140"/>
                    </a:lnTo>
                    <a:lnTo>
                      <a:pt x="282" y="140"/>
                    </a:lnTo>
                    <a:lnTo>
                      <a:pt x="282" y="138"/>
                    </a:lnTo>
                    <a:lnTo>
                      <a:pt x="284" y="136"/>
                    </a:lnTo>
                    <a:lnTo>
                      <a:pt x="284" y="134"/>
                    </a:lnTo>
                    <a:lnTo>
                      <a:pt x="286" y="132"/>
                    </a:lnTo>
                    <a:lnTo>
                      <a:pt x="286" y="130"/>
                    </a:lnTo>
                    <a:lnTo>
                      <a:pt x="286" y="128"/>
                    </a:lnTo>
                    <a:lnTo>
                      <a:pt x="286" y="124"/>
                    </a:lnTo>
                    <a:lnTo>
                      <a:pt x="290" y="124"/>
                    </a:lnTo>
                    <a:lnTo>
                      <a:pt x="290" y="120"/>
                    </a:lnTo>
                    <a:lnTo>
                      <a:pt x="292" y="116"/>
                    </a:lnTo>
                    <a:lnTo>
                      <a:pt x="298" y="114"/>
                    </a:lnTo>
                    <a:lnTo>
                      <a:pt x="298" y="112"/>
                    </a:lnTo>
                    <a:lnTo>
                      <a:pt x="306" y="104"/>
                    </a:lnTo>
                    <a:lnTo>
                      <a:pt x="314" y="102"/>
                    </a:lnTo>
                    <a:lnTo>
                      <a:pt x="320" y="100"/>
                    </a:lnTo>
                    <a:lnTo>
                      <a:pt x="324" y="96"/>
                    </a:lnTo>
                    <a:lnTo>
                      <a:pt x="328" y="96"/>
                    </a:lnTo>
                    <a:lnTo>
                      <a:pt x="330" y="98"/>
                    </a:lnTo>
                    <a:lnTo>
                      <a:pt x="332" y="96"/>
                    </a:lnTo>
                    <a:lnTo>
                      <a:pt x="340" y="96"/>
                    </a:lnTo>
                    <a:lnTo>
                      <a:pt x="344" y="92"/>
                    </a:lnTo>
                    <a:lnTo>
                      <a:pt x="344" y="88"/>
                    </a:lnTo>
                    <a:lnTo>
                      <a:pt x="340" y="86"/>
                    </a:lnTo>
                    <a:lnTo>
                      <a:pt x="336" y="84"/>
                    </a:lnTo>
                    <a:lnTo>
                      <a:pt x="336" y="82"/>
                    </a:lnTo>
                    <a:lnTo>
                      <a:pt x="334" y="78"/>
                    </a:lnTo>
                    <a:lnTo>
                      <a:pt x="320" y="74"/>
                    </a:lnTo>
                    <a:lnTo>
                      <a:pt x="312" y="74"/>
                    </a:lnTo>
                    <a:lnTo>
                      <a:pt x="306" y="74"/>
                    </a:lnTo>
                    <a:lnTo>
                      <a:pt x="304" y="76"/>
                    </a:lnTo>
                    <a:lnTo>
                      <a:pt x="288" y="74"/>
                    </a:lnTo>
                    <a:lnTo>
                      <a:pt x="276" y="70"/>
                    </a:lnTo>
                    <a:lnTo>
                      <a:pt x="272" y="66"/>
                    </a:lnTo>
                    <a:lnTo>
                      <a:pt x="266" y="64"/>
                    </a:lnTo>
                    <a:lnTo>
                      <a:pt x="260" y="68"/>
                    </a:lnTo>
                    <a:lnTo>
                      <a:pt x="252" y="70"/>
                    </a:lnTo>
                    <a:lnTo>
                      <a:pt x="244" y="70"/>
                    </a:lnTo>
                    <a:lnTo>
                      <a:pt x="242" y="72"/>
                    </a:lnTo>
                    <a:lnTo>
                      <a:pt x="236" y="72"/>
                    </a:lnTo>
                    <a:lnTo>
                      <a:pt x="226" y="76"/>
                    </a:lnTo>
                    <a:lnTo>
                      <a:pt x="228" y="82"/>
                    </a:lnTo>
                    <a:lnTo>
                      <a:pt x="230" y="88"/>
                    </a:lnTo>
                    <a:lnTo>
                      <a:pt x="228" y="92"/>
                    </a:lnTo>
                    <a:lnTo>
                      <a:pt x="228" y="98"/>
                    </a:lnTo>
                    <a:lnTo>
                      <a:pt x="228" y="104"/>
                    </a:lnTo>
                    <a:lnTo>
                      <a:pt x="230" y="104"/>
                    </a:lnTo>
                    <a:lnTo>
                      <a:pt x="230" y="106"/>
                    </a:lnTo>
                    <a:lnTo>
                      <a:pt x="224" y="106"/>
                    </a:lnTo>
                    <a:lnTo>
                      <a:pt x="226" y="114"/>
                    </a:lnTo>
                    <a:lnTo>
                      <a:pt x="228" y="118"/>
                    </a:lnTo>
                    <a:lnTo>
                      <a:pt x="226" y="122"/>
                    </a:lnTo>
                    <a:lnTo>
                      <a:pt x="224" y="126"/>
                    </a:lnTo>
                    <a:lnTo>
                      <a:pt x="222" y="130"/>
                    </a:lnTo>
                    <a:lnTo>
                      <a:pt x="222" y="132"/>
                    </a:lnTo>
                    <a:lnTo>
                      <a:pt x="224" y="134"/>
                    </a:lnTo>
                    <a:lnTo>
                      <a:pt x="226" y="136"/>
                    </a:lnTo>
                    <a:lnTo>
                      <a:pt x="230" y="138"/>
                    </a:lnTo>
                    <a:lnTo>
                      <a:pt x="230" y="13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38" name="Freeform 413">
                <a:extLst>
                  <a:ext uri="{FF2B5EF4-FFF2-40B4-BE49-F238E27FC236}">
                    <a16:creationId xmlns:a16="http://schemas.microsoft.com/office/drawing/2014/main" id="{F572DC83-30AC-EAA9-9DF1-1580523499C1}"/>
                  </a:ext>
                </a:extLst>
              </p:cNvPr>
              <p:cNvSpPr>
                <a:spLocks/>
              </p:cNvSpPr>
              <p:nvPr/>
            </p:nvSpPr>
            <p:spPr bwMode="auto">
              <a:xfrm>
                <a:off x="3790663" y="3516365"/>
                <a:ext cx="15557" cy="3843"/>
              </a:xfrm>
              <a:custGeom>
                <a:avLst/>
                <a:gdLst/>
                <a:ahLst/>
                <a:cxnLst>
                  <a:cxn ang="0">
                    <a:pos x="6" y="4"/>
                  </a:cxn>
                  <a:cxn ang="0">
                    <a:pos x="6" y="4"/>
                  </a:cxn>
                  <a:cxn ang="0">
                    <a:pos x="0" y="2"/>
                  </a:cxn>
                  <a:cxn ang="0">
                    <a:pos x="2" y="0"/>
                  </a:cxn>
                  <a:cxn ang="0">
                    <a:pos x="8" y="2"/>
                  </a:cxn>
                  <a:cxn ang="0">
                    <a:pos x="12" y="4"/>
                  </a:cxn>
                  <a:cxn ang="0">
                    <a:pos x="14" y="4"/>
                  </a:cxn>
                  <a:cxn ang="0">
                    <a:pos x="16" y="4"/>
                  </a:cxn>
                  <a:cxn ang="0">
                    <a:pos x="14" y="4"/>
                  </a:cxn>
                  <a:cxn ang="0">
                    <a:pos x="6" y="4"/>
                  </a:cxn>
                  <a:cxn ang="0">
                    <a:pos x="6" y="4"/>
                  </a:cxn>
                </a:cxnLst>
                <a:rect l="0" t="0" r="r" b="b"/>
                <a:pathLst>
                  <a:path w="16" h="4">
                    <a:moveTo>
                      <a:pt x="6" y="4"/>
                    </a:moveTo>
                    <a:lnTo>
                      <a:pt x="6" y="4"/>
                    </a:lnTo>
                    <a:lnTo>
                      <a:pt x="0" y="2"/>
                    </a:lnTo>
                    <a:lnTo>
                      <a:pt x="2" y="0"/>
                    </a:lnTo>
                    <a:lnTo>
                      <a:pt x="8" y="2"/>
                    </a:lnTo>
                    <a:lnTo>
                      <a:pt x="12" y="4"/>
                    </a:lnTo>
                    <a:lnTo>
                      <a:pt x="14" y="4"/>
                    </a:lnTo>
                    <a:lnTo>
                      <a:pt x="16" y="4"/>
                    </a:lnTo>
                    <a:lnTo>
                      <a:pt x="14" y="4"/>
                    </a:lnTo>
                    <a:lnTo>
                      <a:pt x="6" y="4"/>
                    </a:lnTo>
                    <a:lnTo>
                      <a:pt x="6" y="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39" name="Freeform 414">
                <a:extLst>
                  <a:ext uri="{FF2B5EF4-FFF2-40B4-BE49-F238E27FC236}">
                    <a16:creationId xmlns:a16="http://schemas.microsoft.com/office/drawing/2014/main" id="{2CC555E4-350E-0390-9D47-8524FDF2974C}"/>
                  </a:ext>
                </a:extLst>
              </p:cNvPr>
              <p:cNvSpPr>
                <a:spLocks/>
              </p:cNvSpPr>
              <p:nvPr/>
            </p:nvSpPr>
            <p:spPr bwMode="auto">
              <a:xfrm>
                <a:off x="3827612" y="3024494"/>
                <a:ext cx="21391" cy="9607"/>
              </a:xfrm>
              <a:custGeom>
                <a:avLst/>
                <a:gdLst/>
                <a:ahLst/>
                <a:cxnLst>
                  <a:cxn ang="0">
                    <a:pos x="16" y="0"/>
                  </a:cxn>
                  <a:cxn ang="0">
                    <a:pos x="16" y="0"/>
                  </a:cxn>
                  <a:cxn ang="0">
                    <a:pos x="14" y="2"/>
                  </a:cxn>
                  <a:cxn ang="0">
                    <a:pos x="10" y="2"/>
                  </a:cxn>
                  <a:cxn ang="0">
                    <a:pos x="0" y="2"/>
                  </a:cxn>
                  <a:cxn ang="0">
                    <a:pos x="0" y="4"/>
                  </a:cxn>
                  <a:cxn ang="0">
                    <a:pos x="2" y="4"/>
                  </a:cxn>
                  <a:cxn ang="0">
                    <a:pos x="2" y="6"/>
                  </a:cxn>
                  <a:cxn ang="0">
                    <a:pos x="4" y="8"/>
                  </a:cxn>
                  <a:cxn ang="0">
                    <a:pos x="6" y="6"/>
                  </a:cxn>
                  <a:cxn ang="0">
                    <a:pos x="8" y="10"/>
                  </a:cxn>
                  <a:cxn ang="0">
                    <a:pos x="10" y="10"/>
                  </a:cxn>
                  <a:cxn ang="0">
                    <a:pos x="18" y="2"/>
                  </a:cxn>
                  <a:cxn ang="0">
                    <a:pos x="22" y="0"/>
                  </a:cxn>
                  <a:cxn ang="0">
                    <a:pos x="20" y="0"/>
                  </a:cxn>
                  <a:cxn ang="0">
                    <a:pos x="16" y="0"/>
                  </a:cxn>
                </a:cxnLst>
                <a:rect l="0" t="0" r="r" b="b"/>
                <a:pathLst>
                  <a:path w="22" h="10">
                    <a:moveTo>
                      <a:pt x="16" y="0"/>
                    </a:moveTo>
                    <a:lnTo>
                      <a:pt x="16" y="0"/>
                    </a:lnTo>
                    <a:lnTo>
                      <a:pt x="14" y="2"/>
                    </a:lnTo>
                    <a:lnTo>
                      <a:pt x="10" y="2"/>
                    </a:lnTo>
                    <a:lnTo>
                      <a:pt x="0" y="2"/>
                    </a:lnTo>
                    <a:lnTo>
                      <a:pt x="0" y="4"/>
                    </a:lnTo>
                    <a:lnTo>
                      <a:pt x="2" y="4"/>
                    </a:lnTo>
                    <a:lnTo>
                      <a:pt x="2" y="6"/>
                    </a:lnTo>
                    <a:lnTo>
                      <a:pt x="4" y="8"/>
                    </a:lnTo>
                    <a:lnTo>
                      <a:pt x="6" y="6"/>
                    </a:lnTo>
                    <a:lnTo>
                      <a:pt x="8" y="10"/>
                    </a:lnTo>
                    <a:lnTo>
                      <a:pt x="10" y="10"/>
                    </a:lnTo>
                    <a:lnTo>
                      <a:pt x="18" y="2"/>
                    </a:lnTo>
                    <a:lnTo>
                      <a:pt x="22" y="0"/>
                    </a:lnTo>
                    <a:lnTo>
                      <a:pt x="20" y="0"/>
                    </a:lnTo>
                    <a:lnTo>
                      <a:pt x="16"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40" name="Freeform 415">
                <a:extLst>
                  <a:ext uri="{FF2B5EF4-FFF2-40B4-BE49-F238E27FC236}">
                    <a16:creationId xmlns:a16="http://schemas.microsoft.com/office/drawing/2014/main" id="{79D85B3F-E698-1C40-FAE5-CE9803EDFF65}"/>
                  </a:ext>
                </a:extLst>
              </p:cNvPr>
              <p:cNvSpPr>
                <a:spLocks/>
              </p:cNvSpPr>
              <p:nvPr/>
            </p:nvSpPr>
            <p:spPr bwMode="auto">
              <a:xfrm>
                <a:off x="3827612" y="3024494"/>
                <a:ext cx="21391" cy="9607"/>
              </a:xfrm>
              <a:custGeom>
                <a:avLst/>
                <a:gdLst/>
                <a:ahLst/>
                <a:cxnLst>
                  <a:cxn ang="0">
                    <a:pos x="16" y="0"/>
                  </a:cxn>
                  <a:cxn ang="0">
                    <a:pos x="16" y="0"/>
                  </a:cxn>
                  <a:cxn ang="0">
                    <a:pos x="14" y="2"/>
                  </a:cxn>
                  <a:cxn ang="0">
                    <a:pos x="10" y="2"/>
                  </a:cxn>
                  <a:cxn ang="0">
                    <a:pos x="0" y="2"/>
                  </a:cxn>
                  <a:cxn ang="0">
                    <a:pos x="0" y="4"/>
                  </a:cxn>
                  <a:cxn ang="0">
                    <a:pos x="2" y="4"/>
                  </a:cxn>
                  <a:cxn ang="0">
                    <a:pos x="2" y="6"/>
                  </a:cxn>
                  <a:cxn ang="0">
                    <a:pos x="4" y="8"/>
                  </a:cxn>
                  <a:cxn ang="0">
                    <a:pos x="6" y="6"/>
                  </a:cxn>
                  <a:cxn ang="0">
                    <a:pos x="8" y="10"/>
                  </a:cxn>
                  <a:cxn ang="0">
                    <a:pos x="10" y="10"/>
                  </a:cxn>
                  <a:cxn ang="0">
                    <a:pos x="18" y="2"/>
                  </a:cxn>
                  <a:cxn ang="0">
                    <a:pos x="22" y="0"/>
                  </a:cxn>
                  <a:cxn ang="0">
                    <a:pos x="20" y="0"/>
                  </a:cxn>
                  <a:cxn ang="0">
                    <a:pos x="16" y="0"/>
                  </a:cxn>
                </a:cxnLst>
                <a:rect l="0" t="0" r="r" b="b"/>
                <a:pathLst>
                  <a:path w="22" h="10">
                    <a:moveTo>
                      <a:pt x="16" y="0"/>
                    </a:moveTo>
                    <a:lnTo>
                      <a:pt x="16" y="0"/>
                    </a:lnTo>
                    <a:lnTo>
                      <a:pt x="14" y="2"/>
                    </a:lnTo>
                    <a:lnTo>
                      <a:pt x="10" y="2"/>
                    </a:lnTo>
                    <a:lnTo>
                      <a:pt x="0" y="2"/>
                    </a:lnTo>
                    <a:lnTo>
                      <a:pt x="0" y="4"/>
                    </a:lnTo>
                    <a:lnTo>
                      <a:pt x="2" y="4"/>
                    </a:lnTo>
                    <a:lnTo>
                      <a:pt x="2" y="6"/>
                    </a:lnTo>
                    <a:lnTo>
                      <a:pt x="4" y="8"/>
                    </a:lnTo>
                    <a:lnTo>
                      <a:pt x="6" y="6"/>
                    </a:lnTo>
                    <a:lnTo>
                      <a:pt x="8" y="10"/>
                    </a:lnTo>
                    <a:lnTo>
                      <a:pt x="10" y="10"/>
                    </a:lnTo>
                    <a:lnTo>
                      <a:pt x="18" y="2"/>
                    </a:lnTo>
                    <a:lnTo>
                      <a:pt x="22" y="0"/>
                    </a:lnTo>
                    <a:lnTo>
                      <a:pt x="20" y="0"/>
                    </a:lnTo>
                    <a:lnTo>
                      <a:pt x="16"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41" name="Freeform 416">
                <a:extLst>
                  <a:ext uri="{FF2B5EF4-FFF2-40B4-BE49-F238E27FC236}">
                    <a16:creationId xmlns:a16="http://schemas.microsoft.com/office/drawing/2014/main" id="{0898FB41-2771-5493-2BA5-13D832BD330C}"/>
                  </a:ext>
                </a:extLst>
              </p:cNvPr>
              <p:cNvSpPr>
                <a:spLocks/>
              </p:cNvSpPr>
              <p:nvPr/>
            </p:nvSpPr>
            <p:spPr bwMode="auto">
              <a:xfrm>
                <a:off x="3812055" y="2922661"/>
                <a:ext cx="56396" cy="34585"/>
              </a:xfrm>
              <a:custGeom>
                <a:avLst/>
                <a:gdLst/>
                <a:ahLst/>
                <a:cxnLst>
                  <a:cxn ang="0">
                    <a:pos x="58" y="18"/>
                  </a:cxn>
                  <a:cxn ang="0">
                    <a:pos x="56" y="18"/>
                  </a:cxn>
                  <a:cxn ang="0">
                    <a:pos x="52" y="6"/>
                  </a:cxn>
                  <a:cxn ang="0">
                    <a:pos x="50" y="2"/>
                  </a:cxn>
                  <a:cxn ang="0">
                    <a:pos x="48" y="2"/>
                  </a:cxn>
                  <a:cxn ang="0">
                    <a:pos x="46" y="2"/>
                  </a:cxn>
                  <a:cxn ang="0">
                    <a:pos x="44" y="0"/>
                  </a:cxn>
                  <a:cxn ang="0">
                    <a:pos x="38" y="2"/>
                  </a:cxn>
                  <a:cxn ang="0">
                    <a:pos x="32" y="4"/>
                  </a:cxn>
                  <a:cxn ang="0">
                    <a:pos x="28" y="4"/>
                  </a:cxn>
                  <a:cxn ang="0">
                    <a:pos x="26" y="4"/>
                  </a:cxn>
                  <a:cxn ang="0">
                    <a:pos x="22" y="0"/>
                  </a:cxn>
                  <a:cxn ang="0">
                    <a:pos x="18" y="2"/>
                  </a:cxn>
                  <a:cxn ang="0">
                    <a:pos x="14" y="4"/>
                  </a:cxn>
                  <a:cxn ang="0">
                    <a:pos x="10" y="4"/>
                  </a:cxn>
                  <a:cxn ang="0">
                    <a:pos x="6" y="8"/>
                  </a:cxn>
                  <a:cxn ang="0">
                    <a:pos x="4" y="14"/>
                  </a:cxn>
                  <a:cxn ang="0">
                    <a:pos x="0" y="26"/>
                  </a:cxn>
                  <a:cxn ang="0">
                    <a:pos x="0" y="24"/>
                  </a:cxn>
                  <a:cxn ang="0">
                    <a:pos x="0" y="28"/>
                  </a:cxn>
                  <a:cxn ang="0">
                    <a:pos x="2" y="32"/>
                  </a:cxn>
                  <a:cxn ang="0">
                    <a:pos x="6" y="36"/>
                  </a:cxn>
                  <a:cxn ang="0">
                    <a:pos x="10" y="36"/>
                  </a:cxn>
                  <a:cxn ang="0">
                    <a:pos x="12" y="34"/>
                  </a:cxn>
                  <a:cxn ang="0">
                    <a:pos x="16" y="32"/>
                  </a:cxn>
                  <a:cxn ang="0">
                    <a:pos x="22" y="34"/>
                  </a:cxn>
                  <a:cxn ang="0">
                    <a:pos x="30" y="34"/>
                  </a:cxn>
                  <a:cxn ang="0">
                    <a:pos x="34" y="34"/>
                  </a:cxn>
                  <a:cxn ang="0">
                    <a:pos x="36" y="30"/>
                  </a:cxn>
                  <a:cxn ang="0">
                    <a:pos x="42" y="26"/>
                  </a:cxn>
                  <a:cxn ang="0">
                    <a:pos x="44" y="26"/>
                  </a:cxn>
                  <a:cxn ang="0">
                    <a:pos x="48" y="26"/>
                  </a:cxn>
                  <a:cxn ang="0">
                    <a:pos x="50" y="24"/>
                  </a:cxn>
                  <a:cxn ang="0">
                    <a:pos x="50" y="24"/>
                  </a:cxn>
                  <a:cxn ang="0">
                    <a:pos x="54" y="24"/>
                  </a:cxn>
                  <a:cxn ang="0">
                    <a:pos x="58" y="22"/>
                  </a:cxn>
                  <a:cxn ang="0">
                    <a:pos x="58" y="18"/>
                  </a:cxn>
                </a:cxnLst>
                <a:rect l="0" t="0" r="r" b="b"/>
                <a:pathLst>
                  <a:path w="58" h="36">
                    <a:moveTo>
                      <a:pt x="58" y="18"/>
                    </a:moveTo>
                    <a:lnTo>
                      <a:pt x="56" y="18"/>
                    </a:lnTo>
                    <a:lnTo>
                      <a:pt x="52" y="6"/>
                    </a:lnTo>
                    <a:lnTo>
                      <a:pt x="50" y="2"/>
                    </a:lnTo>
                    <a:lnTo>
                      <a:pt x="48" y="2"/>
                    </a:lnTo>
                    <a:lnTo>
                      <a:pt x="46" y="2"/>
                    </a:lnTo>
                    <a:lnTo>
                      <a:pt x="44" y="0"/>
                    </a:lnTo>
                    <a:lnTo>
                      <a:pt x="38" y="2"/>
                    </a:lnTo>
                    <a:lnTo>
                      <a:pt x="32" y="4"/>
                    </a:lnTo>
                    <a:lnTo>
                      <a:pt x="28" y="4"/>
                    </a:lnTo>
                    <a:lnTo>
                      <a:pt x="26" y="4"/>
                    </a:lnTo>
                    <a:lnTo>
                      <a:pt x="22" y="0"/>
                    </a:lnTo>
                    <a:lnTo>
                      <a:pt x="18" y="2"/>
                    </a:lnTo>
                    <a:lnTo>
                      <a:pt x="14" y="4"/>
                    </a:lnTo>
                    <a:lnTo>
                      <a:pt x="10" y="4"/>
                    </a:lnTo>
                    <a:lnTo>
                      <a:pt x="6" y="8"/>
                    </a:lnTo>
                    <a:lnTo>
                      <a:pt x="4" y="14"/>
                    </a:lnTo>
                    <a:lnTo>
                      <a:pt x="0" y="26"/>
                    </a:lnTo>
                    <a:lnTo>
                      <a:pt x="0" y="24"/>
                    </a:lnTo>
                    <a:lnTo>
                      <a:pt x="0" y="28"/>
                    </a:lnTo>
                    <a:lnTo>
                      <a:pt x="2" y="32"/>
                    </a:lnTo>
                    <a:lnTo>
                      <a:pt x="6" y="36"/>
                    </a:lnTo>
                    <a:lnTo>
                      <a:pt x="10" y="36"/>
                    </a:lnTo>
                    <a:lnTo>
                      <a:pt x="12" y="34"/>
                    </a:lnTo>
                    <a:lnTo>
                      <a:pt x="16" y="32"/>
                    </a:lnTo>
                    <a:lnTo>
                      <a:pt x="22" y="34"/>
                    </a:lnTo>
                    <a:lnTo>
                      <a:pt x="30" y="34"/>
                    </a:lnTo>
                    <a:lnTo>
                      <a:pt x="34" y="34"/>
                    </a:lnTo>
                    <a:lnTo>
                      <a:pt x="36" y="30"/>
                    </a:lnTo>
                    <a:lnTo>
                      <a:pt x="42" y="26"/>
                    </a:lnTo>
                    <a:lnTo>
                      <a:pt x="44" y="26"/>
                    </a:lnTo>
                    <a:lnTo>
                      <a:pt x="48" y="26"/>
                    </a:lnTo>
                    <a:lnTo>
                      <a:pt x="50" y="24"/>
                    </a:lnTo>
                    <a:lnTo>
                      <a:pt x="50" y="24"/>
                    </a:lnTo>
                    <a:lnTo>
                      <a:pt x="54" y="24"/>
                    </a:lnTo>
                    <a:lnTo>
                      <a:pt x="58" y="22"/>
                    </a:lnTo>
                    <a:lnTo>
                      <a:pt x="58" y="18"/>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42" name="Freeform 417">
                <a:extLst>
                  <a:ext uri="{FF2B5EF4-FFF2-40B4-BE49-F238E27FC236}">
                    <a16:creationId xmlns:a16="http://schemas.microsoft.com/office/drawing/2014/main" id="{166AE8E1-9525-3A08-1FA3-98302FBCC666}"/>
                  </a:ext>
                </a:extLst>
              </p:cNvPr>
              <p:cNvSpPr>
                <a:spLocks/>
              </p:cNvSpPr>
              <p:nvPr/>
            </p:nvSpPr>
            <p:spPr bwMode="auto">
              <a:xfrm>
                <a:off x="3812055" y="2922661"/>
                <a:ext cx="56396" cy="34585"/>
              </a:xfrm>
              <a:custGeom>
                <a:avLst/>
                <a:gdLst/>
                <a:ahLst/>
                <a:cxnLst>
                  <a:cxn ang="0">
                    <a:pos x="58" y="18"/>
                  </a:cxn>
                  <a:cxn ang="0">
                    <a:pos x="56" y="18"/>
                  </a:cxn>
                  <a:cxn ang="0">
                    <a:pos x="52" y="6"/>
                  </a:cxn>
                  <a:cxn ang="0">
                    <a:pos x="50" y="2"/>
                  </a:cxn>
                  <a:cxn ang="0">
                    <a:pos x="48" y="2"/>
                  </a:cxn>
                  <a:cxn ang="0">
                    <a:pos x="46" y="2"/>
                  </a:cxn>
                  <a:cxn ang="0">
                    <a:pos x="44" y="0"/>
                  </a:cxn>
                  <a:cxn ang="0">
                    <a:pos x="38" y="2"/>
                  </a:cxn>
                  <a:cxn ang="0">
                    <a:pos x="32" y="4"/>
                  </a:cxn>
                  <a:cxn ang="0">
                    <a:pos x="28" y="4"/>
                  </a:cxn>
                  <a:cxn ang="0">
                    <a:pos x="26" y="4"/>
                  </a:cxn>
                  <a:cxn ang="0">
                    <a:pos x="22" y="0"/>
                  </a:cxn>
                  <a:cxn ang="0">
                    <a:pos x="18" y="2"/>
                  </a:cxn>
                  <a:cxn ang="0">
                    <a:pos x="14" y="4"/>
                  </a:cxn>
                  <a:cxn ang="0">
                    <a:pos x="10" y="4"/>
                  </a:cxn>
                  <a:cxn ang="0">
                    <a:pos x="6" y="8"/>
                  </a:cxn>
                  <a:cxn ang="0">
                    <a:pos x="4" y="14"/>
                  </a:cxn>
                  <a:cxn ang="0">
                    <a:pos x="0" y="26"/>
                  </a:cxn>
                  <a:cxn ang="0">
                    <a:pos x="0" y="24"/>
                  </a:cxn>
                  <a:cxn ang="0">
                    <a:pos x="0" y="28"/>
                  </a:cxn>
                  <a:cxn ang="0">
                    <a:pos x="2" y="32"/>
                  </a:cxn>
                  <a:cxn ang="0">
                    <a:pos x="6" y="36"/>
                  </a:cxn>
                  <a:cxn ang="0">
                    <a:pos x="10" y="36"/>
                  </a:cxn>
                  <a:cxn ang="0">
                    <a:pos x="12" y="34"/>
                  </a:cxn>
                  <a:cxn ang="0">
                    <a:pos x="16" y="32"/>
                  </a:cxn>
                  <a:cxn ang="0">
                    <a:pos x="22" y="34"/>
                  </a:cxn>
                  <a:cxn ang="0">
                    <a:pos x="30" y="34"/>
                  </a:cxn>
                  <a:cxn ang="0">
                    <a:pos x="34" y="34"/>
                  </a:cxn>
                  <a:cxn ang="0">
                    <a:pos x="36" y="30"/>
                  </a:cxn>
                  <a:cxn ang="0">
                    <a:pos x="42" y="26"/>
                  </a:cxn>
                  <a:cxn ang="0">
                    <a:pos x="44" y="26"/>
                  </a:cxn>
                  <a:cxn ang="0">
                    <a:pos x="48" y="26"/>
                  </a:cxn>
                  <a:cxn ang="0">
                    <a:pos x="50" y="24"/>
                  </a:cxn>
                  <a:cxn ang="0">
                    <a:pos x="50" y="24"/>
                  </a:cxn>
                  <a:cxn ang="0">
                    <a:pos x="54" y="24"/>
                  </a:cxn>
                  <a:cxn ang="0">
                    <a:pos x="58" y="22"/>
                  </a:cxn>
                  <a:cxn ang="0">
                    <a:pos x="58" y="18"/>
                  </a:cxn>
                </a:cxnLst>
                <a:rect l="0" t="0" r="r" b="b"/>
                <a:pathLst>
                  <a:path w="58" h="36">
                    <a:moveTo>
                      <a:pt x="58" y="18"/>
                    </a:moveTo>
                    <a:lnTo>
                      <a:pt x="56" y="18"/>
                    </a:lnTo>
                    <a:lnTo>
                      <a:pt x="52" y="6"/>
                    </a:lnTo>
                    <a:lnTo>
                      <a:pt x="50" y="2"/>
                    </a:lnTo>
                    <a:lnTo>
                      <a:pt x="48" y="2"/>
                    </a:lnTo>
                    <a:lnTo>
                      <a:pt x="46" y="2"/>
                    </a:lnTo>
                    <a:lnTo>
                      <a:pt x="44" y="0"/>
                    </a:lnTo>
                    <a:lnTo>
                      <a:pt x="38" y="2"/>
                    </a:lnTo>
                    <a:lnTo>
                      <a:pt x="32" y="4"/>
                    </a:lnTo>
                    <a:lnTo>
                      <a:pt x="28" y="4"/>
                    </a:lnTo>
                    <a:lnTo>
                      <a:pt x="26" y="4"/>
                    </a:lnTo>
                    <a:lnTo>
                      <a:pt x="22" y="0"/>
                    </a:lnTo>
                    <a:lnTo>
                      <a:pt x="18" y="2"/>
                    </a:lnTo>
                    <a:lnTo>
                      <a:pt x="14" y="4"/>
                    </a:lnTo>
                    <a:lnTo>
                      <a:pt x="10" y="4"/>
                    </a:lnTo>
                    <a:lnTo>
                      <a:pt x="6" y="8"/>
                    </a:lnTo>
                    <a:lnTo>
                      <a:pt x="4" y="14"/>
                    </a:lnTo>
                    <a:lnTo>
                      <a:pt x="0" y="26"/>
                    </a:lnTo>
                    <a:lnTo>
                      <a:pt x="0" y="24"/>
                    </a:lnTo>
                    <a:lnTo>
                      <a:pt x="0" y="28"/>
                    </a:lnTo>
                    <a:lnTo>
                      <a:pt x="2" y="32"/>
                    </a:lnTo>
                    <a:lnTo>
                      <a:pt x="6" y="36"/>
                    </a:lnTo>
                    <a:lnTo>
                      <a:pt x="10" y="36"/>
                    </a:lnTo>
                    <a:lnTo>
                      <a:pt x="12" y="34"/>
                    </a:lnTo>
                    <a:lnTo>
                      <a:pt x="16" y="32"/>
                    </a:lnTo>
                    <a:lnTo>
                      <a:pt x="22" y="34"/>
                    </a:lnTo>
                    <a:lnTo>
                      <a:pt x="30" y="34"/>
                    </a:lnTo>
                    <a:lnTo>
                      <a:pt x="34" y="34"/>
                    </a:lnTo>
                    <a:lnTo>
                      <a:pt x="36" y="30"/>
                    </a:lnTo>
                    <a:lnTo>
                      <a:pt x="42" y="26"/>
                    </a:lnTo>
                    <a:lnTo>
                      <a:pt x="44" y="26"/>
                    </a:lnTo>
                    <a:lnTo>
                      <a:pt x="48" y="26"/>
                    </a:lnTo>
                    <a:lnTo>
                      <a:pt x="50" y="24"/>
                    </a:lnTo>
                    <a:lnTo>
                      <a:pt x="50" y="24"/>
                    </a:lnTo>
                    <a:lnTo>
                      <a:pt x="54" y="24"/>
                    </a:lnTo>
                    <a:lnTo>
                      <a:pt x="58" y="22"/>
                    </a:lnTo>
                    <a:lnTo>
                      <a:pt x="58" y="18"/>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43" name="Freeform 418">
                <a:extLst>
                  <a:ext uri="{FF2B5EF4-FFF2-40B4-BE49-F238E27FC236}">
                    <a16:creationId xmlns:a16="http://schemas.microsoft.com/office/drawing/2014/main" id="{DB201095-3B68-E1CB-1244-ED6F1BC126B5}"/>
                  </a:ext>
                </a:extLst>
              </p:cNvPr>
              <p:cNvSpPr>
                <a:spLocks/>
              </p:cNvSpPr>
              <p:nvPr/>
            </p:nvSpPr>
            <p:spPr bwMode="auto">
              <a:xfrm>
                <a:off x="3623419" y="2882312"/>
                <a:ext cx="33060" cy="30742"/>
              </a:xfrm>
              <a:custGeom>
                <a:avLst/>
                <a:gdLst/>
                <a:ahLst/>
                <a:cxnLst>
                  <a:cxn ang="0">
                    <a:pos x="8" y="26"/>
                  </a:cxn>
                  <a:cxn ang="0">
                    <a:pos x="8" y="26"/>
                  </a:cxn>
                  <a:cxn ang="0">
                    <a:pos x="20" y="30"/>
                  </a:cxn>
                  <a:cxn ang="0">
                    <a:pos x="20" y="28"/>
                  </a:cxn>
                  <a:cxn ang="0">
                    <a:pos x="22" y="28"/>
                  </a:cxn>
                  <a:cxn ang="0">
                    <a:pos x="26" y="32"/>
                  </a:cxn>
                  <a:cxn ang="0">
                    <a:pos x="32" y="32"/>
                  </a:cxn>
                  <a:cxn ang="0">
                    <a:pos x="34" y="20"/>
                  </a:cxn>
                  <a:cxn ang="0">
                    <a:pos x="34" y="14"/>
                  </a:cxn>
                  <a:cxn ang="0">
                    <a:pos x="34" y="10"/>
                  </a:cxn>
                  <a:cxn ang="0">
                    <a:pos x="30" y="8"/>
                  </a:cxn>
                  <a:cxn ang="0">
                    <a:pos x="28" y="6"/>
                  </a:cxn>
                  <a:cxn ang="0">
                    <a:pos x="26" y="2"/>
                  </a:cxn>
                  <a:cxn ang="0">
                    <a:pos x="24" y="2"/>
                  </a:cxn>
                  <a:cxn ang="0">
                    <a:pos x="20" y="0"/>
                  </a:cxn>
                  <a:cxn ang="0">
                    <a:pos x="12" y="0"/>
                  </a:cxn>
                  <a:cxn ang="0">
                    <a:pos x="10" y="6"/>
                  </a:cxn>
                  <a:cxn ang="0">
                    <a:pos x="6" y="10"/>
                  </a:cxn>
                  <a:cxn ang="0">
                    <a:pos x="4" y="12"/>
                  </a:cxn>
                  <a:cxn ang="0">
                    <a:pos x="2" y="12"/>
                  </a:cxn>
                  <a:cxn ang="0">
                    <a:pos x="2" y="16"/>
                  </a:cxn>
                  <a:cxn ang="0">
                    <a:pos x="0" y="18"/>
                  </a:cxn>
                  <a:cxn ang="0">
                    <a:pos x="0" y="22"/>
                  </a:cxn>
                  <a:cxn ang="0">
                    <a:pos x="0" y="24"/>
                  </a:cxn>
                  <a:cxn ang="0">
                    <a:pos x="2" y="24"/>
                  </a:cxn>
                  <a:cxn ang="0">
                    <a:pos x="2" y="22"/>
                  </a:cxn>
                  <a:cxn ang="0">
                    <a:pos x="6" y="24"/>
                  </a:cxn>
                  <a:cxn ang="0">
                    <a:pos x="8" y="26"/>
                  </a:cxn>
                </a:cxnLst>
                <a:rect l="0" t="0" r="r" b="b"/>
                <a:pathLst>
                  <a:path w="34" h="32">
                    <a:moveTo>
                      <a:pt x="8" y="26"/>
                    </a:moveTo>
                    <a:lnTo>
                      <a:pt x="8" y="26"/>
                    </a:lnTo>
                    <a:lnTo>
                      <a:pt x="20" y="30"/>
                    </a:lnTo>
                    <a:lnTo>
                      <a:pt x="20" y="28"/>
                    </a:lnTo>
                    <a:lnTo>
                      <a:pt x="22" y="28"/>
                    </a:lnTo>
                    <a:lnTo>
                      <a:pt x="26" y="32"/>
                    </a:lnTo>
                    <a:lnTo>
                      <a:pt x="32" y="32"/>
                    </a:lnTo>
                    <a:lnTo>
                      <a:pt x="34" y="20"/>
                    </a:lnTo>
                    <a:lnTo>
                      <a:pt x="34" y="14"/>
                    </a:lnTo>
                    <a:lnTo>
                      <a:pt x="34" y="10"/>
                    </a:lnTo>
                    <a:lnTo>
                      <a:pt x="30" y="8"/>
                    </a:lnTo>
                    <a:lnTo>
                      <a:pt x="28" y="6"/>
                    </a:lnTo>
                    <a:lnTo>
                      <a:pt x="26" y="2"/>
                    </a:lnTo>
                    <a:lnTo>
                      <a:pt x="24" y="2"/>
                    </a:lnTo>
                    <a:lnTo>
                      <a:pt x="20" y="0"/>
                    </a:lnTo>
                    <a:lnTo>
                      <a:pt x="12" y="0"/>
                    </a:lnTo>
                    <a:lnTo>
                      <a:pt x="10" y="6"/>
                    </a:lnTo>
                    <a:lnTo>
                      <a:pt x="6" y="10"/>
                    </a:lnTo>
                    <a:lnTo>
                      <a:pt x="4" y="12"/>
                    </a:lnTo>
                    <a:lnTo>
                      <a:pt x="2" y="12"/>
                    </a:lnTo>
                    <a:lnTo>
                      <a:pt x="2" y="16"/>
                    </a:lnTo>
                    <a:lnTo>
                      <a:pt x="0" y="18"/>
                    </a:lnTo>
                    <a:lnTo>
                      <a:pt x="0" y="22"/>
                    </a:lnTo>
                    <a:lnTo>
                      <a:pt x="0" y="24"/>
                    </a:lnTo>
                    <a:lnTo>
                      <a:pt x="2" y="24"/>
                    </a:lnTo>
                    <a:lnTo>
                      <a:pt x="2" y="22"/>
                    </a:lnTo>
                    <a:lnTo>
                      <a:pt x="6" y="24"/>
                    </a:lnTo>
                    <a:lnTo>
                      <a:pt x="8" y="26"/>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44" name="Freeform 419">
                <a:extLst>
                  <a:ext uri="{FF2B5EF4-FFF2-40B4-BE49-F238E27FC236}">
                    <a16:creationId xmlns:a16="http://schemas.microsoft.com/office/drawing/2014/main" id="{E398D84D-2315-ABF9-A082-5E04F7342D68}"/>
                  </a:ext>
                </a:extLst>
              </p:cNvPr>
              <p:cNvSpPr>
                <a:spLocks/>
              </p:cNvSpPr>
              <p:nvPr/>
            </p:nvSpPr>
            <p:spPr bwMode="auto">
              <a:xfrm>
                <a:off x="3623419" y="2882312"/>
                <a:ext cx="33060" cy="30742"/>
              </a:xfrm>
              <a:custGeom>
                <a:avLst/>
                <a:gdLst/>
                <a:ahLst/>
                <a:cxnLst>
                  <a:cxn ang="0">
                    <a:pos x="8" y="26"/>
                  </a:cxn>
                  <a:cxn ang="0">
                    <a:pos x="8" y="26"/>
                  </a:cxn>
                  <a:cxn ang="0">
                    <a:pos x="20" y="30"/>
                  </a:cxn>
                  <a:cxn ang="0">
                    <a:pos x="20" y="28"/>
                  </a:cxn>
                  <a:cxn ang="0">
                    <a:pos x="22" y="28"/>
                  </a:cxn>
                  <a:cxn ang="0">
                    <a:pos x="26" y="32"/>
                  </a:cxn>
                  <a:cxn ang="0">
                    <a:pos x="32" y="32"/>
                  </a:cxn>
                  <a:cxn ang="0">
                    <a:pos x="34" y="20"/>
                  </a:cxn>
                  <a:cxn ang="0">
                    <a:pos x="34" y="14"/>
                  </a:cxn>
                  <a:cxn ang="0">
                    <a:pos x="34" y="10"/>
                  </a:cxn>
                  <a:cxn ang="0">
                    <a:pos x="30" y="8"/>
                  </a:cxn>
                  <a:cxn ang="0">
                    <a:pos x="28" y="6"/>
                  </a:cxn>
                  <a:cxn ang="0">
                    <a:pos x="26" y="2"/>
                  </a:cxn>
                  <a:cxn ang="0">
                    <a:pos x="24" y="2"/>
                  </a:cxn>
                  <a:cxn ang="0">
                    <a:pos x="20" y="0"/>
                  </a:cxn>
                  <a:cxn ang="0">
                    <a:pos x="12" y="0"/>
                  </a:cxn>
                  <a:cxn ang="0">
                    <a:pos x="10" y="6"/>
                  </a:cxn>
                  <a:cxn ang="0">
                    <a:pos x="6" y="10"/>
                  </a:cxn>
                  <a:cxn ang="0">
                    <a:pos x="4" y="12"/>
                  </a:cxn>
                  <a:cxn ang="0">
                    <a:pos x="2" y="12"/>
                  </a:cxn>
                  <a:cxn ang="0">
                    <a:pos x="2" y="16"/>
                  </a:cxn>
                  <a:cxn ang="0">
                    <a:pos x="0" y="18"/>
                  </a:cxn>
                  <a:cxn ang="0">
                    <a:pos x="0" y="22"/>
                  </a:cxn>
                  <a:cxn ang="0">
                    <a:pos x="0" y="24"/>
                  </a:cxn>
                  <a:cxn ang="0">
                    <a:pos x="2" y="24"/>
                  </a:cxn>
                  <a:cxn ang="0">
                    <a:pos x="2" y="22"/>
                  </a:cxn>
                  <a:cxn ang="0">
                    <a:pos x="6" y="24"/>
                  </a:cxn>
                  <a:cxn ang="0">
                    <a:pos x="8" y="26"/>
                  </a:cxn>
                </a:cxnLst>
                <a:rect l="0" t="0" r="r" b="b"/>
                <a:pathLst>
                  <a:path w="34" h="32">
                    <a:moveTo>
                      <a:pt x="8" y="26"/>
                    </a:moveTo>
                    <a:lnTo>
                      <a:pt x="8" y="26"/>
                    </a:lnTo>
                    <a:lnTo>
                      <a:pt x="20" y="30"/>
                    </a:lnTo>
                    <a:lnTo>
                      <a:pt x="20" y="28"/>
                    </a:lnTo>
                    <a:lnTo>
                      <a:pt x="22" y="28"/>
                    </a:lnTo>
                    <a:lnTo>
                      <a:pt x="26" y="32"/>
                    </a:lnTo>
                    <a:lnTo>
                      <a:pt x="32" y="32"/>
                    </a:lnTo>
                    <a:lnTo>
                      <a:pt x="34" y="20"/>
                    </a:lnTo>
                    <a:lnTo>
                      <a:pt x="34" y="14"/>
                    </a:lnTo>
                    <a:lnTo>
                      <a:pt x="34" y="10"/>
                    </a:lnTo>
                    <a:lnTo>
                      <a:pt x="30" y="8"/>
                    </a:lnTo>
                    <a:lnTo>
                      <a:pt x="28" y="6"/>
                    </a:lnTo>
                    <a:lnTo>
                      <a:pt x="26" y="2"/>
                    </a:lnTo>
                    <a:lnTo>
                      <a:pt x="24" y="2"/>
                    </a:lnTo>
                    <a:lnTo>
                      <a:pt x="20" y="0"/>
                    </a:lnTo>
                    <a:lnTo>
                      <a:pt x="12" y="0"/>
                    </a:lnTo>
                    <a:lnTo>
                      <a:pt x="10" y="6"/>
                    </a:lnTo>
                    <a:lnTo>
                      <a:pt x="6" y="10"/>
                    </a:lnTo>
                    <a:lnTo>
                      <a:pt x="4" y="12"/>
                    </a:lnTo>
                    <a:lnTo>
                      <a:pt x="2" y="12"/>
                    </a:lnTo>
                    <a:lnTo>
                      <a:pt x="2" y="16"/>
                    </a:lnTo>
                    <a:lnTo>
                      <a:pt x="0" y="18"/>
                    </a:lnTo>
                    <a:lnTo>
                      <a:pt x="0" y="22"/>
                    </a:lnTo>
                    <a:lnTo>
                      <a:pt x="0" y="24"/>
                    </a:lnTo>
                    <a:lnTo>
                      <a:pt x="2" y="24"/>
                    </a:lnTo>
                    <a:lnTo>
                      <a:pt x="2" y="22"/>
                    </a:lnTo>
                    <a:lnTo>
                      <a:pt x="6" y="24"/>
                    </a:lnTo>
                    <a:lnTo>
                      <a:pt x="8" y="26"/>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45" name="Freeform 420">
                <a:extLst>
                  <a:ext uri="{FF2B5EF4-FFF2-40B4-BE49-F238E27FC236}">
                    <a16:creationId xmlns:a16="http://schemas.microsoft.com/office/drawing/2014/main" id="{3B3AE185-E0E9-7C9B-3E52-2440ADC1EB6C}"/>
                  </a:ext>
                </a:extLst>
              </p:cNvPr>
              <p:cNvSpPr>
                <a:spLocks/>
              </p:cNvSpPr>
              <p:nvPr/>
            </p:nvSpPr>
            <p:spPr bwMode="auto">
              <a:xfrm>
                <a:off x="3623419" y="2849649"/>
                <a:ext cx="211971" cy="67248"/>
              </a:xfrm>
              <a:custGeom>
                <a:avLst/>
                <a:gdLst/>
                <a:ahLst/>
                <a:cxnLst>
                  <a:cxn ang="0">
                    <a:pos x="70" y="68"/>
                  </a:cxn>
                  <a:cxn ang="0">
                    <a:pos x="66" y="70"/>
                  </a:cxn>
                  <a:cxn ang="0">
                    <a:pos x="60" y="64"/>
                  </a:cxn>
                  <a:cxn ang="0">
                    <a:pos x="60" y="52"/>
                  </a:cxn>
                  <a:cxn ang="0">
                    <a:pos x="62" y="40"/>
                  </a:cxn>
                  <a:cxn ang="0">
                    <a:pos x="56" y="30"/>
                  </a:cxn>
                  <a:cxn ang="0">
                    <a:pos x="50" y="24"/>
                  </a:cxn>
                  <a:cxn ang="0">
                    <a:pos x="38" y="18"/>
                  </a:cxn>
                  <a:cxn ang="0">
                    <a:pos x="32" y="24"/>
                  </a:cxn>
                  <a:cxn ang="0">
                    <a:pos x="14" y="18"/>
                  </a:cxn>
                  <a:cxn ang="0">
                    <a:pos x="6" y="12"/>
                  </a:cxn>
                  <a:cxn ang="0">
                    <a:pos x="2" y="6"/>
                  </a:cxn>
                  <a:cxn ang="0">
                    <a:pos x="16" y="0"/>
                  </a:cxn>
                  <a:cxn ang="0">
                    <a:pos x="32" y="4"/>
                  </a:cxn>
                  <a:cxn ang="0">
                    <a:pos x="42" y="12"/>
                  </a:cxn>
                  <a:cxn ang="0">
                    <a:pos x="66" y="12"/>
                  </a:cxn>
                  <a:cxn ang="0">
                    <a:pos x="76" y="16"/>
                  </a:cxn>
                  <a:cxn ang="0">
                    <a:pos x="80" y="24"/>
                  </a:cxn>
                  <a:cxn ang="0">
                    <a:pos x="76" y="28"/>
                  </a:cxn>
                  <a:cxn ang="0">
                    <a:pos x="78" y="28"/>
                  </a:cxn>
                  <a:cxn ang="0">
                    <a:pos x="90" y="36"/>
                  </a:cxn>
                  <a:cxn ang="0">
                    <a:pos x="106" y="36"/>
                  </a:cxn>
                  <a:cxn ang="0">
                    <a:pos x="108" y="36"/>
                  </a:cxn>
                  <a:cxn ang="0">
                    <a:pos x="116" y="34"/>
                  </a:cxn>
                  <a:cxn ang="0">
                    <a:pos x="132" y="36"/>
                  </a:cxn>
                  <a:cxn ang="0">
                    <a:pos x="150" y="34"/>
                  </a:cxn>
                  <a:cxn ang="0">
                    <a:pos x="158" y="28"/>
                  </a:cxn>
                  <a:cxn ang="0">
                    <a:pos x="168" y="32"/>
                  </a:cxn>
                  <a:cxn ang="0">
                    <a:pos x="188" y="30"/>
                  </a:cxn>
                  <a:cxn ang="0">
                    <a:pos x="196" y="36"/>
                  </a:cxn>
                  <a:cxn ang="0">
                    <a:pos x="206" y="36"/>
                  </a:cxn>
                  <a:cxn ang="0">
                    <a:pos x="218" y="46"/>
                  </a:cxn>
                  <a:cxn ang="0">
                    <a:pos x="208" y="56"/>
                  </a:cxn>
                  <a:cxn ang="0">
                    <a:pos x="208" y="60"/>
                  </a:cxn>
                  <a:cxn ang="0">
                    <a:pos x="206" y="64"/>
                  </a:cxn>
                  <a:cxn ang="0">
                    <a:pos x="180" y="64"/>
                  </a:cxn>
                  <a:cxn ang="0">
                    <a:pos x="176" y="66"/>
                  </a:cxn>
                  <a:cxn ang="0">
                    <a:pos x="168" y="60"/>
                  </a:cxn>
                  <a:cxn ang="0">
                    <a:pos x="150" y="68"/>
                  </a:cxn>
                  <a:cxn ang="0">
                    <a:pos x="138" y="66"/>
                  </a:cxn>
                  <a:cxn ang="0">
                    <a:pos x="124" y="68"/>
                  </a:cxn>
                  <a:cxn ang="0">
                    <a:pos x="120" y="64"/>
                  </a:cxn>
                  <a:cxn ang="0">
                    <a:pos x="112" y="66"/>
                  </a:cxn>
                  <a:cxn ang="0">
                    <a:pos x="100" y="68"/>
                  </a:cxn>
                  <a:cxn ang="0">
                    <a:pos x="90" y="64"/>
                  </a:cxn>
                </a:cxnLst>
                <a:rect l="0" t="0" r="r" b="b"/>
                <a:pathLst>
                  <a:path w="218" h="70">
                    <a:moveTo>
                      <a:pt x="72" y="70"/>
                    </a:moveTo>
                    <a:lnTo>
                      <a:pt x="72" y="70"/>
                    </a:lnTo>
                    <a:lnTo>
                      <a:pt x="70" y="68"/>
                    </a:lnTo>
                    <a:lnTo>
                      <a:pt x="70" y="66"/>
                    </a:lnTo>
                    <a:lnTo>
                      <a:pt x="66" y="66"/>
                    </a:lnTo>
                    <a:lnTo>
                      <a:pt x="66" y="70"/>
                    </a:lnTo>
                    <a:lnTo>
                      <a:pt x="62" y="70"/>
                    </a:lnTo>
                    <a:lnTo>
                      <a:pt x="60" y="70"/>
                    </a:lnTo>
                    <a:lnTo>
                      <a:pt x="60" y="64"/>
                    </a:lnTo>
                    <a:lnTo>
                      <a:pt x="60" y="62"/>
                    </a:lnTo>
                    <a:lnTo>
                      <a:pt x="58" y="54"/>
                    </a:lnTo>
                    <a:lnTo>
                      <a:pt x="60" y="52"/>
                    </a:lnTo>
                    <a:lnTo>
                      <a:pt x="60" y="48"/>
                    </a:lnTo>
                    <a:lnTo>
                      <a:pt x="58" y="44"/>
                    </a:lnTo>
                    <a:lnTo>
                      <a:pt x="62" y="40"/>
                    </a:lnTo>
                    <a:lnTo>
                      <a:pt x="62" y="36"/>
                    </a:lnTo>
                    <a:lnTo>
                      <a:pt x="60" y="32"/>
                    </a:lnTo>
                    <a:lnTo>
                      <a:pt x="56" y="30"/>
                    </a:lnTo>
                    <a:lnTo>
                      <a:pt x="56" y="28"/>
                    </a:lnTo>
                    <a:lnTo>
                      <a:pt x="54" y="24"/>
                    </a:lnTo>
                    <a:lnTo>
                      <a:pt x="50" y="24"/>
                    </a:lnTo>
                    <a:lnTo>
                      <a:pt x="40" y="22"/>
                    </a:lnTo>
                    <a:lnTo>
                      <a:pt x="40" y="18"/>
                    </a:lnTo>
                    <a:lnTo>
                      <a:pt x="38" y="18"/>
                    </a:lnTo>
                    <a:lnTo>
                      <a:pt x="36" y="20"/>
                    </a:lnTo>
                    <a:lnTo>
                      <a:pt x="34" y="24"/>
                    </a:lnTo>
                    <a:lnTo>
                      <a:pt x="32" y="24"/>
                    </a:lnTo>
                    <a:lnTo>
                      <a:pt x="26" y="20"/>
                    </a:lnTo>
                    <a:lnTo>
                      <a:pt x="20" y="18"/>
                    </a:lnTo>
                    <a:lnTo>
                      <a:pt x="14" y="18"/>
                    </a:lnTo>
                    <a:lnTo>
                      <a:pt x="10" y="16"/>
                    </a:lnTo>
                    <a:lnTo>
                      <a:pt x="8" y="14"/>
                    </a:lnTo>
                    <a:lnTo>
                      <a:pt x="6" y="12"/>
                    </a:lnTo>
                    <a:lnTo>
                      <a:pt x="0" y="8"/>
                    </a:lnTo>
                    <a:lnTo>
                      <a:pt x="0" y="6"/>
                    </a:lnTo>
                    <a:lnTo>
                      <a:pt x="2" y="6"/>
                    </a:lnTo>
                    <a:lnTo>
                      <a:pt x="6" y="0"/>
                    </a:lnTo>
                    <a:lnTo>
                      <a:pt x="12" y="2"/>
                    </a:lnTo>
                    <a:lnTo>
                      <a:pt x="16" y="0"/>
                    </a:lnTo>
                    <a:lnTo>
                      <a:pt x="16" y="2"/>
                    </a:lnTo>
                    <a:lnTo>
                      <a:pt x="26" y="4"/>
                    </a:lnTo>
                    <a:lnTo>
                      <a:pt x="32" y="4"/>
                    </a:lnTo>
                    <a:lnTo>
                      <a:pt x="36" y="4"/>
                    </a:lnTo>
                    <a:lnTo>
                      <a:pt x="42" y="8"/>
                    </a:lnTo>
                    <a:lnTo>
                      <a:pt x="42" y="12"/>
                    </a:lnTo>
                    <a:lnTo>
                      <a:pt x="52" y="12"/>
                    </a:lnTo>
                    <a:lnTo>
                      <a:pt x="64" y="8"/>
                    </a:lnTo>
                    <a:lnTo>
                      <a:pt x="66" y="12"/>
                    </a:lnTo>
                    <a:lnTo>
                      <a:pt x="70" y="12"/>
                    </a:lnTo>
                    <a:lnTo>
                      <a:pt x="74" y="12"/>
                    </a:lnTo>
                    <a:lnTo>
                      <a:pt x="76" y="16"/>
                    </a:lnTo>
                    <a:lnTo>
                      <a:pt x="86" y="18"/>
                    </a:lnTo>
                    <a:lnTo>
                      <a:pt x="86" y="22"/>
                    </a:lnTo>
                    <a:lnTo>
                      <a:pt x="80" y="24"/>
                    </a:lnTo>
                    <a:lnTo>
                      <a:pt x="72" y="24"/>
                    </a:lnTo>
                    <a:lnTo>
                      <a:pt x="72" y="26"/>
                    </a:lnTo>
                    <a:lnTo>
                      <a:pt x="76" y="28"/>
                    </a:lnTo>
                    <a:lnTo>
                      <a:pt x="74" y="32"/>
                    </a:lnTo>
                    <a:lnTo>
                      <a:pt x="76" y="32"/>
                    </a:lnTo>
                    <a:lnTo>
                      <a:pt x="78" y="28"/>
                    </a:lnTo>
                    <a:lnTo>
                      <a:pt x="84" y="28"/>
                    </a:lnTo>
                    <a:lnTo>
                      <a:pt x="90" y="30"/>
                    </a:lnTo>
                    <a:lnTo>
                      <a:pt x="90" y="36"/>
                    </a:lnTo>
                    <a:lnTo>
                      <a:pt x="92" y="34"/>
                    </a:lnTo>
                    <a:lnTo>
                      <a:pt x="92" y="32"/>
                    </a:lnTo>
                    <a:lnTo>
                      <a:pt x="106" y="36"/>
                    </a:lnTo>
                    <a:lnTo>
                      <a:pt x="106" y="38"/>
                    </a:lnTo>
                    <a:lnTo>
                      <a:pt x="108" y="38"/>
                    </a:lnTo>
                    <a:lnTo>
                      <a:pt x="108" y="36"/>
                    </a:lnTo>
                    <a:lnTo>
                      <a:pt x="112" y="38"/>
                    </a:lnTo>
                    <a:lnTo>
                      <a:pt x="116" y="40"/>
                    </a:lnTo>
                    <a:lnTo>
                      <a:pt x="116" y="34"/>
                    </a:lnTo>
                    <a:lnTo>
                      <a:pt x="124" y="38"/>
                    </a:lnTo>
                    <a:lnTo>
                      <a:pt x="132" y="38"/>
                    </a:lnTo>
                    <a:lnTo>
                      <a:pt x="132" y="36"/>
                    </a:lnTo>
                    <a:lnTo>
                      <a:pt x="136" y="34"/>
                    </a:lnTo>
                    <a:lnTo>
                      <a:pt x="144" y="34"/>
                    </a:lnTo>
                    <a:lnTo>
                      <a:pt x="150" y="34"/>
                    </a:lnTo>
                    <a:lnTo>
                      <a:pt x="150" y="30"/>
                    </a:lnTo>
                    <a:lnTo>
                      <a:pt x="156" y="30"/>
                    </a:lnTo>
                    <a:lnTo>
                      <a:pt x="158" y="28"/>
                    </a:lnTo>
                    <a:lnTo>
                      <a:pt x="162" y="28"/>
                    </a:lnTo>
                    <a:lnTo>
                      <a:pt x="164" y="30"/>
                    </a:lnTo>
                    <a:lnTo>
                      <a:pt x="168" y="32"/>
                    </a:lnTo>
                    <a:lnTo>
                      <a:pt x="172" y="30"/>
                    </a:lnTo>
                    <a:lnTo>
                      <a:pt x="174" y="30"/>
                    </a:lnTo>
                    <a:lnTo>
                      <a:pt x="188" y="30"/>
                    </a:lnTo>
                    <a:lnTo>
                      <a:pt x="188" y="34"/>
                    </a:lnTo>
                    <a:lnTo>
                      <a:pt x="192" y="36"/>
                    </a:lnTo>
                    <a:lnTo>
                      <a:pt x="196" y="36"/>
                    </a:lnTo>
                    <a:lnTo>
                      <a:pt x="198" y="34"/>
                    </a:lnTo>
                    <a:lnTo>
                      <a:pt x="202" y="34"/>
                    </a:lnTo>
                    <a:lnTo>
                      <a:pt x="206" y="36"/>
                    </a:lnTo>
                    <a:lnTo>
                      <a:pt x="212" y="40"/>
                    </a:lnTo>
                    <a:lnTo>
                      <a:pt x="216" y="40"/>
                    </a:lnTo>
                    <a:lnTo>
                      <a:pt x="218" y="46"/>
                    </a:lnTo>
                    <a:lnTo>
                      <a:pt x="218" y="48"/>
                    </a:lnTo>
                    <a:lnTo>
                      <a:pt x="216" y="50"/>
                    </a:lnTo>
                    <a:lnTo>
                      <a:pt x="208" y="56"/>
                    </a:lnTo>
                    <a:lnTo>
                      <a:pt x="208" y="54"/>
                    </a:lnTo>
                    <a:lnTo>
                      <a:pt x="208" y="56"/>
                    </a:lnTo>
                    <a:lnTo>
                      <a:pt x="208" y="60"/>
                    </a:lnTo>
                    <a:lnTo>
                      <a:pt x="208" y="62"/>
                    </a:lnTo>
                    <a:lnTo>
                      <a:pt x="208" y="60"/>
                    </a:lnTo>
                    <a:lnTo>
                      <a:pt x="206" y="64"/>
                    </a:lnTo>
                    <a:lnTo>
                      <a:pt x="192" y="66"/>
                    </a:lnTo>
                    <a:lnTo>
                      <a:pt x="182" y="66"/>
                    </a:lnTo>
                    <a:lnTo>
                      <a:pt x="180" y="64"/>
                    </a:lnTo>
                    <a:lnTo>
                      <a:pt x="180" y="66"/>
                    </a:lnTo>
                    <a:lnTo>
                      <a:pt x="178" y="66"/>
                    </a:lnTo>
                    <a:lnTo>
                      <a:pt x="176" y="66"/>
                    </a:lnTo>
                    <a:lnTo>
                      <a:pt x="172" y="64"/>
                    </a:lnTo>
                    <a:lnTo>
                      <a:pt x="170" y="60"/>
                    </a:lnTo>
                    <a:lnTo>
                      <a:pt x="168" y="60"/>
                    </a:lnTo>
                    <a:lnTo>
                      <a:pt x="168" y="66"/>
                    </a:lnTo>
                    <a:lnTo>
                      <a:pt x="166" y="66"/>
                    </a:lnTo>
                    <a:lnTo>
                      <a:pt x="150" y="68"/>
                    </a:lnTo>
                    <a:lnTo>
                      <a:pt x="142" y="66"/>
                    </a:lnTo>
                    <a:lnTo>
                      <a:pt x="138" y="68"/>
                    </a:lnTo>
                    <a:lnTo>
                      <a:pt x="138" y="66"/>
                    </a:lnTo>
                    <a:lnTo>
                      <a:pt x="136" y="64"/>
                    </a:lnTo>
                    <a:lnTo>
                      <a:pt x="136" y="68"/>
                    </a:lnTo>
                    <a:lnTo>
                      <a:pt x="124" y="68"/>
                    </a:lnTo>
                    <a:lnTo>
                      <a:pt x="124" y="66"/>
                    </a:lnTo>
                    <a:lnTo>
                      <a:pt x="124" y="64"/>
                    </a:lnTo>
                    <a:lnTo>
                      <a:pt x="120" y="64"/>
                    </a:lnTo>
                    <a:lnTo>
                      <a:pt x="120" y="68"/>
                    </a:lnTo>
                    <a:lnTo>
                      <a:pt x="114" y="68"/>
                    </a:lnTo>
                    <a:lnTo>
                      <a:pt x="112" y="66"/>
                    </a:lnTo>
                    <a:lnTo>
                      <a:pt x="106" y="70"/>
                    </a:lnTo>
                    <a:lnTo>
                      <a:pt x="102" y="70"/>
                    </a:lnTo>
                    <a:lnTo>
                      <a:pt x="100" y="68"/>
                    </a:lnTo>
                    <a:lnTo>
                      <a:pt x="96" y="58"/>
                    </a:lnTo>
                    <a:lnTo>
                      <a:pt x="90" y="62"/>
                    </a:lnTo>
                    <a:lnTo>
                      <a:pt x="90" y="64"/>
                    </a:lnTo>
                    <a:lnTo>
                      <a:pt x="90" y="66"/>
                    </a:lnTo>
                    <a:lnTo>
                      <a:pt x="72" y="7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46" name="Freeform 421">
                <a:extLst>
                  <a:ext uri="{FF2B5EF4-FFF2-40B4-BE49-F238E27FC236}">
                    <a16:creationId xmlns:a16="http://schemas.microsoft.com/office/drawing/2014/main" id="{AE1E8FC3-E093-3572-01A6-C91E93B8B35E}"/>
                  </a:ext>
                </a:extLst>
              </p:cNvPr>
              <p:cNvSpPr>
                <a:spLocks/>
              </p:cNvSpPr>
              <p:nvPr/>
            </p:nvSpPr>
            <p:spPr bwMode="auto">
              <a:xfrm>
                <a:off x="3623419" y="2849649"/>
                <a:ext cx="211971" cy="67248"/>
              </a:xfrm>
              <a:custGeom>
                <a:avLst/>
                <a:gdLst/>
                <a:ahLst/>
                <a:cxnLst>
                  <a:cxn ang="0">
                    <a:pos x="70" y="68"/>
                  </a:cxn>
                  <a:cxn ang="0">
                    <a:pos x="66" y="70"/>
                  </a:cxn>
                  <a:cxn ang="0">
                    <a:pos x="60" y="64"/>
                  </a:cxn>
                  <a:cxn ang="0">
                    <a:pos x="60" y="52"/>
                  </a:cxn>
                  <a:cxn ang="0">
                    <a:pos x="62" y="40"/>
                  </a:cxn>
                  <a:cxn ang="0">
                    <a:pos x="56" y="30"/>
                  </a:cxn>
                  <a:cxn ang="0">
                    <a:pos x="50" y="24"/>
                  </a:cxn>
                  <a:cxn ang="0">
                    <a:pos x="38" y="18"/>
                  </a:cxn>
                  <a:cxn ang="0">
                    <a:pos x="32" y="24"/>
                  </a:cxn>
                  <a:cxn ang="0">
                    <a:pos x="14" y="18"/>
                  </a:cxn>
                  <a:cxn ang="0">
                    <a:pos x="6" y="12"/>
                  </a:cxn>
                  <a:cxn ang="0">
                    <a:pos x="2" y="6"/>
                  </a:cxn>
                  <a:cxn ang="0">
                    <a:pos x="16" y="0"/>
                  </a:cxn>
                  <a:cxn ang="0">
                    <a:pos x="32" y="4"/>
                  </a:cxn>
                  <a:cxn ang="0">
                    <a:pos x="42" y="12"/>
                  </a:cxn>
                  <a:cxn ang="0">
                    <a:pos x="66" y="12"/>
                  </a:cxn>
                  <a:cxn ang="0">
                    <a:pos x="76" y="16"/>
                  </a:cxn>
                  <a:cxn ang="0">
                    <a:pos x="80" y="24"/>
                  </a:cxn>
                  <a:cxn ang="0">
                    <a:pos x="76" y="28"/>
                  </a:cxn>
                  <a:cxn ang="0">
                    <a:pos x="78" y="28"/>
                  </a:cxn>
                  <a:cxn ang="0">
                    <a:pos x="90" y="36"/>
                  </a:cxn>
                  <a:cxn ang="0">
                    <a:pos x="106" y="36"/>
                  </a:cxn>
                  <a:cxn ang="0">
                    <a:pos x="108" y="36"/>
                  </a:cxn>
                  <a:cxn ang="0">
                    <a:pos x="116" y="34"/>
                  </a:cxn>
                  <a:cxn ang="0">
                    <a:pos x="132" y="36"/>
                  </a:cxn>
                  <a:cxn ang="0">
                    <a:pos x="150" y="34"/>
                  </a:cxn>
                  <a:cxn ang="0">
                    <a:pos x="158" y="28"/>
                  </a:cxn>
                  <a:cxn ang="0">
                    <a:pos x="168" y="32"/>
                  </a:cxn>
                  <a:cxn ang="0">
                    <a:pos x="188" y="30"/>
                  </a:cxn>
                  <a:cxn ang="0">
                    <a:pos x="196" y="36"/>
                  </a:cxn>
                  <a:cxn ang="0">
                    <a:pos x="206" y="36"/>
                  </a:cxn>
                  <a:cxn ang="0">
                    <a:pos x="218" y="46"/>
                  </a:cxn>
                  <a:cxn ang="0">
                    <a:pos x="208" y="56"/>
                  </a:cxn>
                  <a:cxn ang="0">
                    <a:pos x="208" y="60"/>
                  </a:cxn>
                  <a:cxn ang="0">
                    <a:pos x="206" y="64"/>
                  </a:cxn>
                  <a:cxn ang="0">
                    <a:pos x="180" y="64"/>
                  </a:cxn>
                  <a:cxn ang="0">
                    <a:pos x="176" y="66"/>
                  </a:cxn>
                  <a:cxn ang="0">
                    <a:pos x="168" y="60"/>
                  </a:cxn>
                  <a:cxn ang="0">
                    <a:pos x="150" y="68"/>
                  </a:cxn>
                  <a:cxn ang="0">
                    <a:pos x="138" y="66"/>
                  </a:cxn>
                  <a:cxn ang="0">
                    <a:pos x="124" y="68"/>
                  </a:cxn>
                  <a:cxn ang="0">
                    <a:pos x="120" y="64"/>
                  </a:cxn>
                  <a:cxn ang="0">
                    <a:pos x="112" y="66"/>
                  </a:cxn>
                  <a:cxn ang="0">
                    <a:pos x="100" y="68"/>
                  </a:cxn>
                  <a:cxn ang="0">
                    <a:pos x="90" y="64"/>
                  </a:cxn>
                </a:cxnLst>
                <a:rect l="0" t="0" r="r" b="b"/>
                <a:pathLst>
                  <a:path w="218" h="70">
                    <a:moveTo>
                      <a:pt x="72" y="70"/>
                    </a:moveTo>
                    <a:lnTo>
                      <a:pt x="72" y="70"/>
                    </a:lnTo>
                    <a:lnTo>
                      <a:pt x="70" y="68"/>
                    </a:lnTo>
                    <a:lnTo>
                      <a:pt x="70" y="66"/>
                    </a:lnTo>
                    <a:lnTo>
                      <a:pt x="66" y="66"/>
                    </a:lnTo>
                    <a:lnTo>
                      <a:pt x="66" y="70"/>
                    </a:lnTo>
                    <a:lnTo>
                      <a:pt x="62" y="70"/>
                    </a:lnTo>
                    <a:lnTo>
                      <a:pt x="60" y="70"/>
                    </a:lnTo>
                    <a:lnTo>
                      <a:pt x="60" y="64"/>
                    </a:lnTo>
                    <a:lnTo>
                      <a:pt x="60" y="62"/>
                    </a:lnTo>
                    <a:lnTo>
                      <a:pt x="58" y="54"/>
                    </a:lnTo>
                    <a:lnTo>
                      <a:pt x="60" y="52"/>
                    </a:lnTo>
                    <a:lnTo>
                      <a:pt x="60" y="48"/>
                    </a:lnTo>
                    <a:lnTo>
                      <a:pt x="58" y="44"/>
                    </a:lnTo>
                    <a:lnTo>
                      <a:pt x="62" y="40"/>
                    </a:lnTo>
                    <a:lnTo>
                      <a:pt x="62" y="36"/>
                    </a:lnTo>
                    <a:lnTo>
                      <a:pt x="60" y="32"/>
                    </a:lnTo>
                    <a:lnTo>
                      <a:pt x="56" y="30"/>
                    </a:lnTo>
                    <a:lnTo>
                      <a:pt x="56" y="28"/>
                    </a:lnTo>
                    <a:lnTo>
                      <a:pt x="54" y="24"/>
                    </a:lnTo>
                    <a:lnTo>
                      <a:pt x="50" y="24"/>
                    </a:lnTo>
                    <a:lnTo>
                      <a:pt x="40" y="22"/>
                    </a:lnTo>
                    <a:lnTo>
                      <a:pt x="40" y="18"/>
                    </a:lnTo>
                    <a:lnTo>
                      <a:pt x="38" y="18"/>
                    </a:lnTo>
                    <a:lnTo>
                      <a:pt x="36" y="20"/>
                    </a:lnTo>
                    <a:lnTo>
                      <a:pt x="34" y="24"/>
                    </a:lnTo>
                    <a:lnTo>
                      <a:pt x="32" y="24"/>
                    </a:lnTo>
                    <a:lnTo>
                      <a:pt x="26" y="20"/>
                    </a:lnTo>
                    <a:lnTo>
                      <a:pt x="20" y="18"/>
                    </a:lnTo>
                    <a:lnTo>
                      <a:pt x="14" y="18"/>
                    </a:lnTo>
                    <a:lnTo>
                      <a:pt x="10" y="16"/>
                    </a:lnTo>
                    <a:lnTo>
                      <a:pt x="8" y="14"/>
                    </a:lnTo>
                    <a:lnTo>
                      <a:pt x="6" y="12"/>
                    </a:lnTo>
                    <a:lnTo>
                      <a:pt x="0" y="8"/>
                    </a:lnTo>
                    <a:lnTo>
                      <a:pt x="0" y="6"/>
                    </a:lnTo>
                    <a:lnTo>
                      <a:pt x="2" y="6"/>
                    </a:lnTo>
                    <a:lnTo>
                      <a:pt x="6" y="0"/>
                    </a:lnTo>
                    <a:lnTo>
                      <a:pt x="12" y="2"/>
                    </a:lnTo>
                    <a:lnTo>
                      <a:pt x="16" y="0"/>
                    </a:lnTo>
                    <a:lnTo>
                      <a:pt x="16" y="2"/>
                    </a:lnTo>
                    <a:lnTo>
                      <a:pt x="26" y="4"/>
                    </a:lnTo>
                    <a:lnTo>
                      <a:pt x="32" y="4"/>
                    </a:lnTo>
                    <a:lnTo>
                      <a:pt x="36" y="4"/>
                    </a:lnTo>
                    <a:lnTo>
                      <a:pt x="42" y="8"/>
                    </a:lnTo>
                    <a:lnTo>
                      <a:pt x="42" y="12"/>
                    </a:lnTo>
                    <a:lnTo>
                      <a:pt x="52" y="12"/>
                    </a:lnTo>
                    <a:lnTo>
                      <a:pt x="64" y="8"/>
                    </a:lnTo>
                    <a:lnTo>
                      <a:pt x="66" y="12"/>
                    </a:lnTo>
                    <a:lnTo>
                      <a:pt x="70" y="12"/>
                    </a:lnTo>
                    <a:lnTo>
                      <a:pt x="74" y="12"/>
                    </a:lnTo>
                    <a:lnTo>
                      <a:pt x="76" y="16"/>
                    </a:lnTo>
                    <a:lnTo>
                      <a:pt x="86" y="18"/>
                    </a:lnTo>
                    <a:lnTo>
                      <a:pt x="86" y="22"/>
                    </a:lnTo>
                    <a:lnTo>
                      <a:pt x="80" y="24"/>
                    </a:lnTo>
                    <a:lnTo>
                      <a:pt x="72" y="24"/>
                    </a:lnTo>
                    <a:lnTo>
                      <a:pt x="72" y="26"/>
                    </a:lnTo>
                    <a:lnTo>
                      <a:pt x="76" y="28"/>
                    </a:lnTo>
                    <a:lnTo>
                      <a:pt x="74" y="32"/>
                    </a:lnTo>
                    <a:lnTo>
                      <a:pt x="76" y="32"/>
                    </a:lnTo>
                    <a:lnTo>
                      <a:pt x="78" y="28"/>
                    </a:lnTo>
                    <a:lnTo>
                      <a:pt x="84" y="28"/>
                    </a:lnTo>
                    <a:lnTo>
                      <a:pt x="90" y="30"/>
                    </a:lnTo>
                    <a:lnTo>
                      <a:pt x="90" y="36"/>
                    </a:lnTo>
                    <a:lnTo>
                      <a:pt x="92" y="34"/>
                    </a:lnTo>
                    <a:lnTo>
                      <a:pt x="92" y="32"/>
                    </a:lnTo>
                    <a:lnTo>
                      <a:pt x="106" y="36"/>
                    </a:lnTo>
                    <a:lnTo>
                      <a:pt x="106" y="38"/>
                    </a:lnTo>
                    <a:lnTo>
                      <a:pt x="108" y="38"/>
                    </a:lnTo>
                    <a:lnTo>
                      <a:pt x="108" y="36"/>
                    </a:lnTo>
                    <a:lnTo>
                      <a:pt x="112" y="38"/>
                    </a:lnTo>
                    <a:lnTo>
                      <a:pt x="116" y="40"/>
                    </a:lnTo>
                    <a:lnTo>
                      <a:pt x="116" y="34"/>
                    </a:lnTo>
                    <a:lnTo>
                      <a:pt x="124" y="38"/>
                    </a:lnTo>
                    <a:lnTo>
                      <a:pt x="132" y="38"/>
                    </a:lnTo>
                    <a:lnTo>
                      <a:pt x="132" y="36"/>
                    </a:lnTo>
                    <a:lnTo>
                      <a:pt x="136" y="34"/>
                    </a:lnTo>
                    <a:lnTo>
                      <a:pt x="144" y="34"/>
                    </a:lnTo>
                    <a:lnTo>
                      <a:pt x="150" y="34"/>
                    </a:lnTo>
                    <a:lnTo>
                      <a:pt x="150" y="30"/>
                    </a:lnTo>
                    <a:lnTo>
                      <a:pt x="156" y="30"/>
                    </a:lnTo>
                    <a:lnTo>
                      <a:pt x="158" y="28"/>
                    </a:lnTo>
                    <a:lnTo>
                      <a:pt x="162" y="28"/>
                    </a:lnTo>
                    <a:lnTo>
                      <a:pt x="164" y="30"/>
                    </a:lnTo>
                    <a:lnTo>
                      <a:pt x="168" y="32"/>
                    </a:lnTo>
                    <a:lnTo>
                      <a:pt x="172" y="30"/>
                    </a:lnTo>
                    <a:lnTo>
                      <a:pt x="174" y="30"/>
                    </a:lnTo>
                    <a:lnTo>
                      <a:pt x="188" y="30"/>
                    </a:lnTo>
                    <a:lnTo>
                      <a:pt x="188" y="34"/>
                    </a:lnTo>
                    <a:lnTo>
                      <a:pt x="192" y="36"/>
                    </a:lnTo>
                    <a:lnTo>
                      <a:pt x="196" y="36"/>
                    </a:lnTo>
                    <a:lnTo>
                      <a:pt x="198" y="34"/>
                    </a:lnTo>
                    <a:lnTo>
                      <a:pt x="202" y="34"/>
                    </a:lnTo>
                    <a:lnTo>
                      <a:pt x="206" y="36"/>
                    </a:lnTo>
                    <a:lnTo>
                      <a:pt x="212" y="40"/>
                    </a:lnTo>
                    <a:lnTo>
                      <a:pt x="216" y="40"/>
                    </a:lnTo>
                    <a:lnTo>
                      <a:pt x="218" y="46"/>
                    </a:lnTo>
                    <a:lnTo>
                      <a:pt x="218" y="48"/>
                    </a:lnTo>
                    <a:lnTo>
                      <a:pt x="216" y="50"/>
                    </a:lnTo>
                    <a:lnTo>
                      <a:pt x="208" y="56"/>
                    </a:lnTo>
                    <a:lnTo>
                      <a:pt x="208" y="54"/>
                    </a:lnTo>
                    <a:lnTo>
                      <a:pt x="208" y="56"/>
                    </a:lnTo>
                    <a:lnTo>
                      <a:pt x="208" y="60"/>
                    </a:lnTo>
                    <a:lnTo>
                      <a:pt x="208" y="62"/>
                    </a:lnTo>
                    <a:lnTo>
                      <a:pt x="208" y="60"/>
                    </a:lnTo>
                    <a:lnTo>
                      <a:pt x="206" y="64"/>
                    </a:lnTo>
                    <a:lnTo>
                      <a:pt x="192" y="66"/>
                    </a:lnTo>
                    <a:lnTo>
                      <a:pt x="182" y="66"/>
                    </a:lnTo>
                    <a:lnTo>
                      <a:pt x="180" y="64"/>
                    </a:lnTo>
                    <a:lnTo>
                      <a:pt x="180" y="66"/>
                    </a:lnTo>
                    <a:lnTo>
                      <a:pt x="178" y="66"/>
                    </a:lnTo>
                    <a:lnTo>
                      <a:pt x="176" y="66"/>
                    </a:lnTo>
                    <a:lnTo>
                      <a:pt x="172" y="64"/>
                    </a:lnTo>
                    <a:lnTo>
                      <a:pt x="170" y="60"/>
                    </a:lnTo>
                    <a:lnTo>
                      <a:pt x="168" y="60"/>
                    </a:lnTo>
                    <a:lnTo>
                      <a:pt x="168" y="66"/>
                    </a:lnTo>
                    <a:lnTo>
                      <a:pt x="166" y="66"/>
                    </a:lnTo>
                    <a:lnTo>
                      <a:pt x="150" y="68"/>
                    </a:lnTo>
                    <a:lnTo>
                      <a:pt x="142" y="66"/>
                    </a:lnTo>
                    <a:lnTo>
                      <a:pt x="138" y="68"/>
                    </a:lnTo>
                    <a:lnTo>
                      <a:pt x="138" y="66"/>
                    </a:lnTo>
                    <a:lnTo>
                      <a:pt x="136" y="64"/>
                    </a:lnTo>
                    <a:lnTo>
                      <a:pt x="136" y="68"/>
                    </a:lnTo>
                    <a:lnTo>
                      <a:pt x="124" y="68"/>
                    </a:lnTo>
                    <a:lnTo>
                      <a:pt x="124" y="66"/>
                    </a:lnTo>
                    <a:lnTo>
                      <a:pt x="124" y="64"/>
                    </a:lnTo>
                    <a:lnTo>
                      <a:pt x="120" y="64"/>
                    </a:lnTo>
                    <a:lnTo>
                      <a:pt x="120" y="68"/>
                    </a:lnTo>
                    <a:lnTo>
                      <a:pt x="114" y="68"/>
                    </a:lnTo>
                    <a:lnTo>
                      <a:pt x="112" y="66"/>
                    </a:lnTo>
                    <a:lnTo>
                      <a:pt x="106" y="70"/>
                    </a:lnTo>
                    <a:lnTo>
                      <a:pt x="102" y="70"/>
                    </a:lnTo>
                    <a:lnTo>
                      <a:pt x="100" y="68"/>
                    </a:lnTo>
                    <a:lnTo>
                      <a:pt x="96" y="58"/>
                    </a:lnTo>
                    <a:lnTo>
                      <a:pt x="90" y="62"/>
                    </a:lnTo>
                    <a:lnTo>
                      <a:pt x="90" y="64"/>
                    </a:lnTo>
                    <a:lnTo>
                      <a:pt x="90" y="66"/>
                    </a:lnTo>
                    <a:lnTo>
                      <a:pt x="72" y="7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47" name="Freeform 422">
                <a:extLst>
                  <a:ext uri="{FF2B5EF4-FFF2-40B4-BE49-F238E27FC236}">
                    <a16:creationId xmlns:a16="http://schemas.microsoft.com/office/drawing/2014/main" id="{9025F7A3-6B7F-F436-E1D7-99A7902B173A}"/>
                  </a:ext>
                </a:extLst>
              </p:cNvPr>
              <p:cNvSpPr>
                <a:spLocks/>
              </p:cNvSpPr>
              <p:nvPr/>
            </p:nvSpPr>
            <p:spPr bwMode="auto">
              <a:xfrm>
                <a:off x="3743990" y="3126327"/>
                <a:ext cx="64175" cy="49955"/>
              </a:xfrm>
              <a:custGeom>
                <a:avLst/>
                <a:gdLst/>
                <a:ahLst/>
                <a:cxnLst>
                  <a:cxn ang="0">
                    <a:pos x="60" y="32"/>
                  </a:cxn>
                  <a:cxn ang="0">
                    <a:pos x="60" y="32"/>
                  </a:cxn>
                  <a:cxn ang="0">
                    <a:pos x="56" y="32"/>
                  </a:cxn>
                  <a:cxn ang="0">
                    <a:pos x="54" y="36"/>
                  </a:cxn>
                  <a:cxn ang="0">
                    <a:pos x="52" y="30"/>
                  </a:cxn>
                  <a:cxn ang="0">
                    <a:pos x="50" y="22"/>
                  </a:cxn>
                  <a:cxn ang="0">
                    <a:pos x="48" y="22"/>
                  </a:cxn>
                  <a:cxn ang="0">
                    <a:pos x="48" y="20"/>
                  </a:cxn>
                  <a:cxn ang="0">
                    <a:pos x="40" y="14"/>
                  </a:cxn>
                  <a:cxn ang="0">
                    <a:pos x="40" y="12"/>
                  </a:cxn>
                  <a:cxn ang="0">
                    <a:pos x="38" y="12"/>
                  </a:cxn>
                  <a:cxn ang="0">
                    <a:pos x="38" y="10"/>
                  </a:cxn>
                  <a:cxn ang="0">
                    <a:pos x="36" y="10"/>
                  </a:cxn>
                  <a:cxn ang="0">
                    <a:pos x="32" y="10"/>
                  </a:cxn>
                  <a:cxn ang="0">
                    <a:pos x="26" y="10"/>
                  </a:cxn>
                  <a:cxn ang="0">
                    <a:pos x="26" y="8"/>
                  </a:cxn>
                  <a:cxn ang="0">
                    <a:pos x="24" y="8"/>
                  </a:cxn>
                  <a:cxn ang="0">
                    <a:pos x="22" y="8"/>
                  </a:cxn>
                  <a:cxn ang="0">
                    <a:pos x="22" y="10"/>
                  </a:cxn>
                  <a:cxn ang="0">
                    <a:pos x="20" y="10"/>
                  </a:cxn>
                  <a:cxn ang="0">
                    <a:pos x="18" y="10"/>
                  </a:cxn>
                  <a:cxn ang="0">
                    <a:pos x="16" y="6"/>
                  </a:cxn>
                  <a:cxn ang="0">
                    <a:pos x="20" y="2"/>
                  </a:cxn>
                  <a:cxn ang="0">
                    <a:pos x="18" y="0"/>
                  </a:cxn>
                  <a:cxn ang="0">
                    <a:pos x="14" y="0"/>
                  </a:cxn>
                  <a:cxn ang="0">
                    <a:pos x="12" y="12"/>
                  </a:cxn>
                  <a:cxn ang="0">
                    <a:pos x="14" y="28"/>
                  </a:cxn>
                  <a:cxn ang="0">
                    <a:pos x="0" y="38"/>
                  </a:cxn>
                  <a:cxn ang="0">
                    <a:pos x="0" y="40"/>
                  </a:cxn>
                  <a:cxn ang="0">
                    <a:pos x="0" y="42"/>
                  </a:cxn>
                  <a:cxn ang="0">
                    <a:pos x="0" y="44"/>
                  </a:cxn>
                  <a:cxn ang="0">
                    <a:pos x="4" y="46"/>
                  </a:cxn>
                  <a:cxn ang="0">
                    <a:pos x="6" y="44"/>
                  </a:cxn>
                  <a:cxn ang="0">
                    <a:pos x="12" y="42"/>
                  </a:cxn>
                  <a:cxn ang="0">
                    <a:pos x="14" y="44"/>
                  </a:cxn>
                  <a:cxn ang="0">
                    <a:pos x="12" y="44"/>
                  </a:cxn>
                  <a:cxn ang="0">
                    <a:pos x="14" y="52"/>
                  </a:cxn>
                  <a:cxn ang="0">
                    <a:pos x="20" y="52"/>
                  </a:cxn>
                  <a:cxn ang="0">
                    <a:pos x="26" y="50"/>
                  </a:cxn>
                  <a:cxn ang="0">
                    <a:pos x="26" y="48"/>
                  </a:cxn>
                  <a:cxn ang="0">
                    <a:pos x="28" y="44"/>
                  </a:cxn>
                  <a:cxn ang="0">
                    <a:pos x="28" y="38"/>
                  </a:cxn>
                  <a:cxn ang="0">
                    <a:pos x="28" y="32"/>
                  </a:cxn>
                  <a:cxn ang="0">
                    <a:pos x="34" y="26"/>
                  </a:cxn>
                  <a:cxn ang="0">
                    <a:pos x="38" y="26"/>
                  </a:cxn>
                  <a:cxn ang="0">
                    <a:pos x="38" y="24"/>
                  </a:cxn>
                  <a:cxn ang="0">
                    <a:pos x="42" y="24"/>
                  </a:cxn>
                  <a:cxn ang="0">
                    <a:pos x="44" y="30"/>
                  </a:cxn>
                  <a:cxn ang="0">
                    <a:pos x="44" y="34"/>
                  </a:cxn>
                  <a:cxn ang="0">
                    <a:pos x="40" y="36"/>
                  </a:cxn>
                  <a:cxn ang="0">
                    <a:pos x="40" y="38"/>
                  </a:cxn>
                  <a:cxn ang="0">
                    <a:pos x="44" y="38"/>
                  </a:cxn>
                  <a:cxn ang="0">
                    <a:pos x="46" y="42"/>
                  </a:cxn>
                  <a:cxn ang="0">
                    <a:pos x="54" y="42"/>
                  </a:cxn>
                  <a:cxn ang="0">
                    <a:pos x="60" y="46"/>
                  </a:cxn>
                  <a:cxn ang="0">
                    <a:pos x="64" y="42"/>
                  </a:cxn>
                  <a:cxn ang="0">
                    <a:pos x="64" y="36"/>
                  </a:cxn>
                  <a:cxn ang="0">
                    <a:pos x="66" y="36"/>
                  </a:cxn>
                  <a:cxn ang="0">
                    <a:pos x="66" y="32"/>
                  </a:cxn>
                  <a:cxn ang="0">
                    <a:pos x="60" y="32"/>
                  </a:cxn>
                </a:cxnLst>
                <a:rect l="0" t="0" r="r" b="b"/>
                <a:pathLst>
                  <a:path w="66" h="52">
                    <a:moveTo>
                      <a:pt x="60" y="32"/>
                    </a:moveTo>
                    <a:lnTo>
                      <a:pt x="60" y="32"/>
                    </a:lnTo>
                    <a:lnTo>
                      <a:pt x="56" y="32"/>
                    </a:lnTo>
                    <a:lnTo>
                      <a:pt x="54" y="36"/>
                    </a:lnTo>
                    <a:lnTo>
                      <a:pt x="52" y="30"/>
                    </a:lnTo>
                    <a:lnTo>
                      <a:pt x="50" y="22"/>
                    </a:lnTo>
                    <a:lnTo>
                      <a:pt x="48" y="22"/>
                    </a:lnTo>
                    <a:lnTo>
                      <a:pt x="48" y="20"/>
                    </a:lnTo>
                    <a:lnTo>
                      <a:pt x="40" y="14"/>
                    </a:lnTo>
                    <a:lnTo>
                      <a:pt x="40" y="12"/>
                    </a:lnTo>
                    <a:lnTo>
                      <a:pt x="38" y="12"/>
                    </a:lnTo>
                    <a:lnTo>
                      <a:pt x="38" y="10"/>
                    </a:lnTo>
                    <a:lnTo>
                      <a:pt x="36" y="10"/>
                    </a:lnTo>
                    <a:lnTo>
                      <a:pt x="32" y="10"/>
                    </a:lnTo>
                    <a:lnTo>
                      <a:pt x="26" y="10"/>
                    </a:lnTo>
                    <a:lnTo>
                      <a:pt x="26" y="8"/>
                    </a:lnTo>
                    <a:lnTo>
                      <a:pt x="24" y="8"/>
                    </a:lnTo>
                    <a:lnTo>
                      <a:pt x="22" y="8"/>
                    </a:lnTo>
                    <a:lnTo>
                      <a:pt x="22" y="10"/>
                    </a:lnTo>
                    <a:lnTo>
                      <a:pt x="20" y="10"/>
                    </a:lnTo>
                    <a:lnTo>
                      <a:pt x="18" y="10"/>
                    </a:lnTo>
                    <a:lnTo>
                      <a:pt x="16" y="6"/>
                    </a:lnTo>
                    <a:lnTo>
                      <a:pt x="20" y="2"/>
                    </a:lnTo>
                    <a:lnTo>
                      <a:pt x="18" y="0"/>
                    </a:lnTo>
                    <a:lnTo>
                      <a:pt x="14" y="0"/>
                    </a:lnTo>
                    <a:lnTo>
                      <a:pt x="12" y="12"/>
                    </a:lnTo>
                    <a:lnTo>
                      <a:pt x="14" y="28"/>
                    </a:lnTo>
                    <a:lnTo>
                      <a:pt x="0" y="38"/>
                    </a:lnTo>
                    <a:lnTo>
                      <a:pt x="0" y="40"/>
                    </a:lnTo>
                    <a:lnTo>
                      <a:pt x="0" y="42"/>
                    </a:lnTo>
                    <a:lnTo>
                      <a:pt x="0" y="44"/>
                    </a:lnTo>
                    <a:lnTo>
                      <a:pt x="4" y="46"/>
                    </a:lnTo>
                    <a:lnTo>
                      <a:pt x="6" y="44"/>
                    </a:lnTo>
                    <a:lnTo>
                      <a:pt x="12" y="42"/>
                    </a:lnTo>
                    <a:lnTo>
                      <a:pt x="14" y="44"/>
                    </a:lnTo>
                    <a:lnTo>
                      <a:pt x="12" y="44"/>
                    </a:lnTo>
                    <a:lnTo>
                      <a:pt x="14" y="52"/>
                    </a:lnTo>
                    <a:lnTo>
                      <a:pt x="20" y="52"/>
                    </a:lnTo>
                    <a:lnTo>
                      <a:pt x="26" y="50"/>
                    </a:lnTo>
                    <a:lnTo>
                      <a:pt x="26" y="48"/>
                    </a:lnTo>
                    <a:lnTo>
                      <a:pt x="28" y="44"/>
                    </a:lnTo>
                    <a:lnTo>
                      <a:pt x="28" y="38"/>
                    </a:lnTo>
                    <a:lnTo>
                      <a:pt x="28" y="32"/>
                    </a:lnTo>
                    <a:lnTo>
                      <a:pt x="34" y="26"/>
                    </a:lnTo>
                    <a:lnTo>
                      <a:pt x="38" y="26"/>
                    </a:lnTo>
                    <a:lnTo>
                      <a:pt x="38" y="24"/>
                    </a:lnTo>
                    <a:lnTo>
                      <a:pt x="42" y="24"/>
                    </a:lnTo>
                    <a:lnTo>
                      <a:pt x="44" y="30"/>
                    </a:lnTo>
                    <a:lnTo>
                      <a:pt x="44" y="34"/>
                    </a:lnTo>
                    <a:lnTo>
                      <a:pt x="40" y="36"/>
                    </a:lnTo>
                    <a:lnTo>
                      <a:pt x="40" y="38"/>
                    </a:lnTo>
                    <a:lnTo>
                      <a:pt x="44" y="38"/>
                    </a:lnTo>
                    <a:lnTo>
                      <a:pt x="46" y="42"/>
                    </a:lnTo>
                    <a:lnTo>
                      <a:pt x="54" y="42"/>
                    </a:lnTo>
                    <a:lnTo>
                      <a:pt x="60" y="46"/>
                    </a:lnTo>
                    <a:lnTo>
                      <a:pt x="64" y="42"/>
                    </a:lnTo>
                    <a:lnTo>
                      <a:pt x="64" y="36"/>
                    </a:lnTo>
                    <a:lnTo>
                      <a:pt x="66" y="36"/>
                    </a:lnTo>
                    <a:lnTo>
                      <a:pt x="66" y="32"/>
                    </a:lnTo>
                    <a:lnTo>
                      <a:pt x="60" y="32"/>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48" name="Freeform 423">
                <a:extLst>
                  <a:ext uri="{FF2B5EF4-FFF2-40B4-BE49-F238E27FC236}">
                    <a16:creationId xmlns:a16="http://schemas.microsoft.com/office/drawing/2014/main" id="{ABE3B2A4-EF87-EB82-1D00-0B9897B90417}"/>
                  </a:ext>
                </a:extLst>
              </p:cNvPr>
              <p:cNvSpPr>
                <a:spLocks/>
              </p:cNvSpPr>
              <p:nvPr/>
            </p:nvSpPr>
            <p:spPr bwMode="auto">
              <a:xfrm>
                <a:off x="3743990" y="3126327"/>
                <a:ext cx="64175" cy="49955"/>
              </a:xfrm>
              <a:custGeom>
                <a:avLst/>
                <a:gdLst/>
                <a:ahLst/>
                <a:cxnLst>
                  <a:cxn ang="0">
                    <a:pos x="60" y="32"/>
                  </a:cxn>
                  <a:cxn ang="0">
                    <a:pos x="60" y="32"/>
                  </a:cxn>
                  <a:cxn ang="0">
                    <a:pos x="56" y="32"/>
                  </a:cxn>
                  <a:cxn ang="0">
                    <a:pos x="54" y="36"/>
                  </a:cxn>
                  <a:cxn ang="0">
                    <a:pos x="52" y="30"/>
                  </a:cxn>
                  <a:cxn ang="0">
                    <a:pos x="50" y="22"/>
                  </a:cxn>
                  <a:cxn ang="0">
                    <a:pos x="48" y="22"/>
                  </a:cxn>
                  <a:cxn ang="0">
                    <a:pos x="48" y="20"/>
                  </a:cxn>
                  <a:cxn ang="0">
                    <a:pos x="40" y="14"/>
                  </a:cxn>
                  <a:cxn ang="0">
                    <a:pos x="40" y="12"/>
                  </a:cxn>
                  <a:cxn ang="0">
                    <a:pos x="38" y="12"/>
                  </a:cxn>
                  <a:cxn ang="0">
                    <a:pos x="38" y="10"/>
                  </a:cxn>
                  <a:cxn ang="0">
                    <a:pos x="36" y="10"/>
                  </a:cxn>
                  <a:cxn ang="0">
                    <a:pos x="32" y="10"/>
                  </a:cxn>
                  <a:cxn ang="0">
                    <a:pos x="26" y="10"/>
                  </a:cxn>
                  <a:cxn ang="0">
                    <a:pos x="26" y="8"/>
                  </a:cxn>
                  <a:cxn ang="0">
                    <a:pos x="24" y="8"/>
                  </a:cxn>
                  <a:cxn ang="0">
                    <a:pos x="22" y="8"/>
                  </a:cxn>
                  <a:cxn ang="0">
                    <a:pos x="22" y="10"/>
                  </a:cxn>
                  <a:cxn ang="0">
                    <a:pos x="20" y="10"/>
                  </a:cxn>
                  <a:cxn ang="0">
                    <a:pos x="18" y="10"/>
                  </a:cxn>
                  <a:cxn ang="0">
                    <a:pos x="16" y="6"/>
                  </a:cxn>
                  <a:cxn ang="0">
                    <a:pos x="20" y="2"/>
                  </a:cxn>
                  <a:cxn ang="0">
                    <a:pos x="18" y="0"/>
                  </a:cxn>
                  <a:cxn ang="0">
                    <a:pos x="14" y="0"/>
                  </a:cxn>
                  <a:cxn ang="0">
                    <a:pos x="12" y="12"/>
                  </a:cxn>
                  <a:cxn ang="0">
                    <a:pos x="14" y="28"/>
                  </a:cxn>
                  <a:cxn ang="0">
                    <a:pos x="0" y="38"/>
                  </a:cxn>
                  <a:cxn ang="0">
                    <a:pos x="0" y="40"/>
                  </a:cxn>
                  <a:cxn ang="0">
                    <a:pos x="0" y="42"/>
                  </a:cxn>
                  <a:cxn ang="0">
                    <a:pos x="0" y="44"/>
                  </a:cxn>
                  <a:cxn ang="0">
                    <a:pos x="4" y="46"/>
                  </a:cxn>
                  <a:cxn ang="0">
                    <a:pos x="6" y="44"/>
                  </a:cxn>
                  <a:cxn ang="0">
                    <a:pos x="12" y="42"/>
                  </a:cxn>
                  <a:cxn ang="0">
                    <a:pos x="14" y="44"/>
                  </a:cxn>
                  <a:cxn ang="0">
                    <a:pos x="12" y="44"/>
                  </a:cxn>
                  <a:cxn ang="0">
                    <a:pos x="14" y="52"/>
                  </a:cxn>
                  <a:cxn ang="0">
                    <a:pos x="20" y="52"/>
                  </a:cxn>
                  <a:cxn ang="0">
                    <a:pos x="26" y="50"/>
                  </a:cxn>
                  <a:cxn ang="0">
                    <a:pos x="26" y="48"/>
                  </a:cxn>
                  <a:cxn ang="0">
                    <a:pos x="28" y="44"/>
                  </a:cxn>
                  <a:cxn ang="0">
                    <a:pos x="28" y="38"/>
                  </a:cxn>
                  <a:cxn ang="0">
                    <a:pos x="28" y="32"/>
                  </a:cxn>
                  <a:cxn ang="0">
                    <a:pos x="34" y="26"/>
                  </a:cxn>
                  <a:cxn ang="0">
                    <a:pos x="38" y="26"/>
                  </a:cxn>
                  <a:cxn ang="0">
                    <a:pos x="38" y="24"/>
                  </a:cxn>
                  <a:cxn ang="0">
                    <a:pos x="42" y="24"/>
                  </a:cxn>
                  <a:cxn ang="0">
                    <a:pos x="44" y="30"/>
                  </a:cxn>
                  <a:cxn ang="0">
                    <a:pos x="44" y="34"/>
                  </a:cxn>
                  <a:cxn ang="0">
                    <a:pos x="40" y="36"/>
                  </a:cxn>
                  <a:cxn ang="0">
                    <a:pos x="40" y="38"/>
                  </a:cxn>
                  <a:cxn ang="0">
                    <a:pos x="44" y="38"/>
                  </a:cxn>
                  <a:cxn ang="0">
                    <a:pos x="46" y="42"/>
                  </a:cxn>
                  <a:cxn ang="0">
                    <a:pos x="54" y="42"/>
                  </a:cxn>
                  <a:cxn ang="0">
                    <a:pos x="60" y="46"/>
                  </a:cxn>
                  <a:cxn ang="0">
                    <a:pos x="64" y="42"/>
                  </a:cxn>
                  <a:cxn ang="0">
                    <a:pos x="64" y="36"/>
                  </a:cxn>
                  <a:cxn ang="0">
                    <a:pos x="66" y="36"/>
                  </a:cxn>
                  <a:cxn ang="0">
                    <a:pos x="66" y="32"/>
                  </a:cxn>
                  <a:cxn ang="0">
                    <a:pos x="60" y="32"/>
                  </a:cxn>
                </a:cxnLst>
                <a:rect l="0" t="0" r="r" b="b"/>
                <a:pathLst>
                  <a:path w="66" h="52">
                    <a:moveTo>
                      <a:pt x="60" y="32"/>
                    </a:moveTo>
                    <a:lnTo>
                      <a:pt x="60" y="32"/>
                    </a:lnTo>
                    <a:lnTo>
                      <a:pt x="56" y="32"/>
                    </a:lnTo>
                    <a:lnTo>
                      <a:pt x="54" y="36"/>
                    </a:lnTo>
                    <a:lnTo>
                      <a:pt x="52" y="30"/>
                    </a:lnTo>
                    <a:lnTo>
                      <a:pt x="50" y="22"/>
                    </a:lnTo>
                    <a:lnTo>
                      <a:pt x="48" y="22"/>
                    </a:lnTo>
                    <a:lnTo>
                      <a:pt x="48" y="20"/>
                    </a:lnTo>
                    <a:lnTo>
                      <a:pt x="40" y="14"/>
                    </a:lnTo>
                    <a:lnTo>
                      <a:pt x="40" y="12"/>
                    </a:lnTo>
                    <a:lnTo>
                      <a:pt x="38" y="12"/>
                    </a:lnTo>
                    <a:lnTo>
                      <a:pt x="38" y="10"/>
                    </a:lnTo>
                    <a:lnTo>
                      <a:pt x="36" y="10"/>
                    </a:lnTo>
                    <a:lnTo>
                      <a:pt x="32" y="10"/>
                    </a:lnTo>
                    <a:lnTo>
                      <a:pt x="26" y="10"/>
                    </a:lnTo>
                    <a:lnTo>
                      <a:pt x="26" y="8"/>
                    </a:lnTo>
                    <a:lnTo>
                      <a:pt x="24" y="8"/>
                    </a:lnTo>
                    <a:lnTo>
                      <a:pt x="22" y="8"/>
                    </a:lnTo>
                    <a:lnTo>
                      <a:pt x="22" y="10"/>
                    </a:lnTo>
                    <a:lnTo>
                      <a:pt x="20" y="10"/>
                    </a:lnTo>
                    <a:lnTo>
                      <a:pt x="18" y="10"/>
                    </a:lnTo>
                    <a:lnTo>
                      <a:pt x="16" y="6"/>
                    </a:lnTo>
                    <a:lnTo>
                      <a:pt x="20" y="2"/>
                    </a:lnTo>
                    <a:lnTo>
                      <a:pt x="18" y="0"/>
                    </a:lnTo>
                    <a:lnTo>
                      <a:pt x="14" y="0"/>
                    </a:lnTo>
                    <a:lnTo>
                      <a:pt x="12" y="12"/>
                    </a:lnTo>
                    <a:lnTo>
                      <a:pt x="14" y="28"/>
                    </a:lnTo>
                    <a:lnTo>
                      <a:pt x="0" y="38"/>
                    </a:lnTo>
                    <a:lnTo>
                      <a:pt x="0" y="40"/>
                    </a:lnTo>
                    <a:lnTo>
                      <a:pt x="0" y="42"/>
                    </a:lnTo>
                    <a:lnTo>
                      <a:pt x="0" y="44"/>
                    </a:lnTo>
                    <a:lnTo>
                      <a:pt x="4" y="46"/>
                    </a:lnTo>
                    <a:lnTo>
                      <a:pt x="6" y="44"/>
                    </a:lnTo>
                    <a:lnTo>
                      <a:pt x="12" y="42"/>
                    </a:lnTo>
                    <a:lnTo>
                      <a:pt x="14" y="44"/>
                    </a:lnTo>
                    <a:lnTo>
                      <a:pt x="12" y="44"/>
                    </a:lnTo>
                    <a:lnTo>
                      <a:pt x="14" y="52"/>
                    </a:lnTo>
                    <a:lnTo>
                      <a:pt x="20" y="52"/>
                    </a:lnTo>
                    <a:lnTo>
                      <a:pt x="26" y="50"/>
                    </a:lnTo>
                    <a:lnTo>
                      <a:pt x="26" y="48"/>
                    </a:lnTo>
                    <a:lnTo>
                      <a:pt x="28" y="44"/>
                    </a:lnTo>
                    <a:lnTo>
                      <a:pt x="28" y="38"/>
                    </a:lnTo>
                    <a:lnTo>
                      <a:pt x="28" y="32"/>
                    </a:lnTo>
                    <a:lnTo>
                      <a:pt x="34" y="26"/>
                    </a:lnTo>
                    <a:lnTo>
                      <a:pt x="38" y="26"/>
                    </a:lnTo>
                    <a:lnTo>
                      <a:pt x="38" y="24"/>
                    </a:lnTo>
                    <a:lnTo>
                      <a:pt x="42" y="24"/>
                    </a:lnTo>
                    <a:lnTo>
                      <a:pt x="44" y="30"/>
                    </a:lnTo>
                    <a:lnTo>
                      <a:pt x="44" y="34"/>
                    </a:lnTo>
                    <a:lnTo>
                      <a:pt x="40" y="36"/>
                    </a:lnTo>
                    <a:lnTo>
                      <a:pt x="40" y="38"/>
                    </a:lnTo>
                    <a:lnTo>
                      <a:pt x="44" y="38"/>
                    </a:lnTo>
                    <a:lnTo>
                      <a:pt x="46" y="42"/>
                    </a:lnTo>
                    <a:lnTo>
                      <a:pt x="54" y="42"/>
                    </a:lnTo>
                    <a:lnTo>
                      <a:pt x="60" y="46"/>
                    </a:lnTo>
                    <a:lnTo>
                      <a:pt x="64" y="42"/>
                    </a:lnTo>
                    <a:lnTo>
                      <a:pt x="64" y="36"/>
                    </a:lnTo>
                    <a:lnTo>
                      <a:pt x="66" y="36"/>
                    </a:lnTo>
                    <a:lnTo>
                      <a:pt x="66" y="32"/>
                    </a:lnTo>
                    <a:lnTo>
                      <a:pt x="60" y="32"/>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49" name="Freeform 424">
                <a:extLst>
                  <a:ext uri="{FF2B5EF4-FFF2-40B4-BE49-F238E27FC236}">
                    <a16:creationId xmlns:a16="http://schemas.microsoft.com/office/drawing/2014/main" id="{7750A897-76B8-8493-3AC0-8E5CF8E1D68B}"/>
                  </a:ext>
                </a:extLst>
              </p:cNvPr>
              <p:cNvSpPr>
                <a:spLocks/>
              </p:cNvSpPr>
              <p:nvPr/>
            </p:nvSpPr>
            <p:spPr bwMode="auto">
              <a:xfrm>
                <a:off x="4025971" y="3437588"/>
                <a:ext cx="33060" cy="21135"/>
              </a:xfrm>
              <a:custGeom>
                <a:avLst/>
                <a:gdLst/>
                <a:ahLst/>
                <a:cxnLst>
                  <a:cxn ang="0">
                    <a:pos x="34" y="18"/>
                  </a:cxn>
                  <a:cxn ang="0">
                    <a:pos x="28" y="14"/>
                  </a:cxn>
                  <a:cxn ang="0">
                    <a:pos x="26" y="14"/>
                  </a:cxn>
                  <a:cxn ang="0">
                    <a:pos x="22" y="10"/>
                  </a:cxn>
                  <a:cxn ang="0">
                    <a:pos x="20" y="6"/>
                  </a:cxn>
                  <a:cxn ang="0">
                    <a:pos x="16" y="6"/>
                  </a:cxn>
                  <a:cxn ang="0">
                    <a:pos x="12" y="4"/>
                  </a:cxn>
                  <a:cxn ang="0">
                    <a:pos x="8" y="0"/>
                  </a:cxn>
                  <a:cxn ang="0">
                    <a:pos x="0" y="0"/>
                  </a:cxn>
                  <a:cxn ang="0">
                    <a:pos x="0" y="6"/>
                  </a:cxn>
                  <a:cxn ang="0">
                    <a:pos x="6" y="6"/>
                  </a:cxn>
                  <a:cxn ang="0">
                    <a:pos x="10" y="10"/>
                  </a:cxn>
                  <a:cxn ang="0">
                    <a:pos x="10" y="14"/>
                  </a:cxn>
                  <a:cxn ang="0">
                    <a:pos x="14" y="14"/>
                  </a:cxn>
                  <a:cxn ang="0">
                    <a:pos x="18" y="16"/>
                  </a:cxn>
                  <a:cxn ang="0">
                    <a:pos x="22" y="18"/>
                  </a:cxn>
                  <a:cxn ang="0">
                    <a:pos x="26" y="20"/>
                  </a:cxn>
                  <a:cxn ang="0">
                    <a:pos x="32" y="22"/>
                  </a:cxn>
                  <a:cxn ang="0">
                    <a:pos x="32" y="20"/>
                  </a:cxn>
                  <a:cxn ang="0">
                    <a:pos x="34" y="18"/>
                  </a:cxn>
                </a:cxnLst>
                <a:rect l="0" t="0" r="r" b="b"/>
                <a:pathLst>
                  <a:path w="34" h="22">
                    <a:moveTo>
                      <a:pt x="34" y="18"/>
                    </a:moveTo>
                    <a:lnTo>
                      <a:pt x="28" y="14"/>
                    </a:lnTo>
                    <a:lnTo>
                      <a:pt x="26" y="14"/>
                    </a:lnTo>
                    <a:lnTo>
                      <a:pt x="22" y="10"/>
                    </a:lnTo>
                    <a:lnTo>
                      <a:pt x="20" y="6"/>
                    </a:lnTo>
                    <a:lnTo>
                      <a:pt x="16" y="6"/>
                    </a:lnTo>
                    <a:lnTo>
                      <a:pt x="12" y="4"/>
                    </a:lnTo>
                    <a:lnTo>
                      <a:pt x="8" y="0"/>
                    </a:lnTo>
                    <a:lnTo>
                      <a:pt x="0" y="0"/>
                    </a:lnTo>
                    <a:lnTo>
                      <a:pt x="0" y="6"/>
                    </a:lnTo>
                    <a:lnTo>
                      <a:pt x="6" y="6"/>
                    </a:lnTo>
                    <a:lnTo>
                      <a:pt x="10" y="10"/>
                    </a:lnTo>
                    <a:lnTo>
                      <a:pt x="10" y="14"/>
                    </a:lnTo>
                    <a:lnTo>
                      <a:pt x="14" y="14"/>
                    </a:lnTo>
                    <a:lnTo>
                      <a:pt x="18" y="16"/>
                    </a:lnTo>
                    <a:lnTo>
                      <a:pt x="22" y="18"/>
                    </a:lnTo>
                    <a:lnTo>
                      <a:pt x="26" y="20"/>
                    </a:lnTo>
                    <a:lnTo>
                      <a:pt x="32" y="22"/>
                    </a:lnTo>
                    <a:lnTo>
                      <a:pt x="32" y="20"/>
                    </a:lnTo>
                    <a:lnTo>
                      <a:pt x="34" y="18"/>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50" name="Freeform 425">
                <a:extLst>
                  <a:ext uri="{FF2B5EF4-FFF2-40B4-BE49-F238E27FC236}">
                    <a16:creationId xmlns:a16="http://schemas.microsoft.com/office/drawing/2014/main" id="{0A523FB4-5F38-2E72-7DFC-14DB3375474F}"/>
                  </a:ext>
                </a:extLst>
              </p:cNvPr>
              <p:cNvSpPr>
                <a:spLocks/>
              </p:cNvSpPr>
              <p:nvPr/>
            </p:nvSpPr>
            <p:spPr bwMode="auto">
              <a:xfrm>
                <a:off x="4025971" y="3437588"/>
                <a:ext cx="33060" cy="21135"/>
              </a:xfrm>
              <a:custGeom>
                <a:avLst/>
                <a:gdLst/>
                <a:ahLst/>
                <a:cxnLst>
                  <a:cxn ang="0">
                    <a:pos x="34" y="18"/>
                  </a:cxn>
                  <a:cxn ang="0">
                    <a:pos x="28" y="14"/>
                  </a:cxn>
                  <a:cxn ang="0">
                    <a:pos x="26" y="14"/>
                  </a:cxn>
                  <a:cxn ang="0">
                    <a:pos x="22" y="10"/>
                  </a:cxn>
                  <a:cxn ang="0">
                    <a:pos x="20" y="6"/>
                  </a:cxn>
                  <a:cxn ang="0">
                    <a:pos x="16" y="6"/>
                  </a:cxn>
                  <a:cxn ang="0">
                    <a:pos x="12" y="4"/>
                  </a:cxn>
                  <a:cxn ang="0">
                    <a:pos x="8" y="0"/>
                  </a:cxn>
                  <a:cxn ang="0">
                    <a:pos x="0" y="0"/>
                  </a:cxn>
                  <a:cxn ang="0">
                    <a:pos x="0" y="6"/>
                  </a:cxn>
                  <a:cxn ang="0">
                    <a:pos x="6" y="6"/>
                  </a:cxn>
                  <a:cxn ang="0">
                    <a:pos x="10" y="10"/>
                  </a:cxn>
                  <a:cxn ang="0">
                    <a:pos x="10" y="14"/>
                  </a:cxn>
                  <a:cxn ang="0">
                    <a:pos x="14" y="14"/>
                  </a:cxn>
                  <a:cxn ang="0">
                    <a:pos x="18" y="16"/>
                  </a:cxn>
                  <a:cxn ang="0">
                    <a:pos x="22" y="18"/>
                  </a:cxn>
                  <a:cxn ang="0">
                    <a:pos x="26" y="20"/>
                  </a:cxn>
                  <a:cxn ang="0">
                    <a:pos x="32" y="22"/>
                  </a:cxn>
                  <a:cxn ang="0">
                    <a:pos x="32" y="20"/>
                  </a:cxn>
                  <a:cxn ang="0">
                    <a:pos x="34" y="18"/>
                  </a:cxn>
                </a:cxnLst>
                <a:rect l="0" t="0" r="r" b="b"/>
                <a:pathLst>
                  <a:path w="34" h="22">
                    <a:moveTo>
                      <a:pt x="34" y="18"/>
                    </a:moveTo>
                    <a:lnTo>
                      <a:pt x="28" y="14"/>
                    </a:lnTo>
                    <a:lnTo>
                      <a:pt x="26" y="14"/>
                    </a:lnTo>
                    <a:lnTo>
                      <a:pt x="22" y="10"/>
                    </a:lnTo>
                    <a:lnTo>
                      <a:pt x="20" y="6"/>
                    </a:lnTo>
                    <a:lnTo>
                      <a:pt x="16" y="6"/>
                    </a:lnTo>
                    <a:lnTo>
                      <a:pt x="12" y="4"/>
                    </a:lnTo>
                    <a:lnTo>
                      <a:pt x="8" y="0"/>
                    </a:lnTo>
                    <a:lnTo>
                      <a:pt x="0" y="0"/>
                    </a:lnTo>
                    <a:lnTo>
                      <a:pt x="0" y="6"/>
                    </a:lnTo>
                    <a:lnTo>
                      <a:pt x="6" y="6"/>
                    </a:lnTo>
                    <a:lnTo>
                      <a:pt x="10" y="10"/>
                    </a:lnTo>
                    <a:lnTo>
                      <a:pt x="10" y="14"/>
                    </a:lnTo>
                    <a:lnTo>
                      <a:pt x="14" y="14"/>
                    </a:lnTo>
                    <a:lnTo>
                      <a:pt x="18" y="16"/>
                    </a:lnTo>
                    <a:lnTo>
                      <a:pt x="22" y="18"/>
                    </a:lnTo>
                    <a:lnTo>
                      <a:pt x="26" y="20"/>
                    </a:lnTo>
                    <a:lnTo>
                      <a:pt x="32" y="22"/>
                    </a:lnTo>
                    <a:lnTo>
                      <a:pt x="32" y="20"/>
                    </a:lnTo>
                    <a:lnTo>
                      <a:pt x="34" y="18"/>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51" name="Freeform 426">
                <a:extLst>
                  <a:ext uri="{FF2B5EF4-FFF2-40B4-BE49-F238E27FC236}">
                    <a16:creationId xmlns:a16="http://schemas.microsoft.com/office/drawing/2014/main" id="{A536A2BD-7C37-8E43-6148-D229EEF29E92}"/>
                  </a:ext>
                </a:extLst>
              </p:cNvPr>
              <p:cNvSpPr>
                <a:spLocks/>
              </p:cNvSpPr>
              <p:nvPr/>
            </p:nvSpPr>
            <p:spPr bwMode="auto">
              <a:xfrm>
                <a:off x="3584525" y="3024494"/>
                <a:ext cx="48617" cy="32663"/>
              </a:xfrm>
              <a:custGeom>
                <a:avLst/>
                <a:gdLst/>
                <a:ahLst/>
                <a:cxnLst>
                  <a:cxn ang="0">
                    <a:pos x="46" y="12"/>
                  </a:cxn>
                  <a:cxn ang="0">
                    <a:pos x="36" y="2"/>
                  </a:cxn>
                  <a:cxn ang="0">
                    <a:pos x="30" y="2"/>
                  </a:cxn>
                  <a:cxn ang="0">
                    <a:pos x="28" y="2"/>
                  </a:cxn>
                  <a:cxn ang="0">
                    <a:pos x="26" y="2"/>
                  </a:cxn>
                  <a:cxn ang="0">
                    <a:pos x="24" y="2"/>
                  </a:cxn>
                  <a:cxn ang="0">
                    <a:pos x="24" y="0"/>
                  </a:cxn>
                  <a:cxn ang="0">
                    <a:pos x="20" y="0"/>
                  </a:cxn>
                  <a:cxn ang="0">
                    <a:pos x="18" y="2"/>
                  </a:cxn>
                  <a:cxn ang="0">
                    <a:pos x="18" y="6"/>
                  </a:cxn>
                  <a:cxn ang="0">
                    <a:pos x="16" y="4"/>
                  </a:cxn>
                  <a:cxn ang="0">
                    <a:pos x="12" y="4"/>
                  </a:cxn>
                  <a:cxn ang="0">
                    <a:pos x="10" y="12"/>
                  </a:cxn>
                  <a:cxn ang="0">
                    <a:pos x="8" y="16"/>
                  </a:cxn>
                  <a:cxn ang="0">
                    <a:pos x="6" y="18"/>
                  </a:cxn>
                  <a:cxn ang="0">
                    <a:pos x="2" y="18"/>
                  </a:cxn>
                  <a:cxn ang="0">
                    <a:pos x="0" y="20"/>
                  </a:cxn>
                  <a:cxn ang="0">
                    <a:pos x="2" y="22"/>
                  </a:cxn>
                  <a:cxn ang="0">
                    <a:pos x="4" y="24"/>
                  </a:cxn>
                  <a:cxn ang="0">
                    <a:pos x="6" y="22"/>
                  </a:cxn>
                  <a:cxn ang="0">
                    <a:pos x="8" y="22"/>
                  </a:cxn>
                  <a:cxn ang="0">
                    <a:pos x="8" y="24"/>
                  </a:cxn>
                  <a:cxn ang="0">
                    <a:pos x="10" y="26"/>
                  </a:cxn>
                  <a:cxn ang="0">
                    <a:pos x="12" y="24"/>
                  </a:cxn>
                  <a:cxn ang="0">
                    <a:pos x="14" y="22"/>
                  </a:cxn>
                  <a:cxn ang="0">
                    <a:pos x="16" y="22"/>
                  </a:cxn>
                  <a:cxn ang="0">
                    <a:pos x="16" y="24"/>
                  </a:cxn>
                  <a:cxn ang="0">
                    <a:pos x="16" y="26"/>
                  </a:cxn>
                  <a:cxn ang="0">
                    <a:pos x="16" y="28"/>
                  </a:cxn>
                  <a:cxn ang="0">
                    <a:pos x="20" y="30"/>
                  </a:cxn>
                  <a:cxn ang="0">
                    <a:pos x="22" y="34"/>
                  </a:cxn>
                  <a:cxn ang="0">
                    <a:pos x="24" y="34"/>
                  </a:cxn>
                  <a:cxn ang="0">
                    <a:pos x="26" y="34"/>
                  </a:cxn>
                  <a:cxn ang="0">
                    <a:pos x="28" y="34"/>
                  </a:cxn>
                  <a:cxn ang="0">
                    <a:pos x="30" y="34"/>
                  </a:cxn>
                  <a:cxn ang="0">
                    <a:pos x="32" y="32"/>
                  </a:cxn>
                  <a:cxn ang="0">
                    <a:pos x="32" y="28"/>
                  </a:cxn>
                  <a:cxn ang="0">
                    <a:pos x="38" y="30"/>
                  </a:cxn>
                  <a:cxn ang="0">
                    <a:pos x="42" y="28"/>
                  </a:cxn>
                  <a:cxn ang="0">
                    <a:pos x="48" y="28"/>
                  </a:cxn>
                  <a:cxn ang="0">
                    <a:pos x="50" y="24"/>
                  </a:cxn>
                  <a:cxn ang="0">
                    <a:pos x="46" y="24"/>
                  </a:cxn>
                  <a:cxn ang="0">
                    <a:pos x="46" y="18"/>
                  </a:cxn>
                  <a:cxn ang="0">
                    <a:pos x="46" y="12"/>
                  </a:cxn>
                </a:cxnLst>
                <a:rect l="0" t="0" r="r" b="b"/>
                <a:pathLst>
                  <a:path w="50" h="34">
                    <a:moveTo>
                      <a:pt x="46" y="12"/>
                    </a:moveTo>
                    <a:lnTo>
                      <a:pt x="36" y="2"/>
                    </a:lnTo>
                    <a:lnTo>
                      <a:pt x="30" y="2"/>
                    </a:lnTo>
                    <a:lnTo>
                      <a:pt x="28" y="2"/>
                    </a:lnTo>
                    <a:lnTo>
                      <a:pt x="26" y="2"/>
                    </a:lnTo>
                    <a:lnTo>
                      <a:pt x="24" y="2"/>
                    </a:lnTo>
                    <a:lnTo>
                      <a:pt x="24" y="0"/>
                    </a:lnTo>
                    <a:lnTo>
                      <a:pt x="20" y="0"/>
                    </a:lnTo>
                    <a:lnTo>
                      <a:pt x="18" y="2"/>
                    </a:lnTo>
                    <a:lnTo>
                      <a:pt x="18" y="6"/>
                    </a:lnTo>
                    <a:lnTo>
                      <a:pt x="16" y="4"/>
                    </a:lnTo>
                    <a:lnTo>
                      <a:pt x="12" y="4"/>
                    </a:lnTo>
                    <a:lnTo>
                      <a:pt x="10" y="12"/>
                    </a:lnTo>
                    <a:lnTo>
                      <a:pt x="8" y="16"/>
                    </a:lnTo>
                    <a:lnTo>
                      <a:pt x="6" y="18"/>
                    </a:lnTo>
                    <a:lnTo>
                      <a:pt x="2" y="18"/>
                    </a:lnTo>
                    <a:lnTo>
                      <a:pt x="0" y="20"/>
                    </a:lnTo>
                    <a:lnTo>
                      <a:pt x="2" y="22"/>
                    </a:lnTo>
                    <a:lnTo>
                      <a:pt x="4" y="24"/>
                    </a:lnTo>
                    <a:lnTo>
                      <a:pt x="6" y="22"/>
                    </a:lnTo>
                    <a:lnTo>
                      <a:pt x="8" y="22"/>
                    </a:lnTo>
                    <a:lnTo>
                      <a:pt x="8" y="24"/>
                    </a:lnTo>
                    <a:lnTo>
                      <a:pt x="10" y="26"/>
                    </a:lnTo>
                    <a:lnTo>
                      <a:pt x="12" y="24"/>
                    </a:lnTo>
                    <a:lnTo>
                      <a:pt x="14" y="22"/>
                    </a:lnTo>
                    <a:lnTo>
                      <a:pt x="16" y="22"/>
                    </a:lnTo>
                    <a:lnTo>
                      <a:pt x="16" y="24"/>
                    </a:lnTo>
                    <a:lnTo>
                      <a:pt x="16" y="26"/>
                    </a:lnTo>
                    <a:lnTo>
                      <a:pt x="16" y="28"/>
                    </a:lnTo>
                    <a:lnTo>
                      <a:pt x="20" y="30"/>
                    </a:lnTo>
                    <a:lnTo>
                      <a:pt x="22" y="34"/>
                    </a:lnTo>
                    <a:lnTo>
                      <a:pt x="24" y="34"/>
                    </a:lnTo>
                    <a:lnTo>
                      <a:pt x="26" y="34"/>
                    </a:lnTo>
                    <a:lnTo>
                      <a:pt x="28" y="34"/>
                    </a:lnTo>
                    <a:lnTo>
                      <a:pt x="30" y="34"/>
                    </a:lnTo>
                    <a:lnTo>
                      <a:pt x="32" y="32"/>
                    </a:lnTo>
                    <a:lnTo>
                      <a:pt x="32" y="28"/>
                    </a:lnTo>
                    <a:lnTo>
                      <a:pt x="38" y="30"/>
                    </a:lnTo>
                    <a:lnTo>
                      <a:pt x="42" y="28"/>
                    </a:lnTo>
                    <a:lnTo>
                      <a:pt x="48" y="28"/>
                    </a:lnTo>
                    <a:lnTo>
                      <a:pt x="50" y="24"/>
                    </a:lnTo>
                    <a:lnTo>
                      <a:pt x="46" y="24"/>
                    </a:lnTo>
                    <a:lnTo>
                      <a:pt x="46" y="18"/>
                    </a:lnTo>
                    <a:lnTo>
                      <a:pt x="46" y="12"/>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52" name="Freeform 427">
                <a:extLst>
                  <a:ext uri="{FF2B5EF4-FFF2-40B4-BE49-F238E27FC236}">
                    <a16:creationId xmlns:a16="http://schemas.microsoft.com/office/drawing/2014/main" id="{88AB510D-E785-BDB1-C326-0951E563ADA0}"/>
                  </a:ext>
                </a:extLst>
              </p:cNvPr>
              <p:cNvSpPr>
                <a:spLocks/>
              </p:cNvSpPr>
              <p:nvPr/>
            </p:nvSpPr>
            <p:spPr bwMode="auto">
              <a:xfrm>
                <a:off x="3584525" y="3024494"/>
                <a:ext cx="48617" cy="32663"/>
              </a:xfrm>
              <a:custGeom>
                <a:avLst/>
                <a:gdLst/>
                <a:ahLst/>
                <a:cxnLst>
                  <a:cxn ang="0">
                    <a:pos x="46" y="12"/>
                  </a:cxn>
                  <a:cxn ang="0">
                    <a:pos x="36" y="2"/>
                  </a:cxn>
                  <a:cxn ang="0">
                    <a:pos x="30" y="2"/>
                  </a:cxn>
                  <a:cxn ang="0">
                    <a:pos x="28" y="2"/>
                  </a:cxn>
                  <a:cxn ang="0">
                    <a:pos x="26" y="2"/>
                  </a:cxn>
                  <a:cxn ang="0">
                    <a:pos x="24" y="2"/>
                  </a:cxn>
                  <a:cxn ang="0">
                    <a:pos x="24" y="0"/>
                  </a:cxn>
                  <a:cxn ang="0">
                    <a:pos x="20" y="0"/>
                  </a:cxn>
                  <a:cxn ang="0">
                    <a:pos x="18" y="2"/>
                  </a:cxn>
                  <a:cxn ang="0">
                    <a:pos x="18" y="6"/>
                  </a:cxn>
                  <a:cxn ang="0">
                    <a:pos x="16" y="4"/>
                  </a:cxn>
                  <a:cxn ang="0">
                    <a:pos x="12" y="4"/>
                  </a:cxn>
                  <a:cxn ang="0">
                    <a:pos x="10" y="12"/>
                  </a:cxn>
                  <a:cxn ang="0">
                    <a:pos x="8" y="16"/>
                  </a:cxn>
                  <a:cxn ang="0">
                    <a:pos x="6" y="18"/>
                  </a:cxn>
                  <a:cxn ang="0">
                    <a:pos x="2" y="18"/>
                  </a:cxn>
                  <a:cxn ang="0">
                    <a:pos x="0" y="20"/>
                  </a:cxn>
                  <a:cxn ang="0">
                    <a:pos x="2" y="22"/>
                  </a:cxn>
                  <a:cxn ang="0">
                    <a:pos x="4" y="24"/>
                  </a:cxn>
                  <a:cxn ang="0">
                    <a:pos x="6" y="22"/>
                  </a:cxn>
                  <a:cxn ang="0">
                    <a:pos x="8" y="22"/>
                  </a:cxn>
                  <a:cxn ang="0">
                    <a:pos x="8" y="24"/>
                  </a:cxn>
                  <a:cxn ang="0">
                    <a:pos x="10" y="26"/>
                  </a:cxn>
                  <a:cxn ang="0">
                    <a:pos x="12" y="24"/>
                  </a:cxn>
                  <a:cxn ang="0">
                    <a:pos x="14" y="22"/>
                  </a:cxn>
                  <a:cxn ang="0">
                    <a:pos x="16" y="22"/>
                  </a:cxn>
                  <a:cxn ang="0">
                    <a:pos x="16" y="24"/>
                  </a:cxn>
                  <a:cxn ang="0">
                    <a:pos x="16" y="26"/>
                  </a:cxn>
                  <a:cxn ang="0">
                    <a:pos x="16" y="28"/>
                  </a:cxn>
                  <a:cxn ang="0">
                    <a:pos x="20" y="30"/>
                  </a:cxn>
                  <a:cxn ang="0">
                    <a:pos x="22" y="34"/>
                  </a:cxn>
                  <a:cxn ang="0">
                    <a:pos x="24" y="34"/>
                  </a:cxn>
                  <a:cxn ang="0">
                    <a:pos x="26" y="34"/>
                  </a:cxn>
                  <a:cxn ang="0">
                    <a:pos x="28" y="34"/>
                  </a:cxn>
                  <a:cxn ang="0">
                    <a:pos x="30" y="34"/>
                  </a:cxn>
                  <a:cxn ang="0">
                    <a:pos x="32" y="32"/>
                  </a:cxn>
                  <a:cxn ang="0">
                    <a:pos x="32" y="28"/>
                  </a:cxn>
                  <a:cxn ang="0">
                    <a:pos x="38" y="30"/>
                  </a:cxn>
                  <a:cxn ang="0">
                    <a:pos x="42" y="28"/>
                  </a:cxn>
                  <a:cxn ang="0">
                    <a:pos x="48" y="28"/>
                  </a:cxn>
                  <a:cxn ang="0">
                    <a:pos x="50" y="24"/>
                  </a:cxn>
                  <a:cxn ang="0">
                    <a:pos x="46" y="24"/>
                  </a:cxn>
                  <a:cxn ang="0">
                    <a:pos x="46" y="18"/>
                  </a:cxn>
                  <a:cxn ang="0">
                    <a:pos x="46" y="12"/>
                  </a:cxn>
                </a:cxnLst>
                <a:rect l="0" t="0" r="r" b="b"/>
                <a:pathLst>
                  <a:path w="50" h="34">
                    <a:moveTo>
                      <a:pt x="46" y="12"/>
                    </a:moveTo>
                    <a:lnTo>
                      <a:pt x="36" y="2"/>
                    </a:lnTo>
                    <a:lnTo>
                      <a:pt x="30" y="2"/>
                    </a:lnTo>
                    <a:lnTo>
                      <a:pt x="28" y="2"/>
                    </a:lnTo>
                    <a:lnTo>
                      <a:pt x="26" y="2"/>
                    </a:lnTo>
                    <a:lnTo>
                      <a:pt x="24" y="2"/>
                    </a:lnTo>
                    <a:lnTo>
                      <a:pt x="24" y="0"/>
                    </a:lnTo>
                    <a:lnTo>
                      <a:pt x="20" y="0"/>
                    </a:lnTo>
                    <a:lnTo>
                      <a:pt x="18" y="2"/>
                    </a:lnTo>
                    <a:lnTo>
                      <a:pt x="18" y="6"/>
                    </a:lnTo>
                    <a:lnTo>
                      <a:pt x="16" y="4"/>
                    </a:lnTo>
                    <a:lnTo>
                      <a:pt x="12" y="4"/>
                    </a:lnTo>
                    <a:lnTo>
                      <a:pt x="10" y="12"/>
                    </a:lnTo>
                    <a:lnTo>
                      <a:pt x="8" y="16"/>
                    </a:lnTo>
                    <a:lnTo>
                      <a:pt x="6" y="18"/>
                    </a:lnTo>
                    <a:lnTo>
                      <a:pt x="2" y="18"/>
                    </a:lnTo>
                    <a:lnTo>
                      <a:pt x="0" y="20"/>
                    </a:lnTo>
                    <a:lnTo>
                      <a:pt x="2" y="22"/>
                    </a:lnTo>
                    <a:lnTo>
                      <a:pt x="4" y="24"/>
                    </a:lnTo>
                    <a:lnTo>
                      <a:pt x="6" y="22"/>
                    </a:lnTo>
                    <a:lnTo>
                      <a:pt x="8" y="22"/>
                    </a:lnTo>
                    <a:lnTo>
                      <a:pt x="8" y="24"/>
                    </a:lnTo>
                    <a:lnTo>
                      <a:pt x="10" y="26"/>
                    </a:lnTo>
                    <a:lnTo>
                      <a:pt x="12" y="24"/>
                    </a:lnTo>
                    <a:lnTo>
                      <a:pt x="14" y="22"/>
                    </a:lnTo>
                    <a:lnTo>
                      <a:pt x="16" y="22"/>
                    </a:lnTo>
                    <a:lnTo>
                      <a:pt x="16" y="24"/>
                    </a:lnTo>
                    <a:lnTo>
                      <a:pt x="16" y="26"/>
                    </a:lnTo>
                    <a:lnTo>
                      <a:pt x="16" y="28"/>
                    </a:lnTo>
                    <a:lnTo>
                      <a:pt x="20" y="30"/>
                    </a:lnTo>
                    <a:lnTo>
                      <a:pt x="22" y="34"/>
                    </a:lnTo>
                    <a:lnTo>
                      <a:pt x="24" y="34"/>
                    </a:lnTo>
                    <a:lnTo>
                      <a:pt x="26" y="34"/>
                    </a:lnTo>
                    <a:lnTo>
                      <a:pt x="28" y="34"/>
                    </a:lnTo>
                    <a:lnTo>
                      <a:pt x="30" y="34"/>
                    </a:lnTo>
                    <a:lnTo>
                      <a:pt x="32" y="32"/>
                    </a:lnTo>
                    <a:lnTo>
                      <a:pt x="32" y="28"/>
                    </a:lnTo>
                    <a:lnTo>
                      <a:pt x="38" y="30"/>
                    </a:lnTo>
                    <a:lnTo>
                      <a:pt x="42" y="28"/>
                    </a:lnTo>
                    <a:lnTo>
                      <a:pt x="48" y="28"/>
                    </a:lnTo>
                    <a:lnTo>
                      <a:pt x="50" y="24"/>
                    </a:lnTo>
                    <a:lnTo>
                      <a:pt x="46" y="24"/>
                    </a:lnTo>
                    <a:lnTo>
                      <a:pt x="46" y="18"/>
                    </a:lnTo>
                    <a:lnTo>
                      <a:pt x="46" y="12"/>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53" name="Freeform 428">
                <a:extLst>
                  <a:ext uri="{FF2B5EF4-FFF2-40B4-BE49-F238E27FC236}">
                    <a16:creationId xmlns:a16="http://schemas.microsoft.com/office/drawing/2014/main" id="{CE5C6499-10D2-40B7-62FC-DC644689507C}"/>
                  </a:ext>
                </a:extLst>
              </p:cNvPr>
              <p:cNvSpPr>
                <a:spLocks/>
              </p:cNvSpPr>
              <p:nvPr/>
            </p:nvSpPr>
            <p:spPr bwMode="auto">
              <a:xfrm>
                <a:off x="6126241" y="4033213"/>
                <a:ext cx="66120" cy="74934"/>
              </a:xfrm>
              <a:custGeom>
                <a:avLst/>
                <a:gdLst/>
                <a:ahLst/>
                <a:cxnLst>
                  <a:cxn ang="0">
                    <a:pos x="6" y="58"/>
                  </a:cxn>
                  <a:cxn ang="0">
                    <a:pos x="6" y="58"/>
                  </a:cxn>
                  <a:cxn ang="0">
                    <a:pos x="8" y="64"/>
                  </a:cxn>
                  <a:cxn ang="0">
                    <a:pos x="10" y="64"/>
                  </a:cxn>
                  <a:cxn ang="0">
                    <a:pos x="12" y="72"/>
                  </a:cxn>
                  <a:cxn ang="0">
                    <a:pos x="18" y="70"/>
                  </a:cxn>
                  <a:cxn ang="0">
                    <a:pos x="18" y="76"/>
                  </a:cxn>
                  <a:cxn ang="0">
                    <a:pos x="24" y="76"/>
                  </a:cxn>
                  <a:cxn ang="0">
                    <a:pos x="24" y="78"/>
                  </a:cxn>
                  <a:cxn ang="0">
                    <a:pos x="30" y="70"/>
                  </a:cxn>
                  <a:cxn ang="0">
                    <a:pos x="34" y="68"/>
                  </a:cxn>
                  <a:cxn ang="0">
                    <a:pos x="36" y="64"/>
                  </a:cxn>
                  <a:cxn ang="0">
                    <a:pos x="44" y="64"/>
                  </a:cxn>
                  <a:cxn ang="0">
                    <a:pos x="50" y="66"/>
                  </a:cxn>
                  <a:cxn ang="0">
                    <a:pos x="52" y="60"/>
                  </a:cxn>
                  <a:cxn ang="0">
                    <a:pos x="54" y="58"/>
                  </a:cxn>
                  <a:cxn ang="0">
                    <a:pos x="60" y="56"/>
                  </a:cxn>
                  <a:cxn ang="0">
                    <a:pos x="64" y="52"/>
                  </a:cxn>
                  <a:cxn ang="0">
                    <a:pos x="66" y="46"/>
                  </a:cxn>
                  <a:cxn ang="0">
                    <a:pos x="66" y="38"/>
                  </a:cxn>
                  <a:cxn ang="0">
                    <a:pos x="68" y="34"/>
                  </a:cxn>
                  <a:cxn ang="0">
                    <a:pos x="68" y="26"/>
                  </a:cxn>
                  <a:cxn ang="0">
                    <a:pos x="66" y="18"/>
                  </a:cxn>
                  <a:cxn ang="0">
                    <a:pos x="64" y="12"/>
                  </a:cxn>
                  <a:cxn ang="0">
                    <a:pos x="64" y="4"/>
                  </a:cxn>
                  <a:cxn ang="0">
                    <a:pos x="58" y="6"/>
                  </a:cxn>
                  <a:cxn ang="0">
                    <a:pos x="54" y="2"/>
                  </a:cxn>
                  <a:cxn ang="0">
                    <a:pos x="50" y="0"/>
                  </a:cxn>
                  <a:cxn ang="0">
                    <a:pos x="46" y="6"/>
                  </a:cxn>
                  <a:cxn ang="0">
                    <a:pos x="46" y="12"/>
                  </a:cxn>
                  <a:cxn ang="0">
                    <a:pos x="42" y="14"/>
                  </a:cxn>
                  <a:cxn ang="0">
                    <a:pos x="38" y="10"/>
                  </a:cxn>
                  <a:cxn ang="0">
                    <a:pos x="36" y="8"/>
                  </a:cxn>
                  <a:cxn ang="0">
                    <a:pos x="28" y="6"/>
                  </a:cxn>
                  <a:cxn ang="0">
                    <a:pos x="24" y="10"/>
                  </a:cxn>
                  <a:cxn ang="0">
                    <a:pos x="20" y="14"/>
                  </a:cxn>
                  <a:cxn ang="0">
                    <a:pos x="16" y="14"/>
                  </a:cxn>
                  <a:cxn ang="0">
                    <a:pos x="10" y="14"/>
                  </a:cxn>
                  <a:cxn ang="0">
                    <a:pos x="4" y="18"/>
                  </a:cxn>
                  <a:cxn ang="0">
                    <a:pos x="0" y="20"/>
                  </a:cxn>
                  <a:cxn ang="0">
                    <a:pos x="0" y="28"/>
                  </a:cxn>
                  <a:cxn ang="0">
                    <a:pos x="0" y="38"/>
                  </a:cxn>
                  <a:cxn ang="0">
                    <a:pos x="4" y="42"/>
                  </a:cxn>
                  <a:cxn ang="0">
                    <a:pos x="6" y="50"/>
                  </a:cxn>
                  <a:cxn ang="0">
                    <a:pos x="6" y="58"/>
                  </a:cxn>
                  <a:cxn ang="0">
                    <a:pos x="6" y="58"/>
                  </a:cxn>
                </a:cxnLst>
                <a:rect l="0" t="0" r="r" b="b"/>
                <a:pathLst>
                  <a:path w="68" h="78">
                    <a:moveTo>
                      <a:pt x="6" y="58"/>
                    </a:moveTo>
                    <a:lnTo>
                      <a:pt x="6" y="58"/>
                    </a:lnTo>
                    <a:lnTo>
                      <a:pt x="8" y="64"/>
                    </a:lnTo>
                    <a:lnTo>
                      <a:pt x="10" y="64"/>
                    </a:lnTo>
                    <a:lnTo>
                      <a:pt x="12" y="72"/>
                    </a:lnTo>
                    <a:lnTo>
                      <a:pt x="18" y="70"/>
                    </a:lnTo>
                    <a:lnTo>
                      <a:pt x="18" y="76"/>
                    </a:lnTo>
                    <a:lnTo>
                      <a:pt x="24" y="76"/>
                    </a:lnTo>
                    <a:lnTo>
                      <a:pt x="24" y="78"/>
                    </a:lnTo>
                    <a:lnTo>
                      <a:pt x="30" y="70"/>
                    </a:lnTo>
                    <a:lnTo>
                      <a:pt x="34" y="68"/>
                    </a:lnTo>
                    <a:lnTo>
                      <a:pt x="36" y="64"/>
                    </a:lnTo>
                    <a:lnTo>
                      <a:pt x="44" y="64"/>
                    </a:lnTo>
                    <a:lnTo>
                      <a:pt x="50" y="66"/>
                    </a:lnTo>
                    <a:lnTo>
                      <a:pt x="52" y="60"/>
                    </a:lnTo>
                    <a:lnTo>
                      <a:pt x="54" y="58"/>
                    </a:lnTo>
                    <a:lnTo>
                      <a:pt x="60" y="56"/>
                    </a:lnTo>
                    <a:lnTo>
                      <a:pt x="64" y="52"/>
                    </a:lnTo>
                    <a:lnTo>
                      <a:pt x="66" y="46"/>
                    </a:lnTo>
                    <a:lnTo>
                      <a:pt x="66" y="38"/>
                    </a:lnTo>
                    <a:lnTo>
                      <a:pt x="68" y="34"/>
                    </a:lnTo>
                    <a:lnTo>
                      <a:pt x="68" y="26"/>
                    </a:lnTo>
                    <a:lnTo>
                      <a:pt x="66" y="18"/>
                    </a:lnTo>
                    <a:lnTo>
                      <a:pt x="64" y="12"/>
                    </a:lnTo>
                    <a:lnTo>
                      <a:pt x="64" y="4"/>
                    </a:lnTo>
                    <a:lnTo>
                      <a:pt x="58" y="6"/>
                    </a:lnTo>
                    <a:lnTo>
                      <a:pt x="54" y="2"/>
                    </a:lnTo>
                    <a:lnTo>
                      <a:pt x="50" y="0"/>
                    </a:lnTo>
                    <a:lnTo>
                      <a:pt x="46" y="6"/>
                    </a:lnTo>
                    <a:lnTo>
                      <a:pt x="46" y="12"/>
                    </a:lnTo>
                    <a:lnTo>
                      <a:pt x="42" y="14"/>
                    </a:lnTo>
                    <a:lnTo>
                      <a:pt x="38" y="10"/>
                    </a:lnTo>
                    <a:lnTo>
                      <a:pt x="36" y="8"/>
                    </a:lnTo>
                    <a:lnTo>
                      <a:pt x="28" y="6"/>
                    </a:lnTo>
                    <a:lnTo>
                      <a:pt x="24" y="10"/>
                    </a:lnTo>
                    <a:lnTo>
                      <a:pt x="20" y="14"/>
                    </a:lnTo>
                    <a:lnTo>
                      <a:pt x="16" y="14"/>
                    </a:lnTo>
                    <a:lnTo>
                      <a:pt x="10" y="14"/>
                    </a:lnTo>
                    <a:lnTo>
                      <a:pt x="4" y="18"/>
                    </a:lnTo>
                    <a:lnTo>
                      <a:pt x="0" y="20"/>
                    </a:lnTo>
                    <a:lnTo>
                      <a:pt x="0" y="28"/>
                    </a:lnTo>
                    <a:lnTo>
                      <a:pt x="0" y="38"/>
                    </a:lnTo>
                    <a:lnTo>
                      <a:pt x="4" y="42"/>
                    </a:lnTo>
                    <a:lnTo>
                      <a:pt x="6" y="50"/>
                    </a:lnTo>
                    <a:lnTo>
                      <a:pt x="6" y="58"/>
                    </a:lnTo>
                    <a:lnTo>
                      <a:pt x="6" y="5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54" name="Freeform 429">
                <a:extLst>
                  <a:ext uri="{FF2B5EF4-FFF2-40B4-BE49-F238E27FC236}">
                    <a16:creationId xmlns:a16="http://schemas.microsoft.com/office/drawing/2014/main" id="{BB60D7C2-6BFB-F79E-19AA-B586F376C3C3}"/>
                  </a:ext>
                </a:extLst>
              </p:cNvPr>
              <p:cNvSpPr>
                <a:spLocks/>
              </p:cNvSpPr>
              <p:nvPr/>
            </p:nvSpPr>
            <p:spPr bwMode="auto">
              <a:xfrm>
                <a:off x="6126241" y="4033213"/>
                <a:ext cx="66120" cy="74934"/>
              </a:xfrm>
              <a:custGeom>
                <a:avLst/>
                <a:gdLst/>
                <a:ahLst/>
                <a:cxnLst>
                  <a:cxn ang="0">
                    <a:pos x="6" y="58"/>
                  </a:cxn>
                  <a:cxn ang="0">
                    <a:pos x="6" y="58"/>
                  </a:cxn>
                  <a:cxn ang="0">
                    <a:pos x="8" y="64"/>
                  </a:cxn>
                  <a:cxn ang="0">
                    <a:pos x="10" y="64"/>
                  </a:cxn>
                  <a:cxn ang="0">
                    <a:pos x="12" y="72"/>
                  </a:cxn>
                  <a:cxn ang="0">
                    <a:pos x="18" y="70"/>
                  </a:cxn>
                  <a:cxn ang="0">
                    <a:pos x="18" y="76"/>
                  </a:cxn>
                  <a:cxn ang="0">
                    <a:pos x="24" y="76"/>
                  </a:cxn>
                  <a:cxn ang="0">
                    <a:pos x="24" y="78"/>
                  </a:cxn>
                  <a:cxn ang="0">
                    <a:pos x="30" y="70"/>
                  </a:cxn>
                  <a:cxn ang="0">
                    <a:pos x="34" y="68"/>
                  </a:cxn>
                  <a:cxn ang="0">
                    <a:pos x="36" y="64"/>
                  </a:cxn>
                  <a:cxn ang="0">
                    <a:pos x="44" y="64"/>
                  </a:cxn>
                  <a:cxn ang="0">
                    <a:pos x="50" y="66"/>
                  </a:cxn>
                  <a:cxn ang="0">
                    <a:pos x="52" y="60"/>
                  </a:cxn>
                  <a:cxn ang="0">
                    <a:pos x="54" y="58"/>
                  </a:cxn>
                  <a:cxn ang="0">
                    <a:pos x="60" y="56"/>
                  </a:cxn>
                  <a:cxn ang="0">
                    <a:pos x="64" y="52"/>
                  </a:cxn>
                  <a:cxn ang="0">
                    <a:pos x="66" y="46"/>
                  </a:cxn>
                  <a:cxn ang="0">
                    <a:pos x="66" y="38"/>
                  </a:cxn>
                  <a:cxn ang="0">
                    <a:pos x="68" y="34"/>
                  </a:cxn>
                  <a:cxn ang="0">
                    <a:pos x="68" y="26"/>
                  </a:cxn>
                  <a:cxn ang="0">
                    <a:pos x="66" y="18"/>
                  </a:cxn>
                  <a:cxn ang="0">
                    <a:pos x="64" y="12"/>
                  </a:cxn>
                  <a:cxn ang="0">
                    <a:pos x="64" y="4"/>
                  </a:cxn>
                  <a:cxn ang="0">
                    <a:pos x="58" y="6"/>
                  </a:cxn>
                  <a:cxn ang="0">
                    <a:pos x="54" y="2"/>
                  </a:cxn>
                  <a:cxn ang="0">
                    <a:pos x="50" y="0"/>
                  </a:cxn>
                  <a:cxn ang="0">
                    <a:pos x="46" y="6"/>
                  </a:cxn>
                  <a:cxn ang="0">
                    <a:pos x="46" y="12"/>
                  </a:cxn>
                  <a:cxn ang="0">
                    <a:pos x="42" y="14"/>
                  </a:cxn>
                  <a:cxn ang="0">
                    <a:pos x="38" y="10"/>
                  </a:cxn>
                  <a:cxn ang="0">
                    <a:pos x="36" y="8"/>
                  </a:cxn>
                  <a:cxn ang="0">
                    <a:pos x="28" y="6"/>
                  </a:cxn>
                  <a:cxn ang="0">
                    <a:pos x="24" y="10"/>
                  </a:cxn>
                  <a:cxn ang="0">
                    <a:pos x="20" y="14"/>
                  </a:cxn>
                  <a:cxn ang="0">
                    <a:pos x="16" y="14"/>
                  </a:cxn>
                  <a:cxn ang="0">
                    <a:pos x="10" y="14"/>
                  </a:cxn>
                  <a:cxn ang="0">
                    <a:pos x="4" y="18"/>
                  </a:cxn>
                  <a:cxn ang="0">
                    <a:pos x="0" y="20"/>
                  </a:cxn>
                  <a:cxn ang="0">
                    <a:pos x="0" y="28"/>
                  </a:cxn>
                  <a:cxn ang="0">
                    <a:pos x="0" y="38"/>
                  </a:cxn>
                  <a:cxn ang="0">
                    <a:pos x="4" y="42"/>
                  </a:cxn>
                  <a:cxn ang="0">
                    <a:pos x="6" y="50"/>
                  </a:cxn>
                  <a:cxn ang="0">
                    <a:pos x="6" y="58"/>
                  </a:cxn>
                  <a:cxn ang="0">
                    <a:pos x="6" y="58"/>
                  </a:cxn>
                </a:cxnLst>
                <a:rect l="0" t="0" r="r" b="b"/>
                <a:pathLst>
                  <a:path w="68" h="78">
                    <a:moveTo>
                      <a:pt x="6" y="58"/>
                    </a:moveTo>
                    <a:lnTo>
                      <a:pt x="6" y="58"/>
                    </a:lnTo>
                    <a:lnTo>
                      <a:pt x="8" y="64"/>
                    </a:lnTo>
                    <a:lnTo>
                      <a:pt x="10" y="64"/>
                    </a:lnTo>
                    <a:lnTo>
                      <a:pt x="12" y="72"/>
                    </a:lnTo>
                    <a:lnTo>
                      <a:pt x="18" y="70"/>
                    </a:lnTo>
                    <a:lnTo>
                      <a:pt x="18" y="76"/>
                    </a:lnTo>
                    <a:lnTo>
                      <a:pt x="24" y="76"/>
                    </a:lnTo>
                    <a:lnTo>
                      <a:pt x="24" y="78"/>
                    </a:lnTo>
                    <a:lnTo>
                      <a:pt x="30" y="70"/>
                    </a:lnTo>
                    <a:lnTo>
                      <a:pt x="34" y="68"/>
                    </a:lnTo>
                    <a:lnTo>
                      <a:pt x="36" y="64"/>
                    </a:lnTo>
                    <a:lnTo>
                      <a:pt x="44" y="64"/>
                    </a:lnTo>
                    <a:lnTo>
                      <a:pt x="50" y="66"/>
                    </a:lnTo>
                    <a:lnTo>
                      <a:pt x="52" y="60"/>
                    </a:lnTo>
                    <a:lnTo>
                      <a:pt x="54" y="58"/>
                    </a:lnTo>
                    <a:lnTo>
                      <a:pt x="60" y="56"/>
                    </a:lnTo>
                    <a:lnTo>
                      <a:pt x="64" y="52"/>
                    </a:lnTo>
                    <a:lnTo>
                      <a:pt x="66" y="46"/>
                    </a:lnTo>
                    <a:lnTo>
                      <a:pt x="66" y="38"/>
                    </a:lnTo>
                    <a:lnTo>
                      <a:pt x="68" y="34"/>
                    </a:lnTo>
                    <a:lnTo>
                      <a:pt x="68" y="26"/>
                    </a:lnTo>
                    <a:lnTo>
                      <a:pt x="66" y="18"/>
                    </a:lnTo>
                    <a:lnTo>
                      <a:pt x="64" y="12"/>
                    </a:lnTo>
                    <a:lnTo>
                      <a:pt x="64" y="4"/>
                    </a:lnTo>
                    <a:lnTo>
                      <a:pt x="58" y="6"/>
                    </a:lnTo>
                    <a:lnTo>
                      <a:pt x="54" y="2"/>
                    </a:lnTo>
                    <a:lnTo>
                      <a:pt x="50" y="0"/>
                    </a:lnTo>
                    <a:lnTo>
                      <a:pt x="46" y="6"/>
                    </a:lnTo>
                    <a:lnTo>
                      <a:pt x="46" y="12"/>
                    </a:lnTo>
                    <a:lnTo>
                      <a:pt x="42" y="14"/>
                    </a:lnTo>
                    <a:lnTo>
                      <a:pt x="38" y="10"/>
                    </a:lnTo>
                    <a:lnTo>
                      <a:pt x="36" y="8"/>
                    </a:lnTo>
                    <a:lnTo>
                      <a:pt x="28" y="6"/>
                    </a:lnTo>
                    <a:lnTo>
                      <a:pt x="24" y="10"/>
                    </a:lnTo>
                    <a:lnTo>
                      <a:pt x="20" y="14"/>
                    </a:lnTo>
                    <a:lnTo>
                      <a:pt x="16" y="14"/>
                    </a:lnTo>
                    <a:lnTo>
                      <a:pt x="10" y="14"/>
                    </a:lnTo>
                    <a:lnTo>
                      <a:pt x="4" y="18"/>
                    </a:lnTo>
                    <a:lnTo>
                      <a:pt x="0" y="20"/>
                    </a:lnTo>
                    <a:lnTo>
                      <a:pt x="0" y="28"/>
                    </a:lnTo>
                    <a:lnTo>
                      <a:pt x="0" y="38"/>
                    </a:lnTo>
                    <a:lnTo>
                      <a:pt x="4" y="42"/>
                    </a:lnTo>
                    <a:lnTo>
                      <a:pt x="6" y="50"/>
                    </a:lnTo>
                    <a:lnTo>
                      <a:pt x="6" y="58"/>
                    </a:lnTo>
                    <a:lnTo>
                      <a:pt x="6" y="5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55" name="Freeform 430">
                <a:extLst>
                  <a:ext uri="{FF2B5EF4-FFF2-40B4-BE49-F238E27FC236}">
                    <a16:creationId xmlns:a16="http://schemas.microsoft.com/office/drawing/2014/main" id="{71D6D3E4-B2FF-7524-4ED3-8679780B50CE}"/>
                  </a:ext>
                </a:extLst>
              </p:cNvPr>
              <p:cNvSpPr>
                <a:spLocks/>
              </p:cNvSpPr>
              <p:nvPr/>
            </p:nvSpPr>
            <p:spPr bwMode="auto">
              <a:xfrm>
                <a:off x="5202511" y="4307970"/>
                <a:ext cx="29170" cy="30742"/>
              </a:xfrm>
              <a:custGeom>
                <a:avLst/>
                <a:gdLst/>
                <a:ahLst/>
                <a:cxnLst>
                  <a:cxn ang="0">
                    <a:pos x="0" y="2"/>
                  </a:cxn>
                  <a:cxn ang="0">
                    <a:pos x="0" y="2"/>
                  </a:cxn>
                  <a:cxn ang="0">
                    <a:pos x="2" y="2"/>
                  </a:cxn>
                  <a:cxn ang="0">
                    <a:pos x="4" y="0"/>
                  </a:cxn>
                  <a:cxn ang="0">
                    <a:pos x="6" y="2"/>
                  </a:cxn>
                  <a:cxn ang="0">
                    <a:pos x="8" y="8"/>
                  </a:cxn>
                  <a:cxn ang="0">
                    <a:pos x="12" y="6"/>
                  </a:cxn>
                  <a:cxn ang="0">
                    <a:pos x="14" y="4"/>
                  </a:cxn>
                  <a:cxn ang="0">
                    <a:pos x="14" y="2"/>
                  </a:cxn>
                  <a:cxn ang="0">
                    <a:pos x="14" y="0"/>
                  </a:cxn>
                  <a:cxn ang="0">
                    <a:pos x="16" y="0"/>
                  </a:cxn>
                  <a:cxn ang="0">
                    <a:pos x="22" y="2"/>
                  </a:cxn>
                  <a:cxn ang="0">
                    <a:pos x="24" y="2"/>
                  </a:cxn>
                  <a:cxn ang="0">
                    <a:pos x="24" y="6"/>
                  </a:cxn>
                  <a:cxn ang="0">
                    <a:pos x="24" y="8"/>
                  </a:cxn>
                  <a:cxn ang="0">
                    <a:pos x="26" y="12"/>
                  </a:cxn>
                  <a:cxn ang="0">
                    <a:pos x="30" y="12"/>
                  </a:cxn>
                  <a:cxn ang="0">
                    <a:pos x="28" y="16"/>
                  </a:cxn>
                  <a:cxn ang="0">
                    <a:pos x="22" y="20"/>
                  </a:cxn>
                  <a:cxn ang="0">
                    <a:pos x="20" y="28"/>
                  </a:cxn>
                  <a:cxn ang="0">
                    <a:pos x="14" y="32"/>
                  </a:cxn>
                  <a:cxn ang="0">
                    <a:pos x="8" y="30"/>
                  </a:cxn>
                  <a:cxn ang="0">
                    <a:pos x="8" y="10"/>
                  </a:cxn>
                  <a:cxn ang="0">
                    <a:pos x="2" y="8"/>
                  </a:cxn>
                  <a:cxn ang="0">
                    <a:pos x="0" y="4"/>
                  </a:cxn>
                  <a:cxn ang="0">
                    <a:pos x="0" y="2"/>
                  </a:cxn>
                  <a:cxn ang="0">
                    <a:pos x="0" y="2"/>
                  </a:cxn>
                </a:cxnLst>
                <a:rect l="0" t="0" r="r" b="b"/>
                <a:pathLst>
                  <a:path w="30" h="32">
                    <a:moveTo>
                      <a:pt x="0" y="2"/>
                    </a:moveTo>
                    <a:lnTo>
                      <a:pt x="0" y="2"/>
                    </a:lnTo>
                    <a:lnTo>
                      <a:pt x="2" y="2"/>
                    </a:lnTo>
                    <a:lnTo>
                      <a:pt x="4" y="0"/>
                    </a:lnTo>
                    <a:lnTo>
                      <a:pt x="6" y="2"/>
                    </a:lnTo>
                    <a:lnTo>
                      <a:pt x="8" y="8"/>
                    </a:lnTo>
                    <a:lnTo>
                      <a:pt x="12" y="6"/>
                    </a:lnTo>
                    <a:lnTo>
                      <a:pt x="14" y="4"/>
                    </a:lnTo>
                    <a:lnTo>
                      <a:pt x="14" y="2"/>
                    </a:lnTo>
                    <a:lnTo>
                      <a:pt x="14" y="0"/>
                    </a:lnTo>
                    <a:lnTo>
                      <a:pt x="16" y="0"/>
                    </a:lnTo>
                    <a:lnTo>
                      <a:pt x="22" y="2"/>
                    </a:lnTo>
                    <a:lnTo>
                      <a:pt x="24" y="2"/>
                    </a:lnTo>
                    <a:lnTo>
                      <a:pt x="24" y="6"/>
                    </a:lnTo>
                    <a:lnTo>
                      <a:pt x="24" y="8"/>
                    </a:lnTo>
                    <a:lnTo>
                      <a:pt x="26" y="12"/>
                    </a:lnTo>
                    <a:lnTo>
                      <a:pt x="30" y="12"/>
                    </a:lnTo>
                    <a:lnTo>
                      <a:pt x="28" y="16"/>
                    </a:lnTo>
                    <a:lnTo>
                      <a:pt x="22" y="20"/>
                    </a:lnTo>
                    <a:lnTo>
                      <a:pt x="20" y="28"/>
                    </a:lnTo>
                    <a:lnTo>
                      <a:pt x="14" y="32"/>
                    </a:lnTo>
                    <a:lnTo>
                      <a:pt x="8" y="30"/>
                    </a:lnTo>
                    <a:lnTo>
                      <a:pt x="8" y="10"/>
                    </a:lnTo>
                    <a:lnTo>
                      <a:pt x="2" y="8"/>
                    </a:lnTo>
                    <a:lnTo>
                      <a:pt x="0" y="4"/>
                    </a:lnTo>
                    <a:lnTo>
                      <a:pt x="0" y="2"/>
                    </a:lnTo>
                    <a:lnTo>
                      <a:pt x="0"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56" name="Freeform 431">
                <a:extLst>
                  <a:ext uri="{FF2B5EF4-FFF2-40B4-BE49-F238E27FC236}">
                    <a16:creationId xmlns:a16="http://schemas.microsoft.com/office/drawing/2014/main" id="{42294E35-5CDB-5F82-869C-D5CAF8425F4C}"/>
                  </a:ext>
                </a:extLst>
              </p:cNvPr>
              <p:cNvSpPr>
                <a:spLocks/>
              </p:cNvSpPr>
              <p:nvPr/>
            </p:nvSpPr>
            <p:spPr bwMode="auto">
              <a:xfrm>
                <a:off x="4763010" y="4014000"/>
                <a:ext cx="93345" cy="92226"/>
              </a:xfrm>
              <a:custGeom>
                <a:avLst/>
                <a:gdLst/>
                <a:ahLst/>
                <a:cxnLst>
                  <a:cxn ang="0">
                    <a:pos x="62" y="68"/>
                  </a:cxn>
                  <a:cxn ang="0">
                    <a:pos x="54" y="70"/>
                  </a:cxn>
                  <a:cxn ang="0">
                    <a:pos x="40" y="72"/>
                  </a:cxn>
                  <a:cxn ang="0">
                    <a:pos x="40" y="82"/>
                  </a:cxn>
                  <a:cxn ang="0">
                    <a:pos x="40" y="94"/>
                  </a:cxn>
                  <a:cxn ang="0">
                    <a:pos x="28" y="94"/>
                  </a:cxn>
                  <a:cxn ang="0">
                    <a:pos x="28" y="88"/>
                  </a:cxn>
                  <a:cxn ang="0">
                    <a:pos x="18" y="92"/>
                  </a:cxn>
                  <a:cxn ang="0">
                    <a:pos x="12" y="86"/>
                  </a:cxn>
                  <a:cxn ang="0">
                    <a:pos x="0" y="80"/>
                  </a:cxn>
                  <a:cxn ang="0">
                    <a:pos x="2" y="74"/>
                  </a:cxn>
                  <a:cxn ang="0">
                    <a:pos x="4" y="70"/>
                  </a:cxn>
                  <a:cxn ang="0">
                    <a:pos x="4" y="62"/>
                  </a:cxn>
                  <a:cxn ang="0">
                    <a:pos x="6" y="58"/>
                  </a:cxn>
                  <a:cxn ang="0">
                    <a:pos x="12" y="56"/>
                  </a:cxn>
                  <a:cxn ang="0">
                    <a:pos x="18" y="42"/>
                  </a:cxn>
                  <a:cxn ang="0">
                    <a:pos x="26" y="38"/>
                  </a:cxn>
                  <a:cxn ang="0">
                    <a:pos x="34" y="34"/>
                  </a:cxn>
                  <a:cxn ang="0">
                    <a:pos x="38" y="26"/>
                  </a:cxn>
                  <a:cxn ang="0">
                    <a:pos x="46" y="20"/>
                  </a:cxn>
                  <a:cxn ang="0">
                    <a:pos x="50" y="12"/>
                  </a:cxn>
                  <a:cxn ang="0">
                    <a:pos x="54" y="8"/>
                  </a:cxn>
                  <a:cxn ang="0">
                    <a:pos x="60" y="4"/>
                  </a:cxn>
                  <a:cxn ang="0">
                    <a:pos x="62" y="0"/>
                  </a:cxn>
                  <a:cxn ang="0">
                    <a:pos x="66" y="2"/>
                  </a:cxn>
                  <a:cxn ang="0">
                    <a:pos x="68" y="2"/>
                  </a:cxn>
                  <a:cxn ang="0">
                    <a:pos x="70" y="12"/>
                  </a:cxn>
                  <a:cxn ang="0">
                    <a:pos x="84" y="24"/>
                  </a:cxn>
                  <a:cxn ang="0">
                    <a:pos x="90" y="42"/>
                  </a:cxn>
                  <a:cxn ang="0">
                    <a:pos x="94" y="42"/>
                  </a:cxn>
                  <a:cxn ang="0">
                    <a:pos x="92" y="48"/>
                  </a:cxn>
                  <a:cxn ang="0">
                    <a:pos x="96" y="64"/>
                  </a:cxn>
                  <a:cxn ang="0">
                    <a:pos x="90" y="68"/>
                  </a:cxn>
                  <a:cxn ang="0">
                    <a:pos x="88" y="70"/>
                  </a:cxn>
                  <a:cxn ang="0">
                    <a:pos x="78" y="70"/>
                  </a:cxn>
                  <a:cxn ang="0">
                    <a:pos x="72" y="68"/>
                  </a:cxn>
                </a:cxnLst>
                <a:rect l="0" t="0" r="r" b="b"/>
                <a:pathLst>
                  <a:path w="96" h="96">
                    <a:moveTo>
                      <a:pt x="72" y="68"/>
                    </a:moveTo>
                    <a:lnTo>
                      <a:pt x="62" y="68"/>
                    </a:lnTo>
                    <a:lnTo>
                      <a:pt x="62" y="70"/>
                    </a:lnTo>
                    <a:lnTo>
                      <a:pt x="54" y="70"/>
                    </a:lnTo>
                    <a:lnTo>
                      <a:pt x="44" y="70"/>
                    </a:lnTo>
                    <a:lnTo>
                      <a:pt x="40" y="72"/>
                    </a:lnTo>
                    <a:lnTo>
                      <a:pt x="40" y="76"/>
                    </a:lnTo>
                    <a:lnTo>
                      <a:pt x="40" y="82"/>
                    </a:lnTo>
                    <a:lnTo>
                      <a:pt x="42" y="86"/>
                    </a:lnTo>
                    <a:lnTo>
                      <a:pt x="40" y="94"/>
                    </a:lnTo>
                    <a:lnTo>
                      <a:pt x="30" y="96"/>
                    </a:lnTo>
                    <a:lnTo>
                      <a:pt x="28" y="94"/>
                    </a:lnTo>
                    <a:lnTo>
                      <a:pt x="28" y="92"/>
                    </a:lnTo>
                    <a:lnTo>
                      <a:pt x="28" y="88"/>
                    </a:lnTo>
                    <a:lnTo>
                      <a:pt x="22" y="88"/>
                    </a:lnTo>
                    <a:lnTo>
                      <a:pt x="18" y="92"/>
                    </a:lnTo>
                    <a:lnTo>
                      <a:pt x="12" y="90"/>
                    </a:lnTo>
                    <a:lnTo>
                      <a:pt x="12" y="86"/>
                    </a:lnTo>
                    <a:lnTo>
                      <a:pt x="0" y="86"/>
                    </a:lnTo>
                    <a:lnTo>
                      <a:pt x="0" y="80"/>
                    </a:lnTo>
                    <a:lnTo>
                      <a:pt x="0" y="76"/>
                    </a:lnTo>
                    <a:lnTo>
                      <a:pt x="2" y="74"/>
                    </a:lnTo>
                    <a:lnTo>
                      <a:pt x="4" y="72"/>
                    </a:lnTo>
                    <a:lnTo>
                      <a:pt x="4" y="70"/>
                    </a:lnTo>
                    <a:lnTo>
                      <a:pt x="4" y="66"/>
                    </a:lnTo>
                    <a:lnTo>
                      <a:pt x="4" y="62"/>
                    </a:lnTo>
                    <a:lnTo>
                      <a:pt x="4" y="60"/>
                    </a:lnTo>
                    <a:lnTo>
                      <a:pt x="6" y="58"/>
                    </a:lnTo>
                    <a:lnTo>
                      <a:pt x="10" y="54"/>
                    </a:lnTo>
                    <a:lnTo>
                      <a:pt x="12" y="56"/>
                    </a:lnTo>
                    <a:lnTo>
                      <a:pt x="16" y="48"/>
                    </a:lnTo>
                    <a:lnTo>
                      <a:pt x="18" y="42"/>
                    </a:lnTo>
                    <a:lnTo>
                      <a:pt x="20" y="40"/>
                    </a:lnTo>
                    <a:lnTo>
                      <a:pt x="26" y="38"/>
                    </a:lnTo>
                    <a:lnTo>
                      <a:pt x="32" y="36"/>
                    </a:lnTo>
                    <a:lnTo>
                      <a:pt x="34" y="34"/>
                    </a:lnTo>
                    <a:lnTo>
                      <a:pt x="36" y="30"/>
                    </a:lnTo>
                    <a:lnTo>
                      <a:pt x="38" y="26"/>
                    </a:lnTo>
                    <a:lnTo>
                      <a:pt x="42" y="22"/>
                    </a:lnTo>
                    <a:lnTo>
                      <a:pt x="46" y="20"/>
                    </a:lnTo>
                    <a:lnTo>
                      <a:pt x="48" y="18"/>
                    </a:lnTo>
                    <a:lnTo>
                      <a:pt x="50" y="12"/>
                    </a:lnTo>
                    <a:lnTo>
                      <a:pt x="50" y="10"/>
                    </a:lnTo>
                    <a:lnTo>
                      <a:pt x="54" y="8"/>
                    </a:lnTo>
                    <a:lnTo>
                      <a:pt x="58" y="8"/>
                    </a:lnTo>
                    <a:lnTo>
                      <a:pt x="60" y="4"/>
                    </a:lnTo>
                    <a:lnTo>
                      <a:pt x="62" y="0"/>
                    </a:lnTo>
                    <a:lnTo>
                      <a:pt x="62" y="0"/>
                    </a:lnTo>
                    <a:lnTo>
                      <a:pt x="64" y="2"/>
                    </a:lnTo>
                    <a:lnTo>
                      <a:pt x="66" y="2"/>
                    </a:lnTo>
                    <a:lnTo>
                      <a:pt x="68" y="0"/>
                    </a:lnTo>
                    <a:lnTo>
                      <a:pt x="68" y="2"/>
                    </a:lnTo>
                    <a:lnTo>
                      <a:pt x="72" y="6"/>
                    </a:lnTo>
                    <a:lnTo>
                      <a:pt x="70" y="12"/>
                    </a:lnTo>
                    <a:lnTo>
                      <a:pt x="74" y="18"/>
                    </a:lnTo>
                    <a:lnTo>
                      <a:pt x="84" y="24"/>
                    </a:lnTo>
                    <a:lnTo>
                      <a:pt x="84" y="28"/>
                    </a:lnTo>
                    <a:lnTo>
                      <a:pt x="90" y="42"/>
                    </a:lnTo>
                    <a:lnTo>
                      <a:pt x="92" y="40"/>
                    </a:lnTo>
                    <a:lnTo>
                      <a:pt x="94" y="42"/>
                    </a:lnTo>
                    <a:lnTo>
                      <a:pt x="94" y="46"/>
                    </a:lnTo>
                    <a:lnTo>
                      <a:pt x="92" y="48"/>
                    </a:lnTo>
                    <a:lnTo>
                      <a:pt x="96" y="60"/>
                    </a:lnTo>
                    <a:lnTo>
                      <a:pt x="96" y="64"/>
                    </a:lnTo>
                    <a:lnTo>
                      <a:pt x="90" y="66"/>
                    </a:lnTo>
                    <a:lnTo>
                      <a:pt x="90" y="68"/>
                    </a:lnTo>
                    <a:lnTo>
                      <a:pt x="90" y="70"/>
                    </a:lnTo>
                    <a:lnTo>
                      <a:pt x="88" y="70"/>
                    </a:lnTo>
                    <a:lnTo>
                      <a:pt x="84" y="70"/>
                    </a:lnTo>
                    <a:lnTo>
                      <a:pt x="78" y="70"/>
                    </a:lnTo>
                    <a:lnTo>
                      <a:pt x="72" y="68"/>
                    </a:lnTo>
                    <a:lnTo>
                      <a:pt x="72" y="6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57" name="Freeform 432">
                <a:extLst>
                  <a:ext uri="{FF2B5EF4-FFF2-40B4-BE49-F238E27FC236}">
                    <a16:creationId xmlns:a16="http://schemas.microsoft.com/office/drawing/2014/main" id="{EB62E445-D09D-826B-0FCD-DECCA73632B9}"/>
                  </a:ext>
                </a:extLst>
              </p:cNvPr>
              <p:cNvSpPr>
                <a:spLocks/>
              </p:cNvSpPr>
              <p:nvPr/>
            </p:nvSpPr>
            <p:spPr bwMode="auto">
              <a:xfrm>
                <a:off x="5122779" y="3549028"/>
                <a:ext cx="77788" cy="53798"/>
              </a:xfrm>
              <a:custGeom>
                <a:avLst/>
                <a:gdLst/>
                <a:ahLst/>
                <a:cxnLst>
                  <a:cxn ang="0">
                    <a:pos x="80" y="4"/>
                  </a:cxn>
                  <a:cxn ang="0">
                    <a:pos x="70" y="0"/>
                  </a:cxn>
                  <a:cxn ang="0">
                    <a:pos x="62" y="4"/>
                  </a:cxn>
                  <a:cxn ang="0">
                    <a:pos x="56" y="0"/>
                  </a:cxn>
                  <a:cxn ang="0">
                    <a:pos x="48" y="4"/>
                  </a:cxn>
                  <a:cxn ang="0">
                    <a:pos x="40" y="8"/>
                  </a:cxn>
                  <a:cxn ang="0">
                    <a:pos x="28" y="8"/>
                  </a:cxn>
                  <a:cxn ang="0">
                    <a:pos x="24" y="8"/>
                  </a:cxn>
                  <a:cxn ang="0">
                    <a:pos x="16" y="8"/>
                  </a:cxn>
                  <a:cxn ang="0">
                    <a:pos x="14" y="6"/>
                  </a:cxn>
                  <a:cxn ang="0">
                    <a:pos x="16" y="2"/>
                  </a:cxn>
                  <a:cxn ang="0">
                    <a:pos x="10" y="0"/>
                  </a:cxn>
                  <a:cxn ang="0">
                    <a:pos x="6" y="8"/>
                  </a:cxn>
                  <a:cxn ang="0">
                    <a:pos x="2" y="12"/>
                  </a:cxn>
                  <a:cxn ang="0">
                    <a:pos x="2" y="20"/>
                  </a:cxn>
                  <a:cxn ang="0">
                    <a:pos x="10" y="22"/>
                  </a:cxn>
                  <a:cxn ang="0">
                    <a:pos x="6" y="30"/>
                  </a:cxn>
                  <a:cxn ang="0">
                    <a:pos x="8" y="38"/>
                  </a:cxn>
                  <a:cxn ang="0">
                    <a:pos x="8" y="42"/>
                  </a:cxn>
                  <a:cxn ang="0">
                    <a:pos x="12" y="48"/>
                  </a:cxn>
                  <a:cxn ang="0">
                    <a:pos x="10" y="54"/>
                  </a:cxn>
                  <a:cxn ang="0">
                    <a:pos x="20" y="56"/>
                  </a:cxn>
                  <a:cxn ang="0">
                    <a:pos x="26" y="52"/>
                  </a:cxn>
                  <a:cxn ang="0">
                    <a:pos x="30" y="48"/>
                  </a:cxn>
                  <a:cxn ang="0">
                    <a:pos x="38" y="50"/>
                  </a:cxn>
                  <a:cxn ang="0">
                    <a:pos x="40" y="54"/>
                  </a:cxn>
                  <a:cxn ang="0">
                    <a:pos x="50" y="54"/>
                  </a:cxn>
                  <a:cxn ang="0">
                    <a:pos x="50" y="52"/>
                  </a:cxn>
                  <a:cxn ang="0">
                    <a:pos x="52" y="48"/>
                  </a:cxn>
                  <a:cxn ang="0">
                    <a:pos x="56" y="46"/>
                  </a:cxn>
                  <a:cxn ang="0">
                    <a:pos x="64" y="46"/>
                  </a:cxn>
                  <a:cxn ang="0">
                    <a:pos x="72" y="46"/>
                  </a:cxn>
                  <a:cxn ang="0">
                    <a:pos x="66" y="38"/>
                  </a:cxn>
                  <a:cxn ang="0">
                    <a:pos x="70" y="26"/>
                  </a:cxn>
                  <a:cxn ang="0">
                    <a:pos x="80" y="16"/>
                  </a:cxn>
                  <a:cxn ang="0">
                    <a:pos x="80" y="4"/>
                  </a:cxn>
                </a:cxnLst>
                <a:rect l="0" t="0" r="r" b="b"/>
                <a:pathLst>
                  <a:path w="80" h="56">
                    <a:moveTo>
                      <a:pt x="80" y="4"/>
                    </a:moveTo>
                    <a:lnTo>
                      <a:pt x="80" y="4"/>
                    </a:lnTo>
                    <a:lnTo>
                      <a:pt x="74" y="0"/>
                    </a:lnTo>
                    <a:lnTo>
                      <a:pt x="70" y="0"/>
                    </a:lnTo>
                    <a:lnTo>
                      <a:pt x="66" y="2"/>
                    </a:lnTo>
                    <a:lnTo>
                      <a:pt x="62" y="4"/>
                    </a:lnTo>
                    <a:lnTo>
                      <a:pt x="60" y="2"/>
                    </a:lnTo>
                    <a:lnTo>
                      <a:pt x="56" y="0"/>
                    </a:lnTo>
                    <a:lnTo>
                      <a:pt x="52" y="0"/>
                    </a:lnTo>
                    <a:lnTo>
                      <a:pt x="48" y="4"/>
                    </a:lnTo>
                    <a:lnTo>
                      <a:pt x="44" y="6"/>
                    </a:lnTo>
                    <a:lnTo>
                      <a:pt x="40" y="8"/>
                    </a:lnTo>
                    <a:lnTo>
                      <a:pt x="34" y="8"/>
                    </a:lnTo>
                    <a:lnTo>
                      <a:pt x="28" y="8"/>
                    </a:lnTo>
                    <a:lnTo>
                      <a:pt x="26" y="6"/>
                    </a:lnTo>
                    <a:lnTo>
                      <a:pt x="24" y="8"/>
                    </a:lnTo>
                    <a:lnTo>
                      <a:pt x="20" y="8"/>
                    </a:lnTo>
                    <a:lnTo>
                      <a:pt x="16" y="8"/>
                    </a:lnTo>
                    <a:lnTo>
                      <a:pt x="14" y="8"/>
                    </a:lnTo>
                    <a:lnTo>
                      <a:pt x="14" y="6"/>
                    </a:lnTo>
                    <a:lnTo>
                      <a:pt x="16" y="4"/>
                    </a:lnTo>
                    <a:lnTo>
                      <a:pt x="16" y="2"/>
                    </a:lnTo>
                    <a:lnTo>
                      <a:pt x="14" y="2"/>
                    </a:lnTo>
                    <a:lnTo>
                      <a:pt x="10" y="0"/>
                    </a:lnTo>
                    <a:lnTo>
                      <a:pt x="10" y="4"/>
                    </a:lnTo>
                    <a:lnTo>
                      <a:pt x="6" y="8"/>
                    </a:lnTo>
                    <a:lnTo>
                      <a:pt x="2" y="10"/>
                    </a:lnTo>
                    <a:lnTo>
                      <a:pt x="2" y="12"/>
                    </a:lnTo>
                    <a:lnTo>
                      <a:pt x="0" y="16"/>
                    </a:lnTo>
                    <a:lnTo>
                      <a:pt x="2" y="20"/>
                    </a:lnTo>
                    <a:lnTo>
                      <a:pt x="4" y="20"/>
                    </a:lnTo>
                    <a:lnTo>
                      <a:pt x="10" y="22"/>
                    </a:lnTo>
                    <a:lnTo>
                      <a:pt x="10" y="24"/>
                    </a:lnTo>
                    <a:lnTo>
                      <a:pt x="6" y="30"/>
                    </a:lnTo>
                    <a:lnTo>
                      <a:pt x="4" y="34"/>
                    </a:lnTo>
                    <a:lnTo>
                      <a:pt x="8" y="38"/>
                    </a:lnTo>
                    <a:lnTo>
                      <a:pt x="8" y="40"/>
                    </a:lnTo>
                    <a:lnTo>
                      <a:pt x="8" y="42"/>
                    </a:lnTo>
                    <a:lnTo>
                      <a:pt x="8" y="44"/>
                    </a:lnTo>
                    <a:lnTo>
                      <a:pt x="12" y="48"/>
                    </a:lnTo>
                    <a:lnTo>
                      <a:pt x="10" y="48"/>
                    </a:lnTo>
                    <a:lnTo>
                      <a:pt x="10" y="54"/>
                    </a:lnTo>
                    <a:lnTo>
                      <a:pt x="14" y="54"/>
                    </a:lnTo>
                    <a:lnTo>
                      <a:pt x="20" y="56"/>
                    </a:lnTo>
                    <a:lnTo>
                      <a:pt x="24" y="56"/>
                    </a:lnTo>
                    <a:lnTo>
                      <a:pt x="26" y="52"/>
                    </a:lnTo>
                    <a:lnTo>
                      <a:pt x="28" y="50"/>
                    </a:lnTo>
                    <a:lnTo>
                      <a:pt x="30" y="48"/>
                    </a:lnTo>
                    <a:lnTo>
                      <a:pt x="36" y="50"/>
                    </a:lnTo>
                    <a:lnTo>
                      <a:pt x="38" y="50"/>
                    </a:lnTo>
                    <a:lnTo>
                      <a:pt x="40" y="52"/>
                    </a:lnTo>
                    <a:lnTo>
                      <a:pt x="40" y="54"/>
                    </a:lnTo>
                    <a:lnTo>
                      <a:pt x="46" y="54"/>
                    </a:lnTo>
                    <a:lnTo>
                      <a:pt x="50" y="54"/>
                    </a:lnTo>
                    <a:lnTo>
                      <a:pt x="52" y="54"/>
                    </a:lnTo>
                    <a:lnTo>
                      <a:pt x="50" y="52"/>
                    </a:lnTo>
                    <a:lnTo>
                      <a:pt x="50" y="50"/>
                    </a:lnTo>
                    <a:lnTo>
                      <a:pt x="52" y="48"/>
                    </a:lnTo>
                    <a:lnTo>
                      <a:pt x="56" y="48"/>
                    </a:lnTo>
                    <a:lnTo>
                      <a:pt x="56" y="46"/>
                    </a:lnTo>
                    <a:lnTo>
                      <a:pt x="60" y="44"/>
                    </a:lnTo>
                    <a:lnTo>
                      <a:pt x="64" y="46"/>
                    </a:lnTo>
                    <a:lnTo>
                      <a:pt x="68" y="46"/>
                    </a:lnTo>
                    <a:lnTo>
                      <a:pt x="72" y="46"/>
                    </a:lnTo>
                    <a:lnTo>
                      <a:pt x="70" y="40"/>
                    </a:lnTo>
                    <a:lnTo>
                      <a:pt x="66" y="38"/>
                    </a:lnTo>
                    <a:lnTo>
                      <a:pt x="70" y="32"/>
                    </a:lnTo>
                    <a:lnTo>
                      <a:pt x="70" y="26"/>
                    </a:lnTo>
                    <a:lnTo>
                      <a:pt x="80" y="20"/>
                    </a:lnTo>
                    <a:lnTo>
                      <a:pt x="80" y="16"/>
                    </a:lnTo>
                    <a:lnTo>
                      <a:pt x="80" y="12"/>
                    </a:lnTo>
                    <a:lnTo>
                      <a:pt x="80" y="4"/>
                    </a:lnTo>
                    <a:lnTo>
                      <a:pt x="80" y="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58" name="Freeform 433">
                <a:extLst>
                  <a:ext uri="{FF2B5EF4-FFF2-40B4-BE49-F238E27FC236}">
                    <a16:creationId xmlns:a16="http://schemas.microsoft.com/office/drawing/2014/main" id="{0ACF78E3-551C-CB20-5C78-F702C843F02B}"/>
                  </a:ext>
                </a:extLst>
              </p:cNvPr>
              <p:cNvSpPr>
                <a:spLocks/>
              </p:cNvSpPr>
              <p:nvPr/>
            </p:nvSpPr>
            <p:spPr bwMode="auto">
              <a:xfrm>
                <a:off x="6270149" y="4190765"/>
                <a:ext cx="19447" cy="13450"/>
              </a:xfrm>
              <a:custGeom>
                <a:avLst/>
                <a:gdLst/>
                <a:ahLst/>
                <a:cxnLst>
                  <a:cxn ang="0">
                    <a:pos x="0" y="8"/>
                  </a:cxn>
                  <a:cxn ang="0">
                    <a:pos x="6" y="14"/>
                  </a:cxn>
                  <a:cxn ang="0">
                    <a:pos x="10" y="14"/>
                  </a:cxn>
                  <a:cxn ang="0">
                    <a:pos x="12" y="12"/>
                  </a:cxn>
                  <a:cxn ang="0">
                    <a:pos x="14" y="8"/>
                  </a:cxn>
                  <a:cxn ang="0">
                    <a:pos x="18" y="10"/>
                  </a:cxn>
                  <a:cxn ang="0">
                    <a:pos x="20" y="10"/>
                  </a:cxn>
                  <a:cxn ang="0">
                    <a:pos x="16" y="0"/>
                  </a:cxn>
                  <a:cxn ang="0">
                    <a:pos x="12" y="0"/>
                  </a:cxn>
                  <a:cxn ang="0">
                    <a:pos x="10" y="4"/>
                  </a:cxn>
                  <a:cxn ang="0">
                    <a:pos x="8" y="8"/>
                  </a:cxn>
                  <a:cxn ang="0">
                    <a:pos x="0" y="6"/>
                  </a:cxn>
                  <a:cxn ang="0">
                    <a:pos x="0" y="8"/>
                  </a:cxn>
                  <a:cxn ang="0">
                    <a:pos x="0" y="8"/>
                  </a:cxn>
                </a:cxnLst>
                <a:rect l="0" t="0" r="r" b="b"/>
                <a:pathLst>
                  <a:path w="20" h="14">
                    <a:moveTo>
                      <a:pt x="0" y="8"/>
                    </a:moveTo>
                    <a:lnTo>
                      <a:pt x="6" y="14"/>
                    </a:lnTo>
                    <a:lnTo>
                      <a:pt x="10" y="14"/>
                    </a:lnTo>
                    <a:lnTo>
                      <a:pt x="12" y="12"/>
                    </a:lnTo>
                    <a:lnTo>
                      <a:pt x="14" y="8"/>
                    </a:lnTo>
                    <a:lnTo>
                      <a:pt x="18" y="10"/>
                    </a:lnTo>
                    <a:lnTo>
                      <a:pt x="20" y="10"/>
                    </a:lnTo>
                    <a:lnTo>
                      <a:pt x="16" y="0"/>
                    </a:lnTo>
                    <a:lnTo>
                      <a:pt x="12" y="0"/>
                    </a:lnTo>
                    <a:lnTo>
                      <a:pt x="10" y="4"/>
                    </a:lnTo>
                    <a:lnTo>
                      <a:pt x="8" y="8"/>
                    </a:lnTo>
                    <a:lnTo>
                      <a:pt x="0" y="6"/>
                    </a:lnTo>
                    <a:lnTo>
                      <a:pt x="0" y="8"/>
                    </a:lnTo>
                    <a:lnTo>
                      <a:pt x="0" y="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59" name="Freeform 434">
                <a:extLst>
                  <a:ext uri="{FF2B5EF4-FFF2-40B4-BE49-F238E27FC236}">
                    <a16:creationId xmlns:a16="http://schemas.microsoft.com/office/drawing/2014/main" id="{9CD41317-FD25-47C3-9BEF-653FD19A7079}"/>
                  </a:ext>
                </a:extLst>
              </p:cNvPr>
              <p:cNvSpPr>
                <a:spLocks/>
              </p:cNvSpPr>
              <p:nvPr/>
            </p:nvSpPr>
            <p:spPr bwMode="auto">
              <a:xfrm>
                <a:off x="6270149" y="4190765"/>
                <a:ext cx="19447" cy="13450"/>
              </a:xfrm>
              <a:custGeom>
                <a:avLst/>
                <a:gdLst/>
                <a:ahLst/>
                <a:cxnLst>
                  <a:cxn ang="0">
                    <a:pos x="0" y="8"/>
                  </a:cxn>
                  <a:cxn ang="0">
                    <a:pos x="6" y="14"/>
                  </a:cxn>
                  <a:cxn ang="0">
                    <a:pos x="10" y="14"/>
                  </a:cxn>
                  <a:cxn ang="0">
                    <a:pos x="12" y="12"/>
                  </a:cxn>
                  <a:cxn ang="0">
                    <a:pos x="14" y="8"/>
                  </a:cxn>
                  <a:cxn ang="0">
                    <a:pos x="18" y="10"/>
                  </a:cxn>
                  <a:cxn ang="0">
                    <a:pos x="20" y="10"/>
                  </a:cxn>
                  <a:cxn ang="0">
                    <a:pos x="16" y="0"/>
                  </a:cxn>
                  <a:cxn ang="0">
                    <a:pos x="12" y="0"/>
                  </a:cxn>
                  <a:cxn ang="0">
                    <a:pos x="10" y="4"/>
                  </a:cxn>
                  <a:cxn ang="0">
                    <a:pos x="8" y="8"/>
                  </a:cxn>
                  <a:cxn ang="0">
                    <a:pos x="0" y="6"/>
                  </a:cxn>
                  <a:cxn ang="0">
                    <a:pos x="0" y="8"/>
                  </a:cxn>
                  <a:cxn ang="0">
                    <a:pos x="0" y="8"/>
                  </a:cxn>
                </a:cxnLst>
                <a:rect l="0" t="0" r="r" b="b"/>
                <a:pathLst>
                  <a:path w="20" h="14">
                    <a:moveTo>
                      <a:pt x="0" y="8"/>
                    </a:moveTo>
                    <a:lnTo>
                      <a:pt x="6" y="14"/>
                    </a:lnTo>
                    <a:lnTo>
                      <a:pt x="10" y="14"/>
                    </a:lnTo>
                    <a:lnTo>
                      <a:pt x="12" y="12"/>
                    </a:lnTo>
                    <a:lnTo>
                      <a:pt x="14" y="8"/>
                    </a:lnTo>
                    <a:lnTo>
                      <a:pt x="18" y="10"/>
                    </a:lnTo>
                    <a:lnTo>
                      <a:pt x="20" y="10"/>
                    </a:lnTo>
                    <a:lnTo>
                      <a:pt x="16" y="0"/>
                    </a:lnTo>
                    <a:lnTo>
                      <a:pt x="12" y="0"/>
                    </a:lnTo>
                    <a:lnTo>
                      <a:pt x="10" y="4"/>
                    </a:lnTo>
                    <a:lnTo>
                      <a:pt x="8" y="8"/>
                    </a:lnTo>
                    <a:lnTo>
                      <a:pt x="0" y="6"/>
                    </a:lnTo>
                    <a:lnTo>
                      <a:pt x="0" y="8"/>
                    </a:lnTo>
                    <a:lnTo>
                      <a:pt x="0" y="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60" name="Freeform 435">
                <a:extLst>
                  <a:ext uri="{FF2B5EF4-FFF2-40B4-BE49-F238E27FC236}">
                    <a16:creationId xmlns:a16="http://schemas.microsoft.com/office/drawing/2014/main" id="{374333B9-0BC3-966A-D8F1-F213AC95E4D3}"/>
                  </a:ext>
                </a:extLst>
              </p:cNvPr>
              <p:cNvSpPr>
                <a:spLocks/>
              </p:cNvSpPr>
              <p:nvPr/>
            </p:nvSpPr>
            <p:spPr bwMode="auto">
              <a:xfrm>
                <a:off x="4156266" y="4284913"/>
                <a:ext cx="5834" cy="7686"/>
              </a:xfrm>
              <a:custGeom>
                <a:avLst/>
                <a:gdLst/>
                <a:ahLst/>
                <a:cxnLst>
                  <a:cxn ang="0">
                    <a:pos x="6" y="0"/>
                  </a:cxn>
                  <a:cxn ang="0">
                    <a:pos x="6" y="0"/>
                  </a:cxn>
                  <a:cxn ang="0">
                    <a:pos x="6" y="0"/>
                  </a:cxn>
                  <a:cxn ang="0">
                    <a:pos x="6" y="2"/>
                  </a:cxn>
                  <a:cxn ang="0">
                    <a:pos x="2" y="4"/>
                  </a:cxn>
                  <a:cxn ang="0">
                    <a:pos x="2" y="6"/>
                  </a:cxn>
                  <a:cxn ang="0">
                    <a:pos x="0" y="8"/>
                  </a:cxn>
                  <a:cxn ang="0">
                    <a:pos x="0" y="6"/>
                  </a:cxn>
                  <a:cxn ang="0">
                    <a:pos x="2" y="4"/>
                  </a:cxn>
                  <a:cxn ang="0">
                    <a:pos x="6" y="0"/>
                  </a:cxn>
                  <a:cxn ang="0">
                    <a:pos x="6" y="0"/>
                  </a:cxn>
                </a:cxnLst>
                <a:rect l="0" t="0" r="r" b="b"/>
                <a:pathLst>
                  <a:path w="6" h="8">
                    <a:moveTo>
                      <a:pt x="6" y="0"/>
                    </a:moveTo>
                    <a:lnTo>
                      <a:pt x="6" y="0"/>
                    </a:lnTo>
                    <a:lnTo>
                      <a:pt x="6" y="0"/>
                    </a:lnTo>
                    <a:lnTo>
                      <a:pt x="6" y="2"/>
                    </a:lnTo>
                    <a:lnTo>
                      <a:pt x="2" y="4"/>
                    </a:lnTo>
                    <a:lnTo>
                      <a:pt x="2" y="6"/>
                    </a:lnTo>
                    <a:lnTo>
                      <a:pt x="0" y="8"/>
                    </a:lnTo>
                    <a:lnTo>
                      <a:pt x="0" y="6"/>
                    </a:lnTo>
                    <a:lnTo>
                      <a:pt x="2" y="4"/>
                    </a:lnTo>
                    <a:lnTo>
                      <a:pt x="6" y="0"/>
                    </a:lnTo>
                    <a:lnTo>
                      <a:pt x="6"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61" name="Freeform 436">
                <a:extLst>
                  <a:ext uri="{FF2B5EF4-FFF2-40B4-BE49-F238E27FC236}">
                    <a16:creationId xmlns:a16="http://schemas.microsoft.com/office/drawing/2014/main" id="{6E854932-0BD6-FA0D-161D-274D48D1F128}"/>
                  </a:ext>
                </a:extLst>
              </p:cNvPr>
              <p:cNvSpPr>
                <a:spLocks/>
              </p:cNvSpPr>
              <p:nvPr/>
            </p:nvSpPr>
            <p:spPr bwMode="auto">
              <a:xfrm>
                <a:off x="4156266" y="4284913"/>
                <a:ext cx="5834" cy="7686"/>
              </a:xfrm>
              <a:custGeom>
                <a:avLst/>
                <a:gdLst/>
                <a:ahLst/>
                <a:cxnLst>
                  <a:cxn ang="0">
                    <a:pos x="6" y="0"/>
                  </a:cxn>
                  <a:cxn ang="0">
                    <a:pos x="6" y="0"/>
                  </a:cxn>
                  <a:cxn ang="0">
                    <a:pos x="6" y="0"/>
                  </a:cxn>
                  <a:cxn ang="0">
                    <a:pos x="6" y="2"/>
                  </a:cxn>
                  <a:cxn ang="0">
                    <a:pos x="2" y="4"/>
                  </a:cxn>
                  <a:cxn ang="0">
                    <a:pos x="2" y="6"/>
                  </a:cxn>
                  <a:cxn ang="0">
                    <a:pos x="0" y="8"/>
                  </a:cxn>
                  <a:cxn ang="0">
                    <a:pos x="0" y="6"/>
                  </a:cxn>
                  <a:cxn ang="0">
                    <a:pos x="2" y="4"/>
                  </a:cxn>
                  <a:cxn ang="0">
                    <a:pos x="6" y="0"/>
                  </a:cxn>
                  <a:cxn ang="0">
                    <a:pos x="6" y="0"/>
                  </a:cxn>
                </a:cxnLst>
                <a:rect l="0" t="0" r="r" b="b"/>
                <a:pathLst>
                  <a:path w="6" h="8">
                    <a:moveTo>
                      <a:pt x="6" y="0"/>
                    </a:moveTo>
                    <a:lnTo>
                      <a:pt x="6" y="0"/>
                    </a:lnTo>
                    <a:lnTo>
                      <a:pt x="6" y="0"/>
                    </a:lnTo>
                    <a:lnTo>
                      <a:pt x="6" y="2"/>
                    </a:lnTo>
                    <a:lnTo>
                      <a:pt x="2" y="4"/>
                    </a:lnTo>
                    <a:lnTo>
                      <a:pt x="2" y="6"/>
                    </a:lnTo>
                    <a:lnTo>
                      <a:pt x="0" y="8"/>
                    </a:lnTo>
                    <a:lnTo>
                      <a:pt x="0" y="6"/>
                    </a:lnTo>
                    <a:lnTo>
                      <a:pt x="2" y="4"/>
                    </a:lnTo>
                    <a:lnTo>
                      <a:pt x="6" y="0"/>
                    </a:lnTo>
                    <a:lnTo>
                      <a:pt x="6"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62" name="Freeform 437">
                <a:extLst>
                  <a:ext uri="{FF2B5EF4-FFF2-40B4-BE49-F238E27FC236}">
                    <a16:creationId xmlns:a16="http://schemas.microsoft.com/office/drawing/2014/main" id="{AB8DD928-60B4-7B5A-F35E-FE5947F08E45}"/>
                  </a:ext>
                </a:extLst>
              </p:cNvPr>
              <p:cNvSpPr>
                <a:spLocks/>
              </p:cNvSpPr>
              <p:nvPr/>
            </p:nvSpPr>
            <p:spPr bwMode="auto">
              <a:xfrm>
                <a:off x="4197104" y="4282991"/>
                <a:ext cx="973" cy="1921"/>
              </a:xfrm>
              <a:custGeom>
                <a:avLst/>
                <a:gdLst/>
                <a:ahLst/>
                <a:cxnLst>
                  <a:cxn ang="0">
                    <a:pos x="0" y="0"/>
                  </a:cxn>
                  <a:cxn ang="0">
                    <a:pos x="0" y="0"/>
                  </a:cxn>
                  <a:cxn ang="0">
                    <a:pos x="0" y="2"/>
                  </a:cxn>
                  <a:cxn ang="0">
                    <a:pos x="0" y="0"/>
                  </a:cxn>
                  <a:cxn ang="0">
                    <a:pos x="0" y="0"/>
                  </a:cxn>
                </a:cxnLst>
                <a:rect l="0" t="0" r="r" b="b"/>
                <a:pathLst>
                  <a:path h="2">
                    <a:moveTo>
                      <a:pt x="0" y="0"/>
                    </a:moveTo>
                    <a:lnTo>
                      <a:pt x="0" y="0"/>
                    </a:lnTo>
                    <a:lnTo>
                      <a:pt x="0" y="2"/>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63" name="Freeform 438">
                <a:extLst>
                  <a:ext uri="{FF2B5EF4-FFF2-40B4-BE49-F238E27FC236}">
                    <a16:creationId xmlns:a16="http://schemas.microsoft.com/office/drawing/2014/main" id="{B66FDE62-114E-7834-A6CC-5F45D040B6D4}"/>
                  </a:ext>
                </a:extLst>
              </p:cNvPr>
              <p:cNvSpPr>
                <a:spLocks/>
              </p:cNvSpPr>
              <p:nvPr/>
            </p:nvSpPr>
            <p:spPr bwMode="auto">
              <a:xfrm>
                <a:off x="4130984" y="4294520"/>
                <a:ext cx="21391" cy="3843"/>
              </a:xfrm>
              <a:custGeom>
                <a:avLst/>
                <a:gdLst/>
                <a:ahLst/>
                <a:cxnLst>
                  <a:cxn ang="0">
                    <a:pos x="22" y="0"/>
                  </a:cxn>
                  <a:cxn ang="0">
                    <a:pos x="22" y="4"/>
                  </a:cxn>
                  <a:cxn ang="0">
                    <a:pos x="12" y="2"/>
                  </a:cxn>
                  <a:cxn ang="0">
                    <a:pos x="0" y="4"/>
                  </a:cxn>
                  <a:cxn ang="0">
                    <a:pos x="2" y="0"/>
                  </a:cxn>
                  <a:cxn ang="0">
                    <a:pos x="12" y="2"/>
                  </a:cxn>
                  <a:cxn ang="0">
                    <a:pos x="16" y="2"/>
                  </a:cxn>
                  <a:cxn ang="0">
                    <a:pos x="20" y="2"/>
                  </a:cxn>
                  <a:cxn ang="0">
                    <a:pos x="22" y="0"/>
                  </a:cxn>
                  <a:cxn ang="0">
                    <a:pos x="22" y="0"/>
                  </a:cxn>
                </a:cxnLst>
                <a:rect l="0" t="0" r="r" b="b"/>
                <a:pathLst>
                  <a:path w="22" h="4">
                    <a:moveTo>
                      <a:pt x="22" y="0"/>
                    </a:moveTo>
                    <a:lnTo>
                      <a:pt x="22" y="4"/>
                    </a:lnTo>
                    <a:lnTo>
                      <a:pt x="12" y="2"/>
                    </a:lnTo>
                    <a:lnTo>
                      <a:pt x="0" y="4"/>
                    </a:lnTo>
                    <a:lnTo>
                      <a:pt x="2" y="0"/>
                    </a:lnTo>
                    <a:lnTo>
                      <a:pt x="12" y="2"/>
                    </a:lnTo>
                    <a:lnTo>
                      <a:pt x="16" y="2"/>
                    </a:lnTo>
                    <a:lnTo>
                      <a:pt x="20" y="2"/>
                    </a:lnTo>
                    <a:lnTo>
                      <a:pt x="22" y="0"/>
                    </a:lnTo>
                    <a:lnTo>
                      <a:pt x="2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64" name="Freeform 439">
                <a:extLst>
                  <a:ext uri="{FF2B5EF4-FFF2-40B4-BE49-F238E27FC236}">
                    <a16:creationId xmlns:a16="http://schemas.microsoft.com/office/drawing/2014/main" id="{BD198686-C3D7-96D4-ECA2-0ED461995768}"/>
                  </a:ext>
                </a:extLst>
              </p:cNvPr>
              <p:cNvSpPr>
                <a:spLocks/>
              </p:cNvSpPr>
              <p:nvPr/>
            </p:nvSpPr>
            <p:spPr bwMode="auto">
              <a:xfrm>
                <a:off x="4130984" y="4294520"/>
                <a:ext cx="21391" cy="3843"/>
              </a:xfrm>
              <a:custGeom>
                <a:avLst/>
                <a:gdLst/>
                <a:ahLst/>
                <a:cxnLst>
                  <a:cxn ang="0">
                    <a:pos x="22" y="0"/>
                  </a:cxn>
                  <a:cxn ang="0">
                    <a:pos x="22" y="4"/>
                  </a:cxn>
                  <a:cxn ang="0">
                    <a:pos x="12" y="2"/>
                  </a:cxn>
                  <a:cxn ang="0">
                    <a:pos x="0" y="4"/>
                  </a:cxn>
                  <a:cxn ang="0">
                    <a:pos x="2" y="0"/>
                  </a:cxn>
                  <a:cxn ang="0">
                    <a:pos x="12" y="2"/>
                  </a:cxn>
                  <a:cxn ang="0">
                    <a:pos x="16" y="2"/>
                  </a:cxn>
                  <a:cxn ang="0">
                    <a:pos x="20" y="2"/>
                  </a:cxn>
                  <a:cxn ang="0">
                    <a:pos x="22" y="0"/>
                  </a:cxn>
                  <a:cxn ang="0">
                    <a:pos x="22" y="0"/>
                  </a:cxn>
                </a:cxnLst>
                <a:rect l="0" t="0" r="r" b="b"/>
                <a:pathLst>
                  <a:path w="22" h="4">
                    <a:moveTo>
                      <a:pt x="22" y="0"/>
                    </a:moveTo>
                    <a:lnTo>
                      <a:pt x="22" y="4"/>
                    </a:lnTo>
                    <a:lnTo>
                      <a:pt x="12" y="2"/>
                    </a:lnTo>
                    <a:lnTo>
                      <a:pt x="0" y="4"/>
                    </a:lnTo>
                    <a:lnTo>
                      <a:pt x="2" y="0"/>
                    </a:lnTo>
                    <a:lnTo>
                      <a:pt x="12" y="2"/>
                    </a:lnTo>
                    <a:lnTo>
                      <a:pt x="16" y="2"/>
                    </a:lnTo>
                    <a:lnTo>
                      <a:pt x="20" y="2"/>
                    </a:lnTo>
                    <a:lnTo>
                      <a:pt x="22" y="0"/>
                    </a:lnTo>
                    <a:lnTo>
                      <a:pt x="2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65" name="Freeform 440">
                <a:extLst>
                  <a:ext uri="{FF2B5EF4-FFF2-40B4-BE49-F238E27FC236}">
                    <a16:creationId xmlns:a16="http://schemas.microsoft.com/office/drawing/2014/main" id="{8038BAB2-011F-AE97-2631-79398BA25BD6}"/>
                  </a:ext>
                </a:extLst>
              </p:cNvPr>
              <p:cNvSpPr>
                <a:spLocks/>
              </p:cNvSpPr>
              <p:nvPr/>
            </p:nvSpPr>
            <p:spPr bwMode="auto">
              <a:xfrm>
                <a:off x="5035268" y="3533657"/>
                <a:ext cx="48617" cy="49955"/>
              </a:xfrm>
              <a:custGeom>
                <a:avLst/>
                <a:gdLst/>
                <a:ahLst/>
                <a:cxnLst>
                  <a:cxn ang="0">
                    <a:pos x="46" y="10"/>
                  </a:cxn>
                  <a:cxn ang="0">
                    <a:pos x="46" y="10"/>
                  </a:cxn>
                  <a:cxn ang="0">
                    <a:pos x="42" y="10"/>
                  </a:cxn>
                  <a:cxn ang="0">
                    <a:pos x="38" y="10"/>
                  </a:cxn>
                  <a:cxn ang="0">
                    <a:pos x="36" y="8"/>
                  </a:cxn>
                  <a:cxn ang="0">
                    <a:pos x="34" y="6"/>
                  </a:cxn>
                  <a:cxn ang="0">
                    <a:pos x="28" y="4"/>
                  </a:cxn>
                  <a:cxn ang="0">
                    <a:pos x="24" y="4"/>
                  </a:cxn>
                  <a:cxn ang="0">
                    <a:pos x="20" y="4"/>
                  </a:cxn>
                  <a:cxn ang="0">
                    <a:pos x="18" y="6"/>
                  </a:cxn>
                  <a:cxn ang="0">
                    <a:pos x="16" y="6"/>
                  </a:cxn>
                  <a:cxn ang="0">
                    <a:pos x="12" y="4"/>
                  </a:cxn>
                  <a:cxn ang="0">
                    <a:pos x="10" y="2"/>
                  </a:cxn>
                  <a:cxn ang="0">
                    <a:pos x="10" y="4"/>
                  </a:cxn>
                  <a:cxn ang="0">
                    <a:pos x="8" y="4"/>
                  </a:cxn>
                  <a:cxn ang="0">
                    <a:pos x="6" y="4"/>
                  </a:cxn>
                  <a:cxn ang="0">
                    <a:pos x="4" y="0"/>
                  </a:cxn>
                  <a:cxn ang="0">
                    <a:pos x="2" y="0"/>
                  </a:cxn>
                  <a:cxn ang="0">
                    <a:pos x="0" y="0"/>
                  </a:cxn>
                  <a:cxn ang="0">
                    <a:pos x="0" y="2"/>
                  </a:cxn>
                  <a:cxn ang="0">
                    <a:pos x="0" y="6"/>
                  </a:cxn>
                  <a:cxn ang="0">
                    <a:pos x="4" y="10"/>
                  </a:cxn>
                  <a:cxn ang="0">
                    <a:pos x="8" y="18"/>
                  </a:cxn>
                  <a:cxn ang="0">
                    <a:pos x="8" y="20"/>
                  </a:cxn>
                  <a:cxn ang="0">
                    <a:pos x="6" y="20"/>
                  </a:cxn>
                  <a:cxn ang="0">
                    <a:pos x="8" y="22"/>
                  </a:cxn>
                  <a:cxn ang="0">
                    <a:pos x="14" y="30"/>
                  </a:cxn>
                  <a:cxn ang="0">
                    <a:pos x="20" y="36"/>
                  </a:cxn>
                  <a:cxn ang="0">
                    <a:pos x="24" y="42"/>
                  </a:cxn>
                  <a:cxn ang="0">
                    <a:pos x="28" y="42"/>
                  </a:cxn>
                  <a:cxn ang="0">
                    <a:pos x="30" y="44"/>
                  </a:cxn>
                  <a:cxn ang="0">
                    <a:pos x="34" y="48"/>
                  </a:cxn>
                  <a:cxn ang="0">
                    <a:pos x="38" y="52"/>
                  </a:cxn>
                  <a:cxn ang="0">
                    <a:pos x="36" y="48"/>
                  </a:cxn>
                  <a:cxn ang="0">
                    <a:pos x="36" y="44"/>
                  </a:cxn>
                  <a:cxn ang="0">
                    <a:pos x="36" y="42"/>
                  </a:cxn>
                  <a:cxn ang="0">
                    <a:pos x="38" y="38"/>
                  </a:cxn>
                  <a:cxn ang="0">
                    <a:pos x="44" y="36"/>
                  </a:cxn>
                  <a:cxn ang="0">
                    <a:pos x="44" y="32"/>
                  </a:cxn>
                  <a:cxn ang="0">
                    <a:pos x="48" y="30"/>
                  </a:cxn>
                  <a:cxn ang="0">
                    <a:pos x="50" y="28"/>
                  </a:cxn>
                  <a:cxn ang="0">
                    <a:pos x="50" y="26"/>
                  </a:cxn>
                  <a:cxn ang="0">
                    <a:pos x="48" y="26"/>
                  </a:cxn>
                  <a:cxn ang="0">
                    <a:pos x="46" y="24"/>
                  </a:cxn>
                  <a:cxn ang="0">
                    <a:pos x="44" y="22"/>
                  </a:cxn>
                  <a:cxn ang="0">
                    <a:pos x="48" y="22"/>
                  </a:cxn>
                  <a:cxn ang="0">
                    <a:pos x="50" y="20"/>
                  </a:cxn>
                  <a:cxn ang="0">
                    <a:pos x="50" y="18"/>
                  </a:cxn>
                  <a:cxn ang="0">
                    <a:pos x="48" y="18"/>
                  </a:cxn>
                  <a:cxn ang="0">
                    <a:pos x="46" y="14"/>
                  </a:cxn>
                  <a:cxn ang="0">
                    <a:pos x="46" y="10"/>
                  </a:cxn>
                  <a:cxn ang="0">
                    <a:pos x="46" y="10"/>
                  </a:cxn>
                </a:cxnLst>
                <a:rect l="0" t="0" r="r" b="b"/>
                <a:pathLst>
                  <a:path w="50" h="52">
                    <a:moveTo>
                      <a:pt x="46" y="10"/>
                    </a:moveTo>
                    <a:lnTo>
                      <a:pt x="46" y="10"/>
                    </a:lnTo>
                    <a:lnTo>
                      <a:pt x="42" y="10"/>
                    </a:lnTo>
                    <a:lnTo>
                      <a:pt x="38" y="10"/>
                    </a:lnTo>
                    <a:lnTo>
                      <a:pt x="36" y="8"/>
                    </a:lnTo>
                    <a:lnTo>
                      <a:pt x="34" y="6"/>
                    </a:lnTo>
                    <a:lnTo>
                      <a:pt x="28" y="4"/>
                    </a:lnTo>
                    <a:lnTo>
                      <a:pt x="24" y="4"/>
                    </a:lnTo>
                    <a:lnTo>
                      <a:pt x="20" y="4"/>
                    </a:lnTo>
                    <a:lnTo>
                      <a:pt x="18" y="6"/>
                    </a:lnTo>
                    <a:lnTo>
                      <a:pt x="16" y="6"/>
                    </a:lnTo>
                    <a:lnTo>
                      <a:pt x="12" y="4"/>
                    </a:lnTo>
                    <a:lnTo>
                      <a:pt x="10" y="2"/>
                    </a:lnTo>
                    <a:lnTo>
                      <a:pt x="10" y="4"/>
                    </a:lnTo>
                    <a:lnTo>
                      <a:pt x="8" y="4"/>
                    </a:lnTo>
                    <a:lnTo>
                      <a:pt x="6" y="4"/>
                    </a:lnTo>
                    <a:lnTo>
                      <a:pt x="4" y="0"/>
                    </a:lnTo>
                    <a:lnTo>
                      <a:pt x="2" y="0"/>
                    </a:lnTo>
                    <a:lnTo>
                      <a:pt x="0" y="0"/>
                    </a:lnTo>
                    <a:lnTo>
                      <a:pt x="0" y="2"/>
                    </a:lnTo>
                    <a:lnTo>
                      <a:pt x="0" y="6"/>
                    </a:lnTo>
                    <a:lnTo>
                      <a:pt x="4" y="10"/>
                    </a:lnTo>
                    <a:lnTo>
                      <a:pt x="8" y="18"/>
                    </a:lnTo>
                    <a:lnTo>
                      <a:pt x="8" y="20"/>
                    </a:lnTo>
                    <a:lnTo>
                      <a:pt x="6" y="20"/>
                    </a:lnTo>
                    <a:lnTo>
                      <a:pt x="8" y="22"/>
                    </a:lnTo>
                    <a:lnTo>
                      <a:pt x="14" y="30"/>
                    </a:lnTo>
                    <a:lnTo>
                      <a:pt x="20" y="36"/>
                    </a:lnTo>
                    <a:lnTo>
                      <a:pt x="24" y="42"/>
                    </a:lnTo>
                    <a:lnTo>
                      <a:pt x="28" y="42"/>
                    </a:lnTo>
                    <a:lnTo>
                      <a:pt x="30" y="44"/>
                    </a:lnTo>
                    <a:lnTo>
                      <a:pt x="34" y="48"/>
                    </a:lnTo>
                    <a:lnTo>
                      <a:pt x="38" y="52"/>
                    </a:lnTo>
                    <a:lnTo>
                      <a:pt x="36" y="48"/>
                    </a:lnTo>
                    <a:lnTo>
                      <a:pt x="36" y="44"/>
                    </a:lnTo>
                    <a:lnTo>
                      <a:pt x="36" y="42"/>
                    </a:lnTo>
                    <a:lnTo>
                      <a:pt x="38" y="38"/>
                    </a:lnTo>
                    <a:lnTo>
                      <a:pt x="44" y="36"/>
                    </a:lnTo>
                    <a:lnTo>
                      <a:pt x="44" y="32"/>
                    </a:lnTo>
                    <a:lnTo>
                      <a:pt x="48" y="30"/>
                    </a:lnTo>
                    <a:lnTo>
                      <a:pt x="50" y="28"/>
                    </a:lnTo>
                    <a:lnTo>
                      <a:pt x="50" y="26"/>
                    </a:lnTo>
                    <a:lnTo>
                      <a:pt x="48" y="26"/>
                    </a:lnTo>
                    <a:lnTo>
                      <a:pt x="46" y="24"/>
                    </a:lnTo>
                    <a:lnTo>
                      <a:pt x="44" y="22"/>
                    </a:lnTo>
                    <a:lnTo>
                      <a:pt x="48" y="22"/>
                    </a:lnTo>
                    <a:lnTo>
                      <a:pt x="50" y="20"/>
                    </a:lnTo>
                    <a:lnTo>
                      <a:pt x="50" y="18"/>
                    </a:lnTo>
                    <a:lnTo>
                      <a:pt x="48" y="18"/>
                    </a:lnTo>
                    <a:lnTo>
                      <a:pt x="46" y="14"/>
                    </a:lnTo>
                    <a:lnTo>
                      <a:pt x="46" y="10"/>
                    </a:lnTo>
                    <a:lnTo>
                      <a:pt x="46" y="1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66" name="Freeform 441">
                <a:extLst>
                  <a:ext uri="{FF2B5EF4-FFF2-40B4-BE49-F238E27FC236}">
                    <a16:creationId xmlns:a16="http://schemas.microsoft.com/office/drawing/2014/main" id="{E5EA0417-FBBA-92D6-8095-30E2F32213CF}"/>
                  </a:ext>
                </a:extLst>
              </p:cNvPr>
              <p:cNvSpPr>
                <a:spLocks/>
              </p:cNvSpPr>
              <p:nvPr/>
            </p:nvSpPr>
            <p:spPr bwMode="auto">
              <a:xfrm>
                <a:off x="3952073" y="4427094"/>
                <a:ext cx="153631" cy="184451"/>
              </a:xfrm>
              <a:custGeom>
                <a:avLst/>
                <a:gdLst/>
                <a:ahLst/>
                <a:cxnLst>
                  <a:cxn ang="0">
                    <a:pos x="10" y="82"/>
                  </a:cxn>
                  <a:cxn ang="0">
                    <a:pos x="14" y="86"/>
                  </a:cxn>
                  <a:cxn ang="0">
                    <a:pos x="12" y="88"/>
                  </a:cxn>
                  <a:cxn ang="0">
                    <a:pos x="10" y="90"/>
                  </a:cxn>
                  <a:cxn ang="0">
                    <a:pos x="10" y="94"/>
                  </a:cxn>
                  <a:cxn ang="0">
                    <a:pos x="4" y="114"/>
                  </a:cxn>
                  <a:cxn ang="0">
                    <a:pos x="10" y="126"/>
                  </a:cxn>
                  <a:cxn ang="0">
                    <a:pos x="16" y="132"/>
                  </a:cxn>
                  <a:cxn ang="0">
                    <a:pos x="22" y="148"/>
                  </a:cxn>
                  <a:cxn ang="0">
                    <a:pos x="26" y="160"/>
                  </a:cxn>
                  <a:cxn ang="0">
                    <a:pos x="26" y="168"/>
                  </a:cxn>
                  <a:cxn ang="0">
                    <a:pos x="28" y="186"/>
                  </a:cxn>
                  <a:cxn ang="0">
                    <a:pos x="46" y="182"/>
                  </a:cxn>
                  <a:cxn ang="0">
                    <a:pos x="56" y="184"/>
                  </a:cxn>
                  <a:cxn ang="0">
                    <a:pos x="70" y="190"/>
                  </a:cxn>
                  <a:cxn ang="0">
                    <a:pos x="74" y="186"/>
                  </a:cxn>
                  <a:cxn ang="0">
                    <a:pos x="78" y="182"/>
                  </a:cxn>
                  <a:cxn ang="0">
                    <a:pos x="98" y="184"/>
                  </a:cxn>
                  <a:cxn ang="0">
                    <a:pos x="108" y="160"/>
                  </a:cxn>
                  <a:cxn ang="0">
                    <a:pos x="110" y="150"/>
                  </a:cxn>
                  <a:cxn ang="0">
                    <a:pos x="118" y="138"/>
                  </a:cxn>
                  <a:cxn ang="0">
                    <a:pos x="146" y="140"/>
                  </a:cxn>
                  <a:cxn ang="0">
                    <a:pos x="156" y="146"/>
                  </a:cxn>
                  <a:cxn ang="0">
                    <a:pos x="156" y="134"/>
                  </a:cxn>
                  <a:cxn ang="0">
                    <a:pos x="158" y="122"/>
                  </a:cxn>
                  <a:cxn ang="0">
                    <a:pos x="156" y="114"/>
                  </a:cxn>
                  <a:cxn ang="0">
                    <a:pos x="148" y="106"/>
                  </a:cxn>
                  <a:cxn ang="0">
                    <a:pos x="146" y="94"/>
                  </a:cxn>
                  <a:cxn ang="0">
                    <a:pos x="128" y="92"/>
                  </a:cxn>
                  <a:cxn ang="0">
                    <a:pos x="124" y="84"/>
                  </a:cxn>
                  <a:cxn ang="0">
                    <a:pos x="122" y="74"/>
                  </a:cxn>
                  <a:cxn ang="0">
                    <a:pos x="124" y="60"/>
                  </a:cxn>
                  <a:cxn ang="0">
                    <a:pos x="120" y="48"/>
                  </a:cxn>
                  <a:cxn ang="0">
                    <a:pos x="116" y="48"/>
                  </a:cxn>
                  <a:cxn ang="0">
                    <a:pos x="108" y="48"/>
                  </a:cxn>
                  <a:cxn ang="0">
                    <a:pos x="100" y="46"/>
                  </a:cxn>
                  <a:cxn ang="0">
                    <a:pos x="92" y="40"/>
                  </a:cxn>
                  <a:cxn ang="0">
                    <a:pos x="86" y="34"/>
                  </a:cxn>
                  <a:cxn ang="0">
                    <a:pos x="76" y="26"/>
                  </a:cxn>
                  <a:cxn ang="0">
                    <a:pos x="70" y="24"/>
                  </a:cxn>
                  <a:cxn ang="0">
                    <a:pos x="66" y="26"/>
                  </a:cxn>
                  <a:cxn ang="0">
                    <a:pos x="56" y="20"/>
                  </a:cxn>
                  <a:cxn ang="0">
                    <a:pos x="54" y="12"/>
                  </a:cxn>
                  <a:cxn ang="0">
                    <a:pos x="58" y="4"/>
                  </a:cxn>
                  <a:cxn ang="0">
                    <a:pos x="50" y="0"/>
                  </a:cxn>
                  <a:cxn ang="0">
                    <a:pos x="36" y="4"/>
                  </a:cxn>
                  <a:cxn ang="0">
                    <a:pos x="26" y="12"/>
                  </a:cxn>
                  <a:cxn ang="0">
                    <a:pos x="16" y="20"/>
                  </a:cxn>
                  <a:cxn ang="0">
                    <a:pos x="14" y="24"/>
                  </a:cxn>
                  <a:cxn ang="0">
                    <a:pos x="12" y="26"/>
                  </a:cxn>
                  <a:cxn ang="0">
                    <a:pos x="6" y="26"/>
                  </a:cxn>
                  <a:cxn ang="0">
                    <a:pos x="0" y="26"/>
                  </a:cxn>
                  <a:cxn ang="0">
                    <a:pos x="4" y="52"/>
                  </a:cxn>
                  <a:cxn ang="0">
                    <a:pos x="4" y="64"/>
                  </a:cxn>
                  <a:cxn ang="0">
                    <a:pos x="6" y="72"/>
                  </a:cxn>
                  <a:cxn ang="0">
                    <a:pos x="8" y="80"/>
                  </a:cxn>
                  <a:cxn ang="0">
                    <a:pos x="10" y="82"/>
                  </a:cxn>
                </a:cxnLst>
                <a:rect l="0" t="0" r="r" b="b"/>
                <a:pathLst>
                  <a:path w="158" h="192">
                    <a:moveTo>
                      <a:pt x="10" y="82"/>
                    </a:moveTo>
                    <a:lnTo>
                      <a:pt x="10" y="82"/>
                    </a:lnTo>
                    <a:lnTo>
                      <a:pt x="12" y="82"/>
                    </a:lnTo>
                    <a:lnTo>
                      <a:pt x="14" y="86"/>
                    </a:lnTo>
                    <a:lnTo>
                      <a:pt x="14" y="88"/>
                    </a:lnTo>
                    <a:lnTo>
                      <a:pt x="12" y="88"/>
                    </a:lnTo>
                    <a:lnTo>
                      <a:pt x="10" y="86"/>
                    </a:lnTo>
                    <a:lnTo>
                      <a:pt x="10" y="90"/>
                    </a:lnTo>
                    <a:lnTo>
                      <a:pt x="12" y="92"/>
                    </a:lnTo>
                    <a:lnTo>
                      <a:pt x="10" y="94"/>
                    </a:lnTo>
                    <a:lnTo>
                      <a:pt x="2" y="106"/>
                    </a:lnTo>
                    <a:lnTo>
                      <a:pt x="4" y="114"/>
                    </a:lnTo>
                    <a:lnTo>
                      <a:pt x="8" y="120"/>
                    </a:lnTo>
                    <a:lnTo>
                      <a:pt x="10" y="126"/>
                    </a:lnTo>
                    <a:lnTo>
                      <a:pt x="12" y="128"/>
                    </a:lnTo>
                    <a:lnTo>
                      <a:pt x="16" y="132"/>
                    </a:lnTo>
                    <a:lnTo>
                      <a:pt x="18" y="134"/>
                    </a:lnTo>
                    <a:lnTo>
                      <a:pt x="22" y="148"/>
                    </a:lnTo>
                    <a:lnTo>
                      <a:pt x="22" y="154"/>
                    </a:lnTo>
                    <a:lnTo>
                      <a:pt x="26" y="160"/>
                    </a:lnTo>
                    <a:lnTo>
                      <a:pt x="26" y="164"/>
                    </a:lnTo>
                    <a:lnTo>
                      <a:pt x="26" y="168"/>
                    </a:lnTo>
                    <a:lnTo>
                      <a:pt x="26" y="174"/>
                    </a:lnTo>
                    <a:lnTo>
                      <a:pt x="28" y="186"/>
                    </a:lnTo>
                    <a:lnTo>
                      <a:pt x="36" y="188"/>
                    </a:lnTo>
                    <a:lnTo>
                      <a:pt x="46" y="182"/>
                    </a:lnTo>
                    <a:lnTo>
                      <a:pt x="50" y="184"/>
                    </a:lnTo>
                    <a:lnTo>
                      <a:pt x="56" y="184"/>
                    </a:lnTo>
                    <a:lnTo>
                      <a:pt x="64" y="184"/>
                    </a:lnTo>
                    <a:lnTo>
                      <a:pt x="70" y="190"/>
                    </a:lnTo>
                    <a:lnTo>
                      <a:pt x="70" y="192"/>
                    </a:lnTo>
                    <a:lnTo>
                      <a:pt x="74" y="186"/>
                    </a:lnTo>
                    <a:lnTo>
                      <a:pt x="76" y="184"/>
                    </a:lnTo>
                    <a:lnTo>
                      <a:pt x="78" y="182"/>
                    </a:lnTo>
                    <a:lnTo>
                      <a:pt x="80" y="184"/>
                    </a:lnTo>
                    <a:lnTo>
                      <a:pt x="98" y="184"/>
                    </a:lnTo>
                    <a:lnTo>
                      <a:pt x="108" y="166"/>
                    </a:lnTo>
                    <a:lnTo>
                      <a:pt x="108" y="160"/>
                    </a:lnTo>
                    <a:lnTo>
                      <a:pt x="110" y="156"/>
                    </a:lnTo>
                    <a:lnTo>
                      <a:pt x="110" y="150"/>
                    </a:lnTo>
                    <a:lnTo>
                      <a:pt x="114" y="144"/>
                    </a:lnTo>
                    <a:lnTo>
                      <a:pt x="118" y="138"/>
                    </a:lnTo>
                    <a:lnTo>
                      <a:pt x="134" y="138"/>
                    </a:lnTo>
                    <a:lnTo>
                      <a:pt x="146" y="140"/>
                    </a:lnTo>
                    <a:lnTo>
                      <a:pt x="152" y="148"/>
                    </a:lnTo>
                    <a:lnTo>
                      <a:pt x="156" y="146"/>
                    </a:lnTo>
                    <a:lnTo>
                      <a:pt x="154" y="142"/>
                    </a:lnTo>
                    <a:lnTo>
                      <a:pt x="156" y="134"/>
                    </a:lnTo>
                    <a:lnTo>
                      <a:pt x="158" y="126"/>
                    </a:lnTo>
                    <a:lnTo>
                      <a:pt x="158" y="122"/>
                    </a:lnTo>
                    <a:lnTo>
                      <a:pt x="158" y="118"/>
                    </a:lnTo>
                    <a:lnTo>
                      <a:pt x="156" y="114"/>
                    </a:lnTo>
                    <a:lnTo>
                      <a:pt x="152" y="110"/>
                    </a:lnTo>
                    <a:lnTo>
                      <a:pt x="148" y="106"/>
                    </a:lnTo>
                    <a:lnTo>
                      <a:pt x="146" y="100"/>
                    </a:lnTo>
                    <a:lnTo>
                      <a:pt x="146" y="94"/>
                    </a:lnTo>
                    <a:lnTo>
                      <a:pt x="148" y="92"/>
                    </a:lnTo>
                    <a:lnTo>
                      <a:pt x="128" y="92"/>
                    </a:lnTo>
                    <a:lnTo>
                      <a:pt x="126" y="90"/>
                    </a:lnTo>
                    <a:lnTo>
                      <a:pt x="124" y="84"/>
                    </a:lnTo>
                    <a:lnTo>
                      <a:pt x="122" y="80"/>
                    </a:lnTo>
                    <a:lnTo>
                      <a:pt x="122" y="74"/>
                    </a:lnTo>
                    <a:lnTo>
                      <a:pt x="128" y="70"/>
                    </a:lnTo>
                    <a:lnTo>
                      <a:pt x="124" y="60"/>
                    </a:lnTo>
                    <a:lnTo>
                      <a:pt x="122" y="54"/>
                    </a:lnTo>
                    <a:lnTo>
                      <a:pt x="120" y="48"/>
                    </a:lnTo>
                    <a:lnTo>
                      <a:pt x="118" y="48"/>
                    </a:lnTo>
                    <a:lnTo>
                      <a:pt x="116" y="48"/>
                    </a:lnTo>
                    <a:lnTo>
                      <a:pt x="110" y="48"/>
                    </a:lnTo>
                    <a:lnTo>
                      <a:pt x="108" y="48"/>
                    </a:lnTo>
                    <a:lnTo>
                      <a:pt x="102" y="46"/>
                    </a:lnTo>
                    <a:lnTo>
                      <a:pt x="100" y="46"/>
                    </a:lnTo>
                    <a:lnTo>
                      <a:pt x="96" y="44"/>
                    </a:lnTo>
                    <a:lnTo>
                      <a:pt x="92" y="40"/>
                    </a:lnTo>
                    <a:lnTo>
                      <a:pt x="90" y="38"/>
                    </a:lnTo>
                    <a:lnTo>
                      <a:pt x="86" y="34"/>
                    </a:lnTo>
                    <a:lnTo>
                      <a:pt x="80" y="30"/>
                    </a:lnTo>
                    <a:lnTo>
                      <a:pt x="76" y="26"/>
                    </a:lnTo>
                    <a:lnTo>
                      <a:pt x="72" y="24"/>
                    </a:lnTo>
                    <a:lnTo>
                      <a:pt x="70" y="24"/>
                    </a:lnTo>
                    <a:lnTo>
                      <a:pt x="68" y="26"/>
                    </a:lnTo>
                    <a:lnTo>
                      <a:pt x="66" y="26"/>
                    </a:lnTo>
                    <a:lnTo>
                      <a:pt x="60" y="24"/>
                    </a:lnTo>
                    <a:lnTo>
                      <a:pt x="56" y="20"/>
                    </a:lnTo>
                    <a:lnTo>
                      <a:pt x="54" y="16"/>
                    </a:lnTo>
                    <a:lnTo>
                      <a:pt x="54" y="12"/>
                    </a:lnTo>
                    <a:lnTo>
                      <a:pt x="56" y="10"/>
                    </a:lnTo>
                    <a:lnTo>
                      <a:pt x="58" y="4"/>
                    </a:lnTo>
                    <a:lnTo>
                      <a:pt x="56" y="0"/>
                    </a:lnTo>
                    <a:lnTo>
                      <a:pt x="50" y="0"/>
                    </a:lnTo>
                    <a:lnTo>
                      <a:pt x="44" y="2"/>
                    </a:lnTo>
                    <a:lnTo>
                      <a:pt x="36" y="4"/>
                    </a:lnTo>
                    <a:lnTo>
                      <a:pt x="30" y="8"/>
                    </a:lnTo>
                    <a:lnTo>
                      <a:pt x="26" y="12"/>
                    </a:lnTo>
                    <a:lnTo>
                      <a:pt x="22" y="18"/>
                    </a:lnTo>
                    <a:lnTo>
                      <a:pt x="16" y="20"/>
                    </a:lnTo>
                    <a:lnTo>
                      <a:pt x="14" y="22"/>
                    </a:lnTo>
                    <a:lnTo>
                      <a:pt x="14" y="24"/>
                    </a:lnTo>
                    <a:lnTo>
                      <a:pt x="14" y="26"/>
                    </a:lnTo>
                    <a:lnTo>
                      <a:pt x="12" y="26"/>
                    </a:lnTo>
                    <a:lnTo>
                      <a:pt x="10" y="28"/>
                    </a:lnTo>
                    <a:lnTo>
                      <a:pt x="6" y="26"/>
                    </a:lnTo>
                    <a:lnTo>
                      <a:pt x="2" y="26"/>
                    </a:lnTo>
                    <a:lnTo>
                      <a:pt x="0" y="26"/>
                    </a:lnTo>
                    <a:lnTo>
                      <a:pt x="8" y="42"/>
                    </a:lnTo>
                    <a:lnTo>
                      <a:pt x="4" y="52"/>
                    </a:lnTo>
                    <a:lnTo>
                      <a:pt x="4" y="58"/>
                    </a:lnTo>
                    <a:lnTo>
                      <a:pt x="4" y="64"/>
                    </a:lnTo>
                    <a:lnTo>
                      <a:pt x="8" y="70"/>
                    </a:lnTo>
                    <a:lnTo>
                      <a:pt x="6" y="72"/>
                    </a:lnTo>
                    <a:lnTo>
                      <a:pt x="6" y="76"/>
                    </a:lnTo>
                    <a:lnTo>
                      <a:pt x="8" y="80"/>
                    </a:lnTo>
                    <a:lnTo>
                      <a:pt x="8" y="82"/>
                    </a:lnTo>
                    <a:lnTo>
                      <a:pt x="10" y="82"/>
                    </a:lnTo>
                    <a:lnTo>
                      <a:pt x="10" y="8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67" name="Freeform 442">
                <a:extLst>
                  <a:ext uri="{FF2B5EF4-FFF2-40B4-BE49-F238E27FC236}">
                    <a16:creationId xmlns:a16="http://schemas.microsoft.com/office/drawing/2014/main" id="{78203F37-1F73-87B9-5647-0F376CE736DB}"/>
                  </a:ext>
                </a:extLst>
              </p:cNvPr>
              <p:cNvSpPr>
                <a:spLocks/>
              </p:cNvSpPr>
              <p:nvPr/>
            </p:nvSpPr>
            <p:spPr bwMode="auto">
              <a:xfrm>
                <a:off x="4844688" y="4063955"/>
                <a:ext cx="36949" cy="105675"/>
              </a:xfrm>
              <a:custGeom>
                <a:avLst/>
                <a:gdLst/>
                <a:ahLst/>
                <a:cxnLst>
                  <a:cxn ang="0">
                    <a:pos x="26" y="102"/>
                  </a:cxn>
                  <a:cxn ang="0">
                    <a:pos x="28" y="88"/>
                  </a:cxn>
                  <a:cxn ang="0">
                    <a:pos x="24" y="80"/>
                  </a:cxn>
                  <a:cxn ang="0">
                    <a:pos x="26" y="70"/>
                  </a:cxn>
                  <a:cxn ang="0">
                    <a:pos x="26" y="62"/>
                  </a:cxn>
                  <a:cxn ang="0">
                    <a:pos x="28" y="60"/>
                  </a:cxn>
                  <a:cxn ang="0">
                    <a:pos x="30" y="56"/>
                  </a:cxn>
                  <a:cxn ang="0">
                    <a:pos x="32" y="50"/>
                  </a:cxn>
                  <a:cxn ang="0">
                    <a:pos x="34" y="44"/>
                  </a:cxn>
                  <a:cxn ang="0">
                    <a:pos x="36" y="38"/>
                  </a:cxn>
                  <a:cxn ang="0">
                    <a:pos x="36" y="36"/>
                  </a:cxn>
                  <a:cxn ang="0">
                    <a:pos x="36" y="30"/>
                  </a:cxn>
                  <a:cxn ang="0">
                    <a:pos x="36" y="22"/>
                  </a:cxn>
                  <a:cxn ang="0">
                    <a:pos x="34" y="18"/>
                  </a:cxn>
                  <a:cxn ang="0">
                    <a:pos x="34" y="12"/>
                  </a:cxn>
                  <a:cxn ang="0">
                    <a:pos x="26" y="6"/>
                  </a:cxn>
                  <a:cxn ang="0">
                    <a:pos x="24" y="2"/>
                  </a:cxn>
                  <a:cxn ang="0">
                    <a:pos x="18" y="0"/>
                  </a:cxn>
                  <a:cxn ang="0">
                    <a:pos x="12" y="12"/>
                  </a:cxn>
                  <a:cxn ang="0">
                    <a:pos x="6" y="16"/>
                  </a:cxn>
                  <a:cxn ang="0">
                    <a:pos x="4" y="18"/>
                  </a:cxn>
                  <a:cxn ang="0">
                    <a:pos x="0" y="32"/>
                  </a:cxn>
                  <a:cxn ang="0">
                    <a:pos x="10" y="38"/>
                  </a:cxn>
                  <a:cxn ang="0">
                    <a:pos x="10" y="48"/>
                  </a:cxn>
                  <a:cxn ang="0">
                    <a:pos x="12" y="52"/>
                  </a:cxn>
                  <a:cxn ang="0">
                    <a:pos x="10" y="66"/>
                  </a:cxn>
                  <a:cxn ang="0">
                    <a:pos x="12" y="78"/>
                  </a:cxn>
                  <a:cxn ang="0">
                    <a:pos x="10" y="88"/>
                  </a:cxn>
                  <a:cxn ang="0">
                    <a:pos x="12" y="98"/>
                  </a:cxn>
                  <a:cxn ang="0">
                    <a:pos x="12" y="102"/>
                  </a:cxn>
                  <a:cxn ang="0">
                    <a:pos x="14" y="110"/>
                  </a:cxn>
                  <a:cxn ang="0">
                    <a:pos x="18" y="104"/>
                  </a:cxn>
                  <a:cxn ang="0">
                    <a:pos x="26" y="102"/>
                  </a:cxn>
                </a:cxnLst>
                <a:rect l="0" t="0" r="r" b="b"/>
                <a:pathLst>
                  <a:path w="38" h="110">
                    <a:moveTo>
                      <a:pt x="26" y="102"/>
                    </a:moveTo>
                    <a:lnTo>
                      <a:pt x="26" y="102"/>
                    </a:lnTo>
                    <a:lnTo>
                      <a:pt x="28" y="94"/>
                    </a:lnTo>
                    <a:lnTo>
                      <a:pt x="28" y="88"/>
                    </a:lnTo>
                    <a:lnTo>
                      <a:pt x="26" y="84"/>
                    </a:lnTo>
                    <a:lnTo>
                      <a:pt x="24" y="80"/>
                    </a:lnTo>
                    <a:lnTo>
                      <a:pt x="26" y="74"/>
                    </a:lnTo>
                    <a:lnTo>
                      <a:pt x="26" y="70"/>
                    </a:lnTo>
                    <a:lnTo>
                      <a:pt x="26" y="66"/>
                    </a:lnTo>
                    <a:lnTo>
                      <a:pt x="26" y="62"/>
                    </a:lnTo>
                    <a:lnTo>
                      <a:pt x="26" y="60"/>
                    </a:lnTo>
                    <a:lnTo>
                      <a:pt x="28" y="60"/>
                    </a:lnTo>
                    <a:lnTo>
                      <a:pt x="30" y="60"/>
                    </a:lnTo>
                    <a:lnTo>
                      <a:pt x="30" y="56"/>
                    </a:lnTo>
                    <a:lnTo>
                      <a:pt x="30" y="52"/>
                    </a:lnTo>
                    <a:lnTo>
                      <a:pt x="32" y="50"/>
                    </a:lnTo>
                    <a:lnTo>
                      <a:pt x="34" y="48"/>
                    </a:lnTo>
                    <a:lnTo>
                      <a:pt x="34" y="44"/>
                    </a:lnTo>
                    <a:lnTo>
                      <a:pt x="34" y="40"/>
                    </a:lnTo>
                    <a:lnTo>
                      <a:pt x="36" y="38"/>
                    </a:lnTo>
                    <a:lnTo>
                      <a:pt x="38" y="38"/>
                    </a:lnTo>
                    <a:lnTo>
                      <a:pt x="36" y="36"/>
                    </a:lnTo>
                    <a:lnTo>
                      <a:pt x="36" y="34"/>
                    </a:lnTo>
                    <a:lnTo>
                      <a:pt x="36" y="30"/>
                    </a:lnTo>
                    <a:lnTo>
                      <a:pt x="38" y="26"/>
                    </a:lnTo>
                    <a:lnTo>
                      <a:pt x="36" y="22"/>
                    </a:lnTo>
                    <a:lnTo>
                      <a:pt x="32" y="20"/>
                    </a:lnTo>
                    <a:lnTo>
                      <a:pt x="34" y="18"/>
                    </a:lnTo>
                    <a:lnTo>
                      <a:pt x="34" y="16"/>
                    </a:lnTo>
                    <a:lnTo>
                      <a:pt x="34" y="12"/>
                    </a:lnTo>
                    <a:lnTo>
                      <a:pt x="34" y="10"/>
                    </a:lnTo>
                    <a:lnTo>
                      <a:pt x="26" y="6"/>
                    </a:lnTo>
                    <a:lnTo>
                      <a:pt x="26" y="4"/>
                    </a:lnTo>
                    <a:lnTo>
                      <a:pt x="24" y="2"/>
                    </a:lnTo>
                    <a:lnTo>
                      <a:pt x="20" y="0"/>
                    </a:lnTo>
                    <a:lnTo>
                      <a:pt x="18" y="0"/>
                    </a:lnTo>
                    <a:lnTo>
                      <a:pt x="12" y="8"/>
                    </a:lnTo>
                    <a:lnTo>
                      <a:pt x="12" y="12"/>
                    </a:lnTo>
                    <a:lnTo>
                      <a:pt x="6" y="14"/>
                    </a:lnTo>
                    <a:lnTo>
                      <a:pt x="6" y="16"/>
                    </a:lnTo>
                    <a:lnTo>
                      <a:pt x="6" y="18"/>
                    </a:lnTo>
                    <a:lnTo>
                      <a:pt x="4" y="18"/>
                    </a:lnTo>
                    <a:lnTo>
                      <a:pt x="0" y="18"/>
                    </a:lnTo>
                    <a:lnTo>
                      <a:pt x="0" y="32"/>
                    </a:lnTo>
                    <a:lnTo>
                      <a:pt x="10" y="36"/>
                    </a:lnTo>
                    <a:lnTo>
                      <a:pt x="10" y="38"/>
                    </a:lnTo>
                    <a:lnTo>
                      <a:pt x="10" y="44"/>
                    </a:lnTo>
                    <a:lnTo>
                      <a:pt x="10" y="48"/>
                    </a:lnTo>
                    <a:lnTo>
                      <a:pt x="12" y="50"/>
                    </a:lnTo>
                    <a:lnTo>
                      <a:pt x="12" y="52"/>
                    </a:lnTo>
                    <a:lnTo>
                      <a:pt x="12" y="60"/>
                    </a:lnTo>
                    <a:lnTo>
                      <a:pt x="10" y="66"/>
                    </a:lnTo>
                    <a:lnTo>
                      <a:pt x="12" y="72"/>
                    </a:lnTo>
                    <a:lnTo>
                      <a:pt x="12" y="78"/>
                    </a:lnTo>
                    <a:lnTo>
                      <a:pt x="12" y="82"/>
                    </a:lnTo>
                    <a:lnTo>
                      <a:pt x="10" y="88"/>
                    </a:lnTo>
                    <a:lnTo>
                      <a:pt x="10" y="92"/>
                    </a:lnTo>
                    <a:lnTo>
                      <a:pt x="12" y="98"/>
                    </a:lnTo>
                    <a:lnTo>
                      <a:pt x="12" y="100"/>
                    </a:lnTo>
                    <a:lnTo>
                      <a:pt x="12" y="102"/>
                    </a:lnTo>
                    <a:lnTo>
                      <a:pt x="14" y="108"/>
                    </a:lnTo>
                    <a:lnTo>
                      <a:pt x="14" y="110"/>
                    </a:lnTo>
                    <a:lnTo>
                      <a:pt x="16" y="110"/>
                    </a:lnTo>
                    <a:lnTo>
                      <a:pt x="18" y="104"/>
                    </a:lnTo>
                    <a:lnTo>
                      <a:pt x="26" y="102"/>
                    </a:lnTo>
                    <a:lnTo>
                      <a:pt x="26" y="10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68" name="Freeform 443">
                <a:extLst>
                  <a:ext uri="{FF2B5EF4-FFF2-40B4-BE49-F238E27FC236}">
                    <a16:creationId xmlns:a16="http://schemas.microsoft.com/office/drawing/2014/main" id="{DF47A043-C394-10D7-F211-4581884752DF}"/>
                  </a:ext>
                </a:extLst>
              </p:cNvPr>
              <p:cNvSpPr>
                <a:spLocks/>
              </p:cNvSpPr>
              <p:nvPr/>
            </p:nvSpPr>
            <p:spPr bwMode="auto">
              <a:xfrm>
                <a:off x="3710930" y="3975572"/>
                <a:ext cx="15557" cy="40349"/>
              </a:xfrm>
              <a:custGeom>
                <a:avLst/>
                <a:gdLst/>
                <a:ahLst/>
                <a:cxnLst>
                  <a:cxn ang="0">
                    <a:pos x="4" y="42"/>
                  </a:cxn>
                  <a:cxn ang="0">
                    <a:pos x="4" y="42"/>
                  </a:cxn>
                  <a:cxn ang="0">
                    <a:pos x="12" y="32"/>
                  </a:cxn>
                  <a:cxn ang="0">
                    <a:pos x="14" y="26"/>
                  </a:cxn>
                  <a:cxn ang="0">
                    <a:pos x="14" y="24"/>
                  </a:cxn>
                  <a:cxn ang="0">
                    <a:pos x="12" y="22"/>
                  </a:cxn>
                  <a:cxn ang="0">
                    <a:pos x="16" y="18"/>
                  </a:cxn>
                  <a:cxn ang="0">
                    <a:pos x="16" y="10"/>
                  </a:cxn>
                  <a:cxn ang="0">
                    <a:pos x="16" y="4"/>
                  </a:cxn>
                  <a:cxn ang="0">
                    <a:pos x="12" y="2"/>
                  </a:cxn>
                  <a:cxn ang="0">
                    <a:pos x="8" y="0"/>
                  </a:cxn>
                  <a:cxn ang="0">
                    <a:pos x="8" y="2"/>
                  </a:cxn>
                  <a:cxn ang="0">
                    <a:pos x="6" y="4"/>
                  </a:cxn>
                  <a:cxn ang="0">
                    <a:pos x="0" y="6"/>
                  </a:cxn>
                  <a:cxn ang="0">
                    <a:pos x="0" y="42"/>
                  </a:cxn>
                  <a:cxn ang="0">
                    <a:pos x="4" y="42"/>
                  </a:cxn>
                  <a:cxn ang="0">
                    <a:pos x="4" y="42"/>
                  </a:cxn>
                </a:cxnLst>
                <a:rect l="0" t="0" r="r" b="b"/>
                <a:pathLst>
                  <a:path w="16" h="42">
                    <a:moveTo>
                      <a:pt x="4" y="42"/>
                    </a:moveTo>
                    <a:lnTo>
                      <a:pt x="4" y="42"/>
                    </a:lnTo>
                    <a:lnTo>
                      <a:pt x="12" y="32"/>
                    </a:lnTo>
                    <a:lnTo>
                      <a:pt x="14" y="26"/>
                    </a:lnTo>
                    <a:lnTo>
                      <a:pt x="14" y="24"/>
                    </a:lnTo>
                    <a:lnTo>
                      <a:pt x="12" y="22"/>
                    </a:lnTo>
                    <a:lnTo>
                      <a:pt x="16" y="18"/>
                    </a:lnTo>
                    <a:lnTo>
                      <a:pt x="16" y="10"/>
                    </a:lnTo>
                    <a:lnTo>
                      <a:pt x="16" y="4"/>
                    </a:lnTo>
                    <a:lnTo>
                      <a:pt x="12" y="2"/>
                    </a:lnTo>
                    <a:lnTo>
                      <a:pt x="8" y="0"/>
                    </a:lnTo>
                    <a:lnTo>
                      <a:pt x="8" y="2"/>
                    </a:lnTo>
                    <a:lnTo>
                      <a:pt x="6" y="4"/>
                    </a:lnTo>
                    <a:lnTo>
                      <a:pt x="0" y="6"/>
                    </a:lnTo>
                    <a:lnTo>
                      <a:pt x="0" y="42"/>
                    </a:lnTo>
                    <a:lnTo>
                      <a:pt x="4" y="42"/>
                    </a:lnTo>
                    <a:lnTo>
                      <a:pt x="4" y="4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69" name="Freeform 444">
                <a:extLst>
                  <a:ext uri="{FF2B5EF4-FFF2-40B4-BE49-F238E27FC236}">
                    <a16:creationId xmlns:a16="http://schemas.microsoft.com/office/drawing/2014/main" id="{B9C19633-F7A3-996F-5898-FF67515E02CA}"/>
                  </a:ext>
                </a:extLst>
              </p:cNvPr>
              <p:cNvSpPr>
                <a:spLocks/>
              </p:cNvSpPr>
              <p:nvPr/>
            </p:nvSpPr>
            <p:spPr bwMode="auto">
              <a:xfrm>
                <a:off x="3710930" y="3975572"/>
                <a:ext cx="15557" cy="40349"/>
              </a:xfrm>
              <a:custGeom>
                <a:avLst/>
                <a:gdLst/>
                <a:ahLst/>
                <a:cxnLst>
                  <a:cxn ang="0">
                    <a:pos x="4" y="42"/>
                  </a:cxn>
                  <a:cxn ang="0">
                    <a:pos x="4" y="42"/>
                  </a:cxn>
                  <a:cxn ang="0">
                    <a:pos x="12" y="32"/>
                  </a:cxn>
                  <a:cxn ang="0">
                    <a:pos x="14" y="26"/>
                  </a:cxn>
                  <a:cxn ang="0">
                    <a:pos x="14" y="24"/>
                  </a:cxn>
                  <a:cxn ang="0">
                    <a:pos x="12" y="22"/>
                  </a:cxn>
                  <a:cxn ang="0">
                    <a:pos x="16" y="18"/>
                  </a:cxn>
                  <a:cxn ang="0">
                    <a:pos x="16" y="10"/>
                  </a:cxn>
                  <a:cxn ang="0">
                    <a:pos x="16" y="4"/>
                  </a:cxn>
                  <a:cxn ang="0">
                    <a:pos x="12" y="2"/>
                  </a:cxn>
                  <a:cxn ang="0">
                    <a:pos x="8" y="0"/>
                  </a:cxn>
                  <a:cxn ang="0">
                    <a:pos x="8" y="2"/>
                  </a:cxn>
                  <a:cxn ang="0">
                    <a:pos x="6" y="4"/>
                  </a:cxn>
                  <a:cxn ang="0">
                    <a:pos x="0" y="6"/>
                  </a:cxn>
                  <a:cxn ang="0">
                    <a:pos x="0" y="42"/>
                  </a:cxn>
                  <a:cxn ang="0">
                    <a:pos x="4" y="42"/>
                  </a:cxn>
                  <a:cxn ang="0">
                    <a:pos x="4" y="42"/>
                  </a:cxn>
                </a:cxnLst>
                <a:rect l="0" t="0" r="r" b="b"/>
                <a:pathLst>
                  <a:path w="16" h="42">
                    <a:moveTo>
                      <a:pt x="4" y="42"/>
                    </a:moveTo>
                    <a:lnTo>
                      <a:pt x="4" y="42"/>
                    </a:lnTo>
                    <a:lnTo>
                      <a:pt x="12" y="32"/>
                    </a:lnTo>
                    <a:lnTo>
                      <a:pt x="14" y="26"/>
                    </a:lnTo>
                    <a:lnTo>
                      <a:pt x="14" y="24"/>
                    </a:lnTo>
                    <a:lnTo>
                      <a:pt x="12" y="22"/>
                    </a:lnTo>
                    <a:lnTo>
                      <a:pt x="16" y="18"/>
                    </a:lnTo>
                    <a:lnTo>
                      <a:pt x="16" y="10"/>
                    </a:lnTo>
                    <a:lnTo>
                      <a:pt x="16" y="4"/>
                    </a:lnTo>
                    <a:lnTo>
                      <a:pt x="12" y="2"/>
                    </a:lnTo>
                    <a:lnTo>
                      <a:pt x="8" y="0"/>
                    </a:lnTo>
                    <a:lnTo>
                      <a:pt x="8" y="2"/>
                    </a:lnTo>
                    <a:lnTo>
                      <a:pt x="6" y="4"/>
                    </a:lnTo>
                    <a:lnTo>
                      <a:pt x="0" y="6"/>
                    </a:lnTo>
                    <a:lnTo>
                      <a:pt x="0" y="42"/>
                    </a:lnTo>
                    <a:lnTo>
                      <a:pt x="4" y="42"/>
                    </a:lnTo>
                    <a:lnTo>
                      <a:pt x="4" y="4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70" name="Freeform 445">
                <a:extLst>
                  <a:ext uri="{FF2B5EF4-FFF2-40B4-BE49-F238E27FC236}">
                    <a16:creationId xmlns:a16="http://schemas.microsoft.com/office/drawing/2014/main" id="{185FE9E8-F881-9D77-23B0-D1A1E5DB0D71}"/>
                  </a:ext>
                </a:extLst>
              </p:cNvPr>
              <p:cNvSpPr>
                <a:spLocks/>
              </p:cNvSpPr>
              <p:nvPr/>
            </p:nvSpPr>
            <p:spPr bwMode="auto">
              <a:xfrm>
                <a:off x="4864135" y="3414532"/>
                <a:ext cx="48617" cy="36506"/>
              </a:xfrm>
              <a:custGeom>
                <a:avLst/>
                <a:gdLst/>
                <a:ahLst/>
                <a:cxnLst>
                  <a:cxn ang="0">
                    <a:pos x="14" y="0"/>
                  </a:cxn>
                  <a:cxn ang="0">
                    <a:pos x="14" y="0"/>
                  </a:cxn>
                  <a:cxn ang="0">
                    <a:pos x="10" y="4"/>
                  </a:cxn>
                  <a:cxn ang="0">
                    <a:pos x="0" y="6"/>
                  </a:cxn>
                  <a:cxn ang="0">
                    <a:pos x="4" y="10"/>
                  </a:cxn>
                  <a:cxn ang="0">
                    <a:pos x="6" y="12"/>
                  </a:cxn>
                  <a:cxn ang="0">
                    <a:pos x="8" y="18"/>
                  </a:cxn>
                  <a:cxn ang="0">
                    <a:pos x="10" y="18"/>
                  </a:cxn>
                  <a:cxn ang="0">
                    <a:pos x="12" y="22"/>
                  </a:cxn>
                  <a:cxn ang="0">
                    <a:pos x="14" y="24"/>
                  </a:cxn>
                  <a:cxn ang="0">
                    <a:pos x="16" y="24"/>
                  </a:cxn>
                  <a:cxn ang="0">
                    <a:pos x="18" y="22"/>
                  </a:cxn>
                  <a:cxn ang="0">
                    <a:pos x="18" y="24"/>
                  </a:cxn>
                  <a:cxn ang="0">
                    <a:pos x="20" y="28"/>
                  </a:cxn>
                  <a:cxn ang="0">
                    <a:pos x="24" y="30"/>
                  </a:cxn>
                  <a:cxn ang="0">
                    <a:pos x="28" y="32"/>
                  </a:cxn>
                  <a:cxn ang="0">
                    <a:pos x="30" y="32"/>
                  </a:cxn>
                  <a:cxn ang="0">
                    <a:pos x="32" y="32"/>
                  </a:cxn>
                  <a:cxn ang="0">
                    <a:pos x="34" y="30"/>
                  </a:cxn>
                  <a:cxn ang="0">
                    <a:pos x="34" y="32"/>
                  </a:cxn>
                  <a:cxn ang="0">
                    <a:pos x="34" y="36"/>
                  </a:cxn>
                  <a:cxn ang="0">
                    <a:pos x="36" y="38"/>
                  </a:cxn>
                  <a:cxn ang="0">
                    <a:pos x="40" y="38"/>
                  </a:cxn>
                  <a:cxn ang="0">
                    <a:pos x="46" y="36"/>
                  </a:cxn>
                  <a:cxn ang="0">
                    <a:pos x="46" y="34"/>
                  </a:cxn>
                  <a:cxn ang="0">
                    <a:pos x="46" y="30"/>
                  </a:cxn>
                  <a:cxn ang="0">
                    <a:pos x="48" y="30"/>
                  </a:cxn>
                  <a:cxn ang="0">
                    <a:pos x="50" y="28"/>
                  </a:cxn>
                  <a:cxn ang="0">
                    <a:pos x="50" y="24"/>
                  </a:cxn>
                  <a:cxn ang="0">
                    <a:pos x="50" y="22"/>
                  </a:cxn>
                  <a:cxn ang="0">
                    <a:pos x="48" y="20"/>
                  </a:cxn>
                  <a:cxn ang="0">
                    <a:pos x="48" y="18"/>
                  </a:cxn>
                  <a:cxn ang="0">
                    <a:pos x="48" y="16"/>
                  </a:cxn>
                  <a:cxn ang="0">
                    <a:pos x="50" y="16"/>
                  </a:cxn>
                  <a:cxn ang="0">
                    <a:pos x="46" y="14"/>
                  </a:cxn>
                  <a:cxn ang="0">
                    <a:pos x="44" y="12"/>
                  </a:cxn>
                  <a:cxn ang="0">
                    <a:pos x="42" y="12"/>
                  </a:cxn>
                  <a:cxn ang="0">
                    <a:pos x="40" y="10"/>
                  </a:cxn>
                  <a:cxn ang="0">
                    <a:pos x="38" y="8"/>
                  </a:cxn>
                  <a:cxn ang="0">
                    <a:pos x="38" y="6"/>
                  </a:cxn>
                  <a:cxn ang="0">
                    <a:pos x="36" y="6"/>
                  </a:cxn>
                  <a:cxn ang="0">
                    <a:pos x="32" y="6"/>
                  </a:cxn>
                  <a:cxn ang="0">
                    <a:pos x="28" y="8"/>
                  </a:cxn>
                  <a:cxn ang="0">
                    <a:pos x="26" y="10"/>
                  </a:cxn>
                  <a:cxn ang="0">
                    <a:pos x="24" y="10"/>
                  </a:cxn>
                  <a:cxn ang="0">
                    <a:pos x="20" y="8"/>
                  </a:cxn>
                  <a:cxn ang="0">
                    <a:pos x="16" y="4"/>
                  </a:cxn>
                  <a:cxn ang="0">
                    <a:pos x="14" y="0"/>
                  </a:cxn>
                  <a:cxn ang="0">
                    <a:pos x="14" y="0"/>
                  </a:cxn>
                </a:cxnLst>
                <a:rect l="0" t="0" r="r" b="b"/>
                <a:pathLst>
                  <a:path w="50" h="38">
                    <a:moveTo>
                      <a:pt x="14" y="0"/>
                    </a:moveTo>
                    <a:lnTo>
                      <a:pt x="14" y="0"/>
                    </a:lnTo>
                    <a:lnTo>
                      <a:pt x="10" y="4"/>
                    </a:lnTo>
                    <a:lnTo>
                      <a:pt x="0" y="6"/>
                    </a:lnTo>
                    <a:lnTo>
                      <a:pt x="4" y="10"/>
                    </a:lnTo>
                    <a:lnTo>
                      <a:pt x="6" y="12"/>
                    </a:lnTo>
                    <a:lnTo>
                      <a:pt x="8" y="18"/>
                    </a:lnTo>
                    <a:lnTo>
                      <a:pt x="10" y="18"/>
                    </a:lnTo>
                    <a:lnTo>
                      <a:pt x="12" y="22"/>
                    </a:lnTo>
                    <a:lnTo>
                      <a:pt x="14" y="24"/>
                    </a:lnTo>
                    <a:lnTo>
                      <a:pt x="16" y="24"/>
                    </a:lnTo>
                    <a:lnTo>
                      <a:pt x="18" y="22"/>
                    </a:lnTo>
                    <a:lnTo>
                      <a:pt x="18" y="24"/>
                    </a:lnTo>
                    <a:lnTo>
                      <a:pt x="20" y="28"/>
                    </a:lnTo>
                    <a:lnTo>
                      <a:pt x="24" y="30"/>
                    </a:lnTo>
                    <a:lnTo>
                      <a:pt x="28" y="32"/>
                    </a:lnTo>
                    <a:lnTo>
                      <a:pt x="30" y="32"/>
                    </a:lnTo>
                    <a:lnTo>
                      <a:pt x="32" y="32"/>
                    </a:lnTo>
                    <a:lnTo>
                      <a:pt x="34" y="30"/>
                    </a:lnTo>
                    <a:lnTo>
                      <a:pt x="34" y="32"/>
                    </a:lnTo>
                    <a:lnTo>
                      <a:pt x="34" y="36"/>
                    </a:lnTo>
                    <a:lnTo>
                      <a:pt x="36" y="38"/>
                    </a:lnTo>
                    <a:lnTo>
                      <a:pt x="40" y="38"/>
                    </a:lnTo>
                    <a:lnTo>
                      <a:pt x="46" y="36"/>
                    </a:lnTo>
                    <a:lnTo>
                      <a:pt x="46" y="34"/>
                    </a:lnTo>
                    <a:lnTo>
                      <a:pt x="46" y="30"/>
                    </a:lnTo>
                    <a:lnTo>
                      <a:pt x="48" y="30"/>
                    </a:lnTo>
                    <a:lnTo>
                      <a:pt x="50" y="28"/>
                    </a:lnTo>
                    <a:lnTo>
                      <a:pt x="50" y="24"/>
                    </a:lnTo>
                    <a:lnTo>
                      <a:pt x="50" y="22"/>
                    </a:lnTo>
                    <a:lnTo>
                      <a:pt x="48" y="20"/>
                    </a:lnTo>
                    <a:lnTo>
                      <a:pt x="48" y="18"/>
                    </a:lnTo>
                    <a:lnTo>
                      <a:pt x="48" y="16"/>
                    </a:lnTo>
                    <a:lnTo>
                      <a:pt x="50" y="16"/>
                    </a:lnTo>
                    <a:lnTo>
                      <a:pt x="46" y="14"/>
                    </a:lnTo>
                    <a:lnTo>
                      <a:pt x="44" y="12"/>
                    </a:lnTo>
                    <a:lnTo>
                      <a:pt x="42" y="12"/>
                    </a:lnTo>
                    <a:lnTo>
                      <a:pt x="40" y="10"/>
                    </a:lnTo>
                    <a:lnTo>
                      <a:pt x="38" y="8"/>
                    </a:lnTo>
                    <a:lnTo>
                      <a:pt x="38" y="6"/>
                    </a:lnTo>
                    <a:lnTo>
                      <a:pt x="36" y="6"/>
                    </a:lnTo>
                    <a:lnTo>
                      <a:pt x="32" y="6"/>
                    </a:lnTo>
                    <a:lnTo>
                      <a:pt x="28" y="8"/>
                    </a:lnTo>
                    <a:lnTo>
                      <a:pt x="26" y="10"/>
                    </a:lnTo>
                    <a:lnTo>
                      <a:pt x="24" y="10"/>
                    </a:lnTo>
                    <a:lnTo>
                      <a:pt x="20" y="8"/>
                    </a:lnTo>
                    <a:lnTo>
                      <a:pt x="16" y="4"/>
                    </a:lnTo>
                    <a:lnTo>
                      <a:pt x="14" y="0"/>
                    </a:lnTo>
                    <a:lnTo>
                      <a:pt x="14"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71" name="Freeform 446">
                <a:extLst>
                  <a:ext uri="{FF2B5EF4-FFF2-40B4-BE49-F238E27FC236}">
                    <a16:creationId xmlns:a16="http://schemas.microsoft.com/office/drawing/2014/main" id="{802F6D96-ED88-B0A9-E89A-7495592CDB5D}"/>
                  </a:ext>
                </a:extLst>
              </p:cNvPr>
              <p:cNvSpPr>
                <a:spLocks/>
              </p:cNvSpPr>
              <p:nvPr/>
            </p:nvSpPr>
            <p:spPr bwMode="auto">
              <a:xfrm>
                <a:off x="4864135" y="3414532"/>
                <a:ext cx="48617" cy="36506"/>
              </a:xfrm>
              <a:custGeom>
                <a:avLst/>
                <a:gdLst/>
                <a:ahLst/>
                <a:cxnLst>
                  <a:cxn ang="0">
                    <a:pos x="14" y="0"/>
                  </a:cxn>
                  <a:cxn ang="0">
                    <a:pos x="14" y="0"/>
                  </a:cxn>
                  <a:cxn ang="0">
                    <a:pos x="10" y="4"/>
                  </a:cxn>
                  <a:cxn ang="0">
                    <a:pos x="0" y="6"/>
                  </a:cxn>
                  <a:cxn ang="0">
                    <a:pos x="4" y="10"/>
                  </a:cxn>
                  <a:cxn ang="0">
                    <a:pos x="6" y="12"/>
                  </a:cxn>
                  <a:cxn ang="0">
                    <a:pos x="8" y="18"/>
                  </a:cxn>
                  <a:cxn ang="0">
                    <a:pos x="10" y="18"/>
                  </a:cxn>
                  <a:cxn ang="0">
                    <a:pos x="12" y="22"/>
                  </a:cxn>
                  <a:cxn ang="0">
                    <a:pos x="14" y="24"/>
                  </a:cxn>
                  <a:cxn ang="0">
                    <a:pos x="16" y="24"/>
                  </a:cxn>
                  <a:cxn ang="0">
                    <a:pos x="18" y="22"/>
                  </a:cxn>
                  <a:cxn ang="0">
                    <a:pos x="18" y="24"/>
                  </a:cxn>
                  <a:cxn ang="0">
                    <a:pos x="20" y="28"/>
                  </a:cxn>
                  <a:cxn ang="0">
                    <a:pos x="24" y="30"/>
                  </a:cxn>
                  <a:cxn ang="0">
                    <a:pos x="28" y="32"/>
                  </a:cxn>
                  <a:cxn ang="0">
                    <a:pos x="30" y="32"/>
                  </a:cxn>
                  <a:cxn ang="0">
                    <a:pos x="32" y="32"/>
                  </a:cxn>
                  <a:cxn ang="0">
                    <a:pos x="34" y="30"/>
                  </a:cxn>
                  <a:cxn ang="0">
                    <a:pos x="34" y="32"/>
                  </a:cxn>
                  <a:cxn ang="0">
                    <a:pos x="34" y="36"/>
                  </a:cxn>
                  <a:cxn ang="0">
                    <a:pos x="36" y="38"/>
                  </a:cxn>
                  <a:cxn ang="0">
                    <a:pos x="40" y="38"/>
                  </a:cxn>
                  <a:cxn ang="0">
                    <a:pos x="46" y="36"/>
                  </a:cxn>
                  <a:cxn ang="0">
                    <a:pos x="46" y="34"/>
                  </a:cxn>
                  <a:cxn ang="0">
                    <a:pos x="46" y="30"/>
                  </a:cxn>
                  <a:cxn ang="0">
                    <a:pos x="48" y="30"/>
                  </a:cxn>
                  <a:cxn ang="0">
                    <a:pos x="50" y="28"/>
                  </a:cxn>
                  <a:cxn ang="0">
                    <a:pos x="50" y="24"/>
                  </a:cxn>
                  <a:cxn ang="0">
                    <a:pos x="50" y="22"/>
                  </a:cxn>
                  <a:cxn ang="0">
                    <a:pos x="48" y="20"/>
                  </a:cxn>
                  <a:cxn ang="0">
                    <a:pos x="48" y="18"/>
                  </a:cxn>
                  <a:cxn ang="0">
                    <a:pos x="48" y="16"/>
                  </a:cxn>
                  <a:cxn ang="0">
                    <a:pos x="50" y="16"/>
                  </a:cxn>
                  <a:cxn ang="0">
                    <a:pos x="46" y="14"/>
                  </a:cxn>
                  <a:cxn ang="0">
                    <a:pos x="44" y="12"/>
                  </a:cxn>
                  <a:cxn ang="0">
                    <a:pos x="42" y="12"/>
                  </a:cxn>
                  <a:cxn ang="0">
                    <a:pos x="40" y="10"/>
                  </a:cxn>
                  <a:cxn ang="0">
                    <a:pos x="38" y="8"/>
                  </a:cxn>
                  <a:cxn ang="0">
                    <a:pos x="38" y="6"/>
                  </a:cxn>
                  <a:cxn ang="0">
                    <a:pos x="36" y="6"/>
                  </a:cxn>
                  <a:cxn ang="0">
                    <a:pos x="32" y="6"/>
                  </a:cxn>
                  <a:cxn ang="0">
                    <a:pos x="28" y="8"/>
                  </a:cxn>
                  <a:cxn ang="0">
                    <a:pos x="26" y="10"/>
                  </a:cxn>
                  <a:cxn ang="0">
                    <a:pos x="24" y="10"/>
                  </a:cxn>
                  <a:cxn ang="0">
                    <a:pos x="20" y="8"/>
                  </a:cxn>
                  <a:cxn ang="0">
                    <a:pos x="16" y="4"/>
                  </a:cxn>
                  <a:cxn ang="0">
                    <a:pos x="14" y="0"/>
                  </a:cxn>
                  <a:cxn ang="0">
                    <a:pos x="14" y="0"/>
                  </a:cxn>
                </a:cxnLst>
                <a:rect l="0" t="0" r="r" b="b"/>
                <a:pathLst>
                  <a:path w="50" h="38">
                    <a:moveTo>
                      <a:pt x="14" y="0"/>
                    </a:moveTo>
                    <a:lnTo>
                      <a:pt x="14" y="0"/>
                    </a:lnTo>
                    <a:lnTo>
                      <a:pt x="10" y="4"/>
                    </a:lnTo>
                    <a:lnTo>
                      <a:pt x="0" y="6"/>
                    </a:lnTo>
                    <a:lnTo>
                      <a:pt x="4" y="10"/>
                    </a:lnTo>
                    <a:lnTo>
                      <a:pt x="6" y="12"/>
                    </a:lnTo>
                    <a:lnTo>
                      <a:pt x="8" y="18"/>
                    </a:lnTo>
                    <a:lnTo>
                      <a:pt x="10" y="18"/>
                    </a:lnTo>
                    <a:lnTo>
                      <a:pt x="12" y="22"/>
                    </a:lnTo>
                    <a:lnTo>
                      <a:pt x="14" y="24"/>
                    </a:lnTo>
                    <a:lnTo>
                      <a:pt x="16" y="24"/>
                    </a:lnTo>
                    <a:lnTo>
                      <a:pt x="18" y="22"/>
                    </a:lnTo>
                    <a:lnTo>
                      <a:pt x="18" y="24"/>
                    </a:lnTo>
                    <a:lnTo>
                      <a:pt x="20" y="28"/>
                    </a:lnTo>
                    <a:lnTo>
                      <a:pt x="24" y="30"/>
                    </a:lnTo>
                    <a:lnTo>
                      <a:pt x="28" y="32"/>
                    </a:lnTo>
                    <a:lnTo>
                      <a:pt x="30" y="32"/>
                    </a:lnTo>
                    <a:lnTo>
                      <a:pt x="32" y="32"/>
                    </a:lnTo>
                    <a:lnTo>
                      <a:pt x="34" y="30"/>
                    </a:lnTo>
                    <a:lnTo>
                      <a:pt x="34" y="32"/>
                    </a:lnTo>
                    <a:lnTo>
                      <a:pt x="34" y="36"/>
                    </a:lnTo>
                    <a:lnTo>
                      <a:pt x="36" y="38"/>
                    </a:lnTo>
                    <a:lnTo>
                      <a:pt x="40" y="38"/>
                    </a:lnTo>
                    <a:lnTo>
                      <a:pt x="46" y="36"/>
                    </a:lnTo>
                    <a:lnTo>
                      <a:pt x="46" y="34"/>
                    </a:lnTo>
                    <a:lnTo>
                      <a:pt x="46" y="30"/>
                    </a:lnTo>
                    <a:lnTo>
                      <a:pt x="48" y="30"/>
                    </a:lnTo>
                    <a:lnTo>
                      <a:pt x="50" y="28"/>
                    </a:lnTo>
                    <a:lnTo>
                      <a:pt x="50" y="24"/>
                    </a:lnTo>
                    <a:lnTo>
                      <a:pt x="50" y="22"/>
                    </a:lnTo>
                    <a:lnTo>
                      <a:pt x="48" y="20"/>
                    </a:lnTo>
                    <a:lnTo>
                      <a:pt x="48" y="18"/>
                    </a:lnTo>
                    <a:lnTo>
                      <a:pt x="48" y="16"/>
                    </a:lnTo>
                    <a:lnTo>
                      <a:pt x="50" y="16"/>
                    </a:lnTo>
                    <a:lnTo>
                      <a:pt x="46" y="14"/>
                    </a:lnTo>
                    <a:lnTo>
                      <a:pt x="44" y="12"/>
                    </a:lnTo>
                    <a:lnTo>
                      <a:pt x="42" y="12"/>
                    </a:lnTo>
                    <a:lnTo>
                      <a:pt x="40" y="10"/>
                    </a:lnTo>
                    <a:lnTo>
                      <a:pt x="38" y="8"/>
                    </a:lnTo>
                    <a:lnTo>
                      <a:pt x="38" y="6"/>
                    </a:lnTo>
                    <a:lnTo>
                      <a:pt x="36" y="6"/>
                    </a:lnTo>
                    <a:lnTo>
                      <a:pt x="32" y="6"/>
                    </a:lnTo>
                    <a:lnTo>
                      <a:pt x="28" y="8"/>
                    </a:lnTo>
                    <a:lnTo>
                      <a:pt x="26" y="10"/>
                    </a:lnTo>
                    <a:lnTo>
                      <a:pt x="24" y="10"/>
                    </a:lnTo>
                    <a:lnTo>
                      <a:pt x="20" y="8"/>
                    </a:lnTo>
                    <a:lnTo>
                      <a:pt x="16" y="4"/>
                    </a:lnTo>
                    <a:lnTo>
                      <a:pt x="14" y="0"/>
                    </a:lnTo>
                    <a:lnTo>
                      <a:pt x="14"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72" name="Freeform 447">
                <a:extLst>
                  <a:ext uri="{FF2B5EF4-FFF2-40B4-BE49-F238E27FC236}">
                    <a16:creationId xmlns:a16="http://schemas.microsoft.com/office/drawing/2014/main" id="{6A44551F-0D5A-0244-462B-355592BF3E3A}"/>
                  </a:ext>
                </a:extLst>
              </p:cNvPr>
              <p:cNvSpPr>
                <a:spLocks/>
              </p:cNvSpPr>
              <p:nvPr/>
            </p:nvSpPr>
            <p:spPr bwMode="auto">
              <a:xfrm>
                <a:off x="5146115" y="3324228"/>
                <a:ext cx="95290" cy="86462"/>
              </a:xfrm>
              <a:custGeom>
                <a:avLst/>
                <a:gdLst/>
                <a:ahLst/>
                <a:cxnLst>
                  <a:cxn ang="0">
                    <a:pos x="28" y="18"/>
                  </a:cxn>
                  <a:cxn ang="0">
                    <a:pos x="34" y="12"/>
                  </a:cxn>
                  <a:cxn ang="0">
                    <a:pos x="42" y="14"/>
                  </a:cxn>
                  <a:cxn ang="0">
                    <a:pos x="44" y="2"/>
                  </a:cxn>
                  <a:cxn ang="0">
                    <a:pos x="50" y="2"/>
                  </a:cxn>
                  <a:cxn ang="0">
                    <a:pos x="56" y="0"/>
                  </a:cxn>
                  <a:cxn ang="0">
                    <a:pos x="56" y="4"/>
                  </a:cxn>
                  <a:cxn ang="0">
                    <a:pos x="62" y="2"/>
                  </a:cxn>
                  <a:cxn ang="0">
                    <a:pos x="70" y="4"/>
                  </a:cxn>
                  <a:cxn ang="0">
                    <a:pos x="76" y="6"/>
                  </a:cxn>
                  <a:cxn ang="0">
                    <a:pos x="78" y="10"/>
                  </a:cxn>
                  <a:cxn ang="0">
                    <a:pos x="82" y="12"/>
                  </a:cxn>
                  <a:cxn ang="0">
                    <a:pos x="84" y="20"/>
                  </a:cxn>
                  <a:cxn ang="0">
                    <a:pos x="86" y="32"/>
                  </a:cxn>
                  <a:cxn ang="0">
                    <a:pos x="88" y="36"/>
                  </a:cxn>
                  <a:cxn ang="0">
                    <a:pos x="96" y="44"/>
                  </a:cxn>
                  <a:cxn ang="0">
                    <a:pos x="98" y="52"/>
                  </a:cxn>
                  <a:cxn ang="0">
                    <a:pos x="94" y="54"/>
                  </a:cxn>
                  <a:cxn ang="0">
                    <a:pos x="88" y="52"/>
                  </a:cxn>
                  <a:cxn ang="0">
                    <a:pos x="86" y="58"/>
                  </a:cxn>
                  <a:cxn ang="0">
                    <a:pos x="90" y="60"/>
                  </a:cxn>
                  <a:cxn ang="0">
                    <a:pos x="92" y="78"/>
                  </a:cxn>
                  <a:cxn ang="0">
                    <a:pos x="84" y="80"/>
                  </a:cxn>
                  <a:cxn ang="0">
                    <a:pos x="82" y="88"/>
                  </a:cxn>
                  <a:cxn ang="0">
                    <a:pos x="74" y="88"/>
                  </a:cxn>
                  <a:cxn ang="0">
                    <a:pos x="64" y="86"/>
                  </a:cxn>
                  <a:cxn ang="0">
                    <a:pos x="60" y="88"/>
                  </a:cxn>
                  <a:cxn ang="0">
                    <a:pos x="56" y="86"/>
                  </a:cxn>
                  <a:cxn ang="0">
                    <a:pos x="52" y="86"/>
                  </a:cxn>
                  <a:cxn ang="0">
                    <a:pos x="44" y="88"/>
                  </a:cxn>
                  <a:cxn ang="0">
                    <a:pos x="24" y="84"/>
                  </a:cxn>
                  <a:cxn ang="0">
                    <a:pos x="12" y="88"/>
                  </a:cxn>
                  <a:cxn ang="0">
                    <a:pos x="8" y="88"/>
                  </a:cxn>
                  <a:cxn ang="0">
                    <a:pos x="4" y="84"/>
                  </a:cxn>
                  <a:cxn ang="0">
                    <a:pos x="0" y="76"/>
                  </a:cxn>
                  <a:cxn ang="0">
                    <a:pos x="4" y="66"/>
                  </a:cxn>
                  <a:cxn ang="0">
                    <a:pos x="2" y="60"/>
                  </a:cxn>
                  <a:cxn ang="0">
                    <a:pos x="0" y="52"/>
                  </a:cxn>
                  <a:cxn ang="0">
                    <a:pos x="14" y="50"/>
                  </a:cxn>
                  <a:cxn ang="0">
                    <a:pos x="16" y="46"/>
                  </a:cxn>
                  <a:cxn ang="0">
                    <a:pos x="22" y="36"/>
                  </a:cxn>
                  <a:cxn ang="0">
                    <a:pos x="26" y="26"/>
                  </a:cxn>
                  <a:cxn ang="0">
                    <a:pos x="30" y="22"/>
                  </a:cxn>
                  <a:cxn ang="0">
                    <a:pos x="28" y="18"/>
                  </a:cxn>
                </a:cxnLst>
                <a:rect l="0" t="0" r="r" b="b"/>
                <a:pathLst>
                  <a:path w="98" h="90">
                    <a:moveTo>
                      <a:pt x="28" y="18"/>
                    </a:moveTo>
                    <a:lnTo>
                      <a:pt x="28" y="18"/>
                    </a:lnTo>
                    <a:lnTo>
                      <a:pt x="32" y="14"/>
                    </a:lnTo>
                    <a:lnTo>
                      <a:pt x="34" y="12"/>
                    </a:lnTo>
                    <a:lnTo>
                      <a:pt x="38" y="12"/>
                    </a:lnTo>
                    <a:lnTo>
                      <a:pt x="42" y="14"/>
                    </a:lnTo>
                    <a:lnTo>
                      <a:pt x="44" y="8"/>
                    </a:lnTo>
                    <a:lnTo>
                      <a:pt x="44" y="2"/>
                    </a:lnTo>
                    <a:lnTo>
                      <a:pt x="46" y="0"/>
                    </a:lnTo>
                    <a:lnTo>
                      <a:pt x="50" y="2"/>
                    </a:lnTo>
                    <a:lnTo>
                      <a:pt x="52" y="2"/>
                    </a:lnTo>
                    <a:lnTo>
                      <a:pt x="56" y="0"/>
                    </a:lnTo>
                    <a:lnTo>
                      <a:pt x="56" y="2"/>
                    </a:lnTo>
                    <a:lnTo>
                      <a:pt x="56" y="4"/>
                    </a:lnTo>
                    <a:lnTo>
                      <a:pt x="58" y="4"/>
                    </a:lnTo>
                    <a:lnTo>
                      <a:pt x="62" y="2"/>
                    </a:lnTo>
                    <a:lnTo>
                      <a:pt x="64" y="2"/>
                    </a:lnTo>
                    <a:lnTo>
                      <a:pt x="70" y="4"/>
                    </a:lnTo>
                    <a:lnTo>
                      <a:pt x="74" y="6"/>
                    </a:lnTo>
                    <a:lnTo>
                      <a:pt x="76" y="6"/>
                    </a:lnTo>
                    <a:lnTo>
                      <a:pt x="78" y="8"/>
                    </a:lnTo>
                    <a:lnTo>
                      <a:pt x="78" y="10"/>
                    </a:lnTo>
                    <a:lnTo>
                      <a:pt x="80" y="12"/>
                    </a:lnTo>
                    <a:lnTo>
                      <a:pt x="82" y="12"/>
                    </a:lnTo>
                    <a:lnTo>
                      <a:pt x="82" y="16"/>
                    </a:lnTo>
                    <a:lnTo>
                      <a:pt x="84" y="20"/>
                    </a:lnTo>
                    <a:lnTo>
                      <a:pt x="86" y="26"/>
                    </a:lnTo>
                    <a:lnTo>
                      <a:pt x="86" y="32"/>
                    </a:lnTo>
                    <a:lnTo>
                      <a:pt x="86" y="36"/>
                    </a:lnTo>
                    <a:lnTo>
                      <a:pt x="88" y="36"/>
                    </a:lnTo>
                    <a:lnTo>
                      <a:pt x="92" y="40"/>
                    </a:lnTo>
                    <a:lnTo>
                      <a:pt x="96" y="44"/>
                    </a:lnTo>
                    <a:lnTo>
                      <a:pt x="98" y="50"/>
                    </a:lnTo>
                    <a:lnTo>
                      <a:pt x="98" y="52"/>
                    </a:lnTo>
                    <a:lnTo>
                      <a:pt x="96" y="54"/>
                    </a:lnTo>
                    <a:lnTo>
                      <a:pt x="94" y="54"/>
                    </a:lnTo>
                    <a:lnTo>
                      <a:pt x="90" y="52"/>
                    </a:lnTo>
                    <a:lnTo>
                      <a:pt x="88" y="52"/>
                    </a:lnTo>
                    <a:lnTo>
                      <a:pt x="86" y="54"/>
                    </a:lnTo>
                    <a:lnTo>
                      <a:pt x="86" y="58"/>
                    </a:lnTo>
                    <a:lnTo>
                      <a:pt x="88" y="58"/>
                    </a:lnTo>
                    <a:lnTo>
                      <a:pt x="90" y="60"/>
                    </a:lnTo>
                    <a:lnTo>
                      <a:pt x="92" y="62"/>
                    </a:lnTo>
                    <a:lnTo>
                      <a:pt x="92" y="78"/>
                    </a:lnTo>
                    <a:lnTo>
                      <a:pt x="86" y="78"/>
                    </a:lnTo>
                    <a:lnTo>
                      <a:pt x="84" y="80"/>
                    </a:lnTo>
                    <a:lnTo>
                      <a:pt x="84" y="84"/>
                    </a:lnTo>
                    <a:lnTo>
                      <a:pt x="82" y="88"/>
                    </a:lnTo>
                    <a:lnTo>
                      <a:pt x="80" y="88"/>
                    </a:lnTo>
                    <a:lnTo>
                      <a:pt x="74" y="88"/>
                    </a:lnTo>
                    <a:lnTo>
                      <a:pt x="68" y="88"/>
                    </a:lnTo>
                    <a:lnTo>
                      <a:pt x="64" y="86"/>
                    </a:lnTo>
                    <a:lnTo>
                      <a:pt x="62" y="88"/>
                    </a:lnTo>
                    <a:lnTo>
                      <a:pt x="60" y="88"/>
                    </a:lnTo>
                    <a:lnTo>
                      <a:pt x="58" y="88"/>
                    </a:lnTo>
                    <a:lnTo>
                      <a:pt x="56" y="86"/>
                    </a:lnTo>
                    <a:lnTo>
                      <a:pt x="56" y="90"/>
                    </a:lnTo>
                    <a:lnTo>
                      <a:pt x="52" y="86"/>
                    </a:lnTo>
                    <a:lnTo>
                      <a:pt x="50" y="86"/>
                    </a:lnTo>
                    <a:lnTo>
                      <a:pt x="44" y="88"/>
                    </a:lnTo>
                    <a:lnTo>
                      <a:pt x="38" y="86"/>
                    </a:lnTo>
                    <a:lnTo>
                      <a:pt x="24" y="84"/>
                    </a:lnTo>
                    <a:lnTo>
                      <a:pt x="14" y="84"/>
                    </a:lnTo>
                    <a:lnTo>
                      <a:pt x="12" y="88"/>
                    </a:lnTo>
                    <a:lnTo>
                      <a:pt x="10" y="90"/>
                    </a:lnTo>
                    <a:lnTo>
                      <a:pt x="8" y="88"/>
                    </a:lnTo>
                    <a:lnTo>
                      <a:pt x="6" y="84"/>
                    </a:lnTo>
                    <a:lnTo>
                      <a:pt x="4" y="84"/>
                    </a:lnTo>
                    <a:lnTo>
                      <a:pt x="2" y="86"/>
                    </a:lnTo>
                    <a:lnTo>
                      <a:pt x="0" y="76"/>
                    </a:lnTo>
                    <a:lnTo>
                      <a:pt x="4" y="70"/>
                    </a:lnTo>
                    <a:lnTo>
                      <a:pt x="4" y="66"/>
                    </a:lnTo>
                    <a:lnTo>
                      <a:pt x="4" y="64"/>
                    </a:lnTo>
                    <a:lnTo>
                      <a:pt x="2" y="60"/>
                    </a:lnTo>
                    <a:lnTo>
                      <a:pt x="0" y="56"/>
                    </a:lnTo>
                    <a:lnTo>
                      <a:pt x="0" y="52"/>
                    </a:lnTo>
                    <a:lnTo>
                      <a:pt x="6" y="50"/>
                    </a:lnTo>
                    <a:lnTo>
                      <a:pt x="14" y="50"/>
                    </a:lnTo>
                    <a:lnTo>
                      <a:pt x="16" y="48"/>
                    </a:lnTo>
                    <a:lnTo>
                      <a:pt x="16" y="46"/>
                    </a:lnTo>
                    <a:lnTo>
                      <a:pt x="22" y="44"/>
                    </a:lnTo>
                    <a:lnTo>
                      <a:pt x="22" y="36"/>
                    </a:lnTo>
                    <a:lnTo>
                      <a:pt x="22" y="32"/>
                    </a:lnTo>
                    <a:lnTo>
                      <a:pt x="26" y="26"/>
                    </a:lnTo>
                    <a:lnTo>
                      <a:pt x="28" y="24"/>
                    </a:lnTo>
                    <a:lnTo>
                      <a:pt x="30" y="22"/>
                    </a:lnTo>
                    <a:lnTo>
                      <a:pt x="28" y="18"/>
                    </a:lnTo>
                    <a:lnTo>
                      <a:pt x="28" y="1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73" name="Freeform 448">
                <a:extLst>
                  <a:ext uri="{FF2B5EF4-FFF2-40B4-BE49-F238E27FC236}">
                    <a16:creationId xmlns:a16="http://schemas.microsoft.com/office/drawing/2014/main" id="{5109F975-C239-0D60-0BF1-893BA66070A8}"/>
                  </a:ext>
                </a:extLst>
              </p:cNvPr>
              <p:cNvSpPr>
                <a:spLocks noEditPoints="1"/>
              </p:cNvSpPr>
              <p:nvPr/>
            </p:nvSpPr>
            <p:spPr bwMode="auto">
              <a:xfrm>
                <a:off x="5406705" y="3589377"/>
                <a:ext cx="62230" cy="57641"/>
              </a:xfrm>
              <a:custGeom>
                <a:avLst/>
                <a:gdLst/>
                <a:ahLst/>
                <a:cxnLst>
                  <a:cxn ang="0">
                    <a:pos x="48" y="8"/>
                  </a:cxn>
                  <a:cxn ang="0">
                    <a:pos x="40" y="18"/>
                  </a:cxn>
                  <a:cxn ang="0">
                    <a:pos x="36" y="12"/>
                  </a:cxn>
                  <a:cxn ang="0">
                    <a:pos x="30" y="6"/>
                  </a:cxn>
                  <a:cxn ang="0">
                    <a:pos x="24" y="2"/>
                  </a:cxn>
                  <a:cxn ang="0">
                    <a:pos x="22" y="6"/>
                  </a:cxn>
                  <a:cxn ang="0">
                    <a:pos x="24" y="12"/>
                  </a:cxn>
                  <a:cxn ang="0">
                    <a:pos x="20" y="12"/>
                  </a:cxn>
                  <a:cxn ang="0">
                    <a:pos x="16" y="6"/>
                  </a:cxn>
                  <a:cxn ang="0">
                    <a:pos x="8" y="4"/>
                  </a:cxn>
                  <a:cxn ang="0">
                    <a:pos x="4" y="10"/>
                  </a:cxn>
                  <a:cxn ang="0">
                    <a:pos x="2" y="16"/>
                  </a:cxn>
                  <a:cxn ang="0">
                    <a:pos x="6" y="18"/>
                  </a:cxn>
                  <a:cxn ang="0">
                    <a:pos x="8" y="16"/>
                  </a:cxn>
                  <a:cxn ang="0">
                    <a:pos x="12" y="20"/>
                  </a:cxn>
                  <a:cxn ang="0">
                    <a:pos x="12" y="24"/>
                  </a:cxn>
                  <a:cxn ang="0">
                    <a:pos x="16" y="30"/>
                  </a:cxn>
                  <a:cxn ang="0">
                    <a:pos x="16" y="34"/>
                  </a:cxn>
                  <a:cxn ang="0">
                    <a:pos x="20" y="40"/>
                  </a:cxn>
                  <a:cxn ang="0">
                    <a:pos x="24" y="46"/>
                  </a:cxn>
                  <a:cxn ang="0">
                    <a:pos x="26" y="46"/>
                  </a:cxn>
                  <a:cxn ang="0">
                    <a:pos x="32" y="42"/>
                  </a:cxn>
                  <a:cxn ang="0">
                    <a:pos x="38" y="44"/>
                  </a:cxn>
                  <a:cxn ang="0">
                    <a:pos x="36" y="48"/>
                  </a:cxn>
                  <a:cxn ang="0">
                    <a:pos x="36" y="52"/>
                  </a:cxn>
                  <a:cxn ang="0">
                    <a:pos x="40" y="56"/>
                  </a:cxn>
                  <a:cxn ang="0">
                    <a:pos x="44" y="52"/>
                  </a:cxn>
                  <a:cxn ang="0">
                    <a:pos x="50" y="46"/>
                  </a:cxn>
                  <a:cxn ang="0">
                    <a:pos x="52" y="38"/>
                  </a:cxn>
                  <a:cxn ang="0">
                    <a:pos x="52" y="30"/>
                  </a:cxn>
                  <a:cxn ang="0">
                    <a:pos x="56" y="28"/>
                  </a:cxn>
                  <a:cxn ang="0">
                    <a:pos x="62" y="22"/>
                  </a:cxn>
                  <a:cxn ang="0">
                    <a:pos x="54" y="20"/>
                  </a:cxn>
                  <a:cxn ang="0">
                    <a:pos x="48" y="8"/>
                  </a:cxn>
                  <a:cxn ang="0">
                    <a:pos x="0" y="42"/>
                  </a:cxn>
                  <a:cxn ang="0">
                    <a:pos x="0" y="44"/>
                  </a:cxn>
                  <a:cxn ang="0">
                    <a:pos x="4" y="50"/>
                  </a:cxn>
                  <a:cxn ang="0">
                    <a:pos x="10" y="54"/>
                  </a:cxn>
                  <a:cxn ang="0">
                    <a:pos x="18" y="54"/>
                  </a:cxn>
                  <a:cxn ang="0">
                    <a:pos x="14" y="48"/>
                  </a:cxn>
                  <a:cxn ang="0">
                    <a:pos x="8" y="42"/>
                  </a:cxn>
                  <a:cxn ang="0">
                    <a:pos x="0" y="42"/>
                  </a:cxn>
                </a:cxnLst>
                <a:rect l="0" t="0" r="r" b="b"/>
                <a:pathLst>
                  <a:path w="64" h="60">
                    <a:moveTo>
                      <a:pt x="48" y="8"/>
                    </a:moveTo>
                    <a:lnTo>
                      <a:pt x="48" y="8"/>
                    </a:lnTo>
                    <a:lnTo>
                      <a:pt x="46" y="14"/>
                    </a:lnTo>
                    <a:lnTo>
                      <a:pt x="40" y="18"/>
                    </a:lnTo>
                    <a:lnTo>
                      <a:pt x="38" y="16"/>
                    </a:lnTo>
                    <a:lnTo>
                      <a:pt x="36" y="12"/>
                    </a:lnTo>
                    <a:lnTo>
                      <a:pt x="34" y="8"/>
                    </a:lnTo>
                    <a:lnTo>
                      <a:pt x="30" y="6"/>
                    </a:lnTo>
                    <a:lnTo>
                      <a:pt x="24" y="0"/>
                    </a:lnTo>
                    <a:lnTo>
                      <a:pt x="24" y="2"/>
                    </a:lnTo>
                    <a:lnTo>
                      <a:pt x="22" y="4"/>
                    </a:lnTo>
                    <a:lnTo>
                      <a:pt x="22" y="6"/>
                    </a:lnTo>
                    <a:lnTo>
                      <a:pt x="24" y="8"/>
                    </a:lnTo>
                    <a:lnTo>
                      <a:pt x="24" y="12"/>
                    </a:lnTo>
                    <a:lnTo>
                      <a:pt x="22" y="12"/>
                    </a:lnTo>
                    <a:lnTo>
                      <a:pt x="20" y="12"/>
                    </a:lnTo>
                    <a:lnTo>
                      <a:pt x="18" y="8"/>
                    </a:lnTo>
                    <a:lnTo>
                      <a:pt x="16" y="6"/>
                    </a:lnTo>
                    <a:lnTo>
                      <a:pt x="12" y="4"/>
                    </a:lnTo>
                    <a:lnTo>
                      <a:pt x="8" y="4"/>
                    </a:lnTo>
                    <a:lnTo>
                      <a:pt x="6" y="6"/>
                    </a:lnTo>
                    <a:lnTo>
                      <a:pt x="4" y="10"/>
                    </a:lnTo>
                    <a:lnTo>
                      <a:pt x="2" y="12"/>
                    </a:lnTo>
                    <a:lnTo>
                      <a:pt x="2" y="16"/>
                    </a:lnTo>
                    <a:lnTo>
                      <a:pt x="4" y="18"/>
                    </a:lnTo>
                    <a:lnTo>
                      <a:pt x="6" y="18"/>
                    </a:lnTo>
                    <a:lnTo>
                      <a:pt x="6" y="16"/>
                    </a:lnTo>
                    <a:lnTo>
                      <a:pt x="8" y="16"/>
                    </a:lnTo>
                    <a:lnTo>
                      <a:pt x="8" y="18"/>
                    </a:lnTo>
                    <a:lnTo>
                      <a:pt x="12" y="20"/>
                    </a:lnTo>
                    <a:lnTo>
                      <a:pt x="12" y="22"/>
                    </a:lnTo>
                    <a:lnTo>
                      <a:pt x="12" y="24"/>
                    </a:lnTo>
                    <a:lnTo>
                      <a:pt x="8" y="26"/>
                    </a:lnTo>
                    <a:lnTo>
                      <a:pt x="16" y="30"/>
                    </a:lnTo>
                    <a:lnTo>
                      <a:pt x="18" y="32"/>
                    </a:lnTo>
                    <a:lnTo>
                      <a:pt x="16" y="34"/>
                    </a:lnTo>
                    <a:lnTo>
                      <a:pt x="16" y="36"/>
                    </a:lnTo>
                    <a:lnTo>
                      <a:pt x="20" y="40"/>
                    </a:lnTo>
                    <a:lnTo>
                      <a:pt x="24" y="40"/>
                    </a:lnTo>
                    <a:lnTo>
                      <a:pt x="24" y="46"/>
                    </a:lnTo>
                    <a:lnTo>
                      <a:pt x="24" y="48"/>
                    </a:lnTo>
                    <a:lnTo>
                      <a:pt x="26" y="46"/>
                    </a:lnTo>
                    <a:lnTo>
                      <a:pt x="30" y="42"/>
                    </a:lnTo>
                    <a:lnTo>
                      <a:pt x="32" y="42"/>
                    </a:lnTo>
                    <a:lnTo>
                      <a:pt x="34" y="40"/>
                    </a:lnTo>
                    <a:lnTo>
                      <a:pt x="38" y="44"/>
                    </a:lnTo>
                    <a:lnTo>
                      <a:pt x="38" y="46"/>
                    </a:lnTo>
                    <a:lnTo>
                      <a:pt x="36" y="48"/>
                    </a:lnTo>
                    <a:lnTo>
                      <a:pt x="36" y="50"/>
                    </a:lnTo>
                    <a:lnTo>
                      <a:pt x="36" y="52"/>
                    </a:lnTo>
                    <a:lnTo>
                      <a:pt x="38" y="54"/>
                    </a:lnTo>
                    <a:lnTo>
                      <a:pt x="40" y="56"/>
                    </a:lnTo>
                    <a:lnTo>
                      <a:pt x="44" y="60"/>
                    </a:lnTo>
                    <a:lnTo>
                      <a:pt x="44" y="52"/>
                    </a:lnTo>
                    <a:lnTo>
                      <a:pt x="50" y="50"/>
                    </a:lnTo>
                    <a:lnTo>
                      <a:pt x="50" y="46"/>
                    </a:lnTo>
                    <a:lnTo>
                      <a:pt x="48" y="46"/>
                    </a:lnTo>
                    <a:lnTo>
                      <a:pt x="52" y="38"/>
                    </a:lnTo>
                    <a:lnTo>
                      <a:pt x="52" y="34"/>
                    </a:lnTo>
                    <a:lnTo>
                      <a:pt x="52" y="30"/>
                    </a:lnTo>
                    <a:lnTo>
                      <a:pt x="54" y="30"/>
                    </a:lnTo>
                    <a:lnTo>
                      <a:pt x="56" y="28"/>
                    </a:lnTo>
                    <a:lnTo>
                      <a:pt x="64" y="26"/>
                    </a:lnTo>
                    <a:lnTo>
                      <a:pt x="62" y="22"/>
                    </a:lnTo>
                    <a:lnTo>
                      <a:pt x="60" y="22"/>
                    </a:lnTo>
                    <a:lnTo>
                      <a:pt x="54" y="20"/>
                    </a:lnTo>
                    <a:lnTo>
                      <a:pt x="50" y="16"/>
                    </a:lnTo>
                    <a:lnTo>
                      <a:pt x="48" y="8"/>
                    </a:lnTo>
                    <a:lnTo>
                      <a:pt x="48" y="8"/>
                    </a:lnTo>
                    <a:close/>
                    <a:moveTo>
                      <a:pt x="0" y="42"/>
                    </a:moveTo>
                    <a:lnTo>
                      <a:pt x="0" y="42"/>
                    </a:lnTo>
                    <a:lnTo>
                      <a:pt x="0" y="44"/>
                    </a:lnTo>
                    <a:lnTo>
                      <a:pt x="2" y="46"/>
                    </a:lnTo>
                    <a:lnTo>
                      <a:pt x="4" y="50"/>
                    </a:lnTo>
                    <a:lnTo>
                      <a:pt x="8" y="52"/>
                    </a:lnTo>
                    <a:lnTo>
                      <a:pt x="10" y="54"/>
                    </a:lnTo>
                    <a:lnTo>
                      <a:pt x="12" y="56"/>
                    </a:lnTo>
                    <a:lnTo>
                      <a:pt x="18" y="54"/>
                    </a:lnTo>
                    <a:lnTo>
                      <a:pt x="18" y="52"/>
                    </a:lnTo>
                    <a:lnTo>
                      <a:pt x="14" y="48"/>
                    </a:lnTo>
                    <a:lnTo>
                      <a:pt x="10" y="42"/>
                    </a:lnTo>
                    <a:lnTo>
                      <a:pt x="8" y="42"/>
                    </a:lnTo>
                    <a:lnTo>
                      <a:pt x="4" y="42"/>
                    </a:lnTo>
                    <a:lnTo>
                      <a:pt x="0" y="42"/>
                    </a:lnTo>
                    <a:lnTo>
                      <a:pt x="0" y="4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74" name="Freeform 449">
                <a:extLst>
                  <a:ext uri="{FF2B5EF4-FFF2-40B4-BE49-F238E27FC236}">
                    <a16:creationId xmlns:a16="http://schemas.microsoft.com/office/drawing/2014/main" id="{34981EF0-3D54-2F89-5A40-015C6B8F959A}"/>
                  </a:ext>
                </a:extLst>
              </p:cNvPr>
              <p:cNvSpPr>
                <a:spLocks/>
              </p:cNvSpPr>
              <p:nvPr/>
            </p:nvSpPr>
            <p:spPr bwMode="auto">
              <a:xfrm>
                <a:off x="5406705" y="3629725"/>
                <a:ext cx="17503" cy="13450"/>
              </a:xfrm>
              <a:custGeom>
                <a:avLst/>
                <a:gdLst/>
                <a:ahLst/>
                <a:cxnLst>
                  <a:cxn ang="0">
                    <a:pos x="0" y="0"/>
                  </a:cxn>
                  <a:cxn ang="0">
                    <a:pos x="0" y="0"/>
                  </a:cxn>
                  <a:cxn ang="0">
                    <a:pos x="0" y="2"/>
                  </a:cxn>
                  <a:cxn ang="0">
                    <a:pos x="2" y="4"/>
                  </a:cxn>
                  <a:cxn ang="0">
                    <a:pos x="4" y="8"/>
                  </a:cxn>
                  <a:cxn ang="0">
                    <a:pos x="8" y="10"/>
                  </a:cxn>
                  <a:cxn ang="0">
                    <a:pos x="10" y="12"/>
                  </a:cxn>
                  <a:cxn ang="0">
                    <a:pos x="12" y="14"/>
                  </a:cxn>
                  <a:cxn ang="0">
                    <a:pos x="18" y="12"/>
                  </a:cxn>
                  <a:cxn ang="0">
                    <a:pos x="18" y="10"/>
                  </a:cxn>
                  <a:cxn ang="0">
                    <a:pos x="14" y="6"/>
                  </a:cxn>
                  <a:cxn ang="0">
                    <a:pos x="10" y="0"/>
                  </a:cxn>
                  <a:cxn ang="0">
                    <a:pos x="8" y="0"/>
                  </a:cxn>
                  <a:cxn ang="0">
                    <a:pos x="4" y="0"/>
                  </a:cxn>
                  <a:cxn ang="0">
                    <a:pos x="0" y="0"/>
                  </a:cxn>
                </a:cxnLst>
                <a:rect l="0" t="0" r="r" b="b"/>
                <a:pathLst>
                  <a:path w="18" h="14">
                    <a:moveTo>
                      <a:pt x="0" y="0"/>
                    </a:moveTo>
                    <a:lnTo>
                      <a:pt x="0" y="0"/>
                    </a:lnTo>
                    <a:lnTo>
                      <a:pt x="0" y="2"/>
                    </a:lnTo>
                    <a:lnTo>
                      <a:pt x="2" y="4"/>
                    </a:lnTo>
                    <a:lnTo>
                      <a:pt x="4" y="8"/>
                    </a:lnTo>
                    <a:lnTo>
                      <a:pt x="8" y="10"/>
                    </a:lnTo>
                    <a:lnTo>
                      <a:pt x="10" y="12"/>
                    </a:lnTo>
                    <a:lnTo>
                      <a:pt x="12" y="14"/>
                    </a:lnTo>
                    <a:lnTo>
                      <a:pt x="18" y="12"/>
                    </a:lnTo>
                    <a:lnTo>
                      <a:pt x="18" y="10"/>
                    </a:lnTo>
                    <a:lnTo>
                      <a:pt x="14" y="6"/>
                    </a:lnTo>
                    <a:lnTo>
                      <a:pt x="10" y="0"/>
                    </a:lnTo>
                    <a:lnTo>
                      <a:pt x="8" y="0"/>
                    </a:lnTo>
                    <a:lnTo>
                      <a:pt x="4" y="0"/>
                    </a:lnTo>
                    <a:lnTo>
                      <a:pt x="0"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75" name="Freeform 450">
                <a:extLst>
                  <a:ext uri="{FF2B5EF4-FFF2-40B4-BE49-F238E27FC236}">
                    <a16:creationId xmlns:a16="http://schemas.microsoft.com/office/drawing/2014/main" id="{1498738E-6E9D-FB7A-2155-73D191C544D0}"/>
                  </a:ext>
                </a:extLst>
              </p:cNvPr>
              <p:cNvSpPr>
                <a:spLocks/>
              </p:cNvSpPr>
              <p:nvPr/>
            </p:nvSpPr>
            <p:spPr bwMode="auto">
              <a:xfrm>
                <a:off x="5406705" y="3629725"/>
                <a:ext cx="17503" cy="13450"/>
              </a:xfrm>
              <a:custGeom>
                <a:avLst/>
                <a:gdLst/>
                <a:ahLst/>
                <a:cxnLst>
                  <a:cxn ang="0">
                    <a:pos x="0" y="0"/>
                  </a:cxn>
                  <a:cxn ang="0">
                    <a:pos x="0" y="0"/>
                  </a:cxn>
                  <a:cxn ang="0">
                    <a:pos x="0" y="2"/>
                  </a:cxn>
                  <a:cxn ang="0">
                    <a:pos x="2" y="4"/>
                  </a:cxn>
                  <a:cxn ang="0">
                    <a:pos x="4" y="8"/>
                  </a:cxn>
                  <a:cxn ang="0">
                    <a:pos x="8" y="10"/>
                  </a:cxn>
                  <a:cxn ang="0">
                    <a:pos x="10" y="12"/>
                  </a:cxn>
                  <a:cxn ang="0">
                    <a:pos x="12" y="14"/>
                  </a:cxn>
                  <a:cxn ang="0">
                    <a:pos x="18" y="12"/>
                  </a:cxn>
                  <a:cxn ang="0">
                    <a:pos x="18" y="10"/>
                  </a:cxn>
                  <a:cxn ang="0">
                    <a:pos x="14" y="6"/>
                  </a:cxn>
                  <a:cxn ang="0">
                    <a:pos x="10" y="0"/>
                  </a:cxn>
                  <a:cxn ang="0">
                    <a:pos x="8" y="0"/>
                  </a:cxn>
                  <a:cxn ang="0">
                    <a:pos x="4" y="0"/>
                  </a:cxn>
                  <a:cxn ang="0">
                    <a:pos x="0" y="0"/>
                  </a:cxn>
                </a:cxnLst>
                <a:rect l="0" t="0" r="r" b="b"/>
                <a:pathLst>
                  <a:path w="18" h="14">
                    <a:moveTo>
                      <a:pt x="0" y="0"/>
                    </a:moveTo>
                    <a:lnTo>
                      <a:pt x="0" y="0"/>
                    </a:lnTo>
                    <a:lnTo>
                      <a:pt x="0" y="2"/>
                    </a:lnTo>
                    <a:lnTo>
                      <a:pt x="2" y="4"/>
                    </a:lnTo>
                    <a:lnTo>
                      <a:pt x="4" y="8"/>
                    </a:lnTo>
                    <a:lnTo>
                      <a:pt x="8" y="10"/>
                    </a:lnTo>
                    <a:lnTo>
                      <a:pt x="10" y="12"/>
                    </a:lnTo>
                    <a:lnTo>
                      <a:pt x="12" y="14"/>
                    </a:lnTo>
                    <a:lnTo>
                      <a:pt x="18" y="12"/>
                    </a:lnTo>
                    <a:lnTo>
                      <a:pt x="18" y="10"/>
                    </a:lnTo>
                    <a:lnTo>
                      <a:pt x="14" y="6"/>
                    </a:lnTo>
                    <a:lnTo>
                      <a:pt x="10" y="0"/>
                    </a:lnTo>
                    <a:lnTo>
                      <a:pt x="8" y="0"/>
                    </a:lnTo>
                    <a:lnTo>
                      <a:pt x="4" y="0"/>
                    </a:lnTo>
                    <a:lnTo>
                      <a:pt x="0"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76" name="Freeform 451">
                <a:extLst>
                  <a:ext uri="{FF2B5EF4-FFF2-40B4-BE49-F238E27FC236}">
                    <a16:creationId xmlns:a16="http://schemas.microsoft.com/office/drawing/2014/main" id="{D17A348F-6981-EBAB-07A2-1006253990F0}"/>
                  </a:ext>
                </a:extLst>
              </p:cNvPr>
              <p:cNvSpPr>
                <a:spLocks/>
              </p:cNvSpPr>
              <p:nvPr/>
            </p:nvSpPr>
            <p:spPr bwMode="auto">
              <a:xfrm>
                <a:off x="5389202" y="3600905"/>
                <a:ext cx="42783" cy="40349"/>
              </a:xfrm>
              <a:custGeom>
                <a:avLst/>
                <a:gdLst/>
                <a:ahLst/>
                <a:cxnLst>
                  <a:cxn ang="0">
                    <a:pos x="2" y="0"/>
                  </a:cxn>
                  <a:cxn ang="0">
                    <a:pos x="2" y="0"/>
                  </a:cxn>
                  <a:cxn ang="0">
                    <a:pos x="2" y="4"/>
                  </a:cxn>
                  <a:cxn ang="0">
                    <a:pos x="4" y="8"/>
                  </a:cxn>
                  <a:cxn ang="0">
                    <a:pos x="2" y="10"/>
                  </a:cxn>
                  <a:cxn ang="0">
                    <a:pos x="0" y="12"/>
                  </a:cxn>
                  <a:cxn ang="0">
                    <a:pos x="0" y="16"/>
                  </a:cxn>
                  <a:cxn ang="0">
                    <a:pos x="0" y="18"/>
                  </a:cxn>
                  <a:cxn ang="0">
                    <a:pos x="0" y="20"/>
                  </a:cxn>
                  <a:cxn ang="0">
                    <a:pos x="4" y="22"/>
                  </a:cxn>
                  <a:cxn ang="0">
                    <a:pos x="12" y="24"/>
                  </a:cxn>
                  <a:cxn ang="0">
                    <a:pos x="16" y="26"/>
                  </a:cxn>
                  <a:cxn ang="0">
                    <a:pos x="18" y="28"/>
                  </a:cxn>
                  <a:cxn ang="0">
                    <a:pos x="18" y="30"/>
                  </a:cxn>
                  <a:cxn ang="0">
                    <a:pos x="22" y="30"/>
                  </a:cxn>
                  <a:cxn ang="0">
                    <a:pos x="26" y="30"/>
                  </a:cxn>
                  <a:cxn ang="0">
                    <a:pos x="28" y="30"/>
                  </a:cxn>
                  <a:cxn ang="0">
                    <a:pos x="32" y="36"/>
                  </a:cxn>
                  <a:cxn ang="0">
                    <a:pos x="36" y="40"/>
                  </a:cxn>
                  <a:cxn ang="0">
                    <a:pos x="36" y="42"/>
                  </a:cxn>
                  <a:cxn ang="0">
                    <a:pos x="40" y="40"/>
                  </a:cxn>
                  <a:cxn ang="0">
                    <a:pos x="44" y="36"/>
                  </a:cxn>
                  <a:cxn ang="0">
                    <a:pos x="44" y="34"/>
                  </a:cxn>
                  <a:cxn ang="0">
                    <a:pos x="42" y="28"/>
                  </a:cxn>
                  <a:cxn ang="0">
                    <a:pos x="38" y="28"/>
                  </a:cxn>
                  <a:cxn ang="0">
                    <a:pos x="34" y="26"/>
                  </a:cxn>
                  <a:cxn ang="0">
                    <a:pos x="34" y="24"/>
                  </a:cxn>
                  <a:cxn ang="0">
                    <a:pos x="36" y="22"/>
                  </a:cxn>
                  <a:cxn ang="0">
                    <a:pos x="34" y="18"/>
                  </a:cxn>
                  <a:cxn ang="0">
                    <a:pos x="26" y="14"/>
                  </a:cxn>
                  <a:cxn ang="0">
                    <a:pos x="30" y="12"/>
                  </a:cxn>
                  <a:cxn ang="0">
                    <a:pos x="30" y="10"/>
                  </a:cxn>
                  <a:cxn ang="0">
                    <a:pos x="30" y="8"/>
                  </a:cxn>
                  <a:cxn ang="0">
                    <a:pos x="26" y="6"/>
                  </a:cxn>
                  <a:cxn ang="0">
                    <a:pos x="26" y="4"/>
                  </a:cxn>
                  <a:cxn ang="0">
                    <a:pos x="24" y="4"/>
                  </a:cxn>
                  <a:cxn ang="0">
                    <a:pos x="24" y="6"/>
                  </a:cxn>
                  <a:cxn ang="0">
                    <a:pos x="22" y="6"/>
                  </a:cxn>
                  <a:cxn ang="0">
                    <a:pos x="20" y="4"/>
                  </a:cxn>
                  <a:cxn ang="0">
                    <a:pos x="20" y="0"/>
                  </a:cxn>
                  <a:cxn ang="0">
                    <a:pos x="12" y="0"/>
                  </a:cxn>
                  <a:cxn ang="0">
                    <a:pos x="2" y="0"/>
                  </a:cxn>
                  <a:cxn ang="0">
                    <a:pos x="2" y="0"/>
                  </a:cxn>
                </a:cxnLst>
                <a:rect l="0" t="0" r="r" b="b"/>
                <a:pathLst>
                  <a:path w="44" h="42">
                    <a:moveTo>
                      <a:pt x="2" y="0"/>
                    </a:moveTo>
                    <a:lnTo>
                      <a:pt x="2" y="0"/>
                    </a:lnTo>
                    <a:lnTo>
                      <a:pt x="2" y="4"/>
                    </a:lnTo>
                    <a:lnTo>
                      <a:pt x="4" y="8"/>
                    </a:lnTo>
                    <a:lnTo>
                      <a:pt x="2" y="10"/>
                    </a:lnTo>
                    <a:lnTo>
                      <a:pt x="0" y="12"/>
                    </a:lnTo>
                    <a:lnTo>
                      <a:pt x="0" y="16"/>
                    </a:lnTo>
                    <a:lnTo>
                      <a:pt x="0" y="18"/>
                    </a:lnTo>
                    <a:lnTo>
                      <a:pt x="0" y="20"/>
                    </a:lnTo>
                    <a:lnTo>
                      <a:pt x="4" y="22"/>
                    </a:lnTo>
                    <a:lnTo>
                      <a:pt x="12" y="24"/>
                    </a:lnTo>
                    <a:lnTo>
                      <a:pt x="16" y="26"/>
                    </a:lnTo>
                    <a:lnTo>
                      <a:pt x="18" y="28"/>
                    </a:lnTo>
                    <a:lnTo>
                      <a:pt x="18" y="30"/>
                    </a:lnTo>
                    <a:lnTo>
                      <a:pt x="22" y="30"/>
                    </a:lnTo>
                    <a:lnTo>
                      <a:pt x="26" y="30"/>
                    </a:lnTo>
                    <a:lnTo>
                      <a:pt x="28" y="30"/>
                    </a:lnTo>
                    <a:lnTo>
                      <a:pt x="32" y="36"/>
                    </a:lnTo>
                    <a:lnTo>
                      <a:pt x="36" y="40"/>
                    </a:lnTo>
                    <a:lnTo>
                      <a:pt x="36" y="42"/>
                    </a:lnTo>
                    <a:lnTo>
                      <a:pt x="40" y="40"/>
                    </a:lnTo>
                    <a:lnTo>
                      <a:pt x="44" y="36"/>
                    </a:lnTo>
                    <a:lnTo>
                      <a:pt x="44" y="34"/>
                    </a:lnTo>
                    <a:lnTo>
                      <a:pt x="42" y="28"/>
                    </a:lnTo>
                    <a:lnTo>
                      <a:pt x="38" y="28"/>
                    </a:lnTo>
                    <a:lnTo>
                      <a:pt x="34" y="26"/>
                    </a:lnTo>
                    <a:lnTo>
                      <a:pt x="34" y="24"/>
                    </a:lnTo>
                    <a:lnTo>
                      <a:pt x="36" y="22"/>
                    </a:lnTo>
                    <a:lnTo>
                      <a:pt x="34" y="18"/>
                    </a:lnTo>
                    <a:lnTo>
                      <a:pt x="26" y="14"/>
                    </a:lnTo>
                    <a:lnTo>
                      <a:pt x="30" y="12"/>
                    </a:lnTo>
                    <a:lnTo>
                      <a:pt x="30" y="10"/>
                    </a:lnTo>
                    <a:lnTo>
                      <a:pt x="30" y="8"/>
                    </a:lnTo>
                    <a:lnTo>
                      <a:pt x="26" y="6"/>
                    </a:lnTo>
                    <a:lnTo>
                      <a:pt x="26" y="4"/>
                    </a:lnTo>
                    <a:lnTo>
                      <a:pt x="24" y="4"/>
                    </a:lnTo>
                    <a:lnTo>
                      <a:pt x="24" y="6"/>
                    </a:lnTo>
                    <a:lnTo>
                      <a:pt x="22" y="6"/>
                    </a:lnTo>
                    <a:lnTo>
                      <a:pt x="20" y="4"/>
                    </a:lnTo>
                    <a:lnTo>
                      <a:pt x="20" y="0"/>
                    </a:lnTo>
                    <a:lnTo>
                      <a:pt x="12" y="0"/>
                    </a:lnTo>
                    <a:lnTo>
                      <a:pt x="2" y="0"/>
                    </a:lnTo>
                    <a:lnTo>
                      <a:pt x="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77" name="Freeform 452">
                <a:extLst>
                  <a:ext uri="{FF2B5EF4-FFF2-40B4-BE49-F238E27FC236}">
                    <a16:creationId xmlns:a16="http://schemas.microsoft.com/office/drawing/2014/main" id="{7B0CACD4-DBB8-2287-1F29-643AC2ADFB82}"/>
                  </a:ext>
                </a:extLst>
              </p:cNvPr>
              <p:cNvSpPr>
                <a:spLocks noEditPoints="1"/>
              </p:cNvSpPr>
              <p:nvPr/>
            </p:nvSpPr>
            <p:spPr bwMode="auto">
              <a:xfrm>
                <a:off x="3911234" y="4600017"/>
                <a:ext cx="245031" cy="578333"/>
              </a:xfrm>
              <a:custGeom>
                <a:avLst/>
                <a:gdLst/>
                <a:ahLst/>
                <a:cxnLst>
                  <a:cxn ang="0">
                    <a:pos x="112" y="10"/>
                  </a:cxn>
                  <a:cxn ang="0">
                    <a:pos x="78" y="16"/>
                  </a:cxn>
                  <a:cxn ang="0">
                    <a:pos x="76" y="38"/>
                  </a:cxn>
                  <a:cxn ang="0">
                    <a:pos x="68" y="70"/>
                  </a:cxn>
                  <a:cxn ang="0">
                    <a:pos x="64" y="94"/>
                  </a:cxn>
                  <a:cxn ang="0">
                    <a:pos x="48" y="136"/>
                  </a:cxn>
                  <a:cxn ang="0">
                    <a:pos x="44" y="182"/>
                  </a:cxn>
                  <a:cxn ang="0">
                    <a:pos x="36" y="230"/>
                  </a:cxn>
                  <a:cxn ang="0">
                    <a:pos x="30" y="250"/>
                  </a:cxn>
                  <a:cxn ang="0">
                    <a:pos x="26" y="278"/>
                  </a:cxn>
                  <a:cxn ang="0">
                    <a:pos x="16" y="316"/>
                  </a:cxn>
                  <a:cxn ang="0">
                    <a:pos x="18" y="342"/>
                  </a:cxn>
                  <a:cxn ang="0">
                    <a:pos x="20" y="376"/>
                  </a:cxn>
                  <a:cxn ang="0">
                    <a:pos x="24" y="400"/>
                  </a:cxn>
                  <a:cxn ang="0">
                    <a:pos x="18" y="418"/>
                  </a:cxn>
                  <a:cxn ang="0">
                    <a:pos x="18" y="452"/>
                  </a:cxn>
                  <a:cxn ang="0">
                    <a:pos x="4" y="480"/>
                  </a:cxn>
                  <a:cxn ang="0">
                    <a:pos x="0" y="514"/>
                  </a:cxn>
                  <a:cxn ang="0">
                    <a:pos x="12" y="520"/>
                  </a:cxn>
                  <a:cxn ang="0">
                    <a:pos x="38" y="544"/>
                  </a:cxn>
                  <a:cxn ang="0">
                    <a:pos x="50" y="528"/>
                  </a:cxn>
                  <a:cxn ang="0">
                    <a:pos x="62" y="516"/>
                  </a:cxn>
                  <a:cxn ang="0">
                    <a:pos x="70" y="508"/>
                  </a:cxn>
                  <a:cxn ang="0">
                    <a:pos x="70" y="494"/>
                  </a:cxn>
                  <a:cxn ang="0">
                    <a:pos x="98" y="466"/>
                  </a:cxn>
                  <a:cxn ang="0">
                    <a:pos x="84" y="450"/>
                  </a:cxn>
                  <a:cxn ang="0">
                    <a:pos x="78" y="426"/>
                  </a:cxn>
                  <a:cxn ang="0">
                    <a:pos x="98" y="404"/>
                  </a:cxn>
                  <a:cxn ang="0">
                    <a:pos x="110" y="372"/>
                  </a:cxn>
                  <a:cxn ang="0">
                    <a:pos x="120" y="370"/>
                  </a:cxn>
                  <a:cxn ang="0">
                    <a:pos x="120" y="356"/>
                  </a:cxn>
                  <a:cxn ang="0">
                    <a:pos x="104" y="346"/>
                  </a:cxn>
                  <a:cxn ang="0">
                    <a:pos x="112" y="334"/>
                  </a:cxn>
                  <a:cxn ang="0">
                    <a:pos x="136" y="336"/>
                  </a:cxn>
                  <a:cxn ang="0">
                    <a:pos x="144" y="312"/>
                  </a:cxn>
                  <a:cxn ang="0">
                    <a:pos x="144" y="294"/>
                  </a:cxn>
                  <a:cxn ang="0">
                    <a:pos x="182" y="292"/>
                  </a:cxn>
                  <a:cxn ang="0">
                    <a:pos x="214" y="252"/>
                  </a:cxn>
                  <a:cxn ang="0">
                    <a:pos x="204" y="238"/>
                  </a:cxn>
                  <a:cxn ang="0">
                    <a:pos x="192" y="218"/>
                  </a:cxn>
                  <a:cxn ang="0">
                    <a:pos x="192" y="190"/>
                  </a:cxn>
                  <a:cxn ang="0">
                    <a:pos x="196" y="168"/>
                  </a:cxn>
                  <a:cxn ang="0">
                    <a:pos x="204" y="148"/>
                  </a:cxn>
                  <a:cxn ang="0">
                    <a:pos x="218" y="116"/>
                  </a:cxn>
                  <a:cxn ang="0">
                    <a:pos x="238" y="98"/>
                  </a:cxn>
                  <a:cxn ang="0">
                    <a:pos x="252" y="64"/>
                  </a:cxn>
                  <a:cxn ang="0">
                    <a:pos x="236" y="68"/>
                  </a:cxn>
                  <a:cxn ang="0">
                    <a:pos x="228" y="94"/>
                  </a:cxn>
                  <a:cxn ang="0">
                    <a:pos x="196" y="92"/>
                  </a:cxn>
                  <a:cxn ang="0">
                    <a:pos x="200" y="62"/>
                  </a:cxn>
                  <a:cxn ang="0">
                    <a:pos x="180" y="44"/>
                  </a:cxn>
                  <a:cxn ang="0">
                    <a:pos x="160" y="26"/>
                  </a:cxn>
                  <a:cxn ang="0">
                    <a:pos x="140" y="2"/>
                  </a:cxn>
                  <a:cxn ang="0">
                    <a:pos x="88" y="600"/>
                  </a:cxn>
                  <a:cxn ang="0">
                    <a:pos x="80" y="588"/>
                  </a:cxn>
                  <a:cxn ang="0">
                    <a:pos x="60" y="568"/>
                  </a:cxn>
                  <a:cxn ang="0">
                    <a:pos x="70" y="598"/>
                  </a:cxn>
                </a:cxnLst>
                <a:rect l="0" t="0" r="r" b="b"/>
                <a:pathLst>
                  <a:path w="252" h="602">
                    <a:moveTo>
                      <a:pt x="140" y="2"/>
                    </a:moveTo>
                    <a:lnTo>
                      <a:pt x="122" y="2"/>
                    </a:lnTo>
                    <a:lnTo>
                      <a:pt x="120" y="0"/>
                    </a:lnTo>
                    <a:lnTo>
                      <a:pt x="118" y="2"/>
                    </a:lnTo>
                    <a:lnTo>
                      <a:pt x="116" y="4"/>
                    </a:lnTo>
                    <a:lnTo>
                      <a:pt x="112" y="12"/>
                    </a:lnTo>
                    <a:lnTo>
                      <a:pt x="112" y="10"/>
                    </a:lnTo>
                    <a:lnTo>
                      <a:pt x="106" y="2"/>
                    </a:lnTo>
                    <a:lnTo>
                      <a:pt x="98" y="2"/>
                    </a:lnTo>
                    <a:lnTo>
                      <a:pt x="90" y="2"/>
                    </a:lnTo>
                    <a:lnTo>
                      <a:pt x="86" y="0"/>
                    </a:lnTo>
                    <a:lnTo>
                      <a:pt x="78" y="8"/>
                    </a:lnTo>
                    <a:lnTo>
                      <a:pt x="78" y="12"/>
                    </a:lnTo>
                    <a:lnTo>
                      <a:pt x="78" y="16"/>
                    </a:lnTo>
                    <a:lnTo>
                      <a:pt x="80" y="18"/>
                    </a:lnTo>
                    <a:lnTo>
                      <a:pt x="84" y="22"/>
                    </a:lnTo>
                    <a:lnTo>
                      <a:pt x="84" y="24"/>
                    </a:lnTo>
                    <a:lnTo>
                      <a:pt x="82" y="32"/>
                    </a:lnTo>
                    <a:lnTo>
                      <a:pt x="82" y="36"/>
                    </a:lnTo>
                    <a:lnTo>
                      <a:pt x="78" y="36"/>
                    </a:lnTo>
                    <a:lnTo>
                      <a:pt x="76" y="38"/>
                    </a:lnTo>
                    <a:lnTo>
                      <a:pt x="74" y="40"/>
                    </a:lnTo>
                    <a:lnTo>
                      <a:pt x="72" y="44"/>
                    </a:lnTo>
                    <a:lnTo>
                      <a:pt x="68" y="46"/>
                    </a:lnTo>
                    <a:lnTo>
                      <a:pt x="66" y="46"/>
                    </a:lnTo>
                    <a:lnTo>
                      <a:pt x="64" y="48"/>
                    </a:lnTo>
                    <a:lnTo>
                      <a:pt x="64" y="62"/>
                    </a:lnTo>
                    <a:lnTo>
                      <a:pt x="68" y="70"/>
                    </a:lnTo>
                    <a:lnTo>
                      <a:pt x="68" y="72"/>
                    </a:lnTo>
                    <a:lnTo>
                      <a:pt x="66" y="74"/>
                    </a:lnTo>
                    <a:lnTo>
                      <a:pt x="64" y="76"/>
                    </a:lnTo>
                    <a:lnTo>
                      <a:pt x="64" y="78"/>
                    </a:lnTo>
                    <a:lnTo>
                      <a:pt x="66" y="82"/>
                    </a:lnTo>
                    <a:lnTo>
                      <a:pt x="66" y="88"/>
                    </a:lnTo>
                    <a:lnTo>
                      <a:pt x="64" y="94"/>
                    </a:lnTo>
                    <a:lnTo>
                      <a:pt x="60" y="100"/>
                    </a:lnTo>
                    <a:lnTo>
                      <a:pt x="58" y="106"/>
                    </a:lnTo>
                    <a:lnTo>
                      <a:pt x="56" y="110"/>
                    </a:lnTo>
                    <a:lnTo>
                      <a:pt x="54" y="110"/>
                    </a:lnTo>
                    <a:lnTo>
                      <a:pt x="52" y="112"/>
                    </a:lnTo>
                    <a:lnTo>
                      <a:pt x="50" y="118"/>
                    </a:lnTo>
                    <a:lnTo>
                      <a:pt x="48" y="136"/>
                    </a:lnTo>
                    <a:lnTo>
                      <a:pt x="48" y="144"/>
                    </a:lnTo>
                    <a:lnTo>
                      <a:pt x="48" y="150"/>
                    </a:lnTo>
                    <a:lnTo>
                      <a:pt x="46" y="154"/>
                    </a:lnTo>
                    <a:lnTo>
                      <a:pt x="44" y="162"/>
                    </a:lnTo>
                    <a:lnTo>
                      <a:pt x="44" y="168"/>
                    </a:lnTo>
                    <a:lnTo>
                      <a:pt x="44" y="174"/>
                    </a:lnTo>
                    <a:lnTo>
                      <a:pt x="44" y="182"/>
                    </a:lnTo>
                    <a:lnTo>
                      <a:pt x="44" y="186"/>
                    </a:lnTo>
                    <a:lnTo>
                      <a:pt x="40" y="192"/>
                    </a:lnTo>
                    <a:lnTo>
                      <a:pt x="42" y="198"/>
                    </a:lnTo>
                    <a:lnTo>
                      <a:pt x="42" y="204"/>
                    </a:lnTo>
                    <a:lnTo>
                      <a:pt x="42" y="210"/>
                    </a:lnTo>
                    <a:lnTo>
                      <a:pt x="40" y="220"/>
                    </a:lnTo>
                    <a:lnTo>
                      <a:pt x="36" y="230"/>
                    </a:lnTo>
                    <a:lnTo>
                      <a:pt x="34" y="234"/>
                    </a:lnTo>
                    <a:lnTo>
                      <a:pt x="36" y="238"/>
                    </a:lnTo>
                    <a:lnTo>
                      <a:pt x="36" y="244"/>
                    </a:lnTo>
                    <a:lnTo>
                      <a:pt x="36" y="248"/>
                    </a:lnTo>
                    <a:lnTo>
                      <a:pt x="34" y="250"/>
                    </a:lnTo>
                    <a:lnTo>
                      <a:pt x="32" y="250"/>
                    </a:lnTo>
                    <a:lnTo>
                      <a:pt x="30" y="250"/>
                    </a:lnTo>
                    <a:lnTo>
                      <a:pt x="28" y="254"/>
                    </a:lnTo>
                    <a:lnTo>
                      <a:pt x="26" y="256"/>
                    </a:lnTo>
                    <a:lnTo>
                      <a:pt x="24" y="260"/>
                    </a:lnTo>
                    <a:lnTo>
                      <a:pt x="24" y="266"/>
                    </a:lnTo>
                    <a:lnTo>
                      <a:pt x="24" y="274"/>
                    </a:lnTo>
                    <a:lnTo>
                      <a:pt x="24" y="276"/>
                    </a:lnTo>
                    <a:lnTo>
                      <a:pt x="26" y="278"/>
                    </a:lnTo>
                    <a:lnTo>
                      <a:pt x="28" y="284"/>
                    </a:lnTo>
                    <a:lnTo>
                      <a:pt x="26" y="286"/>
                    </a:lnTo>
                    <a:lnTo>
                      <a:pt x="24" y="288"/>
                    </a:lnTo>
                    <a:lnTo>
                      <a:pt x="22" y="296"/>
                    </a:lnTo>
                    <a:lnTo>
                      <a:pt x="20" y="306"/>
                    </a:lnTo>
                    <a:lnTo>
                      <a:pt x="20" y="312"/>
                    </a:lnTo>
                    <a:lnTo>
                      <a:pt x="16" y="316"/>
                    </a:lnTo>
                    <a:lnTo>
                      <a:pt x="14" y="320"/>
                    </a:lnTo>
                    <a:lnTo>
                      <a:pt x="16" y="322"/>
                    </a:lnTo>
                    <a:lnTo>
                      <a:pt x="16" y="326"/>
                    </a:lnTo>
                    <a:lnTo>
                      <a:pt x="18" y="330"/>
                    </a:lnTo>
                    <a:lnTo>
                      <a:pt x="16" y="336"/>
                    </a:lnTo>
                    <a:lnTo>
                      <a:pt x="16" y="340"/>
                    </a:lnTo>
                    <a:lnTo>
                      <a:pt x="18" y="342"/>
                    </a:lnTo>
                    <a:lnTo>
                      <a:pt x="22" y="342"/>
                    </a:lnTo>
                    <a:lnTo>
                      <a:pt x="22" y="346"/>
                    </a:lnTo>
                    <a:lnTo>
                      <a:pt x="22" y="356"/>
                    </a:lnTo>
                    <a:lnTo>
                      <a:pt x="18" y="364"/>
                    </a:lnTo>
                    <a:lnTo>
                      <a:pt x="18" y="368"/>
                    </a:lnTo>
                    <a:lnTo>
                      <a:pt x="18" y="370"/>
                    </a:lnTo>
                    <a:lnTo>
                      <a:pt x="20" y="376"/>
                    </a:lnTo>
                    <a:lnTo>
                      <a:pt x="22" y="378"/>
                    </a:lnTo>
                    <a:lnTo>
                      <a:pt x="22" y="380"/>
                    </a:lnTo>
                    <a:lnTo>
                      <a:pt x="22" y="384"/>
                    </a:lnTo>
                    <a:lnTo>
                      <a:pt x="22" y="390"/>
                    </a:lnTo>
                    <a:lnTo>
                      <a:pt x="24" y="396"/>
                    </a:lnTo>
                    <a:lnTo>
                      <a:pt x="24" y="398"/>
                    </a:lnTo>
                    <a:lnTo>
                      <a:pt x="24" y="400"/>
                    </a:lnTo>
                    <a:lnTo>
                      <a:pt x="22" y="404"/>
                    </a:lnTo>
                    <a:lnTo>
                      <a:pt x="22" y="406"/>
                    </a:lnTo>
                    <a:lnTo>
                      <a:pt x="24" y="410"/>
                    </a:lnTo>
                    <a:lnTo>
                      <a:pt x="22" y="412"/>
                    </a:lnTo>
                    <a:lnTo>
                      <a:pt x="20" y="412"/>
                    </a:lnTo>
                    <a:lnTo>
                      <a:pt x="20" y="414"/>
                    </a:lnTo>
                    <a:lnTo>
                      <a:pt x="18" y="418"/>
                    </a:lnTo>
                    <a:lnTo>
                      <a:pt x="18" y="420"/>
                    </a:lnTo>
                    <a:lnTo>
                      <a:pt x="20" y="426"/>
                    </a:lnTo>
                    <a:lnTo>
                      <a:pt x="20" y="430"/>
                    </a:lnTo>
                    <a:lnTo>
                      <a:pt x="20" y="436"/>
                    </a:lnTo>
                    <a:lnTo>
                      <a:pt x="18" y="442"/>
                    </a:lnTo>
                    <a:lnTo>
                      <a:pt x="18" y="448"/>
                    </a:lnTo>
                    <a:lnTo>
                      <a:pt x="18" y="452"/>
                    </a:lnTo>
                    <a:lnTo>
                      <a:pt x="18" y="454"/>
                    </a:lnTo>
                    <a:lnTo>
                      <a:pt x="14" y="458"/>
                    </a:lnTo>
                    <a:lnTo>
                      <a:pt x="12" y="464"/>
                    </a:lnTo>
                    <a:lnTo>
                      <a:pt x="12" y="466"/>
                    </a:lnTo>
                    <a:lnTo>
                      <a:pt x="14" y="472"/>
                    </a:lnTo>
                    <a:lnTo>
                      <a:pt x="10" y="476"/>
                    </a:lnTo>
                    <a:lnTo>
                      <a:pt x="4" y="480"/>
                    </a:lnTo>
                    <a:lnTo>
                      <a:pt x="2" y="482"/>
                    </a:lnTo>
                    <a:lnTo>
                      <a:pt x="2" y="484"/>
                    </a:lnTo>
                    <a:lnTo>
                      <a:pt x="4" y="492"/>
                    </a:lnTo>
                    <a:lnTo>
                      <a:pt x="2" y="496"/>
                    </a:lnTo>
                    <a:lnTo>
                      <a:pt x="0" y="502"/>
                    </a:lnTo>
                    <a:lnTo>
                      <a:pt x="0" y="508"/>
                    </a:lnTo>
                    <a:lnTo>
                      <a:pt x="0" y="514"/>
                    </a:lnTo>
                    <a:lnTo>
                      <a:pt x="0" y="516"/>
                    </a:lnTo>
                    <a:lnTo>
                      <a:pt x="2" y="516"/>
                    </a:lnTo>
                    <a:lnTo>
                      <a:pt x="4" y="516"/>
                    </a:lnTo>
                    <a:lnTo>
                      <a:pt x="6" y="514"/>
                    </a:lnTo>
                    <a:lnTo>
                      <a:pt x="8" y="514"/>
                    </a:lnTo>
                    <a:lnTo>
                      <a:pt x="10" y="514"/>
                    </a:lnTo>
                    <a:lnTo>
                      <a:pt x="12" y="520"/>
                    </a:lnTo>
                    <a:lnTo>
                      <a:pt x="10" y="524"/>
                    </a:lnTo>
                    <a:lnTo>
                      <a:pt x="8" y="524"/>
                    </a:lnTo>
                    <a:lnTo>
                      <a:pt x="8" y="526"/>
                    </a:lnTo>
                    <a:lnTo>
                      <a:pt x="10" y="532"/>
                    </a:lnTo>
                    <a:lnTo>
                      <a:pt x="18" y="540"/>
                    </a:lnTo>
                    <a:lnTo>
                      <a:pt x="22" y="546"/>
                    </a:lnTo>
                    <a:lnTo>
                      <a:pt x="38" y="544"/>
                    </a:lnTo>
                    <a:lnTo>
                      <a:pt x="62" y="546"/>
                    </a:lnTo>
                    <a:lnTo>
                      <a:pt x="58" y="538"/>
                    </a:lnTo>
                    <a:lnTo>
                      <a:pt x="50" y="538"/>
                    </a:lnTo>
                    <a:lnTo>
                      <a:pt x="54" y="536"/>
                    </a:lnTo>
                    <a:lnTo>
                      <a:pt x="54" y="534"/>
                    </a:lnTo>
                    <a:lnTo>
                      <a:pt x="52" y="526"/>
                    </a:lnTo>
                    <a:lnTo>
                      <a:pt x="50" y="528"/>
                    </a:lnTo>
                    <a:lnTo>
                      <a:pt x="50" y="526"/>
                    </a:lnTo>
                    <a:lnTo>
                      <a:pt x="54" y="524"/>
                    </a:lnTo>
                    <a:lnTo>
                      <a:pt x="54" y="520"/>
                    </a:lnTo>
                    <a:lnTo>
                      <a:pt x="56" y="518"/>
                    </a:lnTo>
                    <a:lnTo>
                      <a:pt x="58" y="518"/>
                    </a:lnTo>
                    <a:lnTo>
                      <a:pt x="58" y="516"/>
                    </a:lnTo>
                    <a:lnTo>
                      <a:pt x="62" y="516"/>
                    </a:lnTo>
                    <a:lnTo>
                      <a:pt x="62" y="512"/>
                    </a:lnTo>
                    <a:lnTo>
                      <a:pt x="56" y="508"/>
                    </a:lnTo>
                    <a:lnTo>
                      <a:pt x="56" y="504"/>
                    </a:lnTo>
                    <a:lnTo>
                      <a:pt x="58" y="502"/>
                    </a:lnTo>
                    <a:lnTo>
                      <a:pt x="62" y="504"/>
                    </a:lnTo>
                    <a:lnTo>
                      <a:pt x="64" y="510"/>
                    </a:lnTo>
                    <a:lnTo>
                      <a:pt x="70" y="508"/>
                    </a:lnTo>
                    <a:lnTo>
                      <a:pt x="74" y="504"/>
                    </a:lnTo>
                    <a:lnTo>
                      <a:pt x="74" y="500"/>
                    </a:lnTo>
                    <a:lnTo>
                      <a:pt x="74" y="498"/>
                    </a:lnTo>
                    <a:lnTo>
                      <a:pt x="74" y="496"/>
                    </a:lnTo>
                    <a:lnTo>
                      <a:pt x="72" y="496"/>
                    </a:lnTo>
                    <a:lnTo>
                      <a:pt x="70" y="496"/>
                    </a:lnTo>
                    <a:lnTo>
                      <a:pt x="70" y="494"/>
                    </a:lnTo>
                    <a:lnTo>
                      <a:pt x="74" y="490"/>
                    </a:lnTo>
                    <a:lnTo>
                      <a:pt x="80" y="484"/>
                    </a:lnTo>
                    <a:lnTo>
                      <a:pt x="80" y="480"/>
                    </a:lnTo>
                    <a:lnTo>
                      <a:pt x="84" y="480"/>
                    </a:lnTo>
                    <a:lnTo>
                      <a:pt x="86" y="474"/>
                    </a:lnTo>
                    <a:lnTo>
                      <a:pt x="88" y="474"/>
                    </a:lnTo>
                    <a:lnTo>
                      <a:pt x="98" y="466"/>
                    </a:lnTo>
                    <a:lnTo>
                      <a:pt x="92" y="464"/>
                    </a:lnTo>
                    <a:lnTo>
                      <a:pt x="94" y="462"/>
                    </a:lnTo>
                    <a:lnTo>
                      <a:pt x="94" y="458"/>
                    </a:lnTo>
                    <a:lnTo>
                      <a:pt x="94" y="452"/>
                    </a:lnTo>
                    <a:lnTo>
                      <a:pt x="92" y="450"/>
                    </a:lnTo>
                    <a:lnTo>
                      <a:pt x="88" y="450"/>
                    </a:lnTo>
                    <a:lnTo>
                      <a:pt x="84" y="450"/>
                    </a:lnTo>
                    <a:lnTo>
                      <a:pt x="82" y="444"/>
                    </a:lnTo>
                    <a:lnTo>
                      <a:pt x="78" y="442"/>
                    </a:lnTo>
                    <a:lnTo>
                      <a:pt x="76" y="440"/>
                    </a:lnTo>
                    <a:lnTo>
                      <a:pt x="74" y="436"/>
                    </a:lnTo>
                    <a:lnTo>
                      <a:pt x="72" y="430"/>
                    </a:lnTo>
                    <a:lnTo>
                      <a:pt x="76" y="426"/>
                    </a:lnTo>
                    <a:lnTo>
                      <a:pt x="78" y="426"/>
                    </a:lnTo>
                    <a:lnTo>
                      <a:pt x="78" y="422"/>
                    </a:lnTo>
                    <a:lnTo>
                      <a:pt x="84" y="418"/>
                    </a:lnTo>
                    <a:lnTo>
                      <a:pt x="88" y="410"/>
                    </a:lnTo>
                    <a:lnTo>
                      <a:pt x="92" y="410"/>
                    </a:lnTo>
                    <a:lnTo>
                      <a:pt x="100" y="410"/>
                    </a:lnTo>
                    <a:lnTo>
                      <a:pt x="100" y="404"/>
                    </a:lnTo>
                    <a:lnTo>
                      <a:pt x="98" y="404"/>
                    </a:lnTo>
                    <a:lnTo>
                      <a:pt x="98" y="402"/>
                    </a:lnTo>
                    <a:lnTo>
                      <a:pt x="104" y="398"/>
                    </a:lnTo>
                    <a:lnTo>
                      <a:pt x="104" y="392"/>
                    </a:lnTo>
                    <a:lnTo>
                      <a:pt x="104" y="390"/>
                    </a:lnTo>
                    <a:lnTo>
                      <a:pt x="106" y="380"/>
                    </a:lnTo>
                    <a:lnTo>
                      <a:pt x="108" y="374"/>
                    </a:lnTo>
                    <a:lnTo>
                      <a:pt x="110" y="372"/>
                    </a:lnTo>
                    <a:lnTo>
                      <a:pt x="116" y="370"/>
                    </a:lnTo>
                    <a:lnTo>
                      <a:pt x="116" y="366"/>
                    </a:lnTo>
                    <a:lnTo>
                      <a:pt x="108" y="366"/>
                    </a:lnTo>
                    <a:lnTo>
                      <a:pt x="112" y="364"/>
                    </a:lnTo>
                    <a:lnTo>
                      <a:pt x="118" y="364"/>
                    </a:lnTo>
                    <a:lnTo>
                      <a:pt x="120" y="366"/>
                    </a:lnTo>
                    <a:lnTo>
                      <a:pt x="120" y="370"/>
                    </a:lnTo>
                    <a:lnTo>
                      <a:pt x="124" y="368"/>
                    </a:lnTo>
                    <a:lnTo>
                      <a:pt x="126" y="366"/>
                    </a:lnTo>
                    <a:lnTo>
                      <a:pt x="128" y="364"/>
                    </a:lnTo>
                    <a:lnTo>
                      <a:pt x="128" y="360"/>
                    </a:lnTo>
                    <a:lnTo>
                      <a:pt x="126" y="358"/>
                    </a:lnTo>
                    <a:lnTo>
                      <a:pt x="126" y="356"/>
                    </a:lnTo>
                    <a:lnTo>
                      <a:pt x="120" y="356"/>
                    </a:lnTo>
                    <a:lnTo>
                      <a:pt x="120" y="360"/>
                    </a:lnTo>
                    <a:lnTo>
                      <a:pt x="118" y="360"/>
                    </a:lnTo>
                    <a:lnTo>
                      <a:pt x="112" y="356"/>
                    </a:lnTo>
                    <a:lnTo>
                      <a:pt x="110" y="356"/>
                    </a:lnTo>
                    <a:lnTo>
                      <a:pt x="110" y="346"/>
                    </a:lnTo>
                    <a:lnTo>
                      <a:pt x="104" y="346"/>
                    </a:lnTo>
                    <a:lnTo>
                      <a:pt x="104" y="346"/>
                    </a:lnTo>
                    <a:lnTo>
                      <a:pt x="104" y="344"/>
                    </a:lnTo>
                    <a:lnTo>
                      <a:pt x="106" y="342"/>
                    </a:lnTo>
                    <a:lnTo>
                      <a:pt x="106" y="340"/>
                    </a:lnTo>
                    <a:lnTo>
                      <a:pt x="108" y="334"/>
                    </a:lnTo>
                    <a:lnTo>
                      <a:pt x="110" y="332"/>
                    </a:lnTo>
                    <a:lnTo>
                      <a:pt x="112" y="332"/>
                    </a:lnTo>
                    <a:lnTo>
                      <a:pt x="112" y="334"/>
                    </a:lnTo>
                    <a:lnTo>
                      <a:pt x="116" y="334"/>
                    </a:lnTo>
                    <a:lnTo>
                      <a:pt x="120" y="340"/>
                    </a:lnTo>
                    <a:lnTo>
                      <a:pt x="122" y="342"/>
                    </a:lnTo>
                    <a:lnTo>
                      <a:pt x="128" y="342"/>
                    </a:lnTo>
                    <a:lnTo>
                      <a:pt x="132" y="340"/>
                    </a:lnTo>
                    <a:lnTo>
                      <a:pt x="136" y="338"/>
                    </a:lnTo>
                    <a:lnTo>
                      <a:pt x="136" y="336"/>
                    </a:lnTo>
                    <a:lnTo>
                      <a:pt x="140" y="334"/>
                    </a:lnTo>
                    <a:lnTo>
                      <a:pt x="142" y="332"/>
                    </a:lnTo>
                    <a:lnTo>
                      <a:pt x="144" y="326"/>
                    </a:lnTo>
                    <a:lnTo>
                      <a:pt x="142" y="322"/>
                    </a:lnTo>
                    <a:lnTo>
                      <a:pt x="142" y="316"/>
                    </a:lnTo>
                    <a:lnTo>
                      <a:pt x="142" y="312"/>
                    </a:lnTo>
                    <a:lnTo>
                      <a:pt x="144" y="312"/>
                    </a:lnTo>
                    <a:lnTo>
                      <a:pt x="146" y="304"/>
                    </a:lnTo>
                    <a:lnTo>
                      <a:pt x="142" y="304"/>
                    </a:lnTo>
                    <a:lnTo>
                      <a:pt x="140" y="300"/>
                    </a:lnTo>
                    <a:lnTo>
                      <a:pt x="140" y="296"/>
                    </a:lnTo>
                    <a:lnTo>
                      <a:pt x="140" y="294"/>
                    </a:lnTo>
                    <a:lnTo>
                      <a:pt x="142" y="294"/>
                    </a:lnTo>
                    <a:lnTo>
                      <a:pt x="144" y="294"/>
                    </a:lnTo>
                    <a:lnTo>
                      <a:pt x="146" y="300"/>
                    </a:lnTo>
                    <a:lnTo>
                      <a:pt x="148" y="298"/>
                    </a:lnTo>
                    <a:lnTo>
                      <a:pt x="146" y="296"/>
                    </a:lnTo>
                    <a:lnTo>
                      <a:pt x="150" y="296"/>
                    </a:lnTo>
                    <a:lnTo>
                      <a:pt x="160" y="294"/>
                    </a:lnTo>
                    <a:lnTo>
                      <a:pt x="172" y="294"/>
                    </a:lnTo>
                    <a:lnTo>
                      <a:pt x="182" y="292"/>
                    </a:lnTo>
                    <a:lnTo>
                      <a:pt x="182" y="290"/>
                    </a:lnTo>
                    <a:lnTo>
                      <a:pt x="190" y="288"/>
                    </a:lnTo>
                    <a:lnTo>
                      <a:pt x="196" y="288"/>
                    </a:lnTo>
                    <a:lnTo>
                      <a:pt x="202" y="282"/>
                    </a:lnTo>
                    <a:lnTo>
                      <a:pt x="206" y="272"/>
                    </a:lnTo>
                    <a:lnTo>
                      <a:pt x="212" y="262"/>
                    </a:lnTo>
                    <a:lnTo>
                      <a:pt x="214" y="252"/>
                    </a:lnTo>
                    <a:lnTo>
                      <a:pt x="214" y="250"/>
                    </a:lnTo>
                    <a:lnTo>
                      <a:pt x="210" y="250"/>
                    </a:lnTo>
                    <a:lnTo>
                      <a:pt x="206" y="248"/>
                    </a:lnTo>
                    <a:lnTo>
                      <a:pt x="206" y="246"/>
                    </a:lnTo>
                    <a:lnTo>
                      <a:pt x="206" y="246"/>
                    </a:lnTo>
                    <a:lnTo>
                      <a:pt x="204" y="242"/>
                    </a:lnTo>
                    <a:lnTo>
                      <a:pt x="204" y="238"/>
                    </a:lnTo>
                    <a:lnTo>
                      <a:pt x="206" y="236"/>
                    </a:lnTo>
                    <a:lnTo>
                      <a:pt x="206" y="234"/>
                    </a:lnTo>
                    <a:lnTo>
                      <a:pt x="202" y="228"/>
                    </a:lnTo>
                    <a:lnTo>
                      <a:pt x="198" y="226"/>
                    </a:lnTo>
                    <a:lnTo>
                      <a:pt x="194" y="224"/>
                    </a:lnTo>
                    <a:lnTo>
                      <a:pt x="194" y="220"/>
                    </a:lnTo>
                    <a:lnTo>
                      <a:pt x="192" y="218"/>
                    </a:lnTo>
                    <a:lnTo>
                      <a:pt x="190" y="216"/>
                    </a:lnTo>
                    <a:lnTo>
                      <a:pt x="190" y="214"/>
                    </a:lnTo>
                    <a:lnTo>
                      <a:pt x="190" y="212"/>
                    </a:lnTo>
                    <a:lnTo>
                      <a:pt x="190" y="210"/>
                    </a:lnTo>
                    <a:lnTo>
                      <a:pt x="188" y="206"/>
                    </a:lnTo>
                    <a:lnTo>
                      <a:pt x="192" y="206"/>
                    </a:lnTo>
                    <a:lnTo>
                      <a:pt x="192" y="190"/>
                    </a:lnTo>
                    <a:lnTo>
                      <a:pt x="194" y="190"/>
                    </a:lnTo>
                    <a:lnTo>
                      <a:pt x="194" y="186"/>
                    </a:lnTo>
                    <a:lnTo>
                      <a:pt x="194" y="178"/>
                    </a:lnTo>
                    <a:lnTo>
                      <a:pt x="194" y="176"/>
                    </a:lnTo>
                    <a:lnTo>
                      <a:pt x="196" y="174"/>
                    </a:lnTo>
                    <a:lnTo>
                      <a:pt x="196" y="170"/>
                    </a:lnTo>
                    <a:lnTo>
                      <a:pt x="196" y="168"/>
                    </a:lnTo>
                    <a:lnTo>
                      <a:pt x="198" y="166"/>
                    </a:lnTo>
                    <a:lnTo>
                      <a:pt x="198" y="164"/>
                    </a:lnTo>
                    <a:lnTo>
                      <a:pt x="200" y="162"/>
                    </a:lnTo>
                    <a:lnTo>
                      <a:pt x="200" y="158"/>
                    </a:lnTo>
                    <a:lnTo>
                      <a:pt x="200" y="154"/>
                    </a:lnTo>
                    <a:lnTo>
                      <a:pt x="202" y="150"/>
                    </a:lnTo>
                    <a:lnTo>
                      <a:pt x="204" y="148"/>
                    </a:lnTo>
                    <a:lnTo>
                      <a:pt x="206" y="138"/>
                    </a:lnTo>
                    <a:lnTo>
                      <a:pt x="206" y="134"/>
                    </a:lnTo>
                    <a:lnTo>
                      <a:pt x="210" y="132"/>
                    </a:lnTo>
                    <a:lnTo>
                      <a:pt x="214" y="126"/>
                    </a:lnTo>
                    <a:lnTo>
                      <a:pt x="214" y="120"/>
                    </a:lnTo>
                    <a:lnTo>
                      <a:pt x="216" y="118"/>
                    </a:lnTo>
                    <a:lnTo>
                      <a:pt x="218" y="116"/>
                    </a:lnTo>
                    <a:lnTo>
                      <a:pt x="222" y="116"/>
                    </a:lnTo>
                    <a:lnTo>
                      <a:pt x="224" y="114"/>
                    </a:lnTo>
                    <a:lnTo>
                      <a:pt x="226" y="110"/>
                    </a:lnTo>
                    <a:lnTo>
                      <a:pt x="230" y="110"/>
                    </a:lnTo>
                    <a:lnTo>
                      <a:pt x="234" y="106"/>
                    </a:lnTo>
                    <a:lnTo>
                      <a:pt x="236" y="100"/>
                    </a:lnTo>
                    <a:lnTo>
                      <a:pt x="238" y="98"/>
                    </a:lnTo>
                    <a:lnTo>
                      <a:pt x="242" y="98"/>
                    </a:lnTo>
                    <a:lnTo>
                      <a:pt x="246" y="96"/>
                    </a:lnTo>
                    <a:lnTo>
                      <a:pt x="248" y="96"/>
                    </a:lnTo>
                    <a:lnTo>
                      <a:pt x="252" y="92"/>
                    </a:lnTo>
                    <a:lnTo>
                      <a:pt x="252" y="90"/>
                    </a:lnTo>
                    <a:lnTo>
                      <a:pt x="252" y="76"/>
                    </a:lnTo>
                    <a:lnTo>
                      <a:pt x="252" y="64"/>
                    </a:lnTo>
                    <a:lnTo>
                      <a:pt x="248" y="64"/>
                    </a:lnTo>
                    <a:lnTo>
                      <a:pt x="246" y="64"/>
                    </a:lnTo>
                    <a:lnTo>
                      <a:pt x="246" y="66"/>
                    </a:lnTo>
                    <a:lnTo>
                      <a:pt x="244" y="66"/>
                    </a:lnTo>
                    <a:lnTo>
                      <a:pt x="240" y="64"/>
                    </a:lnTo>
                    <a:lnTo>
                      <a:pt x="238" y="66"/>
                    </a:lnTo>
                    <a:lnTo>
                      <a:pt x="236" y="68"/>
                    </a:lnTo>
                    <a:lnTo>
                      <a:pt x="238" y="70"/>
                    </a:lnTo>
                    <a:lnTo>
                      <a:pt x="238" y="78"/>
                    </a:lnTo>
                    <a:lnTo>
                      <a:pt x="238" y="82"/>
                    </a:lnTo>
                    <a:lnTo>
                      <a:pt x="236" y="84"/>
                    </a:lnTo>
                    <a:lnTo>
                      <a:pt x="232" y="88"/>
                    </a:lnTo>
                    <a:lnTo>
                      <a:pt x="230" y="92"/>
                    </a:lnTo>
                    <a:lnTo>
                      <a:pt x="228" y="94"/>
                    </a:lnTo>
                    <a:lnTo>
                      <a:pt x="226" y="96"/>
                    </a:lnTo>
                    <a:lnTo>
                      <a:pt x="220" y="96"/>
                    </a:lnTo>
                    <a:lnTo>
                      <a:pt x="214" y="94"/>
                    </a:lnTo>
                    <a:lnTo>
                      <a:pt x="208" y="94"/>
                    </a:lnTo>
                    <a:lnTo>
                      <a:pt x="206" y="96"/>
                    </a:lnTo>
                    <a:lnTo>
                      <a:pt x="202" y="94"/>
                    </a:lnTo>
                    <a:lnTo>
                      <a:pt x="196" y="92"/>
                    </a:lnTo>
                    <a:lnTo>
                      <a:pt x="192" y="92"/>
                    </a:lnTo>
                    <a:lnTo>
                      <a:pt x="188" y="92"/>
                    </a:lnTo>
                    <a:lnTo>
                      <a:pt x="188" y="88"/>
                    </a:lnTo>
                    <a:lnTo>
                      <a:pt x="192" y="82"/>
                    </a:lnTo>
                    <a:lnTo>
                      <a:pt x="196" y="76"/>
                    </a:lnTo>
                    <a:lnTo>
                      <a:pt x="198" y="68"/>
                    </a:lnTo>
                    <a:lnTo>
                      <a:pt x="200" y="62"/>
                    </a:lnTo>
                    <a:lnTo>
                      <a:pt x="200" y="60"/>
                    </a:lnTo>
                    <a:lnTo>
                      <a:pt x="198" y="58"/>
                    </a:lnTo>
                    <a:lnTo>
                      <a:pt x="192" y="52"/>
                    </a:lnTo>
                    <a:lnTo>
                      <a:pt x="190" y="50"/>
                    </a:lnTo>
                    <a:lnTo>
                      <a:pt x="184" y="46"/>
                    </a:lnTo>
                    <a:lnTo>
                      <a:pt x="182" y="44"/>
                    </a:lnTo>
                    <a:lnTo>
                      <a:pt x="180" y="44"/>
                    </a:lnTo>
                    <a:lnTo>
                      <a:pt x="178" y="44"/>
                    </a:lnTo>
                    <a:lnTo>
                      <a:pt x="174" y="42"/>
                    </a:lnTo>
                    <a:lnTo>
                      <a:pt x="172" y="36"/>
                    </a:lnTo>
                    <a:lnTo>
                      <a:pt x="166" y="36"/>
                    </a:lnTo>
                    <a:lnTo>
                      <a:pt x="164" y="34"/>
                    </a:lnTo>
                    <a:lnTo>
                      <a:pt x="164" y="32"/>
                    </a:lnTo>
                    <a:lnTo>
                      <a:pt x="160" y="26"/>
                    </a:lnTo>
                    <a:lnTo>
                      <a:pt x="158" y="22"/>
                    </a:lnTo>
                    <a:lnTo>
                      <a:pt x="156" y="20"/>
                    </a:lnTo>
                    <a:lnTo>
                      <a:pt x="152" y="18"/>
                    </a:lnTo>
                    <a:lnTo>
                      <a:pt x="150" y="14"/>
                    </a:lnTo>
                    <a:lnTo>
                      <a:pt x="146" y="8"/>
                    </a:lnTo>
                    <a:lnTo>
                      <a:pt x="140" y="2"/>
                    </a:lnTo>
                    <a:lnTo>
                      <a:pt x="140" y="2"/>
                    </a:lnTo>
                    <a:close/>
                    <a:moveTo>
                      <a:pt x="70" y="598"/>
                    </a:moveTo>
                    <a:lnTo>
                      <a:pt x="72" y="598"/>
                    </a:lnTo>
                    <a:lnTo>
                      <a:pt x="76" y="598"/>
                    </a:lnTo>
                    <a:lnTo>
                      <a:pt x="78" y="600"/>
                    </a:lnTo>
                    <a:lnTo>
                      <a:pt x="78" y="598"/>
                    </a:lnTo>
                    <a:lnTo>
                      <a:pt x="82" y="602"/>
                    </a:lnTo>
                    <a:lnTo>
                      <a:pt x="88" y="600"/>
                    </a:lnTo>
                    <a:lnTo>
                      <a:pt x="88" y="598"/>
                    </a:lnTo>
                    <a:lnTo>
                      <a:pt x="98" y="598"/>
                    </a:lnTo>
                    <a:lnTo>
                      <a:pt x="98" y="600"/>
                    </a:lnTo>
                    <a:lnTo>
                      <a:pt x="102" y="596"/>
                    </a:lnTo>
                    <a:lnTo>
                      <a:pt x="88" y="592"/>
                    </a:lnTo>
                    <a:lnTo>
                      <a:pt x="84" y="592"/>
                    </a:lnTo>
                    <a:lnTo>
                      <a:pt x="80" y="588"/>
                    </a:lnTo>
                    <a:lnTo>
                      <a:pt x="78" y="586"/>
                    </a:lnTo>
                    <a:lnTo>
                      <a:pt x="74" y="584"/>
                    </a:lnTo>
                    <a:lnTo>
                      <a:pt x="72" y="582"/>
                    </a:lnTo>
                    <a:lnTo>
                      <a:pt x="72" y="580"/>
                    </a:lnTo>
                    <a:lnTo>
                      <a:pt x="68" y="578"/>
                    </a:lnTo>
                    <a:lnTo>
                      <a:pt x="64" y="574"/>
                    </a:lnTo>
                    <a:lnTo>
                      <a:pt x="60" y="568"/>
                    </a:lnTo>
                    <a:lnTo>
                      <a:pt x="60" y="566"/>
                    </a:lnTo>
                    <a:lnTo>
                      <a:pt x="62" y="564"/>
                    </a:lnTo>
                    <a:lnTo>
                      <a:pt x="58" y="556"/>
                    </a:lnTo>
                    <a:lnTo>
                      <a:pt x="56" y="556"/>
                    </a:lnTo>
                    <a:lnTo>
                      <a:pt x="60" y="600"/>
                    </a:lnTo>
                    <a:lnTo>
                      <a:pt x="64" y="598"/>
                    </a:lnTo>
                    <a:lnTo>
                      <a:pt x="70" y="598"/>
                    </a:lnTo>
                    <a:lnTo>
                      <a:pt x="70" y="59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78" name="Freeform 453">
                <a:extLst>
                  <a:ext uri="{FF2B5EF4-FFF2-40B4-BE49-F238E27FC236}">
                    <a16:creationId xmlns:a16="http://schemas.microsoft.com/office/drawing/2014/main" id="{A0EB845E-9A85-96AE-20E8-DC614738B3FD}"/>
                  </a:ext>
                </a:extLst>
              </p:cNvPr>
              <p:cNvSpPr>
                <a:spLocks/>
              </p:cNvSpPr>
              <p:nvPr/>
            </p:nvSpPr>
            <p:spPr bwMode="auto">
              <a:xfrm>
                <a:off x="4986651" y="4325261"/>
                <a:ext cx="13613" cy="13450"/>
              </a:xfrm>
              <a:custGeom>
                <a:avLst/>
                <a:gdLst/>
                <a:ahLst/>
                <a:cxnLst>
                  <a:cxn ang="0">
                    <a:pos x="4" y="14"/>
                  </a:cxn>
                  <a:cxn ang="0">
                    <a:pos x="10" y="12"/>
                  </a:cxn>
                  <a:cxn ang="0">
                    <a:pos x="10" y="8"/>
                  </a:cxn>
                  <a:cxn ang="0">
                    <a:pos x="10" y="6"/>
                  </a:cxn>
                  <a:cxn ang="0">
                    <a:pos x="12" y="4"/>
                  </a:cxn>
                  <a:cxn ang="0">
                    <a:pos x="14" y="2"/>
                  </a:cxn>
                  <a:cxn ang="0">
                    <a:pos x="12" y="0"/>
                  </a:cxn>
                  <a:cxn ang="0">
                    <a:pos x="10" y="0"/>
                  </a:cxn>
                  <a:cxn ang="0">
                    <a:pos x="8" y="0"/>
                  </a:cxn>
                  <a:cxn ang="0">
                    <a:pos x="6" y="4"/>
                  </a:cxn>
                  <a:cxn ang="0">
                    <a:pos x="8" y="4"/>
                  </a:cxn>
                  <a:cxn ang="0">
                    <a:pos x="4" y="4"/>
                  </a:cxn>
                  <a:cxn ang="0">
                    <a:pos x="0" y="4"/>
                  </a:cxn>
                  <a:cxn ang="0">
                    <a:pos x="0" y="6"/>
                  </a:cxn>
                  <a:cxn ang="0">
                    <a:pos x="0" y="10"/>
                  </a:cxn>
                  <a:cxn ang="0">
                    <a:pos x="0" y="12"/>
                  </a:cxn>
                  <a:cxn ang="0">
                    <a:pos x="4" y="14"/>
                  </a:cxn>
                  <a:cxn ang="0">
                    <a:pos x="4" y="14"/>
                  </a:cxn>
                </a:cxnLst>
                <a:rect l="0" t="0" r="r" b="b"/>
                <a:pathLst>
                  <a:path w="14" h="14">
                    <a:moveTo>
                      <a:pt x="4" y="14"/>
                    </a:moveTo>
                    <a:lnTo>
                      <a:pt x="10" y="12"/>
                    </a:lnTo>
                    <a:lnTo>
                      <a:pt x="10" y="8"/>
                    </a:lnTo>
                    <a:lnTo>
                      <a:pt x="10" y="6"/>
                    </a:lnTo>
                    <a:lnTo>
                      <a:pt x="12" y="4"/>
                    </a:lnTo>
                    <a:lnTo>
                      <a:pt x="14" y="2"/>
                    </a:lnTo>
                    <a:lnTo>
                      <a:pt x="12" y="0"/>
                    </a:lnTo>
                    <a:lnTo>
                      <a:pt x="10" y="0"/>
                    </a:lnTo>
                    <a:lnTo>
                      <a:pt x="8" y="0"/>
                    </a:lnTo>
                    <a:lnTo>
                      <a:pt x="6" y="4"/>
                    </a:lnTo>
                    <a:lnTo>
                      <a:pt x="8" y="4"/>
                    </a:lnTo>
                    <a:lnTo>
                      <a:pt x="4" y="4"/>
                    </a:lnTo>
                    <a:lnTo>
                      <a:pt x="0" y="4"/>
                    </a:lnTo>
                    <a:lnTo>
                      <a:pt x="0" y="6"/>
                    </a:lnTo>
                    <a:lnTo>
                      <a:pt x="0" y="10"/>
                    </a:lnTo>
                    <a:lnTo>
                      <a:pt x="0" y="12"/>
                    </a:lnTo>
                    <a:lnTo>
                      <a:pt x="4" y="14"/>
                    </a:lnTo>
                    <a:lnTo>
                      <a:pt x="4" y="1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79" name="Freeform 454">
                <a:extLst>
                  <a:ext uri="{FF2B5EF4-FFF2-40B4-BE49-F238E27FC236}">
                    <a16:creationId xmlns:a16="http://schemas.microsoft.com/office/drawing/2014/main" id="{9F648DAF-2B32-0792-F2D5-5220E0C1711A}"/>
                  </a:ext>
                </a:extLst>
              </p:cNvPr>
              <p:cNvSpPr>
                <a:spLocks/>
              </p:cNvSpPr>
              <p:nvPr/>
            </p:nvSpPr>
            <p:spPr bwMode="auto">
              <a:xfrm>
                <a:off x="4856356" y="3579770"/>
                <a:ext cx="5834" cy="3843"/>
              </a:xfrm>
              <a:custGeom>
                <a:avLst/>
                <a:gdLst/>
                <a:ahLst/>
                <a:cxnLst>
                  <a:cxn ang="0">
                    <a:pos x="6" y="2"/>
                  </a:cxn>
                  <a:cxn ang="0">
                    <a:pos x="2" y="4"/>
                  </a:cxn>
                  <a:cxn ang="0">
                    <a:pos x="0" y="0"/>
                  </a:cxn>
                  <a:cxn ang="0">
                    <a:pos x="2" y="0"/>
                  </a:cxn>
                  <a:cxn ang="0">
                    <a:pos x="4" y="0"/>
                  </a:cxn>
                  <a:cxn ang="0">
                    <a:pos x="6" y="2"/>
                  </a:cxn>
                  <a:cxn ang="0">
                    <a:pos x="6" y="2"/>
                  </a:cxn>
                </a:cxnLst>
                <a:rect l="0" t="0" r="r" b="b"/>
                <a:pathLst>
                  <a:path w="6" h="4">
                    <a:moveTo>
                      <a:pt x="6" y="2"/>
                    </a:moveTo>
                    <a:lnTo>
                      <a:pt x="2" y="4"/>
                    </a:lnTo>
                    <a:lnTo>
                      <a:pt x="0" y="0"/>
                    </a:lnTo>
                    <a:lnTo>
                      <a:pt x="2" y="0"/>
                    </a:lnTo>
                    <a:lnTo>
                      <a:pt x="4" y="0"/>
                    </a:lnTo>
                    <a:lnTo>
                      <a:pt x="6" y="2"/>
                    </a:lnTo>
                    <a:lnTo>
                      <a:pt x="6"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80" name="Freeform 455">
                <a:extLst>
                  <a:ext uri="{FF2B5EF4-FFF2-40B4-BE49-F238E27FC236}">
                    <a16:creationId xmlns:a16="http://schemas.microsoft.com/office/drawing/2014/main" id="{4E237FC4-482B-C60E-D86A-463FB80FE004}"/>
                  </a:ext>
                </a:extLst>
              </p:cNvPr>
              <p:cNvSpPr>
                <a:spLocks/>
              </p:cNvSpPr>
              <p:nvPr/>
            </p:nvSpPr>
            <p:spPr bwMode="auto">
              <a:xfrm>
                <a:off x="4856356" y="3579770"/>
                <a:ext cx="5834" cy="3843"/>
              </a:xfrm>
              <a:custGeom>
                <a:avLst/>
                <a:gdLst/>
                <a:ahLst/>
                <a:cxnLst>
                  <a:cxn ang="0">
                    <a:pos x="6" y="2"/>
                  </a:cxn>
                  <a:cxn ang="0">
                    <a:pos x="2" y="4"/>
                  </a:cxn>
                  <a:cxn ang="0">
                    <a:pos x="0" y="0"/>
                  </a:cxn>
                  <a:cxn ang="0">
                    <a:pos x="2" y="0"/>
                  </a:cxn>
                  <a:cxn ang="0">
                    <a:pos x="4" y="0"/>
                  </a:cxn>
                  <a:cxn ang="0">
                    <a:pos x="6" y="2"/>
                  </a:cxn>
                  <a:cxn ang="0">
                    <a:pos x="6" y="2"/>
                  </a:cxn>
                </a:cxnLst>
                <a:rect l="0" t="0" r="r" b="b"/>
                <a:pathLst>
                  <a:path w="6" h="4">
                    <a:moveTo>
                      <a:pt x="6" y="2"/>
                    </a:moveTo>
                    <a:lnTo>
                      <a:pt x="2" y="4"/>
                    </a:lnTo>
                    <a:lnTo>
                      <a:pt x="0" y="0"/>
                    </a:lnTo>
                    <a:lnTo>
                      <a:pt x="2" y="0"/>
                    </a:lnTo>
                    <a:lnTo>
                      <a:pt x="4" y="0"/>
                    </a:lnTo>
                    <a:lnTo>
                      <a:pt x="6" y="2"/>
                    </a:lnTo>
                    <a:lnTo>
                      <a:pt x="6"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81" name="Freeform 457">
                <a:extLst>
                  <a:ext uri="{FF2B5EF4-FFF2-40B4-BE49-F238E27FC236}">
                    <a16:creationId xmlns:a16="http://schemas.microsoft.com/office/drawing/2014/main" id="{050C6263-E697-C833-9F5A-ABB08C14A36F}"/>
                  </a:ext>
                </a:extLst>
              </p:cNvPr>
              <p:cNvSpPr>
                <a:spLocks/>
              </p:cNvSpPr>
              <p:nvPr/>
            </p:nvSpPr>
            <p:spPr bwMode="auto">
              <a:xfrm>
                <a:off x="5078051" y="3579770"/>
                <a:ext cx="25281" cy="49955"/>
              </a:xfrm>
              <a:custGeom>
                <a:avLst/>
                <a:gdLst/>
                <a:ahLst/>
                <a:cxnLst>
                  <a:cxn ang="0">
                    <a:pos x="0" y="10"/>
                  </a:cxn>
                  <a:cxn ang="0">
                    <a:pos x="0" y="10"/>
                  </a:cxn>
                  <a:cxn ang="0">
                    <a:pos x="2" y="12"/>
                  </a:cxn>
                  <a:cxn ang="0">
                    <a:pos x="6" y="12"/>
                  </a:cxn>
                  <a:cxn ang="0">
                    <a:pos x="4" y="20"/>
                  </a:cxn>
                  <a:cxn ang="0">
                    <a:pos x="6" y="22"/>
                  </a:cxn>
                  <a:cxn ang="0">
                    <a:pos x="6" y="24"/>
                  </a:cxn>
                  <a:cxn ang="0">
                    <a:pos x="4" y="30"/>
                  </a:cxn>
                  <a:cxn ang="0">
                    <a:pos x="4" y="38"/>
                  </a:cxn>
                  <a:cxn ang="0">
                    <a:pos x="4" y="42"/>
                  </a:cxn>
                  <a:cxn ang="0">
                    <a:pos x="8" y="44"/>
                  </a:cxn>
                  <a:cxn ang="0">
                    <a:pos x="14" y="48"/>
                  </a:cxn>
                  <a:cxn ang="0">
                    <a:pos x="14" y="52"/>
                  </a:cxn>
                  <a:cxn ang="0">
                    <a:pos x="18" y="52"/>
                  </a:cxn>
                  <a:cxn ang="0">
                    <a:pos x="20" y="52"/>
                  </a:cxn>
                  <a:cxn ang="0">
                    <a:pos x="20" y="50"/>
                  </a:cxn>
                  <a:cxn ang="0">
                    <a:pos x="24" y="48"/>
                  </a:cxn>
                  <a:cxn ang="0">
                    <a:pos x="26" y="42"/>
                  </a:cxn>
                  <a:cxn ang="0">
                    <a:pos x="26" y="36"/>
                  </a:cxn>
                  <a:cxn ang="0">
                    <a:pos x="24" y="34"/>
                  </a:cxn>
                  <a:cxn ang="0">
                    <a:pos x="22" y="30"/>
                  </a:cxn>
                  <a:cxn ang="0">
                    <a:pos x="20" y="26"/>
                  </a:cxn>
                  <a:cxn ang="0">
                    <a:pos x="22" y="24"/>
                  </a:cxn>
                  <a:cxn ang="0">
                    <a:pos x="22" y="18"/>
                  </a:cxn>
                  <a:cxn ang="0">
                    <a:pos x="22" y="16"/>
                  </a:cxn>
                  <a:cxn ang="0">
                    <a:pos x="20" y="8"/>
                  </a:cxn>
                  <a:cxn ang="0">
                    <a:pos x="14" y="2"/>
                  </a:cxn>
                  <a:cxn ang="0">
                    <a:pos x="12" y="6"/>
                  </a:cxn>
                  <a:cxn ang="0">
                    <a:pos x="10" y="0"/>
                  </a:cxn>
                  <a:cxn ang="0">
                    <a:pos x="2" y="4"/>
                  </a:cxn>
                  <a:cxn ang="0">
                    <a:pos x="0" y="10"/>
                  </a:cxn>
                  <a:cxn ang="0">
                    <a:pos x="0" y="10"/>
                  </a:cxn>
                </a:cxnLst>
                <a:rect l="0" t="0" r="r" b="b"/>
                <a:pathLst>
                  <a:path w="26" h="52">
                    <a:moveTo>
                      <a:pt x="0" y="10"/>
                    </a:moveTo>
                    <a:lnTo>
                      <a:pt x="0" y="10"/>
                    </a:lnTo>
                    <a:lnTo>
                      <a:pt x="2" y="12"/>
                    </a:lnTo>
                    <a:lnTo>
                      <a:pt x="6" y="12"/>
                    </a:lnTo>
                    <a:lnTo>
                      <a:pt x="4" y="20"/>
                    </a:lnTo>
                    <a:lnTo>
                      <a:pt x="6" y="22"/>
                    </a:lnTo>
                    <a:lnTo>
                      <a:pt x="6" y="24"/>
                    </a:lnTo>
                    <a:lnTo>
                      <a:pt x="4" y="30"/>
                    </a:lnTo>
                    <a:lnTo>
                      <a:pt x="4" y="38"/>
                    </a:lnTo>
                    <a:lnTo>
                      <a:pt x="4" y="42"/>
                    </a:lnTo>
                    <a:lnTo>
                      <a:pt x="8" y="44"/>
                    </a:lnTo>
                    <a:lnTo>
                      <a:pt x="14" y="48"/>
                    </a:lnTo>
                    <a:lnTo>
                      <a:pt x="14" y="52"/>
                    </a:lnTo>
                    <a:lnTo>
                      <a:pt x="18" y="52"/>
                    </a:lnTo>
                    <a:lnTo>
                      <a:pt x="20" y="52"/>
                    </a:lnTo>
                    <a:lnTo>
                      <a:pt x="20" y="50"/>
                    </a:lnTo>
                    <a:lnTo>
                      <a:pt x="24" y="48"/>
                    </a:lnTo>
                    <a:lnTo>
                      <a:pt x="26" y="42"/>
                    </a:lnTo>
                    <a:lnTo>
                      <a:pt x="26" y="36"/>
                    </a:lnTo>
                    <a:lnTo>
                      <a:pt x="24" y="34"/>
                    </a:lnTo>
                    <a:lnTo>
                      <a:pt x="22" y="30"/>
                    </a:lnTo>
                    <a:lnTo>
                      <a:pt x="20" y="26"/>
                    </a:lnTo>
                    <a:lnTo>
                      <a:pt x="22" y="24"/>
                    </a:lnTo>
                    <a:lnTo>
                      <a:pt x="22" y="18"/>
                    </a:lnTo>
                    <a:lnTo>
                      <a:pt x="22" y="16"/>
                    </a:lnTo>
                    <a:lnTo>
                      <a:pt x="20" y="8"/>
                    </a:lnTo>
                    <a:lnTo>
                      <a:pt x="14" y="2"/>
                    </a:lnTo>
                    <a:lnTo>
                      <a:pt x="12" y="6"/>
                    </a:lnTo>
                    <a:lnTo>
                      <a:pt x="10" y="0"/>
                    </a:lnTo>
                    <a:lnTo>
                      <a:pt x="2" y="4"/>
                    </a:lnTo>
                    <a:lnTo>
                      <a:pt x="0" y="10"/>
                    </a:lnTo>
                    <a:lnTo>
                      <a:pt x="0" y="1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82" name="Freeform 466">
                <a:extLst>
                  <a:ext uri="{FF2B5EF4-FFF2-40B4-BE49-F238E27FC236}">
                    <a16:creationId xmlns:a16="http://schemas.microsoft.com/office/drawing/2014/main" id="{5D904C32-E97A-3333-7C59-BD91B62D551C}"/>
                  </a:ext>
                </a:extLst>
              </p:cNvPr>
              <p:cNvSpPr>
                <a:spLocks noEditPoints="1"/>
              </p:cNvSpPr>
              <p:nvPr/>
            </p:nvSpPr>
            <p:spPr bwMode="auto">
              <a:xfrm>
                <a:off x="5169452" y="3587455"/>
                <a:ext cx="237253" cy="109518"/>
              </a:xfrm>
              <a:custGeom>
                <a:avLst/>
                <a:gdLst/>
                <a:ahLst/>
                <a:cxnLst>
                  <a:cxn ang="0">
                    <a:pos x="16" y="6"/>
                  </a:cxn>
                  <a:cxn ang="0">
                    <a:pos x="12" y="12"/>
                  </a:cxn>
                  <a:cxn ang="0">
                    <a:pos x="10" y="18"/>
                  </a:cxn>
                  <a:cxn ang="0">
                    <a:pos x="4" y="22"/>
                  </a:cxn>
                  <a:cxn ang="0">
                    <a:pos x="4" y="28"/>
                  </a:cxn>
                  <a:cxn ang="0">
                    <a:pos x="2" y="36"/>
                  </a:cxn>
                  <a:cxn ang="0">
                    <a:pos x="20" y="22"/>
                  </a:cxn>
                  <a:cxn ang="0">
                    <a:pos x="30" y="12"/>
                  </a:cxn>
                  <a:cxn ang="0">
                    <a:pos x="24" y="6"/>
                  </a:cxn>
                  <a:cxn ang="0">
                    <a:pos x="130" y="114"/>
                  </a:cxn>
                  <a:cxn ang="0">
                    <a:pos x="136" y="108"/>
                  </a:cxn>
                  <a:cxn ang="0">
                    <a:pos x="136" y="100"/>
                  </a:cxn>
                  <a:cxn ang="0">
                    <a:pos x="144" y="102"/>
                  </a:cxn>
                  <a:cxn ang="0">
                    <a:pos x="156" y="98"/>
                  </a:cxn>
                  <a:cxn ang="0">
                    <a:pos x="174" y="92"/>
                  </a:cxn>
                  <a:cxn ang="0">
                    <a:pos x="192" y="90"/>
                  </a:cxn>
                  <a:cxn ang="0">
                    <a:pos x="208" y="90"/>
                  </a:cxn>
                  <a:cxn ang="0">
                    <a:pos x="218" y="90"/>
                  </a:cxn>
                  <a:cxn ang="0">
                    <a:pos x="228" y="92"/>
                  </a:cxn>
                  <a:cxn ang="0">
                    <a:pos x="236" y="84"/>
                  </a:cxn>
                  <a:cxn ang="0">
                    <a:pos x="230" y="68"/>
                  </a:cxn>
                  <a:cxn ang="0">
                    <a:pos x="232" y="58"/>
                  </a:cxn>
                  <a:cxn ang="0">
                    <a:pos x="234" y="46"/>
                  </a:cxn>
                  <a:cxn ang="0">
                    <a:pos x="244" y="42"/>
                  </a:cxn>
                  <a:cxn ang="0">
                    <a:pos x="228" y="34"/>
                  </a:cxn>
                  <a:cxn ang="0">
                    <a:pos x="230" y="24"/>
                  </a:cxn>
                  <a:cxn ang="0">
                    <a:pos x="226" y="14"/>
                  </a:cxn>
                  <a:cxn ang="0">
                    <a:pos x="216" y="12"/>
                  </a:cxn>
                  <a:cxn ang="0">
                    <a:pos x="202" y="8"/>
                  </a:cxn>
                  <a:cxn ang="0">
                    <a:pos x="196" y="8"/>
                  </a:cxn>
                  <a:cxn ang="0">
                    <a:pos x="184" y="16"/>
                  </a:cxn>
                  <a:cxn ang="0">
                    <a:pos x="174" y="18"/>
                  </a:cxn>
                  <a:cxn ang="0">
                    <a:pos x="154" y="20"/>
                  </a:cxn>
                  <a:cxn ang="0">
                    <a:pos x="140" y="12"/>
                  </a:cxn>
                  <a:cxn ang="0">
                    <a:pos x="126" y="6"/>
                  </a:cxn>
                  <a:cxn ang="0">
                    <a:pos x="110" y="2"/>
                  </a:cxn>
                  <a:cxn ang="0">
                    <a:pos x="92" y="0"/>
                  </a:cxn>
                  <a:cxn ang="0">
                    <a:pos x="78" y="8"/>
                  </a:cxn>
                  <a:cxn ang="0">
                    <a:pos x="58" y="18"/>
                  </a:cxn>
                  <a:cxn ang="0">
                    <a:pos x="40" y="16"/>
                  </a:cxn>
                  <a:cxn ang="0">
                    <a:pos x="38" y="24"/>
                  </a:cxn>
                  <a:cxn ang="0">
                    <a:pos x="26" y="28"/>
                  </a:cxn>
                  <a:cxn ang="0">
                    <a:pos x="14" y="32"/>
                  </a:cxn>
                  <a:cxn ang="0">
                    <a:pos x="2" y="44"/>
                  </a:cxn>
                  <a:cxn ang="0">
                    <a:pos x="8" y="62"/>
                  </a:cxn>
                  <a:cxn ang="0">
                    <a:pos x="8" y="68"/>
                  </a:cxn>
                  <a:cxn ang="0">
                    <a:pos x="4" y="70"/>
                  </a:cxn>
                  <a:cxn ang="0">
                    <a:pos x="14" y="84"/>
                  </a:cxn>
                  <a:cxn ang="0">
                    <a:pos x="24" y="98"/>
                  </a:cxn>
                  <a:cxn ang="0">
                    <a:pos x="38" y="100"/>
                  </a:cxn>
                  <a:cxn ang="0">
                    <a:pos x="54" y="106"/>
                  </a:cxn>
                  <a:cxn ang="0">
                    <a:pos x="80" y="106"/>
                  </a:cxn>
                  <a:cxn ang="0">
                    <a:pos x="106" y="104"/>
                  </a:cxn>
                  <a:cxn ang="0">
                    <a:pos x="116" y="102"/>
                  </a:cxn>
                  <a:cxn ang="0">
                    <a:pos x="124" y="104"/>
                  </a:cxn>
                  <a:cxn ang="0">
                    <a:pos x="124" y="114"/>
                  </a:cxn>
                </a:cxnLst>
                <a:rect l="0" t="0" r="r" b="b"/>
                <a:pathLst>
                  <a:path w="244" h="114">
                    <a:moveTo>
                      <a:pt x="24" y="6"/>
                    </a:moveTo>
                    <a:lnTo>
                      <a:pt x="24" y="6"/>
                    </a:lnTo>
                    <a:lnTo>
                      <a:pt x="20" y="6"/>
                    </a:lnTo>
                    <a:lnTo>
                      <a:pt x="16" y="6"/>
                    </a:lnTo>
                    <a:lnTo>
                      <a:pt x="12" y="4"/>
                    </a:lnTo>
                    <a:lnTo>
                      <a:pt x="8" y="6"/>
                    </a:lnTo>
                    <a:lnTo>
                      <a:pt x="8" y="8"/>
                    </a:lnTo>
                    <a:lnTo>
                      <a:pt x="12" y="12"/>
                    </a:lnTo>
                    <a:lnTo>
                      <a:pt x="14" y="14"/>
                    </a:lnTo>
                    <a:lnTo>
                      <a:pt x="14" y="16"/>
                    </a:lnTo>
                    <a:lnTo>
                      <a:pt x="12" y="18"/>
                    </a:lnTo>
                    <a:lnTo>
                      <a:pt x="10" y="18"/>
                    </a:lnTo>
                    <a:lnTo>
                      <a:pt x="6" y="18"/>
                    </a:lnTo>
                    <a:lnTo>
                      <a:pt x="6" y="16"/>
                    </a:lnTo>
                    <a:lnTo>
                      <a:pt x="4" y="18"/>
                    </a:lnTo>
                    <a:lnTo>
                      <a:pt x="4" y="22"/>
                    </a:lnTo>
                    <a:lnTo>
                      <a:pt x="2" y="24"/>
                    </a:lnTo>
                    <a:lnTo>
                      <a:pt x="0" y="26"/>
                    </a:lnTo>
                    <a:lnTo>
                      <a:pt x="2" y="28"/>
                    </a:lnTo>
                    <a:lnTo>
                      <a:pt x="4" y="28"/>
                    </a:lnTo>
                    <a:lnTo>
                      <a:pt x="0" y="30"/>
                    </a:lnTo>
                    <a:lnTo>
                      <a:pt x="0" y="34"/>
                    </a:lnTo>
                    <a:lnTo>
                      <a:pt x="0" y="36"/>
                    </a:lnTo>
                    <a:lnTo>
                      <a:pt x="2" y="36"/>
                    </a:lnTo>
                    <a:lnTo>
                      <a:pt x="10" y="28"/>
                    </a:lnTo>
                    <a:lnTo>
                      <a:pt x="18" y="26"/>
                    </a:lnTo>
                    <a:lnTo>
                      <a:pt x="18" y="24"/>
                    </a:lnTo>
                    <a:lnTo>
                      <a:pt x="20" y="22"/>
                    </a:lnTo>
                    <a:lnTo>
                      <a:pt x="28" y="22"/>
                    </a:lnTo>
                    <a:lnTo>
                      <a:pt x="34" y="20"/>
                    </a:lnTo>
                    <a:lnTo>
                      <a:pt x="36" y="16"/>
                    </a:lnTo>
                    <a:lnTo>
                      <a:pt x="30" y="12"/>
                    </a:lnTo>
                    <a:lnTo>
                      <a:pt x="26" y="10"/>
                    </a:lnTo>
                    <a:lnTo>
                      <a:pt x="24" y="8"/>
                    </a:lnTo>
                    <a:lnTo>
                      <a:pt x="24" y="6"/>
                    </a:lnTo>
                    <a:lnTo>
                      <a:pt x="24" y="6"/>
                    </a:lnTo>
                    <a:close/>
                    <a:moveTo>
                      <a:pt x="124" y="114"/>
                    </a:moveTo>
                    <a:lnTo>
                      <a:pt x="124" y="114"/>
                    </a:lnTo>
                    <a:lnTo>
                      <a:pt x="128" y="114"/>
                    </a:lnTo>
                    <a:lnTo>
                      <a:pt x="130" y="114"/>
                    </a:lnTo>
                    <a:lnTo>
                      <a:pt x="130" y="112"/>
                    </a:lnTo>
                    <a:lnTo>
                      <a:pt x="132" y="110"/>
                    </a:lnTo>
                    <a:lnTo>
                      <a:pt x="134" y="108"/>
                    </a:lnTo>
                    <a:lnTo>
                      <a:pt x="136" y="108"/>
                    </a:lnTo>
                    <a:lnTo>
                      <a:pt x="136" y="106"/>
                    </a:lnTo>
                    <a:lnTo>
                      <a:pt x="136" y="104"/>
                    </a:lnTo>
                    <a:lnTo>
                      <a:pt x="136" y="102"/>
                    </a:lnTo>
                    <a:lnTo>
                      <a:pt x="136" y="100"/>
                    </a:lnTo>
                    <a:lnTo>
                      <a:pt x="138" y="100"/>
                    </a:lnTo>
                    <a:lnTo>
                      <a:pt x="140" y="100"/>
                    </a:lnTo>
                    <a:lnTo>
                      <a:pt x="142" y="102"/>
                    </a:lnTo>
                    <a:lnTo>
                      <a:pt x="144" y="102"/>
                    </a:lnTo>
                    <a:lnTo>
                      <a:pt x="146" y="98"/>
                    </a:lnTo>
                    <a:lnTo>
                      <a:pt x="150" y="98"/>
                    </a:lnTo>
                    <a:lnTo>
                      <a:pt x="154" y="98"/>
                    </a:lnTo>
                    <a:lnTo>
                      <a:pt x="156" y="98"/>
                    </a:lnTo>
                    <a:lnTo>
                      <a:pt x="158" y="98"/>
                    </a:lnTo>
                    <a:lnTo>
                      <a:pt x="166" y="96"/>
                    </a:lnTo>
                    <a:lnTo>
                      <a:pt x="170" y="96"/>
                    </a:lnTo>
                    <a:lnTo>
                      <a:pt x="174" y="92"/>
                    </a:lnTo>
                    <a:lnTo>
                      <a:pt x="178" y="92"/>
                    </a:lnTo>
                    <a:lnTo>
                      <a:pt x="182" y="92"/>
                    </a:lnTo>
                    <a:lnTo>
                      <a:pt x="188" y="92"/>
                    </a:lnTo>
                    <a:lnTo>
                      <a:pt x="192" y="90"/>
                    </a:lnTo>
                    <a:lnTo>
                      <a:pt x="198" y="86"/>
                    </a:lnTo>
                    <a:lnTo>
                      <a:pt x="204" y="84"/>
                    </a:lnTo>
                    <a:lnTo>
                      <a:pt x="204" y="88"/>
                    </a:lnTo>
                    <a:lnTo>
                      <a:pt x="208" y="90"/>
                    </a:lnTo>
                    <a:lnTo>
                      <a:pt x="212" y="88"/>
                    </a:lnTo>
                    <a:lnTo>
                      <a:pt x="214" y="88"/>
                    </a:lnTo>
                    <a:lnTo>
                      <a:pt x="216" y="90"/>
                    </a:lnTo>
                    <a:lnTo>
                      <a:pt x="218" y="90"/>
                    </a:lnTo>
                    <a:lnTo>
                      <a:pt x="220" y="90"/>
                    </a:lnTo>
                    <a:lnTo>
                      <a:pt x="224" y="86"/>
                    </a:lnTo>
                    <a:lnTo>
                      <a:pt x="226" y="88"/>
                    </a:lnTo>
                    <a:lnTo>
                      <a:pt x="228" y="92"/>
                    </a:lnTo>
                    <a:lnTo>
                      <a:pt x="232" y="88"/>
                    </a:lnTo>
                    <a:lnTo>
                      <a:pt x="236" y="90"/>
                    </a:lnTo>
                    <a:lnTo>
                      <a:pt x="236" y="88"/>
                    </a:lnTo>
                    <a:lnTo>
                      <a:pt x="236" y="84"/>
                    </a:lnTo>
                    <a:lnTo>
                      <a:pt x="234" y="80"/>
                    </a:lnTo>
                    <a:lnTo>
                      <a:pt x="234" y="76"/>
                    </a:lnTo>
                    <a:lnTo>
                      <a:pt x="232" y="72"/>
                    </a:lnTo>
                    <a:lnTo>
                      <a:pt x="230" y="68"/>
                    </a:lnTo>
                    <a:lnTo>
                      <a:pt x="232" y="66"/>
                    </a:lnTo>
                    <a:lnTo>
                      <a:pt x="232" y="64"/>
                    </a:lnTo>
                    <a:lnTo>
                      <a:pt x="232" y="60"/>
                    </a:lnTo>
                    <a:lnTo>
                      <a:pt x="232" y="58"/>
                    </a:lnTo>
                    <a:lnTo>
                      <a:pt x="232" y="56"/>
                    </a:lnTo>
                    <a:lnTo>
                      <a:pt x="232" y="52"/>
                    </a:lnTo>
                    <a:lnTo>
                      <a:pt x="232" y="50"/>
                    </a:lnTo>
                    <a:lnTo>
                      <a:pt x="234" y="46"/>
                    </a:lnTo>
                    <a:lnTo>
                      <a:pt x="236" y="46"/>
                    </a:lnTo>
                    <a:lnTo>
                      <a:pt x="240" y="48"/>
                    </a:lnTo>
                    <a:lnTo>
                      <a:pt x="242" y="44"/>
                    </a:lnTo>
                    <a:lnTo>
                      <a:pt x="244" y="42"/>
                    </a:lnTo>
                    <a:lnTo>
                      <a:pt x="242" y="42"/>
                    </a:lnTo>
                    <a:lnTo>
                      <a:pt x="238" y="38"/>
                    </a:lnTo>
                    <a:lnTo>
                      <a:pt x="232" y="36"/>
                    </a:lnTo>
                    <a:lnTo>
                      <a:pt x="228" y="34"/>
                    </a:lnTo>
                    <a:lnTo>
                      <a:pt x="226" y="32"/>
                    </a:lnTo>
                    <a:lnTo>
                      <a:pt x="226" y="30"/>
                    </a:lnTo>
                    <a:lnTo>
                      <a:pt x="228" y="26"/>
                    </a:lnTo>
                    <a:lnTo>
                      <a:pt x="230" y="24"/>
                    </a:lnTo>
                    <a:lnTo>
                      <a:pt x="232" y="22"/>
                    </a:lnTo>
                    <a:lnTo>
                      <a:pt x="230" y="18"/>
                    </a:lnTo>
                    <a:lnTo>
                      <a:pt x="228" y="14"/>
                    </a:lnTo>
                    <a:lnTo>
                      <a:pt x="226" y="14"/>
                    </a:lnTo>
                    <a:lnTo>
                      <a:pt x="226" y="12"/>
                    </a:lnTo>
                    <a:lnTo>
                      <a:pt x="226" y="10"/>
                    </a:lnTo>
                    <a:lnTo>
                      <a:pt x="224" y="10"/>
                    </a:lnTo>
                    <a:lnTo>
                      <a:pt x="216" y="12"/>
                    </a:lnTo>
                    <a:lnTo>
                      <a:pt x="214" y="10"/>
                    </a:lnTo>
                    <a:lnTo>
                      <a:pt x="210" y="8"/>
                    </a:lnTo>
                    <a:lnTo>
                      <a:pt x="206" y="8"/>
                    </a:lnTo>
                    <a:lnTo>
                      <a:pt x="202" y="8"/>
                    </a:lnTo>
                    <a:lnTo>
                      <a:pt x="200" y="10"/>
                    </a:lnTo>
                    <a:lnTo>
                      <a:pt x="200" y="8"/>
                    </a:lnTo>
                    <a:lnTo>
                      <a:pt x="198" y="8"/>
                    </a:lnTo>
                    <a:lnTo>
                      <a:pt x="196" y="8"/>
                    </a:lnTo>
                    <a:lnTo>
                      <a:pt x="194" y="10"/>
                    </a:lnTo>
                    <a:lnTo>
                      <a:pt x="192" y="14"/>
                    </a:lnTo>
                    <a:lnTo>
                      <a:pt x="188" y="16"/>
                    </a:lnTo>
                    <a:lnTo>
                      <a:pt x="184" y="16"/>
                    </a:lnTo>
                    <a:lnTo>
                      <a:pt x="182" y="18"/>
                    </a:lnTo>
                    <a:lnTo>
                      <a:pt x="180" y="20"/>
                    </a:lnTo>
                    <a:lnTo>
                      <a:pt x="176" y="20"/>
                    </a:lnTo>
                    <a:lnTo>
                      <a:pt x="174" y="18"/>
                    </a:lnTo>
                    <a:lnTo>
                      <a:pt x="170" y="16"/>
                    </a:lnTo>
                    <a:lnTo>
                      <a:pt x="168" y="20"/>
                    </a:lnTo>
                    <a:lnTo>
                      <a:pt x="162" y="20"/>
                    </a:lnTo>
                    <a:lnTo>
                      <a:pt x="154" y="20"/>
                    </a:lnTo>
                    <a:lnTo>
                      <a:pt x="152" y="18"/>
                    </a:lnTo>
                    <a:lnTo>
                      <a:pt x="146" y="18"/>
                    </a:lnTo>
                    <a:lnTo>
                      <a:pt x="144" y="14"/>
                    </a:lnTo>
                    <a:lnTo>
                      <a:pt x="140" y="12"/>
                    </a:lnTo>
                    <a:lnTo>
                      <a:pt x="134" y="12"/>
                    </a:lnTo>
                    <a:lnTo>
                      <a:pt x="134" y="16"/>
                    </a:lnTo>
                    <a:lnTo>
                      <a:pt x="130" y="16"/>
                    </a:lnTo>
                    <a:lnTo>
                      <a:pt x="126" y="6"/>
                    </a:lnTo>
                    <a:lnTo>
                      <a:pt x="120" y="6"/>
                    </a:lnTo>
                    <a:lnTo>
                      <a:pt x="114" y="4"/>
                    </a:lnTo>
                    <a:lnTo>
                      <a:pt x="114" y="0"/>
                    </a:lnTo>
                    <a:lnTo>
                      <a:pt x="110" y="2"/>
                    </a:lnTo>
                    <a:lnTo>
                      <a:pt x="106" y="4"/>
                    </a:lnTo>
                    <a:lnTo>
                      <a:pt x="100" y="2"/>
                    </a:lnTo>
                    <a:lnTo>
                      <a:pt x="96" y="0"/>
                    </a:lnTo>
                    <a:lnTo>
                      <a:pt x="92" y="0"/>
                    </a:lnTo>
                    <a:lnTo>
                      <a:pt x="92" y="2"/>
                    </a:lnTo>
                    <a:lnTo>
                      <a:pt x="86" y="2"/>
                    </a:lnTo>
                    <a:lnTo>
                      <a:pt x="80" y="4"/>
                    </a:lnTo>
                    <a:lnTo>
                      <a:pt x="78" y="8"/>
                    </a:lnTo>
                    <a:lnTo>
                      <a:pt x="70" y="10"/>
                    </a:lnTo>
                    <a:lnTo>
                      <a:pt x="70" y="14"/>
                    </a:lnTo>
                    <a:lnTo>
                      <a:pt x="64" y="18"/>
                    </a:lnTo>
                    <a:lnTo>
                      <a:pt x="58" y="18"/>
                    </a:lnTo>
                    <a:lnTo>
                      <a:pt x="54" y="16"/>
                    </a:lnTo>
                    <a:lnTo>
                      <a:pt x="52" y="16"/>
                    </a:lnTo>
                    <a:lnTo>
                      <a:pt x="50" y="18"/>
                    </a:lnTo>
                    <a:lnTo>
                      <a:pt x="40" y="16"/>
                    </a:lnTo>
                    <a:lnTo>
                      <a:pt x="38" y="20"/>
                    </a:lnTo>
                    <a:lnTo>
                      <a:pt x="46" y="24"/>
                    </a:lnTo>
                    <a:lnTo>
                      <a:pt x="40" y="24"/>
                    </a:lnTo>
                    <a:lnTo>
                      <a:pt x="38" y="24"/>
                    </a:lnTo>
                    <a:lnTo>
                      <a:pt x="40" y="26"/>
                    </a:lnTo>
                    <a:lnTo>
                      <a:pt x="30" y="30"/>
                    </a:lnTo>
                    <a:lnTo>
                      <a:pt x="28" y="30"/>
                    </a:lnTo>
                    <a:lnTo>
                      <a:pt x="26" y="28"/>
                    </a:lnTo>
                    <a:lnTo>
                      <a:pt x="24" y="28"/>
                    </a:lnTo>
                    <a:lnTo>
                      <a:pt x="22" y="28"/>
                    </a:lnTo>
                    <a:lnTo>
                      <a:pt x="22" y="32"/>
                    </a:lnTo>
                    <a:lnTo>
                      <a:pt x="14" y="32"/>
                    </a:lnTo>
                    <a:lnTo>
                      <a:pt x="10" y="32"/>
                    </a:lnTo>
                    <a:lnTo>
                      <a:pt x="0" y="40"/>
                    </a:lnTo>
                    <a:lnTo>
                      <a:pt x="2" y="42"/>
                    </a:lnTo>
                    <a:lnTo>
                      <a:pt x="2" y="44"/>
                    </a:lnTo>
                    <a:lnTo>
                      <a:pt x="0" y="48"/>
                    </a:lnTo>
                    <a:lnTo>
                      <a:pt x="10" y="48"/>
                    </a:lnTo>
                    <a:lnTo>
                      <a:pt x="10" y="56"/>
                    </a:lnTo>
                    <a:lnTo>
                      <a:pt x="8" y="62"/>
                    </a:lnTo>
                    <a:lnTo>
                      <a:pt x="12" y="64"/>
                    </a:lnTo>
                    <a:lnTo>
                      <a:pt x="12" y="66"/>
                    </a:lnTo>
                    <a:lnTo>
                      <a:pt x="10" y="68"/>
                    </a:lnTo>
                    <a:lnTo>
                      <a:pt x="8" y="68"/>
                    </a:lnTo>
                    <a:lnTo>
                      <a:pt x="6" y="66"/>
                    </a:lnTo>
                    <a:lnTo>
                      <a:pt x="4" y="66"/>
                    </a:lnTo>
                    <a:lnTo>
                      <a:pt x="4" y="68"/>
                    </a:lnTo>
                    <a:lnTo>
                      <a:pt x="4" y="70"/>
                    </a:lnTo>
                    <a:lnTo>
                      <a:pt x="4" y="74"/>
                    </a:lnTo>
                    <a:lnTo>
                      <a:pt x="10" y="72"/>
                    </a:lnTo>
                    <a:lnTo>
                      <a:pt x="14" y="76"/>
                    </a:lnTo>
                    <a:lnTo>
                      <a:pt x="14" y="84"/>
                    </a:lnTo>
                    <a:lnTo>
                      <a:pt x="14" y="92"/>
                    </a:lnTo>
                    <a:lnTo>
                      <a:pt x="24" y="92"/>
                    </a:lnTo>
                    <a:lnTo>
                      <a:pt x="24" y="96"/>
                    </a:lnTo>
                    <a:lnTo>
                      <a:pt x="24" y="98"/>
                    </a:lnTo>
                    <a:lnTo>
                      <a:pt x="30" y="96"/>
                    </a:lnTo>
                    <a:lnTo>
                      <a:pt x="32" y="100"/>
                    </a:lnTo>
                    <a:lnTo>
                      <a:pt x="34" y="100"/>
                    </a:lnTo>
                    <a:lnTo>
                      <a:pt x="38" y="100"/>
                    </a:lnTo>
                    <a:lnTo>
                      <a:pt x="38" y="102"/>
                    </a:lnTo>
                    <a:lnTo>
                      <a:pt x="38" y="104"/>
                    </a:lnTo>
                    <a:lnTo>
                      <a:pt x="46" y="112"/>
                    </a:lnTo>
                    <a:lnTo>
                      <a:pt x="54" y="106"/>
                    </a:lnTo>
                    <a:lnTo>
                      <a:pt x="58" y="98"/>
                    </a:lnTo>
                    <a:lnTo>
                      <a:pt x="68" y="100"/>
                    </a:lnTo>
                    <a:lnTo>
                      <a:pt x="76" y="104"/>
                    </a:lnTo>
                    <a:lnTo>
                      <a:pt x="80" y="106"/>
                    </a:lnTo>
                    <a:lnTo>
                      <a:pt x="84" y="108"/>
                    </a:lnTo>
                    <a:lnTo>
                      <a:pt x="90" y="110"/>
                    </a:lnTo>
                    <a:lnTo>
                      <a:pt x="96" y="108"/>
                    </a:lnTo>
                    <a:lnTo>
                      <a:pt x="106" y="104"/>
                    </a:lnTo>
                    <a:lnTo>
                      <a:pt x="108" y="104"/>
                    </a:lnTo>
                    <a:lnTo>
                      <a:pt x="108" y="100"/>
                    </a:lnTo>
                    <a:lnTo>
                      <a:pt x="112" y="100"/>
                    </a:lnTo>
                    <a:lnTo>
                      <a:pt x="116" y="102"/>
                    </a:lnTo>
                    <a:lnTo>
                      <a:pt x="122" y="94"/>
                    </a:lnTo>
                    <a:lnTo>
                      <a:pt x="124" y="94"/>
                    </a:lnTo>
                    <a:lnTo>
                      <a:pt x="126" y="100"/>
                    </a:lnTo>
                    <a:lnTo>
                      <a:pt x="124" y="104"/>
                    </a:lnTo>
                    <a:lnTo>
                      <a:pt x="122" y="104"/>
                    </a:lnTo>
                    <a:lnTo>
                      <a:pt x="122" y="108"/>
                    </a:lnTo>
                    <a:lnTo>
                      <a:pt x="122" y="112"/>
                    </a:lnTo>
                    <a:lnTo>
                      <a:pt x="124" y="114"/>
                    </a:lnTo>
                    <a:lnTo>
                      <a:pt x="124" y="11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83" name="Freeform 467">
                <a:extLst>
                  <a:ext uri="{FF2B5EF4-FFF2-40B4-BE49-F238E27FC236}">
                    <a16:creationId xmlns:a16="http://schemas.microsoft.com/office/drawing/2014/main" id="{DC9D5F51-7EB3-B97E-C2F3-1B698256C76F}"/>
                  </a:ext>
                </a:extLst>
              </p:cNvPr>
              <p:cNvSpPr>
                <a:spLocks/>
              </p:cNvSpPr>
              <p:nvPr/>
            </p:nvSpPr>
            <p:spPr bwMode="auto">
              <a:xfrm>
                <a:off x="6347937" y="3867975"/>
                <a:ext cx="25281" cy="49955"/>
              </a:xfrm>
              <a:custGeom>
                <a:avLst/>
                <a:gdLst/>
                <a:ahLst/>
                <a:cxnLst>
                  <a:cxn ang="0">
                    <a:pos x="18" y="0"/>
                  </a:cxn>
                  <a:cxn ang="0">
                    <a:pos x="18" y="0"/>
                  </a:cxn>
                  <a:cxn ang="0">
                    <a:pos x="14" y="4"/>
                  </a:cxn>
                  <a:cxn ang="0">
                    <a:pos x="12" y="10"/>
                  </a:cxn>
                  <a:cxn ang="0">
                    <a:pos x="8" y="14"/>
                  </a:cxn>
                  <a:cxn ang="0">
                    <a:pos x="6" y="18"/>
                  </a:cxn>
                  <a:cxn ang="0">
                    <a:pos x="6" y="22"/>
                  </a:cxn>
                  <a:cxn ang="0">
                    <a:pos x="6" y="24"/>
                  </a:cxn>
                  <a:cxn ang="0">
                    <a:pos x="2" y="28"/>
                  </a:cxn>
                  <a:cxn ang="0">
                    <a:pos x="0" y="34"/>
                  </a:cxn>
                  <a:cxn ang="0">
                    <a:pos x="0" y="40"/>
                  </a:cxn>
                  <a:cxn ang="0">
                    <a:pos x="2" y="44"/>
                  </a:cxn>
                  <a:cxn ang="0">
                    <a:pos x="4" y="48"/>
                  </a:cxn>
                  <a:cxn ang="0">
                    <a:pos x="8" y="52"/>
                  </a:cxn>
                  <a:cxn ang="0">
                    <a:pos x="10" y="46"/>
                  </a:cxn>
                  <a:cxn ang="0">
                    <a:pos x="14" y="44"/>
                  </a:cxn>
                  <a:cxn ang="0">
                    <a:pos x="16" y="42"/>
                  </a:cxn>
                  <a:cxn ang="0">
                    <a:pos x="16" y="38"/>
                  </a:cxn>
                  <a:cxn ang="0">
                    <a:pos x="18" y="36"/>
                  </a:cxn>
                  <a:cxn ang="0">
                    <a:pos x="18" y="24"/>
                  </a:cxn>
                  <a:cxn ang="0">
                    <a:pos x="26" y="4"/>
                  </a:cxn>
                  <a:cxn ang="0">
                    <a:pos x="24" y="2"/>
                  </a:cxn>
                  <a:cxn ang="0">
                    <a:pos x="22" y="0"/>
                  </a:cxn>
                  <a:cxn ang="0">
                    <a:pos x="18" y="0"/>
                  </a:cxn>
                  <a:cxn ang="0">
                    <a:pos x="18" y="0"/>
                  </a:cxn>
                </a:cxnLst>
                <a:rect l="0" t="0" r="r" b="b"/>
                <a:pathLst>
                  <a:path w="26" h="52">
                    <a:moveTo>
                      <a:pt x="18" y="0"/>
                    </a:moveTo>
                    <a:lnTo>
                      <a:pt x="18" y="0"/>
                    </a:lnTo>
                    <a:lnTo>
                      <a:pt x="14" y="4"/>
                    </a:lnTo>
                    <a:lnTo>
                      <a:pt x="12" y="10"/>
                    </a:lnTo>
                    <a:lnTo>
                      <a:pt x="8" y="14"/>
                    </a:lnTo>
                    <a:lnTo>
                      <a:pt x="6" y="18"/>
                    </a:lnTo>
                    <a:lnTo>
                      <a:pt x="6" y="22"/>
                    </a:lnTo>
                    <a:lnTo>
                      <a:pt x="6" y="24"/>
                    </a:lnTo>
                    <a:lnTo>
                      <a:pt x="2" y="28"/>
                    </a:lnTo>
                    <a:lnTo>
                      <a:pt x="0" y="34"/>
                    </a:lnTo>
                    <a:lnTo>
                      <a:pt x="0" y="40"/>
                    </a:lnTo>
                    <a:lnTo>
                      <a:pt x="2" y="44"/>
                    </a:lnTo>
                    <a:lnTo>
                      <a:pt x="4" y="48"/>
                    </a:lnTo>
                    <a:lnTo>
                      <a:pt x="8" y="52"/>
                    </a:lnTo>
                    <a:lnTo>
                      <a:pt x="10" y="46"/>
                    </a:lnTo>
                    <a:lnTo>
                      <a:pt x="14" y="44"/>
                    </a:lnTo>
                    <a:lnTo>
                      <a:pt x="16" y="42"/>
                    </a:lnTo>
                    <a:lnTo>
                      <a:pt x="16" y="38"/>
                    </a:lnTo>
                    <a:lnTo>
                      <a:pt x="18" y="36"/>
                    </a:lnTo>
                    <a:lnTo>
                      <a:pt x="18" y="24"/>
                    </a:lnTo>
                    <a:lnTo>
                      <a:pt x="26" y="4"/>
                    </a:lnTo>
                    <a:lnTo>
                      <a:pt x="24" y="2"/>
                    </a:lnTo>
                    <a:lnTo>
                      <a:pt x="22" y="0"/>
                    </a:lnTo>
                    <a:lnTo>
                      <a:pt x="18" y="0"/>
                    </a:lnTo>
                    <a:lnTo>
                      <a:pt x="18"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84" name="Freeform 468">
                <a:extLst>
                  <a:ext uri="{FF2B5EF4-FFF2-40B4-BE49-F238E27FC236}">
                    <a16:creationId xmlns:a16="http://schemas.microsoft.com/office/drawing/2014/main" id="{6F6F4F14-9B8F-30FB-03BB-00668332C2E5}"/>
                  </a:ext>
                </a:extLst>
              </p:cNvPr>
              <p:cNvSpPr>
                <a:spLocks/>
              </p:cNvSpPr>
              <p:nvPr/>
            </p:nvSpPr>
            <p:spPr bwMode="auto">
              <a:xfrm>
                <a:off x="3788718" y="4113911"/>
                <a:ext cx="75843" cy="40349"/>
              </a:xfrm>
              <a:custGeom>
                <a:avLst/>
                <a:gdLst/>
                <a:ahLst/>
                <a:cxnLst>
                  <a:cxn ang="0">
                    <a:pos x="76" y="18"/>
                  </a:cxn>
                  <a:cxn ang="0">
                    <a:pos x="70" y="12"/>
                  </a:cxn>
                  <a:cxn ang="0">
                    <a:pos x="64" y="2"/>
                  </a:cxn>
                  <a:cxn ang="0">
                    <a:pos x="62" y="2"/>
                  </a:cxn>
                  <a:cxn ang="0">
                    <a:pos x="46" y="0"/>
                  </a:cxn>
                  <a:cxn ang="0">
                    <a:pos x="38" y="4"/>
                  </a:cxn>
                  <a:cxn ang="0">
                    <a:pos x="30" y="8"/>
                  </a:cxn>
                  <a:cxn ang="0">
                    <a:pos x="24" y="10"/>
                  </a:cxn>
                  <a:cxn ang="0">
                    <a:pos x="18" y="6"/>
                  </a:cxn>
                  <a:cxn ang="0">
                    <a:pos x="10" y="4"/>
                  </a:cxn>
                  <a:cxn ang="0">
                    <a:pos x="10" y="0"/>
                  </a:cxn>
                  <a:cxn ang="0">
                    <a:pos x="2" y="0"/>
                  </a:cxn>
                  <a:cxn ang="0">
                    <a:pos x="2" y="4"/>
                  </a:cxn>
                  <a:cxn ang="0">
                    <a:pos x="2" y="10"/>
                  </a:cxn>
                  <a:cxn ang="0">
                    <a:pos x="4" y="14"/>
                  </a:cxn>
                  <a:cxn ang="0">
                    <a:pos x="6" y="18"/>
                  </a:cxn>
                  <a:cxn ang="0">
                    <a:pos x="10" y="20"/>
                  </a:cxn>
                  <a:cxn ang="0">
                    <a:pos x="18" y="20"/>
                  </a:cxn>
                  <a:cxn ang="0">
                    <a:pos x="28" y="28"/>
                  </a:cxn>
                  <a:cxn ang="0">
                    <a:pos x="34" y="34"/>
                  </a:cxn>
                  <a:cxn ang="0">
                    <a:pos x="40" y="30"/>
                  </a:cxn>
                  <a:cxn ang="0">
                    <a:pos x="36" y="22"/>
                  </a:cxn>
                  <a:cxn ang="0">
                    <a:pos x="32" y="20"/>
                  </a:cxn>
                  <a:cxn ang="0">
                    <a:pos x="44" y="14"/>
                  </a:cxn>
                  <a:cxn ang="0">
                    <a:pos x="52" y="10"/>
                  </a:cxn>
                  <a:cxn ang="0">
                    <a:pos x="58" y="22"/>
                  </a:cxn>
                  <a:cxn ang="0">
                    <a:pos x="66" y="24"/>
                  </a:cxn>
                  <a:cxn ang="0">
                    <a:pos x="62" y="28"/>
                  </a:cxn>
                  <a:cxn ang="0">
                    <a:pos x="62" y="38"/>
                  </a:cxn>
                  <a:cxn ang="0">
                    <a:pos x="72" y="42"/>
                  </a:cxn>
                  <a:cxn ang="0">
                    <a:pos x="76" y="36"/>
                  </a:cxn>
                  <a:cxn ang="0">
                    <a:pos x="76" y="26"/>
                  </a:cxn>
                  <a:cxn ang="0">
                    <a:pos x="76" y="18"/>
                  </a:cxn>
                </a:cxnLst>
                <a:rect l="0" t="0" r="r" b="b"/>
                <a:pathLst>
                  <a:path w="78" h="42">
                    <a:moveTo>
                      <a:pt x="76" y="18"/>
                    </a:moveTo>
                    <a:lnTo>
                      <a:pt x="76" y="18"/>
                    </a:lnTo>
                    <a:lnTo>
                      <a:pt x="70" y="16"/>
                    </a:lnTo>
                    <a:lnTo>
                      <a:pt x="70" y="12"/>
                    </a:lnTo>
                    <a:lnTo>
                      <a:pt x="62" y="8"/>
                    </a:lnTo>
                    <a:lnTo>
                      <a:pt x="64" y="2"/>
                    </a:lnTo>
                    <a:lnTo>
                      <a:pt x="62" y="4"/>
                    </a:lnTo>
                    <a:lnTo>
                      <a:pt x="62" y="2"/>
                    </a:lnTo>
                    <a:lnTo>
                      <a:pt x="54" y="0"/>
                    </a:lnTo>
                    <a:lnTo>
                      <a:pt x="46" y="0"/>
                    </a:lnTo>
                    <a:lnTo>
                      <a:pt x="44" y="2"/>
                    </a:lnTo>
                    <a:lnTo>
                      <a:pt x="38" y="4"/>
                    </a:lnTo>
                    <a:lnTo>
                      <a:pt x="32" y="6"/>
                    </a:lnTo>
                    <a:lnTo>
                      <a:pt x="30" y="8"/>
                    </a:lnTo>
                    <a:lnTo>
                      <a:pt x="26" y="10"/>
                    </a:lnTo>
                    <a:lnTo>
                      <a:pt x="24" y="10"/>
                    </a:lnTo>
                    <a:lnTo>
                      <a:pt x="22" y="8"/>
                    </a:lnTo>
                    <a:lnTo>
                      <a:pt x="18" y="6"/>
                    </a:lnTo>
                    <a:lnTo>
                      <a:pt x="12" y="8"/>
                    </a:lnTo>
                    <a:lnTo>
                      <a:pt x="10" y="4"/>
                    </a:lnTo>
                    <a:lnTo>
                      <a:pt x="10" y="2"/>
                    </a:lnTo>
                    <a:lnTo>
                      <a:pt x="10" y="0"/>
                    </a:lnTo>
                    <a:lnTo>
                      <a:pt x="4" y="0"/>
                    </a:lnTo>
                    <a:lnTo>
                      <a:pt x="2" y="0"/>
                    </a:lnTo>
                    <a:lnTo>
                      <a:pt x="2" y="2"/>
                    </a:lnTo>
                    <a:lnTo>
                      <a:pt x="2" y="4"/>
                    </a:lnTo>
                    <a:lnTo>
                      <a:pt x="0" y="8"/>
                    </a:lnTo>
                    <a:lnTo>
                      <a:pt x="2" y="10"/>
                    </a:lnTo>
                    <a:lnTo>
                      <a:pt x="4" y="12"/>
                    </a:lnTo>
                    <a:lnTo>
                      <a:pt x="4" y="14"/>
                    </a:lnTo>
                    <a:lnTo>
                      <a:pt x="2" y="20"/>
                    </a:lnTo>
                    <a:lnTo>
                      <a:pt x="6" y="18"/>
                    </a:lnTo>
                    <a:lnTo>
                      <a:pt x="10" y="18"/>
                    </a:lnTo>
                    <a:lnTo>
                      <a:pt x="10" y="20"/>
                    </a:lnTo>
                    <a:lnTo>
                      <a:pt x="16" y="20"/>
                    </a:lnTo>
                    <a:lnTo>
                      <a:pt x="18" y="20"/>
                    </a:lnTo>
                    <a:lnTo>
                      <a:pt x="22" y="28"/>
                    </a:lnTo>
                    <a:lnTo>
                      <a:pt x="28" y="28"/>
                    </a:lnTo>
                    <a:lnTo>
                      <a:pt x="30" y="36"/>
                    </a:lnTo>
                    <a:lnTo>
                      <a:pt x="34" y="34"/>
                    </a:lnTo>
                    <a:lnTo>
                      <a:pt x="36" y="30"/>
                    </a:lnTo>
                    <a:lnTo>
                      <a:pt x="40" y="30"/>
                    </a:lnTo>
                    <a:lnTo>
                      <a:pt x="40" y="26"/>
                    </a:lnTo>
                    <a:lnTo>
                      <a:pt x="36" y="22"/>
                    </a:lnTo>
                    <a:lnTo>
                      <a:pt x="34" y="22"/>
                    </a:lnTo>
                    <a:lnTo>
                      <a:pt x="32" y="20"/>
                    </a:lnTo>
                    <a:lnTo>
                      <a:pt x="40" y="18"/>
                    </a:lnTo>
                    <a:lnTo>
                      <a:pt x="44" y="14"/>
                    </a:lnTo>
                    <a:lnTo>
                      <a:pt x="48" y="8"/>
                    </a:lnTo>
                    <a:lnTo>
                      <a:pt x="52" y="10"/>
                    </a:lnTo>
                    <a:lnTo>
                      <a:pt x="56" y="16"/>
                    </a:lnTo>
                    <a:lnTo>
                      <a:pt x="58" y="22"/>
                    </a:lnTo>
                    <a:lnTo>
                      <a:pt x="66" y="20"/>
                    </a:lnTo>
                    <a:lnTo>
                      <a:pt x="66" y="24"/>
                    </a:lnTo>
                    <a:lnTo>
                      <a:pt x="64" y="26"/>
                    </a:lnTo>
                    <a:lnTo>
                      <a:pt x="62" y="28"/>
                    </a:lnTo>
                    <a:lnTo>
                      <a:pt x="60" y="34"/>
                    </a:lnTo>
                    <a:lnTo>
                      <a:pt x="62" y="38"/>
                    </a:lnTo>
                    <a:lnTo>
                      <a:pt x="66" y="40"/>
                    </a:lnTo>
                    <a:lnTo>
                      <a:pt x="72" y="42"/>
                    </a:lnTo>
                    <a:lnTo>
                      <a:pt x="74" y="38"/>
                    </a:lnTo>
                    <a:lnTo>
                      <a:pt x="76" y="36"/>
                    </a:lnTo>
                    <a:lnTo>
                      <a:pt x="78" y="30"/>
                    </a:lnTo>
                    <a:lnTo>
                      <a:pt x="76" y="26"/>
                    </a:lnTo>
                    <a:lnTo>
                      <a:pt x="74" y="24"/>
                    </a:lnTo>
                    <a:lnTo>
                      <a:pt x="76" y="18"/>
                    </a:lnTo>
                    <a:lnTo>
                      <a:pt x="76" y="1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85" name="Freeform 469">
                <a:extLst>
                  <a:ext uri="{FF2B5EF4-FFF2-40B4-BE49-F238E27FC236}">
                    <a16:creationId xmlns:a16="http://schemas.microsoft.com/office/drawing/2014/main" id="{ADEF897A-48F9-4F4E-5279-97225663F20B}"/>
                  </a:ext>
                </a:extLst>
              </p:cNvPr>
              <p:cNvSpPr>
                <a:spLocks noEditPoints="1"/>
              </p:cNvSpPr>
              <p:nvPr/>
            </p:nvSpPr>
            <p:spPr bwMode="auto">
              <a:xfrm>
                <a:off x="6466563" y="3524050"/>
                <a:ext cx="200304" cy="251699"/>
              </a:xfrm>
              <a:custGeom>
                <a:avLst/>
                <a:gdLst/>
                <a:ahLst/>
                <a:cxnLst>
                  <a:cxn ang="0">
                    <a:pos x="10" y="218"/>
                  </a:cxn>
                  <a:cxn ang="0">
                    <a:pos x="4" y="220"/>
                  </a:cxn>
                  <a:cxn ang="0">
                    <a:pos x="4" y="228"/>
                  </a:cxn>
                  <a:cxn ang="0">
                    <a:pos x="4" y="230"/>
                  </a:cxn>
                  <a:cxn ang="0">
                    <a:pos x="6" y="238"/>
                  </a:cxn>
                  <a:cxn ang="0">
                    <a:pos x="8" y="228"/>
                  </a:cxn>
                  <a:cxn ang="0">
                    <a:pos x="12" y="236"/>
                  </a:cxn>
                  <a:cxn ang="0">
                    <a:pos x="6" y="254"/>
                  </a:cxn>
                  <a:cxn ang="0">
                    <a:pos x="12" y="252"/>
                  </a:cxn>
                  <a:cxn ang="0">
                    <a:pos x="18" y="258"/>
                  </a:cxn>
                  <a:cxn ang="0">
                    <a:pos x="26" y="236"/>
                  </a:cxn>
                  <a:cxn ang="0">
                    <a:pos x="24" y="222"/>
                  </a:cxn>
                  <a:cxn ang="0">
                    <a:pos x="12" y="212"/>
                  </a:cxn>
                  <a:cxn ang="0">
                    <a:pos x="52" y="210"/>
                  </a:cxn>
                  <a:cxn ang="0">
                    <a:pos x="36" y="220"/>
                  </a:cxn>
                  <a:cxn ang="0">
                    <a:pos x="38" y="228"/>
                  </a:cxn>
                  <a:cxn ang="0">
                    <a:pos x="46" y="232"/>
                  </a:cxn>
                  <a:cxn ang="0">
                    <a:pos x="56" y="220"/>
                  </a:cxn>
                  <a:cxn ang="0">
                    <a:pos x="64" y="214"/>
                  </a:cxn>
                  <a:cxn ang="0">
                    <a:pos x="140" y="82"/>
                  </a:cxn>
                  <a:cxn ang="0">
                    <a:pos x="130" y="96"/>
                  </a:cxn>
                  <a:cxn ang="0">
                    <a:pos x="134" y="106"/>
                  </a:cxn>
                  <a:cxn ang="0">
                    <a:pos x="124" y="130"/>
                  </a:cxn>
                  <a:cxn ang="0">
                    <a:pos x="110" y="154"/>
                  </a:cxn>
                  <a:cxn ang="0">
                    <a:pos x="98" y="160"/>
                  </a:cxn>
                  <a:cxn ang="0">
                    <a:pos x="88" y="160"/>
                  </a:cxn>
                  <a:cxn ang="0">
                    <a:pos x="94" y="150"/>
                  </a:cxn>
                  <a:cxn ang="0">
                    <a:pos x="86" y="164"/>
                  </a:cxn>
                  <a:cxn ang="0">
                    <a:pos x="74" y="188"/>
                  </a:cxn>
                  <a:cxn ang="0">
                    <a:pos x="58" y="188"/>
                  </a:cxn>
                  <a:cxn ang="0">
                    <a:pos x="50" y="190"/>
                  </a:cxn>
                  <a:cxn ang="0">
                    <a:pos x="44" y="188"/>
                  </a:cxn>
                  <a:cxn ang="0">
                    <a:pos x="34" y="196"/>
                  </a:cxn>
                  <a:cxn ang="0">
                    <a:pos x="18" y="206"/>
                  </a:cxn>
                  <a:cxn ang="0">
                    <a:pos x="34" y="210"/>
                  </a:cxn>
                  <a:cxn ang="0">
                    <a:pos x="56" y="204"/>
                  </a:cxn>
                  <a:cxn ang="0">
                    <a:pos x="68" y="208"/>
                  </a:cxn>
                  <a:cxn ang="0">
                    <a:pos x="76" y="220"/>
                  </a:cxn>
                  <a:cxn ang="0">
                    <a:pos x="88" y="204"/>
                  </a:cxn>
                  <a:cxn ang="0">
                    <a:pos x="96" y="206"/>
                  </a:cxn>
                  <a:cxn ang="0">
                    <a:pos x="112" y="202"/>
                  </a:cxn>
                  <a:cxn ang="0">
                    <a:pos x="122" y="196"/>
                  </a:cxn>
                  <a:cxn ang="0">
                    <a:pos x="130" y="184"/>
                  </a:cxn>
                  <a:cxn ang="0">
                    <a:pos x="132" y="192"/>
                  </a:cxn>
                  <a:cxn ang="0">
                    <a:pos x="138" y="180"/>
                  </a:cxn>
                  <a:cxn ang="0">
                    <a:pos x="144" y="144"/>
                  </a:cxn>
                  <a:cxn ang="0">
                    <a:pos x="154" y="126"/>
                  </a:cxn>
                  <a:cxn ang="0">
                    <a:pos x="152" y="94"/>
                  </a:cxn>
                  <a:cxn ang="0">
                    <a:pos x="140" y="82"/>
                  </a:cxn>
                  <a:cxn ang="0">
                    <a:pos x="152" y="6"/>
                  </a:cxn>
                  <a:cxn ang="0">
                    <a:pos x="154" y="24"/>
                  </a:cxn>
                  <a:cxn ang="0">
                    <a:pos x="152" y="44"/>
                  </a:cxn>
                  <a:cxn ang="0">
                    <a:pos x="138" y="42"/>
                  </a:cxn>
                  <a:cxn ang="0">
                    <a:pos x="130" y="60"/>
                  </a:cxn>
                  <a:cxn ang="0">
                    <a:pos x="142" y="70"/>
                  </a:cxn>
                  <a:cxn ang="0">
                    <a:pos x="146" y="56"/>
                  </a:cxn>
                  <a:cxn ang="0">
                    <a:pos x="156" y="56"/>
                  </a:cxn>
                  <a:cxn ang="0">
                    <a:pos x="180" y="52"/>
                  </a:cxn>
                  <a:cxn ang="0">
                    <a:pos x="194" y="48"/>
                  </a:cxn>
                  <a:cxn ang="0">
                    <a:pos x="204" y="42"/>
                  </a:cxn>
                  <a:cxn ang="0">
                    <a:pos x="192" y="32"/>
                  </a:cxn>
                  <a:cxn ang="0">
                    <a:pos x="172" y="22"/>
                  </a:cxn>
                  <a:cxn ang="0">
                    <a:pos x="156" y="0"/>
                  </a:cxn>
                </a:cxnLst>
                <a:rect l="0" t="0" r="r" b="b"/>
                <a:pathLst>
                  <a:path w="206" h="262">
                    <a:moveTo>
                      <a:pt x="12" y="212"/>
                    </a:moveTo>
                    <a:lnTo>
                      <a:pt x="12" y="212"/>
                    </a:lnTo>
                    <a:lnTo>
                      <a:pt x="10" y="212"/>
                    </a:lnTo>
                    <a:lnTo>
                      <a:pt x="10" y="214"/>
                    </a:lnTo>
                    <a:lnTo>
                      <a:pt x="10" y="218"/>
                    </a:lnTo>
                    <a:lnTo>
                      <a:pt x="8" y="216"/>
                    </a:lnTo>
                    <a:lnTo>
                      <a:pt x="6" y="216"/>
                    </a:lnTo>
                    <a:lnTo>
                      <a:pt x="6" y="220"/>
                    </a:lnTo>
                    <a:lnTo>
                      <a:pt x="6" y="220"/>
                    </a:lnTo>
                    <a:lnTo>
                      <a:pt x="4" y="220"/>
                    </a:lnTo>
                    <a:lnTo>
                      <a:pt x="4" y="220"/>
                    </a:lnTo>
                    <a:lnTo>
                      <a:pt x="2" y="220"/>
                    </a:lnTo>
                    <a:lnTo>
                      <a:pt x="0" y="220"/>
                    </a:lnTo>
                    <a:lnTo>
                      <a:pt x="2" y="226"/>
                    </a:lnTo>
                    <a:lnTo>
                      <a:pt x="4" y="228"/>
                    </a:lnTo>
                    <a:lnTo>
                      <a:pt x="6" y="230"/>
                    </a:lnTo>
                    <a:lnTo>
                      <a:pt x="6" y="234"/>
                    </a:lnTo>
                    <a:lnTo>
                      <a:pt x="4" y="234"/>
                    </a:lnTo>
                    <a:lnTo>
                      <a:pt x="4" y="232"/>
                    </a:lnTo>
                    <a:lnTo>
                      <a:pt x="4" y="230"/>
                    </a:lnTo>
                    <a:lnTo>
                      <a:pt x="2" y="232"/>
                    </a:lnTo>
                    <a:lnTo>
                      <a:pt x="2" y="234"/>
                    </a:lnTo>
                    <a:lnTo>
                      <a:pt x="4" y="236"/>
                    </a:lnTo>
                    <a:lnTo>
                      <a:pt x="6" y="238"/>
                    </a:lnTo>
                    <a:lnTo>
                      <a:pt x="6" y="238"/>
                    </a:lnTo>
                    <a:lnTo>
                      <a:pt x="6" y="236"/>
                    </a:lnTo>
                    <a:lnTo>
                      <a:pt x="8" y="238"/>
                    </a:lnTo>
                    <a:lnTo>
                      <a:pt x="10" y="238"/>
                    </a:lnTo>
                    <a:lnTo>
                      <a:pt x="12" y="236"/>
                    </a:lnTo>
                    <a:lnTo>
                      <a:pt x="8" y="228"/>
                    </a:lnTo>
                    <a:lnTo>
                      <a:pt x="12" y="228"/>
                    </a:lnTo>
                    <a:lnTo>
                      <a:pt x="12" y="230"/>
                    </a:lnTo>
                    <a:lnTo>
                      <a:pt x="14" y="234"/>
                    </a:lnTo>
                    <a:lnTo>
                      <a:pt x="14" y="236"/>
                    </a:lnTo>
                    <a:lnTo>
                      <a:pt x="12" y="236"/>
                    </a:lnTo>
                    <a:lnTo>
                      <a:pt x="10" y="240"/>
                    </a:lnTo>
                    <a:lnTo>
                      <a:pt x="6" y="244"/>
                    </a:lnTo>
                    <a:lnTo>
                      <a:pt x="6" y="250"/>
                    </a:lnTo>
                    <a:lnTo>
                      <a:pt x="6" y="252"/>
                    </a:lnTo>
                    <a:lnTo>
                      <a:pt x="6" y="254"/>
                    </a:lnTo>
                    <a:lnTo>
                      <a:pt x="6" y="256"/>
                    </a:lnTo>
                    <a:lnTo>
                      <a:pt x="8" y="258"/>
                    </a:lnTo>
                    <a:lnTo>
                      <a:pt x="10" y="252"/>
                    </a:lnTo>
                    <a:lnTo>
                      <a:pt x="10" y="250"/>
                    </a:lnTo>
                    <a:lnTo>
                      <a:pt x="12" y="252"/>
                    </a:lnTo>
                    <a:lnTo>
                      <a:pt x="12" y="254"/>
                    </a:lnTo>
                    <a:lnTo>
                      <a:pt x="12" y="258"/>
                    </a:lnTo>
                    <a:lnTo>
                      <a:pt x="12" y="262"/>
                    </a:lnTo>
                    <a:lnTo>
                      <a:pt x="14" y="262"/>
                    </a:lnTo>
                    <a:lnTo>
                      <a:pt x="18" y="258"/>
                    </a:lnTo>
                    <a:lnTo>
                      <a:pt x="18" y="256"/>
                    </a:lnTo>
                    <a:lnTo>
                      <a:pt x="22" y="254"/>
                    </a:lnTo>
                    <a:lnTo>
                      <a:pt x="22" y="248"/>
                    </a:lnTo>
                    <a:lnTo>
                      <a:pt x="22" y="242"/>
                    </a:lnTo>
                    <a:lnTo>
                      <a:pt x="26" y="236"/>
                    </a:lnTo>
                    <a:lnTo>
                      <a:pt x="30" y="230"/>
                    </a:lnTo>
                    <a:lnTo>
                      <a:pt x="26" y="228"/>
                    </a:lnTo>
                    <a:lnTo>
                      <a:pt x="26" y="224"/>
                    </a:lnTo>
                    <a:lnTo>
                      <a:pt x="24" y="224"/>
                    </a:lnTo>
                    <a:lnTo>
                      <a:pt x="24" y="222"/>
                    </a:lnTo>
                    <a:lnTo>
                      <a:pt x="24" y="218"/>
                    </a:lnTo>
                    <a:lnTo>
                      <a:pt x="18" y="218"/>
                    </a:lnTo>
                    <a:lnTo>
                      <a:pt x="18" y="216"/>
                    </a:lnTo>
                    <a:lnTo>
                      <a:pt x="18" y="214"/>
                    </a:lnTo>
                    <a:lnTo>
                      <a:pt x="12" y="212"/>
                    </a:lnTo>
                    <a:lnTo>
                      <a:pt x="12" y="212"/>
                    </a:lnTo>
                    <a:close/>
                    <a:moveTo>
                      <a:pt x="56" y="206"/>
                    </a:moveTo>
                    <a:lnTo>
                      <a:pt x="56" y="206"/>
                    </a:lnTo>
                    <a:lnTo>
                      <a:pt x="52" y="206"/>
                    </a:lnTo>
                    <a:lnTo>
                      <a:pt x="52" y="210"/>
                    </a:lnTo>
                    <a:lnTo>
                      <a:pt x="50" y="212"/>
                    </a:lnTo>
                    <a:lnTo>
                      <a:pt x="46" y="212"/>
                    </a:lnTo>
                    <a:lnTo>
                      <a:pt x="42" y="212"/>
                    </a:lnTo>
                    <a:lnTo>
                      <a:pt x="40" y="216"/>
                    </a:lnTo>
                    <a:lnTo>
                      <a:pt x="36" y="220"/>
                    </a:lnTo>
                    <a:lnTo>
                      <a:pt x="34" y="220"/>
                    </a:lnTo>
                    <a:lnTo>
                      <a:pt x="32" y="220"/>
                    </a:lnTo>
                    <a:lnTo>
                      <a:pt x="34" y="222"/>
                    </a:lnTo>
                    <a:lnTo>
                      <a:pt x="38" y="226"/>
                    </a:lnTo>
                    <a:lnTo>
                      <a:pt x="38" y="228"/>
                    </a:lnTo>
                    <a:lnTo>
                      <a:pt x="40" y="232"/>
                    </a:lnTo>
                    <a:lnTo>
                      <a:pt x="42" y="234"/>
                    </a:lnTo>
                    <a:lnTo>
                      <a:pt x="42" y="236"/>
                    </a:lnTo>
                    <a:lnTo>
                      <a:pt x="44" y="236"/>
                    </a:lnTo>
                    <a:lnTo>
                      <a:pt x="46" y="232"/>
                    </a:lnTo>
                    <a:lnTo>
                      <a:pt x="46" y="228"/>
                    </a:lnTo>
                    <a:lnTo>
                      <a:pt x="48" y="224"/>
                    </a:lnTo>
                    <a:lnTo>
                      <a:pt x="52" y="224"/>
                    </a:lnTo>
                    <a:lnTo>
                      <a:pt x="54" y="222"/>
                    </a:lnTo>
                    <a:lnTo>
                      <a:pt x="56" y="220"/>
                    </a:lnTo>
                    <a:lnTo>
                      <a:pt x="56" y="224"/>
                    </a:lnTo>
                    <a:lnTo>
                      <a:pt x="60" y="222"/>
                    </a:lnTo>
                    <a:lnTo>
                      <a:pt x="60" y="220"/>
                    </a:lnTo>
                    <a:lnTo>
                      <a:pt x="64" y="218"/>
                    </a:lnTo>
                    <a:lnTo>
                      <a:pt x="64" y="214"/>
                    </a:lnTo>
                    <a:lnTo>
                      <a:pt x="60" y="212"/>
                    </a:lnTo>
                    <a:lnTo>
                      <a:pt x="60" y="206"/>
                    </a:lnTo>
                    <a:lnTo>
                      <a:pt x="56" y="206"/>
                    </a:lnTo>
                    <a:lnTo>
                      <a:pt x="56" y="206"/>
                    </a:lnTo>
                    <a:close/>
                    <a:moveTo>
                      <a:pt x="140" y="82"/>
                    </a:moveTo>
                    <a:lnTo>
                      <a:pt x="140" y="82"/>
                    </a:lnTo>
                    <a:lnTo>
                      <a:pt x="136" y="82"/>
                    </a:lnTo>
                    <a:lnTo>
                      <a:pt x="136" y="90"/>
                    </a:lnTo>
                    <a:lnTo>
                      <a:pt x="130" y="94"/>
                    </a:lnTo>
                    <a:lnTo>
                      <a:pt x="130" y="96"/>
                    </a:lnTo>
                    <a:lnTo>
                      <a:pt x="132" y="96"/>
                    </a:lnTo>
                    <a:lnTo>
                      <a:pt x="132" y="102"/>
                    </a:lnTo>
                    <a:lnTo>
                      <a:pt x="126" y="108"/>
                    </a:lnTo>
                    <a:lnTo>
                      <a:pt x="128" y="108"/>
                    </a:lnTo>
                    <a:lnTo>
                      <a:pt x="134" y="106"/>
                    </a:lnTo>
                    <a:lnTo>
                      <a:pt x="132" y="112"/>
                    </a:lnTo>
                    <a:lnTo>
                      <a:pt x="132" y="116"/>
                    </a:lnTo>
                    <a:lnTo>
                      <a:pt x="128" y="120"/>
                    </a:lnTo>
                    <a:lnTo>
                      <a:pt x="128" y="128"/>
                    </a:lnTo>
                    <a:lnTo>
                      <a:pt x="124" y="130"/>
                    </a:lnTo>
                    <a:lnTo>
                      <a:pt x="122" y="136"/>
                    </a:lnTo>
                    <a:lnTo>
                      <a:pt x="116" y="146"/>
                    </a:lnTo>
                    <a:lnTo>
                      <a:pt x="114" y="148"/>
                    </a:lnTo>
                    <a:lnTo>
                      <a:pt x="112" y="150"/>
                    </a:lnTo>
                    <a:lnTo>
                      <a:pt x="110" y="154"/>
                    </a:lnTo>
                    <a:lnTo>
                      <a:pt x="110" y="156"/>
                    </a:lnTo>
                    <a:lnTo>
                      <a:pt x="108" y="158"/>
                    </a:lnTo>
                    <a:lnTo>
                      <a:pt x="108" y="160"/>
                    </a:lnTo>
                    <a:lnTo>
                      <a:pt x="104" y="160"/>
                    </a:lnTo>
                    <a:lnTo>
                      <a:pt x="98" y="160"/>
                    </a:lnTo>
                    <a:lnTo>
                      <a:pt x="94" y="164"/>
                    </a:lnTo>
                    <a:lnTo>
                      <a:pt x="90" y="162"/>
                    </a:lnTo>
                    <a:lnTo>
                      <a:pt x="90" y="160"/>
                    </a:lnTo>
                    <a:lnTo>
                      <a:pt x="88" y="160"/>
                    </a:lnTo>
                    <a:lnTo>
                      <a:pt x="88" y="160"/>
                    </a:lnTo>
                    <a:lnTo>
                      <a:pt x="88" y="158"/>
                    </a:lnTo>
                    <a:lnTo>
                      <a:pt x="92" y="156"/>
                    </a:lnTo>
                    <a:lnTo>
                      <a:pt x="94" y="154"/>
                    </a:lnTo>
                    <a:lnTo>
                      <a:pt x="94" y="152"/>
                    </a:lnTo>
                    <a:lnTo>
                      <a:pt x="94" y="150"/>
                    </a:lnTo>
                    <a:lnTo>
                      <a:pt x="92" y="152"/>
                    </a:lnTo>
                    <a:lnTo>
                      <a:pt x="88" y="154"/>
                    </a:lnTo>
                    <a:lnTo>
                      <a:pt x="86" y="158"/>
                    </a:lnTo>
                    <a:lnTo>
                      <a:pt x="86" y="160"/>
                    </a:lnTo>
                    <a:lnTo>
                      <a:pt x="86" y="164"/>
                    </a:lnTo>
                    <a:lnTo>
                      <a:pt x="80" y="174"/>
                    </a:lnTo>
                    <a:lnTo>
                      <a:pt x="80" y="182"/>
                    </a:lnTo>
                    <a:lnTo>
                      <a:pt x="80" y="184"/>
                    </a:lnTo>
                    <a:lnTo>
                      <a:pt x="76" y="186"/>
                    </a:lnTo>
                    <a:lnTo>
                      <a:pt x="74" y="188"/>
                    </a:lnTo>
                    <a:lnTo>
                      <a:pt x="68" y="186"/>
                    </a:lnTo>
                    <a:lnTo>
                      <a:pt x="68" y="184"/>
                    </a:lnTo>
                    <a:lnTo>
                      <a:pt x="66" y="184"/>
                    </a:lnTo>
                    <a:lnTo>
                      <a:pt x="62" y="184"/>
                    </a:lnTo>
                    <a:lnTo>
                      <a:pt x="58" y="188"/>
                    </a:lnTo>
                    <a:lnTo>
                      <a:pt x="52" y="188"/>
                    </a:lnTo>
                    <a:lnTo>
                      <a:pt x="48" y="186"/>
                    </a:lnTo>
                    <a:lnTo>
                      <a:pt x="48" y="188"/>
                    </a:lnTo>
                    <a:lnTo>
                      <a:pt x="48" y="190"/>
                    </a:lnTo>
                    <a:lnTo>
                      <a:pt x="50" y="190"/>
                    </a:lnTo>
                    <a:lnTo>
                      <a:pt x="50" y="192"/>
                    </a:lnTo>
                    <a:lnTo>
                      <a:pt x="48" y="192"/>
                    </a:lnTo>
                    <a:lnTo>
                      <a:pt x="46" y="192"/>
                    </a:lnTo>
                    <a:lnTo>
                      <a:pt x="46" y="188"/>
                    </a:lnTo>
                    <a:lnTo>
                      <a:pt x="44" y="188"/>
                    </a:lnTo>
                    <a:lnTo>
                      <a:pt x="42" y="190"/>
                    </a:lnTo>
                    <a:lnTo>
                      <a:pt x="40" y="192"/>
                    </a:lnTo>
                    <a:lnTo>
                      <a:pt x="40" y="194"/>
                    </a:lnTo>
                    <a:lnTo>
                      <a:pt x="36" y="196"/>
                    </a:lnTo>
                    <a:lnTo>
                      <a:pt x="34" y="196"/>
                    </a:lnTo>
                    <a:lnTo>
                      <a:pt x="34" y="200"/>
                    </a:lnTo>
                    <a:lnTo>
                      <a:pt x="32" y="202"/>
                    </a:lnTo>
                    <a:lnTo>
                      <a:pt x="26" y="206"/>
                    </a:lnTo>
                    <a:lnTo>
                      <a:pt x="20" y="206"/>
                    </a:lnTo>
                    <a:lnTo>
                      <a:pt x="18" y="206"/>
                    </a:lnTo>
                    <a:lnTo>
                      <a:pt x="18" y="204"/>
                    </a:lnTo>
                    <a:lnTo>
                      <a:pt x="14" y="210"/>
                    </a:lnTo>
                    <a:lnTo>
                      <a:pt x="24" y="212"/>
                    </a:lnTo>
                    <a:lnTo>
                      <a:pt x="34" y="212"/>
                    </a:lnTo>
                    <a:lnTo>
                      <a:pt x="34" y="210"/>
                    </a:lnTo>
                    <a:lnTo>
                      <a:pt x="36" y="206"/>
                    </a:lnTo>
                    <a:lnTo>
                      <a:pt x="42" y="208"/>
                    </a:lnTo>
                    <a:lnTo>
                      <a:pt x="50" y="206"/>
                    </a:lnTo>
                    <a:lnTo>
                      <a:pt x="54" y="202"/>
                    </a:lnTo>
                    <a:lnTo>
                      <a:pt x="56" y="204"/>
                    </a:lnTo>
                    <a:lnTo>
                      <a:pt x="58" y="204"/>
                    </a:lnTo>
                    <a:lnTo>
                      <a:pt x="62" y="200"/>
                    </a:lnTo>
                    <a:lnTo>
                      <a:pt x="72" y="202"/>
                    </a:lnTo>
                    <a:lnTo>
                      <a:pt x="70" y="206"/>
                    </a:lnTo>
                    <a:lnTo>
                      <a:pt x="68" y="208"/>
                    </a:lnTo>
                    <a:lnTo>
                      <a:pt x="68" y="214"/>
                    </a:lnTo>
                    <a:lnTo>
                      <a:pt x="66" y="214"/>
                    </a:lnTo>
                    <a:lnTo>
                      <a:pt x="70" y="220"/>
                    </a:lnTo>
                    <a:lnTo>
                      <a:pt x="72" y="220"/>
                    </a:lnTo>
                    <a:lnTo>
                      <a:pt x="76" y="220"/>
                    </a:lnTo>
                    <a:lnTo>
                      <a:pt x="78" y="220"/>
                    </a:lnTo>
                    <a:lnTo>
                      <a:pt x="80" y="218"/>
                    </a:lnTo>
                    <a:lnTo>
                      <a:pt x="84" y="214"/>
                    </a:lnTo>
                    <a:lnTo>
                      <a:pt x="90" y="210"/>
                    </a:lnTo>
                    <a:lnTo>
                      <a:pt x="88" y="204"/>
                    </a:lnTo>
                    <a:lnTo>
                      <a:pt x="88" y="202"/>
                    </a:lnTo>
                    <a:lnTo>
                      <a:pt x="92" y="202"/>
                    </a:lnTo>
                    <a:lnTo>
                      <a:pt x="98" y="202"/>
                    </a:lnTo>
                    <a:lnTo>
                      <a:pt x="98" y="204"/>
                    </a:lnTo>
                    <a:lnTo>
                      <a:pt x="96" y="206"/>
                    </a:lnTo>
                    <a:lnTo>
                      <a:pt x="102" y="206"/>
                    </a:lnTo>
                    <a:lnTo>
                      <a:pt x="104" y="202"/>
                    </a:lnTo>
                    <a:lnTo>
                      <a:pt x="106" y="204"/>
                    </a:lnTo>
                    <a:lnTo>
                      <a:pt x="112" y="204"/>
                    </a:lnTo>
                    <a:lnTo>
                      <a:pt x="112" y="202"/>
                    </a:lnTo>
                    <a:lnTo>
                      <a:pt x="116" y="202"/>
                    </a:lnTo>
                    <a:lnTo>
                      <a:pt x="120" y="198"/>
                    </a:lnTo>
                    <a:lnTo>
                      <a:pt x="120" y="206"/>
                    </a:lnTo>
                    <a:lnTo>
                      <a:pt x="120" y="206"/>
                    </a:lnTo>
                    <a:lnTo>
                      <a:pt x="122" y="196"/>
                    </a:lnTo>
                    <a:lnTo>
                      <a:pt x="126" y="194"/>
                    </a:lnTo>
                    <a:lnTo>
                      <a:pt x="128" y="196"/>
                    </a:lnTo>
                    <a:lnTo>
                      <a:pt x="130" y="194"/>
                    </a:lnTo>
                    <a:lnTo>
                      <a:pt x="128" y="194"/>
                    </a:lnTo>
                    <a:lnTo>
                      <a:pt x="130" y="184"/>
                    </a:lnTo>
                    <a:lnTo>
                      <a:pt x="136" y="182"/>
                    </a:lnTo>
                    <a:lnTo>
                      <a:pt x="136" y="184"/>
                    </a:lnTo>
                    <a:lnTo>
                      <a:pt x="136" y="186"/>
                    </a:lnTo>
                    <a:lnTo>
                      <a:pt x="134" y="188"/>
                    </a:lnTo>
                    <a:lnTo>
                      <a:pt x="132" y="192"/>
                    </a:lnTo>
                    <a:lnTo>
                      <a:pt x="132" y="196"/>
                    </a:lnTo>
                    <a:lnTo>
                      <a:pt x="136" y="198"/>
                    </a:lnTo>
                    <a:lnTo>
                      <a:pt x="144" y="184"/>
                    </a:lnTo>
                    <a:lnTo>
                      <a:pt x="144" y="182"/>
                    </a:lnTo>
                    <a:lnTo>
                      <a:pt x="138" y="180"/>
                    </a:lnTo>
                    <a:lnTo>
                      <a:pt x="142" y="178"/>
                    </a:lnTo>
                    <a:lnTo>
                      <a:pt x="140" y="166"/>
                    </a:lnTo>
                    <a:lnTo>
                      <a:pt x="142" y="160"/>
                    </a:lnTo>
                    <a:lnTo>
                      <a:pt x="144" y="154"/>
                    </a:lnTo>
                    <a:lnTo>
                      <a:pt x="144" y="144"/>
                    </a:lnTo>
                    <a:lnTo>
                      <a:pt x="144" y="132"/>
                    </a:lnTo>
                    <a:lnTo>
                      <a:pt x="150" y="132"/>
                    </a:lnTo>
                    <a:lnTo>
                      <a:pt x="150" y="128"/>
                    </a:lnTo>
                    <a:lnTo>
                      <a:pt x="150" y="126"/>
                    </a:lnTo>
                    <a:lnTo>
                      <a:pt x="154" y="126"/>
                    </a:lnTo>
                    <a:lnTo>
                      <a:pt x="154" y="122"/>
                    </a:lnTo>
                    <a:lnTo>
                      <a:pt x="158" y="116"/>
                    </a:lnTo>
                    <a:lnTo>
                      <a:pt x="156" y="100"/>
                    </a:lnTo>
                    <a:lnTo>
                      <a:pt x="154" y="100"/>
                    </a:lnTo>
                    <a:lnTo>
                      <a:pt x="152" y="94"/>
                    </a:lnTo>
                    <a:lnTo>
                      <a:pt x="152" y="90"/>
                    </a:lnTo>
                    <a:lnTo>
                      <a:pt x="150" y="88"/>
                    </a:lnTo>
                    <a:lnTo>
                      <a:pt x="142" y="86"/>
                    </a:lnTo>
                    <a:lnTo>
                      <a:pt x="142" y="84"/>
                    </a:lnTo>
                    <a:lnTo>
                      <a:pt x="140" y="82"/>
                    </a:lnTo>
                    <a:lnTo>
                      <a:pt x="140" y="82"/>
                    </a:lnTo>
                    <a:close/>
                    <a:moveTo>
                      <a:pt x="156" y="0"/>
                    </a:moveTo>
                    <a:lnTo>
                      <a:pt x="156" y="0"/>
                    </a:lnTo>
                    <a:lnTo>
                      <a:pt x="152" y="4"/>
                    </a:lnTo>
                    <a:lnTo>
                      <a:pt x="152" y="6"/>
                    </a:lnTo>
                    <a:lnTo>
                      <a:pt x="152" y="10"/>
                    </a:lnTo>
                    <a:lnTo>
                      <a:pt x="154" y="14"/>
                    </a:lnTo>
                    <a:lnTo>
                      <a:pt x="158" y="16"/>
                    </a:lnTo>
                    <a:lnTo>
                      <a:pt x="156" y="20"/>
                    </a:lnTo>
                    <a:lnTo>
                      <a:pt x="154" y="24"/>
                    </a:lnTo>
                    <a:lnTo>
                      <a:pt x="154" y="32"/>
                    </a:lnTo>
                    <a:lnTo>
                      <a:pt x="152" y="34"/>
                    </a:lnTo>
                    <a:lnTo>
                      <a:pt x="150" y="36"/>
                    </a:lnTo>
                    <a:lnTo>
                      <a:pt x="150" y="40"/>
                    </a:lnTo>
                    <a:lnTo>
                      <a:pt x="152" y="44"/>
                    </a:lnTo>
                    <a:lnTo>
                      <a:pt x="152" y="46"/>
                    </a:lnTo>
                    <a:lnTo>
                      <a:pt x="150" y="46"/>
                    </a:lnTo>
                    <a:lnTo>
                      <a:pt x="144" y="46"/>
                    </a:lnTo>
                    <a:lnTo>
                      <a:pt x="142" y="44"/>
                    </a:lnTo>
                    <a:lnTo>
                      <a:pt x="138" y="42"/>
                    </a:lnTo>
                    <a:lnTo>
                      <a:pt x="136" y="44"/>
                    </a:lnTo>
                    <a:lnTo>
                      <a:pt x="138" y="46"/>
                    </a:lnTo>
                    <a:lnTo>
                      <a:pt x="136" y="50"/>
                    </a:lnTo>
                    <a:lnTo>
                      <a:pt x="130" y="54"/>
                    </a:lnTo>
                    <a:lnTo>
                      <a:pt x="130" y="60"/>
                    </a:lnTo>
                    <a:lnTo>
                      <a:pt x="134" y="64"/>
                    </a:lnTo>
                    <a:lnTo>
                      <a:pt x="134" y="74"/>
                    </a:lnTo>
                    <a:lnTo>
                      <a:pt x="136" y="74"/>
                    </a:lnTo>
                    <a:lnTo>
                      <a:pt x="138" y="74"/>
                    </a:lnTo>
                    <a:lnTo>
                      <a:pt x="142" y="70"/>
                    </a:lnTo>
                    <a:lnTo>
                      <a:pt x="150" y="70"/>
                    </a:lnTo>
                    <a:lnTo>
                      <a:pt x="140" y="64"/>
                    </a:lnTo>
                    <a:lnTo>
                      <a:pt x="140" y="58"/>
                    </a:lnTo>
                    <a:lnTo>
                      <a:pt x="142" y="56"/>
                    </a:lnTo>
                    <a:lnTo>
                      <a:pt x="146" y="56"/>
                    </a:lnTo>
                    <a:lnTo>
                      <a:pt x="148" y="58"/>
                    </a:lnTo>
                    <a:lnTo>
                      <a:pt x="150" y="58"/>
                    </a:lnTo>
                    <a:lnTo>
                      <a:pt x="152" y="56"/>
                    </a:lnTo>
                    <a:lnTo>
                      <a:pt x="154" y="56"/>
                    </a:lnTo>
                    <a:lnTo>
                      <a:pt x="156" y="56"/>
                    </a:lnTo>
                    <a:lnTo>
                      <a:pt x="158" y="56"/>
                    </a:lnTo>
                    <a:lnTo>
                      <a:pt x="160" y="60"/>
                    </a:lnTo>
                    <a:lnTo>
                      <a:pt x="160" y="64"/>
                    </a:lnTo>
                    <a:lnTo>
                      <a:pt x="176" y="64"/>
                    </a:lnTo>
                    <a:lnTo>
                      <a:pt x="180" y="52"/>
                    </a:lnTo>
                    <a:lnTo>
                      <a:pt x="184" y="50"/>
                    </a:lnTo>
                    <a:lnTo>
                      <a:pt x="190" y="48"/>
                    </a:lnTo>
                    <a:lnTo>
                      <a:pt x="192" y="52"/>
                    </a:lnTo>
                    <a:lnTo>
                      <a:pt x="194" y="50"/>
                    </a:lnTo>
                    <a:lnTo>
                      <a:pt x="194" y="48"/>
                    </a:lnTo>
                    <a:lnTo>
                      <a:pt x="202" y="48"/>
                    </a:lnTo>
                    <a:lnTo>
                      <a:pt x="206" y="46"/>
                    </a:lnTo>
                    <a:lnTo>
                      <a:pt x="206" y="44"/>
                    </a:lnTo>
                    <a:lnTo>
                      <a:pt x="204" y="42"/>
                    </a:lnTo>
                    <a:lnTo>
                      <a:pt x="204" y="42"/>
                    </a:lnTo>
                    <a:lnTo>
                      <a:pt x="200" y="42"/>
                    </a:lnTo>
                    <a:lnTo>
                      <a:pt x="200" y="40"/>
                    </a:lnTo>
                    <a:lnTo>
                      <a:pt x="202" y="34"/>
                    </a:lnTo>
                    <a:lnTo>
                      <a:pt x="194" y="34"/>
                    </a:lnTo>
                    <a:lnTo>
                      <a:pt x="192" y="32"/>
                    </a:lnTo>
                    <a:lnTo>
                      <a:pt x="188" y="28"/>
                    </a:lnTo>
                    <a:lnTo>
                      <a:pt x="182" y="30"/>
                    </a:lnTo>
                    <a:lnTo>
                      <a:pt x="178" y="30"/>
                    </a:lnTo>
                    <a:lnTo>
                      <a:pt x="176" y="30"/>
                    </a:lnTo>
                    <a:lnTo>
                      <a:pt x="172" y="22"/>
                    </a:lnTo>
                    <a:lnTo>
                      <a:pt x="168" y="12"/>
                    </a:lnTo>
                    <a:lnTo>
                      <a:pt x="162" y="10"/>
                    </a:lnTo>
                    <a:lnTo>
                      <a:pt x="160" y="4"/>
                    </a:lnTo>
                    <a:lnTo>
                      <a:pt x="156" y="0"/>
                    </a:lnTo>
                    <a:lnTo>
                      <a:pt x="156"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86" name="Freeform 470">
                <a:extLst>
                  <a:ext uri="{FF2B5EF4-FFF2-40B4-BE49-F238E27FC236}">
                    <a16:creationId xmlns:a16="http://schemas.microsoft.com/office/drawing/2014/main" id="{302C90C7-E033-C1B6-A6DF-AE7F02EFA2E5}"/>
                  </a:ext>
                </a:extLst>
              </p:cNvPr>
              <p:cNvSpPr>
                <a:spLocks/>
              </p:cNvSpPr>
              <p:nvPr/>
            </p:nvSpPr>
            <p:spPr bwMode="auto">
              <a:xfrm>
                <a:off x="3751769" y="4083169"/>
                <a:ext cx="46673" cy="49955"/>
              </a:xfrm>
              <a:custGeom>
                <a:avLst/>
                <a:gdLst/>
                <a:ahLst/>
                <a:cxnLst>
                  <a:cxn ang="0">
                    <a:pos x="16" y="6"/>
                  </a:cxn>
                  <a:cxn ang="0">
                    <a:pos x="16" y="6"/>
                  </a:cxn>
                  <a:cxn ang="0">
                    <a:pos x="20" y="6"/>
                  </a:cxn>
                  <a:cxn ang="0">
                    <a:pos x="22" y="6"/>
                  </a:cxn>
                  <a:cxn ang="0">
                    <a:pos x="24" y="6"/>
                  </a:cxn>
                  <a:cxn ang="0">
                    <a:pos x="26" y="8"/>
                  </a:cxn>
                  <a:cxn ang="0">
                    <a:pos x="32" y="8"/>
                  </a:cxn>
                  <a:cxn ang="0">
                    <a:pos x="32" y="14"/>
                  </a:cxn>
                  <a:cxn ang="0">
                    <a:pos x="34" y="18"/>
                  </a:cxn>
                  <a:cxn ang="0">
                    <a:pos x="40" y="24"/>
                  </a:cxn>
                  <a:cxn ang="0">
                    <a:pos x="48" y="30"/>
                  </a:cxn>
                  <a:cxn ang="0">
                    <a:pos x="42" y="32"/>
                  </a:cxn>
                  <a:cxn ang="0">
                    <a:pos x="40" y="32"/>
                  </a:cxn>
                  <a:cxn ang="0">
                    <a:pos x="40" y="34"/>
                  </a:cxn>
                  <a:cxn ang="0">
                    <a:pos x="40" y="38"/>
                  </a:cxn>
                  <a:cxn ang="0">
                    <a:pos x="38" y="40"/>
                  </a:cxn>
                  <a:cxn ang="0">
                    <a:pos x="40" y="42"/>
                  </a:cxn>
                  <a:cxn ang="0">
                    <a:pos x="42" y="44"/>
                  </a:cxn>
                  <a:cxn ang="0">
                    <a:pos x="42" y="46"/>
                  </a:cxn>
                  <a:cxn ang="0">
                    <a:pos x="40" y="52"/>
                  </a:cxn>
                  <a:cxn ang="0">
                    <a:pos x="38" y="44"/>
                  </a:cxn>
                  <a:cxn ang="0">
                    <a:pos x="34" y="44"/>
                  </a:cxn>
                  <a:cxn ang="0">
                    <a:pos x="34" y="50"/>
                  </a:cxn>
                  <a:cxn ang="0">
                    <a:pos x="30" y="44"/>
                  </a:cxn>
                  <a:cxn ang="0">
                    <a:pos x="32" y="38"/>
                  </a:cxn>
                  <a:cxn ang="0">
                    <a:pos x="24" y="34"/>
                  </a:cxn>
                  <a:cxn ang="0">
                    <a:pos x="20" y="34"/>
                  </a:cxn>
                  <a:cxn ang="0">
                    <a:pos x="20" y="30"/>
                  </a:cxn>
                  <a:cxn ang="0">
                    <a:pos x="18" y="26"/>
                  </a:cxn>
                  <a:cxn ang="0">
                    <a:pos x="14" y="24"/>
                  </a:cxn>
                  <a:cxn ang="0">
                    <a:pos x="12" y="24"/>
                  </a:cxn>
                  <a:cxn ang="0">
                    <a:pos x="14" y="28"/>
                  </a:cxn>
                  <a:cxn ang="0">
                    <a:pos x="12" y="30"/>
                  </a:cxn>
                  <a:cxn ang="0">
                    <a:pos x="12" y="32"/>
                  </a:cxn>
                  <a:cxn ang="0">
                    <a:pos x="8" y="32"/>
                  </a:cxn>
                  <a:cxn ang="0">
                    <a:pos x="6" y="28"/>
                  </a:cxn>
                  <a:cxn ang="0">
                    <a:pos x="2" y="26"/>
                  </a:cxn>
                  <a:cxn ang="0">
                    <a:pos x="2" y="18"/>
                  </a:cxn>
                  <a:cxn ang="0">
                    <a:pos x="6" y="16"/>
                  </a:cxn>
                  <a:cxn ang="0">
                    <a:pos x="4" y="14"/>
                  </a:cxn>
                  <a:cxn ang="0">
                    <a:pos x="4" y="10"/>
                  </a:cxn>
                  <a:cxn ang="0">
                    <a:pos x="2" y="4"/>
                  </a:cxn>
                  <a:cxn ang="0">
                    <a:pos x="0" y="2"/>
                  </a:cxn>
                  <a:cxn ang="0">
                    <a:pos x="2" y="0"/>
                  </a:cxn>
                  <a:cxn ang="0">
                    <a:pos x="6" y="2"/>
                  </a:cxn>
                  <a:cxn ang="0">
                    <a:pos x="8" y="4"/>
                  </a:cxn>
                  <a:cxn ang="0">
                    <a:pos x="16" y="6"/>
                  </a:cxn>
                  <a:cxn ang="0">
                    <a:pos x="16" y="6"/>
                  </a:cxn>
                </a:cxnLst>
                <a:rect l="0" t="0" r="r" b="b"/>
                <a:pathLst>
                  <a:path w="48" h="52">
                    <a:moveTo>
                      <a:pt x="16" y="6"/>
                    </a:moveTo>
                    <a:lnTo>
                      <a:pt x="16" y="6"/>
                    </a:lnTo>
                    <a:lnTo>
                      <a:pt x="20" y="6"/>
                    </a:lnTo>
                    <a:lnTo>
                      <a:pt x="22" y="6"/>
                    </a:lnTo>
                    <a:lnTo>
                      <a:pt x="24" y="6"/>
                    </a:lnTo>
                    <a:lnTo>
                      <a:pt x="26" y="8"/>
                    </a:lnTo>
                    <a:lnTo>
                      <a:pt x="32" y="8"/>
                    </a:lnTo>
                    <a:lnTo>
                      <a:pt x="32" y="14"/>
                    </a:lnTo>
                    <a:lnTo>
                      <a:pt x="34" y="18"/>
                    </a:lnTo>
                    <a:lnTo>
                      <a:pt x="40" y="24"/>
                    </a:lnTo>
                    <a:lnTo>
                      <a:pt x="48" y="30"/>
                    </a:lnTo>
                    <a:lnTo>
                      <a:pt x="42" y="32"/>
                    </a:lnTo>
                    <a:lnTo>
                      <a:pt x="40" y="32"/>
                    </a:lnTo>
                    <a:lnTo>
                      <a:pt x="40" y="34"/>
                    </a:lnTo>
                    <a:lnTo>
                      <a:pt x="40" y="38"/>
                    </a:lnTo>
                    <a:lnTo>
                      <a:pt x="38" y="40"/>
                    </a:lnTo>
                    <a:lnTo>
                      <a:pt x="40" y="42"/>
                    </a:lnTo>
                    <a:lnTo>
                      <a:pt x="42" y="44"/>
                    </a:lnTo>
                    <a:lnTo>
                      <a:pt x="42" y="46"/>
                    </a:lnTo>
                    <a:lnTo>
                      <a:pt x="40" y="52"/>
                    </a:lnTo>
                    <a:lnTo>
                      <a:pt x="38" y="44"/>
                    </a:lnTo>
                    <a:lnTo>
                      <a:pt x="34" y="44"/>
                    </a:lnTo>
                    <a:lnTo>
                      <a:pt x="34" y="50"/>
                    </a:lnTo>
                    <a:lnTo>
                      <a:pt x="30" y="44"/>
                    </a:lnTo>
                    <a:lnTo>
                      <a:pt x="32" y="38"/>
                    </a:lnTo>
                    <a:lnTo>
                      <a:pt x="24" y="34"/>
                    </a:lnTo>
                    <a:lnTo>
                      <a:pt x="20" y="34"/>
                    </a:lnTo>
                    <a:lnTo>
                      <a:pt x="20" y="30"/>
                    </a:lnTo>
                    <a:lnTo>
                      <a:pt x="18" y="26"/>
                    </a:lnTo>
                    <a:lnTo>
                      <a:pt x="14" y="24"/>
                    </a:lnTo>
                    <a:lnTo>
                      <a:pt x="12" y="24"/>
                    </a:lnTo>
                    <a:lnTo>
                      <a:pt x="14" y="28"/>
                    </a:lnTo>
                    <a:lnTo>
                      <a:pt x="12" y="30"/>
                    </a:lnTo>
                    <a:lnTo>
                      <a:pt x="12" y="32"/>
                    </a:lnTo>
                    <a:lnTo>
                      <a:pt x="8" y="32"/>
                    </a:lnTo>
                    <a:lnTo>
                      <a:pt x="6" y="28"/>
                    </a:lnTo>
                    <a:lnTo>
                      <a:pt x="2" y="26"/>
                    </a:lnTo>
                    <a:lnTo>
                      <a:pt x="2" y="18"/>
                    </a:lnTo>
                    <a:lnTo>
                      <a:pt x="6" y="16"/>
                    </a:lnTo>
                    <a:lnTo>
                      <a:pt x="4" y="14"/>
                    </a:lnTo>
                    <a:lnTo>
                      <a:pt x="4" y="10"/>
                    </a:lnTo>
                    <a:lnTo>
                      <a:pt x="2" y="4"/>
                    </a:lnTo>
                    <a:lnTo>
                      <a:pt x="0" y="2"/>
                    </a:lnTo>
                    <a:lnTo>
                      <a:pt x="2" y="0"/>
                    </a:lnTo>
                    <a:lnTo>
                      <a:pt x="6" y="2"/>
                    </a:lnTo>
                    <a:lnTo>
                      <a:pt x="8" y="4"/>
                    </a:lnTo>
                    <a:lnTo>
                      <a:pt x="16" y="6"/>
                    </a:lnTo>
                    <a:lnTo>
                      <a:pt x="16" y="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87" name="Freeform 471">
                <a:extLst>
                  <a:ext uri="{FF2B5EF4-FFF2-40B4-BE49-F238E27FC236}">
                    <a16:creationId xmlns:a16="http://schemas.microsoft.com/office/drawing/2014/main" id="{5D5E1D74-7EBC-9D7E-4D95-F621F5FD3D93}"/>
                  </a:ext>
                </a:extLst>
              </p:cNvPr>
              <p:cNvSpPr>
                <a:spLocks/>
              </p:cNvSpPr>
              <p:nvPr/>
            </p:nvSpPr>
            <p:spPr bwMode="auto">
              <a:xfrm>
                <a:off x="3895676" y="4185001"/>
                <a:ext cx="505621" cy="609074"/>
              </a:xfrm>
              <a:custGeom>
                <a:avLst/>
                <a:gdLst/>
                <a:ahLst/>
                <a:cxnLst>
                  <a:cxn ang="0">
                    <a:pos x="368" y="474"/>
                  </a:cxn>
                  <a:cxn ang="0">
                    <a:pos x="398" y="458"/>
                  </a:cxn>
                  <a:cxn ang="0">
                    <a:pos x="428" y="446"/>
                  </a:cxn>
                  <a:cxn ang="0">
                    <a:pos x="432" y="420"/>
                  </a:cxn>
                  <a:cxn ang="0">
                    <a:pos x="456" y="376"/>
                  </a:cxn>
                  <a:cxn ang="0">
                    <a:pos x="462" y="330"/>
                  </a:cxn>
                  <a:cxn ang="0">
                    <a:pos x="470" y="284"/>
                  </a:cxn>
                  <a:cxn ang="0">
                    <a:pos x="498" y="246"/>
                  </a:cxn>
                  <a:cxn ang="0">
                    <a:pos x="520" y="204"/>
                  </a:cxn>
                  <a:cxn ang="0">
                    <a:pos x="506" y="164"/>
                  </a:cxn>
                  <a:cxn ang="0">
                    <a:pos x="486" y="158"/>
                  </a:cxn>
                  <a:cxn ang="0">
                    <a:pos x="436" y="130"/>
                  </a:cxn>
                  <a:cxn ang="0">
                    <a:pos x="400" y="128"/>
                  </a:cxn>
                  <a:cxn ang="0">
                    <a:pos x="388" y="112"/>
                  </a:cxn>
                  <a:cxn ang="0">
                    <a:pos x="370" y="96"/>
                  </a:cxn>
                  <a:cxn ang="0">
                    <a:pos x="334" y="108"/>
                  </a:cxn>
                  <a:cxn ang="0">
                    <a:pos x="330" y="108"/>
                  </a:cxn>
                  <a:cxn ang="0">
                    <a:pos x="340" y="88"/>
                  </a:cxn>
                  <a:cxn ang="0">
                    <a:pos x="320" y="84"/>
                  </a:cxn>
                  <a:cxn ang="0">
                    <a:pos x="302" y="100"/>
                  </a:cxn>
                  <a:cxn ang="0">
                    <a:pos x="286" y="102"/>
                  </a:cxn>
                  <a:cxn ang="0">
                    <a:pos x="300" y="80"/>
                  </a:cxn>
                  <a:cxn ang="0">
                    <a:pos x="318" y="70"/>
                  </a:cxn>
                  <a:cxn ang="0">
                    <a:pos x="312" y="58"/>
                  </a:cxn>
                  <a:cxn ang="0">
                    <a:pos x="302" y="12"/>
                  </a:cxn>
                  <a:cxn ang="0">
                    <a:pos x="264" y="54"/>
                  </a:cxn>
                  <a:cxn ang="0">
                    <a:pos x="236" y="60"/>
                  </a:cxn>
                  <a:cxn ang="0">
                    <a:pos x="208" y="64"/>
                  </a:cxn>
                  <a:cxn ang="0">
                    <a:pos x="186" y="56"/>
                  </a:cxn>
                  <a:cxn ang="0">
                    <a:pos x="194" y="14"/>
                  </a:cxn>
                  <a:cxn ang="0">
                    <a:pos x="176" y="10"/>
                  </a:cxn>
                  <a:cxn ang="0">
                    <a:pos x="150" y="18"/>
                  </a:cxn>
                  <a:cxn ang="0">
                    <a:pos x="118" y="18"/>
                  </a:cxn>
                  <a:cxn ang="0">
                    <a:pos x="134" y="48"/>
                  </a:cxn>
                  <a:cxn ang="0">
                    <a:pos x="132" y="62"/>
                  </a:cxn>
                  <a:cxn ang="0">
                    <a:pos x="98" y="70"/>
                  </a:cxn>
                  <a:cxn ang="0">
                    <a:pos x="60" y="76"/>
                  </a:cxn>
                  <a:cxn ang="0">
                    <a:pos x="50" y="150"/>
                  </a:cxn>
                  <a:cxn ang="0">
                    <a:pos x="10" y="180"/>
                  </a:cxn>
                  <a:cxn ang="0">
                    <a:pos x="4" y="206"/>
                  </a:cxn>
                  <a:cxn ang="0">
                    <a:pos x="20" y="232"/>
                  </a:cxn>
                  <a:cxn ang="0">
                    <a:pos x="60" y="278"/>
                  </a:cxn>
                  <a:cxn ang="0">
                    <a:pos x="88" y="260"/>
                  </a:cxn>
                  <a:cxn ang="0">
                    <a:pos x="118" y="276"/>
                  </a:cxn>
                  <a:cxn ang="0">
                    <a:pos x="154" y="296"/>
                  </a:cxn>
                  <a:cxn ang="0">
                    <a:pos x="186" y="322"/>
                  </a:cxn>
                  <a:cxn ang="0">
                    <a:pos x="210" y="362"/>
                  </a:cxn>
                  <a:cxn ang="0">
                    <a:pos x="216" y="408"/>
                  </a:cxn>
                  <a:cxn ang="0">
                    <a:pos x="238" y="438"/>
                  </a:cxn>
                  <a:cxn ang="0">
                    <a:pos x="252" y="470"/>
                  </a:cxn>
                  <a:cxn ang="0">
                    <a:pos x="262" y="498"/>
                  </a:cxn>
                  <a:cxn ang="0">
                    <a:pos x="252" y="532"/>
                  </a:cxn>
                  <a:cxn ang="0">
                    <a:pos x="226" y="564"/>
                  </a:cxn>
                  <a:cxn ang="0">
                    <a:pos x="250" y="596"/>
                  </a:cxn>
                  <a:cxn ang="0">
                    <a:pos x="274" y="630"/>
                  </a:cxn>
                  <a:cxn ang="0">
                    <a:pos x="294" y="598"/>
                  </a:cxn>
                  <a:cxn ang="0">
                    <a:pos x="308" y="588"/>
                  </a:cxn>
                  <a:cxn ang="0">
                    <a:pos x="328" y="558"/>
                  </a:cxn>
                  <a:cxn ang="0">
                    <a:pos x="332" y="526"/>
                  </a:cxn>
                  <a:cxn ang="0">
                    <a:pos x="332" y="502"/>
                  </a:cxn>
                </a:cxnLst>
                <a:rect l="0" t="0" r="r" b="b"/>
                <a:pathLst>
                  <a:path w="520" h="634">
                    <a:moveTo>
                      <a:pt x="332" y="500"/>
                    </a:moveTo>
                    <a:lnTo>
                      <a:pt x="332" y="500"/>
                    </a:lnTo>
                    <a:lnTo>
                      <a:pt x="340" y="496"/>
                    </a:lnTo>
                    <a:lnTo>
                      <a:pt x="344" y="492"/>
                    </a:lnTo>
                    <a:lnTo>
                      <a:pt x="348" y="488"/>
                    </a:lnTo>
                    <a:lnTo>
                      <a:pt x="354" y="486"/>
                    </a:lnTo>
                    <a:lnTo>
                      <a:pt x="360" y="484"/>
                    </a:lnTo>
                    <a:lnTo>
                      <a:pt x="362" y="480"/>
                    </a:lnTo>
                    <a:lnTo>
                      <a:pt x="362" y="476"/>
                    </a:lnTo>
                    <a:lnTo>
                      <a:pt x="368" y="474"/>
                    </a:lnTo>
                    <a:lnTo>
                      <a:pt x="374" y="474"/>
                    </a:lnTo>
                    <a:lnTo>
                      <a:pt x="376" y="472"/>
                    </a:lnTo>
                    <a:lnTo>
                      <a:pt x="380" y="470"/>
                    </a:lnTo>
                    <a:lnTo>
                      <a:pt x="386" y="470"/>
                    </a:lnTo>
                    <a:lnTo>
                      <a:pt x="384" y="464"/>
                    </a:lnTo>
                    <a:lnTo>
                      <a:pt x="386" y="464"/>
                    </a:lnTo>
                    <a:lnTo>
                      <a:pt x="390" y="460"/>
                    </a:lnTo>
                    <a:lnTo>
                      <a:pt x="392" y="462"/>
                    </a:lnTo>
                    <a:lnTo>
                      <a:pt x="394" y="462"/>
                    </a:lnTo>
                    <a:lnTo>
                      <a:pt x="398" y="458"/>
                    </a:lnTo>
                    <a:lnTo>
                      <a:pt x="400" y="458"/>
                    </a:lnTo>
                    <a:lnTo>
                      <a:pt x="406" y="458"/>
                    </a:lnTo>
                    <a:lnTo>
                      <a:pt x="406" y="454"/>
                    </a:lnTo>
                    <a:lnTo>
                      <a:pt x="408" y="454"/>
                    </a:lnTo>
                    <a:lnTo>
                      <a:pt x="408" y="456"/>
                    </a:lnTo>
                    <a:lnTo>
                      <a:pt x="410" y="458"/>
                    </a:lnTo>
                    <a:lnTo>
                      <a:pt x="418" y="458"/>
                    </a:lnTo>
                    <a:lnTo>
                      <a:pt x="422" y="454"/>
                    </a:lnTo>
                    <a:lnTo>
                      <a:pt x="422" y="448"/>
                    </a:lnTo>
                    <a:lnTo>
                      <a:pt x="428" y="446"/>
                    </a:lnTo>
                    <a:lnTo>
                      <a:pt x="428" y="444"/>
                    </a:lnTo>
                    <a:lnTo>
                      <a:pt x="430" y="442"/>
                    </a:lnTo>
                    <a:lnTo>
                      <a:pt x="428" y="442"/>
                    </a:lnTo>
                    <a:lnTo>
                      <a:pt x="428" y="434"/>
                    </a:lnTo>
                    <a:lnTo>
                      <a:pt x="426" y="434"/>
                    </a:lnTo>
                    <a:lnTo>
                      <a:pt x="428" y="434"/>
                    </a:lnTo>
                    <a:lnTo>
                      <a:pt x="428" y="430"/>
                    </a:lnTo>
                    <a:lnTo>
                      <a:pt x="432" y="428"/>
                    </a:lnTo>
                    <a:lnTo>
                      <a:pt x="432" y="424"/>
                    </a:lnTo>
                    <a:lnTo>
                      <a:pt x="432" y="420"/>
                    </a:lnTo>
                    <a:lnTo>
                      <a:pt x="436" y="416"/>
                    </a:lnTo>
                    <a:lnTo>
                      <a:pt x="440" y="412"/>
                    </a:lnTo>
                    <a:lnTo>
                      <a:pt x="440" y="408"/>
                    </a:lnTo>
                    <a:lnTo>
                      <a:pt x="442" y="406"/>
                    </a:lnTo>
                    <a:lnTo>
                      <a:pt x="442" y="404"/>
                    </a:lnTo>
                    <a:lnTo>
                      <a:pt x="446" y="400"/>
                    </a:lnTo>
                    <a:lnTo>
                      <a:pt x="452" y="396"/>
                    </a:lnTo>
                    <a:lnTo>
                      <a:pt x="452" y="390"/>
                    </a:lnTo>
                    <a:lnTo>
                      <a:pt x="452" y="380"/>
                    </a:lnTo>
                    <a:lnTo>
                      <a:pt x="456" y="376"/>
                    </a:lnTo>
                    <a:lnTo>
                      <a:pt x="460" y="372"/>
                    </a:lnTo>
                    <a:lnTo>
                      <a:pt x="458" y="364"/>
                    </a:lnTo>
                    <a:lnTo>
                      <a:pt x="456" y="358"/>
                    </a:lnTo>
                    <a:lnTo>
                      <a:pt x="458" y="354"/>
                    </a:lnTo>
                    <a:lnTo>
                      <a:pt x="462" y="352"/>
                    </a:lnTo>
                    <a:lnTo>
                      <a:pt x="462" y="348"/>
                    </a:lnTo>
                    <a:lnTo>
                      <a:pt x="462" y="342"/>
                    </a:lnTo>
                    <a:lnTo>
                      <a:pt x="462" y="338"/>
                    </a:lnTo>
                    <a:lnTo>
                      <a:pt x="462" y="334"/>
                    </a:lnTo>
                    <a:lnTo>
                      <a:pt x="462" y="330"/>
                    </a:lnTo>
                    <a:lnTo>
                      <a:pt x="460" y="318"/>
                    </a:lnTo>
                    <a:lnTo>
                      <a:pt x="462" y="308"/>
                    </a:lnTo>
                    <a:lnTo>
                      <a:pt x="458" y="306"/>
                    </a:lnTo>
                    <a:lnTo>
                      <a:pt x="462" y="302"/>
                    </a:lnTo>
                    <a:lnTo>
                      <a:pt x="462" y="298"/>
                    </a:lnTo>
                    <a:lnTo>
                      <a:pt x="462" y="294"/>
                    </a:lnTo>
                    <a:lnTo>
                      <a:pt x="462" y="292"/>
                    </a:lnTo>
                    <a:lnTo>
                      <a:pt x="464" y="290"/>
                    </a:lnTo>
                    <a:lnTo>
                      <a:pt x="464" y="282"/>
                    </a:lnTo>
                    <a:lnTo>
                      <a:pt x="470" y="284"/>
                    </a:lnTo>
                    <a:lnTo>
                      <a:pt x="472" y="288"/>
                    </a:lnTo>
                    <a:lnTo>
                      <a:pt x="476" y="282"/>
                    </a:lnTo>
                    <a:lnTo>
                      <a:pt x="476" y="278"/>
                    </a:lnTo>
                    <a:lnTo>
                      <a:pt x="480" y="276"/>
                    </a:lnTo>
                    <a:lnTo>
                      <a:pt x="480" y="272"/>
                    </a:lnTo>
                    <a:lnTo>
                      <a:pt x="482" y="270"/>
                    </a:lnTo>
                    <a:lnTo>
                      <a:pt x="484" y="266"/>
                    </a:lnTo>
                    <a:lnTo>
                      <a:pt x="486" y="262"/>
                    </a:lnTo>
                    <a:lnTo>
                      <a:pt x="488" y="256"/>
                    </a:lnTo>
                    <a:lnTo>
                      <a:pt x="498" y="246"/>
                    </a:lnTo>
                    <a:lnTo>
                      <a:pt x="502" y="246"/>
                    </a:lnTo>
                    <a:lnTo>
                      <a:pt x="504" y="242"/>
                    </a:lnTo>
                    <a:lnTo>
                      <a:pt x="510" y="238"/>
                    </a:lnTo>
                    <a:lnTo>
                      <a:pt x="510" y="234"/>
                    </a:lnTo>
                    <a:lnTo>
                      <a:pt x="512" y="232"/>
                    </a:lnTo>
                    <a:lnTo>
                      <a:pt x="518" y="218"/>
                    </a:lnTo>
                    <a:lnTo>
                      <a:pt x="520" y="216"/>
                    </a:lnTo>
                    <a:lnTo>
                      <a:pt x="520" y="212"/>
                    </a:lnTo>
                    <a:lnTo>
                      <a:pt x="520" y="208"/>
                    </a:lnTo>
                    <a:lnTo>
                      <a:pt x="520" y="204"/>
                    </a:lnTo>
                    <a:lnTo>
                      <a:pt x="520" y="198"/>
                    </a:lnTo>
                    <a:lnTo>
                      <a:pt x="518" y="196"/>
                    </a:lnTo>
                    <a:lnTo>
                      <a:pt x="518" y="192"/>
                    </a:lnTo>
                    <a:lnTo>
                      <a:pt x="518" y="186"/>
                    </a:lnTo>
                    <a:lnTo>
                      <a:pt x="516" y="182"/>
                    </a:lnTo>
                    <a:lnTo>
                      <a:pt x="512" y="180"/>
                    </a:lnTo>
                    <a:lnTo>
                      <a:pt x="512" y="176"/>
                    </a:lnTo>
                    <a:lnTo>
                      <a:pt x="510" y="176"/>
                    </a:lnTo>
                    <a:lnTo>
                      <a:pt x="508" y="166"/>
                    </a:lnTo>
                    <a:lnTo>
                      <a:pt x="506" y="164"/>
                    </a:lnTo>
                    <a:lnTo>
                      <a:pt x="502" y="162"/>
                    </a:lnTo>
                    <a:lnTo>
                      <a:pt x="498" y="162"/>
                    </a:lnTo>
                    <a:lnTo>
                      <a:pt x="496" y="164"/>
                    </a:lnTo>
                    <a:lnTo>
                      <a:pt x="496" y="160"/>
                    </a:lnTo>
                    <a:lnTo>
                      <a:pt x="494" y="158"/>
                    </a:lnTo>
                    <a:lnTo>
                      <a:pt x="490" y="158"/>
                    </a:lnTo>
                    <a:lnTo>
                      <a:pt x="488" y="158"/>
                    </a:lnTo>
                    <a:lnTo>
                      <a:pt x="486" y="162"/>
                    </a:lnTo>
                    <a:lnTo>
                      <a:pt x="486" y="160"/>
                    </a:lnTo>
                    <a:lnTo>
                      <a:pt x="486" y="158"/>
                    </a:lnTo>
                    <a:lnTo>
                      <a:pt x="482" y="158"/>
                    </a:lnTo>
                    <a:lnTo>
                      <a:pt x="482" y="156"/>
                    </a:lnTo>
                    <a:lnTo>
                      <a:pt x="476" y="148"/>
                    </a:lnTo>
                    <a:lnTo>
                      <a:pt x="474" y="148"/>
                    </a:lnTo>
                    <a:lnTo>
                      <a:pt x="466" y="142"/>
                    </a:lnTo>
                    <a:lnTo>
                      <a:pt x="462" y="136"/>
                    </a:lnTo>
                    <a:lnTo>
                      <a:pt x="454" y="134"/>
                    </a:lnTo>
                    <a:lnTo>
                      <a:pt x="450" y="130"/>
                    </a:lnTo>
                    <a:lnTo>
                      <a:pt x="442" y="130"/>
                    </a:lnTo>
                    <a:lnTo>
                      <a:pt x="436" y="130"/>
                    </a:lnTo>
                    <a:lnTo>
                      <a:pt x="426" y="126"/>
                    </a:lnTo>
                    <a:lnTo>
                      <a:pt x="422" y="126"/>
                    </a:lnTo>
                    <a:lnTo>
                      <a:pt x="418" y="128"/>
                    </a:lnTo>
                    <a:lnTo>
                      <a:pt x="416" y="124"/>
                    </a:lnTo>
                    <a:lnTo>
                      <a:pt x="412" y="120"/>
                    </a:lnTo>
                    <a:lnTo>
                      <a:pt x="408" y="120"/>
                    </a:lnTo>
                    <a:lnTo>
                      <a:pt x="406" y="122"/>
                    </a:lnTo>
                    <a:lnTo>
                      <a:pt x="402" y="120"/>
                    </a:lnTo>
                    <a:lnTo>
                      <a:pt x="400" y="126"/>
                    </a:lnTo>
                    <a:lnTo>
                      <a:pt x="400" y="128"/>
                    </a:lnTo>
                    <a:lnTo>
                      <a:pt x="396" y="130"/>
                    </a:lnTo>
                    <a:lnTo>
                      <a:pt x="394" y="128"/>
                    </a:lnTo>
                    <a:lnTo>
                      <a:pt x="394" y="126"/>
                    </a:lnTo>
                    <a:lnTo>
                      <a:pt x="396" y="122"/>
                    </a:lnTo>
                    <a:lnTo>
                      <a:pt x="392" y="120"/>
                    </a:lnTo>
                    <a:lnTo>
                      <a:pt x="394" y="118"/>
                    </a:lnTo>
                    <a:lnTo>
                      <a:pt x="392" y="114"/>
                    </a:lnTo>
                    <a:lnTo>
                      <a:pt x="392" y="112"/>
                    </a:lnTo>
                    <a:lnTo>
                      <a:pt x="390" y="112"/>
                    </a:lnTo>
                    <a:lnTo>
                      <a:pt x="388" y="112"/>
                    </a:lnTo>
                    <a:lnTo>
                      <a:pt x="388" y="110"/>
                    </a:lnTo>
                    <a:lnTo>
                      <a:pt x="390" y="108"/>
                    </a:lnTo>
                    <a:lnTo>
                      <a:pt x="388" y="106"/>
                    </a:lnTo>
                    <a:lnTo>
                      <a:pt x="388" y="104"/>
                    </a:lnTo>
                    <a:lnTo>
                      <a:pt x="382" y="104"/>
                    </a:lnTo>
                    <a:lnTo>
                      <a:pt x="378" y="108"/>
                    </a:lnTo>
                    <a:lnTo>
                      <a:pt x="380" y="102"/>
                    </a:lnTo>
                    <a:lnTo>
                      <a:pt x="372" y="100"/>
                    </a:lnTo>
                    <a:lnTo>
                      <a:pt x="372" y="96"/>
                    </a:lnTo>
                    <a:lnTo>
                      <a:pt x="370" y="96"/>
                    </a:lnTo>
                    <a:lnTo>
                      <a:pt x="368" y="100"/>
                    </a:lnTo>
                    <a:lnTo>
                      <a:pt x="364" y="96"/>
                    </a:lnTo>
                    <a:lnTo>
                      <a:pt x="362" y="94"/>
                    </a:lnTo>
                    <a:lnTo>
                      <a:pt x="358" y="92"/>
                    </a:lnTo>
                    <a:lnTo>
                      <a:pt x="352" y="92"/>
                    </a:lnTo>
                    <a:lnTo>
                      <a:pt x="346" y="94"/>
                    </a:lnTo>
                    <a:lnTo>
                      <a:pt x="340" y="100"/>
                    </a:lnTo>
                    <a:lnTo>
                      <a:pt x="342" y="102"/>
                    </a:lnTo>
                    <a:lnTo>
                      <a:pt x="338" y="102"/>
                    </a:lnTo>
                    <a:lnTo>
                      <a:pt x="334" y="108"/>
                    </a:lnTo>
                    <a:lnTo>
                      <a:pt x="334" y="110"/>
                    </a:lnTo>
                    <a:lnTo>
                      <a:pt x="332" y="110"/>
                    </a:lnTo>
                    <a:lnTo>
                      <a:pt x="330" y="110"/>
                    </a:lnTo>
                    <a:lnTo>
                      <a:pt x="332" y="108"/>
                    </a:lnTo>
                    <a:lnTo>
                      <a:pt x="324" y="110"/>
                    </a:lnTo>
                    <a:lnTo>
                      <a:pt x="314" y="110"/>
                    </a:lnTo>
                    <a:lnTo>
                      <a:pt x="310" y="104"/>
                    </a:lnTo>
                    <a:lnTo>
                      <a:pt x="316" y="108"/>
                    </a:lnTo>
                    <a:lnTo>
                      <a:pt x="322" y="106"/>
                    </a:lnTo>
                    <a:lnTo>
                      <a:pt x="330" y="108"/>
                    </a:lnTo>
                    <a:lnTo>
                      <a:pt x="330" y="106"/>
                    </a:lnTo>
                    <a:lnTo>
                      <a:pt x="334" y="104"/>
                    </a:lnTo>
                    <a:lnTo>
                      <a:pt x="334" y="102"/>
                    </a:lnTo>
                    <a:lnTo>
                      <a:pt x="338" y="102"/>
                    </a:lnTo>
                    <a:lnTo>
                      <a:pt x="338" y="100"/>
                    </a:lnTo>
                    <a:lnTo>
                      <a:pt x="338" y="96"/>
                    </a:lnTo>
                    <a:lnTo>
                      <a:pt x="340" y="96"/>
                    </a:lnTo>
                    <a:lnTo>
                      <a:pt x="340" y="94"/>
                    </a:lnTo>
                    <a:lnTo>
                      <a:pt x="340" y="90"/>
                    </a:lnTo>
                    <a:lnTo>
                      <a:pt x="340" y="88"/>
                    </a:lnTo>
                    <a:lnTo>
                      <a:pt x="340" y="86"/>
                    </a:lnTo>
                    <a:lnTo>
                      <a:pt x="340" y="84"/>
                    </a:lnTo>
                    <a:lnTo>
                      <a:pt x="340" y="82"/>
                    </a:lnTo>
                    <a:lnTo>
                      <a:pt x="330" y="82"/>
                    </a:lnTo>
                    <a:lnTo>
                      <a:pt x="332" y="80"/>
                    </a:lnTo>
                    <a:lnTo>
                      <a:pt x="330" y="78"/>
                    </a:lnTo>
                    <a:lnTo>
                      <a:pt x="330" y="76"/>
                    </a:lnTo>
                    <a:lnTo>
                      <a:pt x="326" y="78"/>
                    </a:lnTo>
                    <a:lnTo>
                      <a:pt x="322" y="80"/>
                    </a:lnTo>
                    <a:lnTo>
                      <a:pt x="320" y="84"/>
                    </a:lnTo>
                    <a:lnTo>
                      <a:pt x="316" y="84"/>
                    </a:lnTo>
                    <a:lnTo>
                      <a:pt x="314" y="86"/>
                    </a:lnTo>
                    <a:lnTo>
                      <a:pt x="312" y="92"/>
                    </a:lnTo>
                    <a:lnTo>
                      <a:pt x="310" y="92"/>
                    </a:lnTo>
                    <a:lnTo>
                      <a:pt x="308" y="94"/>
                    </a:lnTo>
                    <a:lnTo>
                      <a:pt x="308" y="100"/>
                    </a:lnTo>
                    <a:lnTo>
                      <a:pt x="310" y="102"/>
                    </a:lnTo>
                    <a:lnTo>
                      <a:pt x="308" y="100"/>
                    </a:lnTo>
                    <a:lnTo>
                      <a:pt x="306" y="96"/>
                    </a:lnTo>
                    <a:lnTo>
                      <a:pt x="302" y="100"/>
                    </a:lnTo>
                    <a:lnTo>
                      <a:pt x="298" y="100"/>
                    </a:lnTo>
                    <a:lnTo>
                      <a:pt x="298" y="106"/>
                    </a:lnTo>
                    <a:lnTo>
                      <a:pt x="298" y="112"/>
                    </a:lnTo>
                    <a:lnTo>
                      <a:pt x="296" y="118"/>
                    </a:lnTo>
                    <a:lnTo>
                      <a:pt x="296" y="112"/>
                    </a:lnTo>
                    <a:lnTo>
                      <a:pt x="296" y="106"/>
                    </a:lnTo>
                    <a:lnTo>
                      <a:pt x="296" y="102"/>
                    </a:lnTo>
                    <a:lnTo>
                      <a:pt x="296" y="100"/>
                    </a:lnTo>
                    <a:lnTo>
                      <a:pt x="290" y="100"/>
                    </a:lnTo>
                    <a:lnTo>
                      <a:pt x="286" y="102"/>
                    </a:lnTo>
                    <a:lnTo>
                      <a:pt x="282" y="104"/>
                    </a:lnTo>
                    <a:lnTo>
                      <a:pt x="276" y="104"/>
                    </a:lnTo>
                    <a:lnTo>
                      <a:pt x="282" y="100"/>
                    </a:lnTo>
                    <a:lnTo>
                      <a:pt x="290" y="100"/>
                    </a:lnTo>
                    <a:lnTo>
                      <a:pt x="294" y="100"/>
                    </a:lnTo>
                    <a:lnTo>
                      <a:pt x="294" y="96"/>
                    </a:lnTo>
                    <a:lnTo>
                      <a:pt x="296" y="92"/>
                    </a:lnTo>
                    <a:lnTo>
                      <a:pt x="298" y="88"/>
                    </a:lnTo>
                    <a:lnTo>
                      <a:pt x="300" y="84"/>
                    </a:lnTo>
                    <a:lnTo>
                      <a:pt x="300" y="80"/>
                    </a:lnTo>
                    <a:lnTo>
                      <a:pt x="306" y="76"/>
                    </a:lnTo>
                    <a:lnTo>
                      <a:pt x="308" y="74"/>
                    </a:lnTo>
                    <a:lnTo>
                      <a:pt x="310" y="72"/>
                    </a:lnTo>
                    <a:lnTo>
                      <a:pt x="310" y="74"/>
                    </a:lnTo>
                    <a:lnTo>
                      <a:pt x="310" y="80"/>
                    </a:lnTo>
                    <a:lnTo>
                      <a:pt x="316" y="80"/>
                    </a:lnTo>
                    <a:lnTo>
                      <a:pt x="318" y="80"/>
                    </a:lnTo>
                    <a:lnTo>
                      <a:pt x="320" y="78"/>
                    </a:lnTo>
                    <a:lnTo>
                      <a:pt x="318" y="76"/>
                    </a:lnTo>
                    <a:lnTo>
                      <a:pt x="318" y="70"/>
                    </a:lnTo>
                    <a:lnTo>
                      <a:pt x="320" y="72"/>
                    </a:lnTo>
                    <a:lnTo>
                      <a:pt x="322" y="62"/>
                    </a:lnTo>
                    <a:lnTo>
                      <a:pt x="318" y="62"/>
                    </a:lnTo>
                    <a:lnTo>
                      <a:pt x="314" y="66"/>
                    </a:lnTo>
                    <a:lnTo>
                      <a:pt x="316" y="66"/>
                    </a:lnTo>
                    <a:lnTo>
                      <a:pt x="316" y="68"/>
                    </a:lnTo>
                    <a:lnTo>
                      <a:pt x="312" y="68"/>
                    </a:lnTo>
                    <a:lnTo>
                      <a:pt x="316" y="62"/>
                    </a:lnTo>
                    <a:lnTo>
                      <a:pt x="316" y="60"/>
                    </a:lnTo>
                    <a:lnTo>
                      <a:pt x="312" y="58"/>
                    </a:lnTo>
                    <a:lnTo>
                      <a:pt x="318" y="54"/>
                    </a:lnTo>
                    <a:lnTo>
                      <a:pt x="320" y="48"/>
                    </a:lnTo>
                    <a:lnTo>
                      <a:pt x="310" y="48"/>
                    </a:lnTo>
                    <a:lnTo>
                      <a:pt x="312" y="42"/>
                    </a:lnTo>
                    <a:lnTo>
                      <a:pt x="310" y="38"/>
                    </a:lnTo>
                    <a:lnTo>
                      <a:pt x="308" y="36"/>
                    </a:lnTo>
                    <a:lnTo>
                      <a:pt x="308" y="30"/>
                    </a:lnTo>
                    <a:lnTo>
                      <a:pt x="308" y="26"/>
                    </a:lnTo>
                    <a:lnTo>
                      <a:pt x="302" y="16"/>
                    </a:lnTo>
                    <a:lnTo>
                      <a:pt x="302" y="12"/>
                    </a:lnTo>
                    <a:lnTo>
                      <a:pt x="298" y="10"/>
                    </a:lnTo>
                    <a:lnTo>
                      <a:pt x="294" y="22"/>
                    </a:lnTo>
                    <a:lnTo>
                      <a:pt x="290" y="30"/>
                    </a:lnTo>
                    <a:lnTo>
                      <a:pt x="288" y="42"/>
                    </a:lnTo>
                    <a:lnTo>
                      <a:pt x="284" y="50"/>
                    </a:lnTo>
                    <a:lnTo>
                      <a:pt x="280" y="54"/>
                    </a:lnTo>
                    <a:lnTo>
                      <a:pt x="276" y="50"/>
                    </a:lnTo>
                    <a:lnTo>
                      <a:pt x="270" y="52"/>
                    </a:lnTo>
                    <a:lnTo>
                      <a:pt x="266" y="54"/>
                    </a:lnTo>
                    <a:lnTo>
                      <a:pt x="264" y="54"/>
                    </a:lnTo>
                    <a:lnTo>
                      <a:pt x="262" y="54"/>
                    </a:lnTo>
                    <a:lnTo>
                      <a:pt x="258" y="50"/>
                    </a:lnTo>
                    <a:lnTo>
                      <a:pt x="258" y="46"/>
                    </a:lnTo>
                    <a:lnTo>
                      <a:pt x="252" y="46"/>
                    </a:lnTo>
                    <a:lnTo>
                      <a:pt x="250" y="44"/>
                    </a:lnTo>
                    <a:lnTo>
                      <a:pt x="246" y="46"/>
                    </a:lnTo>
                    <a:lnTo>
                      <a:pt x="236" y="42"/>
                    </a:lnTo>
                    <a:lnTo>
                      <a:pt x="234" y="50"/>
                    </a:lnTo>
                    <a:lnTo>
                      <a:pt x="238" y="54"/>
                    </a:lnTo>
                    <a:lnTo>
                      <a:pt x="236" y="60"/>
                    </a:lnTo>
                    <a:lnTo>
                      <a:pt x="226" y="56"/>
                    </a:lnTo>
                    <a:lnTo>
                      <a:pt x="220" y="58"/>
                    </a:lnTo>
                    <a:lnTo>
                      <a:pt x="218" y="58"/>
                    </a:lnTo>
                    <a:lnTo>
                      <a:pt x="216" y="56"/>
                    </a:lnTo>
                    <a:lnTo>
                      <a:pt x="214" y="56"/>
                    </a:lnTo>
                    <a:lnTo>
                      <a:pt x="212" y="58"/>
                    </a:lnTo>
                    <a:lnTo>
                      <a:pt x="210" y="60"/>
                    </a:lnTo>
                    <a:lnTo>
                      <a:pt x="208" y="60"/>
                    </a:lnTo>
                    <a:lnTo>
                      <a:pt x="208" y="62"/>
                    </a:lnTo>
                    <a:lnTo>
                      <a:pt x="208" y="64"/>
                    </a:lnTo>
                    <a:lnTo>
                      <a:pt x="206" y="64"/>
                    </a:lnTo>
                    <a:lnTo>
                      <a:pt x="204" y="64"/>
                    </a:lnTo>
                    <a:lnTo>
                      <a:pt x="202" y="66"/>
                    </a:lnTo>
                    <a:lnTo>
                      <a:pt x="200" y="68"/>
                    </a:lnTo>
                    <a:lnTo>
                      <a:pt x="196" y="68"/>
                    </a:lnTo>
                    <a:lnTo>
                      <a:pt x="194" y="64"/>
                    </a:lnTo>
                    <a:lnTo>
                      <a:pt x="194" y="62"/>
                    </a:lnTo>
                    <a:lnTo>
                      <a:pt x="192" y="62"/>
                    </a:lnTo>
                    <a:lnTo>
                      <a:pt x="188" y="58"/>
                    </a:lnTo>
                    <a:lnTo>
                      <a:pt x="186" y="56"/>
                    </a:lnTo>
                    <a:lnTo>
                      <a:pt x="184" y="52"/>
                    </a:lnTo>
                    <a:lnTo>
                      <a:pt x="184" y="50"/>
                    </a:lnTo>
                    <a:lnTo>
                      <a:pt x="186" y="40"/>
                    </a:lnTo>
                    <a:lnTo>
                      <a:pt x="186" y="32"/>
                    </a:lnTo>
                    <a:lnTo>
                      <a:pt x="192" y="26"/>
                    </a:lnTo>
                    <a:lnTo>
                      <a:pt x="194" y="22"/>
                    </a:lnTo>
                    <a:lnTo>
                      <a:pt x="192" y="20"/>
                    </a:lnTo>
                    <a:lnTo>
                      <a:pt x="192" y="18"/>
                    </a:lnTo>
                    <a:lnTo>
                      <a:pt x="192" y="16"/>
                    </a:lnTo>
                    <a:lnTo>
                      <a:pt x="194" y="14"/>
                    </a:lnTo>
                    <a:lnTo>
                      <a:pt x="192" y="14"/>
                    </a:lnTo>
                    <a:lnTo>
                      <a:pt x="186" y="10"/>
                    </a:lnTo>
                    <a:lnTo>
                      <a:pt x="190" y="6"/>
                    </a:lnTo>
                    <a:lnTo>
                      <a:pt x="190" y="4"/>
                    </a:lnTo>
                    <a:lnTo>
                      <a:pt x="188" y="2"/>
                    </a:lnTo>
                    <a:lnTo>
                      <a:pt x="186" y="2"/>
                    </a:lnTo>
                    <a:lnTo>
                      <a:pt x="180" y="2"/>
                    </a:lnTo>
                    <a:lnTo>
                      <a:pt x="176" y="0"/>
                    </a:lnTo>
                    <a:lnTo>
                      <a:pt x="176" y="4"/>
                    </a:lnTo>
                    <a:lnTo>
                      <a:pt x="176" y="10"/>
                    </a:lnTo>
                    <a:lnTo>
                      <a:pt x="168" y="10"/>
                    </a:lnTo>
                    <a:lnTo>
                      <a:pt x="168" y="12"/>
                    </a:lnTo>
                    <a:lnTo>
                      <a:pt x="166" y="12"/>
                    </a:lnTo>
                    <a:lnTo>
                      <a:pt x="164" y="14"/>
                    </a:lnTo>
                    <a:lnTo>
                      <a:pt x="164" y="16"/>
                    </a:lnTo>
                    <a:lnTo>
                      <a:pt x="160" y="18"/>
                    </a:lnTo>
                    <a:lnTo>
                      <a:pt x="160" y="20"/>
                    </a:lnTo>
                    <a:lnTo>
                      <a:pt x="158" y="20"/>
                    </a:lnTo>
                    <a:lnTo>
                      <a:pt x="152" y="18"/>
                    </a:lnTo>
                    <a:lnTo>
                      <a:pt x="150" y="18"/>
                    </a:lnTo>
                    <a:lnTo>
                      <a:pt x="148" y="20"/>
                    </a:lnTo>
                    <a:lnTo>
                      <a:pt x="146" y="22"/>
                    </a:lnTo>
                    <a:lnTo>
                      <a:pt x="148" y="24"/>
                    </a:lnTo>
                    <a:lnTo>
                      <a:pt x="146" y="24"/>
                    </a:lnTo>
                    <a:lnTo>
                      <a:pt x="140" y="22"/>
                    </a:lnTo>
                    <a:lnTo>
                      <a:pt x="136" y="20"/>
                    </a:lnTo>
                    <a:lnTo>
                      <a:pt x="132" y="20"/>
                    </a:lnTo>
                    <a:lnTo>
                      <a:pt x="128" y="20"/>
                    </a:lnTo>
                    <a:lnTo>
                      <a:pt x="122" y="18"/>
                    </a:lnTo>
                    <a:lnTo>
                      <a:pt x="118" y="18"/>
                    </a:lnTo>
                    <a:lnTo>
                      <a:pt x="120" y="20"/>
                    </a:lnTo>
                    <a:lnTo>
                      <a:pt x="122" y="20"/>
                    </a:lnTo>
                    <a:lnTo>
                      <a:pt x="122" y="22"/>
                    </a:lnTo>
                    <a:lnTo>
                      <a:pt x="124" y="26"/>
                    </a:lnTo>
                    <a:lnTo>
                      <a:pt x="126" y="34"/>
                    </a:lnTo>
                    <a:lnTo>
                      <a:pt x="126" y="40"/>
                    </a:lnTo>
                    <a:lnTo>
                      <a:pt x="126" y="44"/>
                    </a:lnTo>
                    <a:lnTo>
                      <a:pt x="128" y="46"/>
                    </a:lnTo>
                    <a:lnTo>
                      <a:pt x="130" y="48"/>
                    </a:lnTo>
                    <a:lnTo>
                      <a:pt x="134" y="48"/>
                    </a:lnTo>
                    <a:lnTo>
                      <a:pt x="140" y="46"/>
                    </a:lnTo>
                    <a:lnTo>
                      <a:pt x="142" y="48"/>
                    </a:lnTo>
                    <a:lnTo>
                      <a:pt x="144" y="48"/>
                    </a:lnTo>
                    <a:lnTo>
                      <a:pt x="146" y="52"/>
                    </a:lnTo>
                    <a:lnTo>
                      <a:pt x="144" y="52"/>
                    </a:lnTo>
                    <a:lnTo>
                      <a:pt x="140" y="54"/>
                    </a:lnTo>
                    <a:lnTo>
                      <a:pt x="138" y="54"/>
                    </a:lnTo>
                    <a:lnTo>
                      <a:pt x="136" y="58"/>
                    </a:lnTo>
                    <a:lnTo>
                      <a:pt x="134" y="60"/>
                    </a:lnTo>
                    <a:lnTo>
                      <a:pt x="132" y="62"/>
                    </a:lnTo>
                    <a:lnTo>
                      <a:pt x="130" y="64"/>
                    </a:lnTo>
                    <a:lnTo>
                      <a:pt x="126" y="66"/>
                    </a:lnTo>
                    <a:lnTo>
                      <a:pt x="124" y="66"/>
                    </a:lnTo>
                    <a:lnTo>
                      <a:pt x="122" y="68"/>
                    </a:lnTo>
                    <a:lnTo>
                      <a:pt x="120" y="70"/>
                    </a:lnTo>
                    <a:lnTo>
                      <a:pt x="118" y="72"/>
                    </a:lnTo>
                    <a:lnTo>
                      <a:pt x="112" y="74"/>
                    </a:lnTo>
                    <a:lnTo>
                      <a:pt x="110" y="76"/>
                    </a:lnTo>
                    <a:lnTo>
                      <a:pt x="102" y="70"/>
                    </a:lnTo>
                    <a:lnTo>
                      <a:pt x="98" y="70"/>
                    </a:lnTo>
                    <a:lnTo>
                      <a:pt x="98" y="64"/>
                    </a:lnTo>
                    <a:lnTo>
                      <a:pt x="92" y="62"/>
                    </a:lnTo>
                    <a:lnTo>
                      <a:pt x="92" y="70"/>
                    </a:lnTo>
                    <a:lnTo>
                      <a:pt x="88" y="70"/>
                    </a:lnTo>
                    <a:lnTo>
                      <a:pt x="84" y="68"/>
                    </a:lnTo>
                    <a:lnTo>
                      <a:pt x="84" y="72"/>
                    </a:lnTo>
                    <a:lnTo>
                      <a:pt x="70" y="72"/>
                    </a:lnTo>
                    <a:lnTo>
                      <a:pt x="64" y="72"/>
                    </a:lnTo>
                    <a:lnTo>
                      <a:pt x="62" y="70"/>
                    </a:lnTo>
                    <a:lnTo>
                      <a:pt x="60" y="76"/>
                    </a:lnTo>
                    <a:lnTo>
                      <a:pt x="68" y="78"/>
                    </a:lnTo>
                    <a:lnTo>
                      <a:pt x="66" y="80"/>
                    </a:lnTo>
                    <a:lnTo>
                      <a:pt x="58" y="80"/>
                    </a:lnTo>
                    <a:lnTo>
                      <a:pt x="58" y="86"/>
                    </a:lnTo>
                    <a:lnTo>
                      <a:pt x="62" y="88"/>
                    </a:lnTo>
                    <a:lnTo>
                      <a:pt x="68" y="100"/>
                    </a:lnTo>
                    <a:lnTo>
                      <a:pt x="68" y="102"/>
                    </a:lnTo>
                    <a:lnTo>
                      <a:pt x="66" y="106"/>
                    </a:lnTo>
                    <a:lnTo>
                      <a:pt x="64" y="112"/>
                    </a:lnTo>
                    <a:lnTo>
                      <a:pt x="50" y="150"/>
                    </a:lnTo>
                    <a:lnTo>
                      <a:pt x="50" y="152"/>
                    </a:lnTo>
                    <a:lnTo>
                      <a:pt x="48" y="154"/>
                    </a:lnTo>
                    <a:lnTo>
                      <a:pt x="46" y="154"/>
                    </a:lnTo>
                    <a:lnTo>
                      <a:pt x="36" y="156"/>
                    </a:lnTo>
                    <a:lnTo>
                      <a:pt x="32" y="158"/>
                    </a:lnTo>
                    <a:lnTo>
                      <a:pt x="26" y="158"/>
                    </a:lnTo>
                    <a:lnTo>
                      <a:pt x="18" y="164"/>
                    </a:lnTo>
                    <a:lnTo>
                      <a:pt x="14" y="168"/>
                    </a:lnTo>
                    <a:lnTo>
                      <a:pt x="12" y="174"/>
                    </a:lnTo>
                    <a:lnTo>
                      <a:pt x="10" y="180"/>
                    </a:lnTo>
                    <a:lnTo>
                      <a:pt x="8" y="184"/>
                    </a:lnTo>
                    <a:lnTo>
                      <a:pt x="6" y="188"/>
                    </a:lnTo>
                    <a:lnTo>
                      <a:pt x="6" y="196"/>
                    </a:lnTo>
                    <a:lnTo>
                      <a:pt x="4" y="194"/>
                    </a:lnTo>
                    <a:lnTo>
                      <a:pt x="2" y="194"/>
                    </a:lnTo>
                    <a:lnTo>
                      <a:pt x="0" y="196"/>
                    </a:lnTo>
                    <a:lnTo>
                      <a:pt x="2" y="200"/>
                    </a:lnTo>
                    <a:lnTo>
                      <a:pt x="2" y="204"/>
                    </a:lnTo>
                    <a:lnTo>
                      <a:pt x="4" y="204"/>
                    </a:lnTo>
                    <a:lnTo>
                      <a:pt x="4" y="206"/>
                    </a:lnTo>
                    <a:lnTo>
                      <a:pt x="6" y="208"/>
                    </a:lnTo>
                    <a:lnTo>
                      <a:pt x="6" y="212"/>
                    </a:lnTo>
                    <a:lnTo>
                      <a:pt x="4" y="216"/>
                    </a:lnTo>
                    <a:lnTo>
                      <a:pt x="6" y="218"/>
                    </a:lnTo>
                    <a:lnTo>
                      <a:pt x="10" y="220"/>
                    </a:lnTo>
                    <a:lnTo>
                      <a:pt x="12" y="222"/>
                    </a:lnTo>
                    <a:lnTo>
                      <a:pt x="14" y="226"/>
                    </a:lnTo>
                    <a:lnTo>
                      <a:pt x="16" y="228"/>
                    </a:lnTo>
                    <a:lnTo>
                      <a:pt x="20" y="230"/>
                    </a:lnTo>
                    <a:lnTo>
                      <a:pt x="20" y="232"/>
                    </a:lnTo>
                    <a:lnTo>
                      <a:pt x="22" y="236"/>
                    </a:lnTo>
                    <a:lnTo>
                      <a:pt x="24" y="238"/>
                    </a:lnTo>
                    <a:lnTo>
                      <a:pt x="34" y="238"/>
                    </a:lnTo>
                    <a:lnTo>
                      <a:pt x="44" y="232"/>
                    </a:lnTo>
                    <a:lnTo>
                      <a:pt x="46" y="230"/>
                    </a:lnTo>
                    <a:lnTo>
                      <a:pt x="46" y="232"/>
                    </a:lnTo>
                    <a:lnTo>
                      <a:pt x="46" y="234"/>
                    </a:lnTo>
                    <a:lnTo>
                      <a:pt x="44" y="272"/>
                    </a:lnTo>
                    <a:lnTo>
                      <a:pt x="58" y="278"/>
                    </a:lnTo>
                    <a:lnTo>
                      <a:pt x="60" y="278"/>
                    </a:lnTo>
                    <a:lnTo>
                      <a:pt x="64" y="278"/>
                    </a:lnTo>
                    <a:lnTo>
                      <a:pt x="68" y="280"/>
                    </a:lnTo>
                    <a:lnTo>
                      <a:pt x="70" y="278"/>
                    </a:lnTo>
                    <a:lnTo>
                      <a:pt x="72" y="278"/>
                    </a:lnTo>
                    <a:lnTo>
                      <a:pt x="72" y="276"/>
                    </a:lnTo>
                    <a:lnTo>
                      <a:pt x="72" y="274"/>
                    </a:lnTo>
                    <a:lnTo>
                      <a:pt x="74" y="272"/>
                    </a:lnTo>
                    <a:lnTo>
                      <a:pt x="80" y="272"/>
                    </a:lnTo>
                    <a:lnTo>
                      <a:pt x="84" y="264"/>
                    </a:lnTo>
                    <a:lnTo>
                      <a:pt x="88" y="260"/>
                    </a:lnTo>
                    <a:lnTo>
                      <a:pt x="92" y="256"/>
                    </a:lnTo>
                    <a:lnTo>
                      <a:pt x="100" y="254"/>
                    </a:lnTo>
                    <a:lnTo>
                      <a:pt x="108" y="252"/>
                    </a:lnTo>
                    <a:lnTo>
                      <a:pt x="114" y="252"/>
                    </a:lnTo>
                    <a:lnTo>
                      <a:pt x="116" y="256"/>
                    </a:lnTo>
                    <a:lnTo>
                      <a:pt x="114" y="262"/>
                    </a:lnTo>
                    <a:lnTo>
                      <a:pt x="112" y="266"/>
                    </a:lnTo>
                    <a:lnTo>
                      <a:pt x="112" y="270"/>
                    </a:lnTo>
                    <a:lnTo>
                      <a:pt x="114" y="272"/>
                    </a:lnTo>
                    <a:lnTo>
                      <a:pt x="118" y="276"/>
                    </a:lnTo>
                    <a:lnTo>
                      <a:pt x="124" y="278"/>
                    </a:lnTo>
                    <a:lnTo>
                      <a:pt x="126" y="278"/>
                    </a:lnTo>
                    <a:lnTo>
                      <a:pt x="128" y="276"/>
                    </a:lnTo>
                    <a:lnTo>
                      <a:pt x="130" y="276"/>
                    </a:lnTo>
                    <a:lnTo>
                      <a:pt x="134" y="278"/>
                    </a:lnTo>
                    <a:lnTo>
                      <a:pt x="138" y="282"/>
                    </a:lnTo>
                    <a:lnTo>
                      <a:pt x="144" y="286"/>
                    </a:lnTo>
                    <a:lnTo>
                      <a:pt x="148" y="290"/>
                    </a:lnTo>
                    <a:lnTo>
                      <a:pt x="150" y="292"/>
                    </a:lnTo>
                    <a:lnTo>
                      <a:pt x="154" y="296"/>
                    </a:lnTo>
                    <a:lnTo>
                      <a:pt x="156" y="298"/>
                    </a:lnTo>
                    <a:lnTo>
                      <a:pt x="158" y="298"/>
                    </a:lnTo>
                    <a:lnTo>
                      <a:pt x="164" y="300"/>
                    </a:lnTo>
                    <a:lnTo>
                      <a:pt x="168" y="300"/>
                    </a:lnTo>
                    <a:lnTo>
                      <a:pt x="174" y="300"/>
                    </a:lnTo>
                    <a:lnTo>
                      <a:pt x="176" y="300"/>
                    </a:lnTo>
                    <a:lnTo>
                      <a:pt x="178" y="300"/>
                    </a:lnTo>
                    <a:lnTo>
                      <a:pt x="180" y="306"/>
                    </a:lnTo>
                    <a:lnTo>
                      <a:pt x="182" y="312"/>
                    </a:lnTo>
                    <a:lnTo>
                      <a:pt x="186" y="322"/>
                    </a:lnTo>
                    <a:lnTo>
                      <a:pt x="180" y="328"/>
                    </a:lnTo>
                    <a:lnTo>
                      <a:pt x="180" y="332"/>
                    </a:lnTo>
                    <a:lnTo>
                      <a:pt x="182" y="336"/>
                    </a:lnTo>
                    <a:lnTo>
                      <a:pt x="184" y="342"/>
                    </a:lnTo>
                    <a:lnTo>
                      <a:pt x="186" y="344"/>
                    </a:lnTo>
                    <a:lnTo>
                      <a:pt x="206" y="344"/>
                    </a:lnTo>
                    <a:lnTo>
                      <a:pt x="204" y="346"/>
                    </a:lnTo>
                    <a:lnTo>
                      <a:pt x="204" y="352"/>
                    </a:lnTo>
                    <a:lnTo>
                      <a:pt x="206" y="358"/>
                    </a:lnTo>
                    <a:lnTo>
                      <a:pt x="210" y="362"/>
                    </a:lnTo>
                    <a:lnTo>
                      <a:pt x="214" y="366"/>
                    </a:lnTo>
                    <a:lnTo>
                      <a:pt x="216" y="370"/>
                    </a:lnTo>
                    <a:lnTo>
                      <a:pt x="216" y="374"/>
                    </a:lnTo>
                    <a:lnTo>
                      <a:pt x="216" y="378"/>
                    </a:lnTo>
                    <a:lnTo>
                      <a:pt x="214" y="388"/>
                    </a:lnTo>
                    <a:lnTo>
                      <a:pt x="212" y="394"/>
                    </a:lnTo>
                    <a:lnTo>
                      <a:pt x="214" y="398"/>
                    </a:lnTo>
                    <a:lnTo>
                      <a:pt x="210" y="400"/>
                    </a:lnTo>
                    <a:lnTo>
                      <a:pt x="212" y="402"/>
                    </a:lnTo>
                    <a:lnTo>
                      <a:pt x="216" y="408"/>
                    </a:lnTo>
                    <a:lnTo>
                      <a:pt x="218" y="414"/>
                    </a:lnTo>
                    <a:lnTo>
                      <a:pt x="216" y="422"/>
                    </a:lnTo>
                    <a:lnTo>
                      <a:pt x="216" y="424"/>
                    </a:lnTo>
                    <a:lnTo>
                      <a:pt x="218" y="428"/>
                    </a:lnTo>
                    <a:lnTo>
                      <a:pt x="218" y="432"/>
                    </a:lnTo>
                    <a:lnTo>
                      <a:pt x="218" y="434"/>
                    </a:lnTo>
                    <a:lnTo>
                      <a:pt x="224" y="436"/>
                    </a:lnTo>
                    <a:lnTo>
                      <a:pt x="232" y="436"/>
                    </a:lnTo>
                    <a:lnTo>
                      <a:pt x="236" y="434"/>
                    </a:lnTo>
                    <a:lnTo>
                      <a:pt x="238" y="438"/>
                    </a:lnTo>
                    <a:lnTo>
                      <a:pt x="238" y="440"/>
                    </a:lnTo>
                    <a:lnTo>
                      <a:pt x="240" y="442"/>
                    </a:lnTo>
                    <a:lnTo>
                      <a:pt x="242" y="442"/>
                    </a:lnTo>
                    <a:lnTo>
                      <a:pt x="246" y="444"/>
                    </a:lnTo>
                    <a:lnTo>
                      <a:pt x="248" y="446"/>
                    </a:lnTo>
                    <a:lnTo>
                      <a:pt x="248" y="448"/>
                    </a:lnTo>
                    <a:lnTo>
                      <a:pt x="248" y="462"/>
                    </a:lnTo>
                    <a:lnTo>
                      <a:pt x="250" y="468"/>
                    </a:lnTo>
                    <a:lnTo>
                      <a:pt x="250" y="470"/>
                    </a:lnTo>
                    <a:lnTo>
                      <a:pt x="252" y="470"/>
                    </a:lnTo>
                    <a:lnTo>
                      <a:pt x="256" y="468"/>
                    </a:lnTo>
                    <a:lnTo>
                      <a:pt x="258" y="468"/>
                    </a:lnTo>
                    <a:lnTo>
                      <a:pt x="260" y="468"/>
                    </a:lnTo>
                    <a:lnTo>
                      <a:pt x="258" y="474"/>
                    </a:lnTo>
                    <a:lnTo>
                      <a:pt x="258" y="482"/>
                    </a:lnTo>
                    <a:lnTo>
                      <a:pt x="256" y="490"/>
                    </a:lnTo>
                    <a:lnTo>
                      <a:pt x="256" y="498"/>
                    </a:lnTo>
                    <a:lnTo>
                      <a:pt x="260" y="500"/>
                    </a:lnTo>
                    <a:lnTo>
                      <a:pt x="262" y="500"/>
                    </a:lnTo>
                    <a:lnTo>
                      <a:pt x="262" y="498"/>
                    </a:lnTo>
                    <a:lnTo>
                      <a:pt x="264" y="498"/>
                    </a:lnTo>
                    <a:lnTo>
                      <a:pt x="268" y="498"/>
                    </a:lnTo>
                    <a:lnTo>
                      <a:pt x="268" y="508"/>
                    </a:lnTo>
                    <a:lnTo>
                      <a:pt x="268" y="522"/>
                    </a:lnTo>
                    <a:lnTo>
                      <a:pt x="268" y="524"/>
                    </a:lnTo>
                    <a:lnTo>
                      <a:pt x="264" y="528"/>
                    </a:lnTo>
                    <a:lnTo>
                      <a:pt x="262" y="528"/>
                    </a:lnTo>
                    <a:lnTo>
                      <a:pt x="258" y="530"/>
                    </a:lnTo>
                    <a:lnTo>
                      <a:pt x="254" y="530"/>
                    </a:lnTo>
                    <a:lnTo>
                      <a:pt x="252" y="532"/>
                    </a:lnTo>
                    <a:lnTo>
                      <a:pt x="250" y="538"/>
                    </a:lnTo>
                    <a:lnTo>
                      <a:pt x="246" y="542"/>
                    </a:lnTo>
                    <a:lnTo>
                      <a:pt x="242" y="544"/>
                    </a:lnTo>
                    <a:lnTo>
                      <a:pt x="240" y="548"/>
                    </a:lnTo>
                    <a:lnTo>
                      <a:pt x="238" y="550"/>
                    </a:lnTo>
                    <a:lnTo>
                      <a:pt x="234" y="550"/>
                    </a:lnTo>
                    <a:lnTo>
                      <a:pt x="232" y="552"/>
                    </a:lnTo>
                    <a:lnTo>
                      <a:pt x="230" y="554"/>
                    </a:lnTo>
                    <a:lnTo>
                      <a:pt x="230" y="560"/>
                    </a:lnTo>
                    <a:lnTo>
                      <a:pt x="226" y="564"/>
                    </a:lnTo>
                    <a:lnTo>
                      <a:pt x="222" y="566"/>
                    </a:lnTo>
                    <a:lnTo>
                      <a:pt x="220" y="570"/>
                    </a:lnTo>
                    <a:lnTo>
                      <a:pt x="218" y="580"/>
                    </a:lnTo>
                    <a:lnTo>
                      <a:pt x="228" y="576"/>
                    </a:lnTo>
                    <a:lnTo>
                      <a:pt x="238" y="584"/>
                    </a:lnTo>
                    <a:lnTo>
                      <a:pt x="242" y="592"/>
                    </a:lnTo>
                    <a:lnTo>
                      <a:pt x="244" y="594"/>
                    </a:lnTo>
                    <a:lnTo>
                      <a:pt x="246" y="594"/>
                    </a:lnTo>
                    <a:lnTo>
                      <a:pt x="248" y="594"/>
                    </a:lnTo>
                    <a:lnTo>
                      <a:pt x="250" y="596"/>
                    </a:lnTo>
                    <a:lnTo>
                      <a:pt x="254" y="600"/>
                    </a:lnTo>
                    <a:lnTo>
                      <a:pt x="258" y="604"/>
                    </a:lnTo>
                    <a:lnTo>
                      <a:pt x="264" y="606"/>
                    </a:lnTo>
                    <a:lnTo>
                      <a:pt x="266" y="608"/>
                    </a:lnTo>
                    <a:lnTo>
                      <a:pt x="268" y="610"/>
                    </a:lnTo>
                    <a:lnTo>
                      <a:pt x="270" y="614"/>
                    </a:lnTo>
                    <a:lnTo>
                      <a:pt x="274" y="618"/>
                    </a:lnTo>
                    <a:lnTo>
                      <a:pt x="278" y="620"/>
                    </a:lnTo>
                    <a:lnTo>
                      <a:pt x="278" y="620"/>
                    </a:lnTo>
                    <a:lnTo>
                      <a:pt x="274" y="630"/>
                    </a:lnTo>
                    <a:lnTo>
                      <a:pt x="274" y="634"/>
                    </a:lnTo>
                    <a:lnTo>
                      <a:pt x="278" y="628"/>
                    </a:lnTo>
                    <a:lnTo>
                      <a:pt x="282" y="624"/>
                    </a:lnTo>
                    <a:lnTo>
                      <a:pt x="280" y="620"/>
                    </a:lnTo>
                    <a:lnTo>
                      <a:pt x="278" y="616"/>
                    </a:lnTo>
                    <a:lnTo>
                      <a:pt x="284" y="610"/>
                    </a:lnTo>
                    <a:lnTo>
                      <a:pt x="288" y="604"/>
                    </a:lnTo>
                    <a:lnTo>
                      <a:pt x="288" y="600"/>
                    </a:lnTo>
                    <a:lnTo>
                      <a:pt x="290" y="598"/>
                    </a:lnTo>
                    <a:lnTo>
                      <a:pt x="294" y="598"/>
                    </a:lnTo>
                    <a:lnTo>
                      <a:pt x="294" y="596"/>
                    </a:lnTo>
                    <a:lnTo>
                      <a:pt x="296" y="594"/>
                    </a:lnTo>
                    <a:lnTo>
                      <a:pt x="298" y="590"/>
                    </a:lnTo>
                    <a:lnTo>
                      <a:pt x="298" y="582"/>
                    </a:lnTo>
                    <a:lnTo>
                      <a:pt x="302" y="584"/>
                    </a:lnTo>
                    <a:lnTo>
                      <a:pt x="302" y="586"/>
                    </a:lnTo>
                    <a:lnTo>
                      <a:pt x="306" y="586"/>
                    </a:lnTo>
                    <a:lnTo>
                      <a:pt x="306" y="584"/>
                    </a:lnTo>
                    <a:lnTo>
                      <a:pt x="308" y="584"/>
                    </a:lnTo>
                    <a:lnTo>
                      <a:pt x="308" y="588"/>
                    </a:lnTo>
                    <a:lnTo>
                      <a:pt x="306" y="594"/>
                    </a:lnTo>
                    <a:lnTo>
                      <a:pt x="304" y="600"/>
                    </a:lnTo>
                    <a:lnTo>
                      <a:pt x="302" y="602"/>
                    </a:lnTo>
                    <a:lnTo>
                      <a:pt x="302" y="606"/>
                    </a:lnTo>
                    <a:lnTo>
                      <a:pt x="304" y="604"/>
                    </a:lnTo>
                    <a:lnTo>
                      <a:pt x="308" y="598"/>
                    </a:lnTo>
                    <a:lnTo>
                      <a:pt x="314" y="582"/>
                    </a:lnTo>
                    <a:lnTo>
                      <a:pt x="316" y="574"/>
                    </a:lnTo>
                    <a:lnTo>
                      <a:pt x="320" y="566"/>
                    </a:lnTo>
                    <a:lnTo>
                      <a:pt x="328" y="558"/>
                    </a:lnTo>
                    <a:lnTo>
                      <a:pt x="330" y="558"/>
                    </a:lnTo>
                    <a:lnTo>
                      <a:pt x="332" y="558"/>
                    </a:lnTo>
                    <a:lnTo>
                      <a:pt x="332" y="554"/>
                    </a:lnTo>
                    <a:lnTo>
                      <a:pt x="332" y="552"/>
                    </a:lnTo>
                    <a:lnTo>
                      <a:pt x="334" y="550"/>
                    </a:lnTo>
                    <a:lnTo>
                      <a:pt x="334" y="546"/>
                    </a:lnTo>
                    <a:lnTo>
                      <a:pt x="334" y="542"/>
                    </a:lnTo>
                    <a:lnTo>
                      <a:pt x="334" y="530"/>
                    </a:lnTo>
                    <a:lnTo>
                      <a:pt x="332" y="528"/>
                    </a:lnTo>
                    <a:lnTo>
                      <a:pt x="332" y="526"/>
                    </a:lnTo>
                    <a:lnTo>
                      <a:pt x="332" y="524"/>
                    </a:lnTo>
                    <a:lnTo>
                      <a:pt x="330" y="524"/>
                    </a:lnTo>
                    <a:lnTo>
                      <a:pt x="330" y="520"/>
                    </a:lnTo>
                    <a:lnTo>
                      <a:pt x="332" y="520"/>
                    </a:lnTo>
                    <a:lnTo>
                      <a:pt x="332" y="518"/>
                    </a:lnTo>
                    <a:lnTo>
                      <a:pt x="332" y="510"/>
                    </a:lnTo>
                    <a:lnTo>
                      <a:pt x="330" y="510"/>
                    </a:lnTo>
                    <a:lnTo>
                      <a:pt x="330" y="508"/>
                    </a:lnTo>
                    <a:lnTo>
                      <a:pt x="332" y="506"/>
                    </a:lnTo>
                    <a:lnTo>
                      <a:pt x="332" y="502"/>
                    </a:lnTo>
                    <a:lnTo>
                      <a:pt x="332" y="500"/>
                    </a:lnTo>
                    <a:lnTo>
                      <a:pt x="332" y="50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88" name="Freeform 472">
                <a:extLst>
                  <a:ext uri="{FF2B5EF4-FFF2-40B4-BE49-F238E27FC236}">
                    <a16:creationId xmlns:a16="http://schemas.microsoft.com/office/drawing/2014/main" id="{7B3CA7E0-18A4-4424-B8DD-1339CF6D9481}"/>
                  </a:ext>
                </a:extLst>
              </p:cNvPr>
              <p:cNvSpPr>
                <a:spLocks noEditPoints="1"/>
              </p:cNvSpPr>
              <p:nvPr/>
            </p:nvSpPr>
            <p:spPr bwMode="auto">
              <a:xfrm>
                <a:off x="6256536" y="4442465"/>
                <a:ext cx="503676" cy="530298"/>
              </a:xfrm>
              <a:custGeom>
                <a:avLst/>
                <a:gdLst/>
                <a:ahLst/>
                <a:cxnLst>
                  <a:cxn ang="0">
                    <a:pos x="392" y="464"/>
                  </a:cxn>
                  <a:cxn ang="0">
                    <a:pos x="410" y="448"/>
                  </a:cxn>
                  <a:cxn ang="0">
                    <a:pos x="420" y="462"/>
                  </a:cxn>
                  <a:cxn ang="0">
                    <a:pos x="438" y="458"/>
                  </a:cxn>
                  <a:cxn ang="0">
                    <a:pos x="470" y="438"/>
                  </a:cxn>
                  <a:cxn ang="0">
                    <a:pos x="482" y="398"/>
                  </a:cxn>
                  <a:cxn ang="0">
                    <a:pos x="494" y="360"/>
                  </a:cxn>
                  <a:cxn ang="0">
                    <a:pos x="510" y="322"/>
                  </a:cxn>
                  <a:cxn ang="0">
                    <a:pos x="518" y="282"/>
                  </a:cxn>
                  <a:cxn ang="0">
                    <a:pos x="508" y="234"/>
                  </a:cxn>
                  <a:cxn ang="0">
                    <a:pos x="484" y="202"/>
                  </a:cxn>
                  <a:cxn ang="0">
                    <a:pos x="468" y="174"/>
                  </a:cxn>
                  <a:cxn ang="0">
                    <a:pos x="452" y="138"/>
                  </a:cxn>
                  <a:cxn ang="0">
                    <a:pos x="428" y="112"/>
                  </a:cxn>
                  <a:cxn ang="0">
                    <a:pos x="412" y="62"/>
                  </a:cxn>
                  <a:cxn ang="0">
                    <a:pos x="388" y="24"/>
                  </a:cxn>
                  <a:cxn ang="0">
                    <a:pos x="372" y="6"/>
                  </a:cxn>
                  <a:cxn ang="0">
                    <a:pos x="370" y="66"/>
                  </a:cxn>
                  <a:cxn ang="0">
                    <a:pos x="352" y="108"/>
                  </a:cxn>
                  <a:cxn ang="0">
                    <a:pos x="314" y="80"/>
                  </a:cxn>
                  <a:cxn ang="0">
                    <a:pos x="294" y="42"/>
                  </a:cxn>
                  <a:cxn ang="0">
                    <a:pos x="304" y="18"/>
                  </a:cxn>
                  <a:cxn ang="0">
                    <a:pos x="272" y="16"/>
                  </a:cxn>
                  <a:cxn ang="0">
                    <a:pos x="242" y="4"/>
                  </a:cxn>
                  <a:cxn ang="0">
                    <a:pos x="242" y="18"/>
                  </a:cxn>
                  <a:cxn ang="0">
                    <a:pos x="224" y="38"/>
                  </a:cxn>
                  <a:cxn ang="0">
                    <a:pos x="216" y="64"/>
                  </a:cxn>
                  <a:cxn ang="0">
                    <a:pos x="194" y="62"/>
                  </a:cxn>
                  <a:cxn ang="0">
                    <a:pos x="170" y="46"/>
                  </a:cxn>
                  <a:cxn ang="0">
                    <a:pos x="160" y="60"/>
                  </a:cxn>
                  <a:cxn ang="0">
                    <a:pos x="142" y="80"/>
                  </a:cxn>
                  <a:cxn ang="0">
                    <a:pos x="134" y="96"/>
                  </a:cxn>
                  <a:cxn ang="0">
                    <a:pos x="118" y="106"/>
                  </a:cxn>
                  <a:cxn ang="0">
                    <a:pos x="84" y="140"/>
                  </a:cxn>
                  <a:cxn ang="0">
                    <a:pos x="58" y="154"/>
                  </a:cxn>
                  <a:cxn ang="0">
                    <a:pos x="30" y="170"/>
                  </a:cxn>
                  <a:cxn ang="0">
                    <a:pos x="10" y="178"/>
                  </a:cxn>
                  <a:cxn ang="0">
                    <a:pos x="2" y="212"/>
                  </a:cxn>
                  <a:cxn ang="0">
                    <a:pos x="10" y="252"/>
                  </a:cxn>
                  <a:cxn ang="0">
                    <a:pos x="14" y="262"/>
                  </a:cxn>
                  <a:cxn ang="0">
                    <a:pos x="26" y="292"/>
                  </a:cxn>
                  <a:cxn ang="0">
                    <a:pos x="34" y="342"/>
                  </a:cxn>
                  <a:cxn ang="0">
                    <a:pos x="24" y="368"/>
                  </a:cxn>
                  <a:cxn ang="0">
                    <a:pos x="50" y="390"/>
                  </a:cxn>
                  <a:cxn ang="0">
                    <a:pos x="82" y="382"/>
                  </a:cxn>
                  <a:cxn ang="0">
                    <a:pos x="110" y="374"/>
                  </a:cxn>
                  <a:cxn ang="0">
                    <a:pos x="136" y="372"/>
                  </a:cxn>
                  <a:cxn ang="0">
                    <a:pos x="180" y="346"/>
                  </a:cxn>
                  <a:cxn ang="0">
                    <a:pos x="226" y="336"/>
                  </a:cxn>
                  <a:cxn ang="0">
                    <a:pos x="264" y="344"/>
                  </a:cxn>
                  <a:cxn ang="0">
                    <a:pos x="280" y="376"/>
                  </a:cxn>
                  <a:cxn ang="0">
                    <a:pos x="312" y="366"/>
                  </a:cxn>
                  <a:cxn ang="0">
                    <a:pos x="304" y="398"/>
                  </a:cxn>
                  <a:cxn ang="0">
                    <a:pos x="320" y="386"/>
                  </a:cxn>
                  <a:cxn ang="0">
                    <a:pos x="342" y="418"/>
                  </a:cxn>
                  <a:cxn ang="0">
                    <a:pos x="362" y="454"/>
                  </a:cxn>
                  <a:cxn ang="0">
                    <a:pos x="412" y="524"/>
                  </a:cxn>
                  <a:cxn ang="0">
                    <a:pos x="424" y="546"/>
                  </a:cxn>
                  <a:cxn ang="0">
                    <a:pos x="436" y="546"/>
                  </a:cxn>
                  <a:cxn ang="0">
                    <a:pos x="444" y="544"/>
                  </a:cxn>
                  <a:cxn ang="0">
                    <a:pos x="434" y="508"/>
                  </a:cxn>
                </a:cxnLst>
                <a:rect l="0" t="0" r="r" b="b"/>
                <a:pathLst>
                  <a:path w="518" h="552">
                    <a:moveTo>
                      <a:pt x="372" y="454"/>
                    </a:moveTo>
                    <a:lnTo>
                      <a:pt x="372" y="454"/>
                    </a:lnTo>
                    <a:lnTo>
                      <a:pt x="374" y="458"/>
                    </a:lnTo>
                    <a:lnTo>
                      <a:pt x="378" y="458"/>
                    </a:lnTo>
                    <a:lnTo>
                      <a:pt x="378" y="460"/>
                    </a:lnTo>
                    <a:lnTo>
                      <a:pt x="380" y="462"/>
                    </a:lnTo>
                    <a:lnTo>
                      <a:pt x="382" y="462"/>
                    </a:lnTo>
                    <a:lnTo>
                      <a:pt x="384" y="464"/>
                    </a:lnTo>
                    <a:lnTo>
                      <a:pt x="386" y="466"/>
                    </a:lnTo>
                    <a:lnTo>
                      <a:pt x="392" y="464"/>
                    </a:lnTo>
                    <a:lnTo>
                      <a:pt x="394" y="460"/>
                    </a:lnTo>
                    <a:lnTo>
                      <a:pt x="396" y="460"/>
                    </a:lnTo>
                    <a:lnTo>
                      <a:pt x="398" y="456"/>
                    </a:lnTo>
                    <a:lnTo>
                      <a:pt x="400" y="456"/>
                    </a:lnTo>
                    <a:lnTo>
                      <a:pt x="402" y="454"/>
                    </a:lnTo>
                    <a:lnTo>
                      <a:pt x="402" y="452"/>
                    </a:lnTo>
                    <a:lnTo>
                      <a:pt x="402" y="450"/>
                    </a:lnTo>
                    <a:lnTo>
                      <a:pt x="406" y="448"/>
                    </a:lnTo>
                    <a:lnTo>
                      <a:pt x="406" y="446"/>
                    </a:lnTo>
                    <a:lnTo>
                      <a:pt x="410" y="448"/>
                    </a:lnTo>
                    <a:lnTo>
                      <a:pt x="412" y="450"/>
                    </a:lnTo>
                    <a:lnTo>
                      <a:pt x="412" y="452"/>
                    </a:lnTo>
                    <a:lnTo>
                      <a:pt x="406" y="454"/>
                    </a:lnTo>
                    <a:lnTo>
                      <a:pt x="406" y="458"/>
                    </a:lnTo>
                    <a:lnTo>
                      <a:pt x="410" y="458"/>
                    </a:lnTo>
                    <a:lnTo>
                      <a:pt x="416" y="454"/>
                    </a:lnTo>
                    <a:lnTo>
                      <a:pt x="416" y="458"/>
                    </a:lnTo>
                    <a:lnTo>
                      <a:pt x="412" y="458"/>
                    </a:lnTo>
                    <a:lnTo>
                      <a:pt x="412" y="458"/>
                    </a:lnTo>
                    <a:lnTo>
                      <a:pt x="420" y="462"/>
                    </a:lnTo>
                    <a:lnTo>
                      <a:pt x="422" y="466"/>
                    </a:lnTo>
                    <a:lnTo>
                      <a:pt x="424" y="466"/>
                    </a:lnTo>
                    <a:lnTo>
                      <a:pt x="424" y="468"/>
                    </a:lnTo>
                    <a:lnTo>
                      <a:pt x="426" y="470"/>
                    </a:lnTo>
                    <a:lnTo>
                      <a:pt x="428" y="472"/>
                    </a:lnTo>
                    <a:lnTo>
                      <a:pt x="430" y="468"/>
                    </a:lnTo>
                    <a:lnTo>
                      <a:pt x="432" y="466"/>
                    </a:lnTo>
                    <a:lnTo>
                      <a:pt x="434" y="464"/>
                    </a:lnTo>
                    <a:lnTo>
                      <a:pt x="434" y="460"/>
                    </a:lnTo>
                    <a:lnTo>
                      <a:pt x="438" y="458"/>
                    </a:lnTo>
                    <a:lnTo>
                      <a:pt x="442" y="454"/>
                    </a:lnTo>
                    <a:lnTo>
                      <a:pt x="442" y="452"/>
                    </a:lnTo>
                    <a:lnTo>
                      <a:pt x="440" y="450"/>
                    </a:lnTo>
                    <a:lnTo>
                      <a:pt x="444" y="446"/>
                    </a:lnTo>
                    <a:lnTo>
                      <a:pt x="456" y="446"/>
                    </a:lnTo>
                    <a:lnTo>
                      <a:pt x="466" y="448"/>
                    </a:lnTo>
                    <a:lnTo>
                      <a:pt x="468" y="442"/>
                    </a:lnTo>
                    <a:lnTo>
                      <a:pt x="472" y="442"/>
                    </a:lnTo>
                    <a:lnTo>
                      <a:pt x="472" y="440"/>
                    </a:lnTo>
                    <a:lnTo>
                      <a:pt x="470" y="438"/>
                    </a:lnTo>
                    <a:lnTo>
                      <a:pt x="472" y="436"/>
                    </a:lnTo>
                    <a:lnTo>
                      <a:pt x="474" y="434"/>
                    </a:lnTo>
                    <a:lnTo>
                      <a:pt x="470" y="434"/>
                    </a:lnTo>
                    <a:lnTo>
                      <a:pt x="468" y="430"/>
                    </a:lnTo>
                    <a:lnTo>
                      <a:pt x="472" y="422"/>
                    </a:lnTo>
                    <a:lnTo>
                      <a:pt x="476" y="414"/>
                    </a:lnTo>
                    <a:lnTo>
                      <a:pt x="476" y="410"/>
                    </a:lnTo>
                    <a:lnTo>
                      <a:pt x="476" y="402"/>
                    </a:lnTo>
                    <a:lnTo>
                      <a:pt x="480" y="398"/>
                    </a:lnTo>
                    <a:lnTo>
                      <a:pt x="482" y="398"/>
                    </a:lnTo>
                    <a:lnTo>
                      <a:pt x="482" y="394"/>
                    </a:lnTo>
                    <a:lnTo>
                      <a:pt x="482" y="392"/>
                    </a:lnTo>
                    <a:lnTo>
                      <a:pt x="484" y="390"/>
                    </a:lnTo>
                    <a:lnTo>
                      <a:pt x="484" y="386"/>
                    </a:lnTo>
                    <a:lnTo>
                      <a:pt x="486" y="384"/>
                    </a:lnTo>
                    <a:lnTo>
                      <a:pt x="488" y="376"/>
                    </a:lnTo>
                    <a:lnTo>
                      <a:pt x="486" y="368"/>
                    </a:lnTo>
                    <a:lnTo>
                      <a:pt x="492" y="366"/>
                    </a:lnTo>
                    <a:lnTo>
                      <a:pt x="492" y="362"/>
                    </a:lnTo>
                    <a:lnTo>
                      <a:pt x="494" y="360"/>
                    </a:lnTo>
                    <a:lnTo>
                      <a:pt x="496" y="358"/>
                    </a:lnTo>
                    <a:lnTo>
                      <a:pt x="498" y="354"/>
                    </a:lnTo>
                    <a:lnTo>
                      <a:pt x="504" y="352"/>
                    </a:lnTo>
                    <a:lnTo>
                      <a:pt x="504" y="346"/>
                    </a:lnTo>
                    <a:lnTo>
                      <a:pt x="506" y="342"/>
                    </a:lnTo>
                    <a:lnTo>
                      <a:pt x="508" y="342"/>
                    </a:lnTo>
                    <a:lnTo>
                      <a:pt x="508" y="338"/>
                    </a:lnTo>
                    <a:lnTo>
                      <a:pt x="512" y="330"/>
                    </a:lnTo>
                    <a:lnTo>
                      <a:pt x="512" y="326"/>
                    </a:lnTo>
                    <a:lnTo>
                      <a:pt x="510" y="322"/>
                    </a:lnTo>
                    <a:lnTo>
                      <a:pt x="512" y="320"/>
                    </a:lnTo>
                    <a:lnTo>
                      <a:pt x="512" y="312"/>
                    </a:lnTo>
                    <a:lnTo>
                      <a:pt x="514" y="302"/>
                    </a:lnTo>
                    <a:lnTo>
                      <a:pt x="512" y="302"/>
                    </a:lnTo>
                    <a:lnTo>
                      <a:pt x="510" y="300"/>
                    </a:lnTo>
                    <a:lnTo>
                      <a:pt x="516" y="296"/>
                    </a:lnTo>
                    <a:lnTo>
                      <a:pt x="512" y="292"/>
                    </a:lnTo>
                    <a:lnTo>
                      <a:pt x="516" y="290"/>
                    </a:lnTo>
                    <a:lnTo>
                      <a:pt x="518" y="286"/>
                    </a:lnTo>
                    <a:lnTo>
                      <a:pt x="518" y="282"/>
                    </a:lnTo>
                    <a:lnTo>
                      <a:pt x="514" y="278"/>
                    </a:lnTo>
                    <a:lnTo>
                      <a:pt x="512" y="276"/>
                    </a:lnTo>
                    <a:lnTo>
                      <a:pt x="508" y="266"/>
                    </a:lnTo>
                    <a:lnTo>
                      <a:pt x="508" y="256"/>
                    </a:lnTo>
                    <a:lnTo>
                      <a:pt x="510" y="248"/>
                    </a:lnTo>
                    <a:lnTo>
                      <a:pt x="510" y="244"/>
                    </a:lnTo>
                    <a:lnTo>
                      <a:pt x="510" y="242"/>
                    </a:lnTo>
                    <a:lnTo>
                      <a:pt x="510" y="238"/>
                    </a:lnTo>
                    <a:lnTo>
                      <a:pt x="508" y="236"/>
                    </a:lnTo>
                    <a:lnTo>
                      <a:pt x="508" y="234"/>
                    </a:lnTo>
                    <a:lnTo>
                      <a:pt x="506" y="234"/>
                    </a:lnTo>
                    <a:lnTo>
                      <a:pt x="504" y="232"/>
                    </a:lnTo>
                    <a:lnTo>
                      <a:pt x="504" y="228"/>
                    </a:lnTo>
                    <a:lnTo>
                      <a:pt x="502" y="226"/>
                    </a:lnTo>
                    <a:lnTo>
                      <a:pt x="496" y="224"/>
                    </a:lnTo>
                    <a:lnTo>
                      <a:pt x="496" y="218"/>
                    </a:lnTo>
                    <a:lnTo>
                      <a:pt x="494" y="212"/>
                    </a:lnTo>
                    <a:lnTo>
                      <a:pt x="488" y="210"/>
                    </a:lnTo>
                    <a:lnTo>
                      <a:pt x="486" y="206"/>
                    </a:lnTo>
                    <a:lnTo>
                      <a:pt x="484" y="202"/>
                    </a:lnTo>
                    <a:lnTo>
                      <a:pt x="484" y="196"/>
                    </a:lnTo>
                    <a:lnTo>
                      <a:pt x="484" y="192"/>
                    </a:lnTo>
                    <a:lnTo>
                      <a:pt x="484" y="188"/>
                    </a:lnTo>
                    <a:lnTo>
                      <a:pt x="482" y="188"/>
                    </a:lnTo>
                    <a:lnTo>
                      <a:pt x="476" y="182"/>
                    </a:lnTo>
                    <a:lnTo>
                      <a:pt x="474" y="184"/>
                    </a:lnTo>
                    <a:lnTo>
                      <a:pt x="470" y="184"/>
                    </a:lnTo>
                    <a:lnTo>
                      <a:pt x="468" y="182"/>
                    </a:lnTo>
                    <a:lnTo>
                      <a:pt x="468" y="178"/>
                    </a:lnTo>
                    <a:lnTo>
                      <a:pt x="468" y="174"/>
                    </a:lnTo>
                    <a:lnTo>
                      <a:pt x="470" y="172"/>
                    </a:lnTo>
                    <a:lnTo>
                      <a:pt x="470" y="170"/>
                    </a:lnTo>
                    <a:lnTo>
                      <a:pt x="468" y="168"/>
                    </a:lnTo>
                    <a:lnTo>
                      <a:pt x="466" y="162"/>
                    </a:lnTo>
                    <a:lnTo>
                      <a:pt x="464" y="160"/>
                    </a:lnTo>
                    <a:lnTo>
                      <a:pt x="460" y="158"/>
                    </a:lnTo>
                    <a:lnTo>
                      <a:pt x="458" y="156"/>
                    </a:lnTo>
                    <a:lnTo>
                      <a:pt x="460" y="148"/>
                    </a:lnTo>
                    <a:lnTo>
                      <a:pt x="452" y="142"/>
                    </a:lnTo>
                    <a:lnTo>
                      <a:pt x="452" y="138"/>
                    </a:lnTo>
                    <a:lnTo>
                      <a:pt x="444" y="136"/>
                    </a:lnTo>
                    <a:lnTo>
                      <a:pt x="442" y="138"/>
                    </a:lnTo>
                    <a:lnTo>
                      <a:pt x="440" y="136"/>
                    </a:lnTo>
                    <a:lnTo>
                      <a:pt x="440" y="132"/>
                    </a:lnTo>
                    <a:lnTo>
                      <a:pt x="434" y="132"/>
                    </a:lnTo>
                    <a:lnTo>
                      <a:pt x="430" y="128"/>
                    </a:lnTo>
                    <a:lnTo>
                      <a:pt x="428" y="128"/>
                    </a:lnTo>
                    <a:lnTo>
                      <a:pt x="428" y="122"/>
                    </a:lnTo>
                    <a:lnTo>
                      <a:pt x="428" y="122"/>
                    </a:lnTo>
                    <a:lnTo>
                      <a:pt x="428" y="112"/>
                    </a:lnTo>
                    <a:lnTo>
                      <a:pt x="426" y="100"/>
                    </a:lnTo>
                    <a:lnTo>
                      <a:pt x="424" y="96"/>
                    </a:lnTo>
                    <a:lnTo>
                      <a:pt x="424" y="92"/>
                    </a:lnTo>
                    <a:lnTo>
                      <a:pt x="420" y="86"/>
                    </a:lnTo>
                    <a:lnTo>
                      <a:pt x="416" y="82"/>
                    </a:lnTo>
                    <a:lnTo>
                      <a:pt x="416" y="72"/>
                    </a:lnTo>
                    <a:lnTo>
                      <a:pt x="416" y="62"/>
                    </a:lnTo>
                    <a:lnTo>
                      <a:pt x="416" y="60"/>
                    </a:lnTo>
                    <a:lnTo>
                      <a:pt x="414" y="60"/>
                    </a:lnTo>
                    <a:lnTo>
                      <a:pt x="412" y="62"/>
                    </a:lnTo>
                    <a:lnTo>
                      <a:pt x="404" y="50"/>
                    </a:lnTo>
                    <a:lnTo>
                      <a:pt x="396" y="58"/>
                    </a:lnTo>
                    <a:lnTo>
                      <a:pt x="392" y="54"/>
                    </a:lnTo>
                    <a:lnTo>
                      <a:pt x="392" y="46"/>
                    </a:lnTo>
                    <a:lnTo>
                      <a:pt x="394" y="40"/>
                    </a:lnTo>
                    <a:lnTo>
                      <a:pt x="394" y="38"/>
                    </a:lnTo>
                    <a:lnTo>
                      <a:pt x="394" y="36"/>
                    </a:lnTo>
                    <a:lnTo>
                      <a:pt x="392" y="32"/>
                    </a:lnTo>
                    <a:lnTo>
                      <a:pt x="392" y="26"/>
                    </a:lnTo>
                    <a:lnTo>
                      <a:pt x="388" y="24"/>
                    </a:lnTo>
                    <a:lnTo>
                      <a:pt x="386" y="22"/>
                    </a:lnTo>
                    <a:lnTo>
                      <a:pt x="386" y="16"/>
                    </a:lnTo>
                    <a:lnTo>
                      <a:pt x="382" y="14"/>
                    </a:lnTo>
                    <a:lnTo>
                      <a:pt x="382" y="8"/>
                    </a:lnTo>
                    <a:lnTo>
                      <a:pt x="380" y="6"/>
                    </a:lnTo>
                    <a:lnTo>
                      <a:pt x="378" y="0"/>
                    </a:lnTo>
                    <a:lnTo>
                      <a:pt x="374" y="0"/>
                    </a:lnTo>
                    <a:lnTo>
                      <a:pt x="374" y="0"/>
                    </a:lnTo>
                    <a:lnTo>
                      <a:pt x="372" y="0"/>
                    </a:lnTo>
                    <a:lnTo>
                      <a:pt x="372" y="6"/>
                    </a:lnTo>
                    <a:lnTo>
                      <a:pt x="372" y="14"/>
                    </a:lnTo>
                    <a:lnTo>
                      <a:pt x="370" y="16"/>
                    </a:lnTo>
                    <a:lnTo>
                      <a:pt x="368" y="20"/>
                    </a:lnTo>
                    <a:lnTo>
                      <a:pt x="368" y="22"/>
                    </a:lnTo>
                    <a:lnTo>
                      <a:pt x="370" y="22"/>
                    </a:lnTo>
                    <a:lnTo>
                      <a:pt x="370" y="38"/>
                    </a:lnTo>
                    <a:lnTo>
                      <a:pt x="368" y="40"/>
                    </a:lnTo>
                    <a:lnTo>
                      <a:pt x="366" y="46"/>
                    </a:lnTo>
                    <a:lnTo>
                      <a:pt x="368" y="62"/>
                    </a:lnTo>
                    <a:lnTo>
                      <a:pt x="370" y="66"/>
                    </a:lnTo>
                    <a:lnTo>
                      <a:pt x="366" y="68"/>
                    </a:lnTo>
                    <a:lnTo>
                      <a:pt x="366" y="74"/>
                    </a:lnTo>
                    <a:lnTo>
                      <a:pt x="366" y="78"/>
                    </a:lnTo>
                    <a:lnTo>
                      <a:pt x="364" y="82"/>
                    </a:lnTo>
                    <a:lnTo>
                      <a:pt x="362" y="86"/>
                    </a:lnTo>
                    <a:lnTo>
                      <a:pt x="362" y="88"/>
                    </a:lnTo>
                    <a:lnTo>
                      <a:pt x="362" y="92"/>
                    </a:lnTo>
                    <a:lnTo>
                      <a:pt x="358" y="98"/>
                    </a:lnTo>
                    <a:lnTo>
                      <a:pt x="358" y="106"/>
                    </a:lnTo>
                    <a:lnTo>
                      <a:pt x="352" y="108"/>
                    </a:lnTo>
                    <a:lnTo>
                      <a:pt x="346" y="108"/>
                    </a:lnTo>
                    <a:lnTo>
                      <a:pt x="342" y="108"/>
                    </a:lnTo>
                    <a:lnTo>
                      <a:pt x="342" y="106"/>
                    </a:lnTo>
                    <a:lnTo>
                      <a:pt x="336" y="96"/>
                    </a:lnTo>
                    <a:lnTo>
                      <a:pt x="334" y="94"/>
                    </a:lnTo>
                    <a:lnTo>
                      <a:pt x="330" y="94"/>
                    </a:lnTo>
                    <a:lnTo>
                      <a:pt x="324" y="88"/>
                    </a:lnTo>
                    <a:lnTo>
                      <a:pt x="320" y="82"/>
                    </a:lnTo>
                    <a:lnTo>
                      <a:pt x="318" y="80"/>
                    </a:lnTo>
                    <a:lnTo>
                      <a:pt x="314" y="80"/>
                    </a:lnTo>
                    <a:lnTo>
                      <a:pt x="312" y="78"/>
                    </a:lnTo>
                    <a:lnTo>
                      <a:pt x="308" y="74"/>
                    </a:lnTo>
                    <a:lnTo>
                      <a:pt x="304" y="74"/>
                    </a:lnTo>
                    <a:lnTo>
                      <a:pt x="300" y="68"/>
                    </a:lnTo>
                    <a:lnTo>
                      <a:pt x="296" y="68"/>
                    </a:lnTo>
                    <a:lnTo>
                      <a:pt x="290" y="62"/>
                    </a:lnTo>
                    <a:lnTo>
                      <a:pt x="290" y="58"/>
                    </a:lnTo>
                    <a:lnTo>
                      <a:pt x="292" y="50"/>
                    </a:lnTo>
                    <a:lnTo>
                      <a:pt x="294" y="48"/>
                    </a:lnTo>
                    <a:lnTo>
                      <a:pt x="294" y="42"/>
                    </a:lnTo>
                    <a:lnTo>
                      <a:pt x="294" y="36"/>
                    </a:lnTo>
                    <a:lnTo>
                      <a:pt x="300" y="38"/>
                    </a:lnTo>
                    <a:lnTo>
                      <a:pt x="302" y="36"/>
                    </a:lnTo>
                    <a:lnTo>
                      <a:pt x="302" y="34"/>
                    </a:lnTo>
                    <a:lnTo>
                      <a:pt x="300" y="28"/>
                    </a:lnTo>
                    <a:lnTo>
                      <a:pt x="308" y="24"/>
                    </a:lnTo>
                    <a:lnTo>
                      <a:pt x="308" y="20"/>
                    </a:lnTo>
                    <a:lnTo>
                      <a:pt x="306" y="20"/>
                    </a:lnTo>
                    <a:lnTo>
                      <a:pt x="306" y="18"/>
                    </a:lnTo>
                    <a:lnTo>
                      <a:pt x="304" y="18"/>
                    </a:lnTo>
                    <a:lnTo>
                      <a:pt x="306" y="14"/>
                    </a:lnTo>
                    <a:lnTo>
                      <a:pt x="298" y="18"/>
                    </a:lnTo>
                    <a:lnTo>
                      <a:pt x="298" y="20"/>
                    </a:lnTo>
                    <a:lnTo>
                      <a:pt x="292" y="14"/>
                    </a:lnTo>
                    <a:lnTo>
                      <a:pt x="288" y="14"/>
                    </a:lnTo>
                    <a:lnTo>
                      <a:pt x="286" y="16"/>
                    </a:lnTo>
                    <a:lnTo>
                      <a:pt x="282" y="16"/>
                    </a:lnTo>
                    <a:lnTo>
                      <a:pt x="280" y="14"/>
                    </a:lnTo>
                    <a:lnTo>
                      <a:pt x="276" y="14"/>
                    </a:lnTo>
                    <a:lnTo>
                      <a:pt x="272" y="16"/>
                    </a:lnTo>
                    <a:lnTo>
                      <a:pt x="270" y="12"/>
                    </a:lnTo>
                    <a:lnTo>
                      <a:pt x="268" y="12"/>
                    </a:lnTo>
                    <a:lnTo>
                      <a:pt x="264" y="14"/>
                    </a:lnTo>
                    <a:lnTo>
                      <a:pt x="262" y="10"/>
                    </a:lnTo>
                    <a:lnTo>
                      <a:pt x="262" y="8"/>
                    </a:lnTo>
                    <a:lnTo>
                      <a:pt x="256" y="10"/>
                    </a:lnTo>
                    <a:lnTo>
                      <a:pt x="252" y="6"/>
                    </a:lnTo>
                    <a:lnTo>
                      <a:pt x="250" y="6"/>
                    </a:lnTo>
                    <a:lnTo>
                      <a:pt x="248" y="6"/>
                    </a:lnTo>
                    <a:lnTo>
                      <a:pt x="242" y="4"/>
                    </a:lnTo>
                    <a:lnTo>
                      <a:pt x="242" y="6"/>
                    </a:lnTo>
                    <a:lnTo>
                      <a:pt x="246" y="10"/>
                    </a:lnTo>
                    <a:lnTo>
                      <a:pt x="252" y="10"/>
                    </a:lnTo>
                    <a:lnTo>
                      <a:pt x="254" y="12"/>
                    </a:lnTo>
                    <a:lnTo>
                      <a:pt x="254" y="14"/>
                    </a:lnTo>
                    <a:lnTo>
                      <a:pt x="256" y="20"/>
                    </a:lnTo>
                    <a:lnTo>
                      <a:pt x="254" y="20"/>
                    </a:lnTo>
                    <a:lnTo>
                      <a:pt x="252" y="24"/>
                    </a:lnTo>
                    <a:lnTo>
                      <a:pt x="246" y="20"/>
                    </a:lnTo>
                    <a:lnTo>
                      <a:pt x="242" y="18"/>
                    </a:lnTo>
                    <a:lnTo>
                      <a:pt x="238" y="20"/>
                    </a:lnTo>
                    <a:lnTo>
                      <a:pt x="236" y="22"/>
                    </a:lnTo>
                    <a:lnTo>
                      <a:pt x="236" y="18"/>
                    </a:lnTo>
                    <a:lnTo>
                      <a:pt x="234" y="18"/>
                    </a:lnTo>
                    <a:lnTo>
                      <a:pt x="230" y="22"/>
                    </a:lnTo>
                    <a:lnTo>
                      <a:pt x="224" y="20"/>
                    </a:lnTo>
                    <a:lnTo>
                      <a:pt x="226" y="26"/>
                    </a:lnTo>
                    <a:lnTo>
                      <a:pt x="220" y="28"/>
                    </a:lnTo>
                    <a:lnTo>
                      <a:pt x="220" y="30"/>
                    </a:lnTo>
                    <a:lnTo>
                      <a:pt x="224" y="38"/>
                    </a:lnTo>
                    <a:lnTo>
                      <a:pt x="220" y="38"/>
                    </a:lnTo>
                    <a:lnTo>
                      <a:pt x="216" y="40"/>
                    </a:lnTo>
                    <a:lnTo>
                      <a:pt x="216" y="48"/>
                    </a:lnTo>
                    <a:lnTo>
                      <a:pt x="210" y="48"/>
                    </a:lnTo>
                    <a:lnTo>
                      <a:pt x="210" y="54"/>
                    </a:lnTo>
                    <a:lnTo>
                      <a:pt x="210" y="58"/>
                    </a:lnTo>
                    <a:lnTo>
                      <a:pt x="212" y="60"/>
                    </a:lnTo>
                    <a:lnTo>
                      <a:pt x="214" y="60"/>
                    </a:lnTo>
                    <a:lnTo>
                      <a:pt x="216" y="62"/>
                    </a:lnTo>
                    <a:lnTo>
                      <a:pt x="216" y="64"/>
                    </a:lnTo>
                    <a:lnTo>
                      <a:pt x="206" y="62"/>
                    </a:lnTo>
                    <a:lnTo>
                      <a:pt x="206" y="62"/>
                    </a:lnTo>
                    <a:lnTo>
                      <a:pt x="200" y="60"/>
                    </a:lnTo>
                    <a:lnTo>
                      <a:pt x="198" y="60"/>
                    </a:lnTo>
                    <a:lnTo>
                      <a:pt x="198" y="62"/>
                    </a:lnTo>
                    <a:lnTo>
                      <a:pt x="196" y="68"/>
                    </a:lnTo>
                    <a:lnTo>
                      <a:pt x="194" y="68"/>
                    </a:lnTo>
                    <a:lnTo>
                      <a:pt x="192" y="68"/>
                    </a:lnTo>
                    <a:lnTo>
                      <a:pt x="192" y="66"/>
                    </a:lnTo>
                    <a:lnTo>
                      <a:pt x="194" y="62"/>
                    </a:lnTo>
                    <a:lnTo>
                      <a:pt x="194" y="56"/>
                    </a:lnTo>
                    <a:lnTo>
                      <a:pt x="192" y="56"/>
                    </a:lnTo>
                    <a:lnTo>
                      <a:pt x="190" y="52"/>
                    </a:lnTo>
                    <a:lnTo>
                      <a:pt x="188" y="52"/>
                    </a:lnTo>
                    <a:lnTo>
                      <a:pt x="188" y="46"/>
                    </a:lnTo>
                    <a:lnTo>
                      <a:pt x="184" y="44"/>
                    </a:lnTo>
                    <a:lnTo>
                      <a:pt x="178" y="44"/>
                    </a:lnTo>
                    <a:lnTo>
                      <a:pt x="174" y="46"/>
                    </a:lnTo>
                    <a:lnTo>
                      <a:pt x="170" y="48"/>
                    </a:lnTo>
                    <a:lnTo>
                      <a:pt x="170" y="46"/>
                    </a:lnTo>
                    <a:lnTo>
                      <a:pt x="170" y="44"/>
                    </a:lnTo>
                    <a:lnTo>
                      <a:pt x="168" y="56"/>
                    </a:lnTo>
                    <a:lnTo>
                      <a:pt x="166" y="54"/>
                    </a:lnTo>
                    <a:lnTo>
                      <a:pt x="166" y="52"/>
                    </a:lnTo>
                    <a:lnTo>
                      <a:pt x="164" y="56"/>
                    </a:lnTo>
                    <a:lnTo>
                      <a:pt x="162" y="56"/>
                    </a:lnTo>
                    <a:lnTo>
                      <a:pt x="160" y="56"/>
                    </a:lnTo>
                    <a:lnTo>
                      <a:pt x="158" y="58"/>
                    </a:lnTo>
                    <a:lnTo>
                      <a:pt x="158" y="60"/>
                    </a:lnTo>
                    <a:lnTo>
                      <a:pt x="160" y="60"/>
                    </a:lnTo>
                    <a:lnTo>
                      <a:pt x="162" y="60"/>
                    </a:lnTo>
                    <a:lnTo>
                      <a:pt x="162" y="62"/>
                    </a:lnTo>
                    <a:lnTo>
                      <a:pt x="158" y="62"/>
                    </a:lnTo>
                    <a:lnTo>
                      <a:pt x="156" y="62"/>
                    </a:lnTo>
                    <a:lnTo>
                      <a:pt x="158" y="68"/>
                    </a:lnTo>
                    <a:lnTo>
                      <a:pt x="154" y="66"/>
                    </a:lnTo>
                    <a:lnTo>
                      <a:pt x="148" y="68"/>
                    </a:lnTo>
                    <a:lnTo>
                      <a:pt x="148" y="76"/>
                    </a:lnTo>
                    <a:lnTo>
                      <a:pt x="146" y="82"/>
                    </a:lnTo>
                    <a:lnTo>
                      <a:pt x="142" y="80"/>
                    </a:lnTo>
                    <a:lnTo>
                      <a:pt x="142" y="76"/>
                    </a:lnTo>
                    <a:lnTo>
                      <a:pt x="140" y="76"/>
                    </a:lnTo>
                    <a:lnTo>
                      <a:pt x="140" y="78"/>
                    </a:lnTo>
                    <a:lnTo>
                      <a:pt x="138" y="78"/>
                    </a:lnTo>
                    <a:lnTo>
                      <a:pt x="136" y="86"/>
                    </a:lnTo>
                    <a:lnTo>
                      <a:pt x="138" y="92"/>
                    </a:lnTo>
                    <a:lnTo>
                      <a:pt x="140" y="94"/>
                    </a:lnTo>
                    <a:lnTo>
                      <a:pt x="136" y="96"/>
                    </a:lnTo>
                    <a:lnTo>
                      <a:pt x="136" y="100"/>
                    </a:lnTo>
                    <a:lnTo>
                      <a:pt x="134" y="96"/>
                    </a:lnTo>
                    <a:lnTo>
                      <a:pt x="132" y="94"/>
                    </a:lnTo>
                    <a:lnTo>
                      <a:pt x="132" y="90"/>
                    </a:lnTo>
                    <a:lnTo>
                      <a:pt x="130" y="86"/>
                    </a:lnTo>
                    <a:lnTo>
                      <a:pt x="128" y="84"/>
                    </a:lnTo>
                    <a:lnTo>
                      <a:pt x="128" y="88"/>
                    </a:lnTo>
                    <a:lnTo>
                      <a:pt x="122" y="92"/>
                    </a:lnTo>
                    <a:lnTo>
                      <a:pt x="120" y="96"/>
                    </a:lnTo>
                    <a:lnTo>
                      <a:pt x="120" y="100"/>
                    </a:lnTo>
                    <a:lnTo>
                      <a:pt x="120" y="106"/>
                    </a:lnTo>
                    <a:lnTo>
                      <a:pt x="118" y="106"/>
                    </a:lnTo>
                    <a:lnTo>
                      <a:pt x="118" y="110"/>
                    </a:lnTo>
                    <a:lnTo>
                      <a:pt x="120" y="110"/>
                    </a:lnTo>
                    <a:lnTo>
                      <a:pt x="120" y="116"/>
                    </a:lnTo>
                    <a:lnTo>
                      <a:pt x="116" y="118"/>
                    </a:lnTo>
                    <a:lnTo>
                      <a:pt x="112" y="118"/>
                    </a:lnTo>
                    <a:lnTo>
                      <a:pt x="112" y="122"/>
                    </a:lnTo>
                    <a:lnTo>
                      <a:pt x="102" y="132"/>
                    </a:lnTo>
                    <a:lnTo>
                      <a:pt x="96" y="134"/>
                    </a:lnTo>
                    <a:lnTo>
                      <a:pt x="88" y="136"/>
                    </a:lnTo>
                    <a:lnTo>
                      <a:pt x="84" y="140"/>
                    </a:lnTo>
                    <a:lnTo>
                      <a:pt x="80" y="140"/>
                    </a:lnTo>
                    <a:lnTo>
                      <a:pt x="78" y="138"/>
                    </a:lnTo>
                    <a:lnTo>
                      <a:pt x="76" y="140"/>
                    </a:lnTo>
                    <a:lnTo>
                      <a:pt x="74" y="144"/>
                    </a:lnTo>
                    <a:lnTo>
                      <a:pt x="74" y="146"/>
                    </a:lnTo>
                    <a:lnTo>
                      <a:pt x="72" y="148"/>
                    </a:lnTo>
                    <a:lnTo>
                      <a:pt x="68" y="148"/>
                    </a:lnTo>
                    <a:lnTo>
                      <a:pt x="64" y="150"/>
                    </a:lnTo>
                    <a:lnTo>
                      <a:pt x="62" y="152"/>
                    </a:lnTo>
                    <a:lnTo>
                      <a:pt x="58" y="154"/>
                    </a:lnTo>
                    <a:lnTo>
                      <a:pt x="56" y="154"/>
                    </a:lnTo>
                    <a:lnTo>
                      <a:pt x="50" y="152"/>
                    </a:lnTo>
                    <a:lnTo>
                      <a:pt x="46" y="156"/>
                    </a:lnTo>
                    <a:lnTo>
                      <a:pt x="40" y="156"/>
                    </a:lnTo>
                    <a:lnTo>
                      <a:pt x="38" y="158"/>
                    </a:lnTo>
                    <a:lnTo>
                      <a:pt x="36" y="162"/>
                    </a:lnTo>
                    <a:lnTo>
                      <a:pt x="34" y="164"/>
                    </a:lnTo>
                    <a:lnTo>
                      <a:pt x="32" y="166"/>
                    </a:lnTo>
                    <a:lnTo>
                      <a:pt x="30" y="166"/>
                    </a:lnTo>
                    <a:lnTo>
                      <a:pt x="30" y="170"/>
                    </a:lnTo>
                    <a:lnTo>
                      <a:pt x="26" y="170"/>
                    </a:lnTo>
                    <a:lnTo>
                      <a:pt x="24" y="172"/>
                    </a:lnTo>
                    <a:lnTo>
                      <a:pt x="22" y="178"/>
                    </a:lnTo>
                    <a:lnTo>
                      <a:pt x="12" y="182"/>
                    </a:lnTo>
                    <a:lnTo>
                      <a:pt x="12" y="178"/>
                    </a:lnTo>
                    <a:lnTo>
                      <a:pt x="14" y="178"/>
                    </a:lnTo>
                    <a:lnTo>
                      <a:pt x="12" y="174"/>
                    </a:lnTo>
                    <a:lnTo>
                      <a:pt x="12" y="172"/>
                    </a:lnTo>
                    <a:lnTo>
                      <a:pt x="10" y="178"/>
                    </a:lnTo>
                    <a:lnTo>
                      <a:pt x="10" y="178"/>
                    </a:lnTo>
                    <a:lnTo>
                      <a:pt x="8" y="182"/>
                    </a:lnTo>
                    <a:lnTo>
                      <a:pt x="6" y="184"/>
                    </a:lnTo>
                    <a:lnTo>
                      <a:pt x="8" y="186"/>
                    </a:lnTo>
                    <a:lnTo>
                      <a:pt x="10" y="190"/>
                    </a:lnTo>
                    <a:lnTo>
                      <a:pt x="8" y="196"/>
                    </a:lnTo>
                    <a:lnTo>
                      <a:pt x="10" y="198"/>
                    </a:lnTo>
                    <a:lnTo>
                      <a:pt x="8" y="204"/>
                    </a:lnTo>
                    <a:lnTo>
                      <a:pt x="6" y="208"/>
                    </a:lnTo>
                    <a:lnTo>
                      <a:pt x="2" y="208"/>
                    </a:lnTo>
                    <a:lnTo>
                      <a:pt x="2" y="212"/>
                    </a:lnTo>
                    <a:lnTo>
                      <a:pt x="4" y="214"/>
                    </a:lnTo>
                    <a:lnTo>
                      <a:pt x="8" y="216"/>
                    </a:lnTo>
                    <a:lnTo>
                      <a:pt x="10" y="220"/>
                    </a:lnTo>
                    <a:lnTo>
                      <a:pt x="12" y="226"/>
                    </a:lnTo>
                    <a:lnTo>
                      <a:pt x="10" y="228"/>
                    </a:lnTo>
                    <a:lnTo>
                      <a:pt x="14" y="242"/>
                    </a:lnTo>
                    <a:lnTo>
                      <a:pt x="8" y="240"/>
                    </a:lnTo>
                    <a:lnTo>
                      <a:pt x="8" y="236"/>
                    </a:lnTo>
                    <a:lnTo>
                      <a:pt x="6" y="236"/>
                    </a:lnTo>
                    <a:lnTo>
                      <a:pt x="10" y="252"/>
                    </a:lnTo>
                    <a:lnTo>
                      <a:pt x="8" y="252"/>
                    </a:lnTo>
                    <a:lnTo>
                      <a:pt x="6" y="248"/>
                    </a:lnTo>
                    <a:lnTo>
                      <a:pt x="4" y="246"/>
                    </a:lnTo>
                    <a:lnTo>
                      <a:pt x="2" y="236"/>
                    </a:lnTo>
                    <a:lnTo>
                      <a:pt x="0" y="236"/>
                    </a:lnTo>
                    <a:lnTo>
                      <a:pt x="2" y="242"/>
                    </a:lnTo>
                    <a:lnTo>
                      <a:pt x="2" y="250"/>
                    </a:lnTo>
                    <a:lnTo>
                      <a:pt x="4" y="250"/>
                    </a:lnTo>
                    <a:lnTo>
                      <a:pt x="10" y="256"/>
                    </a:lnTo>
                    <a:lnTo>
                      <a:pt x="14" y="262"/>
                    </a:lnTo>
                    <a:lnTo>
                      <a:pt x="14" y="268"/>
                    </a:lnTo>
                    <a:lnTo>
                      <a:pt x="18" y="268"/>
                    </a:lnTo>
                    <a:lnTo>
                      <a:pt x="18" y="270"/>
                    </a:lnTo>
                    <a:lnTo>
                      <a:pt x="16" y="272"/>
                    </a:lnTo>
                    <a:lnTo>
                      <a:pt x="16" y="276"/>
                    </a:lnTo>
                    <a:lnTo>
                      <a:pt x="20" y="280"/>
                    </a:lnTo>
                    <a:lnTo>
                      <a:pt x="24" y="282"/>
                    </a:lnTo>
                    <a:lnTo>
                      <a:pt x="22" y="286"/>
                    </a:lnTo>
                    <a:lnTo>
                      <a:pt x="22" y="290"/>
                    </a:lnTo>
                    <a:lnTo>
                      <a:pt x="26" y="292"/>
                    </a:lnTo>
                    <a:lnTo>
                      <a:pt x="26" y="294"/>
                    </a:lnTo>
                    <a:lnTo>
                      <a:pt x="28" y="298"/>
                    </a:lnTo>
                    <a:lnTo>
                      <a:pt x="26" y="300"/>
                    </a:lnTo>
                    <a:lnTo>
                      <a:pt x="26" y="308"/>
                    </a:lnTo>
                    <a:lnTo>
                      <a:pt x="26" y="314"/>
                    </a:lnTo>
                    <a:lnTo>
                      <a:pt x="30" y="324"/>
                    </a:lnTo>
                    <a:lnTo>
                      <a:pt x="30" y="328"/>
                    </a:lnTo>
                    <a:lnTo>
                      <a:pt x="32" y="334"/>
                    </a:lnTo>
                    <a:lnTo>
                      <a:pt x="34" y="338"/>
                    </a:lnTo>
                    <a:lnTo>
                      <a:pt x="34" y="342"/>
                    </a:lnTo>
                    <a:lnTo>
                      <a:pt x="32" y="344"/>
                    </a:lnTo>
                    <a:lnTo>
                      <a:pt x="34" y="346"/>
                    </a:lnTo>
                    <a:lnTo>
                      <a:pt x="34" y="350"/>
                    </a:lnTo>
                    <a:lnTo>
                      <a:pt x="32" y="352"/>
                    </a:lnTo>
                    <a:lnTo>
                      <a:pt x="32" y="362"/>
                    </a:lnTo>
                    <a:lnTo>
                      <a:pt x="32" y="370"/>
                    </a:lnTo>
                    <a:lnTo>
                      <a:pt x="30" y="372"/>
                    </a:lnTo>
                    <a:lnTo>
                      <a:pt x="26" y="368"/>
                    </a:lnTo>
                    <a:lnTo>
                      <a:pt x="26" y="368"/>
                    </a:lnTo>
                    <a:lnTo>
                      <a:pt x="24" y="368"/>
                    </a:lnTo>
                    <a:lnTo>
                      <a:pt x="26" y="368"/>
                    </a:lnTo>
                    <a:lnTo>
                      <a:pt x="26" y="374"/>
                    </a:lnTo>
                    <a:lnTo>
                      <a:pt x="26" y="378"/>
                    </a:lnTo>
                    <a:lnTo>
                      <a:pt x="30" y="380"/>
                    </a:lnTo>
                    <a:lnTo>
                      <a:pt x="36" y="384"/>
                    </a:lnTo>
                    <a:lnTo>
                      <a:pt x="38" y="386"/>
                    </a:lnTo>
                    <a:lnTo>
                      <a:pt x="40" y="390"/>
                    </a:lnTo>
                    <a:lnTo>
                      <a:pt x="44" y="392"/>
                    </a:lnTo>
                    <a:lnTo>
                      <a:pt x="48" y="392"/>
                    </a:lnTo>
                    <a:lnTo>
                      <a:pt x="50" y="390"/>
                    </a:lnTo>
                    <a:lnTo>
                      <a:pt x="56" y="390"/>
                    </a:lnTo>
                    <a:lnTo>
                      <a:pt x="58" y="392"/>
                    </a:lnTo>
                    <a:lnTo>
                      <a:pt x="62" y="394"/>
                    </a:lnTo>
                    <a:lnTo>
                      <a:pt x="62" y="390"/>
                    </a:lnTo>
                    <a:lnTo>
                      <a:pt x="66" y="392"/>
                    </a:lnTo>
                    <a:lnTo>
                      <a:pt x="74" y="380"/>
                    </a:lnTo>
                    <a:lnTo>
                      <a:pt x="76" y="380"/>
                    </a:lnTo>
                    <a:lnTo>
                      <a:pt x="76" y="384"/>
                    </a:lnTo>
                    <a:lnTo>
                      <a:pt x="80" y="386"/>
                    </a:lnTo>
                    <a:lnTo>
                      <a:pt x="82" y="382"/>
                    </a:lnTo>
                    <a:lnTo>
                      <a:pt x="82" y="378"/>
                    </a:lnTo>
                    <a:lnTo>
                      <a:pt x="82" y="376"/>
                    </a:lnTo>
                    <a:lnTo>
                      <a:pt x="86" y="376"/>
                    </a:lnTo>
                    <a:lnTo>
                      <a:pt x="88" y="376"/>
                    </a:lnTo>
                    <a:lnTo>
                      <a:pt x="90" y="374"/>
                    </a:lnTo>
                    <a:lnTo>
                      <a:pt x="94" y="374"/>
                    </a:lnTo>
                    <a:lnTo>
                      <a:pt x="96" y="374"/>
                    </a:lnTo>
                    <a:lnTo>
                      <a:pt x="96" y="372"/>
                    </a:lnTo>
                    <a:lnTo>
                      <a:pt x="104" y="372"/>
                    </a:lnTo>
                    <a:lnTo>
                      <a:pt x="110" y="374"/>
                    </a:lnTo>
                    <a:lnTo>
                      <a:pt x="114" y="372"/>
                    </a:lnTo>
                    <a:lnTo>
                      <a:pt x="118" y="374"/>
                    </a:lnTo>
                    <a:lnTo>
                      <a:pt x="118" y="372"/>
                    </a:lnTo>
                    <a:lnTo>
                      <a:pt x="124" y="372"/>
                    </a:lnTo>
                    <a:lnTo>
                      <a:pt x="128" y="372"/>
                    </a:lnTo>
                    <a:lnTo>
                      <a:pt x="130" y="374"/>
                    </a:lnTo>
                    <a:lnTo>
                      <a:pt x="132" y="374"/>
                    </a:lnTo>
                    <a:lnTo>
                      <a:pt x="132" y="372"/>
                    </a:lnTo>
                    <a:lnTo>
                      <a:pt x="134" y="372"/>
                    </a:lnTo>
                    <a:lnTo>
                      <a:pt x="136" y="372"/>
                    </a:lnTo>
                    <a:lnTo>
                      <a:pt x="138" y="370"/>
                    </a:lnTo>
                    <a:lnTo>
                      <a:pt x="140" y="366"/>
                    </a:lnTo>
                    <a:lnTo>
                      <a:pt x="142" y="362"/>
                    </a:lnTo>
                    <a:lnTo>
                      <a:pt x="144" y="358"/>
                    </a:lnTo>
                    <a:lnTo>
                      <a:pt x="148" y="358"/>
                    </a:lnTo>
                    <a:lnTo>
                      <a:pt x="152" y="358"/>
                    </a:lnTo>
                    <a:lnTo>
                      <a:pt x="156" y="352"/>
                    </a:lnTo>
                    <a:lnTo>
                      <a:pt x="158" y="352"/>
                    </a:lnTo>
                    <a:lnTo>
                      <a:pt x="164" y="346"/>
                    </a:lnTo>
                    <a:lnTo>
                      <a:pt x="180" y="346"/>
                    </a:lnTo>
                    <a:lnTo>
                      <a:pt x="194" y="344"/>
                    </a:lnTo>
                    <a:lnTo>
                      <a:pt x="194" y="342"/>
                    </a:lnTo>
                    <a:lnTo>
                      <a:pt x="200" y="340"/>
                    </a:lnTo>
                    <a:lnTo>
                      <a:pt x="202" y="340"/>
                    </a:lnTo>
                    <a:lnTo>
                      <a:pt x="204" y="340"/>
                    </a:lnTo>
                    <a:lnTo>
                      <a:pt x="206" y="338"/>
                    </a:lnTo>
                    <a:lnTo>
                      <a:pt x="216" y="338"/>
                    </a:lnTo>
                    <a:lnTo>
                      <a:pt x="218" y="336"/>
                    </a:lnTo>
                    <a:lnTo>
                      <a:pt x="222" y="336"/>
                    </a:lnTo>
                    <a:lnTo>
                      <a:pt x="226" y="336"/>
                    </a:lnTo>
                    <a:lnTo>
                      <a:pt x="230" y="334"/>
                    </a:lnTo>
                    <a:lnTo>
                      <a:pt x="232" y="332"/>
                    </a:lnTo>
                    <a:lnTo>
                      <a:pt x="240" y="338"/>
                    </a:lnTo>
                    <a:lnTo>
                      <a:pt x="242" y="338"/>
                    </a:lnTo>
                    <a:lnTo>
                      <a:pt x="244" y="342"/>
                    </a:lnTo>
                    <a:lnTo>
                      <a:pt x="252" y="342"/>
                    </a:lnTo>
                    <a:lnTo>
                      <a:pt x="258" y="342"/>
                    </a:lnTo>
                    <a:lnTo>
                      <a:pt x="258" y="346"/>
                    </a:lnTo>
                    <a:lnTo>
                      <a:pt x="262" y="342"/>
                    </a:lnTo>
                    <a:lnTo>
                      <a:pt x="264" y="344"/>
                    </a:lnTo>
                    <a:lnTo>
                      <a:pt x="264" y="346"/>
                    </a:lnTo>
                    <a:lnTo>
                      <a:pt x="264" y="350"/>
                    </a:lnTo>
                    <a:lnTo>
                      <a:pt x="270" y="350"/>
                    </a:lnTo>
                    <a:lnTo>
                      <a:pt x="272" y="352"/>
                    </a:lnTo>
                    <a:lnTo>
                      <a:pt x="272" y="354"/>
                    </a:lnTo>
                    <a:lnTo>
                      <a:pt x="270" y="354"/>
                    </a:lnTo>
                    <a:lnTo>
                      <a:pt x="268" y="358"/>
                    </a:lnTo>
                    <a:lnTo>
                      <a:pt x="278" y="362"/>
                    </a:lnTo>
                    <a:lnTo>
                      <a:pt x="278" y="370"/>
                    </a:lnTo>
                    <a:lnTo>
                      <a:pt x="280" y="376"/>
                    </a:lnTo>
                    <a:lnTo>
                      <a:pt x="284" y="378"/>
                    </a:lnTo>
                    <a:lnTo>
                      <a:pt x="284" y="380"/>
                    </a:lnTo>
                    <a:lnTo>
                      <a:pt x="284" y="382"/>
                    </a:lnTo>
                    <a:lnTo>
                      <a:pt x="288" y="386"/>
                    </a:lnTo>
                    <a:lnTo>
                      <a:pt x="292" y="384"/>
                    </a:lnTo>
                    <a:lnTo>
                      <a:pt x="296" y="380"/>
                    </a:lnTo>
                    <a:lnTo>
                      <a:pt x="300" y="374"/>
                    </a:lnTo>
                    <a:lnTo>
                      <a:pt x="300" y="372"/>
                    </a:lnTo>
                    <a:lnTo>
                      <a:pt x="306" y="370"/>
                    </a:lnTo>
                    <a:lnTo>
                      <a:pt x="312" y="366"/>
                    </a:lnTo>
                    <a:lnTo>
                      <a:pt x="312" y="360"/>
                    </a:lnTo>
                    <a:lnTo>
                      <a:pt x="318" y="358"/>
                    </a:lnTo>
                    <a:lnTo>
                      <a:pt x="316" y="364"/>
                    </a:lnTo>
                    <a:lnTo>
                      <a:pt x="316" y="370"/>
                    </a:lnTo>
                    <a:lnTo>
                      <a:pt x="312" y="374"/>
                    </a:lnTo>
                    <a:lnTo>
                      <a:pt x="312" y="382"/>
                    </a:lnTo>
                    <a:lnTo>
                      <a:pt x="312" y="390"/>
                    </a:lnTo>
                    <a:lnTo>
                      <a:pt x="308" y="394"/>
                    </a:lnTo>
                    <a:lnTo>
                      <a:pt x="304" y="394"/>
                    </a:lnTo>
                    <a:lnTo>
                      <a:pt x="304" y="398"/>
                    </a:lnTo>
                    <a:lnTo>
                      <a:pt x="306" y="398"/>
                    </a:lnTo>
                    <a:lnTo>
                      <a:pt x="308" y="396"/>
                    </a:lnTo>
                    <a:lnTo>
                      <a:pt x="314" y="396"/>
                    </a:lnTo>
                    <a:lnTo>
                      <a:pt x="316" y="394"/>
                    </a:lnTo>
                    <a:lnTo>
                      <a:pt x="316" y="390"/>
                    </a:lnTo>
                    <a:lnTo>
                      <a:pt x="316" y="386"/>
                    </a:lnTo>
                    <a:lnTo>
                      <a:pt x="318" y="382"/>
                    </a:lnTo>
                    <a:lnTo>
                      <a:pt x="320" y="380"/>
                    </a:lnTo>
                    <a:lnTo>
                      <a:pt x="320" y="380"/>
                    </a:lnTo>
                    <a:lnTo>
                      <a:pt x="320" y="386"/>
                    </a:lnTo>
                    <a:lnTo>
                      <a:pt x="324" y="390"/>
                    </a:lnTo>
                    <a:lnTo>
                      <a:pt x="324" y="398"/>
                    </a:lnTo>
                    <a:lnTo>
                      <a:pt x="324" y="406"/>
                    </a:lnTo>
                    <a:lnTo>
                      <a:pt x="328" y="406"/>
                    </a:lnTo>
                    <a:lnTo>
                      <a:pt x="330" y="404"/>
                    </a:lnTo>
                    <a:lnTo>
                      <a:pt x="332" y="402"/>
                    </a:lnTo>
                    <a:lnTo>
                      <a:pt x="336" y="402"/>
                    </a:lnTo>
                    <a:lnTo>
                      <a:pt x="336" y="410"/>
                    </a:lnTo>
                    <a:lnTo>
                      <a:pt x="340" y="418"/>
                    </a:lnTo>
                    <a:lnTo>
                      <a:pt x="342" y="418"/>
                    </a:lnTo>
                    <a:lnTo>
                      <a:pt x="342" y="428"/>
                    </a:lnTo>
                    <a:lnTo>
                      <a:pt x="340" y="432"/>
                    </a:lnTo>
                    <a:lnTo>
                      <a:pt x="340" y="436"/>
                    </a:lnTo>
                    <a:lnTo>
                      <a:pt x="342" y="440"/>
                    </a:lnTo>
                    <a:lnTo>
                      <a:pt x="346" y="442"/>
                    </a:lnTo>
                    <a:lnTo>
                      <a:pt x="350" y="446"/>
                    </a:lnTo>
                    <a:lnTo>
                      <a:pt x="350" y="448"/>
                    </a:lnTo>
                    <a:lnTo>
                      <a:pt x="352" y="450"/>
                    </a:lnTo>
                    <a:lnTo>
                      <a:pt x="356" y="450"/>
                    </a:lnTo>
                    <a:lnTo>
                      <a:pt x="362" y="454"/>
                    </a:lnTo>
                    <a:lnTo>
                      <a:pt x="364" y="456"/>
                    </a:lnTo>
                    <a:lnTo>
                      <a:pt x="366" y="456"/>
                    </a:lnTo>
                    <a:lnTo>
                      <a:pt x="368" y="456"/>
                    </a:lnTo>
                    <a:lnTo>
                      <a:pt x="372" y="454"/>
                    </a:lnTo>
                    <a:lnTo>
                      <a:pt x="372" y="454"/>
                    </a:lnTo>
                    <a:close/>
                    <a:moveTo>
                      <a:pt x="402" y="498"/>
                    </a:moveTo>
                    <a:lnTo>
                      <a:pt x="402" y="498"/>
                    </a:lnTo>
                    <a:lnTo>
                      <a:pt x="400" y="506"/>
                    </a:lnTo>
                    <a:lnTo>
                      <a:pt x="402" y="512"/>
                    </a:lnTo>
                    <a:lnTo>
                      <a:pt x="412" y="524"/>
                    </a:lnTo>
                    <a:lnTo>
                      <a:pt x="412" y="526"/>
                    </a:lnTo>
                    <a:lnTo>
                      <a:pt x="416" y="526"/>
                    </a:lnTo>
                    <a:lnTo>
                      <a:pt x="412" y="528"/>
                    </a:lnTo>
                    <a:lnTo>
                      <a:pt x="412" y="534"/>
                    </a:lnTo>
                    <a:lnTo>
                      <a:pt x="414" y="538"/>
                    </a:lnTo>
                    <a:lnTo>
                      <a:pt x="418" y="540"/>
                    </a:lnTo>
                    <a:lnTo>
                      <a:pt x="418" y="544"/>
                    </a:lnTo>
                    <a:lnTo>
                      <a:pt x="420" y="546"/>
                    </a:lnTo>
                    <a:lnTo>
                      <a:pt x="422" y="546"/>
                    </a:lnTo>
                    <a:lnTo>
                      <a:pt x="424" y="546"/>
                    </a:lnTo>
                    <a:lnTo>
                      <a:pt x="422" y="548"/>
                    </a:lnTo>
                    <a:lnTo>
                      <a:pt x="422" y="550"/>
                    </a:lnTo>
                    <a:lnTo>
                      <a:pt x="424" y="550"/>
                    </a:lnTo>
                    <a:lnTo>
                      <a:pt x="424" y="552"/>
                    </a:lnTo>
                    <a:lnTo>
                      <a:pt x="434" y="552"/>
                    </a:lnTo>
                    <a:lnTo>
                      <a:pt x="434" y="550"/>
                    </a:lnTo>
                    <a:lnTo>
                      <a:pt x="434" y="550"/>
                    </a:lnTo>
                    <a:lnTo>
                      <a:pt x="436" y="550"/>
                    </a:lnTo>
                    <a:lnTo>
                      <a:pt x="436" y="548"/>
                    </a:lnTo>
                    <a:lnTo>
                      <a:pt x="436" y="546"/>
                    </a:lnTo>
                    <a:lnTo>
                      <a:pt x="436" y="548"/>
                    </a:lnTo>
                    <a:lnTo>
                      <a:pt x="434" y="548"/>
                    </a:lnTo>
                    <a:lnTo>
                      <a:pt x="434" y="544"/>
                    </a:lnTo>
                    <a:lnTo>
                      <a:pt x="436" y="542"/>
                    </a:lnTo>
                    <a:lnTo>
                      <a:pt x="436" y="540"/>
                    </a:lnTo>
                    <a:lnTo>
                      <a:pt x="438" y="540"/>
                    </a:lnTo>
                    <a:lnTo>
                      <a:pt x="440" y="540"/>
                    </a:lnTo>
                    <a:lnTo>
                      <a:pt x="438" y="540"/>
                    </a:lnTo>
                    <a:lnTo>
                      <a:pt x="440" y="546"/>
                    </a:lnTo>
                    <a:lnTo>
                      <a:pt x="444" y="544"/>
                    </a:lnTo>
                    <a:lnTo>
                      <a:pt x="442" y="538"/>
                    </a:lnTo>
                    <a:lnTo>
                      <a:pt x="442" y="534"/>
                    </a:lnTo>
                    <a:lnTo>
                      <a:pt x="444" y="524"/>
                    </a:lnTo>
                    <a:lnTo>
                      <a:pt x="446" y="524"/>
                    </a:lnTo>
                    <a:lnTo>
                      <a:pt x="448" y="524"/>
                    </a:lnTo>
                    <a:lnTo>
                      <a:pt x="448" y="516"/>
                    </a:lnTo>
                    <a:lnTo>
                      <a:pt x="448" y="512"/>
                    </a:lnTo>
                    <a:lnTo>
                      <a:pt x="444" y="500"/>
                    </a:lnTo>
                    <a:lnTo>
                      <a:pt x="436" y="506"/>
                    </a:lnTo>
                    <a:lnTo>
                      <a:pt x="434" y="508"/>
                    </a:lnTo>
                    <a:lnTo>
                      <a:pt x="430" y="508"/>
                    </a:lnTo>
                    <a:lnTo>
                      <a:pt x="424" y="506"/>
                    </a:lnTo>
                    <a:lnTo>
                      <a:pt x="412" y="500"/>
                    </a:lnTo>
                    <a:lnTo>
                      <a:pt x="410" y="502"/>
                    </a:lnTo>
                    <a:lnTo>
                      <a:pt x="408" y="502"/>
                    </a:lnTo>
                    <a:lnTo>
                      <a:pt x="404" y="498"/>
                    </a:lnTo>
                    <a:lnTo>
                      <a:pt x="402" y="498"/>
                    </a:lnTo>
                    <a:lnTo>
                      <a:pt x="402" y="49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89" name="Freeform 473">
                <a:extLst>
                  <a:ext uri="{FF2B5EF4-FFF2-40B4-BE49-F238E27FC236}">
                    <a16:creationId xmlns:a16="http://schemas.microsoft.com/office/drawing/2014/main" id="{C6DC7296-B20F-AAFE-E37A-4072EF699E22}"/>
                  </a:ext>
                </a:extLst>
              </p:cNvPr>
              <p:cNvSpPr>
                <a:spLocks noEditPoints="1"/>
              </p:cNvSpPr>
              <p:nvPr/>
            </p:nvSpPr>
            <p:spPr bwMode="auto">
              <a:xfrm>
                <a:off x="2719136" y="2989909"/>
                <a:ext cx="1271831" cy="876145"/>
              </a:xfrm>
              <a:custGeom>
                <a:avLst/>
                <a:gdLst/>
                <a:ahLst/>
                <a:cxnLst>
                  <a:cxn ang="0">
                    <a:pos x="1022" y="830"/>
                  </a:cxn>
                  <a:cxn ang="0">
                    <a:pos x="1052" y="824"/>
                  </a:cxn>
                  <a:cxn ang="0">
                    <a:pos x="1106" y="844"/>
                  </a:cxn>
                  <a:cxn ang="0">
                    <a:pos x="1134" y="906"/>
                  </a:cxn>
                  <a:cxn ang="0">
                    <a:pos x="1120" y="826"/>
                  </a:cxn>
                  <a:cxn ang="0">
                    <a:pos x="1156" y="772"/>
                  </a:cxn>
                  <a:cxn ang="0">
                    <a:pos x="1182" y="726"/>
                  </a:cxn>
                  <a:cxn ang="0">
                    <a:pos x="1182" y="666"/>
                  </a:cxn>
                  <a:cxn ang="0">
                    <a:pos x="1202" y="690"/>
                  </a:cxn>
                  <a:cxn ang="0">
                    <a:pos x="1222" y="640"/>
                  </a:cxn>
                  <a:cxn ang="0">
                    <a:pos x="1270" y="620"/>
                  </a:cxn>
                  <a:cxn ang="0">
                    <a:pos x="1290" y="574"/>
                  </a:cxn>
                  <a:cxn ang="0">
                    <a:pos x="1298" y="526"/>
                  </a:cxn>
                  <a:cxn ang="0">
                    <a:pos x="1194" y="572"/>
                  </a:cxn>
                  <a:cxn ang="0">
                    <a:pos x="1150" y="600"/>
                  </a:cxn>
                  <a:cxn ang="0">
                    <a:pos x="1102" y="614"/>
                  </a:cxn>
                  <a:cxn ang="0">
                    <a:pos x="1094" y="562"/>
                  </a:cxn>
                  <a:cxn ang="0">
                    <a:pos x="1060" y="606"/>
                  </a:cxn>
                  <a:cxn ang="0">
                    <a:pos x="1044" y="556"/>
                  </a:cxn>
                  <a:cxn ang="0">
                    <a:pos x="1052" y="536"/>
                  </a:cxn>
                  <a:cxn ang="0">
                    <a:pos x="1000" y="528"/>
                  </a:cxn>
                  <a:cxn ang="0">
                    <a:pos x="978" y="496"/>
                  </a:cxn>
                  <a:cxn ang="0">
                    <a:pos x="584" y="498"/>
                  </a:cxn>
                  <a:cxn ang="0">
                    <a:pos x="568" y="566"/>
                  </a:cxn>
                  <a:cxn ang="0">
                    <a:pos x="576" y="668"/>
                  </a:cxn>
                  <a:cxn ang="0">
                    <a:pos x="594" y="702"/>
                  </a:cxn>
                  <a:cxn ang="0">
                    <a:pos x="652" y="772"/>
                  </a:cxn>
                  <a:cxn ang="0">
                    <a:pos x="830" y="842"/>
                  </a:cxn>
                  <a:cxn ang="0">
                    <a:pos x="902" y="898"/>
                  </a:cxn>
                  <a:cxn ang="0">
                    <a:pos x="928" y="852"/>
                  </a:cxn>
                  <a:cxn ang="0">
                    <a:pos x="990" y="838"/>
                  </a:cxn>
                  <a:cxn ang="0">
                    <a:pos x="470" y="314"/>
                  </a:cxn>
                  <a:cxn ang="0">
                    <a:pos x="408" y="266"/>
                  </a:cxn>
                  <a:cxn ang="0">
                    <a:pos x="332" y="28"/>
                  </a:cxn>
                  <a:cxn ang="0">
                    <a:pos x="254" y="22"/>
                  </a:cxn>
                  <a:cxn ang="0">
                    <a:pos x="172" y="12"/>
                  </a:cxn>
                  <a:cxn ang="0">
                    <a:pos x="100" y="14"/>
                  </a:cxn>
                  <a:cxn ang="0">
                    <a:pos x="28" y="64"/>
                  </a:cxn>
                  <a:cxn ang="0">
                    <a:pos x="64" y="100"/>
                  </a:cxn>
                  <a:cxn ang="0">
                    <a:pos x="78" y="120"/>
                  </a:cxn>
                  <a:cxn ang="0">
                    <a:pos x="24" y="126"/>
                  </a:cxn>
                  <a:cxn ang="0">
                    <a:pos x="60" y="152"/>
                  </a:cxn>
                  <a:cxn ang="0">
                    <a:pos x="52" y="186"/>
                  </a:cxn>
                  <a:cxn ang="0">
                    <a:pos x="34" y="232"/>
                  </a:cxn>
                  <a:cxn ang="0">
                    <a:pos x="68" y="250"/>
                  </a:cxn>
                  <a:cxn ang="0">
                    <a:pos x="98" y="272"/>
                  </a:cxn>
                  <a:cxn ang="0">
                    <a:pos x="138" y="288"/>
                  </a:cxn>
                  <a:cxn ang="0">
                    <a:pos x="92" y="342"/>
                  </a:cxn>
                  <a:cxn ang="0">
                    <a:pos x="90" y="354"/>
                  </a:cxn>
                  <a:cxn ang="0">
                    <a:pos x="132" y="328"/>
                  </a:cxn>
                  <a:cxn ang="0">
                    <a:pos x="176" y="274"/>
                  </a:cxn>
                  <a:cxn ang="0">
                    <a:pos x="226" y="226"/>
                  </a:cxn>
                  <a:cxn ang="0">
                    <a:pos x="214" y="266"/>
                  </a:cxn>
                  <a:cxn ang="0">
                    <a:pos x="244" y="256"/>
                  </a:cxn>
                  <a:cxn ang="0">
                    <a:pos x="276" y="238"/>
                  </a:cxn>
                  <a:cxn ang="0">
                    <a:pos x="354" y="264"/>
                  </a:cxn>
                  <a:cxn ang="0">
                    <a:pos x="410" y="306"/>
                  </a:cxn>
                  <a:cxn ang="0">
                    <a:pos x="426" y="290"/>
                  </a:cxn>
                  <a:cxn ang="0">
                    <a:pos x="464" y="336"/>
                  </a:cxn>
                  <a:cxn ang="0">
                    <a:pos x="482" y="364"/>
                  </a:cxn>
                  <a:cxn ang="0">
                    <a:pos x="500" y="348"/>
                  </a:cxn>
                </a:cxnLst>
                <a:rect l="0" t="0" r="r" b="b"/>
                <a:pathLst>
                  <a:path w="1308" h="912">
                    <a:moveTo>
                      <a:pt x="994" y="844"/>
                    </a:moveTo>
                    <a:lnTo>
                      <a:pt x="994" y="844"/>
                    </a:lnTo>
                    <a:lnTo>
                      <a:pt x="996" y="844"/>
                    </a:lnTo>
                    <a:lnTo>
                      <a:pt x="1000" y="844"/>
                    </a:lnTo>
                    <a:lnTo>
                      <a:pt x="1002" y="842"/>
                    </a:lnTo>
                    <a:lnTo>
                      <a:pt x="1004" y="842"/>
                    </a:lnTo>
                    <a:lnTo>
                      <a:pt x="1006" y="844"/>
                    </a:lnTo>
                    <a:lnTo>
                      <a:pt x="1004" y="840"/>
                    </a:lnTo>
                    <a:lnTo>
                      <a:pt x="1006" y="836"/>
                    </a:lnTo>
                    <a:lnTo>
                      <a:pt x="1016" y="840"/>
                    </a:lnTo>
                    <a:lnTo>
                      <a:pt x="1016" y="840"/>
                    </a:lnTo>
                    <a:lnTo>
                      <a:pt x="1016" y="842"/>
                    </a:lnTo>
                    <a:lnTo>
                      <a:pt x="1022" y="842"/>
                    </a:lnTo>
                    <a:lnTo>
                      <a:pt x="1022" y="846"/>
                    </a:lnTo>
                    <a:lnTo>
                      <a:pt x="1024" y="846"/>
                    </a:lnTo>
                    <a:lnTo>
                      <a:pt x="1024" y="840"/>
                    </a:lnTo>
                    <a:lnTo>
                      <a:pt x="1020" y="840"/>
                    </a:lnTo>
                    <a:lnTo>
                      <a:pt x="1020" y="838"/>
                    </a:lnTo>
                    <a:lnTo>
                      <a:pt x="1024" y="836"/>
                    </a:lnTo>
                    <a:lnTo>
                      <a:pt x="1024" y="832"/>
                    </a:lnTo>
                    <a:lnTo>
                      <a:pt x="1022" y="830"/>
                    </a:lnTo>
                    <a:lnTo>
                      <a:pt x="1020" y="832"/>
                    </a:lnTo>
                    <a:lnTo>
                      <a:pt x="1018" y="828"/>
                    </a:lnTo>
                    <a:lnTo>
                      <a:pt x="1014" y="830"/>
                    </a:lnTo>
                    <a:lnTo>
                      <a:pt x="1012" y="830"/>
                    </a:lnTo>
                    <a:lnTo>
                      <a:pt x="1012" y="828"/>
                    </a:lnTo>
                    <a:lnTo>
                      <a:pt x="1010" y="826"/>
                    </a:lnTo>
                    <a:lnTo>
                      <a:pt x="1010" y="824"/>
                    </a:lnTo>
                    <a:lnTo>
                      <a:pt x="1014" y="826"/>
                    </a:lnTo>
                    <a:lnTo>
                      <a:pt x="1020" y="826"/>
                    </a:lnTo>
                    <a:lnTo>
                      <a:pt x="1020" y="822"/>
                    </a:lnTo>
                    <a:lnTo>
                      <a:pt x="1026" y="820"/>
                    </a:lnTo>
                    <a:lnTo>
                      <a:pt x="1030" y="822"/>
                    </a:lnTo>
                    <a:lnTo>
                      <a:pt x="1034" y="824"/>
                    </a:lnTo>
                    <a:lnTo>
                      <a:pt x="1038" y="824"/>
                    </a:lnTo>
                    <a:lnTo>
                      <a:pt x="1038" y="820"/>
                    </a:lnTo>
                    <a:lnTo>
                      <a:pt x="1040" y="820"/>
                    </a:lnTo>
                    <a:lnTo>
                      <a:pt x="1042" y="826"/>
                    </a:lnTo>
                    <a:lnTo>
                      <a:pt x="1046" y="826"/>
                    </a:lnTo>
                    <a:lnTo>
                      <a:pt x="1050" y="820"/>
                    </a:lnTo>
                    <a:lnTo>
                      <a:pt x="1052" y="822"/>
                    </a:lnTo>
                    <a:lnTo>
                      <a:pt x="1052" y="824"/>
                    </a:lnTo>
                    <a:lnTo>
                      <a:pt x="1054" y="824"/>
                    </a:lnTo>
                    <a:lnTo>
                      <a:pt x="1056" y="824"/>
                    </a:lnTo>
                    <a:lnTo>
                      <a:pt x="1056" y="820"/>
                    </a:lnTo>
                    <a:lnTo>
                      <a:pt x="1058" y="820"/>
                    </a:lnTo>
                    <a:lnTo>
                      <a:pt x="1062" y="822"/>
                    </a:lnTo>
                    <a:lnTo>
                      <a:pt x="1060" y="824"/>
                    </a:lnTo>
                    <a:lnTo>
                      <a:pt x="1060" y="826"/>
                    </a:lnTo>
                    <a:lnTo>
                      <a:pt x="1062" y="828"/>
                    </a:lnTo>
                    <a:lnTo>
                      <a:pt x="1070" y="828"/>
                    </a:lnTo>
                    <a:lnTo>
                      <a:pt x="1070" y="830"/>
                    </a:lnTo>
                    <a:lnTo>
                      <a:pt x="1072" y="832"/>
                    </a:lnTo>
                    <a:lnTo>
                      <a:pt x="1078" y="836"/>
                    </a:lnTo>
                    <a:lnTo>
                      <a:pt x="1084" y="838"/>
                    </a:lnTo>
                    <a:lnTo>
                      <a:pt x="1086" y="834"/>
                    </a:lnTo>
                    <a:lnTo>
                      <a:pt x="1088" y="830"/>
                    </a:lnTo>
                    <a:lnTo>
                      <a:pt x="1094" y="830"/>
                    </a:lnTo>
                    <a:lnTo>
                      <a:pt x="1098" y="834"/>
                    </a:lnTo>
                    <a:lnTo>
                      <a:pt x="1098" y="838"/>
                    </a:lnTo>
                    <a:lnTo>
                      <a:pt x="1100" y="840"/>
                    </a:lnTo>
                    <a:lnTo>
                      <a:pt x="1102" y="842"/>
                    </a:lnTo>
                    <a:lnTo>
                      <a:pt x="1106" y="844"/>
                    </a:lnTo>
                    <a:lnTo>
                      <a:pt x="1106" y="858"/>
                    </a:lnTo>
                    <a:lnTo>
                      <a:pt x="1104" y="860"/>
                    </a:lnTo>
                    <a:lnTo>
                      <a:pt x="1104" y="866"/>
                    </a:lnTo>
                    <a:lnTo>
                      <a:pt x="1106" y="870"/>
                    </a:lnTo>
                    <a:lnTo>
                      <a:pt x="1110" y="864"/>
                    </a:lnTo>
                    <a:lnTo>
                      <a:pt x="1114" y="864"/>
                    </a:lnTo>
                    <a:lnTo>
                      <a:pt x="1110" y="882"/>
                    </a:lnTo>
                    <a:lnTo>
                      <a:pt x="1114" y="884"/>
                    </a:lnTo>
                    <a:lnTo>
                      <a:pt x="1116" y="886"/>
                    </a:lnTo>
                    <a:lnTo>
                      <a:pt x="1120" y="892"/>
                    </a:lnTo>
                    <a:lnTo>
                      <a:pt x="1120" y="898"/>
                    </a:lnTo>
                    <a:lnTo>
                      <a:pt x="1122" y="900"/>
                    </a:lnTo>
                    <a:lnTo>
                      <a:pt x="1124" y="906"/>
                    </a:lnTo>
                    <a:lnTo>
                      <a:pt x="1126" y="906"/>
                    </a:lnTo>
                    <a:lnTo>
                      <a:pt x="1128" y="906"/>
                    </a:lnTo>
                    <a:lnTo>
                      <a:pt x="1128" y="908"/>
                    </a:lnTo>
                    <a:lnTo>
                      <a:pt x="1130" y="912"/>
                    </a:lnTo>
                    <a:lnTo>
                      <a:pt x="1132" y="912"/>
                    </a:lnTo>
                    <a:lnTo>
                      <a:pt x="1134" y="912"/>
                    </a:lnTo>
                    <a:lnTo>
                      <a:pt x="1134" y="908"/>
                    </a:lnTo>
                    <a:lnTo>
                      <a:pt x="1134" y="906"/>
                    </a:lnTo>
                    <a:lnTo>
                      <a:pt x="1134" y="904"/>
                    </a:lnTo>
                    <a:lnTo>
                      <a:pt x="1138" y="900"/>
                    </a:lnTo>
                    <a:lnTo>
                      <a:pt x="1138" y="892"/>
                    </a:lnTo>
                    <a:lnTo>
                      <a:pt x="1140" y="886"/>
                    </a:lnTo>
                    <a:lnTo>
                      <a:pt x="1138" y="886"/>
                    </a:lnTo>
                    <a:lnTo>
                      <a:pt x="1138" y="884"/>
                    </a:lnTo>
                    <a:lnTo>
                      <a:pt x="1138" y="880"/>
                    </a:lnTo>
                    <a:lnTo>
                      <a:pt x="1136" y="880"/>
                    </a:lnTo>
                    <a:lnTo>
                      <a:pt x="1136" y="874"/>
                    </a:lnTo>
                    <a:lnTo>
                      <a:pt x="1136" y="870"/>
                    </a:lnTo>
                    <a:lnTo>
                      <a:pt x="1132" y="864"/>
                    </a:lnTo>
                    <a:lnTo>
                      <a:pt x="1132" y="862"/>
                    </a:lnTo>
                    <a:lnTo>
                      <a:pt x="1132" y="858"/>
                    </a:lnTo>
                    <a:lnTo>
                      <a:pt x="1130" y="856"/>
                    </a:lnTo>
                    <a:lnTo>
                      <a:pt x="1128" y="854"/>
                    </a:lnTo>
                    <a:lnTo>
                      <a:pt x="1130" y="850"/>
                    </a:lnTo>
                    <a:lnTo>
                      <a:pt x="1126" y="844"/>
                    </a:lnTo>
                    <a:lnTo>
                      <a:pt x="1124" y="840"/>
                    </a:lnTo>
                    <a:lnTo>
                      <a:pt x="1124" y="834"/>
                    </a:lnTo>
                    <a:lnTo>
                      <a:pt x="1122" y="828"/>
                    </a:lnTo>
                    <a:lnTo>
                      <a:pt x="1120" y="826"/>
                    </a:lnTo>
                    <a:lnTo>
                      <a:pt x="1120" y="824"/>
                    </a:lnTo>
                    <a:lnTo>
                      <a:pt x="1122" y="820"/>
                    </a:lnTo>
                    <a:lnTo>
                      <a:pt x="1122" y="816"/>
                    </a:lnTo>
                    <a:lnTo>
                      <a:pt x="1122" y="812"/>
                    </a:lnTo>
                    <a:lnTo>
                      <a:pt x="1124" y="812"/>
                    </a:lnTo>
                    <a:lnTo>
                      <a:pt x="1126" y="802"/>
                    </a:lnTo>
                    <a:lnTo>
                      <a:pt x="1126" y="800"/>
                    </a:lnTo>
                    <a:lnTo>
                      <a:pt x="1132" y="796"/>
                    </a:lnTo>
                    <a:lnTo>
                      <a:pt x="1130" y="792"/>
                    </a:lnTo>
                    <a:lnTo>
                      <a:pt x="1132" y="792"/>
                    </a:lnTo>
                    <a:lnTo>
                      <a:pt x="1136" y="790"/>
                    </a:lnTo>
                    <a:lnTo>
                      <a:pt x="1136" y="788"/>
                    </a:lnTo>
                    <a:lnTo>
                      <a:pt x="1138" y="784"/>
                    </a:lnTo>
                    <a:lnTo>
                      <a:pt x="1140" y="784"/>
                    </a:lnTo>
                    <a:lnTo>
                      <a:pt x="1142" y="784"/>
                    </a:lnTo>
                    <a:lnTo>
                      <a:pt x="1146" y="780"/>
                    </a:lnTo>
                    <a:lnTo>
                      <a:pt x="1146" y="780"/>
                    </a:lnTo>
                    <a:lnTo>
                      <a:pt x="1150" y="780"/>
                    </a:lnTo>
                    <a:lnTo>
                      <a:pt x="1152" y="772"/>
                    </a:lnTo>
                    <a:lnTo>
                      <a:pt x="1154" y="772"/>
                    </a:lnTo>
                    <a:lnTo>
                      <a:pt x="1156" y="772"/>
                    </a:lnTo>
                    <a:lnTo>
                      <a:pt x="1160" y="770"/>
                    </a:lnTo>
                    <a:lnTo>
                      <a:pt x="1162" y="768"/>
                    </a:lnTo>
                    <a:lnTo>
                      <a:pt x="1164" y="768"/>
                    </a:lnTo>
                    <a:lnTo>
                      <a:pt x="1168" y="768"/>
                    </a:lnTo>
                    <a:lnTo>
                      <a:pt x="1174" y="758"/>
                    </a:lnTo>
                    <a:lnTo>
                      <a:pt x="1174" y="756"/>
                    </a:lnTo>
                    <a:lnTo>
                      <a:pt x="1180" y="752"/>
                    </a:lnTo>
                    <a:lnTo>
                      <a:pt x="1178" y="746"/>
                    </a:lnTo>
                    <a:lnTo>
                      <a:pt x="1180" y="746"/>
                    </a:lnTo>
                    <a:lnTo>
                      <a:pt x="1180" y="744"/>
                    </a:lnTo>
                    <a:lnTo>
                      <a:pt x="1182" y="744"/>
                    </a:lnTo>
                    <a:lnTo>
                      <a:pt x="1180" y="738"/>
                    </a:lnTo>
                    <a:lnTo>
                      <a:pt x="1186" y="736"/>
                    </a:lnTo>
                    <a:lnTo>
                      <a:pt x="1186" y="738"/>
                    </a:lnTo>
                    <a:lnTo>
                      <a:pt x="1190" y="740"/>
                    </a:lnTo>
                    <a:lnTo>
                      <a:pt x="1194" y="736"/>
                    </a:lnTo>
                    <a:lnTo>
                      <a:pt x="1194" y="734"/>
                    </a:lnTo>
                    <a:lnTo>
                      <a:pt x="1190" y="736"/>
                    </a:lnTo>
                    <a:lnTo>
                      <a:pt x="1190" y="732"/>
                    </a:lnTo>
                    <a:lnTo>
                      <a:pt x="1182" y="730"/>
                    </a:lnTo>
                    <a:lnTo>
                      <a:pt x="1182" y="726"/>
                    </a:lnTo>
                    <a:lnTo>
                      <a:pt x="1186" y="726"/>
                    </a:lnTo>
                    <a:lnTo>
                      <a:pt x="1190" y="724"/>
                    </a:lnTo>
                    <a:lnTo>
                      <a:pt x="1190" y="724"/>
                    </a:lnTo>
                    <a:lnTo>
                      <a:pt x="1190" y="722"/>
                    </a:lnTo>
                    <a:lnTo>
                      <a:pt x="1188" y="720"/>
                    </a:lnTo>
                    <a:lnTo>
                      <a:pt x="1190" y="720"/>
                    </a:lnTo>
                    <a:lnTo>
                      <a:pt x="1190" y="718"/>
                    </a:lnTo>
                    <a:lnTo>
                      <a:pt x="1180" y="714"/>
                    </a:lnTo>
                    <a:lnTo>
                      <a:pt x="1180" y="710"/>
                    </a:lnTo>
                    <a:lnTo>
                      <a:pt x="1180" y="708"/>
                    </a:lnTo>
                    <a:lnTo>
                      <a:pt x="1186" y="706"/>
                    </a:lnTo>
                    <a:lnTo>
                      <a:pt x="1184" y="702"/>
                    </a:lnTo>
                    <a:lnTo>
                      <a:pt x="1180" y="698"/>
                    </a:lnTo>
                    <a:lnTo>
                      <a:pt x="1182" y="698"/>
                    </a:lnTo>
                    <a:lnTo>
                      <a:pt x="1182" y="696"/>
                    </a:lnTo>
                    <a:lnTo>
                      <a:pt x="1178" y="690"/>
                    </a:lnTo>
                    <a:lnTo>
                      <a:pt x="1180" y="688"/>
                    </a:lnTo>
                    <a:lnTo>
                      <a:pt x="1180" y="682"/>
                    </a:lnTo>
                    <a:lnTo>
                      <a:pt x="1180" y="682"/>
                    </a:lnTo>
                    <a:lnTo>
                      <a:pt x="1182" y="674"/>
                    </a:lnTo>
                    <a:lnTo>
                      <a:pt x="1182" y="666"/>
                    </a:lnTo>
                    <a:lnTo>
                      <a:pt x="1186" y="666"/>
                    </a:lnTo>
                    <a:lnTo>
                      <a:pt x="1188" y="664"/>
                    </a:lnTo>
                    <a:lnTo>
                      <a:pt x="1194" y="664"/>
                    </a:lnTo>
                    <a:lnTo>
                      <a:pt x="1194" y="662"/>
                    </a:lnTo>
                    <a:lnTo>
                      <a:pt x="1196" y="660"/>
                    </a:lnTo>
                    <a:lnTo>
                      <a:pt x="1196" y="664"/>
                    </a:lnTo>
                    <a:lnTo>
                      <a:pt x="1188" y="672"/>
                    </a:lnTo>
                    <a:lnTo>
                      <a:pt x="1190" y="674"/>
                    </a:lnTo>
                    <a:lnTo>
                      <a:pt x="1188" y="676"/>
                    </a:lnTo>
                    <a:lnTo>
                      <a:pt x="1184" y="678"/>
                    </a:lnTo>
                    <a:lnTo>
                      <a:pt x="1186" y="680"/>
                    </a:lnTo>
                    <a:lnTo>
                      <a:pt x="1186" y="682"/>
                    </a:lnTo>
                    <a:lnTo>
                      <a:pt x="1188" y="684"/>
                    </a:lnTo>
                    <a:lnTo>
                      <a:pt x="1186" y="684"/>
                    </a:lnTo>
                    <a:lnTo>
                      <a:pt x="1186" y="688"/>
                    </a:lnTo>
                    <a:lnTo>
                      <a:pt x="1186" y="692"/>
                    </a:lnTo>
                    <a:lnTo>
                      <a:pt x="1194" y="690"/>
                    </a:lnTo>
                    <a:lnTo>
                      <a:pt x="1194" y="696"/>
                    </a:lnTo>
                    <a:lnTo>
                      <a:pt x="1202" y="694"/>
                    </a:lnTo>
                    <a:lnTo>
                      <a:pt x="1202" y="692"/>
                    </a:lnTo>
                    <a:lnTo>
                      <a:pt x="1202" y="690"/>
                    </a:lnTo>
                    <a:lnTo>
                      <a:pt x="1202" y="688"/>
                    </a:lnTo>
                    <a:lnTo>
                      <a:pt x="1202" y="686"/>
                    </a:lnTo>
                    <a:lnTo>
                      <a:pt x="1204" y="686"/>
                    </a:lnTo>
                    <a:lnTo>
                      <a:pt x="1204" y="682"/>
                    </a:lnTo>
                    <a:lnTo>
                      <a:pt x="1202" y="682"/>
                    </a:lnTo>
                    <a:lnTo>
                      <a:pt x="1204" y="678"/>
                    </a:lnTo>
                    <a:lnTo>
                      <a:pt x="1204" y="676"/>
                    </a:lnTo>
                    <a:lnTo>
                      <a:pt x="1202" y="676"/>
                    </a:lnTo>
                    <a:lnTo>
                      <a:pt x="1200" y="670"/>
                    </a:lnTo>
                    <a:lnTo>
                      <a:pt x="1200" y="666"/>
                    </a:lnTo>
                    <a:lnTo>
                      <a:pt x="1204" y="668"/>
                    </a:lnTo>
                    <a:lnTo>
                      <a:pt x="1208" y="670"/>
                    </a:lnTo>
                    <a:lnTo>
                      <a:pt x="1212" y="670"/>
                    </a:lnTo>
                    <a:lnTo>
                      <a:pt x="1218" y="660"/>
                    </a:lnTo>
                    <a:lnTo>
                      <a:pt x="1220" y="662"/>
                    </a:lnTo>
                    <a:lnTo>
                      <a:pt x="1222" y="656"/>
                    </a:lnTo>
                    <a:lnTo>
                      <a:pt x="1222" y="646"/>
                    </a:lnTo>
                    <a:lnTo>
                      <a:pt x="1220" y="646"/>
                    </a:lnTo>
                    <a:lnTo>
                      <a:pt x="1220" y="642"/>
                    </a:lnTo>
                    <a:lnTo>
                      <a:pt x="1222" y="642"/>
                    </a:lnTo>
                    <a:lnTo>
                      <a:pt x="1222" y="640"/>
                    </a:lnTo>
                    <a:lnTo>
                      <a:pt x="1230" y="632"/>
                    </a:lnTo>
                    <a:lnTo>
                      <a:pt x="1230" y="630"/>
                    </a:lnTo>
                    <a:lnTo>
                      <a:pt x="1234" y="630"/>
                    </a:lnTo>
                    <a:lnTo>
                      <a:pt x="1236" y="630"/>
                    </a:lnTo>
                    <a:lnTo>
                      <a:pt x="1238" y="628"/>
                    </a:lnTo>
                    <a:lnTo>
                      <a:pt x="1242" y="628"/>
                    </a:lnTo>
                    <a:lnTo>
                      <a:pt x="1242" y="624"/>
                    </a:lnTo>
                    <a:lnTo>
                      <a:pt x="1246" y="624"/>
                    </a:lnTo>
                    <a:lnTo>
                      <a:pt x="1250" y="624"/>
                    </a:lnTo>
                    <a:lnTo>
                      <a:pt x="1250" y="626"/>
                    </a:lnTo>
                    <a:lnTo>
                      <a:pt x="1252" y="626"/>
                    </a:lnTo>
                    <a:lnTo>
                      <a:pt x="1254" y="626"/>
                    </a:lnTo>
                    <a:lnTo>
                      <a:pt x="1252" y="624"/>
                    </a:lnTo>
                    <a:lnTo>
                      <a:pt x="1252" y="622"/>
                    </a:lnTo>
                    <a:lnTo>
                      <a:pt x="1254" y="618"/>
                    </a:lnTo>
                    <a:lnTo>
                      <a:pt x="1256" y="618"/>
                    </a:lnTo>
                    <a:lnTo>
                      <a:pt x="1260" y="618"/>
                    </a:lnTo>
                    <a:lnTo>
                      <a:pt x="1260" y="622"/>
                    </a:lnTo>
                    <a:lnTo>
                      <a:pt x="1264" y="622"/>
                    </a:lnTo>
                    <a:lnTo>
                      <a:pt x="1266" y="620"/>
                    </a:lnTo>
                    <a:lnTo>
                      <a:pt x="1270" y="620"/>
                    </a:lnTo>
                    <a:lnTo>
                      <a:pt x="1268" y="616"/>
                    </a:lnTo>
                    <a:lnTo>
                      <a:pt x="1262" y="614"/>
                    </a:lnTo>
                    <a:lnTo>
                      <a:pt x="1260" y="612"/>
                    </a:lnTo>
                    <a:lnTo>
                      <a:pt x="1260" y="610"/>
                    </a:lnTo>
                    <a:lnTo>
                      <a:pt x="1266" y="610"/>
                    </a:lnTo>
                    <a:lnTo>
                      <a:pt x="1264" y="604"/>
                    </a:lnTo>
                    <a:lnTo>
                      <a:pt x="1264" y="602"/>
                    </a:lnTo>
                    <a:lnTo>
                      <a:pt x="1270" y="596"/>
                    </a:lnTo>
                    <a:lnTo>
                      <a:pt x="1270" y="594"/>
                    </a:lnTo>
                    <a:lnTo>
                      <a:pt x="1268" y="594"/>
                    </a:lnTo>
                    <a:lnTo>
                      <a:pt x="1272" y="586"/>
                    </a:lnTo>
                    <a:lnTo>
                      <a:pt x="1276" y="586"/>
                    </a:lnTo>
                    <a:lnTo>
                      <a:pt x="1276" y="588"/>
                    </a:lnTo>
                    <a:lnTo>
                      <a:pt x="1276" y="586"/>
                    </a:lnTo>
                    <a:lnTo>
                      <a:pt x="1278" y="584"/>
                    </a:lnTo>
                    <a:lnTo>
                      <a:pt x="1280" y="586"/>
                    </a:lnTo>
                    <a:lnTo>
                      <a:pt x="1280" y="588"/>
                    </a:lnTo>
                    <a:lnTo>
                      <a:pt x="1282" y="588"/>
                    </a:lnTo>
                    <a:lnTo>
                      <a:pt x="1282" y="584"/>
                    </a:lnTo>
                    <a:lnTo>
                      <a:pt x="1286" y="586"/>
                    </a:lnTo>
                    <a:lnTo>
                      <a:pt x="1290" y="574"/>
                    </a:lnTo>
                    <a:lnTo>
                      <a:pt x="1292" y="580"/>
                    </a:lnTo>
                    <a:lnTo>
                      <a:pt x="1296" y="580"/>
                    </a:lnTo>
                    <a:lnTo>
                      <a:pt x="1296" y="576"/>
                    </a:lnTo>
                    <a:lnTo>
                      <a:pt x="1300" y="580"/>
                    </a:lnTo>
                    <a:lnTo>
                      <a:pt x="1302" y="578"/>
                    </a:lnTo>
                    <a:lnTo>
                      <a:pt x="1302" y="578"/>
                    </a:lnTo>
                    <a:lnTo>
                      <a:pt x="1304" y="574"/>
                    </a:lnTo>
                    <a:lnTo>
                      <a:pt x="1308" y="572"/>
                    </a:lnTo>
                    <a:lnTo>
                      <a:pt x="1306" y="562"/>
                    </a:lnTo>
                    <a:lnTo>
                      <a:pt x="1306" y="560"/>
                    </a:lnTo>
                    <a:lnTo>
                      <a:pt x="1304" y="560"/>
                    </a:lnTo>
                    <a:lnTo>
                      <a:pt x="1304" y="558"/>
                    </a:lnTo>
                    <a:lnTo>
                      <a:pt x="1302" y="556"/>
                    </a:lnTo>
                    <a:lnTo>
                      <a:pt x="1304" y="554"/>
                    </a:lnTo>
                    <a:lnTo>
                      <a:pt x="1302" y="552"/>
                    </a:lnTo>
                    <a:lnTo>
                      <a:pt x="1302" y="552"/>
                    </a:lnTo>
                    <a:lnTo>
                      <a:pt x="1300" y="552"/>
                    </a:lnTo>
                    <a:lnTo>
                      <a:pt x="1300" y="546"/>
                    </a:lnTo>
                    <a:lnTo>
                      <a:pt x="1300" y="532"/>
                    </a:lnTo>
                    <a:lnTo>
                      <a:pt x="1300" y="528"/>
                    </a:lnTo>
                    <a:lnTo>
                      <a:pt x="1298" y="526"/>
                    </a:lnTo>
                    <a:lnTo>
                      <a:pt x="1292" y="522"/>
                    </a:lnTo>
                    <a:lnTo>
                      <a:pt x="1288" y="522"/>
                    </a:lnTo>
                    <a:lnTo>
                      <a:pt x="1286" y="526"/>
                    </a:lnTo>
                    <a:lnTo>
                      <a:pt x="1284" y="528"/>
                    </a:lnTo>
                    <a:lnTo>
                      <a:pt x="1284" y="526"/>
                    </a:lnTo>
                    <a:lnTo>
                      <a:pt x="1282" y="522"/>
                    </a:lnTo>
                    <a:lnTo>
                      <a:pt x="1280" y="522"/>
                    </a:lnTo>
                    <a:lnTo>
                      <a:pt x="1278" y="524"/>
                    </a:lnTo>
                    <a:lnTo>
                      <a:pt x="1276" y="532"/>
                    </a:lnTo>
                    <a:lnTo>
                      <a:pt x="1272" y="536"/>
                    </a:lnTo>
                    <a:lnTo>
                      <a:pt x="1272" y="542"/>
                    </a:lnTo>
                    <a:lnTo>
                      <a:pt x="1270" y="544"/>
                    </a:lnTo>
                    <a:lnTo>
                      <a:pt x="1266" y="548"/>
                    </a:lnTo>
                    <a:lnTo>
                      <a:pt x="1260" y="554"/>
                    </a:lnTo>
                    <a:lnTo>
                      <a:pt x="1256" y="554"/>
                    </a:lnTo>
                    <a:lnTo>
                      <a:pt x="1256" y="556"/>
                    </a:lnTo>
                    <a:lnTo>
                      <a:pt x="1240" y="560"/>
                    </a:lnTo>
                    <a:lnTo>
                      <a:pt x="1218" y="562"/>
                    </a:lnTo>
                    <a:lnTo>
                      <a:pt x="1214" y="560"/>
                    </a:lnTo>
                    <a:lnTo>
                      <a:pt x="1204" y="566"/>
                    </a:lnTo>
                    <a:lnTo>
                      <a:pt x="1194" y="572"/>
                    </a:lnTo>
                    <a:lnTo>
                      <a:pt x="1192" y="574"/>
                    </a:lnTo>
                    <a:lnTo>
                      <a:pt x="1192" y="576"/>
                    </a:lnTo>
                    <a:lnTo>
                      <a:pt x="1196" y="572"/>
                    </a:lnTo>
                    <a:lnTo>
                      <a:pt x="1196" y="574"/>
                    </a:lnTo>
                    <a:lnTo>
                      <a:pt x="1196" y="578"/>
                    </a:lnTo>
                    <a:lnTo>
                      <a:pt x="1190" y="580"/>
                    </a:lnTo>
                    <a:lnTo>
                      <a:pt x="1192" y="582"/>
                    </a:lnTo>
                    <a:lnTo>
                      <a:pt x="1192" y="586"/>
                    </a:lnTo>
                    <a:lnTo>
                      <a:pt x="1188" y="588"/>
                    </a:lnTo>
                    <a:lnTo>
                      <a:pt x="1190" y="590"/>
                    </a:lnTo>
                    <a:lnTo>
                      <a:pt x="1188" y="592"/>
                    </a:lnTo>
                    <a:lnTo>
                      <a:pt x="1184" y="592"/>
                    </a:lnTo>
                    <a:lnTo>
                      <a:pt x="1180" y="594"/>
                    </a:lnTo>
                    <a:lnTo>
                      <a:pt x="1180" y="596"/>
                    </a:lnTo>
                    <a:lnTo>
                      <a:pt x="1178" y="596"/>
                    </a:lnTo>
                    <a:lnTo>
                      <a:pt x="1174" y="596"/>
                    </a:lnTo>
                    <a:lnTo>
                      <a:pt x="1172" y="598"/>
                    </a:lnTo>
                    <a:lnTo>
                      <a:pt x="1162" y="596"/>
                    </a:lnTo>
                    <a:lnTo>
                      <a:pt x="1152" y="596"/>
                    </a:lnTo>
                    <a:lnTo>
                      <a:pt x="1152" y="598"/>
                    </a:lnTo>
                    <a:lnTo>
                      <a:pt x="1150" y="600"/>
                    </a:lnTo>
                    <a:lnTo>
                      <a:pt x="1154" y="604"/>
                    </a:lnTo>
                    <a:lnTo>
                      <a:pt x="1148" y="610"/>
                    </a:lnTo>
                    <a:lnTo>
                      <a:pt x="1142" y="614"/>
                    </a:lnTo>
                    <a:lnTo>
                      <a:pt x="1136" y="614"/>
                    </a:lnTo>
                    <a:lnTo>
                      <a:pt x="1132" y="618"/>
                    </a:lnTo>
                    <a:lnTo>
                      <a:pt x="1126" y="618"/>
                    </a:lnTo>
                    <a:lnTo>
                      <a:pt x="1120" y="620"/>
                    </a:lnTo>
                    <a:lnTo>
                      <a:pt x="1120" y="622"/>
                    </a:lnTo>
                    <a:lnTo>
                      <a:pt x="1116" y="626"/>
                    </a:lnTo>
                    <a:lnTo>
                      <a:pt x="1110" y="630"/>
                    </a:lnTo>
                    <a:lnTo>
                      <a:pt x="1106" y="630"/>
                    </a:lnTo>
                    <a:lnTo>
                      <a:pt x="1102" y="628"/>
                    </a:lnTo>
                    <a:lnTo>
                      <a:pt x="1104" y="628"/>
                    </a:lnTo>
                    <a:lnTo>
                      <a:pt x="1104" y="626"/>
                    </a:lnTo>
                    <a:lnTo>
                      <a:pt x="1102" y="626"/>
                    </a:lnTo>
                    <a:lnTo>
                      <a:pt x="1100" y="624"/>
                    </a:lnTo>
                    <a:lnTo>
                      <a:pt x="1100" y="622"/>
                    </a:lnTo>
                    <a:lnTo>
                      <a:pt x="1096" y="624"/>
                    </a:lnTo>
                    <a:lnTo>
                      <a:pt x="1096" y="620"/>
                    </a:lnTo>
                    <a:lnTo>
                      <a:pt x="1102" y="616"/>
                    </a:lnTo>
                    <a:lnTo>
                      <a:pt x="1102" y="614"/>
                    </a:lnTo>
                    <a:lnTo>
                      <a:pt x="1106" y="610"/>
                    </a:lnTo>
                    <a:lnTo>
                      <a:pt x="1108" y="610"/>
                    </a:lnTo>
                    <a:lnTo>
                      <a:pt x="1108" y="608"/>
                    </a:lnTo>
                    <a:lnTo>
                      <a:pt x="1110" y="602"/>
                    </a:lnTo>
                    <a:lnTo>
                      <a:pt x="1110" y="598"/>
                    </a:lnTo>
                    <a:lnTo>
                      <a:pt x="1108" y="600"/>
                    </a:lnTo>
                    <a:lnTo>
                      <a:pt x="1110" y="600"/>
                    </a:lnTo>
                    <a:lnTo>
                      <a:pt x="1108" y="594"/>
                    </a:lnTo>
                    <a:lnTo>
                      <a:pt x="1106" y="586"/>
                    </a:lnTo>
                    <a:lnTo>
                      <a:pt x="1104" y="584"/>
                    </a:lnTo>
                    <a:lnTo>
                      <a:pt x="1098" y="582"/>
                    </a:lnTo>
                    <a:lnTo>
                      <a:pt x="1096" y="586"/>
                    </a:lnTo>
                    <a:lnTo>
                      <a:pt x="1094" y="588"/>
                    </a:lnTo>
                    <a:lnTo>
                      <a:pt x="1092" y="588"/>
                    </a:lnTo>
                    <a:lnTo>
                      <a:pt x="1090" y="586"/>
                    </a:lnTo>
                    <a:lnTo>
                      <a:pt x="1090" y="584"/>
                    </a:lnTo>
                    <a:lnTo>
                      <a:pt x="1094" y="584"/>
                    </a:lnTo>
                    <a:lnTo>
                      <a:pt x="1096" y="576"/>
                    </a:lnTo>
                    <a:lnTo>
                      <a:pt x="1098" y="570"/>
                    </a:lnTo>
                    <a:lnTo>
                      <a:pt x="1098" y="566"/>
                    </a:lnTo>
                    <a:lnTo>
                      <a:pt x="1094" y="562"/>
                    </a:lnTo>
                    <a:lnTo>
                      <a:pt x="1094" y="560"/>
                    </a:lnTo>
                    <a:lnTo>
                      <a:pt x="1096" y="558"/>
                    </a:lnTo>
                    <a:lnTo>
                      <a:pt x="1092" y="554"/>
                    </a:lnTo>
                    <a:lnTo>
                      <a:pt x="1088" y="554"/>
                    </a:lnTo>
                    <a:lnTo>
                      <a:pt x="1084" y="552"/>
                    </a:lnTo>
                    <a:lnTo>
                      <a:pt x="1082" y="550"/>
                    </a:lnTo>
                    <a:lnTo>
                      <a:pt x="1078" y="550"/>
                    </a:lnTo>
                    <a:lnTo>
                      <a:pt x="1076" y="552"/>
                    </a:lnTo>
                    <a:lnTo>
                      <a:pt x="1076" y="554"/>
                    </a:lnTo>
                    <a:lnTo>
                      <a:pt x="1074" y="556"/>
                    </a:lnTo>
                    <a:lnTo>
                      <a:pt x="1072" y="556"/>
                    </a:lnTo>
                    <a:lnTo>
                      <a:pt x="1070" y="558"/>
                    </a:lnTo>
                    <a:lnTo>
                      <a:pt x="1068" y="562"/>
                    </a:lnTo>
                    <a:lnTo>
                      <a:pt x="1062" y="564"/>
                    </a:lnTo>
                    <a:lnTo>
                      <a:pt x="1060" y="578"/>
                    </a:lnTo>
                    <a:lnTo>
                      <a:pt x="1058" y="578"/>
                    </a:lnTo>
                    <a:lnTo>
                      <a:pt x="1058" y="580"/>
                    </a:lnTo>
                    <a:lnTo>
                      <a:pt x="1058" y="586"/>
                    </a:lnTo>
                    <a:lnTo>
                      <a:pt x="1058" y="594"/>
                    </a:lnTo>
                    <a:lnTo>
                      <a:pt x="1060" y="596"/>
                    </a:lnTo>
                    <a:lnTo>
                      <a:pt x="1060" y="606"/>
                    </a:lnTo>
                    <a:lnTo>
                      <a:pt x="1052" y="622"/>
                    </a:lnTo>
                    <a:lnTo>
                      <a:pt x="1048" y="622"/>
                    </a:lnTo>
                    <a:lnTo>
                      <a:pt x="1046" y="622"/>
                    </a:lnTo>
                    <a:lnTo>
                      <a:pt x="1042" y="620"/>
                    </a:lnTo>
                    <a:lnTo>
                      <a:pt x="1042" y="614"/>
                    </a:lnTo>
                    <a:lnTo>
                      <a:pt x="1040" y="610"/>
                    </a:lnTo>
                    <a:lnTo>
                      <a:pt x="1038" y="596"/>
                    </a:lnTo>
                    <a:lnTo>
                      <a:pt x="1040" y="588"/>
                    </a:lnTo>
                    <a:lnTo>
                      <a:pt x="1042" y="582"/>
                    </a:lnTo>
                    <a:lnTo>
                      <a:pt x="1046" y="574"/>
                    </a:lnTo>
                    <a:lnTo>
                      <a:pt x="1048" y="568"/>
                    </a:lnTo>
                    <a:lnTo>
                      <a:pt x="1048" y="562"/>
                    </a:lnTo>
                    <a:lnTo>
                      <a:pt x="1046" y="564"/>
                    </a:lnTo>
                    <a:lnTo>
                      <a:pt x="1042" y="566"/>
                    </a:lnTo>
                    <a:lnTo>
                      <a:pt x="1042" y="570"/>
                    </a:lnTo>
                    <a:lnTo>
                      <a:pt x="1040" y="572"/>
                    </a:lnTo>
                    <a:lnTo>
                      <a:pt x="1038" y="572"/>
                    </a:lnTo>
                    <a:lnTo>
                      <a:pt x="1038" y="566"/>
                    </a:lnTo>
                    <a:lnTo>
                      <a:pt x="1040" y="564"/>
                    </a:lnTo>
                    <a:lnTo>
                      <a:pt x="1044" y="562"/>
                    </a:lnTo>
                    <a:lnTo>
                      <a:pt x="1044" y="556"/>
                    </a:lnTo>
                    <a:lnTo>
                      <a:pt x="1050" y="548"/>
                    </a:lnTo>
                    <a:lnTo>
                      <a:pt x="1054" y="550"/>
                    </a:lnTo>
                    <a:lnTo>
                      <a:pt x="1056" y="550"/>
                    </a:lnTo>
                    <a:lnTo>
                      <a:pt x="1056" y="546"/>
                    </a:lnTo>
                    <a:lnTo>
                      <a:pt x="1060" y="548"/>
                    </a:lnTo>
                    <a:lnTo>
                      <a:pt x="1066" y="546"/>
                    </a:lnTo>
                    <a:lnTo>
                      <a:pt x="1068" y="542"/>
                    </a:lnTo>
                    <a:lnTo>
                      <a:pt x="1070" y="542"/>
                    </a:lnTo>
                    <a:lnTo>
                      <a:pt x="1072" y="544"/>
                    </a:lnTo>
                    <a:lnTo>
                      <a:pt x="1076" y="546"/>
                    </a:lnTo>
                    <a:lnTo>
                      <a:pt x="1080" y="546"/>
                    </a:lnTo>
                    <a:lnTo>
                      <a:pt x="1080" y="544"/>
                    </a:lnTo>
                    <a:lnTo>
                      <a:pt x="1084" y="544"/>
                    </a:lnTo>
                    <a:lnTo>
                      <a:pt x="1084" y="546"/>
                    </a:lnTo>
                    <a:lnTo>
                      <a:pt x="1088" y="546"/>
                    </a:lnTo>
                    <a:lnTo>
                      <a:pt x="1088" y="544"/>
                    </a:lnTo>
                    <a:lnTo>
                      <a:pt x="1084" y="538"/>
                    </a:lnTo>
                    <a:lnTo>
                      <a:pt x="1076" y="538"/>
                    </a:lnTo>
                    <a:lnTo>
                      <a:pt x="1074" y="528"/>
                    </a:lnTo>
                    <a:lnTo>
                      <a:pt x="1060" y="534"/>
                    </a:lnTo>
                    <a:lnTo>
                      <a:pt x="1052" y="536"/>
                    </a:lnTo>
                    <a:lnTo>
                      <a:pt x="1044" y="534"/>
                    </a:lnTo>
                    <a:lnTo>
                      <a:pt x="1042" y="526"/>
                    </a:lnTo>
                    <a:lnTo>
                      <a:pt x="1032" y="528"/>
                    </a:lnTo>
                    <a:lnTo>
                      <a:pt x="1030" y="526"/>
                    </a:lnTo>
                    <a:lnTo>
                      <a:pt x="1030" y="524"/>
                    </a:lnTo>
                    <a:lnTo>
                      <a:pt x="1030" y="522"/>
                    </a:lnTo>
                    <a:lnTo>
                      <a:pt x="1032" y="522"/>
                    </a:lnTo>
                    <a:lnTo>
                      <a:pt x="1034" y="522"/>
                    </a:lnTo>
                    <a:lnTo>
                      <a:pt x="1038" y="520"/>
                    </a:lnTo>
                    <a:lnTo>
                      <a:pt x="1040" y="516"/>
                    </a:lnTo>
                    <a:lnTo>
                      <a:pt x="1038" y="516"/>
                    </a:lnTo>
                    <a:lnTo>
                      <a:pt x="1034" y="514"/>
                    </a:lnTo>
                    <a:lnTo>
                      <a:pt x="1034" y="516"/>
                    </a:lnTo>
                    <a:lnTo>
                      <a:pt x="1028" y="518"/>
                    </a:lnTo>
                    <a:lnTo>
                      <a:pt x="1028" y="520"/>
                    </a:lnTo>
                    <a:lnTo>
                      <a:pt x="1020" y="526"/>
                    </a:lnTo>
                    <a:lnTo>
                      <a:pt x="1012" y="528"/>
                    </a:lnTo>
                    <a:lnTo>
                      <a:pt x="1010" y="532"/>
                    </a:lnTo>
                    <a:lnTo>
                      <a:pt x="1006" y="532"/>
                    </a:lnTo>
                    <a:lnTo>
                      <a:pt x="1004" y="532"/>
                    </a:lnTo>
                    <a:lnTo>
                      <a:pt x="1000" y="528"/>
                    </a:lnTo>
                    <a:lnTo>
                      <a:pt x="1000" y="526"/>
                    </a:lnTo>
                    <a:lnTo>
                      <a:pt x="994" y="528"/>
                    </a:lnTo>
                    <a:lnTo>
                      <a:pt x="992" y="528"/>
                    </a:lnTo>
                    <a:lnTo>
                      <a:pt x="986" y="528"/>
                    </a:lnTo>
                    <a:lnTo>
                      <a:pt x="994" y="522"/>
                    </a:lnTo>
                    <a:lnTo>
                      <a:pt x="994" y="518"/>
                    </a:lnTo>
                    <a:lnTo>
                      <a:pt x="998" y="518"/>
                    </a:lnTo>
                    <a:lnTo>
                      <a:pt x="1004" y="512"/>
                    </a:lnTo>
                    <a:lnTo>
                      <a:pt x="1008" y="512"/>
                    </a:lnTo>
                    <a:lnTo>
                      <a:pt x="1010" y="508"/>
                    </a:lnTo>
                    <a:lnTo>
                      <a:pt x="1016" y="504"/>
                    </a:lnTo>
                    <a:lnTo>
                      <a:pt x="1014" y="504"/>
                    </a:lnTo>
                    <a:lnTo>
                      <a:pt x="1010" y="502"/>
                    </a:lnTo>
                    <a:lnTo>
                      <a:pt x="1008" y="500"/>
                    </a:lnTo>
                    <a:lnTo>
                      <a:pt x="1006" y="500"/>
                    </a:lnTo>
                    <a:lnTo>
                      <a:pt x="1002" y="500"/>
                    </a:lnTo>
                    <a:lnTo>
                      <a:pt x="994" y="500"/>
                    </a:lnTo>
                    <a:lnTo>
                      <a:pt x="992" y="500"/>
                    </a:lnTo>
                    <a:lnTo>
                      <a:pt x="988" y="500"/>
                    </a:lnTo>
                    <a:lnTo>
                      <a:pt x="984" y="496"/>
                    </a:lnTo>
                    <a:lnTo>
                      <a:pt x="978" y="496"/>
                    </a:lnTo>
                    <a:lnTo>
                      <a:pt x="974" y="496"/>
                    </a:lnTo>
                    <a:lnTo>
                      <a:pt x="972" y="496"/>
                    </a:lnTo>
                    <a:lnTo>
                      <a:pt x="972" y="496"/>
                    </a:lnTo>
                    <a:lnTo>
                      <a:pt x="970" y="498"/>
                    </a:lnTo>
                    <a:lnTo>
                      <a:pt x="968" y="498"/>
                    </a:lnTo>
                    <a:lnTo>
                      <a:pt x="962" y="496"/>
                    </a:lnTo>
                    <a:lnTo>
                      <a:pt x="958" y="496"/>
                    </a:lnTo>
                    <a:lnTo>
                      <a:pt x="956" y="496"/>
                    </a:lnTo>
                    <a:lnTo>
                      <a:pt x="954" y="490"/>
                    </a:lnTo>
                    <a:lnTo>
                      <a:pt x="952" y="484"/>
                    </a:lnTo>
                    <a:lnTo>
                      <a:pt x="950" y="482"/>
                    </a:lnTo>
                    <a:lnTo>
                      <a:pt x="948" y="484"/>
                    </a:lnTo>
                    <a:lnTo>
                      <a:pt x="948" y="486"/>
                    </a:lnTo>
                    <a:lnTo>
                      <a:pt x="946" y="490"/>
                    </a:lnTo>
                    <a:lnTo>
                      <a:pt x="592" y="484"/>
                    </a:lnTo>
                    <a:lnTo>
                      <a:pt x="590" y="488"/>
                    </a:lnTo>
                    <a:lnTo>
                      <a:pt x="586" y="490"/>
                    </a:lnTo>
                    <a:lnTo>
                      <a:pt x="586" y="492"/>
                    </a:lnTo>
                    <a:lnTo>
                      <a:pt x="590" y="496"/>
                    </a:lnTo>
                    <a:lnTo>
                      <a:pt x="584" y="496"/>
                    </a:lnTo>
                    <a:lnTo>
                      <a:pt x="584" y="498"/>
                    </a:lnTo>
                    <a:lnTo>
                      <a:pt x="572" y="496"/>
                    </a:lnTo>
                    <a:lnTo>
                      <a:pt x="560" y="496"/>
                    </a:lnTo>
                    <a:lnTo>
                      <a:pt x="562" y="500"/>
                    </a:lnTo>
                    <a:lnTo>
                      <a:pt x="562" y="504"/>
                    </a:lnTo>
                    <a:lnTo>
                      <a:pt x="564" y="508"/>
                    </a:lnTo>
                    <a:lnTo>
                      <a:pt x="566" y="510"/>
                    </a:lnTo>
                    <a:lnTo>
                      <a:pt x="568" y="514"/>
                    </a:lnTo>
                    <a:lnTo>
                      <a:pt x="568" y="520"/>
                    </a:lnTo>
                    <a:lnTo>
                      <a:pt x="570" y="520"/>
                    </a:lnTo>
                    <a:lnTo>
                      <a:pt x="570" y="522"/>
                    </a:lnTo>
                    <a:lnTo>
                      <a:pt x="570" y="524"/>
                    </a:lnTo>
                    <a:lnTo>
                      <a:pt x="572" y="524"/>
                    </a:lnTo>
                    <a:lnTo>
                      <a:pt x="572" y="532"/>
                    </a:lnTo>
                    <a:lnTo>
                      <a:pt x="570" y="530"/>
                    </a:lnTo>
                    <a:lnTo>
                      <a:pt x="570" y="536"/>
                    </a:lnTo>
                    <a:lnTo>
                      <a:pt x="572" y="538"/>
                    </a:lnTo>
                    <a:lnTo>
                      <a:pt x="572" y="540"/>
                    </a:lnTo>
                    <a:lnTo>
                      <a:pt x="570" y="540"/>
                    </a:lnTo>
                    <a:lnTo>
                      <a:pt x="570" y="554"/>
                    </a:lnTo>
                    <a:lnTo>
                      <a:pt x="570" y="564"/>
                    </a:lnTo>
                    <a:lnTo>
                      <a:pt x="568" y="566"/>
                    </a:lnTo>
                    <a:lnTo>
                      <a:pt x="568" y="572"/>
                    </a:lnTo>
                    <a:lnTo>
                      <a:pt x="570" y="572"/>
                    </a:lnTo>
                    <a:lnTo>
                      <a:pt x="568" y="572"/>
                    </a:lnTo>
                    <a:lnTo>
                      <a:pt x="568" y="592"/>
                    </a:lnTo>
                    <a:lnTo>
                      <a:pt x="566" y="592"/>
                    </a:lnTo>
                    <a:lnTo>
                      <a:pt x="566" y="604"/>
                    </a:lnTo>
                    <a:lnTo>
                      <a:pt x="566" y="610"/>
                    </a:lnTo>
                    <a:lnTo>
                      <a:pt x="572" y="616"/>
                    </a:lnTo>
                    <a:lnTo>
                      <a:pt x="570" y="618"/>
                    </a:lnTo>
                    <a:lnTo>
                      <a:pt x="570" y="624"/>
                    </a:lnTo>
                    <a:lnTo>
                      <a:pt x="572" y="630"/>
                    </a:lnTo>
                    <a:lnTo>
                      <a:pt x="570" y="636"/>
                    </a:lnTo>
                    <a:lnTo>
                      <a:pt x="570" y="644"/>
                    </a:lnTo>
                    <a:lnTo>
                      <a:pt x="568" y="644"/>
                    </a:lnTo>
                    <a:lnTo>
                      <a:pt x="566" y="646"/>
                    </a:lnTo>
                    <a:lnTo>
                      <a:pt x="566" y="648"/>
                    </a:lnTo>
                    <a:lnTo>
                      <a:pt x="572" y="658"/>
                    </a:lnTo>
                    <a:lnTo>
                      <a:pt x="574" y="660"/>
                    </a:lnTo>
                    <a:lnTo>
                      <a:pt x="574" y="664"/>
                    </a:lnTo>
                    <a:lnTo>
                      <a:pt x="576" y="664"/>
                    </a:lnTo>
                    <a:lnTo>
                      <a:pt x="576" y="668"/>
                    </a:lnTo>
                    <a:lnTo>
                      <a:pt x="576" y="674"/>
                    </a:lnTo>
                    <a:lnTo>
                      <a:pt x="578" y="674"/>
                    </a:lnTo>
                    <a:lnTo>
                      <a:pt x="580" y="676"/>
                    </a:lnTo>
                    <a:lnTo>
                      <a:pt x="582" y="680"/>
                    </a:lnTo>
                    <a:lnTo>
                      <a:pt x="584" y="680"/>
                    </a:lnTo>
                    <a:lnTo>
                      <a:pt x="584" y="688"/>
                    </a:lnTo>
                    <a:lnTo>
                      <a:pt x="588" y="690"/>
                    </a:lnTo>
                    <a:lnTo>
                      <a:pt x="590" y="688"/>
                    </a:lnTo>
                    <a:lnTo>
                      <a:pt x="588" y="684"/>
                    </a:lnTo>
                    <a:lnTo>
                      <a:pt x="592" y="684"/>
                    </a:lnTo>
                    <a:lnTo>
                      <a:pt x="592" y="686"/>
                    </a:lnTo>
                    <a:lnTo>
                      <a:pt x="594" y="686"/>
                    </a:lnTo>
                    <a:lnTo>
                      <a:pt x="596" y="686"/>
                    </a:lnTo>
                    <a:lnTo>
                      <a:pt x="594" y="686"/>
                    </a:lnTo>
                    <a:lnTo>
                      <a:pt x="592" y="688"/>
                    </a:lnTo>
                    <a:lnTo>
                      <a:pt x="594" y="694"/>
                    </a:lnTo>
                    <a:lnTo>
                      <a:pt x="596" y="696"/>
                    </a:lnTo>
                    <a:lnTo>
                      <a:pt x="592" y="694"/>
                    </a:lnTo>
                    <a:lnTo>
                      <a:pt x="590" y="694"/>
                    </a:lnTo>
                    <a:lnTo>
                      <a:pt x="590" y="700"/>
                    </a:lnTo>
                    <a:lnTo>
                      <a:pt x="594" y="702"/>
                    </a:lnTo>
                    <a:lnTo>
                      <a:pt x="600" y="706"/>
                    </a:lnTo>
                    <a:lnTo>
                      <a:pt x="602" y="710"/>
                    </a:lnTo>
                    <a:lnTo>
                      <a:pt x="598" y="710"/>
                    </a:lnTo>
                    <a:lnTo>
                      <a:pt x="598" y="714"/>
                    </a:lnTo>
                    <a:lnTo>
                      <a:pt x="600" y="718"/>
                    </a:lnTo>
                    <a:lnTo>
                      <a:pt x="602" y="722"/>
                    </a:lnTo>
                    <a:lnTo>
                      <a:pt x="604" y="724"/>
                    </a:lnTo>
                    <a:lnTo>
                      <a:pt x="604" y="726"/>
                    </a:lnTo>
                    <a:lnTo>
                      <a:pt x="606" y="728"/>
                    </a:lnTo>
                    <a:lnTo>
                      <a:pt x="608" y="730"/>
                    </a:lnTo>
                    <a:lnTo>
                      <a:pt x="612" y="736"/>
                    </a:lnTo>
                    <a:lnTo>
                      <a:pt x="612" y="738"/>
                    </a:lnTo>
                    <a:lnTo>
                      <a:pt x="612" y="740"/>
                    </a:lnTo>
                    <a:lnTo>
                      <a:pt x="616" y="740"/>
                    </a:lnTo>
                    <a:lnTo>
                      <a:pt x="616" y="752"/>
                    </a:lnTo>
                    <a:lnTo>
                      <a:pt x="622" y="752"/>
                    </a:lnTo>
                    <a:lnTo>
                      <a:pt x="626" y="754"/>
                    </a:lnTo>
                    <a:lnTo>
                      <a:pt x="638" y="756"/>
                    </a:lnTo>
                    <a:lnTo>
                      <a:pt x="640" y="764"/>
                    </a:lnTo>
                    <a:lnTo>
                      <a:pt x="644" y="762"/>
                    </a:lnTo>
                    <a:lnTo>
                      <a:pt x="652" y="772"/>
                    </a:lnTo>
                    <a:lnTo>
                      <a:pt x="654" y="774"/>
                    </a:lnTo>
                    <a:lnTo>
                      <a:pt x="656" y="776"/>
                    </a:lnTo>
                    <a:lnTo>
                      <a:pt x="658" y="778"/>
                    </a:lnTo>
                    <a:lnTo>
                      <a:pt x="656" y="780"/>
                    </a:lnTo>
                    <a:lnTo>
                      <a:pt x="658" y="784"/>
                    </a:lnTo>
                    <a:lnTo>
                      <a:pt x="660" y="786"/>
                    </a:lnTo>
                    <a:lnTo>
                      <a:pt x="694" y="784"/>
                    </a:lnTo>
                    <a:lnTo>
                      <a:pt x="694" y="788"/>
                    </a:lnTo>
                    <a:lnTo>
                      <a:pt x="730" y="806"/>
                    </a:lnTo>
                    <a:lnTo>
                      <a:pt x="772" y="808"/>
                    </a:lnTo>
                    <a:lnTo>
                      <a:pt x="772" y="800"/>
                    </a:lnTo>
                    <a:lnTo>
                      <a:pt x="800" y="800"/>
                    </a:lnTo>
                    <a:lnTo>
                      <a:pt x="806" y="808"/>
                    </a:lnTo>
                    <a:lnTo>
                      <a:pt x="810" y="812"/>
                    </a:lnTo>
                    <a:lnTo>
                      <a:pt x="810" y="814"/>
                    </a:lnTo>
                    <a:lnTo>
                      <a:pt x="814" y="818"/>
                    </a:lnTo>
                    <a:lnTo>
                      <a:pt x="818" y="824"/>
                    </a:lnTo>
                    <a:lnTo>
                      <a:pt x="822" y="830"/>
                    </a:lnTo>
                    <a:lnTo>
                      <a:pt x="822" y="834"/>
                    </a:lnTo>
                    <a:lnTo>
                      <a:pt x="826" y="838"/>
                    </a:lnTo>
                    <a:lnTo>
                      <a:pt x="830" y="842"/>
                    </a:lnTo>
                    <a:lnTo>
                      <a:pt x="834" y="844"/>
                    </a:lnTo>
                    <a:lnTo>
                      <a:pt x="838" y="844"/>
                    </a:lnTo>
                    <a:lnTo>
                      <a:pt x="842" y="844"/>
                    </a:lnTo>
                    <a:lnTo>
                      <a:pt x="846" y="842"/>
                    </a:lnTo>
                    <a:lnTo>
                      <a:pt x="850" y="838"/>
                    </a:lnTo>
                    <a:lnTo>
                      <a:pt x="856" y="836"/>
                    </a:lnTo>
                    <a:lnTo>
                      <a:pt x="860" y="836"/>
                    </a:lnTo>
                    <a:lnTo>
                      <a:pt x="864" y="838"/>
                    </a:lnTo>
                    <a:lnTo>
                      <a:pt x="868" y="840"/>
                    </a:lnTo>
                    <a:lnTo>
                      <a:pt x="872" y="844"/>
                    </a:lnTo>
                    <a:lnTo>
                      <a:pt x="872" y="850"/>
                    </a:lnTo>
                    <a:lnTo>
                      <a:pt x="874" y="852"/>
                    </a:lnTo>
                    <a:lnTo>
                      <a:pt x="876" y="858"/>
                    </a:lnTo>
                    <a:lnTo>
                      <a:pt x="880" y="866"/>
                    </a:lnTo>
                    <a:lnTo>
                      <a:pt x="882" y="870"/>
                    </a:lnTo>
                    <a:lnTo>
                      <a:pt x="886" y="874"/>
                    </a:lnTo>
                    <a:lnTo>
                      <a:pt x="890" y="878"/>
                    </a:lnTo>
                    <a:lnTo>
                      <a:pt x="892" y="888"/>
                    </a:lnTo>
                    <a:lnTo>
                      <a:pt x="892" y="894"/>
                    </a:lnTo>
                    <a:lnTo>
                      <a:pt x="898" y="896"/>
                    </a:lnTo>
                    <a:lnTo>
                      <a:pt x="902" y="898"/>
                    </a:lnTo>
                    <a:lnTo>
                      <a:pt x="908" y="898"/>
                    </a:lnTo>
                    <a:lnTo>
                      <a:pt x="912" y="900"/>
                    </a:lnTo>
                    <a:lnTo>
                      <a:pt x="918" y="900"/>
                    </a:lnTo>
                    <a:lnTo>
                      <a:pt x="916" y="900"/>
                    </a:lnTo>
                    <a:lnTo>
                      <a:pt x="916" y="898"/>
                    </a:lnTo>
                    <a:lnTo>
                      <a:pt x="916" y="898"/>
                    </a:lnTo>
                    <a:lnTo>
                      <a:pt x="916" y="894"/>
                    </a:lnTo>
                    <a:lnTo>
                      <a:pt x="914" y="894"/>
                    </a:lnTo>
                    <a:lnTo>
                      <a:pt x="914" y="890"/>
                    </a:lnTo>
                    <a:lnTo>
                      <a:pt x="912" y="890"/>
                    </a:lnTo>
                    <a:lnTo>
                      <a:pt x="910" y="884"/>
                    </a:lnTo>
                    <a:lnTo>
                      <a:pt x="912" y="876"/>
                    </a:lnTo>
                    <a:lnTo>
                      <a:pt x="910" y="874"/>
                    </a:lnTo>
                    <a:lnTo>
                      <a:pt x="914" y="872"/>
                    </a:lnTo>
                    <a:lnTo>
                      <a:pt x="914" y="864"/>
                    </a:lnTo>
                    <a:lnTo>
                      <a:pt x="918" y="864"/>
                    </a:lnTo>
                    <a:lnTo>
                      <a:pt x="920" y="860"/>
                    </a:lnTo>
                    <a:lnTo>
                      <a:pt x="924" y="860"/>
                    </a:lnTo>
                    <a:lnTo>
                      <a:pt x="928" y="858"/>
                    </a:lnTo>
                    <a:lnTo>
                      <a:pt x="928" y="856"/>
                    </a:lnTo>
                    <a:lnTo>
                      <a:pt x="928" y="852"/>
                    </a:lnTo>
                    <a:lnTo>
                      <a:pt x="932" y="852"/>
                    </a:lnTo>
                    <a:lnTo>
                      <a:pt x="932" y="850"/>
                    </a:lnTo>
                    <a:lnTo>
                      <a:pt x="936" y="850"/>
                    </a:lnTo>
                    <a:lnTo>
                      <a:pt x="940" y="846"/>
                    </a:lnTo>
                    <a:lnTo>
                      <a:pt x="940" y="848"/>
                    </a:lnTo>
                    <a:lnTo>
                      <a:pt x="942" y="848"/>
                    </a:lnTo>
                    <a:lnTo>
                      <a:pt x="942" y="842"/>
                    </a:lnTo>
                    <a:lnTo>
                      <a:pt x="946" y="840"/>
                    </a:lnTo>
                    <a:lnTo>
                      <a:pt x="946" y="836"/>
                    </a:lnTo>
                    <a:lnTo>
                      <a:pt x="954" y="838"/>
                    </a:lnTo>
                    <a:lnTo>
                      <a:pt x="962" y="836"/>
                    </a:lnTo>
                    <a:lnTo>
                      <a:pt x="962" y="832"/>
                    </a:lnTo>
                    <a:lnTo>
                      <a:pt x="964" y="834"/>
                    </a:lnTo>
                    <a:lnTo>
                      <a:pt x="966" y="834"/>
                    </a:lnTo>
                    <a:lnTo>
                      <a:pt x="968" y="832"/>
                    </a:lnTo>
                    <a:lnTo>
                      <a:pt x="970" y="832"/>
                    </a:lnTo>
                    <a:lnTo>
                      <a:pt x="972" y="834"/>
                    </a:lnTo>
                    <a:lnTo>
                      <a:pt x="978" y="836"/>
                    </a:lnTo>
                    <a:lnTo>
                      <a:pt x="984" y="832"/>
                    </a:lnTo>
                    <a:lnTo>
                      <a:pt x="984" y="838"/>
                    </a:lnTo>
                    <a:lnTo>
                      <a:pt x="990" y="838"/>
                    </a:lnTo>
                    <a:lnTo>
                      <a:pt x="994" y="840"/>
                    </a:lnTo>
                    <a:lnTo>
                      <a:pt x="994" y="840"/>
                    </a:lnTo>
                    <a:lnTo>
                      <a:pt x="994" y="844"/>
                    </a:lnTo>
                    <a:lnTo>
                      <a:pt x="994" y="844"/>
                    </a:lnTo>
                    <a:close/>
                    <a:moveTo>
                      <a:pt x="500" y="348"/>
                    </a:moveTo>
                    <a:lnTo>
                      <a:pt x="500" y="348"/>
                    </a:lnTo>
                    <a:lnTo>
                      <a:pt x="500" y="346"/>
                    </a:lnTo>
                    <a:lnTo>
                      <a:pt x="498" y="344"/>
                    </a:lnTo>
                    <a:lnTo>
                      <a:pt x="498" y="340"/>
                    </a:lnTo>
                    <a:lnTo>
                      <a:pt x="496" y="338"/>
                    </a:lnTo>
                    <a:lnTo>
                      <a:pt x="494" y="338"/>
                    </a:lnTo>
                    <a:lnTo>
                      <a:pt x="492" y="334"/>
                    </a:lnTo>
                    <a:lnTo>
                      <a:pt x="490" y="328"/>
                    </a:lnTo>
                    <a:lnTo>
                      <a:pt x="488" y="324"/>
                    </a:lnTo>
                    <a:lnTo>
                      <a:pt x="486" y="324"/>
                    </a:lnTo>
                    <a:lnTo>
                      <a:pt x="482" y="324"/>
                    </a:lnTo>
                    <a:lnTo>
                      <a:pt x="478" y="324"/>
                    </a:lnTo>
                    <a:lnTo>
                      <a:pt x="476" y="322"/>
                    </a:lnTo>
                    <a:lnTo>
                      <a:pt x="474" y="320"/>
                    </a:lnTo>
                    <a:lnTo>
                      <a:pt x="472" y="316"/>
                    </a:lnTo>
                    <a:lnTo>
                      <a:pt x="470" y="314"/>
                    </a:lnTo>
                    <a:lnTo>
                      <a:pt x="466" y="312"/>
                    </a:lnTo>
                    <a:lnTo>
                      <a:pt x="464" y="308"/>
                    </a:lnTo>
                    <a:lnTo>
                      <a:pt x="460" y="300"/>
                    </a:lnTo>
                    <a:lnTo>
                      <a:pt x="444" y="282"/>
                    </a:lnTo>
                    <a:lnTo>
                      <a:pt x="442" y="276"/>
                    </a:lnTo>
                    <a:lnTo>
                      <a:pt x="438" y="272"/>
                    </a:lnTo>
                    <a:lnTo>
                      <a:pt x="434" y="272"/>
                    </a:lnTo>
                    <a:lnTo>
                      <a:pt x="432" y="270"/>
                    </a:lnTo>
                    <a:lnTo>
                      <a:pt x="430" y="268"/>
                    </a:lnTo>
                    <a:lnTo>
                      <a:pt x="430" y="266"/>
                    </a:lnTo>
                    <a:lnTo>
                      <a:pt x="428" y="264"/>
                    </a:lnTo>
                    <a:lnTo>
                      <a:pt x="426" y="262"/>
                    </a:lnTo>
                    <a:lnTo>
                      <a:pt x="422" y="260"/>
                    </a:lnTo>
                    <a:lnTo>
                      <a:pt x="420" y="258"/>
                    </a:lnTo>
                    <a:lnTo>
                      <a:pt x="418" y="256"/>
                    </a:lnTo>
                    <a:lnTo>
                      <a:pt x="414" y="256"/>
                    </a:lnTo>
                    <a:lnTo>
                      <a:pt x="408" y="258"/>
                    </a:lnTo>
                    <a:lnTo>
                      <a:pt x="406" y="258"/>
                    </a:lnTo>
                    <a:lnTo>
                      <a:pt x="408" y="260"/>
                    </a:lnTo>
                    <a:lnTo>
                      <a:pt x="408" y="264"/>
                    </a:lnTo>
                    <a:lnTo>
                      <a:pt x="408" y="266"/>
                    </a:lnTo>
                    <a:lnTo>
                      <a:pt x="406" y="266"/>
                    </a:lnTo>
                    <a:lnTo>
                      <a:pt x="404" y="268"/>
                    </a:lnTo>
                    <a:lnTo>
                      <a:pt x="396" y="270"/>
                    </a:lnTo>
                    <a:lnTo>
                      <a:pt x="392" y="274"/>
                    </a:lnTo>
                    <a:lnTo>
                      <a:pt x="392" y="272"/>
                    </a:lnTo>
                    <a:lnTo>
                      <a:pt x="392" y="268"/>
                    </a:lnTo>
                    <a:lnTo>
                      <a:pt x="388" y="266"/>
                    </a:lnTo>
                    <a:lnTo>
                      <a:pt x="384" y="262"/>
                    </a:lnTo>
                    <a:lnTo>
                      <a:pt x="380" y="258"/>
                    </a:lnTo>
                    <a:lnTo>
                      <a:pt x="378" y="256"/>
                    </a:lnTo>
                    <a:lnTo>
                      <a:pt x="374" y="246"/>
                    </a:lnTo>
                    <a:lnTo>
                      <a:pt x="372" y="238"/>
                    </a:lnTo>
                    <a:lnTo>
                      <a:pt x="366" y="242"/>
                    </a:lnTo>
                    <a:lnTo>
                      <a:pt x="362" y="242"/>
                    </a:lnTo>
                    <a:lnTo>
                      <a:pt x="358" y="238"/>
                    </a:lnTo>
                    <a:lnTo>
                      <a:pt x="356" y="238"/>
                    </a:lnTo>
                    <a:lnTo>
                      <a:pt x="352" y="240"/>
                    </a:lnTo>
                    <a:lnTo>
                      <a:pt x="346" y="242"/>
                    </a:lnTo>
                    <a:lnTo>
                      <a:pt x="342" y="34"/>
                    </a:lnTo>
                    <a:lnTo>
                      <a:pt x="340" y="32"/>
                    </a:lnTo>
                    <a:lnTo>
                      <a:pt x="332" y="28"/>
                    </a:lnTo>
                    <a:lnTo>
                      <a:pt x="330" y="26"/>
                    </a:lnTo>
                    <a:lnTo>
                      <a:pt x="326" y="28"/>
                    </a:lnTo>
                    <a:lnTo>
                      <a:pt x="322" y="28"/>
                    </a:lnTo>
                    <a:lnTo>
                      <a:pt x="320" y="28"/>
                    </a:lnTo>
                    <a:lnTo>
                      <a:pt x="320" y="26"/>
                    </a:lnTo>
                    <a:lnTo>
                      <a:pt x="316" y="26"/>
                    </a:lnTo>
                    <a:lnTo>
                      <a:pt x="314" y="30"/>
                    </a:lnTo>
                    <a:lnTo>
                      <a:pt x="312" y="32"/>
                    </a:lnTo>
                    <a:lnTo>
                      <a:pt x="310" y="30"/>
                    </a:lnTo>
                    <a:lnTo>
                      <a:pt x="308" y="28"/>
                    </a:lnTo>
                    <a:lnTo>
                      <a:pt x="306" y="30"/>
                    </a:lnTo>
                    <a:lnTo>
                      <a:pt x="304" y="30"/>
                    </a:lnTo>
                    <a:lnTo>
                      <a:pt x="304" y="28"/>
                    </a:lnTo>
                    <a:lnTo>
                      <a:pt x="286" y="26"/>
                    </a:lnTo>
                    <a:lnTo>
                      <a:pt x="286" y="24"/>
                    </a:lnTo>
                    <a:lnTo>
                      <a:pt x="280" y="24"/>
                    </a:lnTo>
                    <a:lnTo>
                      <a:pt x="276" y="24"/>
                    </a:lnTo>
                    <a:lnTo>
                      <a:pt x="266" y="24"/>
                    </a:lnTo>
                    <a:lnTo>
                      <a:pt x="256" y="24"/>
                    </a:lnTo>
                    <a:lnTo>
                      <a:pt x="256" y="22"/>
                    </a:lnTo>
                    <a:lnTo>
                      <a:pt x="254" y="22"/>
                    </a:lnTo>
                    <a:lnTo>
                      <a:pt x="250" y="22"/>
                    </a:lnTo>
                    <a:lnTo>
                      <a:pt x="244" y="16"/>
                    </a:lnTo>
                    <a:lnTo>
                      <a:pt x="242" y="18"/>
                    </a:lnTo>
                    <a:lnTo>
                      <a:pt x="240" y="18"/>
                    </a:lnTo>
                    <a:lnTo>
                      <a:pt x="238" y="16"/>
                    </a:lnTo>
                    <a:lnTo>
                      <a:pt x="234" y="18"/>
                    </a:lnTo>
                    <a:lnTo>
                      <a:pt x="230" y="20"/>
                    </a:lnTo>
                    <a:lnTo>
                      <a:pt x="224" y="20"/>
                    </a:lnTo>
                    <a:lnTo>
                      <a:pt x="222" y="22"/>
                    </a:lnTo>
                    <a:lnTo>
                      <a:pt x="210" y="16"/>
                    </a:lnTo>
                    <a:lnTo>
                      <a:pt x="204" y="16"/>
                    </a:lnTo>
                    <a:lnTo>
                      <a:pt x="202" y="14"/>
                    </a:lnTo>
                    <a:lnTo>
                      <a:pt x="198" y="16"/>
                    </a:lnTo>
                    <a:lnTo>
                      <a:pt x="194" y="14"/>
                    </a:lnTo>
                    <a:lnTo>
                      <a:pt x="194" y="12"/>
                    </a:lnTo>
                    <a:lnTo>
                      <a:pt x="196" y="12"/>
                    </a:lnTo>
                    <a:lnTo>
                      <a:pt x="194" y="10"/>
                    </a:lnTo>
                    <a:lnTo>
                      <a:pt x="190" y="10"/>
                    </a:lnTo>
                    <a:lnTo>
                      <a:pt x="180" y="12"/>
                    </a:lnTo>
                    <a:lnTo>
                      <a:pt x="176" y="12"/>
                    </a:lnTo>
                    <a:lnTo>
                      <a:pt x="172" y="12"/>
                    </a:lnTo>
                    <a:lnTo>
                      <a:pt x="170" y="12"/>
                    </a:lnTo>
                    <a:lnTo>
                      <a:pt x="170" y="10"/>
                    </a:lnTo>
                    <a:lnTo>
                      <a:pt x="168" y="6"/>
                    </a:lnTo>
                    <a:lnTo>
                      <a:pt x="164" y="8"/>
                    </a:lnTo>
                    <a:lnTo>
                      <a:pt x="160" y="8"/>
                    </a:lnTo>
                    <a:lnTo>
                      <a:pt x="154" y="12"/>
                    </a:lnTo>
                    <a:lnTo>
                      <a:pt x="156" y="4"/>
                    </a:lnTo>
                    <a:lnTo>
                      <a:pt x="148" y="2"/>
                    </a:lnTo>
                    <a:lnTo>
                      <a:pt x="142" y="0"/>
                    </a:lnTo>
                    <a:lnTo>
                      <a:pt x="138" y="0"/>
                    </a:lnTo>
                    <a:lnTo>
                      <a:pt x="138" y="2"/>
                    </a:lnTo>
                    <a:lnTo>
                      <a:pt x="132" y="8"/>
                    </a:lnTo>
                    <a:lnTo>
                      <a:pt x="124" y="12"/>
                    </a:lnTo>
                    <a:lnTo>
                      <a:pt x="118" y="12"/>
                    </a:lnTo>
                    <a:lnTo>
                      <a:pt x="114" y="12"/>
                    </a:lnTo>
                    <a:lnTo>
                      <a:pt x="110" y="14"/>
                    </a:lnTo>
                    <a:lnTo>
                      <a:pt x="108" y="10"/>
                    </a:lnTo>
                    <a:lnTo>
                      <a:pt x="106" y="16"/>
                    </a:lnTo>
                    <a:lnTo>
                      <a:pt x="104" y="16"/>
                    </a:lnTo>
                    <a:lnTo>
                      <a:pt x="102" y="16"/>
                    </a:lnTo>
                    <a:lnTo>
                      <a:pt x="100" y="14"/>
                    </a:lnTo>
                    <a:lnTo>
                      <a:pt x="100" y="18"/>
                    </a:lnTo>
                    <a:lnTo>
                      <a:pt x="96" y="20"/>
                    </a:lnTo>
                    <a:lnTo>
                      <a:pt x="90" y="20"/>
                    </a:lnTo>
                    <a:lnTo>
                      <a:pt x="86" y="20"/>
                    </a:lnTo>
                    <a:lnTo>
                      <a:pt x="82" y="22"/>
                    </a:lnTo>
                    <a:lnTo>
                      <a:pt x="80" y="24"/>
                    </a:lnTo>
                    <a:lnTo>
                      <a:pt x="76" y="24"/>
                    </a:lnTo>
                    <a:lnTo>
                      <a:pt x="74" y="28"/>
                    </a:lnTo>
                    <a:lnTo>
                      <a:pt x="72" y="34"/>
                    </a:lnTo>
                    <a:lnTo>
                      <a:pt x="70" y="34"/>
                    </a:lnTo>
                    <a:lnTo>
                      <a:pt x="68" y="36"/>
                    </a:lnTo>
                    <a:lnTo>
                      <a:pt x="66" y="40"/>
                    </a:lnTo>
                    <a:lnTo>
                      <a:pt x="66" y="42"/>
                    </a:lnTo>
                    <a:lnTo>
                      <a:pt x="62" y="46"/>
                    </a:lnTo>
                    <a:lnTo>
                      <a:pt x="60" y="58"/>
                    </a:lnTo>
                    <a:lnTo>
                      <a:pt x="52" y="60"/>
                    </a:lnTo>
                    <a:lnTo>
                      <a:pt x="44" y="62"/>
                    </a:lnTo>
                    <a:lnTo>
                      <a:pt x="42" y="62"/>
                    </a:lnTo>
                    <a:lnTo>
                      <a:pt x="38" y="62"/>
                    </a:lnTo>
                    <a:lnTo>
                      <a:pt x="36" y="64"/>
                    </a:lnTo>
                    <a:lnTo>
                      <a:pt x="28" y="64"/>
                    </a:lnTo>
                    <a:lnTo>
                      <a:pt x="20" y="62"/>
                    </a:lnTo>
                    <a:lnTo>
                      <a:pt x="22" y="74"/>
                    </a:lnTo>
                    <a:lnTo>
                      <a:pt x="20" y="76"/>
                    </a:lnTo>
                    <a:lnTo>
                      <a:pt x="20" y="78"/>
                    </a:lnTo>
                    <a:lnTo>
                      <a:pt x="18" y="78"/>
                    </a:lnTo>
                    <a:lnTo>
                      <a:pt x="16" y="78"/>
                    </a:lnTo>
                    <a:lnTo>
                      <a:pt x="24" y="80"/>
                    </a:lnTo>
                    <a:lnTo>
                      <a:pt x="26" y="82"/>
                    </a:lnTo>
                    <a:lnTo>
                      <a:pt x="30" y="86"/>
                    </a:lnTo>
                    <a:lnTo>
                      <a:pt x="32" y="86"/>
                    </a:lnTo>
                    <a:lnTo>
                      <a:pt x="36" y="86"/>
                    </a:lnTo>
                    <a:lnTo>
                      <a:pt x="46" y="96"/>
                    </a:lnTo>
                    <a:lnTo>
                      <a:pt x="52" y="96"/>
                    </a:lnTo>
                    <a:lnTo>
                      <a:pt x="54" y="96"/>
                    </a:lnTo>
                    <a:lnTo>
                      <a:pt x="54" y="96"/>
                    </a:lnTo>
                    <a:lnTo>
                      <a:pt x="52" y="96"/>
                    </a:lnTo>
                    <a:lnTo>
                      <a:pt x="54" y="102"/>
                    </a:lnTo>
                    <a:lnTo>
                      <a:pt x="56" y="104"/>
                    </a:lnTo>
                    <a:lnTo>
                      <a:pt x="60" y="104"/>
                    </a:lnTo>
                    <a:lnTo>
                      <a:pt x="60" y="102"/>
                    </a:lnTo>
                    <a:lnTo>
                      <a:pt x="64" y="100"/>
                    </a:lnTo>
                    <a:lnTo>
                      <a:pt x="68" y="100"/>
                    </a:lnTo>
                    <a:lnTo>
                      <a:pt x="68" y="102"/>
                    </a:lnTo>
                    <a:lnTo>
                      <a:pt x="70" y="104"/>
                    </a:lnTo>
                    <a:lnTo>
                      <a:pt x="72" y="104"/>
                    </a:lnTo>
                    <a:lnTo>
                      <a:pt x="78" y="102"/>
                    </a:lnTo>
                    <a:lnTo>
                      <a:pt x="78" y="104"/>
                    </a:lnTo>
                    <a:lnTo>
                      <a:pt x="78" y="106"/>
                    </a:lnTo>
                    <a:lnTo>
                      <a:pt x="76" y="106"/>
                    </a:lnTo>
                    <a:lnTo>
                      <a:pt x="74" y="108"/>
                    </a:lnTo>
                    <a:lnTo>
                      <a:pt x="74" y="110"/>
                    </a:lnTo>
                    <a:lnTo>
                      <a:pt x="78" y="110"/>
                    </a:lnTo>
                    <a:lnTo>
                      <a:pt x="80" y="112"/>
                    </a:lnTo>
                    <a:lnTo>
                      <a:pt x="86" y="112"/>
                    </a:lnTo>
                    <a:lnTo>
                      <a:pt x="92" y="112"/>
                    </a:lnTo>
                    <a:lnTo>
                      <a:pt x="92" y="114"/>
                    </a:lnTo>
                    <a:lnTo>
                      <a:pt x="92" y="118"/>
                    </a:lnTo>
                    <a:lnTo>
                      <a:pt x="80" y="118"/>
                    </a:lnTo>
                    <a:lnTo>
                      <a:pt x="74" y="118"/>
                    </a:lnTo>
                    <a:lnTo>
                      <a:pt x="74" y="120"/>
                    </a:lnTo>
                    <a:lnTo>
                      <a:pt x="78" y="122"/>
                    </a:lnTo>
                    <a:lnTo>
                      <a:pt x="78" y="120"/>
                    </a:lnTo>
                    <a:lnTo>
                      <a:pt x="80" y="120"/>
                    </a:lnTo>
                    <a:lnTo>
                      <a:pt x="82" y="122"/>
                    </a:lnTo>
                    <a:lnTo>
                      <a:pt x="84" y="122"/>
                    </a:lnTo>
                    <a:lnTo>
                      <a:pt x="84" y="128"/>
                    </a:lnTo>
                    <a:lnTo>
                      <a:pt x="78" y="126"/>
                    </a:lnTo>
                    <a:lnTo>
                      <a:pt x="74" y="130"/>
                    </a:lnTo>
                    <a:lnTo>
                      <a:pt x="74" y="128"/>
                    </a:lnTo>
                    <a:lnTo>
                      <a:pt x="66" y="128"/>
                    </a:lnTo>
                    <a:lnTo>
                      <a:pt x="56" y="128"/>
                    </a:lnTo>
                    <a:lnTo>
                      <a:pt x="54" y="124"/>
                    </a:lnTo>
                    <a:lnTo>
                      <a:pt x="48" y="124"/>
                    </a:lnTo>
                    <a:lnTo>
                      <a:pt x="48" y="122"/>
                    </a:lnTo>
                    <a:lnTo>
                      <a:pt x="50" y="122"/>
                    </a:lnTo>
                    <a:lnTo>
                      <a:pt x="50" y="116"/>
                    </a:lnTo>
                    <a:lnTo>
                      <a:pt x="50" y="112"/>
                    </a:lnTo>
                    <a:lnTo>
                      <a:pt x="48" y="110"/>
                    </a:lnTo>
                    <a:lnTo>
                      <a:pt x="42" y="110"/>
                    </a:lnTo>
                    <a:lnTo>
                      <a:pt x="40" y="112"/>
                    </a:lnTo>
                    <a:lnTo>
                      <a:pt x="32" y="116"/>
                    </a:lnTo>
                    <a:lnTo>
                      <a:pt x="24" y="120"/>
                    </a:lnTo>
                    <a:lnTo>
                      <a:pt x="24" y="126"/>
                    </a:lnTo>
                    <a:lnTo>
                      <a:pt x="22" y="126"/>
                    </a:lnTo>
                    <a:lnTo>
                      <a:pt x="12" y="126"/>
                    </a:lnTo>
                    <a:lnTo>
                      <a:pt x="6" y="128"/>
                    </a:lnTo>
                    <a:lnTo>
                      <a:pt x="0" y="134"/>
                    </a:lnTo>
                    <a:lnTo>
                      <a:pt x="0" y="138"/>
                    </a:lnTo>
                    <a:lnTo>
                      <a:pt x="8" y="138"/>
                    </a:lnTo>
                    <a:lnTo>
                      <a:pt x="12" y="140"/>
                    </a:lnTo>
                    <a:lnTo>
                      <a:pt x="18" y="140"/>
                    </a:lnTo>
                    <a:lnTo>
                      <a:pt x="18" y="142"/>
                    </a:lnTo>
                    <a:lnTo>
                      <a:pt x="10" y="144"/>
                    </a:lnTo>
                    <a:lnTo>
                      <a:pt x="10" y="146"/>
                    </a:lnTo>
                    <a:lnTo>
                      <a:pt x="16" y="152"/>
                    </a:lnTo>
                    <a:lnTo>
                      <a:pt x="16" y="152"/>
                    </a:lnTo>
                    <a:lnTo>
                      <a:pt x="18" y="156"/>
                    </a:lnTo>
                    <a:lnTo>
                      <a:pt x="32" y="160"/>
                    </a:lnTo>
                    <a:lnTo>
                      <a:pt x="36" y="158"/>
                    </a:lnTo>
                    <a:lnTo>
                      <a:pt x="38" y="156"/>
                    </a:lnTo>
                    <a:lnTo>
                      <a:pt x="48" y="154"/>
                    </a:lnTo>
                    <a:lnTo>
                      <a:pt x="58" y="156"/>
                    </a:lnTo>
                    <a:lnTo>
                      <a:pt x="58" y="154"/>
                    </a:lnTo>
                    <a:lnTo>
                      <a:pt x="60" y="152"/>
                    </a:lnTo>
                    <a:lnTo>
                      <a:pt x="64" y="158"/>
                    </a:lnTo>
                    <a:lnTo>
                      <a:pt x="64" y="160"/>
                    </a:lnTo>
                    <a:lnTo>
                      <a:pt x="68" y="162"/>
                    </a:lnTo>
                    <a:lnTo>
                      <a:pt x="72" y="156"/>
                    </a:lnTo>
                    <a:lnTo>
                      <a:pt x="82" y="154"/>
                    </a:lnTo>
                    <a:lnTo>
                      <a:pt x="92" y="154"/>
                    </a:lnTo>
                    <a:lnTo>
                      <a:pt x="92" y="158"/>
                    </a:lnTo>
                    <a:lnTo>
                      <a:pt x="88" y="162"/>
                    </a:lnTo>
                    <a:lnTo>
                      <a:pt x="88" y="166"/>
                    </a:lnTo>
                    <a:lnTo>
                      <a:pt x="90" y="172"/>
                    </a:lnTo>
                    <a:lnTo>
                      <a:pt x="90" y="180"/>
                    </a:lnTo>
                    <a:lnTo>
                      <a:pt x="84" y="184"/>
                    </a:lnTo>
                    <a:lnTo>
                      <a:pt x="78" y="186"/>
                    </a:lnTo>
                    <a:lnTo>
                      <a:pt x="76" y="184"/>
                    </a:lnTo>
                    <a:lnTo>
                      <a:pt x="72" y="184"/>
                    </a:lnTo>
                    <a:lnTo>
                      <a:pt x="72" y="188"/>
                    </a:lnTo>
                    <a:lnTo>
                      <a:pt x="68" y="192"/>
                    </a:lnTo>
                    <a:lnTo>
                      <a:pt x="62" y="192"/>
                    </a:lnTo>
                    <a:lnTo>
                      <a:pt x="58" y="192"/>
                    </a:lnTo>
                    <a:lnTo>
                      <a:pt x="54" y="188"/>
                    </a:lnTo>
                    <a:lnTo>
                      <a:pt x="52" y="186"/>
                    </a:lnTo>
                    <a:lnTo>
                      <a:pt x="48" y="186"/>
                    </a:lnTo>
                    <a:lnTo>
                      <a:pt x="42" y="190"/>
                    </a:lnTo>
                    <a:lnTo>
                      <a:pt x="42" y="192"/>
                    </a:lnTo>
                    <a:lnTo>
                      <a:pt x="42" y="194"/>
                    </a:lnTo>
                    <a:lnTo>
                      <a:pt x="44" y="194"/>
                    </a:lnTo>
                    <a:lnTo>
                      <a:pt x="46" y="198"/>
                    </a:lnTo>
                    <a:lnTo>
                      <a:pt x="46" y="204"/>
                    </a:lnTo>
                    <a:lnTo>
                      <a:pt x="46" y="202"/>
                    </a:lnTo>
                    <a:lnTo>
                      <a:pt x="40" y="200"/>
                    </a:lnTo>
                    <a:lnTo>
                      <a:pt x="38" y="208"/>
                    </a:lnTo>
                    <a:lnTo>
                      <a:pt x="36" y="208"/>
                    </a:lnTo>
                    <a:lnTo>
                      <a:pt x="28" y="212"/>
                    </a:lnTo>
                    <a:lnTo>
                      <a:pt x="28" y="216"/>
                    </a:lnTo>
                    <a:lnTo>
                      <a:pt x="28" y="218"/>
                    </a:lnTo>
                    <a:lnTo>
                      <a:pt x="24" y="220"/>
                    </a:lnTo>
                    <a:lnTo>
                      <a:pt x="22" y="224"/>
                    </a:lnTo>
                    <a:lnTo>
                      <a:pt x="26" y="224"/>
                    </a:lnTo>
                    <a:lnTo>
                      <a:pt x="26" y="228"/>
                    </a:lnTo>
                    <a:lnTo>
                      <a:pt x="32" y="228"/>
                    </a:lnTo>
                    <a:lnTo>
                      <a:pt x="32" y="232"/>
                    </a:lnTo>
                    <a:lnTo>
                      <a:pt x="34" y="232"/>
                    </a:lnTo>
                    <a:lnTo>
                      <a:pt x="34" y="234"/>
                    </a:lnTo>
                    <a:lnTo>
                      <a:pt x="42" y="234"/>
                    </a:lnTo>
                    <a:lnTo>
                      <a:pt x="48" y="236"/>
                    </a:lnTo>
                    <a:lnTo>
                      <a:pt x="48" y="234"/>
                    </a:lnTo>
                    <a:lnTo>
                      <a:pt x="54" y="234"/>
                    </a:lnTo>
                    <a:lnTo>
                      <a:pt x="54" y="236"/>
                    </a:lnTo>
                    <a:lnTo>
                      <a:pt x="50" y="238"/>
                    </a:lnTo>
                    <a:lnTo>
                      <a:pt x="48" y="242"/>
                    </a:lnTo>
                    <a:lnTo>
                      <a:pt x="46" y="244"/>
                    </a:lnTo>
                    <a:lnTo>
                      <a:pt x="46" y="248"/>
                    </a:lnTo>
                    <a:lnTo>
                      <a:pt x="44" y="252"/>
                    </a:lnTo>
                    <a:lnTo>
                      <a:pt x="46" y="252"/>
                    </a:lnTo>
                    <a:lnTo>
                      <a:pt x="46" y="254"/>
                    </a:lnTo>
                    <a:lnTo>
                      <a:pt x="50" y="254"/>
                    </a:lnTo>
                    <a:lnTo>
                      <a:pt x="50" y="258"/>
                    </a:lnTo>
                    <a:lnTo>
                      <a:pt x="54" y="262"/>
                    </a:lnTo>
                    <a:lnTo>
                      <a:pt x="62" y="260"/>
                    </a:lnTo>
                    <a:lnTo>
                      <a:pt x="66" y="258"/>
                    </a:lnTo>
                    <a:lnTo>
                      <a:pt x="68" y="256"/>
                    </a:lnTo>
                    <a:lnTo>
                      <a:pt x="68" y="252"/>
                    </a:lnTo>
                    <a:lnTo>
                      <a:pt x="68" y="250"/>
                    </a:lnTo>
                    <a:lnTo>
                      <a:pt x="70" y="246"/>
                    </a:lnTo>
                    <a:lnTo>
                      <a:pt x="72" y="246"/>
                    </a:lnTo>
                    <a:lnTo>
                      <a:pt x="72" y="250"/>
                    </a:lnTo>
                    <a:lnTo>
                      <a:pt x="72" y="252"/>
                    </a:lnTo>
                    <a:lnTo>
                      <a:pt x="72" y="252"/>
                    </a:lnTo>
                    <a:lnTo>
                      <a:pt x="72" y="258"/>
                    </a:lnTo>
                    <a:lnTo>
                      <a:pt x="74" y="260"/>
                    </a:lnTo>
                    <a:lnTo>
                      <a:pt x="76" y="266"/>
                    </a:lnTo>
                    <a:lnTo>
                      <a:pt x="76" y="268"/>
                    </a:lnTo>
                    <a:lnTo>
                      <a:pt x="74" y="270"/>
                    </a:lnTo>
                    <a:lnTo>
                      <a:pt x="74" y="274"/>
                    </a:lnTo>
                    <a:lnTo>
                      <a:pt x="80" y="274"/>
                    </a:lnTo>
                    <a:lnTo>
                      <a:pt x="78" y="276"/>
                    </a:lnTo>
                    <a:lnTo>
                      <a:pt x="76" y="280"/>
                    </a:lnTo>
                    <a:lnTo>
                      <a:pt x="78" y="280"/>
                    </a:lnTo>
                    <a:lnTo>
                      <a:pt x="78" y="282"/>
                    </a:lnTo>
                    <a:lnTo>
                      <a:pt x="78" y="286"/>
                    </a:lnTo>
                    <a:lnTo>
                      <a:pt x="82" y="284"/>
                    </a:lnTo>
                    <a:lnTo>
                      <a:pt x="84" y="282"/>
                    </a:lnTo>
                    <a:lnTo>
                      <a:pt x="88" y="278"/>
                    </a:lnTo>
                    <a:lnTo>
                      <a:pt x="98" y="272"/>
                    </a:lnTo>
                    <a:lnTo>
                      <a:pt x="100" y="272"/>
                    </a:lnTo>
                    <a:lnTo>
                      <a:pt x="102" y="274"/>
                    </a:lnTo>
                    <a:lnTo>
                      <a:pt x="104" y="278"/>
                    </a:lnTo>
                    <a:lnTo>
                      <a:pt x="110" y="276"/>
                    </a:lnTo>
                    <a:lnTo>
                      <a:pt x="112" y="280"/>
                    </a:lnTo>
                    <a:lnTo>
                      <a:pt x="114" y="284"/>
                    </a:lnTo>
                    <a:lnTo>
                      <a:pt x="116" y="286"/>
                    </a:lnTo>
                    <a:lnTo>
                      <a:pt x="118" y="288"/>
                    </a:lnTo>
                    <a:lnTo>
                      <a:pt x="120" y="286"/>
                    </a:lnTo>
                    <a:lnTo>
                      <a:pt x="118" y="284"/>
                    </a:lnTo>
                    <a:lnTo>
                      <a:pt x="120" y="282"/>
                    </a:lnTo>
                    <a:lnTo>
                      <a:pt x="124" y="282"/>
                    </a:lnTo>
                    <a:lnTo>
                      <a:pt x="126" y="278"/>
                    </a:lnTo>
                    <a:lnTo>
                      <a:pt x="128" y="284"/>
                    </a:lnTo>
                    <a:lnTo>
                      <a:pt x="134" y="282"/>
                    </a:lnTo>
                    <a:lnTo>
                      <a:pt x="138" y="280"/>
                    </a:lnTo>
                    <a:lnTo>
                      <a:pt x="140" y="276"/>
                    </a:lnTo>
                    <a:lnTo>
                      <a:pt x="144" y="276"/>
                    </a:lnTo>
                    <a:lnTo>
                      <a:pt x="142" y="282"/>
                    </a:lnTo>
                    <a:lnTo>
                      <a:pt x="140" y="286"/>
                    </a:lnTo>
                    <a:lnTo>
                      <a:pt x="138" y="288"/>
                    </a:lnTo>
                    <a:lnTo>
                      <a:pt x="134" y="292"/>
                    </a:lnTo>
                    <a:lnTo>
                      <a:pt x="134" y="294"/>
                    </a:lnTo>
                    <a:lnTo>
                      <a:pt x="134" y="298"/>
                    </a:lnTo>
                    <a:lnTo>
                      <a:pt x="132" y="298"/>
                    </a:lnTo>
                    <a:lnTo>
                      <a:pt x="132" y="310"/>
                    </a:lnTo>
                    <a:lnTo>
                      <a:pt x="130" y="310"/>
                    </a:lnTo>
                    <a:lnTo>
                      <a:pt x="128" y="314"/>
                    </a:lnTo>
                    <a:lnTo>
                      <a:pt x="128" y="316"/>
                    </a:lnTo>
                    <a:lnTo>
                      <a:pt x="124" y="320"/>
                    </a:lnTo>
                    <a:lnTo>
                      <a:pt x="122" y="322"/>
                    </a:lnTo>
                    <a:lnTo>
                      <a:pt x="122" y="324"/>
                    </a:lnTo>
                    <a:lnTo>
                      <a:pt x="118" y="324"/>
                    </a:lnTo>
                    <a:lnTo>
                      <a:pt x="116" y="326"/>
                    </a:lnTo>
                    <a:lnTo>
                      <a:pt x="112" y="330"/>
                    </a:lnTo>
                    <a:lnTo>
                      <a:pt x="110" y="330"/>
                    </a:lnTo>
                    <a:lnTo>
                      <a:pt x="104" y="332"/>
                    </a:lnTo>
                    <a:lnTo>
                      <a:pt x="100" y="334"/>
                    </a:lnTo>
                    <a:lnTo>
                      <a:pt x="98" y="338"/>
                    </a:lnTo>
                    <a:lnTo>
                      <a:pt x="98" y="344"/>
                    </a:lnTo>
                    <a:lnTo>
                      <a:pt x="90" y="346"/>
                    </a:lnTo>
                    <a:lnTo>
                      <a:pt x="92" y="342"/>
                    </a:lnTo>
                    <a:lnTo>
                      <a:pt x="82" y="344"/>
                    </a:lnTo>
                    <a:lnTo>
                      <a:pt x="74" y="346"/>
                    </a:lnTo>
                    <a:lnTo>
                      <a:pt x="74" y="348"/>
                    </a:lnTo>
                    <a:lnTo>
                      <a:pt x="74" y="352"/>
                    </a:lnTo>
                    <a:lnTo>
                      <a:pt x="72" y="354"/>
                    </a:lnTo>
                    <a:lnTo>
                      <a:pt x="70" y="358"/>
                    </a:lnTo>
                    <a:lnTo>
                      <a:pt x="66" y="362"/>
                    </a:lnTo>
                    <a:lnTo>
                      <a:pt x="62" y="364"/>
                    </a:lnTo>
                    <a:lnTo>
                      <a:pt x="62" y="366"/>
                    </a:lnTo>
                    <a:lnTo>
                      <a:pt x="64" y="364"/>
                    </a:lnTo>
                    <a:lnTo>
                      <a:pt x="64" y="366"/>
                    </a:lnTo>
                    <a:lnTo>
                      <a:pt x="68" y="366"/>
                    </a:lnTo>
                    <a:lnTo>
                      <a:pt x="68" y="362"/>
                    </a:lnTo>
                    <a:lnTo>
                      <a:pt x="70" y="362"/>
                    </a:lnTo>
                    <a:lnTo>
                      <a:pt x="72" y="364"/>
                    </a:lnTo>
                    <a:lnTo>
                      <a:pt x="72" y="366"/>
                    </a:lnTo>
                    <a:lnTo>
                      <a:pt x="80" y="350"/>
                    </a:lnTo>
                    <a:lnTo>
                      <a:pt x="86" y="350"/>
                    </a:lnTo>
                    <a:lnTo>
                      <a:pt x="84" y="352"/>
                    </a:lnTo>
                    <a:lnTo>
                      <a:pt x="82" y="354"/>
                    </a:lnTo>
                    <a:lnTo>
                      <a:pt x="90" y="354"/>
                    </a:lnTo>
                    <a:lnTo>
                      <a:pt x="90" y="352"/>
                    </a:lnTo>
                    <a:lnTo>
                      <a:pt x="98" y="350"/>
                    </a:lnTo>
                    <a:lnTo>
                      <a:pt x="102" y="346"/>
                    </a:lnTo>
                    <a:lnTo>
                      <a:pt x="106" y="346"/>
                    </a:lnTo>
                    <a:lnTo>
                      <a:pt x="106" y="350"/>
                    </a:lnTo>
                    <a:lnTo>
                      <a:pt x="108" y="348"/>
                    </a:lnTo>
                    <a:lnTo>
                      <a:pt x="108" y="344"/>
                    </a:lnTo>
                    <a:lnTo>
                      <a:pt x="110" y="346"/>
                    </a:lnTo>
                    <a:lnTo>
                      <a:pt x="112" y="346"/>
                    </a:lnTo>
                    <a:lnTo>
                      <a:pt x="114" y="342"/>
                    </a:lnTo>
                    <a:lnTo>
                      <a:pt x="114" y="338"/>
                    </a:lnTo>
                    <a:lnTo>
                      <a:pt x="118" y="342"/>
                    </a:lnTo>
                    <a:lnTo>
                      <a:pt x="120" y="336"/>
                    </a:lnTo>
                    <a:lnTo>
                      <a:pt x="118" y="336"/>
                    </a:lnTo>
                    <a:lnTo>
                      <a:pt x="118" y="334"/>
                    </a:lnTo>
                    <a:lnTo>
                      <a:pt x="120" y="334"/>
                    </a:lnTo>
                    <a:lnTo>
                      <a:pt x="128" y="330"/>
                    </a:lnTo>
                    <a:lnTo>
                      <a:pt x="126" y="330"/>
                    </a:lnTo>
                    <a:lnTo>
                      <a:pt x="126" y="328"/>
                    </a:lnTo>
                    <a:lnTo>
                      <a:pt x="130" y="328"/>
                    </a:lnTo>
                    <a:lnTo>
                      <a:pt x="132" y="328"/>
                    </a:lnTo>
                    <a:lnTo>
                      <a:pt x="134" y="324"/>
                    </a:lnTo>
                    <a:lnTo>
                      <a:pt x="136" y="324"/>
                    </a:lnTo>
                    <a:lnTo>
                      <a:pt x="142" y="320"/>
                    </a:lnTo>
                    <a:lnTo>
                      <a:pt x="142" y="314"/>
                    </a:lnTo>
                    <a:lnTo>
                      <a:pt x="148" y="312"/>
                    </a:lnTo>
                    <a:lnTo>
                      <a:pt x="148" y="310"/>
                    </a:lnTo>
                    <a:lnTo>
                      <a:pt x="150" y="310"/>
                    </a:lnTo>
                    <a:lnTo>
                      <a:pt x="154" y="306"/>
                    </a:lnTo>
                    <a:lnTo>
                      <a:pt x="158" y="302"/>
                    </a:lnTo>
                    <a:lnTo>
                      <a:pt x="162" y="300"/>
                    </a:lnTo>
                    <a:lnTo>
                      <a:pt x="162" y="298"/>
                    </a:lnTo>
                    <a:lnTo>
                      <a:pt x="166" y="294"/>
                    </a:lnTo>
                    <a:lnTo>
                      <a:pt x="174" y="292"/>
                    </a:lnTo>
                    <a:lnTo>
                      <a:pt x="176" y="290"/>
                    </a:lnTo>
                    <a:lnTo>
                      <a:pt x="176" y="286"/>
                    </a:lnTo>
                    <a:lnTo>
                      <a:pt x="178" y="284"/>
                    </a:lnTo>
                    <a:lnTo>
                      <a:pt x="180" y="282"/>
                    </a:lnTo>
                    <a:lnTo>
                      <a:pt x="180" y="280"/>
                    </a:lnTo>
                    <a:lnTo>
                      <a:pt x="184" y="278"/>
                    </a:lnTo>
                    <a:lnTo>
                      <a:pt x="184" y="274"/>
                    </a:lnTo>
                    <a:lnTo>
                      <a:pt x="176" y="274"/>
                    </a:lnTo>
                    <a:lnTo>
                      <a:pt x="176" y="270"/>
                    </a:lnTo>
                    <a:lnTo>
                      <a:pt x="176" y="266"/>
                    </a:lnTo>
                    <a:lnTo>
                      <a:pt x="180" y="264"/>
                    </a:lnTo>
                    <a:lnTo>
                      <a:pt x="180" y="260"/>
                    </a:lnTo>
                    <a:lnTo>
                      <a:pt x="188" y="260"/>
                    </a:lnTo>
                    <a:lnTo>
                      <a:pt x="190" y="256"/>
                    </a:lnTo>
                    <a:lnTo>
                      <a:pt x="194" y="254"/>
                    </a:lnTo>
                    <a:lnTo>
                      <a:pt x="192" y="250"/>
                    </a:lnTo>
                    <a:lnTo>
                      <a:pt x="194" y="252"/>
                    </a:lnTo>
                    <a:lnTo>
                      <a:pt x="196" y="250"/>
                    </a:lnTo>
                    <a:lnTo>
                      <a:pt x="198" y="250"/>
                    </a:lnTo>
                    <a:lnTo>
                      <a:pt x="200" y="244"/>
                    </a:lnTo>
                    <a:lnTo>
                      <a:pt x="200" y="240"/>
                    </a:lnTo>
                    <a:lnTo>
                      <a:pt x="204" y="238"/>
                    </a:lnTo>
                    <a:lnTo>
                      <a:pt x="206" y="238"/>
                    </a:lnTo>
                    <a:lnTo>
                      <a:pt x="208" y="238"/>
                    </a:lnTo>
                    <a:lnTo>
                      <a:pt x="210" y="232"/>
                    </a:lnTo>
                    <a:lnTo>
                      <a:pt x="212" y="230"/>
                    </a:lnTo>
                    <a:lnTo>
                      <a:pt x="216" y="230"/>
                    </a:lnTo>
                    <a:lnTo>
                      <a:pt x="224" y="222"/>
                    </a:lnTo>
                    <a:lnTo>
                      <a:pt x="226" y="226"/>
                    </a:lnTo>
                    <a:lnTo>
                      <a:pt x="234" y="224"/>
                    </a:lnTo>
                    <a:lnTo>
                      <a:pt x="236" y="222"/>
                    </a:lnTo>
                    <a:lnTo>
                      <a:pt x="238" y="222"/>
                    </a:lnTo>
                    <a:lnTo>
                      <a:pt x="236" y="226"/>
                    </a:lnTo>
                    <a:lnTo>
                      <a:pt x="234" y="226"/>
                    </a:lnTo>
                    <a:lnTo>
                      <a:pt x="234" y="228"/>
                    </a:lnTo>
                    <a:lnTo>
                      <a:pt x="238" y="232"/>
                    </a:lnTo>
                    <a:lnTo>
                      <a:pt x="238" y="234"/>
                    </a:lnTo>
                    <a:lnTo>
                      <a:pt x="236" y="234"/>
                    </a:lnTo>
                    <a:lnTo>
                      <a:pt x="232" y="234"/>
                    </a:lnTo>
                    <a:lnTo>
                      <a:pt x="224" y="232"/>
                    </a:lnTo>
                    <a:lnTo>
                      <a:pt x="222" y="234"/>
                    </a:lnTo>
                    <a:lnTo>
                      <a:pt x="212" y="238"/>
                    </a:lnTo>
                    <a:lnTo>
                      <a:pt x="214" y="254"/>
                    </a:lnTo>
                    <a:lnTo>
                      <a:pt x="208" y="258"/>
                    </a:lnTo>
                    <a:lnTo>
                      <a:pt x="210" y="262"/>
                    </a:lnTo>
                    <a:lnTo>
                      <a:pt x="210" y="264"/>
                    </a:lnTo>
                    <a:lnTo>
                      <a:pt x="212" y="264"/>
                    </a:lnTo>
                    <a:lnTo>
                      <a:pt x="214" y="264"/>
                    </a:lnTo>
                    <a:lnTo>
                      <a:pt x="216" y="264"/>
                    </a:lnTo>
                    <a:lnTo>
                      <a:pt x="214" y="266"/>
                    </a:lnTo>
                    <a:lnTo>
                      <a:pt x="208" y="266"/>
                    </a:lnTo>
                    <a:lnTo>
                      <a:pt x="206" y="272"/>
                    </a:lnTo>
                    <a:lnTo>
                      <a:pt x="210" y="272"/>
                    </a:lnTo>
                    <a:lnTo>
                      <a:pt x="214" y="272"/>
                    </a:lnTo>
                    <a:lnTo>
                      <a:pt x="216" y="270"/>
                    </a:lnTo>
                    <a:lnTo>
                      <a:pt x="220" y="270"/>
                    </a:lnTo>
                    <a:lnTo>
                      <a:pt x="222" y="270"/>
                    </a:lnTo>
                    <a:lnTo>
                      <a:pt x="222" y="268"/>
                    </a:lnTo>
                    <a:lnTo>
                      <a:pt x="224" y="268"/>
                    </a:lnTo>
                    <a:lnTo>
                      <a:pt x="228" y="266"/>
                    </a:lnTo>
                    <a:lnTo>
                      <a:pt x="228" y="264"/>
                    </a:lnTo>
                    <a:lnTo>
                      <a:pt x="232" y="264"/>
                    </a:lnTo>
                    <a:lnTo>
                      <a:pt x="236" y="262"/>
                    </a:lnTo>
                    <a:lnTo>
                      <a:pt x="234" y="260"/>
                    </a:lnTo>
                    <a:lnTo>
                      <a:pt x="236" y="258"/>
                    </a:lnTo>
                    <a:lnTo>
                      <a:pt x="238" y="258"/>
                    </a:lnTo>
                    <a:lnTo>
                      <a:pt x="240" y="260"/>
                    </a:lnTo>
                    <a:lnTo>
                      <a:pt x="240" y="256"/>
                    </a:lnTo>
                    <a:lnTo>
                      <a:pt x="242" y="252"/>
                    </a:lnTo>
                    <a:lnTo>
                      <a:pt x="244" y="254"/>
                    </a:lnTo>
                    <a:lnTo>
                      <a:pt x="244" y="256"/>
                    </a:lnTo>
                    <a:lnTo>
                      <a:pt x="246" y="254"/>
                    </a:lnTo>
                    <a:lnTo>
                      <a:pt x="256" y="256"/>
                    </a:lnTo>
                    <a:lnTo>
                      <a:pt x="256" y="250"/>
                    </a:lnTo>
                    <a:lnTo>
                      <a:pt x="260" y="250"/>
                    </a:lnTo>
                    <a:lnTo>
                      <a:pt x="260" y="246"/>
                    </a:lnTo>
                    <a:lnTo>
                      <a:pt x="260" y="240"/>
                    </a:lnTo>
                    <a:lnTo>
                      <a:pt x="258" y="242"/>
                    </a:lnTo>
                    <a:lnTo>
                      <a:pt x="256" y="242"/>
                    </a:lnTo>
                    <a:lnTo>
                      <a:pt x="256" y="240"/>
                    </a:lnTo>
                    <a:lnTo>
                      <a:pt x="256" y="240"/>
                    </a:lnTo>
                    <a:lnTo>
                      <a:pt x="254" y="230"/>
                    </a:lnTo>
                    <a:lnTo>
                      <a:pt x="260" y="232"/>
                    </a:lnTo>
                    <a:lnTo>
                      <a:pt x="266" y="234"/>
                    </a:lnTo>
                    <a:lnTo>
                      <a:pt x="266" y="230"/>
                    </a:lnTo>
                    <a:lnTo>
                      <a:pt x="268" y="232"/>
                    </a:lnTo>
                    <a:lnTo>
                      <a:pt x="274" y="232"/>
                    </a:lnTo>
                    <a:lnTo>
                      <a:pt x="276" y="228"/>
                    </a:lnTo>
                    <a:lnTo>
                      <a:pt x="276" y="232"/>
                    </a:lnTo>
                    <a:lnTo>
                      <a:pt x="276" y="234"/>
                    </a:lnTo>
                    <a:lnTo>
                      <a:pt x="280" y="236"/>
                    </a:lnTo>
                    <a:lnTo>
                      <a:pt x="276" y="238"/>
                    </a:lnTo>
                    <a:lnTo>
                      <a:pt x="282" y="238"/>
                    </a:lnTo>
                    <a:lnTo>
                      <a:pt x="282" y="240"/>
                    </a:lnTo>
                    <a:lnTo>
                      <a:pt x="288" y="240"/>
                    </a:lnTo>
                    <a:lnTo>
                      <a:pt x="286" y="244"/>
                    </a:lnTo>
                    <a:lnTo>
                      <a:pt x="286" y="248"/>
                    </a:lnTo>
                    <a:lnTo>
                      <a:pt x="292" y="246"/>
                    </a:lnTo>
                    <a:lnTo>
                      <a:pt x="296" y="244"/>
                    </a:lnTo>
                    <a:lnTo>
                      <a:pt x="296" y="250"/>
                    </a:lnTo>
                    <a:lnTo>
                      <a:pt x="300" y="252"/>
                    </a:lnTo>
                    <a:lnTo>
                      <a:pt x="304" y="252"/>
                    </a:lnTo>
                    <a:lnTo>
                      <a:pt x="308" y="256"/>
                    </a:lnTo>
                    <a:lnTo>
                      <a:pt x="320" y="260"/>
                    </a:lnTo>
                    <a:lnTo>
                      <a:pt x="324" y="258"/>
                    </a:lnTo>
                    <a:lnTo>
                      <a:pt x="328" y="256"/>
                    </a:lnTo>
                    <a:lnTo>
                      <a:pt x="330" y="256"/>
                    </a:lnTo>
                    <a:lnTo>
                      <a:pt x="334" y="258"/>
                    </a:lnTo>
                    <a:lnTo>
                      <a:pt x="338" y="260"/>
                    </a:lnTo>
                    <a:lnTo>
                      <a:pt x="340" y="258"/>
                    </a:lnTo>
                    <a:lnTo>
                      <a:pt x="342" y="258"/>
                    </a:lnTo>
                    <a:lnTo>
                      <a:pt x="344" y="262"/>
                    </a:lnTo>
                    <a:lnTo>
                      <a:pt x="354" y="264"/>
                    </a:lnTo>
                    <a:lnTo>
                      <a:pt x="360" y="264"/>
                    </a:lnTo>
                    <a:lnTo>
                      <a:pt x="366" y="264"/>
                    </a:lnTo>
                    <a:lnTo>
                      <a:pt x="370" y="260"/>
                    </a:lnTo>
                    <a:lnTo>
                      <a:pt x="370" y="266"/>
                    </a:lnTo>
                    <a:lnTo>
                      <a:pt x="366" y="268"/>
                    </a:lnTo>
                    <a:lnTo>
                      <a:pt x="370" y="270"/>
                    </a:lnTo>
                    <a:lnTo>
                      <a:pt x="374" y="270"/>
                    </a:lnTo>
                    <a:lnTo>
                      <a:pt x="376" y="274"/>
                    </a:lnTo>
                    <a:lnTo>
                      <a:pt x="380" y="274"/>
                    </a:lnTo>
                    <a:lnTo>
                      <a:pt x="380" y="274"/>
                    </a:lnTo>
                    <a:lnTo>
                      <a:pt x="380" y="272"/>
                    </a:lnTo>
                    <a:lnTo>
                      <a:pt x="380" y="270"/>
                    </a:lnTo>
                    <a:lnTo>
                      <a:pt x="386" y="270"/>
                    </a:lnTo>
                    <a:lnTo>
                      <a:pt x="382" y="278"/>
                    </a:lnTo>
                    <a:lnTo>
                      <a:pt x="394" y="292"/>
                    </a:lnTo>
                    <a:lnTo>
                      <a:pt x="400" y="292"/>
                    </a:lnTo>
                    <a:lnTo>
                      <a:pt x="402" y="292"/>
                    </a:lnTo>
                    <a:lnTo>
                      <a:pt x="402" y="296"/>
                    </a:lnTo>
                    <a:lnTo>
                      <a:pt x="406" y="296"/>
                    </a:lnTo>
                    <a:lnTo>
                      <a:pt x="410" y="302"/>
                    </a:lnTo>
                    <a:lnTo>
                      <a:pt x="410" y="306"/>
                    </a:lnTo>
                    <a:lnTo>
                      <a:pt x="410" y="308"/>
                    </a:lnTo>
                    <a:lnTo>
                      <a:pt x="414" y="310"/>
                    </a:lnTo>
                    <a:lnTo>
                      <a:pt x="416" y="310"/>
                    </a:lnTo>
                    <a:lnTo>
                      <a:pt x="420" y="316"/>
                    </a:lnTo>
                    <a:lnTo>
                      <a:pt x="422" y="316"/>
                    </a:lnTo>
                    <a:lnTo>
                      <a:pt x="422" y="310"/>
                    </a:lnTo>
                    <a:lnTo>
                      <a:pt x="428" y="316"/>
                    </a:lnTo>
                    <a:lnTo>
                      <a:pt x="432" y="316"/>
                    </a:lnTo>
                    <a:lnTo>
                      <a:pt x="432" y="308"/>
                    </a:lnTo>
                    <a:lnTo>
                      <a:pt x="428" y="308"/>
                    </a:lnTo>
                    <a:lnTo>
                      <a:pt x="430" y="306"/>
                    </a:lnTo>
                    <a:lnTo>
                      <a:pt x="430" y="304"/>
                    </a:lnTo>
                    <a:lnTo>
                      <a:pt x="426" y="302"/>
                    </a:lnTo>
                    <a:lnTo>
                      <a:pt x="410" y="300"/>
                    </a:lnTo>
                    <a:lnTo>
                      <a:pt x="410" y="296"/>
                    </a:lnTo>
                    <a:lnTo>
                      <a:pt x="412" y="298"/>
                    </a:lnTo>
                    <a:lnTo>
                      <a:pt x="418" y="296"/>
                    </a:lnTo>
                    <a:lnTo>
                      <a:pt x="424" y="292"/>
                    </a:lnTo>
                    <a:lnTo>
                      <a:pt x="426" y="296"/>
                    </a:lnTo>
                    <a:lnTo>
                      <a:pt x="428" y="296"/>
                    </a:lnTo>
                    <a:lnTo>
                      <a:pt x="426" y="290"/>
                    </a:lnTo>
                    <a:lnTo>
                      <a:pt x="428" y="282"/>
                    </a:lnTo>
                    <a:lnTo>
                      <a:pt x="430" y="284"/>
                    </a:lnTo>
                    <a:lnTo>
                      <a:pt x="430" y="290"/>
                    </a:lnTo>
                    <a:lnTo>
                      <a:pt x="432" y="294"/>
                    </a:lnTo>
                    <a:lnTo>
                      <a:pt x="436" y="296"/>
                    </a:lnTo>
                    <a:lnTo>
                      <a:pt x="440" y="294"/>
                    </a:lnTo>
                    <a:lnTo>
                      <a:pt x="442" y="300"/>
                    </a:lnTo>
                    <a:lnTo>
                      <a:pt x="442" y="300"/>
                    </a:lnTo>
                    <a:lnTo>
                      <a:pt x="444" y="300"/>
                    </a:lnTo>
                    <a:lnTo>
                      <a:pt x="444" y="302"/>
                    </a:lnTo>
                    <a:lnTo>
                      <a:pt x="444" y="306"/>
                    </a:lnTo>
                    <a:lnTo>
                      <a:pt x="448" y="310"/>
                    </a:lnTo>
                    <a:lnTo>
                      <a:pt x="448" y="314"/>
                    </a:lnTo>
                    <a:lnTo>
                      <a:pt x="450" y="322"/>
                    </a:lnTo>
                    <a:lnTo>
                      <a:pt x="456" y="324"/>
                    </a:lnTo>
                    <a:lnTo>
                      <a:pt x="456" y="324"/>
                    </a:lnTo>
                    <a:lnTo>
                      <a:pt x="456" y="328"/>
                    </a:lnTo>
                    <a:lnTo>
                      <a:pt x="458" y="330"/>
                    </a:lnTo>
                    <a:lnTo>
                      <a:pt x="460" y="330"/>
                    </a:lnTo>
                    <a:lnTo>
                      <a:pt x="466" y="336"/>
                    </a:lnTo>
                    <a:lnTo>
                      <a:pt x="464" y="336"/>
                    </a:lnTo>
                    <a:lnTo>
                      <a:pt x="464" y="338"/>
                    </a:lnTo>
                    <a:lnTo>
                      <a:pt x="466" y="340"/>
                    </a:lnTo>
                    <a:lnTo>
                      <a:pt x="466" y="338"/>
                    </a:lnTo>
                    <a:lnTo>
                      <a:pt x="468" y="336"/>
                    </a:lnTo>
                    <a:lnTo>
                      <a:pt x="470" y="338"/>
                    </a:lnTo>
                    <a:lnTo>
                      <a:pt x="468" y="352"/>
                    </a:lnTo>
                    <a:lnTo>
                      <a:pt x="470" y="352"/>
                    </a:lnTo>
                    <a:lnTo>
                      <a:pt x="472" y="352"/>
                    </a:lnTo>
                    <a:lnTo>
                      <a:pt x="472" y="346"/>
                    </a:lnTo>
                    <a:lnTo>
                      <a:pt x="478" y="344"/>
                    </a:lnTo>
                    <a:lnTo>
                      <a:pt x="478" y="348"/>
                    </a:lnTo>
                    <a:lnTo>
                      <a:pt x="476" y="348"/>
                    </a:lnTo>
                    <a:lnTo>
                      <a:pt x="474" y="354"/>
                    </a:lnTo>
                    <a:lnTo>
                      <a:pt x="476" y="360"/>
                    </a:lnTo>
                    <a:lnTo>
                      <a:pt x="482" y="360"/>
                    </a:lnTo>
                    <a:lnTo>
                      <a:pt x="482" y="352"/>
                    </a:lnTo>
                    <a:lnTo>
                      <a:pt x="484" y="354"/>
                    </a:lnTo>
                    <a:lnTo>
                      <a:pt x="486" y="360"/>
                    </a:lnTo>
                    <a:lnTo>
                      <a:pt x="486" y="362"/>
                    </a:lnTo>
                    <a:lnTo>
                      <a:pt x="486" y="364"/>
                    </a:lnTo>
                    <a:lnTo>
                      <a:pt x="482" y="364"/>
                    </a:lnTo>
                    <a:lnTo>
                      <a:pt x="480" y="364"/>
                    </a:lnTo>
                    <a:lnTo>
                      <a:pt x="482" y="366"/>
                    </a:lnTo>
                    <a:lnTo>
                      <a:pt x="482" y="368"/>
                    </a:lnTo>
                    <a:lnTo>
                      <a:pt x="484" y="368"/>
                    </a:lnTo>
                    <a:lnTo>
                      <a:pt x="486" y="368"/>
                    </a:lnTo>
                    <a:lnTo>
                      <a:pt x="482" y="370"/>
                    </a:lnTo>
                    <a:lnTo>
                      <a:pt x="484" y="372"/>
                    </a:lnTo>
                    <a:lnTo>
                      <a:pt x="486" y="372"/>
                    </a:lnTo>
                    <a:lnTo>
                      <a:pt x="490" y="374"/>
                    </a:lnTo>
                    <a:lnTo>
                      <a:pt x="492" y="370"/>
                    </a:lnTo>
                    <a:lnTo>
                      <a:pt x="494" y="366"/>
                    </a:lnTo>
                    <a:lnTo>
                      <a:pt x="496" y="366"/>
                    </a:lnTo>
                    <a:lnTo>
                      <a:pt x="496" y="364"/>
                    </a:lnTo>
                    <a:lnTo>
                      <a:pt x="498" y="360"/>
                    </a:lnTo>
                    <a:lnTo>
                      <a:pt x="500" y="358"/>
                    </a:lnTo>
                    <a:lnTo>
                      <a:pt x="498" y="354"/>
                    </a:lnTo>
                    <a:lnTo>
                      <a:pt x="498" y="352"/>
                    </a:lnTo>
                    <a:lnTo>
                      <a:pt x="500" y="350"/>
                    </a:lnTo>
                    <a:lnTo>
                      <a:pt x="502" y="348"/>
                    </a:lnTo>
                    <a:lnTo>
                      <a:pt x="500" y="348"/>
                    </a:lnTo>
                    <a:lnTo>
                      <a:pt x="500" y="34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90" name="Freeform 475">
                <a:extLst>
                  <a:ext uri="{FF2B5EF4-FFF2-40B4-BE49-F238E27FC236}">
                    <a16:creationId xmlns:a16="http://schemas.microsoft.com/office/drawing/2014/main" id="{AECBD5CF-250D-8126-480C-1F39E6B807E2}"/>
                  </a:ext>
                </a:extLst>
              </p:cNvPr>
              <p:cNvSpPr>
                <a:spLocks/>
              </p:cNvSpPr>
              <p:nvPr/>
            </p:nvSpPr>
            <p:spPr bwMode="auto">
              <a:xfrm>
                <a:off x="5151950" y="4502028"/>
                <a:ext cx="99179" cy="109518"/>
              </a:xfrm>
              <a:custGeom>
                <a:avLst/>
                <a:gdLst/>
                <a:ahLst/>
                <a:cxnLst>
                  <a:cxn ang="0">
                    <a:pos x="68" y="10"/>
                  </a:cxn>
                  <a:cxn ang="0">
                    <a:pos x="82" y="14"/>
                  </a:cxn>
                  <a:cxn ang="0">
                    <a:pos x="94" y="18"/>
                  </a:cxn>
                  <a:cxn ang="0">
                    <a:pos x="100" y="26"/>
                  </a:cxn>
                  <a:cxn ang="0">
                    <a:pos x="98" y="30"/>
                  </a:cxn>
                  <a:cxn ang="0">
                    <a:pos x="96" y="40"/>
                  </a:cxn>
                  <a:cxn ang="0">
                    <a:pos x="102" y="52"/>
                  </a:cxn>
                  <a:cxn ang="0">
                    <a:pos x="96" y="60"/>
                  </a:cxn>
                  <a:cxn ang="0">
                    <a:pos x="96" y="62"/>
                  </a:cxn>
                  <a:cxn ang="0">
                    <a:pos x="98" y="66"/>
                  </a:cxn>
                  <a:cxn ang="0">
                    <a:pos x="96" y="76"/>
                  </a:cxn>
                  <a:cxn ang="0">
                    <a:pos x="96" y="82"/>
                  </a:cxn>
                  <a:cxn ang="0">
                    <a:pos x="96" y="90"/>
                  </a:cxn>
                  <a:cxn ang="0">
                    <a:pos x="100" y="92"/>
                  </a:cxn>
                  <a:cxn ang="0">
                    <a:pos x="94" y="104"/>
                  </a:cxn>
                  <a:cxn ang="0">
                    <a:pos x="82" y="112"/>
                  </a:cxn>
                  <a:cxn ang="0">
                    <a:pos x="72" y="110"/>
                  </a:cxn>
                  <a:cxn ang="0">
                    <a:pos x="68" y="110"/>
                  </a:cxn>
                  <a:cxn ang="0">
                    <a:pos x="60" y="112"/>
                  </a:cxn>
                  <a:cxn ang="0">
                    <a:pos x="56" y="110"/>
                  </a:cxn>
                  <a:cxn ang="0">
                    <a:pos x="52" y="108"/>
                  </a:cxn>
                  <a:cxn ang="0">
                    <a:pos x="48" y="106"/>
                  </a:cxn>
                  <a:cxn ang="0">
                    <a:pos x="42" y="104"/>
                  </a:cxn>
                  <a:cxn ang="0">
                    <a:pos x="40" y="96"/>
                  </a:cxn>
                  <a:cxn ang="0">
                    <a:pos x="42" y="90"/>
                  </a:cxn>
                  <a:cxn ang="0">
                    <a:pos x="38" y="88"/>
                  </a:cxn>
                  <a:cxn ang="0">
                    <a:pos x="34" y="82"/>
                  </a:cxn>
                  <a:cxn ang="0">
                    <a:pos x="28" y="74"/>
                  </a:cxn>
                  <a:cxn ang="0">
                    <a:pos x="24" y="70"/>
                  </a:cxn>
                  <a:cxn ang="0">
                    <a:pos x="24" y="70"/>
                  </a:cxn>
                  <a:cxn ang="0">
                    <a:pos x="20" y="70"/>
                  </a:cxn>
                  <a:cxn ang="0">
                    <a:pos x="18" y="68"/>
                  </a:cxn>
                  <a:cxn ang="0">
                    <a:pos x="10" y="62"/>
                  </a:cxn>
                  <a:cxn ang="0">
                    <a:pos x="8" y="54"/>
                  </a:cxn>
                  <a:cxn ang="0">
                    <a:pos x="4" y="50"/>
                  </a:cxn>
                  <a:cxn ang="0">
                    <a:pos x="2" y="46"/>
                  </a:cxn>
                  <a:cxn ang="0">
                    <a:pos x="2" y="42"/>
                  </a:cxn>
                  <a:cxn ang="0">
                    <a:pos x="10" y="42"/>
                  </a:cxn>
                  <a:cxn ang="0">
                    <a:pos x="14" y="42"/>
                  </a:cxn>
                  <a:cxn ang="0">
                    <a:pos x="18" y="40"/>
                  </a:cxn>
                  <a:cxn ang="0">
                    <a:pos x="32" y="38"/>
                  </a:cxn>
                  <a:cxn ang="0">
                    <a:pos x="40" y="36"/>
                  </a:cxn>
                  <a:cxn ang="0">
                    <a:pos x="42" y="24"/>
                  </a:cxn>
                  <a:cxn ang="0">
                    <a:pos x="44" y="20"/>
                  </a:cxn>
                  <a:cxn ang="0">
                    <a:pos x="50" y="16"/>
                  </a:cxn>
                  <a:cxn ang="0">
                    <a:pos x="52" y="12"/>
                  </a:cxn>
                  <a:cxn ang="0">
                    <a:pos x="56" y="8"/>
                  </a:cxn>
                  <a:cxn ang="0">
                    <a:pos x="70" y="0"/>
                  </a:cxn>
                </a:cxnLst>
                <a:rect l="0" t="0" r="r" b="b"/>
                <a:pathLst>
                  <a:path w="102" h="114">
                    <a:moveTo>
                      <a:pt x="70" y="0"/>
                    </a:moveTo>
                    <a:lnTo>
                      <a:pt x="68" y="10"/>
                    </a:lnTo>
                    <a:lnTo>
                      <a:pt x="74" y="10"/>
                    </a:lnTo>
                    <a:lnTo>
                      <a:pt x="82" y="14"/>
                    </a:lnTo>
                    <a:lnTo>
                      <a:pt x="90" y="16"/>
                    </a:lnTo>
                    <a:lnTo>
                      <a:pt x="94" y="18"/>
                    </a:lnTo>
                    <a:lnTo>
                      <a:pt x="98" y="22"/>
                    </a:lnTo>
                    <a:lnTo>
                      <a:pt x="100" y="26"/>
                    </a:lnTo>
                    <a:lnTo>
                      <a:pt x="100" y="28"/>
                    </a:lnTo>
                    <a:lnTo>
                      <a:pt x="98" y="30"/>
                    </a:lnTo>
                    <a:lnTo>
                      <a:pt x="96" y="34"/>
                    </a:lnTo>
                    <a:lnTo>
                      <a:pt x="96" y="40"/>
                    </a:lnTo>
                    <a:lnTo>
                      <a:pt x="98" y="46"/>
                    </a:lnTo>
                    <a:lnTo>
                      <a:pt x="102" y="52"/>
                    </a:lnTo>
                    <a:lnTo>
                      <a:pt x="98" y="58"/>
                    </a:lnTo>
                    <a:lnTo>
                      <a:pt x="96" y="60"/>
                    </a:lnTo>
                    <a:lnTo>
                      <a:pt x="96" y="62"/>
                    </a:lnTo>
                    <a:lnTo>
                      <a:pt x="96" y="62"/>
                    </a:lnTo>
                    <a:lnTo>
                      <a:pt x="98" y="64"/>
                    </a:lnTo>
                    <a:lnTo>
                      <a:pt x="98" y="66"/>
                    </a:lnTo>
                    <a:lnTo>
                      <a:pt x="96" y="70"/>
                    </a:lnTo>
                    <a:lnTo>
                      <a:pt x="96" y="76"/>
                    </a:lnTo>
                    <a:lnTo>
                      <a:pt x="96" y="78"/>
                    </a:lnTo>
                    <a:lnTo>
                      <a:pt x="96" y="82"/>
                    </a:lnTo>
                    <a:lnTo>
                      <a:pt x="98" y="86"/>
                    </a:lnTo>
                    <a:lnTo>
                      <a:pt x="96" y="90"/>
                    </a:lnTo>
                    <a:lnTo>
                      <a:pt x="98" y="92"/>
                    </a:lnTo>
                    <a:lnTo>
                      <a:pt x="100" y="92"/>
                    </a:lnTo>
                    <a:lnTo>
                      <a:pt x="100" y="94"/>
                    </a:lnTo>
                    <a:lnTo>
                      <a:pt x="94" y="104"/>
                    </a:lnTo>
                    <a:lnTo>
                      <a:pt x="84" y="114"/>
                    </a:lnTo>
                    <a:lnTo>
                      <a:pt x="82" y="112"/>
                    </a:lnTo>
                    <a:lnTo>
                      <a:pt x="76" y="112"/>
                    </a:lnTo>
                    <a:lnTo>
                      <a:pt x="72" y="110"/>
                    </a:lnTo>
                    <a:lnTo>
                      <a:pt x="70" y="110"/>
                    </a:lnTo>
                    <a:lnTo>
                      <a:pt x="68" y="110"/>
                    </a:lnTo>
                    <a:lnTo>
                      <a:pt x="62" y="110"/>
                    </a:lnTo>
                    <a:lnTo>
                      <a:pt x="60" y="112"/>
                    </a:lnTo>
                    <a:lnTo>
                      <a:pt x="58" y="110"/>
                    </a:lnTo>
                    <a:lnTo>
                      <a:pt x="56" y="110"/>
                    </a:lnTo>
                    <a:lnTo>
                      <a:pt x="54" y="110"/>
                    </a:lnTo>
                    <a:lnTo>
                      <a:pt x="52" y="108"/>
                    </a:lnTo>
                    <a:lnTo>
                      <a:pt x="50" y="106"/>
                    </a:lnTo>
                    <a:lnTo>
                      <a:pt x="48" y="106"/>
                    </a:lnTo>
                    <a:lnTo>
                      <a:pt x="46" y="106"/>
                    </a:lnTo>
                    <a:lnTo>
                      <a:pt x="42" y="104"/>
                    </a:lnTo>
                    <a:lnTo>
                      <a:pt x="42" y="102"/>
                    </a:lnTo>
                    <a:lnTo>
                      <a:pt x="40" y="96"/>
                    </a:lnTo>
                    <a:lnTo>
                      <a:pt x="42" y="92"/>
                    </a:lnTo>
                    <a:lnTo>
                      <a:pt x="42" y="90"/>
                    </a:lnTo>
                    <a:lnTo>
                      <a:pt x="40" y="90"/>
                    </a:lnTo>
                    <a:lnTo>
                      <a:pt x="38" y="88"/>
                    </a:lnTo>
                    <a:lnTo>
                      <a:pt x="36" y="84"/>
                    </a:lnTo>
                    <a:lnTo>
                      <a:pt x="34" y="82"/>
                    </a:lnTo>
                    <a:lnTo>
                      <a:pt x="32" y="76"/>
                    </a:lnTo>
                    <a:lnTo>
                      <a:pt x="28" y="74"/>
                    </a:lnTo>
                    <a:lnTo>
                      <a:pt x="26" y="72"/>
                    </a:lnTo>
                    <a:lnTo>
                      <a:pt x="24" y="70"/>
                    </a:lnTo>
                    <a:lnTo>
                      <a:pt x="24" y="68"/>
                    </a:lnTo>
                    <a:lnTo>
                      <a:pt x="24" y="70"/>
                    </a:lnTo>
                    <a:lnTo>
                      <a:pt x="22" y="70"/>
                    </a:lnTo>
                    <a:lnTo>
                      <a:pt x="20" y="70"/>
                    </a:lnTo>
                    <a:lnTo>
                      <a:pt x="18" y="70"/>
                    </a:lnTo>
                    <a:lnTo>
                      <a:pt x="18" y="68"/>
                    </a:lnTo>
                    <a:lnTo>
                      <a:pt x="16" y="66"/>
                    </a:lnTo>
                    <a:lnTo>
                      <a:pt x="10" y="62"/>
                    </a:lnTo>
                    <a:lnTo>
                      <a:pt x="8" y="58"/>
                    </a:lnTo>
                    <a:lnTo>
                      <a:pt x="8" y="54"/>
                    </a:lnTo>
                    <a:lnTo>
                      <a:pt x="6" y="52"/>
                    </a:lnTo>
                    <a:lnTo>
                      <a:pt x="4" y="50"/>
                    </a:lnTo>
                    <a:lnTo>
                      <a:pt x="2" y="48"/>
                    </a:lnTo>
                    <a:lnTo>
                      <a:pt x="2" y="46"/>
                    </a:lnTo>
                    <a:lnTo>
                      <a:pt x="0" y="42"/>
                    </a:lnTo>
                    <a:lnTo>
                      <a:pt x="2" y="42"/>
                    </a:lnTo>
                    <a:lnTo>
                      <a:pt x="8" y="42"/>
                    </a:lnTo>
                    <a:lnTo>
                      <a:pt x="10" y="42"/>
                    </a:lnTo>
                    <a:lnTo>
                      <a:pt x="12" y="42"/>
                    </a:lnTo>
                    <a:lnTo>
                      <a:pt x="14" y="42"/>
                    </a:lnTo>
                    <a:lnTo>
                      <a:pt x="16" y="40"/>
                    </a:lnTo>
                    <a:lnTo>
                      <a:pt x="18" y="40"/>
                    </a:lnTo>
                    <a:lnTo>
                      <a:pt x="22" y="42"/>
                    </a:lnTo>
                    <a:lnTo>
                      <a:pt x="32" y="38"/>
                    </a:lnTo>
                    <a:lnTo>
                      <a:pt x="36" y="36"/>
                    </a:lnTo>
                    <a:lnTo>
                      <a:pt x="40" y="36"/>
                    </a:lnTo>
                    <a:lnTo>
                      <a:pt x="42" y="28"/>
                    </a:lnTo>
                    <a:lnTo>
                      <a:pt x="42" y="24"/>
                    </a:lnTo>
                    <a:lnTo>
                      <a:pt x="44" y="22"/>
                    </a:lnTo>
                    <a:lnTo>
                      <a:pt x="44" y="20"/>
                    </a:lnTo>
                    <a:lnTo>
                      <a:pt x="46" y="18"/>
                    </a:lnTo>
                    <a:lnTo>
                      <a:pt x="50" y="16"/>
                    </a:lnTo>
                    <a:lnTo>
                      <a:pt x="50" y="14"/>
                    </a:lnTo>
                    <a:lnTo>
                      <a:pt x="52" y="12"/>
                    </a:lnTo>
                    <a:lnTo>
                      <a:pt x="52" y="10"/>
                    </a:lnTo>
                    <a:lnTo>
                      <a:pt x="56" y="8"/>
                    </a:lnTo>
                    <a:lnTo>
                      <a:pt x="58" y="6"/>
                    </a:lnTo>
                    <a:lnTo>
                      <a:pt x="70" y="0"/>
                    </a:lnTo>
                    <a:lnTo>
                      <a:pt x="7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91" name="Freeform 476">
                <a:extLst>
                  <a:ext uri="{FF2B5EF4-FFF2-40B4-BE49-F238E27FC236}">
                    <a16:creationId xmlns:a16="http://schemas.microsoft.com/office/drawing/2014/main" id="{64269C6D-5689-EC38-2CF1-CCFAB258CAC7}"/>
                  </a:ext>
                </a:extLst>
              </p:cNvPr>
              <p:cNvSpPr>
                <a:spLocks/>
              </p:cNvSpPr>
              <p:nvPr/>
            </p:nvSpPr>
            <p:spPr bwMode="auto">
              <a:xfrm>
                <a:off x="5113056" y="4392509"/>
                <a:ext cx="145852" cy="149867"/>
              </a:xfrm>
              <a:custGeom>
                <a:avLst/>
                <a:gdLst/>
                <a:ahLst/>
                <a:cxnLst>
                  <a:cxn ang="0">
                    <a:pos x="36" y="150"/>
                  </a:cxn>
                  <a:cxn ang="0">
                    <a:pos x="42" y="156"/>
                  </a:cxn>
                  <a:cxn ang="0">
                    <a:pos x="50" y="156"/>
                  </a:cxn>
                  <a:cxn ang="0">
                    <a:pos x="56" y="154"/>
                  </a:cxn>
                  <a:cxn ang="0">
                    <a:pos x="72" y="152"/>
                  </a:cxn>
                  <a:cxn ang="0">
                    <a:pos x="82" y="142"/>
                  </a:cxn>
                  <a:cxn ang="0">
                    <a:pos x="84" y="134"/>
                  </a:cxn>
                  <a:cxn ang="0">
                    <a:pos x="90" y="128"/>
                  </a:cxn>
                  <a:cxn ang="0">
                    <a:pos x="98" y="120"/>
                  </a:cxn>
                  <a:cxn ang="0">
                    <a:pos x="112" y="112"/>
                  </a:cxn>
                  <a:cxn ang="0">
                    <a:pos x="108" y="106"/>
                  </a:cxn>
                  <a:cxn ang="0">
                    <a:pos x="136" y="84"/>
                  </a:cxn>
                  <a:cxn ang="0">
                    <a:pos x="136" y="74"/>
                  </a:cxn>
                  <a:cxn ang="0">
                    <a:pos x="144" y="64"/>
                  </a:cxn>
                  <a:cxn ang="0">
                    <a:pos x="144" y="58"/>
                  </a:cxn>
                  <a:cxn ang="0">
                    <a:pos x="142" y="52"/>
                  </a:cxn>
                  <a:cxn ang="0">
                    <a:pos x="142" y="44"/>
                  </a:cxn>
                  <a:cxn ang="0">
                    <a:pos x="150" y="36"/>
                  </a:cxn>
                  <a:cxn ang="0">
                    <a:pos x="148" y="30"/>
                  </a:cxn>
                  <a:cxn ang="0">
                    <a:pos x="144" y="20"/>
                  </a:cxn>
                  <a:cxn ang="0">
                    <a:pos x="136" y="16"/>
                  </a:cxn>
                  <a:cxn ang="0">
                    <a:pos x="128" y="10"/>
                  </a:cxn>
                  <a:cxn ang="0">
                    <a:pos x="130" y="6"/>
                  </a:cxn>
                  <a:cxn ang="0">
                    <a:pos x="114" y="6"/>
                  </a:cxn>
                  <a:cxn ang="0">
                    <a:pos x="114" y="2"/>
                  </a:cxn>
                  <a:cxn ang="0">
                    <a:pos x="90" y="8"/>
                  </a:cxn>
                  <a:cxn ang="0">
                    <a:pos x="82" y="16"/>
                  </a:cxn>
                  <a:cxn ang="0">
                    <a:pos x="78" y="24"/>
                  </a:cxn>
                  <a:cxn ang="0">
                    <a:pos x="82" y="34"/>
                  </a:cxn>
                  <a:cxn ang="0">
                    <a:pos x="82" y="44"/>
                  </a:cxn>
                  <a:cxn ang="0">
                    <a:pos x="92" y="54"/>
                  </a:cxn>
                  <a:cxn ang="0">
                    <a:pos x="98" y="58"/>
                  </a:cxn>
                  <a:cxn ang="0">
                    <a:pos x="108" y="72"/>
                  </a:cxn>
                  <a:cxn ang="0">
                    <a:pos x="94" y="74"/>
                  </a:cxn>
                  <a:cxn ang="0">
                    <a:pos x="92" y="68"/>
                  </a:cxn>
                  <a:cxn ang="0">
                    <a:pos x="84" y="60"/>
                  </a:cxn>
                  <a:cxn ang="0">
                    <a:pos x="78" y="56"/>
                  </a:cxn>
                  <a:cxn ang="0">
                    <a:pos x="72" y="50"/>
                  </a:cxn>
                  <a:cxn ang="0">
                    <a:pos x="66" y="54"/>
                  </a:cxn>
                  <a:cxn ang="0">
                    <a:pos x="50" y="52"/>
                  </a:cxn>
                  <a:cxn ang="0">
                    <a:pos x="48" y="44"/>
                  </a:cxn>
                  <a:cxn ang="0">
                    <a:pos x="42" y="46"/>
                  </a:cxn>
                  <a:cxn ang="0">
                    <a:pos x="38" y="36"/>
                  </a:cxn>
                  <a:cxn ang="0">
                    <a:pos x="32" y="48"/>
                  </a:cxn>
                  <a:cxn ang="0">
                    <a:pos x="30" y="62"/>
                  </a:cxn>
                  <a:cxn ang="0">
                    <a:pos x="0" y="124"/>
                  </a:cxn>
                  <a:cxn ang="0">
                    <a:pos x="6" y="136"/>
                  </a:cxn>
                  <a:cxn ang="0">
                    <a:pos x="14" y="148"/>
                  </a:cxn>
                  <a:cxn ang="0">
                    <a:pos x="18" y="152"/>
                  </a:cxn>
                </a:cxnLst>
                <a:rect l="0" t="0" r="r" b="b"/>
                <a:pathLst>
                  <a:path w="150" h="156">
                    <a:moveTo>
                      <a:pt x="18" y="152"/>
                    </a:moveTo>
                    <a:lnTo>
                      <a:pt x="32" y="150"/>
                    </a:lnTo>
                    <a:lnTo>
                      <a:pt x="36" y="150"/>
                    </a:lnTo>
                    <a:lnTo>
                      <a:pt x="38" y="152"/>
                    </a:lnTo>
                    <a:lnTo>
                      <a:pt x="40" y="154"/>
                    </a:lnTo>
                    <a:lnTo>
                      <a:pt x="42" y="156"/>
                    </a:lnTo>
                    <a:lnTo>
                      <a:pt x="44" y="156"/>
                    </a:lnTo>
                    <a:lnTo>
                      <a:pt x="50" y="156"/>
                    </a:lnTo>
                    <a:lnTo>
                      <a:pt x="50" y="156"/>
                    </a:lnTo>
                    <a:lnTo>
                      <a:pt x="52" y="156"/>
                    </a:lnTo>
                    <a:lnTo>
                      <a:pt x="54" y="156"/>
                    </a:lnTo>
                    <a:lnTo>
                      <a:pt x="56" y="154"/>
                    </a:lnTo>
                    <a:lnTo>
                      <a:pt x="58" y="154"/>
                    </a:lnTo>
                    <a:lnTo>
                      <a:pt x="62" y="156"/>
                    </a:lnTo>
                    <a:lnTo>
                      <a:pt x="72" y="152"/>
                    </a:lnTo>
                    <a:lnTo>
                      <a:pt x="76" y="150"/>
                    </a:lnTo>
                    <a:lnTo>
                      <a:pt x="80" y="150"/>
                    </a:lnTo>
                    <a:lnTo>
                      <a:pt x="82" y="142"/>
                    </a:lnTo>
                    <a:lnTo>
                      <a:pt x="82" y="138"/>
                    </a:lnTo>
                    <a:lnTo>
                      <a:pt x="84" y="136"/>
                    </a:lnTo>
                    <a:lnTo>
                      <a:pt x="84" y="134"/>
                    </a:lnTo>
                    <a:lnTo>
                      <a:pt x="86" y="132"/>
                    </a:lnTo>
                    <a:lnTo>
                      <a:pt x="90" y="130"/>
                    </a:lnTo>
                    <a:lnTo>
                      <a:pt x="90" y="128"/>
                    </a:lnTo>
                    <a:lnTo>
                      <a:pt x="92" y="124"/>
                    </a:lnTo>
                    <a:lnTo>
                      <a:pt x="94" y="122"/>
                    </a:lnTo>
                    <a:lnTo>
                      <a:pt x="98" y="120"/>
                    </a:lnTo>
                    <a:lnTo>
                      <a:pt x="100" y="118"/>
                    </a:lnTo>
                    <a:lnTo>
                      <a:pt x="110" y="114"/>
                    </a:lnTo>
                    <a:lnTo>
                      <a:pt x="112" y="112"/>
                    </a:lnTo>
                    <a:lnTo>
                      <a:pt x="112" y="112"/>
                    </a:lnTo>
                    <a:lnTo>
                      <a:pt x="110" y="110"/>
                    </a:lnTo>
                    <a:lnTo>
                      <a:pt x="108" y="106"/>
                    </a:lnTo>
                    <a:lnTo>
                      <a:pt x="136" y="96"/>
                    </a:lnTo>
                    <a:lnTo>
                      <a:pt x="134" y="88"/>
                    </a:lnTo>
                    <a:lnTo>
                      <a:pt x="136" y="84"/>
                    </a:lnTo>
                    <a:lnTo>
                      <a:pt x="136" y="82"/>
                    </a:lnTo>
                    <a:lnTo>
                      <a:pt x="136" y="80"/>
                    </a:lnTo>
                    <a:lnTo>
                      <a:pt x="136" y="74"/>
                    </a:lnTo>
                    <a:lnTo>
                      <a:pt x="136" y="70"/>
                    </a:lnTo>
                    <a:lnTo>
                      <a:pt x="138" y="68"/>
                    </a:lnTo>
                    <a:lnTo>
                      <a:pt x="144" y="64"/>
                    </a:lnTo>
                    <a:lnTo>
                      <a:pt x="146" y="62"/>
                    </a:lnTo>
                    <a:lnTo>
                      <a:pt x="146" y="60"/>
                    </a:lnTo>
                    <a:lnTo>
                      <a:pt x="144" y="58"/>
                    </a:lnTo>
                    <a:lnTo>
                      <a:pt x="142" y="58"/>
                    </a:lnTo>
                    <a:lnTo>
                      <a:pt x="142" y="58"/>
                    </a:lnTo>
                    <a:lnTo>
                      <a:pt x="142" y="52"/>
                    </a:lnTo>
                    <a:lnTo>
                      <a:pt x="142" y="48"/>
                    </a:lnTo>
                    <a:lnTo>
                      <a:pt x="142" y="46"/>
                    </a:lnTo>
                    <a:lnTo>
                      <a:pt x="142" y="44"/>
                    </a:lnTo>
                    <a:lnTo>
                      <a:pt x="146" y="42"/>
                    </a:lnTo>
                    <a:lnTo>
                      <a:pt x="148" y="38"/>
                    </a:lnTo>
                    <a:lnTo>
                      <a:pt x="150" y="36"/>
                    </a:lnTo>
                    <a:lnTo>
                      <a:pt x="148" y="34"/>
                    </a:lnTo>
                    <a:lnTo>
                      <a:pt x="148" y="32"/>
                    </a:lnTo>
                    <a:lnTo>
                      <a:pt x="148" y="30"/>
                    </a:lnTo>
                    <a:lnTo>
                      <a:pt x="148" y="26"/>
                    </a:lnTo>
                    <a:lnTo>
                      <a:pt x="146" y="24"/>
                    </a:lnTo>
                    <a:lnTo>
                      <a:pt x="144" y="20"/>
                    </a:lnTo>
                    <a:lnTo>
                      <a:pt x="144" y="18"/>
                    </a:lnTo>
                    <a:lnTo>
                      <a:pt x="140" y="18"/>
                    </a:lnTo>
                    <a:lnTo>
                      <a:pt x="136" y="16"/>
                    </a:lnTo>
                    <a:lnTo>
                      <a:pt x="132" y="12"/>
                    </a:lnTo>
                    <a:lnTo>
                      <a:pt x="130" y="12"/>
                    </a:lnTo>
                    <a:lnTo>
                      <a:pt x="128" y="10"/>
                    </a:lnTo>
                    <a:lnTo>
                      <a:pt x="128" y="8"/>
                    </a:lnTo>
                    <a:lnTo>
                      <a:pt x="128" y="4"/>
                    </a:lnTo>
                    <a:lnTo>
                      <a:pt x="130" y="6"/>
                    </a:lnTo>
                    <a:lnTo>
                      <a:pt x="122" y="6"/>
                    </a:lnTo>
                    <a:lnTo>
                      <a:pt x="118" y="6"/>
                    </a:lnTo>
                    <a:lnTo>
                      <a:pt x="114" y="6"/>
                    </a:lnTo>
                    <a:lnTo>
                      <a:pt x="116" y="4"/>
                    </a:lnTo>
                    <a:lnTo>
                      <a:pt x="116" y="2"/>
                    </a:lnTo>
                    <a:lnTo>
                      <a:pt x="114" y="2"/>
                    </a:lnTo>
                    <a:lnTo>
                      <a:pt x="114" y="0"/>
                    </a:lnTo>
                    <a:lnTo>
                      <a:pt x="90" y="6"/>
                    </a:lnTo>
                    <a:lnTo>
                      <a:pt x="90" y="8"/>
                    </a:lnTo>
                    <a:lnTo>
                      <a:pt x="86" y="12"/>
                    </a:lnTo>
                    <a:lnTo>
                      <a:pt x="82" y="14"/>
                    </a:lnTo>
                    <a:lnTo>
                      <a:pt x="82" y="16"/>
                    </a:lnTo>
                    <a:lnTo>
                      <a:pt x="80" y="16"/>
                    </a:lnTo>
                    <a:lnTo>
                      <a:pt x="78" y="20"/>
                    </a:lnTo>
                    <a:lnTo>
                      <a:pt x="78" y="24"/>
                    </a:lnTo>
                    <a:lnTo>
                      <a:pt x="80" y="26"/>
                    </a:lnTo>
                    <a:lnTo>
                      <a:pt x="80" y="28"/>
                    </a:lnTo>
                    <a:lnTo>
                      <a:pt x="82" y="34"/>
                    </a:lnTo>
                    <a:lnTo>
                      <a:pt x="84" y="36"/>
                    </a:lnTo>
                    <a:lnTo>
                      <a:pt x="84" y="38"/>
                    </a:lnTo>
                    <a:lnTo>
                      <a:pt x="82" y="44"/>
                    </a:lnTo>
                    <a:lnTo>
                      <a:pt x="84" y="48"/>
                    </a:lnTo>
                    <a:lnTo>
                      <a:pt x="88" y="52"/>
                    </a:lnTo>
                    <a:lnTo>
                      <a:pt x="92" y="54"/>
                    </a:lnTo>
                    <a:lnTo>
                      <a:pt x="94" y="54"/>
                    </a:lnTo>
                    <a:lnTo>
                      <a:pt x="96" y="58"/>
                    </a:lnTo>
                    <a:lnTo>
                      <a:pt x="98" y="58"/>
                    </a:lnTo>
                    <a:lnTo>
                      <a:pt x="100" y="58"/>
                    </a:lnTo>
                    <a:lnTo>
                      <a:pt x="108" y="58"/>
                    </a:lnTo>
                    <a:lnTo>
                      <a:pt x="108" y="72"/>
                    </a:lnTo>
                    <a:lnTo>
                      <a:pt x="102" y="70"/>
                    </a:lnTo>
                    <a:lnTo>
                      <a:pt x="98" y="72"/>
                    </a:lnTo>
                    <a:lnTo>
                      <a:pt x="94" y="74"/>
                    </a:lnTo>
                    <a:lnTo>
                      <a:pt x="92" y="74"/>
                    </a:lnTo>
                    <a:lnTo>
                      <a:pt x="90" y="72"/>
                    </a:lnTo>
                    <a:lnTo>
                      <a:pt x="92" y="68"/>
                    </a:lnTo>
                    <a:lnTo>
                      <a:pt x="90" y="64"/>
                    </a:lnTo>
                    <a:lnTo>
                      <a:pt x="88" y="62"/>
                    </a:lnTo>
                    <a:lnTo>
                      <a:pt x="84" y="60"/>
                    </a:lnTo>
                    <a:lnTo>
                      <a:pt x="82" y="60"/>
                    </a:lnTo>
                    <a:lnTo>
                      <a:pt x="80" y="58"/>
                    </a:lnTo>
                    <a:lnTo>
                      <a:pt x="78" y="56"/>
                    </a:lnTo>
                    <a:lnTo>
                      <a:pt x="74" y="54"/>
                    </a:lnTo>
                    <a:lnTo>
                      <a:pt x="74" y="50"/>
                    </a:lnTo>
                    <a:lnTo>
                      <a:pt x="72" y="50"/>
                    </a:lnTo>
                    <a:lnTo>
                      <a:pt x="70" y="48"/>
                    </a:lnTo>
                    <a:lnTo>
                      <a:pt x="68" y="50"/>
                    </a:lnTo>
                    <a:lnTo>
                      <a:pt x="66" y="54"/>
                    </a:lnTo>
                    <a:lnTo>
                      <a:pt x="60" y="54"/>
                    </a:lnTo>
                    <a:lnTo>
                      <a:pt x="50" y="54"/>
                    </a:lnTo>
                    <a:lnTo>
                      <a:pt x="50" y="52"/>
                    </a:lnTo>
                    <a:lnTo>
                      <a:pt x="48" y="52"/>
                    </a:lnTo>
                    <a:lnTo>
                      <a:pt x="50" y="46"/>
                    </a:lnTo>
                    <a:lnTo>
                      <a:pt x="48" y="44"/>
                    </a:lnTo>
                    <a:lnTo>
                      <a:pt x="46" y="44"/>
                    </a:lnTo>
                    <a:lnTo>
                      <a:pt x="44" y="44"/>
                    </a:lnTo>
                    <a:lnTo>
                      <a:pt x="42" y="46"/>
                    </a:lnTo>
                    <a:lnTo>
                      <a:pt x="40" y="46"/>
                    </a:lnTo>
                    <a:lnTo>
                      <a:pt x="38" y="44"/>
                    </a:lnTo>
                    <a:lnTo>
                      <a:pt x="38" y="36"/>
                    </a:lnTo>
                    <a:lnTo>
                      <a:pt x="30" y="38"/>
                    </a:lnTo>
                    <a:lnTo>
                      <a:pt x="32" y="42"/>
                    </a:lnTo>
                    <a:lnTo>
                      <a:pt x="32" y="48"/>
                    </a:lnTo>
                    <a:lnTo>
                      <a:pt x="30" y="52"/>
                    </a:lnTo>
                    <a:lnTo>
                      <a:pt x="30" y="56"/>
                    </a:lnTo>
                    <a:lnTo>
                      <a:pt x="30" y="62"/>
                    </a:lnTo>
                    <a:lnTo>
                      <a:pt x="30" y="66"/>
                    </a:lnTo>
                    <a:lnTo>
                      <a:pt x="0" y="66"/>
                    </a:lnTo>
                    <a:lnTo>
                      <a:pt x="0" y="124"/>
                    </a:lnTo>
                    <a:lnTo>
                      <a:pt x="2" y="126"/>
                    </a:lnTo>
                    <a:lnTo>
                      <a:pt x="4" y="132"/>
                    </a:lnTo>
                    <a:lnTo>
                      <a:pt x="6" y="136"/>
                    </a:lnTo>
                    <a:lnTo>
                      <a:pt x="10" y="142"/>
                    </a:lnTo>
                    <a:lnTo>
                      <a:pt x="14" y="146"/>
                    </a:lnTo>
                    <a:lnTo>
                      <a:pt x="14" y="148"/>
                    </a:lnTo>
                    <a:lnTo>
                      <a:pt x="16" y="152"/>
                    </a:lnTo>
                    <a:lnTo>
                      <a:pt x="18" y="152"/>
                    </a:lnTo>
                    <a:lnTo>
                      <a:pt x="18" y="15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92" name="Freeform 477">
                <a:extLst>
                  <a:ext uri="{FF2B5EF4-FFF2-40B4-BE49-F238E27FC236}">
                    <a16:creationId xmlns:a16="http://schemas.microsoft.com/office/drawing/2014/main" id="{F129B47B-CDAE-A02C-4C1D-B854F02A09C7}"/>
                  </a:ext>
                </a:extLst>
              </p:cNvPr>
              <p:cNvSpPr>
                <a:spLocks noEditPoints="1"/>
              </p:cNvSpPr>
              <p:nvPr/>
            </p:nvSpPr>
            <p:spPr bwMode="auto">
              <a:xfrm>
                <a:off x="5202511" y="4196529"/>
                <a:ext cx="70009" cy="99911"/>
              </a:xfrm>
              <a:custGeom>
                <a:avLst/>
                <a:gdLst/>
                <a:ahLst/>
                <a:cxnLst>
                  <a:cxn ang="0">
                    <a:pos x="66" y="76"/>
                  </a:cxn>
                  <a:cxn ang="0">
                    <a:pos x="66" y="72"/>
                  </a:cxn>
                  <a:cxn ang="0">
                    <a:pos x="64" y="66"/>
                  </a:cxn>
                  <a:cxn ang="0">
                    <a:pos x="64" y="58"/>
                  </a:cxn>
                  <a:cxn ang="0">
                    <a:pos x="66" y="48"/>
                  </a:cxn>
                  <a:cxn ang="0">
                    <a:pos x="68" y="44"/>
                  </a:cxn>
                  <a:cxn ang="0">
                    <a:pos x="72" y="38"/>
                  </a:cxn>
                  <a:cxn ang="0">
                    <a:pos x="70" y="28"/>
                  </a:cxn>
                  <a:cxn ang="0">
                    <a:pos x="68" y="18"/>
                  </a:cxn>
                  <a:cxn ang="0">
                    <a:pos x="70" y="12"/>
                  </a:cxn>
                  <a:cxn ang="0">
                    <a:pos x="68" y="8"/>
                  </a:cxn>
                  <a:cxn ang="0">
                    <a:pos x="64" y="4"/>
                  </a:cxn>
                  <a:cxn ang="0">
                    <a:pos x="58" y="4"/>
                  </a:cxn>
                  <a:cxn ang="0">
                    <a:pos x="52" y="0"/>
                  </a:cxn>
                  <a:cxn ang="0">
                    <a:pos x="46" y="2"/>
                  </a:cxn>
                  <a:cxn ang="0">
                    <a:pos x="40" y="4"/>
                  </a:cxn>
                  <a:cxn ang="0">
                    <a:pos x="34" y="10"/>
                  </a:cxn>
                  <a:cxn ang="0">
                    <a:pos x="34" y="16"/>
                  </a:cxn>
                  <a:cxn ang="0">
                    <a:pos x="28" y="22"/>
                  </a:cxn>
                  <a:cxn ang="0">
                    <a:pos x="30" y="26"/>
                  </a:cxn>
                  <a:cxn ang="0">
                    <a:pos x="26" y="34"/>
                  </a:cxn>
                  <a:cxn ang="0">
                    <a:pos x="28" y="38"/>
                  </a:cxn>
                  <a:cxn ang="0">
                    <a:pos x="30" y="40"/>
                  </a:cxn>
                  <a:cxn ang="0">
                    <a:pos x="30" y="44"/>
                  </a:cxn>
                  <a:cxn ang="0">
                    <a:pos x="24" y="52"/>
                  </a:cxn>
                  <a:cxn ang="0">
                    <a:pos x="22" y="54"/>
                  </a:cxn>
                  <a:cxn ang="0">
                    <a:pos x="16" y="56"/>
                  </a:cxn>
                  <a:cxn ang="0">
                    <a:pos x="10" y="62"/>
                  </a:cxn>
                  <a:cxn ang="0">
                    <a:pos x="4" y="78"/>
                  </a:cxn>
                  <a:cxn ang="0">
                    <a:pos x="6" y="82"/>
                  </a:cxn>
                  <a:cxn ang="0">
                    <a:pos x="2" y="88"/>
                  </a:cxn>
                  <a:cxn ang="0">
                    <a:pos x="0" y="94"/>
                  </a:cxn>
                  <a:cxn ang="0">
                    <a:pos x="2" y="96"/>
                  </a:cxn>
                  <a:cxn ang="0">
                    <a:pos x="8" y="102"/>
                  </a:cxn>
                  <a:cxn ang="0">
                    <a:pos x="16" y="102"/>
                  </a:cxn>
                  <a:cxn ang="0">
                    <a:pos x="22" y="98"/>
                  </a:cxn>
                  <a:cxn ang="0">
                    <a:pos x="40" y="96"/>
                  </a:cxn>
                  <a:cxn ang="0">
                    <a:pos x="34" y="92"/>
                  </a:cxn>
                  <a:cxn ang="0">
                    <a:pos x="36" y="80"/>
                  </a:cxn>
                  <a:cxn ang="0">
                    <a:pos x="38" y="78"/>
                  </a:cxn>
                  <a:cxn ang="0">
                    <a:pos x="42" y="72"/>
                  </a:cxn>
                  <a:cxn ang="0">
                    <a:pos x="58" y="72"/>
                  </a:cxn>
                  <a:cxn ang="0">
                    <a:pos x="62" y="66"/>
                  </a:cxn>
                  <a:cxn ang="0">
                    <a:pos x="62" y="70"/>
                  </a:cxn>
                  <a:cxn ang="0">
                    <a:pos x="64" y="74"/>
                  </a:cxn>
                  <a:cxn ang="0">
                    <a:pos x="66" y="76"/>
                  </a:cxn>
                  <a:cxn ang="0">
                    <a:pos x="26" y="44"/>
                  </a:cxn>
                  <a:cxn ang="0">
                    <a:pos x="24" y="48"/>
                  </a:cxn>
                  <a:cxn ang="0">
                    <a:pos x="26" y="44"/>
                  </a:cxn>
                </a:cxnLst>
                <a:rect l="0" t="0" r="r" b="b"/>
                <a:pathLst>
                  <a:path w="72" h="104">
                    <a:moveTo>
                      <a:pt x="66" y="76"/>
                    </a:moveTo>
                    <a:lnTo>
                      <a:pt x="66" y="76"/>
                    </a:lnTo>
                    <a:lnTo>
                      <a:pt x="64" y="74"/>
                    </a:lnTo>
                    <a:lnTo>
                      <a:pt x="66" y="72"/>
                    </a:lnTo>
                    <a:lnTo>
                      <a:pt x="66" y="70"/>
                    </a:lnTo>
                    <a:lnTo>
                      <a:pt x="64" y="66"/>
                    </a:lnTo>
                    <a:lnTo>
                      <a:pt x="64" y="62"/>
                    </a:lnTo>
                    <a:lnTo>
                      <a:pt x="64" y="58"/>
                    </a:lnTo>
                    <a:lnTo>
                      <a:pt x="66" y="54"/>
                    </a:lnTo>
                    <a:lnTo>
                      <a:pt x="66" y="48"/>
                    </a:lnTo>
                    <a:lnTo>
                      <a:pt x="66" y="46"/>
                    </a:lnTo>
                    <a:lnTo>
                      <a:pt x="68" y="44"/>
                    </a:lnTo>
                    <a:lnTo>
                      <a:pt x="70" y="42"/>
                    </a:lnTo>
                    <a:lnTo>
                      <a:pt x="72" y="38"/>
                    </a:lnTo>
                    <a:lnTo>
                      <a:pt x="72" y="32"/>
                    </a:lnTo>
                    <a:lnTo>
                      <a:pt x="70" y="28"/>
                    </a:lnTo>
                    <a:lnTo>
                      <a:pt x="66" y="24"/>
                    </a:lnTo>
                    <a:lnTo>
                      <a:pt x="68" y="18"/>
                    </a:lnTo>
                    <a:lnTo>
                      <a:pt x="70" y="14"/>
                    </a:lnTo>
                    <a:lnTo>
                      <a:pt x="70" y="12"/>
                    </a:lnTo>
                    <a:lnTo>
                      <a:pt x="68" y="10"/>
                    </a:lnTo>
                    <a:lnTo>
                      <a:pt x="68" y="8"/>
                    </a:lnTo>
                    <a:lnTo>
                      <a:pt x="66" y="8"/>
                    </a:lnTo>
                    <a:lnTo>
                      <a:pt x="64" y="4"/>
                    </a:lnTo>
                    <a:lnTo>
                      <a:pt x="64" y="0"/>
                    </a:lnTo>
                    <a:lnTo>
                      <a:pt x="58" y="4"/>
                    </a:lnTo>
                    <a:lnTo>
                      <a:pt x="56" y="2"/>
                    </a:lnTo>
                    <a:lnTo>
                      <a:pt x="52" y="0"/>
                    </a:lnTo>
                    <a:lnTo>
                      <a:pt x="48" y="2"/>
                    </a:lnTo>
                    <a:lnTo>
                      <a:pt x="46" y="2"/>
                    </a:lnTo>
                    <a:lnTo>
                      <a:pt x="44" y="2"/>
                    </a:lnTo>
                    <a:lnTo>
                      <a:pt x="40" y="4"/>
                    </a:lnTo>
                    <a:lnTo>
                      <a:pt x="38" y="6"/>
                    </a:lnTo>
                    <a:lnTo>
                      <a:pt x="34" y="10"/>
                    </a:lnTo>
                    <a:lnTo>
                      <a:pt x="34" y="12"/>
                    </a:lnTo>
                    <a:lnTo>
                      <a:pt x="34" y="16"/>
                    </a:lnTo>
                    <a:lnTo>
                      <a:pt x="30" y="20"/>
                    </a:lnTo>
                    <a:lnTo>
                      <a:pt x="28" y="22"/>
                    </a:lnTo>
                    <a:lnTo>
                      <a:pt x="30" y="24"/>
                    </a:lnTo>
                    <a:lnTo>
                      <a:pt x="30" y="26"/>
                    </a:lnTo>
                    <a:lnTo>
                      <a:pt x="28" y="30"/>
                    </a:lnTo>
                    <a:lnTo>
                      <a:pt x="26" y="34"/>
                    </a:lnTo>
                    <a:lnTo>
                      <a:pt x="26" y="38"/>
                    </a:lnTo>
                    <a:lnTo>
                      <a:pt x="28" y="38"/>
                    </a:lnTo>
                    <a:lnTo>
                      <a:pt x="30" y="40"/>
                    </a:lnTo>
                    <a:lnTo>
                      <a:pt x="30" y="40"/>
                    </a:lnTo>
                    <a:lnTo>
                      <a:pt x="30" y="42"/>
                    </a:lnTo>
                    <a:lnTo>
                      <a:pt x="30" y="44"/>
                    </a:lnTo>
                    <a:lnTo>
                      <a:pt x="28" y="48"/>
                    </a:lnTo>
                    <a:lnTo>
                      <a:pt x="24" y="52"/>
                    </a:lnTo>
                    <a:lnTo>
                      <a:pt x="24" y="54"/>
                    </a:lnTo>
                    <a:lnTo>
                      <a:pt x="22" y="54"/>
                    </a:lnTo>
                    <a:lnTo>
                      <a:pt x="20" y="52"/>
                    </a:lnTo>
                    <a:lnTo>
                      <a:pt x="16" y="56"/>
                    </a:lnTo>
                    <a:lnTo>
                      <a:pt x="12" y="58"/>
                    </a:lnTo>
                    <a:lnTo>
                      <a:pt x="10" y="62"/>
                    </a:lnTo>
                    <a:lnTo>
                      <a:pt x="8" y="66"/>
                    </a:lnTo>
                    <a:lnTo>
                      <a:pt x="4" y="78"/>
                    </a:lnTo>
                    <a:lnTo>
                      <a:pt x="8" y="78"/>
                    </a:lnTo>
                    <a:lnTo>
                      <a:pt x="6" y="82"/>
                    </a:lnTo>
                    <a:lnTo>
                      <a:pt x="4" y="86"/>
                    </a:lnTo>
                    <a:lnTo>
                      <a:pt x="2" y="88"/>
                    </a:lnTo>
                    <a:lnTo>
                      <a:pt x="0" y="90"/>
                    </a:lnTo>
                    <a:lnTo>
                      <a:pt x="0" y="94"/>
                    </a:lnTo>
                    <a:lnTo>
                      <a:pt x="0" y="94"/>
                    </a:lnTo>
                    <a:lnTo>
                      <a:pt x="2" y="96"/>
                    </a:lnTo>
                    <a:lnTo>
                      <a:pt x="2" y="98"/>
                    </a:lnTo>
                    <a:lnTo>
                      <a:pt x="8" y="102"/>
                    </a:lnTo>
                    <a:lnTo>
                      <a:pt x="12" y="104"/>
                    </a:lnTo>
                    <a:lnTo>
                      <a:pt x="16" y="102"/>
                    </a:lnTo>
                    <a:lnTo>
                      <a:pt x="20" y="100"/>
                    </a:lnTo>
                    <a:lnTo>
                      <a:pt x="22" y="98"/>
                    </a:lnTo>
                    <a:lnTo>
                      <a:pt x="40" y="98"/>
                    </a:lnTo>
                    <a:lnTo>
                      <a:pt x="40" y="96"/>
                    </a:lnTo>
                    <a:lnTo>
                      <a:pt x="40" y="94"/>
                    </a:lnTo>
                    <a:lnTo>
                      <a:pt x="34" y="92"/>
                    </a:lnTo>
                    <a:lnTo>
                      <a:pt x="38" y="86"/>
                    </a:lnTo>
                    <a:lnTo>
                      <a:pt x="36" y="80"/>
                    </a:lnTo>
                    <a:lnTo>
                      <a:pt x="36" y="78"/>
                    </a:lnTo>
                    <a:lnTo>
                      <a:pt x="38" y="78"/>
                    </a:lnTo>
                    <a:lnTo>
                      <a:pt x="38" y="74"/>
                    </a:lnTo>
                    <a:lnTo>
                      <a:pt x="42" y="72"/>
                    </a:lnTo>
                    <a:lnTo>
                      <a:pt x="46" y="70"/>
                    </a:lnTo>
                    <a:lnTo>
                      <a:pt x="58" y="72"/>
                    </a:lnTo>
                    <a:lnTo>
                      <a:pt x="60" y="66"/>
                    </a:lnTo>
                    <a:lnTo>
                      <a:pt x="62" y="66"/>
                    </a:lnTo>
                    <a:lnTo>
                      <a:pt x="62" y="68"/>
                    </a:lnTo>
                    <a:lnTo>
                      <a:pt x="62" y="70"/>
                    </a:lnTo>
                    <a:lnTo>
                      <a:pt x="64" y="70"/>
                    </a:lnTo>
                    <a:lnTo>
                      <a:pt x="64" y="74"/>
                    </a:lnTo>
                    <a:lnTo>
                      <a:pt x="64" y="76"/>
                    </a:lnTo>
                    <a:lnTo>
                      <a:pt x="66" y="76"/>
                    </a:lnTo>
                    <a:lnTo>
                      <a:pt x="66" y="76"/>
                    </a:lnTo>
                    <a:close/>
                    <a:moveTo>
                      <a:pt x="26" y="44"/>
                    </a:moveTo>
                    <a:lnTo>
                      <a:pt x="26" y="44"/>
                    </a:lnTo>
                    <a:lnTo>
                      <a:pt x="24" y="48"/>
                    </a:lnTo>
                    <a:lnTo>
                      <a:pt x="26" y="46"/>
                    </a:lnTo>
                    <a:lnTo>
                      <a:pt x="26" y="44"/>
                    </a:lnTo>
                    <a:lnTo>
                      <a:pt x="26" y="4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93" name="Freeform 478">
                <a:extLst>
                  <a:ext uri="{FF2B5EF4-FFF2-40B4-BE49-F238E27FC236}">
                    <a16:creationId xmlns:a16="http://schemas.microsoft.com/office/drawing/2014/main" id="{61CEF140-88D5-8444-8C93-6A9519C1DB68}"/>
                  </a:ext>
                </a:extLst>
              </p:cNvPr>
              <p:cNvSpPr>
                <a:spLocks/>
              </p:cNvSpPr>
              <p:nvPr/>
            </p:nvSpPr>
            <p:spPr bwMode="auto">
              <a:xfrm>
                <a:off x="5212235" y="4292598"/>
                <a:ext cx="134184" cy="157553"/>
              </a:xfrm>
              <a:custGeom>
                <a:avLst/>
                <a:gdLst/>
                <a:ahLst/>
                <a:cxnLst>
                  <a:cxn ang="0">
                    <a:pos x="122" y="52"/>
                  </a:cxn>
                  <a:cxn ang="0">
                    <a:pos x="120" y="54"/>
                  </a:cxn>
                  <a:cxn ang="0">
                    <a:pos x="118" y="64"/>
                  </a:cxn>
                  <a:cxn ang="0">
                    <a:pos x="116" y="70"/>
                  </a:cxn>
                  <a:cxn ang="0">
                    <a:pos x="122" y="82"/>
                  </a:cxn>
                  <a:cxn ang="0">
                    <a:pos x="126" y="92"/>
                  </a:cxn>
                  <a:cxn ang="0">
                    <a:pos x="124" y="116"/>
                  </a:cxn>
                  <a:cxn ang="0">
                    <a:pos x="132" y="132"/>
                  </a:cxn>
                  <a:cxn ang="0">
                    <a:pos x="138" y="140"/>
                  </a:cxn>
                  <a:cxn ang="0">
                    <a:pos x="120" y="154"/>
                  </a:cxn>
                  <a:cxn ang="0">
                    <a:pos x="110" y="156"/>
                  </a:cxn>
                  <a:cxn ang="0">
                    <a:pos x="102" y="156"/>
                  </a:cxn>
                  <a:cxn ang="0">
                    <a:pos x="88" y="162"/>
                  </a:cxn>
                  <a:cxn ang="0">
                    <a:pos x="76" y="162"/>
                  </a:cxn>
                  <a:cxn ang="0">
                    <a:pos x="70" y="158"/>
                  </a:cxn>
                  <a:cxn ang="0">
                    <a:pos x="62" y="158"/>
                  </a:cxn>
                  <a:cxn ang="0">
                    <a:pos x="58" y="128"/>
                  </a:cxn>
                  <a:cxn ang="0">
                    <a:pos x="54" y="124"/>
                  </a:cxn>
                  <a:cxn ang="0">
                    <a:pos x="34" y="120"/>
                  </a:cxn>
                  <a:cxn ang="0">
                    <a:pos x="26" y="114"/>
                  </a:cxn>
                  <a:cxn ang="0">
                    <a:pos x="24" y="104"/>
                  </a:cxn>
                  <a:cxn ang="0">
                    <a:pos x="18" y="100"/>
                  </a:cxn>
                  <a:cxn ang="0">
                    <a:pos x="12" y="92"/>
                  </a:cxn>
                  <a:cxn ang="0">
                    <a:pos x="8" y="74"/>
                  </a:cxn>
                  <a:cxn ang="0">
                    <a:pos x="2" y="56"/>
                  </a:cxn>
                  <a:cxn ang="0">
                    <a:pos x="2" y="54"/>
                  </a:cxn>
                  <a:cxn ang="0">
                    <a:pos x="0" y="48"/>
                  </a:cxn>
                  <a:cxn ang="0">
                    <a:pos x="12" y="38"/>
                  </a:cxn>
                  <a:cxn ang="0">
                    <a:pos x="16" y="28"/>
                  </a:cxn>
                  <a:cxn ang="0">
                    <a:pos x="14" y="18"/>
                  </a:cxn>
                  <a:cxn ang="0">
                    <a:pos x="16" y="6"/>
                  </a:cxn>
                  <a:cxn ang="0">
                    <a:pos x="26" y="8"/>
                  </a:cxn>
                  <a:cxn ang="0">
                    <a:pos x="32" y="22"/>
                  </a:cxn>
                  <a:cxn ang="0">
                    <a:pos x="36" y="18"/>
                  </a:cxn>
                  <a:cxn ang="0">
                    <a:pos x="40" y="14"/>
                  </a:cxn>
                  <a:cxn ang="0">
                    <a:pos x="52" y="24"/>
                  </a:cxn>
                  <a:cxn ang="0">
                    <a:pos x="56" y="16"/>
                  </a:cxn>
                  <a:cxn ang="0">
                    <a:pos x="62" y="12"/>
                  </a:cxn>
                  <a:cxn ang="0">
                    <a:pos x="60" y="10"/>
                  </a:cxn>
                  <a:cxn ang="0">
                    <a:pos x="62" y="6"/>
                  </a:cxn>
                  <a:cxn ang="0">
                    <a:pos x="62" y="0"/>
                  </a:cxn>
                  <a:cxn ang="0">
                    <a:pos x="104" y="24"/>
                  </a:cxn>
                  <a:cxn ang="0">
                    <a:pos x="108" y="34"/>
                  </a:cxn>
                  <a:cxn ang="0">
                    <a:pos x="124" y="44"/>
                  </a:cxn>
                </a:cxnLst>
                <a:rect l="0" t="0" r="r" b="b"/>
                <a:pathLst>
                  <a:path w="138" h="164">
                    <a:moveTo>
                      <a:pt x="124" y="44"/>
                    </a:moveTo>
                    <a:lnTo>
                      <a:pt x="124" y="44"/>
                    </a:lnTo>
                    <a:lnTo>
                      <a:pt x="122" y="52"/>
                    </a:lnTo>
                    <a:lnTo>
                      <a:pt x="120" y="52"/>
                    </a:lnTo>
                    <a:lnTo>
                      <a:pt x="120" y="52"/>
                    </a:lnTo>
                    <a:lnTo>
                      <a:pt x="120" y="54"/>
                    </a:lnTo>
                    <a:lnTo>
                      <a:pt x="120" y="56"/>
                    </a:lnTo>
                    <a:lnTo>
                      <a:pt x="118" y="58"/>
                    </a:lnTo>
                    <a:lnTo>
                      <a:pt x="118" y="64"/>
                    </a:lnTo>
                    <a:lnTo>
                      <a:pt x="116" y="66"/>
                    </a:lnTo>
                    <a:lnTo>
                      <a:pt x="116" y="68"/>
                    </a:lnTo>
                    <a:lnTo>
                      <a:pt x="116" y="70"/>
                    </a:lnTo>
                    <a:lnTo>
                      <a:pt x="116" y="72"/>
                    </a:lnTo>
                    <a:lnTo>
                      <a:pt x="116" y="76"/>
                    </a:lnTo>
                    <a:lnTo>
                      <a:pt x="122" y="82"/>
                    </a:lnTo>
                    <a:lnTo>
                      <a:pt x="128" y="86"/>
                    </a:lnTo>
                    <a:lnTo>
                      <a:pt x="128" y="90"/>
                    </a:lnTo>
                    <a:lnTo>
                      <a:pt x="126" y="92"/>
                    </a:lnTo>
                    <a:lnTo>
                      <a:pt x="124" y="96"/>
                    </a:lnTo>
                    <a:lnTo>
                      <a:pt x="124" y="104"/>
                    </a:lnTo>
                    <a:lnTo>
                      <a:pt x="124" y="116"/>
                    </a:lnTo>
                    <a:lnTo>
                      <a:pt x="124" y="122"/>
                    </a:lnTo>
                    <a:lnTo>
                      <a:pt x="128" y="130"/>
                    </a:lnTo>
                    <a:lnTo>
                      <a:pt x="132" y="132"/>
                    </a:lnTo>
                    <a:lnTo>
                      <a:pt x="136" y="136"/>
                    </a:lnTo>
                    <a:lnTo>
                      <a:pt x="136" y="140"/>
                    </a:lnTo>
                    <a:lnTo>
                      <a:pt x="138" y="140"/>
                    </a:lnTo>
                    <a:lnTo>
                      <a:pt x="138" y="144"/>
                    </a:lnTo>
                    <a:lnTo>
                      <a:pt x="124" y="152"/>
                    </a:lnTo>
                    <a:lnTo>
                      <a:pt x="120" y="154"/>
                    </a:lnTo>
                    <a:lnTo>
                      <a:pt x="116" y="154"/>
                    </a:lnTo>
                    <a:lnTo>
                      <a:pt x="112" y="154"/>
                    </a:lnTo>
                    <a:lnTo>
                      <a:pt x="110" y="156"/>
                    </a:lnTo>
                    <a:lnTo>
                      <a:pt x="106" y="158"/>
                    </a:lnTo>
                    <a:lnTo>
                      <a:pt x="104" y="156"/>
                    </a:lnTo>
                    <a:lnTo>
                      <a:pt x="102" y="156"/>
                    </a:lnTo>
                    <a:lnTo>
                      <a:pt x="102" y="158"/>
                    </a:lnTo>
                    <a:lnTo>
                      <a:pt x="98" y="160"/>
                    </a:lnTo>
                    <a:lnTo>
                      <a:pt x="88" y="162"/>
                    </a:lnTo>
                    <a:lnTo>
                      <a:pt x="80" y="164"/>
                    </a:lnTo>
                    <a:lnTo>
                      <a:pt x="76" y="164"/>
                    </a:lnTo>
                    <a:lnTo>
                      <a:pt x="76" y="162"/>
                    </a:lnTo>
                    <a:lnTo>
                      <a:pt x="74" y="160"/>
                    </a:lnTo>
                    <a:lnTo>
                      <a:pt x="72" y="158"/>
                    </a:lnTo>
                    <a:lnTo>
                      <a:pt x="70" y="158"/>
                    </a:lnTo>
                    <a:lnTo>
                      <a:pt x="68" y="160"/>
                    </a:lnTo>
                    <a:lnTo>
                      <a:pt x="62" y="162"/>
                    </a:lnTo>
                    <a:lnTo>
                      <a:pt x="62" y="158"/>
                    </a:lnTo>
                    <a:lnTo>
                      <a:pt x="62" y="146"/>
                    </a:lnTo>
                    <a:lnTo>
                      <a:pt x="62" y="130"/>
                    </a:lnTo>
                    <a:lnTo>
                      <a:pt x="58" y="128"/>
                    </a:lnTo>
                    <a:lnTo>
                      <a:pt x="58" y="126"/>
                    </a:lnTo>
                    <a:lnTo>
                      <a:pt x="56" y="124"/>
                    </a:lnTo>
                    <a:lnTo>
                      <a:pt x="54" y="124"/>
                    </a:lnTo>
                    <a:lnTo>
                      <a:pt x="42" y="122"/>
                    </a:lnTo>
                    <a:lnTo>
                      <a:pt x="38" y="122"/>
                    </a:lnTo>
                    <a:lnTo>
                      <a:pt x="34" y="120"/>
                    </a:lnTo>
                    <a:lnTo>
                      <a:pt x="30" y="116"/>
                    </a:lnTo>
                    <a:lnTo>
                      <a:pt x="28" y="116"/>
                    </a:lnTo>
                    <a:lnTo>
                      <a:pt x="26" y="114"/>
                    </a:lnTo>
                    <a:lnTo>
                      <a:pt x="26" y="112"/>
                    </a:lnTo>
                    <a:lnTo>
                      <a:pt x="26" y="108"/>
                    </a:lnTo>
                    <a:lnTo>
                      <a:pt x="24" y="104"/>
                    </a:lnTo>
                    <a:lnTo>
                      <a:pt x="20" y="104"/>
                    </a:lnTo>
                    <a:lnTo>
                      <a:pt x="20" y="100"/>
                    </a:lnTo>
                    <a:lnTo>
                      <a:pt x="18" y="100"/>
                    </a:lnTo>
                    <a:lnTo>
                      <a:pt x="16" y="96"/>
                    </a:lnTo>
                    <a:lnTo>
                      <a:pt x="16" y="94"/>
                    </a:lnTo>
                    <a:lnTo>
                      <a:pt x="12" y="92"/>
                    </a:lnTo>
                    <a:lnTo>
                      <a:pt x="12" y="86"/>
                    </a:lnTo>
                    <a:lnTo>
                      <a:pt x="14" y="80"/>
                    </a:lnTo>
                    <a:lnTo>
                      <a:pt x="8" y="74"/>
                    </a:lnTo>
                    <a:lnTo>
                      <a:pt x="6" y="72"/>
                    </a:lnTo>
                    <a:lnTo>
                      <a:pt x="0" y="68"/>
                    </a:lnTo>
                    <a:lnTo>
                      <a:pt x="2" y="56"/>
                    </a:lnTo>
                    <a:lnTo>
                      <a:pt x="0" y="56"/>
                    </a:lnTo>
                    <a:lnTo>
                      <a:pt x="0" y="54"/>
                    </a:lnTo>
                    <a:lnTo>
                      <a:pt x="2" y="54"/>
                    </a:lnTo>
                    <a:lnTo>
                      <a:pt x="2" y="52"/>
                    </a:lnTo>
                    <a:lnTo>
                      <a:pt x="0" y="52"/>
                    </a:lnTo>
                    <a:lnTo>
                      <a:pt x="0" y="48"/>
                    </a:lnTo>
                    <a:lnTo>
                      <a:pt x="6" y="50"/>
                    </a:lnTo>
                    <a:lnTo>
                      <a:pt x="10" y="46"/>
                    </a:lnTo>
                    <a:lnTo>
                      <a:pt x="12" y="38"/>
                    </a:lnTo>
                    <a:lnTo>
                      <a:pt x="18" y="34"/>
                    </a:lnTo>
                    <a:lnTo>
                      <a:pt x="20" y="28"/>
                    </a:lnTo>
                    <a:lnTo>
                      <a:pt x="16" y="28"/>
                    </a:lnTo>
                    <a:lnTo>
                      <a:pt x="14" y="24"/>
                    </a:lnTo>
                    <a:lnTo>
                      <a:pt x="14" y="22"/>
                    </a:lnTo>
                    <a:lnTo>
                      <a:pt x="14" y="18"/>
                    </a:lnTo>
                    <a:lnTo>
                      <a:pt x="16" y="18"/>
                    </a:lnTo>
                    <a:lnTo>
                      <a:pt x="16" y="14"/>
                    </a:lnTo>
                    <a:lnTo>
                      <a:pt x="16" y="6"/>
                    </a:lnTo>
                    <a:lnTo>
                      <a:pt x="12" y="0"/>
                    </a:lnTo>
                    <a:lnTo>
                      <a:pt x="30" y="0"/>
                    </a:lnTo>
                    <a:lnTo>
                      <a:pt x="26" y="8"/>
                    </a:lnTo>
                    <a:lnTo>
                      <a:pt x="28" y="14"/>
                    </a:lnTo>
                    <a:lnTo>
                      <a:pt x="30" y="18"/>
                    </a:lnTo>
                    <a:lnTo>
                      <a:pt x="32" y="22"/>
                    </a:lnTo>
                    <a:lnTo>
                      <a:pt x="34" y="24"/>
                    </a:lnTo>
                    <a:lnTo>
                      <a:pt x="38" y="22"/>
                    </a:lnTo>
                    <a:lnTo>
                      <a:pt x="36" y="18"/>
                    </a:lnTo>
                    <a:lnTo>
                      <a:pt x="40" y="18"/>
                    </a:lnTo>
                    <a:lnTo>
                      <a:pt x="42" y="16"/>
                    </a:lnTo>
                    <a:lnTo>
                      <a:pt x="40" y="14"/>
                    </a:lnTo>
                    <a:lnTo>
                      <a:pt x="46" y="14"/>
                    </a:lnTo>
                    <a:lnTo>
                      <a:pt x="52" y="18"/>
                    </a:lnTo>
                    <a:lnTo>
                      <a:pt x="52" y="24"/>
                    </a:lnTo>
                    <a:lnTo>
                      <a:pt x="56" y="26"/>
                    </a:lnTo>
                    <a:lnTo>
                      <a:pt x="56" y="20"/>
                    </a:lnTo>
                    <a:lnTo>
                      <a:pt x="56" y="16"/>
                    </a:lnTo>
                    <a:lnTo>
                      <a:pt x="58" y="14"/>
                    </a:lnTo>
                    <a:lnTo>
                      <a:pt x="62" y="14"/>
                    </a:lnTo>
                    <a:lnTo>
                      <a:pt x="62" y="12"/>
                    </a:lnTo>
                    <a:lnTo>
                      <a:pt x="64" y="12"/>
                    </a:lnTo>
                    <a:lnTo>
                      <a:pt x="64" y="10"/>
                    </a:lnTo>
                    <a:lnTo>
                      <a:pt x="60" y="10"/>
                    </a:lnTo>
                    <a:lnTo>
                      <a:pt x="58" y="8"/>
                    </a:lnTo>
                    <a:lnTo>
                      <a:pt x="60" y="8"/>
                    </a:lnTo>
                    <a:lnTo>
                      <a:pt x="62" y="6"/>
                    </a:lnTo>
                    <a:lnTo>
                      <a:pt x="56" y="6"/>
                    </a:lnTo>
                    <a:lnTo>
                      <a:pt x="60" y="2"/>
                    </a:lnTo>
                    <a:lnTo>
                      <a:pt x="62" y="0"/>
                    </a:lnTo>
                    <a:lnTo>
                      <a:pt x="100" y="18"/>
                    </a:lnTo>
                    <a:lnTo>
                      <a:pt x="102" y="20"/>
                    </a:lnTo>
                    <a:lnTo>
                      <a:pt x="104" y="24"/>
                    </a:lnTo>
                    <a:lnTo>
                      <a:pt x="104" y="30"/>
                    </a:lnTo>
                    <a:lnTo>
                      <a:pt x="106" y="32"/>
                    </a:lnTo>
                    <a:lnTo>
                      <a:pt x="108" y="34"/>
                    </a:lnTo>
                    <a:lnTo>
                      <a:pt x="110" y="34"/>
                    </a:lnTo>
                    <a:lnTo>
                      <a:pt x="124" y="44"/>
                    </a:lnTo>
                    <a:lnTo>
                      <a:pt x="124" y="4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94" name="Freeform 479">
                <a:extLst>
                  <a:ext uri="{FF2B5EF4-FFF2-40B4-BE49-F238E27FC236}">
                    <a16:creationId xmlns:a16="http://schemas.microsoft.com/office/drawing/2014/main" id="{D3615B21-347C-067F-8E0E-9EE3DBF4FEDC}"/>
                  </a:ext>
                </a:extLst>
              </p:cNvPr>
              <p:cNvSpPr>
                <a:spLocks/>
              </p:cNvSpPr>
              <p:nvPr/>
            </p:nvSpPr>
            <p:spPr bwMode="auto">
              <a:xfrm>
                <a:off x="4615214" y="3998628"/>
                <a:ext cx="73898" cy="71091"/>
              </a:xfrm>
              <a:custGeom>
                <a:avLst/>
                <a:gdLst/>
                <a:ahLst/>
                <a:cxnLst>
                  <a:cxn ang="0">
                    <a:pos x="14" y="6"/>
                  </a:cxn>
                  <a:cxn ang="0">
                    <a:pos x="12" y="20"/>
                  </a:cxn>
                  <a:cxn ang="0">
                    <a:pos x="8" y="32"/>
                  </a:cxn>
                  <a:cxn ang="0">
                    <a:pos x="4" y="32"/>
                  </a:cxn>
                  <a:cxn ang="0">
                    <a:pos x="4" y="38"/>
                  </a:cxn>
                  <a:cxn ang="0">
                    <a:pos x="0" y="38"/>
                  </a:cxn>
                  <a:cxn ang="0">
                    <a:pos x="6" y="48"/>
                  </a:cxn>
                  <a:cxn ang="0">
                    <a:pos x="10" y="56"/>
                  </a:cxn>
                  <a:cxn ang="0">
                    <a:pos x="16" y="54"/>
                  </a:cxn>
                  <a:cxn ang="0">
                    <a:pos x="22" y="54"/>
                  </a:cxn>
                  <a:cxn ang="0">
                    <a:pos x="26" y="52"/>
                  </a:cxn>
                  <a:cxn ang="0">
                    <a:pos x="30" y="54"/>
                  </a:cxn>
                  <a:cxn ang="0">
                    <a:pos x="46" y="52"/>
                  </a:cxn>
                  <a:cxn ang="0">
                    <a:pos x="52" y="54"/>
                  </a:cxn>
                  <a:cxn ang="0">
                    <a:pos x="46" y="60"/>
                  </a:cxn>
                  <a:cxn ang="0">
                    <a:pos x="24" y="60"/>
                  </a:cxn>
                  <a:cxn ang="0">
                    <a:pos x="22" y="62"/>
                  </a:cxn>
                  <a:cxn ang="0">
                    <a:pos x="10" y="66"/>
                  </a:cxn>
                  <a:cxn ang="0">
                    <a:pos x="10" y="68"/>
                  </a:cxn>
                  <a:cxn ang="0">
                    <a:pos x="14" y="74"/>
                  </a:cxn>
                  <a:cxn ang="0">
                    <a:pos x="26" y="68"/>
                  </a:cxn>
                  <a:cxn ang="0">
                    <a:pos x="46" y="68"/>
                  </a:cxn>
                  <a:cxn ang="0">
                    <a:pos x="56" y="70"/>
                  </a:cxn>
                  <a:cxn ang="0">
                    <a:pos x="64" y="72"/>
                  </a:cxn>
                  <a:cxn ang="0">
                    <a:pos x="70" y="72"/>
                  </a:cxn>
                  <a:cxn ang="0">
                    <a:pos x="74" y="60"/>
                  </a:cxn>
                  <a:cxn ang="0">
                    <a:pos x="70" y="56"/>
                  </a:cxn>
                  <a:cxn ang="0">
                    <a:pos x="68" y="52"/>
                  </a:cxn>
                  <a:cxn ang="0">
                    <a:pos x="70" y="42"/>
                  </a:cxn>
                  <a:cxn ang="0">
                    <a:pos x="70" y="38"/>
                  </a:cxn>
                  <a:cxn ang="0">
                    <a:pos x="70" y="32"/>
                  </a:cxn>
                  <a:cxn ang="0">
                    <a:pos x="62" y="26"/>
                  </a:cxn>
                  <a:cxn ang="0">
                    <a:pos x="58" y="24"/>
                  </a:cxn>
                  <a:cxn ang="0">
                    <a:pos x="58" y="16"/>
                  </a:cxn>
                  <a:cxn ang="0">
                    <a:pos x="52" y="14"/>
                  </a:cxn>
                  <a:cxn ang="0">
                    <a:pos x="50" y="12"/>
                  </a:cxn>
                  <a:cxn ang="0">
                    <a:pos x="46" y="4"/>
                  </a:cxn>
                  <a:cxn ang="0">
                    <a:pos x="38" y="2"/>
                  </a:cxn>
                  <a:cxn ang="0">
                    <a:pos x="26" y="0"/>
                  </a:cxn>
                  <a:cxn ang="0">
                    <a:pos x="24" y="2"/>
                  </a:cxn>
                  <a:cxn ang="0">
                    <a:pos x="20" y="4"/>
                  </a:cxn>
                  <a:cxn ang="0">
                    <a:pos x="14" y="6"/>
                  </a:cxn>
                </a:cxnLst>
                <a:rect l="0" t="0" r="r" b="b"/>
                <a:pathLst>
                  <a:path w="76" h="74">
                    <a:moveTo>
                      <a:pt x="14" y="6"/>
                    </a:moveTo>
                    <a:lnTo>
                      <a:pt x="14" y="6"/>
                    </a:lnTo>
                    <a:lnTo>
                      <a:pt x="12" y="14"/>
                    </a:lnTo>
                    <a:lnTo>
                      <a:pt x="12" y="20"/>
                    </a:lnTo>
                    <a:lnTo>
                      <a:pt x="12" y="24"/>
                    </a:lnTo>
                    <a:lnTo>
                      <a:pt x="8" y="32"/>
                    </a:lnTo>
                    <a:lnTo>
                      <a:pt x="6" y="32"/>
                    </a:lnTo>
                    <a:lnTo>
                      <a:pt x="4" y="32"/>
                    </a:lnTo>
                    <a:lnTo>
                      <a:pt x="4" y="36"/>
                    </a:lnTo>
                    <a:lnTo>
                      <a:pt x="4" y="38"/>
                    </a:lnTo>
                    <a:lnTo>
                      <a:pt x="2" y="38"/>
                    </a:lnTo>
                    <a:lnTo>
                      <a:pt x="0" y="38"/>
                    </a:lnTo>
                    <a:lnTo>
                      <a:pt x="4" y="42"/>
                    </a:lnTo>
                    <a:lnTo>
                      <a:pt x="6" y="48"/>
                    </a:lnTo>
                    <a:lnTo>
                      <a:pt x="6" y="54"/>
                    </a:lnTo>
                    <a:lnTo>
                      <a:pt x="10" y="56"/>
                    </a:lnTo>
                    <a:lnTo>
                      <a:pt x="12" y="54"/>
                    </a:lnTo>
                    <a:lnTo>
                      <a:pt x="16" y="54"/>
                    </a:lnTo>
                    <a:lnTo>
                      <a:pt x="18" y="54"/>
                    </a:lnTo>
                    <a:lnTo>
                      <a:pt x="22" y="54"/>
                    </a:lnTo>
                    <a:lnTo>
                      <a:pt x="24" y="52"/>
                    </a:lnTo>
                    <a:lnTo>
                      <a:pt x="26" y="52"/>
                    </a:lnTo>
                    <a:lnTo>
                      <a:pt x="30" y="54"/>
                    </a:lnTo>
                    <a:lnTo>
                      <a:pt x="30" y="54"/>
                    </a:lnTo>
                    <a:lnTo>
                      <a:pt x="36" y="52"/>
                    </a:lnTo>
                    <a:lnTo>
                      <a:pt x="46" y="52"/>
                    </a:lnTo>
                    <a:lnTo>
                      <a:pt x="50" y="52"/>
                    </a:lnTo>
                    <a:lnTo>
                      <a:pt x="52" y="54"/>
                    </a:lnTo>
                    <a:lnTo>
                      <a:pt x="50" y="60"/>
                    </a:lnTo>
                    <a:lnTo>
                      <a:pt x="46" y="60"/>
                    </a:lnTo>
                    <a:lnTo>
                      <a:pt x="26" y="60"/>
                    </a:lnTo>
                    <a:lnTo>
                      <a:pt x="24" y="60"/>
                    </a:lnTo>
                    <a:lnTo>
                      <a:pt x="22" y="60"/>
                    </a:lnTo>
                    <a:lnTo>
                      <a:pt x="22" y="62"/>
                    </a:lnTo>
                    <a:lnTo>
                      <a:pt x="10" y="64"/>
                    </a:lnTo>
                    <a:lnTo>
                      <a:pt x="10" y="66"/>
                    </a:lnTo>
                    <a:lnTo>
                      <a:pt x="12" y="66"/>
                    </a:lnTo>
                    <a:lnTo>
                      <a:pt x="10" y="68"/>
                    </a:lnTo>
                    <a:lnTo>
                      <a:pt x="10" y="70"/>
                    </a:lnTo>
                    <a:lnTo>
                      <a:pt x="14" y="74"/>
                    </a:lnTo>
                    <a:lnTo>
                      <a:pt x="20" y="72"/>
                    </a:lnTo>
                    <a:lnTo>
                      <a:pt x="26" y="68"/>
                    </a:lnTo>
                    <a:lnTo>
                      <a:pt x="34" y="68"/>
                    </a:lnTo>
                    <a:lnTo>
                      <a:pt x="46" y="68"/>
                    </a:lnTo>
                    <a:lnTo>
                      <a:pt x="50" y="70"/>
                    </a:lnTo>
                    <a:lnTo>
                      <a:pt x="56" y="70"/>
                    </a:lnTo>
                    <a:lnTo>
                      <a:pt x="60" y="70"/>
                    </a:lnTo>
                    <a:lnTo>
                      <a:pt x="64" y="72"/>
                    </a:lnTo>
                    <a:lnTo>
                      <a:pt x="66" y="72"/>
                    </a:lnTo>
                    <a:lnTo>
                      <a:pt x="70" y="72"/>
                    </a:lnTo>
                    <a:lnTo>
                      <a:pt x="76" y="70"/>
                    </a:lnTo>
                    <a:lnTo>
                      <a:pt x="74" y="60"/>
                    </a:lnTo>
                    <a:lnTo>
                      <a:pt x="74" y="60"/>
                    </a:lnTo>
                    <a:lnTo>
                      <a:pt x="70" y="56"/>
                    </a:lnTo>
                    <a:lnTo>
                      <a:pt x="68" y="54"/>
                    </a:lnTo>
                    <a:lnTo>
                      <a:pt x="68" y="52"/>
                    </a:lnTo>
                    <a:lnTo>
                      <a:pt x="70" y="46"/>
                    </a:lnTo>
                    <a:lnTo>
                      <a:pt x="70" y="42"/>
                    </a:lnTo>
                    <a:lnTo>
                      <a:pt x="70" y="40"/>
                    </a:lnTo>
                    <a:lnTo>
                      <a:pt x="70" y="38"/>
                    </a:lnTo>
                    <a:lnTo>
                      <a:pt x="68" y="36"/>
                    </a:lnTo>
                    <a:lnTo>
                      <a:pt x="70" y="32"/>
                    </a:lnTo>
                    <a:lnTo>
                      <a:pt x="66" y="26"/>
                    </a:lnTo>
                    <a:lnTo>
                      <a:pt x="62" y="26"/>
                    </a:lnTo>
                    <a:lnTo>
                      <a:pt x="60" y="26"/>
                    </a:lnTo>
                    <a:lnTo>
                      <a:pt x="58" y="24"/>
                    </a:lnTo>
                    <a:lnTo>
                      <a:pt x="58" y="18"/>
                    </a:lnTo>
                    <a:lnTo>
                      <a:pt x="58" y="16"/>
                    </a:lnTo>
                    <a:lnTo>
                      <a:pt x="56" y="14"/>
                    </a:lnTo>
                    <a:lnTo>
                      <a:pt x="52" y="14"/>
                    </a:lnTo>
                    <a:lnTo>
                      <a:pt x="50" y="14"/>
                    </a:lnTo>
                    <a:lnTo>
                      <a:pt x="50" y="12"/>
                    </a:lnTo>
                    <a:lnTo>
                      <a:pt x="48" y="6"/>
                    </a:lnTo>
                    <a:lnTo>
                      <a:pt x="46" y="4"/>
                    </a:lnTo>
                    <a:lnTo>
                      <a:pt x="42" y="2"/>
                    </a:lnTo>
                    <a:lnTo>
                      <a:pt x="38" y="2"/>
                    </a:lnTo>
                    <a:lnTo>
                      <a:pt x="30" y="2"/>
                    </a:lnTo>
                    <a:lnTo>
                      <a:pt x="26" y="0"/>
                    </a:lnTo>
                    <a:lnTo>
                      <a:pt x="24" y="0"/>
                    </a:lnTo>
                    <a:lnTo>
                      <a:pt x="24" y="2"/>
                    </a:lnTo>
                    <a:lnTo>
                      <a:pt x="22" y="4"/>
                    </a:lnTo>
                    <a:lnTo>
                      <a:pt x="20" y="4"/>
                    </a:lnTo>
                    <a:lnTo>
                      <a:pt x="18" y="4"/>
                    </a:lnTo>
                    <a:lnTo>
                      <a:pt x="14" y="6"/>
                    </a:lnTo>
                    <a:lnTo>
                      <a:pt x="14" y="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95" name="Freeform 480">
                <a:extLst>
                  <a:ext uri="{FF2B5EF4-FFF2-40B4-BE49-F238E27FC236}">
                    <a16:creationId xmlns:a16="http://schemas.microsoft.com/office/drawing/2014/main" id="{EA50D775-8828-AA55-1FC5-EBCF18492114}"/>
                  </a:ext>
                </a:extLst>
              </p:cNvPr>
              <p:cNvSpPr>
                <a:spLocks/>
              </p:cNvSpPr>
              <p:nvPr/>
            </p:nvSpPr>
            <p:spPr bwMode="auto">
              <a:xfrm>
                <a:off x="5198622" y="4292598"/>
                <a:ext cx="29170" cy="23057"/>
              </a:xfrm>
              <a:custGeom>
                <a:avLst/>
                <a:gdLst/>
                <a:ahLst/>
                <a:cxnLst>
                  <a:cxn ang="0">
                    <a:pos x="2" y="10"/>
                  </a:cxn>
                  <a:cxn ang="0">
                    <a:pos x="2" y="10"/>
                  </a:cxn>
                  <a:cxn ang="0">
                    <a:pos x="0" y="12"/>
                  </a:cxn>
                  <a:cxn ang="0">
                    <a:pos x="0" y="14"/>
                  </a:cxn>
                  <a:cxn ang="0">
                    <a:pos x="0" y="16"/>
                  </a:cxn>
                  <a:cxn ang="0">
                    <a:pos x="2" y="18"/>
                  </a:cxn>
                  <a:cxn ang="0">
                    <a:pos x="6" y="20"/>
                  </a:cxn>
                  <a:cxn ang="0">
                    <a:pos x="8" y="18"/>
                  </a:cxn>
                  <a:cxn ang="0">
                    <a:pos x="8" y="16"/>
                  </a:cxn>
                  <a:cxn ang="0">
                    <a:pos x="10" y="18"/>
                  </a:cxn>
                  <a:cxn ang="0">
                    <a:pos x="12" y="24"/>
                  </a:cxn>
                  <a:cxn ang="0">
                    <a:pos x="16" y="22"/>
                  </a:cxn>
                  <a:cxn ang="0">
                    <a:pos x="18" y="20"/>
                  </a:cxn>
                  <a:cxn ang="0">
                    <a:pos x="18" y="18"/>
                  </a:cxn>
                  <a:cxn ang="0">
                    <a:pos x="18" y="16"/>
                  </a:cxn>
                  <a:cxn ang="0">
                    <a:pos x="20" y="16"/>
                  </a:cxn>
                  <a:cxn ang="0">
                    <a:pos x="26" y="18"/>
                  </a:cxn>
                  <a:cxn ang="0">
                    <a:pos x="28" y="18"/>
                  </a:cxn>
                  <a:cxn ang="0">
                    <a:pos x="30" y="18"/>
                  </a:cxn>
                  <a:cxn ang="0">
                    <a:pos x="30" y="14"/>
                  </a:cxn>
                  <a:cxn ang="0">
                    <a:pos x="30" y="6"/>
                  </a:cxn>
                  <a:cxn ang="0">
                    <a:pos x="26" y="0"/>
                  </a:cxn>
                  <a:cxn ang="0">
                    <a:pos x="24" y="0"/>
                  </a:cxn>
                  <a:cxn ang="0">
                    <a:pos x="20" y="2"/>
                  </a:cxn>
                  <a:cxn ang="0">
                    <a:pos x="16" y="4"/>
                  </a:cxn>
                  <a:cxn ang="0">
                    <a:pos x="12" y="2"/>
                  </a:cxn>
                  <a:cxn ang="0">
                    <a:pos x="6" y="0"/>
                  </a:cxn>
                  <a:cxn ang="0">
                    <a:pos x="6" y="0"/>
                  </a:cxn>
                  <a:cxn ang="0">
                    <a:pos x="8" y="2"/>
                  </a:cxn>
                  <a:cxn ang="0">
                    <a:pos x="6" y="10"/>
                  </a:cxn>
                  <a:cxn ang="0">
                    <a:pos x="2" y="10"/>
                  </a:cxn>
                  <a:cxn ang="0">
                    <a:pos x="2" y="10"/>
                  </a:cxn>
                </a:cxnLst>
                <a:rect l="0" t="0" r="r" b="b"/>
                <a:pathLst>
                  <a:path w="30" h="24">
                    <a:moveTo>
                      <a:pt x="2" y="10"/>
                    </a:moveTo>
                    <a:lnTo>
                      <a:pt x="2" y="10"/>
                    </a:lnTo>
                    <a:lnTo>
                      <a:pt x="0" y="12"/>
                    </a:lnTo>
                    <a:lnTo>
                      <a:pt x="0" y="14"/>
                    </a:lnTo>
                    <a:lnTo>
                      <a:pt x="0" y="16"/>
                    </a:lnTo>
                    <a:lnTo>
                      <a:pt x="2" y="18"/>
                    </a:lnTo>
                    <a:lnTo>
                      <a:pt x="6" y="20"/>
                    </a:lnTo>
                    <a:lnTo>
                      <a:pt x="8" y="18"/>
                    </a:lnTo>
                    <a:lnTo>
                      <a:pt x="8" y="16"/>
                    </a:lnTo>
                    <a:lnTo>
                      <a:pt x="10" y="18"/>
                    </a:lnTo>
                    <a:lnTo>
                      <a:pt x="12" y="24"/>
                    </a:lnTo>
                    <a:lnTo>
                      <a:pt x="16" y="22"/>
                    </a:lnTo>
                    <a:lnTo>
                      <a:pt x="18" y="20"/>
                    </a:lnTo>
                    <a:lnTo>
                      <a:pt x="18" y="18"/>
                    </a:lnTo>
                    <a:lnTo>
                      <a:pt x="18" y="16"/>
                    </a:lnTo>
                    <a:lnTo>
                      <a:pt x="20" y="16"/>
                    </a:lnTo>
                    <a:lnTo>
                      <a:pt x="26" y="18"/>
                    </a:lnTo>
                    <a:lnTo>
                      <a:pt x="28" y="18"/>
                    </a:lnTo>
                    <a:lnTo>
                      <a:pt x="30" y="18"/>
                    </a:lnTo>
                    <a:lnTo>
                      <a:pt x="30" y="14"/>
                    </a:lnTo>
                    <a:lnTo>
                      <a:pt x="30" y="6"/>
                    </a:lnTo>
                    <a:lnTo>
                      <a:pt x="26" y="0"/>
                    </a:lnTo>
                    <a:lnTo>
                      <a:pt x="24" y="0"/>
                    </a:lnTo>
                    <a:lnTo>
                      <a:pt x="20" y="2"/>
                    </a:lnTo>
                    <a:lnTo>
                      <a:pt x="16" y="4"/>
                    </a:lnTo>
                    <a:lnTo>
                      <a:pt x="12" y="2"/>
                    </a:lnTo>
                    <a:lnTo>
                      <a:pt x="6" y="0"/>
                    </a:lnTo>
                    <a:lnTo>
                      <a:pt x="6" y="0"/>
                    </a:lnTo>
                    <a:lnTo>
                      <a:pt x="8" y="2"/>
                    </a:lnTo>
                    <a:lnTo>
                      <a:pt x="6" y="10"/>
                    </a:lnTo>
                    <a:lnTo>
                      <a:pt x="2" y="10"/>
                    </a:lnTo>
                    <a:lnTo>
                      <a:pt x="2" y="1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96" name="Freeform 481">
                <a:extLst>
                  <a:ext uri="{FF2B5EF4-FFF2-40B4-BE49-F238E27FC236}">
                    <a16:creationId xmlns:a16="http://schemas.microsoft.com/office/drawing/2014/main" id="{42183F59-F87E-AF65-722E-105E97780578}"/>
                  </a:ext>
                </a:extLst>
              </p:cNvPr>
              <p:cNvSpPr>
                <a:spLocks/>
              </p:cNvSpPr>
              <p:nvPr/>
            </p:nvSpPr>
            <p:spPr bwMode="auto">
              <a:xfrm>
                <a:off x="4868024" y="4040899"/>
                <a:ext cx="153631" cy="155631"/>
              </a:xfrm>
              <a:custGeom>
                <a:avLst/>
                <a:gdLst/>
                <a:ahLst/>
                <a:cxnLst>
                  <a:cxn ang="0">
                    <a:pos x="76" y="146"/>
                  </a:cxn>
                  <a:cxn ang="0">
                    <a:pos x="74" y="138"/>
                  </a:cxn>
                  <a:cxn ang="0">
                    <a:pos x="78" y="128"/>
                  </a:cxn>
                  <a:cxn ang="0">
                    <a:pos x="88" y="124"/>
                  </a:cxn>
                  <a:cxn ang="0">
                    <a:pos x="100" y="126"/>
                  </a:cxn>
                  <a:cxn ang="0">
                    <a:pos x="104" y="130"/>
                  </a:cxn>
                  <a:cxn ang="0">
                    <a:pos x="110" y="122"/>
                  </a:cxn>
                  <a:cxn ang="0">
                    <a:pos x="112" y="108"/>
                  </a:cxn>
                  <a:cxn ang="0">
                    <a:pos x="118" y="98"/>
                  </a:cxn>
                  <a:cxn ang="0">
                    <a:pos x="122" y="86"/>
                  </a:cxn>
                  <a:cxn ang="0">
                    <a:pos x="136" y="78"/>
                  </a:cxn>
                  <a:cxn ang="0">
                    <a:pos x="136" y="70"/>
                  </a:cxn>
                  <a:cxn ang="0">
                    <a:pos x="140" y="62"/>
                  </a:cxn>
                  <a:cxn ang="0">
                    <a:pos x="142" y="52"/>
                  </a:cxn>
                  <a:cxn ang="0">
                    <a:pos x="150" y="42"/>
                  </a:cxn>
                  <a:cxn ang="0">
                    <a:pos x="156" y="36"/>
                  </a:cxn>
                  <a:cxn ang="0">
                    <a:pos x="154" y="24"/>
                  </a:cxn>
                  <a:cxn ang="0">
                    <a:pos x="138" y="4"/>
                  </a:cxn>
                  <a:cxn ang="0">
                    <a:pos x="132" y="10"/>
                  </a:cxn>
                  <a:cxn ang="0">
                    <a:pos x="108" y="8"/>
                  </a:cxn>
                  <a:cxn ang="0">
                    <a:pos x="94" y="14"/>
                  </a:cxn>
                  <a:cxn ang="0">
                    <a:pos x="80" y="14"/>
                  </a:cxn>
                  <a:cxn ang="0">
                    <a:pos x="74" y="8"/>
                  </a:cxn>
                  <a:cxn ang="0">
                    <a:pos x="60" y="12"/>
                  </a:cxn>
                  <a:cxn ang="0">
                    <a:pos x="52" y="6"/>
                  </a:cxn>
                  <a:cxn ang="0">
                    <a:pos x="44" y="0"/>
                  </a:cxn>
                  <a:cxn ang="0">
                    <a:pos x="18" y="10"/>
                  </a:cxn>
                  <a:cxn ang="0">
                    <a:pos x="12" y="22"/>
                  </a:cxn>
                  <a:cxn ang="0">
                    <a:pos x="8" y="40"/>
                  </a:cxn>
                  <a:cxn ang="0">
                    <a:pos x="10" y="46"/>
                  </a:cxn>
                  <a:cxn ang="0">
                    <a:pos x="10" y="58"/>
                  </a:cxn>
                  <a:cxn ang="0">
                    <a:pos x="10" y="62"/>
                  </a:cxn>
                  <a:cxn ang="0">
                    <a:pos x="8" y="72"/>
                  </a:cxn>
                  <a:cxn ang="0">
                    <a:pos x="4" y="82"/>
                  </a:cxn>
                  <a:cxn ang="0">
                    <a:pos x="2" y="84"/>
                  </a:cxn>
                  <a:cxn ang="0">
                    <a:pos x="2" y="94"/>
                  </a:cxn>
                  <a:cxn ang="0">
                    <a:pos x="2" y="108"/>
                  </a:cxn>
                  <a:cxn ang="0">
                    <a:pos x="2" y="128"/>
                  </a:cxn>
                  <a:cxn ang="0">
                    <a:pos x="16" y="128"/>
                  </a:cxn>
                  <a:cxn ang="0">
                    <a:pos x="32" y="138"/>
                  </a:cxn>
                  <a:cxn ang="0">
                    <a:pos x="38" y="142"/>
                  </a:cxn>
                  <a:cxn ang="0">
                    <a:pos x="44" y="162"/>
                  </a:cxn>
                  <a:cxn ang="0">
                    <a:pos x="58" y="160"/>
                  </a:cxn>
                  <a:cxn ang="0">
                    <a:pos x="62" y="160"/>
                  </a:cxn>
                  <a:cxn ang="0">
                    <a:pos x="68" y="154"/>
                  </a:cxn>
                  <a:cxn ang="0">
                    <a:pos x="74" y="156"/>
                  </a:cxn>
                  <a:cxn ang="0">
                    <a:pos x="74" y="154"/>
                  </a:cxn>
                </a:cxnLst>
                <a:rect l="0" t="0" r="r" b="b"/>
                <a:pathLst>
                  <a:path w="158" h="162">
                    <a:moveTo>
                      <a:pt x="74" y="154"/>
                    </a:moveTo>
                    <a:lnTo>
                      <a:pt x="74" y="150"/>
                    </a:lnTo>
                    <a:lnTo>
                      <a:pt x="76" y="146"/>
                    </a:lnTo>
                    <a:lnTo>
                      <a:pt x="74" y="144"/>
                    </a:lnTo>
                    <a:lnTo>
                      <a:pt x="74" y="142"/>
                    </a:lnTo>
                    <a:lnTo>
                      <a:pt x="74" y="138"/>
                    </a:lnTo>
                    <a:lnTo>
                      <a:pt x="76" y="136"/>
                    </a:lnTo>
                    <a:lnTo>
                      <a:pt x="76" y="134"/>
                    </a:lnTo>
                    <a:lnTo>
                      <a:pt x="78" y="128"/>
                    </a:lnTo>
                    <a:lnTo>
                      <a:pt x="80" y="126"/>
                    </a:lnTo>
                    <a:lnTo>
                      <a:pt x="82" y="126"/>
                    </a:lnTo>
                    <a:lnTo>
                      <a:pt x="88" y="124"/>
                    </a:lnTo>
                    <a:lnTo>
                      <a:pt x="92" y="122"/>
                    </a:lnTo>
                    <a:lnTo>
                      <a:pt x="98" y="124"/>
                    </a:lnTo>
                    <a:lnTo>
                      <a:pt x="100" y="126"/>
                    </a:lnTo>
                    <a:lnTo>
                      <a:pt x="98" y="132"/>
                    </a:lnTo>
                    <a:lnTo>
                      <a:pt x="102" y="132"/>
                    </a:lnTo>
                    <a:lnTo>
                      <a:pt x="104" y="130"/>
                    </a:lnTo>
                    <a:lnTo>
                      <a:pt x="106" y="126"/>
                    </a:lnTo>
                    <a:lnTo>
                      <a:pt x="108" y="124"/>
                    </a:lnTo>
                    <a:lnTo>
                      <a:pt x="110" y="122"/>
                    </a:lnTo>
                    <a:lnTo>
                      <a:pt x="108" y="118"/>
                    </a:lnTo>
                    <a:lnTo>
                      <a:pt x="110" y="112"/>
                    </a:lnTo>
                    <a:lnTo>
                      <a:pt x="112" y="108"/>
                    </a:lnTo>
                    <a:lnTo>
                      <a:pt x="114" y="106"/>
                    </a:lnTo>
                    <a:lnTo>
                      <a:pt x="118" y="102"/>
                    </a:lnTo>
                    <a:lnTo>
                      <a:pt x="118" y="98"/>
                    </a:lnTo>
                    <a:lnTo>
                      <a:pt x="120" y="94"/>
                    </a:lnTo>
                    <a:lnTo>
                      <a:pt x="122" y="90"/>
                    </a:lnTo>
                    <a:lnTo>
                      <a:pt x="122" y="86"/>
                    </a:lnTo>
                    <a:lnTo>
                      <a:pt x="124" y="84"/>
                    </a:lnTo>
                    <a:lnTo>
                      <a:pt x="126" y="82"/>
                    </a:lnTo>
                    <a:lnTo>
                      <a:pt x="136" y="78"/>
                    </a:lnTo>
                    <a:lnTo>
                      <a:pt x="138" y="76"/>
                    </a:lnTo>
                    <a:lnTo>
                      <a:pt x="138" y="74"/>
                    </a:lnTo>
                    <a:lnTo>
                      <a:pt x="136" y="70"/>
                    </a:lnTo>
                    <a:lnTo>
                      <a:pt x="136" y="68"/>
                    </a:lnTo>
                    <a:lnTo>
                      <a:pt x="138" y="64"/>
                    </a:lnTo>
                    <a:lnTo>
                      <a:pt x="140" y="62"/>
                    </a:lnTo>
                    <a:lnTo>
                      <a:pt x="142" y="58"/>
                    </a:lnTo>
                    <a:lnTo>
                      <a:pt x="142" y="54"/>
                    </a:lnTo>
                    <a:lnTo>
                      <a:pt x="142" y="52"/>
                    </a:lnTo>
                    <a:lnTo>
                      <a:pt x="146" y="48"/>
                    </a:lnTo>
                    <a:lnTo>
                      <a:pt x="148" y="44"/>
                    </a:lnTo>
                    <a:lnTo>
                      <a:pt x="150" y="42"/>
                    </a:lnTo>
                    <a:lnTo>
                      <a:pt x="152" y="40"/>
                    </a:lnTo>
                    <a:lnTo>
                      <a:pt x="154" y="40"/>
                    </a:lnTo>
                    <a:lnTo>
                      <a:pt x="156" y="36"/>
                    </a:lnTo>
                    <a:lnTo>
                      <a:pt x="158" y="28"/>
                    </a:lnTo>
                    <a:lnTo>
                      <a:pt x="156" y="26"/>
                    </a:lnTo>
                    <a:lnTo>
                      <a:pt x="154" y="24"/>
                    </a:lnTo>
                    <a:lnTo>
                      <a:pt x="154" y="14"/>
                    </a:lnTo>
                    <a:lnTo>
                      <a:pt x="148" y="0"/>
                    </a:lnTo>
                    <a:lnTo>
                      <a:pt x="138" y="4"/>
                    </a:lnTo>
                    <a:lnTo>
                      <a:pt x="136" y="6"/>
                    </a:lnTo>
                    <a:lnTo>
                      <a:pt x="134" y="8"/>
                    </a:lnTo>
                    <a:lnTo>
                      <a:pt x="132" y="10"/>
                    </a:lnTo>
                    <a:lnTo>
                      <a:pt x="124" y="10"/>
                    </a:lnTo>
                    <a:lnTo>
                      <a:pt x="116" y="10"/>
                    </a:lnTo>
                    <a:lnTo>
                      <a:pt x="108" y="8"/>
                    </a:lnTo>
                    <a:lnTo>
                      <a:pt x="102" y="8"/>
                    </a:lnTo>
                    <a:lnTo>
                      <a:pt x="96" y="10"/>
                    </a:lnTo>
                    <a:lnTo>
                      <a:pt x="94" y="14"/>
                    </a:lnTo>
                    <a:lnTo>
                      <a:pt x="92" y="14"/>
                    </a:lnTo>
                    <a:lnTo>
                      <a:pt x="90" y="14"/>
                    </a:lnTo>
                    <a:lnTo>
                      <a:pt x="80" y="14"/>
                    </a:lnTo>
                    <a:lnTo>
                      <a:pt x="74" y="12"/>
                    </a:lnTo>
                    <a:lnTo>
                      <a:pt x="74" y="10"/>
                    </a:lnTo>
                    <a:lnTo>
                      <a:pt x="74" y="8"/>
                    </a:lnTo>
                    <a:lnTo>
                      <a:pt x="70" y="8"/>
                    </a:lnTo>
                    <a:lnTo>
                      <a:pt x="66" y="12"/>
                    </a:lnTo>
                    <a:lnTo>
                      <a:pt x="60" y="12"/>
                    </a:lnTo>
                    <a:lnTo>
                      <a:pt x="56" y="12"/>
                    </a:lnTo>
                    <a:lnTo>
                      <a:pt x="54" y="8"/>
                    </a:lnTo>
                    <a:lnTo>
                      <a:pt x="52" y="6"/>
                    </a:lnTo>
                    <a:lnTo>
                      <a:pt x="50" y="4"/>
                    </a:lnTo>
                    <a:lnTo>
                      <a:pt x="46" y="2"/>
                    </a:lnTo>
                    <a:lnTo>
                      <a:pt x="44" y="0"/>
                    </a:lnTo>
                    <a:lnTo>
                      <a:pt x="38" y="2"/>
                    </a:lnTo>
                    <a:lnTo>
                      <a:pt x="32" y="2"/>
                    </a:lnTo>
                    <a:lnTo>
                      <a:pt x="18" y="10"/>
                    </a:lnTo>
                    <a:lnTo>
                      <a:pt x="18" y="16"/>
                    </a:lnTo>
                    <a:lnTo>
                      <a:pt x="16" y="22"/>
                    </a:lnTo>
                    <a:lnTo>
                      <a:pt x="12" y="22"/>
                    </a:lnTo>
                    <a:lnTo>
                      <a:pt x="8" y="34"/>
                    </a:lnTo>
                    <a:lnTo>
                      <a:pt x="8" y="36"/>
                    </a:lnTo>
                    <a:lnTo>
                      <a:pt x="8" y="40"/>
                    </a:lnTo>
                    <a:lnTo>
                      <a:pt x="8" y="42"/>
                    </a:lnTo>
                    <a:lnTo>
                      <a:pt x="6" y="44"/>
                    </a:lnTo>
                    <a:lnTo>
                      <a:pt x="10" y="46"/>
                    </a:lnTo>
                    <a:lnTo>
                      <a:pt x="12" y="50"/>
                    </a:lnTo>
                    <a:lnTo>
                      <a:pt x="10" y="54"/>
                    </a:lnTo>
                    <a:lnTo>
                      <a:pt x="10" y="58"/>
                    </a:lnTo>
                    <a:lnTo>
                      <a:pt x="10" y="60"/>
                    </a:lnTo>
                    <a:lnTo>
                      <a:pt x="12" y="62"/>
                    </a:lnTo>
                    <a:lnTo>
                      <a:pt x="10" y="62"/>
                    </a:lnTo>
                    <a:lnTo>
                      <a:pt x="8" y="64"/>
                    </a:lnTo>
                    <a:lnTo>
                      <a:pt x="8" y="68"/>
                    </a:lnTo>
                    <a:lnTo>
                      <a:pt x="8" y="72"/>
                    </a:lnTo>
                    <a:lnTo>
                      <a:pt x="6" y="76"/>
                    </a:lnTo>
                    <a:lnTo>
                      <a:pt x="4" y="78"/>
                    </a:lnTo>
                    <a:lnTo>
                      <a:pt x="4" y="82"/>
                    </a:lnTo>
                    <a:lnTo>
                      <a:pt x="4" y="84"/>
                    </a:lnTo>
                    <a:lnTo>
                      <a:pt x="4" y="84"/>
                    </a:lnTo>
                    <a:lnTo>
                      <a:pt x="2" y="84"/>
                    </a:lnTo>
                    <a:lnTo>
                      <a:pt x="2" y="86"/>
                    </a:lnTo>
                    <a:lnTo>
                      <a:pt x="2" y="90"/>
                    </a:lnTo>
                    <a:lnTo>
                      <a:pt x="2" y="94"/>
                    </a:lnTo>
                    <a:lnTo>
                      <a:pt x="2" y="98"/>
                    </a:lnTo>
                    <a:lnTo>
                      <a:pt x="0" y="104"/>
                    </a:lnTo>
                    <a:lnTo>
                      <a:pt x="2" y="108"/>
                    </a:lnTo>
                    <a:lnTo>
                      <a:pt x="4" y="112"/>
                    </a:lnTo>
                    <a:lnTo>
                      <a:pt x="4" y="118"/>
                    </a:lnTo>
                    <a:lnTo>
                      <a:pt x="2" y="128"/>
                    </a:lnTo>
                    <a:lnTo>
                      <a:pt x="10" y="126"/>
                    </a:lnTo>
                    <a:lnTo>
                      <a:pt x="8" y="128"/>
                    </a:lnTo>
                    <a:lnTo>
                      <a:pt x="16" y="128"/>
                    </a:lnTo>
                    <a:lnTo>
                      <a:pt x="24" y="128"/>
                    </a:lnTo>
                    <a:lnTo>
                      <a:pt x="28" y="132"/>
                    </a:lnTo>
                    <a:lnTo>
                      <a:pt x="32" y="138"/>
                    </a:lnTo>
                    <a:lnTo>
                      <a:pt x="36" y="138"/>
                    </a:lnTo>
                    <a:lnTo>
                      <a:pt x="36" y="142"/>
                    </a:lnTo>
                    <a:lnTo>
                      <a:pt x="38" y="142"/>
                    </a:lnTo>
                    <a:lnTo>
                      <a:pt x="40" y="148"/>
                    </a:lnTo>
                    <a:lnTo>
                      <a:pt x="36" y="148"/>
                    </a:lnTo>
                    <a:lnTo>
                      <a:pt x="44" y="162"/>
                    </a:lnTo>
                    <a:lnTo>
                      <a:pt x="56" y="162"/>
                    </a:lnTo>
                    <a:lnTo>
                      <a:pt x="56" y="160"/>
                    </a:lnTo>
                    <a:lnTo>
                      <a:pt x="58" y="160"/>
                    </a:lnTo>
                    <a:lnTo>
                      <a:pt x="60" y="160"/>
                    </a:lnTo>
                    <a:lnTo>
                      <a:pt x="62" y="158"/>
                    </a:lnTo>
                    <a:lnTo>
                      <a:pt x="62" y="160"/>
                    </a:lnTo>
                    <a:lnTo>
                      <a:pt x="64" y="160"/>
                    </a:lnTo>
                    <a:lnTo>
                      <a:pt x="66" y="158"/>
                    </a:lnTo>
                    <a:lnTo>
                      <a:pt x="68" y="154"/>
                    </a:lnTo>
                    <a:lnTo>
                      <a:pt x="72" y="154"/>
                    </a:lnTo>
                    <a:lnTo>
                      <a:pt x="74" y="158"/>
                    </a:lnTo>
                    <a:lnTo>
                      <a:pt x="74" y="156"/>
                    </a:lnTo>
                    <a:lnTo>
                      <a:pt x="74" y="154"/>
                    </a:lnTo>
                    <a:lnTo>
                      <a:pt x="74" y="154"/>
                    </a:lnTo>
                    <a:lnTo>
                      <a:pt x="74" y="15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97" name="Freeform 482">
                <a:extLst>
                  <a:ext uri="{FF2B5EF4-FFF2-40B4-BE49-F238E27FC236}">
                    <a16:creationId xmlns:a16="http://schemas.microsoft.com/office/drawing/2014/main" id="{E0B04F6A-E7DD-006F-11E0-2A3A78E5C785}"/>
                  </a:ext>
                </a:extLst>
              </p:cNvPr>
              <p:cNvSpPr>
                <a:spLocks/>
              </p:cNvSpPr>
              <p:nvPr/>
            </p:nvSpPr>
            <p:spPr bwMode="auto">
              <a:xfrm>
                <a:off x="4984705" y="4525084"/>
                <a:ext cx="167244" cy="190215"/>
              </a:xfrm>
              <a:custGeom>
                <a:avLst/>
                <a:gdLst/>
                <a:ahLst/>
                <a:cxnLst>
                  <a:cxn ang="0">
                    <a:pos x="0" y="4"/>
                  </a:cxn>
                  <a:cxn ang="0">
                    <a:pos x="0" y="12"/>
                  </a:cxn>
                  <a:cxn ang="0">
                    <a:pos x="0" y="24"/>
                  </a:cxn>
                  <a:cxn ang="0">
                    <a:pos x="12" y="36"/>
                  </a:cxn>
                  <a:cxn ang="0">
                    <a:pos x="16" y="44"/>
                  </a:cxn>
                  <a:cxn ang="0">
                    <a:pos x="18" y="52"/>
                  </a:cxn>
                  <a:cxn ang="0">
                    <a:pos x="22" y="68"/>
                  </a:cxn>
                  <a:cxn ang="0">
                    <a:pos x="28" y="72"/>
                  </a:cxn>
                  <a:cxn ang="0">
                    <a:pos x="28" y="80"/>
                  </a:cxn>
                  <a:cxn ang="0">
                    <a:pos x="32" y="84"/>
                  </a:cxn>
                  <a:cxn ang="0">
                    <a:pos x="36" y="90"/>
                  </a:cxn>
                  <a:cxn ang="0">
                    <a:pos x="38" y="94"/>
                  </a:cxn>
                  <a:cxn ang="0">
                    <a:pos x="36" y="100"/>
                  </a:cxn>
                  <a:cxn ang="0">
                    <a:pos x="36" y="106"/>
                  </a:cxn>
                  <a:cxn ang="0">
                    <a:pos x="36" y="108"/>
                  </a:cxn>
                  <a:cxn ang="0">
                    <a:pos x="36" y="120"/>
                  </a:cxn>
                  <a:cxn ang="0">
                    <a:pos x="38" y="128"/>
                  </a:cxn>
                  <a:cxn ang="0">
                    <a:pos x="40" y="144"/>
                  </a:cxn>
                  <a:cxn ang="0">
                    <a:pos x="40" y="148"/>
                  </a:cxn>
                  <a:cxn ang="0">
                    <a:pos x="40" y="158"/>
                  </a:cxn>
                  <a:cxn ang="0">
                    <a:pos x="42" y="164"/>
                  </a:cxn>
                  <a:cxn ang="0">
                    <a:pos x="46" y="180"/>
                  </a:cxn>
                  <a:cxn ang="0">
                    <a:pos x="56" y="186"/>
                  </a:cxn>
                  <a:cxn ang="0">
                    <a:pos x="58" y="194"/>
                  </a:cxn>
                  <a:cxn ang="0">
                    <a:pos x="62" y="194"/>
                  </a:cxn>
                  <a:cxn ang="0">
                    <a:pos x="68" y="188"/>
                  </a:cxn>
                  <a:cxn ang="0">
                    <a:pos x="72" y="190"/>
                  </a:cxn>
                  <a:cxn ang="0">
                    <a:pos x="72" y="194"/>
                  </a:cxn>
                  <a:cxn ang="0">
                    <a:pos x="80" y="198"/>
                  </a:cxn>
                  <a:cxn ang="0">
                    <a:pos x="86" y="198"/>
                  </a:cxn>
                  <a:cxn ang="0">
                    <a:pos x="92" y="192"/>
                  </a:cxn>
                  <a:cxn ang="0">
                    <a:pos x="98" y="190"/>
                  </a:cxn>
                  <a:cxn ang="0">
                    <a:pos x="102" y="140"/>
                  </a:cxn>
                  <a:cxn ang="0">
                    <a:pos x="116" y="82"/>
                  </a:cxn>
                  <a:cxn ang="0">
                    <a:pos x="126" y="26"/>
                  </a:cxn>
                  <a:cxn ang="0">
                    <a:pos x="158" y="24"/>
                  </a:cxn>
                  <a:cxn ang="0">
                    <a:pos x="160" y="22"/>
                  </a:cxn>
                  <a:cxn ang="0">
                    <a:pos x="164" y="22"/>
                  </a:cxn>
                  <a:cxn ang="0">
                    <a:pos x="166" y="20"/>
                  </a:cxn>
                  <a:cxn ang="0">
                    <a:pos x="170" y="18"/>
                  </a:cxn>
                  <a:cxn ang="0">
                    <a:pos x="170" y="16"/>
                  </a:cxn>
                  <a:cxn ang="0">
                    <a:pos x="166" y="12"/>
                  </a:cxn>
                  <a:cxn ang="0">
                    <a:pos x="148" y="14"/>
                  </a:cxn>
                  <a:cxn ang="0">
                    <a:pos x="114" y="18"/>
                  </a:cxn>
                  <a:cxn ang="0">
                    <a:pos x="106" y="16"/>
                  </a:cxn>
                  <a:cxn ang="0">
                    <a:pos x="102" y="16"/>
                  </a:cxn>
                  <a:cxn ang="0">
                    <a:pos x="98" y="14"/>
                  </a:cxn>
                  <a:cxn ang="0">
                    <a:pos x="92" y="14"/>
                  </a:cxn>
                  <a:cxn ang="0">
                    <a:pos x="90" y="12"/>
                  </a:cxn>
                  <a:cxn ang="0">
                    <a:pos x="86" y="10"/>
                  </a:cxn>
                  <a:cxn ang="0">
                    <a:pos x="82" y="6"/>
                  </a:cxn>
                  <a:cxn ang="0">
                    <a:pos x="22" y="2"/>
                  </a:cxn>
                  <a:cxn ang="0">
                    <a:pos x="16" y="2"/>
                  </a:cxn>
                  <a:cxn ang="0">
                    <a:pos x="12" y="4"/>
                  </a:cxn>
                  <a:cxn ang="0">
                    <a:pos x="4" y="4"/>
                  </a:cxn>
                  <a:cxn ang="0">
                    <a:pos x="0" y="4"/>
                  </a:cxn>
                </a:cxnLst>
                <a:rect l="0" t="0" r="r" b="b"/>
                <a:pathLst>
                  <a:path w="172" h="198">
                    <a:moveTo>
                      <a:pt x="0" y="4"/>
                    </a:moveTo>
                    <a:lnTo>
                      <a:pt x="0" y="4"/>
                    </a:lnTo>
                    <a:lnTo>
                      <a:pt x="2" y="8"/>
                    </a:lnTo>
                    <a:lnTo>
                      <a:pt x="0" y="12"/>
                    </a:lnTo>
                    <a:lnTo>
                      <a:pt x="0" y="20"/>
                    </a:lnTo>
                    <a:lnTo>
                      <a:pt x="0" y="24"/>
                    </a:lnTo>
                    <a:lnTo>
                      <a:pt x="6" y="26"/>
                    </a:lnTo>
                    <a:lnTo>
                      <a:pt x="12" y="36"/>
                    </a:lnTo>
                    <a:lnTo>
                      <a:pt x="16" y="38"/>
                    </a:lnTo>
                    <a:lnTo>
                      <a:pt x="16" y="44"/>
                    </a:lnTo>
                    <a:lnTo>
                      <a:pt x="14" y="46"/>
                    </a:lnTo>
                    <a:lnTo>
                      <a:pt x="18" y="52"/>
                    </a:lnTo>
                    <a:lnTo>
                      <a:pt x="18" y="58"/>
                    </a:lnTo>
                    <a:lnTo>
                      <a:pt x="22" y="68"/>
                    </a:lnTo>
                    <a:lnTo>
                      <a:pt x="26" y="68"/>
                    </a:lnTo>
                    <a:lnTo>
                      <a:pt x="28" y="72"/>
                    </a:lnTo>
                    <a:lnTo>
                      <a:pt x="28" y="74"/>
                    </a:lnTo>
                    <a:lnTo>
                      <a:pt x="28" y="80"/>
                    </a:lnTo>
                    <a:lnTo>
                      <a:pt x="30" y="80"/>
                    </a:lnTo>
                    <a:lnTo>
                      <a:pt x="32" y="84"/>
                    </a:lnTo>
                    <a:lnTo>
                      <a:pt x="36" y="88"/>
                    </a:lnTo>
                    <a:lnTo>
                      <a:pt x="36" y="90"/>
                    </a:lnTo>
                    <a:lnTo>
                      <a:pt x="36" y="92"/>
                    </a:lnTo>
                    <a:lnTo>
                      <a:pt x="38" y="94"/>
                    </a:lnTo>
                    <a:lnTo>
                      <a:pt x="34" y="98"/>
                    </a:lnTo>
                    <a:lnTo>
                      <a:pt x="36" y="100"/>
                    </a:lnTo>
                    <a:lnTo>
                      <a:pt x="36" y="102"/>
                    </a:lnTo>
                    <a:lnTo>
                      <a:pt x="36" y="106"/>
                    </a:lnTo>
                    <a:lnTo>
                      <a:pt x="38" y="108"/>
                    </a:lnTo>
                    <a:lnTo>
                      <a:pt x="36" y="108"/>
                    </a:lnTo>
                    <a:lnTo>
                      <a:pt x="38" y="118"/>
                    </a:lnTo>
                    <a:lnTo>
                      <a:pt x="36" y="120"/>
                    </a:lnTo>
                    <a:lnTo>
                      <a:pt x="36" y="122"/>
                    </a:lnTo>
                    <a:lnTo>
                      <a:pt x="38" y="128"/>
                    </a:lnTo>
                    <a:lnTo>
                      <a:pt x="40" y="134"/>
                    </a:lnTo>
                    <a:lnTo>
                      <a:pt x="40" y="144"/>
                    </a:lnTo>
                    <a:lnTo>
                      <a:pt x="40" y="146"/>
                    </a:lnTo>
                    <a:lnTo>
                      <a:pt x="40" y="148"/>
                    </a:lnTo>
                    <a:lnTo>
                      <a:pt x="40" y="152"/>
                    </a:lnTo>
                    <a:lnTo>
                      <a:pt x="40" y="158"/>
                    </a:lnTo>
                    <a:lnTo>
                      <a:pt x="40" y="164"/>
                    </a:lnTo>
                    <a:lnTo>
                      <a:pt x="42" y="164"/>
                    </a:lnTo>
                    <a:lnTo>
                      <a:pt x="44" y="174"/>
                    </a:lnTo>
                    <a:lnTo>
                      <a:pt x="46" y="180"/>
                    </a:lnTo>
                    <a:lnTo>
                      <a:pt x="52" y="186"/>
                    </a:lnTo>
                    <a:lnTo>
                      <a:pt x="56" y="186"/>
                    </a:lnTo>
                    <a:lnTo>
                      <a:pt x="58" y="190"/>
                    </a:lnTo>
                    <a:lnTo>
                      <a:pt x="58" y="194"/>
                    </a:lnTo>
                    <a:lnTo>
                      <a:pt x="60" y="196"/>
                    </a:lnTo>
                    <a:lnTo>
                      <a:pt x="62" y="194"/>
                    </a:lnTo>
                    <a:lnTo>
                      <a:pt x="66" y="190"/>
                    </a:lnTo>
                    <a:lnTo>
                      <a:pt x="68" y="188"/>
                    </a:lnTo>
                    <a:lnTo>
                      <a:pt x="72" y="188"/>
                    </a:lnTo>
                    <a:lnTo>
                      <a:pt x="72" y="190"/>
                    </a:lnTo>
                    <a:lnTo>
                      <a:pt x="72" y="192"/>
                    </a:lnTo>
                    <a:lnTo>
                      <a:pt x="72" y="194"/>
                    </a:lnTo>
                    <a:lnTo>
                      <a:pt x="74" y="198"/>
                    </a:lnTo>
                    <a:lnTo>
                      <a:pt x="80" y="198"/>
                    </a:lnTo>
                    <a:lnTo>
                      <a:pt x="84" y="198"/>
                    </a:lnTo>
                    <a:lnTo>
                      <a:pt x="86" y="198"/>
                    </a:lnTo>
                    <a:lnTo>
                      <a:pt x="90" y="196"/>
                    </a:lnTo>
                    <a:lnTo>
                      <a:pt x="92" y="192"/>
                    </a:lnTo>
                    <a:lnTo>
                      <a:pt x="94" y="190"/>
                    </a:lnTo>
                    <a:lnTo>
                      <a:pt x="98" y="190"/>
                    </a:lnTo>
                    <a:lnTo>
                      <a:pt x="100" y="190"/>
                    </a:lnTo>
                    <a:lnTo>
                      <a:pt x="102" y="140"/>
                    </a:lnTo>
                    <a:lnTo>
                      <a:pt x="102" y="82"/>
                    </a:lnTo>
                    <a:lnTo>
                      <a:pt x="116" y="82"/>
                    </a:lnTo>
                    <a:lnTo>
                      <a:pt x="116" y="26"/>
                    </a:lnTo>
                    <a:lnTo>
                      <a:pt x="126" y="26"/>
                    </a:lnTo>
                    <a:lnTo>
                      <a:pt x="156" y="24"/>
                    </a:lnTo>
                    <a:lnTo>
                      <a:pt x="158" y="24"/>
                    </a:lnTo>
                    <a:lnTo>
                      <a:pt x="160" y="24"/>
                    </a:lnTo>
                    <a:lnTo>
                      <a:pt x="160" y="22"/>
                    </a:lnTo>
                    <a:lnTo>
                      <a:pt x="162" y="20"/>
                    </a:lnTo>
                    <a:lnTo>
                      <a:pt x="164" y="22"/>
                    </a:lnTo>
                    <a:lnTo>
                      <a:pt x="164" y="22"/>
                    </a:lnTo>
                    <a:lnTo>
                      <a:pt x="166" y="20"/>
                    </a:lnTo>
                    <a:lnTo>
                      <a:pt x="168" y="18"/>
                    </a:lnTo>
                    <a:lnTo>
                      <a:pt x="170" y="18"/>
                    </a:lnTo>
                    <a:lnTo>
                      <a:pt x="172" y="18"/>
                    </a:lnTo>
                    <a:lnTo>
                      <a:pt x="170" y="16"/>
                    </a:lnTo>
                    <a:lnTo>
                      <a:pt x="168" y="14"/>
                    </a:lnTo>
                    <a:lnTo>
                      <a:pt x="166" y="12"/>
                    </a:lnTo>
                    <a:lnTo>
                      <a:pt x="164" y="12"/>
                    </a:lnTo>
                    <a:lnTo>
                      <a:pt x="148" y="14"/>
                    </a:lnTo>
                    <a:lnTo>
                      <a:pt x="118" y="20"/>
                    </a:lnTo>
                    <a:lnTo>
                      <a:pt x="114" y="18"/>
                    </a:lnTo>
                    <a:lnTo>
                      <a:pt x="108" y="16"/>
                    </a:lnTo>
                    <a:lnTo>
                      <a:pt x="106" y="16"/>
                    </a:lnTo>
                    <a:lnTo>
                      <a:pt x="104" y="16"/>
                    </a:lnTo>
                    <a:lnTo>
                      <a:pt x="102" y="16"/>
                    </a:lnTo>
                    <a:lnTo>
                      <a:pt x="100" y="16"/>
                    </a:lnTo>
                    <a:lnTo>
                      <a:pt x="98" y="14"/>
                    </a:lnTo>
                    <a:lnTo>
                      <a:pt x="94" y="14"/>
                    </a:lnTo>
                    <a:lnTo>
                      <a:pt x="92" y="14"/>
                    </a:lnTo>
                    <a:lnTo>
                      <a:pt x="90" y="14"/>
                    </a:lnTo>
                    <a:lnTo>
                      <a:pt x="90" y="12"/>
                    </a:lnTo>
                    <a:lnTo>
                      <a:pt x="88" y="12"/>
                    </a:lnTo>
                    <a:lnTo>
                      <a:pt x="86" y="10"/>
                    </a:lnTo>
                    <a:lnTo>
                      <a:pt x="84" y="8"/>
                    </a:lnTo>
                    <a:lnTo>
                      <a:pt x="82" y="6"/>
                    </a:lnTo>
                    <a:lnTo>
                      <a:pt x="26" y="4"/>
                    </a:lnTo>
                    <a:lnTo>
                      <a:pt x="22" y="2"/>
                    </a:lnTo>
                    <a:lnTo>
                      <a:pt x="18" y="0"/>
                    </a:lnTo>
                    <a:lnTo>
                      <a:pt x="16" y="2"/>
                    </a:lnTo>
                    <a:lnTo>
                      <a:pt x="14" y="2"/>
                    </a:lnTo>
                    <a:lnTo>
                      <a:pt x="12" y="4"/>
                    </a:lnTo>
                    <a:lnTo>
                      <a:pt x="10" y="4"/>
                    </a:lnTo>
                    <a:lnTo>
                      <a:pt x="4" y="4"/>
                    </a:lnTo>
                    <a:lnTo>
                      <a:pt x="0" y="4"/>
                    </a:lnTo>
                    <a:lnTo>
                      <a:pt x="0" y="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98" name="Freeform 483">
                <a:extLst>
                  <a:ext uri="{FF2B5EF4-FFF2-40B4-BE49-F238E27FC236}">
                    <a16:creationId xmlns:a16="http://schemas.microsoft.com/office/drawing/2014/main" id="{4E63A3E2-C5AE-0DC7-4DC2-489ED0ED2FDC}"/>
                  </a:ext>
                </a:extLst>
              </p:cNvPr>
              <p:cNvSpPr>
                <a:spLocks/>
              </p:cNvSpPr>
              <p:nvPr/>
            </p:nvSpPr>
            <p:spPr bwMode="auto">
              <a:xfrm>
                <a:off x="5216124" y="4432858"/>
                <a:ext cx="134184" cy="245935"/>
              </a:xfrm>
              <a:custGeom>
                <a:avLst/>
                <a:gdLst/>
                <a:ahLst/>
                <a:cxnLst>
                  <a:cxn ang="0">
                    <a:pos x="62" y="44"/>
                  </a:cxn>
                  <a:cxn ang="0">
                    <a:pos x="68" y="58"/>
                  </a:cxn>
                  <a:cxn ang="0">
                    <a:pos x="72" y="64"/>
                  </a:cxn>
                  <a:cxn ang="0">
                    <a:pos x="72" y="78"/>
                  </a:cxn>
                  <a:cxn ang="0">
                    <a:pos x="64" y="78"/>
                  </a:cxn>
                  <a:cxn ang="0">
                    <a:pos x="64" y="92"/>
                  </a:cxn>
                  <a:cxn ang="0">
                    <a:pos x="60" y="98"/>
                  </a:cxn>
                  <a:cxn ang="0">
                    <a:pos x="58" y="92"/>
                  </a:cxn>
                  <a:cxn ang="0">
                    <a:pos x="46" y="80"/>
                  </a:cxn>
                  <a:cxn ang="0">
                    <a:pos x="50" y="68"/>
                  </a:cxn>
                  <a:cxn ang="0">
                    <a:pos x="38" y="64"/>
                  </a:cxn>
                  <a:cxn ang="0">
                    <a:pos x="32" y="56"/>
                  </a:cxn>
                  <a:cxn ang="0">
                    <a:pos x="2" y="68"/>
                  </a:cxn>
                  <a:cxn ang="0">
                    <a:pos x="2" y="80"/>
                  </a:cxn>
                  <a:cxn ang="0">
                    <a:pos x="24" y="88"/>
                  </a:cxn>
                  <a:cxn ang="0">
                    <a:pos x="34" y="98"/>
                  </a:cxn>
                  <a:cxn ang="0">
                    <a:pos x="30" y="106"/>
                  </a:cxn>
                  <a:cxn ang="0">
                    <a:pos x="36" y="124"/>
                  </a:cxn>
                  <a:cxn ang="0">
                    <a:pos x="30" y="134"/>
                  </a:cxn>
                  <a:cxn ang="0">
                    <a:pos x="32" y="138"/>
                  </a:cxn>
                  <a:cxn ang="0">
                    <a:pos x="30" y="150"/>
                  </a:cxn>
                  <a:cxn ang="0">
                    <a:pos x="30" y="162"/>
                  </a:cxn>
                  <a:cxn ang="0">
                    <a:pos x="34" y="166"/>
                  </a:cxn>
                  <a:cxn ang="0">
                    <a:pos x="18" y="192"/>
                  </a:cxn>
                  <a:cxn ang="0">
                    <a:pos x="16" y="206"/>
                  </a:cxn>
                  <a:cxn ang="0">
                    <a:pos x="16" y="228"/>
                  </a:cxn>
                  <a:cxn ang="0">
                    <a:pos x="18" y="240"/>
                  </a:cxn>
                  <a:cxn ang="0">
                    <a:pos x="24" y="246"/>
                  </a:cxn>
                  <a:cxn ang="0">
                    <a:pos x="32" y="256"/>
                  </a:cxn>
                  <a:cxn ang="0">
                    <a:pos x="28" y="246"/>
                  </a:cxn>
                  <a:cxn ang="0">
                    <a:pos x="38" y="238"/>
                  </a:cxn>
                  <a:cxn ang="0">
                    <a:pos x="62" y="226"/>
                  </a:cxn>
                  <a:cxn ang="0">
                    <a:pos x="66" y="216"/>
                  </a:cxn>
                  <a:cxn ang="0">
                    <a:pos x="66" y="188"/>
                  </a:cxn>
                  <a:cxn ang="0">
                    <a:pos x="60" y="162"/>
                  </a:cxn>
                  <a:cxn ang="0">
                    <a:pos x="56" y="142"/>
                  </a:cxn>
                  <a:cxn ang="0">
                    <a:pos x="66" y="134"/>
                  </a:cxn>
                  <a:cxn ang="0">
                    <a:pos x="74" y="128"/>
                  </a:cxn>
                  <a:cxn ang="0">
                    <a:pos x="86" y="116"/>
                  </a:cxn>
                  <a:cxn ang="0">
                    <a:pos x="94" y="112"/>
                  </a:cxn>
                  <a:cxn ang="0">
                    <a:pos x="108" y="106"/>
                  </a:cxn>
                  <a:cxn ang="0">
                    <a:pos x="118" y="96"/>
                  </a:cxn>
                  <a:cxn ang="0">
                    <a:pos x="126" y="88"/>
                  </a:cxn>
                  <a:cxn ang="0">
                    <a:pos x="132" y="80"/>
                  </a:cxn>
                  <a:cxn ang="0">
                    <a:pos x="136" y="74"/>
                  </a:cxn>
                  <a:cxn ang="0">
                    <a:pos x="132" y="66"/>
                  </a:cxn>
                  <a:cxn ang="0">
                    <a:pos x="134" y="54"/>
                  </a:cxn>
                  <a:cxn ang="0">
                    <a:pos x="138" y="44"/>
                  </a:cxn>
                  <a:cxn ang="0">
                    <a:pos x="136" y="36"/>
                  </a:cxn>
                  <a:cxn ang="0">
                    <a:pos x="134" y="10"/>
                  </a:cxn>
                  <a:cxn ang="0">
                    <a:pos x="120" y="6"/>
                  </a:cxn>
                  <a:cxn ang="0">
                    <a:pos x="108" y="10"/>
                  </a:cxn>
                  <a:cxn ang="0">
                    <a:pos x="100" y="12"/>
                  </a:cxn>
                  <a:cxn ang="0">
                    <a:pos x="94" y="16"/>
                  </a:cxn>
                  <a:cxn ang="0">
                    <a:pos x="72" y="20"/>
                  </a:cxn>
                  <a:cxn ang="0">
                    <a:pos x="68" y="14"/>
                  </a:cxn>
                  <a:cxn ang="0">
                    <a:pos x="58" y="18"/>
                  </a:cxn>
                  <a:cxn ang="0">
                    <a:pos x="60" y="28"/>
                  </a:cxn>
                  <a:cxn ang="0">
                    <a:pos x="60" y="42"/>
                  </a:cxn>
                </a:cxnLst>
                <a:rect l="0" t="0" r="r" b="b"/>
                <a:pathLst>
                  <a:path w="138" h="256">
                    <a:moveTo>
                      <a:pt x="60" y="42"/>
                    </a:moveTo>
                    <a:lnTo>
                      <a:pt x="60" y="42"/>
                    </a:lnTo>
                    <a:lnTo>
                      <a:pt x="62" y="44"/>
                    </a:lnTo>
                    <a:lnTo>
                      <a:pt x="64" y="48"/>
                    </a:lnTo>
                    <a:lnTo>
                      <a:pt x="66" y="54"/>
                    </a:lnTo>
                    <a:lnTo>
                      <a:pt x="68" y="58"/>
                    </a:lnTo>
                    <a:lnTo>
                      <a:pt x="70" y="60"/>
                    </a:lnTo>
                    <a:lnTo>
                      <a:pt x="72" y="60"/>
                    </a:lnTo>
                    <a:lnTo>
                      <a:pt x="72" y="64"/>
                    </a:lnTo>
                    <a:lnTo>
                      <a:pt x="70" y="70"/>
                    </a:lnTo>
                    <a:lnTo>
                      <a:pt x="70" y="74"/>
                    </a:lnTo>
                    <a:lnTo>
                      <a:pt x="72" y="78"/>
                    </a:lnTo>
                    <a:lnTo>
                      <a:pt x="70" y="78"/>
                    </a:lnTo>
                    <a:lnTo>
                      <a:pt x="68" y="80"/>
                    </a:lnTo>
                    <a:lnTo>
                      <a:pt x="64" y="78"/>
                    </a:lnTo>
                    <a:lnTo>
                      <a:pt x="62" y="80"/>
                    </a:lnTo>
                    <a:lnTo>
                      <a:pt x="62" y="84"/>
                    </a:lnTo>
                    <a:lnTo>
                      <a:pt x="64" y="92"/>
                    </a:lnTo>
                    <a:lnTo>
                      <a:pt x="64" y="94"/>
                    </a:lnTo>
                    <a:lnTo>
                      <a:pt x="64" y="96"/>
                    </a:lnTo>
                    <a:lnTo>
                      <a:pt x="60" y="98"/>
                    </a:lnTo>
                    <a:lnTo>
                      <a:pt x="58" y="98"/>
                    </a:lnTo>
                    <a:lnTo>
                      <a:pt x="58" y="96"/>
                    </a:lnTo>
                    <a:lnTo>
                      <a:pt x="58" y="92"/>
                    </a:lnTo>
                    <a:lnTo>
                      <a:pt x="54" y="90"/>
                    </a:lnTo>
                    <a:lnTo>
                      <a:pt x="48" y="82"/>
                    </a:lnTo>
                    <a:lnTo>
                      <a:pt x="46" y="80"/>
                    </a:lnTo>
                    <a:lnTo>
                      <a:pt x="48" y="78"/>
                    </a:lnTo>
                    <a:lnTo>
                      <a:pt x="50" y="72"/>
                    </a:lnTo>
                    <a:lnTo>
                      <a:pt x="50" y="68"/>
                    </a:lnTo>
                    <a:lnTo>
                      <a:pt x="48" y="64"/>
                    </a:lnTo>
                    <a:lnTo>
                      <a:pt x="48" y="62"/>
                    </a:lnTo>
                    <a:lnTo>
                      <a:pt x="38" y="64"/>
                    </a:lnTo>
                    <a:lnTo>
                      <a:pt x="36" y="64"/>
                    </a:lnTo>
                    <a:lnTo>
                      <a:pt x="36" y="60"/>
                    </a:lnTo>
                    <a:lnTo>
                      <a:pt x="32" y="56"/>
                    </a:lnTo>
                    <a:lnTo>
                      <a:pt x="30" y="54"/>
                    </a:lnTo>
                    <a:lnTo>
                      <a:pt x="0" y="64"/>
                    </a:lnTo>
                    <a:lnTo>
                      <a:pt x="2" y="68"/>
                    </a:lnTo>
                    <a:lnTo>
                      <a:pt x="4" y="70"/>
                    </a:lnTo>
                    <a:lnTo>
                      <a:pt x="4" y="72"/>
                    </a:lnTo>
                    <a:lnTo>
                      <a:pt x="2" y="80"/>
                    </a:lnTo>
                    <a:lnTo>
                      <a:pt x="8" y="80"/>
                    </a:lnTo>
                    <a:lnTo>
                      <a:pt x="16" y="84"/>
                    </a:lnTo>
                    <a:lnTo>
                      <a:pt x="24" y="88"/>
                    </a:lnTo>
                    <a:lnTo>
                      <a:pt x="28" y="90"/>
                    </a:lnTo>
                    <a:lnTo>
                      <a:pt x="32" y="94"/>
                    </a:lnTo>
                    <a:lnTo>
                      <a:pt x="34" y="98"/>
                    </a:lnTo>
                    <a:lnTo>
                      <a:pt x="34" y="100"/>
                    </a:lnTo>
                    <a:lnTo>
                      <a:pt x="32" y="102"/>
                    </a:lnTo>
                    <a:lnTo>
                      <a:pt x="30" y="106"/>
                    </a:lnTo>
                    <a:lnTo>
                      <a:pt x="30" y="112"/>
                    </a:lnTo>
                    <a:lnTo>
                      <a:pt x="32" y="118"/>
                    </a:lnTo>
                    <a:lnTo>
                      <a:pt x="36" y="124"/>
                    </a:lnTo>
                    <a:lnTo>
                      <a:pt x="32" y="130"/>
                    </a:lnTo>
                    <a:lnTo>
                      <a:pt x="30" y="132"/>
                    </a:lnTo>
                    <a:lnTo>
                      <a:pt x="30" y="134"/>
                    </a:lnTo>
                    <a:lnTo>
                      <a:pt x="30" y="136"/>
                    </a:lnTo>
                    <a:lnTo>
                      <a:pt x="32" y="136"/>
                    </a:lnTo>
                    <a:lnTo>
                      <a:pt x="32" y="138"/>
                    </a:lnTo>
                    <a:lnTo>
                      <a:pt x="30" y="142"/>
                    </a:lnTo>
                    <a:lnTo>
                      <a:pt x="30" y="148"/>
                    </a:lnTo>
                    <a:lnTo>
                      <a:pt x="30" y="150"/>
                    </a:lnTo>
                    <a:lnTo>
                      <a:pt x="30" y="154"/>
                    </a:lnTo>
                    <a:lnTo>
                      <a:pt x="32" y="158"/>
                    </a:lnTo>
                    <a:lnTo>
                      <a:pt x="30" y="162"/>
                    </a:lnTo>
                    <a:lnTo>
                      <a:pt x="32" y="164"/>
                    </a:lnTo>
                    <a:lnTo>
                      <a:pt x="34" y="164"/>
                    </a:lnTo>
                    <a:lnTo>
                      <a:pt x="34" y="166"/>
                    </a:lnTo>
                    <a:lnTo>
                      <a:pt x="28" y="176"/>
                    </a:lnTo>
                    <a:lnTo>
                      <a:pt x="18" y="188"/>
                    </a:lnTo>
                    <a:lnTo>
                      <a:pt x="18" y="192"/>
                    </a:lnTo>
                    <a:lnTo>
                      <a:pt x="18" y="196"/>
                    </a:lnTo>
                    <a:lnTo>
                      <a:pt x="16" y="200"/>
                    </a:lnTo>
                    <a:lnTo>
                      <a:pt x="16" y="206"/>
                    </a:lnTo>
                    <a:lnTo>
                      <a:pt x="18" y="214"/>
                    </a:lnTo>
                    <a:lnTo>
                      <a:pt x="18" y="222"/>
                    </a:lnTo>
                    <a:lnTo>
                      <a:pt x="16" y="228"/>
                    </a:lnTo>
                    <a:lnTo>
                      <a:pt x="16" y="232"/>
                    </a:lnTo>
                    <a:lnTo>
                      <a:pt x="16" y="236"/>
                    </a:lnTo>
                    <a:lnTo>
                      <a:pt x="18" y="240"/>
                    </a:lnTo>
                    <a:lnTo>
                      <a:pt x="18" y="242"/>
                    </a:lnTo>
                    <a:lnTo>
                      <a:pt x="22" y="244"/>
                    </a:lnTo>
                    <a:lnTo>
                      <a:pt x="24" y="246"/>
                    </a:lnTo>
                    <a:lnTo>
                      <a:pt x="24" y="246"/>
                    </a:lnTo>
                    <a:lnTo>
                      <a:pt x="22" y="254"/>
                    </a:lnTo>
                    <a:lnTo>
                      <a:pt x="32" y="256"/>
                    </a:lnTo>
                    <a:lnTo>
                      <a:pt x="34" y="248"/>
                    </a:lnTo>
                    <a:lnTo>
                      <a:pt x="30" y="248"/>
                    </a:lnTo>
                    <a:lnTo>
                      <a:pt x="28" y="246"/>
                    </a:lnTo>
                    <a:lnTo>
                      <a:pt x="28" y="244"/>
                    </a:lnTo>
                    <a:lnTo>
                      <a:pt x="32" y="240"/>
                    </a:lnTo>
                    <a:lnTo>
                      <a:pt x="38" y="238"/>
                    </a:lnTo>
                    <a:lnTo>
                      <a:pt x="48" y="234"/>
                    </a:lnTo>
                    <a:lnTo>
                      <a:pt x="56" y="228"/>
                    </a:lnTo>
                    <a:lnTo>
                      <a:pt x="62" y="226"/>
                    </a:lnTo>
                    <a:lnTo>
                      <a:pt x="66" y="222"/>
                    </a:lnTo>
                    <a:lnTo>
                      <a:pt x="68" y="220"/>
                    </a:lnTo>
                    <a:lnTo>
                      <a:pt x="66" y="216"/>
                    </a:lnTo>
                    <a:lnTo>
                      <a:pt x="66" y="212"/>
                    </a:lnTo>
                    <a:lnTo>
                      <a:pt x="66" y="200"/>
                    </a:lnTo>
                    <a:lnTo>
                      <a:pt x="66" y="188"/>
                    </a:lnTo>
                    <a:lnTo>
                      <a:pt x="60" y="176"/>
                    </a:lnTo>
                    <a:lnTo>
                      <a:pt x="60" y="168"/>
                    </a:lnTo>
                    <a:lnTo>
                      <a:pt x="60" y="162"/>
                    </a:lnTo>
                    <a:lnTo>
                      <a:pt x="56" y="160"/>
                    </a:lnTo>
                    <a:lnTo>
                      <a:pt x="54" y="152"/>
                    </a:lnTo>
                    <a:lnTo>
                      <a:pt x="56" y="142"/>
                    </a:lnTo>
                    <a:lnTo>
                      <a:pt x="62" y="140"/>
                    </a:lnTo>
                    <a:lnTo>
                      <a:pt x="64" y="136"/>
                    </a:lnTo>
                    <a:lnTo>
                      <a:pt x="66" y="134"/>
                    </a:lnTo>
                    <a:lnTo>
                      <a:pt x="68" y="132"/>
                    </a:lnTo>
                    <a:lnTo>
                      <a:pt x="72" y="132"/>
                    </a:lnTo>
                    <a:lnTo>
                      <a:pt x="74" y="128"/>
                    </a:lnTo>
                    <a:lnTo>
                      <a:pt x="74" y="124"/>
                    </a:lnTo>
                    <a:lnTo>
                      <a:pt x="74" y="116"/>
                    </a:lnTo>
                    <a:lnTo>
                      <a:pt x="86" y="116"/>
                    </a:lnTo>
                    <a:lnTo>
                      <a:pt x="86" y="114"/>
                    </a:lnTo>
                    <a:lnTo>
                      <a:pt x="94" y="114"/>
                    </a:lnTo>
                    <a:lnTo>
                      <a:pt x="94" y="112"/>
                    </a:lnTo>
                    <a:lnTo>
                      <a:pt x="100" y="110"/>
                    </a:lnTo>
                    <a:lnTo>
                      <a:pt x="102" y="106"/>
                    </a:lnTo>
                    <a:lnTo>
                      <a:pt x="108" y="106"/>
                    </a:lnTo>
                    <a:lnTo>
                      <a:pt x="112" y="104"/>
                    </a:lnTo>
                    <a:lnTo>
                      <a:pt x="116" y="100"/>
                    </a:lnTo>
                    <a:lnTo>
                      <a:pt x="118" y="96"/>
                    </a:lnTo>
                    <a:lnTo>
                      <a:pt x="122" y="94"/>
                    </a:lnTo>
                    <a:lnTo>
                      <a:pt x="126" y="92"/>
                    </a:lnTo>
                    <a:lnTo>
                      <a:pt x="126" y="88"/>
                    </a:lnTo>
                    <a:lnTo>
                      <a:pt x="126" y="86"/>
                    </a:lnTo>
                    <a:lnTo>
                      <a:pt x="132" y="82"/>
                    </a:lnTo>
                    <a:lnTo>
                      <a:pt x="132" y="80"/>
                    </a:lnTo>
                    <a:lnTo>
                      <a:pt x="132" y="78"/>
                    </a:lnTo>
                    <a:lnTo>
                      <a:pt x="132" y="76"/>
                    </a:lnTo>
                    <a:lnTo>
                      <a:pt x="136" y="74"/>
                    </a:lnTo>
                    <a:lnTo>
                      <a:pt x="136" y="70"/>
                    </a:lnTo>
                    <a:lnTo>
                      <a:pt x="134" y="70"/>
                    </a:lnTo>
                    <a:lnTo>
                      <a:pt x="132" y="66"/>
                    </a:lnTo>
                    <a:lnTo>
                      <a:pt x="132" y="64"/>
                    </a:lnTo>
                    <a:lnTo>
                      <a:pt x="134" y="60"/>
                    </a:lnTo>
                    <a:lnTo>
                      <a:pt x="134" y="54"/>
                    </a:lnTo>
                    <a:lnTo>
                      <a:pt x="136" y="48"/>
                    </a:lnTo>
                    <a:lnTo>
                      <a:pt x="136" y="44"/>
                    </a:lnTo>
                    <a:lnTo>
                      <a:pt x="138" y="44"/>
                    </a:lnTo>
                    <a:lnTo>
                      <a:pt x="138" y="42"/>
                    </a:lnTo>
                    <a:lnTo>
                      <a:pt x="136" y="40"/>
                    </a:lnTo>
                    <a:lnTo>
                      <a:pt x="136" y="36"/>
                    </a:lnTo>
                    <a:lnTo>
                      <a:pt x="136" y="30"/>
                    </a:lnTo>
                    <a:lnTo>
                      <a:pt x="134" y="18"/>
                    </a:lnTo>
                    <a:lnTo>
                      <a:pt x="134" y="10"/>
                    </a:lnTo>
                    <a:lnTo>
                      <a:pt x="132" y="6"/>
                    </a:lnTo>
                    <a:lnTo>
                      <a:pt x="134" y="0"/>
                    </a:lnTo>
                    <a:lnTo>
                      <a:pt x="120" y="6"/>
                    </a:lnTo>
                    <a:lnTo>
                      <a:pt x="116" y="8"/>
                    </a:lnTo>
                    <a:lnTo>
                      <a:pt x="110" y="8"/>
                    </a:lnTo>
                    <a:lnTo>
                      <a:pt x="108" y="10"/>
                    </a:lnTo>
                    <a:lnTo>
                      <a:pt x="106" y="12"/>
                    </a:lnTo>
                    <a:lnTo>
                      <a:pt x="102" y="14"/>
                    </a:lnTo>
                    <a:lnTo>
                      <a:pt x="100" y="12"/>
                    </a:lnTo>
                    <a:lnTo>
                      <a:pt x="98" y="12"/>
                    </a:lnTo>
                    <a:lnTo>
                      <a:pt x="98" y="14"/>
                    </a:lnTo>
                    <a:lnTo>
                      <a:pt x="94" y="16"/>
                    </a:lnTo>
                    <a:lnTo>
                      <a:pt x="84" y="18"/>
                    </a:lnTo>
                    <a:lnTo>
                      <a:pt x="76" y="20"/>
                    </a:lnTo>
                    <a:lnTo>
                      <a:pt x="72" y="20"/>
                    </a:lnTo>
                    <a:lnTo>
                      <a:pt x="72" y="18"/>
                    </a:lnTo>
                    <a:lnTo>
                      <a:pt x="70" y="16"/>
                    </a:lnTo>
                    <a:lnTo>
                      <a:pt x="68" y="14"/>
                    </a:lnTo>
                    <a:lnTo>
                      <a:pt x="66" y="14"/>
                    </a:lnTo>
                    <a:lnTo>
                      <a:pt x="64" y="16"/>
                    </a:lnTo>
                    <a:lnTo>
                      <a:pt x="58" y="18"/>
                    </a:lnTo>
                    <a:lnTo>
                      <a:pt x="56" y="22"/>
                    </a:lnTo>
                    <a:lnTo>
                      <a:pt x="56" y="26"/>
                    </a:lnTo>
                    <a:lnTo>
                      <a:pt x="60" y="28"/>
                    </a:lnTo>
                    <a:lnTo>
                      <a:pt x="58" y="32"/>
                    </a:lnTo>
                    <a:lnTo>
                      <a:pt x="58" y="36"/>
                    </a:lnTo>
                    <a:lnTo>
                      <a:pt x="60" y="42"/>
                    </a:lnTo>
                    <a:lnTo>
                      <a:pt x="60" y="4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499" name="Freeform 484">
                <a:extLst>
                  <a:ext uri="{FF2B5EF4-FFF2-40B4-BE49-F238E27FC236}">
                    <a16:creationId xmlns:a16="http://schemas.microsoft.com/office/drawing/2014/main" id="{1661816A-CE32-7BB7-BBEE-BD82BB5B79AF}"/>
                  </a:ext>
                </a:extLst>
              </p:cNvPr>
              <p:cNvSpPr>
                <a:spLocks/>
              </p:cNvSpPr>
              <p:nvPr/>
            </p:nvSpPr>
            <p:spPr bwMode="auto">
              <a:xfrm>
                <a:off x="5243350" y="4409802"/>
                <a:ext cx="42783" cy="117203"/>
              </a:xfrm>
              <a:custGeom>
                <a:avLst/>
                <a:gdLst/>
                <a:ahLst/>
                <a:cxnLst>
                  <a:cxn ang="0">
                    <a:pos x="22" y="2"/>
                  </a:cxn>
                  <a:cxn ang="0">
                    <a:pos x="10" y="2"/>
                  </a:cxn>
                  <a:cxn ang="0">
                    <a:pos x="14" y="8"/>
                  </a:cxn>
                  <a:cxn ang="0">
                    <a:pos x="14" y="14"/>
                  </a:cxn>
                  <a:cxn ang="0">
                    <a:pos x="16" y="18"/>
                  </a:cxn>
                  <a:cxn ang="0">
                    <a:pos x="12" y="24"/>
                  </a:cxn>
                  <a:cxn ang="0">
                    <a:pos x="8" y="28"/>
                  </a:cxn>
                  <a:cxn ang="0">
                    <a:pos x="8" y="34"/>
                  </a:cxn>
                  <a:cxn ang="0">
                    <a:pos x="8" y="42"/>
                  </a:cxn>
                  <a:cxn ang="0">
                    <a:pos x="12" y="44"/>
                  </a:cxn>
                  <a:cxn ang="0">
                    <a:pos x="10" y="48"/>
                  </a:cxn>
                  <a:cxn ang="0">
                    <a:pos x="2" y="52"/>
                  </a:cxn>
                  <a:cxn ang="0">
                    <a:pos x="2" y="62"/>
                  </a:cxn>
                  <a:cxn ang="0">
                    <a:pos x="2" y="66"/>
                  </a:cxn>
                  <a:cxn ang="0">
                    <a:pos x="2" y="78"/>
                  </a:cxn>
                  <a:cxn ang="0">
                    <a:pos x="8" y="84"/>
                  </a:cxn>
                  <a:cxn ang="0">
                    <a:pos x="10" y="88"/>
                  </a:cxn>
                  <a:cxn ang="0">
                    <a:pos x="20" y="88"/>
                  </a:cxn>
                  <a:cxn ang="0">
                    <a:pos x="22" y="96"/>
                  </a:cxn>
                  <a:cxn ang="0">
                    <a:pos x="18" y="106"/>
                  </a:cxn>
                  <a:cxn ang="0">
                    <a:pos x="28" y="114"/>
                  </a:cxn>
                  <a:cxn ang="0">
                    <a:pos x="32" y="120"/>
                  </a:cxn>
                  <a:cxn ang="0">
                    <a:pos x="32" y="122"/>
                  </a:cxn>
                  <a:cxn ang="0">
                    <a:pos x="36" y="118"/>
                  </a:cxn>
                  <a:cxn ang="0">
                    <a:pos x="34" y="110"/>
                  </a:cxn>
                  <a:cxn ang="0">
                    <a:pos x="36" y="104"/>
                  </a:cxn>
                  <a:cxn ang="0">
                    <a:pos x="42" y="104"/>
                  </a:cxn>
                  <a:cxn ang="0">
                    <a:pos x="42" y="98"/>
                  </a:cxn>
                  <a:cxn ang="0">
                    <a:pos x="44" y="88"/>
                  </a:cxn>
                  <a:cxn ang="0">
                    <a:pos x="42" y="84"/>
                  </a:cxn>
                  <a:cxn ang="0">
                    <a:pos x="38" y="78"/>
                  </a:cxn>
                  <a:cxn ang="0">
                    <a:pos x="34" y="68"/>
                  </a:cxn>
                  <a:cxn ang="0">
                    <a:pos x="32" y="68"/>
                  </a:cxn>
                  <a:cxn ang="0">
                    <a:pos x="34" y="74"/>
                  </a:cxn>
                  <a:cxn ang="0">
                    <a:pos x="30" y="72"/>
                  </a:cxn>
                  <a:cxn ang="0">
                    <a:pos x="30" y="64"/>
                  </a:cxn>
                  <a:cxn ang="0">
                    <a:pos x="26" y="58"/>
                  </a:cxn>
                  <a:cxn ang="0">
                    <a:pos x="28" y="54"/>
                  </a:cxn>
                  <a:cxn ang="0">
                    <a:pos x="24" y="50"/>
                  </a:cxn>
                  <a:cxn ang="0">
                    <a:pos x="26" y="42"/>
                  </a:cxn>
                  <a:cxn ang="0">
                    <a:pos x="22" y="38"/>
                  </a:cxn>
                  <a:cxn ang="0">
                    <a:pos x="26" y="22"/>
                  </a:cxn>
                  <a:cxn ang="0">
                    <a:pos x="24" y="6"/>
                  </a:cxn>
                  <a:cxn ang="0">
                    <a:pos x="24" y="2"/>
                  </a:cxn>
                </a:cxnLst>
                <a:rect l="0" t="0" r="r" b="b"/>
                <a:pathLst>
                  <a:path w="44" h="122">
                    <a:moveTo>
                      <a:pt x="24" y="2"/>
                    </a:moveTo>
                    <a:lnTo>
                      <a:pt x="22" y="2"/>
                    </a:lnTo>
                    <a:lnTo>
                      <a:pt x="8" y="0"/>
                    </a:lnTo>
                    <a:lnTo>
                      <a:pt x="10" y="2"/>
                    </a:lnTo>
                    <a:lnTo>
                      <a:pt x="12" y="6"/>
                    </a:lnTo>
                    <a:lnTo>
                      <a:pt x="14" y="8"/>
                    </a:lnTo>
                    <a:lnTo>
                      <a:pt x="14" y="12"/>
                    </a:lnTo>
                    <a:lnTo>
                      <a:pt x="14" y="14"/>
                    </a:lnTo>
                    <a:lnTo>
                      <a:pt x="14" y="16"/>
                    </a:lnTo>
                    <a:lnTo>
                      <a:pt x="16" y="18"/>
                    </a:lnTo>
                    <a:lnTo>
                      <a:pt x="14" y="20"/>
                    </a:lnTo>
                    <a:lnTo>
                      <a:pt x="12" y="24"/>
                    </a:lnTo>
                    <a:lnTo>
                      <a:pt x="8" y="26"/>
                    </a:lnTo>
                    <a:lnTo>
                      <a:pt x="8" y="28"/>
                    </a:lnTo>
                    <a:lnTo>
                      <a:pt x="8" y="30"/>
                    </a:lnTo>
                    <a:lnTo>
                      <a:pt x="8" y="34"/>
                    </a:lnTo>
                    <a:lnTo>
                      <a:pt x="8" y="40"/>
                    </a:lnTo>
                    <a:lnTo>
                      <a:pt x="8" y="42"/>
                    </a:lnTo>
                    <a:lnTo>
                      <a:pt x="10" y="42"/>
                    </a:lnTo>
                    <a:lnTo>
                      <a:pt x="12" y="44"/>
                    </a:lnTo>
                    <a:lnTo>
                      <a:pt x="12" y="46"/>
                    </a:lnTo>
                    <a:lnTo>
                      <a:pt x="10" y="48"/>
                    </a:lnTo>
                    <a:lnTo>
                      <a:pt x="4" y="50"/>
                    </a:lnTo>
                    <a:lnTo>
                      <a:pt x="2" y="52"/>
                    </a:lnTo>
                    <a:lnTo>
                      <a:pt x="2" y="56"/>
                    </a:lnTo>
                    <a:lnTo>
                      <a:pt x="2" y="62"/>
                    </a:lnTo>
                    <a:lnTo>
                      <a:pt x="2" y="64"/>
                    </a:lnTo>
                    <a:lnTo>
                      <a:pt x="2" y="66"/>
                    </a:lnTo>
                    <a:lnTo>
                      <a:pt x="0" y="70"/>
                    </a:lnTo>
                    <a:lnTo>
                      <a:pt x="2" y="78"/>
                    </a:lnTo>
                    <a:lnTo>
                      <a:pt x="4" y="80"/>
                    </a:lnTo>
                    <a:lnTo>
                      <a:pt x="8" y="84"/>
                    </a:lnTo>
                    <a:lnTo>
                      <a:pt x="8" y="88"/>
                    </a:lnTo>
                    <a:lnTo>
                      <a:pt x="10" y="88"/>
                    </a:lnTo>
                    <a:lnTo>
                      <a:pt x="20" y="86"/>
                    </a:lnTo>
                    <a:lnTo>
                      <a:pt x="20" y="88"/>
                    </a:lnTo>
                    <a:lnTo>
                      <a:pt x="22" y="92"/>
                    </a:lnTo>
                    <a:lnTo>
                      <a:pt x="22" y="96"/>
                    </a:lnTo>
                    <a:lnTo>
                      <a:pt x="20" y="102"/>
                    </a:lnTo>
                    <a:lnTo>
                      <a:pt x="18" y="106"/>
                    </a:lnTo>
                    <a:lnTo>
                      <a:pt x="20" y="108"/>
                    </a:lnTo>
                    <a:lnTo>
                      <a:pt x="28" y="114"/>
                    </a:lnTo>
                    <a:lnTo>
                      <a:pt x="32" y="116"/>
                    </a:lnTo>
                    <a:lnTo>
                      <a:pt x="32" y="120"/>
                    </a:lnTo>
                    <a:lnTo>
                      <a:pt x="32" y="122"/>
                    </a:lnTo>
                    <a:lnTo>
                      <a:pt x="32" y="122"/>
                    </a:lnTo>
                    <a:lnTo>
                      <a:pt x="36" y="120"/>
                    </a:lnTo>
                    <a:lnTo>
                      <a:pt x="36" y="118"/>
                    </a:lnTo>
                    <a:lnTo>
                      <a:pt x="36" y="116"/>
                    </a:lnTo>
                    <a:lnTo>
                      <a:pt x="34" y="110"/>
                    </a:lnTo>
                    <a:lnTo>
                      <a:pt x="34" y="106"/>
                    </a:lnTo>
                    <a:lnTo>
                      <a:pt x="36" y="104"/>
                    </a:lnTo>
                    <a:lnTo>
                      <a:pt x="40" y="106"/>
                    </a:lnTo>
                    <a:lnTo>
                      <a:pt x="42" y="104"/>
                    </a:lnTo>
                    <a:lnTo>
                      <a:pt x="44" y="102"/>
                    </a:lnTo>
                    <a:lnTo>
                      <a:pt x="42" y="98"/>
                    </a:lnTo>
                    <a:lnTo>
                      <a:pt x="42" y="94"/>
                    </a:lnTo>
                    <a:lnTo>
                      <a:pt x="44" y="88"/>
                    </a:lnTo>
                    <a:lnTo>
                      <a:pt x="44" y="84"/>
                    </a:lnTo>
                    <a:lnTo>
                      <a:pt x="42" y="84"/>
                    </a:lnTo>
                    <a:lnTo>
                      <a:pt x="40" y="82"/>
                    </a:lnTo>
                    <a:lnTo>
                      <a:pt x="38" y="78"/>
                    </a:lnTo>
                    <a:lnTo>
                      <a:pt x="36" y="72"/>
                    </a:lnTo>
                    <a:lnTo>
                      <a:pt x="34" y="68"/>
                    </a:lnTo>
                    <a:lnTo>
                      <a:pt x="32" y="66"/>
                    </a:lnTo>
                    <a:lnTo>
                      <a:pt x="32" y="68"/>
                    </a:lnTo>
                    <a:lnTo>
                      <a:pt x="34" y="70"/>
                    </a:lnTo>
                    <a:lnTo>
                      <a:pt x="34" y="74"/>
                    </a:lnTo>
                    <a:lnTo>
                      <a:pt x="32" y="72"/>
                    </a:lnTo>
                    <a:lnTo>
                      <a:pt x="30" y="72"/>
                    </a:lnTo>
                    <a:lnTo>
                      <a:pt x="30" y="68"/>
                    </a:lnTo>
                    <a:lnTo>
                      <a:pt x="30" y="64"/>
                    </a:lnTo>
                    <a:lnTo>
                      <a:pt x="26" y="62"/>
                    </a:lnTo>
                    <a:lnTo>
                      <a:pt x="26" y="58"/>
                    </a:lnTo>
                    <a:lnTo>
                      <a:pt x="26" y="56"/>
                    </a:lnTo>
                    <a:lnTo>
                      <a:pt x="28" y="54"/>
                    </a:lnTo>
                    <a:lnTo>
                      <a:pt x="26" y="52"/>
                    </a:lnTo>
                    <a:lnTo>
                      <a:pt x="24" y="50"/>
                    </a:lnTo>
                    <a:lnTo>
                      <a:pt x="24" y="48"/>
                    </a:lnTo>
                    <a:lnTo>
                      <a:pt x="26" y="42"/>
                    </a:lnTo>
                    <a:lnTo>
                      <a:pt x="22" y="42"/>
                    </a:lnTo>
                    <a:lnTo>
                      <a:pt x="22" y="38"/>
                    </a:lnTo>
                    <a:lnTo>
                      <a:pt x="26" y="32"/>
                    </a:lnTo>
                    <a:lnTo>
                      <a:pt x="26" y="22"/>
                    </a:lnTo>
                    <a:lnTo>
                      <a:pt x="24" y="10"/>
                    </a:lnTo>
                    <a:lnTo>
                      <a:pt x="24" y="6"/>
                    </a:lnTo>
                    <a:lnTo>
                      <a:pt x="22" y="2"/>
                    </a:lnTo>
                    <a:lnTo>
                      <a:pt x="24" y="2"/>
                    </a:lnTo>
                    <a:lnTo>
                      <a:pt x="24"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00" name="Freeform 485">
                <a:extLst>
                  <a:ext uri="{FF2B5EF4-FFF2-40B4-BE49-F238E27FC236}">
                    <a16:creationId xmlns:a16="http://schemas.microsoft.com/office/drawing/2014/main" id="{95503F21-F554-58C4-FCC7-3F267628AC29}"/>
                  </a:ext>
                </a:extLst>
              </p:cNvPr>
              <p:cNvSpPr>
                <a:spLocks/>
              </p:cNvSpPr>
              <p:nvPr/>
            </p:nvSpPr>
            <p:spPr bwMode="auto">
              <a:xfrm>
                <a:off x="5375590" y="4457836"/>
                <a:ext cx="95290" cy="205587"/>
              </a:xfrm>
              <a:custGeom>
                <a:avLst/>
                <a:gdLst/>
                <a:ahLst/>
                <a:cxnLst>
                  <a:cxn ang="0">
                    <a:pos x="78" y="0"/>
                  </a:cxn>
                  <a:cxn ang="0">
                    <a:pos x="74" y="16"/>
                  </a:cxn>
                  <a:cxn ang="0">
                    <a:pos x="68" y="24"/>
                  </a:cxn>
                  <a:cxn ang="0">
                    <a:pos x="66" y="28"/>
                  </a:cxn>
                  <a:cxn ang="0">
                    <a:pos x="64" y="36"/>
                  </a:cxn>
                  <a:cxn ang="0">
                    <a:pos x="62" y="38"/>
                  </a:cxn>
                  <a:cxn ang="0">
                    <a:pos x="62" y="40"/>
                  </a:cxn>
                  <a:cxn ang="0">
                    <a:pos x="56" y="42"/>
                  </a:cxn>
                  <a:cxn ang="0">
                    <a:pos x="54" y="50"/>
                  </a:cxn>
                  <a:cxn ang="0">
                    <a:pos x="52" y="52"/>
                  </a:cxn>
                  <a:cxn ang="0">
                    <a:pos x="48" y="52"/>
                  </a:cxn>
                  <a:cxn ang="0">
                    <a:pos x="42" y="56"/>
                  </a:cxn>
                  <a:cxn ang="0">
                    <a:pos x="34" y="56"/>
                  </a:cxn>
                  <a:cxn ang="0">
                    <a:pos x="32" y="58"/>
                  </a:cxn>
                  <a:cxn ang="0">
                    <a:pos x="28" y="60"/>
                  </a:cxn>
                  <a:cxn ang="0">
                    <a:pos x="20" y="66"/>
                  </a:cxn>
                  <a:cxn ang="0">
                    <a:pos x="14" y="70"/>
                  </a:cxn>
                  <a:cxn ang="0">
                    <a:pos x="12" y="76"/>
                  </a:cxn>
                  <a:cxn ang="0">
                    <a:pos x="8" y="86"/>
                  </a:cxn>
                  <a:cxn ang="0">
                    <a:pos x="12" y="98"/>
                  </a:cxn>
                  <a:cxn ang="0">
                    <a:pos x="14" y="108"/>
                  </a:cxn>
                  <a:cxn ang="0">
                    <a:pos x="16" y="116"/>
                  </a:cxn>
                  <a:cxn ang="0">
                    <a:pos x="14" y="122"/>
                  </a:cxn>
                  <a:cxn ang="0">
                    <a:pos x="12" y="128"/>
                  </a:cxn>
                  <a:cxn ang="0">
                    <a:pos x="6" y="132"/>
                  </a:cxn>
                  <a:cxn ang="0">
                    <a:pos x="6" y="138"/>
                  </a:cxn>
                  <a:cxn ang="0">
                    <a:pos x="0" y="146"/>
                  </a:cxn>
                  <a:cxn ang="0">
                    <a:pos x="0" y="152"/>
                  </a:cxn>
                  <a:cxn ang="0">
                    <a:pos x="0" y="166"/>
                  </a:cxn>
                  <a:cxn ang="0">
                    <a:pos x="6" y="180"/>
                  </a:cxn>
                  <a:cxn ang="0">
                    <a:pos x="4" y="184"/>
                  </a:cxn>
                  <a:cxn ang="0">
                    <a:pos x="10" y="198"/>
                  </a:cxn>
                  <a:cxn ang="0">
                    <a:pos x="14" y="208"/>
                  </a:cxn>
                  <a:cxn ang="0">
                    <a:pos x="24" y="210"/>
                  </a:cxn>
                  <a:cxn ang="0">
                    <a:pos x="32" y="214"/>
                  </a:cxn>
                  <a:cxn ang="0">
                    <a:pos x="38" y="210"/>
                  </a:cxn>
                  <a:cxn ang="0">
                    <a:pos x="48" y="208"/>
                  </a:cxn>
                  <a:cxn ang="0">
                    <a:pos x="50" y="202"/>
                  </a:cxn>
                  <a:cxn ang="0">
                    <a:pos x="56" y="188"/>
                  </a:cxn>
                  <a:cxn ang="0">
                    <a:pos x="62" y="170"/>
                  </a:cxn>
                  <a:cxn ang="0">
                    <a:pos x="64" y="156"/>
                  </a:cxn>
                  <a:cxn ang="0">
                    <a:pos x="66" y="152"/>
                  </a:cxn>
                  <a:cxn ang="0">
                    <a:pos x="70" y="144"/>
                  </a:cxn>
                  <a:cxn ang="0">
                    <a:pos x="72" y="128"/>
                  </a:cxn>
                  <a:cxn ang="0">
                    <a:pos x="72" y="120"/>
                  </a:cxn>
                  <a:cxn ang="0">
                    <a:pos x="76" y="108"/>
                  </a:cxn>
                  <a:cxn ang="0">
                    <a:pos x="80" y="100"/>
                  </a:cxn>
                  <a:cxn ang="0">
                    <a:pos x="84" y="88"/>
                  </a:cxn>
                  <a:cxn ang="0">
                    <a:pos x="84" y="80"/>
                  </a:cxn>
                  <a:cxn ang="0">
                    <a:pos x="88" y="76"/>
                  </a:cxn>
                  <a:cxn ang="0">
                    <a:pos x="88" y="72"/>
                  </a:cxn>
                  <a:cxn ang="0">
                    <a:pos x="90" y="66"/>
                  </a:cxn>
                  <a:cxn ang="0">
                    <a:pos x="84" y="50"/>
                  </a:cxn>
                  <a:cxn ang="0">
                    <a:pos x="88" y="50"/>
                  </a:cxn>
                  <a:cxn ang="0">
                    <a:pos x="94" y="58"/>
                  </a:cxn>
                  <a:cxn ang="0">
                    <a:pos x="98" y="46"/>
                  </a:cxn>
                  <a:cxn ang="0">
                    <a:pos x="94" y="34"/>
                  </a:cxn>
                  <a:cxn ang="0">
                    <a:pos x="94" y="26"/>
                  </a:cxn>
                  <a:cxn ang="0">
                    <a:pos x="90" y="10"/>
                  </a:cxn>
                  <a:cxn ang="0">
                    <a:pos x="84" y="8"/>
                  </a:cxn>
                  <a:cxn ang="0">
                    <a:pos x="80" y="4"/>
                  </a:cxn>
                  <a:cxn ang="0">
                    <a:pos x="80" y="0"/>
                  </a:cxn>
                  <a:cxn ang="0">
                    <a:pos x="78" y="0"/>
                  </a:cxn>
                </a:cxnLst>
                <a:rect l="0" t="0" r="r" b="b"/>
                <a:pathLst>
                  <a:path w="98" h="214">
                    <a:moveTo>
                      <a:pt x="78" y="0"/>
                    </a:moveTo>
                    <a:lnTo>
                      <a:pt x="78" y="0"/>
                    </a:lnTo>
                    <a:lnTo>
                      <a:pt x="74" y="6"/>
                    </a:lnTo>
                    <a:lnTo>
                      <a:pt x="74" y="16"/>
                    </a:lnTo>
                    <a:lnTo>
                      <a:pt x="74" y="24"/>
                    </a:lnTo>
                    <a:lnTo>
                      <a:pt x="68" y="24"/>
                    </a:lnTo>
                    <a:lnTo>
                      <a:pt x="68" y="26"/>
                    </a:lnTo>
                    <a:lnTo>
                      <a:pt x="66" y="28"/>
                    </a:lnTo>
                    <a:lnTo>
                      <a:pt x="64" y="26"/>
                    </a:lnTo>
                    <a:lnTo>
                      <a:pt x="64" y="36"/>
                    </a:lnTo>
                    <a:lnTo>
                      <a:pt x="62" y="36"/>
                    </a:lnTo>
                    <a:lnTo>
                      <a:pt x="62" y="38"/>
                    </a:lnTo>
                    <a:lnTo>
                      <a:pt x="62" y="40"/>
                    </a:lnTo>
                    <a:lnTo>
                      <a:pt x="62" y="40"/>
                    </a:lnTo>
                    <a:lnTo>
                      <a:pt x="60" y="46"/>
                    </a:lnTo>
                    <a:lnTo>
                      <a:pt x="56" y="42"/>
                    </a:lnTo>
                    <a:lnTo>
                      <a:pt x="54" y="44"/>
                    </a:lnTo>
                    <a:lnTo>
                      <a:pt x="54" y="50"/>
                    </a:lnTo>
                    <a:lnTo>
                      <a:pt x="54" y="52"/>
                    </a:lnTo>
                    <a:lnTo>
                      <a:pt x="52" y="52"/>
                    </a:lnTo>
                    <a:lnTo>
                      <a:pt x="52" y="50"/>
                    </a:lnTo>
                    <a:lnTo>
                      <a:pt x="48" y="52"/>
                    </a:lnTo>
                    <a:lnTo>
                      <a:pt x="44" y="54"/>
                    </a:lnTo>
                    <a:lnTo>
                      <a:pt x="42" y="56"/>
                    </a:lnTo>
                    <a:lnTo>
                      <a:pt x="34" y="54"/>
                    </a:lnTo>
                    <a:lnTo>
                      <a:pt x="34" y="56"/>
                    </a:lnTo>
                    <a:lnTo>
                      <a:pt x="34" y="58"/>
                    </a:lnTo>
                    <a:lnTo>
                      <a:pt x="32" y="58"/>
                    </a:lnTo>
                    <a:lnTo>
                      <a:pt x="30" y="58"/>
                    </a:lnTo>
                    <a:lnTo>
                      <a:pt x="28" y="60"/>
                    </a:lnTo>
                    <a:lnTo>
                      <a:pt x="22" y="62"/>
                    </a:lnTo>
                    <a:lnTo>
                      <a:pt x="20" y="66"/>
                    </a:lnTo>
                    <a:lnTo>
                      <a:pt x="18" y="68"/>
                    </a:lnTo>
                    <a:lnTo>
                      <a:pt x="14" y="70"/>
                    </a:lnTo>
                    <a:lnTo>
                      <a:pt x="14" y="74"/>
                    </a:lnTo>
                    <a:lnTo>
                      <a:pt x="12" y="76"/>
                    </a:lnTo>
                    <a:lnTo>
                      <a:pt x="8" y="80"/>
                    </a:lnTo>
                    <a:lnTo>
                      <a:pt x="8" y="86"/>
                    </a:lnTo>
                    <a:lnTo>
                      <a:pt x="10" y="90"/>
                    </a:lnTo>
                    <a:lnTo>
                      <a:pt x="12" y="98"/>
                    </a:lnTo>
                    <a:lnTo>
                      <a:pt x="14" y="102"/>
                    </a:lnTo>
                    <a:lnTo>
                      <a:pt x="14" y="108"/>
                    </a:lnTo>
                    <a:lnTo>
                      <a:pt x="16" y="110"/>
                    </a:lnTo>
                    <a:lnTo>
                      <a:pt x="16" y="116"/>
                    </a:lnTo>
                    <a:lnTo>
                      <a:pt x="16" y="120"/>
                    </a:lnTo>
                    <a:lnTo>
                      <a:pt x="14" y="122"/>
                    </a:lnTo>
                    <a:lnTo>
                      <a:pt x="14" y="126"/>
                    </a:lnTo>
                    <a:lnTo>
                      <a:pt x="12" y="128"/>
                    </a:lnTo>
                    <a:lnTo>
                      <a:pt x="10" y="130"/>
                    </a:lnTo>
                    <a:lnTo>
                      <a:pt x="6" y="132"/>
                    </a:lnTo>
                    <a:lnTo>
                      <a:pt x="6" y="136"/>
                    </a:lnTo>
                    <a:lnTo>
                      <a:pt x="6" y="138"/>
                    </a:lnTo>
                    <a:lnTo>
                      <a:pt x="6" y="140"/>
                    </a:lnTo>
                    <a:lnTo>
                      <a:pt x="0" y="146"/>
                    </a:lnTo>
                    <a:lnTo>
                      <a:pt x="0" y="148"/>
                    </a:lnTo>
                    <a:lnTo>
                      <a:pt x="0" y="152"/>
                    </a:lnTo>
                    <a:lnTo>
                      <a:pt x="0" y="156"/>
                    </a:lnTo>
                    <a:lnTo>
                      <a:pt x="0" y="166"/>
                    </a:lnTo>
                    <a:lnTo>
                      <a:pt x="2" y="178"/>
                    </a:lnTo>
                    <a:lnTo>
                      <a:pt x="6" y="180"/>
                    </a:lnTo>
                    <a:lnTo>
                      <a:pt x="6" y="182"/>
                    </a:lnTo>
                    <a:lnTo>
                      <a:pt x="4" y="184"/>
                    </a:lnTo>
                    <a:lnTo>
                      <a:pt x="6" y="186"/>
                    </a:lnTo>
                    <a:lnTo>
                      <a:pt x="10" y="198"/>
                    </a:lnTo>
                    <a:lnTo>
                      <a:pt x="10" y="204"/>
                    </a:lnTo>
                    <a:lnTo>
                      <a:pt x="14" y="208"/>
                    </a:lnTo>
                    <a:lnTo>
                      <a:pt x="18" y="208"/>
                    </a:lnTo>
                    <a:lnTo>
                      <a:pt x="24" y="210"/>
                    </a:lnTo>
                    <a:lnTo>
                      <a:pt x="28" y="214"/>
                    </a:lnTo>
                    <a:lnTo>
                      <a:pt x="32" y="214"/>
                    </a:lnTo>
                    <a:lnTo>
                      <a:pt x="34" y="214"/>
                    </a:lnTo>
                    <a:lnTo>
                      <a:pt x="38" y="210"/>
                    </a:lnTo>
                    <a:lnTo>
                      <a:pt x="44" y="208"/>
                    </a:lnTo>
                    <a:lnTo>
                      <a:pt x="48" y="208"/>
                    </a:lnTo>
                    <a:lnTo>
                      <a:pt x="50" y="206"/>
                    </a:lnTo>
                    <a:lnTo>
                      <a:pt x="50" y="202"/>
                    </a:lnTo>
                    <a:lnTo>
                      <a:pt x="52" y="202"/>
                    </a:lnTo>
                    <a:lnTo>
                      <a:pt x="56" y="188"/>
                    </a:lnTo>
                    <a:lnTo>
                      <a:pt x="58" y="178"/>
                    </a:lnTo>
                    <a:lnTo>
                      <a:pt x="62" y="170"/>
                    </a:lnTo>
                    <a:lnTo>
                      <a:pt x="62" y="164"/>
                    </a:lnTo>
                    <a:lnTo>
                      <a:pt x="64" y="156"/>
                    </a:lnTo>
                    <a:lnTo>
                      <a:pt x="66" y="156"/>
                    </a:lnTo>
                    <a:lnTo>
                      <a:pt x="66" y="152"/>
                    </a:lnTo>
                    <a:lnTo>
                      <a:pt x="66" y="148"/>
                    </a:lnTo>
                    <a:lnTo>
                      <a:pt x="70" y="144"/>
                    </a:lnTo>
                    <a:lnTo>
                      <a:pt x="70" y="138"/>
                    </a:lnTo>
                    <a:lnTo>
                      <a:pt x="72" y="128"/>
                    </a:lnTo>
                    <a:lnTo>
                      <a:pt x="72" y="124"/>
                    </a:lnTo>
                    <a:lnTo>
                      <a:pt x="72" y="120"/>
                    </a:lnTo>
                    <a:lnTo>
                      <a:pt x="76" y="114"/>
                    </a:lnTo>
                    <a:lnTo>
                      <a:pt x="76" y="108"/>
                    </a:lnTo>
                    <a:lnTo>
                      <a:pt x="80" y="106"/>
                    </a:lnTo>
                    <a:lnTo>
                      <a:pt x="80" y="100"/>
                    </a:lnTo>
                    <a:lnTo>
                      <a:pt x="84" y="96"/>
                    </a:lnTo>
                    <a:lnTo>
                      <a:pt x="84" y="88"/>
                    </a:lnTo>
                    <a:lnTo>
                      <a:pt x="84" y="84"/>
                    </a:lnTo>
                    <a:lnTo>
                      <a:pt x="84" y="80"/>
                    </a:lnTo>
                    <a:lnTo>
                      <a:pt x="88" y="78"/>
                    </a:lnTo>
                    <a:lnTo>
                      <a:pt x="88" y="76"/>
                    </a:lnTo>
                    <a:lnTo>
                      <a:pt x="88" y="74"/>
                    </a:lnTo>
                    <a:lnTo>
                      <a:pt x="88" y="72"/>
                    </a:lnTo>
                    <a:lnTo>
                      <a:pt x="90" y="72"/>
                    </a:lnTo>
                    <a:lnTo>
                      <a:pt x="90" y="66"/>
                    </a:lnTo>
                    <a:lnTo>
                      <a:pt x="86" y="62"/>
                    </a:lnTo>
                    <a:lnTo>
                      <a:pt x="84" y="50"/>
                    </a:lnTo>
                    <a:lnTo>
                      <a:pt x="86" y="50"/>
                    </a:lnTo>
                    <a:lnTo>
                      <a:pt x="88" y="50"/>
                    </a:lnTo>
                    <a:lnTo>
                      <a:pt x="92" y="58"/>
                    </a:lnTo>
                    <a:lnTo>
                      <a:pt x="94" y="58"/>
                    </a:lnTo>
                    <a:lnTo>
                      <a:pt x="96" y="50"/>
                    </a:lnTo>
                    <a:lnTo>
                      <a:pt x="98" y="46"/>
                    </a:lnTo>
                    <a:lnTo>
                      <a:pt x="98" y="40"/>
                    </a:lnTo>
                    <a:lnTo>
                      <a:pt x="94" y="34"/>
                    </a:lnTo>
                    <a:lnTo>
                      <a:pt x="94" y="28"/>
                    </a:lnTo>
                    <a:lnTo>
                      <a:pt x="94" y="26"/>
                    </a:lnTo>
                    <a:lnTo>
                      <a:pt x="92" y="18"/>
                    </a:lnTo>
                    <a:lnTo>
                      <a:pt x="90" y="10"/>
                    </a:lnTo>
                    <a:lnTo>
                      <a:pt x="88" y="8"/>
                    </a:lnTo>
                    <a:lnTo>
                      <a:pt x="84" y="8"/>
                    </a:lnTo>
                    <a:lnTo>
                      <a:pt x="82" y="4"/>
                    </a:lnTo>
                    <a:lnTo>
                      <a:pt x="80" y="4"/>
                    </a:lnTo>
                    <a:lnTo>
                      <a:pt x="80" y="2"/>
                    </a:lnTo>
                    <a:lnTo>
                      <a:pt x="80" y="0"/>
                    </a:lnTo>
                    <a:lnTo>
                      <a:pt x="78" y="0"/>
                    </a:lnTo>
                    <a:lnTo>
                      <a:pt x="78"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01" name="Freeform 486">
                <a:extLst>
                  <a:ext uri="{FF2B5EF4-FFF2-40B4-BE49-F238E27FC236}">
                    <a16:creationId xmlns:a16="http://schemas.microsoft.com/office/drawing/2014/main" id="{D252CB91-6086-ED9A-9A04-5C2896F15807}"/>
                  </a:ext>
                </a:extLst>
              </p:cNvPr>
              <p:cNvSpPr>
                <a:spLocks noEditPoints="1"/>
              </p:cNvSpPr>
              <p:nvPr/>
            </p:nvSpPr>
            <p:spPr bwMode="auto">
              <a:xfrm>
                <a:off x="5264742" y="4190765"/>
                <a:ext cx="108903" cy="144103"/>
              </a:xfrm>
              <a:custGeom>
                <a:avLst/>
                <a:gdLst/>
                <a:ahLst/>
                <a:cxnLst>
                  <a:cxn ang="0">
                    <a:pos x="4" y="84"/>
                  </a:cxn>
                  <a:cxn ang="0">
                    <a:pos x="8" y="88"/>
                  </a:cxn>
                  <a:cxn ang="0">
                    <a:pos x="10" y="86"/>
                  </a:cxn>
                  <a:cxn ang="0">
                    <a:pos x="14" y="86"/>
                  </a:cxn>
                  <a:cxn ang="0">
                    <a:pos x="10" y="92"/>
                  </a:cxn>
                  <a:cxn ang="0">
                    <a:pos x="8" y="98"/>
                  </a:cxn>
                  <a:cxn ang="0">
                    <a:pos x="8" y="104"/>
                  </a:cxn>
                  <a:cxn ang="0">
                    <a:pos x="48" y="126"/>
                  </a:cxn>
                  <a:cxn ang="0">
                    <a:pos x="50" y="136"/>
                  </a:cxn>
                  <a:cxn ang="0">
                    <a:pos x="54" y="140"/>
                  </a:cxn>
                  <a:cxn ang="0">
                    <a:pos x="70" y="150"/>
                  </a:cxn>
                  <a:cxn ang="0">
                    <a:pos x="72" y="142"/>
                  </a:cxn>
                  <a:cxn ang="0">
                    <a:pos x="74" y="134"/>
                  </a:cxn>
                  <a:cxn ang="0">
                    <a:pos x="78" y="128"/>
                  </a:cxn>
                  <a:cxn ang="0">
                    <a:pos x="84" y="122"/>
                  </a:cxn>
                  <a:cxn ang="0">
                    <a:pos x="92" y="116"/>
                  </a:cxn>
                  <a:cxn ang="0">
                    <a:pos x="96" y="110"/>
                  </a:cxn>
                  <a:cxn ang="0">
                    <a:pos x="100" y="104"/>
                  </a:cxn>
                  <a:cxn ang="0">
                    <a:pos x="108" y="96"/>
                  </a:cxn>
                  <a:cxn ang="0">
                    <a:pos x="106" y="92"/>
                  </a:cxn>
                  <a:cxn ang="0">
                    <a:pos x="98" y="80"/>
                  </a:cxn>
                  <a:cxn ang="0">
                    <a:pos x="104" y="20"/>
                  </a:cxn>
                  <a:cxn ang="0">
                    <a:pos x="106" y="4"/>
                  </a:cxn>
                  <a:cxn ang="0">
                    <a:pos x="98" y="4"/>
                  </a:cxn>
                  <a:cxn ang="0">
                    <a:pos x="94" y="0"/>
                  </a:cxn>
                  <a:cxn ang="0">
                    <a:pos x="88" y="4"/>
                  </a:cxn>
                  <a:cxn ang="0">
                    <a:pos x="82" y="4"/>
                  </a:cxn>
                  <a:cxn ang="0">
                    <a:pos x="80" y="8"/>
                  </a:cxn>
                  <a:cxn ang="0">
                    <a:pos x="68" y="8"/>
                  </a:cxn>
                  <a:cxn ang="0">
                    <a:pos x="60" y="6"/>
                  </a:cxn>
                  <a:cxn ang="0">
                    <a:pos x="52" y="6"/>
                  </a:cxn>
                  <a:cxn ang="0">
                    <a:pos x="46" y="6"/>
                  </a:cxn>
                  <a:cxn ang="0">
                    <a:pos x="42" y="6"/>
                  </a:cxn>
                  <a:cxn ang="0">
                    <a:pos x="26" y="6"/>
                  </a:cxn>
                  <a:cxn ang="0">
                    <a:pos x="14" y="0"/>
                  </a:cxn>
                  <a:cxn ang="0">
                    <a:pos x="6" y="4"/>
                  </a:cxn>
                  <a:cxn ang="0">
                    <a:pos x="0" y="10"/>
                  </a:cxn>
                  <a:cxn ang="0">
                    <a:pos x="6" y="14"/>
                  </a:cxn>
                  <a:cxn ang="0">
                    <a:pos x="8" y="18"/>
                  </a:cxn>
                  <a:cxn ang="0">
                    <a:pos x="6" y="24"/>
                  </a:cxn>
                  <a:cxn ang="0">
                    <a:pos x="8" y="32"/>
                  </a:cxn>
                  <a:cxn ang="0">
                    <a:pos x="8" y="42"/>
                  </a:cxn>
                  <a:cxn ang="0">
                    <a:pos x="6" y="50"/>
                  </a:cxn>
                  <a:cxn ang="0">
                    <a:pos x="4" y="54"/>
                  </a:cxn>
                  <a:cxn ang="0">
                    <a:pos x="2" y="64"/>
                  </a:cxn>
                  <a:cxn ang="0">
                    <a:pos x="2" y="72"/>
                  </a:cxn>
                  <a:cxn ang="0">
                    <a:pos x="4" y="78"/>
                  </a:cxn>
                  <a:cxn ang="0">
                    <a:pos x="4" y="82"/>
                  </a:cxn>
                  <a:cxn ang="0">
                    <a:pos x="4" y="84"/>
                  </a:cxn>
                  <a:cxn ang="0">
                    <a:pos x="28" y="6"/>
                  </a:cxn>
                  <a:cxn ang="0">
                    <a:pos x="32" y="16"/>
                  </a:cxn>
                  <a:cxn ang="0">
                    <a:pos x="36" y="28"/>
                  </a:cxn>
                  <a:cxn ang="0">
                    <a:pos x="40" y="38"/>
                  </a:cxn>
                  <a:cxn ang="0">
                    <a:pos x="34" y="32"/>
                  </a:cxn>
                  <a:cxn ang="0">
                    <a:pos x="28" y="26"/>
                  </a:cxn>
                  <a:cxn ang="0">
                    <a:pos x="26" y="24"/>
                  </a:cxn>
                  <a:cxn ang="0">
                    <a:pos x="28" y="6"/>
                  </a:cxn>
                </a:cxnLst>
                <a:rect l="0" t="0" r="r" b="b"/>
                <a:pathLst>
                  <a:path w="112" h="150">
                    <a:moveTo>
                      <a:pt x="4" y="84"/>
                    </a:moveTo>
                    <a:lnTo>
                      <a:pt x="4" y="84"/>
                    </a:lnTo>
                    <a:lnTo>
                      <a:pt x="6" y="86"/>
                    </a:lnTo>
                    <a:lnTo>
                      <a:pt x="8" y="88"/>
                    </a:lnTo>
                    <a:lnTo>
                      <a:pt x="8" y="88"/>
                    </a:lnTo>
                    <a:lnTo>
                      <a:pt x="10" y="86"/>
                    </a:lnTo>
                    <a:lnTo>
                      <a:pt x="12" y="86"/>
                    </a:lnTo>
                    <a:lnTo>
                      <a:pt x="14" y="86"/>
                    </a:lnTo>
                    <a:lnTo>
                      <a:pt x="10" y="88"/>
                    </a:lnTo>
                    <a:lnTo>
                      <a:pt x="10" y="92"/>
                    </a:lnTo>
                    <a:lnTo>
                      <a:pt x="10" y="96"/>
                    </a:lnTo>
                    <a:lnTo>
                      <a:pt x="8" y="98"/>
                    </a:lnTo>
                    <a:lnTo>
                      <a:pt x="8" y="102"/>
                    </a:lnTo>
                    <a:lnTo>
                      <a:pt x="8" y="104"/>
                    </a:lnTo>
                    <a:lnTo>
                      <a:pt x="46" y="124"/>
                    </a:lnTo>
                    <a:lnTo>
                      <a:pt x="48" y="126"/>
                    </a:lnTo>
                    <a:lnTo>
                      <a:pt x="50" y="130"/>
                    </a:lnTo>
                    <a:lnTo>
                      <a:pt x="50" y="136"/>
                    </a:lnTo>
                    <a:lnTo>
                      <a:pt x="52" y="138"/>
                    </a:lnTo>
                    <a:lnTo>
                      <a:pt x="54" y="140"/>
                    </a:lnTo>
                    <a:lnTo>
                      <a:pt x="56" y="140"/>
                    </a:lnTo>
                    <a:lnTo>
                      <a:pt x="70" y="150"/>
                    </a:lnTo>
                    <a:lnTo>
                      <a:pt x="74" y="148"/>
                    </a:lnTo>
                    <a:lnTo>
                      <a:pt x="72" y="142"/>
                    </a:lnTo>
                    <a:lnTo>
                      <a:pt x="72" y="138"/>
                    </a:lnTo>
                    <a:lnTo>
                      <a:pt x="74" y="134"/>
                    </a:lnTo>
                    <a:lnTo>
                      <a:pt x="76" y="134"/>
                    </a:lnTo>
                    <a:lnTo>
                      <a:pt x="78" y="128"/>
                    </a:lnTo>
                    <a:lnTo>
                      <a:pt x="82" y="122"/>
                    </a:lnTo>
                    <a:lnTo>
                      <a:pt x="84" y="122"/>
                    </a:lnTo>
                    <a:lnTo>
                      <a:pt x="88" y="120"/>
                    </a:lnTo>
                    <a:lnTo>
                      <a:pt x="92" y="116"/>
                    </a:lnTo>
                    <a:lnTo>
                      <a:pt x="94" y="110"/>
                    </a:lnTo>
                    <a:lnTo>
                      <a:pt x="96" y="110"/>
                    </a:lnTo>
                    <a:lnTo>
                      <a:pt x="100" y="108"/>
                    </a:lnTo>
                    <a:lnTo>
                      <a:pt x="100" y="104"/>
                    </a:lnTo>
                    <a:lnTo>
                      <a:pt x="102" y="100"/>
                    </a:lnTo>
                    <a:lnTo>
                      <a:pt x="108" y="96"/>
                    </a:lnTo>
                    <a:lnTo>
                      <a:pt x="106" y="94"/>
                    </a:lnTo>
                    <a:lnTo>
                      <a:pt x="106" y="92"/>
                    </a:lnTo>
                    <a:lnTo>
                      <a:pt x="108" y="90"/>
                    </a:lnTo>
                    <a:lnTo>
                      <a:pt x="98" y="80"/>
                    </a:lnTo>
                    <a:lnTo>
                      <a:pt x="98" y="26"/>
                    </a:lnTo>
                    <a:lnTo>
                      <a:pt x="104" y="20"/>
                    </a:lnTo>
                    <a:lnTo>
                      <a:pt x="112" y="4"/>
                    </a:lnTo>
                    <a:lnTo>
                      <a:pt x="106" y="4"/>
                    </a:lnTo>
                    <a:lnTo>
                      <a:pt x="102" y="6"/>
                    </a:lnTo>
                    <a:lnTo>
                      <a:pt x="98" y="4"/>
                    </a:lnTo>
                    <a:lnTo>
                      <a:pt x="94" y="2"/>
                    </a:lnTo>
                    <a:lnTo>
                      <a:pt x="94" y="0"/>
                    </a:lnTo>
                    <a:lnTo>
                      <a:pt x="90" y="2"/>
                    </a:lnTo>
                    <a:lnTo>
                      <a:pt x="88" y="4"/>
                    </a:lnTo>
                    <a:lnTo>
                      <a:pt x="84" y="4"/>
                    </a:lnTo>
                    <a:lnTo>
                      <a:pt x="82" y="4"/>
                    </a:lnTo>
                    <a:lnTo>
                      <a:pt x="80" y="4"/>
                    </a:lnTo>
                    <a:lnTo>
                      <a:pt x="80" y="8"/>
                    </a:lnTo>
                    <a:lnTo>
                      <a:pt x="72" y="8"/>
                    </a:lnTo>
                    <a:lnTo>
                      <a:pt x="68" y="8"/>
                    </a:lnTo>
                    <a:lnTo>
                      <a:pt x="64" y="8"/>
                    </a:lnTo>
                    <a:lnTo>
                      <a:pt x="60" y="6"/>
                    </a:lnTo>
                    <a:lnTo>
                      <a:pt x="56" y="6"/>
                    </a:lnTo>
                    <a:lnTo>
                      <a:pt x="52" y="6"/>
                    </a:lnTo>
                    <a:lnTo>
                      <a:pt x="48" y="8"/>
                    </a:lnTo>
                    <a:lnTo>
                      <a:pt x="46" y="6"/>
                    </a:lnTo>
                    <a:lnTo>
                      <a:pt x="44" y="6"/>
                    </a:lnTo>
                    <a:lnTo>
                      <a:pt x="42" y="6"/>
                    </a:lnTo>
                    <a:lnTo>
                      <a:pt x="38" y="8"/>
                    </a:lnTo>
                    <a:lnTo>
                      <a:pt x="26" y="6"/>
                    </a:lnTo>
                    <a:lnTo>
                      <a:pt x="20" y="0"/>
                    </a:lnTo>
                    <a:lnTo>
                      <a:pt x="14" y="0"/>
                    </a:lnTo>
                    <a:lnTo>
                      <a:pt x="8" y="0"/>
                    </a:lnTo>
                    <a:lnTo>
                      <a:pt x="6" y="4"/>
                    </a:lnTo>
                    <a:lnTo>
                      <a:pt x="0" y="6"/>
                    </a:lnTo>
                    <a:lnTo>
                      <a:pt x="0" y="10"/>
                    </a:lnTo>
                    <a:lnTo>
                      <a:pt x="4" y="14"/>
                    </a:lnTo>
                    <a:lnTo>
                      <a:pt x="6" y="14"/>
                    </a:lnTo>
                    <a:lnTo>
                      <a:pt x="6" y="16"/>
                    </a:lnTo>
                    <a:lnTo>
                      <a:pt x="8" y="18"/>
                    </a:lnTo>
                    <a:lnTo>
                      <a:pt x="8" y="20"/>
                    </a:lnTo>
                    <a:lnTo>
                      <a:pt x="6" y="24"/>
                    </a:lnTo>
                    <a:lnTo>
                      <a:pt x="4" y="30"/>
                    </a:lnTo>
                    <a:lnTo>
                      <a:pt x="8" y="32"/>
                    </a:lnTo>
                    <a:lnTo>
                      <a:pt x="8" y="36"/>
                    </a:lnTo>
                    <a:lnTo>
                      <a:pt x="8" y="42"/>
                    </a:lnTo>
                    <a:lnTo>
                      <a:pt x="8" y="48"/>
                    </a:lnTo>
                    <a:lnTo>
                      <a:pt x="6" y="50"/>
                    </a:lnTo>
                    <a:lnTo>
                      <a:pt x="4" y="52"/>
                    </a:lnTo>
                    <a:lnTo>
                      <a:pt x="4" y="54"/>
                    </a:lnTo>
                    <a:lnTo>
                      <a:pt x="4" y="60"/>
                    </a:lnTo>
                    <a:lnTo>
                      <a:pt x="2" y="64"/>
                    </a:lnTo>
                    <a:lnTo>
                      <a:pt x="2" y="68"/>
                    </a:lnTo>
                    <a:lnTo>
                      <a:pt x="2" y="72"/>
                    </a:lnTo>
                    <a:lnTo>
                      <a:pt x="4" y="76"/>
                    </a:lnTo>
                    <a:lnTo>
                      <a:pt x="4" y="78"/>
                    </a:lnTo>
                    <a:lnTo>
                      <a:pt x="2" y="80"/>
                    </a:lnTo>
                    <a:lnTo>
                      <a:pt x="4" y="82"/>
                    </a:lnTo>
                    <a:lnTo>
                      <a:pt x="4" y="84"/>
                    </a:lnTo>
                    <a:lnTo>
                      <a:pt x="4" y="84"/>
                    </a:lnTo>
                    <a:close/>
                    <a:moveTo>
                      <a:pt x="28" y="6"/>
                    </a:moveTo>
                    <a:lnTo>
                      <a:pt x="28" y="6"/>
                    </a:lnTo>
                    <a:lnTo>
                      <a:pt x="32" y="8"/>
                    </a:lnTo>
                    <a:lnTo>
                      <a:pt x="32" y="16"/>
                    </a:lnTo>
                    <a:lnTo>
                      <a:pt x="32" y="24"/>
                    </a:lnTo>
                    <a:lnTo>
                      <a:pt x="36" y="28"/>
                    </a:lnTo>
                    <a:lnTo>
                      <a:pt x="38" y="32"/>
                    </a:lnTo>
                    <a:lnTo>
                      <a:pt x="40" y="38"/>
                    </a:lnTo>
                    <a:lnTo>
                      <a:pt x="36" y="38"/>
                    </a:lnTo>
                    <a:lnTo>
                      <a:pt x="34" y="32"/>
                    </a:lnTo>
                    <a:lnTo>
                      <a:pt x="30" y="30"/>
                    </a:lnTo>
                    <a:lnTo>
                      <a:pt x="28" y="26"/>
                    </a:lnTo>
                    <a:lnTo>
                      <a:pt x="28" y="24"/>
                    </a:lnTo>
                    <a:lnTo>
                      <a:pt x="26" y="24"/>
                    </a:lnTo>
                    <a:lnTo>
                      <a:pt x="26" y="14"/>
                    </a:lnTo>
                    <a:lnTo>
                      <a:pt x="28" y="6"/>
                    </a:lnTo>
                    <a:lnTo>
                      <a:pt x="28" y="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02" name="Freeform 487">
                <a:extLst>
                  <a:ext uri="{FF2B5EF4-FFF2-40B4-BE49-F238E27FC236}">
                    <a16:creationId xmlns:a16="http://schemas.microsoft.com/office/drawing/2014/main" id="{8DF34DA2-8CE3-E58B-96A4-91D2B350F14C}"/>
                  </a:ext>
                </a:extLst>
              </p:cNvPr>
              <p:cNvSpPr>
                <a:spLocks/>
              </p:cNvSpPr>
              <p:nvPr/>
            </p:nvSpPr>
            <p:spPr bwMode="auto">
              <a:xfrm>
                <a:off x="4722172" y="4096619"/>
                <a:ext cx="83622" cy="99911"/>
              </a:xfrm>
              <a:custGeom>
                <a:avLst/>
                <a:gdLst/>
                <a:ahLst/>
                <a:cxnLst>
                  <a:cxn ang="0">
                    <a:pos x="18" y="104"/>
                  </a:cxn>
                  <a:cxn ang="0">
                    <a:pos x="36" y="96"/>
                  </a:cxn>
                  <a:cxn ang="0">
                    <a:pos x="48" y="90"/>
                  </a:cxn>
                  <a:cxn ang="0">
                    <a:pos x="64" y="92"/>
                  </a:cxn>
                  <a:cxn ang="0">
                    <a:pos x="72" y="90"/>
                  </a:cxn>
                  <a:cxn ang="0">
                    <a:pos x="70" y="84"/>
                  </a:cxn>
                  <a:cxn ang="0">
                    <a:pos x="72" y="64"/>
                  </a:cxn>
                  <a:cxn ang="0">
                    <a:pos x="80" y="44"/>
                  </a:cxn>
                  <a:cxn ang="0">
                    <a:pos x="84" y="38"/>
                  </a:cxn>
                  <a:cxn ang="0">
                    <a:pos x="84" y="20"/>
                  </a:cxn>
                  <a:cxn ang="0">
                    <a:pos x="82" y="18"/>
                  </a:cxn>
                  <a:cxn ang="0">
                    <a:pos x="82" y="8"/>
                  </a:cxn>
                  <a:cxn ang="0">
                    <a:pos x="70" y="8"/>
                  </a:cxn>
                  <a:cxn ang="0">
                    <a:pos x="70" y="2"/>
                  </a:cxn>
                  <a:cxn ang="0">
                    <a:pos x="60" y="6"/>
                  </a:cxn>
                  <a:cxn ang="0">
                    <a:pos x="54" y="0"/>
                  </a:cxn>
                  <a:cxn ang="0">
                    <a:pos x="40" y="4"/>
                  </a:cxn>
                  <a:cxn ang="0">
                    <a:pos x="38" y="8"/>
                  </a:cxn>
                  <a:cxn ang="0">
                    <a:pos x="36" y="10"/>
                  </a:cxn>
                  <a:cxn ang="0">
                    <a:pos x="32" y="6"/>
                  </a:cxn>
                  <a:cxn ang="0">
                    <a:pos x="28" y="16"/>
                  </a:cxn>
                  <a:cxn ang="0">
                    <a:pos x="26" y="12"/>
                  </a:cxn>
                  <a:cxn ang="0">
                    <a:pos x="20" y="16"/>
                  </a:cxn>
                  <a:cxn ang="0">
                    <a:pos x="16" y="22"/>
                  </a:cxn>
                  <a:cxn ang="0">
                    <a:pos x="14" y="26"/>
                  </a:cxn>
                  <a:cxn ang="0">
                    <a:pos x="18" y="32"/>
                  </a:cxn>
                  <a:cxn ang="0">
                    <a:pos x="16" y="36"/>
                  </a:cxn>
                  <a:cxn ang="0">
                    <a:pos x="10" y="38"/>
                  </a:cxn>
                  <a:cxn ang="0">
                    <a:pos x="10" y="42"/>
                  </a:cxn>
                  <a:cxn ang="0">
                    <a:pos x="8" y="50"/>
                  </a:cxn>
                  <a:cxn ang="0">
                    <a:pos x="8" y="56"/>
                  </a:cxn>
                  <a:cxn ang="0">
                    <a:pos x="0" y="66"/>
                  </a:cxn>
                  <a:cxn ang="0">
                    <a:pos x="12" y="72"/>
                  </a:cxn>
                  <a:cxn ang="0">
                    <a:pos x="16" y="82"/>
                  </a:cxn>
                  <a:cxn ang="0">
                    <a:pos x="20" y="84"/>
                  </a:cxn>
                  <a:cxn ang="0">
                    <a:pos x="20" y="88"/>
                  </a:cxn>
                  <a:cxn ang="0">
                    <a:pos x="18" y="94"/>
                  </a:cxn>
                  <a:cxn ang="0">
                    <a:pos x="18" y="100"/>
                  </a:cxn>
                  <a:cxn ang="0">
                    <a:pos x="18" y="104"/>
                  </a:cxn>
                </a:cxnLst>
                <a:rect l="0" t="0" r="r" b="b"/>
                <a:pathLst>
                  <a:path w="86" h="104">
                    <a:moveTo>
                      <a:pt x="18" y="104"/>
                    </a:moveTo>
                    <a:lnTo>
                      <a:pt x="18" y="104"/>
                    </a:lnTo>
                    <a:lnTo>
                      <a:pt x="28" y="100"/>
                    </a:lnTo>
                    <a:lnTo>
                      <a:pt x="36" y="96"/>
                    </a:lnTo>
                    <a:lnTo>
                      <a:pt x="38" y="90"/>
                    </a:lnTo>
                    <a:lnTo>
                      <a:pt x="48" y="90"/>
                    </a:lnTo>
                    <a:lnTo>
                      <a:pt x="58" y="90"/>
                    </a:lnTo>
                    <a:lnTo>
                      <a:pt x="64" y="92"/>
                    </a:lnTo>
                    <a:lnTo>
                      <a:pt x="68" y="96"/>
                    </a:lnTo>
                    <a:lnTo>
                      <a:pt x="72" y="90"/>
                    </a:lnTo>
                    <a:lnTo>
                      <a:pt x="72" y="86"/>
                    </a:lnTo>
                    <a:lnTo>
                      <a:pt x="70" y="84"/>
                    </a:lnTo>
                    <a:lnTo>
                      <a:pt x="70" y="74"/>
                    </a:lnTo>
                    <a:lnTo>
                      <a:pt x="72" y="64"/>
                    </a:lnTo>
                    <a:lnTo>
                      <a:pt x="76" y="54"/>
                    </a:lnTo>
                    <a:lnTo>
                      <a:pt x="80" y="44"/>
                    </a:lnTo>
                    <a:lnTo>
                      <a:pt x="82" y="38"/>
                    </a:lnTo>
                    <a:lnTo>
                      <a:pt x="84" y="38"/>
                    </a:lnTo>
                    <a:lnTo>
                      <a:pt x="86" y="26"/>
                    </a:lnTo>
                    <a:lnTo>
                      <a:pt x="84" y="20"/>
                    </a:lnTo>
                    <a:lnTo>
                      <a:pt x="82" y="20"/>
                    </a:lnTo>
                    <a:lnTo>
                      <a:pt x="82" y="18"/>
                    </a:lnTo>
                    <a:lnTo>
                      <a:pt x="82" y="12"/>
                    </a:lnTo>
                    <a:lnTo>
                      <a:pt x="82" y="8"/>
                    </a:lnTo>
                    <a:lnTo>
                      <a:pt x="72" y="10"/>
                    </a:lnTo>
                    <a:lnTo>
                      <a:pt x="70" y="8"/>
                    </a:lnTo>
                    <a:lnTo>
                      <a:pt x="70" y="6"/>
                    </a:lnTo>
                    <a:lnTo>
                      <a:pt x="70" y="2"/>
                    </a:lnTo>
                    <a:lnTo>
                      <a:pt x="64" y="2"/>
                    </a:lnTo>
                    <a:lnTo>
                      <a:pt x="60" y="6"/>
                    </a:lnTo>
                    <a:lnTo>
                      <a:pt x="54" y="4"/>
                    </a:lnTo>
                    <a:lnTo>
                      <a:pt x="54" y="0"/>
                    </a:lnTo>
                    <a:lnTo>
                      <a:pt x="42" y="0"/>
                    </a:lnTo>
                    <a:lnTo>
                      <a:pt x="40" y="4"/>
                    </a:lnTo>
                    <a:lnTo>
                      <a:pt x="40" y="6"/>
                    </a:lnTo>
                    <a:lnTo>
                      <a:pt x="38" y="8"/>
                    </a:lnTo>
                    <a:lnTo>
                      <a:pt x="38" y="10"/>
                    </a:lnTo>
                    <a:lnTo>
                      <a:pt x="36" y="10"/>
                    </a:lnTo>
                    <a:lnTo>
                      <a:pt x="34" y="8"/>
                    </a:lnTo>
                    <a:lnTo>
                      <a:pt x="32" y="6"/>
                    </a:lnTo>
                    <a:lnTo>
                      <a:pt x="30" y="8"/>
                    </a:lnTo>
                    <a:lnTo>
                      <a:pt x="28" y="16"/>
                    </a:lnTo>
                    <a:lnTo>
                      <a:pt x="28" y="14"/>
                    </a:lnTo>
                    <a:lnTo>
                      <a:pt x="26" y="12"/>
                    </a:lnTo>
                    <a:lnTo>
                      <a:pt x="24" y="14"/>
                    </a:lnTo>
                    <a:lnTo>
                      <a:pt x="20" y="16"/>
                    </a:lnTo>
                    <a:lnTo>
                      <a:pt x="18" y="18"/>
                    </a:lnTo>
                    <a:lnTo>
                      <a:pt x="16" y="22"/>
                    </a:lnTo>
                    <a:lnTo>
                      <a:pt x="14" y="24"/>
                    </a:lnTo>
                    <a:lnTo>
                      <a:pt x="14" y="26"/>
                    </a:lnTo>
                    <a:lnTo>
                      <a:pt x="18" y="30"/>
                    </a:lnTo>
                    <a:lnTo>
                      <a:pt x="18" y="32"/>
                    </a:lnTo>
                    <a:lnTo>
                      <a:pt x="18" y="34"/>
                    </a:lnTo>
                    <a:lnTo>
                      <a:pt x="16" y="36"/>
                    </a:lnTo>
                    <a:lnTo>
                      <a:pt x="12" y="38"/>
                    </a:lnTo>
                    <a:lnTo>
                      <a:pt x="10" y="38"/>
                    </a:lnTo>
                    <a:lnTo>
                      <a:pt x="10" y="38"/>
                    </a:lnTo>
                    <a:lnTo>
                      <a:pt x="10" y="42"/>
                    </a:lnTo>
                    <a:lnTo>
                      <a:pt x="6" y="46"/>
                    </a:lnTo>
                    <a:lnTo>
                      <a:pt x="8" y="50"/>
                    </a:lnTo>
                    <a:lnTo>
                      <a:pt x="8" y="52"/>
                    </a:lnTo>
                    <a:lnTo>
                      <a:pt x="8" y="56"/>
                    </a:lnTo>
                    <a:lnTo>
                      <a:pt x="4" y="62"/>
                    </a:lnTo>
                    <a:lnTo>
                      <a:pt x="0" y="66"/>
                    </a:lnTo>
                    <a:lnTo>
                      <a:pt x="10" y="68"/>
                    </a:lnTo>
                    <a:lnTo>
                      <a:pt x="12" y="72"/>
                    </a:lnTo>
                    <a:lnTo>
                      <a:pt x="14" y="76"/>
                    </a:lnTo>
                    <a:lnTo>
                      <a:pt x="16" y="82"/>
                    </a:lnTo>
                    <a:lnTo>
                      <a:pt x="18" y="84"/>
                    </a:lnTo>
                    <a:lnTo>
                      <a:pt x="20" y="84"/>
                    </a:lnTo>
                    <a:lnTo>
                      <a:pt x="22" y="84"/>
                    </a:lnTo>
                    <a:lnTo>
                      <a:pt x="20" y="88"/>
                    </a:lnTo>
                    <a:lnTo>
                      <a:pt x="20" y="90"/>
                    </a:lnTo>
                    <a:lnTo>
                      <a:pt x="18" y="94"/>
                    </a:lnTo>
                    <a:lnTo>
                      <a:pt x="16" y="96"/>
                    </a:lnTo>
                    <a:lnTo>
                      <a:pt x="18" y="100"/>
                    </a:lnTo>
                    <a:lnTo>
                      <a:pt x="16" y="104"/>
                    </a:lnTo>
                    <a:lnTo>
                      <a:pt x="18" y="104"/>
                    </a:lnTo>
                    <a:lnTo>
                      <a:pt x="18" y="10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03" name="Freeform 488">
                <a:extLst>
                  <a:ext uri="{FF2B5EF4-FFF2-40B4-BE49-F238E27FC236}">
                    <a16:creationId xmlns:a16="http://schemas.microsoft.com/office/drawing/2014/main" id="{CA02851E-45B9-E6EF-15D1-443595F7C9D7}"/>
                  </a:ext>
                </a:extLst>
              </p:cNvPr>
              <p:cNvSpPr>
                <a:spLocks/>
              </p:cNvSpPr>
              <p:nvPr/>
            </p:nvSpPr>
            <p:spPr bwMode="auto">
              <a:xfrm>
                <a:off x="4628826" y="4063955"/>
                <a:ext cx="31115" cy="26899"/>
              </a:xfrm>
              <a:custGeom>
                <a:avLst/>
                <a:gdLst/>
                <a:ahLst/>
                <a:cxnLst>
                  <a:cxn ang="0">
                    <a:pos x="18" y="28"/>
                  </a:cxn>
                  <a:cxn ang="0">
                    <a:pos x="18" y="28"/>
                  </a:cxn>
                  <a:cxn ang="0">
                    <a:pos x="18" y="24"/>
                  </a:cxn>
                  <a:cxn ang="0">
                    <a:pos x="24" y="24"/>
                  </a:cxn>
                  <a:cxn ang="0">
                    <a:pos x="28" y="22"/>
                  </a:cxn>
                  <a:cxn ang="0">
                    <a:pos x="30" y="20"/>
                  </a:cxn>
                  <a:cxn ang="0">
                    <a:pos x="30" y="18"/>
                  </a:cxn>
                  <a:cxn ang="0">
                    <a:pos x="30" y="14"/>
                  </a:cxn>
                  <a:cxn ang="0">
                    <a:pos x="28" y="12"/>
                  </a:cxn>
                  <a:cxn ang="0">
                    <a:pos x="28" y="10"/>
                  </a:cxn>
                  <a:cxn ang="0">
                    <a:pos x="32" y="8"/>
                  </a:cxn>
                  <a:cxn ang="0">
                    <a:pos x="32" y="4"/>
                  </a:cxn>
                  <a:cxn ang="0">
                    <a:pos x="32" y="0"/>
                  </a:cxn>
                  <a:cxn ang="0">
                    <a:pos x="20" y="0"/>
                  </a:cxn>
                  <a:cxn ang="0">
                    <a:pos x="10" y="0"/>
                  </a:cxn>
                  <a:cxn ang="0">
                    <a:pos x="6" y="4"/>
                  </a:cxn>
                  <a:cxn ang="0">
                    <a:pos x="0" y="6"/>
                  </a:cxn>
                  <a:cxn ang="0">
                    <a:pos x="0" y="8"/>
                  </a:cxn>
                  <a:cxn ang="0">
                    <a:pos x="2" y="12"/>
                  </a:cxn>
                  <a:cxn ang="0">
                    <a:pos x="10" y="16"/>
                  </a:cxn>
                  <a:cxn ang="0">
                    <a:pos x="10" y="24"/>
                  </a:cxn>
                  <a:cxn ang="0">
                    <a:pos x="12" y="24"/>
                  </a:cxn>
                  <a:cxn ang="0">
                    <a:pos x="14" y="26"/>
                  </a:cxn>
                  <a:cxn ang="0">
                    <a:pos x="16" y="28"/>
                  </a:cxn>
                  <a:cxn ang="0">
                    <a:pos x="18" y="28"/>
                  </a:cxn>
                  <a:cxn ang="0">
                    <a:pos x="18" y="28"/>
                  </a:cxn>
                </a:cxnLst>
                <a:rect l="0" t="0" r="r" b="b"/>
                <a:pathLst>
                  <a:path w="32" h="28">
                    <a:moveTo>
                      <a:pt x="18" y="28"/>
                    </a:moveTo>
                    <a:lnTo>
                      <a:pt x="18" y="28"/>
                    </a:lnTo>
                    <a:lnTo>
                      <a:pt x="18" y="24"/>
                    </a:lnTo>
                    <a:lnTo>
                      <a:pt x="24" y="24"/>
                    </a:lnTo>
                    <a:lnTo>
                      <a:pt x="28" y="22"/>
                    </a:lnTo>
                    <a:lnTo>
                      <a:pt x="30" y="20"/>
                    </a:lnTo>
                    <a:lnTo>
                      <a:pt x="30" y="18"/>
                    </a:lnTo>
                    <a:lnTo>
                      <a:pt x="30" y="14"/>
                    </a:lnTo>
                    <a:lnTo>
                      <a:pt x="28" y="12"/>
                    </a:lnTo>
                    <a:lnTo>
                      <a:pt x="28" y="10"/>
                    </a:lnTo>
                    <a:lnTo>
                      <a:pt x="32" y="8"/>
                    </a:lnTo>
                    <a:lnTo>
                      <a:pt x="32" y="4"/>
                    </a:lnTo>
                    <a:lnTo>
                      <a:pt x="32" y="0"/>
                    </a:lnTo>
                    <a:lnTo>
                      <a:pt x="20" y="0"/>
                    </a:lnTo>
                    <a:lnTo>
                      <a:pt x="10" y="0"/>
                    </a:lnTo>
                    <a:lnTo>
                      <a:pt x="6" y="4"/>
                    </a:lnTo>
                    <a:lnTo>
                      <a:pt x="0" y="6"/>
                    </a:lnTo>
                    <a:lnTo>
                      <a:pt x="0" y="8"/>
                    </a:lnTo>
                    <a:lnTo>
                      <a:pt x="2" y="12"/>
                    </a:lnTo>
                    <a:lnTo>
                      <a:pt x="10" y="16"/>
                    </a:lnTo>
                    <a:lnTo>
                      <a:pt x="10" y="24"/>
                    </a:lnTo>
                    <a:lnTo>
                      <a:pt x="12" y="24"/>
                    </a:lnTo>
                    <a:lnTo>
                      <a:pt x="14" y="26"/>
                    </a:lnTo>
                    <a:lnTo>
                      <a:pt x="16" y="28"/>
                    </a:lnTo>
                    <a:lnTo>
                      <a:pt x="18" y="28"/>
                    </a:lnTo>
                    <a:lnTo>
                      <a:pt x="18" y="2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04" name="Freeform 489">
                <a:extLst>
                  <a:ext uri="{FF2B5EF4-FFF2-40B4-BE49-F238E27FC236}">
                    <a16:creationId xmlns:a16="http://schemas.microsoft.com/office/drawing/2014/main" id="{D5AF07B9-63FC-CF69-8410-BB69D8FCEC58}"/>
                  </a:ext>
                </a:extLst>
              </p:cNvPr>
              <p:cNvSpPr>
                <a:spLocks/>
              </p:cNvSpPr>
              <p:nvPr/>
            </p:nvSpPr>
            <p:spPr bwMode="auto">
              <a:xfrm>
                <a:off x="4646329" y="4063955"/>
                <a:ext cx="93345" cy="82619"/>
              </a:xfrm>
              <a:custGeom>
                <a:avLst/>
                <a:gdLst/>
                <a:ahLst/>
                <a:cxnLst>
                  <a:cxn ang="0">
                    <a:pos x="20" y="60"/>
                  </a:cxn>
                  <a:cxn ang="0">
                    <a:pos x="24" y="60"/>
                  </a:cxn>
                  <a:cxn ang="0">
                    <a:pos x="26" y="56"/>
                  </a:cxn>
                  <a:cxn ang="0">
                    <a:pos x="30" y="52"/>
                  </a:cxn>
                  <a:cxn ang="0">
                    <a:pos x="32" y="42"/>
                  </a:cxn>
                  <a:cxn ang="0">
                    <a:pos x="40" y="44"/>
                  </a:cxn>
                  <a:cxn ang="0">
                    <a:pos x="46" y="44"/>
                  </a:cxn>
                  <a:cxn ang="0">
                    <a:pos x="52" y="46"/>
                  </a:cxn>
                  <a:cxn ang="0">
                    <a:pos x="52" y="54"/>
                  </a:cxn>
                  <a:cxn ang="0">
                    <a:pos x="54" y="56"/>
                  </a:cxn>
                  <a:cxn ang="0">
                    <a:pos x="58" y="64"/>
                  </a:cxn>
                  <a:cxn ang="0">
                    <a:pos x="56" y="70"/>
                  </a:cxn>
                  <a:cxn ang="0">
                    <a:pos x="64" y="70"/>
                  </a:cxn>
                  <a:cxn ang="0">
                    <a:pos x="70" y="68"/>
                  </a:cxn>
                  <a:cxn ang="0">
                    <a:pos x="74" y="74"/>
                  </a:cxn>
                  <a:cxn ang="0">
                    <a:pos x="72" y="80"/>
                  </a:cxn>
                  <a:cxn ang="0">
                    <a:pos x="74" y="86"/>
                  </a:cxn>
                  <a:cxn ang="0">
                    <a:pos x="82" y="76"/>
                  </a:cxn>
                  <a:cxn ang="0">
                    <a:pos x="84" y="80"/>
                  </a:cxn>
                  <a:cxn ang="0">
                    <a:pos x="88" y="72"/>
                  </a:cxn>
                  <a:cxn ang="0">
                    <a:pos x="90" y="70"/>
                  </a:cxn>
                  <a:cxn ang="0">
                    <a:pos x="96" y="68"/>
                  </a:cxn>
                  <a:cxn ang="0">
                    <a:pos x="96" y="64"/>
                  </a:cxn>
                  <a:cxn ang="0">
                    <a:pos x="92" y="58"/>
                  </a:cxn>
                  <a:cxn ang="0">
                    <a:pos x="96" y="52"/>
                  </a:cxn>
                  <a:cxn ang="0">
                    <a:pos x="88" y="48"/>
                  </a:cxn>
                  <a:cxn ang="0">
                    <a:pos x="84" y="42"/>
                  </a:cxn>
                  <a:cxn ang="0">
                    <a:pos x="80" y="42"/>
                  </a:cxn>
                  <a:cxn ang="0">
                    <a:pos x="78" y="38"/>
                  </a:cxn>
                  <a:cxn ang="0">
                    <a:pos x="74" y="40"/>
                  </a:cxn>
                  <a:cxn ang="0">
                    <a:pos x="70" y="38"/>
                  </a:cxn>
                  <a:cxn ang="0">
                    <a:pos x="78" y="32"/>
                  </a:cxn>
                  <a:cxn ang="0">
                    <a:pos x="76" y="30"/>
                  </a:cxn>
                  <a:cxn ang="0">
                    <a:pos x="72" y="24"/>
                  </a:cxn>
                  <a:cxn ang="0">
                    <a:pos x="72" y="20"/>
                  </a:cxn>
                  <a:cxn ang="0">
                    <a:pos x="74" y="14"/>
                  </a:cxn>
                  <a:cxn ang="0">
                    <a:pos x="72" y="6"/>
                  </a:cxn>
                  <a:cxn ang="0">
                    <a:pos x="64" y="6"/>
                  </a:cxn>
                  <a:cxn ang="0">
                    <a:pos x="60" y="4"/>
                  </a:cxn>
                  <a:cxn ang="0">
                    <a:pos x="56" y="8"/>
                  </a:cxn>
                  <a:cxn ang="0">
                    <a:pos x="52" y="6"/>
                  </a:cxn>
                  <a:cxn ang="0">
                    <a:pos x="48" y="8"/>
                  </a:cxn>
                  <a:cxn ang="0">
                    <a:pos x="44" y="2"/>
                  </a:cxn>
                  <a:cxn ang="0">
                    <a:pos x="34" y="4"/>
                  </a:cxn>
                  <a:cxn ang="0">
                    <a:pos x="28" y="2"/>
                  </a:cxn>
                  <a:cxn ang="0">
                    <a:pos x="18" y="2"/>
                  </a:cxn>
                  <a:cxn ang="0">
                    <a:pos x="14" y="4"/>
                  </a:cxn>
                  <a:cxn ang="0">
                    <a:pos x="10" y="10"/>
                  </a:cxn>
                  <a:cxn ang="0">
                    <a:pos x="12" y="14"/>
                  </a:cxn>
                  <a:cxn ang="0">
                    <a:pos x="12" y="20"/>
                  </a:cxn>
                  <a:cxn ang="0">
                    <a:pos x="6" y="24"/>
                  </a:cxn>
                  <a:cxn ang="0">
                    <a:pos x="0" y="28"/>
                  </a:cxn>
                  <a:cxn ang="0">
                    <a:pos x="4" y="34"/>
                  </a:cxn>
                  <a:cxn ang="0">
                    <a:pos x="4" y="38"/>
                  </a:cxn>
                  <a:cxn ang="0">
                    <a:pos x="6" y="42"/>
                  </a:cxn>
                  <a:cxn ang="0">
                    <a:pos x="12" y="44"/>
                  </a:cxn>
                  <a:cxn ang="0">
                    <a:pos x="12" y="56"/>
                  </a:cxn>
                  <a:cxn ang="0">
                    <a:pos x="20" y="60"/>
                  </a:cxn>
                </a:cxnLst>
                <a:rect l="0" t="0" r="r" b="b"/>
                <a:pathLst>
                  <a:path w="96" h="86">
                    <a:moveTo>
                      <a:pt x="20" y="60"/>
                    </a:moveTo>
                    <a:lnTo>
                      <a:pt x="20" y="60"/>
                    </a:lnTo>
                    <a:lnTo>
                      <a:pt x="22" y="62"/>
                    </a:lnTo>
                    <a:lnTo>
                      <a:pt x="24" y="60"/>
                    </a:lnTo>
                    <a:lnTo>
                      <a:pt x="24" y="58"/>
                    </a:lnTo>
                    <a:lnTo>
                      <a:pt x="26" y="56"/>
                    </a:lnTo>
                    <a:lnTo>
                      <a:pt x="28" y="54"/>
                    </a:lnTo>
                    <a:lnTo>
                      <a:pt x="30" y="52"/>
                    </a:lnTo>
                    <a:lnTo>
                      <a:pt x="30" y="46"/>
                    </a:lnTo>
                    <a:lnTo>
                      <a:pt x="32" y="42"/>
                    </a:lnTo>
                    <a:lnTo>
                      <a:pt x="34" y="42"/>
                    </a:lnTo>
                    <a:lnTo>
                      <a:pt x="40" y="44"/>
                    </a:lnTo>
                    <a:lnTo>
                      <a:pt x="44" y="44"/>
                    </a:lnTo>
                    <a:lnTo>
                      <a:pt x="46" y="44"/>
                    </a:lnTo>
                    <a:lnTo>
                      <a:pt x="48" y="44"/>
                    </a:lnTo>
                    <a:lnTo>
                      <a:pt x="52" y="46"/>
                    </a:lnTo>
                    <a:lnTo>
                      <a:pt x="52" y="52"/>
                    </a:lnTo>
                    <a:lnTo>
                      <a:pt x="52" y="54"/>
                    </a:lnTo>
                    <a:lnTo>
                      <a:pt x="54" y="54"/>
                    </a:lnTo>
                    <a:lnTo>
                      <a:pt x="54" y="56"/>
                    </a:lnTo>
                    <a:lnTo>
                      <a:pt x="54" y="58"/>
                    </a:lnTo>
                    <a:lnTo>
                      <a:pt x="58" y="64"/>
                    </a:lnTo>
                    <a:lnTo>
                      <a:pt x="56" y="68"/>
                    </a:lnTo>
                    <a:lnTo>
                      <a:pt x="56" y="70"/>
                    </a:lnTo>
                    <a:lnTo>
                      <a:pt x="62" y="70"/>
                    </a:lnTo>
                    <a:lnTo>
                      <a:pt x="64" y="70"/>
                    </a:lnTo>
                    <a:lnTo>
                      <a:pt x="68" y="70"/>
                    </a:lnTo>
                    <a:lnTo>
                      <a:pt x="70" y="68"/>
                    </a:lnTo>
                    <a:lnTo>
                      <a:pt x="70" y="66"/>
                    </a:lnTo>
                    <a:lnTo>
                      <a:pt x="74" y="74"/>
                    </a:lnTo>
                    <a:lnTo>
                      <a:pt x="74" y="76"/>
                    </a:lnTo>
                    <a:lnTo>
                      <a:pt x="72" y="80"/>
                    </a:lnTo>
                    <a:lnTo>
                      <a:pt x="70" y="84"/>
                    </a:lnTo>
                    <a:lnTo>
                      <a:pt x="74" y="86"/>
                    </a:lnTo>
                    <a:lnTo>
                      <a:pt x="80" y="78"/>
                    </a:lnTo>
                    <a:lnTo>
                      <a:pt x="82" y="76"/>
                    </a:lnTo>
                    <a:lnTo>
                      <a:pt x="84" y="78"/>
                    </a:lnTo>
                    <a:lnTo>
                      <a:pt x="84" y="80"/>
                    </a:lnTo>
                    <a:lnTo>
                      <a:pt x="88" y="76"/>
                    </a:lnTo>
                    <a:lnTo>
                      <a:pt x="88" y="72"/>
                    </a:lnTo>
                    <a:lnTo>
                      <a:pt x="88" y="70"/>
                    </a:lnTo>
                    <a:lnTo>
                      <a:pt x="90" y="70"/>
                    </a:lnTo>
                    <a:lnTo>
                      <a:pt x="94" y="68"/>
                    </a:lnTo>
                    <a:lnTo>
                      <a:pt x="96" y="68"/>
                    </a:lnTo>
                    <a:lnTo>
                      <a:pt x="96" y="66"/>
                    </a:lnTo>
                    <a:lnTo>
                      <a:pt x="96" y="64"/>
                    </a:lnTo>
                    <a:lnTo>
                      <a:pt x="92" y="60"/>
                    </a:lnTo>
                    <a:lnTo>
                      <a:pt x="92" y="58"/>
                    </a:lnTo>
                    <a:lnTo>
                      <a:pt x="94" y="56"/>
                    </a:lnTo>
                    <a:lnTo>
                      <a:pt x="96" y="52"/>
                    </a:lnTo>
                    <a:lnTo>
                      <a:pt x="92" y="50"/>
                    </a:lnTo>
                    <a:lnTo>
                      <a:pt x="88" y="48"/>
                    </a:lnTo>
                    <a:lnTo>
                      <a:pt x="86" y="44"/>
                    </a:lnTo>
                    <a:lnTo>
                      <a:pt x="84" y="42"/>
                    </a:lnTo>
                    <a:lnTo>
                      <a:pt x="82" y="42"/>
                    </a:lnTo>
                    <a:lnTo>
                      <a:pt x="80" y="42"/>
                    </a:lnTo>
                    <a:lnTo>
                      <a:pt x="78" y="40"/>
                    </a:lnTo>
                    <a:lnTo>
                      <a:pt x="78" y="38"/>
                    </a:lnTo>
                    <a:lnTo>
                      <a:pt x="76" y="38"/>
                    </a:lnTo>
                    <a:lnTo>
                      <a:pt x="74" y="40"/>
                    </a:lnTo>
                    <a:lnTo>
                      <a:pt x="72" y="38"/>
                    </a:lnTo>
                    <a:lnTo>
                      <a:pt x="70" y="38"/>
                    </a:lnTo>
                    <a:lnTo>
                      <a:pt x="82" y="32"/>
                    </a:lnTo>
                    <a:lnTo>
                      <a:pt x="78" y="32"/>
                    </a:lnTo>
                    <a:lnTo>
                      <a:pt x="76" y="32"/>
                    </a:lnTo>
                    <a:lnTo>
                      <a:pt x="76" y="30"/>
                    </a:lnTo>
                    <a:lnTo>
                      <a:pt x="74" y="26"/>
                    </a:lnTo>
                    <a:lnTo>
                      <a:pt x="72" y="24"/>
                    </a:lnTo>
                    <a:lnTo>
                      <a:pt x="72" y="22"/>
                    </a:lnTo>
                    <a:lnTo>
                      <a:pt x="72" y="20"/>
                    </a:lnTo>
                    <a:lnTo>
                      <a:pt x="74" y="18"/>
                    </a:lnTo>
                    <a:lnTo>
                      <a:pt x="74" y="14"/>
                    </a:lnTo>
                    <a:lnTo>
                      <a:pt x="72" y="8"/>
                    </a:lnTo>
                    <a:lnTo>
                      <a:pt x="72" y="6"/>
                    </a:lnTo>
                    <a:lnTo>
                      <a:pt x="66" y="6"/>
                    </a:lnTo>
                    <a:lnTo>
                      <a:pt x="64" y="6"/>
                    </a:lnTo>
                    <a:lnTo>
                      <a:pt x="62" y="6"/>
                    </a:lnTo>
                    <a:lnTo>
                      <a:pt x="60" y="4"/>
                    </a:lnTo>
                    <a:lnTo>
                      <a:pt x="58" y="6"/>
                    </a:lnTo>
                    <a:lnTo>
                      <a:pt x="56" y="8"/>
                    </a:lnTo>
                    <a:lnTo>
                      <a:pt x="54" y="8"/>
                    </a:lnTo>
                    <a:lnTo>
                      <a:pt x="52" y="6"/>
                    </a:lnTo>
                    <a:lnTo>
                      <a:pt x="48" y="6"/>
                    </a:lnTo>
                    <a:lnTo>
                      <a:pt x="48" y="8"/>
                    </a:lnTo>
                    <a:lnTo>
                      <a:pt x="44" y="8"/>
                    </a:lnTo>
                    <a:lnTo>
                      <a:pt x="44" y="2"/>
                    </a:lnTo>
                    <a:lnTo>
                      <a:pt x="38" y="4"/>
                    </a:lnTo>
                    <a:lnTo>
                      <a:pt x="34" y="4"/>
                    </a:lnTo>
                    <a:lnTo>
                      <a:pt x="32" y="4"/>
                    </a:lnTo>
                    <a:lnTo>
                      <a:pt x="28" y="2"/>
                    </a:lnTo>
                    <a:lnTo>
                      <a:pt x="24" y="2"/>
                    </a:lnTo>
                    <a:lnTo>
                      <a:pt x="18" y="2"/>
                    </a:lnTo>
                    <a:lnTo>
                      <a:pt x="14" y="0"/>
                    </a:lnTo>
                    <a:lnTo>
                      <a:pt x="14" y="4"/>
                    </a:lnTo>
                    <a:lnTo>
                      <a:pt x="14" y="8"/>
                    </a:lnTo>
                    <a:lnTo>
                      <a:pt x="10" y="10"/>
                    </a:lnTo>
                    <a:lnTo>
                      <a:pt x="10" y="12"/>
                    </a:lnTo>
                    <a:lnTo>
                      <a:pt x="12" y="14"/>
                    </a:lnTo>
                    <a:lnTo>
                      <a:pt x="12" y="18"/>
                    </a:lnTo>
                    <a:lnTo>
                      <a:pt x="12" y="20"/>
                    </a:lnTo>
                    <a:lnTo>
                      <a:pt x="10" y="22"/>
                    </a:lnTo>
                    <a:lnTo>
                      <a:pt x="6" y="24"/>
                    </a:lnTo>
                    <a:lnTo>
                      <a:pt x="0" y="24"/>
                    </a:lnTo>
                    <a:lnTo>
                      <a:pt x="0" y="28"/>
                    </a:lnTo>
                    <a:lnTo>
                      <a:pt x="0" y="30"/>
                    </a:lnTo>
                    <a:lnTo>
                      <a:pt x="4" y="34"/>
                    </a:lnTo>
                    <a:lnTo>
                      <a:pt x="4" y="36"/>
                    </a:lnTo>
                    <a:lnTo>
                      <a:pt x="4" y="38"/>
                    </a:lnTo>
                    <a:lnTo>
                      <a:pt x="6" y="40"/>
                    </a:lnTo>
                    <a:lnTo>
                      <a:pt x="6" y="42"/>
                    </a:lnTo>
                    <a:lnTo>
                      <a:pt x="10" y="44"/>
                    </a:lnTo>
                    <a:lnTo>
                      <a:pt x="12" y="44"/>
                    </a:lnTo>
                    <a:lnTo>
                      <a:pt x="12" y="52"/>
                    </a:lnTo>
                    <a:lnTo>
                      <a:pt x="12" y="56"/>
                    </a:lnTo>
                    <a:lnTo>
                      <a:pt x="14" y="58"/>
                    </a:lnTo>
                    <a:lnTo>
                      <a:pt x="20" y="60"/>
                    </a:lnTo>
                    <a:lnTo>
                      <a:pt x="20" y="6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05" name="Freeform 490">
                <a:extLst>
                  <a:ext uri="{FF2B5EF4-FFF2-40B4-BE49-F238E27FC236}">
                    <a16:creationId xmlns:a16="http://schemas.microsoft.com/office/drawing/2014/main" id="{A306F745-AD1B-8726-B569-82A3DC4A06F6}"/>
                  </a:ext>
                </a:extLst>
              </p:cNvPr>
              <p:cNvSpPr>
                <a:spLocks/>
              </p:cNvSpPr>
              <p:nvPr/>
            </p:nvSpPr>
            <p:spPr bwMode="auto">
              <a:xfrm>
                <a:off x="4788291" y="4079326"/>
                <a:ext cx="60285" cy="109518"/>
              </a:xfrm>
              <a:custGeom>
                <a:avLst/>
                <a:gdLst/>
                <a:ahLst/>
                <a:cxnLst>
                  <a:cxn ang="0">
                    <a:pos x="62" y="96"/>
                  </a:cxn>
                  <a:cxn ang="0">
                    <a:pos x="54" y="80"/>
                  </a:cxn>
                  <a:cxn ang="0">
                    <a:pos x="52" y="76"/>
                  </a:cxn>
                  <a:cxn ang="0">
                    <a:pos x="56" y="58"/>
                  </a:cxn>
                  <a:cxn ang="0">
                    <a:pos x="50" y="50"/>
                  </a:cxn>
                  <a:cxn ang="0">
                    <a:pos x="50" y="44"/>
                  </a:cxn>
                  <a:cxn ang="0">
                    <a:pos x="52" y="38"/>
                  </a:cxn>
                  <a:cxn ang="0">
                    <a:pos x="50" y="36"/>
                  </a:cxn>
                  <a:cxn ang="0">
                    <a:pos x="52" y="28"/>
                  </a:cxn>
                  <a:cxn ang="0">
                    <a:pos x="50" y="16"/>
                  </a:cxn>
                  <a:cxn ang="0">
                    <a:pos x="46" y="12"/>
                  </a:cxn>
                  <a:cxn ang="0">
                    <a:pos x="46" y="0"/>
                  </a:cxn>
                  <a:cxn ang="0">
                    <a:pos x="38" y="2"/>
                  </a:cxn>
                  <a:cxn ang="0">
                    <a:pos x="18" y="2"/>
                  </a:cxn>
                  <a:cxn ang="0">
                    <a:pos x="14" y="8"/>
                  </a:cxn>
                  <a:cxn ang="0">
                    <a:pos x="16" y="18"/>
                  </a:cxn>
                  <a:cxn ang="0">
                    <a:pos x="14" y="30"/>
                  </a:cxn>
                  <a:cxn ang="0">
                    <a:pos x="14" y="38"/>
                  </a:cxn>
                  <a:cxn ang="0">
                    <a:pos x="18" y="42"/>
                  </a:cxn>
                  <a:cxn ang="0">
                    <a:pos x="14" y="56"/>
                  </a:cxn>
                  <a:cxn ang="0">
                    <a:pos x="8" y="72"/>
                  </a:cxn>
                  <a:cxn ang="0">
                    <a:pos x="2" y="92"/>
                  </a:cxn>
                  <a:cxn ang="0">
                    <a:pos x="4" y="102"/>
                  </a:cxn>
                  <a:cxn ang="0">
                    <a:pos x="0" y="114"/>
                  </a:cxn>
                  <a:cxn ang="0">
                    <a:pos x="10" y="114"/>
                  </a:cxn>
                  <a:cxn ang="0">
                    <a:pos x="18" y="108"/>
                  </a:cxn>
                  <a:cxn ang="0">
                    <a:pos x="32" y="104"/>
                  </a:cxn>
                  <a:cxn ang="0">
                    <a:pos x="44" y="102"/>
                  </a:cxn>
                  <a:cxn ang="0">
                    <a:pos x="56" y="100"/>
                  </a:cxn>
                  <a:cxn ang="0">
                    <a:pos x="52" y="92"/>
                  </a:cxn>
                  <a:cxn ang="0">
                    <a:pos x="58" y="96"/>
                  </a:cxn>
                  <a:cxn ang="0">
                    <a:pos x="62" y="96"/>
                  </a:cxn>
                </a:cxnLst>
                <a:rect l="0" t="0" r="r" b="b"/>
                <a:pathLst>
                  <a:path w="62" h="114">
                    <a:moveTo>
                      <a:pt x="62" y="96"/>
                    </a:moveTo>
                    <a:lnTo>
                      <a:pt x="62" y="96"/>
                    </a:lnTo>
                    <a:lnTo>
                      <a:pt x="54" y="82"/>
                    </a:lnTo>
                    <a:lnTo>
                      <a:pt x="54" y="80"/>
                    </a:lnTo>
                    <a:lnTo>
                      <a:pt x="54" y="78"/>
                    </a:lnTo>
                    <a:lnTo>
                      <a:pt x="52" y="76"/>
                    </a:lnTo>
                    <a:lnTo>
                      <a:pt x="54" y="72"/>
                    </a:lnTo>
                    <a:lnTo>
                      <a:pt x="56" y="58"/>
                    </a:lnTo>
                    <a:lnTo>
                      <a:pt x="54" y="54"/>
                    </a:lnTo>
                    <a:lnTo>
                      <a:pt x="50" y="50"/>
                    </a:lnTo>
                    <a:lnTo>
                      <a:pt x="50" y="46"/>
                    </a:lnTo>
                    <a:lnTo>
                      <a:pt x="50" y="44"/>
                    </a:lnTo>
                    <a:lnTo>
                      <a:pt x="52" y="40"/>
                    </a:lnTo>
                    <a:lnTo>
                      <a:pt x="52" y="38"/>
                    </a:lnTo>
                    <a:lnTo>
                      <a:pt x="50" y="38"/>
                    </a:lnTo>
                    <a:lnTo>
                      <a:pt x="50" y="36"/>
                    </a:lnTo>
                    <a:lnTo>
                      <a:pt x="50" y="34"/>
                    </a:lnTo>
                    <a:lnTo>
                      <a:pt x="52" y="28"/>
                    </a:lnTo>
                    <a:lnTo>
                      <a:pt x="50" y="22"/>
                    </a:lnTo>
                    <a:lnTo>
                      <a:pt x="50" y="16"/>
                    </a:lnTo>
                    <a:lnTo>
                      <a:pt x="46" y="14"/>
                    </a:lnTo>
                    <a:lnTo>
                      <a:pt x="46" y="12"/>
                    </a:lnTo>
                    <a:lnTo>
                      <a:pt x="46" y="6"/>
                    </a:lnTo>
                    <a:lnTo>
                      <a:pt x="46" y="0"/>
                    </a:lnTo>
                    <a:lnTo>
                      <a:pt x="38" y="0"/>
                    </a:lnTo>
                    <a:lnTo>
                      <a:pt x="38" y="2"/>
                    </a:lnTo>
                    <a:lnTo>
                      <a:pt x="28" y="2"/>
                    </a:lnTo>
                    <a:lnTo>
                      <a:pt x="18" y="2"/>
                    </a:lnTo>
                    <a:lnTo>
                      <a:pt x="14" y="4"/>
                    </a:lnTo>
                    <a:lnTo>
                      <a:pt x="14" y="8"/>
                    </a:lnTo>
                    <a:lnTo>
                      <a:pt x="14" y="14"/>
                    </a:lnTo>
                    <a:lnTo>
                      <a:pt x="16" y="18"/>
                    </a:lnTo>
                    <a:lnTo>
                      <a:pt x="14" y="26"/>
                    </a:lnTo>
                    <a:lnTo>
                      <a:pt x="14" y="30"/>
                    </a:lnTo>
                    <a:lnTo>
                      <a:pt x="14" y="36"/>
                    </a:lnTo>
                    <a:lnTo>
                      <a:pt x="14" y="38"/>
                    </a:lnTo>
                    <a:lnTo>
                      <a:pt x="16" y="38"/>
                    </a:lnTo>
                    <a:lnTo>
                      <a:pt x="18" y="42"/>
                    </a:lnTo>
                    <a:lnTo>
                      <a:pt x="16" y="54"/>
                    </a:lnTo>
                    <a:lnTo>
                      <a:pt x="14" y="56"/>
                    </a:lnTo>
                    <a:lnTo>
                      <a:pt x="12" y="62"/>
                    </a:lnTo>
                    <a:lnTo>
                      <a:pt x="8" y="72"/>
                    </a:lnTo>
                    <a:lnTo>
                      <a:pt x="4" y="82"/>
                    </a:lnTo>
                    <a:lnTo>
                      <a:pt x="2" y="92"/>
                    </a:lnTo>
                    <a:lnTo>
                      <a:pt x="2" y="100"/>
                    </a:lnTo>
                    <a:lnTo>
                      <a:pt x="4" y="102"/>
                    </a:lnTo>
                    <a:lnTo>
                      <a:pt x="4" y="106"/>
                    </a:lnTo>
                    <a:lnTo>
                      <a:pt x="0" y="114"/>
                    </a:lnTo>
                    <a:lnTo>
                      <a:pt x="4" y="114"/>
                    </a:lnTo>
                    <a:lnTo>
                      <a:pt x="10" y="114"/>
                    </a:lnTo>
                    <a:lnTo>
                      <a:pt x="14" y="112"/>
                    </a:lnTo>
                    <a:lnTo>
                      <a:pt x="18" y="108"/>
                    </a:lnTo>
                    <a:lnTo>
                      <a:pt x="28" y="108"/>
                    </a:lnTo>
                    <a:lnTo>
                      <a:pt x="32" y="104"/>
                    </a:lnTo>
                    <a:lnTo>
                      <a:pt x="36" y="102"/>
                    </a:lnTo>
                    <a:lnTo>
                      <a:pt x="44" y="102"/>
                    </a:lnTo>
                    <a:lnTo>
                      <a:pt x="50" y="100"/>
                    </a:lnTo>
                    <a:lnTo>
                      <a:pt x="56" y="100"/>
                    </a:lnTo>
                    <a:lnTo>
                      <a:pt x="56" y="94"/>
                    </a:lnTo>
                    <a:lnTo>
                      <a:pt x="52" y="92"/>
                    </a:lnTo>
                    <a:lnTo>
                      <a:pt x="56" y="92"/>
                    </a:lnTo>
                    <a:lnTo>
                      <a:pt x="58" y="96"/>
                    </a:lnTo>
                    <a:lnTo>
                      <a:pt x="62" y="96"/>
                    </a:lnTo>
                    <a:lnTo>
                      <a:pt x="62" y="9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06" name="Freeform 491">
                <a:extLst>
                  <a:ext uri="{FF2B5EF4-FFF2-40B4-BE49-F238E27FC236}">
                    <a16:creationId xmlns:a16="http://schemas.microsoft.com/office/drawing/2014/main" id="{CC662B21-55C3-FD2F-EABA-C793C0EFEDA4}"/>
                  </a:ext>
                </a:extLst>
              </p:cNvPr>
              <p:cNvSpPr>
                <a:spLocks/>
              </p:cNvSpPr>
              <p:nvPr/>
            </p:nvSpPr>
            <p:spPr bwMode="auto">
              <a:xfrm>
                <a:off x="4947757" y="4221508"/>
                <a:ext cx="75843" cy="99911"/>
              </a:xfrm>
              <a:custGeom>
                <a:avLst/>
                <a:gdLst/>
                <a:ahLst/>
                <a:cxnLst>
                  <a:cxn ang="0">
                    <a:pos x="30" y="104"/>
                  </a:cxn>
                  <a:cxn ang="0">
                    <a:pos x="32" y="96"/>
                  </a:cxn>
                  <a:cxn ang="0">
                    <a:pos x="36" y="96"/>
                  </a:cxn>
                  <a:cxn ang="0">
                    <a:pos x="42" y="98"/>
                  </a:cxn>
                  <a:cxn ang="0">
                    <a:pos x="42" y="92"/>
                  </a:cxn>
                  <a:cxn ang="0">
                    <a:pos x="40" y="84"/>
                  </a:cxn>
                  <a:cxn ang="0">
                    <a:pos x="42" y="80"/>
                  </a:cxn>
                  <a:cxn ang="0">
                    <a:pos x="40" y="74"/>
                  </a:cxn>
                  <a:cxn ang="0">
                    <a:pos x="48" y="74"/>
                  </a:cxn>
                  <a:cxn ang="0">
                    <a:pos x="48" y="70"/>
                  </a:cxn>
                  <a:cxn ang="0">
                    <a:pos x="54" y="72"/>
                  </a:cxn>
                  <a:cxn ang="0">
                    <a:pos x="58" y="72"/>
                  </a:cxn>
                  <a:cxn ang="0">
                    <a:pos x="66" y="72"/>
                  </a:cxn>
                  <a:cxn ang="0">
                    <a:pos x="70" y="78"/>
                  </a:cxn>
                  <a:cxn ang="0">
                    <a:pos x="72" y="78"/>
                  </a:cxn>
                  <a:cxn ang="0">
                    <a:pos x="74" y="68"/>
                  </a:cxn>
                  <a:cxn ang="0">
                    <a:pos x="70" y="64"/>
                  </a:cxn>
                  <a:cxn ang="0">
                    <a:pos x="72" y="58"/>
                  </a:cxn>
                  <a:cxn ang="0">
                    <a:pos x="70" y="52"/>
                  </a:cxn>
                  <a:cxn ang="0">
                    <a:pos x="70" y="44"/>
                  </a:cxn>
                  <a:cxn ang="0">
                    <a:pos x="64" y="38"/>
                  </a:cxn>
                  <a:cxn ang="0">
                    <a:pos x="66" y="36"/>
                  </a:cxn>
                  <a:cxn ang="0">
                    <a:pos x="66" y="26"/>
                  </a:cxn>
                  <a:cxn ang="0">
                    <a:pos x="74" y="24"/>
                  </a:cxn>
                  <a:cxn ang="0">
                    <a:pos x="78" y="16"/>
                  </a:cxn>
                  <a:cxn ang="0">
                    <a:pos x="66" y="14"/>
                  </a:cxn>
                  <a:cxn ang="0">
                    <a:pos x="60" y="16"/>
                  </a:cxn>
                  <a:cxn ang="0">
                    <a:pos x="60" y="10"/>
                  </a:cxn>
                  <a:cxn ang="0">
                    <a:pos x="56" y="0"/>
                  </a:cxn>
                  <a:cxn ang="0">
                    <a:pos x="48" y="0"/>
                  </a:cxn>
                  <a:cxn ang="0">
                    <a:pos x="42" y="0"/>
                  </a:cxn>
                  <a:cxn ang="0">
                    <a:pos x="36" y="2"/>
                  </a:cxn>
                  <a:cxn ang="0">
                    <a:pos x="8" y="18"/>
                  </a:cxn>
                  <a:cxn ang="0">
                    <a:pos x="6" y="22"/>
                  </a:cxn>
                  <a:cxn ang="0">
                    <a:pos x="8" y="28"/>
                  </a:cxn>
                  <a:cxn ang="0">
                    <a:pos x="4" y="36"/>
                  </a:cxn>
                  <a:cxn ang="0">
                    <a:pos x="6" y="40"/>
                  </a:cxn>
                  <a:cxn ang="0">
                    <a:pos x="6" y="42"/>
                  </a:cxn>
                  <a:cxn ang="0">
                    <a:pos x="6" y="44"/>
                  </a:cxn>
                  <a:cxn ang="0">
                    <a:pos x="4" y="58"/>
                  </a:cxn>
                  <a:cxn ang="0">
                    <a:pos x="0" y="62"/>
                  </a:cxn>
                  <a:cxn ang="0">
                    <a:pos x="2" y="66"/>
                  </a:cxn>
                  <a:cxn ang="0">
                    <a:pos x="6" y="68"/>
                  </a:cxn>
                  <a:cxn ang="0">
                    <a:pos x="8" y="70"/>
                  </a:cxn>
                  <a:cxn ang="0">
                    <a:pos x="4" y="72"/>
                  </a:cxn>
                  <a:cxn ang="0">
                    <a:pos x="24" y="94"/>
                  </a:cxn>
                  <a:cxn ang="0">
                    <a:pos x="24" y="100"/>
                  </a:cxn>
                  <a:cxn ang="0">
                    <a:pos x="30" y="104"/>
                  </a:cxn>
                </a:cxnLst>
                <a:rect l="0" t="0" r="r" b="b"/>
                <a:pathLst>
                  <a:path w="78" h="104">
                    <a:moveTo>
                      <a:pt x="30" y="104"/>
                    </a:moveTo>
                    <a:lnTo>
                      <a:pt x="30" y="104"/>
                    </a:lnTo>
                    <a:lnTo>
                      <a:pt x="30" y="100"/>
                    </a:lnTo>
                    <a:lnTo>
                      <a:pt x="32" y="96"/>
                    </a:lnTo>
                    <a:lnTo>
                      <a:pt x="32" y="94"/>
                    </a:lnTo>
                    <a:lnTo>
                      <a:pt x="36" y="96"/>
                    </a:lnTo>
                    <a:lnTo>
                      <a:pt x="40" y="98"/>
                    </a:lnTo>
                    <a:lnTo>
                      <a:pt x="42" y="98"/>
                    </a:lnTo>
                    <a:lnTo>
                      <a:pt x="44" y="96"/>
                    </a:lnTo>
                    <a:lnTo>
                      <a:pt x="42" y="92"/>
                    </a:lnTo>
                    <a:lnTo>
                      <a:pt x="40" y="86"/>
                    </a:lnTo>
                    <a:lnTo>
                      <a:pt x="40" y="84"/>
                    </a:lnTo>
                    <a:lnTo>
                      <a:pt x="40" y="82"/>
                    </a:lnTo>
                    <a:lnTo>
                      <a:pt x="42" y="80"/>
                    </a:lnTo>
                    <a:lnTo>
                      <a:pt x="40" y="78"/>
                    </a:lnTo>
                    <a:lnTo>
                      <a:pt x="40" y="74"/>
                    </a:lnTo>
                    <a:lnTo>
                      <a:pt x="42" y="74"/>
                    </a:lnTo>
                    <a:lnTo>
                      <a:pt x="48" y="74"/>
                    </a:lnTo>
                    <a:lnTo>
                      <a:pt x="50" y="74"/>
                    </a:lnTo>
                    <a:lnTo>
                      <a:pt x="48" y="70"/>
                    </a:lnTo>
                    <a:lnTo>
                      <a:pt x="50" y="70"/>
                    </a:lnTo>
                    <a:lnTo>
                      <a:pt x="54" y="72"/>
                    </a:lnTo>
                    <a:lnTo>
                      <a:pt x="54" y="74"/>
                    </a:lnTo>
                    <a:lnTo>
                      <a:pt x="58" y="72"/>
                    </a:lnTo>
                    <a:lnTo>
                      <a:pt x="64" y="72"/>
                    </a:lnTo>
                    <a:lnTo>
                      <a:pt x="66" y="72"/>
                    </a:lnTo>
                    <a:lnTo>
                      <a:pt x="66" y="74"/>
                    </a:lnTo>
                    <a:lnTo>
                      <a:pt x="70" y="78"/>
                    </a:lnTo>
                    <a:lnTo>
                      <a:pt x="72" y="80"/>
                    </a:lnTo>
                    <a:lnTo>
                      <a:pt x="72" y="78"/>
                    </a:lnTo>
                    <a:lnTo>
                      <a:pt x="74" y="72"/>
                    </a:lnTo>
                    <a:lnTo>
                      <a:pt x="74" y="68"/>
                    </a:lnTo>
                    <a:lnTo>
                      <a:pt x="70" y="66"/>
                    </a:lnTo>
                    <a:lnTo>
                      <a:pt x="70" y="64"/>
                    </a:lnTo>
                    <a:lnTo>
                      <a:pt x="72" y="62"/>
                    </a:lnTo>
                    <a:lnTo>
                      <a:pt x="72" y="58"/>
                    </a:lnTo>
                    <a:lnTo>
                      <a:pt x="70" y="56"/>
                    </a:lnTo>
                    <a:lnTo>
                      <a:pt x="70" y="52"/>
                    </a:lnTo>
                    <a:lnTo>
                      <a:pt x="70" y="48"/>
                    </a:lnTo>
                    <a:lnTo>
                      <a:pt x="70" y="44"/>
                    </a:lnTo>
                    <a:lnTo>
                      <a:pt x="68" y="40"/>
                    </a:lnTo>
                    <a:lnTo>
                      <a:pt x="64" y="38"/>
                    </a:lnTo>
                    <a:lnTo>
                      <a:pt x="64" y="36"/>
                    </a:lnTo>
                    <a:lnTo>
                      <a:pt x="66" y="36"/>
                    </a:lnTo>
                    <a:lnTo>
                      <a:pt x="64" y="30"/>
                    </a:lnTo>
                    <a:lnTo>
                      <a:pt x="66" y="26"/>
                    </a:lnTo>
                    <a:lnTo>
                      <a:pt x="70" y="24"/>
                    </a:lnTo>
                    <a:lnTo>
                      <a:pt x="74" y="24"/>
                    </a:lnTo>
                    <a:lnTo>
                      <a:pt x="76" y="24"/>
                    </a:lnTo>
                    <a:lnTo>
                      <a:pt x="78" y="16"/>
                    </a:lnTo>
                    <a:lnTo>
                      <a:pt x="70" y="14"/>
                    </a:lnTo>
                    <a:lnTo>
                      <a:pt x="66" y="14"/>
                    </a:lnTo>
                    <a:lnTo>
                      <a:pt x="62" y="16"/>
                    </a:lnTo>
                    <a:lnTo>
                      <a:pt x="60" y="16"/>
                    </a:lnTo>
                    <a:lnTo>
                      <a:pt x="60" y="14"/>
                    </a:lnTo>
                    <a:lnTo>
                      <a:pt x="60" y="10"/>
                    </a:lnTo>
                    <a:lnTo>
                      <a:pt x="60" y="0"/>
                    </a:lnTo>
                    <a:lnTo>
                      <a:pt x="56" y="0"/>
                    </a:lnTo>
                    <a:lnTo>
                      <a:pt x="50" y="0"/>
                    </a:lnTo>
                    <a:lnTo>
                      <a:pt x="48" y="0"/>
                    </a:lnTo>
                    <a:lnTo>
                      <a:pt x="46" y="0"/>
                    </a:lnTo>
                    <a:lnTo>
                      <a:pt x="42" y="0"/>
                    </a:lnTo>
                    <a:lnTo>
                      <a:pt x="38" y="2"/>
                    </a:lnTo>
                    <a:lnTo>
                      <a:pt x="36" y="2"/>
                    </a:lnTo>
                    <a:lnTo>
                      <a:pt x="34" y="20"/>
                    </a:lnTo>
                    <a:lnTo>
                      <a:pt x="8" y="18"/>
                    </a:lnTo>
                    <a:lnTo>
                      <a:pt x="6" y="20"/>
                    </a:lnTo>
                    <a:lnTo>
                      <a:pt x="6" y="22"/>
                    </a:lnTo>
                    <a:lnTo>
                      <a:pt x="6" y="26"/>
                    </a:lnTo>
                    <a:lnTo>
                      <a:pt x="8" y="28"/>
                    </a:lnTo>
                    <a:lnTo>
                      <a:pt x="10" y="36"/>
                    </a:lnTo>
                    <a:lnTo>
                      <a:pt x="4" y="36"/>
                    </a:lnTo>
                    <a:lnTo>
                      <a:pt x="4" y="38"/>
                    </a:lnTo>
                    <a:lnTo>
                      <a:pt x="6" y="40"/>
                    </a:lnTo>
                    <a:lnTo>
                      <a:pt x="8" y="40"/>
                    </a:lnTo>
                    <a:lnTo>
                      <a:pt x="6" y="42"/>
                    </a:lnTo>
                    <a:lnTo>
                      <a:pt x="4" y="42"/>
                    </a:lnTo>
                    <a:lnTo>
                      <a:pt x="6" y="44"/>
                    </a:lnTo>
                    <a:lnTo>
                      <a:pt x="4" y="52"/>
                    </a:lnTo>
                    <a:lnTo>
                      <a:pt x="4" y="58"/>
                    </a:lnTo>
                    <a:lnTo>
                      <a:pt x="0" y="58"/>
                    </a:lnTo>
                    <a:lnTo>
                      <a:pt x="0" y="62"/>
                    </a:lnTo>
                    <a:lnTo>
                      <a:pt x="4" y="64"/>
                    </a:lnTo>
                    <a:lnTo>
                      <a:pt x="2" y="66"/>
                    </a:lnTo>
                    <a:lnTo>
                      <a:pt x="4" y="68"/>
                    </a:lnTo>
                    <a:lnTo>
                      <a:pt x="6" y="68"/>
                    </a:lnTo>
                    <a:lnTo>
                      <a:pt x="6" y="70"/>
                    </a:lnTo>
                    <a:lnTo>
                      <a:pt x="8" y="70"/>
                    </a:lnTo>
                    <a:lnTo>
                      <a:pt x="8" y="72"/>
                    </a:lnTo>
                    <a:lnTo>
                      <a:pt x="4" y="72"/>
                    </a:lnTo>
                    <a:lnTo>
                      <a:pt x="4" y="74"/>
                    </a:lnTo>
                    <a:lnTo>
                      <a:pt x="24" y="94"/>
                    </a:lnTo>
                    <a:lnTo>
                      <a:pt x="24" y="96"/>
                    </a:lnTo>
                    <a:lnTo>
                      <a:pt x="24" y="100"/>
                    </a:lnTo>
                    <a:lnTo>
                      <a:pt x="28" y="102"/>
                    </a:lnTo>
                    <a:lnTo>
                      <a:pt x="30" y="104"/>
                    </a:lnTo>
                    <a:lnTo>
                      <a:pt x="30" y="10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07" name="Freeform 492">
                <a:extLst>
                  <a:ext uri="{FF2B5EF4-FFF2-40B4-BE49-F238E27FC236}">
                    <a16:creationId xmlns:a16="http://schemas.microsoft.com/office/drawing/2014/main" id="{8E298582-2157-7949-FD38-59179BF52724}"/>
                  </a:ext>
                </a:extLst>
              </p:cNvPr>
              <p:cNvSpPr>
                <a:spLocks/>
              </p:cNvSpPr>
              <p:nvPr/>
            </p:nvSpPr>
            <p:spPr bwMode="auto">
              <a:xfrm>
                <a:off x="5247239" y="4033213"/>
                <a:ext cx="194470" cy="165238"/>
              </a:xfrm>
              <a:custGeom>
                <a:avLst/>
                <a:gdLst/>
                <a:ahLst/>
                <a:cxnLst>
                  <a:cxn ang="0">
                    <a:pos x="130" y="72"/>
                  </a:cxn>
                  <a:cxn ang="0">
                    <a:pos x="138" y="82"/>
                  </a:cxn>
                  <a:cxn ang="0">
                    <a:pos x="142" y="90"/>
                  </a:cxn>
                  <a:cxn ang="0">
                    <a:pos x="184" y="108"/>
                  </a:cxn>
                  <a:cxn ang="0">
                    <a:pos x="166" y="160"/>
                  </a:cxn>
                  <a:cxn ang="0">
                    <a:pos x="144" y="164"/>
                  </a:cxn>
                  <a:cxn ang="0">
                    <a:pos x="130" y="168"/>
                  </a:cxn>
                  <a:cxn ang="0">
                    <a:pos x="120" y="170"/>
                  </a:cxn>
                  <a:cxn ang="0">
                    <a:pos x="112" y="166"/>
                  </a:cxn>
                  <a:cxn ang="0">
                    <a:pos x="108" y="166"/>
                  </a:cxn>
                  <a:cxn ang="0">
                    <a:pos x="102" y="168"/>
                  </a:cxn>
                  <a:cxn ang="0">
                    <a:pos x="98" y="168"/>
                  </a:cxn>
                  <a:cxn ang="0">
                    <a:pos x="90" y="172"/>
                  </a:cxn>
                  <a:cxn ang="0">
                    <a:pos x="82" y="172"/>
                  </a:cxn>
                  <a:cxn ang="0">
                    <a:pos x="74" y="170"/>
                  </a:cxn>
                  <a:cxn ang="0">
                    <a:pos x="66" y="172"/>
                  </a:cxn>
                  <a:cxn ang="0">
                    <a:pos x="62" y="170"/>
                  </a:cxn>
                  <a:cxn ang="0">
                    <a:pos x="56" y="172"/>
                  </a:cxn>
                  <a:cxn ang="0">
                    <a:pos x="44" y="166"/>
                  </a:cxn>
                  <a:cxn ang="0">
                    <a:pos x="44" y="160"/>
                  </a:cxn>
                  <a:cxn ang="0">
                    <a:pos x="38" y="158"/>
                  </a:cxn>
                  <a:cxn ang="0">
                    <a:pos x="30" y="156"/>
                  </a:cxn>
                  <a:cxn ang="0">
                    <a:pos x="26" y="148"/>
                  </a:cxn>
                  <a:cxn ang="0">
                    <a:pos x="24" y="136"/>
                  </a:cxn>
                  <a:cxn ang="0">
                    <a:pos x="18" y="130"/>
                  </a:cxn>
                  <a:cxn ang="0">
                    <a:pos x="14" y="122"/>
                  </a:cxn>
                  <a:cxn ang="0">
                    <a:pos x="4" y="120"/>
                  </a:cxn>
                  <a:cxn ang="0">
                    <a:pos x="0" y="118"/>
                  </a:cxn>
                  <a:cxn ang="0">
                    <a:pos x="8" y="110"/>
                  </a:cxn>
                  <a:cxn ang="0">
                    <a:pos x="14" y="104"/>
                  </a:cxn>
                  <a:cxn ang="0">
                    <a:pos x="16" y="86"/>
                  </a:cxn>
                  <a:cxn ang="0">
                    <a:pos x="18" y="80"/>
                  </a:cxn>
                  <a:cxn ang="0">
                    <a:pos x="20" y="70"/>
                  </a:cxn>
                  <a:cxn ang="0">
                    <a:pos x="26" y="58"/>
                  </a:cxn>
                  <a:cxn ang="0">
                    <a:pos x="32" y="52"/>
                  </a:cxn>
                  <a:cxn ang="0">
                    <a:pos x="38" y="38"/>
                  </a:cxn>
                  <a:cxn ang="0">
                    <a:pos x="42" y="30"/>
                  </a:cxn>
                  <a:cxn ang="0">
                    <a:pos x="48" y="22"/>
                  </a:cxn>
                  <a:cxn ang="0">
                    <a:pos x="62" y="8"/>
                  </a:cxn>
                  <a:cxn ang="0">
                    <a:pos x="66" y="8"/>
                  </a:cxn>
                  <a:cxn ang="0">
                    <a:pos x="70" y="12"/>
                  </a:cxn>
                  <a:cxn ang="0">
                    <a:pos x="78" y="0"/>
                  </a:cxn>
                  <a:cxn ang="0">
                    <a:pos x="82" y="6"/>
                  </a:cxn>
                  <a:cxn ang="0">
                    <a:pos x="88" y="6"/>
                  </a:cxn>
                  <a:cxn ang="0">
                    <a:pos x="90" y="8"/>
                  </a:cxn>
                  <a:cxn ang="0">
                    <a:pos x="98" y="12"/>
                  </a:cxn>
                  <a:cxn ang="0">
                    <a:pos x="110" y="18"/>
                  </a:cxn>
                  <a:cxn ang="0">
                    <a:pos x="118" y="30"/>
                  </a:cxn>
                  <a:cxn ang="0">
                    <a:pos x="126" y="38"/>
                  </a:cxn>
                  <a:cxn ang="0">
                    <a:pos x="120" y="46"/>
                  </a:cxn>
                  <a:cxn ang="0">
                    <a:pos x="118" y="54"/>
                  </a:cxn>
                  <a:cxn ang="0">
                    <a:pos x="116" y="60"/>
                  </a:cxn>
                  <a:cxn ang="0">
                    <a:pos x="120" y="66"/>
                  </a:cxn>
                  <a:cxn ang="0">
                    <a:pos x="128" y="64"/>
                  </a:cxn>
                  <a:cxn ang="0">
                    <a:pos x="134" y="66"/>
                  </a:cxn>
                </a:cxnLst>
                <a:rect l="0" t="0" r="r" b="b"/>
                <a:pathLst>
                  <a:path w="200" h="172">
                    <a:moveTo>
                      <a:pt x="134" y="66"/>
                    </a:moveTo>
                    <a:lnTo>
                      <a:pt x="130" y="72"/>
                    </a:lnTo>
                    <a:lnTo>
                      <a:pt x="136" y="78"/>
                    </a:lnTo>
                    <a:lnTo>
                      <a:pt x="138" y="82"/>
                    </a:lnTo>
                    <a:lnTo>
                      <a:pt x="140" y="86"/>
                    </a:lnTo>
                    <a:lnTo>
                      <a:pt x="142" y="90"/>
                    </a:lnTo>
                    <a:lnTo>
                      <a:pt x="148" y="94"/>
                    </a:lnTo>
                    <a:lnTo>
                      <a:pt x="184" y="108"/>
                    </a:lnTo>
                    <a:lnTo>
                      <a:pt x="200" y="108"/>
                    </a:lnTo>
                    <a:lnTo>
                      <a:pt x="166" y="160"/>
                    </a:lnTo>
                    <a:lnTo>
                      <a:pt x="150" y="160"/>
                    </a:lnTo>
                    <a:lnTo>
                      <a:pt x="144" y="164"/>
                    </a:lnTo>
                    <a:lnTo>
                      <a:pt x="134" y="164"/>
                    </a:lnTo>
                    <a:lnTo>
                      <a:pt x="130" y="168"/>
                    </a:lnTo>
                    <a:lnTo>
                      <a:pt x="124" y="168"/>
                    </a:lnTo>
                    <a:lnTo>
                      <a:pt x="120" y="170"/>
                    </a:lnTo>
                    <a:lnTo>
                      <a:pt x="116" y="168"/>
                    </a:lnTo>
                    <a:lnTo>
                      <a:pt x="112" y="166"/>
                    </a:lnTo>
                    <a:lnTo>
                      <a:pt x="112" y="164"/>
                    </a:lnTo>
                    <a:lnTo>
                      <a:pt x="108" y="166"/>
                    </a:lnTo>
                    <a:lnTo>
                      <a:pt x="106" y="168"/>
                    </a:lnTo>
                    <a:lnTo>
                      <a:pt x="102" y="168"/>
                    </a:lnTo>
                    <a:lnTo>
                      <a:pt x="100" y="168"/>
                    </a:lnTo>
                    <a:lnTo>
                      <a:pt x="98" y="168"/>
                    </a:lnTo>
                    <a:lnTo>
                      <a:pt x="98" y="172"/>
                    </a:lnTo>
                    <a:lnTo>
                      <a:pt x="90" y="172"/>
                    </a:lnTo>
                    <a:lnTo>
                      <a:pt x="86" y="172"/>
                    </a:lnTo>
                    <a:lnTo>
                      <a:pt x="82" y="172"/>
                    </a:lnTo>
                    <a:lnTo>
                      <a:pt x="78" y="170"/>
                    </a:lnTo>
                    <a:lnTo>
                      <a:pt x="74" y="170"/>
                    </a:lnTo>
                    <a:lnTo>
                      <a:pt x="70" y="170"/>
                    </a:lnTo>
                    <a:lnTo>
                      <a:pt x="66" y="172"/>
                    </a:lnTo>
                    <a:lnTo>
                      <a:pt x="64" y="170"/>
                    </a:lnTo>
                    <a:lnTo>
                      <a:pt x="62" y="170"/>
                    </a:lnTo>
                    <a:lnTo>
                      <a:pt x="60" y="170"/>
                    </a:lnTo>
                    <a:lnTo>
                      <a:pt x="56" y="172"/>
                    </a:lnTo>
                    <a:lnTo>
                      <a:pt x="46" y="170"/>
                    </a:lnTo>
                    <a:lnTo>
                      <a:pt x="44" y="166"/>
                    </a:lnTo>
                    <a:lnTo>
                      <a:pt x="44" y="162"/>
                    </a:lnTo>
                    <a:lnTo>
                      <a:pt x="44" y="160"/>
                    </a:lnTo>
                    <a:lnTo>
                      <a:pt x="42" y="158"/>
                    </a:lnTo>
                    <a:lnTo>
                      <a:pt x="38" y="158"/>
                    </a:lnTo>
                    <a:lnTo>
                      <a:pt x="32" y="156"/>
                    </a:lnTo>
                    <a:lnTo>
                      <a:pt x="30" y="156"/>
                    </a:lnTo>
                    <a:lnTo>
                      <a:pt x="30" y="154"/>
                    </a:lnTo>
                    <a:lnTo>
                      <a:pt x="26" y="148"/>
                    </a:lnTo>
                    <a:lnTo>
                      <a:pt x="24" y="140"/>
                    </a:lnTo>
                    <a:lnTo>
                      <a:pt x="24" y="136"/>
                    </a:lnTo>
                    <a:lnTo>
                      <a:pt x="20" y="134"/>
                    </a:lnTo>
                    <a:lnTo>
                      <a:pt x="18" y="130"/>
                    </a:lnTo>
                    <a:lnTo>
                      <a:pt x="16" y="126"/>
                    </a:lnTo>
                    <a:lnTo>
                      <a:pt x="14" y="122"/>
                    </a:lnTo>
                    <a:lnTo>
                      <a:pt x="10" y="120"/>
                    </a:lnTo>
                    <a:lnTo>
                      <a:pt x="4" y="120"/>
                    </a:lnTo>
                    <a:lnTo>
                      <a:pt x="2" y="120"/>
                    </a:lnTo>
                    <a:lnTo>
                      <a:pt x="0" y="118"/>
                    </a:lnTo>
                    <a:lnTo>
                      <a:pt x="2" y="110"/>
                    </a:lnTo>
                    <a:lnTo>
                      <a:pt x="8" y="110"/>
                    </a:lnTo>
                    <a:lnTo>
                      <a:pt x="12" y="108"/>
                    </a:lnTo>
                    <a:lnTo>
                      <a:pt x="14" y="104"/>
                    </a:lnTo>
                    <a:lnTo>
                      <a:pt x="16" y="100"/>
                    </a:lnTo>
                    <a:lnTo>
                      <a:pt x="16" y="86"/>
                    </a:lnTo>
                    <a:lnTo>
                      <a:pt x="16" y="84"/>
                    </a:lnTo>
                    <a:lnTo>
                      <a:pt x="18" y="80"/>
                    </a:lnTo>
                    <a:lnTo>
                      <a:pt x="20" y="74"/>
                    </a:lnTo>
                    <a:lnTo>
                      <a:pt x="20" y="70"/>
                    </a:lnTo>
                    <a:lnTo>
                      <a:pt x="20" y="62"/>
                    </a:lnTo>
                    <a:lnTo>
                      <a:pt x="26" y="58"/>
                    </a:lnTo>
                    <a:lnTo>
                      <a:pt x="30" y="56"/>
                    </a:lnTo>
                    <a:lnTo>
                      <a:pt x="32" y="52"/>
                    </a:lnTo>
                    <a:lnTo>
                      <a:pt x="36" y="44"/>
                    </a:lnTo>
                    <a:lnTo>
                      <a:pt x="38" y="38"/>
                    </a:lnTo>
                    <a:lnTo>
                      <a:pt x="40" y="34"/>
                    </a:lnTo>
                    <a:lnTo>
                      <a:pt x="42" y="30"/>
                    </a:lnTo>
                    <a:lnTo>
                      <a:pt x="44" y="26"/>
                    </a:lnTo>
                    <a:lnTo>
                      <a:pt x="48" y="22"/>
                    </a:lnTo>
                    <a:lnTo>
                      <a:pt x="54" y="10"/>
                    </a:lnTo>
                    <a:lnTo>
                      <a:pt x="62" y="8"/>
                    </a:lnTo>
                    <a:lnTo>
                      <a:pt x="64" y="8"/>
                    </a:lnTo>
                    <a:lnTo>
                      <a:pt x="66" y="8"/>
                    </a:lnTo>
                    <a:lnTo>
                      <a:pt x="68" y="8"/>
                    </a:lnTo>
                    <a:lnTo>
                      <a:pt x="70" y="12"/>
                    </a:lnTo>
                    <a:lnTo>
                      <a:pt x="74" y="0"/>
                    </a:lnTo>
                    <a:lnTo>
                      <a:pt x="78" y="0"/>
                    </a:lnTo>
                    <a:lnTo>
                      <a:pt x="80" y="4"/>
                    </a:lnTo>
                    <a:lnTo>
                      <a:pt x="82" y="6"/>
                    </a:lnTo>
                    <a:lnTo>
                      <a:pt x="84" y="8"/>
                    </a:lnTo>
                    <a:lnTo>
                      <a:pt x="88" y="6"/>
                    </a:lnTo>
                    <a:lnTo>
                      <a:pt x="90" y="6"/>
                    </a:lnTo>
                    <a:lnTo>
                      <a:pt x="90" y="8"/>
                    </a:lnTo>
                    <a:lnTo>
                      <a:pt x="94" y="10"/>
                    </a:lnTo>
                    <a:lnTo>
                      <a:pt x="98" y="12"/>
                    </a:lnTo>
                    <a:lnTo>
                      <a:pt x="106" y="14"/>
                    </a:lnTo>
                    <a:lnTo>
                      <a:pt x="110" y="18"/>
                    </a:lnTo>
                    <a:lnTo>
                      <a:pt x="114" y="22"/>
                    </a:lnTo>
                    <a:lnTo>
                      <a:pt x="118" y="30"/>
                    </a:lnTo>
                    <a:lnTo>
                      <a:pt x="120" y="34"/>
                    </a:lnTo>
                    <a:lnTo>
                      <a:pt x="126" y="38"/>
                    </a:lnTo>
                    <a:lnTo>
                      <a:pt x="122" y="42"/>
                    </a:lnTo>
                    <a:lnTo>
                      <a:pt x="120" y="46"/>
                    </a:lnTo>
                    <a:lnTo>
                      <a:pt x="120" y="50"/>
                    </a:lnTo>
                    <a:lnTo>
                      <a:pt x="118" y="54"/>
                    </a:lnTo>
                    <a:lnTo>
                      <a:pt x="118" y="56"/>
                    </a:lnTo>
                    <a:lnTo>
                      <a:pt x="116" y="60"/>
                    </a:lnTo>
                    <a:lnTo>
                      <a:pt x="116" y="62"/>
                    </a:lnTo>
                    <a:lnTo>
                      <a:pt x="120" y="66"/>
                    </a:lnTo>
                    <a:lnTo>
                      <a:pt x="124" y="66"/>
                    </a:lnTo>
                    <a:lnTo>
                      <a:pt x="128" y="64"/>
                    </a:lnTo>
                    <a:lnTo>
                      <a:pt x="134" y="66"/>
                    </a:lnTo>
                    <a:lnTo>
                      <a:pt x="134" y="6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08" name="Freeform 493">
                <a:extLst>
                  <a:ext uri="{FF2B5EF4-FFF2-40B4-BE49-F238E27FC236}">
                    <a16:creationId xmlns:a16="http://schemas.microsoft.com/office/drawing/2014/main" id="{C226BCEB-A2B1-6948-58AB-3A9186C5B4D3}"/>
                  </a:ext>
                </a:extLst>
              </p:cNvPr>
              <p:cNvSpPr>
                <a:spLocks/>
              </p:cNvSpPr>
              <p:nvPr/>
            </p:nvSpPr>
            <p:spPr bwMode="auto">
              <a:xfrm>
                <a:off x="5299746" y="3979415"/>
                <a:ext cx="79732" cy="90305"/>
              </a:xfrm>
              <a:custGeom>
                <a:avLst/>
                <a:gdLst/>
                <a:ahLst/>
                <a:cxnLst>
                  <a:cxn ang="0">
                    <a:pos x="22" y="6"/>
                  </a:cxn>
                  <a:cxn ang="0">
                    <a:pos x="12" y="4"/>
                  </a:cxn>
                  <a:cxn ang="0">
                    <a:pos x="10" y="10"/>
                  </a:cxn>
                  <a:cxn ang="0">
                    <a:pos x="6" y="12"/>
                  </a:cxn>
                  <a:cxn ang="0">
                    <a:pos x="6" y="18"/>
                  </a:cxn>
                  <a:cxn ang="0">
                    <a:pos x="4" y="30"/>
                  </a:cxn>
                  <a:cxn ang="0">
                    <a:pos x="0" y="40"/>
                  </a:cxn>
                  <a:cxn ang="0">
                    <a:pos x="0" y="50"/>
                  </a:cxn>
                  <a:cxn ang="0">
                    <a:pos x="0" y="66"/>
                  </a:cxn>
                  <a:cxn ang="0">
                    <a:pos x="10" y="62"/>
                  </a:cxn>
                  <a:cxn ang="0">
                    <a:pos x="14" y="64"/>
                  </a:cxn>
                  <a:cxn ang="0">
                    <a:pos x="18" y="56"/>
                  </a:cxn>
                  <a:cxn ang="0">
                    <a:pos x="24" y="56"/>
                  </a:cxn>
                  <a:cxn ang="0">
                    <a:pos x="28" y="62"/>
                  </a:cxn>
                  <a:cxn ang="0">
                    <a:pos x="34" y="62"/>
                  </a:cxn>
                  <a:cxn ang="0">
                    <a:pos x="36" y="64"/>
                  </a:cxn>
                  <a:cxn ang="0">
                    <a:pos x="44" y="68"/>
                  </a:cxn>
                  <a:cxn ang="0">
                    <a:pos x="56" y="74"/>
                  </a:cxn>
                  <a:cxn ang="0">
                    <a:pos x="64" y="84"/>
                  </a:cxn>
                  <a:cxn ang="0">
                    <a:pos x="72" y="92"/>
                  </a:cxn>
                  <a:cxn ang="0">
                    <a:pos x="78" y="94"/>
                  </a:cxn>
                  <a:cxn ang="0">
                    <a:pos x="82" y="86"/>
                  </a:cxn>
                  <a:cxn ang="0">
                    <a:pos x="74" y="82"/>
                  </a:cxn>
                  <a:cxn ang="0">
                    <a:pos x="72" y="74"/>
                  </a:cxn>
                  <a:cxn ang="0">
                    <a:pos x="62" y="70"/>
                  </a:cxn>
                  <a:cxn ang="0">
                    <a:pos x="58" y="58"/>
                  </a:cxn>
                  <a:cxn ang="0">
                    <a:pos x="50" y="56"/>
                  </a:cxn>
                  <a:cxn ang="0">
                    <a:pos x="46" y="50"/>
                  </a:cxn>
                  <a:cxn ang="0">
                    <a:pos x="44" y="46"/>
                  </a:cxn>
                  <a:cxn ang="0">
                    <a:pos x="40" y="44"/>
                  </a:cxn>
                  <a:cxn ang="0">
                    <a:pos x="36" y="42"/>
                  </a:cxn>
                  <a:cxn ang="0">
                    <a:pos x="32" y="22"/>
                  </a:cxn>
                  <a:cxn ang="0">
                    <a:pos x="34" y="16"/>
                  </a:cxn>
                  <a:cxn ang="0">
                    <a:pos x="32" y="4"/>
                  </a:cxn>
                  <a:cxn ang="0">
                    <a:pos x="26" y="0"/>
                  </a:cxn>
                </a:cxnLst>
                <a:rect l="0" t="0" r="r" b="b"/>
                <a:pathLst>
                  <a:path w="82" h="94">
                    <a:moveTo>
                      <a:pt x="26" y="0"/>
                    </a:moveTo>
                    <a:lnTo>
                      <a:pt x="22" y="6"/>
                    </a:lnTo>
                    <a:lnTo>
                      <a:pt x="14" y="4"/>
                    </a:lnTo>
                    <a:lnTo>
                      <a:pt x="12" y="4"/>
                    </a:lnTo>
                    <a:lnTo>
                      <a:pt x="10" y="6"/>
                    </a:lnTo>
                    <a:lnTo>
                      <a:pt x="10" y="10"/>
                    </a:lnTo>
                    <a:lnTo>
                      <a:pt x="8" y="12"/>
                    </a:lnTo>
                    <a:lnTo>
                      <a:pt x="6" y="12"/>
                    </a:lnTo>
                    <a:lnTo>
                      <a:pt x="6" y="14"/>
                    </a:lnTo>
                    <a:lnTo>
                      <a:pt x="6" y="18"/>
                    </a:lnTo>
                    <a:lnTo>
                      <a:pt x="4" y="24"/>
                    </a:lnTo>
                    <a:lnTo>
                      <a:pt x="4" y="30"/>
                    </a:lnTo>
                    <a:lnTo>
                      <a:pt x="4" y="36"/>
                    </a:lnTo>
                    <a:lnTo>
                      <a:pt x="0" y="40"/>
                    </a:lnTo>
                    <a:lnTo>
                      <a:pt x="0" y="46"/>
                    </a:lnTo>
                    <a:lnTo>
                      <a:pt x="0" y="50"/>
                    </a:lnTo>
                    <a:lnTo>
                      <a:pt x="0" y="60"/>
                    </a:lnTo>
                    <a:lnTo>
                      <a:pt x="0" y="66"/>
                    </a:lnTo>
                    <a:lnTo>
                      <a:pt x="8" y="64"/>
                    </a:lnTo>
                    <a:lnTo>
                      <a:pt x="10" y="62"/>
                    </a:lnTo>
                    <a:lnTo>
                      <a:pt x="12" y="62"/>
                    </a:lnTo>
                    <a:lnTo>
                      <a:pt x="14" y="64"/>
                    </a:lnTo>
                    <a:lnTo>
                      <a:pt x="16" y="68"/>
                    </a:lnTo>
                    <a:lnTo>
                      <a:pt x="18" y="56"/>
                    </a:lnTo>
                    <a:lnTo>
                      <a:pt x="20" y="54"/>
                    </a:lnTo>
                    <a:lnTo>
                      <a:pt x="24" y="56"/>
                    </a:lnTo>
                    <a:lnTo>
                      <a:pt x="28" y="60"/>
                    </a:lnTo>
                    <a:lnTo>
                      <a:pt x="28" y="62"/>
                    </a:lnTo>
                    <a:lnTo>
                      <a:pt x="32" y="64"/>
                    </a:lnTo>
                    <a:lnTo>
                      <a:pt x="34" y="62"/>
                    </a:lnTo>
                    <a:lnTo>
                      <a:pt x="36" y="62"/>
                    </a:lnTo>
                    <a:lnTo>
                      <a:pt x="36" y="64"/>
                    </a:lnTo>
                    <a:lnTo>
                      <a:pt x="40" y="66"/>
                    </a:lnTo>
                    <a:lnTo>
                      <a:pt x="44" y="68"/>
                    </a:lnTo>
                    <a:lnTo>
                      <a:pt x="52" y="70"/>
                    </a:lnTo>
                    <a:lnTo>
                      <a:pt x="56" y="74"/>
                    </a:lnTo>
                    <a:lnTo>
                      <a:pt x="60" y="80"/>
                    </a:lnTo>
                    <a:lnTo>
                      <a:pt x="64" y="84"/>
                    </a:lnTo>
                    <a:lnTo>
                      <a:pt x="66" y="88"/>
                    </a:lnTo>
                    <a:lnTo>
                      <a:pt x="72" y="92"/>
                    </a:lnTo>
                    <a:lnTo>
                      <a:pt x="74" y="90"/>
                    </a:lnTo>
                    <a:lnTo>
                      <a:pt x="78" y="94"/>
                    </a:lnTo>
                    <a:lnTo>
                      <a:pt x="82" y="88"/>
                    </a:lnTo>
                    <a:lnTo>
                      <a:pt x="82" y="86"/>
                    </a:lnTo>
                    <a:lnTo>
                      <a:pt x="76" y="82"/>
                    </a:lnTo>
                    <a:lnTo>
                      <a:pt x="74" y="82"/>
                    </a:lnTo>
                    <a:lnTo>
                      <a:pt x="72" y="80"/>
                    </a:lnTo>
                    <a:lnTo>
                      <a:pt x="72" y="74"/>
                    </a:lnTo>
                    <a:lnTo>
                      <a:pt x="68" y="72"/>
                    </a:lnTo>
                    <a:lnTo>
                      <a:pt x="62" y="70"/>
                    </a:lnTo>
                    <a:lnTo>
                      <a:pt x="60" y="64"/>
                    </a:lnTo>
                    <a:lnTo>
                      <a:pt x="58" y="58"/>
                    </a:lnTo>
                    <a:lnTo>
                      <a:pt x="56" y="56"/>
                    </a:lnTo>
                    <a:lnTo>
                      <a:pt x="50" y="56"/>
                    </a:lnTo>
                    <a:lnTo>
                      <a:pt x="50" y="50"/>
                    </a:lnTo>
                    <a:lnTo>
                      <a:pt x="46" y="50"/>
                    </a:lnTo>
                    <a:lnTo>
                      <a:pt x="44" y="50"/>
                    </a:lnTo>
                    <a:lnTo>
                      <a:pt x="44" y="46"/>
                    </a:lnTo>
                    <a:lnTo>
                      <a:pt x="42" y="44"/>
                    </a:lnTo>
                    <a:lnTo>
                      <a:pt x="40" y="44"/>
                    </a:lnTo>
                    <a:lnTo>
                      <a:pt x="40" y="46"/>
                    </a:lnTo>
                    <a:lnTo>
                      <a:pt x="36" y="42"/>
                    </a:lnTo>
                    <a:lnTo>
                      <a:pt x="36" y="36"/>
                    </a:lnTo>
                    <a:lnTo>
                      <a:pt x="32" y="22"/>
                    </a:lnTo>
                    <a:lnTo>
                      <a:pt x="32" y="18"/>
                    </a:lnTo>
                    <a:lnTo>
                      <a:pt x="34" y="16"/>
                    </a:lnTo>
                    <a:lnTo>
                      <a:pt x="32" y="10"/>
                    </a:lnTo>
                    <a:lnTo>
                      <a:pt x="32" y="4"/>
                    </a:lnTo>
                    <a:lnTo>
                      <a:pt x="28" y="2"/>
                    </a:lnTo>
                    <a:lnTo>
                      <a:pt x="26" y="0"/>
                    </a:lnTo>
                    <a:lnTo>
                      <a:pt x="26"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09" name="Freeform 494">
                <a:extLst>
                  <a:ext uri="{FF2B5EF4-FFF2-40B4-BE49-F238E27FC236}">
                    <a16:creationId xmlns:a16="http://schemas.microsoft.com/office/drawing/2014/main" id="{EFFB9DEF-3700-7EE2-5545-E6D2D249F38F}"/>
                  </a:ext>
                </a:extLst>
              </p:cNvPr>
              <p:cNvSpPr>
                <a:spLocks/>
              </p:cNvSpPr>
              <p:nvPr/>
            </p:nvSpPr>
            <p:spPr bwMode="auto">
              <a:xfrm>
                <a:off x="4955535" y="4223429"/>
                <a:ext cx="27226" cy="17293"/>
              </a:xfrm>
              <a:custGeom>
                <a:avLst/>
                <a:gdLst/>
                <a:ahLst/>
                <a:cxnLst>
                  <a:cxn ang="0">
                    <a:pos x="4" y="0"/>
                  </a:cxn>
                  <a:cxn ang="0">
                    <a:pos x="4" y="0"/>
                  </a:cxn>
                  <a:cxn ang="0">
                    <a:pos x="4" y="4"/>
                  </a:cxn>
                  <a:cxn ang="0">
                    <a:pos x="2" y="4"/>
                  </a:cxn>
                  <a:cxn ang="0">
                    <a:pos x="2" y="8"/>
                  </a:cxn>
                  <a:cxn ang="0">
                    <a:pos x="2" y="14"/>
                  </a:cxn>
                  <a:cxn ang="0">
                    <a:pos x="0" y="18"/>
                  </a:cxn>
                  <a:cxn ang="0">
                    <a:pos x="26" y="18"/>
                  </a:cxn>
                  <a:cxn ang="0">
                    <a:pos x="28" y="0"/>
                  </a:cxn>
                  <a:cxn ang="0">
                    <a:pos x="4" y="0"/>
                  </a:cxn>
                  <a:cxn ang="0">
                    <a:pos x="4" y="0"/>
                  </a:cxn>
                </a:cxnLst>
                <a:rect l="0" t="0" r="r" b="b"/>
                <a:pathLst>
                  <a:path w="28" h="18">
                    <a:moveTo>
                      <a:pt x="4" y="0"/>
                    </a:moveTo>
                    <a:lnTo>
                      <a:pt x="4" y="0"/>
                    </a:lnTo>
                    <a:lnTo>
                      <a:pt x="4" y="4"/>
                    </a:lnTo>
                    <a:lnTo>
                      <a:pt x="2" y="4"/>
                    </a:lnTo>
                    <a:lnTo>
                      <a:pt x="2" y="8"/>
                    </a:lnTo>
                    <a:lnTo>
                      <a:pt x="2" y="14"/>
                    </a:lnTo>
                    <a:lnTo>
                      <a:pt x="0" y="18"/>
                    </a:lnTo>
                    <a:lnTo>
                      <a:pt x="26" y="18"/>
                    </a:lnTo>
                    <a:lnTo>
                      <a:pt x="28" y="0"/>
                    </a:lnTo>
                    <a:lnTo>
                      <a:pt x="4" y="0"/>
                    </a:lnTo>
                    <a:lnTo>
                      <a:pt x="4"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10" name="Freeform 495">
                <a:extLst>
                  <a:ext uri="{FF2B5EF4-FFF2-40B4-BE49-F238E27FC236}">
                    <a16:creationId xmlns:a16="http://schemas.microsoft.com/office/drawing/2014/main" id="{4FCF09CC-0A54-67C3-4B0C-0B8196A73C21}"/>
                  </a:ext>
                </a:extLst>
              </p:cNvPr>
              <p:cNvSpPr>
                <a:spLocks/>
              </p:cNvSpPr>
              <p:nvPr/>
            </p:nvSpPr>
            <p:spPr bwMode="auto">
              <a:xfrm>
                <a:off x="4974982" y="4202294"/>
                <a:ext cx="95290" cy="128732"/>
              </a:xfrm>
              <a:custGeom>
                <a:avLst/>
                <a:gdLst/>
                <a:ahLst/>
                <a:cxnLst>
                  <a:cxn ang="0">
                    <a:pos x="12" y="132"/>
                  </a:cxn>
                  <a:cxn ang="0">
                    <a:pos x="18" y="130"/>
                  </a:cxn>
                  <a:cxn ang="0">
                    <a:pos x="24" y="128"/>
                  </a:cxn>
                  <a:cxn ang="0">
                    <a:pos x="30" y="130"/>
                  </a:cxn>
                  <a:cxn ang="0">
                    <a:pos x="38" y="130"/>
                  </a:cxn>
                  <a:cxn ang="0">
                    <a:pos x="40" y="122"/>
                  </a:cxn>
                  <a:cxn ang="0">
                    <a:pos x="48" y="122"/>
                  </a:cxn>
                  <a:cxn ang="0">
                    <a:pos x="54" y="134"/>
                  </a:cxn>
                  <a:cxn ang="0">
                    <a:pos x="68" y="122"/>
                  </a:cxn>
                  <a:cxn ang="0">
                    <a:pos x="74" y="106"/>
                  </a:cxn>
                  <a:cxn ang="0">
                    <a:pos x="76" y="92"/>
                  </a:cxn>
                  <a:cxn ang="0">
                    <a:pos x="82" y="78"/>
                  </a:cxn>
                  <a:cxn ang="0">
                    <a:pos x="84" y="66"/>
                  </a:cxn>
                  <a:cxn ang="0">
                    <a:pos x="90" y="46"/>
                  </a:cxn>
                  <a:cxn ang="0">
                    <a:pos x="90" y="28"/>
                  </a:cxn>
                  <a:cxn ang="0">
                    <a:pos x="96" y="16"/>
                  </a:cxn>
                  <a:cxn ang="0">
                    <a:pos x="88" y="4"/>
                  </a:cxn>
                  <a:cxn ang="0">
                    <a:pos x="78" y="4"/>
                  </a:cxn>
                  <a:cxn ang="0">
                    <a:pos x="74" y="12"/>
                  </a:cxn>
                  <a:cxn ang="0">
                    <a:pos x="68" y="20"/>
                  </a:cxn>
                  <a:cxn ang="0">
                    <a:pos x="56" y="24"/>
                  </a:cxn>
                  <a:cxn ang="0">
                    <a:pos x="48" y="20"/>
                  </a:cxn>
                  <a:cxn ang="0">
                    <a:pos x="32" y="28"/>
                  </a:cxn>
                  <a:cxn ang="0">
                    <a:pos x="34" y="34"/>
                  </a:cxn>
                  <a:cxn ang="0">
                    <a:pos x="48" y="34"/>
                  </a:cxn>
                  <a:cxn ang="0">
                    <a:pos x="42" y="44"/>
                  </a:cxn>
                  <a:cxn ang="0">
                    <a:pos x="38" y="56"/>
                  </a:cxn>
                  <a:cxn ang="0">
                    <a:pos x="40" y="60"/>
                  </a:cxn>
                  <a:cxn ang="0">
                    <a:pos x="42" y="72"/>
                  </a:cxn>
                  <a:cxn ang="0">
                    <a:pos x="44" y="80"/>
                  </a:cxn>
                  <a:cxn ang="0">
                    <a:pos x="46" y="86"/>
                  </a:cxn>
                  <a:cxn ang="0">
                    <a:pos x="44" y="100"/>
                  </a:cxn>
                  <a:cxn ang="0">
                    <a:pos x="38" y="92"/>
                  </a:cxn>
                  <a:cxn ang="0">
                    <a:pos x="26" y="94"/>
                  </a:cxn>
                  <a:cxn ang="0">
                    <a:pos x="20" y="90"/>
                  </a:cxn>
                  <a:cxn ang="0">
                    <a:pos x="14" y="94"/>
                  </a:cxn>
                  <a:cxn ang="0">
                    <a:pos x="14" y="100"/>
                  </a:cxn>
                  <a:cxn ang="0">
                    <a:pos x="12" y="106"/>
                  </a:cxn>
                  <a:cxn ang="0">
                    <a:pos x="14" y="118"/>
                  </a:cxn>
                  <a:cxn ang="0">
                    <a:pos x="4" y="114"/>
                  </a:cxn>
                  <a:cxn ang="0">
                    <a:pos x="0" y="124"/>
                  </a:cxn>
                  <a:cxn ang="0">
                    <a:pos x="6" y="130"/>
                  </a:cxn>
                  <a:cxn ang="0">
                    <a:pos x="12" y="134"/>
                  </a:cxn>
                </a:cxnLst>
                <a:rect l="0" t="0" r="r" b="b"/>
                <a:pathLst>
                  <a:path w="98" h="134">
                    <a:moveTo>
                      <a:pt x="12" y="134"/>
                    </a:moveTo>
                    <a:lnTo>
                      <a:pt x="12" y="134"/>
                    </a:lnTo>
                    <a:lnTo>
                      <a:pt x="12" y="132"/>
                    </a:lnTo>
                    <a:lnTo>
                      <a:pt x="16" y="132"/>
                    </a:lnTo>
                    <a:lnTo>
                      <a:pt x="20" y="132"/>
                    </a:lnTo>
                    <a:lnTo>
                      <a:pt x="18" y="130"/>
                    </a:lnTo>
                    <a:lnTo>
                      <a:pt x="20" y="128"/>
                    </a:lnTo>
                    <a:lnTo>
                      <a:pt x="22" y="128"/>
                    </a:lnTo>
                    <a:lnTo>
                      <a:pt x="24" y="128"/>
                    </a:lnTo>
                    <a:lnTo>
                      <a:pt x="26" y="130"/>
                    </a:lnTo>
                    <a:lnTo>
                      <a:pt x="28" y="130"/>
                    </a:lnTo>
                    <a:lnTo>
                      <a:pt x="30" y="130"/>
                    </a:lnTo>
                    <a:lnTo>
                      <a:pt x="32" y="128"/>
                    </a:lnTo>
                    <a:lnTo>
                      <a:pt x="34" y="128"/>
                    </a:lnTo>
                    <a:lnTo>
                      <a:pt x="38" y="130"/>
                    </a:lnTo>
                    <a:lnTo>
                      <a:pt x="40" y="128"/>
                    </a:lnTo>
                    <a:lnTo>
                      <a:pt x="40" y="126"/>
                    </a:lnTo>
                    <a:lnTo>
                      <a:pt x="40" y="122"/>
                    </a:lnTo>
                    <a:lnTo>
                      <a:pt x="44" y="124"/>
                    </a:lnTo>
                    <a:lnTo>
                      <a:pt x="48" y="124"/>
                    </a:lnTo>
                    <a:lnTo>
                      <a:pt x="48" y="122"/>
                    </a:lnTo>
                    <a:lnTo>
                      <a:pt x="48" y="132"/>
                    </a:lnTo>
                    <a:lnTo>
                      <a:pt x="50" y="134"/>
                    </a:lnTo>
                    <a:lnTo>
                      <a:pt x="54" y="134"/>
                    </a:lnTo>
                    <a:lnTo>
                      <a:pt x="62" y="132"/>
                    </a:lnTo>
                    <a:lnTo>
                      <a:pt x="68" y="126"/>
                    </a:lnTo>
                    <a:lnTo>
                      <a:pt x="68" y="122"/>
                    </a:lnTo>
                    <a:lnTo>
                      <a:pt x="72" y="116"/>
                    </a:lnTo>
                    <a:lnTo>
                      <a:pt x="72" y="110"/>
                    </a:lnTo>
                    <a:lnTo>
                      <a:pt x="74" y="106"/>
                    </a:lnTo>
                    <a:lnTo>
                      <a:pt x="74" y="102"/>
                    </a:lnTo>
                    <a:lnTo>
                      <a:pt x="74" y="96"/>
                    </a:lnTo>
                    <a:lnTo>
                      <a:pt x="76" y="92"/>
                    </a:lnTo>
                    <a:lnTo>
                      <a:pt x="78" y="86"/>
                    </a:lnTo>
                    <a:lnTo>
                      <a:pt x="78" y="80"/>
                    </a:lnTo>
                    <a:lnTo>
                      <a:pt x="82" y="78"/>
                    </a:lnTo>
                    <a:lnTo>
                      <a:pt x="82" y="78"/>
                    </a:lnTo>
                    <a:lnTo>
                      <a:pt x="84" y="72"/>
                    </a:lnTo>
                    <a:lnTo>
                      <a:pt x="84" y="66"/>
                    </a:lnTo>
                    <a:lnTo>
                      <a:pt x="88" y="60"/>
                    </a:lnTo>
                    <a:lnTo>
                      <a:pt x="90" y="54"/>
                    </a:lnTo>
                    <a:lnTo>
                      <a:pt x="90" y="46"/>
                    </a:lnTo>
                    <a:lnTo>
                      <a:pt x="90" y="40"/>
                    </a:lnTo>
                    <a:lnTo>
                      <a:pt x="90" y="34"/>
                    </a:lnTo>
                    <a:lnTo>
                      <a:pt x="90" y="28"/>
                    </a:lnTo>
                    <a:lnTo>
                      <a:pt x="92" y="24"/>
                    </a:lnTo>
                    <a:lnTo>
                      <a:pt x="92" y="20"/>
                    </a:lnTo>
                    <a:lnTo>
                      <a:pt x="96" y="16"/>
                    </a:lnTo>
                    <a:lnTo>
                      <a:pt x="98" y="10"/>
                    </a:lnTo>
                    <a:lnTo>
                      <a:pt x="98" y="0"/>
                    </a:lnTo>
                    <a:lnTo>
                      <a:pt x="88" y="4"/>
                    </a:lnTo>
                    <a:lnTo>
                      <a:pt x="86" y="4"/>
                    </a:lnTo>
                    <a:lnTo>
                      <a:pt x="82" y="2"/>
                    </a:lnTo>
                    <a:lnTo>
                      <a:pt x="78" y="4"/>
                    </a:lnTo>
                    <a:lnTo>
                      <a:pt x="78" y="8"/>
                    </a:lnTo>
                    <a:lnTo>
                      <a:pt x="76" y="10"/>
                    </a:lnTo>
                    <a:lnTo>
                      <a:pt x="74" y="12"/>
                    </a:lnTo>
                    <a:lnTo>
                      <a:pt x="72" y="12"/>
                    </a:lnTo>
                    <a:lnTo>
                      <a:pt x="70" y="14"/>
                    </a:lnTo>
                    <a:lnTo>
                      <a:pt x="68" y="20"/>
                    </a:lnTo>
                    <a:lnTo>
                      <a:pt x="70" y="26"/>
                    </a:lnTo>
                    <a:lnTo>
                      <a:pt x="64" y="24"/>
                    </a:lnTo>
                    <a:lnTo>
                      <a:pt x="56" y="24"/>
                    </a:lnTo>
                    <a:lnTo>
                      <a:pt x="52" y="24"/>
                    </a:lnTo>
                    <a:lnTo>
                      <a:pt x="50" y="22"/>
                    </a:lnTo>
                    <a:lnTo>
                      <a:pt x="48" y="20"/>
                    </a:lnTo>
                    <a:lnTo>
                      <a:pt x="42" y="20"/>
                    </a:lnTo>
                    <a:lnTo>
                      <a:pt x="32" y="20"/>
                    </a:lnTo>
                    <a:lnTo>
                      <a:pt x="32" y="28"/>
                    </a:lnTo>
                    <a:lnTo>
                      <a:pt x="32" y="32"/>
                    </a:lnTo>
                    <a:lnTo>
                      <a:pt x="32" y="34"/>
                    </a:lnTo>
                    <a:lnTo>
                      <a:pt x="34" y="34"/>
                    </a:lnTo>
                    <a:lnTo>
                      <a:pt x="38" y="32"/>
                    </a:lnTo>
                    <a:lnTo>
                      <a:pt x="42" y="32"/>
                    </a:lnTo>
                    <a:lnTo>
                      <a:pt x="48" y="34"/>
                    </a:lnTo>
                    <a:lnTo>
                      <a:pt x="48" y="44"/>
                    </a:lnTo>
                    <a:lnTo>
                      <a:pt x="46" y="44"/>
                    </a:lnTo>
                    <a:lnTo>
                      <a:pt x="42" y="44"/>
                    </a:lnTo>
                    <a:lnTo>
                      <a:pt x="38" y="46"/>
                    </a:lnTo>
                    <a:lnTo>
                      <a:pt x="36" y="50"/>
                    </a:lnTo>
                    <a:lnTo>
                      <a:pt x="38" y="56"/>
                    </a:lnTo>
                    <a:lnTo>
                      <a:pt x="36" y="56"/>
                    </a:lnTo>
                    <a:lnTo>
                      <a:pt x="36" y="58"/>
                    </a:lnTo>
                    <a:lnTo>
                      <a:pt x="40" y="60"/>
                    </a:lnTo>
                    <a:lnTo>
                      <a:pt x="42" y="64"/>
                    </a:lnTo>
                    <a:lnTo>
                      <a:pt x="42" y="68"/>
                    </a:lnTo>
                    <a:lnTo>
                      <a:pt x="42" y="72"/>
                    </a:lnTo>
                    <a:lnTo>
                      <a:pt x="42" y="76"/>
                    </a:lnTo>
                    <a:lnTo>
                      <a:pt x="44" y="78"/>
                    </a:lnTo>
                    <a:lnTo>
                      <a:pt x="44" y="80"/>
                    </a:lnTo>
                    <a:lnTo>
                      <a:pt x="42" y="82"/>
                    </a:lnTo>
                    <a:lnTo>
                      <a:pt x="42" y="84"/>
                    </a:lnTo>
                    <a:lnTo>
                      <a:pt x="46" y="86"/>
                    </a:lnTo>
                    <a:lnTo>
                      <a:pt x="46" y="92"/>
                    </a:lnTo>
                    <a:lnTo>
                      <a:pt x="44" y="98"/>
                    </a:lnTo>
                    <a:lnTo>
                      <a:pt x="44" y="100"/>
                    </a:lnTo>
                    <a:lnTo>
                      <a:pt x="42" y="98"/>
                    </a:lnTo>
                    <a:lnTo>
                      <a:pt x="38" y="94"/>
                    </a:lnTo>
                    <a:lnTo>
                      <a:pt x="38" y="92"/>
                    </a:lnTo>
                    <a:lnTo>
                      <a:pt x="36" y="92"/>
                    </a:lnTo>
                    <a:lnTo>
                      <a:pt x="30" y="92"/>
                    </a:lnTo>
                    <a:lnTo>
                      <a:pt x="26" y="94"/>
                    </a:lnTo>
                    <a:lnTo>
                      <a:pt x="26" y="92"/>
                    </a:lnTo>
                    <a:lnTo>
                      <a:pt x="22" y="90"/>
                    </a:lnTo>
                    <a:lnTo>
                      <a:pt x="20" y="90"/>
                    </a:lnTo>
                    <a:lnTo>
                      <a:pt x="22" y="94"/>
                    </a:lnTo>
                    <a:lnTo>
                      <a:pt x="20" y="94"/>
                    </a:lnTo>
                    <a:lnTo>
                      <a:pt x="14" y="94"/>
                    </a:lnTo>
                    <a:lnTo>
                      <a:pt x="12" y="94"/>
                    </a:lnTo>
                    <a:lnTo>
                      <a:pt x="12" y="98"/>
                    </a:lnTo>
                    <a:lnTo>
                      <a:pt x="14" y="100"/>
                    </a:lnTo>
                    <a:lnTo>
                      <a:pt x="12" y="102"/>
                    </a:lnTo>
                    <a:lnTo>
                      <a:pt x="12" y="104"/>
                    </a:lnTo>
                    <a:lnTo>
                      <a:pt x="12" y="106"/>
                    </a:lnTo>
                    <a:lnTo>
                      <a:pt x="14" y="112"/>
                    </a:lnTo>
                    <a:lnTo>
                      <a:pt x="16" y="116"/>
                    </a:lnTo>
                    <a:lnTo>
                      <a:pt x="14" y="118"/>
                    </a:lnTo>
                    <a:lnTo>
                      <a:pt x="12" y="118"/>
                    </a:lnTo>
                    <a:lnTo>
                      <a:pt x="8" y="116"/>
                    </a:lnTo>
                    <a:lnTo>
                      <a:pt x="4" y="114"/>
                    </a:lnTo>
                    <a:lnTo>
                      <a:pt x="2" y="116"/>
                    </a:lnTo>
                    <a:lnTo>
                      <a:pt x="0" y="120"/>
                    </a:lnTo>
                    <a:lnTo>
                      <a:pt x="0" y="124"/>
                    </a:lnTo>
                    <a:lnTo>
                      <a:pt x="2" y="126"/>
                    </a:lnTo>
                    <a:lnTo>
                      <a:pt x="6" y="128"/>
                    </a:lnTo>
                    <a:lnTo>
                      <a:pt x="6" y="130"/>
                    </a:lnTo>
                    <a:lnTo>
                      <a:pt x="8" y="130"/>
                    </a:lnTo>
                    <a:lnTo>
                      <a:pt x="8" y="134"/>
                    </a:lnTo>
                    <a:lnTo>
                      <a:pt x="12" y="134"/>
                    </a:lnTo>
                    <a:lnTo>
                      <a:pt x="12" y="13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11" name="Freeform 496">
                <a:extLst>
                  <a:ext uri="{FF2B5EF4-FFF2-40B4-BE49-F238E27FC236}">
                    <a16:creationId xmlns:a16="http://schemas.microsoft.com/office/drawing/2014/main" id="{F30EED88-99FB-E7EC-48E3-81AA0FB42667}"/>
                  </a:ext>
                </a:extLst>
              </p:cNvPr>
              <p:cNvSpPr>
                <a:spLocks/>
              </p:cNvSpPr>
              <p:nvPr/>
            </p:nvSpPr>
            <p:spPr bwMode="auto">
              <a:xfrm>
                <a:off x="4939978" y="4052427"/>
                <a:ext cx="105014" cy="174845"/>
              </a:xfrm>
              <a:custGeom>
                <a:avLst/>
                <a:gdLst/>
                <a:ahLst/>
                <a:cxnLst>
                  <a:cxn ang="0">
                    <a:pos x="0" y="142"/>
                  </a:cxn>
                  <a:cxn ang="0">
                    <a:pos x="2" y="146"/>
                  </a:cxn>
                  <a:cxn ang="0">
                    <a:pos x="8" y="146"/>
                  </a:cxn>
                  <a:cxn ang="0">
                    <a:pos x="10" y="152"/>
                  </a:cxn>
                  <a:cxn ang="0">
                    <a:pos x="16" y="154"/>
                  </a:cxn>
                  <a:cxn ang="0">
                    <a:pos x="22" y="166"/>
                  </a:cxn>
                  <a:cxn ang="0">
                    <a:pos x="44" y="178"/>
                  </a:cxn>
                  <a:cxn ang="0">
                    <a:pos x="50" y="176"/>
                  </a:cxn>
                  <a:cxn ang="0">
                    <a:pos x="56" y="176"/>
                  </a:cxn>
                  <a:cxn ang="0">
                    <a:pos x="64" y="176"/>
                  </a:cxn>
                  <a:cxn ang="0">
                    <a:pos x="76" y="176"/>
                  </a:cxn>
                  <a:cxn ang="0">
                    <a:pos x="86" y="178"/>
                  </a:cxn>
                  <a:cxn ang="0">
                    <a:pos x="92" y="180"/>
                  </a:cxn>
                  <a:cxn ang="0">
                    <a:pos x="106" y="182"/>
                  </a:cxn>
                  <a:cxn ang="0">
                    <a:pos x="106" y="170"/>
                  </a:cxn>
                  <a:cxn ang="0">
                    <a:pos x="104" y="164"/>
                  </a:cxn>
                  <a:cxn ang="0">
                    <a:pos x="96" y="154"/>
                  </a:cxn>
                  <a:cxn ang="0">
                    <a:pos x="88" y="144"/>
                  </a:cxn>
                  <a:cxn ang="0">
                    <a:pos x="78" y="126"/>
                  </a:cxn>
                  <a:cxn ang="0">
                    <a:pos x="74" y="122"/>
                  </a:cxn>
                  <a:cxn ang="0">
                    <a:pos x="76" y="116"/>
                  </a:cxn>
                  <a:cxn ang="0">
                    <a:pos x="82" y="106"/>
                  </a:cxn>
                  <a:cxn ang="0">
                    <a:pos x="90" y="90"/>
                  </a:cxn>
                  <a:cxn ang="0">
                    <a:pos x="86" y="78"/>
                  </a:cxn>
                  <a:cxn ang="0">
                    <a:pos x="76" y="64"/>
                  </a:cxn>
                  <a:cxn ang="0">
                    <a:pos x="78" y="58"/>
                  </a:cxn>
                  <a:cxn ang="0">
                    <a:pos x="88" y="58"/>
                  </a:cxn>
                  <a:cxn ang="0">
                    <a:pos x="94" y="56"/>
                  </a:cxn>
                  <a:cxn ang="0">
                    <a:pos x="92" y="48"/>
                  </a:cxn>
                  <a:cxn ang="0">
                    <a:pos x="90" y="40"/>
                  </a:cxn>
                  <a:cxn ang="0">
                    <a:pos x="90" y="30"/>
                  </a:cxn>
                  <a:cxn ang="0">
                    <a:pos x="92" y="24"/>
                  </a:cxn>
                  <a:cxn ang="0">
                    <a:pos x="88" y="16"/>
                  </a:cxn>
                  <a:cxn ang="0">
                    <a:pos x="88" y="12"/>
                  </a:cxn>
                  <a:cxn ang="0">
                    <a:pos x="78" y="0"/>
                  </a:cxn>
                  <a:cxn ang="0">
                    <a:pos x="80" y="14"/>
                  </a:cxn>
                  <a:cxn ang="0">
                    <a:pos x="80" y="24"/>
                  </a:cxn>
                  <a:cxn ang="0">
                    <a:pos x="76" y="28"/>
                  </a:cxn>
                  <a:cxn ang="0">
                    <a:pos x="74" y="32"/>
                  </a:cxn>
                  <a:cxn ang="0">
                    <a:pos x="68" y="40"/>
                  </a:cxn>
                  <a:cxn ang="0">
                    <a:pos x="68" y="46"/>
                  </a:cxn>
                  <a:cxn ang="0">
                    <a:pos x="64" y="52"/>
                  </a:cxn>
                  <a:cxn ang="0">
                    <a:pos x="62" y="58"/>
                  </a:cxn>
                  <a:cxn ang="0">
                    <a:pos x="64" y="62"/>
                  </a:cxn>
                  <a:cxn ang="0">
                    <a:pos x="52" y="68"/>
                  </a:cxn>
                  <a:cxn ang="0">
                    <a:pos x="48" y="74"/>
                  </a:cxn>
                  <a:cxn ang="0">
                    <a:pos x="46" y="82"/>
                  </a:cxn>
                  <a:cxn ang="0">
                    <a:pos x="44" y="90"/>
                  </a:cxn>
                  <a:cxn ang="0">
                    <a:pos x="38" y="96"/>
                  </a:cxn>
                  <a:cxn ang="0">
                    <a:pos x="34" y="106"/>
                  </a:cxn>
                  <a:cxn ang="0">
                    <a:pos x="34" y="112"/>
                  </a:cxn>
                  <a:cxn ang="0">
                    <a:pos x="30" y="118"/>
                  </a:cxn>
                  <a:cxn ang="0">
                    <a:pos x="24" y="120"/>
                  </a:cxn>
                  <a:cxn ang="0">
                    <a:pos x="24" y="112"/>
                  </a:cxn>
                  <a:cxn ang="0">
                    <a:pos x="14" y="112"/>
                  </a:cxn>
                  <a:cxn ang="0">
                    <a:pos x="6" y="114"/>
                  </a:cxn>
                  <a:cxn ang="0">
                    <a:pos x="2" y="122"/>
                  </a:cxn>
                  <a:cxn ang="0">
                    <a:pos x="0" y="124"/>
                  </a:cxn>
                  <a:cxn ang="0">
                    <a:pos x="0" y="130"/>
                  </a:cxn>
                  <a:cxn ang="0">
                    <a:pos x="0" y="138"/>
                  </a:cxn>
                  <a:cxn ang="0">
                    <a:pos x="0" y="142"/>
                  </a:cxn>
                </a:cxnLst>
                <a:rect l="0" t="0" r="r" b="b"/>
                <a:pathLst>
                  <a:path w="108" h="182">
                    <a:moveTo>
                      <a:pt x="0" y="142"/>
                    </a:moveTo>
                    <a:lnTo>
                      <a:pt x="0" y="142"/>
                    </a:lnTo>
                    <a:lnTo>
                      <a:pt x="2" y="144"/>
                    </a:lnTo>
                    <a:lnTo>
                      <a:pt x="2" y="146"/>
                    </a:lnTo>
                    <a:lnTo>
                      <a:pt x="8" y="144"/>
                    </a:lnTo>
                    <a:lnTo>
                      <a:pt x="8" y="146"/>
                    </a:lnTo>
                    <a:lnTo>
                      <a:pt x="8" y="150"/>
                    </a:lnTo>
                    <a:lnTo>
                      <a:pt x="10" y="152"/>
                    </a:lnTo>
                    <a:lnTo>
                      <a:pt x="18" y="150"/>
                    </a:lnTo>
                    <a:lnTo>
                      <a:pt x="16" y="154"/>
                    </a:lnTo>
                    <a:lnTo>
                      <a:pt x="20" y="166"/>
                    </a:lnTo>
                    <a:lnTo>
                      <a:pt x="22" y="166"/>
                    </a:lnTo>
                    <a:lnTo>
                      <a:pt x="20" y="178"/>
                    </a:lnTo>
                    <a:lnTo>
                      <a:pt x="44" y="178"/>
                    </a:lnTo>
                    <a:lnTo>
                      <a:pt x="46" y="178"/>
                    </a:lnTo>
                    <a:lnTo>
                      <a:pt x="50" y="176"/>
                    </a:lnTo>
                    <a:lnTo>
                      <a:pt x="54" y="176"/>
                    </a:lnTo>
                    <a:lnTo>
                      <a:pt x="56" y="176"/>
                    </a:lnTo>
                    <a:lnTo>
                      <a:pt x="58" y="176"/>
                    </a:lnTo>
                    <a:lnTo>
                      <a:pt x="64" y="176"/>
                    </a:lnTo>
                    <a:lnTo>
                      <a:pt x="68" y="176"/>
                    </a:lnTo>
                    <a:lnTo>
                      <a:pt x="76" y="176"/>
                    </a:lnTo>
                    <a:lnTo>
                      <a:pt x="82" y="176"/>
                    </a:lnTo>
                    <a:lnTo>
                      <a:pt x="86" y="178"/>
                    </a:lnTo>
                    <a:lnTo>
                      <a:pt x="88" y="180"/>
                    </a:lnTo>
                    <a:lnTo>
                      <a:pt x="92" y="180"/>
                    </a:lnTo>
                    <a:lnTo>
                      <a:pt x="100" y="180"/>
                    </a:lnTo>
                    <a:lnTo>
                      <a:pt x="106" y="182"/>
                    </a:lnTo>
                    <a:lnTo>
                      <a:pt x="104" y="176"/>
                    </a:lnTo>
                    <a:lnTo>
                      <a:pt x="106" y="170"/>
                    </a:lnTo>
                    <a:lnTo>
                      <a:pt x="108" y="168"/>
                    </a:lnTo>
                    <a:lnTo>
                      <a:pt x="104" y="164"/>
                    </a:lnTo>
                    <a:lnTo>
                      <a:pt x="98" y="158"/>
                    </a:lnTo>
                    <a:lnTo>
                      <a:pt x="96" y="154"/>
                    </a:lnTo>
                    <a:lnTo>
                      <a:pt x="90" y="150"/>
                    </a:lnTo>
                    <a:lnTo>
                      <a:pt x="88" y="144"/>
                    </a:lnTo>
                    <a:lnTo>
                      <a:pt x="84" y="140"/>
                    </a:lnTo>
                    <a:lnTo>
                      <a:pt x="78" y="126"/>
                    </a:lnTo>
                    <a:lnTo>
                      <a:pt x="76" y="122"/>
                    </a:lnTo>
                    <a:lnTo>
                      <a:pt x="74" y="122"/>
                    </a:lnTo>
                    <a:lnTo>
                      <a:pt x="74" y="120"/>
                    </a:lnTo>
                    <a:lnTo>
                      <a:pt x="76" y="116"/>
                    </a:lnTo>
                    <a:lnTo>
                      <a:pt x="80" y="112"/>
                    </a:lnTo>
                    <a:lnTo>
                      <a:pt x="82" y="106"/>
                    </a:lnTo>
                    <a:lnTo>
                      <a:pt x="86" y="98"/>
                    </a:lnTo>
                    <a:lnTo>
                      <a:pt x="90" y="90"/>
                    </a:lnTo>
                    <a:lnTo>
                      <a:pt x="88" y="84"/>
                    </a:lnTo>
                    <a:lnTo>
                      <a:pt x="86" y="78"/>
                    </a:lnTo>
                    <a:lnTo>
                      <a:pt x="76" y="66"/>
                    </a:lnTo>
                    <a:lnTo>
                      <a:pt x="76" y="64"/>
                    </a:lnTo>
                    <a:lnTo>
                      <a:pt x="76" y="62"/>
                    </a:lnTo>
                    <a:lnTo>
                      <a:pt x="78" y="58"/>
                    </a:lnTo>
                    <a:lnTo>
                      <a:pt x="82" y="58"/>
                    </a:lnTo>
                    <a:lnTo>
                      <a:pt x="88" y="58"/>
                    </a:lnTo>
                    <a:lnTo>
                      <a:pt x="94" y="58"/>
                    </a:lnTo>
                    <a:lnTo>
                      <a:pt x="94" y="56"/>
                    </a:lnTo>
                    <a:lnTo>
                      <a:pt x="94" y="52"/>
                    </a:lnTo>
                    <a:lnTo>
                      <a:pt x="92" y="48"/>
                    </a:lnTo>
                    <a:lnTo>
                      <a:pt x="92" y="44"/>
                    </a:lnTo>
                    <a:lnTo>
                      <a:pt x="90" y="40"/>
                    </a:lnTo>
                    <a:lnTo>
                      <a:pt x="88" y="34"/>
                    </a:lnTo>
                    <a:lnTo>
                      <a:pt x="90" y="30"/>
                    </a:lnTo>
                    <a:lnTo>
                      <a:pt x="92" y="28"/>
                    </a:lnTo>
                    <a:lnTo>
                      <a:pt x="92" y="24"/>
                    </a:lnTo>
                    <a:lnTo>
                      <a:pt x="92" y="20"/>
                    </a:lnTo>
                    <a:lnTo>
                      <a:pt x="88" y="16"/>
                    </a:lnTo>
                    <a:lnTo>
                      <a:pt x="88" y="14"/>
                    </a:lnTo>
                    <a:lnTo>
                      <a:pt x="88" y="12"/>
                    </a:lnTo>
                    <a:lnTo>
                      <a:pt x="88" y="8"/>
                    </a:lnTo>
                    <a:lnTo>
                      <a:pt x="78" y="0"/>
                    </a:lnTo>
                    <a:lnTo>
                      <a:pt x="78" y="12"/>
                    </a:lnTo>
                    <a:lnTo>
                      <a:pt x="80" y="14"/>
                    </a:lnTo>
                    <a:lnTo>
                      <a:pt x="82" y="16"/>
                    </a:lnTo>
                    <a:lnTo>
                      <a:pt x="80" y="24"/>
                    </a:lnTo>
                    <a:lnTo>
                      <a:pt x="78" y="28"/>
                    </a:lnTo>
                    <a:lnTo>
                      <a:pt x="76" y="28"/>
                    </a:lnTo>
                    <a:lnTo>
                      <a:pt x="74" y="30"/>
                    </a:lnTo>
                    <a:lnTo>
                      <a:pt x="74" y="32"/>
                    </a:lnTo>
                    <a:lnTo>
                      <a:pt x="72" y="36"/>
                    </a:lnTo>
                    <a:lnTo>
                      <a:pt x="68" y="40"/>
                    </a:lnTo>
                    <a:lnTo>
                      <a:pt x="68" y="42"/>
                    </a:lnTo>
                    <a:lnTo>
                      <a:pt x="68" y="46"/>
                    </a:lnTo>
                    <a:lnTo>
                      <a:pt x="66" y="50"/>
                    </a:lnTo>
                    <a:lnTo>
                      <a:pt x="64" y="52"/>
                    </a:lnTo>
                    <a:lnTo>
                      <a:pt x="62" y="56"/>
                    </a:lnTo>
                    <a:lnTo>
                      <a:pt x="62" y="58"/>
                    </a:lnTo>
                    <a:lnTo>
                      <a:pt x="64" y="60"/>
                    </a:lnTo>
                    <a:lnTo>
                      <a:pt x="64" y="62"/>
                    </a:lnTo>
                    <a:lnTo>
                      <a:pt x="62" y="64"/>
                    </a:lnTo>
                    <a:lnTo>
                      <a:pt x="52" y="68"/>
                    </a:lnTo>
                    <a:lnTo>
                      <a:pt x="50" y="70"/>
                    </a:lnTo>
                    <a:lnTo>
                      <a:pt x="48" y="74"/>
                    </a:lnTo>
                    <a:lnTo>
                      <a:pt x="48" y="78"/>
                    </a:lnTo>
                    <a:lnTo>
                      <a:pt x="46" y="82"/>
                    </a:lnTo>
                    <a:lnTo>
                      <a:pt x="44" y="86"/>
                    </a:lnTo>
                    <a:lnTo>
                      <a:pt x="44" y="90"/>
                    </a:lnTo>
                    <a:lnTo>
                      <a:pt x="40" y="94"/>
                    </a:lnTo>
                    <a:lnTo>
                      <a:pt x="38" y="96"/>
                    </a:lnTo>
                    <a:lnTo>
                      <a:pt x="36" y="100"/>
                    </a:lnTo>
                    <a:lnTo>
                      <a:pt x="34" y="106"/>
                    </a:lnTo>
                    <a:lnTo>
                      <a:pt x="36" y="110"/>
                    </a:lnTo>
                    <a:lnTo>
                      <a:pt x="34" y="112"/>
                    </a:lnTo>
                    <a:lnTo>
                      <a:pt x="32" y="114"/>
                    </a:lnTo>
                    <a:lnTo>
                      <a:pt x="30" y="118"/>
                    </a:lnTo>
                    <a:lnTo>
                      <a:pt x="28" y="120"/>
                    </a:lnTo>
                    <a:lnTo>
                      <a:pt x="24" y="120"/>
                    </a:lnTo>
                    <a:lnTo>
                      <a:pt x="26" y="114"/>
                    </a:lnTo>
                    <a:lnTo>
                      <a:pt x="24" y="112"/>
                    </a:lnTo>
                    <a:lnTo>
                      <a:pt x="18" y="110"/>
                    </a:lnTo>
                    <a:lnTo>
                      <a:pt x="14" y="112"/>
                    </a:lnTo>
                    <a:lnTo>
                      <a:pt x="8" y="114"/>
                    </a:lnTo>
                    <a:lnTo>
                      <a:pt x="6" y="114"/>
                    </a:lnTo>
                    <a:lnTo>
                      <a:pt x="4" y="116"/>
                    </a:lnTo>
                    <a:lnTo>
                      <a:pt x="2" y="122"/>
                    </a:lnTo>
                    <a:lnTo>
                      <a:pt x="2" y="122"/>
                    </a:lnTo>
                    <a:lnTo>
                      <a:pt x="0" y="124"/>
                    </a:lnTo>
                    <a:lnTo>
                      <a:pt x="0" y="128"/>
                    </a:lnTo>
                    <a:lnTo>
                      <a:pt x="0" y="130"/>
                    </a:lnTo>
                    <a:lnTo>
                      <a:pt x="2" y="132"/>
                    </a:lnTo>
                    <a:lnTo>
                      <a:pt x="0" y="138"/>
                    </a:lnTo>
                    <a:lnTo>
                      <a:pt x="0" y="142"/>
                    </a:lnTo>
                    <a:lnTo>
                      <a:pt x="0" y="14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12" name="Freeform 497">
                <a:extLst>
                  <a:ext uri="{FF2B5EF4-FFF2-40B4-BE49-F238E27FC236}">
                    <a16:creationId xmlns:a16="http://schemas.microsoft.com/office/drawing/2014/main" id="{6D00B62C-1271-2B97-3B02-59388E887E13}"/>
                  </a:ext>
                </a:extLst>
              </p:cNvPr>
              <p:cNvSpPr>
                <a:spLocks/>
              </p:cNvSpPr>
              <p:nvPr/>
            </p:nvSpPr>
            <p:spPr bwMode="auto">
              <a:xfrm>
                <a:off x="5202511" y="4307970"/>
                <a:ext cx="29170" cy="30742"/>
              </a:xfrm>
              <a:custGeom>
                <a:avLst/>
                <a:gdLst/>
                <a:ahLst/>
                <a:cxnLst>
                  <a:cxn ang="0">
                    <a:pos x="0" y="2"/>
                  </a:cxn>
                  <a:cxn ang="0">
                    <a:pos x="0" y="2"/>
                  </a:cxn>
                  <a:cxn ang="0">
                    <a:pos x="2" y="2"/>
                  </a:cxn>
                  <a:cxn ang="0">
                    <a:pos x="4" y="0"/>
                  </a:cxn>
                  <a:cxn ang="0">
                    <a:pos x="6" y="2"/>
                  </a:cxn>
                  <a:cxn ang="0">
                    <a:pos x="8" y="8"/>
                  </a:cxn>
                  <a:cxn ang="0">
                    <a:pos x="12" y="6"/>
                  </a:cxn>
                  <a:cxn ang="0">
                    <a:pos x="14" y="4"/>
                  </a:cxn>
                  <a:cxn ang="0">
                    <a:pos x="14" y="2"/>
                  </a:cxn>
                  <a:cxn ang="0">
                    <a:pos x="14" y="0"/>
                  </a:cxn>
                  <a:cxn ang="0">
                    <a:pos x="16" y="0"/>
                  </a:cxn>
                  <a:cxn ang="0">
                    <a:pos x="22" y="2"/>
                  </a:cxn>
                  <a:cxn ang="0">
                    <a:pos x="24" y="2"/>
                  </a:cxn>
                  <a:cxn ang="0">
                    <a:pos x="24" y="6"/>
                  </a:cxn>
                  <a:cxn ang="0">
                    <a:pos x="24" y="8"/>
                  </a:cxn>
                  <a:cxn ang="0">
                    <a:pos x="26" y="12"/>
                  </a:cxn>
                  <a:cxn ang="0">
                    <a:pos x="30" y="12"/>
                  </a:cxn>
                  <a:cxn ang="0">
                    <a:pos x="28" y="16"/>
                  </a:cxn>
                  <a:cxn ang="0">
                    <a:pos x="22" y="20"/>
                  </a:cxn>
                  <a:cxn ang="0">
                    <a:pos x="20" y="28"/>
                  </a:cxn>
                  <a:cxn ang="0">
                    <a:pos x="14" y="32"/>
                  </a:cxn>
                  <a:cxn ang="0">
                    <a:pos x="8" y="30"/>
                  </a:cxn>
                  <a:cxn ang="0">
                    <a:pos x="8" y="10"/>
                  </a:cxn>
                  <a:cxn ang="0">
                    <a:pos x="2" y="8"/>
                  </a:cxn>
                  <a:cxn ang="0">
                    <a:pos x="0" y="4"/>
                  </a:cxn>
                  <a:cxn ang="0">
                    <a:pos x="0" y="2"/>
                  </a:cxn>
                  <a:cxn ang="0">
                    <a:pos x="0" y="2"/>
                  </a:cxn>
                </a:cxnLst>
                <a:rect l="0" t="0" r="r" b="b"/>
                <a:pathLst>
                  <a:path w="30" h="32">
                    <a:moveTo>
                      <a:pt x="0" y="2"/>
                    </a:moveTo>
                    <a:lnTo>
                      <a:pt x="0" y="2"/>
                    </a:lnTo>
                    <a:lnTo>
                      <a:pt x="2" y="2"/>
                    </a:lnTo>
                    <a:lnTo>
                      <a:pt x="4" y="0"/>
                    </a:lnTo>
                    <a:lnTo>
                      <a:pt x="6" y="2"/>
                    </a:lnTo>
                    <a:lnTo>
                      <a:pt x="8" y="8"/>
                    </a:lnTo>
                    <a:lnTo>
                      <a:pt x="12" y="6"/>
                    </a:lnTo>
                    <a:lnTo>
                      <a:pt x="14" y="4"/>
                    </a:lnTo>
                    <a:lnTo>
                      <a:pt x="14" y="2"/>
                    </a:lnTo>
                    <a:lnTo>
                      <a:pt x="14" y="0"/>
                    </a:lnTo>
                    <a:lnTo>
                      <a:pt x="16" y="0"/>
                    </a:lnTo>
                    <a:lnTo>
                      <a:pt x="22" y="2"/>
                    </a:lnTo>
                    <a:lnTo>
                      <a:pt x="24" y="2"/>
                    </a:lnTo>
                    <a:lnTo>
                      <a:pt x="24" y="6"/>
                    </a:lnTo>
                    <a:lnTo>
                      <a:pt x="24" y="8"/>
                    </a:lnTo>
                    <a:lnTo>
                      <a:pt x="26" y="12"/>
                    </a:lnTo>
                    <a:lnTo>
                      <a:pt x="30" y="12"/>
                    </a:lnTo>
                    <a:lnTo>
                      <a:pt x="28" y="16"/>
                    </a:lnTo>
                    <a:lnTo>
                      <a:pt x="22" y="20"/>
                    </a:lnTo>
                    <a:lnTo>
                      <a:pt x="20" y="28"/>
                    </a:lnTo>
                    <a:lnTo>
                      <a:pt x="14" y="32"/>
                    </a:lnTo>
                    <a:lnTo>
                      <a:pt x="8" y="30"/>
                    </a:lnTo>
                    <a:lnTo>
                      <a:pt x="8" y="10"/>
                    </a:lnTo>
                    <a:lnTo>
                      <a:pt x="2" y="8"/>
                    </a:lnTo>
                    <a:lnTo>
                      <a:pt x="0" y="4"/>
                    </a:lnTo>
                    <a:lnTo>
                      <a:pt x="0" y="2"/>
                    </a:lnTo>
                    <a:lnTo>
                      <a:pt x="0"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13" name="Freeform 498">
                <a:extLst>
                  <a:ext uri="{FF2B5EF4-FFF2-40B4-BE49-F238E27FC236}">
                    <a16:creationId xmlns:a16="http://schemas.microsoft.com/office/drawing/2014/main" id="{E2381F8A-B428-A6CF-715A-ADC73E5DDABE}"/>
                  </a:ext>
                </a:extLst>
              </p:cNvPr>
              <p:cNvSpPr>
                <a:spLocks/>
              </p:cNvSpPr>
              <p:nvPr/>
            </p:nvSpPr>
            <p:spPr bwMode="auto">
              <a:xfrm>
                <a:off x="5081940" y="4542376"/>
                <a:ext cx="124461" cy="142181"/>
              </a:xfrm>
              <a:custGeom>
                <a:avLst/>
                <a:gdLst/>
                <a:ahLst/>
                <a:cxnLst>
                  <a:cxn ang="0">
                    <a:pos x="0" y="122"/>
                  </a:cxn>
                  <a:cxn ang="0">
                    <a:pos x="6" y="124"/>
                  </a:cxn>
                  <a:cxn ang="0">
                    <a:pos x="12" y="136"/>
                  </a:cxn>
                  <a:cxn ang="0">
                    <a:pos x="10" y="146"/>
                  </a:cxn>
                  <a:cxn ang="0">
                    <a:pos x="14" y="148"/>
                  </a:cxn>
                  <a:cxn ang="0">
                    <a:pos x="18" y="146"/>
                  </a:cxn>
                  <a:cxn ang="0">
                    <a:pos x="28" y="142"/>
                  </a:cxn>
                  <a:cxn ang="0">
                    <a:pos x="40" y="136"/>
                  </a:cxn>
                  <a:cxn ang="0">
                    <a:pos x="46" y="130"/>
                  </a:cxn>
                  <a:cxn ang="0">
                    <a:pos x="48" y="124"/>
                  </a:cxn>
                  <a:cxn ang="0">
                    <a:pos x="54" y="122"/>
                  </a:cxn>
                  <a:cxn ang="0">
                    <a:pos x="58" y="126"/>
                  </a:cxn>
                  <a:cxn ang="0">
                    <a:pos x="60" y="124"/>
                  </a:cxn>
                  <a:cxn ang="0">
                    <a:pos x="64" y="126"/>
                  </a:cxn>
                  <a:cxn ang="0">
                    <a:pos x="72" y="126"/>
                  </a:cxn>
                  <a:cxn ang="0">
                    <a:pos x="78" y="128"/>
                  </a:cxn>
                  <a:cxn ang="0">
                    <a:pos x="80" y="108"/>
                  </a:cxn>
                  <a:cxn ang="0">
                    <a:pos x="88" y="106"/>
                  </a:cxn>
                  <a:cxn ang="0">
                    <a:pos x="90" y="100"/>
                  </a:cxn>
                  <a:cxn ang="0">
                    <a:pos x="92" y="92"/>
                  </a:cxn>
                  <a:cxn ang="0">
                    <a:pos x="98" y="86"/>
                  </a:cxn>
                  <a:cxn ang="0">
                    <a:pos x="104" y="82"/>
                  </a:cxn>
                  <a:cxn ang="0">
                    <a:pos x="116" y="76"/>
                  </a:cxn>
                  <a:cxn ang="0">
                    <a:pos x="118" y="74"/>
                  </a:cxn>
                  <a:cxn ang="0">
                    <a:pos x="120" y="74"/>
                  </a:cxn>
                  <a:cxn ang="0">
                    <a:pos x="126" y="70"/>
                  </a:cxn>
                  <a:cxn ang="0">
                    <a:pos x="126" y="66"/>
                  </a:cxn>
                  <a:cxn ang="0">
                    <a:pos x="120" y="64"/>
                  </a:cxn>
                  <a:cxn ang="0">
                    <a:pos x="118" y="64"/>
                  </a:cxn>
                  <a:cxn ang="0">
                    <a:pos x="114" y="60"/>
                  </a:cxn>
                  <a:cxn ang="0">
                    <a:pos x="114" y="50"/>
                  </a:cxn>
                  <a:cxn ang="0">
                    <a:pos x="112" y="48"/>
                  </a:cxn>
                  <a:cxn ang="0">
                    <a:pos x="108" y="42"/>
                  </a:cxn>
                  <a:cxn ang="0">
                    <a:pos x="104" y="34"/>
                  </a:cxn>
                  <a:cxn ang="0">
                    <a:pos x="98" y="30"/>
                  </a:cxn>
                  <a:cxn ang="0">
                    <a:pos x="96" y="26"/>
                  </a:cxn>
                  <a:cxn ang="0">
                    <a:pos x="94" y="28"/>
                  </a:cxn>
                  <a:cxn ang="0">
                    <a:pos x="90" y="28"/>
                  </a:cxn>
                  <a:cxn ang="0">
                    <a:pos x="88" y="24"/>
                  </a:cxn>
                  <a:cxn ang="0">
                    <a:pos x="80" y="14"/>
                  </a:cxn>
                  <a:cxn ang="0">
                    <a:pos x="78" y="10"/>
                  </a:cxn>
                  <a:cxn ang="0">
                    <a:pos x="74" y="6"/>
                  </a:cxn>
                  <a:cxn ang="0">
                    <a:pos x="72" y="0"/>
                  </a:cxn>
                  <a:cxn ang="0">
                    <a:pos x="68" y="0"/>
                  </a:cxn>
                  <a:cxn ang="0">
                    <a:pos x="64" y="4"/>
                  </a:cxn>
                  <a:cxn ang="0">
                    <a:pos x="60" y="2"/>
                  </a:cxn>
                  <a:cxn ang="0">
                    <a:pos x="58" y="6"/>
                  </a:cxn>
                  <a:cxn ang="0">
                    <a:pos x="56" y="6"/>
                  </a:cxn>
                  <a:cxn ang="0">
                    <a:pos x="16" y="8"/>
                  </a:cxn>
                  <a:cxn ang="0">
                    <a:pos x="0" y="64"/>
                  </a:cxn>
                  <a:cxn ang="0">
                    <a:pos x="0" y="122"/>
                  </a:cxn>
                </a:cxnLst>
                <a:rect l="0" t="0" r="r" b="b"/>
                <a:pathLst>
                  <a:path w="128" h="148">
                    <a:moveTo>
                      <a:pt x="0" y="122"/>
                    </a:moveTo>
                    <a:lnTo>
                      <a:pt x="0" y="122"/>
                    </a:lnTo>
                    <a:lnTo>
                      <a:pt x="4" y="122"/>
                    </a:lnTo>
                    <a:lnTo>
                      <a:pt x="6" y="124"/>
                    </a:lnTo>
                    <a:lnTo>
                      <a:pt x="10" y="128"/>
                    </a:lnTo>
                    <a:lnTo>
                      <a:pt x="12" y="136"/>
                    </a:lnTo>
                    <a:lnTo>
                      <a:pt x="10" y="140"/>
                    </a:lnTo>
                    <a:lnTo>
                      <a:pt x="10" y="146"/>
                    </a:lnTo>
                    <a:lnTo>
                      <a:pt x="12" y="148"/>
                    </a:lnTo>
                    <a:lnTo>
                      <a:pt x="14" y="148"/>
                    </a:lnTo>
                    <a:lnTo>
                      <a:pt x="16" y="148"/>
                    </a:lnTo>
                    <a:lnTo>
                      <a:pt x="18" y="146"/>
                    </a:lnTo>
                    <a:lnTo>
                      <a:pt x="20" y="146"/>
                    </a:lnTo>
                    <a:lnTo>
                      <a:pt x="28" y="142"/>
                    </a:lnTo>
                    <a:lnTo>
                      <a:pt x="32" y="140"/>
                    </a:lnTo>
                    <a:lnTo>
                      <a:pt x="40" y="136"/>
                    </a:lnTo>
                    <a:lnTo>
                      <a:pt x="44" y="132"/>
                    </a:lnTo>
                    <a:lnTo>
                      <a:pt x="46" y="130"/>
                    </a:lnTo>
                    <a:lnTo>
                      <a:pt x="46" y="126"/>
                    </a:lnTo>
                    <a:lnTo>
                      <a:pt x="48" y="124"/>
                    </a:lnTo>
                    <a:lnTo>
                      <a:pt x="50" y="122"/>
                    </a:lnTo>
                    <a:lnTo>
                      <a:pt x="54" y="122"/>
                    </a:lnTo>
                    <a:lnTo>
                      <a:pt x="56" y="126"/>
                    </a:lnTo>
                    <a:lnTo>
                      <a:pt x="58" y="126"/>
                    </a:lnTo>
                    <a:lnTo>
                      <a:pt x="58" y="124"/>
                    </a:lnTo>
                    <a:lnTo>
                      <a:pt x="60" y="124"/>
                    </a:lnTo>
                    <a:lnTo>
                      <a:pt x="62" y="126"/>
                    </a:lnTo>
                    <a:lnTo>
                      <a:pt x="64" y="126"/>
                    </a:lnTo>
                    <a:lnTo>
                      <a:pt x="68" y="126"/>
                    </a:lnTo>
                    <a:lnTo>
                      <a:pt x="72" y="126"/>
                    </a:lnTo>
                    <a:lnTo>
                      <a:pt x="76" y="128"/>
                    </a:lnTo>
                    <a:lnTo>
                      <a:pt x="78" y="128"/>
                    </a:lnTo>
                    <a:lnTo>
                      <a:pt x="80" y="126"/>
                    </a:lnTo>
                    <a:lnTo>
                      <a:pt x="80" y="108"/>
                    </a:lnTo>
                    <a:lnTo>
                      <a:pt x="82" y="108"/>
                    </a:lnTo>
                    <a:lnTo>
                      <a:pt x="88" y="106"/>
                    </a:lnTo>
                    <a:lnTo>
                      <a:pt x="88" y="104"/>
                    </a:lnTo>
                    <a:lnTo>
                      <a:pt x="90" y="100"/>
                    </a:lnTo>
                    <a:lnTo>
                      <a:pt x="90" y="94"/>
                    </a:lnTo>
                    <a:lnTo>
                      <a:pt x="92" y="92"/>
                    </a:lnTo>
                    <a:lnTo>
                      <a:pt x="96" y="90"/>
                    </a:lnTo>
                    <a:lnTo>
                      <a:pt x="98" y="86"/>
                    </a:lnTo>
                    <a:lnTo>
                      <a:pt x="100" y="84"/>
                    </a:lnTo>
                    <a:lnTo>
                      <a:pt x="104" y="82"/>
                    </a:lnTo>
                    <a:lnTo>
                      <a:pt x="110" y="80"/>
                    </a:lnTo>
                    <a:lnTo>
                      <a:pt x="116" y="76"/>
                    </a:lnTo>
                    <a:lnTo>
                      <a:pt x="118" y="76"/>
                    </a:lnTo>
                    <a:lnTo>
                      <a:pt x="118" y="74"/>
                    </a:lnTo>
                    <a:lnTo>
                      <a:pt x="118" y="74"/>
                    </a:lnTo>
                    <a:lnTo>
                      <a:pt x="120" y="74"/>
                    </a:lnTo>
                    <a:lnTo>
                      <a:pt x="124" y="72"/>
                    </a:lnTo>
                    <a:lnTo>
                      <a:pt x="126" y="70"/>
                    </a:lnTo>
                    <a:lnTo>
                      <a:pt x="128" y="68"/>
                    </a:lnTo>
                    <a:lnTo>
                      <a:pt x="126" y="66"/>
                    </a:lnTo>
                    <a:lnTo>
                      <a:pt x="122" y="66"/>
                    </a:lnTo>
                    <a:lnTo>
                      <a:pt x="120" y="64"/>
                    </a:lnTo>
                    <a:lnTo>
                      <a:pt x="118" y="64"/>
                    </a:lnTo>
                    <a:lnTo>
                      <a:pt x="118" y="64"/>
                    </a:lnTo>
                    <a:lnTo>
                      <a:pt x="114" y="62"/>
                    </a:lnTo>
                    <a:lnTo>
                      <a:pt x="114" y="60"/>
                    </a:lnTo>
                    <a:lnTo>
                      <a:pt x="112" y="54"/>
                    </a:lnTo>
                    <a:lnTo>
                      <a:pt x="114" y="50"/>
                    </a:lnTo>
                    <a:lnTo>
                      <a:pt x="114" y="48"/>
                    </a:lnTo>
                    <a:lnTo>
                      <a:pt x="112" y="48"/>
                    </a:lnTo>
                    <a:lnTo>
                      <a:pt x="110" y="46"/>
                    </a:lnTo>
                    <a:lnTo>
                      <a:pt x="108" y="42"/>
                    </a:lnTo>
                    <a:lnTo>
                      <a:pt x="106" y="40"/>
                    </a:lnTo>
                    <a:lnTo>
                      <a:pt x="104" y="34"/>
                    </a:lnTo>
                    <a:lnTo>
                      <a:pt x="100" y="32"/>
                    </a:lnTo>
                    <a:lnTo>
                      <a:pt x="98" y="30"/>
                    </a:lnTo>
                    <a:lnTo>
                      <a:pt x="96" y="28"/>
                    </a:lnTo>
                    <a:lnTo>
                      <a:pt x="96" y="26"/>
                    </a:lnTo>
                    <a:lnTo>
                      <a:pt x="96" y="28"/>
                    </a:lnTo>
                    <a:lnTo>
                      <a:pt x="94" y="28"/>
                    </a:lnTo>
                    <a:lnTo>
                      <a:pt x="92" y="28"/>
                    </a:lnTo>
                    <a:lnTo>
                      <a:pt x="90" y="28"/>
                    </a:lnTo>
                    <a:lnTo>
                      <a:pt x="90" y="26"/>
                    </a:lnTo>
                    <a:lnTo>
                      <a:pt x="88" y="24"/>
                    </a:lnTo>
                    <a:lnTo>
                      <a:pt x="82" y="18"/>
                    </a:lnTo>
                    <a:lnTo>
                      <a:pt x="80" y="14"/>
                    </a:lnTo>
                    <a:lnTo>
                      <a:pt x="80" y="10"/>
                    </a:lnTo>
                    <a:lnTo>
                      <a:pt x="78" y="10"/>
                    </a:lnTo>
                    <a:lnTo>
                      <a:pt x="76" y="8"/>
                    </a:lnTo>
                    <a:lnTo>
                      <a:pt x="74" y="6"/>
                    </a:lnTo>
                    <a:lnTo>
                      <a:pt x="74" y="4"/>
                    </a:lnTo>
                    <a:lnTo>
                      <a:pt x="72" y="0"/>
                    </a:lnTo>
                    <a:lnTo>
                      <a:pt x="70" y="0"/>
                    </a:lnTo>
                    <a:lnTo>
                      <a:pt x="68" y="0"/>
                    </a:lnTo>
                    <a:lnTo>
                      <a:pt x="66" y="2"/>
                    </a:lnTo>
                    <a:lnTo>
                      <a:pt x="64" y="4"/>
                    </a:lnTo>
                    <a:lnTo>
                      <a:pt x="62" y="4"/>
                    </a:lnTo>
                    <a:lnTo>
                      <a:pt x="60" y="2"/>
                    </a:lnTo>
                    <a:lnTo>
                      <a:pt x="58" y="4"/>
                    </a:lnTo>
                    <a:lnTo>
                      <a:pt x="58" y="6"/>
                    </a:lnTo>
                    <a:lnTo>
                      <a:pt x="58" y="6"/>
                    </a:lnTo>
                    <a:lnTo>
                      <a:pt x="56" y="6"/>
                    </a:lnTo>
                    <a:lnTo>
                      <a:pt x="26" y="8"/>
                    </a:lnTo>
                    <a:lnTo>
                      <a:pt x="16" y="8"/>
                    </a:lnTo>
                    <a:lnTo>
                      <a:pt x="16" y="64"/>
                    </a:lnTo>
                    <a:lnTo>
                      <a:pt x="0" y="64"/>
                    </a:lnTo>
                    <a:lnTo>
                      <a:pt x="0" y="122"/>
                    </a:lnTo>
                    <a:lnTo>
                      <a:pt x="0" y="12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14" name="Freeform 499">
                <a:extLst>
                  <a:ext uri="{FF2B5EF4-FFF2-40B4-BE49-F238E27FC236}">
                    <a16:creationId xmlns:a16="http://schemas.microsoft.com/office/drawing/2014/main" id="{B76330B9-E8D2-9EA4-F0AC-7511A4781E4D}"/>
                  </a:ext>
                </a:extLst>
              </p:cNvPr>
              <p:cNvSpPr>
                <a:spLocks noEditPoints="1"/>
              </p:cNvSpPr>
              <p:nvPr/>
            </p:nvSpPr>
            <p:spPr bwMode="auto">
              <a:xfrm>
                <a:off x="4984705" y="4325261"/>
                <a:ext cx="157520" cy="219036"/>
              </a:xfrm>
              <a:custGeom>
                <a:avLst/>
                <a:gdLst/>
                <a:ahLst/>
                <a:cxnLst>
                  <a:cxn ang="0">
                    <a:pos x="12" y="8"/>
                  </a:cxn>
                  <a:cxn ang="0">
                    <a:pos x="16" y="2"/>
                  </a:cxn>
                  <a:cxn ang="0">
                    <a:pos x="10" y="0"/>
                  </a:cxn>
                  <a:cxn ang="0">
                    <a:pos x="6" y="4"/>
                  </a:cxn>
                  <a:cxn ang="0">
                    <a:pos x="2" y="10"/>
                  </a:cxn>
                  <a:cxn ang="0">
                    <a:pos x="6" y="14"/>
                  </a:cxn>
                  <a:cxn ang="0">
                    <a:pos x="10" y="36"/>
                  </a:cxn>
                  <a:cxn ang="0">
                    <a:pos x="18" y="54"/>
                  </a:cxn>
                  <a:cxn ang="0">
                    <a:pos x="22" y="64"/>
                  </a:cxn>
                  <a:cxn ang="0">
                    <a:pos x="24" y="72"/>
                  </a:cxn>
                  <a:cxn ang="0">
                    <a:pos x="22" y="76"/>
                  </a:cxn>
                  <a:cxn ang="0">
                    <a:pos x="22" y="92"/>
                  </a:cxn>
                  <a:cxn ang="0">
                    <a:pos x="26" y="106"/>
                  </a:cxn>
                  <a:cxn ang="0">
                    <a:pos x="26" y="132"/>
                  </a:cxn>
                  <a:cxn ang="0">
                    <a:pos x="18" y="144"/>
                  </a:cxn>
                  <a:cxn ang="0">
                    <a:pos x="12" y="152"/>
                  </a:cxn>
                  <a:cxn ang="0">
                    <a:pos x="10" y="172"/>
                  </a:cxn>
                  <a:cxn ang="0">
                    <a:pos x="6" y="178"/>
                  </a:cxn>
                  <a:cxn ang="0">
                    <a:pos x="0" y="196"/>
                  </a:cxn>
                  <a:cxn ang="0">
                    <a:pos x="0" y="206"/>
                  </a:cxn>
                  <a:cxn ang="0">
                    <a:pos x="10" y="212"/>
                  </a:cxn>
                  <a:cxn ang="0">
                    <a:pos x="16" y="210"/>
                  </a:cxn>
                  <a:cxn ang="0">
                    <a:pos x="26" y="212"/>
                  </a:cxn>
                  <a:cxn ang="0">
                    <a:pos x="86" y="218"/>
                  </a:cxn>
                  <a:cxn ang="0">
                    <a:pos x="90" y="222"/>
                  </a:cxn>
                  <a:cxn ang="0">
                    <a:pos x="96" y="222"/>
                  </a:cxn>
                  <a:cxn ang="0">
                    <a:pos x="102" y="224"/>
                  </a:cxn>
                  <a:cxn ang="0">
                    <a:pos x="114" y="226"/>
                  </a:cxn>
                  <a:cxn ang="0">
                    <a:pos x="146" y="222"/>
                  </a:cxn>
                  <a:cxn ang="0">
                    <a:pos x="142" y="212"/>
                  </a:cxn>
                  <a:cxn ang="0">
                    <a:pos x="134" y="196"/>
                  </a:cxn>
                  <a:cxn ang="0">
                    <a:pos x="160" y="136"/>
                  </a:cxn>
                  <a:cxn ang="0">
                    <a:pos x="160" y="122"/>
                  </a:cxn>
                  <a:cxn ang="0">
                    <a:pos x="160" y="108"/>
                  </a:cxn>
                  <a:cxn ang="0">
                    <a:pos x="146" y="110"/>
                  </a:cxn>
                  <a:cxn ang="0">
                    <a:pos x="138" y="104"/>
                  </a:cxn>
                  <a:cxn ang="0">
                    <a:pos x="138" y="92"/>
                  </a:cxn>
                  <a:cxn ang="0">
                    <a:pos x="136" y="82"/>
                  </a:cxn>
                  <a:cxn ang="0">
                    <a:pos x="132" y="72"/>
                  </a:cxn>
                  <a:cxn ang="0">
                    <a:pos x="132" y="62"/>
                  </a:cxn>
                  <a:cxn ang="0">
                    <a:pos x="130" y="52"/>
                  </a:cxn>
                  <a:cxn ang="0">
                    <a:pos x="118" y="48"/>
                  </a:cxn>
                  <a:cxn ang="0">
                    <a:pos x="110" y="44"/>
                  </a:cxn>
                  <a:cxn ang="0">
                    <a:pos x="100" y="46"/>
                  </a:cxn>
                  <a:cxn ang="0">
                    <a:pos x="102" y="56"/>
                  </a:cxn>
                  <a:cxn ang="0">
                    <a:pos x="96" y="56"/>
                  </a:cxn>
                  <a:cxn ang="0">
                    <a:pos x="92" y="60"/>
                  </a:cxn>
                  <a:cxn ang="0">
                    <a:pos x="80" y="56"/>
                  </a:cxn>
                  <a:cxn ang="0">
                    <a:pos x="76" y="40"/>
                  </a:cxn>
                  <a:cxn ang="0">
                    <a:pos x="74" y="22"/>
                  </a:cxn>
                  <a:cxn ang="0">
                    <a:pos x="26" y="22"/>
                  </a:cxn>
                  <a:cxn ang="0">
                    <a:pos x="12" y="30"/>
                  </a:cxn>
                </a:cxnLst>
                <a:rect l="0" t="0" r="r" b="b"/>
                <a:pathLst>
                  <a:path w="162" h="228">
                    <a:moveTo>
                      <a:pt x="6" y="14"/>
                    </a:moveTo>
                    <a:lnTo>
                      <a:pt x="12" y="12"/>
                    </a:lnTo>
                    <a:lnTo>
                      <a:pt x="12" y="8"/>
                    </a:lnTo>
                    <a:lnTo>
                      <a:pt x="12" y="6"/>
                    </a:lnTo>
                    <a:lnTo>
                      <a:pt x="14" y="4"/>
                    </a:lnTo>
                    <a:lnTo>
                      <a:pt x="16" y="2"/>
                    </a:lnTo>
                    <a:lnTo>
                      <a:pt x="14" y="0"/>
                    </a:lnTo>
                    <a:lnTo>
                      <a:pt x="12" y="0"/>
                    </a:lnTo>
                    <a:lnTo>
                      <a:pt x="10" y="0"/>
                    </a:lnTo>
                    <a:lnTo>
                      <a:pt x="8" y="4"/>
                    </a:lnTo>
                    <a:lnTo>
                      <a:pt x="10" y="4"/>
                    </a:lnTo>
                    <a:lnTo>
                      <a:pt x="6" y="4"/>
                    </a:lnTo>
                    <a:lnTo>
                      <a:pt x="2" y="4"/>
                    </a:lnTo>
                    <a:lnTo>
                      <a:pt x="2" y="6"/>
                    </a:lnTo>
                    <a:lnTo>
                      <a:pt x="2" y="10"/>
                    </a:lnTo>
                    <a:lnTo>
                      <a:pt x="2" y="12"/>
                    </a:lnTo>
                    <a:lnTo>
                      <a:pt x="6" y="14"/>
                    </a:lnTo>
                    <a:lnTo>
                      <a:pt x="6" y="14"/>
                    </a:lnTo>
                    <a:close/>
                    <a:moveTo>
                      <a:pt x="10" y="30"/>
                    </a:moveTo>
                    <a:lnTo>
                      <a:pt x="10" y="30"/>
                    </a:lnTo>
                    <a:lnTo>
                      <a:pt x="10" y="36"/>
                    </a:lnTo>
                    <a:lnTo>
                      <a:pt x="14" y="46"/>
                    </a:lnTo>
                    <a:lnTo>
                      <a:pt x="18" y="50"/>
                    </a:lnTo>
                    <a:lnTo>
                      <a:pt x="18" y="54"/>
                    </a:lnTo>
                    <a:lnTo>
                      <a:pt x="18" y="58"/>
                    </a:lnTo>
                    <a:lnTo>
                      <a:pt x="22" y="62"/>
                    </a:lnTo>
                    <a:lnTo>
                      <a:pt x="22" y="64"/>
                    </a:lnTo>
                    <a:lnTo>
                      <a:pt x="20" y="68"/>
                    </a:lnTo>
                    <a:lnTo>
                      <a:pt x="24" y="70"/>
                    </a:lnTo>
                    <a:lnTo>
                      <a:pt x="24" y="72"/>
                    </a:lnTo>
                    <a:lnTo>
                      <a:pt x="22" y="72"/>
                    </a:lnTo>
                    <a:lnTo>
                      <a:pt x="22" y="74"/>
                    </a:lnTo>
                    <a:lnTo>
                      <a:pt x="22" y="76"/>
                    </a:lnTo>
                    <a:lnTo>
                      <a:pt x="20" y="78"/>
                    </a:lnTo>
                    <a:lnTo>
                      <a:pt x="20" y="88"/>
                    </a:lnTo>
                    <a:lnTo>
                      <a:pt x="22" y="92"/>
                    </a:lnTo>
                    <a:lnTo>
                      <a:pt x="22" y="96"/>
                    </a:lnTo>
                    <a:lnTo>
                      <a:pt x="20" y="98"/>
                    </a:lnTo>
                    <a:lnTo>
                      <a:pt x="26" y="106"/>
                    </a:lnTo>
                    <a:lnTo>
                      <a:pt x="28" y="112"/>
                    </a:lnTo>
                    <a:lnTo>
                      <a:pt x="28" y="120"/>
                    </a:lnTo>
                    <a:lnTo>
                      <a:pt x="26" y="132"/>
                    </a:lnTo>
                    <a:lnTo>
                      <a:pt x="22" y="138"/>
                    </a:lnTo>
                    <a:lnTo>
                      <a:pt x="18" y="140"/>
                    </a:lnTo>
                    <a:lnTo>
                      <a:pt x="18" y="144"/>
                    </a:lnTo>
                    <a:lnTo>
                      <a:pt x="18" y="146"/>
                    </a:lnTo>
                    <a:lnTo>
                      <a:pt x="16" y="150"/>
                    </a:lnTo>
                    <a:lnTo>
                      <a:pt x="12" y="152"/>
                    </a:lnTo>
                    <a:lnTo>
                      <a:pt x="10" y="158"/>
                    </a:lnTo>
                    <a:lnTo>
                      <a:pt x="10" y="162"/>
                    </a:lnTo>
                    <a:lnTo>
                      <a:pt x="10" y="172"/>
                    </a:lnTo>
                    <a:lnTo>
                      <a:pt x="8" y="174"/>
                    </a:lnTo>
                    <a:lnTo>
                      <a:pt x="6" y="176"/>
                    </a:lnTo>
                    <a:lnTo>
                      <a:pt x="6" y="178"/>
                    </a:lnTo>
                    <a:lnTo>
                      <a:pt x="2" y="184"/>
                    </a:lnTo>
                    <a:lnTo>
                      <a:pt x="0" y="190"/>
                    </a:lnTo>
                    <a:lnTo>
                      <a:pt x="0" y="196"/>
                    </a:lnTo>
                    <a:lnTo>
                      <a:pt x="2" y="202"/>
                    </a:lnTo>
                    <a:lnTo>
                      <a:pt x="0" y="204"/>
                    </a:lnTo>
                    <a:lnTo>
                      <a:pt x="0" y="206"/>
                    </a:lnTo>
                    <a:lnTo>
                      <a:pt x="0" y="212"/>
                    </a:lnTo>
                    <a:lnTo>
                      <a:pt x="4" y="212"/>
                    </a:lnTo>
                    <a:lnTo>
                      <a:pt x="10" y="212"/>
                    </a:lnTo>
                    <a:lnTo>
                      <a:pt x="12" y="212"/>
                    </a:lnTo>
                    <a:lnTo>
                      <a:pt x="14" y="210"/>
                    </a:lnTo>
                    <a:lnTo>
                      <a:pt x="16" y="210"/>
                    </a:lnTo>
                    <a:lnTo>
                      <a:pt x="18" y="208"/>
                    </a:lnTo>
                    <a:lnTo>
                      <a:pt x="22" y="210"/>
                    </a:lnTo>
                    <a:lnTo>
                      <a:pt x="26" y="212"/>
                    </a:lnTo>
                    <a:lnTo>
                      <a:pt x="82" y="214"/>
                    </a:lnTo>
                    <a:lnTo>
                      <a:pt x="84" y="216"/>
                    </a:lnTo>
                    <a:lnTo>
                      <a:pt x="86" y="218"/>
                    </a:lnTo>
                    <a:lnTo>
                      <a:pt x="88" y="220"/>
                    </a:lnTo>
                    <a:lnTo>
                      <a:pt x="90" y="220"/>
                    </a:lnTo>
                    <a:lnTo>
                      <a:pt x="90" y="222"/>
                    </a:lnTo>
                    <a:lnTo>
                      <a:pt x="92" y="222"/>
                    </a:lnTo>
                    <a:lnTo>
                      <a:pt x="92" y="222"/>
                    </a:lnTo>
                    <a:lnTo>
                      <a:pt x="96" y="222"/>
                    </a:lnTo>
                    <a:lnTo>
                      <a:pt x="98" y="224"/>
                    </a:lnTo>
                    <a:lnTo>
                      <a:pt x="100" y="224"/>
                    </a:lnTo>
                    <a:lnTo>
                      <a:pt x="102" y="224"/>
                    </a:lnTo>
                    <a:lnTo>
                      <a:pt x="106" y="224"/>
                    </a:lnTo>
                    <a:lnTo>
                      <a:pt x="108" y="224"/>
                    </a:lnTo>
                    <a:lnTo>
                      <a:pt x="114" y="226"/>
                    </a:lnTo>
                    <a:lnTo>
                      <a:pt x="118" y="228"/>
                    </a:lnTo>
                    <a:lnTo>
                      <a:pt x="150" y="222"/>
                    </a:lnTo>
                    <a:lnTo>
                      <a:pt x="146" y="222"/>
                    </a:lnTo>
                    <a:lnTo>
                      <a:pt x="146" y="218"/>
                    </a:lnTo>
                    <a:lnTo>
                      <a:pt x="146" y="216"/>
                    </a:lnTo>
                    <a:lnTo>
                      <a:pt x="142" y="212"/>
                    </a:lnTo>
                    <a:lnTo>
                      <a:pt x="138" y="206"/>
                    </a:lnTo>
                    <a:lnTo>
                      <a:pt x="136" y="202"/>
                    </a:lnTo>
                    <a:lnTo>
                      <a:pt x="134" y="196"/>
                    </a:lnTo>
                    <a:lnTo>
                      <a:pt x="132" y="194"/>
                    </a:lnTo>
                    <a:lnTo>
                      <a:pt x="132" y="136"/>
                    </a:lnTo>
                    <a:lnTo>
                      <a:pt x="160" y="136"/>
                    </a:lnTo>
                    <a:lnTo>
                      <a:pt x="160" y="132"/>
                    </a:lnTo>
                    <a:lnTo>
                      <a:pt x="160" y="124"/>
                    </a:lnTo>
                    <a:lnTo>
                      <a:pt x="160" y="122"/>
                    </a:lnTo>
                    <a:lnTo>
                      <a:pt x="162" y="118"/>
                    </a:lnTo>
                    <a:lnTo>
                      <a:pt x="162" y="112"/>
                    </a:lnTo>
                    <a:lnTo>
                      <a:pt x="160" y="108"/>
                    </a:lnTo>
                    <a:lnTo>
                      <a:pt x="150" y="108"/>
                    </a:lnTo>
                    <a:lnTo>
                      <a:pt x="150" y="108"/>
                    </a:lnTo>
                    <a:lnTo>
                      <a:pt x="146" y="110"/>
                    </a:lnTo>
                    <a:lnTo>
                      <a:pt x="144" y="112"/>
                    </a:lnTo>
                    <a:lnTo>
                      <a:pt x="140" y="108"/>
                    </a:lnTo>
                    <a:lnTo>
                      <a:pt x="138" y="104"/>
                    </a:lnTo>
                    <a:lnTo>
                      <a:pt x="138" y="100"/>
                    </a:lnTo>
                    <a:lnTo>
                      <a:pt x="138" y="96"/>
                    </a:lnTo>
                    <a:lnTo>
                      <a:pt x="138" y="92"/>
                    </a:lnTo>
                    <a:lnTo>
                      <a:pt x="140" y="88"/>
                    </a:lnTo>
                    <a:lnTo>
                      <a:pt x="138" y="84"/>
                    </a:lnTo>
                    <a:lnTo>
                      <a:pt x="136" y="82"/>
                    </a:lnTo>
                    <a:lnTo>
                      <a:pt x="136" y="80"/>
                    </a:lnTo>
                    <a:lnTo>
                      <a:pt x="134" y="76"/>
                    </a:lnTo>
                    <a:lnTo>
                      <a:pt x="132" y="72"/>
                    </a:lnTo>
                    <a:lnTo>
                      <a:pt x="132" y="68"/>
                    </a:lnTo>
                    <a:lnTo>
                      <a:pt x="132" y="64"/>
                    </a:lnTo>
                    <a:lnTo>
                      <a:pt x="132" y="62"/>
                    </a:lnTo>
                    <a:lnTo>
                      <a:pt x="130" y="60"/>
                    </a:lnTo>
                    <a:lnTo>
                      <a:pt x="130" y="58"/>
                    </a:lnTo>
                    <a:lnTo>
                      <a:pt x="130" y="52"/>
                    </a:lnTo>
                    <a:lnTo>
                      <a:pt x="128" y="48"/>
                    </a:lnTo>
                    <a:lnTo>
                      <a:pt x="124" y="48"/>
                    </a:lnTo>
                    <a:lnTo>
                      <a:pt x="118" y="48"/>
                    </a:lnTo>
                    <a:lnTo>
                      <a:pt x="118" y="44"/>
                    </a:lnTo>
                    <a:lnTo>
                      <a:pt x="116" y="44"/>
                    </a:lnTo>
                    <a:lnTo>
                      <a:pt x="110" y="44"/>
                    </a:lnTo>
                    <a:lnTo>
                      <a:pt x="104" y="42"/>
                    </a:lnTo>
                    <a:lnTo>
                      <a:pt x="102" y="44"/>
                    </a:lnTo>
                    <a:lnTo>
                      <a:pt x="100" y="46"/>
                    </a:lnTo>
                    <a:lnTo>
                      <a:pt x="100" y="50"/>
                    </a:lnTo>
                    <a:lnTo>
                      <a:pt x="102" y="54"/>
                    </a:lnTo>
                    <a:lnTo>
                      <a:pt x="102" y="56"/>
                    </a:lnTo>
                    <a:lnTo>
                      <a:pt x="100" y="58"/>
                    </a:lnTo>
                    <a:lnTo>
                      <a:pt x="98" y="58"/>
                    </a:lnTo>
                    <a:lnTo>
                      <a:pt x="96" y="56"/>
                    </a:lnTo>
                    <a:lnTo>
                      <a:pt x="94" y="58"/>
                    </a:lnTo>
                    <a:lnTo>
                      <a:pt x="92" y="60"/>
                    </a:lnTo>
                    <a:lnTo>
                      <a:pt x="92" y="60"/>
                    </a:lnTo>
                    <a:lnTo>
                      <a:pt x="86" y="60"/>
                    </a:lnTo>
                    <a:lnTo>
                      <a:pt x="82" y="58"/>
                    </a:lnTo>
                    <a:lnTo>
                      <a:pt x="80" y="56"/>
                    </a:lnTo>
                    <a:lnTo>
                      <a:pt x="78" y="50"/>
                    </a:lnTo>
                    <a:lnTo>
                      <a:pt x="78" y="44"/>
                    </a:lnTo>
                    <a:lnTo>
                      <a:pt x="76" y="40"/>
                    </a:lnTo>
                    <a:lnTo>
                      <a:pt x="76" y="36"/>
                    </a:lnTo>
                    <a:lnTo>
                      <a:pt x="76" y="32"/>
                    </a:lnTo>
                    <a:lnTo>
                      <a:pt x="74" y="22"/>
                    </a:lnTo>
                    <a:lnTo>
                      <a:pt x="46" y="24"/>
                    </a:lnTo>
                    <a:lnTo>
                      <a:pt x="32" y="22"/>
                    </a:lnTo>
                    <a:lnTo>
                      <a:pt x="26" y="22"/>
                    </a:lnTo>
                    <a:lnTo>
                      <a:pt x="22" y="24"/>
                    </a:lnTo>
                    <a:lnTo>
                      <a:pt x="18" y="26"/>
                    </a:lnTo>
                    <a:lnTo>
                      <a:pt x="12" y="30"/>
                    </a:lnTo>
                    <a:lnTo>
                      <a:pt x="10" y="30"/>
                    </a:lnTo>
                    <a:lnTo>
                      <a:pt x="10" y="3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15" name="Freeform 500">
                <a:extLst>
                  <a:ext uri="{FF2B5EF4-FFF2-40B4-BE49-F238E27FC236}">
                    <a16:creationId xmlns:a16="http://schemas.microsoft.com/office/drawing/2014/main" id="{7D7B8D1A-6A4D-D888-853F-06BDF87DEEC9}"/>
                  </a:ext>
                </a:extLst>
              </p:cNvPr>
              <p:cNvSpPr>
                <a:spLocks/>
              </p:cNvSpPr>
              <p:nvPr/>
            </p:nvSpPr>
            <p:spPr bwMode="auto">
              <a:xfrm>
                <a:off x="5043046" y="4609624"/>
                <a:ext cx="204193" cy="201744"/>
              </a:xfrm>
              <a:custGeom>
                <a:avLst/>
                <a:gdLst/>
                <a:ahLst/>
                <a:cxnLst>
                  <a:cxn ang="0">
                    <a:pos x="38" y="102"/>
                  </a:cxn>
                  <a:cxn ang="0">
                    <a:pos x="30" y="108"/>
                  </a:cxn>
                  <a:cxn ang="0">
                    <a:pos x="20" y="110"/>
                  </a:cxn>
                  <a:cxn ang="0">
                    <a:pos x="12" y="104"/>
                  </a:cxn>
                  <a:cxn ang="0">
                    <a:pos x="8" y="100"/>
                  </a:cxn>
                  <a:cxn ang="0">
                    <a:pos x="0" y="108"/>
                  </a:cxn>
                  <a:cxn ang="0">
                    <a:pos x="6" y="120"/>
                  </a:cxn>
                  <a:cxn ang="0">
                    <a:pos x="10" y="130"/>
                  </a:cxn>
                  <a:cxn ang="0">
                    <a:pos x="16" y="142"/>
                  </a:cxn>
                  <a:cxn ang="0">
                    <a:pos x="22" y="168"/>
                  </a:cxn>
                  <a:cxn ang="0">
                    <a:pos x="16" y="176"/>
                  </a:cxn>
                  <a:cxn ang="0">
                    <a:pos x="18" y="182"/>
                  </a:cxn>
                  <a:cxn ang="0">
                    <a:pos x="18" y="188"/>
                  </a:cxn>
                  <a:cxn ang="0">
                    <a:pos x="18" y="198"/>
                  </a:cxn>
                  <a:cxn ang="0">
                    <a:pos x="24" y="200"/>
                  </a:cxn>
                  <a:cxn ang="0">
                    <a:pos x="28" y="204"/>
                  </a:cxn>
                  <a:cxn ang="0">
                    <a:pos x="36" y="206"/>
                  </a:cxn>
                  <a:cxn ang="0">
                    <a:pos x="46" y="208"/>
                  </a:cxn>
                  <a:cxn ang="0">
                    <a:pos x="62" y="200"/>
                  </a:cxn>
                  <a:cxn ang="0">
                    <a:pos x="74" y="198"/>
                  </a:cxn>
                  <a:cxn ang="0">
                    <a:pos x="80" y="196"/>
                  </a:cxn>
                  <a:cxn ang="0">
                    <a:pos x="90" y="196"/>
                  </a:cxn>
                  <a:cxn ang="0">
                    <a:pos x="100" y="198"/>
                  </a:cxn>
                  <a:cxn ang="0">
                    <a:pos x="112" y="196"/>
                  </a:cxn>
                  <a:cxn ang="0">
                    <a:pos x="120" y="192"/>
                  </a:cxn>
                  <a:cxn ang="0">
                    <a:pos x="126" y="192"/>
                  </a:cxn>
                  <a:cxn ang="0">
                    <a:pos x="136" y="188"/>
                  </a:cxn>
                  <a:cxn ang="0">
                    <a:pos x="150" y="178"/>
                  </a:cxn>
                  <a:cxn ang="0">
                    <a:pos x="156" y="170"/>
                  </a:cxn>
                  <a:cxn ang="0">
                    <a:pos x="168" y="160"/>
                  </a:cxn>
                  <a:cxn ang="0">
                    <a:pos x="170" y="152"/>
                  </a:cxn>
                  <a:cxn ang="0">
                    <a:pos x="180" y="138"/>
                  </a:cxn>
                  <a:cxn ang="0">
                    <a:pos x="188" y="126"/>
                  </a:cxn>
                  <a:cxn ang="0">
                    <a:pos x="206" y="112"/>
                  </a:cxn>
                  <a:cxn ang="0">
                    <a:pos x="210" y="72"/>
                  </a:cxn>
                  <a:cxn ang="0">
                    <a:pos x="198" y="78"/>
                  </a:cxn>
                  <a:cxn ang="0">
                    <a:pos x="186" y="72"/>
                  </a:cxn>
                  <a:cxn ang="0">
                    <a:pos x="188" y="60"/>
                  </a:cxn>
                  <a:cxn ang="0">
                    <a:pos x="192" y="60"/>
                  </a:cxn>
                  <a:cxn ang="0">
                    <a:pos x="196" y="56"/>
                  </a:cxn>
                  <a:cxn ang="0">
                    <a:pos x="194" y="44"/>
                  </a:cxn>
                  <a:cxn ang="0">
                    <a:pos x="194" y="22"/>
                  </a:cxn>
                  <a:cxn ang="0">
                    <a:pos x="196" y="8"/>
                  </a:cxn>
                  <a:cxn ang="0">
                    <a:pos x="188" y="0"/>
                  </a:cxn>
                  <a:cxn ang="0">
                    <a:pos x="180" y="0"/>
                  </a:cxn>
                  <a:cxn ang="0">
                    <a:pos x="170" y="0"/>
                  </a:cxn>
                  <a:cxn ang="0">
                    <a:pos x="166" y="4"/>
                  </a:cxn>
                  <a:cxn ang="0">
                    <a:pos x="158" y="4"/>
                  </a:cxn>
                  <a:cxn ang="0">
                    <a:pos x="150" y="10"/>
                  </a:cxn>
                  <a:cxn ang="0">
                    <a:pos x="138" y="16"/>
                  </a:cxn>
                  <a:cxn ang="0">
                    <a:pos x="130" y="24"/>
                  </a:cxn>
                  <a:cxn ang="0">
                    <a:pos x="128" y="36"/>
                  </a:cxn>
                  <a:cxn ang="0">
                    <a:pos x="120" y="58"/>
                  </a:cxn>
                  <a:cxn ang="0">
                    <a:pos x="114" y="58"/>
                  </a:cxn>
                  <a:cxn ang="0">
                    <a:pos x="104" y="58"/>
                  </a:cxn>
                  <a:cxn ang="0">
                    <a:pos x="98" y="58"/>
                  </a:cxn>
                  <a:cxn ang="0">
                    <a:pos x="90" y="54"/>
                  </a:cxn>
                  <a:cxn ang="0">
                    <a:pos x="86" y="62"/>
                  </a:cxn>
                  <a:cxn ang="0">
                    <a:pos x="72" y="70"/>
                  </a:cxn>
                  <a:cxn ang="0">
                    <a:pos x="58" y="76"/>
                  </a:cxn>
                  <a:cxn ang="0">
                    <a:pos x="54" y="78"/>
                  </a:cxn>
                  <a:cxn ang="0">
                    <a:pos x="54" y="66"/>
                  </a:cxn>
                  <a:cxn ang="0">
                    <a:pos x="46" y="54"/>
                  </a:cxn>
                </a:cxnLst>
                <a:rect l="0" t="0" r="r" b="b"/>
                <a:pathLst>
                  <a:path w="210" h="210">
                    <a:moveTo>
                      <a:pt x="42" y="52"/>
                    </a:moveTo>
                    <a:lnTo>
                      <a:pt x="40" y="102"/>
                    </a:lnTo>
                    <a:lnTo>
                      <a:pt x="38" y="102"/>
                    </a:lnTo>
                    <a:lnTo>
                      <a:pt x="34" y="102"/>
                    </a:lnTo>
                    <a:lnTo>
                      <a:pt x="32" y="104"/>
                    </a:lnTo>
                    <a:lnTo>
                      <a:pt x="30" y="108"/>
                    </a:lnTo>
                    <a:lnTo>
                      <a:pt x="26" y="110"/>
                    </a:lnTo>
                    <a:lnTo>
                      <a:pt x="24" y="110"/>
                    </a:lnTo>
                    <a:lnTo>
                      <a:pt x="20" y="110"/>
                    </a:lnTo>
                    <a:lnTo>
                      <a:pt x="14" y="110"/>
                    </a:lnTo>
                    <a:lnTo>
                      <a:pt x="12" y="106"/>
                    </a:lnTo>
                    <a:lnTo>
                      <a:pt x="12" y="104"/>
                    </a:lnTo>
                    <a:lnTo>
                      <a:pt x="12" y="102"/>
                    </a:lnTo>
                    <a:lnTo>
                      <a:pt x="12" y="100"/>
                    </a:lnTo>
                    <a:lnTo>
                      <a:pt x="8" y="100"/>
                    </a:lnTo>
                    <a:lnTo>
                      <a:pt x="6" y="102"/>
                    </a:lnTo>
                    <a:lnTo>
                      <a:pt x="2" y="106"/>
                    </a:lnTo>
                    <a:lnTo>
                      <a:pt x="0" y="108"/>
                    </a:lnTo>
                    <a:lnTo>
                      <a:pt x="4" y="116"/>
                    </a:lnTo>
                    <a:lnTo>
                      <a:pt x="8" y="118"/>
                    </a:lnTo>
                    <a:lnTo>
                      <a:pt x="6" y="120"/>
                    </a:lnTo>
                    <a:lnTo>
                      <a:pt x="6" y="122"/>
                    </a:lnTo>
                    <a:lnTo>
                      <a:pt x="8" y="124"/>
                    </a:lnTo>
                    <a:lnTo>
                      <a:pt x="10" y="130"/>
                    </a:lnTo>
                    <a:lnTo>
                      <a:pt x="10" y="138"/>
                    </a:lnTo>
                    <a:lnTo>
                      <a:pt x="12" y="140"/>
                    </a:lnTo>
                    <a:lnTo>
                      <a:pt x="16" y="142"/>
                    </a:lnTo>
                    <a:lnTo>
                      <a:pt x="20" y="154"/>
                    </a:lnTo>
                    <a:lnTo>
                      <a:pt x="22" y="158"/>
                    </a:lnTo>
                    <a:lnTo>
                      <a:pt x="22" y="168"/>
                    </a:lnTo>
                    <a:lnTo>
                      <a:pt x="20" y="176"/>
                    </a:lnTo>
                    <a:lnTo>
                      <a:pt x="16" y="174"/>
                    </a:lnTo>
                    <a:lnTo>
                      <a:pt x="16" y="176"/>
                    </a:lnTo>
                    <a:lnTo>
                      <a:pt x="14" y="176"/>
                    </a:lnTo>
                    <a:lnTo>
                      <a:pt x="16" y="182"/>
                    </a:lnTo>
                    <a:lnTo>
                      <a:pt x="18" y="182"/>
                    </a:lnTo>
                    <a:lnTo>
                      <a:pt x="16" y="184"/>
                    </a:lnTo>
                    <a:lnTo>
                      <a:pt x="16" y="188"/>
                    </a:lnTo>
                    <a:lnTo>
                      <a:pt x="18" y="188"/>
                    </a:lnTo>
                    <a:lnTo>
                      <a:pt x="20" y="190"/>
                    </a:lnTo>
                    <a:lnTo>
                      <a:pt x="20" y="196"/>
                    </a:lnTo>
                    <a:lnTo>
                      <a:pt x="18" y="198"/>
                    </a:lnTo>
                    <a:lnTo>
                      <a:pt x="22" y="204"/>
                    </a:lnTo>
                    <a:lnTo>
                      <a:pt x="24" y="204"/>
                    </a:lnTo>
                    <a:lnTo>
                      <a:pt x="24" y="200"/>
                    </a:lnTo>
                    <a:lnTo>
                      <a:pt x="26" y="200"/>
                    </a:lnTo>
                    <a:lnTo>
                      <a:pt x="28" y="202"/>
                    </a:lnTo>
                    <a:lnTo>
                      <a:pt x="28" y="204"/>
                    </a:lnTo>
                    <a:lnTo>
                      <a:pt x="30" y="204"/>
                    </a:lnTo>
                    <a:lnTo>
                      <a:pt x="34" y="204"/>
                    </a:lnTo>
                    <a:lnTo>
                      <a:pt x="36" y="206"/>
                    </a:lnTo>
                    <a:lnTo>
                      <a:pt x="40" y="208"/>
                    </a:lnTo>
                    <a:lnTo>
                      <a:pt x="44" y="210"/>
                    </a:lnTo>
                    <a:lnTo>
                      <a:pt x="46" y="208"/>
                    </a:lnTo>
                    <a:lnTo>
                      <a:pt x="54" y="204"/>
                    </a:lnTo>
                    <a:lnTo>
                      <a:pt x="54" y="200"/>
                    </a:lnTo>
                    <a:lnTo>
                      <a:pt x="62" y="200"/>
                    </a:lnTo>
                    <a:lnTo>
                      <a:pt x="70" y="204"/>
                    </a:lnTo>
                    <a:lnTo>
                      <a:pt x="72" y="202"/>
                    </a:lnTo>
                    <a:lnTo>
                      <a:pt x="74" y="198"/>
                    </a:lnTo>
                    <a:lnTo>
                      <a:pt x="76" y="198"/>
                    </a:lnTo>
                    <a:lnTo>
                      <a:pt x="78" y="198"/>
                    </a:lnTo>
                    <a:lnTo>
                      <a:pt x="80" y="196"/>
                    </a:lnTo>
                    <a:lnTo>
                      <a:pt x="82" y="196"/>
                    </a:lnTo>
                    <a:lnTo>
                      <a:pt x="88" y="198"/>
                    </a:lnTo>
                    <a:lnTo>
                      <a:pt x="90" y="196"/>
                    </a:lnTo>
                    <a:lnTo>
                      <a:pt x="92" y="196"/>
                    </a:lnTo>
                    <a:lnTo>
                      <a:pt x="94" y="194"/>
                    </a:lnTo>
                    <a:lnTo>
                      <a:pt x="100" y="198"/>
                    </a:lnTo>
                    <a:lnTo>
                      <a:pt x="104" y="198"/>
                    </a:lnTo>
                    <a:lnTo>
                      <a:pt x="110" y="198"/>
                    </a:lnTo>
                    <a:lnTo>
                      <a:pt x="112" y="196"/>
                    </a:lnTo>
                    <a:lnTo>
                      <a:pt x="114" y="196"/>
                    </a:lnTo>
                    <a:lnTo>
                      <a:pt x="120" y="196"/>
                    </a:lnTo>
                    <a:lnTo>
                      <a:pt x="120" y="192"/>
                    </a:lnTo>
                    <a:lnTo>
                      <a:pt x="122" y="190"/>
                    </a:lnTo>
                    <a:lnTo>
                      <a:pt x="124" y="190"/>
                    </a:lnTo>
                    <a:lnTo>
                      <a:pt x="126" y="192"/>
                    </a:lnTo>
                    <a:lnTo>
                      <a:pt x="130" y="192"/>
                    </a:lnTo>
                    <a:lnTo>
                      <a:pt x="132" y="190"/>
                    </a:lnTo>
                    <a:lnTo>
                      <a:pt x="136" y="188"/>
                    </a:lnTo>
                    <a:lnTo>
                      <a:pt x="140" y="188"/>
                    </a:lnTo>
                    <a:lnTo>
                      <a:pt x="148" y="182"/>
                    </a:lnTo>
                    <a:lnTo>
                      <a:pt x="150" y="178"/>
                    </a:lnTo>
                    <a:lnTo>
                      <a:pt x="152" y="178"/>
                    </a:lnTo>
                    <a:lnTo>
                      <a:pt x="154" y="174"/>
                    </a:lnTo>
                    <a:lnTo>
                      <a:pt x="156" y="170"/>
                    </a:lnTo>
                    <a:lnTo>
                      <a:pt x="160" y="168"/>
                    </a:lnTo>
                    <a:lnTo>
                      <a:pt x="166" y="160"/>
                    </a:lnTo>
                    <a:lnTo>
                      <a:pt x="168" y="160"/>
                    </a:lnTo>
                    <a:lnTo>
                      <a:pt x="170" y="158"/>
                    </a:lnTo>
                    <a:lnTo>
                      <a:pt x="170" y="154"/>
                    </a:lnTo>
                    <a:lnTo>
                      <a:pt x="170" y="152"/>
                    </a:lnTo>
                    <a:lnTo>
                      <a:pt x="178" y="148"/>
                    </a:lnTo>
                    <a:lnTo>
                      <a:pt x="178" y="142"/>
                    </a:lnTo>
                    <a:lnTo>
                      <a:pt x="180" y="138"/>
                    </a:lnTo>
                    <a:lnTo>
                      <a:pt x="184" y="136"/>
                    </a:lnTo>
                    <a:lnTo>
                      <a:pt x="186" y="132"/>
                    </a:lnTo>
                    <a:lnTo>
                      <a:pt x="188" y="126"/>
                    </a:lnTo>
                    <a:lnTo>
                      <a:pt x="190" y="122"/>
                    </a:lnTo>
                    <a:lnTo>
                      <a:pt x="196" y="118"/>
                    </a:lnTo>
                    <a:lnTo>
                      <a:pt x="206" y="112"/>
                    </a:lnTo>
                    <a:lnTo>
                      <a:pt x="204" y="96"/>
                    </a:lnTo>
                    <a:lnTo>
                      <a:pt x="208" y="96"/>
                    </a:lnTo>
                    <a:lnTo>
                      <a:pt x="210" y="72"/>
                    </a:lnTo>
                    <a:lnTo>
                      <a:pt x="200" y="70"/>
                    </a:lnTo>
                    <a:lnTo>
                      <a:pt x="202" y="80"/>
                    </a:lnTo>
                    <a:lnTo>
                      <a:pt x="198" y="78"/>
                    </a:lnTo>
                    <a:lnTo>
                      <a:pt x="192" y="76"/>
                    </a:lnTo>
                    <a:lnTo>
                      <a:pt x="188" y="74"/>
                    </a:lnTo>
                    <a:lnTo>
                      <a:pt x="186" y="72"/>
                    </a:lnTo>
                    <a:lnTo>
                      <a:pt x="186" y="68"/>
                    </a:lnTo>
                    <a:lnTo>
                      <a:pt x="186" y="64"/>
                    </a:lnTo>
                    <a:lnTo>
                      <a:pt x="188" y="60"/>
                    </a:lnTo>
                    <a:lnTo>
                      <a:pt x="188" y="58"/>
                    </a:lnTo>
                    <a:lnTo>
                      <a:pt x="190" y="58"/>
                    </a:lnTo>
                    <a:lnTo>
                      <a:pt x="192" y="60"/>
                    </a:lnTo>
                    <a:lnTo>
                      <a:pt x="194" y="58"/>
                    </a:lnTo>
                    <a:lnTo>
                      <a:pt x="196" y="58"/>
                    </a:lnTo>
                    <a:lnTo>
                      <a:pt x="196" y="56"/>
                    </a:lnTo>
                    <a:lnTo>
                      <a:pt x="194" y="52"/>
                    </a:lnTo>
                    <a:lnTo>
                      <a:pt x="194" y="48"/>
                    </a:lnTo>
                    <a:lnTo>
                      <a:pt x="194" y="44"/>
                    </a:lnTo>
                    <a:lnTo>
                      <a:pt x="196" y="38"/>
                    </a:lnTo>
                    <a:lnTo>
                      <a:pt x="196" y="30"/>
                    </a:lnTo>
                    <a:lnTo>
                      <a:pt x="194" y="22"/>
                    </a:lnTo>
                    <a:lnTo>
                      <a:pt x="194" y="16"/>
                    </a:lnTo>
                    <a:lnTo>
                      <a:pt x="196" y="12"/>
                    </a:lnTo>
                    <a:lnTo>
                      <a:pt x="196" y="8"/>
                    </a:lnTo>
                    <a:lnTo>
                      <a:pt x="196" y="4"/>
                    </a:lnTo>
                    <a:lnTo>
                      <a:pt x="194" y="0"/>
                    </a:lnTo>
                    <a:lnTo>
                      <a:pt x="188" y="0"/>
                    </a:lnTo>
                    <a:lnTo>
                      <a:pt x="184" y="0"/>
                    </a:lnTo>
                    <a:lnTo>
                      <a:pt x="182" y="0"/>
                    </a:lnTo>
                    <a:lnTo>
                      <a:pt x="180" y="0"/>
                    </a:lnTo>
                    <a:lnTo>
                      <a:pt x="174" y="0"/>
                    </a:lnTo>
                    <a:lnTo>
                      <a:pt x="172" y="0"/>
                    </a:lnTo>
                    <a:lnTo>
                      <a:pt x="170" y="0"/>
                    </a:lnTo>
                    <a:lnTo>
                      <a:pt x="170" y="0"/>
                    </a:lnTo>
                    <a:lnTo>
                      <a:pt x="168" y="0"/>
                    </a:lnTo>
                    <a:lnTo>
                      <a:pt x="166" y="4"/>
                    </a:lnTo>
                    <a:lnTo>
                      <a:pt x="162" y="4"/>
                    </a:lnTo>
                    <a:lnTo>
                      <a:pt x="160" y="4"/>
                    </a:lnTo>
                    <a:lnTo>
                      <a:pt x="158" y="4"/>
                    </a:lnTo>
                    <a:lnTo>
                      <a:pt x="158" y="6"/>
                    </a:lnTo>
                    <a:lnTo>
                      <a:pt x="156" y="6"/>
                    </a:lnTo>
                    <a:lnTo>
                      <a:pt x="150" y="10"/>
                    </a:lnTo>
                    <a:lnTo>
                      <a:pt x="144" y="12"/>
                    </a:lnTo>
                    <a:lnTo>
                      <a:pt x="140" y="14"/>
                    </a:lnTo>
                    <a:lnTo>
                      <a:pt x="138" y="16"/>
                    </a:lnTo>
                    <a:lnTo>
                      <a:pt x="136" y="20"/>
                    </a:lnTo>
                    <a:lnTo>
                      <a:pt x="132" y="22"/>
                    </a:lnTo>
                    <a:lnTo>
                      <a:pt x="130" y="24"/>
                    </a:lnTo>
                    <a:lnTo>
                      <a:pt x="130" y="30"/>
                    </a:lnTo>
                    <a:lnTo>
                      <a:pt x="128" y="34"/>
                    </a:lnTo>
                    <a:lnTo>
                      <a:pt x="128" y="36"/>
                    </a:lnTo>
                    <a:lnTo>
                      <a:pt x="122" y="38"/>
                    </a:lnTo>
                    <a:lnTo>
                      <a:pt x="120" y="38"/>
                    </a:lnTo>
                    <a:lnTo>
                      <a:pt x="120" y="58"/>
                    </a:lnTo>
                    <a:lnTo>
                      <a:pt x="118" y="60"/>
                    </a:lnTo>
                    <a:lnTo>
                      <a:pt x="116" y="60"/>
                    </a:lnTo>
                    <a:lnTo>
                      <a:pt x="114" y="58"/>
                    </a:lnTo>
                    <a:lnTo>
                      <a:pt x="110" y="58"/>
                    </a:lnTo>
                    <a:lnTo>
                      <a:pt x="106" y="58"/>
                    </a:lnTo>
                    <a:lnTo>
                      <a:pt x="104" y="58"/>
                    </a:lnTo>
                    <a:lnTo>
                      <a:pt x="102" y="56"/>
                    </a:lnTo>
                    <a:lnTo>
                      <a:pt x="100" y="56"/>
                    </a:lnTo>
                    <a:lnTo>
                      <a:pt x="98" y="58"/>
                    </a:lnTo>
                    <a:lnTo>
                      <a:pt x="96" y="58"/>
                    </a:lnTo>
                    <a:lnTo>
                      <a:pt x="94" y="54"/>
                    </a:lnTo>
                    <a:lnTo>
                      <a:pt x="90" y="54"/>
                    </a:lnTo>
                    <a:lnTo>
                      <a:pt x="88" y="56"/>
                    </a:lnTo>
                    <a:lnTo>
                      <a:pt x="86" y="58"/>
                    </a:lnTo>
                    <a:lnTo>
                      <a:pt x="86" y="62"/>
                    </a:lnTo>
                    <a:lnTo>
                      <a:pt x="84" y="64"/>
                    </a:lnTo>
                    <a:lnTo>
                      <a:pt x="80" y="66"/>
                    </a:lnTo>
                    <a:lnTo>
                      <a:pt x="72" y="70"/>
                    </a:lnTo>
                    <a:lnTo>
                      <a:pt x="68" y="72"/>
                    </a:lnTo>
                    <a:lnTo>
                      <a:pt x="60" y="76"/>
                    </a:lnTo>
                    <a:lnTo>
                      <a:pt x="58" y="76"/>
                    </a:lnTo>
                    <a:lnTo>
                      <a:pt x="56" y="78"/>
                    </a:lnTo>
                    <a:lnTo>
                      <a:pt x="54" y="78"/>
                    </a:lnTo>
                    <a:lnTo>
                      <a:pt x="54" y="78"/>
                    </a:lnTo>
                    <a:lnTo>
                      <a:pt x="52" y="76"/>
                    </a:lnTo>
                    <a:lnTo>
                      <a:pt x="52" y="70"/>
                    </a:lnTo>
                    <a:lnTo>
                      <a:pt x="54" y="66"/>
                    </a:lnTo>
                    <a:lnTo>
                      <a:pt x="52" y="60"/>
                    </a:lnTo>
                    <a:lnTo>
                      <a:pt x="48" y="56"/>
                    </a:lnTo>
                    <a:lnTo>
                      <a:pt x="46" y="54"/>
                    </a:lnTo>
                    <a:lnTo>
                      <a:pt x="42" y="52"/>
                    </a:lnTo>
                    <a:lnTo>
                      <a:pt x="42" y="5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16" name="Freeform 502">
                <a:extLst>
                  <a:ext uri="{FF2B5EF4-FFF2-40B4-BE49-F238E27FC236}">
                    <a16:creationId xmlns:a16="http://schemas.microsoft.com/office/drawing/2014/main" id="{B86761BB-629A-D180-E0E4-10069E09A23D}"/>
                  </a:ext>
                </a:extLst>
              </p:cNvPr>
              <p:cNvSpPr>
                <a:spLocks/>
              </p:cNvSpPr>
              <p:nvPr/>
            </p:nvSpPr>
            <p:spPr bwMode="auto">
              <a:xfrm>
                <a:off x="5093609" y="3595141"/>
                <a:ext cx="89456" cy="80698"/>
              </a:xfrm>
              <a:custGeom>
                <a:avLst/>
                <a:gdLst/>
                <a:ahLst/>
                <a:cxnLst>
                  <a:cxn ang="0">
                    <a:pos x="2" y="42"/>
                  </a:cxn>
                  <a:cxn ang="0">
                    <a:pos x="8" y="50"/>
                  </a:cxn>
                  <a:cxn ang="0">
                    <a:pos x="10" y="58"/>
                  </a:cxn>
                  <a:cxn ang="0">
                    <a:pos x="24" y="64"/>
                  </a:cxn>
                  <a:cxn ang="0">
                    <a:pos x="30" y="70"/>
                  </a:cxn>
                  <a:cxn ang="0">
                    <a:pos x="20" y="64"/>
                  </a:cxn>
                  <a:cxn ang="0">
                    <a:pos x="16" y="76"/>
                  </a:cxn>
                  <a:cxn ang="0">
                    <a:pos x="20" y="84"/>
                  </a:cxn>
                  <a:cxn ang="0">
                    <a:pos x="30" y="84"/>
                  </a:cxn>
                  <a:cxn ang="0">
                    <a:pos x="32" y="80"/>
                  </a:cxn>
                  <a:cxn ang="0">
                    <a:pos x="42" y="80"/>
                  </a:cxn>
                  <a:cxn ang="0">
                    <a:pos x="38" y="72"/>
                  </a:cxn>
                  <a:cxn ang="0">
                    <a:pos x="50" y="66"/>
                  </a:cxn>
                  <a:cxn ang="0">
                    <a:pos x="40" y="56"/>
                  </a:cxn>
                  <a:cxn ang="0">
                    <a:pos x="42" y="58"/>
                  </a:cxn>
                  <a:cxn ang="0">
                    <a:pos x="54" y="64"/>
                  </a:cxn>
                  <a:cxn ang="0">
                    <a:pos x="58" y="68"/>
                  </a:cxn>
                  <a:cxn ang="0">
                    <a:pos x="46" y="56"/>
                  </a:cxn>
                  <a:cxn ang="0">
                    <a:pos x="36" y="52"/>
                  </a:cxn>
                  <a:cxn ang="0">
                    <a:pos x="34" y="42"/>
                  </a:cxn>
                  <a:cxn ang="0">
                    <a:pos x="40" y="42"/>
                  </a:cxn>
                  <a:cxn ang="0">
                    <a:pos x="34" y="30"/>
                  </a:cxn>
                  <a:cxn ang="0">
                    <a:pos x="32" y="24"/>
                  </a:cxn>
                  <a:cxn ang="0">
                    <a:pos x="42" y="30"/>
                  </a:cxn>
                  <a:cxn ang="0">
                    <a:pos x="44" y="26"/>
                  </a:cxn>
                  <a:cxn ang="0">
                    <a:pos x="50" y="24"/>
                  </a:cxn>
                  <a:cxn ang="0">
                    <a:pos x="52" y="22"/>
                  </a:cxn>
                  <a:cxn ang="0">
                    <a:pos x="48" y="14"/>
                  </a:cxn>
                  <a:cxn ang="0">
                    <a:pos x="76" y="14"/>
                  </a:cxn>
                  <a:cxn ang="0">
                    <a:pos x="80" y="16"/>
                  </a:cxn>
                  <a:cxn ang="0">
                    <a:pos x="84" y="8"/>
                  </a:cxn>
                  <a:cxn ang="0">
                    <a:pos x="90" y="10"/>
                  </a:cxn>
                  <a:cxn ang="0">
                    <a:pos x="90" y="4"/>
                  </a:cxn>
                  <a:cxn ang="0">
                    <a:pos x="80" y="2"/>
                  </a:cxn>
                  <a:cxn ang="0">
                    <a:pos x="80" y="6"/>
                  </a:cxn>
                  <a:cxn ang="0">
                    <a:pos x="70" y="4"/>
                  </a:cxn>
                  <a:cxn ang="0">
                    <a:pos x="60" y="0"/>
                  </a:cxn>
                  <a:cxn ang="0">
                    <a:pos x="54" y="8"/>
                  </a:cxn>
                  <a:cxn ang="0">
                    <a:pos x="42" y="6"/>
                  </a:cxn>
                  <a:cxn ang="0">
                    <a:pos x="38" y="12"/>
                  </a:cxn>
                  <a:cxn ang="0">
                    <a:pos x="30" y="14"/>
                  </a:cxn>
                  <a:cxn ang="0">
                    <a:pos x="26" y="18"/>
                  </a:cxn>
                  <a:cxn ang="0">
                    <a:pos x="10" y="20"/>
                  </a:cxn>
                  <a:cxn ang="0">
                    <a:pos x="6" y="32"/>
                  </a:cxn>
                  <a:cxn ang="0">
                    <a:pos x="0" y="34"/>
                  </a:cxn>
                </a:cxnLst>
                <a:rect l="0" t="0" r="r" b="b"/>
                <a:pathLst>
                  <a:path w="92" h="84">
                    <a:moveTo>
                      <a:pt x="0" y="34"/>
                    </a:moveTo>
                    <a:lnTo>
                      <a:pt x="0" y="34"/>
                    </a:lnTo>
                    <a:lnTo>
                      <a:pt x="2" y="42"/>
                    </a:lnTo>
                    <a:lnTo>
                      <a:pt x="6" y="44"/>
                    </a:lnTo>
                    <a:lnTo>
                      <a:pt x="6" y="46"/>
                    </a:lnTo>
                    <a:lnTo>
                      <a:pt x="8" y="50"/>
                    </a:lnTo>
                    <a:lnTo>
                      <a:pt x="14" y="50"/>
                    </a:lnTo>
                    <a:lnTo>
                      <a:pt x="10" y="52"/>
                    </a:lnTo>
                    <a:lnTo>
                      <a:pt x="10" y="58"/>
                    </a:lnTo>
                    <a:lnTo>
                      <a:pt x="12" y="62"/>
                    </a:lnTo>
                    <a:lnTo>
                      <a:pt x="18" y="62"/>
                    </a:lnTo>
                    <a:lnTo>
                      <a:pt x="24" y="64"/>
                    </a:lnTo>
                    <a:lnTo>
                      <a:pt x="34" y="68"/>
                    </a:lnTo>
                    <a:lnTo>
                      <a:pt x="34" y="70"/>
                    </a:lnTo>
                    <a:lnTo>
                      <a:pt x="30" y="70"/>
                    </a:lnTo>
                    <a:lnTo>
                      <a:pt x="28" y="68"/>
                    </a:lnTo>
                    <a:lnTo>
                      <a:pt x="26" y="66"/>
                    </a:lnTo>
                    <a:lnTo>
                      <a:pt x="20" y="64"/>
                    </a:lnTo>
                    <a:lnTo>
                      <a:pt x="18" y="66"/>
                    </a:lnTo>
                    <a:lnTo>
                      <a:pt x="12" y="70"/>
                    </a:lnTo>
                    <a:lnTo>
                      <a:pt x="16" y="76"/>
                    </a:lnTo>
                    <a:lnTo>
                      <a:pt x="16" y="82"/>
                    </a:lnTo>
                    <a:lnTo>
                      <a:pt x="18" y="84"/>
                    </a:lnTo>
                    <a:lnTo>
                      <a:pt x="20" y="84"/>
                    </a:lnTo>
                    <a:lnTo>
                      <a:pt x="20" y="82"/>
                    </a:lnTo>
                    <a:lnTo>
                      <a:pt x="24" y="84"/>
                    </a:lnTo>
                    <a:lnTo>
                      <a:pt x="30" y="84"/>
                    </a:lnTo>
                    <a:lnTo>
                      <a:pt x="34" y="84"/>
                    </a:lnTo>
                    <a:lnTo>
                      <a:pt x="34" y="82"/>
                    </a:lnTo>
                    <a:lnTo>
                      <a:pt x="32" y="80"/>
                    </a:lnTo>
                    <a:lnTo>
                      <a:pt x="32" y="80"/>
                    </a:lnTo>
                    <a:lnTo>
                      <a:pt x="38" y="80"/>
                    </a:lnTo>
                    <a:lnTo>
                      <a:pt x="42" y="80"/>
                    </a:lnTo>
                    <a:lnTo>
                      <a:pt x="44" y="78"/>
                    </a:lnTo>
                    <a:lnTo>
                      <a:pt x="38" y="74"/>
                    </a:lnTo>
                    <a:lnTo>
                      <a:pt x="38" y="72"/>
                    </a:lnTo>
                    <a:lnTo>
                      <a:pt x="44" y="72"/>
                    </a:lnTo>
                    <a:lnTo>
                      <a:pt x="50" y="76"/>
                    </a:lnTo>
                    <a:lnTo>
                      <a:pt x="50" y="66"/>
                    </a:lnTo>
                    <a:lnTo>
                      <a:pt x="44" y="64"/>
                    </a:lnTo>
                    <a:lnTo>
                      <a:pt x="40" y="60"/>
                    </a:lnTo>
                    <a:lnTo>
                      <a:pt x="40" y="56"/>
                    </a:lnTo>
                    <a:lnTo>
                      <a:pt x="38" y="56"/>
                    </a:lnTo>
                    <a:lnTo>
                      <a:pt x="40" y="54"/>
                    </a:lnTo>
                    <a:lnTo>
                      <a:pt x="42" y="58"/>
                    </a:lnTo>
                    <a:lnTo>
                      <a:pt x="46" y="62"/>
                    </a:lnTo>
                    <a:lnTo>
                      <a:pt x="48" y="64"/>
                    </a:lnTo>
                    <a:lnTo>
                      <a:pt x="54" y="64"/>
                    </a:lnTo>
                    <a:lnTo>
                      <a:pt x="56" y="66"/>
                    </a:lnTo>
                    <a:lnTo>
                      <a:pt x="58" y="70"/>
                    </a:lnTo>
                    <a:lnTo>
                      <a:pt x="58" y="68"/>
                    </a:lnTo>
                    <a:lnTo>
                      <a:pt x="58" y="66"/>
                    </a:lnTo>
                    <a:lnTo>
                      <a:pt x="54" y="58"/>
                    </a:lnTo>
                    <a:lnTo>
                      <a:pt x="46" y="56"/>
                    </a:lnTo>
                    <a:lnTo>
                      <a:pt x="46" y="52"/>
                    </a:lnTo>
                    <a:lnTo>
                      <a:pt x="42" y="50"/>
                    </a:lnTo>
                    <a:lnTo>
                      <a:pt x="36" y="52"/>
                    </a:lnTo>
                    <a:lnTo>
                      <a:pt x="38" y="50"/>
                    </a:lnTo>
                    <a:lnTo>
                      <a:pt x="36" y="46"/>
                    </a:lnTo>
                    <a:lnTo>
                      <a:pt x="34" y="42"/>
                    </a:lnTo>
                    <a:lnTo>
                      <a:pt x="38" y="46"/>
                    </a:lnTo>
                    <a:lnTo>
                      <a:pt x="42" y="46"/>
                    </a:lnTo>
                    <a:lnTo>
                      <a:pt x="40" y="42"/>
                    </a:lnTo>
                    <a:lnTo>
                      <a:pt x="36" y="38"/>
                    </a:lnTo>
                    <a:lnTo>
                      <a:pt x="36" y="34"/>
                    </a:lnTo>
                    <a:lnTo>
                      <a:pt x="34" y="30"/>
                    </a:lnTo>
                    <a:lnTo>
                      <a:pt x="32" y="30"/>
                    </a:lnTo>
                    <a:lnTo>
                      <a:pt x="30" y="28"/>
                    </a:lnTo>
                    <a:lnTo>
                      <a:pt x="32" y="24"/>
                    </a:lnTo>
                    <a:lnTo>
                      <a:pt x="36" y="20"/>
                    </a:lnTo>
                    <a:lnTo>
                      <a:pt x="38" y="24"/>
                    </a:lnTo>
                    <a:lnTo>
                      <a:pt x="42" y="30"/>
                    </a:lnTo>
                    <a:lnTo>
                      <a:pt x="46" y="30"/>
                    </a:lnTo>
                    <a:lnTo>
                      <a:pt x="42" y="26"/>
                    </a:lnTo>
                    <a:lnTo>
                      <a:pt x="44" y="26"/>
                    </a:lnTo>
                    <a:lnTo>
                      <a:pt x="44" y="24"/>
                    </a:lnTo>
                    <a:lnTo>
                      <a:pt x="50" y="26"/>
                    </a:lnTo>
                    <a:lnTo>
                      <a:pt x="50" y="24"/>
                    </a:lnTo>
                    <a:lnTo>
                      <a:pt x="50" y="24"/>
                    </a:lnTo>
                    <a:lnTo>
                      <a:pt x="54" y="24"/>
                    </a:lnTo>
                    <a:lnTo>
                      <a:pt x="52" y="22"/>
                    </a:lnTo>
                    <a:lnTo>
                      <a:pt x="48" y="18"/>
                    </a:lnTo>
                    <a:lnTo>
                      <a:pt x="48" y="16"/>
                    </a:lnTo>
                    <a:lnTo>
                      <a:pt x="48" y="14"/>
                    </a:lnTo>
                    <a:lnTo>
                      <a:pt x="56" y="14"/>
                    </a:lnTo>
                    <a:lnTo>
                      <a:pt x="62" y="16"/>
                    </a:lnTo>
                    <a:lnTo>
                      <a:pt x="76" y="14"/>
                    </a:lnTo>
                    <a:lnTo>
                      <a:pt x="76" y="16"/>
                    </a:lnTo>
                    <a:lnTo>
                      <a:pt x="78" y="18"/>
                    </a:lnTo>
                    <a:lnTo>
                      <a:pt x="80" y="16"/>
                    </a:lnTo>
                    <a:lnTo>
                      <a:pt x="82" y="14"/>
                    </a:lnTo>
                    <a:lnTo>
                      <a:pt x="82" y="10"/>
                    </a:lnTo>
                    <a:lnTo>
                      <a:pt x="84" y="8"/>
                    </a:lnTo>
                    <a:lnTo>
                      <a:pt x="84" y="10"/>
                    </a:lnTo>
                    <a:lnTo>
                      <a:pt x="88" y="10"/>
                    </a:lnTo>
                    <a:lnTo>
                      <a:pt x="90" y="10"/>
                    </a:lnTo>
                    <a:lnTo>
                      <a:pt x="92" y="8"/>
                    </a:lnTo>
                    <a:lnTo>
                      <a:pt x="92" y="6"/>
                    </a:lnTo>
                    <a:lnTo>
                      <a:pt x="90" y="4"/>
                    </a:lnTo>
                    <a:lnTo>
                      <a:pt x="86" y="0"/>
                    </a:lnTo>
                    <a:lnTo>
                      <a:pt x="82" y="0"/>
                    </a:lnTo>
                    <a:lnTo>
                      <a:pt x="80" y="2"/>
                    </a:lnTo>
                    <a:lnTo>
                      <a:pt x="80" y="4"/>
                    </a:lnTo>
                    <a:lnTo>
                      <a:pt x="82" y="6"/>
                    </a:lnTo>
                    <a:lnTo>
                      <a:pt x="80" y="6"/>
                    </a:lnTo>
                    <a:lnTo>
                      <a:pt x="76" y="6"/>
                    </a:lnTo>
                    <a:lnTo>
                      <a:pt x="70" y="6"/>
                    </a:lnTo>
                    <a:lnTo>
                      <a:pt x="70" y="4"/>
                    </a:lnTo>
                    <a:lnTo>
                      <a:pt x="68" y="2"/>
                    </a:lnTo>
                    <a:lnTo>
                      <a:pt x="66" y="2"/>
                    </a:lnTo>
                    <a:lnTo>
                      <a:pt x="60" y="0"/>
                    </a:lnTo>
                    <a:lnTo>
                      <a:pt x="58" y="2"/>
                    </a:lnTo>
                    <a:lnTo>
                      <a:pt x="56" y="4"/>
                    </a:lnTo>
                    <a:lnTo>
                      <a:pt x="54" y="8"/>
                    </a:lnTo>
                    <a:lnTo>
                      <a:pt x="52" y="8"/>
                    </a:lnTo>
                    <a:lnTo>
                      <a:pt x="46" y="6"/>
                    </a:lnTo>
                    <a:lnTo>
                      <a:pt x="42" y="6"/>
                    </a:lnTo>
                    <a:lnTo>
                      <a:pt x="40" y="10"/>
                    </a:lnTo>
                    <a:lnTo>
                      <a:pt x="40" y="12"/>
                    </a:lnTo>
                    <a:lnTo>
                      <a:pt x="38" y="12"/>
                    </a:lnTo>
                    <a:lnTo>
                      <a:pt x="34" y="12"/>
                    </a:lnTo>
                    <a:lnTo>
                      <a:pt x="32" y="14"/>
                    </a:lnTo>
                    <a:lnTo>
                      <a:pt x="30" y="14"/>
                    </a:lnTo>
                    <a:lnTo>
                      <a:pt x="30" y="16"/>
                    </a:lnTo>
                    <a:lnTo>
                      <a:pt x="28" y="16"/>
                    </a:lnTo>
                    <a:lnTo>
                      <a:pt x="26" y="18"/>
                    </a:lnTo>
                    <a:lnTo>
                      <a:pt x="24" y="20"/>
                    </a:lnTo>
                    <a:lnTo>
                      <a:pt x="22" y="20"/>
                    </a:lnTo>
                    <a:lnTo>
                      <a:pt x="10" y="20"/>
                    </a:lnTo>
                    <a:lnTo>
                      <a:pt x="10" y="24"/>
                    </a:lnTo>
                    <a:lnTo>
                      <a:pt x="8" y="30"/>
                    </a:lnTo>
                    <a:lnTo>
                      <a:pt x="6" y="32"/>
                    </a:lnTo>
                    <a:lnTo>
                      <a:pt x="6" y="34"/>
                    </a:lnTo>
                    <a:lnTo>
                      <a:pt x="4" y="34"/>
                    </a:lnTo>
                    <a:lnTo>
                      <a:pt x="0" y="34"/>
                    </a:lnTo>
                    <a:lnTo>
                      <a:pt x="0" y="3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17" name="Freeform 503">
                <a:extLst>
                  <a:ext uri="{FF2B5EF4-FFF2-40B4-BE49-F238E27FC236}">
                    <a16:creationId xmlns:a16="http://schemas.microsoft.com/office/drawing/2014/main" id="{14215E05-0046-0C8E-38BF-2C9C78D0D986}"/>
                  </a:ext>
                </a:extLst>
              </p:cNvPr>
              <p:cNvSpPr>
                <a:spLocks/>
              </p:cNvSpPr>
              <p:nvPr/>
            </p:nvSpPr>
            <p:spPr bwMode="auto">
              <a:xfrm>
                <a:off x="5134447" y="3702737"/>
                <a:ext cx="36949" cy="11528"/>
              </a:xfrm>
              <a:custGeom>
                <a:avLst/>
                <a:gdLst/>
                <a:ahLst/>
                <a:cxnLst>
                  <a:cxn ang="0">
                    <a:pos x="4" y="0"/>
                  </a:cxn>
                  <a:cxn ang="0">
                    <a:pos x="4" y="0"/>
                  </a:cxn>
                  <a:cxn ang="0">
                    <a:pos x="0" y="2"/>
                  </a:cxn>
                  <a:cxn ang="0">
                    <a:pos x="0" y="4"/>
                  </a:cxn>
                  <a:cxn ang="0">
                    <a:pos x="10" y="8"/>
                  </a:cxn>
                  <a:cxn ang="0">
                    <a:pos x="14" y="8"/>
                  </a:cxn>
                  <a:cxn ang="0">
                    <a:pos x="18" y="10"/>
                  </a:cxn>
                  <a:cxn ang="0">
                    <a:pos x="20" y="12"/>
                  </a:cxn>
                  <a:cxn ang="0">
                    <a:pos x="24" y="12"/>
                  </a:cxn>
                  <a:cxn ang="0">
                    <a:pos x="26" y="10"/>
                  </a:cxn>
                  <a:cxn ang="0">
                    <a:pos x="30" y="10"/>
                  </a:cxn>
                  <a:cxn ang="0">
                    <a:pos x="32" y="10"/>
                  </a:cxn>
                  <a:cxn ang="0">
                    <a:pos x="36" y="10"/>
                  </a:cxn>
                  <a:cxn ang="0">
                    <a:pos x="38" y="8"/>
                  </a:cxn>
                  <a:cxn ang="0">
                    <a:pos x="36" y="6"/>
                  </a:cxn>
                  <a:cxn ang="0">
                    <a:pos x="32" y="6"/>
                  </a:cxn>
                  <a:cxn ang="0">
                    <a:pos x="32" y="2"/>
                  </a:cxn>
                  <a:cxn ang="0">
                    <a:pos x="30" y="2"/>
                  </a:cxn>
                  <a:cxn ang="0">
                    <a:pos x="30" y="4"/>
                  </a:cxn>
                  <a:cxn ang="0">
                    <a:pos x="20" y="4"/>
                  </a:cxn>
                  <a:cxn ang="0">
                    <a:pos x="12" y="2"/>
                  </a:cxn>
                  <a:cxn ang="0">
                    <a:pos x="4" y="0"/>
                  </a:cxn>
                </a:cxnLst>
                <a:rect l="0" t="0" r="r" b="b"/>
                <a:pathLst>
                  <a:path w="38" h="12">
                    <a:moveTo>
                      <a:pt x="4" y="0"/>
                    </a:moveTo>
                    <a:lnTo>
                      <a:pt x="4" y="0"/>
                    </a:lnTo>
                    <a:lnTo>
                      <a:pt x="0" y="2"/>
                    </a:lnTo>
                    <a:lnTo>
                      <a:pt x="0" y="4"/>
                    </a:lnTo>
                    <a:lnTo>
                      <a:pt x="10" y="8"/>
                    </a:lnTo>
                    <a:lnTo>
                      <a:pt x="14" y="8"/>
                    </a:lnTo>
                    <a:lnTo>
                      <a:pt x="18" y="10"/>
                    </a:lnTo>
                    <a:lnTo>
                      <a:pt x="20" y="12"/>
                    </a:lnTo>
                    <a:lnTo>
                      <a:pt x="24" y="12"/>
                    </a:lnTo>
                    <a:lnTo>
                      <a:pt x="26" y="10"/>
                    </a:lnTo>
                    <a:lnTo>
                      <a:pt x="30" y="10"/>
                    </a:lnTo>
                    <a:lnTo>
                      <a:pt x="32" y="10"/>
                    </a:lnTo>
                    <a:lnTo>
                      <a:pt x="36" y="10"/>
                    </a:lnTo>
                    <a:lnTo>
                      <a:pt x="38" y="8"/>
                    </a:lnTo>
                    <a:lnTo>
                      <a:pt x="36" y="6"/>
                    </a:lnTo>
                    <a:lnTo>
                      <a:pt x="32" y="6"/>
                    </a:lnTo>
                    <a:lnTo>
                      <a:pt x="32" y="2"/>
                    </a:lnTo>
                    <a:lnTo>
                      <a:pt x="30" y="2"/>
                    </a:lnTo>
                    <a:lnTo>
                      <a:pt x="30" y="4"/>
                    </a:lnTo>
                    <a:lnTo>
                      <a:pt x="20" y="4"/>
                    </a:lnTo>
                    <a:lnTo>
                      <a:pt x="12" y="2"/>
                    </a:lnTo>
                    <a:lnTo>
                      <a:pt x="4"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18" name="Freeform 504">
                <a:extLst>
                  <a:ext uri="{FF2B5EF4-FFF2-40B4-BE49-F238E27FC236}">
                    <a16:creationId xmlns:a16="http://schemas.microsoft.com/office/drawing/2014/main" id="{3BAD1645-4926-07C0-87BD-B02F1B5AE567}"/>
                  </a:ext>
                </a:extLst>
              </p:cNvPr>
              <p:cNvSpPr>
                <a:spLocks/>
              </p:cNvSpPr>
              <p:nvPr/>
            </p:nvSpPr>
            <p:spPr bwMode="auto">
              <a:xfrm>
                <a:off x="5134447" y="3702737"/>
                <a:ext cx="36949" cy="11528"/>
              </a:xfrm>
              <a:custGeom>
                <a:avLst/>
                <a:gdLst/>
                <a:ahLst/>
                <a:cxnLst>
                  <a:cxn ang="0">
                    <a:pos x="4" y="0"/>
                  </a:cxn>
                  <a:cxn ang="0">
                    <a:pos x="4" y="0"/>
                  </a:cxn>
                  <a:cxn ang="0">
                    <a:pos x="0" y="2"/>
                  </a:cxn>
                  <a:cxn ang="0">
                    <a:pos x="0" y="4"/>
                  </a:cxn>
                  <a:cxn ang="0">
                    <a:pos x="10" y="8"/>
                  </a:cxn>
                  <a:cxn ang="0">
                    <a:pos x="14" y="8"/>
                  </a:cxn>
                  <a:cxn ang="0">
                    <a:pos x="18" y="10"/>
                  </a:cxn>
                  <a:cxn ang="0">
                    <a:pos x="20" y="12"/>
                  </a:cxn>
                  <a:cxn ang="0">
                    <a:pos x="24" y="12"/>
                  </a:cxn>
                  <a:cxn ang="0">
                    <a:pos x="26" y="10"/>
                  </a:cxn>
                  <a:cxn ang="0">
                    <a:pos x="30" y="10"/>
                  </a:cxn>
                  <a:cxn ang="0">
                    <a:pos x="32" y="10"/>
                  </a:cxn>
                  <a:cxn ang="0">
                    <a:pos x="36" y="10"/>
                  </a:cxn>
                  <a:cxn ang="0">
                    <a:pos x="38" y="8"/>
                  </a:cxn>
                  <a:cxn ang="0">
                    <a:pos x="36" y="6"/>
                  </a:cxn>
                  <a:cxn ang="0">
                    <a:pos x="32" y="6"/>
                  </a:cxn>
                  <a:cxn ang="0">
                    <a:pos x="32" y="2"/>
                  </a:cxn>
                  <a:cxn ang="0">
                    <a:pos x="30" y="2"/>
                  </a:cxn>
                  <a:cxn ang="0">
                    <a:pos x="30" y="4"/>
                  </a:cxn>
                  <a:cxn ang="0">
                    <a:pos x="20" y="4"/>
                  </a:cxn>
                  <a:cxn ang="0">
                    <a:pos x="12" y="2"/>
                  </a:cxn>
                  <a:cxn ang="0">
                    <a:pos x="4" y="0"/>
                  </a:cxn>
                </a:cxnLst>
                <a:rect l="0" t="0" r="r" b="b"/>
                <a:pathLst>
                  <a:path w="38" h="12">
                    <a:moveTo>
                      <a:pt x="4" y="0"/>
                    </a:moveTo>
                    <a:lnTo>
                      <a:pt x="4" y="0"/>
                    </a:lnTo>
                    <a:lnTo>
                      <a:pt x="0" y="2"/>
                    </a:lnTo>
                    <a:lnTo>
                      <a:pt x="0" y="4"/>
                    </a:lnTo>
                    <a:lnTo>
                      <a:pt x="10" y="8"/>
                    </a:lnTo>
                    <a:lnTo>
                      <a:pt x="14" y="8"/>
                    </a:lnTo>
                    <a:lnTo>
                      <a:pt x="18" y="10"/>
                    </a:lnTo>
                    <a:lnTo>
                      <a:pt x="20" y="12"/>
                    </a:lnTo>
                    <a:lnTo>
                      <a:pt x="24" y="12"/>
                    </a:lnTo>
                    <a:lnTo>
                      <a:pt x="26" y="10"/>
                    </a:lnTo>
                    <a:lnTo>
                      <a:pt x="30" y="10"/>
                    </a:lnTo>
                    <a:lnTo>
                      <a:pt x="32" y="10"/>
                    </a:lnTo>
                    <a:lnTo>
                      <a:pt x="36" y="10"/>
                    </a:lnTo>
                    <a:lnTo>
                      <a:pt x="38" y="8"/>
                    </a:lnTo>
                    <a:lnTo>
                      <a:pt x="36" y="6"/>
                    </a:lnTo>
                    <a:lnTo>
                      <a:pt x="32" y="6"/>
                    </a:lnTo>
                    <a:lnTo>
                      <a:pt x="32" y="2"/>
                    </a:lnTo>
                    <a:lnTo>
                      <a:pt x="30" y="2"/>
                    </a:lnTo>
                    <a:lnTo>
                      <a:pt x="30" y="4"/>
                    </a:lnTo>
                    <a:lnTo>
                      <a:pt x="20" y="4"/>
                    </a:lnTo>
                    <a:lnTo>
                      <a:pt x="12" y="2"/>
                    </a:lnTo>
                    <a:lnTo>
                      <a:pt x="4"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19" name="Freeform 505">
                <a:extLst>
                  <a:ext uri="{FF2B5EF4-FFF2-40B4-BE49-F238E27FC236}">
                    <a16:creationId xmlns:a16="http://schemas.microsoft.com/office/drawing/2014/main" id="{4A1F6B60-E741-D9E1-0EC8-3DFC6B7C7FB8}"/>
                  </a:ext>
                </a:extLst>
              </p:cNvPr>
              <p:cNvSpPr>
                <a:spLocks/>
              </p:cNvSpPr>
              <p:nvPr/>
            </p:nvSpPr>
            <p:spPr bwMode="auto">
              <a:xfrm>
                <a:off x="4908863" y="3441431"/>
                <a:ext cx="7779" cy="17293"/>
              </a:xfrm>
              <a:custGeom>
                <a:avLst/>
                <a:gdLst/>
                <a:ahLst/>
                <a:cxnLst>
                  <a:cxn ang="0">
                    <a:pos x="0" y="10"/>
                  </a:cxn>
                  <a:cxn ang="0">
                    <a:pos x="0" y="10"/>
                  </a:cxn>
                  <a:cxn ang="0">
                    <a:pos x="0" y="6"/>
                  </a:cxn>
                  <a:cxn ang="0">
                    <a:pos x="0" y="2"/>
                  </a:cxn>
                  <a:cxn ang="0">
                    <a:pos x="2" y="2"/>
                  </a:cxn>
                  <a:cxn ang="0">
                    <a:pos x="4" y="0"/>
                  </a:cxn>
                  <a:cxn ang="0">
                    <a:pos x="4" y="2"/>
                  </a:cxn>
                  <a:cxn ang="0">
                    <a:pos x="6" y="4"/>
                  </a:cxn>
                  <a:cxn ang="0">
                    <a:pos x="8" y="6"/>
                  </a:cxn>
                  <a:cxn ang="0">
                    <a:pos x="8" y="10"/>
                  </a:cxn>
                  <a:cxn ang="0">
                    <a:pos x="6" y="12"/>
                  </a:cxn>
                  <a:cxn ang="0">
                    <a:pos x="6" y="16"/>
                  </a:cxn>
                  <a:cxn ang="0">
                    <a:pos x="8" y="18"/>
                  </a:cxn>
                  <a:cxn ang="0">
                    <a:pos x="2" y="16"/>
                  </a:cxn>
                  <a:cxn ang="0">
                    <a:pos x="0" y="14"/>
                  </a:cxn>
                  <a:cxn ang="0">
                    <a:pos x="0" y="12"/>
                  </a:cxn>
                  <a:cxn ang="0">
                    <a:pos x="0" y="10"/>
                  </a:cxn>
                  <a:cxn ang="0">
                    <a:pos x="0" y="10"/>
                  </a:cxn>
                </a:cxnLst>
                <a:rect l="0" t="0" r="r" b="b"/>
                <a:pathLst>
                  <a:path w="8" h="18">
                    <a:moveTo>
                      <a:pt x="0" y="10"/>
                    </a:moveTo>
                    <a:lnTo>
                      <a:pt x="0" y="10"/>
                    </a:lnTo>
                    <a:lnTo>
                      <a:pt x="0" y="6"/>
                    </a:lnTo>
                    <a:lnTo>
                      <a:pt x="0" y="2"/>
                    </a:lnTo>
                    <a:lnTo>
                      <a:pt x="2" y="2"/>
                    </a:lnTo>
                    <a:lnTo>
                      <a:pt x="4" y="0"/>
                    </a:lnTo>
                    <a:lnTo>
                      <a:pt x="4" y="2"/>
                    </a:lnTo>
                    <a:lnTo>
                      <a:pt x="6" y="4"/>
                    </a:lnTo>
                    <a:lnTo>
                      <a:pt x="8" y="6"/>
                    </a:lnTo>
                    <a:lnTo>
                      <a:pt x="8" y="10"/>
                    </a:lnTo>
                    <a:lnTo>
                      <a:pt x="6" y="12"/>
                    </a:lnTo>
                    <a:lnTo>
                      <a:pt x="6" y="16"/>
                    </a:lnTo>
                    <a:lnTo>
                      <a:pt x="8" y="18"/>
                    </a:lnTo>
                    <a:lnTo>
                      <a:pt x="2" y="16"/>
                    </a:lnTo>
                    <a:lnTo>
                      <a:pt x="0" y="14"/>
                    </a:lnTo>
                    <a:lnTo>
                      <a:pt x="0" y="12"/>
                    </a:lnTo>
                    <a:lnTo>
                      <a:pt x="0" y="10"/>
                    </a:lnTo>
                    <a:lnTo>
                      <a:pt x="0" y="1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20" name="Freeform 506">
                <a:extLst>
                  <a:ext uri="{FF2B5EF4-FFF2-40B4-BE49-F238E27FC236}">
                    <a16:creationId xmlns:a16="http://schemas.microsoft.com/office/drawing/2014/main" id="{A8E1687B-DE85-9687-14A0-FC350742F28E}"/>
                  </a:ext>
                </a:extLst>
              </p:cNvPr>
              <p:cNvSpPr>
                <a:spLocks/>
              </p:cNvSpPr>
              <p:nvPr/>
            </p:nvSpPr>
            <p:spPr bwMode="auto">
              <a:xfrm>
                <a:off x="5198622" y="3512522"/>
                <a:ext cx="23336" cy="17293"/>
              </a:xfrm>
              <a:custGeom>
                <a:avLst/>
                <a:gdLst/>
                <a:ahLst/>
                <a:cxnLst>
                  <a:cxn ang="0">
                    <a:pos x="24" y="6"/>
                  </a:cxn>
                  <a:cxn ang="0">
                    <a:pos x="24" y="6"/>
                  </a:cxn>
                  <a:cxn ang="0">
                    <a:pos x="22" y="4"/>
                  </a:cxn>
                  <a:cxn ang="0">
                    <a:pos x="16" y="2"/>
                  </a:cxn>
                  <a:cxn ang="0">
                    <a:pos x="12" y="0"/>
                  </a:cxn>
                  <a:cxn ang="0">
                    <a:pos x="10" y="0"/>
                  </a:cxn>
                  <a:cxn ang="0">
                    <a:pos x="8" y="2"/>
                  </a:cxn>
                  <a:cxn ang="0">
                    <a:pos x="6" y="4"/>
                  </a:cxn>
                  <a:cxn ang="0">
                    <a:pos x="4" y="8"/>
                  </a:cxn>
                  <a:cxn ang="0">
                    <a:pos x="2" y="14"/>
                  </a:cxn>
                  <a:cxn ang="0">
                    <a:pos x="0" y="16"/>
                  </a:cxn>
                  <a:cxn ang="0">
                    <a:pos x="2" y="16"/>
                  </a:cxn>
                  <a:cxn ang="0">
                    <a:pos x="4" y="18"/>
                  </a:cxn>
                  <a:cxn ang="0">
                    <a:pos x="6" y="18"/>
                  </a:cxn>
                  <a:cxn ang="0">
                    <a:pos x="6" y="16"/>
                  </a:cxn>
                  <a:cxn ang="0">
                    <a:pos x="8" y="16"/>
                  </a:cxn>
                  <a:cxn ang="0">
                    <a:pos x="12" y="16"/>
                  </a:cxn>
                  <a:cxn ang="0">
                    <a:pos x="14" y="18"/>
                  </a:cxn>
                  <a:cxn ang="0">
                    <a:pos x="14" y="16"/>
                  </a:cxn>
                  <a:cxn ang="0">
                    <a:pos x="18" y="14"/>
                  </a:cxn>
                  <a:cxn ang="0">
                    <a:pos x="22" y="10"/>
                  </a:cxn>
                  <a:cxn ang="0">
                    <a:pos x="24" y="6"/>
                  </a:cxn>
                </a:cxnLst>
                <a:rect l="0" t="0" r="r" b="b"/>
                <a:pathLst>
                  <a:path w="24" h="18">
                    <a:moveTo>
                      <a:pt x="24" y="6"/>
                    </a:moveTo>
                    <a:lnTo>
                      <a:pt x="24" y="6"/>
                    </a:lnTo>
                    <a:lnTo>
                      <a:pt x="22" y="4"/>
                    </a:lnTo>
                    <a:lnTo>
                      <a:pt x="16" y="2"/>
                    </a:lnTo>
                    <a:lnTo>
                      <a:pt x="12" y="0"/>
                    </a:lnTo>
                    <a:lnTo>
                      <a:pt x="10" y="0"/>
                    </a:lnTo>
                    <a:lnTo>
                      <a:pt x="8" y="2"/>
                    </a:lnTo>
                    <a:lnTo>
                      <a:pt x="6" y="4"/>
                    </a:lnTo>
                    <a:lnTo>
                      <a:pt x="4" y="8"/>
                    </a:lnTo>
                    <a:lnTo>
                      <a:pt x="2" y="14"/>
                    </a:lnTo>
                    <a:lnTo>
                      <a:pt x="0" y="16"/>
                    </a:lnTo>
                    <a:lnTo>
                      <a:pt x="2" y="16"/>
                    </a:lnTo>
                    <a:lnTo>
                      <a:pt x="4" y="18"/>
                    </a:lnTo>
                    <a:lnTo>
                      <a:pt x="6" y="18"/>
                    </a:lnTo>
                    <a:lnTo>
                      <a:pt x="6" y="16"/>
                    </a:lnTo>
                    <a:lnTo>
                      <a:pt x="8" y="16"/>
                    </a:lnTo>
                    <a:lnTo>
                      <a:pt x="12" y="16"/>
                    </a:lnTo>
                    <a:lnTo>
                      <a:pt x="14" y="18"/>
                    </a:lnTo>
                    <a:lnTo>
                      <a:pt x="14" y="16"/>
                    </a:lnTo>
                    <a:lnTo>
                      <a:pt x="18" y="14"/>
                    </a:lnTo>
                    <a:lnTo>
                      <a:pt x="22" y="10"/>
                    </a:lnTo>
                    <a:lnTo>
                      <a:pt x="24" y="6"/>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21" name="Freeform 507">
                <a:extLst>
                  <a:ext uri="{FF2B5EF4-FFF2-40B4-BE49-F238E27FC236}">
                    <a16:creationId xmlns:a16="http://schemas.microsoft.com/office/drawing/2014/main" id="{3AA0150A-71A2-5DE2-B27B-42DDDFCAA712}"/>
                  </a:ext>
                </a:extLst>
              </p:cNvPr>
              <p:cNvSpPr>
                <a:spLocks/>
              </p:cNvSpPr>
              <p:nvPr/>
            </p:nvSpPr>
            <p:spPr bwMode="auto">
              <a:xfrm>
                <a:off x="5198622" y="3512522"/>
                <a:ext cx="23336" cy="17293"/>
              </a:xfrm>
              <a:custGeom>
                <a:avLst/>
                <a:gdLst/>
                <a:ahLst/>
                <a:cxnLst>
                  <a:cxn ang="0">
                    <a:pos x="24" y="6"/>
                  </a:cxn>
                  <a:cxn ang="0">
                    <a:pos x="24" y="6"/>
                  </a:cxn>
                  <a:cxn ang="0">
                    <a:pos x="22" y="4"/>
                  </a:cxn>
                  <a:cxn ang="0">
                    <a:pos x="16" y="2"/>
                  </a:cxn>
                  <a:cxn ang="0">
                    <a:pos x="12" y="0"/>
                  </a:cxn>
                  <a:cxn ang="0">
                    <a:pos x="10" y="0"/>
                  </a:cxn>
                  <a:cxn ang="0">
                    <a:pos x="8" y="2"/>
                  </a:cxn>
                  <a:cxn ang="0">
                    <a:pos x="6" y="4"/>
                  </a:cxn>
                  <a:cxn ang="0">
                    <a:pos x="4" y="8"/>
                  </a:cxn>
                  <a:cxn ang="0">
                    <a:pos x="2" y="14"/>
                  </a:cxn>
                  <a:cxn ang="0">
                    <a:pos x="0" y="16"/>
                  </a:cxn>
                  <a:cxn ang="0">
                    <a:pos x="2" y="16"/>
                  </a:cxn>
                  <a:cxn ang="0">
                    <a:pos x="4" y="18"/>
                  </a:cxn>
                  <a:cxn ang="0">
                    <a:pos x="6" y="18"/>
                  </a:cxn>
                  <a:cxn ang="0">
                    <a:pos x="6" y="16"/>
                  </a:cxn>
                  <a:cxn ang="0">
                    <a:pos x="8" y="16"/>
                  </a:cxn>
                  <a:cxn ang="0">
                    <a:pos x="12" y="16"/>
                  </a:cxn>
                  <a:cxn ang="0">
                    <a:pos x="14" y="18"/>
                  </a:cxn>
                  <a:cxn ang="0">
                    <a:pos x="14" y="16"/>
                  </a:cxn>
                  <a:cxn ang="0">
                    <a:pos x="18" y="14"/>
                  </a:cxn>
                  <a:cxn ang="0">
                    <a:pos x="22" y="10"/>
                  </a:cxn>
                  <a:cxn ang="0">
                    <a:pos x="24" y="6"/>
                  </a:cxn>
                </a:cxnLst>
                <a:rect l="0" t="0" r="r" b="b"/>
                <a:pathLst>
                  <a:path w="24" h="18">
                    <a:moveTo>
                      <a:pt x="24" y="6"/>
                    </a:moveTo>
                    <a:lnTo>
                      <a:pt x="24" y="6"/>
                    </a:lnTo>
                    <a:lnTo>
                      <a:pt x="22" y="4"/>
                    </a:lnTo>
                    <a:lnTo>
                      <a:pt x="16" y="2"/>
                    </a:lnTo>
                    <a:lnTo>
                      <a:pt x="12" y="0"/>
                    </a:lnTo>
                    <a:lnTo>
                      <a:pt x="10" y="0"/>
                    </a:lnTo>
                    <a:lnTo>
                      <a:pt x="8" y="2"/>
                    </a:lnTo>
                    <a:lnTo>
                      <a:pt x="6" y="4"/>
                    </a:lnTo>
                    <a:lnTo>
                      <a:pt x="4" y="8"/>
                    </a:lnTo>
                    <a:lnTo>
                      <a:pt x="2" y="14"/>
                    </a:lnTo>
                    <a:lnTo>
                      <a:pt x="0" y="16"/>
                    </a:lnTo>
                    <a:lnTo>
                      <a:pt x="2" y="16"/>
                    </a:lnTo>
                    <a:lnTo>
                      <a:pt x="4" y="18"/>
                    </a:lnTo>
                    <a:lnTo>
                      <a:pt x="6" y="18"/>
                    </a:lnTo>
                    <a:lnTo>
                      <a:pt x="6" y="16"/>
                    </a:lnTo>
                    <a:lnTo>
                      <a:pt x="8" y="16"/>
                    </a:lnTo>
                    <a:lnTo>
                      <a:pt x="12" y="16"/>
                    </a:lnTo>
                    <a:lnTo>
                      <a:pt x="14" y="18"/>
                    </a:lnTo>
                    <a:lnTo>
                      <a:pt x="14" y="16"/>
                    </a:lnTo>
                    <a:lnTo>
                      <a:pt x="18" y="14"/>
                    </a:lnTo>
                    <a:lnTo>
                      <a:pt x="22" y="10"/>
                    </a:lnTo>
                    <a:lnTo>
                      <a:pt x="24" y="6"/>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22" name="Freeform 508">
                <a:extLst>
                  <a:ext uri="{FF2B5EF4-FFF2-40B4-BE49-F238E27FC236}">
                    <a16:creationId xmlns:a16="http://schemas.microsoft.com/office/drawing/2014/main" id="{986AD53F-35BB-D645-D70D-D5669C0476CD}"/>
                  </a:ext>
                </a:extLst>
              </p:cNvPr>
              <p:cNvSpPr>
                <a:spLocks/>
              </p:cNvSpPr>
              <p:nvPr/>
            </p:nvSpPr>
            <p:spPr bwMode="auto">
              <a:xfrm>
                <a:off x="5175285" y="3466409"/>
                <a:ext cx="46673" cy="61484"/>
              </a:xfrm>
              <a:custGeom>
                <a:avLst/>
                <a:gdLst/>
                <a:ahLst/>
                <a:cxnLst>
                  <a:cxn ang="0">
                    <a:pos x="24" y="64"/>
                  </a:cxn>
                  <a:cxn ang="0">
                    <a:pos x="24" y="64"/>
                  </a:cxn>
                  <a:cxn ang="0">
                    <a:pos x="28" y="62"/>
                  </a:cxn>
                  <a:cxn ang="0">
                    <a:pos x="30" y="56"/>
                  </a:cxn>
                  <a:cxn ang="0">
                    <a:pos x="32" y="52"/>
                  </a:cxn>
                  <a:cxn ang="0">
                    <a:pos x="32" y="50"/>
                  </a:cxn>
                  <a:cxn ang="0">
                    <a:pos x="34" y="48"/>
                  </a:cxn>
                  <a:cxn ang="0">
                    <a:pos x="36" y="48"/>
                  </a:cxn>
                  <a:cxn ang="0">
                    <a:pos x="40" y="50"/>
                  </a:cxn>
                  <a:cxn ang="0">
                    <a:pos x="46" y="52"/>
                  </a:cxn>
                  <a:cxn ang="0">
                    <a:pos x="48" y="54"/>
                  </a:cxn>
                  <a:cxn ang="0">
                    <a:pos x="40" y="42"/>
                  </a:cxn>
                  <a:cxn ang="0">
                    <a:pos x="38" y="40"/>
                  </a:cxn>
                  <a:cxn ang="0">
                    <a:pos x="36" y="38"/>
                  </a:cxn>
                  <a:cxn ang="0">
                    <a:pos x="36" y="34"/>
                  </a:cxn>
                  <a:cxn ang="0">
                    <a:pos x="36" y="30"/>
                  </a:cxn>
                  <a:cxn ang="0">
                    <a:pos x="34" y="26"/>
                  </a:cxn>
                  <a:cxn ang="0">
                    <a:pos x="32" y="24"/>
                  </a:cxn>
                  <a:cxn ang="0">
                    <a:pos x="32" y="20"/>
                  </a:cxn>
                  <a:cxn ang="0">
                    <a:pos x="32" y="14"/>
                  </a:cxn>
                  <a:cxn ang="0">
                    <a:pos x="28" y="10"/>
                  </a:cxn>
                  <a:cxn ang="0">
                    <a:pos x="22" y="6"/>
                  </a:cxn>
                  <a:cxn ang="0">
                    <a:pos x="16" y="2"/>
                  </a:cxn>
                  <a:cxn ang="0">
                    <a:pos x="12" y="0"/>
                  </a:cxn>
                  <a:cxn ang="0">
                    <a:pos x="8" y="2"/>
                  </a:cxn>
                  <a:cxn ang="0">
                    <a:pos x="4" y="2"/>
                  </a:cxn>
                  <a:cxn ang="0">
                    <a:pos x="0" y="4"/>
                  </a:cxn>
                  <a:cxn ang="0">
                    <a:pos x="0" y="6"/>
                  </a:cxn>
                  <a:cxn ang="0">
                    <a:pos x="4" y="8"/>
                  </a:cxn>
                  <a:cxn ang="0">
                    <a:pos x="10" y="16"/>
                  </a:cxn>
                  <a:cxn ang="0">
                    <a:pos x="10" y="20"/>
                  </a:cxn>
                  <a:cxn ang="0">
                    <a:pos x="14" y="24"/>
                  </a:cxn>
                  <a:cxn ang="0">
                    <a:pos x="18" y="30"/>
                  </a:cxn>
                  <a:cxn ang="0">
                    <a:pos x="20" y="34"/>
                  </a:cxn>
                  <a:cxn ang="0">
                    <a:pos x="20" y="36"/>
                  </a:cxn>
                  <a:cxn ang="0">
                    <a:pos x="20" y="38"/>
                  </a:cxn>
                  <a:cxn ang="0">
                    <a:pos x="20" y="40"/>
                  </a:cxn>
                  <a:cxn ang="0">
                    <a:pos x="20" y="42"/>
                  </a:cxn>
                  <a:cxn ang="0">
                    <a:pos x="22" y="44"/>
                  </a:cxn>
                  <a:cxn ang="0">
                    <a:pos x="20" y="46"/>
                  </a:cxn>
                  <a:cxn ang="0">
                    <a:pos x="20" y="48"/>
                  </a:cxn>
                  <a:cxn ang="0">
                    <a:pos x="20" y="54"/>
                  </a:cxn>
                  <a:cxn ang="0">
                    <a:pos x="20" y="56"/>
                  </a:cxn>
                  <a:cxn ang="0">
                    <a:pos x="22" y="58"/>
                  </a:cxn>
                  <a:cxn ang="0">
                    <a:pos x="20" y="60"/>
                  </a:cxn>
                  <a:cxn ang="0">
                    <a:pos x="20" y="62"/>
                  </a:cxn>
                  <a:cxn ang="0">
                    <a:pos x="22" y="64"/>
                  </a:cxn>
                  <a:cxn ang="0">
                    <a:pos x="24" y="64"/>
                  </a:cxn>
                  <a:cxn ang="0">
                    <a:pos x="24" y="64"/>
                  </a:cxn>
                </a:cxnLst>
                <a:rect l="0" t="0" r="r" b="b"/>
                <a:pathLst>
                  <a:path w="48" h="64">
                    <a:moveTo>
                      <a:pt x="24" y="64"/>
                    </a:moveTo>
                    <a:lnTo>
                      <a:pt x="24" y="64"/>
                    </a:lnTo>
                    <a:lnTo>
                      <a:pt x="28" y="62"/>
                    </a:lnTo>
                    <a:lnTo>
                      <a:pt x="30" y="56"/>
                    </a:lnTo>
                    <a:lnTo>
                      <a:pt x="32" y="52"/>
                    </a:lnTo>
                    <a:lnTo>
                      <a:pt x="32" y="50"/>
                    </a:lnTo>
                    <a:lnTo>
                      <a:pt x="34" y="48"/>
                    </a:lnTo>
                    <a:lnTo>
                      <a:pt x="36" y="48"/>
                    </a:lnTo>
                    <a:lnTo>
                      <a:pt x="40" y="50"/>
                    </a:lnTo>
                    <a:lnTo>
                      <a:pt x="46" y="52"/>
                    </a:lnTo>
                    <a:lnTo>
                      <a:pt x="48" y="54"/>
                    </a:lnTo>
                    <a:lnTo>
                      <a:pt x="40" y="42"/>
                    </a:lnTo>
                    <a:lnTo>
                      <a:pt x="38" y="40"/>
                    </a:lnTo>
                    <a:lnTo>
                      <a:pt x="36" y="38"/>
                    </a:lnTo>
                    <a:lnTo>
                      <a:pt x="36" y="34"/>
                    </a:lnTo>
                    <a:lnTo>
                      <a:pt x="36" y="30"/>
                    </a:lnTo>
                    <a:lnTo>
                      <a:pt x="34" y="26"/>
                    </a:lnTo>
                    <a:lnTo>
                      <a:pt x="32" y="24"/>
                    </a:lnTo>
                    <a:lnTo>
                      <a:pt x="32" y="20"/>
                    </a:lnTo>
                    <a:lnTo>
                      <a:pt x="32" y="14"/>
                    </a:lnTo>
                    <a:lnTo>
                      <a:pt x="28" y="10"/>
                    </a:lnTo>
                    <a:lnTo>
                      <a:pt x="22" y="6"/>
                    </a:lnTo>
                    <a:lnTo>
                      <a:pt x="16" y="2"/>
                    </a:lnTo>
                    <a:lnTo>
                      <a:pt x="12" y="0"/>
                    </a:lnTo>
                    <a:lnTo>
                      <a:pt x="8" y="2"/>
                    </a:lnTo>
                    <a:lnTo>
                      <a:pt x="4" y="2"/>
                    </a:lnTo>
                    <a:lnTo>
                      <a:pt x="0" y="4"/>
                    </a:lnTo>
                    <a:lnTo>
                      <a:pt x="0" y="6"/>
                    </a:lnTo>
                    <a:lnTo>
                      <a:pt x="4" y="8"/>
                    </a:lnTo>
                    <a:lnTo>
                      <a:pt x="10" y="16"/>
                    </a:lnTo>
                    <a:lnTo>
                      <a:pt x="10" y="20"/>
                    </a:lnTo>
                    <a:lnTo>
                      <a:pt x="14" y="24"/>
                    </a:lnTo>
                    <a:lnTo>
                      <a:pt x="18" y="30"/>
                    </a:lnTo>
                    <a:lnTo>
                      <a:pt x="20" y="34"/>
                    </a:lnTo>
                    <a:lnTo>
                      <a:pt x="20" y="36"/>
                    </a:lnTo>
                    <a:lnTo>
                      <a:pt x="20" y="38"/>
                    </a:lnTo>
                    <a:lnTo>
                      <a:pt x="20" y="40"/>
                    </a:lnTo>
                    <a:lnTo>
                      <a:pt x="20" y="42"/>
                    </a:lnTo>
                    <a:lnTo>
                      <a:pt x="22" y="44"/>
                    </a:lnTo>
                    <a:lnTo>
                      <a:pt x="20" y="46"/>
                    </a:lnTo>
                    <a:lnTo>
                      <a:pt x="20" y="48"/>
                    </a:lnTo>
                    <a:lnTo>
                      <a:pt x="20" y="54"/>
                    </a:lnTo>
                    <a:lnTo>
                      <a:pt x="20" y="56"/>
                    </a:lnTo>
                    <a:lnTo>
                      <a:pt x="22" y="58"/>
                    </a:lnTo>
                    <a:lnTo>
                      <a:pt x="20" y="60"/>
                    </a:lnTo>
                    <a:lnTo>
                      <a:pt x="20" y="62"/>
                    </a:lnTo>
                    <a:lnTo>
                      <a:pt x="22" y="64"/>
                    </a:lnTo>
                    <a:lnTo>
                      <a:pt x="24" y="64"/>
                    </a:lnTo>
                    <a:lnTo>
                      <a:pt x="24" y="6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23" name="Freeform 509">
                <a:extLst>
                  <a:ext uri="{FF2B5EF4-FFF2-40B4-BE49-F238E27FC236}">
                    <a16:creationId xmlns:a16="http://schemas.microsoft.com/office/drawing/2014/main" id="{D4041607-378F-AD21-8516-85C9AC4EFF34}"/>
                  </a:ext>
                </a:extLst>
              </p:cNvPr>
              <p:cNvSpPr>
                <a:spLocks/>
              </p:cNvSpPr>
              <p:nvPr/>
            </p:nvSpPr>
            <p:spPr bwMode="auto">
              <a:xfrm>
                <a:off x="5101387" y="3285800"/>
                <a:ext cx="99179" cy="55720"/>
              </a:xfrm>
              <a:custGeom>
                <a:avLst/>
                <a:gdLst/>
                <a:ahLst/>
                <a:cxnLst>
                  <a:cxn ang="0">
                    <a:pos x="0" y="40"/>
                  </a:cxn>
                  <a:cxn ang="0">
                    <a:pos x="0" y="40"/>
                  </a:cxn>
                  <a:cxn ang="0">
                    <a:pos x="6" y="38"/>
                  </a:cxn>
                  <a:cxn ang="0">
                    <a:pos x="12" y="34"/>
                  </a:cxn>
                  <a:cxn ang="0">
                    <a:pos x="18" y="36"/>
                  </a:cxn>
                  <a:cxn ang="0">
                    <a:pos x="26" y="38"/>
                  </a:cxn>
                  <a:cxn ang="0">
                    <a:pos x="38" y="42"/>
                  </a:cxn>
                  <a:cxn ang="0">
                    <a:pos x="42" y="44"/>
                  </a:cxn>
                  <a:cxn ang="0">
                    <a:pos x="46" y="44"/>
                  </a:cxn>
                  <a:cxn ang="0">
                    <a:pos x="50" y="44"/>
                  </a:cxn>
                  <a:cxn ang="0">
                    <a:pos x="52" y="46"/>
                  </a:cxn>
                  <a:cxn ang="0">
                    <a:pos x="54" y="50"/>
                  </a:cxn>
                  <a:cxn ang="0">
                    <a:pos x="58" y="50"/>
                  </a:cxn>
                  <a:cxn ang="0">
                    <a:pos x="62" y="52"/>
                  </a:cxn>
                  <a:cxn ang="0">
                    <a:pos x="68" y="56"/>
                  </a:cxn>
                  <a:cxn ang="0">
                    <a:pos x="74" y="58"/>
                  </a:cxn>
                  <a:cxn ang="0">
                    <a:pos x="78" y="54"/>
                  </a:cxn>
                  <a:cxn ang="0">
                    <a:pos x="80" y="52"/>
                  </a:cxn>
                  <a:cxn ang="0">
                    <a:pos x="84" y="52"/>
                  </a:cxn>
                  <a:cxn ang="0">
                    <a:pos x="88" y="54"/>
                  </a:cxn>
                  <a:cxn ang="0">
                    <a:pos x="90" y="48"/>
                  </a:cxn>
                  <a:cxn ang="0">
                    <a:pos x="90" y="42"/>
                  </a:cxn>
                  <a:cxn ang="0">
                    <a:pos x="92" y="40"/>
                  </a:cxn>
                  <a:cxn ang="0">
                    <a:pos x="96" y="42"/>
                  </a:cxn>
                  <a:cxn ang="0">
                    <a:pos x="100" y="42"/>
                  </a:cxn>
                  <a:cxn ang="0">
                    <a:pos x="102" y="40"/>
                  </a:cxn>
                  <a:cxn ang="0">
                    <a:pos x="100" y="34"/>
                  </a:cxn>
                  <a:cxn ang="0">
                    <a:pos x="96" y="28"/>
                  </a:cxn>
                  <a:cxn ang="0">
                    <a:pos x="94" y="26"/>
                  </a:cxn>
                  <a:cxn ang="0">
                    <a:pos x="92" y="26"/>
                  </a:cxn>
                  <a:cxn ang="0">
                    <a:pos x="90" y="24"/>
                  </a:cxn>
                  <a:cxn ang="0">
                    <a:pos x="90" y="14"/>
                  </a:cxn>
                  <a:cxn ang="0">
                    <a:pos x="86" y="16"/>
                  </a:cxn>
                  <a:cxn ang="0">
                    <a:pos x="84" y="16"/>
                  </a:cxn>
                  <a:cxn ang="0">
                    <a:pos x="82" y="14"/>
                  </a:cxn>
                  <a:cxn ang="0">
                    <a:pos x="82" y="10"/>
                  </a:cxn>
                  <a:cxn ang="0">
                    <a:pos x="80" y="10"/>
                  </a:cxn>
                  <a:cxn ang="0">
                    <a:pos x="74" y="12"/>
                  </a:cxn>
                  <a:cxn ang="0">
                    <a:pos x="70" y="6"/>
                  </a:cxn>
                  <a:cxn ang="0">
                    <a:pos x="66" y="6"/>
                  </a:cxn>
                  <a:cxn ang="0">
                    <a:pos x="66" y="4"/>
                  </a:cxn>
                  <a:cxn ang="0">
                    <a:pos x="62" y="2"/>
                  </a:cxn>
                  <a:cxn ang="0">
                    <a:pos x="56" y="0"/>
                  </a:cxn>
                  <a:cxn ang="0">
                    <a:pos x="52" y="0"/>
                  </a:cxn>
                  <a:cxn ang="0">
                    <a:pos x="52" y="2"/>
                  </a:cxn>
                  <a:cxn ang="0">
                    <a:pos x="48" y="2"/>
                  </a:cxn>
                  <a:cxn ang="0">
                    <a:pos x="42" y="2"/>
                  </a:cxn>
                  <a:cxn ang="0">
                    <a:pos x="42" y="8"/>
                  </a:cxn>
                  <a:cxn ang="0">
                    <a:pos x="44" y="18"/>
                  </a:cxn>
                  <a:cxn ang="0">
                    <a:pos x="36" y="22"/>
                  </a:cxn>
                  <a:cxn ang="0">
                    <a:pos x="32" y="22"/>
                  </a:cxn>
                  <a:cxn ang="0">
                    <a:pos x="28" y="20"/>
                  </a:cxn>
                  <a:cxn ang="0">
                    <a:pos x="20" y="12"/>
                  </a:cxn>
                  <a:cxn ang="0">
                    <a:pos x="20" y="10"/>
                  </a:cxn>
                  <a:cxn ang="0">
                    <a:pos x="22" y="10"/>
                  </a:cxn>
                  <a:cxn ang="0">
                    <a:pos x="22" y="6"/>
                  </a:cxn>
                  <a:cxn ang="0">
                    <a:pos x="20" y="6"/>
                  </a:cxn>
                  <a:cxn ang="0">
                    <a:pos x="18" y="8"/>
                  </a:cxn>
                  <a:cxn ang="0">
                    <a:pos x="12" y="10"/>
                  </a:cxn>
                  <a:cxn ang="0">
                    <a:pos x="10" y="16"/>
                  </a:cxn>
                  <a:cxn ang="0">
                    <a:pos x="2" y="28"/>
                  </a:cxn>
                  <a:cxn ang="0">
                    <a:pos x="0" y="40"/>
                  </a:cxn>
                  <a:cxn ang="0">
                    <a:pos x="0" y="40"/>
                  </a:cxn>
                </a:cxnLst>
                <a:rect l="0" t="0" r="r" b="b"/>
                <a:pathLst>
                  <a:path w="102" h="58">
                    <a:moveTo>
                      <a:pt x="0" y="40"/>
                    </a:moveTo>
                    <a:lnTo>
                      <a:pt x="0" y="40"/>
                    </a:lnTo>
                    <a:lnTo>
                      <a:pt x="6" y="38"/>
                    </a:lnTo>
                    <a:lnTo>
                      <a:pt x="12" y="34"/>
                    </a:lnTo>
                    <a:lnTo>
                      <a:pt x="18" y="36"/>
                    </a:lnTo>
                    <a:lnTo>
                      <a:pt x="26" y="38"/>
                    </a:lnTo>
                    <a:lnTo>
                      <a:pt x="38" y="42"/>
                    </a:lnTo>
                    <a:lnTo>
                      <a:pt x="42" y="44"/>
                    </a:lnTo>
                    <a:lnTo>
                      <a:pt x="46" y="44"/>
                    </a:lnTo>
                    <a:lnTo>
                      <a:pt x="50" y="44"/>
                    </a:lnTo>
                    <a:lnTo>
                      <a:pt x="52" y="46"/>
                    </a:lnTo>
                    <a:lnTo>
                      <a:pt x="54" y="50"/>
                    </a:lnTo>
                    <a:lnTo>
                      <a:pt x="58" y="50"/>
                    </a:lnTo>
                    <a:lnTo>
                      <a:pt x="62" y="52"/>
                    </a:lnTo>
                    <a:lnTo>
                      <a:pt x="68" y="56"/>
                    </a:lnTo>
                    <a:lnTo>
                      <a:pt x="74" y="58"/>
                    </a:lnTo>
                    <a:lnTo>
                      <a:pt x="78" y="54"/>
                    </a:lnTo>
                    <a:lnTo>
                      <a:pt x="80" y="52"/>
                    </a:lnTo>
                    <a:lnTo>
                      <a:pt x="84" y="52"/>
                    </a:lnTo>
                    <a:lnTo>
                      <a:pt x="88" y="54"/>
                    </a:lnTo>
                    <a:lnTo>
                      <a:pt x="90" y="48"/>
                    </a:lnTo>
                    <a:lnTo>
                      <a:pt x="90" y="42"/>
                    </a:lnTo>
                    <a:lnTo>
                      <a:pt x="92" y="40"/>
                    </a:lnTo>
                    <a:lnTo>
                      <a:pt x="96" y="42"/>
                    </a:lnTo>
                    <a:lnTo>
                      <a:pt x="100" y="42"/>
                    </a:lnTo>
                    <a:lnTo>
                      <a:pt x="102" y="40"/>
                    </a:lnTo>
                    <a:lnTo>
                      <a:pt x="100" y="34"/>
                    </a:lnTo>
                    <a:lnTo>
                      <a:pt x="96" y="28"/>
                    </a:lnTo>
                    <a:lnTo>
                      <a:pt x="94" y="26"/>
                    </a:lnTo>
                    <a:lnTo>
                      <a:pt x="92" y="26"/>
                    </a:lnTo>
                    <a:lnTo>
                      <a:pt x="90" y="24"/>
                    </a:lnTo>
                    <a:lnTo>
                      <a:pt x="90" y="14"/>
                    </a:lnTo>
                    <a:lnTo>
                      <a:pt x="86" y="16"/>
                    </a:lnTo>
                    <a:lnTo>
                      <a:pt x="84" y="16"/>
                    </a:lnTo>
                    <a:lnTo>
                      <a:pt x="82" y="14"/>
                    </a:lnTo>
                    <a:lnTo>
                      <a:pt x="82" y="10"/>
                    </a:lnTo>
                    <a:lnTo>
                      <a:pt x="80" y="10"/>
                    </a:lnTo>
                    <a:lnTo>
                      <a:pt x="74" y="12"/>
                    </a:lnTo>
                    <a:lnTo>
                      <a:pt x="70" y="6"/>
                    </a:lnTo>
                    <a:lnTo>
                      <a:pt x="66" y="6"/>
                    </a:lnTo>
                    <a:lnTo>
                      <a:pt x="66" y="4"/>
                    </a:lnTo>
                    <a:lnTo>
                      <a:pt x="62" y="2"/>
                    </a:lnTo>
                    <a:lnTo>
                      <a:pt x="56" y="0"/>
                    </a:lnTo>
                    <a:lnTo>
                      <a:pt x="52" y="0"/>
                    </a:lnTo>
                    <a:lnTo>
                      <a:pt x="52" y="2"/>
                    </a:lnTo>
                    <a:lnTo>
                      <a:pt x="48" y="2"/>
                    </a:lnTo>
                    <a:lnTo>
                      <a:pt x="42" y="2"/>
                    </a:lnTo>
                    <a:lnTo>
                      <a:pt x="42" y="8"/>
                    </a:lnTo>
                    <a:lnTo>
                      <a:pt x="44" y="18"/>
                    </a:lnTo>
                    <a:lnTo>
                      <a:pt x="36" y="22"/>
                    </a:lnTo>
                    <a:lnTo>
                      <a:pt x="32" y="22"/>
                    </a:lnTo>
                    <a:lnTo>
                      <a:pt x="28" y="20"/>
                    </a:lnTo>
                    <a:lnTo>
                      <a:pt x="20" y="12"/>
                    </a:lnTo>
                    <a:lnTo>
                      <a:pt x="20" y="10"/>
                    </a:lnTo>
                    <a:lnTo>
                      <a:pt x="22" y="10"/>
                    </a:lnTo>
                    <a:lnTo>
                      <a:pt x="22" y="6"/>
                    </a:lnTo>
                    <a:lnTo>
                      <a:pt x="20" y="6"/>
                    </a:lnTo>
                    <a:lnTo>
                      <a:pt x="18" y="8"/>
                    </a:lnTo>
                    <a:lnTo>
                      <a:pt x="12" y="10"/>
                    </a:lnTo>
                    <a:lnTo>
                      <a:pt x="10" y="16"/>
                    </a:lnTo>
                    <a:lnTo>
                      <a:pt x="2" y="28"/>
                    </a:lnTo>
                    <a:lnTo>
                      <a:pt x="0" y="40"/>
                    </a:lnTo>
                    <a:lnTo>
                      <a:pt x="0" y="4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24" name="Freeform 510">
                <a:extLst>
                  <a:ext uri="{FF2B5EF4-FFF2-40B4-BE49-F238E27FC236}">
                    <a16:creationId xmlns:a16="http://schemas.microsoft.com/office/drawing/2014/main" id="{8825467A-4107-2FD8-21E4-0E4F01A0AB71}"/>
                  </a:ext>
                </a:extLst>
              </p:cNvPr>
              <p:cNvSpPr>
                <a:spLocks/>
              </p:cNvSpPr>
              <p:nvPr/>
            </p:nvSpPr>
            <p:spPr bwMode="auto">
              <a:xfrm>
                <a:off x="4535481" y="3105191"/>
                <a:ext cx="99179" cy="67248"/>
              </a:xfrm>
              <a:custGeom>
                <a:avLst/>
                <a:gdLst/>
                <a:ahLst/>
                <a:cxnLst>
                  <a:cxn ang="0">
                    <a:pos x="74" y="0"/>
                  </a:cxn>
                  <a:cxn ang="0">
                    <a:pos x="70" y="10"/>
                  </a:cxn>
                  <a:cxn ang="0">
                    <a:pos x="66" y="10"/>
                  </a:cxn>
                  <a:cxn ang="0">
                    <a:pos x="60" y="10"/>
                  </a:cxn>
                  <a:cxn ang="0">
                    <a:pos x="56" y="14"/>
                  </a:cxn>
                  <a:cxn ang="0">
                    <a:pos x="54" y="6"/>
                  </a:cxn>
                  <a:cxn ang="0">
                    <a:pos x="48" y="10"/>
                  </a:cxn>
                  <a:cxn ang="0">
                    <a:pos x="46" y="16"/>
                  </a:cxn>
                  <a:cxn ang="0">
                    <a:pos x="42" y="12"/>
                  </a:cxn>
                  <a:cxn ang="0">
                    <a:pos x="38" y="16"/>
                  </a:cxn>
                  <a:cxn ang="0">
                    <a:pos x="32" y="22"/>
                  </a:cxn>
                  <a:cxn ang="0">
                    <a:pos x="28" y="26"/>
                  </a:cxn>
                  <a:cxn ang="0">
                    <a:pos x="28" y="16"/>
                  </a:cxn>
                  <a:cxn ang="0">
                    <a:pos x="26" y="12"/>
                  </a:cxn>
                  <a:cxn ang="0">
                    <a:pos x="16" y="6"/>
                  </a:cxn>
                  <a:cxn ang="0">
                    <a:pos x="20" y="14"/>
                  </a:cxn>
                  <a:cxn ang="0">
                    <a:pos x="18" y="14"/>
                  </a:cxn>
                  <a:cxn ang="0">
                    <a:pos x="10" y="6"/>
                  </a:cxn>
                  <a:cxn ang="0">
                    <a:pos x="8" y="12"/>
                  </a:cxn>
                  <a:cxn ang="0">
                    <a:pos x="8" y="20"/>
                  </a:cxn>
                  <a:cxn ang="0">
                    <a:pos x="0" y="24"/>
                  </a:cxn>
                  <a:cxn ang="0">
                    <a:pos x="6" y="28"/>
                  </a:cxn>
                  <a:cxn ang="0">
                    <a:pos x="18" y="24"/>
                  </a:cxn>
                  <a:cxn ang="0">
                    <a:pos x="16" y="26"/>
                  </a:cxn>
                  <a:cxn ang="0">
                    <a:pos x="20" y="32"/>
                  </a:cxn>
                  <a:cxn ang="0">
                    <a:pos x="12" y="34"/>
                  </a:cxn>
                  <a:cxn ang="0">
                    <a:pos x="4" y="38"/>
                  </a:cxn>
                  <a:cxn ang="0">
                    <a:pos x="10" y="38"/>
                  </a:cxn>
                  <a:cxn ang="0">
                    <a:pos x="22" y="44"/>
                  </a:cxn>
                  <a:cxn ang="0">
                    <a:pos x="22" y="54"/>
                  </a:cxn>
                  <a:cxn ang="0">
                    <a:pos x="14" y="58"/>
                  </a:cxn>
                  <a:cxn ang="0">
                    <a:pos x="30" y="58"/>
                  </a:cxn>
                  <a:cxn ang="0">
                    <a:pos x="34" y="60"/>
                  </a:cxn>
                  <a:cxn ang="0">
                    <a:pos x="38" y="68"/>
                  </a:cxn>
                  <a:cxn ang="0">
                    <a:pos x="50" y="70"/>
                  </a:cxn>
                  <a:cxn ang="0">
                    <a:pos x="56" y="68"/>
                  </a:cxn>
                  <a:cxn ang="0">
                    <a:pos x="60" y="62"/>
                  </a:cxn>
                  <a:cxn ang="0">
                    <a:pos x="62" y="58"/>
                  </a:cxn>
                  <a:cxn ang="0">
                    <a:pos x="68" y="56"/>
                  </a:cxn>
                  <a:cxn ang="0">
                    <a:pos x="78" y="52"/>
                  </a:cxn>
                  <a:cxn ang="0">
                    <a:pos x="88" y="46"/>
                  </a:cxn>
                  <a:cxn ang="0">
                    <a:pos x="96" y="38"/>
                  </a:cxn>
                  <a:cxn ang="0">
                    <a:pos x="98" y="36"/>
                  </a:cxn>
                  <a:cxn ang="0">
                    <a:pos x="100" y="38"/>
                  </a:cxn>
                  <a:cxn ang="0">
                    <a:pos x="102" y="32"/>
                  </a:cxn>
                  <a:cxn ang="0">
                    <a:pos x="100" y="28"/>
                  </a:cxn>
                  <a:cxn ang="0">
                    <a:pos x="96" y="24"/>
                  </a:cxn>
                  <a:cxn ang="0">
                    <a:pos x="92" y="20"/>
                  </a:cxn>
                  <a:cxn ang="0">
                    <a:pos x="88" y="12"/>
                  </a:cxn>
                  <a:cxn ang="0">
                    <a:pos x="94" y="4"/>
                  </a:cxn>
                  <a:cxn ang="0">
                    <a:pos x="84" y="8"/>
                  </a:cxn>
                  <a:cxn ang="0">
                    <a:pos x="78" y="0"/>
                  </a:cxn>
                </a:cxnLst>
                <a:rect l="0" t="0" r="r" b="b"/>
                <a:pathLst>
                  <a:path w="102" h="70">
                    <a:moveTo>
                      <a:pt x="78" y="0"/>
                    </a:moveTo>
                    <a:lnTo>
                      <a:pt x="78" y="0"/>
                    </a:lnTo>
                    <a:lnTo>
                      <a:pt x="74" y="0"/>
                    </a:lnTo>
                    <a:lnTo>
                      <a:pt x="74" y="8"/>
                    </a:lnTo>
                    <a:lnTo>
                      <a:pt x="72" y="10"/>
                    </a:lnTo>
                    <a:lnTo>
                      <a:pt x="70" y="10"/>
                    </a:lnTo>
                    <a:lnTo>
                      <a:pt x="70" y="8"/>
                    </a:lnTo>
                    <a:lnTo>
                      <a:pt x="68" y="6"/>
                    </a:lnTo>
                    <a:lnTo>
                      <a:pt x="66" y="10"/>
                    </a:lnTo>
                    <a:lnTo>
                      <a:pt x="64" y="10"/>
                    </a:lnTo>
                    <a:lnTo>
                      <a:pt x="62" y="12"/>
                    </a:lnTo>
                    <a:lnTo>
                      <a:pt x="60" y="10"/>
                    </a:lnTo>
                    <a:lnTo>
                      <a:pt x="58" y="8"/>
                    </a:lnTo>
                    <a:lnTo>
                      <a:pt x="58" y="16"/>
                    </a:lnTo>
                    <a:lnTo>
                      <a:pt x="56" y="14"/>
                    </a:lnTo>
                    <a:lnTo>
                      <a:pt x="54" y="10"/>
                    </a:lnTo>
                    <a:lnTo>
                      <a:pt x="54" y="8"/>
                    </a:lnTo>
                    <a:lnTo>
                      <a:pt x="54" y="6"/>
                    </a:lnTo>
                    <a:lnTo>
                      <a:pt x="52" y="6"/>
                    </a:lnTo>
                    <a:lnTo>
                      <a:pt x="50" y="8"/>
                    </a:lnTo>
                    <a:lnTo>
                      <a:pt x="48" y="10"/>
                    </a:lnTo>
                    <a:lnTo>
                      <a:pt x="46" y="10"/>
                    </a:lnTo>
                    <a:lnTo>
                      <a:pt x="44" y="12"/>
                    </a:lnTo>
                    <a:lnTo>
                      <a:pt x="46" y="16"/>
                    </a:lnTo>
                    <a:lnTo>
                      <a:pt x="44" y="16"/>
                    </a:lnTo>
                    <a:lnTo>
                      <a:pt x="44" y="18"/>
                    </a:lnTo>
                    <a:lnTo>
                      <a:pt x="42" y="12"/>
                    </a:lnTo>
                    <a:lnTo>
                      <a:pt x="40" y="8"/>
                    </a:lnTo>
                    <a:lnTo>
                      <a:pt x="38" y="10"/>
                    </a:lnTo>
                    <a:lnTo>
                      <a:pt x="38" y="16"/>
                    </a:lnTo>
                    <a:lnTo>
                      <a:pt x="38" y="24"/>
                    </a:lnTo>
                    <a:lnTo>
                      <a:pt x="34" y="22"/>
                    </a:lnTo>
                    <a:lnTo>
                      <a:pt x="32" y="22"/>
                    </a:lnTo>
                    <a:lnTo>
                      <a:pt x="32" y="28"/>
                    </a:lnTo>
                    <a:lnTo>
                      <a:pt x="28" y="30"/>
                    </a:lnTo>
                    <a:lnTo>
                      <a:pt x="28" y="26"/>
                    </a:lnTo>
                    <a:lnTo>
                      <a:pt x="28" y="20"/>
                    </a:lnTo>
                    <a:lnTo>
                      <a:pt x="28" y="18"/>
                    </a:lnTo>
                    <a:lnTo>
                      <a:pt x="28" y="16"/>
                    </a:lnTo>
                    <a:lnTo>
                      <a:pt x="28" y="14"/>
                    </a:lnTo>
                    <a:lnTo>
                      <a:pt x="28" y="12"/>
                    </a:lnTo>
                    <a:lnTo>
                      <a:pt x="26" y="12"/>
                    </a:lnTo>
                    <a:lnTo>
                      <a:pt x="26" y="10"/>
                    </a:lnTo>
                    <a:lnTo>
                      <a:pt x="24" y="6"/>
                    </a:lnTo>
                    <a:lnTo>
                      <a:pt x="16" y="6"/>
                    </a:lnTo>
                    <a:lnTo>
                      <a:pt x="16" y="8"/>
                    </a:lnTo>
                    <a:lnTo>
                      <a:pt x="20" y="10"/>
                    </a:lnTo>
                    <a:lnTo>
                      <a:pt x="20" y="14"/>
                    </a:lnTo>
                    <a:lnTo>
                      <a:pt x="22" y="16"/>
                    </a:lnTo>
                    <a:lnTo>
                      <a:pt x="20" y="16"/>
                    </a:lnTo>
                    <a:lnTo>
                      <a:pt x="18" y="14"/>
                    </a:lnTo>
                    <a:lnTo>
                      <a:pt x="14" y="12"/>
                    </a:lnTo>
                    <a:lnTo>
                      <a:pt x="12" y="8"/>
                    </a:lnTo>
                    <a:lnTo>
                      <a:pt x="10" y="6"/>
                    </a:lnTo>
                    <a:lnTo>
                      <a:pt x="10" y="10"/>
                    </a:lnTo>
                    <a:lnTo>
                      <a:pt x="6" y="12"/>
                    </a:lnTo>
                    <a:lnTo>
                      <a:pt x="8" y="12"/>
                    </a:lnTo>
                    <a:lnTo>
                      <a:pt x="10" y="12"/>
                    </a:lnTo>
                    <a:lnTo>
                      <a:pt x="10" y="18"/>
                    </a:lnTo>
                    <a:lnTo>
                      <a:pt x="8" y="20"/>
                    </a:lnTo>
                    <a:lnTo>
                      <a:pt x="4" y="26"/>
                    </a:lnTo>
                    <a:lnTo>
                      <a:pt x="2" y="26"/>
                    </a:lnTo>
                    <a:lnTo>
                      <a:pt x="0" y="24"/>
                    </a:lnTo>
                    <a:lnTo>
                      <a:pt x="0" y="28"/>
                    </a:lnTo>
                    <a:lnTo>
                      <a:pt x="4" y="28"/>
                    </a:lnTo>
                    <a:lnTo>
                      <a:pt x="6" y="28"/>
                    </a:lnTo>
                    <a:lnTo>
                      <a:pt x="8" y="26"/>
                    </a:lnTo>
                    <a:lnTo>
                      <a:pt x="16" y="22"/>
                    </a:lnTo>
                    <a:lnTo>
                      <a:pt x="18" y="24"/>
                    </a:lnTo>
                    <a:lnTo>
                      <a:pt x="20" y="24"/>
                    </a:lnTo>
                    <a:lnTo>
                      <a:pt x="20" y="26"/>
                    </a:lnTo>
                    <a:lnTo>
                      <a:pt x="16" y="26"/>
                    </a:lnTo>
                    <a:lnTo>
                      <a:pt x="18" y="32"/>
                    </a:lnTo>
                    <a:lnTo>
                      <a:pt x="20" y="30"/>
                    </a:lnTo>
                    <a:lnTo>
                      <a:pt x="20" y="32"/>
                    </a:lnTo>
                    <a:lnTo>
                      <a:pt x="20" y="34"/>
                    </a:lnTo>
                    <a:lnTo>
                      <a:pt x="14" y="32"/>
                    </a:lnTo>
                    <a:lnTo>
                      <a:pt x="12" y="34"/>
                    </a:lnTo>
                    <a:lnTo>
                      <a:pt x="8" y="38"/>
                    </a:lnTo>
                    <a:lnTo>
                      <a:pt x="4" y="38"/>
                    </a:lnTo>
                    <a:lnTo>
                      <a:pt x="4" y="38"/>
                    </a:lnTo>
                    <a:lnTo>
                      <a:pt x="4" y="40"/>
                    </a:lnTo>
                    <a:lnTo>
                      <a:pt x="8" y="40"/>
                    </a:lnTo>
                    <a:lnTo>
                      <a:pt x="10" y="38"/>
                    </a:lnTo>
                    <a:lnTo>
                      <a:pt x="18" y="40"/>
                    </a:lnTo>
                    <a:lnTo>
                      <a:pt x="20" y="44"/>
                    </a:lnTo>
                    <a:lnTo>
                      <a:pt x="22" y="44"/>
                    </a:lnTo>
                    <a:lnTo>
                      <a:pt x="22" y="48"/>
                    </a:lnTo>
                    <a:lnTo>
                      <a:pt x="22" y="50"/>
                    </a:lnTo>
                    <a:lnTo>
                      <a:pt x="22" y="54"/>
                    </a:lnTo>
                    <a:lnTo>
                      <a:pt x="18" y="54"/>
                    </a:lnTo>
                    <a:lnTo>
                      <a:pt x="14" y="56"/>
                    </a:lnTo>
                    <a:lnTo>
                      <a:pt x="14" y="58"/>
                    </a:lnTo>
                    <a:lnTo>
                      <a:pt x="22" y="58"/>
                    </a:lnTo>
                    <a:lnTo>
                      <a:pt x="30" y="56"/>
                    </a:lnTo>
                    <a:lnTo>
                      <a:pt x="30" y="58"/>
                    </a:lnTo>
                    <a:lnTo>
                      <a:pt x="32" y="58"/>
                    </a:lnTo>
                    <a:lnTo>
                      <a:pt x="34" y="58"/>
                    </a:lnTo>
                    <a:lnTo>
                      <a:pt x="34" y="60"/>
                    </a:lnTo>
                    <a:lnTo>
                      <a:pt x="40" y="62"/>
                    </a:lnTo>
                    <a:lnTo>
                      <a:pt x="42" y="62"/>
                    </a:lnTo>
                    <a:lnTo>
                      <a:pt x="38" y="68"/>
                    </a:lnTo>
                    <a:lnTo>
                      <a:pt x="42" y="66"/>
                    </a:lnTo>
                    <a:lnTo>
                      <a:pt x="48" y="68"/>
                    </a:lnTo>
                    <a:lnTo>
                      <a:pt x="50" y="70"/>
                    </a:lnTo>
                    <a:lnTo>
                      <a:pt x="54" y="68"/>
                    </a:lnTo>
                    <a:lnTo>
                      <a:pt x="56" y="66"/>
                    </a:lnTo>
                    <a:lnTo>
                      <a:pt x="56" y="68"/>
                    </a:lnTo>
                    <a:lnTo>
                      <a:pt x="58" y="68"/>
                    </a:lnTo>
                    <a:lnTo>
                      <a:pt x="60" y="66"/>
                    </a:lnTo>
                    <a:lnTo>
                      <a:pt x="60" y="62"/>
                    </a:lnTo>
                    <a:lnTo>
                      <a:pt x="60" y="60"/>
                    </a:lnTo>
                    <a:lnTo>
                      <a:pt x="60" y="56"/>
                    </a:lnTo>
                    <a:lnTo>
                      <a:pt x="62" y="58"/>
                    </a:lnTo>
                    <a:lnTo>
                      <a:pt x="66" y="60"/>
                    </a:lnTo>
                    <a:lnTo>
                      <a:pt x="68" y="60"/>
                    </a:lnTo>
                    <a:lnTo>
                      <a:pt x="68" y="56"/>
                    </a:lnTo>
                    <a:lnTo>
                      <a:pt x="70" y="56"/>
                    </a:lnTo>
                    <a:lnTo>
                      <a:pt x="74" y="58"/>
                    </a:lnTo>
                    <a:lnTo>
                      <a:pt x="78" y="52"/>
                    </a:lnTo>
                    <a:lnTo>
                      <a:pt x="82" y="50"/>
                    </a:lnTo>
                    <a:lnTo>
                      <a:pt x="86" y="50"/>
                    </a:lnTo>
                    <a:lnTo>
                      <a:pt x="88" y="46"/>
                    </a:lnTo>
                    <a:lnTo>
                      <a:pt x="90" y="46"/>
                    </a:lnTo>
                    <a:lnTo>
                      <a:pt x="92" y="38"/>
                    </a:lnTo>
                    <a:lnTo>
                      <a:pt x="96" y="38"/>
                    </a:lnTo>
                    <a:lnTo>
                      <a:pt x="96" y="38"/>
                    </a:lnTo>
                    <a:lnTo>
                      <a:pt x="96" y="36"/>
                    </a:lnTo>
                    <a:lnTo>
                      <a:pt x="98" y="36"/>
                    </a:lnTo>
                    <a:lnTo>
                      <a:pt x="96" y="38"/>
                    </a:lnTo>
                    <a:lnTo>
                      <a:pt x="98" y="38"/>
                    </a:lnTo>
                    <a:lnTo>
                      <a:pt x="100" y="38"/>
                    </a:lnTo>
                    <a:lnTo>
                      <a:pt x="102" y="36"/>
                    </a:lnTo>
                    <a:lnTo>
                      <a:pt x="100" y="34"/>
                    </a:lnTo>
                    <a:lnTo>
                      <a:pt x="102" y="32"/>
                    </a:lnTo>
                    <a:lnTo>
                      <a:pt x="100" y="32"/>
                    </a:lnTo>
                    <a:lnTo>
                      <a:pt x="100" y="30"/>
                    </a:lnTo>
                    <a:lnTo>
                      <a:pt x="100" y="28"/>
                    </a:lnTo>
                    <a:lnTo>
                      <a:pt x="100" y="26"/>
                    </a:lnTo>
                    <a:lnTo>
                      <a:pt x="98" y="22"/>
                    </a:lnTo>
                    <a:lnTo>
                      <a:pt x="96" y="24"/>
                    </a:lnTo>
                    <a:lnTo>
                      <a:pt x="96" y="22"/>
                    </a:lnTo>
                    <a:lnTo>
                      <a:pt x="94" y="20"/>
                    </a:lnTo>
                    <a:lnTo>
                      <a:pt x="92" y="20"/>
                    </a:lnTo>
                    <a:lnTo>
                      <a:pt x="90" y="22"/>
                    </a:lnTo>
                    <a:lnTo>
                      <a:pt x="90" y="14"/>
                    </a:lnTo>
                    <a:lnTo>
                      <a:pt x="88" y="12"/>
                    </a:lnTo>
                    <a:lnTo>
                      <a:pt x="88" y="8"/>
                    </a:lnTo>
                    <a:lnTo>
                      <a:pt x="92" y="6"/>
                    </a:lnTo>
                    <a:lnTo>
                      <a:pt x="94" y="4"/>
                    </a:lnTo>
                    <a:lnTo>
                      <a:pt x="86" y="6"/>
                    </a:lnTo>
                    <a:lnTo>
                      <a:pt x="86" y="8"/>
                    </a:lnTo>
                    <a:lnTo>
                      <a:pt x="84" y="8"/>
                    </a:lnTo>
                    <a:lnTo>
                      <a:pt x="80" y="0"/>
                    </a:lnTo>
                    <a:lnTo>
                      <a:pt x="78" y="0"/>
                    </a:lnTo>
                    <a:lnTo>
                      <a:pt x="78"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25" name="Freeform 511">
                <a:extLst>
                  <a:ext uri="{FF2B5EF4-FFF2-40B4-BE49-F238E27FC236}">
                    <a16:creationId xmlns:a16="http://schemas.microsoft.com/office/drawing/2014/main" id="{958C797E-EDBA-45A1-E619-C0C4C35812B9}"/>
                  </a:ext>
                </a:extLst>
              </p:cNvPr>
              <p:cNvSpPr>
                <a:spLocks/>
              </p:cNvSpPr>
              <p:nvPr/>
            </p:nvSpPr>
            <p:spPr bwMode="auto">
              <a:xfrm>
                <a:off x="5138337" y="3251216"/>
                <a:ext cx="58341" cy="48034"/>
              </a:xfrm>
              <a:custGeom>
                <a:avLst/>
                <a:gdLst/>
                <a:ahLst/>
                <a:cxnLst>
                  <a:cxn ang="0">
                    <a:pos x="54" y="16"/>
                  </a:cxn>
                  <a:cxn ang="0">
                    <a:pos x="58" y="14"/>
                  </a:cxn>
                  <a:cxn ang="0">
                    <a:pos x="58" y="12"/>
                  </a:cxn>
                  <a:cxn ang="0">
                    <a:pos x="60" y="10"/>
                  </a:cxn>
                  <a:cxn ang="0">
                    <a:pos x="58" y="6"/>
                  </a:cxn>
                  <a:cxn ang="0">
                    <a:pos x="56" y="4"/>
                  </a:cxn>
                  <a:cxn ang="0">
                    <a:pos x="50" y="2"/>
                  </a:cxn>
                  <a:cxn ang="0">
                    <a:pos x="46" y="0"/>
                  </a:cxn>
                  <a:cxn ang="0">
                    <a:pos x="42" y="0"/>
                  </a:cxn>
                  <a:cxn ang="0">
                    <a:pos x="42" y="4"/>
                  </a:cxn>
                  <a:cxn ang="0">
                    <a:pos x="28" y="4"/>
                  </a:cxn>
                  <a:cxn ang="0">
                    <a:pos x="28" y="2"/>
                  </a:cxn>
                  <a:cxn ang="0">
                    <a:pos x="26" y="2"/>
                  </a:cxn>
                  <a:cxn ang="0">
                    <a:pos x="24" y="2"/>
                  </a:cxn>
                  <a:cxn ang="0">
                    <a:pos x="22" y="6"/>
                  </a:cxn>
                  <a:cxn ang="0">
                    <a:pos x="18" y="6"/>
                  </a:cxn>
                  <a:cxn ang="0">
                    <a:pos x="12" y="6"/>
                  </a:cxn>
                  <a:cxn ang="0">
                    <a:pos x="0" y="10"/>
                  </a:cxn>
                  <a:cxn ang="0">
                    <a:pos x="0" y="20"/>
                  </a:cxn>
                  <a:cxn ang="0">
                    <a:pos x="0" y="28"/>
                  </a:cxn>
                  <a:cxn ang="0">
                    <a:pos x="6" y="28"/>
                  </a:cxn>
                  <a:cxn ang="0">
                    <a:pos x="4" y="38"/>
                  </a:cxn>
                  <a:cxn ang="0">
                    <a:pos x="12" y="38"/>
                  </a:cxn>
                  <a:cxn ang="0">
                    <a:pos x="16" y="38"/>
                  </a:cxn>
                  <a:cxn ang="0">
                    <a:pos x="16" y="36"/>
                  </a:cxn>
                  <a:cxn ang="0">
                    <a:pos x="20" y="36"/>
                  </a:cxn>
                  <a:cxn ang="0">
                    <a:pos x="24" y="38"/>
                  </a:cxn>
                  <a:cxn ang="0">
                    <a:pos x="28" y="40"/>
                  </a:cxn>
                  <a:cxn ang="0">
                    <a:pos x="28" y="42"/>
                  </a:cxn>
                  <a:cxn ang="0">
                    <a:pos x="32" y="42"/>
                  </a:cxn>
                  <a:cxn ang="0">
                    <a:pos x="36" y="50"/>
                  </a:cxn>
                  <a:cxn ang="0">
                    <a:pos x="42" y="48"/>
                  </a:cxn>
                  <a:cxn ang="0">
                    <a:pos x="44" y="44"/>
                  </a:cxn>
                  <a:cxn ang="0">
                    <a:pos x="44" y="40"/>
                  </a:cxn>
                  <a:cxn ang="0">
                    <a:pos x="46" y="40"/>
                  </a:cxn>
                  <a:cxn ang="0">
                    <a:pos x="50" y="36"/>
                  </a:cxn>
                  <a:cxn ang="0">
                    <a:pos x="52" y="34"/>
                  </a:cxn>
                  <a:cxn ang="0">
                    <a:pos x="52" y="30"/>
                  </a:cxn>
                  <a:cxn ang="0">
                    <a:pos x="48" y="28"/>
                  </a:cxn>
                  <a:cxn ang="0">
                    <a:pos x="48" y="22"/>
                  </a:cxn>
                  <a:cxn ang="0">
                    <a:pos x="46" y="16"/>
                  </a:cxn>
                  <a:cxn ang="0">
                    <a:pos x="50" y="14"/>
                  </a:cxn>
                  <a:cxn ang="0">
                    <a:pos x="54" y="14"/>
                  </a:cxn>
                  <a:cxn ang="0">
                    <a:pos x="54" y="16"/>
                  </a:cxn>
                  <a:cxn ang="0">
                    <a:pos x="54" y="16"/>
                  </a:cxn>
                </a:cxnLst>
                <a:rect l="0" t="0" r="r" b="b"/>
                <a:pathLst>
                  <a:path w="60" h="50">
                    <a:moveTo>
                      <a:pt x="54" y="16"/>
                    </a:moveTo>
                    <a:lnTo>
                      <a:pt x="58" y="14"/>
                    </a:lnTo>
                    <a:lnTo>
                      <a:pt x="58" y="12"/>
                    </a:lnTo>
                    <a:lnTo>
                      <a:pt x="60" y="10"/>
                    </a:lnTo>
                    <a:lnTo>
                      <a:pt x="58" y="6"/>
                    </a:lnTo>
                    <a:lnTo>
                      <a:pt x="56" y="4"/>
                    </a:lnTo>
                    <a:lnTo>
                      <a:pt x="50" y="2"/>
                    </a:lnTo>
                    <a:lnTo>
                      <a:pt x="46" y="0"/>
                    </a:lnTo>
                    <a:lnTo>
                      <a:pt x="42" y="0"/>
                    </a:lnTo>
                    <a:lnTo>
                      <a:pt x="42" y="4"/>
                    </a:lnTo>
                    <a:lnTo>
                      <a:pt x="28" y="4"/>
                    </a:lnTo>
                    <a:lnTo>
                      <a:pt x="28" y="2"/>
                    </a:lnTo>
                    <a:lnTo>
                      <a:pt x="26" y="2"/>
                    </a:lnTo>
                    <a:lnTo>
                      <a:pt x="24" y="2"/>
                    </a:lnTo>
                    <a:lnTo>
                      <a:pt x="22" y="6"/>
                    </a:lnTo>
                    <a:lnTo>
                      <a:pt x="18" y="6"/>
                    </a:lnTo>
                    <a:lnTo>
                      <a:pt x="12" y="6"/>
                    </a:lnTo>
                    <a:lnTo>
                      <a:pt x="0" y="10"/>
                    </a:lnTo>
                    <a:lnTo>
                      <a:pt x="0" y="20"/>
                    </a:lnTo>
                    <a:lnTo>
                      <a:pt x="0" y="28"/>
                    </a:lnTo>
                    <a:lnTo>
                      <a:pt x="6" y="28"/>
                    </a:lnTo>
                    <a:lnTo>
                      <a:pt x="4" y="38"/>
                    </a:lnTo>
                    <a:lnTo>
                      <a:pt x="12" y="38"/>
                    </a:lnTo>
                    <a:lnTo>
                      <a:pt x="16" y="38"/>
                    </a:lnTo>
                    <a:lnTo>
                      <a:pt x="16" y="36"/>
                    </a:lnTo>
                    <a:lnTo>
                      <a:pt x="20" y="36"/>
                    </a:lnTo>
                    <a:lnTo>
                      <a:pt x="24" y="38"/>
                    </a:lnTo>
                    <a:lnTo>
                      <a:pt x="28" y="40"/>
                    </a:lnTo>
                    <a:lnTo>
                      <a:pt x="28" y="42"/>
                    </a:lnTo>
                    <a:lnTo>
                      <a:pt x="32" y="42"/>
                    </a:lnTo>
                    <a:lnTo>
                      <a:pt x="36" y="50"/>
                    </a:lnTo>
                    <a:lnTo>
                      <a:pt x="42" y="48"/>
                    </a:lnTo>
                    <a:lnTo>
                      <a:pt x="44" y="44"/>
                    </a:lnTo>
                    <a:lnTo>
                      <a:pt x="44" y="40"/>
                    </a:lnTo>
                    <a:lnTo>
                      <a:pt x="46" y="40"/>
                    </a:lnTo>
                    <a:lnTo>
                      <a:pt x="50" y="36"/>
                    </a:lnTo>
                    <a:lnTo>
                      <a:pt x="52" y="34"/>
                    </a:lnTo>
                    <a:lnTo>
                      <a:pt x="52" y="30"/>
                    </a:lnTo>
                    <a:lnTo>
                      <a:pt x="48" y="28"/>
                    </a:lnTo>
                    <a:lnTo>
                      <a:pt x="48" y="22"/>
                    </a:lnTo>
                    <a:lnTo>
                      <a:pt x="46" y="16"/>
                    </a:lnTo>
                    <a:lnTo>
                      <a:pt x="50" y="14"/>
                    </a:lnTo>
                    <a:lnTo>
                      <a:pt x="54" y="14"/>
                    </a:lnTo>
                    <a:lnTo>
                      <a:pt x="54" y="16"/>
                    </a:lnTo>
                    <a:lnTo>
                      <a:pt x="54" y="1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26" name="Freeform 512">
                <a:extLst>
                  <a:ext uri="{FF2B5EF4-FFF2-40B4-BE49-F238E27FC236}">
                    <a16:creationId xmlns:a16="http://schemas.microsoft.com/office/drawing/2014/main" id="{3A6311DF-B06E-95C0-CB9C-D6B5B8E06FF1}"/>
                  </a:ext>
                </a:extLst>
              </p:cNvPr>
              <p:cNvSpPr>
                <a:spLocks/>
              </p:cNvSpPr>
              <p:nvPr/>
            </p:nvSpPr>
            <p:spPr bwMode="auto">
              <a:xfrm>
                <a:off x="5070272" y="3522129"/>
                <a:ext cx="64175" cy="73012"/>
              </a:xfrm>
              <a:custGeom>
                <a:avLst/>
                <a:gdLst/>
                <a:ahLst/>
                <a:cxnLst>
                  <a:cxn ang="0">
                    <a:pos x="66" y="28"/>
                  </a:cxn>
                  <a:cxn ang="0">
                    <a:pos x="60" y="26"/>
                  </a:cxn>
                  <a:cxn ang="0">
                    <a:pos x="58" y="20"/>
                  </a:cxn>
                  <a:cxn ang="0">
                    <a:pos x="64" y="20"/>
                  </a:cxn>
                  <a:cxn ang="0">
                    <a:pos x="58" y="14"/>
                  </a:cxn>
                  <a:cxn ang="0">
                    <a:pos x="54" y="16"/>
                  </a:cxn>
                  <a:cxn ang="0">
                    <a:pos x="50" y="20"/>
                  </a:cxn>
                  <a:cxn ang="0">
                    <a:pos x="46" y="14"/>
                  </a:cxn>
                  <a:cxn ang="0">
                    <a:pos x="40" y="14"/>
                  </a:cxn>
                  <a:cxn ang="0">
                    <a:pos x="40" y="6"/>
                  </a:cxn>
                  <a:cxn ang="0">
                    <a:pos x="34" y="0"/>
                  </a:cxn>
                  <a:cxn ang="0">
                    <a:pos x="22" y="0"/>
                  </a:cxn>
                  <a:cxn ang="0">
                    <a:pos x="18" y="6"/>
                  </a:cxn>
                  <a:cxn ang="0">
                    <a:pos x="12" y="10"/>
                  </a:cxn>
                  <a:cxn ang="0">
                    <a:pos x="12" y="14"/>
                  </a:cxn>
                  <a:cxn ang="0">
                    <a:pos x="14" y="18"/>
                  </a:cxn>
                  <a:cxn ang="0">
                    <a:pos x="12" y="26"/>
                  </a:cxn>
                  <a:cxn ang="0">
                    <a:pos x="16" y="30"/>
                  </a:cxn>
                  <a:cxn ang="0">
                    <a:pos x="14" y="34"/>
                  </a:cxn>
                  <a:cxn ang="0">
                    <a:pos x="12" y="36"/>
                  </a:cxn>
                  <a:cxn ang="0">
                    <a:pos x="16" y="38"/>
                  </a:cxn>
                  <a:cxn ang="0">
                    <a:pos x="14" y="40"/>
                  </a:cxn>
                  <a:cxn ang="0">
                    <a:pos x="8" y="46"/>
                  </a:cxn>
                  <a:cxn ang="0">
                    <a:pos x="0" y="52"/>
                  </a:cxn>
                  <a:cxn ang="0">
                    <a:pos x="0" y="60"/>
                  </a:cxn>
                  <a:cxn ang="0">
                    <a:pos x="4" y="64"/>
                  </a:cxn>
                  <a:cxn ang="0">
                    <a:pos x="12" y="64"/>
                  </a:cxn>
                  <a:cxn ang="0">
                    <a:pos x="22" y="66"/>
                  </a:cxn>
                  <a:cxn ang="0">
                    <a:pos x="28" y="68"/>
                  </a:cxn>
                  <a:cxn ang="0">
                    <a:pos x="36" y="70"/>
                  </a:cxn>
                  <a:cxn ang="0">
                    <a:pos x="42" y="72"/>
                  </a:cxn>
                  <a:cxn ang="0">
                    <a:pos x="48" y="66"/>
                  </a:cxn>
                  <a:cxn ang="0">
                    <a:pos x="58" y="64"/>
                  </a:cxn>
                  <a:cxn ang="0">
                    <a:pos x="62" y="58"/>
                  </a:cxn>
                  <a:cxn ang="0">
                    <a:pos x="66" y="50"/>
                  </a:cxn>
                  <a:cxn ang="0">
                    <a:pos x="58" y="46"/>
                  </a:cxn>
                  <a:cxn ang="0">
                    <a:pos x="58" y="40"/>
                  </a:cxn>
                  <a:cxn ang="0">
                    <a:pos x="62" y="36"/>
                  </a:cxn>
                  <a:cxn ang="0">
                    <a:pos x="66" y="28"/>
                  </a:cxn>
                </a:cxnLst>
                <a:rect l="0" t="0" r="r" b="b"/>
                <a:pathLst>
                  <a:path w="66" h="76">
                    <a:moveTo>
                      <a:pt x="66" y="28"/>
                    </a:moveTo>
                    <a:lnTo>
                      <a:pt x="66" y="28"/>
                    </a:lnTo>
                    <a:lnTo>
                      <a:pt x="64" y="28"/>
                    </a:lnTo>
                    <a:lnTo>
                      <a:pt x="60" y="26"/>
                    </a:lnTo>
                    <a:lnTo>
                      <a:pt x="58" y="22"/>
                    </a:lnTo>
                    <a:lnTo>
                      <a:pt x="58" y="20"/>
                    </a:lnTo>
                    <a:lnTo>
                      <a:pt x="62" y="20"/>
                    </a:lnTo>
                    <a:lnTo>
                      <a:pt x="64" y="20"/>
                    </a:lnTo>
                    <a:lnTo>
                      <a:pt x="62" y="18"/>
                    </a:lnTo>
                    <a:lnTo>
                      <a:pt x="58" y="14"/>
                    </a:lnTo>
                    <a:lnTo>
                      <a:pt x="54" y="14"/>
                    </a:lnTo>
                    <a:lnTo>
                      <a:pt x="54" y="16"/>
                    </a:lnTo>
                    <a:lnTo>
                      <a:pt x="52" y="18"/>
                    </a:lnTo>
                    <a:lnTo>
                      <a:pt x="50" y="20"/>
                    </a:lnTo>
                    <a:lnTo>
                      <a:pt x="48" y="18"/>
                    </a:lnTo>
                    <a:lnTo>
                      <a:pt x="46" y="14"/>
                    </a:lnTo>
                    <a:lnTo>
                      <a:pt x="44" y="14"/>
                    </a:lnTo>
                    <a:lnTo>
                      <a:pt x="40" y="14"/>
                    </a:lnTo>
                    <a:lnTo>
                      <a:pt x="42" y="10"/>
                    </a:lnTo>
                    <a:lnTo>
                      <a:pt x="40" y="6"/>
                    </a:lnTo>
                    <a:lnTo>
                      <a:pt x="38" y="4"/>
                    </a:lnTo>
                    <a:lnTo>
                      <a:pt x="34" y="0"/>
                    </a:lnTo>
                    <a:lnTo>
                      <a:pt x="28" y="0"/>
                    </a:lnTo>
                    <a:lnTo>
                      <a:pt x="22" y="0"/>
                    </a:lnTo>
                    <a:lnTo>
                      <a:pt x="20" y="4"/>
                    </a:lnTo>
                    <a:lnTo>
                      <a:pt x="18" y="6"/>
                    </a:lnTo>
                    <a:lnTo>
                      <a:pt x="14" y="8"/>
                    </a:lnTo>
                    <a:lnTo>
                      <a:pt x="12" y="10"/>
                    </a:lnTo>
                    <a:lnTo>
                      <a:pt x="12" y="12"/>
                    </a:lnTo>
                    <a:lnTo>
                      <a:pt x="12" y="14"/>
                    </a:lnTo>
                    <a:lnTo>
                      <a:pt x="14" y="16"/>
                    </a:lnTo>
                    <a:lnTo>
                      <a:pt x="14" y="18"/>
                    </a:lnTo>
                    <a:lnTo>
                      <a:pt x="12" y="22"/>
                    </a:lnTo>
                    <a:lnTo>
                      <a:pt x="12" y="26"/>
                    </a:lnTo>
                    <a:lnTo>
                      <a:pt x="14" y="30"/>
                    </a:lnTo>
                    <a:lnTo>
                      <a:pt x="16" y="30"/>
                    </a:lnTo>
                    <a:lnTo>
                      <a:pt x="16" y="32"/>
                    </a:lnTo>
                    <a:lnTo>
                      <a:pt x="14" y="34"/>
                    </a:lnTo>
                    <a:lnTo>
                      <a:pt x="10" y="34"/>
                    </a:lnTo>
                    <a:lnTo>
                      <a:pt x="12" y="36"/>
                    </a:lnTo>
                    <a:lnTo>
                      <a:pt x="14" y="38"/>
                    </a:lnTo>
                    <a:lnTo>
                      <a:pt x="16" y="38"/>
                    </a:lnTo>
                    <a:lnTo>
                      <a:pt x="16" y="40"/>
                    </a:lnTo>
                    <a:lnTo>
                      <a:pt x="14" y="40"/>
                    </a:lnTo>
                    <a:lnTo>
                      <a:pt x="10" y="44"/>
                    </a:lnTo>
                    <a:lnTo>
                      <a:pt x="8" y="46"/>
                    </a:lnTo>
                    <a:lnTo>
                      <a:pt x="2" y="48"/>
                    </a:lnTo>
                    <a:lnTo>
                      <a:pt x="0" y="52"/>
                    </a:lnTo>
                    <a:lnTo>
                      <a:pt x="0" y="56"/>
                    </a:lnTo>
                    <a:lnTo>
                      <a:pt x="0" y="60"/>
                    </a:lnTo>
                    <a:lnTo>
                      <a:pt x="2" y="64"/>
                    </a:lnTo>
                    <a:lnTo>
                      <a:pt x="4" y="64"/>
                    </a:lnTo>
                    <a:lnTo>
                      <a:pt x="10" y="70"/>
                    </a:lnTo>
                    <a:lnTo>
                      <a:pt x="12" y="64"/>
                    </a:lnTo>
                    <a:lnTo>
                      <a:pt x="20" y="60"/>
                    </a:lnTo>
                    <a:lnTo>
                      <a:pt x="22" y="66"/>
                    </a:lnTo>
                    <a:lnTo>
                      <a:pt x="22" y="62"/>
                    </a:lnTo>
                    <a:lnTo>
                      <a:pt x="28" y="68"/>
                    </a:lnTo>
                    <a:lnTo>
                      <a:pt x="30" y="76"/>
                    </a:lnTo>
                    <a:lnTo>
                      <a:pt x="36" y="70"/>
                    </a:lnTo>
                    <a:lnTo>
                      <a:pt x="40" y="68"/>
                    </a:lnTo>
                    <a:lnTo>
                      <a:pt x="42" y="72"/>
                    </a:lnTo>
                    <a:lnTo>
                      <a:pt x="44" y="66"/>
                    </a:lnTo>
                    <a:lnTo>
                      <a:pt x="48" y="66"/>
                    </a:lnTo>
                    <a:lnTo>
                      <a:pt x="52" y="66"/>
                    </a:lnTo>
                    <a:lnTo>
                      <a:pt x="58" y="64"/>
                    </a:lnTo>
                    <a:lnTo>
                      <a:pt x="60" y="62"/>
                    </a:lnTo>
                    <a:lnTo>
                      <a:pt x="62" y="58"/>
                    </a:lnTo>
                    <a:lnTo>
                      <a:pt x="66" y="52"/>
                    </a:lnTo>
                    <a:lnTo>
                      <a:pt x="66" y="50"/>
                    </a:lnTo>
                    <a:lnTo>
                      <a:pt x="60" y="48"/>
                    </a:lnTo>
                    <a:lnTo>
                      <a:pt x="58" y="46"/>
                    </a:lnTo>
                    <a:lnTo>
                      <a:pt x="56" y="44"/>
                    </a:lnTo>
                    <a:lnTo>
                      <a:pt x="58" y="40"/>
                    </a:lnTo>
                    <a:lnTo>
                      <a:pt x="58" y="38"/>
                    </a:lnTo>
                    <a:lnTo>
                      <a:pt x="62" y="36"/>
                    </a:lnTo>
                    <a:lnTo>
                      <a:pt x="66" y="32"/>
                    </a:lnTo>
                    <a:lnTo>
                      <a:pt x="66" y="28"/>
                    </a:lnTo>
                    <a:lnTo>
                      <a:pt x="66" y="2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27" name="Freeform 513">
                <a:extLst>
                  <a:ext uri="{FF2B5EF4-FFF2-40B4-BE49-F238E27FC236}">
                    <a16:creationId xmlns:a16="http://schemas.microsoft.com/office/drawing/2014/main" id="{E8F51DAC-0355-64CE-50B0-858BAA512CEB}"/>
                  </a:ext>
                </a:extLst>
              </p:cNvPr>
              <p:cNvSpPr>
                <a:spLocks/>
              </p:cNvSpPr>
              <p:nvPr/>
            </p:nvSpPr>
            <p:spPr bwMode="auto">
              <a:xfrm>
                <a:off x="5542833" y="3527893"/>
                <a:ext cx="208083" cy="147946"/>
              </a:xfrm>
              <a:custGeom>
                <a:avLst/>
                <a:gdLst/>
                <a:ahLst/>
                <a:cxnLst>
                  <a:cxn ang="0">
                    <a:pos x="188" y="56"/>
                  </a:cxn>
                  <a:cxn ang="0">
                    <a:pos x="172" y="60"/>
                  </a:cxn>
                  <a:cxn ang="0">
                    <a:pos x="164" y="66"/>
                  </a:cxn>
                  <a:cxn ang="0">
                    <a:pos x="152" y="76"/>
                  </a:cxn>
                  <a:cxn ang="0">
                    <a:pos x="146" y="76"/>
                  </a:cxn>
                  <a:cxn ang="0">
                    <a:pos x="126" y="70"/>
                  </a:cxn>
                  <a:cxn ang="0">
                    <a:pos x="124" y="64"/>
                  </a:cxn>
                  <a:cxn ang="0">
                    <a:pos x="118" y="58"/>
                  </a:cxn>
                  <a:cxn ang="0">
                    <a:pos x="104" y="54"/>
                  </a:cxn>
                  <a:cxn ang="0">
                    <a:pos x="74" y="34"/>
                  </a:cxn>
                  <a:cxn ang="0">
                    <a:pos x="64" y="32"/>
                  </a:cxn>
                  <a:cxn ang="0">
                    <a:pos x="50" y="36"/>
                  </a:cxn>
                  <a:cxn ang="0">
                    <a:pos x="44" y="38"/>
                  </a:cxn>
                  <a:cxn ang="0">
                    <a:pos x="42" y="38"/>
                  </a:cxn>
                  <a:cxn ang="0">
                    <a:pos x="28" y="28"/>
                  </a:cxn>
                  <a:cxn ang="0">
                    <a:pos x="26" y="18"/>
                  </a:cxn>
                  <a:cxn ang="0">
                    <a:pos x="32" y="2"/>
                  </a:cxn>
                  <a:cxn ang="0">
                    <a:pos x="8" y="4"/>
                  </a:cxn>
                  <a:cxn ang="0">
                    <a:pos x="14" y="68"/>
                  </a:cxn>
                  <a:cxn ang="0">
                    <a:pos x="20" y="56"/>
                  </a:cxn>
                  <a:cxn ang="0">
                    <a:pos x="34" y="52"/>
                  </a:cxn>
                  <a:cxn ang="0">
                    <a:pos x="46" y="76"/>
                  </a:cxn>
                  <a:cxn ang="0">
                    <a:pos x="58" y="80"/>
                  </a:cxn>
                  <a:cxn ang="0">
                    <a:pos x="80" y="86"/>
                  </a:cxn>
                  <a:cxn ang="0">
                    <a:pos x="88" y="108"/>
                  </a:cxn>
                  <a:cxn ang="0">
                    <a:pos x="108" y="124"/>
                  </a:cxn>
                  <a:cxn ang="0">
                    <a:pos x="130" y="130"/>
                  </a:cxn>
                  <a:cxn ang="0">
                    <a:pos x="130" y="140"/>
                  </a:cxn>
                  <a:cxn ang="0">
                    <a:pos x="144" y="152"/>
                  </a:cxn>
                  <a:cxn ang="0">
                    <a:pos x="156" y="140"/>
                  </a:cxn>
                  <a:cxn ang="0">
                    <a:pos x="154" y="130"/>
                  </a:cxn>
                  <a:cxn ang="0">
                    <a:pos x="150" y="122"/>
                  </a:cxn>
                  <a:cxn ang="0">
                    <a:pos x="144" y="114"/>
                  </a:cxn>
                  <a:cxn ang="0">
                    <a:pos x="152" y="112"/>
                  </a:cxn>
                  <a:cxn ang="0">
                    <a:pos x="164" y="106"/>
                  </a:cxn>
                  <a:cxn ang="0">
                    <a:pos x="164" y="100"/>
                  </a:cxn>
                  <a:cxn ang="0">
                    <a:pos x="166" y="92"/>
                  </a:cxn>
                  <a:cxn ang="0">
                    <a:pos x="170" y="84"/>
                  </a:cxn>
                  <a:cxn ang="0">
                    <a:pos x="180" y="88"/>
                  </a:cxn>
                  <a:cxn ang="0">
                    <a:pos x="190" y="90"/>
                  </a:cxn>
                  <a:cxn ang="0">
                    <a:pos x="188" y="100"/>
                  </a:cxn>
                  <a:cxn ang="0">
                    <a:pos x="202" y="96"/>
                  </a:cxn>
                  <a:cxn ang="0">
                    <a:pos x="214" y="82"/>
                  </a:cxn>
                  <a:cxn ang="0">
                    <a:pos x="204" y="78"/>
                  </a:cxn>
                  <a:cxn ang="0">
                    <a:pos x="198" y="72"/>
                  </a:cxn>
                  <a:cxn ang="0">
                    <a:pos x="188" y="72"/>
                  </a:cxn>
                  <a:cxn ang="0">
                    <a:pos x="184" y="68"/>
                  </a:cxn>
                  <a:cxn ang="0">
                    <a:pos x="194" y="56"/>
                  </a:cxn>
                  <a:cxn ang="0">
                    <a:pos x="194" y="56"/>
                  </a:cxn>
                </a:cxnLst>
                <a:rect l="0" t="0" r="r" b="b"/>
                <a:pathLst>
                  <a:path w="214" h="154">
                    <a:moveTo>
                      <a:pt x="194" y="56"/>
                    </a:moveTo>
                    <a:lnTo>
                      <a:pt x="194" y="56"/>
                    </a:lnTo>
                    <a:lnTo>
                      <a:pt x="192" y="56"/>
                    </a:lnTo>
                    <a:lnTo>
                      <a:pt x="188" y="56"/>
                    </a:lnTo>
                    <a:lnTo>
                      <a:pt x="184" y="58"/>
                    </a:lnTo>
                    <a:lnTo>
                      <a:pt x="180" y="58"/>
                    </a:lnTo>
                    <a:lnTo>
                      <a:pt x="174" y="60"/>
                    </a:lnTo>
                    <a:lnTo>
                      <a:pt x="172" y="60"/>
                    </a:lnTo>
                    <a:lnTo>
                      <a:pt x="172" y="62"/>
                    </a:lnTo>
                    <a:lnTo>
                      <a:pt x="170" y="64"/>
                    </a:lnTo>
                    <a:lnTo>
                      <a:pt x="168" y="64"/>
                    </a:lnTo>
                    <a:lnTo>
                      <a:pt x="164" y="66"/>
                    </a:lnTo>
                    <a:lnTo>
                      <a:pt x="162" y="68"/>
                    </a:lnTo>
                    <a:lnTo>
                      <a:pt x="160" y="70"/>
                    </a:lnTo>
                    <a:lnTo>
                      <a:pt x="160" y="74"/>
                    </a:lnTo>
                    <a:lnTo>
                      <a:pt x="152" y="76"/>
                    </a:lnTo>
                    <a:lnTo>
                      <a:pt x="152" y="80"/>
                    </a:lnTo>
                    <a:lnTo>
                      <a:pt x="146" y="82"/>
                    </a:lnTo>
                    <a:lnTo>
                      <a:pt x="146" y="80"/>
                    </a:lnTo>
                    <a:lnTo>
                      <a:pt x="146" y="76"/>
                    </a:lnTo>
                    <a:lnTo>
                      <a:pt x="142" y="72"/>
                    </a:lnTo>
                    <a:lnTo>
                      <a:pt x="138" y="72"/>
                    </a:lnTo>
                    <a:lnTo>
                      <a:pt x="132" y="72"/>
                    </a:lnTo>
                    <a:lnTo>
                      <a:pt x="126" y="70"/>
                    </a:lnTo>
                    <a:lnTo>
                      <a:pt x="124" y="70"/>
                    </a:lnTo>
                    <a:lnTo>
                      <a:pt x="124" y="68"/>
                    </a:lnTo>
                    <a:lnTo>
                      <a:pt x="126" y="64"/>
                    </a:lnTo>
                    <a:lnTo>
                      <a:pt x="124" y="64"/>
                    </a:lnTo>
                    <a:lnTo>
                      <a:pt x="124" y="62"/>
                    </a:lnTo>
                    <a:lnTo>
                      <a:pt x="122" y="62"/>
                    </a:lnTo>
                    <a:lnTo>
                      <a:pt x="122" y="58"/>
                    </a:lnTo>
                    <a:lnTo>
                      <a:pt x="118" y="58"/>
                    </a:lnTo>
                    <a:lnTo>
                      <a:pt x="114" y="58"/>
                    </a:lnTo>
                    <a:lnTo>
                      <a:pt x="110" y="56"/>
                    </a:lnTo>
                    <a:lnTo>
                      <a:pt x="106" y="50"/>
                    </a:lnTo>
                    <a:lnTo>
                      <a:pt x="104" y="54"/>
                    </a:lnTo>
                    <a:lnTo>
                      <a:pt x="88" y="50"/>
                    </a:lnTo>
                    <a:lnTo>
                      <a:pt x="80" y="50"/>
                    </a:lnTo>
                    <a:lnTo>
                      <a:pt x="76" y="50"/>
                    </a:lnTo>
                    <a:lnTo>
                      <a:pt x="74" y="34"/>
                    </a:lnTo>
                    <a:lnTo>
                      <a:pt x="72" y="30"/>
                    </a:lnTo>
                    <a:lnTo>
                      <a:pt x="72" y="26"/>
                    </a:lnTo>
                    <a:lnTo>
                      <a:pt x="68" y="26"/>
                    </a:lnTo>
                    <a:lnTo>
                      <a:pt x="64" y="32"/>
                    </a:lnTo>
                    <a:lnTo>
                      <a:pt x="60" y="38"/>
                    </a:lnTo>
                    <a:lnTo>
                      <a:pt x="54" y="40"/>
                    </a:lnTo>
                    <a:lnTo>
                      <a:pt x="48" y="40"/>
                    </a:lnTo>
                    <a:lnTo>
                      <a:pt x="50" y="36"/>
                    </a:lnTo>
                    <a:lnTo>
                      <a:pt x="50" y="34"/>
                    </a:lnTo>
                    <a:lnTo>
                      <a:pt x="48" y="32"/>
                    </a:lnTo>
                    <a:lnTo>
                      <a:pt x="46" y="34"/>
                    </a:lnTo>
                    <a:lnTo>
                      <a:pt x="44" y="38"/>
                    </a:lnTo>
                    <a:lnTo>
                      <a:pt x="42" y="46"/>
                    </a:lnTo>
                    <a:lnTo>
                      <a:pt x="38" y="42"/>
                    </a:lnTo>
                    <a:lnTo>
                      <a:pt x="42" y="40"/>
                    </a:lnTo>
                    <a:lnTo>
                      <a:pt x="42" y="38"/>
                    </a:lnTo>
                    <a:lnTo>
                      <a:pt x="42" y="32"/>
                    </a:lnTo>
                    <a:lnTo>
                      <a:pt x="38" y="30"/>
                    </a:lnTo>
                    <a:lnTo>
                      <a:pt x="28" y="34"/>
                    </a:lnTo>
                    <a:lnTo>
                      <a:pt x="28" y="28"/>
                    </a:lnTo>
                    <a:lnTo>
                      <a:pt x="26" y="26"/>
                    </a:lnTo>
                    <a:lnTo>
                      <a:pt x="28" y="24"/>
                    </a:lnTo>
                    <a:lnTo>
                      <a:pt x="26" y="22"/>
                    </a:lnTo>
                    <a:lnTo>
                      <a:pt x="26" y="18"/>
                    </a:lnTo>
                    <a:lnTo>
                      <a:pt x="28" y="14"/>
                    </a:lnTo>
                    <a:lnTo>
                      <a:pt x="28" y="10"/>
                    </a:lnTo>
                    <a:lnTo>
                      <a:pt x="28" y="4"/>
                    </a:lnTo>
                    <a:lnTo>
                      <a:pt x="32" y="2"/>
                    </a:lnTo>
                    <a:lnTo>
                      <a:pt x="26" y="0"/>
                    </a:lnTo>
                    <a:lnTo>
                      <a:pt x="20" y="2"/>
                    </a:lnTo>
                    <a:lnTo>
                      <a:pt x="14" y="2"/>
                    </a:lnTo>
                    <a:lnTo>
                      <a:pt x="8" y="4"/>
                    </a:lnTo>
                    <a:lnTo>
                      <a:pt x="2" y="6"/>
                    </a:lnTo>
                    <a:lnTo>
                      <a:pt x="0" y="68"/>
                    </a:lnTo>
                    <a:lnTo>
                      <a:pt x="14" y="70"/>
                    </a:lnTo>
                    <a:lnTo>
                      <a:pt x="14" y="68"/>
                    </a:lnTo>
                    <a:lnTo>
                      <a:pt x="12" y="64"/>
                    </a:lnTo>
                    <a:lnTo>
                      <a:pt x="12" y="58"/>
                    </a:lnTo>
                    <a:lnTo>
                      <a:pt x="14" y="56"/>
                    </a:lnTo>
                    <a:lnTo>
                      <a:pt x="20" y="56"/>
                    </a:lnTo>
                    <a:lnTo>
                      <a:pt x="22" y="54"/>
                    </a:lnTo>
                    <a:lnTo>
                      <a:pt x="26" y="50"/>
                    </a:lnTo>
                    <a:lnTo>
                      <a:pt x="30" y="50"/>
                    </a:lnTo>
                    <a:lnTo>
                      <a:pt x="34" y="52"/>
                    </a:lnTo>
                    <a:lnTo>
                      <a:pt x="36" y="58"/>
                    </a:lnTo>
                    <a:lnTo>
                      <a:pt x="38" y="68"/>
                    </a:lnTo>
                    <a:lnTo>
                      <a:pt x="46" y="70"/>
                    </a:lnTo>
                    <a:lnTo>
                      <a:pt x="46" y="76"/>
                    </a:lnTo>
                    <a:lnTo>
                      <a:pt x="44" y="80"/>
                    </a:lnTo>
                    <a:lnTo>
                      <a:pt x="46" y="82"/>
                    </a:lnTo>
                    <a:lnTo>
                      <a:pt x="52" y="84"/>
                    </a:lnTo>
                    <a:lnTo>
                      <a:pt x="58" y="80"/>
                    </a:lnTo>
                    <a:lnTo>
                      <a:pt x="62" y="78"/>
                    </a:lnTo>
                    <a:lnTo>
                      <a:pt x="70" y="78"/>
                    </a:lnTo>
                    <a:lnTo>
                      <a:pt x="76" y="78"/>
                    </a:lnTo>
                    <a:lnTo>
                      <a:pt x="80" y="86"/>
                    </a:lnTo>
                    <a:lnTo>
                      <a:pt x="80" y="92"/>
                    </a:lnTo>
                    <a:lnTo>
                      <a:pt x="82" y="96"/>
                    </a:lnTo>
                    <a:lnTo>
                      <a:pt x="86" y="100"/>
                    </a:lnTo>
                    <a:lnTo>
                      <a:pt x="88" y="108"/>
                    </a:lnTo>
                    <a:lnTo>
                      <a:pt x="92" y="110"/>
                    </a:lnTo>
                    <a:lnTo>
                      <a:pt x="98" y="112"/>
                    </a:lnTo>
                    <a:lnTo>
                      <a:pt x="104" y="118"/>
                    </a:lnTo>
                    <a:lnTo>
                      <a:pt x="108" y="124"/>
                    </a:lnTo>
                    <a:lnTo>
                      <a:pt x="116" y="122"/>
                    </a:lnTo>
                    <a:lnTo>
                      <a:pt x="120" y="126"/>
                    </a:lnTo>
                    <a:lnTo>
                      <a:pt x="126" y="126"/>
                    </a:lnTo>
                    <a:lnTo>
                      <a:pt x="130" y="130"/>
                    </a:lnTo>
                    <a:lnTo>
                      <a:pt x="136" y="130"/>
                    </a:lnTo>
                    <a:lnTo>
                      <a:pt x="138" y="132"/>
                    </a:lnTo>
                    <a:lnTo>
                      <a:pt x="130" y="136"/>
                    </a:lnTo>
                    <a:lnTo>
                      <a:pt x="130" y="140"/>
                    </a:lnTo>
                    <a:lnTo>
                      <a:pt x="130" y="148"/>
                    </a:lnTo>
                    <a:lnTo>
                      <a:pt x="136" y="148"/>
                    </a:lnTo>
                    <a:lnTo>
                      <a:pt x="140" y="154"/>
                    </a:lnTo>
                    <a:lnTo>
                      <a:pt x="144" y="152"/>
                    </a:lnTo>
                    <a:lnTo>
                      <a:pt x="150" y="152"/>
                    </a:lnTo>
                    <a:lnTo>
                      <a:pt x="152" y="144"/>
                    </a:lnTo>
                    <a:lnTo>
                      <a:pt x="154" y="142"/>
                    </a:lnTo>
                    <a:lnTo>
                      <a:pt x="156" y="140"/>
                    </a:lnTo>
                    <a:lnTo>
                      <a:pt x="158" y="136"/>
                    </a:lnTo>
                    <a:lnTo>
                      <a:pt x="156" y="134"/>
                    </a:lnTo>
                    <a:lnTo>
                      <a:pt x="154" y="132"/>
                    </a:lnTo>
                    <a:lnTo>
                      <a:pt x="154" y="130"/>
                    </a:lnTo>
                    <a:lnTo>
                      <a:pt x="158" y="124"/>
                    </a:lnTo>
                    <a:lnTo>
                      <a:pt x="158" y="122"/>
                    </a:lnTo>
                    <a:lnTo>
                      <a:pt x="156" y="122"/>
                    </a:lnTo>
                    <a:lnTo>
                      <a:pt x="150" y="122"/>
                    </a:lnTo>
                    <a:lnTo>
                      <a:pt x="148" y="122"/>
                    </a:lnTo>
                    <a:lnTo>
                      <a:pt x="144" y="118"/>
                    </a:lnTo>
                    <a:lnTo>
                      <a:pt x="144" y="116"/>
                    </a:lnTo>
                    <a:lnTo>
                      <a:pt x="144" y="114"/>
                    </a:lnTo>
                    <a:lnTo>
                      <a:pt x="146" y="110"/>
                    </a:lnTo>
                    <a:lnTo>
                      <a:pt x="150" y="110"/>
                    </a:lnTo>
                    <a:lnTo>
                      <a:pt x="152" y="110"/>
                    </a:lnTo>
                    <a:lnTo>
                      <a:pt x="152" y="112"/>
                    </a:lnTo>
                    <a:lnTo>
                      <a:pt x="154" y="112"/>
                    </a:lnTo>
                    <a:lnTo>
                      <a:pt x="156" y="110"/>
                    </a:lnTo>
                    <a:lnTo>
                      <a:pt x="162" y="108"/>
                    </a:lnTo>
                    <a:lnTo>
                      <a:pt x="164" y="106"/>
                    </a:lnTo>
                    <a:lnTo>
                      <a:pt x="164" y="104"/>
                    </a:lnTo>
                    <a:lnTo>
                      <a:pt x="162" y="106"/>
                    </a:lnTo>
                    <a:lnTo>
                      <a:pt x="162" y="102"/>
                    </a:lnTo>
                    <a:lnTo>
                      <a:pt x="164" y="100"/>
                    </a:lnTo>
                    <a:lnTo>
                      <a:pt x="166" y="98"/>
                    </a:lnTo>
                    <a:lnTo>
                      <a:pt x="168" y="96"/>
                    </a:lnTo>
                    <a:lnTo>
                      <a:pt x="168" y="94"/>
                    </a:lnTo>
                    <a:lnTo>
                      <a:pt x="166" y="92"/>
                    </a:lnTo>
                    <a:lnTo>
                      <a:pt x="164" y="86"/>
                    </a:lnTo>
                    <a:lnTo>
                      <a:pt x="166" y="86"/>
                    </a:lnTo>
                    <a:lnTo>
                      <a:pt x="168" y="84"/>
                    </a:lnTo>
                    <a:lnTo>
                      <a:pt x="170" y="84"/>
                    </a:lnTo>
                    <a:lnTo>
                      <a:pt x="172" y="86"/>
                    </a:lnTo>
                    <a:lnTo>
                      <a:pt x="176" y="90"/>
                    </a:lnTo>
                    <a:lnTo>
                      <a:pt x="178" y="90"/>
                    </a:lnTo>
                    <a:lnTo>
                      <a:pt x="180" y="88"/>
                    </a:lnTo>
                    <a:lnTo>
                      <a:pt x="180" y="86"/>
                    </a:lnTo>
                    <a:lnTo>
                      <a:pt x="184" y="84"/>
                    </a:lnTo>
                    <a:lnTo>
                      <a:pt x="188" y="84"/>
                    </a:lnTo>
                    <a:lnTo>
                      <a:pt x="190" y="90"/>
                    </a:lnTo>
                    <a:lnTo>
                      <a:pt x="184" y="92"/>
                    </a:lnTo>
                    <a:lnTo>
                      <a:pt x="184" y="100"/>
                    </a:lnTo>
                    <a:lnTo>
                      <a:pt x="186" y="98"/>
                    </a:lnTo>
                    <a:lnTo>
                      <a:pt x="188" y="100"/>
                    </a:lnTo>
                    <a:lnTo>
                      <a:pt x="190" y="100"/>
                    </a:lnTo>
                    <a:lnTo>
                      <a:pt x="192" y="100"/>
                    </a:lnTo>
                    <a:lnTo>
                      <a:pt x="196" y="96"/>
                    </a:lnTo>
                    <a:lnTo>
                      <a:pt x="202" y="96"/>
                    </a:lnTo>
                    <a:lnTo>
                      <a:pt x="206" y="94"/>
                    </a:lnTo>
                    <a:lnTo>
                      <a:pt x="208" y="92"/>
                    </a:lnTo>
                    <a:lnTo>
                      <a:pt x="212" y="84"/>
                    </a:lnTo>
                    <a:lnTo>
                      <a:pt x="214" y="82"/>
                    </a:lnTo>
                    <a:lnTo>
                      <a:pt x="212" y="82"/>
                    </a:lnTo>
                    <a:lnTo>
                      <a:pt x="210" y="82"/>
                    </a:lnTo>
                    <a:lnTo>
                      <a:pt x="208" y="80"/>
                    </a:lnTo>
                    <a:lnTo>
                      <a:pt x="204" y="78"/>
                    </a:lnTo>
                    <a:lnTo>
                      <a:pt x="200" y="78"/>
                    </a:lnTo>
                    <a:lnTo>
                      <a:pt x="196" y="76"/>
                    </a:lnTo>
                    <a:lnTo>
                      <a:pt x="198" y="74"/>
                    </a:lnTo>
                    <a:lnTo>
                      <a:pt x="198" y="72"/>
                    </a:lnTo>
                    <a:lnTo>
                      <a:pt x="196" y="72"/>
                    </a:lnTo>
                    <a:lnTo>
                      <a:pt x="192" y="72"/>
                    </a:lnTo>
                    <a:lnTo>
                      <a:pt x="190" y="74"/>
                    </a:lnTo>
                    <a:lnTo>
                      <a:pt x="188" y="72"/>
                    </a:lnTo>
                    <a:lnTo>
                      <a:pt x="186" y="70"/>
                    </a:lnTo>
                    <a:lnTo>
                      <a:pt x="184" y="68"/>
                    </a:lnTo>
                    <a:lnTo>
                      <a:pt x="182" y="68"/>
                    </a:lnTo>
                    <a:lnTo>
                      <a:pt x="184" y="68"/>
                    </a:lnTo>
                    <a:lnTo>
                      <a:pt x="188" y="66"/>
                    </a:lnTo>
                    <a:lnTo>
                      <a:pt x="194" y="60"/>
                    </a:lnTo>
                    <a:lnTo>
                      <a:pt x="196" y="58"/>
                    </a:lnTo>
                    <a:lnTo>
                      <a:pt x="194" y="56"/>
                    </a:lnTo>
                    <a:lnTo>
                      <a:pt x="192" y="56"/>
                    </a:lnTo>
                    <a:lnTo>
                      <a:pt x="188" y="56"/>
                    </a:lnTo>
                    <a:lnTo>
                      <a:pt x="194" y="56"/>
                    </a:lnTo>
                    <a:lnTo>
                      <a:pt x="194" y="5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28" name="Freeform 514">
                <a:extLst>
                  <a:ext uri="{FF2B5EF4-FFF2-40B4-BE49-F238E27FC236}">
                    <a16:creationId xmlns:a16="http://schemas.microsoft.com/office/drawing/2014/main" id="{D4C4AFBF-682B-82F2-13EB-A9FDD4C81F45}"/>
                  </a:ext>
                </a:extLst>
              </p:cNvPr>
              <p:cNvSpPr>
                <a:spLocks/>
              </p:cNvSpPr>
              <p:nvPr/>
            </p:nvSpPr>
            <p:spPr bwMode="auto">
              <a:xfrm>
                <a:off x="5132503" y="3399161"/>
                <a:ext cx="213917" cy="151788"/>
              </a:xfrm>
              <a:custGeom>
                <a:avLst/>
                <a:gdLst/>
                <a:ahLst/>
                <a:cxnLst>
                  <a:cxn ang="0">
                    <a:pos x="194" y="104"/>
                  </a:cxn>
                  <a:cxn ang="0">
                    <a:pos x="180" y="114"/>
                  </a:cxn>
                  <a:cxn ang="0">
                    <a:pos x="168" y="118"/>
                  </a:cxn>
                  <a:cxn ang="0">
                    <a:pos x="156" y="124"/>
                  </a:cxn>
                  <a:cxn ang="0">
                    <a:pos x="138" y="122"/>
                  </a:cxn>
                  <a:cxn ang="0">
                    <a:pos x="146" y="132"/>
                  </a:cxn>
                  <a:cxn ang="0">
                    <a:pos x="150" y="134"/>
                  </a:cxn>
                  <a:cxn ang="0">
                    <a:pos x="158" y="138"/>
                  </a:cxn>
                  <a:cxn ang="0">
                    <a:pos x="172" y="138"/>
                  </a:cxn>
                  <a:cxn ang="0">
                    <a:pos x="160" y="146"/>
                  </a:cxn>
                  <a:cxn ang="0">
                    <a:pos x="134" y="142"/>
                  </a:cxn>
                  <a:cxn ang="0">
                    <a:pos x="124" y="134"/>
                  </a:cxn>
                  <a:cxn ang="0">
                    <a:pos x="136" y="130"/>
                  </a:cxn>
                  <a:cxn ang="0">
                    <a:pos x="132" y="124"/>
                  </a:cxn>
                  <a:cxn ang="0">
                    <a:pos x="120" y="128"/>
                  </a:cxn>
                  <a:cxn ang="0">
                    <a:pos x="108" y="122"/>
                  </a:cxn>
                  <a:cxn ang="0">
                    <a:pos x="114" y="118"/>
                  </a:cxn>
                  <a:cxn ang="0">
                    <a:pos x="100" y="116"/>
                  </a:cxn>
                  <a:cxn ang="0">
                    <a:pos x="84" y="112"/>
                  </a:cxn>
                  <a:cxn ang="0">
                    <a:pos x="80" y="100"/>
                  </a:cxn>
                  <a:cxn ang="0">
                    <a:pos x="74" y="84"/>
                  </a:cxn>
                  <a:cxn ang="0">
                    <a:pos x="56" y="70"/>
                  </a:cxn>
                  <a:cxn ang="0">
                    <a:pos x="44" y="76"/>
                  </a:cxn>
                  <a:cxn ang="0">
                    <a:pos x="32" y="84"/>
                  </a:cxn>
                  <a:cxn ang="0">
                    <a:pos x="22" y="90"/>
                  </a:cxn>
                  <a:cxn ang="0">
                    <a:pos x="8" y="84"/>
                  </a:cxn>
                  <a:cxn ang="0">
                    <a:pos x="2" y="72"/>
                  </a:cxn>
                  <a:cxn ang="0">
                    <a:pos x="12" y="66"/>
                  </a:cxn>
                  <a:cxn ang="0">
                    <a:pos x="14" y="48"/>
                  </a:cxn>
                  <a:cxn ang="0">
                    <a:pos x="14" y="30"/>
                  </a:cxn>
                  <a:cxn ang="0">
                    <a:pos x="16" y="16"/>
                  </a:cxn>
                  <a:cxn ang="0">
                    <a:pos x="18" y="6"/>
                  </a:cxn>
                  <a:cxn ang="0">
                    <a:pos x="26" y="8"/>
                  </a:cxn>
                  <a:cxn ang="0">
                    <a:pos x="58" y="8"/>
                  </a:cxn>
                  <a:cxn ang="0">
                    <a:pos x="70" y="6"/>
                  </a:cxn>
                  <a:cxn ang="0">
                    <a:pos x="78" y="6"/>
                  </a:cxn>
                  <a:cxn ang="0">
                    <a:pos x="96" y="8"/>
                  </a:cxn>
                  <a:cxn ang="0">
                    <a:pos x="106" y="0"/>
                  </a:cxn>
                  <a:cxn ang="0">
                    <a:pos x="116" y="0"/>
                  </a:cxn>
                  <a:cxn ang="0">
                    <a:pos x="126" y="4"/>
                  </a:cxn>
                  <a:cxn ang="0">
                    <a:pos x="130" y="14"/>
                  </a:cxn>
                  <a:cxn ang="0">
                    <a:pos x="134" y="20"/>
                  </a:cxn>
                  <a:cxn ang="0">
                    <a:pos x="148" y="24"/>
                  </a:cxn>
                  <a:cxn ang="0">
                    <a:pos x="156" y="28"/>
                  </a:cxn>
                  <a:cxn ang="0">
                    <a:pos x="166" y="40"/>
                  </a:cxn>
                  <a:cxn ang="0">
                    <a:pos x="186" y="36"/>
                  </a:cxn>
                  <a:cxn ang="0">
                    <a:pos x="194" y="44"/>
                  </a:cxn>
                  <a:cxn ang="0">
                    <a:pos x="212" y="58"/>
                  </a:cxn>
                  <a:cxn ang="0">
                    <a:pos x="216" y="66"/>
                  </a:cxn>
                  <a:cxn ang="0">
                    <a:pos x="218" y="70"/>
                  </a:cxn>
                  <a:cxn ang="0">
                    <a:pos x="220" y="82"/>
                  </a:cxn>
                  <a:cxn ang="0">
                    <a:pos x="206" y="96"/>
                  </a:cxn>
                </a:cxnLst>
                <a:rect l="0" t="0" r="r" b="b"/>
                <a:pathLst>
                  <a:path w="220" h="158">
                    <a:moveTo>
                      <a:pt x="202" y="104"/>
                    </a:moveTo>
                    <a:lnTo>
                      <a:pt x="202" y="104"/>
                    </a:lnTo>
                    <a:lnTo>
                      <a:pt x="196" y="104"/>
                    </a:lnTo>
                    <a:lnTo>
                      <a:pt x="194" y="104"/>
                    </a:lnTo>
                    <a:lnTo>
                      <a:pt x="192" y="108"/>
                    </a:lnTo>
                    <a:lnTo>
                      <a:pt x="188" y="108"/>
                    </a:lnTo>
                    <a:lnTo>
                      <a:pt x="182" y="110"/>
                    </a:lnTo>
                    <a:lnTo>
                      <a:pt x="180" y="114"/>
                    </a:lnTo>
                    <a:lnTo>
                      <a:pt x="176" y="114"/>
                    </a:lnTo>
                    <a:lnTo>
                      <a:pt x="172" y="114"/>
                    </a:lnTo>
                    <a:lnTo>
                      <a:pt x="170" y="118"/>
                    </a:lnTo>
                    <a:lnTo>
                      <a:pt x="168" y="118"/>
                    </a:lnTo>
                    <a:lnTo>
                      <a:pt x="166" y="116"/>
                    </a:lnTo>
                    <a:lnTo>
                      <a:pt x="164" y="116"/>
                    </a:lnTo>
                    <a:lnTo>
                      <a:pt x="156" y="122"/>
                    </a:lnTo>
                    <a:lnTo>
                      <a:pt x="156" y="124"/>
                    </a:lnTo>
                    <a:lnTo>
                      <a:pt x="150" y="124"/>
                    </a:lnTo>
                    <a:lnTo>
                      <a:pt x="146" y="124"/>
                    </a:lnTo>
                    <a:lnTo>
                      <a:pt x="146" y="122"/>
                    </a:lnTo>
                    <a:lnTo>
                      <a:pt x="138" y="122"/>
                    </a:lnTo>
                    <a:lnTo>
                      <a:pt x="138" y="126"/>
                    </a:lnTo>
                    <a:lnTo>
                      <a:pt x="142" y="128"/>
                    </a:lnTo>
                    <a:lnTo>
                      <a:pt x="144" y="128"/>
                    </a:lnTo>
                    <a:lnTo>
                      <a:pt x="146" y="132"/>
                    </a:lnTo>
                    <a:lnTo>
                      <a:pt x="148" y="132"/>
                    </a:lnTo>
                    <a:lnTo>
                      <a:pt x="150" y="132"/>
                    </a:lnTo>
                    <a:lnTo>
                      <a:pt x="150" y="134"/>
                    </a:lnTo>
                    <a:lnTo>
                      <a:pt x="150" y="134"/>
                    </a:lnTo>
                    <a:lnTo>
                      <a:pt x="150" y="136"/>
                    </a:lnTo>
                    <a:lnTo>
                      <a:pt x="152" y="136"/>
                    </a:lnTo>
                    <a:lnTo>
                      <a:pt x="152" y="138"/>
                    </a:lnTo>
                    <a:lnTo>
                      <a:pt x="158" y="138"/>
                    </a:lnTo>
                    <a:lnTo>
                      <a:pt x="166" y="138"/>
                    </a:lnTo>
                    <a:lnTo>
                      <a:pt x="168" y="138"/>
                    </a:lnTo>
                    <a:lnTo>
                      <a:pt x="170" y="136"/>
                    </a:lnTo>
                    <a:lnTo>
                      <a:pt x="172" y="138"/>
                    </a:lnTo>
                    <a:lnTo>
                      <a:pt x="172" y="140"/>
                    </a:lnTo>
                    <a:lnTo>
                      <a:pt x="170" y="144"/>
                    </a:lnTo>
                    <a:lnTo>
                      <a:pt x="164" y="146"/>
                    </a:lnTo>
                    <a:lnTo>
                      <a:pt x="160" y="146"/>
                    </a:lnTo>
                    <a:lnTo>
                      <a:pt x="152" y="150"/>
                    </a:lnTo>
                    <a:lnTo>
                      <a:pt x="132" y="158"/>
                    </a:lnTo>
                    <a:lnTo>
                      <a:pt x="134" y="150"/>
                    </a:lnTo>
                    <a:lnTo>
                      <a:pt x="134" y="142"/>
                    </a:lnTo>
                    <a:lnTo>
                      <a:pt x="126" y="138"/>
                    </a:lnTo>
                    <a:lnTo>
                      <a:pt x="120" y="140"/>
                    </a:lnTo>
                    <a:lnTo>
                      <a:pt x="122" y="136"/>
                    </a:lnTo>
                    <a:lnTo>
                      <a:pt x="124" y="134"/>
                    </a:lnTo>
                    <a:lnTo>
                      <a:pt x="134" y="132"/>
                    </a:lnTo>
                    <a:lnTo>
                      <a:pt x="134" y="132"/>
                    </a:lnTo>
                    <a:lnTo>
                      <a:pt x="136" y="132"/>
                    </a:lnTo>
                    <a:lnTo>
                      <a:pt x="136" y="130"/>
                    </a:lnTo>
                    <a:lnTo>
                      <a:pt x="134" y="126"/>
                    </a:lnTo>
                    <a:lnTo>
                      <a:pt x="134" y="126"/>
                    </a:lnTo>
                    <a:lnTo>
                      <a:pt x="132" y="126"/>
                    </a:lnTo>
                    <a:lnTo>
                      <a:pt x="132" y="124"/>
                    </a:lnTo>
                    <a:lnTo>
                      <a:pt x="124" y="124"/>
                    </a:lnTo>
                    <a:lnTo>
                      <a:pt x="124" y="126"/>
                    </a:lnTo>
                    <a:lnTo>
                      <a:pt x="122" y="128"/>
                    </a:lnTo>
                    <a:lnTo>
                      <a:pt x="120" y="128"/>
                    </a:lnTo>
                    <a:lnTo>
                      <a:pt x="118" y="124"/>
                    </a:lnTo>
                    <a:lnTo>
                      <a:pt x="114" y="124"/>
                    </a:lnTo>
                    <a:lnTo>
                      <a:pt x="114" y="122"/>
                    </a:lnTo>
                    <a:lnTo>
                      <a:pt x="108" y="122"/>
                    </a:lnTo>
                    <a:lnTo>
                      <a:pt x="110" y="120"/>
                    </a:lnTo>
                    <a:lnTo>
                      <a:pt x="116" y="120"/>
                    </a:lnTo>
                    <a:lnTo>
                      <a:pt x="116" y="118"/>
                    </a:lnTo>
                    <a:lnTo>
                      <a:pt x="114" y="118"/>
                    </a:lnTo>
                    <a:lnTo>
                      <a:pt x="112" y="114"/>
                    </a:lnTo>
                    <a:lnTo>
                      <a:pt x="110" y="114"/>
                    </a:lnTo>
                    <a:lnTo>
                      <a:pt x="110" y="116"/>
                    </a:lnTo>
                    <a:lnTo>
                      <a:pt x="100" y="116"/>
                    </a:lnTo>
                    <a:lnTo>
                      <a:pt x="98" y="118"/>
                    </a:lnTo>
                    <a:lnTo>
                      <a:pt x="96" y="118"/>
                    </a:lnTo>
                    <a:lnTo>
                      <a:pt x="92" y="124"/>
                    </a:lnTo>
                    <a:lnTo>
                      <a:pt x="84" y="112"/>
                    </a:lnTo>
                    <a:lnTo>
                      <a:pt x="82" y="110"/>
                    </a:lnTo>
                    <a:lnTo>
                      <a:pt x="80" y="108"/>
                    </a:lnTo>
                    <a:lnTo>
                      <a:pt x="80" y="104"/>
                    </a:lnTo>
                    <a:lnTo>
                      <a:pt x="80" y="100"/>
                    </a:lnTo>
                    <a:lnTo>
                      <a:pt x="78" y="96"/>
                    </a:lnTo>
                    <a:lnTo>
                      <a:pt x="76" y="94"/>
                    </a:lnTo>
                    <a:lnTo>
                      <a:pt x="76" y="90"/>
                    </a:lnTo>
                    <a:lnTo>
                      <a:pt x="74" y="84"/>
                    </a:lnTo>
                    <a:lnTo>
                      <a:pt x="70" y="80"/>
                    </a:lnTo>
                    <a:lnTo>
                      <a:pt x="66" y="76"/>
                    </a:lnTo>
                    <a:lnTo>
                      <a:pt x="60" y="72"/>
                    </a:lnTo>
                    <a:lnTo>
                      <a:pt x="56" y="70"/>
                    </a:lnTo>
                    <a:lnTo>
                      <a:pt x="52" y="72"/>
                    </a:lnTo>
                    <a:lnTo>
                      <a:pt x="48" y="72"/>
                    </a:lnTo>
                    <a:lnTo>
                      <a:pt x="44" y="74"/>
                    </a:lnTo>
                    <a:lnTo>
                      <a:pt x="44" y="76"/>
                    </a:lnTo>
                    <a:lnTo>
                      <a:pt x="42" y="76"/>
                    </a:lnTo>
                    <a:lnTo>
                      <a:pt x="38" y="80"/>
                    </a:lnTo>
                    <a:lnTo>
                      <a:pt x="36" y="82"/>
                    </a:lnTo>
                    <a:lnTo>
                      <a:pt x="32" y="84"/>
                    </a:lnTo>
                    <a:lnTo>
                      <a:pt x="30" y="84"/>
                    </a:lnTo>
                    <a:lnTo>
                      <a:pt x="30" y="86"/>
                    </a:lnTo>
                    <a:lnTo>
                      <a:pt x="26" y="88"/>
                    </a:lnTo>
                    <a:lnTo>
                      <a:pt x="22" y="90"/>
                    </a:lnTo>
                    <a:lnTo>
                      <a:pt x="20" y="86"/>
                    </a:lnTo>
                    <a:lnTo>
                      <a:pt x="16" y="84"/>
                    </a:lnTo>
                    <a:lnTo>
                      <a:pt x="12" y="84"/>
                    </a:lnTo>
                    <a:lnTo>
                      <a:pt x="8" y="84"/>
                    </a:lnTo>
                    <a:lnTo>
                      <a:pt x="4" y="82"/>
                    </a:lnTo>
                    <a:lnTo>
                      <a:pt x="2" y="78"/>
                    </a:lnTo>
                    <a:lnTo>
                      <a:pt x="0" y="78"/>
                    </a:lnTo>
                    <a:lnTo>
                      <a:pt x="2" y="72"/>
                    </a:lnTo>
                    <a:lnTo>
                      <a:pt x="6" y="70"/>
                    </a:lnTo>
                    <a:lnTo>
                      <a:pt x="8" y="70"/>
                    </a:lnTo>
                    <a:lnTo>
                      <a:pt x="12" y="68"/>
                    </a:lnTo>
                    <a:lnTo>
                      <a:pt x="12" y="66"/>
                    </a:lnTo>
                    <a:lnTo>
                      <a:pt x="10" y="62"/>
                    </a:lnTo>
                    <a:lnTo>
                      <a:pt x="10" y="58"/>
                    </a:lnTo>
                    <a:lnTo>
                      <a:pt x="10" y="56"/>
                    </a:lnTo>
                    <a:lnTo>
                      <a:pt x="14" y="48"/>
                    </a:lnTo>
                    <a:lnTo>
                      <a:pt x="18" y="40"/>
                    </a:lnTo>
                    <a:lnTo>
                      <a:pt x="16" y="36"/>
                    </a:lnTo>
                    <a:lnTo>
                      <a:pt x="14" y="32"/>
                    </a:lnTo>
                    <a:lnTo>
                      <a:pt x="14" y="30"/>
                    </a:lnTo>
                    <a:lnTo>
                      <a:pt x="14" y="26"/>
                    </a:lnTo>
                    <a:lnTo>
                      <a:pt x="16" y="20"/>
                    </a:lnTo>
                    <a:lnTo>
                      <a:pt x="16" y="18"/>
                    </a:lnTo>
                    <a:lnTo>
                      <a:pt x="16" y="16"/>
                    </a:lnTo>
                    <a:lnTo>
                      <a:pt x="14" y="10"/>
                    </a:lnTo>
                    <a:lnTo>
                      <a:pt x="14" y="8"/>
                    </a:lnTo>
                    <a:lnTo>
                      <a:pt x="16" y="6"/>
                    </a:lnTo>
                    <a:lnTo>
                      <a:pt x="18" y="6"/>
                    </a:lnTo>
                    <a:lnTo>
                      <a:pt x="20" y="6"/>
                    </a:lnTo>
                    <a:lnTo>
                      <a:pt x="22" y="8"/>
                    </a:lnTo>
                    <a:lnTo>
                      <a:pt x="24" y="10"/>
                    </a:lnTo>
                    <a:lnTo>
                      <a:pt x="26" y="8"/>
                    </a:lnTo>
                    <a:lnTo>
                      <a:pt x="28" y="6"/>
                    </a:lnTo>
                    <a:lnTo>
                      <a:pt x="38" y="6"/>
                    </a:lnTo>
                    <a:lnTo>
                      <a:pt x="52" y="6"/>
                    </a:lnTo>
                    <a:lnTo>
                      <a:pt x="58" y="8"/>
                    </a:lnTo>
                    <a:lnTo>
                      <a:pt x="64" y="6"/>
                    </a:lnTo>
                    <a:lnTo>
                      <a:pt x="68" y="6"/>
                    </a:lnTo>
                    <a:lnTo>
                      <a:pt x="70" y="10"/>
                    </a:lnTo>
                    <a:lnTo>
                      <a:pt x="70" y="6"/>
                    </a:lnTo>
                    <a:lnTo>
                      <a:pt x="72" y="8"/>
                    </a:lnTo>
                    <a:lnTo>
                      <a:pt x="74" y="8"/>
                    </a:lnTo>
                    <a:lnTo>
                      <a:pt x="76" y="8"/>
                    </a:lnTo>
                    <a:lnTo>
                      <a:pt x="78" y="6"/>
                    </a:lnTo>
                    <a:lnTo>
                      <a:pt x="82" y="8"/>
                    </a:lnTo>
                    <a:lnTo>
                      <a:pt x="88" y="8"/>
                    </a:lnTo>
                    <a:lnTo>
                      <a:pt x="94" y="8"/>
                    </a:lnTo>
                    <a:lnTo>
                      <a:pt x="96" y="8"/>
                    </a:lnTo>
                    <a:lnTo>
                      <a:pt x="98" y="6"/>
                    </a:lnTo>
                    <a:lnTo>
                      <a:pt x="98" y="2"/>
                    </a:lnTo>
                    <a:lnTo>
                      <a:pt x="100" y="0"/>
                    </a:lnTo>
                    <a:lnTo>
                      <a:pt x="106" y="0"/>
                    </a:lnTo>
                    <a:lnTo>
                      <a:pt x="108" y="4"/>
                    </a:lnTo>
                    <a:lnTo>
                      <a:pt x="112" y="4"/>
                    </a:lnTo>
                    <a:lnTo>
                      <a:pt x="114" y="2"/>
                    </a:lnTo>
                    <a:lnTo>
                      <a:pt x="116" y="0"/>
                    </a:lnTo>
                    <a:lnTo>
                      <a:pt x="120" y="2"/>
                    </a:lnTo>
                    <a:lnTo>
                      <a:pt x="124" y="2"/>
                    </a:lnTo>
                    <a:lnTo>
                      <a:pt x="126" y="2"/>
                    </a:lnTo>
                    <a:lnTo>
                      <a:pt x="126" y="4"/>
                    </a:lnTo>
                    <a:lnTo>
                      <a:pt x="128" y="6"/>
                    </a:lnTo>
                    <a:lnTo>
                      <a:pt x="128" y="8"/>
                    </a:lnTo>
                    <a:lnTo>
                      <a:pt x="130" y="12"/>
                    </a:lnTo>
                    <a:lnTo>
                      <a:pt x="130" y="14"/>
                    </a:lnTo>
                    <a:lnTo>
                      <a:pt x="132" y="14"/>
                    </a:lnTo>
                    <a:lnTo>
                      <a:pt x="132" y="16"/>
                    </a:lnTo>
                    <a:lnTo>
                      <a:pt x="132" y="18"/>
                    </a:lnTo>
                    <a:lnTo>
                      <a:pt x="134" y="20"/>
                    </a:lnTo>
                    <a:lnTo>
                      <a:pt x="134" y="20"/>
                    </a:lnTo>
                    <a:lnTo>
                      <a:pt x="138" y="20"/>
                    </a:lnTo>
                    <a:lnTo>
                      <a:pt x="142" y="20"/>
                    </a:lnTo>
                    <a:lnTo>
                      <a:pt x="148" y="24"/>
                    </a:lnTo>
                    <a:lnTo>
                      <a:pt x="152" y="22"/>
                    </a:lnTo>
                    <a:lnTo>
                      <a:pt x="154" y="22"/>
                    </a:lnTo>
                    <a:lnTo>
                      <a:pt x="154" y="24"/>
                    </a:lnTo>
                    <a:lnTo>
                      <a:pt x="156" y="28"/>
                    </a:lnTo>
                    <a:lnTo>
                      <a:pt x="162" y="30"/>
                    </a:lnTo>
                    <a:lnTo>
                      <a:pt x="164" y="32"/>
                    </a:lnTo>
                    <a:lnTo>
                      <a:pt x="164" y="36"/>
                    </a:lnTo>
                    <a:lnTo>
                      <a:pt x="166" y="40"/>
                    </a:lnTo>
                    <a:lnTo>
                      <a:pt x="174" y="36"/>
                    </a:lnTo>
                    <a:lnTo>
                      <a:pt x="178" y="34"/>
                    </a:lnTo>
                    <a:lnTo>
                      <a:pt x="182" y="34"/>
                    </a:lnTo>
                    <a:lnTo>
                      <a:pt x="186" y="36"/>
                    </a:lnTo>
                    <a:lnTo>
                      <a:pt x="186" y="38"/>
                    </a:lnTo>
                    <a:lnTo>
                      <a:pt x="188" y="40"/>
                    </a:lnTo>
                    <a:lnTo>
                      <a:pt x="192" y="42"/>
                    </a:lnTo>
                    <a:lnTo>
                      <a:pt x="194" y="44"/>
                    </a:lnTo>
                    <a:lnTo>
                      <a:pt x="212" y="50"/>
                    </a:lnTo>
                    <a:lnTo>
                      <a:pt x="214" y="54"/>
                    </a:lnTo>
                    <a:lnTo>
                      <a:pt x="212" y="56"/>
                    </a:lnTo>
                    <a:lnTo>
                      <a:pt x="212" y="58"/>
                    </a:lnTo>
                    <a:lnTo>
                      <a:pt x="216" y="60"/>
                    </a:lnTo>
                    <a:lnTo>
                      <a:pt x="218" y="60"/>
                    </a:lnTo>
                    <a:lnTo>
                      <a:pt x="218" y="62"/>
                    </a:lnTo>
                    <a:lnTo>
                      <a:pt x="216" y="66"/>
                    </a:lnTo>
                    <a:lnTo>
                      <a:pt x="214" y="66"/>
                    </a:lnTo>
                    <a:lnTo>
                      <a:pt x="216" y="68"/>
                    </a:lnTo>
                    <a:lnTo>
                      <a:pt x="218" y="70"/>
                    </a:lnTo>
                    <a:lnTo>
                      <a:pt x="218" y="70"/>
                    </a:lnTo>
                    <a:lnTo>
                      <a:pt x="218" y="72"/>
                    </a:lnTo>
                    <a:lnTo>
                      <a:pt x="218" y="76"/>
                    </a:lnTo>
                    <a:lnTo>
                      <a:pt x="220" y="78"/>
                    </a:lnTo>
                    <a:lnTo>
                      <a:pt x="220" y="82"/>
                    </a:lnTo>
                    <a:lnTo>
                      <a:pt x="218" y="92"/>
                    </a:lnTo>
                    <a:lnTo>
                      <a:pt x="216" y="94"/>
                    </a:lnTo>
                    <a:lnTo>
                      <a:pt x="212" y="94"/>
                    </a:lnTo>
                    <a:lnTo>
                      <a:pt x="206" y="96"/>
                    </a:lnTo>
                    <a:lnTo>
                      <a:pt x="204" y="100"/>
                    </a:lnTo>
                    <a:lnTo>
                      <a:pt x="202" y="104"/>
                    </a:lnTo>
                    <a:lnTo>
                      <a:pt x="202" y="10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29" name="Freeform 515">
                <a:extLst>
                  <a:ext uri="{FF2B5EF4-FFF2-40B4-BE49-F238E27FC236}">
                    <a16:creationId xmlns:a16="http://schemas.microsoft.com/office/drawing/2014/main" id="{A5CDE800-E30F-F723-540F-5B97073F259F}"/>
                  </a:ext>
                </a:extLst>
              </p:cNvPr>
              <p:cNvSpPr>
                <a:spLocks/>
              </p:cNvSpPr>
              <p:nvPr/>
            </p:nvSpPr>
            <p:spPr bwMode="auto">
              <a:xfrm>
                <a:off x="5496160" y="3575927"/>
                <a:ext cx="180857" cy="124889"/>
              </a:xfrm>
              <a:custGeom>
                <a:avLst/>
                <a:gdLst/>
                <a:ahLst/>
                <a:cxnLst>
                  <a:cxn ang="0">
                    <a:pos x="4" y="20"/>
                  </a:cxn>
                  <a:cxn ang="0">
                    <a:pos x="4" y="16"/>
                  </a:cxn>
                  <a:cxn ang="0">
                    <a:pos x="20" y="12"/>
                  </a:cxn>
                  <a:cxn ang="0">
                    <a:pos x="30" y="28"/>
                  </a:cxn>
                  <a:cxn ang="0">
                    <a:pos x="24" y="34"/>
                  </a:cxn>
                  <a:cxn ang="0">
                    <a:pos x="10" y="36"/>
                  </a:cxn>
                  <a:cxn ang="0">
                    <a:pos x="6" y="36"/>
                  </a:cxn>
                  <a:cxn ang="0">
                    <a:pos x="2" y="52"/>
                  </a:cxn>
                  <a:cxn ang="0">
                    <a:pos x="8" y="50"/>
                  </a:cxn>
                  <a:cxn ang="0">
                    <a:pos x="20" y="50"/>
                  </a:cxn>
                  <a:cxn ang="0">
                    <a:pos x="12" y="54"/>
                  </a:cxn>
                  <a:cxn ang="0">
                    <a:pos x="20" y="66"/>
                  </a:cxn>
                  <a:cxn ang="0">
                    <a:pos x="20" y="76"/>
                  </a:cxn>
                  <a:cxn ang="0">
                    <a:pos x="18" y="90"/>
                  </a:cxn>
                  <a:cxn ang="0">
                    <a:pos x="32" y="90"/>
                  </a:cxn>
                  <a:cxn ang="0">
                    <a:pos x="38" y="82"/>
                  </a:cxn>
                  <a:cxn ang="0">
                    <a:pos x="58" y="78"/>
                  </a:cxn>
                  <a:cxn ang="0">
                    <a:pos x="84" y="84"/>
                  </a:cxn>
                  <a:cxn ang="0">
                    <a:pos x="110" y="98"/>
                  </a:cxn>
                  <a:cxn ang="0">
                    <a:pos x="120" y="110"/>
                  </a:cxn>
                  <a:cxn ang="0">
                    <a:pos x="128" y="122"/>
                  </a:cxn>
                  <a:cxn ang="0">
                    <a:pos x="134" y="128"/>
                  </a:cxn>
                  <a:cxn ang="0">
                    <a:pos x="148" y="118"/>
                  </a:cxn>
                  <a:cxn ang="0">
                    <a:pos x="158" y="100"/>
                  </a:cxn>
                  <a:cxn ang="0">
                    <a:pos x="168" y="94"/>
                  </a:cxn>
                  <a:cxn ang="0">
                    <a:pos x="178" y="90"/>
                  </a:cxn>
                  <a:cxn ang="0">
                    <a:pos x="184" y="80"/>
                  </a:cxn>
                  <a:cxn ang="0">
                    <a:pos x="168" y="76"/>
                  </a:cxn>
                  <a:cxn ang="0">
                    <a:pos x="152" y="68"/>
                  </a:cxn>
                  <a:cxn ang="0">
                    <a:pos x="136" y="58"/>
                  </a:cxn>
                  <a:cxn ang="0">
                    <a:pos x="128" y="42"/>
                  </a:cxn>
                  <a:cxn ang="0">
                    <a:pos x="118" y="28"/>
                  </a:cxn>
                  <a:cxn ang="0">
                    <a:pos x="100" y="34"/>
                  </a:cxn>
                  <a:cxn ang="0">
                    <a:pos x="94" y="26"/>
                  </a:cxn>
                  <a:cxn ang="0">
                    <a:pos x="84" y="8"/>
                  </a:cxn>
                  <a:cxn ang="0">
                    <a:pos x="74" y="0"/>
                  </a:cxn>
                  <a:cxn ang="0">
                    <a:pos x="62" y="8"/>
                  </a:cxn>
                  <a:cxn ang="0">
                    <a:pos x="62" y="18"/>
                  </a:cxn>
                  <a:cxn ang="0">
                    <a:pos x="44" y="18"/>
                  </a:cxn>
                  <a:cxn ang="0">
                    <a:pos x="26" y="8"/>
                  </a:cxn>
                  <a:cxn ang="0">
                    <a:pos x="8" y="6"/>
                  </a:cxn>
                  <a:cxn ang="0">
                    <a:pos x="2" y="14"/>
                  </a:cxn>
                  <a:cxn ang="0">
                    <a:pos x="0" y="16"/>
                  </a:cxn>
                </a:cxnLst>
                <a:rect l="0" t="0" r="r" b="b"/>
                <a:pathLst>
                  <a:path w="186" h="130">
                    <a:moveTo>
                      <a:pt x="0" y="16"/>
                    </a:moveTo>
                    <a:lnTo>
                      <a:pt x="0" y="16"/>
                    </a:lnTo>
                    <a:lnTo>
                      <a:pt x="4" y="20"/>
                    </a:lnTo>
                    <a:lnTo>
                      <a:pt x="6" y="20"/>
                    </a:lnTo>
                    <a:lnTo>
                      <a:pt x="6" y="18"/>
                    </a:lnTo>
                    <a:lnTo>
                      <a:pt x="4" y="16"/>
                    </a:lnTo>
                    <a:lnTo>
                      <a:pt x="8" y="14"/>
                    </a:lnTo>
                    <a:lnTo>
                      <a:pt x="10" y="10"/>
                    </a:lnTo>
                    <a:lnTo>
                      <a:pt x="20" y="12"/>
                    </a:lnTo>
                    <a:lnTo>
                      <a:pt x="20" y="18"/>
                    </a:lnTo>
                    <a:lnTo>
                      <a:pt x="26" y="24"/>
                    </a:lnTo>
                    <a:lnTo>
                      <a:pt x="30" y="28"/>
                    </a:lnTo>
                    <a:lnTo>
                      <a:pt x="30" y="30"/>
                    </a:lnTo>
                    <a:lnTo>
                      <a:pt x="28" y="34"/>
                    </a:lnTo>
                    <a:lnTo>
                      <a:pt x="24" y="34"/>
                    </a:lnTo>
                    <a:lnTo>
                      <a:pt x="24" y="36"/>
                    </a:lnTo>
                    <a:lnTo>
                      <a:pt x="24" y="38"/>
                    </a:lnTo>
                    <a:lnTo>
                      <a:pt x="10" y="36"/>
                    </a:lnTo>
                    <a:lnTo>
                      <a:pt x="8" y="30"/>
                    </a:lnTo>
                    <a:lnTo>
                      <a:pt x="6" y="30"/>
                    </a:lnTo>
                    <a:lnTo>
                      <a:pt x="6" y="36"/>
                    </a:lnTo>
                    <a:lnTo>
                      <a:pt x="4" y="44"/>
                    </a:lnTo>
                    <a:lnTo>
                      <a:pt x="2" y="50"/>
                    </a:lnTo>
                    <a:lnTo>
                      <a:pt x="2" y="52"/>
                    </a:lnTo>
                    <a:lnTo>
                      <a:pt x="4" y="52"/>
                    </a:lnTo>
                    <a:lnTo>
                      <a:pt x="6" y="52"/>
                    </a:lnTo>
                    <a:lnTo>
                      <a:pt x="8" y="50"/>
                    </a:lnTo>
                    <a:lnTo>
                      <a:pt x="10" y="48"/>
                    </a:lnTo>
                    <a:lnTo>
                      <a:pt x="16" y="48"/>
                    </a:lnTo>
                    <a:lnTo>
                      <a:pt x="20" y="50"/>
                    </a:lnTo>
                    <a:lnTo>
                      <a:pt x="16" y="50"/>
                    </a:lnTo>
                    <a:lnTo>
                      <a:pt x="12" y="50"/>
                    </a:lnTo>
                    <a:lnTo>
                      <a:pt x="12" y="54"/>
                    </a:lnTo>
                    <a:lnTo>
                      <a:pt x="16" y="58"/>
                    </a:lnTo>
                    <a:lnTo>
                      <a:pt x="16" y="62"/>
                    </a:lnTo>
                    <a:lnTo>
                      <a:pt x="20" y="66"/>
                    </a:lnTo>
                    <a:lnTo>
                      <a:pt x="22" y="70"/>
                    </a:lnTo>
                    <a:lnTo>
                      <a:pt x="22" y="74"/>
                    </a:lnTo>
                    <a:lnTo>
                      <a:pt x="20" y="76"/>
                    </a:lnTo>
                    <a:lnTo>
                      <a:pt x="18" y="76"/>
                    </a:lnTo>
                    <a:lnTo>
                      <a:pt x="18" y="84"/>
                    </a:lnTo>
                    <a:lnTo>
                      <a:pt x="18" y="90"/>
                    </a:lnTo>
                    <a:lnTo>
                      <a:pt x="20" y="96"/>
                    </a:lnTo>
                    <a:lnTo>
                      <a:pt x="28" y="96"/>
                    </a:lnTo>
                    <a:lnTo>
                      <a:pt x="32" y="90"/>
                    </a:lnTo>
                    <a:lnTo>
                      <a:pt x="32" y="88"/>
                    </a:lnTo>
                    <a:lnTo>
                      <a:pt x="34" y="84"/>
                    </a:lnTo>
                    <a:lnTo>
                      <a:pt x="38" y="82"/>
                    </a:lnTo>
                    <a:lnTo>
                      <a:pt x="46" y="82"/>
                    </a:lnTo>
                    <a:lnTo>
                      <a:pt x="52" y="80"/>
                    </a:lnTo>
                    <a:lnTo>
                      <a:pt x="58" y="78"/>
                    </a:lnTo>
                    <a:lnTo>
                      <a:pt x="72" y="82"/>
                    </a:lnTo>
                    <a:lnTo>
                      <a:pt x="80" y="82"/>
                    </a:lnTo>
                    <a:lnTo>
                      <a:pt x="84" y="84"/>
                    </a:lnTo>
                    <a:lnTo>
                      <a:pt x="94" y="88"/>
                    </a:lnTo>
                    <a:lnTo>
                      <a:pt x="102" y="92"/>
                    </a:lnTo>
                    <a:lnTo>
                      <a:pt x="110" y="98"/>
                    </a:lnTo>
                    <a:lnTo>
                      <a:pt x="114" y="100"/>
                    </a:lnTo>
                    <a:lnTo>
                      <a:pt x="116" y="104"/>
                    </a:lnTo>
                    <a:lnTo>
                      <a:pt x="120" y="110"/>
                    </a:lnTo>
                    <a:lnTo>
                      <a:pt x="128" y="112"/>
                    </a:lnTo>
                    <a:lnTo>
                      <a:pt x="128" y="116"/>
                    </a:lnTo>
                    <a:lnTo>
                      <a:pt x="128" y="122"/>
                    </a:lnTo>
                    <a:lnTo>
                      <a:pt x="126" y="128"/>
                    </a:lnTo>
                    <a:lnTo>
                      <a:pt x="130" y="130"/>
                    </a:lnTo>
                    <a:lnTo>
                      <a:pt x="134" y="128"/>
                    </a:lnTo>
                    <a:lnTo>
                      <a:pt x="138" y="130"/>
                    </a:lnTo>
                    <a:lnTo>
                      <a:pt x="150" y="124"/>
                    </a:lnTo>
                    <a:lnTo>
                      <a:pt x="148" y="118"/>
                    </a:lnTo>
                    <a:lnTo>
                      <a:pt x="156" y="112"/>
                    </a:lnTo>
                    <a:lnTo>
                      <a:pt x="158" y="108"/>
                    </a:lnTo>
                    <a:lnTo>
                      <a:pt x="158" y="100"/>
                    </a:lnTo>
                    <a:lnTo>
                      <a:pt x="160" y="96"/>
                    </a:lnTo>
                    <a:lnTo>
                      <a:pt x="162" y="92"/>
                    </a:lnTo>
                    <a:lnTo>
                      <a:pt x="168" y="94"/>
                    </a:lnTo>
                    <a:lnTo>
                      <a:pt x="172" y="96"/>
                    </a:lnTo>
                    <a:lnTo>
                      <a:pt x="178" y="98"/>
                    </a:lnTo>
                    <a:lnTo>
                      <a:pt x="178" y="90"/>
                    </a:lnTo>
                    <a:lnTo>
                      <a:pt x="178" y="86"/>
                    </a:lnTo>
                    <a:lnTo>
                      <a:pt x="186" y="82"/>
                    </a:lnTo>
                    <a:lnTo>
                      <a:pt x="184" y="80"/>
                    </a:lnTo>
                    <a:lnTo>
                      <a:pt x="178" y="80"/>
                    </a:lnTo>
                    <a:lnTo>
                      <a:pt x="174" y="76"/>
                    </a:lnTo>
                    <a:lnTo>
                      <a:pt x="168" y="76"/>
                    </a:lnTo>
                    <a:lnTo>
                      <a:pt x="164" y="72"/>
                    </a:lnTo>
                    <a:lnTo>
                      <a:pt x="156" y="74"/>
                    </a:lnTo>
                    <a:lnTo>
                      <a:pt x="152" y="68"/>
                    </a:lnTo>
                    <a:lnTo>
                      <a:pt x="146" y="62"/>
                    </a:lnTo>
                    <a:lnTo>
                      <a:pt x="140" y="60"/>
                    </a:lnTo>
                    <a:lnTo>
                      <a:pt x="136" y="58"/>
                    </a:lnTo>
                    <a:lnTo>
                      <a:pt x="134" y="50"/>
                    </a:lnTo>
                    <a:lnTo>
                      <a:pt x="130" y="46"/>
                    </a:lnTo>
                    <a:lnTo>
                      <a:pt x="128" y="42"/>
                    </a:lnTo>
                    <a:lnTo>
                      <a:pt x="128" y="36"/>
                    </a:lnTo>
                    <a:lnTo>
                      <a:pt x="124" y="28"/>
                    </a:lnTo>
                    <a:lnTo>
                      <a:pt x="118" y="28"/>
                    </a:lnTo>
                    <a:lnTo>
                      <a:pt x="110" y="28"/>
                    </a:lnTo>
                    <a:lnTo>
                      <a:pt x="106" y="30"/>
                    </a:lnTo>
                    <a:lnTo>
                      <a:pt x="100" y="34"/>
                    </a:lnTo>
                    <a:lnTo>
                      <a:pt x="94" y="32"/>
                    </a:lnTo>
                    <a:lnTo>
                      <a:pt x="92" y="30"/>
                    </a:lnTo>
                    <a:lnTo>
                      <a:pt x="94" y="26"/>
                    </a:lnTo>
                    <a:lnTo>
                      <a:pt x="94" y="20"/>
                    </a:lnTo>
                    <a:lnTo>
                      <a:pt x="86" y="18"/>
                    </a:lnTo>
                    <a:lnTo>
                      <a:pt x="84" y="8"/>
                    </a:lnTo>
                    <a:lnTo>
                      <a:pt x="82" y="2"/>
                    </a:lnTo>
                    <a:lnTo>
                      <a:pt x="78" y="0"/>
                    </a:lnTo>
                    <a:lnTo>
                      <a:pt x="74" y="0"/>
                    </a:lnTo>
                    <a:lnTo>
                      <a:pt x="70" y="4"/>
                    </a:lnTo>
                    <a:lnTo>
                      <a:pt x="68" y="8"/>
                    </a:lnTo>
                    <a:lnTo>
                      <a:pt x="62" y="8"/>
                    </a:lnTo>
                    <a:lnTo>
                      <a:pt x="60" y="8"/>
                    </a:lnTo>
                    <a:lnTo>
                      <a:pt x="60" y="14"/>
                    </a:lnTo>
                    <a:lnTo>
                      <a:pt x="62" y="18"/>
                    </a:lnTo>
                    <a:lnTo>
                      <a:pt x="62" y="20"/>
                    </a:lnTo>
                    <a:lnTo>
                      <a:pt x="48" y="18"/>
                    </a:lnTo>
                    <a:lnTo>
                      <a:pt x="44" y="18"/>
                    </a:lnTo>
                    <a:lnTo>
                      <a:pt x="36" y="18"/>
                    </a:lnTo>
                    <a:lnTo>
                      <a:pt x="30" y="10"/>
                    </a:lnTo>
                    <a:lnTo>
                      <a:pt x="26" y="8"/>
                    </a:lnTo>
                    <a:lnTo>
                      <a:pt x="22" y="6"/>
                    </a:lnTo>
                    <a:lnTo>
                      <a:pt x="18" y="6"/>
                    </a:lnTo>
                    <a:lnTo>
                      <a:pt x="8" y="6"/>
                    </a:lnTo>
                    <a:lnTo>
                      <a:pt x="4" y="8"/>
                    </a:lnTo>
                    <a:lnTo>
                      <a:pt x="4" y="12"/>
                    </a:lnTo>
                    <a:lnTo>
                      <a:pt x="2" y="14"/>
                    </a:lnTo>
                    <a:lnTo>
                      <a:pt x="2" y="16"/>
                    </a:lnTo>
                    <a:lnTo>
                      <a:pt x="0" y="16"/>
                    </a:lnTo>
                    <a:lnTo>
                      <a:pt x="0" y="1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30" name="Freeform 516">
                <a:extLst>
                  <a:ext uri="{FF2B5EF4-FFF2-40B4-BE49-F238E27FC236}">
                    <a16:creationId xmlns:a16="http://schemas.microsoft.com/office/drawing/2014/main" id="{45FA83F9-0F0E-E6E6-3EDD-FD8AC5021A21}"/>
                  </a:ext>
                </a:extLst>
              </p:cNvPr>
              <p:cNvSpPr>
                <a:spLocks/>
              </p:cNvSpPr>
              <p:nvPr/>
            </p:nvSpPr>
            <p:spPr bwMode="auto">
              <a:xfrm>
                <a:off x="4980817" y="3051393"/>
                <a:ext cx="159465" cy="288206"/>
              </a:xfrm>
              <a:custGeom>
                <a:avLst/>
                <a:gdLst/>
                <a:ahLst/>
                <a:cxnLst>
                  <a:cxn ang="0">
                    <a:pos x="160" y="50"/>
                  </a:cxn>
                  <a:cxn ang="0">
                    <a:pos x="158" y="36"/>
                  </a:cxn>
                  <a:cxn ang="0">
                    <a:pos x="156" y="26"/>
                  </a:cxn>
                  <a:cxn ang="0">
                    <a:pos x="146" y="14"/>
                  </a:cxn>
                  <a:cxn ang="0">
                    <a:pos x="130" y="4"/>
                  </a:cxn>
                  <a:cxn ang="0">
                    <a:pos x="118" y="0"/>
                  </a:cxn>
                  <a:cxn ang="0">
                    <a:pos x="116" y="18"/>
                  </a:cxn>
                  <a:cxn ang="0">
                    <a:pos x="100" y="18"/>
                  </a:cxn>
                  <a:cxn ang="0">
                    <a:pos x="100" y="28"/>
                  </a:cxn>
                  <a:cxn ang="0">
                    <a:pos x="84" y="26"/>
                  </a:cxn>
                  <a:cxn ang="0">
                    <a:pos x="78" y="42"/>
                  </a:cxn>
                  <a:cxn ang="0">
                    <a:pos x="70" y="50"/>
                  </a:cxn>
                  <a:cxn ang="0">
                    <a:pos x="62" y="60"/>
                  </a:cxn>
                  <a:cxn ang="0">
                    <a:pos x="52" y="80"/>
                  </a:cxn>
                  <a:cxn ang="0">
                    <a:pos x="48" y="98"/>
                  </a:cxn>
                  <a:cxn ang="0">
                    <a:pos x="40" y="100"/>
                  </a:cxn>
                  <a:cxn ang="0">
                    <a:pos x="26" y="104"/>
                  </a:cxn>
                  <a:cxn ang="0">
                    <a:pos x="18" y="114"/>
                  </a:cxn>
                  <a:cxn ang="0">
                    <a:pos x="12" y="124"/>
                  </a:cxn>
                  <a:cxn ang="0">
                    <a:pos x="12" y="142"/>
                  </a:cxn>
                  <a:cxn ang="0">
                    <a:pos x="10" y="162"/>
                  </a:cxn>
                  <a:cxn ang="0">
                    <a:pos x="16" y="172"/>
                  </a:cxn>
                  <a:cxn ang="0">
                    <a:pos x="10" y="182"/>
                  </a:cxn>
                  <a:cxn ang="0">
                    <a:pos x="10" y="198"/>
                  </a:cxn>
                  <a:cxn ang="0">
                    <a:pos x="8" y="208"/>
                  </a:cxn>
                  <a:cxn ang="0">
                    <a:pos x="4" y="212"/>
                  </a:cxn>
                  <a:cxn ang="0">
                    <a:pos x="6" y="228"/>
                  </a:cxn>
                  <a:cxn ang="0">
                    <a:pos x="4" y="236"/>
                  </a:cxn>
                  <a:cxn ang="0">
                    <a:pos x="8" y="254"/>
                  </a:cxn>
                  <a:cxn ang="0">
                    <a:pos x="12" y="262"/>
                  </a:cxn>
                  <a:cxn ang="0">
                    <a:pos x="24" y="274"/>
                  </a:cxn>
                  <a:cxn ang="0">
                    <a:pos x="18" y="284"/>
                  </a:cxn>
                  <a:cxn ang="0">
                    <a:pos x="22" y="300"/>
                  </a:cxn>
                  <a:cxn ang="0">
                    <a:pos x="40" y="290"/>
                  </a:cxn>
                  <a:cxn ang="0">
                    <a:pos x="50" y="280"/>
                  </a:cxn>
                  <a:cxn ang="0">
                    <a:pos x="66" y="278"/>
                  </a:cxn>
                  <a:cxn ang="0">
                    <a:pos x="70" y="270"/>
                  </a:cxn>
                  <a:cxn ang="0">
                    <a:pos x="68" y="262"/>
                  </a:cxn>
                  <a:cxn ang="0">
                    <a:pos x="72" y="252"/>
                  </a:cxn>
                  <a:cxn ang="0">
                    <a:pos x="76" y="232"/>
                  </a:cxn>
                  <a:cxn ang="0">
                    <a:pos x="86" y="228"/>
                  </a:cxn>
                  <a:cxn ang="0">
                    <a:pos x="92" y="224"/>
                  </a:cxn>
                  <a:cxn ang="0">
                    <a:pos x="98" y="218"/>
                  </a:cxn>
                  <a:cxn ang="0">
                    <a:pos x="104" y="212"/>
                  </a:cxn>
                  <a:cxn ang="0">
                    <a:pos x="98" y="200"/>
                  </a:cxn>
                  <a:cxn ang="0">
                    <a:pos x="90" y="188"/>
                  </a:cxn>
                  <a:cxn ang="0">
                    <a:pos x="80" y="188"/>
                  </a:cxn>
                  <a:cxn ang="0">
                    <a:pos x="78" y="164"/>
                  </a:cxn>
                  <a:cxn ang="0">
                    <a:pos x="82" y="154"/>
                  </a:cxn>
                  <a:cxn ang="0">
                    <a:pos x="82" y="144"/>
                  </a:cxn>
                  <a:cxn ang="0">
                    <a:pos x="92" y="136"/>
                  </a:cxn>
                  <a:cxn ang="0">
                    <a:pos x="98" y="132"/>
                  </a:cxn>
                  <a:cxn ang="0">
                    <a:pos x="102" y="122"/>
                  </a:cxn>
                  <a:cxn ang="0">
                    <a:pos x="114" y="118"/>
                  </a:cxn>
                  <a:cxn ang="0">
                    <a:pos x="122" y="112"/>
                  </a:cxn>
                  <a:cxn ang="0">
                    <a:pos x="132" y="102"/>
                  </a:cxn>
                  <a:cxn ang="0">
                    <a:pos x="128" y="94"/>
                  </a:cxn>
                  <a:cxn ang="0">
                    <a:pos x="132" y="82"/>
                  </a:cxn>
                  <a:cxn ang="0">
                    <a:pos x="136" y="76"/>
                  </a:cxn>
                  <a:cxn ang="0">
                    <a:pos x="146" y="64"/>
                  </a:cxn>
                  <a:cxn ang="0">
                    <a:pos x="154" y="70"/>
                  </a:cxn>
                  <a:cxn ang="0">
                    <a:pos x="164" y="68"/>
                  </a:cxn>
                </a:cxnLst>
                <a:rect l="0" t="0" r="r" b="b"/>
                <a:pathLst>
                  <a:path w="164" h="300">
                    <a:moveTo>
                      <a:pt x="164" y="68"/>
                    </a:moveTo>
                    <a:lnTo>
                      <a:pt x="160" y="58"/>
                    </a:lnTo>
                    <a:lnTo>
                      <a:pt x="158" y="54"/>
                    </a:lnTo>
                    <a:lnTo>
                      <a:pt x="160" y="50"/>
                    </a:lnTo>
                    <a:lnTo>
                      <a:pt x="160" y="44"/>
                    </a:lnTo>
                    <a:lnTo>
                      <a:pt x="160" y="42"/>
                    </a:lnTo>
                    <a:lnTo>
                      <a:pt x="158" y="38"/>
                    </a:lnTo>
                    <a:lnTo>
                      <a:pt x="158" y="36"/>
                    </a:lnTo>
                    <a:lnTo>
                      <a:pt x="158" y="34"/>
                    </a:lnTo>
                    <a:lnTo>
                      <a:pt x="158" y="32"/>
                    </a:lnTo>
                    <a:lnTo>
                      <a:pt x="158" y="30"/>
                    </a:lnTo>
                    <a:lnTo>
                      <a:pt x="156" y="26"/>
                    </a:lnTo>
                    <a:lnTo>
                      <a:pt x="156" y="24"/>
                    </a:lnTo>
                    <a:lnTo>
                      <a:pt x="150" y="16"/>
                    </a:lnTo>
                    <a:lnTo>
                      <a:pt x="148" y="14"/>
                    </a:lnTo>
                    <a:lnTo>
                      <a:pt x="146" y="14"/>
                    </a:lnTo>
                    <a:lnTo>
                      <a:pt x="140" y="12"/>
                    </a:lnTo>
                    <a:lnTo>
                      <a:pt x="136" y="12"/>
                    </a:lnTo>
                    <a:lnTo>
                      <a:pt x="134" y="10"/>
                    </a:lnTo>
                    <a:lnTo>
                      <a:pt x="130" y="4"/>
                    </a:lnTo>
                    <a:lnTo>
                      <a:pt x="130" y="2"/>
                    </a:lnTo>
                    <a:lnTo>
                      <a:pt x="126" y="0"/>
                    </a:lnTo>
                    <a:lnTo>
                      <a:pt x="122" y="0"/>
                    </a:lnTo>
                    <a:lnTo>
                      <a:pt x="118" y="0"/>
                    </a:lnTo>
                    <a:lnTo>
                      <a:pt x="118" y="4"/>
                    </a:lnTo>
                    <a:lnTo>
                      <a:pt x="118" y="12"/>
                    </a:lnTo>
                    <a:lnTo>
                      <a:pt x="116" y="16"/>
                    </a:lnTo>
                    <a:lnTo>
                      <a:pt x="116" y="18"/>
                    </a:lnTo>
                    <a:lnTo>
                      <a:pt x="114" y="20"/>
                    </a:lnTo>
                    <a:lnTo>
                      <a:pt x="108" y="18"/>
                    </a:lnTo>
                    <a:lnTo>
                      <a:pt x="104" y="18"/>
                    </a:lnTo>
                    <a:lnTo>
                      <a:pt x="100" y="18"/>
                    </a:lnTo>
                    <a:lnTo>
                      <a:pt x="100" y="20"/>
                    </a:lnTo>
                    <a:lnTo>
                      <a:pt x="100" y="24"/>
                    </a:lnTo>
                    <a:lnTo>
                      <a:pt x="98" y="26"/>
                    </a:lnTo>
                    <a:lnTo>
                      <a:pt x="100" y="28"/>
                    </a:lnTo>
                    <a:lnTo>
                      <a:pt x="96" y="26"/>
                    </a:lnTo>
                    <a:lnTo>
                      <a:pt x="90" y="20"/>
                    </a:lnTo>
                    <a:lnTo>
                      <a:pt x="88" y="22"/>
                    </a:lnTo>
                    <a:lnTo>
                      <a:pt x="84" y="26"/>
                    </a:lnTo>
                    <a:lnTo>
                      <a:pt x="82" y="30"/>
                    </a:lnTo>
                    <a:lnTo>
                      <a:pt x="82" y="36"/>
                    </a:lnTo>
                    <a:lnTo>
                      <a:pt x="80" y="40"/>
                    </a:lnTo>
                    <a:lnTo>
                      <a:pt x="78" y="42"/>
                    </a:lnTo>
                    <a:lnTo>
                      <a:pt x="74" y="44"/>
                    </a:lnTo>
                    <a:lnTo>
                      <a:pt x="72" y="46"/>
                    </a:lnTo>
                    <a:lnTo>
                      <a:pt x="70" y="48"/>
                    </a:lnTo>
                    <a:lnTo>
                      <a:pt x="70" y="50"/>
                    </a:lnTo>
                    <a:lnTo>
                      <a:pt x="66" y="50"/>
                    </a:lnTo>
                    <a:lnTo>
                      <a:pt x="64" y="52"/>
                    </a:lnTo>
                    <a:lnTo>
                      <a:pt x="62" y="54"/>
                    </a:lnTo>
                    <a:lnTo>
                      <a:pt x="62" y="60"/>
                    </a:lnTo>
                    <a:lnTo>
                      <a:pt x="60" y="68"/>
                    </a:lnTo>
                    <a:lnTo>
                      <a:pt x="56" y="74"/>
                    </a:lnTo>
                    <a:lnTo>
                      <a:pt x="54" y="78"/>
                    </a:lnTo>
                    <a:lnTo>
                      <a:pt x="52" y="80"/>
                    </a:lnTo>
                    <a:lnTo>
                      <a:pt x="50" y="82"/>
                    </a:lnTo>
                    <a:lnTo>
                      <a:pt x="48" y="84"/>
                    </a:lnTo>
                    <a:lnTo>
                      <a:pt x="50" y="90"/>
                    </a:lnTo>
                    <a:lnTo>
                      <a:pt x="48" y="98"/>
                    </a:lnTo>
                    <a:lnTo>
                      <a:pt x="48" y="102"/>
                    </a:lnTo>
                    <a:lnTo>
                      <a:pt x="46" y="104"/>
                    </a:lnTo>
                    <a:lnTo>
                      <a:pt x="44" y="104"/>
                    </a:lnTo>
                    <a:lnTo>
                      <a:pt x="40" y="100"/>
                    </a:lnTo>
                    <a:lnTo>
                      <a:pt x="38" y="98"/>
                    </a:lnTo>
                    <a:lnTo>
                      <a:pt x="36" y="98"/>
                    </a:lnTo>
                    <a:lnTo>
                      <a:pt x="28" y="100"/>
                    </a:lnTo>
                    <a:lnTo>
                      <a:pt x="26" y="104"/>
                    </a:lnTo>
                    <a:lnTo>
                      <a:pt x="24" y="106"/>
                    </a:lnTo>
                    <a:lnTo>
                      <a:pt x="24" y="108"/>
                    </a:lnTo>
                    <a:lnTo>
                      <a:pt x="22" y="112"/>
                    </a:lnTo>
                    <a:lnTo>
                      <a:pt x="18" y="114"/>
                    </a:lnTo>
                    <a:lnTo>
                      <a:pt x="18" y="118"/>
                    </a:lnTo>
                    <a:lnTo>
                      <a:pt x="16" y="120"/>
                    </a:lnTo>
                    <a:lnTo>
                      <a:pt x="14" y="122"/>
                    </a:lnTo>
                    <a:lnTo>
                      <a:pt x="12" y="124"/>
                    </a:lnTo>
                    <a:lnTo>
                      <a:pt x="10" y="128"/>
                    </a:lnTo>
                    <a:lnTo>
                      <a:pt x="12" y="132"/>
                    </a:lnTo>
                    <a:lnTo>
                      <a:pt x="12" y="136"/>
                    </a:lnTo>
                    <a:lnTo>
                      <a:pt x="12" y="142"/>
                    </a:lnTo>
                    <a:lnTo>
                      <a:pt x="12" y="148"/>
                    </a:lnTo>
                    <a:lnTo>
                      <a:pt x="12" y="154"/>
                    </a:lnTo>
                    <a:lnTo>
                      <a:pt x="12" y="158"/>
                    </a:lnTo>
                    <a:lnTo>
                      <a:pt x="10" y="162"/>
                    </a:lnTo>
                    <a:lnTo>
                      <a:pt x="10" y="164"/>
                    </a:lnTo>
                    <a:lnTo>
                      <a:pt x="12" y="164"/>
                    </a:lnTo>
                    <a:lnTo>
                      <a:pt x="14" y="166"/>
                    </a:lnTo>
                    <a:lnTo>
                      <a:pt x="16" y="172"/>
                    </a:lnTo>
                    <a:lnTo>
                      <a:pt x="16" y="176"/>
                    </a:lnTo>
                    <a:lnTo>
                      <a:pt x="16" y="178"/>
                    </a:lnTo>
                    <a:lnTo>
                      <a:pt x="14" y="180"/>
                    </a:lnTo>
                    <a:lnTo>
                      <a:pt x="10" y="182"/>
                    </a:lnTo>
                    <a:lnTo>
                      <a:pt x="10" y="190"/>
                    </a:lnTo>
                    <a:lnTo>
                      <a:pt x="8" y="194"/>
                    </a:lnTo>
                    <a:lnTo>
                      <a:pt x="8" y="196"/>
                    </a:lnTo>
                    <a:lnTo>
                      <a:pt x="10" y="198"/>
                    </a:lnTo>
                    <a:lnTo>
                      <a:pt x="12" y="202"/>
                    </a:lnTo>
                    <a:lnTo>
                      <a:pt x="10" y="204"/>
                    </a:lnTo>
                    <a:lnTo>
                      <a:pt x="8" y="206"/>
                    </a:lnTo>
                    <a:lnTo>
                      <a:pt x="8" y="208"/>
                    </a:lnTo>
                    <a:lnTo>
                      <a:pt x="8" y="210"/>
                    </a:lnTo>
                    <a:lnTo>
                      <a:pt x="6" y="210"/>
                    </a:lnTo>
                    <a:lnTo>
                      <a:pt x="4" y="212"/>
                    </a:lnTo>
                    <a:lnTo>
                      <a:pt x="4" y="212"/>
                    </a:lnTo>
                    <a:lnTo>
                      <a:pt x="6" y="218"/>
                    </a:lnTo>
                    <a:lnTo>
                      <a:pt x="8" y="220"/>
                    </a:lnTo>
                    <a:lnTo>
                      <a:pt x="6" y="226"/>
                    </a:lnTo>
                    <a:lnTo>
                      <a:pt x="6" y="228"/>
                    </a:lnTo>
                    <a:lnTo>
                      <a:pt x="4" y="228"/>
                    </a:lnTo>
                    <a:lnTo>
                      <a:pt x="0" y="228"/>
                    </a:lnTo>
                    <a:lnTo>
                      <a:pt x="0" y="236"/>
                    </a:lnTo>
                    <a:lnTo>
                      <a:pt x="4" y="236"/>
                    </a:lnTo>
                    <a:lnTo>
                      <a:pt x="8" y="244"/>
                    </a:lnTo>
                    <a:lnTo>
                      <a:pt x="6" y="248"/>
                    </a:lnTo>
                    <a:lnTo>
                      <a:pt x="4" y="252"/>
                    </a:lnTo>
                    <a:lnTo>
                      <a:pt x="8" y="254"/>
                    </a:lnTo>
                    <a:lnTo>
                      <a:pt x="8" y="258"/>
                    </a:lnTo>
                    <a:lnTo>
                      <a:pt x="12" y="258"/>
                    </a:lnTo>
                    <a:lnTo>
                      <a:pt x="12" y="260"/>
                    </a:lnTo>
                    <a:lnTo>
                      <a:pt x="12" y="262"/>
                    </a:lnTo>
                    <a:lnTo>
                      <a:pt x="16" y="266"/>
                    </a:lnTo>
                    <a:lnTo>
                      <a:pt x="20" y="268"/>
                    </a:lnTo>
                    <a:lnTo>
                      <a:pt x="20" y="272"/>
                    </a:lnTo>
                    <a:lnTo>
                      <a:pt x="24" y="274"/>
                    </a:lnTo>
                    <a:lnTo>
                      <a:pt x="24" y="276"/>
                    </a:lnTo>
                    <a:lnTo>
                      <a:pt x="20" y="276"/>
                    </a:lnTo>
                    <a:lnTo>
                      <a:pt x="22" y="282"/>
                    </a:lnTo>
                    <a:lnTo>
                      <a:pt x="18" y="284"/>
                    </a:lnTo>
                    <a:lnTo>
                      <a:pt x="18" y="288"/>
                    </a:lnTo>
                    <a:lnTo>
                      <a:pt x="20" y="290"/>
                    </a:lnTo>
                    <a:lnTo>
                      <a:pt x="20" y="296"/>
                    </a:lnTo>
                    <a:lnTo>
                      <a:pt x="22" y="300"/>
                    </a:lnTo>
                    <a:lnTo>
                      <a:pt x="24" y="300"/>
                    </a:lnTo>
                    <a:lnTo>
                      <a:pt x="32" y="300"/>
                    </a:lnTo>
                    <a:lnTo>
                      <a:pt x="40" y="296"/>
                    </a:lnTo>
                    <a:lnTo>
                      <a:pt x="40" y="290"/>
                    </a:lnTo>
                    <a:lnTo>
                      <a:pt x="42" y="286"/>
                    </a:lnTo>
                    <a:lnTo>
                      <a:pt x="46" y="286"/>
                    </a:lnTo>
                    <a:lnTo>
                      <a:pt x="46" y="282"/>
                    </a:lnTo>
                    <a:lnTo>
                      <a:pt x="50" y="280"/>
                    </a:lnTo>
                    <a:lnTo>
                      <a:pt x="54" y="280"/>
                    </a:lnTo>
                    <a:lnTo>
                      <a:pt x="62" y="282"/>
                    </a:lnTo>
                    <a:lnTo>
                      <a:pt x="64" y="278"/>
                    </a:lnTo>
                    <a:lnTo>
                      <a:pt x="66" y="278"/>
                    </a:lnTo>
                    <a:lnTo>
                      <a:pt x="66" y="280"/>
                    </a:lnTo>
                    <a:lnTo>
                      <a:pt x="68" y="280"/>
                    </a:lnTo>
                    <a:lnTo>
                      <a:pt x="72" y="268"/>
                    </a:lnTo>
                    <a:lnTo>
                      <a:pt x="70" y="270"/>
                    </a:lnTo>
                    <a:lnTo>
                      <a:pt x="68" y="274"/>
                    </a:lnTo>
                    <a:lnTo>
                      <a:pt x="66" y="274"/>
                    </a:lnTo>
                    <a:lnTo>
                      <a:pt x="66" y="270"/>
                    </a:lnTo>
                    <a:lnTo>
                      <a:pt x="68" y="262"/>
                    </a:lnTo>
                    <a:lnTo>
                      <a:pt x="72" y="258"/>
                    </a:lnTo>
                    <a:lnTo>
                      <a:pt x="70" y="254"/>
                    </a:lnTo>
                    <a:lnTo>
                      <a:pt x="70" y="252"/>
                    </a:lnTo>
                    <a:lnTo>
                      <a:pt x="72" y="252"/>
                    </a:lnTo>
                    <a:lnTo>
                      <a:pt x="74" y="246"/>
                    </a:lnTo>
                    <a:lnTo>
                      <a:pt x="72" y="242"/>
                    </a:lnTo>
                    <a:lnTo>
                      <a:pt x="72" y="234"/>
                    </a:lnTo>
                    <a:lnTo>
                      <a:pt x="76" y="232"/>
                    </a:lnTo>
                    <a:lnTo>
                      <a:pt x="68" y="228"/>
                    </a:lnTo>
                    <a:lnTo>
                      <a:pt x="76" y="228"/>
                    </a:lnTo>
                    <a:lnTo>
                      <a:pt x="86" y="226"/>
                    </a:lnTo>
                    <a:lnTo>
                      <a:pt x="86" y="228"/>
                    </a:lnTo>
                    <a:lnTo>
                      <a:pt x="88" y="228"/>
                    </a:lnTo>
                    <a:lnTo>
                      <a:pt x="88" y="226"/>
                    </a:lnTo>
                    <a:lnTo>
                      <a:pt x="90" y="224"/>
                    </a:lnTo>
                    <a:lnTo>
                      <a:pt x="92" y="224"/>
                    </a:lnTo>
                    <a:lnTo>
                      <a:pt x="96" y="224"/>
                    </a:lnTo>
                    <a:lnTo>
                      <a:pt x="96" y="222"/>
                    </a:lnTo>
                    <a:lnTo>
                      <a:pt x="96" y="220"/>
                    </a:lnTo>
                    <a:lnTo>
                      <a:pt x="98" y="218"/>
                    </a:lnTo>
                    <a:lnTo>
                      <a:pt x="102" y="218"/>
                    </a:lnTo>
                    <a:lnTo>
                      <a:pt x="100" y="216"/>
                    </a:lnTo>
                    <a:lnTo>
                      <a:pt x="94" y="214"/>
                    </a:lnTo>
                    <a:lnTo>
                      <a:pt x="104" y="212"/>
                    </a:lnTo>
                    <a:lnTo>
                      <a:pt x="104" y="206"/>
                    </a:lnTo>
                    <a:lnTo>
                      <a:pt x="102" y="200"/>
                    </a:lnTo>
                    <a:lnTo>
                      <a:pt x="100" y="200"/>
                    </a:lnTo>
                    <a:lnTo>
                      <a:pt x="98" y="200"/>
                    </a:lnTo>
                    <a:lnTo>
                      <a:pt x="96" y="198"/>
                    </a:lnTo>
                    <a:lnTo>
                      <a:pt x="96" y="194"/>
                    </a:lnTo>
                    <a:lnTo>
                      <a:pt x="92" y="194"/>
                    </a:lnTo>
                    <a:lnTo>
                      <a:pt x="90" y="188"/>
                    </a:lnTo>
                    <a:lnTo>
                      <a:pt x="86" y="192"/>
                    </a:lnTo>
                    <a:lnTo>
                      <a:pt x="84" y="192"/>
                    </a:lnTo>
                    <a:lnTo>
                      <a:pt x="82" y="190"/>
                    </a:lnTo>
                    <a:lnTo>
                      <a:pt x="80" y="188"/>
                    </a:lnTo>
                    <a:lnTo>
                      <a:pt x="80" y="182"/>
                    </a:lnTo>
                    <a:lnTo>
                      <a:pt x="80" y="178"/>
                    </a:lnTo>
                    <a:lnTo>
                      <a:pt x="78" y="168"/>
                    </a:lnTo>
                    <a:lnTo>
                      <a:pt x="78" y="164"/>
                    </a:lnTo>
                    <a:lnTo>
                      <a:pt x="82" y="164"/>
                    </a:lnTo>
                    <a:lnTo>
                      <a:pt x="80" y="160"/>
                    </a:lnTo>
                    <a:lnTo>
                      <a:pt x="80" y="156"/>
                    </a:lnTo>
                    <a:lnTo>
                      <a:pt x="82" y="154"/>
                    </a:lnTo>
                    <a:lnTo>
                      <a:pt x="82" y="148"/>
                    </a:lnTo>
                    <a:lnTo>
                      <a:pt x="80" y="148"/>
                    </a:lnTo>
                    <a:lnTo>
                      <a:pt x="80" y="144"/>
                    </a:lnTo>
                    <a:lnTo>
                      <a:pt x="82" y="144"/>
                    </a:lnTo>
                    <a:lnTo>
                      <a:pt x="84" y="146"/>
                    </a:lnTo>
                    <a:lnTo>
                      <a:pt x="86" y="144"/>
                    </a:lnTo>
                    <a:lnTo>
                      <a:pt x="90" y="142"/>
                    </a:lnTo>
                    <a:lnTo>
                      <a:pt x="92" y="136"/>
                    </a:lnTo>
                    <a:lnTo>
                      <a:pt x="90" y="136"/>
                    </a:lnTo>
                    <a:lnTo>
                      <a:pt x="90" y="134"/>
                    </a:lnTo>
                    <a:lnTo>
                      <a:pt x="96" y="134"/>
                    </a:lnTo>
                    <a:lnTo>
                      <a:pt x="98" y="132"/>
                    </a:lnTo>
                    <a:lnTo>
                      <a:pt x="100" y="130"/>
                    </a:lnTo>
                    <a:lnTo>
                      <a:pt x="98" y="130"/>
                    </a:lnTo>
                    <a:lnTo>
                      <a:pt x="96" y="128"/>
                    </a:lnTo>
                    <a:lnTo>
                      <a:pt x="102" y="122"/>
                    </a:lnTo>
                    <a:lnTo>
                      <a:pt x="104" y="122"/>
                    </a:lnTo>
                    <a:lnTo>
                      <a:pt x="106" y="124"/>
                    </a:lnTo>
                    <a:lnTo>
                      <a:pt x="110" y="120"/>
                    </a:lnTo>
                    <a:lnTo>
                      <a:pt x="114" y="118"/>
                    </a:lnTo>
                    <a:lnTo>
                      <a:pt x="118" y="116"/>
                    </a:lnTo>
                    <a:lnTo>
                      <a:pt x="118" y="118"/>
                    </a:lnTo>
                    <a:lnTo>
                      <a:pt x="122" y="116"/>
                    </a:lnTo>
                    <a:lnTo>
                      <a:pt x="122" y="112"/>
                    </a:lnTo>
                    <a:lnTo>
                      <a:pt x="126" y="106"/>
                    </a:lnTo>
                    <a:lnTo>
                      <a:pt x="128" y="106"/>
                    </a:lnTo>
                    <a:lnTo>
                      <a:pt x="132" y="104"/>
                    </a:lnTo>
                    <a:lnTo>
                      <a:pt x="132" y="102"/>
                    </a:lnTo>
                    <a:lnTo>
                      <a:pt x="132" y="100"/>
                    </a:lnTo>
                    <a:lnTo>
                      <a:pt x="128" y="100"/>
                    </a:lnTo>
                    <a:lnTo>
                      <a:pt x="130" y="98"/>
                    </a:lnTo>
                    <a:lnTo>
                      <a:pt x="128" y="94"/>
                    </a:lnTo>
                    <a:lnTo>
                      <a:pt x="128" y="90"/>
                    </a:lnTo>
                    <a:lnTo>
                      <a:pt x="134" y="86"/>
                    </a:lnTo>
                    <a:lnTo>
                      <a:pt x="134" y="84"/>
                    </a:lnTo>
                    <a:lnTo>
                      <a:pt x="132" y="82"/>
                    </a:lnTo>
                    <a:lnTo>
                      <a:pt x="134" y="82"/>
                    </a:lnTo>
                    <a:lnTo>
                      <a:pt x="136" y="80"/>
                    </a:lnTo>
                    <a:lnTo>
                      <a:pt x="134" y="78"/>
                    </a:lnTo>
                    <a:lnTo>
                      <a:pt x="136" y="76"/>
                    </a:lnTo>
                    <a:lnTo>
                      <a:pt x="140" y="78"/>
                    </a:lnTo>
                    <a:lnTo>
                      <a:pt x="142" y="76"/>
                    </a:lnTo>
                    <a:lnTo>
                      <a:pt x="144" y="72"/>
                    </a:lnTo>
                    <a:lnTo>
                      <a:pt x="146" y="64"/>
                    </a:lnTo>
                    <a:lnTo>
                      <a:pt x="146" y="66"/>
                    </a:lnTo>
                    <a:lnTo>
                      <a:pt x="148" y="68"/>
                    </a:lnTo>
                    <a:lnTo>
                      <a:pt x="152" y="66"/>
                    </a:lnTo>
                    <a:lnTo>
                      <a:pt x="154" y="70"/>
                    </a:lnTo>
                    <a:lnTo>
                      <a:pt x="156" y="68"/>
                    </a:lnTo>
                    <a:lnTo>
                      <a:pt x="156" y="66"/>
                    </a:lnTo>
                    <a:lnTo>
                      <a:pt x="164" y="68"/>
                    </a:lnTo>
                    <a:lnTo>
                      <a:pt x="164" y="6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31" name="Freeform 517">
                <a:extLst>
                  <a:ext uri="{FF2B5EF4-FFF2-40B4-BE49-F238E27FC236}">
                    <a16:creationId xmlns:a16="http://schemas.microsoft.com/office/drawing/2014/main" id="{54C1D2C0-096D-6583-ADDC-4063F7944320}"/>
                  </a:ext>
                </a:extLst>
              </p:cNvPr>
              <p:cNvSpPr>
                <a:spLocks noEditPoints="1"/>
              </p:cNvSpPr>
              <p:nvPr/>
            </p:nvSpPr>
            <p:spPr bwMode="auto">
              <a:xfrm>
                <a:off x="4718283" y="3556713"/>
                <a:ext cx="184746" cy="128732"/>
              </a:xfrm>
              <a:custGeom>
                <a:avLst/>
                <a:gdLst/>
                <a:ahLst/>
                <a:cxnLst>
                  <a:cxn ang="0">
                    <a:pos x="166" y="32"/>
                  </a:cxn>
                  <a:cxn ang="0">
                    <a:pos x="152" y="40"/>
                  </a:cxn>
                  <a:cxn ang="0">
                    <a:pos x="140" y="50"/>
                  </a:cxn>
                  <a:cxn ang="0">
                    <a:pos x="132" y="60"/>
                  </a:cxn>
                  <a:cxn ang="0">
                    <a:pos x="124" y="70"/>
                  </a:cxn>
                  <a:cxn ang="0">
                    <a:pos x="120" y="78"/>
                  </a:cxn>
                  <a:cxn ang="0">
                    <a:pos x="124" y="86"/>
                  </a:cxn>
                  <a:cxn ang="0">
                    <a:pos x="110" y="104"/>
                  </a:cxn>
                  <a:cxn ang="0">
                    <a:pos x="106" y="110"/>
                  </a:cxn>
                  <a:cxn ang="0">
                    <a:pos x="92" y="124"/>
                  </a:cxn>
                  <a:cxn ang="0">
                    <a:pos x="82" y="126"/>
                  </a:cxn>
                  <a:cxn ang="0">
                    <a:pos x="62" y="128"/>
                  </a:cxn>
                  <a:cxn ang="0">
                    <a:pos x="50" y="134"/>
                  </a:cxn>
                  <a:cxn ang="0">
                    <a:pos x="34" y="120"/>
                  </a:cxn>
                  <a:cxn ang="0">
                    <a:pos x="30" y="110"/>
                  </a:cxn>
                  <a:cxn ang="0">
                    <a:pos x="28" y="108"/>
                  </a:cxn>
                  <a:cxn ang="0">
                    <a:pos x="26" y="100"/>
                  </a:cxn>
                  <a:cxn ang="0">
                    <a:pos x="28" y="90"/>
                  </a:cxn>
                  <a:cxn ang="0">
                    <a:pos x="30" y="80"/>
                  </a:cxn>
                  <a:cxn ang="0">
                    <a:pos x="28" y="68"/>
                  </a:cxn>
                  <a:cxn ang="0">
                    <a:pos x="34" y="58"/>
                  </a:cxn>
                  <a:cxn ang="0">
                    <a:pos x="30" y="46"/>
                  </a:cxn>
                  <a:cxn ang="0">
                    <a:pos x="32" y="36"/>
                  </a:cxn>
                  <a:cxn ang="0">
                    <a:pos x="18" y="34"/>
                  </a:cxn>
                  <a:cxn ang="0">
                    <a:pos x="14" y="30"/>
                  </a:cxn>
                  <a:cxn ang="0">
                    <a:pos x="6" y="32"/>
                  </a:cxn>
                  <a:cxn ang="0">
                    <a:pos x="10" y="26"/>
                  </a:cxn>
                  <a:cxn ang="0">
                    <a:pos x="4" y="20"/>
                  </a:cxn>
                  <a:cxn ang="0">
                    <a:pos x="0" y="16"/>
                  </a:cxn>
                  <a:cxn ang="0">
                    <a:pos x="8" y="6"/>
                  </a:cxn>
                  <a:cxn ang="0">
                    <a:pos x="16" y="4"/>
                  </a:cxn>
                  <a:cxn ang="0">
                    <a:pos x="30" y="0"/>
                  </a:cxn>
                  <a:cxn ang="0">
                    <a:pos x="46" y="2"/>
                  </a:cxn>
                  <a:cxn ang="0">
                    <a:pos x="80" y="4"/>
                  </a:cxn>
                  <a:cxn ang="0">
                    <a:pos x="96" y="10"/>
                  </a:cxn>
                  <a:cxn ang="0">
                    <a:pos x="104" y="16"/>
                  </a:cxn>
                  <a:cxn ang="0">
                    <a:pos x="112" y="20"/>
                  </a:cxn>
                  <a:cxn ang="0">
                    <a:pos x="124" y="22"/>
                  </a:cxn>
                  <a:cxn ang="0">
                    <a:pos x="132" y="22"/>
                  </a:cxn>
                  <a:cxn ang="0">
                    <a:pos x="148" y="26"/>
                  </a:cxn>
                  <a:cxn ang="0">
                    <a:pos x="158" y="24"/>
                  </a:cxn>
                  <a:cxn ang="0">
                    <a:pos x="164" y="22"/>
                  </a:cxn>
                  <a:cxn ang="0">
                    <a:pos x="140" y="82"/>
                  </a:cxn>
                  <a:cxn ang="0">
                    <a:pos x="144" y="80"/>
                  </a:cxn>
                  <a:cxn ang="0">
                    <a:pos x="142" y="78"/>
                  </a:cxn>
                  <a:cxn ang="0">
                    <a:pos x="188" y="72"/>
                  </a:cxn>
                  <a:cxn ang="0">
                    <a:pos x="190" y="68"/>
                  </a:cxn>
                  <a:cxn ang="0">
                    <a:pos x="166" y="68"/>
                  </a:cxn>
                  <a:cxn ang="0">
                    <a:pos x="164" y="72"/>
                  </a:cxn>
                  <a:cxn ang="0">
                    <a:pos x="164" y="82"/>
                  </a:cxn>
                  <a:cxn ang="0">
                    <a:pos x="172" y="74"/>
                  </a:cxn>
                  <a:cxn ang="0">
                    <a:pos x="166" y="68"/>
                  </a:cxn>
                </a:cxnLst>
                <a:rect l="0" t="0" r="r" b="b"/>
                <a:pathLst>
                  <a:path w="190" h="134">
                    <a:moveTo>
                      <a:pt x="164" y="22"/>
                    </a:moveTo>
                    <a:lnTo>
                      <a:pt x="164" y="22"/>
                    </a:lnTo>
                    <a:lnTo>
                      <a:pt x="166" y="32"/>
                    </a:lnTo>
                    <a:lnTo>
                      <a:pt x="158" y="40"/>
                    </a:lnTo>
                    <a:lnTo>
                      <a:pt x="154" y="40"/>
                    </a:lnTo>
                    <a:lnTo>
                      <a:pt x="152" y="40"/>
                    </a:lnTo>
                    <a:lnTo>
                      <a:pt x="152" y="44"/>
                    </a:lnTo>
                    <a:lnTo>
                      <a:pt x="146" y="46"/>
                    </a:lnTo>
                    <a:lnTo>
                      <a:pt x="140" y="50"/>
                    </a:lnTo>
                    <a:lnTo>
                      <a:pt x="138" y="54"/>
                    </a:lnTo>
                    <a:lnTo>
                      <a:pt x="132" y="56"/>
                    </a:lnTo>
                    <a:lnTo>
                      <a:pt x="132" y="60"/>
                    </a:lnTo>
                    <a:lnTo>
                      <a:pt x="128" y="62"/>
                    </a:lnTo>
                    <a:lnTo>
                      <a:pt x="126" y="66"/>
                    </a:lnTo>
                    <a:lnTo>
                      <a:pt x="124" y="70"/>
                    </a:lnTo>
                    <a:lnTo>
                      <a:pt x="120" y="72"/>
                    </a:lnTo>
                    <a:lnTo>
                      <a:pt x="118" y="76"/>
                    </a:lnTo>
                    <a:lnTo>
                      <a:pt x="120" y="78"/>
                    </a:lnTo>
                    <a:lnTo>
                      <a:pt x="120" y="82"/>
                    </a:lnTo>
                    <a:lnTo>
                      <a:pt x="124" y="84"/>
                    </a:lnTo>
                    <a:lnTo>
                      <a:pt x="124" y="86"/>
                    </a:lnTo>
                    <a:lnTo>
                      <a:pt x="116" y="96"/>
                    </a:lnTo>
                    <a:lnTo>
                      <a:pt x="112" y="100"/>
                    </a:lnTo>
                    <a:lnTo>
                      <a:pt x="110" y="104"/>
                    </a:lnTo>
                    <a:lnTo>
                      <a:pt x="110" y="108"/>
                    </a:lnTo>
                    <a:lnTo>
                      <a:pt x="108" y="110"/>
                    </a:lnTo>
                    <a:lnTo>
                      <a:pt x="106" y="110"/>
                    </a:lnTo>
                    <a:lnTo>
                      <a:pt x="94" y="120"/>
                    </a:lnTo>
                    <a:lnTo>
                      <a:pt x="92" y="124"/>
                    </a:lnTo>
                    <a:lnTo>
                      <a:pt x="92" y="124"/>
                    </a:lnTo>
                    <a:lnTo>
                      <a:pt x="90" y="126"/>
                    </a:lnTo>
                    <a:lnTo>
                      <a:pt x="86" y="126"/>
                    </a:lnTo>
                    <a:lnTo>
                      <a:pt x="82" y="126"/>
                    </a:lnTo>
                    <a:lnTo>
                      <a:pt x="80" y="128"/>
                    </a:lnTo>
                    <a:lnTo>
                      <a:pt x="64" y="124"/>
                    </a:lnTo>
                    <a:lnTo>
                      <a:pt x="62" y="128"/>
                    </a:lnTo>
                    <a:lnTo>
                      <a:pt x="60" y="130"/>
                    </a:lnTo>
                    <a:lnTo>
                      <a:pt x="56" y="130"/>
                    </a:lnTo>
                    <a:lnTo>
                      <a:pt x="50" y="134"/>
                    </a:lnTo>
                    <a:lnTo>
                      <a:pt x="44" y="134"/>
                    </a:lnTo>
                    <a:lnTo>
                      <a:pt x="40" y="124"/>
                    </a:lnTo>
                    <a:lnTo>
                      <a:pt x="34" y="120"/>
                    </a:lnTo>
                    <a:lnTo>
                      <a:pt x="28" y="118"/>
                    </a:lnTo>
                    <a:lnTo>
                      <a:pt x="28" y="116"/>
                    </a:lnTo>
                    <a:lnTo>
                      <a:pt x="30" y="110"/>
                    </a:lnTo>
                    <a:lnTo>
                      <a:pt x="32" y="108"/>
                    </a:lnTo>
                    <a:lnTo>
                      <a:pt x="30" y="108"/>
                    </a:lnTo>
                    <a:lnTo>
                      <a:pt x="28" y="108"/>
                    </a:lnTo>
                    <a:lnTo>
                      <a:pt x="26" y="106"/>
                    </a:lnTo>
                    <a:lnTo>
                      <a:pt x="26" y="102"/>
                    </a:lnTo>
                    <a:lnTo>
                      <a:pt x="26" y="100"/>
                    </a:lnTo>
                    <a:lnTo>
                      <a:pt x="28" y="96"/>
                    </a:lnTo>
                    <a:lnTo>
                      <a:pt x="30" y="92"/>
                    </a:lnTo>
                    <a:lnTo>
                      <a:pt x="28" y="90"/>
                    </a:lnTo>
                    <a:lnTo>
                      <a:pt x="26" y="86"/>
                    </a:lnTo>
                    <a:lnTo>
                      <a:pt x="26" y="84"/>
                    </a:lnTo>
                    <a:lnTo>
                      <a:pt x="30" y="80"/>
                    </a:lnTo>
                    <a:lnTo>
                      <a:pt x="30" y="76"/>
                    </a:lnTo>
                    <a:lnTo>
                      <a:pt x="30" y="72"/>
                    </a:lnTo>
                    <a:lnTo>
                      <a:pt x="28" y="68"/>
                    </a:lnTo>
                    <a:lnTo>
                      <a:pt x="32" y="64"/>
                    </a:lnTo>
                    <a:lnTo>
                      <a:pt x="34" y="62"/>
                    </a:lnTo>
                    <a:lnTo>
                      <a:pt x="34" y="58"/>
                    </a:lnTo>
                    <a:lnTo>
                      <a:pt x="30" y="50"/>
                    </a:lnTo>
                    <a:lnTo>
                      <a:pt x="28" y="48"/>
                    </a:lnTo>
                    <a:lnTo>
                      <a:pt x="30" y="46"/>
                    </a:lnTo>
                    <a:lnTo>
                      <a:pt x="34" y="42"/>
                    </a:lnTo>
                    <a:lnTo>
                      <a:pt x="36" y="36"/>
                    </a:lnTo>
                    <a:lnTo>
                      <a:pt x="32" y="36"/>
                    </a:lnTo>
                    <a:lnTo>
                      <a:pt x="32" y="34"/>
                    </a:lnTo>
                    <a:lnTo>
                      <a:pt x="28" y="34"/>
                    </a:lnTo>
                    <a:lnTo>
                      <a:pt x="18" y="34"/>
                    </a:lnTo>
                    <a:lnTo>
                      <a:pt x="16" y="34"/>
                    </a:lnTo>
                    <a:lnTo>
                      <a:pt x="16" y="32"/>
                    </a:lnTo>
                    <a:lnTo>
                      <a:pt x="14" y="30"/>
                    </a:lnTo>
                    <a:lnTo>
                      <a:pt x="10" y="32"/>
                    </a:lnTo>
                    <a:lnTo>
                      <a:pt x="8" y="34"/>
                    </a:lnTo>
                    <a:lnTo>
                      <a:pt x="6" y="32"/>
                    </a:lnTo>
                    <a:lnTo>
                      <a:pt x="4" y="32"/>
                    </a:lnTo>
                    <a:lnTo>
                      <a:pt x="6" y="30"/>
                    </a:lnTo>
                    <a:lnTo>
                      <a:pt x="10" y="26"/>
                    </a:lnTo>
                    <a:lnTo>
                      <a:pt x="6" y="24"/>
                    </a:lnTo>
                    <a:lnTo>
                      <a:pt x="6" y="22"/>
                    </a:lnTo>
                    <a:lnTo>
                      <a:pt x="4" y="20"/>
                    </a:lnTo>
                    <a:lnTo>
                      <a:pt x="4" y="20"/>
                    </a:lnTo>
                    <a:lnTo>
                      <a:pt x="4" y="18"/>
                    </a:lnTo>
                    <a:lnTo>
                      <a:pt x="0" y="16"/>
                    </a:lnTo>
                    <a:lnTo>
                      <a:pt x="0" y="14"/>
                    </a:lnTo>
                    <a:lnTo>
                      <a:pt x="2" y="10"/>
                    </a:lnTo>
                    <a:lnTo>
                      <a:pt x="8" y="6"/>
                    </a:lnTo>
                    <a:lnTo>
                      <a:pt x="12" y="8"/>
                    </a:lnTo>
                    <a:lnTo>
                      <a:pt x="16" y="6"/>
                    </a:lnTo>
                    <a:lnTo>
                      <a:pt x="16" y="4"/>
                    </a:lnTo>
                    <a:lnTo>
                      <a:pt x="22" y="2"/>
                    </a:lnTo>
                    <a:lnTo>
                      <a:pt x="26" y="0"/>
                    </a:lnTo>
                    <a:lnTo>
                      <a:pt x="30" y="0"/>
                    </a:lnTo>
                    <a:lnTo>
                      <a:pt x="32" y="2"/>
                    </a:lnTo>
                    <a:lnTo>
                      <a:pt x="36" y="4"/>
                    </a:lnTo>
                    <a:lnTo>
                      <a:pt x="46" y="2"/>
                    </a:lnTo>
                    <a:lnTo>
                      <a:pt x="56" y="4"/>
                    </a:lnTo>
                    <a:lnTo>
                      <a:pt x="64" y="6"/>
                    </a:lnTo>
                    <a:lnTo>
                      <a:pt x="80" y="4"/>
                    </a:lnTo>
                    <a:lnTo>
                      <a:pt x="88" y="6"/>
                    </a:lnTo>
                    <a:lnTo>
                      <a:pt x="90" y="10"/>
                    </a:lnTo>
                    <a:lnTo>
                      <a:pt x="96" y="10"/>
                    </a:lnTo>
                    <a:lnTo>
                      <a:pt x="100" y="10"/>
                    </a:lnTo>
                    <a:lnTo>
                      <a:pt x="102" y="12"/>
                    </a:lnTo>
                    <a:lnTo>
                      <a:pt x="104" y="16"/>
                    </a:lnTo>
                    <a:lnTo>
                      <a:pt x="106" y="18"/>
                    </a:lnTo>
                    <a:lnTo>
                      <a:pt x="108" y="18"/>
                    </a:lnTo>
                    <a:lnTo>
                      <a:pt x="112" y="20"/>
                    </a:lnTo>
                    <a:lnTo>
                      <a:pt x="116" y="20"/>
                    </a:lnTo>
                    <a:lnTo>
                      <a:pt x="120" y="20"/>
                    </a:lnTo>
                    <a:lnTo>
                      <a:pt x="124" y="22"/>
                    </a:lnTo>
                    <a:lnTo>
                      <a:pt x="128" y="20"/>
                    </a:lnTo>
                    <a:lnTo>
                      <a:pt x="130" y="20"/>
                    </a:lnTo>
                    <a:lnTo>
                      <a:pt x="132" y="22"/>
                    </a:lnTo>
                    <a:lnTo>
                      <a:pt x="142" y="24"/>
                    </a:lnTo>
                    <a:lnTo>
                      <a:pt x="144" y="28"/>
                    </a:lnTo>
                    <a:lnTo>
                      <a:pt x="148" y="26"/>
                    </a:lnTo>
                    <a:lnTo>
                      <a:pt x="152" y="26"/>
                    </a:lnTo>
                    <a:lnTo>
                      <a:pt x="156" y="26"/>
                    </a:lnTo>
                    <a:lnTo>
                      <a:pt x="158" y="24"/>
                    </a:lnTo>
                    <a:lnTo>
                      <a:pt x="160" y="22"/>
                    </a:lnTo>
                    <a:lnTo>
                      <a:pt x="164" y="22"/>
                    </a:lnTo>
                    <a:lnTo>
                      <a:pt x="164" y="22"/>
                    </a:lnTo>
                    <a:close/>
                    <a:moveTo>
                      <a:pt x="142" y="78"/>
                    </a:moveTo>
                    <a:lnTo>
                      <a:pt x="142" y="78"/>
                    </a:lnTo>
                    <a:lnTo>
                      <a:pt x="140" y="82"/>
                    </a:lnTo>
                    <a:lnTo>
                      <a:pt x="138" y="84"/>
                    </a:lnTo>
                    <a:lnTo>
                      <a:pt x="140" y="84"/>
                    </a:lnTo>
                    <a:lnTo>
                      <a:pt x="144" y="80"/>
                    </a:lnTo>
                    <a:lnTo>
                      <a:pt x="144" y="78"/>
                    </a:lnTo>
                    <a:lnTo>
                      <a:pt x="142" y="78"/>
                    </a:lnTo>
                    <a:lnTo>
                      <a:pt x="142" y="78"/>
                    </a:lnTo>
                    <a:close/>
                    <a:moveTo>
                      <a:pt x="184" y="68"/>
                    </a:moveTo>
                    <a:lnTo>
                      <a:pt x="184" y="72"/>
                    </a:lnTo>
                    <a:lnTo>
                      <a:pt x="188" y="72"/>
                    </a:lnTo>
                    <a:lnTo>
                      <a:pt x="190" y="72"/>
                    </a:lnTo>
                    <a:lnTo>
                      <a:pt x="190" y="70"/>
                    </a:lnTo>
                    <a:lnTo>
                      <a:pt x="190" y="68"/>
                    </a:lnTo>
                    <a:lnTo>
                      <a:pt x="184" y="68"/>
                    </a:lnTo>
                    <a:lnTo>
                      <a:pt x="184" y="68"/>
                    </a:lnTo>
                    <a:close/>
                    <a:moveTo>
                      <a:pt x="166" y="68"/>
                    </a:moveTo>
                    <a:lnTo>
                      <a:pt x="166" y="68"/>
                    </a:lnTo>
                    <a:lnTo>
                      <a:pt x="162" y="70"/>
                    </a:lnTo>
                    <a:lnTo>
                      <a:pt x="164" y="72"/>
                    </a:lnTo>
                    <a:lnTo>
                      <a:pt x="164" y="74"/>
                    </a:lnTo>
                    <a:lnTo>
                      <a:pt x="164" y="78"/>
                    </a:lnTo>
                    <a:lnTo>
                      <a:pt x="164" y="82"/>
                    </a:lnTo>
                    <a:lnTo>
                      <a:pt x="166" y="82"/>
                    </a:lnTo>
                    <a:lnTo>
                      <a:pt x="170" y="78"/>
                    </a:lnTo>
                    <a:lnTo>
                      <a:pt x="172" y="74"/>
                    </a:lnTo>
                    <a:lnTo>
                      <a:pt x="172" y="72"/>
                    </a:lnTo>
                    <a:lnTo>
                      <a:pt x="166" y="68"/>
                    </a:lnTo>
                    <a:lnTo>
                      <a:pt x="166" y="6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32" name="Freeform 518">
                <a:extLst>
                  <a:ext uri="{FF2B5EF4-FFF2-40B4-BE49-F238E27FC236}">
                    <a16:creationId xmlns:a16="http://schemas.microsoft.com/office/drawing/2014/main" id="{6B427802-42EB-2ABB-FC8E-B7515A823913}"/>
                  </a:ext>
                </a:extLst>
              </p:cNvPr>
              <p:cNvSpPr>
                <a:spLocks/>
              </p:cNvSpPr>
              <p:nvPr/>
            </p:nvSpPr>
            <p:spPr bwMode="auto">
              <a:xfrm>
                <a:off x="5002208" y="3493308"/>
                <a:ext cx="42783" cy="40349"/>
              </a:xfrm>
              <a:custGeom>
                <a:avLst/>
                <a:gdLst/>
                <a:ahLst/>
                <a:cxnLst>
                  <a:cxn ang="0">
                    <a:pos x="6" y="32"/>
                  </a:cxn>
                  <a:cxn ang="0">
                    <a:pos x="6" y="32"/>
                  </a:cxn>
                  <a:cxn ang="0">
                    <a:pos x="6" y="34"/>
                  </a:cxn>
                  <a:cxn ang="0">
                    <a:pos x="6" y="36"/>
                  </a:cxn>
                  <a:cxn ang="0">
                    <a:pos x="4" y="36"/>
                  </a:cxn>
                  <a:cxn ang="0">
                    <a:pos x="4" y="40"/>
                  </a:cxn>
                  <a:cxn ang="0">
                    <a:pos x="2" y="40"/>
                  </a:cxn>
                  <a:cxn ang="0">
                    <a:pos x="4" y="42"/>
                  </a:cxn>
                  <a:cxn ang="0">
                    <a:pos x="12" y="40"/>
                  </a:cxn>
                  <a:cxn ang="0">
                    <a:pos x="16" y="38"/>
                  </a:cxn>
                  <a:cxn ang="0">
                    <a:pos x="20" y="36"/>
                  </a:cxn>
                  <a:cxn ang="0">
                    <a:pos x="22" y="32"/>
                  </a:cxn>
                  <a:cxn ang="0">
                    <a:pos x="20" y="28"/>
                  </a:cxn>
                  <a:cxn ang="0">
                    <a:pos x="22" y="28"/>
                  </a:cxn>
                  <a:cxn ang="0">
                    <a:pos x="22" y="28"/>
                  </a:cxn>
                  <a:cxn ang="0">
                    <a:pos x="24" y="30"/>
                  </a:cxn>
                  <a:cxn ang="0">
                    <a:pos x="26" y="30"/>
                  </a:cxn>
                  <a:cxn ang="0">
                    <a:pos x="28" y="30"/>
                  </a:cxn>
                  <a:cxn ang="0">
                    <a:pos x="30" y="28"/>
                  </a:cxn>
                  <a:cxn ang="0">
                    <a:pos x="32" y="20"/>
                  </a:cxn>
                  <a:cxn ang="0">
                    <a:pos x="34" y="18"/>
                  </a:cxn>
                  <a:cxn ang="0">
                    <a:pos x="36" y="18"/>
                  </a:cxn>
                  <a:cxn ang="0">
                    <a:pos x="38" y="18"/>
                  </a:cxn>
                  <a:cxn ang="0">
                    <a:pos x="40" y="14"/>
                  </a:cxn>
                  <a:cxn ang="0">
                    <a:pos x="42" y="12"/>
                  </a:cxn>
                  <a:cxn ang="0">
                    <a:pos x="44" y="10"/>
                  </a:cxn>
                  <a:cxn ang="0">
                    <a:pos x="44" y="6"/>
                  </a:cxn>
                  <a:cxn ang="0">
                    <a:pos x="42" y="2"/>
                  </a:cxn>
                  <a:cxn ang="0">
                    <a:pos x="42" y="0"/>
                  </a:cxn>
                  <a:cxn ang="0">
                    <a:pos x="36" y="4"/>
                  </a:cxn>
                  <a:cxn ang="0">
                    <a:pos x="34" y="4"/>
                  </a:cxn>
                  <a:cxn ang="0">
                    <a:pos x="30" y="2"/>
                  </a:cxn>
                  <a:cxn ang="0">
                    <a:pos x="26" y="4"/>
                  </a:cxn>
                  <a:cxn ang="0">
                    <a:pos x="22" y="6"/>
                  </a:cxn>
                  <a:cxn ang="0">
                    <a:pos x="20" y="10"/>
                  </a:cxn>
                  <a:cxn ang="0">
                    <a:pos x="14" y="8"/>
                  </a:cxn>
                  <a:cxn ang="0">
                    <a:pos x="8" y="8"/>
                  </a:cxn>
                  <a:cxn ang="0">
                    <a:pos x="8" y="10"/>
                  </a:cxn>
                  <a:cxn ang="0">
                    <a:pos x="6" y="12"/>
                  </a:cxn>
                  <a:cxn ang="0">
                    <a:pos x="2" y="12"/>
                  </a:cxn>
                  <a:cxn ang="0">
                    <a:pos x="0" y="16"/>
                  </a:cxn>
                  <a:cxn ang="0">
                    <a:pos x="0" y="20"/>
                  </a:cxn>
                  <a:cxn ang="0">
                    <a:pos x="2" y="22"/>
                  </a:cxn>
                  <a:cxn ang="0">
                    <a:pos x="4" y="22"/>
                  </a:cxn>
                  <a:cxn ang="0">
                    <a:pos x="6" y="26"/>
                  </a:cxn>
                  <a:cxn ang="0">
                    <a:pos x="4" y="28"/>
                  </a:cxn>
                  <a:cxn ang="0">
                    <a:pos x="4" y="30"/>
                  </a:cxn>
                  <a:cxn ang="0">
                    <a:pos x="6" y="30"/>
                  </a:cxn>
                  <a:cxn ang="0">
                    <a:pos x="6" y="32"/>
                  </a:cxn>
                  <a:cxn ang="0">
                    <a:pos x="6" y="32"/>
                  </a:cxn>
                </a:cxnLst>
                <a:rect l="0" t="0" r="r" b="b"/>
                <a:pathLst>
                  <a:path w="44" h="42">
                    <a:moveTo>
                      <a:pt x="6" y="32"/>
                    </a:moveTo>
                    <a:lnTo>
                      <a:pt x="6" y="32"/>
                    </a:lnTo>
                    <a:lnTo>
                      <a:pt x="6" y="34"/>
                    </a:lnTo>
                    <a:lnTo>
                      <a:pt x="6" y="36"/>
                    </a:lnTo>
                    <a:lnTo>
                      <a:pt x="4" y="36"/>
                    </a:lnTo>
                    <a:lnTo>
                      <a:pt x="4" y="40"/>
                    </a:lnTo>
                    <a:lnTo>
                      <a:pt x="2" y="40"/>
                    </a:lnTo>
                    <a:lnTo>
                      <a:pt x="4" y="42"/>
                    </a:lnTo>
                    <a:lnTo>
                      <a:pt x="12" y="40"/>
                    </a:lnTo>
                    <a:lnTo>
                      <a:pt x="16" y="38"/>
                    </a:lnTo>
                    <a:lnTo>
                      <a:pt x="20" y="36"/>
                    </a:lnTo>
                    <a:lnTo>
                      <a:pt x="22" y="32"/>
                    </a:lnTo>
                    <a:lnTo>
                      <a:pt x="20" y="28"/>
                    </a:lnTo>
                    <a:lnTo>
                      <a:pt x="22" y="28"/>
                    </a:lnTo>
                    <a:lnTo>
                      <a:pt x="22" y="28"/>
                    </a:lnTo>
                    <a:lnTo>
                      <a:pt x="24" y="30"/>
                    </a:lnTo>
                    <a:lnTo>
                      <a:pt x="26" y="30"/>
                    </a:lnTo>
                    <a:lnTo>
                      <a:pt x="28" y="30"/>
                    </a:lnTo>
                    <a:lnTo>
                      <a:pt x="30" y="28"/>
                    </a:lnTo>
                    <a:lnTo>
                      <a:pt x="32" y="20"/>
                    </a:lnTo>
                    <a:lnTo>
                      <a:pt x="34" y="18"/>
                    </a:lnTo>
                    <a:lnTo>
                      <a:pt x="36" y="18"/>
                    </a:lnTo>
                    <a:lnTo>
                      <a:pt x="38" y="18"/>
                    </a:lnTo>
                    <a:lnTo>
                      <a:pt x="40" y="14"/>
                    </a:lnTo>
                    <a:lnTo>
                      <a:pt x="42" y="12"/>
                    </a:lnTo>
                    <a:lnTo>
                      <a:pt x="44" y="10"/>
                    </a:lnTo>
                    <a:lnTo>
                      <a:pt x="44" y="6"/>
                    </a:lnTo>
                    <a:lnTo>
                      <a:pt x="42" y="2"/>
                    </a:lnTo>
                    <a:lnTo>
                      <a:pt x="42" y="0"/>
                    </a:lnTo>
                    <a:lnTo>
                      <a:pt x="36" y="4"/>
                    </a:lnTo>
                    <a:lnTo>
                      <a:pt x="34" y="4"/>
                    </a:lnTo>
                    <a:lnTo>
                      <a:pt x="30" y="2"/>
                    </a:lnTo>
                    <a:lnTo>
                      <a:pt x="26" y="4"/>
                    </a:lnTo>
                    <a:lnTo>
                      <a:pt x="22" y="6"/>
                    </a:lnTo>
                    <a:lnTo>
                      <a:pt x="20" y="10"/>
                    </a:lnTo>
                    <a:lnTo>
                      <a:pt x="14" y="8"/>
                    </a:lnTo>
                    <a:lnTo>
                      <a:pt x="8" y="8"/>
                    </a:lnTo>
                    <a:lnTo>
                      <a:pt x="8" y="10"/>
                    </a:lnTo>
                    <a:lnTo>
                      <a:pt x="6" y="12"/>
                    </a:lnTo>
                    <a:lnTo>
                      <a:pt x="2" y="12"/>
                    </a:lnTo>
                    <a:lnTo>
                      <a:pt x="0" y="16"/>
                    </a:lnTo>
                    <a:lnTo>
                      <a:pt x="0" y="20"/>
                    </a:lnTo>
                    <a:lnTo>
                      <a:pt x="2" y="22"/>
                    </a:lnTo>
                    <a:lnTo>
                      <a:pt x="4" y="22"/>
                    </a:lnTo>
                    <a:lnTo>
                      <a:pt x="6" y="26"/>
                    </a:lnTo>
                    <a:lnTo>
                      <a:pt x="4" y="28"/>
                    </a:lnTo>
                    <a:lnTo>
                      <a:pt x="4" y="30"/>
                    </a:lnTo>
                    <a:lnTo>
                      <a:pt x="6" y="30"/>
                    </a:lnTo>
                    <a:lnTo>
                      <a:pt x="6" y="32"/>
                    </a:lnTo>
                    <a:lnTo>
                      <a:pt x="6" y="3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33" name="Freeform 519">
                <a:extLst>
                  <a:ext uri="{FF2B5EF4-FFF2-40B4-BE49-F238E27FC236}">
                    <a16:creationId xmlns:a16="http://schemas.microsoft.com/office/drawing/2014/main" id="{34BC63B8-9B26-44ED-6068-66F55A5440AB}"/>
                  </a:ext>
                </a:extLst>
              </p:cNvPr>
              <p:cNvSpPr>
                <a:spLocks/>
              </p:cNvSpPr>
              <p:nvPr/>
            </p:nvSpPr>
            <p:spPr bwMode="auto">
              <a:xfrm>
                <a:off x="5046936" y="3445274"/>
                <a:ext cx="91401" cy="36506"/>
              </a:xfrm>
              <a:custGeom>
                <a:avLst/>
                <a:gdLst/>
                <a:ahLst/>
                <a:cxnLst>
                  <a:cxn ang="0">
                    <a:pos x="94" y="24"/>
                  </a:cxn>
                  <a:cxn ang="0">
                    <a:pos x="90" y="24"/>
                  </a:cxn>
                  <a:cxn ang="0">
                    <a:pos x="88" y="30"/>
                  </a:cxn>
                  <a:cxn ang="0">
                    <a:pos x="86" y="30"/>
                  </a:cxn>
                  <a:cxn ang="0">
                    <a:pos x="82" y="28"/>
                  </a:cxn>
                  <a:cxn ang="0">
                    <a:pos x="80" y="26"/>
                  </a:cxn>
                  <a:cxn ang="0">
                    <a:pos x="78" y="26"/>
                  </a:cxn>
                  <a:cxn ang="0">
                    <a:pos x="72" y="28"/>
                  </a:cxn>
                  <a:cxn ang="0">
                    <a:pos x="66" y="28"/>
                  </a:cxn>
                  <a:cxn ang="0">
                    <a:pos x="60" y="28"/>
                  </a:cxn>
                  <a:cxn ang="0">
                    <a:pos x="56" y="32"/>
                  </a:cxn>
                  <a:cxn ang="0">
                    <a:pos x="56" y="32"/>
                  </a:cxn>
                  <a:cxn ang="0">
                    <a:pos x="54" y="34"/>
                  </a:cxn>
                  <a:cxn ang="0">
                    <a:pos x="52" y="32"/>
                  </a:cxn>
                  <a:cxn ang="0">
                    <a:pos x="50" y="32"/>
                  </a:cxn>
                  <a:cxn ang="0">
                    <a:pos x="50" y="30"/>
                  </a:cxn>
                  <a:cxn ang="0">
                    <a:pos x="48" y="30"/>
                  </a:cxn>
                  <a:cxn ang="0">
                    <a:pos x="40" y="32"/>
                  </a:cxn>
                  <a:cxn ang="0">
                    <a:pos x="34" y="34"/>
                  </a:cxn>
                  <a:cxn ang="0">
                    <a:pos x="34" y="38"/>
                  </a:cxn>
                  <a:cxn ang="0">
                    <a:pos x="28" y="38"/>
                  </a:cxn>
                  <a:cxn ang="0">
                    <a:pos x="20" y="36"/>
                  </a:cxn>
                  <a:cxn ang="0">
                    <a:pos x="16" y="36"/>
                  </a:cxn>
                  <a:cxn ang="0">
                    <a:pos x="10" y="34"/>
                  </a:cxn>
                  <a:cxn ang="0">
                    <a:pos x="6" y="32"/>
                  </a:cxn>
                  <a:cxn ang="0">
                    <a:pos x="4" y="26"/>
                  </a:cxn>
                  <a:cxn ang="0">
                    <a:pos x="0" y="24"/>
                  </a:cxn>
                  <a:cxn ang="0">
                    <a:pos x="0" y="24"/>
                  </a:cxn>
                  <a:cxn ang="0">
                    <a:pos x="4" y="20"/>
                  </a:cxn>
                  <a:cxn ang="0">
                    <a:pos x="4" y="18"/>
                  </a:cxn>
                  <a:cxn ang="0">
                    <a:pos x="6" y="16"/>
                  </a:cxn>
                  <a:cxn ang="0">
                    <a:pos x="10" y="14"/>
                  </a:cxn>
                  <a:cxn ang="0">
                    <a:pos x="12" y="12"/>
                  </a:cxn>
                  <a:cxn ang="0">
                    <a:pos x="12" y="10"/>
                  </a:cxn>
                  <a:cxn ang="0">
                    <a:pos x="12" y="8"/>
                  </a:cxn>
                  <a:cxn ang="0">
                    <a:pos x="20" y="6"/>
                  </a:cxn>
                  <a:cxn ang="0">
                    <a:pos x="26" y="6"/>
                  </a:cxn>
                  <a:cxn ang="0">
                    <a:pos x="30" y="4"/>
                  </a:cxn>
                  <a:cxn ang="0">
                    <a:pos x="34" y="6"/>
                  </a:cxn>
                  <a:cxn ang="0">
                    <a:pos x="40" y="10"/>
                  </a:cxn>
                  <a:cxn ang="0">
                    <a:pos x="46" y="12"/>
                  </a:cxn>
                  <a:cxn ang="0">
                    <a:pos x="48" y="12"/>
                  </a:cxn>
                  <a:cxn ang="0">
                    <a:pos x="50" y="10"/>
                  </a:cxn>
                  <a:cxn ang="0">
                    <a:pos x="52" y="8"/>
                  </a:cxn>
                  <a:cxn ang="0">
                    <a:pos x="54" y="8"/>
                  </a:cxn>
                  <a:cxn ang="0">
                    <a:pos x="56" y="6"/>
                  </a:cxn>
                  <a:cxn ang="0">
                    <a:pos x="60" y="4"/>
                  </a:cxn>
                  <a:cxn ang="0">
                    <a:pos x="64" y="2"/>
                  </a:cxn>
                  <a:cxn ang="0">
                    <a:pos x="66" y="0"/>
                  </a:cxn>
                  <a:cxn ang="0">
                    <a:pos x="70" y="0"/>
                  </a:cxn>
                  <a:cxn ang="0">
                    <a:pos x="74" y="4"/>
                  </a:cxn>
                  <a:cxn ang="0">
                    <a:pos x="78" y="6"/>
                  </a:cxn>
                  <a:cxn ang="0">
                    <a:pos x="80" y="6"/>
                  </a:cxn>
                  <a:cxn ang="0">
                    <a:pos x="82" y="8"/>
                  </a:cxn>
                  <a:cxn ang="0">
                    <a:pos x="86" y="12"/>
                  </a:cxn>
                  <a:cxn ang="0">
                    <a:pos x="88" y="14"/>
                  </a:cxn>
                  <a:cxn ang="0">
                    <a:pos x="88" y="18"/>
                  </a:cxn>
                  <a:cxn ang="0">
                    <a:pos x="92" y="22"/>
                  </a:cxn>
                  <a:cxn ang="0">
                    <a:pos x="94" y="24"/>
                  </a:cxn>
                  <a:cxn ang="0">
                    <a:pos x="94" y="24"/>
                  </a:cxn>
                </a:cxnLst>
                <a:rect l="0" t="0" r="r" b="b"/>
                <a:pathLst>
                  <a:path w="94" h="38">
                    <a:moveTo>
                      <a:pt x="94" y="24"/>
                    </a:moveTo>
                    <a:lnTo>
                      <a:pt x="90" y="24"/>
                    </a:lnTo>
                    <a:lnTo>
                      <a:pt x="88" y="30"/>
                    </a:lnTo>
                    <a:lnTo>
                      <a:pt x="86" y="30"/>
                    </a:lnTo>
                    <a:lnTo>
                      <a:pt x="82" y="28"/>
                    </a:lnTo>
                    <a:lnTo>
                      <a:pt x="80" y="26"/>
                    </a:lnTo>
                    <a:lnTo>
                      <a:pt x="78" y="26"/>
                    </a:lnTo>
                    <a:lnTo>
                      <a:pt x="72" y="28"/>
                    </a:lnTo>
                    <a:lnTo>
                      <a:pt x="66" y="28"/>
                    </a:lnTo>
                    <a:lnTo>
                      <a:pt x="60" y="28"/>
                    </a:lnTo>
                    <a:lnTo>
                      <a:pt x="56" y="32"/>
                    </a:lnTo>
                    <a:lnTo>
                      <a:pt x="56" y="32"/>
                    </a:lnTo>
                    <a:lnTo>
                      <a:pt x="54" y="34"/>
                    </a:lnTo>
                    <a:lnTo>
                      <a:pt x="52" y="32"/>
                    </a:lnTo>
                    <a:lnTo>
                      <a:pt x="50" y="32"/>
                    </a:lnTo>
                    <a:lnTo>
                      <a:pt x="50" y="30"/>
                    </a:lnTo>
                    <a:lnTo>
                      <a:pt x="48" y="30"/>
                    </a:lnTo>
                    <a:lnTo>
                      <a:pt x="40" y="32"/>
                    </a:lnTo>
                    <a:lnTo>
                      <a:pt x="34" y="34"/>
                    </a:lnTo>
                    <a:lnTo>
                      <a:pt x="34" y="38"/>
                    </a:lnTo>
                    <a:lnTo>
                      <a:pt x="28" y="38"/>
                    </a:lnTo>
                    <a:lnTo>
                      <a:pt x="20" y="36"/>
                    </a:lnTo>
                    <a:lnTo>
                      <a:pt x="16" y="36"/>
                    </a:lnTo>
                    <a:lnTo>
                      <a:pt x="10" y="34"/>
                    </a:lnTo>
                    <a:lnTo>
                      <a:pt x="6" y="32"/>
                    </a:lnTo>
                    <a:lnTo>
                      <a:pt x="4" y="26"/>
                    </a:lnTo>
                    <a:lnTo>
                      <a:pt x="0" y="24"/>
                    </a:lnTo>
                    <a:lnTo>
                      <a:pt x="0" y="24"/>
                    </a:lnTo>
                    <a:lnTo>
                      <a:pt x="4" y="20"/>
                    </a:lnTo>
                    <a:lnTo>
                      <a:pt x="4" y="18"/>
                    </a:lnTo>
                    <a:lnTo>
                      <a:pt x="6" y="16"/>
                    </a:lnTo>
                    <a:lnTo>
                      <a:pt x="10" y="14"/>
                    </a:lnTo>
                    <a:lnTo>
                      <a:pt x="12" y="12"/>
                    </a:lnTo>
                    <a:lnTo>
                      <a:pt x="12" y="10"/>
                    </a:lnTo>
                    <a:lnTo>
                      <a:pt x="12" y="8"/>
                    </a:lnTo>
                    <a:lnTo>
                      <a:pt x="20" y="6"/>
                    </a:lnTo>
                    <a:lnTo>
                      <a:pt x="26" y="6"/>
                    </a:lnTo>
                    <a:lnTo>
                      <a:pt x="30" y="4"/>
                    </a:lnTo>
                    <a:lnTo>
                      <a:pt x="34" y="6"/>
                    </a:lnTo>
                    <a:lnTo>
                      <a:pt x="40" y="10"/>
                    </a:lnTo>
                    <a:lnTo>
                      <a:pt x="46" y="12"/>
                    </a:lnTo>
                    <a:lnTo>
                      <a:pt x="48" y="12"/>
                    </a:lnTo>
                    <a:lnTo>
                      <a:pt x="50" y="10"/>
                    </a:lnTo>
                    <a:lnTo>
                      <a:pt x="52" y="8"/>
                    </a:lnTo>
                    <a:lnTo>
                      <a:pt x="54" y="8"/>
                    </a:lnTo>
                    <a:lnTo>
                      <a:pt x="56" y="6"/>
                    </a:lnTo>
                    <a:lnTo>
                      <a:pt x="60" y="4"/>
                    </a:lnTo>
                    <a:lnTo>
                      <a:pt x="64" y="2"/>
                    </a:lnTo>
                    <a:lnTo>
                      <a:pt x="66" y="0"/>
                    </a:lnTo>
                    <a:lnTo>
                      <a:pt x="70" y="0"/>
                    </a:lnTo>
                    <a:lnTo>
                      <a:pt x="74" y="4"/>
                    </a:lnTo>
                    <a:lnTo>
                      <a:pt x="78" y="6"/>
                    </a:lnTo>
                    <a:lnTo>
                      <a:pt x="80" y="6"/>
                    </a:lnTo>
                    <a:lnTo>
                      <a:pt x="82" y="8"/>
                    </a:lnTo>
                    <a:lnTo>
                      <a:pt x="86" y="12"/>
                    </a:lnTo>
                    <a:lnTo>
                      <a:pt x="88" y="14"/>
                    </a:lnTo>
                    <a:lnTo>
                      <a:pt x="88" y="18"/>
                    </a:lnTo>
                    <a:lnTo>
                      <a:pt x="92" y="22"/>
                    </a:lnTo>
                    <a:lnTo>
                      <a:pt x="94" y="24"/>
                    </a:lnTo>
                    <a:lnTo>
                      <a:pt x="94" y="2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34" name="Freeform 520">
                <a:extLst>
                  <a:ext uri="{FF2B5EF4-FFF2-40B4-BE49-F238E27FC236}">
                    <a16:creationId xmlns:a16="http://schemas.microsoft.com/office/drawing/2014/main" id="{3EE5A8D9-8D1B-6741-C94C-B78C99DFAB6F}"/>
                  </a:ext>
                </a:extLst>
              </p:cNvPr>
              <p:cNvSpPr>
                <a:spLocks/>
              </p:cNvSpPr>
              <p:nvPr/>
            </p:nvSpPr>
            <p:spPr bwMode="auto">
              <a:xfrm>
                <a:off x="4716337" y="3585534"/>
                <a:ext cx="36949" cy="88383"/>
              </a:xfrm>
              <a:custGeom>
                <a:avLst/>
                <a:gdLst/>
                <a:ahLst/>
                <a:cxnLst>
                  <a:cxn ang="0">
                    <a:pos x="30" y="88"/>
                  </a:cxn>
                  <a:cxn ang="0">
                    <a:pos x="32" y="80"/>
                  </a:cxn>
                  <a:cxn ang="0">
                    <a:pos x="32" y="78"/>
                  </a:cxn>
                  <a:cxn ang="0">
                    <a:pos x="28" y="76"/>
                  </a:cxn>
                  <a:cxn ang="0">
                    <a:pos x="28" y="70"/>
                  </a:cxn>
                  <a:cxn ang="0">
                    <a:pos x="32" y="62"/>
                  </a:cxn>
                  <a:cxn ang="0">
                    <a:pos x="28" y="56"/>
                  </a:cxn>
                  <a:cxn ang="0">
                    <a:pos x="32" y="50"/>
                  </a:cxn>
                  <a:cxn ang="0">
                    <a:pos x="32" y="42"/>
                  </a:cxn>
                  <a:cxn ang="0">
                    <a:pos x="34" y="34"/>
                  </a:cxn>
                  <a:cxn ang="0">
                    <a:pos x="36" y="28"/>
                  </a:cxn>
                  <a:cxn ang="0">
                    <a:pos x="30" y="18"/>
                  </a:cxn>
                  <a:cxn ang="0">
                    <a:pos x="36" y="12"/>
                  </a:cxn>
                  <a:cxn ang="0">
                    <a:pos x="34" y="6"/>
                  </a:cxn>
                  <a:cxn ang="0">
                    <a:pos x="30" y="4"/>
                  </a:cxn>
                  <a:cxn ang="0">
                    <a:pos x="18" y="4"/>
                  </a:cxn>
                  <a:cxn ang="0">
                    <a:pos x="16" y="0"/>
                  </a:cxn>
                  <a:cxn ang="0">
                    <a:pos x="10" y="4"/>
                  </a:cxn>
                  <a:cxn ang="0">
                    <a:pos x="12" y="24"/>
                  </a:cxn>
                  <a:cxn ang="0">
                    <a:pos x="8" y="34"/>
                  </a:cxn>
                  <a:cxn ang="0">
                    <a:pos x="8" y="38"/>
                  </a:cxn>
                  <a:cxn ang="0">
                    <a:pos x="6" y="46"/>
                  </a:cxn>
                  <a:cxn ang="0">
                    <a:pos x="2" y="50"/>
                  </a:cxn>
                  <a:cxn ang="0">
                    <a:pos x="0" y="54"/>
                  </a:cxn>
                  <a:cxn ang="0">
                    <a:pos x="4" y="60"/>
                  </a:cxn>
                  <a:cxn ang="0">
                    <a:pos x="6" y="56"/>
                  </a:cxn>
                  <a:cxn ang="0">
                    <a:pos x="4" y="62"/>
                  </a:cxn>
                  <a:cxn ang="0">
                    <a:pos x="6" y="64"/>
                  </a:cxn>
                  <a:cxn ang="0">
                    <a:pos x="8" y="72"/>
                  </a:cxn>
                  <a:cxn ang="0">
                    <a:pos x="8" y="76"/>
                  </a:cxn>
                  <a:cxn ang="0">
                    <a:pos x="10" y="88"/>
                  </a:cxn>
                  <a:cxn ang="0">
                    <a:pos x="18" y="92"/>
                  </a:cxn>
                  <a:cxn ang="0">
                    <a:pos x="26" y="90"/>
                  </a:cxn>
                  <a:cxn ang="0">
                    <a:pos x="30" y="88"/>
                  </a:cxn>
                </a:cxnLst>
                <a:rect l="0" t="0" r="r" b="b"/>
                <a:pathLst>
                  <a:path w="38" h="92">
                    <a:moveTo>
                      <a:pt x="30" y="88"/>
                    </a:moveTo>
                    <a:lnTo>
                      <a:pt x="30" y="88"/>
                    </a:lnTo>
                    <a:lnTo>
                      <a:pt x="30" y="86"/>
                    </a:lnTo>
                    <a:lnTo>
                      <a:pt x="32" y="80"/>
                    </a:lnTo>
                    <a:lnTo>
                      <a:pt x="34" y="78"/>
                    </a:lnTo>
                    <a:lnTo>
                      <a:pt x="32" y="78"/>
                    </a:lnTo>
                    <a:lnTo>
                      <a:pt x="30" y="78"/>
                    </a:lnTo>
                    <a:lnTo>
                      <a:pt x="28" y="76"/>
                    </a:lnTo>
                    <a:lnTo>
                      <a:pt x="28" y="72"/>
                    </a:lnTo>
                    <a:lnTo>
                      <a:pt x="28" y="70"/>
                    </a:lnTo>
                    <a:lnTo>
                      <a:pt x="30" y="66"/>
                    </a:lnTo>
                    <a:lnTo>
                      <a:pt x="32" y="62"/>
                    </a:lnTo>
                    <a:lnTo>
                      <a:pt x="30" y="60"/>
                    </a:lnTo>
                    <a:lnTo>
                      <a:pt x="28" y="56"/>
                    </a:lnTo>
                    <a:lnTo>
                      <a:pt x="28" y="54"/>
                    </a:lnTo>
                    <a:lnTo>
                      <a:pt x="32" y="50"/>
                    </a:lnTo>
                    <a:lnTo>
                      <a:pt x="32" y="46"/>
                    </a:lnTo>
                    <a:lnTo>
                      <a:pt x="32" y="42"/>
                    </a:lnTo>
                    <a:lnTo>
                      <a:pt x="30" y="38"/>
                    </a:lnTo>
                    <a:lnTo>
                      <a:pt x="34" y="34"/>
                    </a:lnTo>
                    <a:lnTo>
                      <a:pt x="36" y="32"/>
                    </a:lnTo>
                    <a:lnTo>
                      <a:pt x="36" y="28"/>
                    </a:lnTo>
                    <a:lnTo>
                      <a:pt x="32" y="20"/>
                    </a:lnTo>
                    <a:lnTo>
                      <a:pt x="30" y="18"/>
                    </a:lnTo>
                    <a:lnTo>
                      <a:pt x="32" y="16"/>
                    </a:lnTo>
                    <a:lnTo>
                      <a:pt x="36" y="12"/>
                    </a:lnTo>
                    <a:lnTo>
                      <a:pt x="38" y="6"/>
                    </a:lnTo>
                    <a:lnTo>
                      <a:pt x="34" y="6"/>
                    </a:lnTo>
                    <a:lnTo>
                      <a:pt x="34" y="4"/>
                    </a:lnTo>
                    <a:lnTo>
                      <a:pt x="30" y="4"/>
                    </a:lnTo>
                    <a:lnTo>
                      <a:pt x="20" y="4"/>
                    </a:lnTo>
                    <a:lnTo>
                      <a:pt x="18" y="4"/>
                    </a:lnTo>
                    <a:lnTo>
                      <a:pt x="18" y="2"/>
                    </a:lnTo>
                    <a:lnTo>
                      <a:pt x="16" y="0"/>
                    </a:lnTo>
                    <a:lnTo>
                      <a:pt x="12" y="2"/>
                    </a:lnTo>
                    <a:lnTo>
                      <a:pt x="10" y="4"/>
                    </a:lnTo>
                    <a:lnTo>
                      <a:pt x="12" y="16"/>
                    </a:lnTo>
                    <a:lnTo>
                      <a:pt x="12" y="24"/>
                    </a:lnTo>
                    <a:lnTo>
                      <a:pt x="12" y="30"/>
                    </a:lnTo>
                    <a:lnTo>
                      <a:pt x="8" y="34"/>
                    </a:lnTo>
                    <a:lnTo>
                      <a:pt x="8" y="36"/>
                    </a:lnTo>
                    <a:lnTo>
                      <a:pt x="8" y="38"/>
                    </a:lnTo>
                    <a:lnTo>
                      <a:pt x="6" y="42"/>
                    </a:lnTo>
                    <a:lnTo>
                      <a:pt x="6" y="46"/>
                    </a:lnTo>
                    <a:lnTo>
                      <a:pt x="2" y="46"/>
                    </a:lnTo>
                    <a:lnTo>
                      <a:pt x="2" y="50"/>
                    </a:lnTo>
                    <a:lnTo>
                      <a:pt x="2" y="52"/>
                    </a:lnTo>
                    <a:lnTo>
                      <a:pt x="0" y="54"/>
                    </a:lnTo>
                    <a:lnTo>
                      <a:pt x="2" y="56"/>
                    </a:lnTo>
                    <a:lnTo>
                      <a:pt x="4" y="60"/>
                    </a:lnTo>
                    <a:lnTo>
                      <a:pt x="4" y="58"/>
                    </a:lnTo>
                    <a:lnTo>
                      <a:pt x="6" y="56"/>
                    </a:lnTo>
                    <a:lnTo>
                      <a:pt x="6" y="60"/>
                    </a:lnTo>
                    <a:lnTo>
                      <a:pt x="4" y="62"/>
                    </a:lnTo>
                    <a:lnTo>
                      <a:pt x="4" y="64"/>
                    </a:lnTo>
                    <a:lnTo>
                      <a:pt x="6" y="64"/>
                    </a:lnTo>
                    <a:lnTo>
                      <a:pt x="6" y="70"/>
                    </a:lnTo>
                    <a:lnTo>
                      <a:pt x="8" y="72"/>
                    </a:lnTo>
                    <a:lnTo>
                      <a:pt x="8" y="74"/>
                    </a:lnTo>
                    <a:lnTo>
                      <a:pt x="8" y="76"/>
                    </a:lnTo>
                    <a:lnTo>
                      <a:pt x="6" y="90"/>
                    </a:lnTo>
                    <a:lnTo>
                      <a:pt x="10" y="88"/>
                    </a:lnTo>
                    <a:lnTo>
                      <a:pt x="18" y="90"/>
                    </a:lnTo>
                    <a:lnTo>
                      <a:pt x="18" y="92"/>
                    </a:lnTo>
                    <a:lnTo>
                      <a:pt x="22" y="92"/>
                    </a:lnTo>
                    <a:lnTo>
                      <a:pt x="26" y="90"/>
                    </a:lnTo>
                    <a:lnTo>
                      <a:pt x="30" y="88"/>
                    </a:lnTo>
                    <a:lnTo>
                      <a:pt x="30" y="8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35" name="Freeform 521">
                <a:extLst>
                  <a:ext uri="{FF2B5EF4-FFF2-40B4-BE49-F238E27FC236}">
                    <a16:creationId xmlns:a16="http://schemas.microsoft.com/office/drawing/2014/main" id="{65638E46-96DB-738E-C0BF-CE7118889093}"/>
                  </a:ext>
                </a:extLst>
              </p:cNvPr>
              <p:cNvSpPr>
                <a:spLocks/>
              </p:cNvSpPr>
              <p:nvPr/>
            </p:nvSpPr>
            <p:spPr bwMode="auto">
              <a:xfrm>
                <a:off x="5015821" y="3353048"/>
                <a:ext cx="134184" cy="113361"/>
              </a:xfrm>
              <a:custGeom>
                <a:avLst/>
                <a:gdLst/>
                <a:ahLst/>
                <a:cxnLst>
                  <a:cxn ang="0">
                    <a:pos x="72" y="10"/>
                  </a:cxn>
                  <a:cxn ang="0">
                    <a:pos x="70" y="6"/>
                  </a:cxn>
                  <a:cxn ang="0">
                    <a:pos x="64" y="8"/>
                  </a:cxn>
                  <a:cxn ang="0">
                    <a:pos x="58" y="8"/>
                  </a:cxn>
                  <a:cxn ang="0">
                    <a:pos x="56" y="4"/>
                  </a:cxn>
                  <a:cxn ang="0">
                    <a:pos x="60" y="4"/>
                  </a:cxn>
                  <a:cxn ang="0">
                    <a:pos x="58" y="2"/>
                  </a:cxn>
                  <a:cxn ang="0">
                    <a:pos x="42" y="4"/>
                  </a:cxn>
                  <a:cxn ang="0">
                    <a:pos x="32" y="8"/>
                  </a:cxn>
                  <a:cxn ang="0">
                    <a:pos x="26" y="12"/>
                  </a:cxn>
                  <a:cxn ang="0">
                    <a:pos x="24" y="12"/>
                  </a:cxn>
                  <a:cxn ang="0">
                    <a:pos x="8" y="16"/>
                  </a:cxn>
                  <a:cxn ang="0">
                    <a:pos x="2" y="22"/>
                  </a:cxn>
                  <a:cxn ang="0">
                    <a:pos x="0" y="34"/>
                  </a:cxn>
                  <a:cxn ang="0">
                    <a:pos x="4" y="40"/>
                  </a:cxn>
                  <a:cxn ang="0">
                    <a:pos x="4" y="52"/>
                  </a:cxn>
                  <a:cxn ang="0">
                    <a:pos x="6" y="74"/>
                  </a:cxn>
                  <a:cxn ang="0">
                    <a:pos x="18" y="76"/>
                  </a:cxn>
                  <a:cxn ang="0">
                    <a:pos x="20" y="80"/>
                  </a:cxn>
                  <a:cxn ang="0">
                    <a:pos x="24" y="80"/>
                  </a:cxn>
                  <a:cxn ang="0">
                    <a:pos x="26" y="82"/>
                  </a:cxn>
                  <a:cxn ang="0">
                    <a:pos x="36" y="88"/>
                  </a:cxn>
                  <a:cxn ang="0">
                    <a:pos x="42" y="88"/>
                  </a:cxn>
                  <a:cxn ang="0">
                    <a:pos x="46" y="92"/>
                  </a:cxn>
                  <a:cxn ang="0">
                    <a:pos x="48" y="94"/>
                  </a:cxn>
                  <a:cxn ang="0">
                    <a:pos x="52" y="102"/>
                  </a:cxn>
                  <a:cxn ang="0">
                    <a:pos x="62" y="100"/>
                  </a:cxn>
                  <a:cxn ang="0">
                    <a:pos x="72" y="106"/>
                  </a:cxn>
                  <a:cxn ang="0">
                    <a:pos x="80" y="108"/>
                  </a:cxn>
                  <a:cxn ang="0">
                    <a:pos x="82" y="104"/>
                  </a:cxn>
                  <a:cxn ang="0">
                    <a:pos x="88" y="102"/>
                  </a:cxn>
                  <a:cxn ang="0">
                    <a:pos x="96" y="98"/>
                  </a:cxn>
                  <a:cxn ang="0">
                    <a:pos x="102" y="96"/>
                  </a:cxn>
                  <a:cxn ang="0">
                    <a:pos x="110" y="102"/>
                  </a:cxn>
                  <a:cxn ang="0">
                    <a:pos x="114" y="104"/>
                  </a:cxn>
                  <a:cxn ang="0">
                    <a:pos x="120" y="110"/>
                  </a:cxn>
                  <a:cxn ang="0">
                    <a:pos x="124" y="116"/>
                  </a:cxn>
                  <a:cxn ang="0">
                    <a:pos x="130" y="116"/>
                  </a:cxn>
                  <a:cxn ang="0">
                    <a:pos x="134" y="114"/>
                  </a:cxn>
                  <a:cxn ang="0">
                    <a:pos x="132" y="106"/>
                  </a:cxn>
                  <a:cxn ang="0">
                    <a:pos x="134" y="96"/>
                  </a:cxn>
                  <a:cxn ang="0">
                    <a:pos x="136" y="84"/>
                  </a:cxn>
                  <a:cxn ang="0">
                    <a:pos x="134" y="78"/>
                  </a:cxn>
                  <a:cxn ang="0">
                    <a:pos x="136" y="68"/>
                  </a:cxn>
                  <a:cxn ang="0">
                    <a:pos x="136" y="64"/>
                  </a:cxn>
                  <a:cxn ang="0">
                    <a:pos x="134" y="56"/>
                  </a:cxn>
                  <a:cxn ang="0">
                    <a:pos x="134" y="46"/>
                  </a:cxn>
                  <a:cxn ang="0">
                    <a:pos x="138" y="36"/>
                  </a:cxn>
                  <a:cxn ang="0">
                    <a:pos x="136" y="30"/>
                  </a:cxn>
                  <a:cxn ang="0">
                    <a:pos x="134" y="22"/>
                  </a:cxn>
                  <a:cxn ang="0">
                    <a:pos x="134" y="18"/>
                  </a:cxn>
                  <a:cxn ang="0">
                    <a:pos x="116" y="16"/>
                  </a:cxn>
                  <a:cxn ang="0">
                    <a:pos x="102" y="18"/>
                  </a:cxn>
                  <a:cxn ang="0">
                    <a:pos x="84" y="16"/>
                  </a:cxn>
                  <a:cxn ang="0">
                    <a:pos x="72" y="8"/>
                  </a:cxn>
                  <a:cxn ang="0">
                    <a:pos x="72" y="10"/>
                  </a:cxn>
                </a:cxnLst>
                <a:rect l="0" t="0" r="r" b="b"/>
                <a:pathLst>
                  <a:path w="138" h="118">
                    <a:moveTo>
                      <a:pt x="72" y="10"/>
                    </a:moveTo>
                    <a:lnTo>
                      <a:pt x="72" y="10"/>
                    </a:lnTo>
                    <a:lnTo>
                      <a:pt x="70" y="8"/>
                    </a:lnTo>
                    <a:lnTo>
                      <a:pt x="70" y="6"/>
                    </a:lnTo>
                    <a:lnTo>
                      <a:pt x="68" y="6"/>
                    </a:lnTo>
                    <a:lnTo>
                      <a:pt x="64" y="8"/>
                    </a:lnTo>
                    <a:lnTo>
                      <a:pt x="60" y="10"/>
                    </a:lnTo>
                    <a:lnTo>
                      <a:pt x="58" y="8"/>
                    </a:lnTo>
                    <a:lnTo>
                      <a:pt x="56" y="8"/>
                    </a:lnTo>
                    <a:lnTo>
                      <a:pt x="56" y="4"/>
                    </a:lnTo>
                    <a:lnTo>
                      <a:pt x="58" y="6"/>
                    </a:lnTo>
                    <a:lnTo>
                      <a:pt x="60" y="4"/>
                    </a:lnTo>
                    <a:lnTo>
                      <a:pt x="60" y="2"/>
                    </a:lnTo>
                    <a:lnTo>
                      <a:pt x="58" y="2"/>
                    </a:lnTo>
                    <a:lnTo>
                      <a:pt x="56" y="0"/>
                    </a:lnTo>
                    <a:lnTo>
                      <a:pt x="42" y="4"/>
                    </a:lnTo>
                    <a:lnTo>
                      <a:pt x="38" y="8"/>
                    </a:lnTo>
                    <a:lnTo>
                      <a:pt x="32" y="8"/>
                    </a:lnTo>
                    <a:lnTo>
                      <a:pt x="30" y="10"/>
                    </a:lnTo>
                    <a:lnTo>
                      <a:pt x="26" y="12"/>
                    </a:lnTo>
                    <a:lnTo>
                      <a:pt x="26" y="12"/>
                    </a:lnTo>
                    <a:lnTo>
                      <a:pt x="24" y="12"/>
                    </a:lnTo>
                    <a:lnTo>
                      <a:pt x="22" y="14"/>
                    </a:lnTo>
                    <a:lnTo>
                      <a:pt x="8" y="16"/>
                    </a:lnTo>
                    <a:lnTo>
                      <a:pt x="2" y="16"/>
                    </a:lnTo>
                    <a:lnTo>
                      <a:pt x="2" y="22"/>
                    </a:lnTo>
                    <a:lnTo>
                      <a:pt x="0" y="32"/>
                    </a:lnTo>
                    <a:lnTo>
                      <a:pt x="0" y="34"/>
                    </a:lnTo>
                    <a:lnTo>
                      <a:pt x="2" y="38"/>
                    </a:lnTo>
                    <a:lnTo>
                      <a:pt x="4" y="40"/>
                    </a:lnTo>
                    <a:lnTo>
                      <a:pt x="2" y="50"/>
                    </a:lnTo>
                    <a:lnTo>
                      <a:pt x="4" y="52"/>
                    </a:lnTo>
                    <a:lnTo>
                      <a:pt x="4" y="56"/>
                    </a:lnTo>
                    <a:lnTo>
                      <a:pt x="6" y="74"/>
                    </a:lnTo>
                    <a:lnTo>
                      <a:pt x="10" y="76"/>
                    </a:lnTo>
                    <a:lnTo>
                      <a:pt x="18" y="76"/>
                    </a:lnTo>
                    <a:lnTo>
                      <a:pt x="20" y="78"/>
                    </a:lnTo>
                    <a:lnTo>
                      <a:pt x="20" y="80"/>
                    </a:lnTo>
                    <a:lnTo>
                      <a:pt x="22" y="80"/>
                    </a:lnTo>
                    <a:lnTo>
                      <a:pt x="24" y="80"/>
                    </a:lnTo>
                    <a:lnTo>
                      <a:pt x="26" y="80"/>
                    </a:lnTo>
                    <a:lnTo>
                      <a:pt x="26" y="82"/>
                    </a:lnTo>
                    <a:lnTo>
                      <a:pt x="30" y="86"/>
                    </a:lnTo>
                    <a:lnTo>
                      <a:pt x="36" y="88"/>
                    </a:lnTo>
                    <a:lnTo>
                      <a:pt x="40" y="88"/>
                    </a:lnTo>
                    <a:lnTo>
                      <a:pt x="42" y="88"/>
                    </a:lnTo>
                    <a:lnTo>
                      <a:pt x="44" y="90"/>
                    </a:lnTo>
                    <a:lnTo>
                      <a:pt x="46" y="92"/>
                    </a:lnTo>
                    <a:lnTo>
                      <a:pt x="46" y="94"/>
                    </a:lnTo>
                    <a:lnTo>
                      <a:pt x="48" y="94"/>
                    </a:lnTo>
                    <a:lnTo>
                      <a:pt x="50" y="96"/>
                    </a:lnTo>
                    <a:lnTo>
                      <a:pt x="52" y="102"/>
                    </a:lnTo>
                    <a:lnTo>
                      <a:pt x="58" y="102"/>
                    </a:lnTo>
                    <a:lnTo>
                      <a:pt x="62" y="100"/>
                    </a:lnTo>
                    <a:lnTo>
                      <a:pt x="66" y="102"/>
                    </a:lnTo>
                    <a:lnTo>
                      <a:pt x="72" y="106"/>
                    </a:lnTo>
                    <a:lnTo>
                      <a:pt x="78" y="108"/>
                    </a:lnTo>
                    <a:lnTo>
                      <a:pt x="80" y="108"/>
                    </a:lnTo>
                    <a:lnTo>
                      <a:pt x="80" y="106"/>
                    </a:lnTo>
                    <a:lnTo>
                      <a:pt x="82" y="104"/>
                    </a:lnTo>
                    <a:lnTo>
                      <a:pt x="84" y="104"/>
                    </a:lnTo>
                    <a:lnTo>
                      <a:pt x="88" y="102"/>
                    </a:lnTo>
                    <a:lnTo>
                      <a:pt x="92" y="100"/>
                    </a:lnTo>
                    <a:lnTo>
                      <a:pt x="96" y="98"/>
                    </a:lnTo>
                    <a:lnTo>
                      <a:pt x="98" y="96"/>
                    </a:lnTo>
                    <a:lnTo>
                      <a:pt x="102" y="96"/>
                    </a:lnTo>
                    <a:lnTo>
                      <a:pt x="106" y="100"/>
                    </a:lnTo>
                    <a:lnTo>
                      <a:pt x="110" y="102"/>
                    </a:lnTo>
                    <a:lnTo>
                      <a:pt x="112" y="102"/>
                    </a:lnTo>
                    <a:lnTo>
                      <a:pt x="114" y="104"/>
                    </a:lnTo>
                    <a:lnTo>
                      <a:pt x="118" y="108"/>
                    </a:lnTo>
                    <a:lnTo>
                      <a:pt x="120" y="110"/>
                    </a:lnTo>
                    <a:lnTo>
                      <a:pt x="120" y="114"/>
                    </a:lnTo>
                    <a:lnTo>
                      <a:pt x="124" y="116"/>
                    </a:lnTo>
                    <a:lnTo>
                      <a:pt x="126" y="118"/>
                    </a:lnTo>
                    <a:lnTo>
                      <a:pt x="130" y="116"/>
                    </a:lnTo>
                    <a:lnTo>
                      <a:pt x="134" y="114"/>
                    </a:lnTo>
                    <a:lnTo>
                      <a:pt x="134" y="114"/>
                    </a:lnTo>
                    <a:lnTo>
                      <a:pt x="132" y="110"/>
                    </a:lnTo>
                    <a:lnTo>
                      <a:pt x="132" y="106"/>
                    </a:lnTo>
                    <a:lnTo>
                      <a:pt x="132" y="104"/>
                    </a:lnTo>
                    <a:lnTo>
                      <a:pt x="134" y="96"/>
                    </a:lnTo>
                    <a:lnTo>
                      <a:pt x="138" y="88"/>
                    </a:lnTo>
                    <a:lnTo>
                      <a:pt x="136" y="84"/>
                    </a:lnTo>
                    <a:lnTo>
                      <a:pt x="134" y="80"/>
                    </a:lnTo>
                    <a:lnTo>
                      <a:pt x="134" y="78"/>
                    </a:lnTo>
                    <a:lnTo>
                      <a:pt x="134" y="74"/>
                    </a:lnTo>
                    <a:lnTo>
                      <a:pt x="136" y="68"/>
                    </a:lnTo>
                    <a:lnTo>
                      <a:pt x="136" y="66"/>
                    </a:lnTo>
                    <a:lnTo>
                      <a:pt x="136" y="64"/>
                    </a:lnTo>
                    <a:lnTo>
                      <a:pt x="134" y="58"/>
                    </a:lnTo>
                    <a:lnTo>
                      <a:pt x="134" y="56"/>
                    </a:lnTo>
                    <a:lnTo>
                      <a:pt x="136" y="54"/>
                    </a:lnTo>
                    <a:lnTo>
                      <a:pt x="134" y="46"/>
                    </a:lnTo>
                    <a:lnTo>
                      <a:pt x="138" y="40"/>
                    </a:lnTo>
                    <a:lnTo>
                      <a:pt x="138" y="36"/>
                    </a:lnTo>
                    <a:lnTo>
                      <a:pt x="138" y="34"/>
                    </a:lnTo>
                    <a:lnTo>
                      <a:pt x="136" y="30"/>
                    </a:lnTo>
                    <a:lnTo>
                      <a:pt x="134" y="26"/>
                    </a:lnTo>
                    <a:lnTo>
                      <a:pt x="134" y="22"/>
                    </a:lnTo>
                    <a:lnTo>
                      <a:pt x="134" y="20"/>
                    </a:lnTo>
                    <a:lnTo>
                      <a:pt x="134" y="18"/>
                    </a:lnTo>
                    <a:lnTo>
                      <a:pt x="124" y="16"/>
                    </a:lnTo>
                    <a:lnTo>
                      <a:pt x="116" y="16"/>
                    </a:lnTo>
                    <a:lnTo>
                      <a:pt x="110" y="18"/>
                    </a:lnTo>
                    <a:lnTo>
                      <a:pt x="102" y="18"/>
                    </a:lnTo>
                    <a:lnTo>
                      <a:pt x="96" y="18"/>
                    </a:lnTo>
                    <a:lnTo>
                      <a:pt x="84" y="16"/>
                    </a:lnTo>
                    <a:lnTo>
                      <a:pt x="76" y="12"/>
                    </a:lnTo>
                    <a:lnTo>
                      <a:pt x="72" y="8"/>
                    </a:lnTo>
                    <a:lnTo>
                      <a:pt x="72" y="10"/>
                    </a:lnTo>
                    <a:lnTo>
                      <a:pt x="72" y="1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36" name="Freeform 522">
                <a:extLst>
                  <a:ext uri="{FF2B5EF4-FFF2-40B4-BE49-F238E27FC236}">
                    <a16:creationId xmlns:a16="http://schemas.microsoft.com/office/drawing/2014/main" id="{85CDA496-4563-E177-2F42-E67975DB3608}"/>
                  </a:ext>
                </a:extLst>
              </p:cNvPr>
              <p:cNvSpPr>
                <a:spLocks/>
              </p:cNvSpPr>
              <p:nvPr/>
            </p:nvSpPr>
            <p:spPr bwMode="auto">
              <a:xfrm>
                <a:off x="4901084" y="2991830"/>
                <a:ext cx="330598" cy="297813"/>
              </a:xfrm>
              <a:custGeom>
                <a:avLst/>
                <a:gdLst/>
                <a:ahLst/>
                <a:cxnLst>
                  <a:cxn ang="0">
                    <a:pos x="86" y="274"/>
                  </a:cxn>
                  <a:cxn ang="0">
                    <a:pos x="90" y="256"/>
                  </a:cxn>
                  <a:cxn ang="0">
                    <a:pos x="92" y="226"/>
                  </a:cxn>
                  <a:cxn ang="0">
                    <a:pos x="94" y="186"/>
                  </a:cxn>
                  <a:cxn ang="0">
                    <a:pos x="110" y="162"/>
                  </a:cxn>
                  <a:cxn ang="0">
                    <a:pos x="130" y="146"/>
                  </a:cxn>
                  <a:cxn ang="0">
                    <a:pos x="148" y="112"/>
                  </a:cxn>
                  <a:cxn ang="0">
                    <a:pos x="166" y="88"/>
                  </a:cxn>
                  <a:cxn ang="0">
                    <a:pos x="186" y="80"/>
                  </a:cxn>
                  <a:cxn ang="0">
                    <a:pos x="210" y="58"/>
                  </a:cxn>
                  <a:cxn ang="0">
                    <a:pos x="248" y="68"/>
                  </a:cxn>
                  <a:cxn ang="0">
                    <a:pos x="272" y="62"/>
                  </a:cxn>
                  <a:cxn ang="0">
                    <a:pos x="284" y="38"/>
                  </a:cxn>
                  <a:cxn ang="0">
                    <a:pos x="322" y="56"/>
                  </a:cxn>
                  <a:cxn ang="0">
                    <a:pos x="332" y="38"/>
                  </a:cxn>
                  <a:cxn ang="0">
                    <a:pos x="322" y="40"/>
                  </a:cxn>
                  <a:cxn ang="0">
                    <a:pos x="336" y="20"/>
                  </a:cxn>
                  <a:cxn ang="0">
                    <a:pos x="314" y="20"/>
                  </a:cxn>
                  <a:cxn ang="0">
                    <a:pos x="304" y="12"/>
                  </a:cxn>
                  <a:cxn ang="0">
                    <a:pos x="300" y="6"/>
                  </a:cxn>
                  <a:cxn ang="0">
                    <a:pos x="286" y="28"/>
                  </a:cxn>
                  <a:cxn ang="0">
                    <a:pos x="288" y="12"/>
                  </a:cxn>
                  <a:cxn ang="0">
                    <a:pos x="274" y="26"/>
                  </a:cxn>
                  <a:cxn ang="0">
                    <a:pos x="274" y="16"/>
                  </a:cxn>
                  <a:cxn ang="0">
                    <a:pos x="258" y="18"/>
                  </a:cxn>
                  <a:cxn ang="0">
                    <a:pos x="248" y="22"/>
                  </a:cxn>
                  <a:cxn ang="0">
                    <a:pos x="222" y="22"/>
                  </a:cxn>
                  <a:cxn ang="0">
                    <a:pos x="222" y="34"/>
                  </a:cxn>
                  <a:cxn ang="0">
                    <a:pos x="212" y="36"/>
                  </a:cxn>
                  <a:cxn ang="0">
                    <a:pos x="202" y="40"/>
                  </a:cxn>
                  <a:cxn ang="0">
                    <a:pos x="188" y="36"/>
                  </a:cxn>
                  <a:cxn ang="0">
                    <a:pos x="184" y="46"/>
                  </a:cxn>
                  <a:cxn ang="0">
                    <a:pos x="170" y="58"/>
                  </a:cxn>
                  <a:cxn ang="0">
                    <a:pos x="152" y="80"/>
                  </a:cxn>
                  <a:cxn ang="0">
                    <a:pos x="156" y="88"/>
                  </a:cxn>
                  <a:cxn ang="0">
                    <a:pos x="146" y="92"/>
                  </a:cxn>
                  <a:cxn ang="0">
                    <a:pos x="144" y="108"/>
                  </a:cxn>
                  <a:cxn ang="0">
                    <a:pos x="120" y="124"/>
                  </a:cxn>
                  <a:cxn ang="0">
                    <a:pos x="110" y="146"/>
                  </a:cxn>
                  <a:cxn ang="0">
                    <a:pos x="92" y="156"/>
                  </a:cxn>
                  <a:cxn ang="0">
                    <a:pos x="74" y="174"/>
                  </a:cxn>
                  <a:cxn ang="0">
                    <a:pos x="76" y="190"/>
                  </a:cxn>
                  <a:cxn ang="0">
                    <a:pos x="50" y="192"/>
                  </a:cxn>
                  <a:cxn ang="0">
                    <a:pos x="30" y="198"/>
                  </a:cxn>
                  <a:cxn ang="0">
                    <a:pos x="22" y="210"/>
                  </a:cxn>
                  <a:cxn ang="0">
                    <a:pos x="20" y="220"/>
                  </a:cxn>
                  <a:cxn ang="0">
                    <a:pos x="18" y="228"/>
                  </a:cxn>
                  <a:cxn ang="0">
                    <a:pos x="16" y="238"/>
                  </a:cxn>
                  <a:cxn ang="0">
                    <a:pos x="30" y="242"/>
                  </a:cxn>
                  <a:cxn ang="0">
                    <a:pos x="6" y="248"/>
                  </a:cxn>
                  <a:cxn ang="0">
                    <a:pos x="8" y="258"/>
                  </a:cxn>
                  <a:cxn ang="0">
                    <a:pos x="22" y="256"/>
                  </a:cxn>
                  <a:cxn ang="0">
                    <a:pos x="16" y="274"/>
                  </a:cxn>
                  <a:cxn ang="0">
                    <a:pos x="18" y="280"/>
                  </a:cxn>
                  <a:cxn ang="0">
                    <a:pos x="10" y="294"/>
                  </a:cxn>
                  <a:cxn ang="0">
                    <a:pos x="32" y="310"/>
                  </a:cxn>
                  <a:cxn ang="0">
                    <a:pos x="80" y="284"/>
                  </a:cxn>
                </a:cxnLst>
                <a:rect l="0" t="0" r="r" b="b"/>
                <a:pathLst>
                  <a:path w="340" h="310">
                    <a:moveTo>
                      <a:pt x="82" y="290"/>
                    </a:moveTo>
                    <a:lnTo>
                      <a:pt x="82" y="290"/>
                    </a:lnTo>
                    <a:lnTo>
                      <a:pt x="86" y="290"/>
                    </a:lnTo>
                    <a:lnTo>
                      <a:pt x="88" y="290"/>
                    </a:lnTo>
                    <a:lnTo>
                      <a:pt x="88" y="288"/>
                    </a:lnTo>
                    <a:lnTo>
                      <a:pt x="90" y="282"/>
                    </a:lnTo>
                    <a:lnTo>
                      <a:pt x="88" y="280"/>
                    </a:lnTo>
                    <a:lnTo>
                      <a:pt x="86" y="276"/>
                    </a:lnTo>
                    <a:lnTo>
                      <a:pt x="86" y="274"/>
                    </a:lnTo>
                    <a:lnTo>
                      <a:pt x="88" y="272"/>
                    </a:lnTo>
                    <a:lnTo>
                      <a:pt x="90" y="272"/>
                    </a:lnTo>
                    <a:lnTo>
                      <a:pt x="90" y="270"/>
                    </a:lnTo>
                    <a:lnTo>
                      <a:pt x="90" y="268"/>
                    </a:lnTo>
                    <a:lnTo>
                      <a:pt x="92" y="266"/>
                    </a:lnTo>
                    <a:lnTo>
                      <a:pt x="94" y="264"/>
                    </a:lnTo>
                    <a:lnTo>
                      <a:pt x="92" y="260"/>
                    </a:lnTo>
                    <a:lnTo>
                      <a:pt x="90" y="258"/>
                    </a:lnTo>
                    <a:lnTo>
                      <a:pt x="90" y="256"/>
                    </a:lnTo>
                    <a:lnTo>
                      <a:pt x="92" y="252"/>
                    </a:lnTo>
                    <a:lnTo>
                      <a:pt x="92" y="244"/>
                    </a:lnTo>
                    <a:lnTo>
                      <a:pt x="96" y="242"/>
                    </a:lnTo>
                    <a:lnTo>
                      <a:pt x="98" y="240"/>
                    </a:lnTo>
                    <a:lnTo>
                      <a:pt x="98" y="238"/>
                    </a:lnTo>
                    <a:lnTo>
                      <a:pt x="98" y="234"/>
                    </a:lnTo>
                    <a:lnTo>
                      <a:pt x="96" y="228"/>
                    </a:lnTo>
                    <a:lnTo>
                      <a:pt x="94" y="226"/>
                    </a:lnTo>
                    <a:lnTo>
                      <a:pt x="92" y="226"/>
                    </a:lnTo>
                    <a:lnTo>
                      <a:pt x="92" y="224"/>
                    </a:lnTo>
                    <a:lnTo>
                      <a:pt x="94" y="220"/>
                    </a:lnTo>
                    <a:lnTo>
                      <a:pt x="94" y="214"/>
                    </a:lnTo>
                    <a:lnTo>
                      <a:pt x="94" y="210"/>
                    </a:lnTo>
                    <a:lnTo>
                      <a:pt x="94" y="204"/>
                    </a:lnTo>
                    <a:lnTo>
                      <a:pt x="94" y="198"/>
                    </a:lnTo>
                    <a:lnTo>
                      <a:pt x="94" y="194"/>
                    </a:lnTo>
                    <a:lnTo>
                      <a:pt x="92" y="190"/>
                    </a:lnTo>
                    <a:lnTo>
                      <a:pt x="94" y="186"/>
                    </a:lnTo>
                    <a:lnTo>
                      <a:pt x="96" y="184"/>
                    </a:lnTo>
                    <a:lnTo>
                      <a:pt x="98" y="182"/>
                    </a:lnTo>
                    <a:lnTo>
                      <a:pt x="100" y="180"/>
                    </a:lnTo>
                    <a:lnTo>
                      <a:pt x="100" y="176"/>
                    </a:lnTo>
                    <a:lnTo>
                      <a:pt x="104" y="174"/>
                    </a:lnTo>
                    <a:lnTo>
                      <a:pt x="106" y="170"/>
                    </a:lnTo>
                    <a:lnTo>
                      <a:pt x="106" y="168"/>
                    </a:lnTo>
                    <a:lnTo>
                      <a:pt x="108" y="166"/>
                    </a:lnTo>
                    <a:lnTo>
                      <a:pt x="110" y="162"/>
                    </a:lnTo>
                    <a:lnTo>
                      <a:pt x="118" y="160"/>
                    </a:lnTo>
                    <a:lnTo>
                      <a:pt x="120" y="160"/>
                    </a:lnTo>
                    <a:lnTo>
                      <a:pt x="122" y="162"/>
                    </a:lnTo>
                    <a:lnTo>
                      <a:pt x="126" y="166"/>
                    </a:lnTo>
                    <a:lnTo>
                      <a:pt x="128" y="166"/>
                    </a:lnTo>
                    <a:lnTo>
                      <a:pt x="130" y="164"/>
                    </a:lnTo>
                    <a:lnTo>
                      <a:pt x="130" y="158"/>
                    </a:lnTo>
                    <a:lnTo>
                      <a:pt x="130" y="152"/>
                    </a:lnTo>
                    <a:lnTo>
                      <a:pt x="130" y="146"/>
                    </a:lnTo>
                    <a:lnTo>
                      <a:pt x="130" y="144"/>
                    </a:lnTo>
                    <a:lnTo>
                      <a:pt x="132" y="142"/>
                    </a:lnTo>
                    <a:lnTo>
                      <a:pt x="136" y="140"/>
                    </a:lnTo>
                    <a:lnTo>
                      <a:pt x="138" y="136"/>
                    </a:lnTo>
                    <a:lnTo>
                      <a:pt x="142" y="130"/>
                    </a:lnTo>
                    <a:lnTo>
                      <a:pt x="144" y="122"/>
                    </a:lnTo>
                    <a:lnTo>
                      <a:pt x="144" y="116"/>
                    </a:lnTo>
                    <a:lnTo>
                      <a:pt x="146" y="114"/>
                    </a:lnTo>
                    <a:lnTo>
                      <a:pt x="148" y="112"/>
                    </a:lnTo>
                    <a:lnTo>
                      <a:pt x="152" y="112"/>
                    </a:lnTo>
                    <a:lnTo>
                      <a:pt x="152" y="110"/>
                    </a:lnTo>
                    <a:lnTo>
                      <a:pt x="154" y="108"/>
                    </a:lnTo>
                    <a:lnTo>
                      <a:pt x="156" y="106"/>
                    </a:lnTo>
                    <a:lnTo>
                      <a:pt x="160" y="102"/>
                    </a:lnTo>
                    <a:lnTo>
                      <a:pt x="162" y="100"/>
                    </a:lnTo>
                    <a:lnTo>
                      <a:pt x="164" y="96"/>
                    </a:lnTo>
                    <a:lnTo>
                      <a:pt x="164" y="92"/>
                    </a:lnTo>
                    <a:lnTo>
                      <a:pt x="166" y="88"/>
                    </a:lnTo>
                    <a:lnTo>
                      <a:pt x="170" y="84"/>
                    </a:lnTo>
                    <a:lnTo>
                      <a:pt x="172" y="82"/>
                    </a:lnTo>
                    <a:lnTo>
                      <a:pt x="178" y="88"/>
                    </a:lnTo>
                    <a:lnTo>
                      <a:pt x="182" y="90"/>
                    </a:lnTo>
                    <a:lnTo>
                      <a:pt x="180" y="88"/>
                    </a:lnTo>
                    <a:lnTo>
                      <a:pt x="182" y="86"/>
                    </a:lnTo>
                    <a:lnTo>
                      <a:pt x="182" y="82"/>
                    </a:lnTo>
                    <a:lnTo>
                      <a:pt x="182" y="80"/>
                    </a:lnTo>
                    <a:lnTo>
                      <a:pt x="186" y="80"/>
                    </a:lnTo>
                    <a:lnTo>
                      <a:pt x="190" y="80"/>
                    </a:lnTo>
                    <a:lnTo>
                      <a:pt x="194" y="82"/>
                    </a:lnTo>
                    <a:lnTo>
                      <a:pt x="196" y="80"/>
                    </a:lnTo>
                    <a:lnTo>
                      <a:pt x="196" y="78"/>
                    </a:lnTo>
                    <a:lnTo>
                      <a:pt x="198" y="74"/>
                    </a:lnTo>
                    <a:lnTo>
                      <a:pt x="200" y="66"/>
                    </a:lnTo>
                    <a:lnTo>
                      <a:pt x="198" y="62"/>
                    </a:lnTo>
                    <a:lnTo>
                      <a:pt x="204" y="62"/>
                    </a:lnTo>
                    <a:lnTo>
                      <a:pt x="210" y="58"/>
                    </a:lnTo>
                    <a:lnTo>
                      <a:pt x="212" y="56"/>
                    </a:lnTo>
                    <a:lnTo>
                      <a:pt x="212" y="54"/>
                    </a:lnTo>
                    <a:lnTo>
                      <a:pt x="214" y="54"/>
                    </a:lnTo>
                    <a:lnTo>
                      <a:pt x="218" y="54"/>
                    </a:lnTo>
                    <a:lnTo>
                      <a:pt x="232" y="70"/>
                    </a:lnTo>
                    <a:lnTo>
                      <a:pt x="238" y="68"/>
                    </a:lnTo>
                    <a:lnTo>
                      <a:pt x="246" y="68"/>
                    </a:lnTo>
                    <a:lnTo>
                      <a:pt x="248" y="70"/>
                    </a:lnTo>
                    <a:lnTo>
                      <a:pt x="248" y="68"/>
                    </a:lnTo>
                    <a:lnTo>
                      <a:pt x="250" y="68"/>
                    </a:lnTo>
                    <a:lnTo>
                      <a:pt x="254" y="68"/>
                    </a:lnTo>
                    <a:lnTo>
                      <a:pt x="254" y="70"/>
                    </a:lnTo>
                    <a:lnTo>
                      <a:pt x="262" y="76"/>
                    </a:lnTo>
                    <a:lnTo>
                      <a:pt x="262" y="74"/>
                    </a:lnTo>
                    <a:lnTo>
                      <a:pt x="262" y="72"/>
                    </a:lnTo>
                    <a:lnTo>
                      <a:pt x="264" y="70"/>
                    </a:lnTo>
                    <a:lnTo>
                      <a:pt x="270" y="66"/>
                    </a:lnTo>
                    <a:lnTo>
                      <a:pt x="272" y="62"/>
                    </a:lnTo>
                    <a:lnTo>
                      <a:pt x="272" y="56"/>
                    </a:lnTo>
                    <a:lnTo>
                      <a:pt x="270" y="54"/>
                    </a:lnTo>
                    <a:lnTo>
                      <a:pt x="272" y="52"/>
                    </a:lnTo>
                    <a:lnTo>
                      <a:pt x="272" y="48"/>
                    </a:lnTo>
                    <a:lnTo>
                      <a:pt x="274" y="46"/>
                    </a:lnTo>
                    <a:lnTo>
                      <a:pt x="278" y="44"/>
                    </a:lnTo>
                    <a:lnTo>
                      <a:pt x="280" y="42"/>
                    </a:lnTo>
                    <a:lnTo>
                      <a:pt x="282" y="40"/>
                    </a:lnTo>
                    <a:lnTo>
                      <a:pt x="284" y="38"/>
                    </a:lnTo>
                    <a:lnTo>
                      <a:pt x="292" y="40"/>
                    </a:lnTo>
                    <a:lnTo>
                      <a:pt x="294" y="40"/>
                    </a:lnTo>
                    <a:lnTo>
                      <a:pt x="298" y="36"/>
                    </a:lnTo>
                    <a:lnTo>
                      <a:pt x="302" y="36"/>
                    </a:lnTo>
                    <a:lnTo>
                      <a:pt x="304" y="38"/>
                    </a:lnTo>
                    <a:lnTo>
                      <a:pt x="308" y="46"/>
                    </a:lnTo>
                    <a:lnTo>
                      <a:pt x="316" y="52"/>
                    </a:lnTo>
                    <a:lnTo>
                      <a:pt x="322" y="52"/>
                    </a:lnTo>
                    <a:lnTo>
                      <a:pt x="322" y="56"/>
                    </a:lnTo>
                    <a:lnTo>
                      <a:pt x="324" y="58"/>
                    </a:lnTo>
                    <a:lnTo>
                      <a:pt x="326" y="58"/>
                    </a:lnTo>
                    <a:lnTo>
                      <a:pt x="328" y="52"/>
                    </a:lnTo>
                    <a:lnTo>
                      <a:pt x="328" y="48"/>
                    </a:lnTo>
                    <a:lnTo>
                      <a:pt x="328" y="42"/>
                    </a:lnTo>
                    <a:lnTo>
                      <a:pt x="326" y="40"/>
                    </a:lnTo>
                    <a:lnTo>
                      <a:pt x="328" y="40"/>
                    </a:lnTo>
                    <a:lnTo>
                      <a:pt x="330" y="40"/>
                    </a:lnTo>
                    <a:lnTo>
                      <a:pt x="332" y="38"/>
                    </a:lnTo>
                    <a:lnTo>
                      <a:pt x="336" y="36"/>
                    </a:lnTo>
                    <a:lnTo>
                      <a:pt x="340" y="36"/>
                    </a:lnTo>
                    <a:lnTo>
                      <a:pt x="336" y="36"/>
                    </a:lnTo>
                    <a:lnTo>
                      <a:pt x="334" y="34"/>
                    </a:lnTo>
                    <a:lnTo>
                      <a:pt x="330" y="38"/>
                    </a:lnTo>
                    <a:lnTo>
                      <a:pt x="328" y="36"/>
                    </a:lnTo>
                    <a:lnTo>
                      <a:pt x="328" y="36"/>
                    </a:lnTo>
                    <a:lnTo>
                      <a:pt x="326" y="38"/>
                    </a:lnTo>
                    <a:lnTo>
                      <a:pt x="322" y="40"/>
                    </a:lnTo>
                    <a:lnTo>
                      <a:pt x="322" y="36"/>
                    </a:lnTo>
                    <a:lnTo>
                      <a:pt x="318" y="32"/>
                    </a:lnTo>
                    <a:lnTo>
                      <a:pt x="324" y="34"/>
                    </a:lnTo>
                    <a:lnTo>
                      <a:pt x="330" y="32"/>
                    </a:lnTo>
                    <a:lnTo>
                      <a:pt x="330" y="30"/>
                    </a:lnTo>
                    <a:lnTo>
                      <a:pt x="332" y="28"/>
                    </a:lnTo>
                    <a:lnTo>
                      <a:pt x="336" y="28"/>
                    </a:lnTo>
                    <a:lnTo>
                      <a:pt x="340" y="28"/>
                    </a:lnTo>
                    <a:lnTo>
                      <a:pt x="336" y="20"/>
                    </a:lnTo>
                    <a:lnTo>
                      <a:pt x="334" y="20"/>
                    </a:lnTo>
                    <a:lnTo>
                      <a:pt x="328" y="20"/>
                    </a:lnTo>
                    <a:lnTo>
                      <a:pt x="330" y="16"/>
                    </a:lnTo>
                    <a:lnTo>
                      <a:pt x="330" y="14"/>
                    </a:lnTo>
                    <a:lnTo>
                      <a:pt x="324" y="18"/>
                    </a:lnTo>
                    <a:lnTo>
                      <a:pt x="320" y="8"/>
                    </a:lnTo>
                    <a:lnTo>
                      <a:pt x="316" y="8"/>
                    </a:lnTo>
                    <a:lnTo>
                      <a:pt x="312" y="14"/>
                    </a:lnTo>
                    <a:lnTo>
                      <a:pt x="314" y="20"/>
                    </a:lnTo>
                    <a:lnTo>
                      <a:pt x="310" y="22"/>
                    </a:lnTo>
                    <a:lnTo>
                      <a:pt x="308" y="20"/>
                    </a:lnTo>
                    <a:lnTo>
                      <a:pt x="310" y="16"/>
                    </a:lnTo>
                    <a:lnTo>
                      <a:pt x="310" y="12"/>
                    </a:lnTo>
                    <a:lnTo>
                      <a:pt x="308" y="12"/>
                    </a:lnTo>
                    <a:lnTo>
                      <a:pt x="306" y="14"/>
                    </a:lnTo>
                    <a:lnTo>
                      <a:pt x="306" y="16"/>
                    </a:lnTo>
                    <a:lnTo>
                      <a:pt x="304" y="16"/>
                    </a:lnTo>
                    <a:lnTo>
                      <a:pt x="304" y="12"/>
                    </a:lnTo>
                    <a:lnTo>
                      <a:pt x="304" y="10"/>
                    </a:lnTo>
                    <a:lnTo>
                      <a:pt x="308" y="8"/>
                    </a:lnTo>
                    <a:lnTo>
                      <a:pt x="310" y="8"/>
                    </a:lnTo>
                    <a:lnTo>
                      <a:pt x="308" y="6"/>
                    </a:lnTo>
                    <a:lnTo>
                      <a:pt x="308" y="2"/>
                    </a:lnTo>
                    <a:lnTo>
                      <a:pt x="304" y="2"/>
                    </a:lnTo>
                    <a:lnTo>
                      <a:pt x="304" y="0"/>
                    </a:lnTo>
                    <a:lnTo>
                      <a:pt x="300" y="0"/>
                    </a:lnTo>
                    <a:lnTo>
                      <a:pt x="300" y="6"/>
                    </a:lnTo>
                    <a:lnTo>
                      <a:pt x="298" y="6"/>
                    </a:lnTo>
                    <a:lnTo>
                      <a:pt x="296" y="6"/>
                    </a:lnTo>
                    <a:lnTo>
                      <a:pt x="296" y="10"/>
                    </a:lnTo>
                    <a:lnTo>
                      <a:pt x="298" y="12"/>
                    </a:lnTo>
                    <a:lnTo>
                      <a:pt x="294" y="14"/>
                    </a:lnTo>
                    <a:lnTo>
                      <a:pt x="292" y="18"/>
                    </a:lnTo>
                    <a:lnTo>
                      <a:pt x="292" y="20"/>
                    </a:lnTo>
                    <a:lnTo>
                      <a:pt x="286" y="24"/>
                    </a:lnTo>
                    <a:lnTo>
                      <a:pt x="286" y="28"/>
                    </a:lnTo>
                    <a:lnTo>
                      <a:pt x="284" y="26"/>
                    </a:lnTo>
                    <a:lnTo>
                      <a:pt x="284" y="24"/>
                    </a:lnTo>
                    <a:lnTo>
                      <a:pt x="284" y="20"/>
                    </a:lnTo>
                    <a:lnTo>
                      <a:pt x="284" y="22"/>
                    </a:lnTo>
                    <a:lnTo>
                      <a:pt x="286" y="22"/>
                    </a:lnTo>
                    <a:lnTo>
                      <a:pt x="286" y="20"/>
                    </a:lnTo>
                    <a:lnTo>
                      <a:pt x="286" y="18"/>
                    </a:lnTo>
                    <a:lnTo>
                      <a:pt x="286" y="16"/>
                    </a:lnTo>
                    <a:lnTo>
                      <a:pt x="288" y="12"/>
                    </a:lnTo>
                    <a:lnTo>
                      <a:pt x="288" y="10"/>
                    </a:lnTo>
                    <a:lnTo>
                      <a:pt x="288" y="8"/>
                    </a:lnTo>
                    <a:lnTo>
                      <a:pt x="286" y="8"/>
                    </a:lnTo>
                    <a:lnTo>
                      <a:pt x="286" y="12"/>
                    </a:lnTo>
                    <a:lnTo>
                      <a:pt x="284" y="12"/>
                    </a:lnTo>
                    <a:lnTo>
                      <a:pt x="282" y="16"/>
                    </a:lnTo>
                    <a:lnTo>
                      <a:pt x="280" y="16"/>
                    </a:lnTo>
                    <a:lnTo>
                      <a:pt x="276" y="24"/>
                    </a:lnTo>
                    <a:lnTo>
                      <a:pt x="274" y="26"/>
                    </a:lnTo>
                    <a:lnTo>
                      <a:pt x="270" y="28"/>
                    </a:lnTo>
                    <a:lnTo>
                      <a:pt x="270" y="30"/>
                    </a:lnTo>
                    <a:lnTo>
                      <a:pt x="270" y="34"/>
                    </a:lnTo>
                    <a:lnTo>
                      <a:pt x="266" y="36"/>
                    </a:lnTo>
                    <a:lnTo>
                      <a:pt x="264" y="36"/>
                    </a:lnTo>
                    <a:lnTo>
                      <a:pt x="266" y="24"/>
                    </a:lnTo>
                    <a:lnTo>
                      <a:pt x="270" y="24"/>
                    </a:lnTo>
                    <a:lnTo>
                      <a:pt x="272" y="22"/>
                    </a:lnTo>
                    <a:lnTo>
                      <a:pt x="274" y="16"/>
                    </a:lnTo>
                    <a:lnTo>
                      <a:pt x="268" y="16"/>
                    </a:lnTo>
                    <a:lnTo>
                      <a:pt x="268" y="12"/>
                    </a:lnTo>
                    <a:lnTo>
                      <a:pt x="266" y="12"/>
                    </a:lnTo>
                    <a:lnTo>
                      <a:pt x="266" y="14"/>
                    </a:lnTo>
                    <a:lnTo>
                      <a:pt x="264" y="14"/>
                    </a:lnTo>
                    <a:lnTo>
                      <a:pt x="262" y="12"/>
                    </a:lnTo>
                    <a:lnTo>
                      <a:pt x="258" y="10"/>
                    </a:lnTo>
                    <a:lnTo>
                      <a:pt x="256" y="10"/>
                    </a:lnTo>
                    <a:lnTo>
                      <a:pt x="258" y="18"/>
                    </a:lnTo>
                    <a:lnTo>
                      <a:pt x="256" y="18"/>
                    </a:lnTo>
                    <a:lnTo>
                      <a:pt x="256" y="20"/>
                    </a:lnTo>
                    <a:lnTo>
                      <a:pt x="258" y="20"/>
                    </a:lnTo>
                    <a:lnTo>
                      <a:pt x="254" y="22"/>
                    </a:lnTo>
                    <a:lnTo>
                      <a:pt x="252" y="16"/>
                    </a:lnTo>
                    <a:lnTo>
                      <a:pt x="248" y="16"/>
                    </a:lnTo>
                    <a:lnTo>
                      <a:pt x="248" y="18"/>
                    </a:lnTo>
                    <a:lnTo>
                      <a:pt x="250" y="18"/>
                    </a:lnTo>
                    <a:lnTo>
                      <a:pt x="248" y="22"/>
                    </a:lnTo>
                    <a:lnTo>
                      <a:pt x="242" y="26"/>
                    </a:lnTo>
                    <a:lnTo>
                      <a:pt x="240" y="26"/>
                    </a:lnTo>
                    <a:lnTo>
                      <a:pt x="238" y="32"/>
                    </a:lnTo>
                    <a:lnTo>
                      <a:pt x="232" y="30"/>
                    </a:lnTo>
                    <a:lnTo>
                      <a:pt x="228" y="26"/>
                    </a:lnTo>
                    <a:lnTo>
                      <a:pt x="228" y="24"/>
                    </a:lnTo>
                    <a:lnTo>
                      <a:pt x="226" y="24"/>
                    </a:lnTo>
                    <a:lnTo>
                      <a:pt x="224" y="24"/>
                    </a:lnTo>
                    <a:lnTo>
                      <a:pt x="222" y="22"/>
                    </a:lnTo>
                    <a:lnTo>
                      <a:pt x="220" y="20"/>
                    </a:lnTo>
                    <a:lnTo>
                      <a:pt x="218" y="20"/>
                    </a:lnTo>
                    <a:lnTo>
                      <a:pt x="218" y="24"/>
                    </a:lnTo>
                    <a:lnTo>
                      <a:pt x="212" y="24"/>
                    </a:lnTo>
                    <a:lnTo>
                      <a:pt x="212" y="26"/>
                    </a:lnTo>
                    <a:lnTo>
                      <a:pt x="214" y="28"/>
                    </a:lnTo>
                    <a:lnTo>
                      <a:pt x="218" y="28"/>
                    </a:lnTo>
                    <a:lnTo>
                      <a:pt x="220" y="30"/>
                    </a:lnTo>
                    <a:lnTo>
                      <a:pt x="222" y="34"/>
                    </a:lnTo>
                    <a:lnTo>
                      <a:pt x="222" y="36"/>
                    </a:lnTo>
                    <a:lnTo>
                      <a:pt x="220" y="36"/>
                    </a:lnTo>
                    <a:lnTo>
                      <a:pt x="218" y="34"/>
                    </a:lnTo>
                    <a:lnTo>
                      <a:pt x="216" y="32"/>
                    </a:lnTo>
                    <a:lnTo>
                      <a:pt x="210" y="30"/>
                    </a:lnTo>
                    <a:lnTo>
                      <a:pt x="210" y="32"/>
                    </a:lnTo>
                    <a:lnTo>
                      <a:pt x="212" y="34"/>
                    </a:lnTo>
                    <a:lnTo>
                      <a:pt x="214" y="36"/>
                    </a:lnTo>
                    <a:lnTo>
                      <a:pt x="212" y="36"/>
                    </a:lnTo>
                    <a:lnTo>
                      <a:pt x="210" y="38"/>
                    </a:lnTo>
                    <a:lnTo>
                      <a:pt x="208" y="38"/>
                    </a:lnTo>
                    <a:lnTo>
                      <a:pt x="208" y="36"/>
                    </a:lnTo>
                    <a:lnTo>
                      <a:pt x="206" y="32"/>
                    </a:lnTo>
                    <a:lnTo>
                      <a:pt x="206" y="34"/>
                    </a:lnTo>
                    <a:lnTo>
                      <a:pt x="204" y="34"/>
                    </a:lnTo>
                    <a:lnTo>
                      <a:pt x="204" y="36"/>
                    </a:lnTo>
                    <a:lnTo>
                      <a:pt x="202" y="38"/>
                    </a:lnTo>
                    <a:lnTo>
                      <a:pt x="202" y="40"/>
                    </a:lnTo>
                    <a:lnTo>
                      <a:pt x="200" y="40"/>
                    </a:lnTo>
                    <a:lnTo>
                      <a:pt x="202" y="36"/>
                    </a:lnTo>
                    <a:lnTo>
                      <a:pt x="202" y="34"/>
                    </a:lnTo>
                    <a:lnTo>
                      <a:pt x="198" y="32"/>
                    </a:lnTo>
                    <a:lnTo>
                      <a:pt x="194" y="36"/>
                    </a:lnTo>
                    <a:lnTo>
                      <a:pt x="190" y="42"/>
                    </a:lnTo>
                    <a:lnTo>
                      <a:pt x="190" y="42"/>
                    </a:lnTo>
                    <a:lnTo>
                      <a:pt x="190" y="36"/>
                    </a:lnTo>
                    <a:lnTo>
                      <a:pt x="188" y="36"/>
                    </a:lnTo>
                    <a:lnTo>
                      <a:pt x="186" y="36"/>
                    </a:lnTo>
                    <a:lnTo>
                      <a:pt x="184" y="40"/>
                    </a:lnTo>
                    <a:lnTo>
                      <a:pt x="184" y="44"/>
                    </a:lnTo>
                    <a:lnTo>
                      <a:pt x="188" y="44"/>
                    </a:lnTo>
                    <a:lnTo>
                      <a:pt x="188" y="50"/>
                    </a:lnTo>
                    <a:lnTo>
                      <a:pt x="188" y="52"/>
                    </a:lnTo>
                    <a:lnTo>
                      <a:pt x="186" y="52"/>
                    </a:lnTo>
                    <a:lnTo>
                      <a:pt x="184" y="48"/>
                    </a:lnTo>
                    <a:lnTo>
                      <a:pt x="184" y="46"/>
                    </a:lnTo>
                    <a:lnTo>
                      <a:pt x="180" y="46"/>
                    </a:lnTo>
                    <a:lnTo>
                      <a:pt x="182" y="50"/>
                    </a:lnTo>
                    <a:lnTo>
                      <a:pt x="182" y="52"/>
                    </a:lnTo>
                    <a:lnTo>
                      <a:pt x="180" y="52"/>
                    </a:lnTo>
                    <a:lnTo>
                      <a:pt x="176" y="52"/>
                    </a:lnTo>
                    <a:lnTo>
                      <a:pt x="176" y="50"/>
                    </a:lnTo>
                    <a:lnTo>
                      <a:pt x="174" y="48"/>
                    </a:lnTo>
                    <a:lnTo>
                      <a:pt x="174" y="56"/>
                    </a:lnTo>
                    <a:lnTo>
                      <a:pt x="170" y="58"/>
                    </a:lnTo>
                    <a:lnTo>
                      <a:pt x="168" y="64"/>
                    </a:lnTo>
                    <a:lnTo>
                      <a:pt x="166" y="66"/>
                    </a:lnTo>
                    <a:lnTo>
                      <a:pt x="168" y="70"/>
                    </a:lnTo>
                    <a:lnTo>
                      <a:pt x="166" y="74"/>
                    </a:lnTo>
                    <a:lnTo>
                      <a:pt x="164" y="74"/>
                    </a:lnTo>
                    <a:lnTo>
                      <a:pt x="162" y="76"/>
                    </a:lnTo>
                    <a:lnTo>
                      <a:pt x="160" y="76"/>
                    </a:lnTo>
                    <a:lnTo>
                      <a:pt x="156" y="76"/>
                    </a:lnTo>
                    <a:lnTo>
                      <a:pt x="152" y="80"/>
                    </a:lnTo>
                    <a:lnTo>
                      <a:pt x="152" y="82"/>
                    </a:lnTo>
                    <a:lnTo>
                      <a:pt x="160" y="82"/>
                    </a:lnTo>
                    <a:lnTo>
                      <a:pt x="162" y="80"/>
                    </a:lnTo>
                    <a:lnTo>
                      <a:pt x="164" y="80"/>
                    </a:lnTo>
                    <a:lnTo>
                      <a:pt x="166" y="80"/>
                    </a:lnTo>
                    <a:lnTo>
                      <a:pt x="166" y="82"/>
                    </a:lnTo>
                    <a:lnTo>
                      <a:pt x="160" y="84"/>
                    </a:lnTo>
                    <a:lnTo>
                      <a:pt x="158" y="84"/>
                    </a:lnTo>
                    <a:lnTo>
                      <a:pt x="156" y="88"/>
                    </a:lnTo>
                    <a:lnTo>
                      <a:pt x="158" y="94"/>
                    </a:lnTo>
                    <a:lnTo>
                      <a:pt x="154" y="90"/>
                    </a:lnTo>
                    <a:lnTo>
                      <a:pt x="152" y="88"/>
                    </a:lnTo>
                    <a:lnTo>
                      <a:pt x="144" y="88"/>
                    </a:lnTo>
                    <a:lnTo>
                      <a:pt x="144" y="90"/>
                    </a:lnTo>
                    <a:lnTo>
                      <a:pt x="146" y="90"/>
                    </a:lnTo>
                    <a:lnTo>
                      <a:pt x="150" y="90"/>
                    </a:lnTo>
                    <a:lnTo>
                      <a:pt x="150" y="92"/>
                    </a:lnTo>
                    <a:lnTo>
                      <a:pt x="146" y="92"/>
                    </a:lnTo>
                    <a:lnTo>
                      <a:pt x="146" y="94"/>
                    </a:lnTo>
                    <a:lnTo>
                      <a:pt x="152" y="94"/>
                    </a:lnTo>
                    <a:lnTo>
                      <a:pt x="150" y="96"/>
                    </a:lnTo>
                    <a:lnTo>
                      <a:pt x="150" y="98"/>
                    </a:lnTo>
                    <a:lnTo>
                      <a:pt x="152" y="98"/>
                    </a:lnTo>
                    <a:lnTo>
                      <a:pt x="152" y="100"/>
                    </a:lnTo>
                    <a:lnTo>
                      <a:pt x="142" y="100"/>
                    </a:lnTo>
                    <a:lnTo>
                      <a:pt x="142" y="106"/>
                    </a:lnTo>
                    <a:lnTo>
                      <a:pt x="144" y="108"/>
                    </a:lnTo>
                    <a:lnTo>
                      <a:pt x="142" y="110"/>
                    </a:lnTo>
                    <a:lnTo>
                      <a:pt x="138" y="110"/>
                    </a:lnTo>
                    <a:lnTo>
                      <a:pt x="138" y="112"/>
                    </a:lnTo>
                    <a:lnTo>
                      <a:pt x="136" y="116"/>
                    </a:lnTo>
                    <a:lnTo>
                      <a:pt x="132" y="114"/>
                    </a:lnTo>
                    <a:lnTo>
                      <a:pt x="130" y="116"/>
                    </a:lnTo>
                    <a:lnTo>
                      <a:pt x="130" y="118"/>
                    </a:lnTo>
                    <a:lnTo>
                      <a:pt x="130" y="120"/>
                    </a:lnTo>
                    <a:lnTo>
                      <a:pt x="120" y="124"/>
                    </a:lnTo>
                    <a:lnTo>
                      <a:pt x="120" y="126"/>
                    </a:lnTo>
                    <a:lnTo>
                      <a:pt x="122" y="128"/>
                    </a:lnTo>
                    <a:lnTo>
                      <a:pt x="124" y="128"/>
                    </a:lnTo>
                    <a:lnTo>
                      <a:pt x="122" y="128"/>
                    </a:lnTo>
                    <a:lnTo>
                      <a:pt x="120" y="128"/>
                    </a:lnTo>
                    <a:lnTo>
                      <a:pt x="122" y="136"/>
                    </a:lnTo>
                    <a:lnTo>
                      <a:pt x="114" y="142"/>
                    </a:lnTo>
                    <a:lnTo>
                      <a:pt x="110" y="142"/>
                    </a:lnTo>
                    <a:lnTo>
                      <a:pt x="110" y="146"/>
                    </a:lnTo>
                    <a:lnTo>
                      <a:pt x="104" y="146"/>
                    </a:lnTo>
                    <a:lnTo>
                      <a:pt x="100" y="148"/>
                    </a:lnTo>
                    <a:lnTo>
                      <a:pt x="104" y="154"/>
                    </a:lnTo>
                    <a:lnTo>
                      <a:pt x="104" y="154"/>
                    </a:lnTo>
                    <a:lnTo>
                      <a:pt x="102" y="156"/>
                    </a:lnTo>
                    <a:lnTo>
                      <a:pt x="98" y="154"/>
                    </a:lnTo>
                    <a:lnTo>
                      <a:pt x="94" y="154"/>
                    </a:lnTo>
                    <a:lnTo>
                      <a:pt x="92" y="154"/>
                    </a:lnTo>
                    <a:lnTo>
                      <a:pt x="92" y="156"/>
                    </a:lnTo>
                    <a:lnTo>
                      <a:pt x="92" y="158"/>
                    </a:lnTo>
                    <a:lnTo>
                      <a:pt x="88" y="160"/>
                    </a:lnTo>
                    <a:lnTo>
                      <a:pt x="88" y="162"/>
                    </a:lnTo>
                    <a:lnTo>
                      <a:pt x="86" y="162"/>
                    </a:lnTo>
                    <a:lnTo>
                      <a:pt x="84" y="162"/>
                    </a:lnTo>
                    <a:lnTo>
                      <a:pt x="82" y="164"/>
                    </a:lnTo>
                    <a:lnTo>
                      <a:pt x="82" y="166"/>
                    </a:lnTo>
                    <a:lnTo>
                      <a:pt x="76" y="172"/>
                    </a:lnTo>
                    <a:lnTo>
                      <a:pt x="74" y="174"/>
                    </a:lnTo>
                    <a:lnTo>
                      <a:pt x="72" y="178"/>
                    </a:lnTo>
                    <a:lnTo>
                      <a:pt x="68" y="178"/>
                    </a:lnTo>
                    <a:lnTo>
                      <a:pt x="70" y="184"/>
                    </a:lnTo>
                    <a:lnTo>
                      <a:pt x="78" y="180"/>
                    </a:lnTo>
                    <a:lnTo>
                      <a:pt x="88" y="174"/>
                    </a:lnTo>
                    <a:lnTo>
                      <a:pt x="86" y="178"/>
                    </a:lnTo>
                    <a:lnTo>
                      <a:pt x="80" y="182"/>
                    </a:lnTo>
                    <a:lnTo>
                      <a:pt x="76" y="184"/>
                    </a:lnTo>
                    <a:lnTo>
                      <a:pt x="76" y="190"/>
                    </a:lnTo>
                    <a:lnTo>
                      <a:pt x="66" y="188"/>
                    </a:lnTo>
                    <a:lnTo>
                      <a:pt x="66" y="184"/>
                    </a:lnTo>
                    <a:lnTo>
                      <a:pt x="64" y="182"/>
                    </a:lnTo>
                    <a:lnTo>
                      <a:pt x="58" y="184"/>
                    </a:lnTo>
                    <a:lnTo>
                      <a:pt x="52" y="184"/>
                    </a:lnTo>
                    <a:lnTo>
                      <a:pt x="52" y="190"/>
                    </a:lnTo>
                    <a:lnTo>
                      <a:pt x="54" y="190"/>
                    </a:lnTo>
                    <a:lnTo>
                      <a:pt x="52" y="192"/>
                    </a:lnTo>
                    <a:lnTo>
                      <a:pt x="50" y="192"/>
                    </a:lnTo>
                    <a:lnTo>
                      <a:pt x="48" y="192"/>
                    </a:lnTo>
                    <a:lnTo>
                      <a:pt x="46" y="194"/>
                    </a:lnTo>
                    <a:lnTo>
                      <a:pt x="46" y="196"/>
                    </a:lnTo>
                    <a:lnTo>
                      <a:pt x="46" y="198"/>
                    </a:lnTo>
                    <a:lnTo>
                      <a:pt x="46" y="196"/>
                    </a:lnTo>
                    <a:lnTo>
                      <a:pt x="44" y="196"/>
                    </a:lnTo>
                    <a:lnTo>
                      <a:pt x="44" y="200"/>
                    </a:lnTo>
                    <a:lnTo>
                      <a:pt x="42" y="198"/>
                    </a:lnTo>
                    <a:lnTo>
                      <a:pt x="30" y="198"/>
                    </a:lnTo>
                    <a:lnTo>
                      <a:pt x="32" y="202"/>
                    </a:lnTo>
                    <a:lnTo>
                      <a:pt x="34" y="202"/>
                    </a:lnTo>
                    <a:lnTo>
                      <a:pt x="36" y="204"/>
                    </a:lnTo>
                    <a:lnTo>
                      <a:pt x="36" y="206"/>
                    </a:lnTo>
                    <a:lnTo>
                      <a:pt x="32" y="210"/>
                    </a:lnTo>
                    <a:lnTo>
                      <a:pt x="32" y="212"/>
                    </a:lnTo>
                    <a:lnTo>
                      <a:pt x="30" y="210"/>
                    </a:lnTo>
                    <a:lnTo>
                      <a:pt x="26" y="210"/>
                    </a:lnTo>
                    <a:lnTo>
                      <a:pt x="22" y="210"/>
                    </a:lnTo>
                    <a:lnTo>
                      <a:pt x="22" y="212"/>
                    </a:lnTo>
                    <a:lnTo>
                      <a:pt x="20" y="214"/>
                    </a:lnTo>
                    <a:lnTo>
                      <a:pt x="28" y="214"/>
                    </a:lnTo>
                    <a:lnTo>
                      <a:pt x="30" y="216"/>
                    </a:lnTo>
                    <a:lnTo>
                      <a:pt x="24" y="218"/>
                    </a:lnTo>
                    <a:lnTo>
                      <a:pt x="24" y="220"/>
                    </a:lnTo>
                    <a:lnTo>
                      <a:pt x="22" y="218"/>
                    </a:lnTo>
                    <a:lnTo>
                      <a:pt x="20" y="216"/>
                    </a:lnTo>
                    <a:lnTo>
                      <a:pt x="20" y="220"/>
                    </a:lnTo>
                    <a:lnTo>
                      <a:pt x="14" y="220"/>
                    </a:lnTo>
                    <a:lnTo>
                      <a:pt x="8" y="220"/>
                    </a:lnTo>
                    <a:lnTo>
                      <a:pt x="8" y="222"/>
                    </a:lnTo>
                    <a:lnTo>
                      <a:pt x="6" y="220"/>
                    </a:lnTo>
                    <a:lnTo>
                      <a:pt x="4" y="220"/>
                    </a:lnTo>
                    <a:lnTo>
                      <a:pt x="4" y="224"/>
                    </a:lnTo>
                    <a:lnTo>
                      <a:pt x="16" y="226"/>
                    </a:lnTo>
                    <a:lnTo>
                      <a:pt x="18" y="226"/>
                    </a:lnTo>
                    <a:lnTo>
                      <a:pt x="18" y="228"/>
                    </a:lnTo>
                    <a:lnTo>
                      <a:pt x="0" y="228"/>
                    </a:lnTo>
                    <a:lnTo>
                      <a:pt x="0" y="234"/>
                    </a:lnTo>
                    <a:lnTo>
                      <a:pt x="0" y="240"/>
                    </a:lnTo>
                    <a:lnTo>
                      <a:pt x="4" y="240"/>
                    </a:lnTo>
                    <a:lnTo>
                      <a:pt x="6" y="238"/>
                    </a:lnTo>
                    <a:lnTo>
                      <a:pt x="8" y="238"/>
                    </a:lnTo>
                    <a:lnTo>
                      <a:pt x="12" y="242"/>
                    </a:lnTo>
                    <a:lnTo>
                      <a:pt x="16" y="242"/>
                    </a:lnTo>
                    <a:lnTo>
                      <a:pt x="16" y="238"/>
                    </a:lnTo>
                    <a:lnTo>
                      <a:pt x="18" y="236"/>
                    </a:lnTo>
                    <a:lnTo>
                      <a:pt x="20" y="240"/>
                    </a:lnTo>
                    <a:lnTo>
                      <a:pt x="22" y="238"/>
                    </a:lnTo>
                    <a:lnTo>
                      <a:pt x="24" y="238"/>
                    </a:lnTo>
                    <a:lnTo>
                      <a:pt x="26" y="240"/>
                    </a:lnTo>
                    <a:lnTo>
                      <a:pt x="26" y="242"/>
                    </a:lnTo>
                    <a:lnTo>
                      <a:pt x="28" y="240"/>
                    </a:lnTo>
                    <a:lnTo>
                      <a:pt x="30" y="238"/>
                    </a:lnTo>
                    <a:lnTo>
                      <a:pt x="30" y="242"/>
                    </a:lnTo>
                    <a:lnTo>
                      <a:pt x="24" y="242"/>
                    </a:lnTo>
                    <a:lnTo>
                      <a:pt x="24" y="244"/>
                    </a:lnTo>
                    <a:lnTo>
                      <a:pt x="22" y="244"/>
                    </a:lnTo>
                    <a:lnTo>
                      <a:pt x="20" y="242"/>
                    </a:lnTo>
                    <a:lnTo>
                      <a:pt x="4" y="242"/>
                    </a:lnTo>
                    <a:lnTo>
                      <a:pt x="2" y="244"/>
                    </a:lnTo>
                    <a:lnTo>
                      <a:pt x="0" y="244"/>
                    </a:lnTo>
                    <a:lnTo>
                      <a:pt x="0" y="246"/>
                    </a:lnTo>
                    <a:lnTo>
                      <a:pt x="6" y="248"/>
                    </a:lnTo>
                    <a:lnTo>
                      <a:pt x="6" y="252"/>
                    </a:lnTo>
                    <a:lnTo>
                      <a:pt x="2" y="252"/>
                    </a:lnTo>
                    <a:lnTo>
                      <a:pt x="2" y="254"/>
                    </a:lnTo>
                    <a:lnTo>
                      <a:pt x="0" y="256"/>
                    </a:lnTo>
                    <a:lnTo>
                      <a:pt x="6" y="258"/>
                    </a:lnTo>
                    <a:lnTo>
                      <a:pt x="6" y="256"/>
                    </a:lnTo>
                    <a:lnTo>
                      <a:pt x="8" y="256"/>
                    </a:lnTo>
                    <a:lnTo>
                      <a:pt x="10" y="258"/>
                    </a:lnTo>
                    <a:lnTo>
                      <a:pt x="8" y="258"/>
                    </a:lnTo>
                    <a:lnTo>
                      <a:pt x="6" y="258"/>
                    </a:lnTo>
                    <a:lnTo>
                      <a:pt x="6" y="262"/>
                    </a:lnTo>
                    <a:lnTo>
                      <a:pt x="12" y="260"/>
                    </a:lnTo>
                    <a:lnTo>
                      <a:pt x="12" y="264"/>
                    </a:lnTo>
                    <a:lnTo>
                      <a:pt x="14" y="264"/>
                    </a:lnTo>
                    <a:lnTo>
                      <a:pt x="16" y="264"/>
                    </a:lnTo>
                    <a:lnTo>
                      <a:pt x="18" y="262"/>
                    </a:lnTo>
                    <a:lnTo>
                      <a:pt x="20" y="258"/>
                    </a:lnTo>
                    <a:lnTo>
                      <a:pt x="22" y="256"/>
                    </a:lnTo>
                    <a:lnTo>
                      <a:pt x="28" y="256"/>
                    </a:lnTo>
                    <a:lnTo>
                      <a:pt x="26" y="260"/>
                    </a:lnTo>
                    <a:lnTo>
                      <a:pt x="22" y="260"/>
                    </a:lnTo>
                    <a:lnTo>
                      <a:pt x="20" y="262"/>
                    </a:lnTo>
                    <a:lnTo>
                      <a:pt x="20" y="264"/>
                    </a:lnTo>
                    <a:lnTo>
                      <a:pt x="18" y="266"/>
                    </a:lnTo>
                    <a:lnTo>
                      <a:pt x="16" y="268"/>
                    </a:lnTo>
                    <a:lnTo>
                      <a:pt x="16" y="272"/>
                    </a:lnTo>
                    <a:lnTo>
                      <a:pt x="16" y="274"/>
                    </a:lnTo>
                    <a:lnTo>
                      <a:pt x="14" y="274"/>
                    </a:lnTo>
                    <a:lnTo>
                      <a:pt x="12" y="276"/>
                    </a:lnTo>
                    <a:lnTo>
                      <a:pt x="6" y="276"/>
                    </a:lnTo>
                    <a:lnTo>
                      <a:pt x="4" y="276"/>
                    </a:lnTo>
                    <a:lnTo>
                      <a:pt x="4" y="280"/>
                    </a:lnTo>
                    <a:lnTo>
                      <a:pt x="8" y="280"/>
                    </a:lnTo>
                    <a:lnTo>
                      <a:pt x="10" y="282"/>
                    </a:lnTo>
                    <a:lnTo>
                      <a:pt x="10" y="280"/>
                    </a:lnTo>
                    <a:lnTo>
                      <a:pt x="18" y="280"/>
                    </a:lnTo>
                    <a:lnTo>
                      <a:pt x="18" y="278"/>
                    </a:lnTo>
                    <a:lnTo>
                      <a:pt x="18" y="276"/>
                    </a:lnTo>
                    <a:lnTo>
                      <a:pt x="18" y="278"/>
                    </a:lnTo>
                    <a:lnTo>
                      <a:pt x="18" y="280"/>
                    </a:lnTo>
                    <a:lnTo>
                      <a:pt x="18" y="282"/>
                    </a:lnTo>
                    <a:lnTo>
                      <a:pt x="18" y="286"/>
                    </a:lnTo>
                    <a:lnTo>
                      <a:pt x="16" y="292"/>
                    </a:lnTo>
                    <a:lnTo>
                      <a:pt x="14" y="294"/>
                    </a:lnTo>
                    <a:lnTo>
                      <a:pt x="10" y="294"/>
                    </a:lnTo>
                    <a:lnTo>
                      <a:pt x="10" y="300"/>
                    </a:lnTo>
                    <a:lnTo>
                      <a:pt x="16" y="306"/>
                    </a:lnTo>
                    <a:lnTo>
                      <a:pt x="20" y="308"/>
                    </a:lnTo>
                    <a:lnTo>
                      <a:pt x="26" y="308"/>
                    </a:lnTo>
                    <a:lnTo>
                      <a:pt x="26" y="306"/>
                    </a:lnTo>
                    <a:lnTo>
                      <a:pt x="26" y="304"/>
                    </a:lnTo>
                    <a:lnTo>
                      <a:pt x="28" y="306"/>
                    </a:lnTo>
                    <a:lnTo>
                      <a:pt x="26" y="310"/>
                    </a:lnTo>
                    <a:lnTo>
                      <a:pt x="32" y="310"/>
                    </a:lnTo>
                    <a:lnTo>
                      <a:pt x="36" y="310"/>
                    </a:lnTo>
                    <a:lnTo>
                      <a:pt x="40" y="306"/>
                    </a:lnTo>
                    <a:lnTo>
                      <a:pt x="44" y="306"/>
                    </a:lnTo>
                    <a:lnTo>
                      <a:pt x="48" y="302"/>
                    </a:lnTo>
                    <a:lnTo>
                      <a:pt x="54" y="300"/>
                    </a:lnTo>
                    <a:lnTo>
                      <a:pt x="60" y="294"/>
                    </a:lnTo>
                    <a:lnTo>
                      <a:pt x="66" y="294"/>
                    </a:lnTo>
                    <a:lnTo>
                      <a:pt x="74" y="290"/>
                    </a:lnTo>
                    <a:lnTo>
                      <a:pt x="80" y="284"/>
                    </a:lnTo>
                    <a:lnTo>
                      <a:pt x="84" y="284"/>
                    </a:lnTo>
                    <a:lnTo>
                      <a:pt x="82" y="290"/>
                    </a:lnTo>
                    <a:lnTo>
                      <a:pt x="82" y="29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37" name="Freeform 523">
                <a:extLst>
                  <a:ext uri="{FF2B5EF4-FFF2-40B4-BE49-F238E27FC236}">
                    <a16:creationId xmlns:a16="http://schemas.microsoft.com/office/drawing/2014/main" id="{2B77A92B-617B-654E-3903-93D133EBC951}"/>
                  </a:ext>
                </a:extLst>
              </p:cNvPr>
              <p:cNvSpPr>
                <a:spLocks/>
              </p:cNvSpPr>
              <p:nvPr/>
            </p:nvSpPr>
            <p:spPr bwMode="auto">
              <a:xfrm>
                <a:off x="4879692" y="3383790"/>
                <a:ext cx="54451" cy="42270"/>
              </a:xfrm>
              <a:custGeom>
                <a:avLst/>
                <a:gdLst/>
                <a:ahLst/>
                <a:cxnLst>
                  <a:cxn ang="0">
                    <a:pos x="56" y="8"/>
                  </a:cxn>
                  <a:cxn ang="0">
                    <a:pos x="56" y="8"/>
                  </a:cxn>
                  <a:cxn ang="0">
                    <a:pos x="52" y="6"/>
                  </a:cxn>
                  <a:cxn ang="0">
                    <a:pos x="52" y="2"/>
                  </a:cxn>
                  <a:cxn ang="0">
                    <a:pos x="48" y="0"/>
                  </a:cxn>
                  <a:cxn ang="0">
                    <a:pos x="44" y="0"/>
                  </a:cxn>
                  <a:cxn ang="0">
                    <a:pos x="42" y="2"/>
                  </a:cxn>
                  <a:cxn ang="0">
                    <a:pos x="40" y="0"/>
                  </a:cxn>
                  <a:cxn ang="0">
                    <a:pos x="36" y="0"/>
                  </a:cxn>
                  <a:cxn ang="0">
                    <a:pos x="34" y="0"/>
                  </a:cxn>
                  <a:cxn ang="0">
                    <a:pos x="30" y="2"/>
                  </a:cxn>
                  <a:cxn ang="0">
                    <a:pos x="30" y="4"/>
                  </a:cxn>
                  <a:cxn ang="0">
                    <a:pos x="28" y="6"/>
                  </a:cxn>
                  <a:cxn ang="0">
                    <a:pos x="24" y="8"/>
                  </a:cxn>
                  <a:cxn ang="0">
                    <a:pos x="20" y="8"/>
                  </a:cxn>
                  <a:cxn ang="0">
                    <a:pos x="16" y="14"/>
                  </a:cxn>
                  <a:cxn ang="0">
                    <a:pos x="16" y="18"/>
                  </a:cxn>
                  <a:cxn ang="0">
                    <a:pos x="14" y="22"/>
                  </a:cxn>
                  <a:cxn ang="0">
                    <a:pos x="14" y="24"/>
                  </a:cxn>
                  <a:cxn ang="0">
                    <a:pos x="16" y="26"/>
                  </a:cxn>
                  <a:cxn ang="0">
                    <a:pos x="12" y="28"/>
                  </a:cxn>
                  <a:cxn ang="0">
                    <a:pos x="12" y="32"/>
                  </a:cxn>
                  <a:cxn ang="0">
                    <a:pos x="10" y="34"/>
                  </a:cxn>
                  <a:cxn ang="0">
                    <a:pos x="6" y="34"/>
                  </a:cxn>
                  <a:cxn ang="0">
                    <a:pos x="4" y="34"/>
                  </a:cxn>
                  <a:cxn ang="0">
                    <a:pos x="0" y="32"/>
                  </a:cxn>
                  <a:cxn ang="0">
                    <a:pos x="2" y="36"/>
                  </a:cxn>
                  <a:cxn ang="0">
                    <a:pos x="6" y="40"/>
                  </a:cxn>
                  <a:cxn ang="0">
                    <a:pos x="8" y="42"/>
                  </a:cxn>
                  <a:cxn ang="0">
                    <a:pos x="10" y="42"/>
                  </a:cxn>
                  <a:cxn ang="0">
                    <a:pos x="12" y="40"/>
                  </a:cxn>
                  <a:cxn ang="0">
                    <a:pos x="16" y="38"/>
                  </a:cxn>
                  <a:cxn ang="0">
                    <a:pos x="20" y="38"/>
                  </a:cxn>
                  <a:cxn ang="0">
                    <a:pos x="22" y="38"/>
                  </a:cxn>
                  <a:cxn ang="0">
                    <a:pos x="22" y="40"/>
                  </a:cxn>
                  <a:cxn ang="0">
                    <a:pos x="24" y="42"/>
                  </a:cxn>
                  <a:cxn ang="0">
                    <a:pos x="26" y="44"/>
                  </a:cxn>
                  <a:cxn ang="0">
                    <a:pos x="28" y="44"/>
                  </a:cxn>
                  <a:cxn ang="0">
                    <a:pos x="32" y="30"/>
                  </a:cxn>
                  <a:cxn ang="0">
                    <a:pos x="34" y="28"/>
                  </a:cxn>
                  <a:cxn ang="0">
                    <a:pos x="36" y="28"/>
                  </a:cxn>
                  <a:cxn ang="0">
                    <a:pos x="40" y="28"/>
                  </a:cxn>
                  <a:cxn ang="0">
                    <a:pos x="44" y="28"/>
                  </a:cxn>
                  <a:cxn ang="0">
                    <a:pos x="46" y="28"/>
                  </a:cxn>
                  <a:cxn ang="0">
                    <a:pos x="46" y="26"/>
                  </a:cxn>
                  <a:cxn ang="0">
                    <a:pos x="50" y="24"/>
                  </a:cxn>
                  <a:cxn ang="0">
                    <a:pos x="52" y="24"/>
                  </a:cxn>
                  <a:cxn ang="0">
                    <a:pos x="52" y="22"/>
                  </a:cxn>
                  <a:cxn ang="0">
                    <a:pos x="50" y="18"/>
                  </a:cxn>
                  <a:cxn ang="0">
                    <a:pos x="52" y="18"/>
                  </a:cxn>
                  <a:cxn ang="0">
                    <a:pos x="54" y="16"/>
                  </a:cxn>
                  <a:cxn ang="0">
                    <a:pos x="56" y="14"/>
                  </a:cxn>
                  <a:cxn ang="0">
                    <a:pos x="56" y="8"/>
                  </a:cxn>
                  <a:cxn ang="0">
                    <a:pos x="56" y="8"/>
                  </a:cxn>
                </a:cxnLst>
                <a:rect l="0" t="0" r="r" b="b"/>
                <a:pathLst>
                  <a:path w="56" h="44">
                    <a:moveTo>
                      <a:pt x="56" y="8"/>
                    </a:moveTo>
                    <a:lnTo>
                      <a:pt x="56" y="8"/>
                    </a:lnTo>
                    <a:lnTo>
                      <a:pt x="52" y="6"/>
                    </a:lnTo>
                    <a:lnTo>
                      <a:pt x="52" y="2"/>
                    </a:lnTo>
                    <a:lnTo>
                      <a:pt x="48" y="0"/>
                    </a:lnTo>
                    <a:lnTo>
                      <a:pt x="44" y="0"/>
                    </a:lnTo>
                    <a:lnTo>
                      <a:pt x="42" y="2"/>
                    </a:lnTo>
                    <a:lnTo>
                      <a:pt x="40" y="0"/>
                    </a:lnTo>
                    <a:lnTo>
                      <a:pt x="36" y="0"/>
                    </a:lnTo>
                    <a:lnTo>
                      <a:pt x="34" y="0"/>
                    </a:lnTo>
                    <a:lnTo>
                      <a:pt x="30" y="2"/>
                    </a:lnTo>
                    <a:lnTo>
                      <a:pt x="30" y="4"/>
                    </a:lnTo>
                    <a:lnTo>
                      <a:pt x="28" y="6"/>
                    </a:lnTo>
                    <a:lnTo>
                      <a:pt x="24" y="8"/>
                    </a:lnTo>
                    <a:lnTo>
                      <a:pt x="20" y="8"/>
                    </a:lnTo>
                    <a:lnTo>
                      <a:pt x="16" y="14"/>
                    </a:lnTo>
                    <a:lnTo>
                      <a:pt x="16" y="18"/>
                    </a:lnTo>
                    <a:lnTo>
                      <a:pt x="14" y="22"/>
                    </a:lnTo>
                    <a:lnTo>
                      <a:pt x="14" y="24"/>
                    </a:lnTo>
                    <a:lnTo>
                      <a:pt x="16" y="26"/>
                    </a:lnTo>
                    <a:lnTo>
                      <a:pt x="12" y="28"/>
                    </a:lnTo>
                    <a:lnTo>
                      <a:pt x="12" y="32"/>
                    </a:lnTo>
                    <a:lnTo>
                      <a:pt x="10" y="34"/>
                    </a:lnTo>
                    <a:lnTo>
                      <a:pt x="6" y="34"/>
                    </a:lnTo>
                    <a:lnTo>
                      <a:pt x="4" y="34"/>
                    </a:lnTo>
                    <a:lnTo>
                      <a:pt x="0" y="32"/>
                    </a:lnTo>
                    <a:lnTo>
                      <a:pt x="2" y="36"/>
                    </a:lnTo>
                    <a:lnTo>
                      <a:pt x="6" y="40"/>
                    </a:lnTo>
                    <a:lnTo>
                      <a:pt x="8" y="42"/>
                    </a:lnTo>
                    <a:lnTo>
                      <a:pt x="10" y="42"/>
                    </a:lnTo>
                    <a:lnTo>
                      <a:pt x="12" y="40"/>
                    </a:lnTo>
                    <a:lnTo>
                      <a:pt x="16" y="38"/>
                    </a:lnTo>
                    <a:lnTo>
                      <a:pt x="20" y="38"/>
                    </a:lnTo>
                    <a:lnTo>
                      <a:pt x="22" y="38"/>
                    </a:lnTo>
                    <a:lnTo>
                      <a:pt x="22" y="40"/>
                    </a:lnTo>
                    <a:lnTo>
                      <a:pt x="24" y="42"/>
                    </a:lnTo>
                    <a:lnTo>
                      <a:pt x="26" y="44"/>
                    </a:lnTo>
                    <a:lnTo>
                      <a:pt x="28" y="44"/>
                    </a:lnTo>
                    <a:lnTo>
                      <a:pt x="32" y="30"/>
                    </a:lnTo>
                    <a:lnTo>
                      <a:pt x="34" y="28"/>
                    </a:lnTo>
                    <a:lnTo>
                      <a:pt x="36" y="28"/>
                    </a:lnTo>
                    <a:lnTo>
                      <a:pt x="40" y="28"/>
                    </a:lnTo>
                    <a:lnTo>
                      <a:pt x="44" y="28"/>
                    </a:lnTo>
                    <a:lnTo>
                      <a:pt x="46" y="28"/>
                    </a:lnTo>
                    <a:lnTo>
                      <a:pt x="46" y="26"/>
                    </a:lnTo>
                    <a:lnTo>
                      <a:pt x="50" y="24"/>
                    </a:lnTo>
                    <a:lnTo>
                      <a:pt x="52" y="24"/>
                    </a:lnTo>
                    <a:lnTo>
                      <a:pt x="52" y="22"/>
                    </a:lnTo>
                    <a:lnTo>
                      <a:pt x="50" y="18"/>
                    </a:lnTo>
                    <a:lnTo>
                      <a:pt x="52" y="18"/>
                    </a:lnTo>
                    <a:lnTo>
                      <a:pt x="54" y="16"/>
                    </a:lnTo>
                    <a:lnTo>
                      <a:pt x="56" y="14"/>
                    </a:lnTo>
                    <a:lnTo>
                      <a:pt x="56" y="8"/>
                    </a:lnTo>
                    <a:lnTo>
                      <a:pt x="56" y="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38" name="Freeform 524">
                <a:extLst>
                  <a:ext uri="{FF2B5EF4-FFF2-40B4-BE49-F238E27FC236}">
                    <a16:creationId xmlns:a16="http://schemas.microsoft.com/office/drawing/2014/main" id="{6C37FE13-B560-6181-CFE0-042C3523A30F}"/>
                  </a:ext>
                </a:extLst>
              </p:cNvPr>
              <p:cNvSpPr>
                <a:spLocks/>
              </p:cNvSpPr>
              <p:nvPr/>
            </p:nvSpPr>
            <p:spPr bwMode="auto">
              <a:xfrm>
                <a:off x="5097498" y="3581691"/>
                <a:ext cx="38894" cy="32663"/>
              </a:xfrm>
              <a:custGeom>
                <a:avLst/>
                <a:gdLst/>
                <a:ahLst/>
                <a:cxnLst>
                  <a:cxn ang="0">
                    <a:pos x="4" y="12"/>
                  </a:cxn>
                  <a:cxn ang="0">
                    <a:pos x="8" y="8"/>
                  </a:cxn>
                  <a:cxn ang="0">
                    <a:pos x="12" y="6"/>
                  </a:cxn>
                  <a:cxn ang="0">
                    <a:pos x="14" y="10"/>
                  </a:cxn>
                  <a:cxn ang="0">
                    <a:pos x="16" y="4"/>
                  </a:cxn>
                  <a:cxn ang="0">
                    <a:pos x="20" y="4"/>
                  </a:cxn>
                  <a:cxn ang="0">
                    <a:pos x="24" y="4"/>
                  </a:cxn>
                  <a:cxn ang="0">
                    <a:pos x="30" y="2"/>
                  </a:cxn>
                  <a:cxn ang="0">
                    <a:pos x="32" y="0"/>
                  </a:cxn>
                  <a:cxn ang="0">
                    <a:pos x="36" y="4"/>
                  </a:cxn>
                  <a:cxn ang="0">
                    <a:pos x="36" y="6"/>
                  </a:cxn>
                  <a:cxn ang="0">
                    <a:pos x="36" y="8"/>
                  </a:cxn>
                  <a:cxn ang="0">
                    <a:pos x="36" y="10"/>
                  </a:cxn>
                  <a:cxn ang="0">
                    <a:pos x="40" y="14"/>
                  </a:cxn>
                  <a:cxn ang="0">
                    <a:pos x="38" y="14"/>
                  </a:cxn>
                  <a:cxn ang="0">
                    <a:pos x="38" y="20"/>
                  </a:cxn>
                  <a:cxn ang="0">
                    <a:pos x="36" y="24"/>
                  </a:cxn>
                  <a:cxn ang="0">
                    <a:pos x="36" y="26"/>
                  </a:cxn>
                  <a:cxn ang="0">
                    <a:pos x="34" y="26"/>
                  </a:cxn>
                  <a:cxn ang="0">
                    <a:pos x="30" y="26"/>
                  </a:cxn>
                  <a:cxn ang="0">
                    <a:pos x="28" y="28"/>
                  </a:cxn>
                  <a:cxn ang="0">
                    <a:pos x="26" y="28"/>
                  </a:cxn>
                  <a:cxn ang="0">
                    <a:pos x="26" y="30"/>
                  </a:cxn>
                  <a:cxn ang="0">
                    <a:pos x="24" y="30"/>
                  </a:cxn>
                  <a:cxn ang="0">
                    <a:pos x="22" y="32"/>
                  </a:cxn>
                  <a:cxn ang="0">
                    <a:pos x="20" y="34"/>
                  </a:cxn>
                  <a:cxn ang="0">
                    <a:pos x="18" y="34"/>
                  </a:cxn>
                  <a:cxn ang="0">
                    <a:pos x="6" y="34"/>
                  </a:cxn>
                  <a:cxn ang="0">
                    <a:pos x="4" y="32"/>
                  </a:cxn>
                  <a:cxn ang="0">
                    <a:pos x="2" y="28"/>
                  </a:cxn>
                  <a:cxn ang="0">
                    <a:pos x="0" y="24"/>
                  </a:cxn>
                  <a:cxn ang="0">
                    <a:pos x="2" y="22"/>
                  </a:cxn>
                  <a:cxn ang="0">
                    <a:pos x="2" y="16"/>
                  </a:cxn>
                  <a:cxn ang="0">
                    <a:pos x="2" y="14"/>
                  </a:cxn>
                  <a:cxn ang="0">
                    <a:pos x="4" y="12"/>
                  </a:cxn>
                  <a:cxn ang="0">
                    <a:pos x="4" y="12"/>
                  </a:cxn>
                </a:cxnLst>
                <a:rect l="0" t="0" r="r" b="b"/>
                <a:pathLst>
                  <a:path w="40" h="34">
                    <a:moveTo>
                      <a:pt x="4" y="12"/>
                    </a:moveTo>
                    <a:lnTo>
                      <a:pt x="8" y="8"/>
                    </a:lnTo>
                    <a:lnTo>
                      <a:pt x="12" y="6"/>
                    </a:lnTo>
                    <a:lnTo>
                      <a:pt x="14" y="10"/>
                    </a:lnTo>
                    <a:lnTo>
                      <a:pt x="16" y="4"/>
                    </a:lnTo>
                    <a:lnTo>
                      <a:pt x="20" y="4"/>
                    </a:lnTo>
                    <a:lnTo>
                      <a:pt x="24" y="4"/>
                    </a:lnTo>
                    <a:lnTo>
                      <a:pt x="30" y="2"/>
                    </a:lnTo>
                    <a:lnTo>
                      <a:pt x="32" y="0"/>
                    </a:lnTo>
                    <a:lnTo>
                      <a:pt x="36" y="4"/>
                    </a:lnTo>
                    <a:lnTo>
                      <a:pt x="36" y="6"/>
                    </a:lnTo>
                    <a:lnTo>
                      <a:pt x="36" y="8"/>
                    </a:lnTo>
                    <a:lnTo>
                      <a:pt x="36" y="10"/>
                    </a:lnTo>
                    <a:lnTo>
                      <a:pt x="40" y="14"/>
                    </a:lnTo>
                    <a:lnTo>
                      <a:pt x="38" y="14"/>
                    </a:lnTo>
                    <a:lnTo>
                      <a:pt x="38" y="20"/>
                    </a:lnTo>
                    <a:lnTo>
                      <a:pt x="36" y="24"/>
                    </a:lnTo>
                    <a:lnTo>
                      <a:pt x="36" y="26"/>
                    </a:lnTo>
                    <a:lnTo>
                      <a:pt x="34" y="26"/>
                    </a:lnTo>
                    <a:lnTo>
                      <a:pt x="30" y="26"/>
                    </a:lnTo>
                    <a:lnTo>
                      <a:pt x="28" y="28"/>
                    </a:lnTo>
                    <a:lnTo>
                      <a:pt x="26" y="28"/>
                    </a:lnTo>
                    <a:lnTo>
                      <a:pt x="26" y="30"/>
                    </a:lnTo>
                    <a:lnTo>
                      <a:pt x="24" y="30"/>
                    </a:lnTo>
                    <a:lnTo>
                      <a:pt x="22" y="32"/>
                    </a:lnTo>
                    <a:lnTo>
                      <a:pt x="20" y="34"/>
                    </a:lnTo>
                    <a:lnTo>
                      <a:pt x="18" y="34"/>
                    </a:lnTo>
                    <a:lnTo>
                      <a:pt x="6" y="34"/>
                    </a:lnTo>
                    <a:lnTo>
                      <a:pt x="4" y="32"/>
                    </a:lnTo>
                    <a:lnTo>
                      <a:pt x="2" y="28"/>
                    </a:lnTo>
                    <a:lnTo>
                      <a:pt x="0" y="24"/>
                    </a:lnTo>
                    <a:lnTo>
                      <a:pt x="2" y="22"/>
                    </a:lnTo>
                    <a:lnTo>
                      <a:pt x="2" y="16"/>
                    </a:lnTo>
                    <a:lnTo>
                      <a:pt x="2" y="14"/>
                    </a:lnTo>
                    <a:lnTo>
                      <a:pt x="4" y="12"/>
                    </a:lnTo>
                    <a:lnTo>
                      <a:pt x="4" y="1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39" name="Freeform 525">
                <a:extLst>
                  <a:ext uri="{FF2B5EF4-FFF2-40B4-BE49-F238E27FC236}">
                    <a16:creationId xmlns:a16="http://schemas.microsoft.com/office/drawing/2014/main" id="{04D3030B-7C4A-68D7-BDC2-390ACE75574A}"/>
                  </a:ext>
                </a:extLst>
              </p:cNvPr>
              <p:cNvSpPr>
                <a:spLocks noEditPoints="1"/>
              </p:cNvSpPr>
              <p:nvPr/>
            </p:nvSpPr>
            <p:spPr bwMode="auto">
              <a:xfrm>
                <a:off x="5097498" y="3318463"/>
                <a:ext cx="77788" cy="55720"/>
              </a:xfrm>
              <a:custGeom>
                <a:avLst/>
                <a:gdLst/>
                <a:ahLst/>
                <a:cxnLst>
                  <a:cxn ang="0">
                    <a:pos x="4" y="6"/>
                  </a:cxn>
                  <a:cxn ang="0">
                    <a:pos x="4" y="6"/>
                  </a:cxn>
                  <a:cxn ang="0">
                    <a:pos x="6" y="24"/>
                  </a:cxn>
                  <a:cxn ang="0">
                    <a:pos x="2" y="28"/>
                  </a:cxn>
                  <a:cxn ang="0">
                    <a:pos x="12" y="36"/>
                  </a:cxn>
                  <a:cxn ang="0">
                    <a:pos x="16" y="38"/>
                  </a:cxn>
                  <a:cxn ang="0">
                    <a:pos x="22" y="40"/>
                  </a:cxn>
                  <a:cxn ang="0">
                    <a:pos x="30" y="40"/>
                  </a:cxn>
                  <a:cxn ang="0">
                    <a:pos x="32" y="52"/>
                  </a:cxn>
                  <a:cxn ang="0">
                    <a:pos x="40" y="52"/>
                  </a:cxn>
                  <a:cxn ang="0">
                    <a:pos x="50" y="54"/>
                  </a:cxn>
                  <a:cxn ang="0">
                    <a:pos x="50" y="56"/>
                  </a:cxn>
                  <a:cxn ang="0">
                    <a:pos x="50" y="58"/>
                  </a:cxn>
                  <a:cxn ang="0">
                    <a:pos x="56" y="56"/>
                  </a:cxn>
                  <a:cxn ang="0">
                    <a:pos x="64" y="56"/>
                  </a:cxn>
                  <a:cxn ang="0">
                    <a:pos x="66" y="54"/>
                  </a:cxn>
                  <a:cxn ang="0">
                    <a:pos x="66" y="52"/>
                  </a:cxn>
                  <a:cxn ang="0">
                    <a:pos x="72" y="50"/>
                  </a:cxn>
                  <a:cxn ang="0">
                    <a:pos x="72" y="42"/>
                  </a:cxn>
                  <a:cxn ang="0">
                    <a:pos x="72" y="36"/>
                  </a:cxn>
                  <a:cxn ang="0">
                    <a:pos x="76" y="32"/>
                  </a:cxn>
                  <a:cxn ang="0">
                    <a:pos x="78" y="30"/>
                  </a:cxn>
                  <a:cxn ang="0">
                    <a:pos x="80" y="28"/>
                  </a:cxn>
                  <a:cxn ang="0">
                    <a:pos x="78" y="24"/>
                  </a:cxn>
                  <a:cxn ang="0">
                    <a:pos x="72" y="22"/>
                  </a:cxn>
                  <a:cxn ang="0">
                    <a:pos x="66" y="18"/>
                  </a:cxn>
                  <a:cxn ang="0">
                    <a:pos x="62" y="16"/>
                  </a:cxn>
                  <a:cxn ang="0">
                    <a:pos x="58" y="16"/>
                  </a:cxn>
                  <a:cxn ang="0">
                    <a:pos x="56" y="12"/>
                  </a:cxn>
                  <a:cxn ang="0">
                    <a:pos x="54" y="10"/>
                  </a:cxn>
                  <a:cxn ang="0">
                    <a:pos x="50" y="10"/>
                  </a:cxn>
                  <a:cxn ang="0">
                    <a:pos x="46" y="10"/>
                  </a:cxn>
                  <a:cxn ang="0">
                    <a:pos x="42" y="8"/>
                  </a:cxn>
                  <a:cxn ang="0">
                    <a:pos x="30" y="4"/>
                  </a:cxn>
                  <a:cxn ang="0">
                    <a:pos x="22" y="2"/>
                  </a:cxn>
                  <a:cxn ang="0">
                    <a:pos x="16" y="0"/>
                  </a:cxn>
                  <a:cxn ang="0">
                    <a:pos x="10" y="4"/>
                  </a:cxn>
                  <a:cxn ang="0">
                    <a:pos x="4" y="6"/>
                  </a:cxn>
                  <a:cxn ang="0">
                    <a:pos x="4" y="6"/>
                  </a:cxn>
                  <a:cxn ang="0">
                    <a:pos x="0" y="20"/>
                  </a:cxn>
                  <a:cxn ang="0">
                    <a:pos x="0" y="22"/>
                  </a:cxn>
                  <a:cxn ang="0">
                    <a:pos x="2" y="22"/>
                  </a:cxn>
                  <a:cxn ang="0">
                    <a:pos x="2" y="20"/>
                  </a:cxn>
                  <a:cxn ang="0">
                    <a:pos x="0" y="20"/>
                  </a:cxn>
                  <a:cxn ang="0">
                    <a:pos x="0" y="20"/>
                  </a:cxn>
                </a:cxnLst>
                <a:rect l="0" t="0" r="r" b="b"/>
                <a:pathLst>
                  <a:path w="80" h="58">
                    <a:moveTo>
                      <a:pt x="4" y="6"/>
                    </a:moveTo>
                    <a:lnTo>
                      <a:pt x="4" y="6"/>
                    </a:lnTo>
                    <a:lnTo>
                      <a:pt x="6" y="24"/>
                    </a:lnTo>
                    <a:lnTo>
                      <a:pt x="2" y="28"/>
                    </a:lnTo>
                    <a:lnTo>
                      <a:pt x="12" y="36"/>
                    </a:lnTo>
                    <a:lnTo>
                      <a:pt x="16" y="38"/>
                    </a:lnTo>
                    <a:lnTo>
                      <a:pt x="22" y="40"/>
                    </a:lnTo>
                    <a:lnTo>
                      <a:pt x="30" y="40"/>
                    </a:lnTo>
                    <a:lnTo>
                      <a:pt x="32" y="52"/>
                    </a:lnTo>
                    <a:lnTo>
                      <a:pt x="40" y="52"/>
                    </a:lnTo>
                    <a:lnTo>
                      <a:pt x="50" y="54"/>
                    </a:lnTo>
                    <a:lnTo>
                      <a:pt x="50" y="56"/>
                    </a:lnTo>
                    <a:lnTo>
                      <a:pt x="50" y="58"/>
                    </a:lnTo>
                    <a:lnTo>
                      <a:pt x="56" y="56"/>
                    </a:lnTo>
                    <a:lnTo>
                      <a:pt x="64" y="56"/>
                    </a:lnTo>
                    <a:lnTo>
                      <a:pt x="66" y="54"/>
                    </a:lnTo>
                    <a:lnTo>
                      <a:pt x="66" y="52"/>
                    </a:lnTo>
                    <a:lnTo>
                      <a:pt x="72" y="50"/>
                    </a:lnTo>
                    <a:lnTo>
                      <a:pt x="72" y="42"/>
                    </a:lnTo>
                    <a:lnTo>
                      <a:pt x="72" y="36"/>
                    </a:lnTo>
                    <a:lnTo>
                      <a:pt x="76" y="32"/>
                    </a:lnTo>
                    <a:lnTo>
                      <a:pt x="78" y="30"/>
                    </a:lnTo>
                    <a:lnTo>
                      <a:pt x="80" y="28"/>
                    </a:lnTo>
                    <a:lnTo>
                      <a:pt x="78" y="24"/>
                    </a:lnTo>
                    <a:lnTo>
                      <a:pt x="72" y="22"/>
                    </a:lnTo>
                    <a:lnTo>
                      <a:pt x="66" y="18"/>
                    </a:lnTo>
                    <a:lnTo>
                      <a:pt x="62" y="16"/>
                    </a:lnTo>
                    <a:lnTo>
                      <a:pt x="58" y="16"/>
                    </a:lnTo>
                    <a:lnTo>
                      <a:pt x="56" y="12"/>
                    </a:lnTo>
                    <a:lnTo>
                      <a:pt x="54" y="10"/>
                    </a:lnTo>
                    <a:lnTo>
                      <a:pt x="50" y="10"/>
                    </a:lnTo>
                    <a:lnTo>
                      <a:pt x="46" y="10"/>
                    </a:lnTo>
                    <a:lnTo>
                      <a:pt x="42" y="8"/>
                    </a:lnTo>
                    <a:lnTo>
                      <a:pt x="30" y="4"/>
                    </a:lnTo>
                    <a:lnTo>
                      <a:pt x="22" y="2"/>
                    </a:lnTo>
                    <a:lnTo>
                      <a:pt x="16" y="0"/>
                    </a:lnTo>
                    <a:lnTo>
                      <a:pt x="10" y="4"/>
                    </a:lnTo>
                    <a:lnTo>
                      <a:pt x="4" y="6"/>
                    </a:lnTo>
                    <a:lnTo>
                      <a:pt x="4" y="6"/>
                    </a:lnTo>
                    <a:close/>
                    <a:moveTo>
                      <a:pt x="0" y="20"/>
                    </a:moveTo>
                    <a:lnTo>
                      <a:pt x="0" y="22"/>
                    </a:lnTo>
                    <a:lnTo>
                      <a:pt x="2" y="22"/>
                    </a:lnTo>
                    <a:lnTo>
                      <a:pt x="2" y="20"/>
                    </a:lnTo>
                    <a:lnTo>
                      <a:pt x="0" y="20"/>
                    </a:lnTo>
                    <a:lnTo>
                      <a:pt x="0" y="2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40" name="Freeform 526">
                <a:extLst>
                  <a:ext uri="{FF2B5EF4-FFF2-40B4-BE49-F238E27FC236}">
                    <a16:creationId xmlns:a16="http://schemas.microsoft.com/office/drawing/2014/main" id="{B003C47A-1365-6D16-0864-5958A4D5D5BC}"/>
                  </a:ext>
                </a:extLst>
              </p:cNvPr>
              <p:cNvSpPr>
                <a:spLocks/>
              </p:cNvSpPr>
              <p:nvPr/>
            </p:nvSpPr>
            <p:spPr bwMode="auto">
              <a:xfrm>
                <a:off x="5430041" y="3347284"/>
                <a:ext cx="515344" cy="259385"/>
              </a:xfrm>
              <a:custGeom>
                <a:avLst/>
                <a:gdLst/>
                <a:ahLst/>
                <a:cxnLst>
                  <a:cxn ang="0">
                    <a:pos x="492" y="140"/>
                  </a:cxn>
                  <a:cxn ang="0">
                    <a:pos x="456" y="168"/>
                  </a:cxn>
                  <a:cxn ang="0">
                    <a:pos x="436" y="200"/>
                  </a:cxn>
                  <a:cxn ang="0">
                    <a:pos x="428" y="234"/>
                  </a:cxn>
                  <a:cxn ang="0">
                    <a:pos x="406" y="232"/>
                  </a:cxn>
                  <a:cxn ang="0">
                    <a:pos x="364" y="238"/>
                  </a:cxn>
                  <a:cxn ang="0">
                    <a:pos x="352" y="232"/>
                  </a:cxn>
                  <a:cxn ang="0">
                    <a:pos x="336" y="244"/>
                  </a:cxn>
                  <a:cxn ang="0">
                    <a:pos x="310" y="238"/>
                  </a:cxn>
                  <a:cxn ang="0">
                    <a:pos x="288" y="248"/>
                  </a:cxn>
                  <a:cxn ang="0">
                    <a:pos x="276" y="258"/>
                  </a:cxn>
                  <a:cxn ang="0">
                    <a:pos x="264" y="264"/>
                  </a:cxn>
                  <a:cxn ang="0">
                    <a:pos x="240" y="256"/>
                  </a:cxn>
                  <a:cxn ang="0">
                    <a:pos x="234" y="246"/>
                  </a:cxn>
                  <a:cxn ang="0">
                    <a:pos x="196" y="238"/>
                  </a:cxn>
                  <a:cxn ang="0">
                    <a:pos x="188" y="212"/>
                  </a:cxn>
                  <a:cxn ang="0">
                    <a:pos x="184" y="196"/>
                  </a:cxn>
                  <a:cxn ang="0">
                    <a:pos x="188" y="166"/>
                  </a:cxn>
                  <a:cxn ang="0">
                    <a:pos x="174" y="172"/>
                  </a:cxn>
                  <a:cxn ang="0">
                    <a:pos x="158" y="184"/>
                  </a:cxn>
                  <a:cxn ang="0">
                    <a:pos x="150" y="182"/>
                  </a:cxn>
                  <a:cxn ang="0">
                    <a:pos x="132" y="188"/>
                  </a:cxn>
                  <a:cxn ang="0">
                    <a:pos x="98" y="248"/>
                  </a:cxn>
                  <a:cxn ang="0">
                    <a:pos x="74" y="250"/>
                  </a:cxn>
                  <a:cxn ang="0">
                    <a:pos x="62" y="234"/>
                  </a:cxn>
                  <a:cxn ang="0">
                    <a:pos x="54" y="226"/>
                  </a:cxn>
                  <a:cxn ang="0">
                    <a:pos x="60" y="206"/>
                  </a:cxn>
                  <a:cxn ang="0">
                    <a:pos x="58" y="198"/>
                  </a:cxn>
                  <a:cxn ang="0">
                    <a:pos x="74" y="194"/>
                  </a:cxn>
                  <a:cxn ang="0">
                    <a:pos x="92" y="198"/>
                  </a:cxn>
                  <a:cxn ang="0">
                    <a:pos x="88" y="172"/>
                  </a:cxn>
                  <a:cxn ang="0">
                    <a:pos x="70" y="160"/>
                  </a:cxn>
                  <a:cxn ang="0">
                    <a:pos x="50" y="152"/>
                  </a:cxn>
                  <a:cxn ang="0">
                    <a:pos x="34" y="164"/>
                  </a:cxn>
                  <a:cxn ang="0">
                    <a:pos x="20" y="162"/>
                  </a:cxn>
                  <a:cxn ang="0">
                    <a:pos x="10" y="144"/>
                  </a:cxn>
                  <a:cxn ang="0">
                    <a:pos x="0" y="126"/>
                  </a:cxn>
                  <a:cxn ang="0">
                    <a:pos x="8" y="110"/>
                  </a:cxn>
                  <a:cxn ang="0">
                    <a:pos x="14" y="94"/>
                  </a:cxn>
                  <a:cxn ang="0">
                    <a:pos x="30" y="90"/>
                  </a:cxn>
                  <a:cxn ang="0">
                    <a:pos x="34" y="74"/>
                  </a:cxn>
                  <a:cxn ang="0">
                    <a:pos x="58" y="62"/>
                  </a:cxn>
                  <a:cxn ang="0">
                    <a:pos x="74" y="58"/>
                  </a:cxn>
                  <a:cxn ang="0">
                    <a:pos x="86" y="66"/>
                  </a:cxn>
                  <a:cxn ang="0">
                    <a:pos x="106" y="76"/>
                  </a:cxn>
                  <a:cxn ang="0">
                    <a:pos x="114" y="88"/>
                  </a:cxn>
                  <a:cxn ang="0">
                    <a:pos x="122" y="78"/>
                  </a:cxn>
                  <a:cxn ang="0">
                    <a:pos x="146" y="74"/>
                  </a:cxn>
                  <a:cxn ang="0">
                    <a:pos x="156" y="76"/>
                  </a:cxn>
                  <a:cxn ang="0">
                    <a:pos x="182" y="86"/>
                  </a:cxn>
                  <a:cxn ang="0">
                    <a:pos x="172" y="60"/>
                  </a:cxn>
                  <a:cxn ang="0">
                    <a:pos x="176" y="18"/>
                  </a:cxn>
                  <a:cxn ang="0">
                    <a:pos x="212" y="16"/>
                  </a:cxn>
                  <a:cxn ang="0">
                    <a:pos x="272" y="2"/>
                  </a:cxn>
                  <a:cxn ang="0">
                    <a:pos x="288" y="16"/>
                  </a:cxn>
                  <a:cxn ang="0">
                    <a:pos x="322" y="18"/>
                  </a:cxn>
                  <a:cxn ang="0">
                    <a:pos x="346" y="22"/>
                  </a:cxn>
                  <a:cxn ang="0">
                    <a:pos x="390" y="34"/>
                  </a:cxn>
                  <a:cxn ang="0">
                    <a:pos x="424" y="78"/>
                  </a:cxn>
                  <a:cxn ang="0">
                    <a:pos x="456" y="96"/>
                  </a:cxn>
                  <a:cxn ang="0">
                    <a:pos x="504" y="102"/>
                  </a:cxn>
                  <a:cxn ang="0">
                    <a:pos x="530" y="120"/>
                  </a:cxn>
                </a:cxnLst>
                <a:rect l="0" t="0" r="r" b="b"/>
                <a:pathLst>
                  <a:path w="530" h="270">
                    <a:moveTo>
                      <a:pt x="530" y="120"/>
                    </a:moveTo>
                    <a:lnTo>
                      <a:pt x="510" y="124"/>
                    </a:lnTo>
                    <a:lnTo>
                      <a:pt x="506" y="128"/>
                    </a:lnTo>
                    <a:lnTo>
                      <a:pt x="502" y="134"/>
                    </a:lnTo>
                    <a:lnTo>
                      <a:pt x="494" y="136"/>
                    </a:lnTo>
                    <a:lnTo>
                      <a:pt x="492" y="140"/>
                    </a:lnTo>
                    <a:lnTo>
                      <a:pt x="490" y="148"/>
                    </a:lnTo>
                    <a:lnTo>
                      <a:pt x="480" y="152"/>
                    </a:lnTo>
                    <a:lnTo>
                      <a:pt x="472" y="152"/>
                    </a:lnTo>
                    <a:lnTo>
                      <a:pt x="466" y="156"/>
                    </a:lnTo>
                    <a:lnTo>
                      <a:pt x="462" y="164"/>
                    </a:lnTo>
                    <a:lnTo>
                      <a:pt x="456" y="168"/>
                    </a:lnTo>
                    <a:lnTo>
                      <a:pt x="454" y="178"/>
                    </a:lnTo>
                    <a:lnTo>
                      <a:pt x="456" y="186"/>
                    </a:lnTo>
                    <a:lnTo>
                      <a:pt x="460" y="190"/>
                    </a:lnTo>
                    <a:lnTo>
                      <a:pt x="458" y="194"/>
                    </a:lnTo>
                    <a:lnTo>
                      <a:pt x="446" y="194"/>
                    </a:lnTo>
                    <a:lnTo>
                      <a:pt x="436" y="200"/>
                    </a:lnTo>
                    <a:lnTo>
                      <a:pt x="426" y="202"/>
                    </a:lnTo>
                    <a:lnTo>
                      <a:pt x="422" y="204"/>
                    </a:lnTo>
                    <a:lnTo>
                      <a:pt x="424" y="210"/>
                    </a:lnTo>
                    <a:lnTo>
                      <a:pt x="432" y="216"/>
                    </a:lnTo>
                    <a:lnTo>
                      <a:pt x="434" y="222"/>
                    </a:lnTo>
                    <a:lnTo>
                      <a:pt x="428" y="234"/>
                    </a:lnTo>
                    <a:lnTo>
                      <a:pt x="428" y="242"/>
                    </a:lnTo>
                    <a:lnTo>
                      <a:pt x="422" y="238"/>
                    </a:lnTo>
                    <a:lnTo>
                      <a:pt x="418" y="238"/>
                    </a:lnTo>
                    <a:lnTo>
                      <a:pt x="414" y="238"/>
                    </a:lnTo>
                    <a:lnTo>
                      <a:pt x="412" y="234"/>
                    </a:lnTo>
                    <a:lnTo>
                      <a:pt x="406" y="232"/>
                    </a:lnTo>
                    <a:lnTo>
                      <a:pt x="400" y="232"/>
                    </a:lnTo>
                    <a:lnTo>
                      <a:pt x="394" y="232"/>
                    </a:lnTo>
                    <a:lnTo>
                      <a:pt x="380" y="232"/>
                    </a:lnTo>
                    <a:lnTo>
                      <a:pt x="374" y="236"/>
                    </a:lnTo>
                    <a:lnTo>
                      <a:pt x="366" y="238"/>
                    </a:lnTo>
                    <a:lnTo>
                      <a:pt x="364" y="238"/>
                    </a:lnTo>
                    <a:lnTo>
                      <a:pt x="362" y="238"/>
                    </a:lnTo>
                    <a:lnTo>
                      <a:pt x="360" y="236"/>
                    </a:lnTo>
                    <a:lnTo>
                      <a:pt x="356" y="236"/>
                    </a:lnTo>
                    <a:lnTo>
                      <a:pt x="356" y="234"/>
                    </a:lnTo>
                    <a:lnTo>
                      <a:pt x="354" y="232"/>
                    </a:lnTo>
                    <a:lnTo>
                      <a:pt x="352" y="232"/>
                    </a:lnTo>
                    <a:lnTo>
                      <a:pt x="348" y="236"/>
                    </a:lnTo>
                    <a:lnTo>
                      <a:pt x="346" y="236"/>
                    </a:lnTo>
                    <a:lnTo>
                      <a:pt x="342" y="238"/>
                    </a:lnTo>
                    <a:lnTo>
                      <a:pt x="340" y="238"/>
                    </a:lnTo>
                    <a:lnTo>
                      <a:pt x="338" y="240"/>
                    </a:lnTo>
                    <a:lnTo>
                      <a:pt x="336" y="244"/>
                    </a:lnTo>
                    <a:lnTo>
                      <a:pt x="334" y="244"/>
                    </a:lnTo>
                    <a:lnTo>
                      <a:pt x="332" y="240"/>
                    </a:lnTo>
                    <a:lnTo>
                      <a:pt x="328" y="238"/>
                    </a:lnTo>
                    <a:lnTo>
                      <a:pt x="324" y="238"/>
                    </a:lnTo>
                    <a:lnTo>
                      <a:pt x="314" y="238"/>
                    </a:lnTo>
                    <a:lnTo>
                      <a:pt x="310" y="238"/>
                    </a:lnTo>
                    <a:lnTo>
                      <a:pt x="308" y="240"/>
                    </a:lnTo>
                    <a:lnTo>
                      <a:pt x="304" y="244"/>
                    </a:lnTo>
                    <a:lnTo>
                      <a:pt x="300" y="246"/>
                    </a:lnTo>
                    <a:lnTo>
                      <a:pt x="296" y="246"/>
                    </a:lnTo>
                    <a:lnTo>
                      <a:pt x="290" y="248"/>
                    </a:lnTo>
                    <a:lnTo>
                      <a:pt x="288" y="248"/>
                    </a:lnTo>
                    <a:lnTo>
                      <a:pt x="288" y="250"/>
                    </a:lnTo>
                    <a:lnTo>
                      <a:pt x="286" y="252"/>
                    </a:lnTo>
                    <a:lnTo>
                      <a:pt x="284" y="252"/>
                    </a:lnTo>
                    <a:lnTo>
                      <a:pt x="280" y="254"/>
                    </a:lnTo>
                    <a:lnTo>
                      <a:pt x="278" y="256"/>
                    </a:lnTo>
                    <a:lnTo>
                      <a:pt x="276" y="258"/>
                    </a:lnTo>
                    <a:lnTo>
                      <a:pt x="276" y="262"/>
                    </a:lnTo>
                    <a:lnTo>
                      <a:pt x="268" y="264"/>
                    </a:lnTo>
                    <a:lnTo>
                      <a:pt x="268" y="268"/>
                    </a:lnTo>
                    <a:lnTo>
                      <a:pt x="264" y="270"/>
                    </a:lnTo>
                    <a:lnTo>
                      <a:pt x="264" y="268"/>
                    </a:lnTo>
                    <a:lnTo>
                      <a:pt x="264" y="264"/>
                    </a:lnTo>
                    <a:lnTo>
                      <a:pt x="258" y="260"/>
                    </a:lnTo>
                    <a:lnTo>
                      <a:pt x="254" y="260"/>
                    </a:lnTo>
                    <a:lnTo>
                      <a:pt x="248" y="260"/>
                    </a:lnTo>
                    <a:lnTo>
                      <a:pt x="242" y="258"/>
                    </a:lnTo>
                    <a:lnTo>
                      <a:pt x="240" y="258"/>
                    </a:lnTo>
                    <a:lnTo>
                      <a:pt x="240" y="256"/>
                    </a:lnTo>
                    <a:lnTo>
                      <a:pt x="242" y="252"/>
                    </a:lnTo>
                    <a:lnTo>
                      <a:pt x="240" y="252"/>
                    </a:lnTo>
                    <a:lnTo>
                      <a:pt x="240" y="250"/>
                    </a:lnTo>
                    <a:lnTo>
                      <a:pt x="238" y="250"/>
                    </a:lnTo>
                    <a:lnTo>
                      <a:pt x="238" y="246"/>
                    </a:lnTo>
                    <a:lnTo>
                      <a:pt x="234" y="246"/>
                    </a:lnTo>
                    <a:lnTo>
                      <a:pt x="230" y="246"/>
                    </a:lnTo>
                    <a:lnTo>
                      <a:pt x="226" y="244"/>
                    </a:lnTo>
                    <a:lnTo>
                      <a:pt x="222" y="238"/>
                    </a:lnTo>
                    <a:lnTo>
                      <a:pt x="220" y="240"/>
                    </a:lnTo>
                    <a:lnTo>
                      <a:pt x="206" y="238"/>
                    </a:lnTo>
                    <a:lnTo>
                      <a:pt x="196" y="238"/>
                    </a:lnTo>
                    <a:lnTo>
                      <a:pt x="192" y="238"/>
                    </a:lnTo>
                    <a:lnTo>
                      <a:pt x="190" y="222"/>
                    </a:lnTo>
                    <a:lnTo>
                      <a:pt x="188" y="218"/>
                    </a:lnTo>
                    <a:lnTo>
                      <a:pt x="188" y="214"/>
                    </a:lnTo>
                    <a:lnTo>
                      <a:pt x="186" y="214"/>
                    </a:lnTo>
                    <a:lnTo>
                      <a:pt x="188" y="212"/>
                    </a:lnTo>
                    <a:lnTo>
                      <a:pt x="190" y="210"/>
                    </a:lnTo>
                    <a:lnTo>
                      <a:pt x="190" y="206"/>
                    </a:lnTo>
                    <a:lnTo>
                      <a:pt x="194" y="204"/>
                    </a:lnTo>
                    <a:lnTo>
                      <a:pt x="194" y="202"/>
                    </a:lnTo>
                    <a:lnTo>
                      <a:pt x="186" y="198"/>
                    </a:lnTo>
                    <a:lnTo>
                      <a:pt x="184" y="196"/>
                    </a:lnTo>
                    <a:lnTo>
                      <a:pt x="182" y="192"/>
                    </a:lnTo>
                    <a:lnTo>
                      <a:pt x="182" y="188"/>
                    </a:lnTo>
                    <a:lnTo>
                      <a:pt x="182" y="184"/>
                    </a:lnTo>
                    <a:lnTo>
                      <a:pt x="182" y="180"/>
                    </a:lnTo>
                    <a:lnTo>
                      <a:pt x="190" y="166"/>
                    </a:lnTo>
                    <a:lnTo>
                      <a:pt x="188" y="166"/>
                    </a:lnTo>
                    <a:lnTo>
                      <a:pt x="186" y="168"/>
                    </a:lnTo>
                    <a:lnTo>
                      <a:pt x="182" y="166"/>
                    </a:lnTo>
                    <a:lnTo>
                      <a:pt x="182" y="168"/>
                    </a:lnTo>
                    <a:lnTo>
                      <a:pt x="172" y="168"/>
                    </a:lnTo>
                    <a:lnTo>
                      <a:pt x="172" y="170"/>
                    </a:lnTo>
                    <a:lnTo>
                      <a:pt x="174" y="172"/>
                    </a:lnTo>
                    <a:lnTo>
                      <a:pt x="172" y="176"/>
                    </a:lnTo>
                    <a:lnTo>
                      <a:pt x="166" y="174"/>
                    </a:lnTo>
                    <a:lnTo>
                      <a:pt x="164" y="178"/>
                    </a:lnTo>
                    <a:lnTo>
                      <a:pt x="160" y="178"/>
                    </a:lnTo>
                    <a:lnTo>
                      <a:pt x="158" y="182"/>
                    </a:lnTo>
                    <a:lnTo>
                      <a:pt x="158" y="184"/>
                    </a:lnTo>
                    <a:lnTo>
                      <a:pt x="158" y="186"/>
                    </a:lnTo>
                    <a:lnTo>
                      <a:pt x="156" y="186"/>
                    </a:lnTo>
                    <a:lnTo>
                      <a:pt x="156" y="184"/>
                    </a:lnTo>
                    <a:lnTo>
                      <a:pt x="156" y="180"/>
                    </a:lnTo>
                    <a:lnTo>
                      <a:pt x="154" y="180"/>
                    </a:lnTo>
                    <a:lnTo>
                      <a:pt x="150" y="182"/>
                    </a:lnTo>
                    <a:lnTo>
                      <a:pt x="148" y="184"/>
                    </a:lnTo>
                    <a:lnTo>
                      <a:pt x="148" y="186"/>
                    </a:lnTo>
                    <a:lnTo>
                      <a:pt x="148" y="188"/>
                    </a:lnTo>
                    <a:lnTo>
                      <a:pt x="144" y="186"/>
                    </a:lnTo>
                    <a:lnTo>
                      <a:pt x="138" y="188"/>
                    </a:lnTo>
                    <a:lnTo>
                      <a:pt x="132" y="188"/>
                    </a:lnTo>
                    <a:lnTo>
                      <a:pt x="124" y="192"/>
                    </a:lnTo>
                    <a:lnTo>
                      <a:pt x="118" y="194"/>
                    </a:lnTo>
                    <a:lnTo>
                      <a:pt x="116" y="256"/>
                    </a:lnTo>
                    <a:lnTo>
                      <a:pt x="112" y="256"/>
                    </a:lnTo>
                    <a:lnTo>
                      <a:pt x="104" y="256"/>
                    </a:lnTo>
                    <a:lnTo>
                      <a:pt x="98" y="248"/>
                    </a:lnTo>
                    <a:lnTo>
                      <a:pt x="94" y="244"/>
                    </a:lnTo>
                    <a:lnTo>
                      <a:pt x="90" y="242"/>
                    </a:lnTo>
                    <a:lnTo>
                      <a:pt x="88" y="242"/>
                    </a:lnTo>
                    <a:lnTo>
                      <a:pt x="78" y="242"/>
                    </a:lnTo>
                    <a:lnTo>
                      <a:pt x="74" y="244"/>
                    </a:lnTo>
                    <a:lnTo>
                      <a:pt x="74" y="250"/>
                    </a:lnTo>
                    <a:lnTo>
                      <a:pt x="72" y="254"/>
                    </a:lnTo>
                    <a:lnTo>
                      <a:pt x="70" y="254"/>
                    </a:lnTo>
                    <a:lnTo>
                      <a:pt x="72" y="246"/>
                    </a:lnTo>
                    <a:lnTo>
                      <a:pt x="74" y="238"/>
                    </a:lnTo>
                    <a:lnTo>
                      <a:pt x="64" y="236"/>
                    </a:lnTo>
                    <a:lnTo>
                      <a:pt x="62" y="234"/>
                    </a:lnTo>
                    <a:lnTo>
                      <a:pt x="62" y="232"/>
                    </a:lnTo>
                    <a:lnTo>
                      <a:pt x="60" y="230"/>
                    </a:lnTo>
                    <a:lnTo>
                      <a:pt x="56" y="232"/>
                    </a:lnTo>
                    <a:lnTo>
                      <a:pt x="56" y="228"/>
                    </a:lnTo>
                    <a:lnTo>
                      <a:pt x="56" y="226"/>
                    </a:lnTo>
                    <a:lnTo>
                      <a:pt x="54" y="226"/>
                    </a:lnTo>
                    <a:lnTo>
                      <a:pt x="50" y="218"/>
                    </a:lnTo>
                    <a:lnTo>
                      <a:pt x="42" y="212"/>
                    </a:lnTo>
                    <a:lnTo>
                      <a:pt x="44" y="208"/>
                    </a:lnTo>
                    <a:lnTo>
                      <a:pt x="52" y="210"/>
                    </a:lnTo>
                    <a:lnTo>
                      <a:pt x="58" y="210"/>
                    </a:lnTo>
                    <a:lnTo>
                      <a:pt x="60" y="206"/>
                    </a:lnTo>
                    <a:lnTo>
                      <a:pt x="54" y="206"/>
                    </a:lnTo>
                    <a:lnTo>
                      <a:pt x="50" y="200"/>
                    </a:lnTo>
                    <a:lnTo>
                      <a:pt x="50" y="198"/>
                    </a:lnTo>
                    <a:lnTo>
                      <a:pt x="52" y="198"/>
                    </a:lnTo>
                    <a:lnTo>
                      <a:pt x="54" y="200"/>
                    </a:lnTo>
                    <a:lnTo>
                      <a:pt x="58" y="198"/>
                    </a:lnTo>
                    <a:lnTo>
                      <a:pt x="60" y="198"/>
                    </a:lnTo>
                    <a:lnTo>
                      <a:pt x="62" y="198"/>
                    </a:lnTo>
                    <a:lnTo>
                      <a:pt x="64" y="198"/>
                    </a:lnTo>
                    <a:lnTo>
                      <a:pt x="64" y="190"/>
                    </a:lnTo>
                    <a:lnTo>
                      <a:pt x="70" y="190"/>
                    </a:lnTo>
                    <a:lnTo>
                      <a:pt x="74" y="194"/>
                    </a:lnTo>
                    <a:lnTo>
                      <a:pt x="86" y="196"/>
                    </a:lnTo>
                    <a:lnTo>
                      <a:pt x="82" y="202"/>
                    </a:lnTo>
                    <a:lnTo>
                      <a:pt x="86" y="200"/>
                    </a:lnTo>
                    <a:lnTo>
                      <a:pt x="88" y="198"/>
                    </a:lnTo>
                    <a:lnTo>
                      <a:pt x="90" y="200"/>
                    </a:lnTo>
                    <a:lnTo>
                      <a:pt x="92" y="198"/>
                    </a:lnTo>
                    <a:lnTo>
                      <a:pt x="94" y="186"/>
                    </a:lnTo>
                    <a:lnTo>
                      <a:pt x="92" y="186"/>
                    </a:lnTo>
                    <a:lnTo>
                      <a:pt x="90" y="182"/>
                    </a:lnTo>
                    <a:lnTo>
                      <a:pt x="88" y="182"/>
                    </a:lnTo>
                    <a:lnTo>
                      <a:pt x="88" y="178"/>
                    </a:lnTo>
                    <a:lnTo>
                      <a:pt x="88" y="172"/>
                    </a:lnTo>
                    <a:lnTo>
                      <a:pt x="84" y="172"/>
                    </a:lnTo>
                    <a:lnTo>
                      <a:pt x="82" y="172"/>
                    </a:lnTo>
                    <a:lnTo>
                      <a:pt x="80" y="166"/>
                    </a:lnTo>
                    <a:lnTo>
                      <a:pt x="76" y="166"/>
                    </a:lnTo>
                    <a:lnTo>
                      <a:pt x="72" y="160"/>
                    </a:lnTo>
                    <a:lnTo>
                      <a:pt x="70" y="160"/>
                    </a:lnTo>
                    <a:lnTo>
                      <a:pt x="68" y="160"/>
                    </a:lnTo>
                    <a:lnTo>
                      <a:pt x="66" y="158"/>
                    </a:lnTo>
                    <a:lnTo>
                      <a:pt x="58" y="158"/>
                    </a:lnTo>
                    <a:lnTo>
                      <a:pt x="58" y="154"/>
                    </a:lnTo>
                    <a:lnTo>
                      <a:pt x="54" y="152"/>
                    </a:lnTo>
                    <a:lnTo>
                      <a:pt x="50" y="152"/>
                    </a:lnTo>
                    <a:lnTo>
                      <a:pt x="48" y="152"/>
                    </a:lnTo>
                    <a:lnTo>
                      <a:pt x="48" y="156"/>
                    </a:lnTo>
                    <a:lnTo>
                      <a:pt x="44" y="160"/>
                    </a:lnTo>
                    <a:lnTo>
                      <a:pt x="40" y="160"/>
                    </a:lnTo>
                    <a:lnTo>
                      <a:pt x="38" y="164"/>
                    </a:lnTo>
                    <a:lnTo>
                      <a:pt x="34" y="164"/>
                    </a:lnTo>
                    <a:lnTo>
                      <a:pt x="30" y="164"/>
                    </a:lnTo>
                    <a:lnTo>
                      <a:pt x="26" y="168"/>
                    </a:lnTo>
                    <a:lnTo>
                      <a:pt x="26" y="168"/>
                    </a:lnTo>
                    <a:lnTo>
                      <a:pt x="22" y="168"/>
                    </a:lnTo>
                    <a:lnTo>
                      <a:pt x="22" y="166"/>
                    </a:lnTo>
                    <a:lnTo>
                      <a:pt x="20" y="162"/>
                    </a:lnTo>
                    <a:lnTo>
                      <a:pt x="20" y="160"/>
                    </a:lnTo>
                    <a:lnTo>
                      <a:pt x="22" y="156"/>
                    </a:lnTo>
                    <a:lnTo>
                      <a:pt x="20" y="154"/>
                    </a:lnTo>
                    <a:lnTo>
                      <a:pt x="16" y="142"/>
                    </a:lnTo>
                    <a:lnTo>
                      <a:pt x="12" y="144"/>
                    </a:lnTo>
                    <a:lnTo>
                      <a:pt x="10" y="144"/>
                    </a:lnTo>
                    <a:lnTo>
                      <a:pt x="8" y="142"/>
                    </a:lnTo>
                    <a:lnTo>
                      <a:pt x="8" y="136"/>
                    </a:lnTo>
                    <a:lnTo>
                      <a:pt x="8" y="134"/>
                    </a:lnTo>
                    <a:lnTo>
                      <a:pt x="6" y="132"/>
                    </a:lnTo>
                    <a:lnTo>
                      <a:pt x="2" y="128"/>
                    </a:lnTo>
                    <a:lnTo>
                      <a:pt x="0" y="126"/>
                    </a:lnTo>
                    <a:lnTo>
                      <a:pt x="2" y="124"/>
                    </a:lnTo>
                    <a:lnTo>
                      <a:pt x="8" y="118"/>
                    </a:lnTo>
                    <a:lnTo>
                      <a:pt x="8" y="116"/>
                    </a:lnTo>
                    <a:lnTo>
                      <a:pt x="10" y="114"/>
                    </a:lnTo>
                    <a:lnTo>
                      <a:pt x="10" y="112"/>
                    </a:lnTo>
                    <a:lnTo>
                      <a:pt x="8" y="110"/>
                    </a:lnTo>
                    <a:lnTo>
                      <a:pt x="6" y="110"/>
                    </a:lnTo>
                    <a:lnTo>
                      <a:pt x="8" y="106"/>
                    </a:lnTo>
                    <a:lnTo>
                      <a:pt x="10" y="102"/>
                    </a:lnTo>
                    <a:lnTo>
                      <a:pt x="10" y="96"/>
                    </a:lnTo>
                    <a:lnTo>
                      <a:pt x="12" y="96"/>
                    </a:lnTo>
                    <a:lnTo>
                      <a:pt x="14" y="94"/>
                    </a:lnTo>
                    <a:lnTo>
                      <a:pt x="16" y="94"/>
                    </a:lnTo>
                    <a:lnTo>
                      <a:pt x="18" y="88"/>
                    </a:lnTo>
                    <a:lnTo>
                      <a:pt x="22" y="88"/>
                    </a:lnTo>
                    <a:lnTo>
                      <a:pt x="26" y="98"/>
                    </a:lnTo>
                    <a:lnTo>
                      <a:pt x="34" y="94"/>
                    </a:lnTo>
                    <a:lnTo>
                      <a:pt x="30" y="90"/>
                    </a:lnTo>
                    <a:lnTo>
                      <a:pt x="28" y="88"/>
                    </a:lnTo>
                    <a:lnTo>
                      <a:pt x="28" y="86"/>
                    </a:lnTo>
                    <a:lnTo>
                      <a:pt x="28" y="80"/>
                    </a:lnTo>
                    <a:lnTo>
                      <a:pt x="30" y="76"/>
                    </a:lnTo>
                    <a:lnTo>
                      <a:pt x="32" y="76"/>
                    </a:lnTo>
                    <a:lnTo>
                      <a:pt x="34" y="74"/>
                    </a:lnTo>
                    <a:lnTo>
                      <a:pt x="34" y="72"/>
                    </a:lnTo>
                    <a:lnTo>
                      <a:pt x="36" y="72"/>
                    </a:lnTo>
                    <a:lnTo>
                      <a:pt x="38" y="72"/>
                    </a:lnTo>
                    <a:lnTo>
                      <a:pt x="44" y="72"/>
                    </a:lnTo>
                    <a:lnTo>
                      <a:pt x="48" y="72"/>
                    </a:lnTo>
                    <a:lnTo>
                      <a:pt x="58" y="62"/>
                    </a:lnTo>
                    <a:lnTo>
                      <a:pt x="58" y="60"/>
                    </a:lnTo>
                    <a:lnTo>
                      <a:pt x="56" y="58"/>
                    </a:lnTo>
                    <a:lnTo>
                      <a:pt x="68" y="56"/>
                    </a:lnTo>
                    <a:lnTo>
                      <a:pt x="68" y="60"/>
                    </a:lnTo>
                    <a:lnTo>
                      <a:pt x="74" y="60"/>
                    </a:lnTo>
                    <a:lnTo>
                      <a:pt x="74" y="58"/>
                    </a:lnTo>
                    <a:lnTo>
                      <a:pt x="74" y="56"/>
                    </a:lnTo>
                    <a:lnTo>
                      <a:pt x="78" y="58"/>
                    </a:lnTo>
                    <a:lnTo>
                      <a:pt x="82" y="60"/>
                    </a:lnTo>
                    <a:lnTo>
                      <a:pt x="82" y="64"/>
                    </a:lnTo>
                    <a:lnTo>
                      <a:pt x="82" y="66"/>
                    </a:lnTo>
                    <a:lnTo>
                      <a:pt x="86" y="66"/>
                    </a:lnTo>
                    <a:lnTo>
                      <a:pt x="88" y="66"/>
                    </a:lnTo>
                    <a:lnTo>
                      <a:pt x="92" y="68"/>
                    </a:lnTo>
                    <a:lnTo>
                      <a:pt x="96" y="72"/>
                    </a:lnTo>
                    <a:lnTo>
                      <a:pt x="98" y="76"/>
                    </a:lnTo>
                    <a:lnTo>
                      <a:pt x="100" y="76"/>
                    </a:lnTo>
                    <a:lnTo>
                      <a:pt x="106" y="76"/>
                    </a:lnTo>
                    <a:lnTo>
                      <a:pt x="108" y="76"/>
                    </a:lnTo>
                    <a:lnTo>
                      <a:pt x="108" y="78"/>
                    </a:lnTo>
                    <a:lnTo>
                      <a:pt x="110" y="82"/>
                    </a:lnTo>
                    <a:lnTo>
                      <a:pt x="108" y="84"/>
                    </a:lnTo>
                    <a:lnTo>
                      <a:pt x="106" y="86"/>
                    </a:lnTo>
                    <a:lnTo>
                      <a:pt x="114" y="88"/>
                    </a:lnTo>
                    <a:lnTo>
                      <a:pt x="114" y="84"/>
                    </a:lnTo>
                    <a:lnTo>
                      <a:pt x="114" y="82"/>
                    </a:lnTo>
                    <a:lnTo>
                      <a:pt x="114" y="80"/>
                    </a:lnTo>
                    <a:lnTo>
                      <a:pt x="116" y="78"/>
                    </a:lnTo>
                    <a:lnTo>
                      <a:pt x="118" y="78"/>
                    </a:lnTo>
                    <a:lnTo>
                      <a:pt x="122" y="78"/>
                    </a:lnTo>
                    <a:lnTo>
                      <a:pt x="128" y="82"/>
                    </a:lnTo>
                    <a:lnTo>
                      <a:pt x="132" y="82"/>
                    </a:lnTo>
                    <a:lnTo>
                      <a:pt x="134" y="82"/>
                    </a:lnTo>
                    <a:lnTo>
                      <a:pt x="138" y="78"/>
                    </a:lnTo>
                    <a:lnTo>
                      <a:pt x="144" y="74"/>
                    </a:lnTo>
                    <a:lnTo>
                      <a:pt x="146" y="74"/>
                    </a:lnTo>
                    <a:lnTo>
                      <a:pt x="146" y="76"/>
                    </a:lnTo>
                    <a:lnTo>
                      <a:pt x="148" y="78"/>
                    </a:lnTo>
                    <a:lnTo>
                      <a:pt x="150" y="78"/>
                    </a:lnTo>
                    <a:lnTo>
                      <a:pt x="152" y="76"/>
                    </a:lnTo>
                    <a:lnTo>
                      <a:pt x="154" y="76"/>
                    </a:lnTo>
                    <a:lnTo>
                      <a:pt x="156" y="76"/>
                    </a:lnTo>
                    <a:lnTo>
                      <a:pt x="160" y="84"/>
                    </a:lnTo>
                    <a:lnTo>
                      <a:pt x="162" y="88"/>
                    </a:lnTo>
                    <a:lnTo>
                      <a:pt x="170" y="90"/>
                    </a:lnTo>
                    <a:lnTo>
                      <a:pt x="176" y="90"/>
                    </a:lnTo>
                    <a:lnTo>
                      <a:pt x="180" y="88"/>
                    </a:lnTo>
                    <a:lnTo>
                      <a:pt x="182" y="86"/>
                    </a:lnTo>
                    <a:lnTo>
                      <a:pt x="182" y="82"/>
                    </a:lnTo>
                    <a:lnTo>
                      <a:pt x="176" y="76"/>
                    </a:lnTo>
                    <a:lnTo>
                      <a:pt x="174" y="76"/>
                    </a:lnTo>
                    <a:lnTo>
                      <a:pt x="168" y="72"/>
                    </a:lnTo>
                    <a:lnTo>
                      <a:pt x="174" y="64"/>
                    </a:lnTo>
                    <a:lnTo>
                      <a:pt x="172" y="60"/>
                    </a:lnTo>
                    <a:lnTo>
                      <a:pt x="166" y="52"/>
                    </a:lnTo>
                    <a:lnTo>
                      <a:pt x="166" y="46"/>
                    </a:lnTo>
                    <a:lnTo>
                      <a:pt x="170" y="40"/>
                    </a:lnTo>
                    <a:lnTo>
                      <a:pt x="170" y="32"/>
                    </a:lnTo>
                    <a:lnTo>
                      <a:pt x="176" y="26"/>
                    </a:lnTo>
                    <a:lnTo>
                      <a:pt x="176" y="18"/>
                    </a:lnTo>
                    <a:lnTo>
                      <a:pt x="174" y="14"/>
                    </a:lnTo>
                    <a:lnTo>
                      <a:pt x="180" y="10"/>
                    </a:lnTo>
                    <a:lnTo>
                      <a:pt x="188" y="14"/>
                    </a:lnTo>
                    <a:lnTo>
                      <a:pt x="196" y="16"/>
                    </a:lnTo>
                    <a:lnTo>
                      <a:pt x="202" y="18"/>
                    </a:lnTo>
                    <a:lnTo>
                      <a:pt x="212" y="16"/>
                    </a:lnTo>
                    <a:lnTo>
                      <a:pt x="222" y="12"/>
                    </a:lnTo>
                    <a:lnTo>
                      <a:pt x="234" y="14"/>
                    </a:lnTo>
                    <a:lnTo>
                      <a:pt x="248" y="10"/>
                    </a:lnTo>
                    <a:lnTo>
                      <a:pt x="252" y="10"/>
                    </a:lnTo>
                    <a:lnTo>
                      <a:pt x="264" y="4"/>
                    </a:lnTo>
                    <a:lnTo>
                      <a:pt x="272" y="2"/>
                    </a:lnTo>
                    <a:lnTo>
                      <a:pt x="278" y="0"/>
                    </a:lnTo>
                    <a:lnTo>
                      <a:pt x="280" y="4"/>
                    </a:lnTo>
                    <a:lnTo>
                      <a:pt x="286" y="6"/>
                    </a:lnTo>
                    <a:lnTo>
                      <a:pt x="286" y="8"/>
                    </a:lnTo>
                    <a:lnTo>
                      <a:pt x="284" y="14"/>
                    </a:lnTo>
                    <a:lnTo>
                      <a:pt x="288" y="16"/>
                    </a:lnTo>
                    <a:lnTo>
                      <a:pt x="294" y="22"/>
                    </a:lnTo>
                    <a:lnTo>
                      <a:pt x="300" y="20"/>
                    </a:lnTo>
                    <a:lnTo>
                      <a:pt x="306" y="12"/>
                    </a:lnTo>
                    <a:lnTo>
                      <a:pt x="314" y="18"/>
                    </a:lnTo>
                    <a:lnTo>
                      <a:pt x="316" y="20"/>
                    </a:lnTo>
                    <a:lnTo>
                      <a:pt x="322" y="18"/>
                    </a:lnTo>
                    <a:lnTo>
                      <a:pt x="324" y="18"/>
                    </a:lnTo>
                    <a:lnTo>
                      <a:pt x="324" y="20"/>
                    </a:lnTo>
                    <a:lnTo>
                      <a:pt x="324" y="24"/>
                    </a:lnTo>
                    <a:lnTo>
                      <a:pt x="324" y="26"/>
                    </a:lnTo>
                    <a:lnTo>
                      <a:pt x="336" y="26"/>
                    </a:lnTo>
                    <a:lnTo>
                      <a:pt x="346" y="22"/>
                    </a:lnTo>
                    <a:lnTo>
                      <a:pt x="360" y="16"/>
                    </a:lnTo>
                    <a:lnTo>
                      <a:pt x="370" y="12"/>
                    </a:lnTo>
                    <a:lnTo>
                      <a:pt x="382" y="10"/>
                    </a:lnTo>
                    <a:lnTo>
                      <a:pt x="384" y="12"/>
                    </a:lnTo>
                    <a:lnTo>
                      <a:pt x="382" y="18"/>
                    </a:lnTo>
                    <a:lnTo>
                      <a:pt x="390" y="34"/>
                    </a:lnTo>
                    <a:lnTo>
                      <a:pt x="400" y="56"/>
                    </a:lnTo>
                    <a:lnTo>
                      <a:pt x="406" y="70"/>
                    </a:lnTo>
                    <a:lnTo>
                      <a:pt x="410" y="74"/>
                    </a:lnTo>
                    <a:lnTo>
                      <a:pt x="412" y="78"/>
                    </a:lnTo>
                    <a:lnTo>
                      <a:pt x="416" y="80"/>
                    </a:lnTo>
                    <a:lnTo>
                      <a:pt x="424" y="78"/>
                    </a:lnTo>
                    <a:lnTo>
                      <a:pt x="428" y="76"/>
                    </a:lnTo>
                    <a:lnTo>
                      <a:pt x="442" y="76"/>
                    </a:lnTo>
                    <a:lnTo>
                      <a:pt x="446" y="78"/>
                    </a:lnTo>
                    <a:lnTo>
                      <a:pt x="448" y="82"/>
                    </a:lnTo>
                    <a:lnTo>
                      <a:pt x="454" y="88"/>
                    </a:lnTo>
                    <a:lnTo>
                      <a:pt x="456" y="96"/>
                    </a:lnTo>
                    <a:lnTo>
                      <a:pt x="458" y="106"/>
                    </a:lnTo>
                    <a:lnTo>
                      <a:pt x="462" y="110"/>
                    </a:lnTo>
                    <a:lnTo>
                      <a:pt x="468" y="114"/>
                    </a:lnTo>
                    <a:lnTo>
                      <a:pt x="478" y="112"/>
                    </a:lnTo>
                    <a:lnTo>
                      <a:pt x="494" y="104"/>
                    </a:lnTo>
                    <a:lnTo>
                      <a:pt x="504" y="102"/>
                    </a:lnTo>
                    <a:lnTo>
                      <a:pt x="510" y="102"/>
                    </a:lnTo>
                    <a:lnTo>
                      <a:pt x="512" y="110"/>
                    </a:lnTo>
                    <a:lnTo>
                      <a:pt x="518" y="114"/>
                    </a:lnTo>
                    <a:lnTo>
                      <a:pt x="520" y="118"/>
                    </a:lnTo>
                    <a:lnTo>
                      <a:pt x="530" y="120"/>
                    </a:lnTo>
                    <a:lnTo>
                      <a:pt x="530" y="12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41" name="Freeform 527">
                <a:extLst>
                  <a:ext uri="{FF2B5EF4-FFF2-40B4-BE49-F238E27FC236}">
                    <a16:creationId xmlns:a16="http://schemas.microsoft.com/office/drawing/2014/main" id="{715B7522-6B95-D51B-32E0-BFA68A3B5CBE}"/>
                  </a:ext>
                </a:extLst>
              </p:cNvPr>
              <p:cNvSpPr>
                <a:spLocks noEditPoints="1"/>
              </p:cNvSpPr>
              <p:nvPr/>
            </p:nvSpPr>
            <p:spPr bwMode="auto">
              <a:xfrm>
                <a:off x="4708559" y="3339599"/>
                <a:ext cx="50562" cy="76855"/>
              </a:xfrm>
              <a:custGeom>
                <a:avLst/>
                <a:gdLst/>
                <a:ahLst/>
                <a:cxnLst>
                  <a:cxn ang="0">
                    <a:pos x="44" y="6"/>
                  </a:cxn>
                  <a:cxn ang="0">
                    <a:pos x="42" y="2"/>
                  </a:cxn>
                  <a:cxn ang="0">
                    <a:pos x="40" y="4"/>
                  </a:cxn>
                  <a:cxn ang="0">
                    <a:pos x="36" y="6"/>
                  </a:cxn>
                  <a:cxn ang="0">
                    <a:pos x="32" y="4"/>
                  </a:cxn>
                  <a:cxn ang="0">
                    <a:pos x="28" y="10"/>
                  </a:cxn>
                  <a:cxn ang="0">
                    <a:pos x="28" y="12"/>
                  </a:cxn>
                  <a:cxn ang="0">
                    <a:pos x="26" y="16"/>
                  </a:cxn>
                  <a:cxn ang="0">
                    <a:pos x="22" y="20"/>
                  </a:cxn>
                  <a:cxn ang="0">
                    <a:pos x="20" y="24"/>
                  </a:cxn>
                  <a:cxn ang="0">
                    <a:pos x="12" y="24"/>
                  </a:cxn>
                  <a:cxn ang="0">
                    <a:pos x="8" y="20"/>
                  </a:cxn>
                  <a:cxn ang="0">
                    <a:pos x="6" y="24"/>
                  </a:cxn>
                  <a:cxn ang="0">
                    <a:pos x="10" y="30"/>
                  </a:cxn>
                  <a:cxn ang="0">
                    <a:pos x="6" y="32"/>
                  </a:cxn>
                  <a:cxn ang="0">
                    <a:pos x="4" y="36"/>
                  </a:cxn>
                  <a:cxn ang="0">
                    <a:pos x="2" y="42"/>
                  </a:cxn>
                  <a:cxn ang="0">
                    <a:pos x="16" y="44"/>
                  </a:cxn>
                  <a:cxn ang="0">
                    <a:pos x="16" y="42"/>
                  </a:cxn>
                  <a:cxn ang="0">
                    <a:pos x="12" y="48"/>
                  </a:cxn>
                  <a:cxn ang="0">
                    <a:pos x="10" y="54"/>
                  </a:cxn>
                  <a:cxn ang="0">
                    <a:pos x="6" y="58"/>
                  </a:cxn>
                  <a:cxn ang="0">
                    <a:pos x="4" y="62"/>
                  </a:cxn>
                  <a:cxn ang="0">
                    <a:pos x="2" y="66"/>
                  </a:cxn>
                  <a:cxn ang="0">
                    <a:pos x="0" y="70"/>
                  </a:cxn>
                  <a:cxn ang="0">
                    <a:pos x="2" y="74"/>
                  </a:cxn>
                  <a:cxn ang="0">
                    <a:pos x="2" y="76"/>
                  </a:cxn>
                  <a:cxn ang="0">
                    <a:pos x="6" y="76"/>
                  </a:cxn>
                  <a:cxn ang="0">
                    <a:pos x="4" y="80"/>
                  </a:cxn>
                  <a:cxn ang="0">
                    <a:pos x="14" y="76"/>
                  </a:cxn>
                  <a:cxn ang="0">
                    <a:pos x="18" y="80"/>
                  </a:cxn>
                  <a:cxn ang="0">
                    <a:pos x="24" y="76"/>
                  </a:cxn>
                  <a:cxn ang="0">
                    <a:pos x="26" y="74"/>
                  </a:cxn>
                  <a:cxn ang="0">
                    <a:pos x="30" y="72"/>
                  </a:cxn>
                  <a:cxn ang="0">
                    <a:pos x="34" y="70"/>
                  </a:cxn>
                  <a:cxn ang="0">
                    <a:pos x="36" y="66"/>
                  </a:cxn>
                  <a:cxn ang="0">
                    <a:pos x="42" y="64"/>
                  </a:cxn>
                  <a:cxn ang="0">
                    <a:pos x="44" y="62"/>
                  </a:cxn>
                  <a:cxn ang="0">
                    <a:pos x="46" y="62"/>
                  </a:cxn>
                  <a:cxn ang="0">
                    <a:pos x="46" y="58"/>
                  </a:cxn>
                  <a:cxn ang="0">
                    <a:pos x="50" y="46"/>
                  </a:cxn>
                  <a:cxn ang="0">
                    <a:pos x="48" y="42"/>
                  </a:cxn>
                  <a:cxn ang="0">
                    <a:pos x="48" y="34"/>
                  </a:cxn>
                  <a:cxn ang="0">
                    <a:pos x="48" y="28"/>
                  </a:cxn>
                  <a:cxn ang="0">
                    <a:pos x="50" y="26"/>
                  </a:cxn>
                  <a:cxn ang="0">
                    <a:pos x="42" y="24"/>
                  </a:cxn>
                  <a:cxn ang="0">
                    <a:pos x="36" y="26"/>
                  </a:cxn>
                  <a:cxn ang="0">
                    <a:pos x="36" y="24"/>
                  </a:cxn>
                  <a:cxn ang="0">
                    <a:pos x="32" y="22"/>
                  </a:cxn>
                  <a:cxn ang="0">
                    <a:pos x="32" y="18"/>
                  </a:cxn>
                  <a:cxn ang="0">
                    <a:pos x="36" y="16"/>
                  </a:cxn>
                  <a:cxn ang="0">
                    <a:pos x="38" y="10"/>
                  </a:cxn>
                  <a:cxn ang="0">
                    <a:pos x="44" y="6"/>
                  </a:cxn>
                  <a:cxn ang="0">
                    <a:pos x="16" y="54"/>
                  </a:cxn>
                  <a:cxn ang="0">
                    <a:pos x="16" y="56"/>
                  </a:cxn>
                  <a:cxn ang="0">
                    <a:pos x="12" y="58"/>
                  </a:cxn>
                  <a:cxn ang="0">
                    <a:pos x="16" y="54"/>
                  </a:cxn>
                </a:cxnLst>
                <a:rect l="0" t="0" r="r" b="b"/>
                <a:pathLst>
                  <a:path w="52" h="80">
                    <a:moveTo>
                      <a:pt x="44" y="6"/>
                    </a:moveTo>
                    <a:lnTo>
                      <a:pt x="44" y="6"/>
                    </a:lnTo>
                    <a:lnTo>
                      <a:pt x="44" y="4"/>
                    </a:lnTo>
                    <a:lnTo>
                      <a:pt x="42" y="2"/>
                    </a:lnTo>
                    <a:lnTo>
                      <a:pt x="40" y="0"/>
                    </a:lnTo>
                    <a:lnTo>
                      <a:pt x="40" y="4"/>
                    </a:lnTo>
                    <a:lnTo>
                      <a:pt x="38" y="6"/>
                    </a:lnTo>
                    <a:lnTo>
                      <a:pt x="36" y="6"/>
                    </a:lnTo>
                    <a:lnTo>
                      <a:pt x="36" y="4"/>
                    </a:lnTo>
                    <a:lnTo>
                      <a:pt x="32" y="4"/>
                    </a:lnTo>
                    <a:lnTo>
                      <a:pt x="28" y="4"/>
                    </a:lnTo>
                    <a:lnTo>
                      <a:pt x="28" y="10"/>
                    </a:lnTo>
                    <a:lnTo>
                      <a:pt x="24" y="10"/>
                    </a:lnTo>
                    <a:lnTo>
                      <a:pt x="28" y="12"/>
                    </a:lnTo>
                    <a:lnTo>
                      <a:pt x="28" y="16"/>
                    </a:lnTo>
                    <a:lnTo>
                      <a:pt x="26" y="16"/>
                    </a:lnTo>
                    <a:lnTo>
                      <a:pt x="22" y="18"/>
                    </a:lnTo>
                    <a:lnTo>
                      <a:pt x="22" y="20"/>
                    </a:lnTo>
                    <a:lnTo>
                      <a:pt x="22" y="24"/>
                    </a:lnTo>
                    <a:lnTo>
                      <a:pt x="20" y="24"/>
                    </a:lnTo>
                    <a:lnTo>
                      <a:pt x="14" y="22"/>
                    </a:lnTo>
                    <a:lnTo>
                      <a:pt x="12" y="24"/>
                    </a:lnTo>
                    <a:lnTo>
                      <a:pt x="10" y="24"/>
                    </a:lnTo>
                    <a:lnTo>
                      <a:pt x="8" y="20"/>
                    </a:lnTo>
                    <a:lnTo>
                      <a:pt x="6" y="20"/>
                    </a:lnTo>
                    <a:lnTo>
                      <a:pt x="6" y="24"/>
                    </a:lnTo>
                    <a:lnTo>
                      <a:pt x="12" y="28"/>
                    </a:lnTo>
                    <a:lnTo>
                      <a:pt x="10" y="30"/>
                    </a:lnTo>
                    <a:lnTo>
                      <a:pt x="10" y="32"/>
                    </a:lnTo>
                    <a:lnTo>
                      <a:pt x="6" y="32"/>
                    </a:lnTo>
                    <a:lnTo>
                      <a:pt x="2" y="32"/>
                    </a:lnTo>
                    <a:lnTo>
                      <a:pt x="4" y="36"/>
                    </a:lnTo>
                    <a:lnTo>
                      <a:pt x="2" y="36"/>
                    </a:lnTo>
                    <a:lnTo>
                      <a:pt x="2" y="42"/>
                    </a:lnTo>
                    <a:lnTo>
                      <a:pt x="8" y="42"/>
                    </a:lnTo>
                    <a:lnTo>
                      <a:pt x="16" y="44"/>
                    </a:lnTo>
                    <a:lnTo>
                      <a:pt x="16" y="40"/>
                    </a:lnTo>
                    <a:lnTo>
                      <a:pt x="16" y="42"/>
                    </a:lnTo>
                    <a:lnTo>
                      <a:pt x="16" y="44"/>
                    </a:lnTo>
                    <a:lnTo>
                      <a:pt x="12" y="48"/>
                    </a:lnTo>
                    <a:lnTo>
                      <a:pt x="12" y="52"/>
                    </a:lnTo>
                    <a:lnTo>
                      <a:pt x="10" y="54"/>
                    </a:lnTo>
                    <a:lnTo>
                      <a:pt x="6" y="56"/>
                    </a:lnTo>
                    <a:lnTo>
                      <a:pt x="6" y="58"/>
                    </a:lnTo>
                    <a:lnTo>
                      <a:pt x="10" y="60"/>
                    </a:lnTo>
                    <a:lnTo>
                      <a:pt x="4" y="62"/>
                    </a:lnTo>
                    <a:lnTo>
                      <a:pt x="6" y="66"/>
                    </a:lnTo>
                    <a:lnTo>
                      <a:pt x="2" y="66"/>
                    </a:lnTo>
                    <a:lnTo>
                      <a:pt x="0" y="66"/>
                    </a:lnTo>
                    <a:lnTo>
                      <a:pt x="0" y="70"/>
                    </a:lnTo>
                    <a:lnTo>
                      <a:pt x="2" y="70"/>
                    </a:lnTo>
                    <a:lnTo>
                      <a:pt x="2" y="74"/>
                    </a:lnTo>
                    <a:lnTo>
                      <a:pt x="0" y="76"/>
                    </a:lnTo>
                    <a:lnTo>
                      <a:pt x="2" y="76"/>
                    </a:lnTo>
                    <a:lnTo>
                      <a:pt x="8" y="76"/>
                    </a:lnTo>
                    <a:lnTo>
                      <a:pt x="6" y="76"/>
                    </a:lnTo>
                    <a:lnTo>
                      <a:pt x="4" y="78"/>
                    </a:lnTo>
                    <a:lnTo>
                      <a:pt x="4" y="80"/>
                    </a:lnTo>
                    <a:lnTo>
                      <a:pt x="6" y="80"/>
                    </a:lnTo>
                    <a:lnTo>
                      <a:pt x="14" y="76"/>
                    </a:lnTo>
                    <a:lnTo>
                      <a:pt x="14" y="78"/>
                    </a:lnTo>
                    <a:lnTo>
                      <a:pt x="18" y="80"/>
                    </a:lnTo>
                    <a:lnTo>
                      <a:pt x="22" y="76"/>
                    </a:lnTo>
                    <a:lnTo>
                      <a:pt x="24" y="76"/>
                    </a:lnTo>
                    <a:lnTo>
                      <a:pt x="26" y="76"/>
                    </a:lnTo>
                    <a:lnTo>
                      <a:pt x="26" y="74"/>
                    </a:lnTo>
                    <a:lnTo>
                      <a:pt x="26" y="72"/>
                    </a:lnTo>
                    <a:lnTo>
                      <a:pt x="30" y="72"/>
                    </a:lnTo>
                    <a:lnTo>
                      <a:pt x="32" y="74"/>
                    </a:lnTo>
                    <a:lnTo>
                      <a:pt x="34" y="70"/>
                    </a:lnTo>
                    <a:lnTo>
                      <a:pt x="36" y="70"/>
                    </a:lnTo>
                    <a:lnTo>
                      <a:pt x="36" y="66"/>
                    </a:lnTo>
                    <a:lnTo>
                      <a:pt x="42" y="66"/>
                    </a:lnTo>
                    <a:lnTo>
                      <a:pt x="42" y="64"/>
                    </a:lnTo>
                    <a:lnTo>
                      <a:pt x="42" y="62"/>
                    </a:lnTo>
                    <a:lnTo>
                      <a:pt x="44" y="62"/>
                    </a:lnTo>
                    <a:lnTo>
                      <a:pt x="48" y="64"/>
                    </a:lnTo>
                    <a:lnTo>
                      <a:pt x="46" y="62"/>
                    </a:lnTo>
                    <a:lnTo>
                      <a:pt x="46" y="60"/>
                    </a:lnTo>
                    <a:lnTo>
                      <a:pt x="46" y="58"/>
                    </a:lnTo>
                    <a:lnTo>
                      <a:pt x="50" y="58"/>
                    </a:lnTo>
                    <a:lnTo>
                      <a:pt x="50" y="46"/>
                    </a:lnTo>
                    <a:lnTo>
                      <a:pt x="48" y="46"/>
                    </a:lnTo>
                    <a:lnTo>
                      <a:pt x="48" y="42"/>
                    </a:lnTo>
                    <a:lnTo>
                      <a:pt x="46" y="42"/>
                    </a:lnTo>
                    <a:lnTo>
                      <a:pt x="48" y="34"/>
                    </a:lnTo>
                    <a:lnTo>
                      <a:pt x="48" y="32"/>
                    </a:lnTo>
                    <a:lnTo>
                      <a:pt x="48" y="28"/>
                    </a:lnTo>
                    <a:lnTo>
                      <a:pt x="52" y="26"/>
                    </a:lnTo>
                    <a:lnTo>
                      <a:pt x="50" y="26"/>
                    </a:lnTo>
                    <a:lnTo>
                      <a:pt x="46" y="26"/>
                    </a:lnTo>
                    <a:lnTo>
                      <a:pt x="42" y="24"/>
                    </a:lnTo>
                    <a:lnTo>
                      <a:pt x="38" y="26"/>
                    </a:lnTo>
                    <a:lnTo>
                      <a:pt x="36" y="26"/>
                    </a:lnTo>
                    <a:lnTo>
                      <a:pt x="36" y="24"/>
                    </a:lnTo>
                    <a:lnTo>
                      <a:pt x="36" y="24"/>
                    </a:lnTo>
                    <a:lnTo>
                      <a:pt x="34" y="22"/>
                    </a:lnTo>
                    <a:lnTo>
                      <a:pt x="32" y="22"/>
                    </a:lnTo>
                    <a:lnTo>
                      <a:pt x="32" y="20"/>
                    </a:lnTo>
                    <a:lnTo>
                      <a:pt x="32" y="18"/>
                    </a:lnTo>
                    <a:lnTo>
                      <a:pt x="34" y="18"/>
                    </a:lnTo>
                    <a:lnTo>
                      <a:pt x="36" y="16"/>
                    </a:lnTo>
                    <a:lnTo>
                      <a:pt x="36" y="14"/>
                    </a:lnTo>
                    <a:lnTo>
                      <a:pt x="38" y="10"/>
                    </a:lnTo>
                    <a:lnTo>
                      <a:pt x="40" y="8"/>
                    </a:lnTo>
                    <a:lnTo>
                      <a:pt x="44" y="6"/>
                    </a:lnTo>
                    <a:lnTo>
                      <a:pt x="44" y="6"/>
                    </a:lnTo>
                    <a:close/>
                    <a:moveTo>
                      <a:pt x="16" y="54"/>
                    </a:moveTo>
                    <a:lnTo>
                      <a:pt x="16" y="54"/>
                    </a:lnTo>
                    <a:lnTo>
                      <a:pt x="16" y="56"/>
                    </a:lnTo>
                    <a:lnTo>
                      <a:pt x="14" y="58"/>
                    </a:lnTo>
                    <a:lnTo>
                      <a:pt x="12" y="58"/>
                    </a:lnTo>
                    <a:lnTo>
                      <a:pt x="16" y="54"/>
                    </a:lnTo>
                    <a:lnTo>
                      <a:pt x="16" y="5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42" name="Freeform 528">
                <a:extLst>
                  <a:ext uri="{FF2B5EF4-FFF2-40B4-BE49-F238E27FC236}">
                    <a16:creationId xmlns:a16="http://schemas.microsoft.com/office/drawing/2014/main" id="{227E0FA4-AD1B-805C-8E19-3B9A47B8533F}"/>
                  </a:ext>
                </a:extLst>
              </p:cNvPr>
              <p:cNvSpPr>
                <a:spLocks/>
              </p:cNvSpPr>
              <p:nvPr/>
            </p:nvSpPr>
            <p:spPr bwMode="auto">
              <a:xfrm>
                <a:off x="4906918" y="3349205"/>
                <a:ext cx="114737" cy="144103"/>
              </a:xfrm>
              <a:custGeom>
                <a:avLst/>
                <a:gdLst/>
                <a:ahLst/>
                <a:cxnLst>
                  <a:cxn ang="0">
                    <a:pos x="110" y="18"/>
                  </a:cxn>
                  <a:cxn ang="0">
                    <a:pos x="104" y="16"/>
                  </a:cxn>
                  <a:cxn ang="0">
                    <a:pos x="88" y="16"/>
                  </a:cxn>
                  <a:cxn ang="0">
                    <a:pos x="80" y="20"/>
                  </a:cxn>
                  <a:cxn ang="0">
                    <a:pos x="72" y="22"/>
                  </a:cxn>
                  <a:cxn ang="0">
                    <a:pos x="64" y="18"/>
                  </a:cxn>
                  <a:cxn ang="0">
                    <a:pos x="56" y="4"/>
                  </a:cxn>
                  <a:cxn ang="0">
                    <a:pos x="62" y="0"/>
                  </a:cxn>
                  <a:cxn ang="0">
                    <a:pos x="54" y="2"/>
                  </a:cxn>
                  <a:cxn ang="0">
                    <a:pos x="40" y="4"/>
                  </a:cxn>
                  <a:cxn ang="0">
                    <a:pos x="44" y="16"/>
                  </a:cxn>
                  <a:cxn ang="0">
                    <a:pos x="48" y="26"/>
                  </a:cxn>
                  <a:cxn ang="0">
                    <a:pos x="38" y="36"/>
                  </a:cxn>
                  <a:cxn ang="0">
                    <a:pos x="26" y="36"/>
                  </a:cxn>
                  <a:cxn ang="0">
                    <a:pos x="28" y="44"/>
                  </a:cxn>
                  <a:cxn ang="0">
                    <a:pos x="24" y="54"/>
                  </a:cxn>
                  <a:cxn ang="0">
                    <a:pos x="24" y="58"/>
                  </a:cxn>
                  <a:cxn ang="0">
                    <a:pos x="18" y="62"/>
                  </a:cxn>
                  <a:cxn ang="0">
                    <a:pos x="8" y="62"/>
                  </a:cxn>
                  <a:cxn ang="0">
                    <a:pos x="0" y="80"/>
                  </a:cxn>
                  <a:cxn ang="0">
                    <a:pos x="4" y="84"/>
                  </a:cxn>
                  <a:cxn ang="0">
                    <a:pos x="6" y="90"/>
                  </a:cxn>
                  <a:cxn ang="0">
                    <a:pos x="6" y="98"/>
                  </a:cxn>
                  <a:cxn ang="0">
                    <a:pos x="10" y="106"/>
                  </a:cxn>
                  <a:cxn ang="0">
                    <a:pos x="10" y="114"/>
                  </a:cxn>
                  <a:cxn ang="0">
                    <a:pos x="20" y="114"/>
                  </a:cxn>
                  <a:cxn ang="0">
                    <a:pos x="28" y="116"/>
                  </a:cxn>
                  <a:cxn ang="0">
                    <a:pos x="34" y="124"/>
                  </a:cxn>
                  <a:cxn ang="0">
                    <a:pos x="32" y="138"/>
                  </a:cxn>
                  <a:cxn ang="0">
                    <a:pos x="38" y="142"/>
                  </a:cxn>
                  <a:cxn ang="0">
                    <a:pos x="44" y="140"/>
                  </a:cxn>
                  <a:cxn ang="0">
                    <a:pos x="62" y="146"/>
                  </a:cxn>
                  <a:cxn ang="0">
                    <a:pos x="72" y="144"/>
                  </a:cxn>
                  <a:cxn ang="0">
                    <a:pos x="80" y="138"/>
                  </a:cxn>
                  <a:cxn ang="0">
                    <a:pos x="88" y="140"/>
                  </a:cxn>
                  <a:cxn ang="0">
                    <a:pos x="96" y="144"/>
                  </a:cxn>
                  <a:cxn ang="0">
                    <a:pos x="94" y="134"/>
                  </a:cxn>
                  <a:cxn ang="0">
                    <a:pos x="96" y="130"/>
                  </a:cxn>
                  <a:cxn ang="0">
                    <a:pos x="102" y="122"/>
                  </a:cxn>
                  <a:cxn ang="0">
                    <a:pos x="102" y="116"/>
                  </a:cxn>
                  <a:cxn ang="0">
                    <a:pos x="96" y="114"/>
                  </a:cxn>
                  <a:cxn ang="0">
                    <a:pos x="92" y="102"/>
                  </a:cxn>
                  <a:cxn ang="0">
                    <a:pos x="86" y="90"/>
                  </a:cxn>
                  <a:cxn ang="0">
                    <a:pos x="96" y="86"/>
                  </a:cxn>
                  <a:cxn ang="0">
                    <a:pos x="112" y="74"/>
                  </a:cxn>
                  <a:cxn ang="0">
                    <a:pos x="116" y="58"/>
                  </a:cxn>
                  <a:cxn ang="0">
                    <a:pos x="114" y="42"/>
                  </a:cxn>
                  <a:cxn ang="0">
                    <a:pos x="114" y="26"/>
                  </a:cxn>
                </a:cxnLst>
                <a:rect l="0" t="0" r="r" b="b"/>
                <a:pathLst>
                  <a:path w="118" h="150">
                    <a:moveTo>
                      <a:pt x="114" y="20"/>
                    </a:moveTo>
                    <a:lnTo>
                      <a:pt x="114" y="20"/>
                    </a:lnTo>
                    <a:lnTo>
                      <a:pt x="110" y="18"/>
                    </a:lnTo>
                    <a:lnTo>
                      <a:pt x="110" y="16"/>
                    </a:lnTo>
                    <a:lnTo>
                      <a:pt x="106" y="16"/>
                    </a:lnTo>
                    <a:lnTo>
                      <a:pt x="104" y="16"/>
                    </a:lnTo>
                    <a:lnTo>
                      <a:pt x="98" y="14"/>
                    </a:lnTo>
                    <a:lnTo>
                      <a:pt x="90" y="12"/>
                    </a:lnTo>
                    <a:lnTo>
                      <a:pt x="88" y="16"/>
                    </a:lnTo>
                    <a:lnTo>
                      <a:pt x="86" y="20"/>
                    </a:lnTo>
                    <a:lnTo>
                      <a:pt x="84" y="20"/>
                    </a:lnTo>
                    <a:lnTo>
                      <a:pt x="80" y="20"/>
                    </a:lnTo>
                    <a:lnTo>
                      <a:pt x="80" y="22"/>
                    </a:lnTo>
                    <a:lnTo>
                      <a:pt x="80" y="24"/>
                    </a:lnTo>
                    <a:lnTo>
                      <a:pt x="72" y="22"/>
                    </a:lnTo>
                    <a:lnTo>
                      <a:pt x="72" y="18"/>
                    </a:lnTo>
                    <a:lnTo>
                      <a:pt x="70" y="16"/>
                    </a:lnTo>
                    <a:lnTo>
                      <a:pt x="64" y="18"/>
                    </a:lnTo>
                    <a:lnTo>
                      <a:pt x="60" y="10"/>
                    </a:lnTo>
                    <a:lnTo>
                      <a:pt x="60" y="6"/>
                    </a:lnTo>
                    <a:lnTo>
                      <a:pt x="56" y="4"/>
                    </a:lnTo>
                    <a:lnTo>
                      <a:pt x="58" y="2"/>
                    </a:lnTo>
                    <a:lnTo>
                      <a:pt x="62" y="2"/>
                    </a:lnTo>
                    <a:lnTo>
                      <a:pt x="62" y="0"/>
                    </a:lnTo>
                    <a:lnTo>
                      <a:pt x="60" y="0"/>
                    </a:lnTo>
                    <a:lnTo>
                      <a:pt x="58" y="2"/>
                    </a:lnTo>
                    <a:lnTo>
                      <a:pt x="54" y="2"/>
                    </a:lnTo>
                    <a:lnTo>
                      <a:pt x="54" y="0"/>
                    </a:lnTo>
                    <a:lnTo>
                      <a:pt x="42" y="0"/>
                    </a:lnTo>
                    <a:lnTo>
                      <a:pt x="40" y="4"/>
                    </a:lnTo>
                    <a:lnTo>
                      <a:pt x="42" y="4"/>
                    </a:lnTo>
                    <a:lnTo>
                      <a:pt x="44" y="10"/>
                    </a:lnTo>
                    <a:lnTo>
                      <a:pt x="44" y="16"/>
                    </a:lnTo>
                    <a:lnTo>
                      <a:pt x="44" y="18"/>
                    </a:lnTo>
                    <a:lnTo>
                      <a:pt x="44" y="22"/>
                    </a:lnTo>
                    <a:lnTo>
                      <a:pt x="48" y="26"/>
                    </a:lnTo>
                    <a:lnTo>
                      <a:pt x="42" y="26"/>
                    </a:lnTo>
                    <a:lnTo>
                      <a:pt x="40" y="32"/>
                    </a:lnTo>
                    <a:lnTo>
                      <a:pt x="38" y="36"/>
                    </a:lnTo>
                    <a:lnTo>
                      <a:pt x="36" y="32"/>
                    </a:lnTo>
                    <a:lnTo>
                      <a:pt x="30" y="34"/>
                    </a:lnTo>
                    <a:lnTo>
                      <a:pt x="26" y="36"/>
                    </a:lnTo>
                    <a:lnTo>
                      <a:pt x="26" y="38"/>
                    </a:lnTo>
                    <a:lnTo>
                      <a:pt x="30" y="44"/>
                    </a:lnTo>
                    <a:lnTo>
                      <a:pt x="28" y="44"/>
                    </a:lnTo>
                    <a:lnTo>
                      <a:pt x="28" y="50"/>
                    </a:lnTo>
                    <a:lnTo>
                      <a:pt x="26" y="52"/>
                    </a:lnTo>
                    <a:lnTo>
                      <a:pt x="24" y="54"/>
                    </a:lnTo>
                    <a:lnTo>
                      <a:pt x="22" y="54"/>
                    </a:lnTo>
                    <a:lnTo>
                      <a:pt x="24" y="58"/>
                    </a:lnTo>
                    <a:lnTo>
                      <a:pt x="24" y="58"/>
                    </a:lnTo>
                    <a:lnTo>
                      <a:pt x="22" y="58"/>
                    </a:lnTo>
                    <a:lnTo>
                      <a:pt x="18" y="62"/>
                    </a:lnTo>
                    <a:lnTo>
                      <a:pt x="18" y="62"/>
                    </a:lnTo>
                    <a:lnTo>
                      <a:pt x="16" y="64"/>
                    </a:lnTo>
                    <a:lnTo>
                      <a:pt x="12" y="62"/>
                    </a:lnTo>
                    <a:lnTo>
                      <a:pt x="8" y="62"/>
                    </a:lnTo>
                    <a:lnTo>
                      <a:pt x="6" y="62"/>
                    </a:lnTo>
                    <a:lnTo>
                      <a:pt x="4" y="66"/>
                    </a:lnTo>
                    <a:lnTo>
                      <a:pt x="0" y="80"/>
                    </a:lnTo>
                    <a:lnTo>
                      <a:pt x="2" y="82"/>
                    </a:lnTo>
                    <a:lnTo>
                      <a:pt x="6" y="84"/>
                    </a:lnTo>
                    <a:lnTo>
                      <a:pt x="4" y="84"/>
                    </a:lnTo>
                    <a:lnTo>
                      <a:pt x="4" y="86"/>
                    </a:lnTo>
                    <a:lnTo>
                      <a:pt x="4" y="88"/>
                    </a:lnTo>
                    <a:lnTo>
                      <a:pt x="6" y="90"/>
                    </a:lnTo>
                    <a:lnTo>
                      <a:pt x="6" y="92"/>
                    </a:lnTo>
                    <a:lnTo>
                      <a:pt x="6" y="96"/>
                    </a:lnTo>
                    <a:lnTo>
                      <a:pt x="6" y="98"/>
                    </a:lnTo>
                    <a:lnTo>
                      <a:pt x="8" y="100"/>
                    </a:lnTo>
                    <a:lnTo>
                      <a:pt x="10" y="102"/>
                    </a:lnTo>
                    <a:lnTo>
                      <a:pt x="10" y="106"/>
                    </a:lnTo>
                    <a:lnTo>
                      <a:pt x="8" y="108"/>
                    </a:lnTo>
                    <a:lnTo>
                      <a:pt x="8" y="112"/>
                    </a:lnTo>
                    <a:lnTo>
                      <a:pt x="10" y="114"/>
                    </a:lnTo>
                    <a:lnTo>
                      <a:pt x="14" y="112"/>
                    </a:lnTo>
                    <a:lnTo>
                      <a:pt x="18" y="112"/>
                    </a:lnTo>
                    <a:lnTo>
                      <a:pt x="20" y="114"/>
                    </a:lnTo>
                    <a:lnTo>
                      <a:pt x="22" y="116"/>
                    </a:lnTo>
                    <a:lnTo>
                      <a:pt x="24" y="118"/>
                    </a:lnTo>
                    <a:lnTo>
                      <a:pt x="28" y="116"/>
                    </a:lnTo>
                    <a:lnTo>
                      <a:pt x="34" y="118"/>
                    </a:lnTo>
                    <a:lnTo>
                      <a:pt x="34" y="118"/>
                    </a:lnTo>
                    <a:lnTo>
                      <a:pt x="34" y="124"/>
                    </a:lnTo>
                    <a:lnTo>
                      <a:pt x="32" y="128"/>
                    </a:lnTo>
                    <a:lnTo>
                      <a:pt x="32" y="132"/>
                    </a:lnTo>
                    <a:lnTo>
                      <a:pt x="32" y="138"/>
                    </a:lnTo>
                    <a:lnTo>
                      <a:pt x="32" y="142"/>
                    </a:lnTo>
                    <a:lnTo>
                      <a:pt x="34" y="146"/>
                    </a:lnTo>
                    <a:lnTo>
                      <a:pt x="38" y="142"/>
                    </a:lnTo>
                    <a:lnTo>
                      <a:pt x="40" y="140"/>
                    </a:lnTo>
                    <a:lnTo>
                      <a:pt x="42" y="140"/>
                    </a:lnTo>
                    <a:lnTo>
                      <a:pt x="44" y="140"/>
                    </a:lnTo>
                    <a:lnTo>
                      <a:pt x="48" y="142"/>
                    </a:lnTo>
                    <a:lnTo>
                      <a:pt x="60" y="150"/>
                    </a:lnTo>
                    <a:lnTo>
                      <a:pt x="62" y="146"/>
                    </a:lnTo>
                    <a:lnTo>
                      <a:pt x="66" y="144"/>
                    </a:lnTo>
                    <a:lnTo>
                      <a:pt x="70" y="144"/>
                    </a:lnTo>
                    <a:lnTo>
                      <a:pt x="72" y="144"/>
                    </a:lnTo>
                    <a:lnTo>
                      <a:pt x="76" y="142"/>
                    </a:lnTo>
                    <a:lnTo>
                      <a:pt x="78" y="138"/>
                    </a:lnTo>
                    <a:lnTo>
                      <a:pt x="80" y="138"/>
                    </a:lnTo>
                    <a:lnTo>
                      <a:pt x="82" y="140"/>
                    </a:lnTo>
                    <a:lnTo>
                      <a:pt x="86" y="140"/>
                    </a:lnTo>
                    <a:lnTo>
                      <a:pt x="88" y="140"/>
                    </a:lnTo>
                    <a:lnTo>
                      <a:pt x="90" y="140"/>
                    </a:lnTo>
                    <a:lnTo>
                      <a:pt x="92" y="144"/>
                    </a:lnTo>
                    <a:lnTo>
                      <a:pt x="96" y="144"/>
                    </a:lnTo>
                    <a:lnTo>
                      <a:pt x="96" y="138"/>
                    </a:lnTo>
                    <a:lnTo>
                      <a:pt x="94" y="136"/>
                    </a:lnTo>
                    <a:lnTo>
                      <a:pt x="94" y="134"/>
                    </a:lnTo>
                    <a:lnTo>
                      <a:pt x="92" y="134"/>
                    </a:lnTo>
                    <a:lnTo>
                      <a:pt x="92" y="132"/>
                    </a:lnTo>
                    <a:lnTo>
                      <a:pt x="96" y="130"/>
                    </a:lnTo>
                    <a:lnTo>
                      <a:pt x="100" y="128"/>
                    </a:lnTo>
                    <a:lnTo>
                      <a:pt x="100" y="126"/>
                    </a:lnTo>
                    <a:lnTo>
                      <a:pt x="102" y="122"/>
                    </a:lnTo>
                    <a:lnTo>
                      <a:pt x="104" y="120"/>
                    </a:lnTo>
                    <a:lnTo>
                      <a:pt x="106" y="118"/>
                    </a:lnTo>
                    <a:lnTo>
                      <a:pt x="102" y="116"/>
                    </a:lnTo>
                    <a:lnTo>
                      <a:pt x="100" y="114"/>
                    </a:lnTo>
                    <a:lnTo>
                      <a:pt x="98" y="114"/>
                    </a:lnTo>
                    <a:lnTo>
                      <a:pt x="96" y="114"/>
                    </a:lnTo>
                    <a:lnTo>
                      <a:pt x="94" y="110"/>
                    </a:lnTo>
                    <a:lnTo>
                      <a:pt x="94" y="106"/>
                    </a:lnTo>
                    <a:lnTo>
                      <a:pt x="92" y="102"/>
                    </a:lnTo>
                    <a:lnTo>
                      <a:pt x="90" y="98"/>
                    </a:lnTo>
                    <a:lnTo>
                      <a:pt x="86" y="94"/>
                    </a:lnTo>
                    <a:lnTo>
                      <a:pt x="86" y="90"/>
                    </a:lnTo>
                    <a:lnTo>
                      <a:pt x="88" y="88"/>
                    </a:lnTo>
                    <a:lnTo>
                      <a:pt x="92" y="88"/>
                    </a:lnTo>
                    <a:lnTo>
                      <a:pt x="96" y="86"/>
                    </a:lnTo>
                    <a:lnTo>
                      <a:pt x="98" y="82"/>
                    </a:lnTo>
                    <a:lnTo>
                      <a:pt x="104" y="80"/>
                    </a:lnTo>
                    <a:lnTo>
                      <a:pt x="112" y="74"/>
                    </a:lnTo>
                    <a:lnTo>
                      <a:pt x="118" y="78"/>
                    </a:lnTo>
                    <a:lnTo>
                      <a:pt x="116" y="62"/>
                    </a:lnTo>
                    <a:lnTo>
                      <a:pt x="116" y="58"/>
                    </a:lnTo>
                    <a:lnTo>
                      <a:pt x="114" y="54"/>
                    </a:lnTo>
                    <a:lnTo>
                      <a:pt x="116" y="44"/>
                    </a:lnTo>
                    <a:lnTo>
                      <a:pt x="114" y="42"/>
                    </a:lnTo>
                    <a:lnTo>
                      <a:pt x="112" y="38"/>
                    </a:lnTo>
                    <a:lnTo>
                      <a:pt x="112" y="36"/>
                    </a:lnTo>
                    <a:lnTo>
                      <a:pt x="114" y="26"/>
                    </a:lnTo>
                    <a:lnTo>
                      <a:pt x="114" y="20"/>
                    </a:lnTo>
                    <a:lnTo>
                      <a:pt x="114" y="2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43" name="Freeform 529">
                <a:extLst>
                  <a:ext uri="{FF2B5EF4-FFF2-40B4-BE49-F238E27FC236}">
                    <a16:creationId xmlns:a16="http://schemas.microsoft.com/office/drawing/2014/main" id="{7A5AD978-BDDB-1F5E-F261-0C857EB87B14}"/>
                  </a:ext>
                </a:extLst>
              </p:cNvPr>
              <p:cNvSpPr>
                <a:spLocks/>
              </p:cNvSpPr>
              <p:nvPr/>
            </p:nvSpPr>
            <p:spPr bwMode="auto">
              <a:xfrm>
                <a:off x="5340585" y="3556713"/>
                <a:ext cx="91401" cy="44191"/>
              </a:xfrm>
              <a:custGeom>
                <a:avLst/>
                <a:gdLst/>
                <a:ahLst/>
                <a:cxnLst>
                  <a:cxn ang="0">
                    <a:pos x="0" y="10"/>
                  </a:cxn>
                  <a:cxn ang="0">
                    <a:pos x="8" y="14"/>
                  </a:cxn>
                  <a:cxn ang="0">
                    <a:pos x="18" y="22"/>
                  </a:cxn>
                  <a:cxn ang="0">
                    <a:pos x="22" y="34"/>
                  </a:cxn>
                  <a:cxn ang="0">
                    <a:pos x="22" y="40"/>
                  </a:cxn>
                  <a:cxn ang="0">
                    <a:pos x="24" y="42"/>
                  </a:cxn>
                  <a:cxn ang="0">
                    <a:pos x="30" y="40"/>
                  </a:cxn>
                  <a:cxn ang="0">
                    <a:pos x="38" y="42"/>
                  </a:cxn>
                  <a:cxn ang="0">
                    <a:pos x="48" y="42"/>
                  </a:cxn>
                  <a:cxn ang="0">
                    <a:pos x="50" y="44"/>
                  </a:cxn>
                  <a:cxn ang="0">
                    <a:pos x="52" y="46"/>
                  </a:cxn>
                  <a:cxn ang="0">
                    <a:pos x="62" y="46"/>
                  </a:cxn>
                  <a:cxn ang="0">
                    <a:pos x="72" y="44"/>
                  </a:cxn>
                  <a:cxn ang="0">
                    <a:pos x="76" y="38"/>
                  </a:cxn>
                  <a:cxn ang="0">
                    <a:pos x="84" y="40"/>
                  </a:cxn>
                  <a:cxn ang="0">
                    <a:pos x="88" y="46"/>
                  </a:cxn>
                  <a:cxn ang="0">
                    <a:pos x="92" y="46"/>
                  </a:cxn>
                  <a:cxn ang="0">
                    <a:pos x="90" y="40"/>
                  </a:cxn>
                  <a:cxn ang="0">
                    <a:pos x="92" y="36"/>
                  </a:cxn>
                  <a:cxn ang="0">
                    <a:pos x="90" y="30"/>
                  </a:cxn>
                  <a:cxn ang="0">
                    <a:pos x="86" y="28"/>
                  </a:cxn>
                  <a:cxn ang="0">
                    <a:pos x="82" y="26"/>
                  </a:cxn>
                  <a:cxn ang="0">
                    <a:pos x="82" y="24"/>
                  </a:cxn>
                  <a:cxn ang="0">
                    <a:pos x="76" y="20"/>
                  </a:cxn>
                  <a:cxn ang="0">
                    <a:pos x="72" y="14"/>
                  </a:cxn>
                  <a:cxn ang="0">
                    <a:pos x="64" y="14"/>
                  </a:cxn>
                  <a:cxn ang="0">
                    <a:pos x="58" y="16"/>
                  </a:cxn>
                  <a:cxn ang="0">
                    <a:pos x="54" y="14"/>
                  </a:cxn>
                  <a:cxn ang="0">
                    <a:pos x="46" y="16"/>
                  </a:cxn>
                  <a:cxn ang="0">
                    <a:pos x="40" y="8"/>
                  </a:cxn>
                  <a:cxn ang="0">
                    <a:pos x="32" y="4"/>
                  </a:cxn>
                  <a:cxn ang="0">
                    <a:pos x="22" y="4"/>
                  </a:cxn>
                  <a:cxn ang="0">
                    <a:pos x="14" y="0"/>
                  </a:cxn>
                  <a:cxn ang="0">
                    <a:pos x="8" y="0"/>
                  </a:cxn>
                  <a:cxn ang="0">
                    <a:pos x="0" y="6"/>
                  </a:cxn>
                  <a:cxn ang="0">
                    <a:pos x="0" y="10"/>
                  </a:cxn>
                </a:cxnLst>
                <a:rect l="0" t="0" r="r" b="b"/>
                <a:pathLst>
                  <a:path w="94" h="46">
                    <a:moveTo>
                      <a:pt x="0" y="10"/>
                    </a:moveTo>
                    <a:lnTo>
                      <a:pt x="0" y="10"/>
                    </a:lnTo>
                    <a:lnTo>
                      <a:pt x="4" y="14"/>
                    </a:lnTo>
                    <a:lnTo>
                      <a:pt x="8" y="14"/>
                    </a:lnTo>
                    <a:lnTo>
                      <a:pt x="12" y="18"/>
                    </a:lnTo>
                    <a:lnTo>
                      <a:pt x="18" y="22"/>
                    </a:lnTo>
                    <a:lnTo>
                      <a:pt x="22" y="28"/>
                    </a:lnTo>
                    <a:lnTo>
                      <a:pt x="22" y="34"/>
                    </a:lnTo>
                    <a:lnTo>
                      <a:pt x="22" y="38"/>
                    </a:lnTo>
                    <a:lnTo>
                      <a:pt x="22" y="40"/>
                    </a:lnTo>
                    <a:lnTo>
                      <a:pt x="24" y="40"/>
                    </a:lnTo>
                    <a:lnTo>
                      <a:pt x="24" y="42"/>
                    </a:lnTo>
                    <a:lnTo>
                      <a:pt x="26" y="40"/>
                    </a:lnTo>
                    <a:lnTo>
                      <a:pt x="30" y="40"/>
                    </a:lnTo>
                    <a:lnTo>
                      <a:pt x="34" y="40"/>
                    </a:lnTo>
                    <a:lnTo>
                      <a:pt x="38" y="42"/>
                    </a:lnTo>
                    <a:lnTo>
                      <a:pt x="40" y="44"/>
                    </a:lnTo>
                    <a:lnTo>
                      <a:pt x="48" y="42"/>
                    </a:lnTo>
                    <a:lnTo>
                      <a:pt x="50" y="42"/>
                    </a:lnTo>
                    <a:lnTo>
                      <a:pt x="50" y="44"/>
                    </a:lnTo>
                    <a:lnTo>
                      <a:pt x="50" y="46"/>
                    </a:lnTo>
                    <a:lnTo>
                      <a:pt x="52" y="46"/>
                    </a:lnTo>
                    <a:lnTo>
                      <a:pt x="52" y="46"/>
                    </a:lnTo>
                    <a:lnTo>
                      <a:pt x="62" y="46"/>
                    </a:lnTo>
                    <a:lnTo>
                      <a:pt x="70" y="46"/>
                    </a:lnTo>
                    <a:lnTo>
                      <a:pt x="72" y="44"/>
                    </a:lnTo>
                    <a:lnTo>
                      <a:pt x="74" y="40"/>
                    </a:lnTo>
                    <a:lnTo>
                      <a:pt x="76" y="38"/>
                    </a:lnTo>
                    <a:lnTo>
                      <a:pt x="80" y="38"/>
                    </a:lnTo>
                    <a:lnTo>
                      <a:pt x="84" y="40"/>
                    </a:lnTo>
                    <a:lnTo>
                      <a:pt x="86" y="42"/>
                    </a:lnTo>
                    <a:lnTo>
                      <a:pt x="88" y="46"/>
                    </a:lnTo>
                    <a:lnTo>
                      <a:pt x="90" y="46"/>
                    </a:lnTo>
                    <a:lnTo>
                      <a:pt x="92" y="46"/>
                    </a:lnTo>
                    <a:lnTo>
                      <a:pt x="94" y="42"/>
                    </a:lnTo>
                    <a:lnTo>
                      <a:pt x="90" y="40"/>
                    </a:lnTo>
                    <a:lnTo>
                      <a:pt x="90" y="38"/>
                    </a:lnTo>
                    <a:lnTo>
                      <a:pt x="92" y="36"/>
                    </a:lnTo>
                    <a:lnTo>
                      <a:pt x="94" y="34"/>
                    </a:lnTo>
                    <a:lnTo>
                      <a:pt x="90" y="30"/>
                    </a:lnTo>
                    <a:lnTo>
                      <a:pt x="88" y="28"/>
                    </a:lnTo>
                    <a:lnTo>
                      <a:pt x="86" y="28"/>
                    </a:lnTo>
                    <a:lnTo>
                      <a:pt x="82" y="28"/>
                    </a:lnTo>
                    <a:lnTo>
                      <a:pt x="82" y="26"/>
                    </a:lnTo>
                    <a:lnTo>
                      <a:pt x="82" y="24"/>
                    </a:lnTo>
                    <a:lnTo>
                      <a:pt x="82" y="24"/>
                    </a:lnTo>
                    <a:lnTo>
                      <a:pt x="78" y="22"/>
                    </a:lnTo>
                    <a:lnTo>
                      <a:pt x="76" y="20"/>
                    </a:lnTo>
                    <a:lnTo>
                      <a:pt x="74" y="18"/>
                    </a:lnTo>
                    <a:lnTo>
                      <a:pt x="72" y="14"/>
                    </a:lnTo>
                    <a:lnTo>
                      <a:pt x="68" y="12"/>
                    </a:lnTo>
                    <a:lnTo>
                      <a:pt x="64" y="14"/>
                    </a:lnTo>
                    <a:lnTo>
                      <a:pt x="60" y="16"/>
                    </a:lnTo>
                    <a:lnTo>
                      <a:pt x="58" y="16"/>
                    </a:lnTo>
                    <a:lnTo>
                      <a:pt x="56" y="14"/>
                    </a:lnTo>
                    <a:lnTo>
                      <a:pt x="54" y="14"/>
                    </a:lnTo>
                    <a:lnTo>
                      <a:pt x="50" y="16"/>
                    </a:lnTo>
                    <a:lnTo>
                      <a:pt x="46" y="16"/>
                    </a:lnTo>
                    <a:lnTo>
                      <a:pt x="44" y="14"/>
                    </a:lnTo>
                    <a:lnTo>
                      <a:pt x="40" y="8"/>
                    </a:lnTo>
                    <a:lnTo>
                      <a:pt x="36" y="6"/>
                    </a:lnTo>
                    <a:lnTo>
                      <a:pt x="32" y="4"/>
                    </a:lnTo>
                    <a:lnTo>
                      <a:pt x="28" y="4"/>
                    </a:lnTo>
                    <a:lnTo>
                      <a:pt x="22" y="4"/>
                    </a:lnTo>
                    <a:lnTo>
                      <a:pt x="16" y="4"/>
                    </a:lnTo>
                    <a:lnTo>
                      <a:pt x="14" y="0"/>
                    </a:lnTo>
                    <a:lnTo>
                      <a:pt x="12" y="0"/>
                    </a:lnTo>
                    <a:lnTo>
                      <a:pt x="8" y="0"/>
                    </a:lnTo>
                    <a:lnTo>
                      <a:pt x="4" y="2"/>
                    </a:lnTo>
                    <a:lnTo>
                      <a:pt x="0" y="6"/>
                    </a:lnTo>
                    <a:lnTo>
                      <a:pt x="0" y="10"/>
                    </a:lnTo>
                    <a:lnTo>
                      <a:pt x="0" y="1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44" name="Freeform 530">
                <a:extLst>
                  <a:ext uri="{FF2B5EF4-FFF2-40B4-BE49-F238E27FC236}">
                    <a16:creationId xmlns:a16="http://schemas.microsoft.com/office/drawing/2014/main" id="{BF7FBA32-77C9-5C23-7CB2-AFF45BEFFD2F}"/>
                  </a:ext>
                </a:extLst>
              </p:cNvPr>
              <p:cNvSpPr>
                <a:spLocks/>
              </p:cNvSpPr>
              <p:nvPr/>
            </p:nvSpPr>
            <p:spPr bwMode="auto">
              <a:xfrm>
                <a:off x="5099443" y="3024494"/>
                <a:ext cx="138073" cy="220958"/>
              </a:xfrm>
              <a:custGeom>
                <a:avLst/>
                <a:gdLst/>
                <a:ahLst/>
                <a:cxnLst>
                  <a:cxn ang="0">
                    <a:pos x="52" y="96"/>
                  </a:cxn>
                  <a:cxn ang="0">
                    <a:pos x="56" y="98"/>
                  </a:cxn>
                  <a:cxn ang="0">
                    <a:pos x="56" y="104"/>
                  </a:cxn>
                  <a:cxn ang="0">
                    <a:pos x="58" y="114"/>
                  </a:cxn>
                  <a:cxn ang="0">
                    <a:pos x="56" y="118"/>
                  </a:cxn>
                  <a:cxn ang="0">
                    <a:pos x="48" y="124"/>
                  </a:cxn>
                  <a:cxn ang="0">
                    <a:pos x="40" y="138"/>
                  </a:cxn>
                  <a:cxn ang="0">
                    <a:pos x="32" y="146"/>
                  </a:cxn>
                  <a:cxn ang="0">
                    <a:pos x="26" y="152"/>
                  </a:cxn>
                  <a:cxn ang="0">
                    <a:pos x="20" y="156"/>
                  </a:cxn>
                  <a:cxn ang="0">
                    <a:pos x="12" y="166"/>
                  </a:cxn>
                  <a:cxn ang="0">
                    <a:pos x="16" y="176"/>
                  </a:cxn>
                  <a:cxn ang="0">
                    <a:pos x="20" y="186"/>
                  </a:cxn>
                  <a:cxn ang="0">
                    <a:pos x="16" y="200"/>
                  </a:cxn>
                  <a:cxn ang="0">
                    <a:pos x="20" y="204"/>
                  </a:cxn>
                  <a:cxn ang="0">
                    <a:pos x="26" y="214"/>
                  </a:cxn>
                  <a:cxn ang="0">
                    <a:pos x="26" y="210"/>
                  </a:cxn>
                  <a:cxn ang="0">
                    <a:pos x="36" y="216"/>
                  </a:cxn>
                  <a:cxn ang="0">
                    <a:pos x="28" y="220"/>
                  </a:cxn>
                  <a:cxn ang="0">
                    <a:pos x="36" y="220"/>
                  </a:cxn>
                  <a:cxn ang="0">
                    <a:pos x="38" y="228"/>
                  </a:cxn>
                  <a:cxn ang="0">
                    <a:pos x="54" y="228"/>
                  </a:cxn>
                  <a:cxn ang="0">
                    <a:pos x="68" y="218"/>
                  </a:cxn>
                  <a:cxn ang="0">
                    <a:pos x="72" y="216"/>
                  </a:cxn>
                  <a:cxn ang="0">
                    <a:pos x="78" y="214"/>
                  </a:cxn>
                  <a:cxn ang="0">
                    <a:pos x="84" y="212"/>
                  </a:cxn>
                  <a:cxn ang="0">
                    <a:pos x="86" y="212"/>
                  </a:cxn>
                  <a:cxn ang="0">
                    <a:pos x="122" y="190"/>
                  </a:cxn>
                  <a:cxn ang="0">
                    <a:pos x="142" y="172"/>
                  </a:cxn>
                  <a:cxn ang="0">
                    <a:pos x="138" y="164"/>
                  </a:cxn>
                  <a:cxn ang="0">
                    <a:pos x="130" y="158"/>
                  </a:cxn>
                  <a:cxn ang="0">
                    <a:pos x="134" y="144"/>
                  </a:cxn>
                  <a:cxn ang="0">
                    <a:pos x="132" y="134"/>
                  </a:cxn>
                  <a:cxn ang="0">
                    <a:pos x="124" y="124"/>
                  </a:cxn>
                  <a:cxn ang="0">
                    <a:pos x="122" y="110"/>
                  </a:cxn>
                  <a:cxn ang="0">
                    <a:pos x="122" y="102"/>
                  </a:cxn>
                  <a:cxn ang="0">
                    <a:pos x="122" y="90"/>
                  </a:cxn>
                  <a:cxn ang="0">
                    <a:pos x="118" y="58"/>
                  </a:cxn>
                  <a:cxn ang="0">
                    <a:pos x="122" y="46"/>
                  </a:cxn>
                  <a:cxn ang="0">
                    <a:pos x="116" y="42"/>
                  </a:cxn>
                  <a:cxn ang="0">
                    <a:pos x="116" y="24"/>
                  </a:cxn>
                  <a:cxn ang="0">
                    <a:pos x="114" y="18"/>
                  </a:cxn>
                  <a:cxn ang="0">
                    <a:pos x="98" y="0"/>
                  </a:cxn>
                  <a:cxn ang="0">
                    <a:pos x="88" y="6"/>
                  </a:cxn>
                  <a:cxn ang="0">
                    <a:pos x="76" y="8"/>
                  </a:cxn>
                  <a:cxn ang="0">
                    <a:pos x="68" y="14"/>
                  </a:cxn>
                  <a:cxn ang="0">
                    <a:pos x="68" y="22"/>
                  </a:cxn>
                  <a:cxn ang="0">
                    <a:pos x="60" y="36"/>
                  </a:cxn>
                  <a:cxn ang="0">
                    <a:pos x="58" y="42"/>
                  </a:cxn>
                  <a:cxn ang="0">
                    <a:pos x="48" y="34"/>
                  </a:cxn>
                  <a:cxn ang="0">
                    <a:pos x="42" y="34"/>
                  </a:cxn>
                  <a:cxn ang="0">
                    <a:pos x="14" y="20"/>
                  </a:cxn>
                  <a:cxn ang="0">
                    <a:pos x="8" y="22"/>
                  </a:cxn>
                  <a:cxn ang="0">
                    <a:pos x="4" y="28"/>
                  </a:cxn>
                  <a:cxn ang="0">
                    <a:pos x="12" y="38"/>
                  </a:cxn>
                  <a:cxn ang="0">
                    <a:pos x="24" y="42"/>
                  </a:cxn>
                  <a:cxn ang="0">
                    <a:pos x="34" y="50"/>
                  </a:cxn>
                  <a:cxn ang="0">
                    <a:pos x="36" y="58"/>
                  </a:cxn>
                  <a:cxn ang="0">
                    <a:pos x="36" y="64"/>
                  </a:cxn>
                  <a:cxn ang="0">
                    <a:pos x="38" y="78"/>
                  </a:cxn>
                  <a:cxn ang="0">
                    <a:pos x="40" y="96"/>
                  </a:cxn>
                </a:cxnLst>
                <a:rect l="0" t="0" r="r" b="b"/>
                <a:pathLst>
                  <a:path w="142" h="230">
                    <a:moveTo>
                      <a:pt x="40" y="96"/>
                    </a:moveTo>
                    <a:lnTo>
                      <a:pt x="40" y="96"/>
                    </a:lnTo>
                    <a:lnTo>
                      <a:pt x="52" y="96"/>
                    </a:lnTo>
                    <a:lnTo>
                      <a:pt x="54" y="100"/>
                    </a:lnTo>
                    <a:lnTo>
                      <a:pt x="56" y="100"/>
                    </a:lnTo>
                    <a:lnTo>
                      <a:pt x="56" y="98"/>
                    </a:lnTo>
                    <a:lnTo>
                      <a:pt x="56" y="98"/>
                    </a:lnTo>
                    <a:lnTo>
                      <a:pt x="56" y="102"/>
                    </a:lnTo>
                    <a:lnTo>
                      <a:pt x="56" y="104"/>
                    </a:lnTo>
                    <a:lnTo>
                      <a:pt x="56" y="110"/>
                    </a:lnTo>
                    <a:lnTo>
                      <a:pt x="58" y="112"/>
                    </a:lnTo>
                    <a:lnTo>
                      <a:pt x="58" y="114"/>
                    </a:lnTo>
                    <a:lnTo>
                      <a:pt x="56" y="114"/>
                    </a:lnTo>
                    <a:lnTo>
                      <a:pt x="56" y="116"/>
                    </a:lnTo>
                    <a:lnTo>
                      <a:pt x="56" y="118"/>
                    </a:lnTo>
                    <a:lnTo>
                      <a:pt x="54" y="118"/>
                    </a:lnTo>
                    <a:lnTo>
                      <a:pt x="52" y="120"/>
                    </a:lnTo>
                    <a:lnTo>
                      <a:pt x="48" y="124"/>
                    </a:lnTo>
                    <a:lnTo>
                      <a:pt x="48" y="130"/>
                    </a:lnTo>
                    <a:lnTo>
                      <a:pt x="46" y="130"/>
                    </a:lnTo>
                    <a:lnTo>
                      <a:pt x="40" y="138"/>
                    </a:lnTo>
                    <a:lnTo>
                      <a:pt x="40" y="142"/>
                    </a:lnTo>
                    <a:lnTo>
                      <a:pt x="38" y="144"/>
                    </a:lnTo>
                    <a:lnTo>
                      <a:pt x="32" y="146"/>
                    </a:lnTo>
                    <a:lnTo>
                      <a:pt x="30" y="148"/>
                    </a:lnTo>
                    <a:lnTo>
                      <a:pt x="28" y="152"/>
                    </a:lnTo>
                    <a:lnTo>
                      <a:pt x="26" y="152"/>
                    </a:lnTo>
                    <a:lnTo>
                      <a:pt x="26" y="156"/>
                    </a:lnTo>
                    <a:lnTo>
                      <a:pt x="22" y="156"/>
                    </a:lnTo>
                    <a:lnTo>
                      <a:pt x="20" y="156"/>
                    </a:lnTo>
                    <a:lnTo>
                      <a:pt x="20" y="158"/>
                    </a:lnTo>
                    <a:lnTo>
                      <a:pt x="18" y="162"/>
                    </a:lnTo>
                    <a:lnTo>
                      <a:pt x="12" y="166"/>
                    </a:lnTo>
                    <a:lnTo>
                      <a:pt x="12" y="172"/>
                    </a:lnTo>
                    <a:lnTo>
                      <a:pt x="16" y="174"/>
                    </a:lnTo>
                    <a:lnTo>
                      <a:pt x="16" y="176"/>
                    </a:lnTo>
                    <a:lnTo>
                      <a:pt x="16" y="176"/>
                    </a:lnTo>
                    <a:lnTo>
                      <a:pt x="20" y="184"/>
                    </a:lnTo>
                    <a:lnTo>
                      <a:pt x="20" y="186"/>
                    </a:lnTo>
                    <a:lnTo>
                      <a:pt x="16" y="190"/>
                    </a:lnTo>
                    <a:lnTo>
                      <a:pt x="16" y="192"/>
                    </a:lnTo>
                    <a:lnTo>
                      <a:pt x="16" y="200"/>
                    </a:lnTo>
                    <a:lnTo>
                      <a:pt x="18" y="206"/>
                    </a:lnTo>
                    <a:lnTo>
                      <a:pt x="18" y="204"/>
                    </a:lnTo>
                    <a:lnTo>
                      <a:pt x="20" y="204"/>
                    </a:lnTo>
                    <a:lnTo>
                      <a:pt x="22" y="204"/>
                    </a:lnTo>
                    <a:lnTo>
                      <a:pt x="22" y="214"/>
                    </a:lnTo>
                    <a:lnTo>
                      <a:pt x="26" y="214"/>
                    </a:lnTo>
                    <a:lnTo>
                      <a:pt x="24" y="210"/>
                    </a:lnTo>
                    <a:lnTo>
                      <a:pt x="24" y="208"/>
                    </a:lnTo>
                    <a:lnTo>
                      <a:pt x="26" y="210"/>
                    </a:lnTo>
                    <a:lnTo>
                      <a:pt x="32" y="212"/>
                    </a:lnTo>
                    <a:lnTo>
                      <a:pt x="32" y="216"/>
                    </a:lnTo>
                    <a:lnTo>
                      <a:pt x="36" y="216"/>
                    </a:lnTo>
                    <a:lnTo>
                      <a:pt x="38" y="214"/>
                    </a:lnTo>
                    <a:lnTo>
                      <a:pt x="38" y="218"/>
                    </a:lnTo>
                    <a:lnTo>
                      <a:pt x="28" y="220"/>
                    </a:lnTo>
                    <a:lnTo>
                      <a:pt x="28" y="228"/>
                    </a:lnTo>
                    <a:lnTo>
                      <a:pt x="34" y="226"/>
                    </a:lnTo>
                    <a:lnTo>
                      <a:pt x="36" y="220"/>
                    </a:lnTo>
                    <a:lnTo>
                      <a:pt x="40" y="224"/>
                    </a:lnTo>
                    <a:lnTo>
                      <a:pt x="40" y="226"/>
                    </a:lnTo>
                    <a:lnTo>
                      <a:pt x="38" y="228"/>
                    </a:lnTo>
                    <a:lnTo>
                      <a:pt x="42" y="228"/>
                    </a:lnTo>
                    <a:lnTo>
                      <a:pt x="42" y="230"/>
                    </a:lnTo>
                    <a:lnTo>
                      <a:pt x="54" y="228"/>
                    </a:lnTo>
                    <a:lnTo>
                      <a:pt x="54" y="226"/>
                    </a:lnTo>
                    <a:lnTo>
                      <a:pt x="58" y="222"/>
                    </a:lnTo>
                    <a:lnTo>
                      <a:pt x="68" y="218"/>
                    </a:lnTo>
                    <a:lnTo>
                      <a:pt x="68" y="214"/>
                    </a:lnTo>
                    <a:lnTo>
                      <a:pt x="70" y="214"/>
                    </a:lnTo>
                    <a:lnTo>
                      <a:pt x="72" y="216"/>
                    </a:lnTo>
                    <a:lnTo>
                      <a:pt x="74" y="214"/>
                    </a:lnTo>
                    <a:lnTo>
                      <a:pt x="76" y="214"/>
                    </a:lnTo>
                    <a:lnTo>
                      <a:pt x="78" y="214"/>
                    </a:lnTo>
                    <a:lnTo>
                      <a:pt x="82" y="216"/>
                    </a:lnTo>
                    <a:lnTo>
                      <a:pt x="82" y="212"/>
                    </a:lnTo>
                    <a:lnTo>
                      <a:pt x="84" y="212"/>
                    </a:lnTo>
                    <a:lnTo>
                      <a:pt x="84" y="210"/>
                    </a:lnTo>
                    <a:lnTo>
                      <a:pt x="86" y="210"/>
                    </a:lnTo>
                    <a:lnTo>
                      <a:pt x="86" y="212"/>
                    </a:lnTo>
                    <a:lnTo>
                      <a:pt x="90" y="212"/>
                    </a:lnTo>
                    <a:lnTo>
                      <a:pt x="98" y="206"/>
                    </a:lnTo>
                    <a:lnTo>
                      <a:pt x="122" y="190"/>
                    </a:lnTo>
                    <a:lnTo>
                      <a:pt x="136" y="180"/>
                    </a:lnTo>
                    <a:lnTo>
                      <a:pt x="142" y="176"/>
                    </a:lnTo>
                    <a:lnTo>
                      <a:pt x="142" y="172"/>
                    </a:lnTo>
                    <a:lnTo>
                      <a:pt x="140" y="166"/>
                    </a:lnTo>
                    <a:lnTo>
                      <a:pt x="140" y="164"/>
                    </a:lnTo>
                    <a:lnTo>
                      <a:pt x="138" y="164"/>
                    </a:lnTo>
                    <a:lnTo>
                      <a:pt x="132" y="162"/>
                    </a:lnTo>
                    <a:lnTo>
                      <a:pt x="130" y="160"/>
                    </a:lnTo>
                    <a:lnTo>
                      <a:pt x="130" y="158"/>
                    </a:lnTo>
                    <a:lnTo>
                      <a:pt x="130" y="152"/>
                    </a:lnTo>
                    <a:lnTo>
                      <a:pt x="130" y="148"/>
                    </a:lnTo>
                    <a:lnTo>
                      <a:pt x="134" y="144"/>
                    </a:lnTo>
                    <a:lnTo>
                      <a:pt x="134" y="142"/>
                    </a:lnTo>
                    <a:lnTo>
                      <a:pt x="134" y="140"/>
                    </a:lnTo>
                    <a:lnTo>
                      <a:pt x="132" y="134"/>
                    </a:lnTo>
                    <a:lnTo>
                      <a:pt x="130" y="130"/>
                    </a:lnTo>
                    <a:lnTo>
                      <a:pt x="128" y="128"/>
                    </a:lnTo>
                    <a:lnTo>
                      <a:pt x="124" y="124"/>
                    </a:lnTo>
                    <a:lnTo>
                      <a:pt x="124" y="120"/>
                    </a:lnTo>
                    <a:lnTo>
                      <a:pt x="122" y="114"/>
                    </a:lnTo>
                    <a:lnTo>
                      <a:pt x="122" y="110"/>
                    </a:lnTo>
                    <a:lnTo>
                      <a:pt x="122" y="106"/>
                    </a:lnTo>
                    <a:lnTo>
                      <a:pt x="124" y="104"/>
                    </a:lnTo>
                    <a:lnTo>
                      <a:pt x="122" y="102"/>
                    </a:lnTo>
                    <a:lnTo>
                      <a:pt x="122" y="98"/>
                    </a:lnTo>
                    <a:lnTo>
                      <a:pt x="122" y="94"/>
                    </a:lnTo>
                    <a:lnTo>
                      <a:pt x="122" y="90"/>
                    </a:lnTo>
                    <a:lnTo>
                      <a:pt x="116" y="64"/>
                    </a:lnTo>
                    <a:lnTo>
                      <a:pt x="116" y="62"/>
                    </a:lnTo>
                    <a:lnTo>
                      <a:pt x="118" y="58"/>
                    </a:lnTo>
                    <a:lnTo>
                      <a:pt x="122" y="52"/>
                    </a:lnTo>
                    <a:lnTo>
                      <a:pt x="122" y="48"/>
                    </a:lnTo>
                    <a:lnTo>
                      <a:pt x="122" y="46"/>
                    </a:lnTo>
                    <a:lnTo>
                      <a:pt x="120" y="42"/>
                    </a:lnTo>
                    <a:lnTo>
                      <a:pt x="118" y="44"/>
                    </a:lnTo>
                    <a:lnTo>
                      <a:pt x="116" y="42"/>
                    </a:lnTo>
                    <a:lnTo>
                      <a:pt x="114" y="38"/>
                    </a:lnTo>
                    <a:lnTo>
                      <a:pt x="114" y="32"/>
                    </a:lnTo>
                    <a:lnTo>
                      <a:pt x="116" y="24"/>
                    </a:lnTo>
                    <a:lnTo>
                      <a:pt x="120" y="20"/>
                    </a:lnTo>
                    <a:lnTo>
                      <a:pt x="120" y="18"/>
                    </a:lnTo>
                    <a:lnTo>
                      <a:pt x="114" y="18"/>
                    </a:lnTo>
                    <a:lnTo>
                      <a:pt x="106" y="12"/>
                    </a:lnTo>
                    <a:lnTo>
                      <a:pt x="102" y="4"/>
                    </a:lnTo>
                    <a:lnTo>
                      <a:pt x="98" y="0"/>
                    </a:lnTo>
                    <a:lnTo>
                      <a:pt x="94" y="2"/>
                    </a:lnTo>
                    <a:lnTo>
                      <a:pt x="90" y="6"/>
                    </a:lnTo>
                    <a:lnTo>
                      <a:pt x="88" y="6"/>
                    </a:lnTo>
                    <a:lnTo>
                      <a:pt x="80" y="4"/>
                    </a:lnTo>
                    <a:lnTo>
                      <a:pt x="78" y="6"/>
                    </a:lnTo>
                    <a:lnTo>
                      <a:pt x="76" y="8"/>
                    </a:lnTo>
                    <a:lnTo>
                      <a:pt x="74" y="10"/>
                    </a:lnTo>
                    <a:lnTo>
                      <a:pt x="70" y="12"/>
                    </a:lnTo>
                    <a:lnTo>
                      <a:pt x="68" y="14"/>
                    </a:lnTo>
                    <a:lnTo>
                      <a:pt x="68" y="18"/>
                    </a:lnTo>
                    <a:lnTo>
                      <a:pt x="66" y="20"/>
                    </a:lnTo>
                    <a:lnTo>
                      <a:pt x="68" y="22"/>
                    </a:lnTo>
                    <a:lnTo>
                      <a:pt x="68" y="28"/>
                    </a:lnTo>
                    <a:lnTo>
                      <a:pt x="66" y="32"/>
                    </a:lnTo>
                    <a:lnTo>
                      <a:pt x="60" y="36"/>
                    </a:lnTo>
                    <a:lnTo>
                      <a:pt x="58" y="38"/>
                    </a:lnTo>
                    <a:lnTo>
                      <a:pt x="58" y="40"/>
                    </a:lnTo>
                    <a:lnTo>
                      <a:pt x="58" y="42"/>
                    </a:lnTo>
                    <a:lnTo>
                      <a:pt x="52" y="36"/>
                    </a:lnTo>
                    <a:lnTo>
                      <a:pt x="52" y="34"/>
                    </a:lnTo>
                    <a:lnTo>
                      <a:pt x="48" y="34"/>
                    </a:lnTo>
                    <a:lnTo>
                      <a:pt x="46" y="34"/>
                    </a:lnTo>
                    <a:lnTo>
                      <a:pt x="46" y="36"/>
                    </a:lnTo>
                    <a:lnTo>
                      <a:pt x="42" y="34"/>
                    </a:lnTo>
                    <a:lnTo>
                      <a:pt x="34" y="34"/>
                    </a:lnTo>
                    <a:lnTo>
                      <a:pt x="28" y="36"/>
                    </a:lnTo>
                    <a:lnTo>
                      <a:pt x="14" y="20"/>
                    </a:lnTo>
                    <a:lnTo>
                      <a:pt x="10" y="20"/>
                    </a:lnTo>
                    <a:lnTo>
                      <a:pt x="8" y="20"/>
                    </a:lnTo>
                    <a:lnTo>
                      <a:pt x="8" y="22"/>
                    </a:lnTo>
                    <a:lnTo>
                      <a:pt x="6" y="24"/>
                    </a:lnTo>
                    <a:lnTo>
                      <a:pt x="0" y="28"/>
                    </a:lnTo>
                    <a:lnTo>
                      <a:pt x="4" y="28"/>
                    </a:lnTo>
                    <a:lnTo>
                      <a:pt x="8" y="30"/>
                    </a:lnTo>
                    <a:lnTo>
                      <a:pt x="8" y="32"/>
                    </a:lnTo>
                    <a:lnTo>
                      <a:pt x="12" y="38"/>
                    </a:lnTo>
                    <a:lnTo>
                      <a:pt x="14" y="40"/>
                    </a:lnTo>
                    <a:lnTo>
                      <a:pt x="18" y="40"/>
                    </a:lnTo>
                    <a:lnTo>
                      <a:pt x="24" y="42"/>
                    </a:lnTo>
                    <a:lnTo>
                      <a:pt x="26" y="42"/>
                    </a:lnTo>
                    <a:lnTo>
                      <a:pt x="28" y="44"/>
                    </a:lnTo>
                    <a:lnTo>
                      <a:pt x="34" y="50"/>
                    </a:lnTo>
                    <a:lnTo>
                      <a:pt x="36" y="52"/>
                    </a:lnTo>
                    <a:lnTo>
                      <a:pt x="36" y="56"/>
                    </a:lnTo>
                    <a:lnTo>
                      <a:pt x="36" y="58"/>
                    </a:lnTo>
                    <a:lnTo>
                      <a:pt x="36" y="60"/>
                    </a:lnTo>
                    <a:lnTo>
                      <a:pt x="36" y="62"/>
                    </a:lnTo>
                    <a:lnTo>
                      <a:pt x="36" y="64"/>
                    </a:lnTo>
                    <a:lnTo>
                      <a:pt x="38" y="68"/>
                    </a:lnTo>
                    <a:lnTo>
                      <a:pt x="38" y="72"/>
                    </a:lnTo>
                    <a:lnTo>
                      <a:pt x="38" y="78"/>
                    </a:lnTo>
                    <a:lnTo>
                      <a:pt x="36" y="82"/>
                    </a:lnTo>
                    <a:lnTo>
                      <a:pt x="38" y="86"/>
                    </a:lnTo>
                    <a:lnTo>
                      <a:pt x="40" y="96"/>
                    </a:lnTo>
                    <a:lnTo>
                      <a:pt x="40" y="9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45" name="Freeform 531">
                <a:extLst>
                  <a:ext uri="{FF2B5EF4-FFF2-40B4-BE49-F238E27FC236}">
                    <a16:creationId xmlns:a16="http://schemas.microsoft.com/office/drawing/2014/main" id="{3FAFC538-8D33-1F28-FF76-E3E1C205B2A8}"/>
                  </a:ext>
                </a:extLst>
              </p:cNvPr>
              <p:cNvSpPr>
                <a:spLocks noEditPoints="1"/>
              </p:cNvSpPr>
              <p:nvPr/>
            </p:nvSpPr>
            <p:spPr bwMode="auto">
              <a:xfrm>
                <a:off x="4938033" y="3289643"/>
                <a:ext cx="60285" cy="73012"/>
              </a:xfrm>
              <a:custGeom>
                <a:avLst/>
                <a:gdLst/>
                <a:ahLst/>
                <a:cxnLst>
                  <a:cxn ang="0">
                    <a:pos x="22" y="62"/>
                  </a:cxn>
                  <a:cxn ang="0">
                    <a:pos x="30" y="58"/>
                  </a:cxn>
                  <a:cxn ang="0">
                    <a:pos x="32" y="62"/>
                  </a:cxn>
                  <a:cxn ang="0">
                    <a:pos x="36" y="62"/>
                  </a:cxn>
                  <a:cxn ang="0">
                    <a:pos x="26" y="52"/>
                  </a:cxn>
                  <a:cxn ang="0">
                    <a:pos x="32" y="34"/>
                  </a:cxn>
                  <a:cxn ang="0">
                    <a:pos x="40" y="32"/>
                  </a:cxn>
                  <a:cxn ang="0">
                    <a:pos x="34" y="30"/>
                  </a:cxn>
                  <a:cxn ang="0">
                    <a:pos x="32" y="18"/>
                  </a:cxn>
                  <a:cxn ang="0">
                    <a:pos x="32" y="16"/>
                  </a:cxn>
                  <a:cxn ang="0">
                    <a:pos x="36" y="12"/>
                  </a:cxn>
                  <a:cxn ang="0">
                    <a:pos x="36" y="2"/>
                  </a:cxn>
                  <a:cxn ang="0">
                    <a:pos x="30" y="2"/>
                  </a:cxn>
                  <a:cxn ang="0">
                    <a:pos x="24" y="8"/>
                  </a:cxn>
                  <a:cxn ang="0">
                    <a:pos x="22" y="12"/>
                  </a:cxn>
                  <a:cxn ang="0">
                    <a:pos x="14" y="14"/>
                  </a:cxn>
                  <a:cxn ang="0">
                    <a:pos x="8" y="16"/>
                  </a:cxn>
                  <a:cxn ang="0">
                    <a:pos x="2" y="22"/>
                  </a:cxn>
                  <a:cxn ang="0">
                    <a:pos x="8" y="20"/>
                  </a:cxn>
                  <a:cxn ang="0">
                    <a:pos x="12" y="18"/>
                  </a:cxn>
                  <a:cxn ang="0">
                    <a:pos x="22" y="26"/>
                  </a:cxn>
                  <a:cxn ang="0">
                    <a:pos x="16" y="22"/>
                  </a:cxn>
                  <a:cxn ang="0">
                    <a:pos x="0" y="28"/>
                  </a:cxn>
                  <a:cxn ang="0">
                    <a:pos x="2" y="40"/>
                  </a:cxn>
                  <a:cxn ang="0">
                    <a:pos x="6" y="44"/>
                  </a:cxn>
                  <a:cxn ang="0">
                    <a:pos x="2" y="50"/>
                  </a:cxn>
                  <a:cxn ang="0">
                    <a:pos x="10" y="60"/>
                  </a:cxn>
                  <a:cxn ang="0">
                    <a:pos x="22" y="62"/>
                  </a:cxn>
                  <a:cxn ang="0">
                    <a:pos x="60" y="64"/>
                  </a:cxn>
                  <a:cxn ang="0">
                    <a:pos x="54" y="66"/>
                  </a:cxn>
                  <a:cxn ang="0">
                    <a:pos x="48" y="68"/>
                  </a:cxn>
                  <a:cxn ang="0">
                    <a:pos x="42" y="66"/>
                  </a:cxn>
                  <a:cxn ang="0">
                    <a:pos x="42" y="70"/>
                  </a:cxn>
                  <a:cxn ang="0">
                    <a:pos x="46" y="76"/>
                  </a:cxn>
                  <a:cxn ang="0">
                    <a:pos x="50" y="74"/>
                  </a:cxn>
                  <a:cxn ang="0">
                    <a:pos x="54" y="74"/>
                  </a:cxn>
                  <a:cxn ang="0">
                    <a:pos x="60" y="66"/>
                  </a:cxn>
                  <a:cxn ang="0">
                    <a:pos x="60" y="64"/>
                  </a:cxn>
                  <a:cxn ang="0">
                    <a:pos x="38" y="64"/>
                  </a:cxn>
                  <a:cxn ang="0">
                    <a:pos x="36" y="70"/>
                  </a:cxn>
                  <a:cxn ang="0">
                    <a:pos x="38" y="66"/>
                  </a:cxn>
                  <a:cxn ang="0">
                    <a:pos x="38" y="62"/>
                  </a:cxn>
                  <a:cxn ang="0">
                    <a:pos x="38" y="64"/>
                  </a:cxn>
                  <a:cxn ang="0">
                    <a:pos x="54" y="36"/>
                  </a:cxn>
                  <a:cxn ang="0">
                    <a:pos x="52" y="44"/>
                  </a:cxn>
                  <a:cxn ang="0">
                    <a:pos x="50" y="48"/>
                  </a:cxn>
                  <a:cxn ang="0">
                    <a:pos x="48" y="44"/>
                  </a:cxn>
                  <a:cxn ang="0">
                    <a:pos x="42" y="44"/>
                  </a:cxn>
                  <a:cxn ang="0">
                    <a:pos x="38" y="48"/>
                  </a:cxn>
                  <a:cxn ang="0">
                    <a:pos x="40" y="52"/>
                  </a:cxn>
                  <a:cxn ang="0">
                    <a:pos x="42" y="60"/>
                  </a:cxn>
                  <a:cxn ang="0">
                    <a:pos x="46" y="58"/>
                  </a:cxn>
                  <a:cxn ang="0">
                    <a:pos x="50" y="58"/>
                  </a:cxn>
                  <a:cxn ang="0">
                    <a:pos x="54" y="64"/>
                  </a:cxn>
                  <a:cxn ang="0">
                    <a:pos x="58" y="58"/>
                  </a:cxn>
                  <a:cxn ang="0">
                    <a:pos x="60" y="52"/>
                  </a:cxn>
                  <a:cxn ang="0">
                    <a:pos x="60" y="48"/>
                  </a:cxn>
                  <a:cxn ang="0">
                    <a:pos x="58" y="36"/>
                  </a:cxn>
                  <a:cxn ang="0">
                    <a:pos x="54" y="36"/>
                  </a:cxn>
                  <a:cxn ang="0">
                    <a:pos x="12" y="20"/>
                  </a:cxn>
                  <a:cxn ang="0">
                    <a:pos x="10" y="24"/>
                  </a:cxn>
                  <a:cxn ang="0">
                    <a:pos x="14" y="22"/>
                  </a:cxn>
                  <a:cxn ang="0">
                    <a:pos x="12" y="20"/>
                  </a:cxn>
                </a:cxnLst>
                <a:rect l="0" t="0" r="r" b="b"/>
                <a:pathLst>
                  <a:path w="62" h="76">
                    <a:moveTo>
                      <a:pt x="22" y="62"/>
                    </a:moveTo>
                    <a:lnTo>
                      <a:pt x="22" y="62"/>
                    </a:lnTo>
                    <a:lnTo>
                      <a:pt x="24" y="52"/>
                    </a:lnTo>
                    <a:lnTo>
                      <a:pt x="30" y="58"/>
                    </a:lnTo>
                    <a:lnTo>
                      <a:pt x="30" y="62"/>
                    </a:lnTo>
                    <a:lnTo>
                      <a:pt x="32" y="62"/>
                    </a:lnTo>
                    <a:lnTo>
                      <a:pt x="34" y="62"/>
                    </a:lnTo>
                    <a:lnTo>
                      <a:pt x="36" y="62"/>
                    </a:lnTo>
                    <a:lnTo>
                      <a:pt x="36" y="52"/>
                    </a:lnTo>
                    <a:lnTo>
                      <a:pt x="26" y="52"/>
                    </a:lnTo>
                    <a:lnTo>
                      <a:pt x="30" y="44"/>
                    </a:lnTo>
                    <a:lnTo>
                      <a:pt x="32" y="34"/>
                    </a:lnTo>
                    <a:lnTo>
                      <a:pt x="36" y="36"/>
                    </a:lnTo>
                    <a:lnTo>
                      <a:pt x="40" y="32"/>
                    </a:lnTo>
                    <a:lnTo>
                      <a:pt x="38" y="30"/>
                    </a:lnTo>
                    <a:lnTo>
                      <a:pt x="34" y="30"/>
                    </a:lnTo>
                    <a:lnTo>
                      <a:pt x="32" y="24"/>
                    </a:lnTo>
                    <a:lnTo>
                      <a:pt x="32" y="18"/>
                    </a:lnTo>
                    <a:lnTo>
                      <a:pt x="26" y="16"/>
                    </a:lnTo>
                    <a:lnTo>
                      <a:pt x="32" y="16"/>
                    </a:lnTo>
                    <a:lnTo>
                      <a:pt x="34" y="12"/>
                    </a:lnTo>
                    <a:lnTo>
                      <a:pt x="36" y="12"/>
                    </a:lnTo>
                    <a:lnTo>
                      <a:pt x="34" y="6"/>
                    </a:lnTo>
                    <a:lnTo>
                      <a:pt x="36" y="2"/>
                    </a:lnTo>
                    <a:lnTo>
                      <a:pt x="36" y="0"/>
                    </a:lnTo>
                    <a:lnTo>
                      <a:pt x="30" y="2"/>
                    </a:lnTo>
                    <a:lnTo>
                      <a:pt x="26" y="4"/>
                    </a:lnTo>
                    <a:lnTo>
                      <a:pt x="24" y="8"/>
                    </a:lnTo>
                    <a:lnTo>
                      <a:pt x="22" y="10"/>
                    </a:lnTo>
                    <a:lnTo>
                      <a:pt x="22" y="12"/>
                    </a:lnTo>
                    <a:lnTo>
                      <a:pt x="16" y="14"/>
                    </a:lnTo>
                    <a:lnTo>
                      <a:pt x="14" y="14"/>
                    </a:lnTo>
                    <a:lnTo>
                      <a:pt x="12" y="14"/>
                    </a:lnTo>
                    <a:lnTo>
                      <a:pt x="8" y="16"/>
                    </a:lnTo>
                    <a:lnTo>
                      <a:pt x="2" y="22"/>
                    </a:lnTo>
                    <a:lnTo>
                      <a:pt x="2" y="22"/>
                    </a:lnTo>
                    <a:lnTo>
                      <a:pt x="6" y="22"/>
                    </a:lnTo>
                    <a:lnTo>
                      <a:pt x="8" y="20"/>
                    </a:lnTo>
                    <a:lnTo>
                      <a:pt x="10" y="18"/>
                    </a:lnTo>
                    <a:lnTo>
                      <a:pt x="12" y="18"/>
                    </a:lnTo>
                    <a:lnTo>
                      <a:pt x="20" y="18"/>
                    </a:lnTo>
                    <a:lnTo>
                      <a:pt x="22" y="26"/>
                    </a:lnTo>
                    <a:lnTo>
                      <a:pt x="18" y="22"/>
                    </a:lnTo>
                    <a:lnTo>
                      <a:pt x="16" y="22"/>
                    </a:lnTo>
                    <a:lnTo>
                      <a:pt x="12" y="30"/>
                    </a:lnTo>
                    <a:lnTo>
                      <a:pt x="0" y="28"/>
                    </a:lnTo>
                    <a:lnTo>
                      <a:pt x="2" y="38"/>
                    </a:lnTo>
                    <a:lnTo>
                      <a:pt x="2" y="40"/>
                    </a:lnTo>
                    <a:lnTo>
                      <a:pt x="6" y="42"/>
                    </a:lnTo>
                    <a:lnTo>
                      <a:pt x="6" y="44"/>
                    </a:lnTo>
                    <a:lnTo>
                      <a:pt x="2" y="46"/>
                    </a:lnTo>
                    <a:lnTo>
                      <a:pt x="2" y="50"/>
                    </a:lnTo>
                    <a:lnTo>
                      <a:pt x="4" y="54"/>
                    </a:lnTo>
                    <a:lnTo>
                      <a:pt x="10" y="60"/>
                    </a:lnTo>
                    <a:lnTo>
                      <a:pt x="10" y="62"/>
                    </a:lnTo>
                    <a:lnTo>
                      <a:pt x="22" y="62"/>
                    </a:lnTo>
                    <a:lnTo>
                      <a:pt x="22" y="62"/>
                    </a:lnTo>
                    <a:close/>
                    <a:moveTo>
                      <a:pt x="60" y="64"/>
                    </a:moveTo>
                    <a:lnTo>
                      <a:pt x="60" y="64"/>
                    </a:lnTo>
                    <a:lnTo>
                      <a:pt x="54" y="66"/>
                    </a:lnTo>
                    <a:lnTo>
                      <a:pt x="50" y="68"/>
                    </a:lnTo>
                    <a:lnTo>
                      <a:pt x="48" y="68"/>
                    </a:lnTo>
                    <a:lnTo>
                      <a:pt x="44" y="66"/>
                    </a:lnTo>
                    <a:lnTo>
                      <a:pt x="42" y="66"/>
                    </a:lnTo>
                    <a:lnTo>
                      <a:pt x="42" y="68"/>
                    </a:lnTo>
                    <a:lnTo>
                      <a:pt x="42" y="70"/>
                    </a:lnTo>
                    <a:lnTo>
                      <a:pt x="44" y="74"/>
                    </a:lnTo>
                    <a:lnTo>
                      <a:pt x="46" y="76"/>
                    </a:lnTo>
                    <a:lnTo>
                      <a:pt x="48" y="76"/>
                    </a:lnTo>
                    <a:lnTo>
                      <a:pt x="50" y="74"/>
                    </a:lnTo>
                    <a:lnTo>
                      <a:pt x="52" y="74"/>
                    </a:lnTo>
                    <a:lnTo>
                      <a:pt x="54" y="74"/>
                    </a:lnTo>
                    <a:lnTo>
                      <a:pt x="56" y="70"/>
                    </a:lnTo>
                    <a:lnTo>
                      <a:pt x="60" y="66"/>
                    </a:lnTo>
                    <a:lnTo>
                      <a:pt x="62" y="64"/>
                    </a:lnTo>
                    <a:lnTo>
                      <a:pt x="60" y="64"/>
                    </a:lnTo>
                    <a:lnTo>
                      <a:pt x="60" y="64"/>
                    </a:lnTo>
                    <a:close/>
                    <a:moveTo>
                      <a:pt x="38" y="64"/>
                    </a:moveTo>
                    <a:lnTo>
                      <a:pt x="38" y="64"/>
                    </a:lnTo>
                    <a:lnTo>
                      <a:pt x="36" y="70"/>
                    </a:lnTo>
                    <a:lnTo>
                      <a:pt x="36" y="72"/>
                    </a:lnTo>
                    <a:lnTo>
                      <a:pt x="38" y="66"/>
                    </a:lnTo>
                    <a:lnTo>
                      <a:pt x="40" y="64"/>
                    </a:lnTo>
                    <a:lnTo>
                      <a:pt x="38" y="62"/>
                    </a:lnTo>
                    <a:lnTo>
                      <a:pt x="38" y="64"/>
                    </a:lnTo>
                    <a:lnTo>
                      <a:pt x="38" y="64"/>
                    </a:lnTo>
                    <a:close/>
                    <a:moveTo>
                      <a:pt x="54" y="36"/>
                    </a:moveTo>
                    <a:lnTo>
                      <a:pt x="54" y="36"/>
                    </a:lnTo>
                    <a:lnTo>
                      <a:pt x="50" y="38"/>
                    </a:lnTo>
                    <a:lnTo>
                      <a:pt x="52" y="44"/>
                    </a:lnTo>
                    <a:lnTo>
                      <a:pt x="50" y="46"/>
                    </a:lnTo>
                    <a:lnTo>
                      <a:pt x="50" y="48"/>
                    </a:lnTo>
                    <a:lnTo>
                      <a:pt x="48" y="48"/>
                    </a:lnTo>
                    <a:lnTo>
                      <a:pt x="48" y="44"/>
                    </a:lnTo>
                    <a:lnTo>
                      <a:pt x="44" y="44"/>
                    </a:lnTo>
                    <a:lnTo>
                      <a:pt x="42" y="44"/>
                    </a:lnTo>
                    <a:lnTo>
                      <a:pt x="42" y="48"/>
                    </a:lnTo>
                    <a:lnTo>
                      <a:pt x="38" y="48"/>
                    </a:lnTo>
                    <a:lnTo>
                      <a:pt x="38" y="50"/>
                    </a:lnTo>
                    <a:lnTo>
                      <a:pt x="40" y="52"/>
                    </a:lnTo>
                    <a:lnTo>
                      <a:pt x="42" y="52"/>
                    </a:lnTo>
                    <a:lnTo>
                      <a:pt x="42" y="60"/>
                    </a:lnTo>
                    <a:lnTo>
                      <a:pt x="48" y="60"/>
                    </a:lnTo>
                    <a:lnTo>
                      <a:pt x="46" y="58"/>
                    </a:lnTo>
                    <a:lnTo>
                      <a:pt x="48" y="58"/>
                    </a:lnTo>
                    <a:lnTo>
                      <a:pt x="50" y="58"/>
                    </a:lnTo>
                    <a:lnTo>
                      <a:pt x="50" y="64"/>
                    </a:lnTo>
                    <a:lnTo>
                      <a:pt x="54" y="64"/>
                    </a:lnTo>
                    <a:lnTo>
                      <a:pt x="54" y="60"/>
                    </a:lnTo>
                    <a:lnTo>
                      <a:pt x="58" y="58"/>
                    </a:lnTo>
                    <a:lnTo>
                      <a:pt x="60" y="56"/>
                    </a:lnTo>
                    <a:lnTo>
                      <a:pt x="60" y="52"/>
                    </a:lnTo>
                    <a:lnTo>
                      <a:pt x="56" y="50"/>
                    </a:lnTo>
                    <a:lnTo>
                      <a:pt x="60" y="48"/>
                    </a:lnTo>
                    <a:lnTo>
                      <a:pt x="60" y="42"/>
                    </a:lnTo>
                    <a:lnTo>
                      <a:pt x="58" y="36"/>
                    </a:lnTo>
                    <a:lnTo>
                      <a:pt x="54" y="36"/>
                    </a:lnTo>
                    <a:lnTo>
                      <a:pt x="54" y="36"/>
                    </a:lnTo>
                    <a:close/>
                    <a:moveTo>
                      <a:pt x="12" y="20"/>
                    </a:moveTo>
                    <a:lnTo>
                      <a:pt x="12" y="20"/>
                    </a:lnTo>
                    <a:lnTo>
                      <a:pt x="10" y="22"/>
                    </a:lnTo>
                    <a:lnTo>
                      <a:pt x="10" y="24"/>
                    </a:lnTo>
                    <a:lnTo>
                      <a:pt x="12" y="22"/>
                    </a:lnTo>
                    <a:lnTo>
                      <a:pt x="14" y="22"/>
                    </a:lnTo>
                    <a:lnTo>
                      <a:pt x="14" y="20"/>
                    </a:lnTo>
                    <a:lnTo>
                      <a:pt x="12" y="20"/>
                    </a:lnTo>
                    <a:lnTo>
                      <a:pt x="12" y="2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46" name="Freeform 532">
                <a:extLst>
                  <a:ext uri="{FF2B5EF4-FFF2-40B4-BE49-F238E27FC236}">
                    <a16:creationId xmlns:a16="http://schemas.microsoft.com/office/drawing/2014/main" id="{6C958581-1E8E-BAB8-A2BC-05F741251679}"/>
                  </a:ext>
                </a:extLst>
              </p:cNvPr>
              <p:cNvSpPr>
                <a:spLocks/>
              </p:cNvSpPr>
              <p:nvPr/>
            </p:nvSpPr>
            <p:spPr bwMode="auto">
              <a:xfrm>
                <a:off x="4978871" y="3351126"/>
                <a:ext cx="19447" cy="11528"/>
              </a:xfrm>
              <a:custGeom>
                <a:avLst/>
                <a:gdLst/>
                <a:ahLst/>
                <a:cxnLst>
                  <a:cxn ang="0">
                    <a:pos x="18" y="0"/>
                  </a:cxn>
                  <a:cxn ang="0">
                    <a:pos x="18" y="0"/>
                  </a:cxn>
                  <a:cxn ang="0">
                    <a:pos x="12" y="2"/>
                  </a:cxn>
                  <a:cxn ang="0">
                    <a:pos x="8" y="4"/>
                  </a:cxn>
                  <a:cxn ang="0">
                    <a:pos x="6" y="4"/>
                  </a:cxn>
                  <a:cxn ang="0">
                    <a:pos x="2" y="2"/>
                  </a:cxn>
                  <a:cxn ang="0">
                    <a:pos x="0" y="2"/>
                  </a:cxn>
                  <a:cxn ang="0">
                    <a:pos x="0" y="4"/>
                  </a:cxn>
                  <a:cxn ang="0">
                    <a:pos x="0" y="6"/>
                  </a:cxn>
                  <a:cxn ang="0">
                    <a:pos x="2" y="10"/>
                  </a:cxn>
                  <a:cxn ang="0">
                    <a:pos x="4" y="12"/>
                  </a:cxn>
                  <a:cxn ang="0">
                    <a:pos x="6" y="12"/>
                  </a:cxn>
                  <a:cxn ang="0">
                    <a:pos x="8" y="10"/>
                  </a:cxn>
                  <a:cxn ang="0">
                    <a:pos x="10" y="10"/>
                  </a:cxn>
                  <a:cxn ang="0">
                    <a:pos x="12" y="10"/>
                  </a:cxn>
                  <a:cxn ang="0">
                    <a:pos x="14" y="6"/>
                  </a:cxn>
                  <a:cxn ang="0">
                    <a:pos x="18" y="2"/>
                  </a:cxn>
                  <a:cxn ang="0">
                    <a:pos x="20" y="0"/>
                  </a:cxn>
                  <a:cxn ang="0">
                    <a:pos x="18" y="0"/>
                  </a:cxn>
                </a:cxnLst>
                <a:rect l="0" t="0" r="r" b="b"/>
                <a:pathLst>
                  <a:path w="20" h="12">
                    <a:moveTo>
                      <a:pt x="18" y="0"/>
                    </a:moveTo>
                    <a:lnTo>
                      <a:pt x="18" y="0"/>
                    </a:lnTo>
                    <a:lnTo>
                      <a:pt x="12" y="2"/>
                    </a:lnTo>
                    <a:lnTo>
                      <a:pt x="8" y="4"/>
                    </a:lnTo>
                    <a:lnTo>
                      <a:pt x="6" y="4"/>
                    </a:lnTo>
                    <a:lnTo>
                      <a:pt x="2" y="2"/>
                    </a:lnTo>
                    <a:lnTo>
                      <a:pt x="0" y="2"/>
                    </a:lnTo>
                    <a:lnTo>
                      <a:pt x="0" y="4"/>
                    </a:lnTo>
                    <a:lnTo>
                      <a:pt x="0" y="6"/>
                    </a:lnTo>
                    <a:lnTo>
                      <a:pt x="2" y="10"/>
                    </a:lnTo>
                    <a:lnTo>
                      <a:pt x="4" y="12"/>
                    </a:lnTo>
                    <a:lnTo>
                      <a:pt x="6" y="12"/>
                    </a:lnTo>
                    <a:lnTo>
                      <a:pt x="8" y="10"/>
                    </a:lnTo>
                    <a:lnTo>
                      <a:pt x="10" y="10"/>
                    </a:lnTo>
                    <a:lnTo>
                      <a:pt x="12" y="10"/>
                    </a:lnTo>
                    <a:lnTo>
                      <a:pt x="14" y="6"/>
                    </a:lnTo>
                    <a:lnTo>
                      <a:pt x="18" y="2"/>
                    </a:lnTo>
                    <a:lnTo>
                      <a:pt x="20" y="0"/>
                    </a:lnTo>
                    <a:lnTo>
                      <a:pt x="18"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47" name="Freeform 533">
                <a:extLst>
                  <a:ext uri="{FF2B5EF4-FFF2-40B4-BE49-F238E27FC236}">
                    <a16:creationId xmlns:a16="http://schemas.microsoft.com/office/drawing/2014/main" id="{F5FEEA56-1B8B-999A-1239-91DADAA5C73C}"/>
                  </a:ext>
                </a:extLst>
              </p:cNvPr>
              <p:cNvSpPr>
                <a:spLocks/>
              </p:cNvSpPr>
              <p:nvPr/>
            </p:nvSpPr>
            <p:spPr bwMode="auto">
              <a:xfrm>
                <a:off x="4978871" y="3351126"/>
                <a:ext cx="19447" cy="11528"/>
              </a:xfrm>
              <a:custGeom>
                <a:avLst/>
                <a:gdLst/>
                <a:ahLst/>
                <a:cxnLst>
                  <a:cxn ang="0">
                    <a:pos x="18" y="0"/>
                  </a:cxn>
                  <a:cxn ang="0">
                    <a:pos x="18" y="0"/>
                  </a:cxn>
                  <a:cxn ang="0">
                    <a:pos x="12" y="2"/>
                  </a:cxn>
                  <a:cxn ang="0">
                    <a:pos x="8" y="4"/>
                  </a:cxn>
                  <a:cxn ang="0">
                    <a:pos x="6" y="4"/>
                  </a:cxn>
                  <a:cxn ang="0">
                    <a:pos x="2" y="2"/>
                  </a:cxn>
                  <a:cxn ang="0">
                    <a:pos x="0" y="2"/>
                  </a:cxn>
                  <a:cxn ang="0">
                    <a:pos x="0" y="4"/>
                  </a:cxn>
                  <a:cxn ang="0">
                    <a:pos x="0" y="6"/>
                  </a:cxn>
                  <a:cxn ang="0">
                    <a:pos x="2" y="10"/>
                  </a:cxn>
                  <a:cxn ang="0">
                    <a:pos x="4" y="12"/>
                  </a:cxn>
                  <a:cxn ang="0">
                    <a:pos x="6" y="12"/>
                  </a:cxn>
                  <a:cxn ang="0">
                    <a:pos x="8" y="10"/>
                  </a:cxn>
                  <a:cxn ang="0">
                    <a:pos x="10" y="10"/>
                  </a:cxn>
                  <a:cxn ang="0">
                    <a:pos x="12" y="10"/>
                  </a:cxn>
                  <a:cxn ang="0">
                    <a:pos x="14" y="6"/>
                  </a:cxn>
                  <a:cxn ang="0">
                    <a:pos x="18" y="2"/>
                  </a:cxn>
                  <a:cxn ang="0">
                    <a:pos x="20" y="0"/>
                  </a:cxn>
                  <a:cxn ang="0">
                    <a:pos x="18" y="0"/>
                  </a:cxn>
                </a:cxnLst>
                <a:rect l="0" t="0" r="r" b="b"/>
                <a:pathLst>
                  <a:path w="20" h="12">
                    <a:moveTo>
                      <a:pt x="18" y="0"/>
                    </a:moveTo>
                    <a:lnTo>
                      <a:pt x="18" y="0"/>
                    </a:lnTo>
                    <a:lnTo>
                      <a:pt x="12" y="2"/>
                    </a:lnTo>
                    <a:lnTo>
                      <a:pt x="8" y="4"/>
                    </a:lnTo>
                    <a:lnTo>
                      <a:pt x="6" y="4"/>
                    </a:lnTo>
                    <a:lnTo>
                      <a:pt x="2" y="2"/>
                    </a:lnTo>
                    <a:lnTo>
                      <a:pt x="0" y="2"/>
                    </a:lnTo>
                    <a:lnTo>
                      <a:pt x="0" y="4"/>
                    </a:lnTo>
                    <a:lnTo>
                      <a:pt x="0" y="6"/>
                    </a:lnTo>
                    <a:lnTo>
                      <a:pt x="2" y="10"/>
                    </a:lnTo>
                    <a:lnTo>
                      <a:pt x="4" y="12"/>
                    </a:lnTo>
                    <a:lnTo>
                      <a:pt x="6" y="12"/>
                    </a:lnTo>
                    <a:lnTo>
                      <a:pt x="8" y="10"/>
                    </a:lnTo>
                    <a:lnTo>
                      <a:pt x="10" y="10"/>
                    </a:lnTo>
                    <a:lnTo>
                      <a:pt x="12" y="10"/>
                    </a:lnTo>
                    <a:lnTo>
                      <a:pt x="14" y="6"/>
                    </a:lnTo>
                    <a:lnTo>
                      <a:pt x="18" y="2"/>
                    </a:lnTo>
                    <a:lnTo>
                      <a:pt x="20" y="0"/>
                    </a:lnTo>
                    <a:lnTo>
                      <a:pt x="18"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48" name="Freeform 534">
                <a:extLst>
                  <a:ext uri="{FF2B5EF4-FFF2-40B4-BE49-F238E27FC236}">
                    <a16:creationId xmlns:a16="http://schemas.microsoft.com/office/drawing/2014/main" id="{F18F6911-8304-6D19-309F-2891E2B03624}"/>
                  </a:ext>
                </a:extLst>
              </p:cNvPr>
              <p:cNvSpPr>
                <a:spLocks/>
              </p:cNvSpPr>
              <p:nvPr/>
            </p:nvSpPr>
            <p:spPr bwMode="auto">
              <a:xfrm>
                <a:off x="4973038" y="3349205"/>
                <a:ext cx="3890" cy="9607"/>
              </a:xfrm>
              <a:custGeom>
                <a:avLst/>
                <a:gdLst/>
                <a:ahLst/>
                <a:cxnLst>
                  <a:cxn ang="0">
                    <a:pos x="2" y="2"/>
                  </a:cxn>
                  <a:cxn ang="0">
                    <a:pos x="2" y="2"/>
                  </a:cxn>
                  <a:cxn ang="0">
                    <a:pos x="0" y="8"/>
                  </a:cxn>
                  <a:cxn ang="0">
                    <a:pos x="0" y="10"/>
                  </a:cxn>
                  <a:cxn ang="0">
                    <a:pos x="2" y="4"/>
                  </a:cxn>
                  <a:cxn ang="0">
                    <a:pos x="4" y="2"/>
                  </a:cxn>
                  <a:cxn ang="0">
                    <a:pos x="2" y="0"/>
                  </a:cxn>
                  <a:cxn ang="0">
                    <a:pos x="2" y="2"/>
                  </a:cxn>
                </a:cxnLst>
                <a:rect l="0" t="0" r="r" b="b"/>
                <a:pathLst>
                  <a:path w="4" h="10">
                    <a:moveTo>
                      <a:pt x="2" y="2"/>
                    </a:moveTo>
                    <a:lnTo>
                      <a:pt x="2" y="2"/>
                    </a:lnTo>
                    <a:lnTo>
                      <a:pt x="0" y="8"/>
                    </a:lnTo>
                    <a:lnTo>
                      <a:pt x="0" y="10"/>
                    </a:lnTo>
                    <a:lnTo>
                      <a:pt x="2" y="4"/>
                    </a:lnTo>
                    <a:lnTo>
                      <a:pt x="4" y="2"/>
                    </a:lnTo>
                    <a:lnTo>
                      <a:pt x="2" y="0"/>
                    </a:lnTo>
                    <a:lnTo>
                      <a:pt x="2" y="2"/>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49" name="Freeform 535">
                <a:extLst>
                  <a:ext uri="{FF2B5EF4-FFF2-40B4-BE49-F238E27FC236}">
                    <a16:creationId xmlns:a16="http://schemas.microsoft.com/office/drawing/2014/main" id="{39BB8D7D-B960-C10D-DDD5-DB840D0F316E}"/>
                  </a:ext>
                </a:extLst>
              </p:cNvPr>
              <p:cNvSpPr>
                <a:spLocks/>
              </p:cNvSpPr>
              <p:nvPr/>
            </p:nvSpPr>
            <p:spPr bwMode="auto">
              <a:xfrm>
                <a:off x="4973038" y="3349205"/>
                <a:ext cx="3890" cy="9607"/>
              </a:xfrm>
              <a:custGeom>
                <a:avLst/>
                <a:gdLst/>
                <a:ahLst/>
                <a:cxnLst>
                  <a:cxn ang="0">
                    <a:pos x="2" y="2"/>
                  </a:cxn>
                  <a:cxn ang="0">
                    <a:pos x="2" y="2"/>
                  </a:cxn>
                  <a:cxn ang="0">
                    <a:pos x="0" y="8"/>
                  </a:cxn>
                  <a:cxn ang="0">
                    <a:pos x="0" y="10"/>
                  </a:cxn>
                  <a:cxn ang="0">
                    <a:pos x="2" y="4"/>
                  </a:cxn>
                  <a:cxn ang="0">
                    <a:pos x="4" y="2"/>
                  </a:cxn>
                  <a:cxn ang="0">
                    <a:pos x="2" y="0"/>
                  </a:cxn>
                  <a:cxn ang="0">
                    <a:pos x="2" y="2"/>
                  </a:cxn>
                </a:cxnLst>
                <a:rect l="0" t="0" r="r" b="b"/>
                <a:pathLst>
                  <a:path w="4" h="10">
                    <a:moveTo>
                      <a:pt x="2" y="2"/>
                    </a:moveTo>
                    <a:lnTo>
                      <a:pt x="2" y="2"/>
                    </a:lnTo>
                    <a:lnTo>
                      <a:pt x="0" y="8"/>
                    </a:lnTo>
                    <a:lnTo>
                      <a:pt x="0" y="10"/>
                    </a:lnTo>
                    <a:lnTo>
                      <a:pt x="2" y="4"/>
                    </a:lnTo>
                    <a:lnTo>
                      <a:pt x="4" y="2"/>
                    </a:lnTo>
                    <a:lnTo>
                      <a:pt x="2" y="0"/>
                    </a:lnTo>
                    <a:lnTo>
                      <a:pt x="2" y="2"/>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50" name="Freeform 536">
                <a:extLst>
                  <a:ext uri="{FF2B5EF4-FFF2-40B4-BE49-F238E27FC236}">
                    <a16:creationId xmlns:a16="http://schemas.microsoft.com/office/drawing/2014/main" id="{F7646944-9EB0-7301-00FF-37882C5CE306}"/>
                  </a:ext>
                </a:extLst>
              </p:cNvPr>
              <p:cNvSpPr>
                <a:spLocks/>
              </p:cNvSpPr>
              <p:nvPr/>
            </p:nvSpPr>
            <p:spPr bwMode="auto">
              <a:xfrm>
                <a:off x="4974982" y="3324228"/>
                <a:ext cx="21391" cy="26899"/>
              </a:xfrm>
              <a:custGeom>
                <a:avLst/>
                <a:gdLst/>
                <a:ahLst/>
                <a:cxnLst>
                  <a:cxn ang="0">
                    <a:pos x="16" y="0"/>
                  </a:cxn>
                  <a:cxn ang="0">
                    <a:pos x="16" y="0"/>
                  </a:cxn>
                  <a:cxn ang="0">
                    <a:pos x="12" y="2"/>
                  </a:cxn>
                  <a:cxn ang="0">
                    <a:pos x="14" y="8"/>
                  </a:cxn>
                  <a:cxn ang="0">
                    <a:pos x="12" y="10"/>
                  </a:cxn>
                  <a:cxn ang="0">
                    <a:pos x="12" y="12"/>
                  </a:cxn>
                  <a:cxn ang="0">
                    <a:pos x="10" y="12"/>
                  </a:cxn>
                  <a:cxn ang="0">
                    <a:pos x="10" y="8"/>
                  </a:cxn>
                  <a:cxn ang="0">
                    <a:pos x="6" y="8"/>
                  </a:cxn>
                  <a:cxn ang="0">
                    <a:pos x="4" y="8"/>
                  </a:cxn>
                  <a:cxn ang="0">
                    <a:pos x="4" y="12"/>
                  </a:cxn>
                  <a:cxn ang="0">
                    <a:pos x="0" y="12"/>
                  </a:cxn>
                  <a:cxn ang="0">
                    <a:pos x="0" y="14"/>
                  </a:cxn>
                  <a:cxn ang="0">
                    <a:pos x="2" y="16"/>
                  </a:cxn>
                  <a:cxn ang="0">
                    <a:pos x="4" y="16"/>
                  </a:cxn>
                  <a:cxn ang="0">
                    <a:pos x="4" y="24"/>
                  </a:cxn>
                  <a:cxn ang="0">
                    <a:pos x="10" y="24"/>
                  </a:cxn>
                  <a:cxn ang="0">
                    <a:pos x="8" y="22"/>
                  </a:cxn>
                  <a:cxn ang="0">
                    <a:pos x="10" y="22"/>
                  </a:cxn>
                  <a:cxn ang="0">
                    <a:pos x="12" y="22"/>
                  </a:cxn>
                  <a:cxn ang="0">
                    <a:pos x="12" y="28"/>
                  </a:cxn>
                  <a:cxn ang="0">
                    <a:pos x="16" y="28"/>
                  </a:cxn>
                  <a:cxn ang="0">
                    <a:pos x="16" y="24"/>
                  </a:cxn>
                  <a:cxn ang="0">
                    <a:pos x="20" y="22"/>
                  </a:cxn>
                  <a:cxn ang="0">
                    <a:pos x="22" y="20"/>
                  </a:cxn>
                  <a:cxn ang="0">
                    <a:pos x="22" y="16"/>
                  </a:cxn>
                  <a:cxn ang="0">
                    <a:pos x="18" y="14"/>
                  </a:cxn>
                  <a:cxn ang="0">
                    <a:pos x="22" y="12"/>
                  </a:cxn>
                  <a:cxn ang="0">
                    <a:pos x="22" y="6"/>
                  </a:cxn>
                  <a:cxn ang="0">
                    <a:pos x="20" y="0"/>
                  </a:cxn>
                  <a:cxn ang="0">
                    <a:pos x="16" y="0"/>
                  </a:cxn>
                </a:cxnLst>
                <a:rect l="0" t="0" r="r" b="b"/>
                <a:pathLst>
                  <a:path w="22" h="28">
                    <a:moveTo>
                      <a:pt x="16" y="0"/>
                    </a:moveTo>
                    <a:lnTo>
                      <a:pt x="16" y="0"/>
                    </a:lnTo>
                    <a:lnTo>
                      <a:pt x="12" y="2"/>
                    </a:lnTo>
                    <a:lnTo>
                      <a:pt x="14" y="8"/>
                    </a:lnTo>
                    <a:lnTo>
                      <a:pt x="12" y="10"/>
                    </a:lnTo>
                    <a:lnTo>
                      <a:pt x="12" y="12"/>
                    </a:lnTo>
                    <a:lnTo>
                      <a:pt x="10" y="12"/>
                    </a:lnTo>
                    <a:lnTo>
                      <a:pt x="10" y="8"/>
                    </a:lnTo>
                    <a:lnTo>
                      <a:pt x="6" y="8"/>
                    </a:lnTo>
                    <a:lnTo>
                      <a:pt x="4" y="8"/>
                    </a:lnTo>
                    <a:lnTo>
                      <a:pt x="4" y="12"/>
                    </a:lnTo>
                    <a:lnTo>
                      <a:pt x="0" y="12"/>
                    </a:lnTo>
                    <a:lnTo>
                      <a:pt x="0" y="14"/>
                    </a:lnTo>
                    <a:lnTo>
                      <a:pt x="2" y="16"/>
                    </a:lnTo>
                    <a:lnTo>
                      <a:pt x="4" y="16"/>
                    </a:lnTo>
                    <a:lnTo>
                      <a:pt x="4" y="24"/>
                    </a:lnTo>
                    <a:lnTo>
                      <a:pt x="10" y="24"/>
                    </a:lnTo>
                    <a:lnTo>
                      <a:pt x="8" y="22"/>
                    </a:lnTo>
                    <a:lnTo>
                      <a:pt x="10" y="22"/>
                    </a:lnTo>
                    <a:lnTo>
                      <a:pt x="12" y="22"/>
                    </a:lnTo>
                    <a:lnTo>
                      <a:pt x="12" y="28"/>
                    </a:lnTo>
                    <a:lnTo>
                      <a:pt x="16" y="28"/>
                    </a:lnTo>
                    <a:lnTo>
                      <a:pt x="16" y="24"/>
                    </a:lnTo>
                    <a:lnTo>
                      <a:pt x="20" y="22"/>
                    </a:lnTo>
                    <a:lnTo>
                      <a:pt x="22" y="20"/>
                    </a:lnTo>
                    <a:lnTo>
                      <a:pt x="22" y="16"/>
                    </a:lnTo>
                    <a:lnTo>
                      <a:pt x="18" y="14"/>
                    </a:lnTo>
                    <a:lnTo>
                      <a:pt x="22" y="12"/>
                    </a:lnTo>
                    <a:lnTo>
                      <a:pt x="22" y="6"/>
                    </a:lnTo>
                    <a:lnTo>
                      <a:pt x="20" y="0"/>
                    </a:lnTo>
                    <a:lnTo>
                      <a:pt x="16"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51" name="Freeform 537">
                <a:extLst>
                  <a:ext uri="{FF2B5EF4-FFF2-40B4-BE49-F238E27FC236}">
                    <a16:creationId xmlns:a16="http://schemas.microsoft.com/office/drawing/2014/main" id="{02654084-52ED-75D6-4F42-BB99D33E49F1}"/>
                  </a:ext>
                </a:extLst>
              </p:cNvPr>
              <p:cNvSpPr>
                <a:spLocks/>
              </p:cNvSpPr>
              <p:nvPr/>
            </p:nvSpPr>
            <p:spPr bwMode="auto">
              <a:xfrm>
                <a:off x="4974982" y="3324228"/>
                <a:ext cx="21391" cy="26899"/>
              </a:xfrm>
              <a:custGeom>
                <a:avLst/>
                <a:gdLst/>
                <a:ahLst/>
                <a:cxnLst>
                  <a:cxn ang="0">
                    <a:pos x="16" y="0"/>
                  </a:cxn>
                  <a:cxn ang="0">
                    <a:pos x="16" y="0"/>
                  </a:cxn>
                  <a:cxn ang="0">
                    <a:pos x="12" y="2"/>
                  </a:cxn>
                  <a:cxn ang="0">
                    <a:pos x="14" y="8"/>
                  </a:cxn>
                  <a:cxn ang="0">
                    <a:pos x="12" y="10"/>
                  </a:cxn>
                  <a:cxn ang="0">
                    <a:pos x="12" y="12"/>
                  </a:cxn>
                  <a:cxn ang="0">
                    <a:pos x="10" y="12"/>
                  </a:cxn>
                  <a:cxn ang="0">
                    <a:pos x="10" y="8"/>
                  </a:cxn>
                  <a:cxn ang="0">
                    <a:pos x="6" y="8"/>
                  </a:cxn>
                  <a:cxn ang="0">
                    <a:pos x="4" y="8"/>
                  </a:cxn>
                  <a:cxn ang="0">
                    <a:pos x="4" y="12"/>
                  </a:cxn>
                  <a:cxn ang="0">
                    <a:pos x="0" y="12"/>
                  </a:cxn>
                  <a:cxn ang="0">
                    <a:pos x="0" y="14"/>
                  </a:cxn>
                  <a:cxn ang="0">
                    <a:pos x="2" y="16"/>
                  </a:cxn>
                  <a:cxn ang="0">
                    <a:pos x="4" y="16"/>
                  </a:cxn>
                  <a:cxn ang="0">
                    <a:pos x="4" y="24"/>
                  </a:cxn>
                  <a:cxn ang="0">
                    <a:pos x="10" y="24"/>
                  </a:cxn>
                  <a:cxn ang="0">
                    <a:pos x="8" y="22"/>
                  </a:cxn>
                  <a:cxn ang="0">
                    <a:pos x="10" y="22"/>
                  </a:cxn>
                  <a:cxn ang="0">
                    <a:pos x="12" y="22"/>
                  </a:cxn>
                  <a:cxn ang="0">
                    <a:pos x="12" y="28"/>
                  </a:cxn>
                  <a:cxn ang="0">
                    <a:pos x="16" y="28"/>
                  </a:cxn>
                  <a:cxn ang="0">
                    <a:pos x="16" y="24"/>
                  </a:cxn>
                  <a:cxn ang="0">
                    <a:pos x="20" y="22"/>
                  </a:cxn>
                  <a:cxn ang="0">
                    <a:pos x="22" y="20"/>
                  </a:cxn>
                  <a:cxn ang="0">
                    <a:pos x="22" y="16"/>
                  </a:cxn>
                  <a:cxn ang="0">
                    <a:pos x="18" y="14"/>
                  </a:cxn>
                  <a:cxn ang="0">
                    <a:pos x="22" y="12"/>
                  </a:cxn>
                  <a:cxn ang="0">
                    <a:pos x="22" y="6"/>
                  </a:cxn>
                  <a:cxn ang="0">
                    <a:pos x="20" y="0"/>
                  </a:cxn>
                  <a:cxn ang="0">
                    <a:pos x="16" y="0"/>
                  </a:cxn>
                </a:cxnLst>
                <a:rect l="0" t="0" r="r" b="b"/>
                <a:pathLst>
                  <a:path w="22" h="28">
                    <a:moveTo>
                      <a:pt x="16" y="0"/>
                    </a:moveTo>
                    <a:lnTo>
                      <a:pt x="16" y="0"/>
                    </a:lnTo>
                    <a:lnTo>
                      <a:pt x="12" y="2"/>
                    </a:lnTo>
                    <a:lnTo>
                      <a:pt x="14" y="8"/>
                    </a:lnTo>
                    <a:lnTo>
                      <a:pt x="12" y="10"/>
                    </a:lnTo>
                    <a:lnTo>
                      <a:pt x="12" y="12"/>
                    </a:lnTo>
                    <a:lnTo>
                      <a:pt x="10" y="12"/>
                    </a:lnTo>
                    <a:lnTo>
                      <a:pt x="10" y="8"/>
                    </a:lnTo>
                    <a:lnTo>
                      <a:pt x="6" y="8"/>
                    </a:lnTo>
                    <a:lnTo>
                      <a:pt x="4" y="8"/>
                    </a:lnTo>
                    <a:lnTo>
                      <a:pt x="4" y="12"/>
                    </a:lnTo>
                    <a:lnTo>
                      <a:pt x="0" y="12"/>
                    </a:lnTo>
                    <a:lnTo>
                      <a:pt x="0" y="14"/>
                    </a:lnTo>
                    <a:lnTo>
                      <a:pt x="2" y="16"/>
                    </a:lnTo>
                    <a:lnTo>
                      <a:pt x="4" y="16"/>
                    </a:lnTo>
                    <a:lnTo>
                      <a:pt x="4" y="24"/>
                    </a:lnTo>
                    <a:lnTo>
                      <a:pt x="10" y="24"/>
                    </a:lnTo>
                    <a:lnTo>
                      <a:pt x="8" y="22"/>
                    </a:lnTo>
                    <a:lnTo>
                      <a:pt x="10" y="22"/>
                    </a:lnTo>
                    <a:lnTo>
                      <a:pt x="12" y="22"/>
                    </a:lnTo>
                    <a:lnTo>
                      <a:pt x="12" y="28"/>
                    </a:lnTo>
                    <a:lnTo>
                      <a:pt x="16" y="28"/>
                    </a:lnTo>
                    <a:lnTo>
                      <a:pt x="16" y="24"/>
                    </a:lnTo>
                    <a:lnTo>
                      <a:pt x="20" y="22"/>
                    </a:lnTo>
                    <a:lnTo>
                      <a:pt x="22" y="20"/>
                    </a:lnTo>
                    <a:lnTo>
                      <a:pt x="22" y="16"/>
                    </a:lnTo>
                    <a:lnTo>
                      <a:pt x="18" y="14"/>
                    </a:lnTo>
                    <a:lnTo>
                      <a:pt x="22" y="12"/>
                    </a:lnTo>
                    <a:lnTo>
                      <a:pt x="22" y="6"/>
                    </a:lnTo>
                    <a:lnTo>
                      <a:pt x="20" y="0"/>
                    </a:lnTo>
                    <a:lnTo>
                      <a:pt x="16"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52" name="Freeform 538">
                <a:extLst>
                  <a:ext uri="{FF2B5EF4-FFF2-40B4-BE49-F238E27FC236}">
                    <a16:creationId xmlns:a16="http://schemas.microsoft.com/office/drawing/2014/main" id="{4ECA2925-02C9-BFCF-9172-7D932A4FC5FC}"/>
                  </a:ext>
                </a:extLst>
              </p:cNvPr>
              <p:cNvSpPr>
                <a:spLocks/>
              </p:cNvSpPr>
              <p:nvPr/>
            </p:nvSpPr>
            <p:spPr bwMode="auto">
              <a:xfrm>
                <a:off x="4947757" y="3308856"/>
                <a:ext cx="3890" cy="3843"/>
              </a:xfrm>
              <a:custGeom>
                <a:avLst/>
                <a:gdLst/>
                <a:ahLst/>
                <a:cxnLst>
                  <a:cxn ang="0">
                    <a:pos x="2" y="0"/>
                  </a:cxn>
                  <a:cxn ang="0">
                    <a:pos x="2" y="0"/>
                  </a:cxn>
                  <a:cxn ang="0">
                    <a:pos x="0" y="2"/>
                  </a:cxn>
                  <a:cxn ang="0">
                    <a:pos x="0" y="4"/>
                  </a:cxn>
                  <a:cxn ang="0">
                    <a:pos x="2" y="2"/>
                  </a:cxn>
                  <a:cxn ang="0">
                    <a:pos x="4" y="2"/>
                  </a:cxn>
                  <a:cxn ang="0">
                    <a:pos x="4" y="0"/>
                  </a:cxn>
                  <a:cxn ang="0">
                    <a:pos x="2" y="0"/>
                  </a:cxn>
                </a:cxnLst>
                <a:rect l="0" t="0" r="r" b="b"/>
                <a:pathLst>
                  <a:path w="4" h="4">
                    <a:moveTo>
                      <a:pt x="2" y="0"/>
                    </a:moveTo>
                    <a:lnTo>
                      <a:pt x="2" y="0"/>
                    </a:lnTo>
                    <a:lnTo>
                      <a:pt x="0" y="2"/>
                    </a:lnTo>
                    <a:lnTo>
                      <a:pt x="0" y="4"/>
                    </a:lnTo>
                    <a:lnTo>
                      <a:pt x="2" y="2"/>
                    </a:lnTo>
                    <a:lnTo>
                      <a:pt x="4" y="2"/>
                    </a:lnTo>
                    <a:lnTo>
                      <a:pt x="4" y="0"/>
                    </a:lnTo>
                    <a:lnTo>
                      <a:pt x="2" y="0"/>
                    </a:lnTo>
                    <a:close/>
                  </a:path>
                </a:pathLst>
              </a:custGeom>
              <a:solidFill>
                <a:srgbClr val="C4C4CD"/>
              </a:solidFill>
              <a:ln w="3175">
                <a:solidFill>
                  <a:srgbClr val="2E2E38">
                    <a:lumMod val="20000"/>
                    <a:lumOff val="8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53" name="Freeform 539">
                <a:extLst>
                  <a:ext uri="{FF2B5EF4-FFF2-40B4-BE49-F238E27FC236}">
                    <a16:creationId xmlns:a16="http://schemas.microsoft.com/office/drawing/2014/main" id="{2D60B975-DDE2-F6EB-B053-651A1B99555B}"/>
                  </a:ext>
                </a:extLst>
              </p:cNvPr>
              <p:cNvSpPr>
                <a:spLocks/>
              </p:cNvSpPr>
              <p:nvPr/>
            </p:nvSpPr>
            <p:spPr bwMode="auto">
              <a:xfrm>
                <a:off x="4947757" y="3308856"/>
                <a:ext cx="3890" cy="3843"/>
              </a:xfrm>
              <a:custGeom>
                <a:avLst/>
                <a:gdLst/>
                <a:ahLst/>
                <a:cxnLst>
                  <a:cxn ang="0">
                    <a:pos x="2" y="0"/>
                  </a:cxn>
                  <a:cxn ang="0">
                    <a:pos x="2" y="0"/>
                  </a:cxn>
                  <a:cxn ang="0">
                    <a:pos x="0" y="2"/>
                  </a:cxn>
                  <a:cxn ang="0">
                    <a:pos x="0" y="4"/>
                  </a:cxn>
                  <a:cxn ang="0">
                    <a:pos x="2" y="2"/>
                  </a:cxn>
                  <a:cxn ang="0">
                    <a:pos x="4" y="2"/>
                  </a:cxn>
                  <a:cxn ang="0">
                    <a:pos x="4" y="0"/>
                  </a:cxn>
                  <a:cxn ang="0">
                    <a:pos x="2" y="0"/>
                  </a:cxn>
                </a:cxnLst>
                <a:rect l="0" t="0" r="r" b="b"/>
                <a:pathLst>
                  <a:path w="4" h="4">
                    <a:moveTo>
                      <a:pt x="2" y="0"/>
                    </a:moveTo>
                    <a:lnTo>
                      <a:pt x="2" y="0"/>
                    </a:lnTo>
                    <a:lnTo>
                      <a:pt x="0" y="2"/>
                    </a:lnTo>
                    <a:lnTo>
                      <a:pt x="0" y="4"/>
                    </a:lnTo>
                    <a:lnTo>
                      <a:pt x="2" y="2"/>
                    </a:lnTo>
                    <a:lnTo>
                      <a:pt x="4" y="2"/>
                    </a:lnTo>
                    <a:lnTo>
                      <a:pt x="4" y="0"/>
                    </a:lnTo>
                    <a:lnTo>
                      <a:pt x="2" y="0"/>
                    </a:lnTo>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54" name="Freeform 540">
                <a:extLst>
                  <a:ext uri="{FF2B5EF4-FFF2-40B4-BE49-F238E27FC236}">
                    <a16:creationId xmlns:a16="http://schemas.microsoft.com/office/drawing/2014/main" id="{A9D3E95B-2502-9E5F-46BB-2C8DEBBAAF62}"/>
                  </a:ext>
                </a:extLst>
              </p:cNvPr>
              <p:cNvSpPr>
                <a:spLocks/>
              </p:cNvSpPr>
              <p:nvPr/>
            </p:nvSpPr>
            <p:spPr bwMode="auto">
              <a:xfrm>
                <a:off x="4990540" y="3420296"/>
                <a:ext cx="75843" cy="48034"/>
              </a:xfrm>
              <a:custGeom>
                <a:avLst/>
                <a:gdLst/>
                <a:ahLst/>
                <a:cxnLst>
                  <a:cxn ang="0">
                    <a:pos x="62" y="44"/>
                  </a:cxn>
                  <a:cxn ang="0">
                    <a:pos x="62" y="44"/>
                  </a:cxn>
                  <a:cxn ang="0">
                    <a:pos x="62" y="44"/>
                  </a:cxn>
                  <a:cxn ang="0">
                    <a:pos x="64" y="42"/>
                  </a:cxn>
                  <a:cxn ang="0">
                    <a:pos x="68" y="40"/>
                  </a:cxn>
                  <a:cxn ang="0">
                    <a:pos x="70" y="38"/>
                  </a:cxn>
                  <a:cxn ang="0">
                    <a:pos x="70" y="36"/>
                  </a:cxn>
                  <a:cxn ang="0">
                    <a:pos x="70" y="34"/>
                  </a:cxn>
                  <a:cxn ang="0">
                    <a:pos x="78" y="32"/>
                  </a:cxn>
                  <a:cxn ang="0">
                    <a:pos x="76" y="26"/>
                  </a:cxn>
                  <a:cxn ang="0">
                    <a:pos x="74" y="24"/>
                  </a:cxn>
                  <a:cxn ang="0">
                    <a:pos x="72" y="24"/>
                  </a:cxn>
                  <a:cxn ang="0">
                    <a:pos x="72" y="22"/>
                  </a:cxn>
                  <a:cxn ang="0">
                    <a:pos x="70" y="20"/>
                  </a:cxn>
                  <a:cxn ang="0">
                    <a:pos x="68" y="18"/>
                  </a:cxn>
                  <a:cxn ang="0">
                    <a:pos x="66" y="18"/>
                  </a:cxn>
                  <a:cxn ang="0">
                    <a:pos x="62" y="18"/>
                  </a:cxn>
                  <a:cxn ang="0">
                    <a:pos x="56" y="16"/>
                  </a:cxn>
                  <a:cxn ang="0">
                    <a:pos x="52" y="12"/>
                  </a:cxn>
                  <a:cxn ang="0">
                    <a:pos x="50" y="10"/>
                  </a:cxn>
                  <a:cxn ang="0">
                    <a:pos x="48" y="10"/>
                  </a:cxn>
                  <a:cxn ang="0">
                    <a:pos x="46" y="10"/>
                  </a:cxn>
                  <a:cxn ang="0">
                    <a:pos x="44" y="10"/>
                  </a:cxn>
                  <a:cxn ang="0">
                    <a:pos x="44" y="8"/>
                  </a:cxn>
                  <a:cxn ang="0">
                    <a:pos x="42" y="6"/>
                  </a:cxn>
                  <a:cxn ang="0">
                    <a:pos x="36" y="6"/>
                  </a:cxn>
                  <a:cxn ang="0">
                    <a:pos x="32" y="4"/>
                  </a:cxn>
                  <a:cxn ang="0">
                    <a:pos x="26" y="0"/>
                  </a:cxn>
                  <a:cxn ang="0">
                    <a:pos x="18" y="6"/>
                  </a:cxn>
                  <a:cxn ang="0">
                    <a:pos x="12" y="8"/>
                  </a:cxn>
                  <a:cxn ang="0">
                    <a:pos x="10" y="12"/>
                  </a:cxn>
                  <a:cxn ang="0">
                    <a:pos x="6" y="14"/>
                  </a:cxn>
                  <a:cxn ang="0">
                    <a:pos x="2" y="14"/>
                  </a:cxn>
                  <a:cxn ang="0">
                    <a:pos x="0" y="16"/>
                  </a:cxn>
                  <a:cxn ang="0">
                    <a:pos x="0" y="20"/>
                  </a:cxn>
                  <a:cxn ang="0">
                    <a:pos x="4" y="24"/>
                  </a:cxn>
                  <a:cxn ang="0">
                    <a:pos x="6" y="28"/>
                  </a:cxn>
                  <a:cxn ang="0">
                    <a:pos x="8" y="32"/>
                  </a:cxn>
                  <a:cxn ang="0">
                    <a:pos x="8" y="36"/>
                  </a:cxn>
                  <a:cxn ang="0">
                    <a:pos x="10" y="40"/>
                  </a:cxn>
                  <a:cxn ang="0">
                    <a:pos x="12" y="40"/>
                  </a:cxn>
                  <a:cxn ang="0">
                    <a:pos x="14" y="40"/>
                  </a:cxn>
                  <a:cxn ang="0">
                    <a:pos x="16" y="42"/>
                  </a:cxn>
                  <a:cxn ang="0">
                    <a:pos x="20" y="44"/>
                  </a:cxn>
                  <a:cxn ang="0">
                    <a:pos x="24" y="48"/>
                  </a:cxn>
                  <a:cxn ang="0">
                    <a:pos x="28" y="50"/>
                  </a:cxn>
                  <a:cxn ang="0">
                    <a:pos x="30" y="48"/>
                  </a:cxn>
                  <a:cxn ang="0">
                    <a:pos x="34" y="44"/>
                  </a:cxn>
                  <a:cxn ang="0">
                    <a:pos x="36" y="42"/>
                  </a:cxn>
                  <a:cxn ang="0">
                    <a:pos x="38" y="42"/>
                  </a:cxn>
                  <a:cxn ang="0">
                    <a:pos x="40" y="42"/>
                  </a:cxn>
                  <a:cxn ang="0">
                    <a:pos x="42" y="44"/>
                  </a:cxn>
                  <a:cxn ang="0">
                    <a:pos x="46" y="44"/>
                  </a:cxn>
                  <a:cxn ang="0">
                    <a:pos x="52" y="46"/>
                  </a:cxn>
                  <a:cxn ang="0">
                    <a:pos x="62" y="44"/>
                  </a:cxn>
                  <a:cxn ang="0">
                    <a:pos x="62" y="44"/>
                  </a:cxn>
                </a:cxnLst>
                <a:rect l="0" t="0" r="r" b="b"/>
                <a:pathLst>
                  <a:path w="78" h="50">
                    <a:moveTo>
                      <a:pt x="62" y="44"/>
                    </a:moveTo>
                    <a:lnTo>
                      <a:pt x="62" y="44"/>
                    </a:lnTo>
                    <a:lnTo>
                      <a:pt x="62" y="44"/>
                    </a:lnTo>
                    <a:lnTo>
                      <a:pt x="64" y="42"/>
                    </a:lnTo>
                    <a:lnTo>
                      <a:pt x="68" y="40"/>
                    </a:lnTo>
                    <a:lnTo>
                      <a:pt x="70" y="38"/>
                    </a:lnTo>
                    <a:lnTo>
                      <a:pt x="70" y="36"/>
                    </a:lnTo>
                    <a:lnTo>
                      <a:pt x="70" y="34"/>
                    </a:lnTo>
                    <a:lnTo>
                      <a:pt x="78" y="32"/>
                    </a:lnTo>
                    <a:lnTo>
                      <a:pt x="76" y="26"/>
                    </a:lnTo>
                    <a:lnTo>
                      <a:pt x="74" y="24"/>
                    </a:lnTo>
                    <a:lnTo>
                      <a:pt x="72" y="24"/>
                    </a:lnTo>
                    <a:lnTo>
                      <a:pt x="72" y="22"/>
                    </a:lnTo>
                    <a:lnTo>
                      <a:pt x="70" y="20"/>
                    </a:lnTo>
                    <a:lnTo>
                      <a:pt x="68" y="18"/>
                    </a:lnTo>
                    <a:lnTo>
                      <a:pt x="66" y="18"/>
                    </a:lnTo>
                    <a:lnTo>
                      <a:pt x="62" y="18"/>
                    </a:lnTo>
                    <a:lnTo>
                      <a:pt x="56" y="16"/>
                    </a:lnTo>
                    <a:lnTo>
                      <a:pt x="52" y="12"/>
                    </a:lnTo>
                    <a:lnTo>
                      <a:pt x="50" y="10"/>
                    </a:lnTo>
                    <a:lnTo>
                      <a:pt x="48" y="10"/>
                    </a:lnTo>
                    <a:lnTo>
                      <a:pt x="46" y="10"/>
                    </a:lnTo>
                    <a:lnTo>
                      <a:pt x="44" y="10"/>
                    </a:lnTo>
                    <a:lnTo>
                      <a:pt x="44" y="8"/>
                    </a:lnTo>
                    <a:lnTo>
                      <a:pt x="42" y="6"/>
                    </a:lnTo>
                    <a:lnTo>
                      <a:pt x="36" y="6"/>
                    </a:lnTo>
                    <a:lnTo>
                      <a:pt x="32" y="4"/>
                    </a:lnTo>
                    <a:lnTo>
                      <a:pt x="26" y="0"/>
                    </a:lnTo>
                    <a:lnTo>
                      <a:pt x="18" y="6"/>
                    </a:lnTo>
                    <a:lnTo>
                      <a:pt x="12" y="8"/>
                    </a:lnTo>
                    <a:lnTo>
                      <a:pt x="10" y="12"/>
                    </a:lnTo>
                    <a:lnTo>
                      <a:pt x="6" y="14"/>
                    </a:lnTo>
                    <a:lnTo>
                      <a:pt x="2" y="14"/>
                    </a:lnTo>
                    <a:lnTo>
                      <a:pt x="0" y="16"/>
                    </a:lnTo>
                    <a:lnTo>
                      <a:pt x="0" y="20"/>
                    </a:lnTo>
                    <a:lnTo>
                      <a:pt x="4" y="24"/>
                    </a:lnTo>
                    <a:lnTo>
                      <a:pt x="6" y="28"/>
                    </a:lnTo>
                    <a:lnTo>
                      <a:pt x="8" y="32"/>
                    </a:lnTo>
                    <a:lnTo>
                      <a:pt x="8" y="36"/>
                    </a:lnTo>
                    <a:lnTo>
                      <a:pt x="10" y="40"/>
                    </a:lnTo>
                    <a:lnTo>
                      <a:pt x="12" y="40"/>
                    </a:lnTo>
                    <a:lnTo>
                      <a:pt x="14" y="40"/>
                    </a:lnTo>
                    <a:lnTo>
                      <a:pt x="16" y="42"/>
                    </a:lnTo>
                    <a:lnTo>
                      <a:pt x="20" y="44"/>
                    </a:lnTo>
                    <a:lnTo>
                      <a:pt x="24" y="48"/>
                    </a:lnTo>
                    <a:lnTo>
                      <a:pt x="28" y="50"/>
                    </a:lnTo>
                    <a:lnTo>
                      <a:pt x="30" y="48"/>
                    </a:lnTo>
                    <a:lnTo>
                      <a:pt x="34" y="44"/>
                    </a:lnTo>
                    <a:lnTo>
                      <a:pt x="36" y="42"/>
                    </a:lnTo>
                    <a:lnTo>
                      <a:pt x="38" y="42"/>
                    </a:lnTo>
                    <a:lnTo>
                      <a:pt x="40" y="42"/>
                    </a:lnTo>
                    <a:lnTo>
                      <a:pt x="42" y="44"/>
                    </a:lnTo>
                    <a:lnTo>
                      <a:pt x="46" y="44"/>
                    </a:lnTo>
                    <a:lnTo>
                      <a:pt x="52" y="46"/>
                    </a:lnTo>
                    <a:lnTo>
                      <a:pt x="62" y="44"/>
                    </a:lnTo>
                    <a:lnTo>
                      <a:pt x="62" y="4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55" name="Freeform 541">
                <a:extLst>
                  <a:ext uri="{FF2B5EF4-FFF2-40B4-BE49-F238E27FC236}">
                    <a16:creationId xmlns:a16="http://schemas.microsoft.com/office/drawing/2014/main" id="{D40D1C78-7412-7638-E3FA-286F5DA6D287}"/>
                  </a:ext>
                </a:extLst>
              </p:cNvPr>
              <p:cNvSpPr>
                <a:spLocks/>
              </p:cNvSpPr>
              <p:nvPr/>
            </p:nvSpPr>
            <p:spPr bwMode="auto">
              <a:xfrm>
                <a:off x="5006097" y="3502915"/>
                <a:ext cx="75843" cy="80698"/>
              </a:xfrm>
              <a:custGeom>
                <a:avLst/>
                <a:gdLst/>
                <a:ahLst/>
                <a:cxnLst>
                  <a:cxn ang="0">
                    <a:pos x="68" y="84"/>
                  </a:cxn>
                  <a:cxn ang="0">
                    <a:pos x="60" y="76"/>
                  </a:cxn>
                  <a:cxn ang="0">
                    <a:pos x="54" y="72"/>
                  </a:cxn>
                  <a:cxn ang="0">
                    <a:pos x="44" y="62"/>
                  </a:cxn>
                  <a:cxn ang="0">
                    <a:pos x="36" y="52"/>
                  </a:cxn>
                  <a:cxn ang="0">
                    <a:pos x="38" y="50"/>
                  </a:cxn>
                  <a:cxn ang="0">
                    <a:pos x="30" y="38"/>
                  </a:cxn>
                  <a:cxn ang="0">
                    <a:pos x="30" y="32"/>
                  </a:cxn>
                  <a:cxn ang="0">
                    <a:pos x="34" y="32"/>
                  </a:cxn>
                  <a:cxn ang="0">
                    <a:pos x="38" y="36"/>
                  </a:cxn>
                  <a:cxn ang="0">
                    <a:pos x="40" y="34"/>
                  </a:cxn>
                  <a:cxn ang="0">
                    <a:pos x="46" y="38"/>
                  </a:cxn>
                  <a:cxn ang="0">
                    <a:pos x="50" y="36"/>
                  </a:cxn>
                  <a:cxn ang="0">
                    <a:pos x="58" y="36"/>
                  </a:cxn>
                  <a:cxn ang="0">
                    <a:pos x="66" y="40"/>
                  </a:cxn>
                  <a:cxn ang="0">
                    <a:pos x="72" y="42"/>
                  </a:cxn>
                  <a:cxn ang="0">
                    <a:pos x="78" y="40"/>
                  </a:cxn>
                  <a:cxn ang="0">
                    <a:pos x="76" y="34"/>
                  </a:cxn>
                  <a:cxn ang="0">
                    <a:pos x="76" y="30"/>
                  </a:cxn>
                  <a:cxn ang="0">
                    <a:pos x="76" y="28"/>
                  </a:cxn>
                  <a:cxn ang="0">
                    <a:pos x="72" y="28"/>
                  </a:cxn>
                  <a:cxn ang="0">
                    <a:pos x="64" y="24"/>
                  </a:cxn>
                  <a:cxn ang="0">
                    <a:pos x="52" y="14"/>
                  </a:cxn>
                  <a:cxn ang="0">
                    <a:pos x="46" y="4"/>
                  </a:cxn>
                  <a:cxn ang="0">
                    <a:pos x="40" y="0"/>
                  </a:cxn>
                  <a:cxn ang="0">
                    <a:pos x="36" y="2"/>
                  </a:cxn>
                  <a:cxn ang="0">
                    <a:pos x="30" y="6"/>
                  </a:cxn>
                  <a:cxn ang="0">
                    <a:pos x="26" y="8"/>
                  </a:cxn>
                  <a:cxn ang="0">
                    <a:pos x="22" y="20"/>
                  </a:cxn>
                  <a:cxn ang="0">
                    <a:pos x="20" y="20"/>
                  </a:cxn>
                  <a:cxn ang="0">
                    <a:pos x="18" y="16"/>
                  </a:cxn>
                  <a:cxn ang="0">
                    <a:pos x="18" y="22"/>
                  </a:cxn>
                  <a:cxn ang="0">
                    <a:pos x="12" y="28"/>
                  </a:cxn>
                  <a:cxn ang="0">
                    <a:pos x="0" y="32"/>
                  </a:cxn>
                  <a:cxn ang="0">
                    <a:pos x="2" y="44"/>
                  </a:cxn>
                  <a:cxn ang="0">
                    <a:pos x="6" y="40"/>
                  </a:cxn>
                  <a:cxn ang="0">
                    <a:pos x="10" y="38"/>
                  </a:cxn>
                  <a:cxn ang="0">
                    <a:pos x="16" y="32"/>
                  </a:cxn>
                  <a:cxn ang="0">
                    <a:pos x="16" y="44"/>
                  </a:cxn>
                  <a:cxn ang="0">
                    <a:pos x="24" y="52"/>
                  </a:cxn>
                  <a:cxn ang="0">
                    <a:pos x="20" y="54"/>
                  </a:cxn>
                  <a:cxn ang="0">
                    <a:pos x="26" y="62"/>
                  </a:cxn>
                  <a:cxn ang="0">
                    <a:pos x="32" y="64"/>
                  </a:cxn>
                  <a:cxn ang="0">
                    <a:pos x="36" y="66"/>
                  </a:cxn>
                  <a:cxn ang="0">
                    <a:pos x="52" y="76"/>
                  </a:cxn>
                  <a:cxn ang="0">
                    <a:pos x="58" y="76"/>
                  </a:cxn>
                  <a:cxn ang="0">
                    <a:pos x="64" y="84"/>
                  </a:cxn>
                  <a:cxn ang="0">
                    <a:pos x="68" y="84"/>
                  </a:cxn>
                </a:cxnLst>
                <a:rect l="0" t="0" r="r" b="b"/>
                <a:pathLst>
                  <a:path w="78" h="84">
                    <a:moveTo>
                      <a:pt x="68" y="84"/>
                    </a:moveTo>
                    <a:lnTo>
                      <a:pt x="68" y="84"/>
                    </a:lnTo>
                    <a:lnTo>
                      <a:pt x="64" y="80"/>
                    </a:lnTo>
                    <a:lnTo>
                      <a:pt x="60" y="76"/>
                    </a:lnTo>
                    <a:lnTo>
                      <a:pt x="58" y="74"/>
                    </a:lnTo>
                    <a:lnTo>
                      <a:pt x="54" y="72"/>
                    </a:lnTo>
                    <a:lnTo>
                      <a:pt x="50" y="68"/>
                    </a:lnTo>
                    <a:lnTo>
                      <a:pt x="44" y="62"/>
                    </a:lnTo>
                    <a:lnTo>
                      <a:pt x="38" y="54"/>
                    </a:lnTo>
                    <a:lnTo>
                      <a:pt x="36" y="52"/>
                    </a:lnTo>
                    <a:lnTo>
                      <a:pt x="38" y="52"/>
                    </a:lnTo>
                    <a:lnTo>
                      <a:pt x="38" y="50"/>
                    </a:lnTo>
                    <a:lnTo>
                      <a:pt x="34" y="42"/>
                    </a:lnTo>
                    <a:lnTo>
                      <a:pt x="30" y="38"/>
                    </a:lnTo>
                    <a:lnTo>
                      <a:pt x="30" y="34"/>
                    </a:lnTo>
                    <a:lnTo>
                      <a:pt x="30" y="32"/>
                    </a:lnTo>
                    <a:lnTo>
                      <a:pt x="32" y="32"/>
                    </a:lnTo>
                    <a:lnTo>
                      <a:pt x="34" y="32"/>
                    </a:lnTo>
                    <a:lnTo>
                      <a:pt x="36" y="36"/>
                    </a:lnTo>
                    <a:lnTo>
                      <a:pt x="38" y="36"/>
                    </a:lnTo>
                    <a:lnTo>
                      <a:pt x="40" y="36"/>
                    </a:lnTo>
                    <a:lnTo>
                      <a:pt x="40" y="34"/>
                    </a:lnTo>
                    <a:lnTo>
                      <a:pt x="42" y="36"/>
                    </a:lnTo>
                    <a:lnTo>
                      <a:pt x="46" y="38"/>
                    </a:lnTo>
                    <a:lnTo>
                      <a:pt x="48" y="38"/>
                    </a:lnTo>
                    <a:lnTo>
                      <a:pt x="50" y="36"/>
                    </a:lnTo>
                    <a:lnTo>
                      <a:pt x="54" y="36"/>
                    </a:lnTo>
                    <a:lnTo>
                      <a:pt x="58" y="36"/>
                    </a:lnTo>
                    <a:lnTo>
                      <a:pt x="64" y="38"/>
                    </a:lnTo>
                    <a:lnTo>
                      <a:pt x="66" y="40"/>
                    </a:lnTo>
                    <a:lnTo>
                      <a:pt x="68" y="42"/>
                    </a:lnTo>
                    <a:lnTo>
                      <a:pt x="72" y="42"/>
                    </a:lnTo>
                    <a:lnTo>
                      <a:pt x="76" y="42"/>
                    </a:lnTo>
                    <a:lnTo>
                      <a:pt x="78" y="40"/>
                    </a:lnTo>
                    <a:lnTo>
                      <a:pt x="78" y="38"/>
                    </a:lnTo>
                    <a:lnTo>
                      <a:pt x="76" y="34"/>
                    </a:lnTo>
                    <a:lnTo>
                      <a:pt x="76" y="32"/>
                    </a:lnTo>
                    <a:lnTo>
                      <a:pt x="76" y="30"/>
                    </a:lnTo>
                    <a:lnTo>
                      <a:pt x="78" y="28"/>
                    </a:lnTo>
                    <a:lnTo>
                      <a:pt x="76" y="28"/>
                    </a:lnTo>
                    <a:lnTo>
                      <a:pt x="74" y="28"/>
                    </a:lnTo>
                    <a:lnTo>
                      <a:pt x="72" y="28"/>
                    </a:lnTo>
                    <a:lnTo>
                      <a:pt x="68" y="26"/>
                    </a:lnTo>
                    <a:lnTo>
                      <a:pt x="64" y="24"/>
                    </a:lnTo>
                    <a:lnTo>
                      <a:pt x="58" y="20"/>
                    </a:lnTo>
                    <a:lnTo>
                      <a:pt x="52" y="14"/>
                    </a:lnTo>
                    <a:lnTo>
                      <a:pt x="48" y="8"/>
                    </a:lnTo>
                    <a:lnTo>
                      <a:pt x="46" y="4"/>
                    </a:lnTo>
                    <a:lnTo>
                      <a:pt x="44" y="2"/>
                    </a:lnTo>
                    <a:lnTo>
                      <a:pt x="40" y="0"/>
                    </a:lnTo>
                    <a:lnTo>
                      <a:pt x="38" y="2"/>
                    </a:lnTo>
                    <a:lnTo>
                      <a:pt x="36" y="2"/>
                    </a:lnTo>
                    <a:lnTo>
                      <a:pt x="34" y="6"/>
                    </a:lnTo>
                    <a:lnTo>
                      <a:pt x="30" y="6"/>
                    </a:lnTo>
                    <a:lnTo>
                      <a:pt x="28" y="6"/>
                    </a:lnTo>
                    <a:lnTo>
                      <a:pt x="26" y="8"/>
                    </a:lnTo>
                    <a:lnTo>
                      <a:pt x="24" y="16"/>
                    </a:lnTo>
                    <a:lnTo>
                      <a:pt x="22" y="20"/>
                    </a:lnTo>
                    <a:lnTo>
                      <a:pt x="20" y="20"/>
                    </a:lnTo>
                    <a:lnTo>
                      <a:pt x="20" y="20"/>
                    </a:lnTo>
                    <a:lnTo>
                      <a:pt x="18" y="18"/>
                    </a:lnTo>
                    <a:lnTo>
                      <a:pt x="18" y="16"/>
                    </a:lnTo>
                    <a:lnTo>
                      <a:pt x="16" y="18"/>
                    </a:lnTo>
                    <a:lnTo>
                      <a:pt x="18" y="22"/>
                    </a:lnTo>
                    <a:lnTo>
                      <a:pt x="16" y="26"/>
                    </a:lnTo>
                    <a:lnTo>
                      <a:pt x="12" y="28"/>
                    </a:lnTo>
                    <a:lnTo>
                      <a:pt x="8" y="30"/>
                    </a:lnTo>
                    <a:lnTo>
                      <a:pt x="0" y="32"/>
                    </a:lnTo>
                    <a:lnTo>
                      <a:pt x="2" y="38"/>
                    </a:lnTo>
                    <a:lnTo>
                      <a:pt x="2" y="44"/>
                    </a:lnTo>
                    <a:lnTo>
                      <a:pt x="6" y="42"/>
                    </a:lnTo>
                    <a:lnTo>
                      <a:pt x="6" y="40"/>
                    </a:lnTo>
                    <a:lnTo>
                      <a:pt x="8" y="38"/>
                    </a:lnTo>
                    <a:lnTo>
                      <a:pt x="10" y="38"/>
                    </a:lnTo>
                    <a:lnTo>
                      <a:pt x="14" y="28"/>
                    </a:lnTo>
                    <a:lnTo>
                      <a:pt x="16" y="32"/>
                    </a:lnTo>
                    <a:lnTo>
                      <a:pt x="18" y="36"/>
                    </a:lnTo>
                    <a:lnTo>
                      <a:pt x="16" y="44"/>
                    </a:lnTo>
                    <a:lnTo>
                      <a:pt x="22" y="50"/>
                    </a:lnTo>
                    <a:lnTo>
                      <a:pt x="24" y="52"/>
                    </a:lnTo>
                    <a:lnTo>
                      <a:pt x="22" y="54"/>
                    </a:lnTo>
                    <a:lnTo>
                      <a:pt x="20" y="54"/>
                    </a:lnTo>
                    <a:lnTo>
                      <a:pt x="20" y="58"/>
                    </a:lnTo>
                    <a:lnTo>
                      <a:pt x="26" y="62"/>
                    </a:lnTo>
                    <a:lnTo>
                      <a:pt x="30" y="62"/>
                    </a:lnTo>
                    <a:lnTo>
                      <a:pt x="32" y="64"/>
                    </a:lnTo>
                    <a:lnTo>
                      <a:pt x="32" y="66"/>
                    </a:lnTo>
                    <a:lnTo>
                      <a:pt x="36" y="66"/>
                    </a:lnTo>
                    <a:lnTo>
                      <a:pt x="40" y="64"/>
                    </a:lnTo>
                    <a:lnTo>
                      <a:pt x="52" y="76"/>
                    </a:lnTo>
                    <a:lnTo>
                      <a:pt x="56" y="76"/>
                    </a:lnTo>
                    <a:lnTo>
                      <a:pt x="58" y="76"/>
                    </a:lnTo>
                    <a:lnTo>
                      <a:pt x="60" y="80"/>
                    </a:lnTo>
                    <a:lnTo>
                      <a:pt x="64" y="84"/>
                    </a:lnTo>
                    <a:lnTo>
                      <a:pt x="68" y="84"/>
                    </a:lnTo>
                    <a:lnTo>
                      <a:pt x="68" y="8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56" name="Freeform 542">
                <a:extLst>
                  <a:ext uri="{FF2B5EF4-FFF2-40B4-BE49-F238E27FC236}">
                    <a16:creationId xmlns:a16="http://schemas.microsoft.com/office/drawing/2014/main" id="{00C12D18-36AC-C793-8353-469DBF045155}"/>
                  </a:ext>
                </a:extLst>
              </p:cNvPr>
              <p:cNvSpPr>
                <a:spLocks/>
              </p:cNvSpPr>
              <p:nvPr/>
            </p:nvSpPr>
            <p:spPr bwMode="auto">
              <a:xfrm>
                <a:off x="5122779" y="3549028"/>
                <a:ext cx="77788" cy="53798"/>
              </a:xfrm>
              <a:custGeom>
                <a:avLst/>
                <a:gdLst/>
                <a:ahLst/>
                <a:cxnLst>
                  <a:cxn ang="0">
                    <a:pos x="80" y="4"/>
                  </a:cxn>
                  <a:cxn ang="0">
                    <a:pos x="70" y="0"/>
                  </a:cxn>
                  <a:cxn ang="0">
                    <a:pos x="62" y="4"/>
                  </a:cxn>
                  <a:cxn ang="0">
                    <a:pos x="56" y="0"/>
                  </a:cxn>
                  <a:cxn ang="0">
                    <a:pos x="48" y="4"/>
                  </a:cxn>
                  <a:cxn ang="0">
                    <a:pos x="40" y="8"/>
                  </a:cxn>
                  <a:cxn ang="0">
                    <a:pos x="28" y="8"/>
                  </a:cxn>
                  <a:cxn ang="0">
                    <a:pos x="24" y="8"/>
                  </a:cxn>
                  <a:cxn ang="0">
                    <a:pos x="16" y="8"/>
                  </a:cxn>
                  <a:cxn ang="0">
                    <a:pos x="14" y="6"/>
                  </a:cxn>
                  <a:cxn ang="0">
                    <a:pos x="16" y="2"/>
                  </a:cxn>
                  <a:cxn ang="0">
                    <a:pos x="10" y="0"/>
                  </a:cxn>
                  <a:cxn ang="0">
                    <a:pos x="6" y="8"/>
                  </a:cxn>
                  <a:cxn ang="0">
                    <a:pos x="2" y="12"/>
                  </a:cxn>
                  <a:cxn ang="0">
                    <a:pos x="2" y="20"/>
                  </a:cxn>
                  <a:cxn ang="0">
                    <a:pos x="10" y="22"/>
                  </a:cxn>
                  <a:cxn ang="0">
                    <a:pos x="6" y="30"/>
                  </a:cxn>
                  <a:cxn ang="0">
                    <a:pos x="8" y="38"/>
                  </a:cxn>
                  <a:cxn ang="0">
                    <a:pos x="8" y="42"/>
                  </a:cxn>
                  <a:cxn ang="0">
                    <a:pos x="12" y="48"/>
                  </a:cxn>
                  <a:cxn ang="0">
                    <a:pos x="10" y="54"/>
                  </a:cxn>
                  <a:cxn ang="0">
                    <a:pos x="20" y="56"/>
                  </a:cxn>
                  <a:cxn ang="0">
                    <a:pos x="26" y="52"/>
                  </a:cxn>
                  <a:cxn ang="0">
                    <a:pos x="30" y="48"/>
                  </a:cxn>
                  <a:cxn ang="0">
                    <a:pos x="38" y="50"/>
                  </a:cxn>
                  <a:cxn ang="0">
                    <a:pos x="40" y="54"/>
                  </a:cxn>
                  <a:cxn ang="0">
                    <a:pos x="50" y="54"/>
                  </a:cxn>
                  <a:cxn ang="0">
                    <a:pos x="50" y="52"/>
                  </a:cxn>
                  <a:cxn ang="0">
                    <a:pos x="52" y="48"/>
                  </a:cxn>
                  <a:cxn ang="0">
                    <a:pos x="56" y="46"/>
                  </a:cxn>
                  <a:cxn ang="0">
                    <a:pos x="64" y="46"/>
                  </a:cxn>
                  <a:cxn ang="0">
                    <a:pos x="72" y="46"/>
                  </a:cxn>
                  <a:cxn ang="0">
                    <a:pos x="66" y="38"/>
                  </a:cxn>
                  <a:cxn ang="0">
                    <a:pos x="70" y="26"/>
                  </a:cxn>
                  <a:cxn ang="0">
                    <a:pos x="80" y="16"/>
                  </a:cxn>
                  <a:cxn ang="0">
                    <a:pos x="80" y="4"/>
                  </a:cxn>
                </a:cxnLst>
                <a:rect l="0" t="0" r="r" b="b"/>
                <a:pathLst>
                  <a:path w="80" h="56">
                    <a:moveTo>
                      <a:pt x="80" y="4"/>
                    </a:moveTo>
                    <a:lnTo>
                      <a:pt x="80" y="4"/>
                    </a:lnTo>
                    <a:lnTo>
                      <a:pt x="74" y="0"/>
                    </a:lnTo>
                    <a:lnTo>
                      <a:pt x="70" y="0"/>
                    </a:lnTo>
                    <a:lnTo>
                      <a:pt x="66" y="2"/>
                    </a:lnTo>
                    <a:lnTo>
                      <a:pt x="62" y="4"/>
                    </a:lnTo>
                    <a:lnTo>
                      <a:pt x="60" y="2"/>
                    </a:lnTo>
                    <a:lnTo>
                      <a:pt x="56" y="0"/>
                    </a:lnTo>
                    <a:lnTo>
                      <a:pt x="52" y="0"/>
                    </a:lnTo>
                    <a:lnTo>
                      <a:pt x="48" y="4"/>
                    </a:lnTo>
                    <a:lnTo>
                      <a:pt x="44" y="6"/>
                    </a:lnTo>
                    <a:lnTo>
                      <a:pt x="40" y="8"/>
                    </a:lnTo>
                    <a:lnTo>
                      <a:pt x="34" y="8"/>
                    </a:lnTo>
                    <a:lnTo>
                      <a:pt x="28" y="8"/>
                    </a:lnTo>
                    <a:lnTo>
                      <a:pt x="26" y="6"/>
                    </a:lnTo>
                    <a:lnTo>
                      <a:pt x="24" y="8"/>
                    </a:lnTo>
                    <a:lnTo>
                      <a:pt x="20" y="8"/>
                    </a:lnTo>
                    <a:lnTo>
                      <a:pt x="16" y="8"/>
                    </a:lnTo>
                    <a:lnTo>
                      <a:pt x="14" y="8"/>
                    </a:lnTo>
                    <a:lnTo>
                      <a:pt x="14" y="6"/>
                    </a:lnTo>
                    <a:lnTo>
                      <a:pt x="16" y="4"/>
                    </a:lnTo>
                    <a:lnTo>
                      <a:pt x="16" y="2"/>
                    </a:lnTo>
                    <a:lnTo>
                      <a:pt x="14" y="2"/>
                    </a:lnTo>
                    <a:lnTo>
                      <a:pt x="10" y="0"/>
                    </a:lnTo>
                    <a:lnTo>
                      <a:pt x="10" y="4"/>
                    </a:lnTo>
                    <a:lnTo>
                      <a:pt x="6" y="8"/>
                    </a:lnTo>
                    <a:lnTo>
                      <a:pt x="2" y="10"/>
                    </a:lnTo>
                    <a:lnTo>
                      <a:pt x="2" y="12"/>
                    </a:lnTo>
                    <a:lnTo>
                      <a:pt x="0" y="16"/>
                    </a:lnTo>
                    <a:lnTo>
                      <a:pt x="2" y="20"/>
                    </a:lnTo>
                    <a:lnTo>
                      <a:pt x="4" y="20"/>
                    </a:lnTo>
                    <a:lnTo>
                      <a:pt x="10" y="22"/>
                    </a:lnTo>
                    <a:lnTo>
                      <a:pt x="10" y="24"/>
                    </a:lnTo>
                    <a:lnTo>
                      <a:pt x="6" y="30"/>
                    </a:lnTo>
                    <a:lnTo>
                      <a:pt x="4" y="34"/>
                    </a:lnTo>
                    <a:lnTo>
                      <a:pt x="8" y="38"/>
                    </a:lnTo>
                    <a:lnTo>
                      <a:pt x="8" y="40"/>
                    </a:lnTo>
                    <a:lnTo>
                      <a:pt x="8" y="42"/>
                    </a:lnTo>
                    <a:lnTo>
                      <a:pt x="8" y="44"/>
                    </a:lnTo>
                    <a:lnTo>
                      <a:pt x="12" y="48"/>
                    </a:lnTo>
                    <a:lnTo>
                      <a:pt x="10" y="48"/>
                    </a:lnTo>
                    <a:lnTo>
                      <a:pt x="10" y="54"/>
                    </a:lnTo>
                    <a:lnTo>
                      <a:pt x="14" y="54"/>
                    </a:lnTo>
                    <a:lnTo>
                      <a:pt x="20" y="56"/>
                    </a:lnTo>
                    <a:lnTo>
                      <a:pt x="24" y="56"/>
                    </a:lnTo>
                    <a:lnTo>
                      <a:pt x="26" y="52"/>
                    </a:lnTo>
                    <a:lnTo>
                      <a:pt x="28" y="50"/>
                    </a:lnTo>
                    <a:lnTo>
                      <a:pt x="30" y="48"/>
                    </a:lnTo>
                    <a:lnTo>
                      <a:pt x="36" y="50"/>
                    </a:lnTo>
                    <a:lnTo>
                      <a:pt x="38" y="50"/>
                    </a:lnTo>
                    <a:lnTo>
                      <a:pt x="40" y="52"/>
                    </a:lnTo>
                    <a:lnTo>
                      <a:pt x="40" y="54"/>
                    </a:lnTo>
                    <a:lnTo>
                      <a:pt x="46" y="54"/>
                    </a:lnTo>
                    <a:lnTo>
                      <a:pt x="50" y="54"/>
                    </a:lnTo>
                    <a:lnTo>
                      <a:pt x="52" y="54"/>
                    </a:lnTo>
                    <a:lnTo>
                      <a:pt x="50" y="52"/>
                    </a:lnTo>
                    <a:lnTo>
                      <a:pt x="50" y="50"/>
                    </a:lnTo>
                    <a:lnTo>
                      <a:pt x="52" y="48"/>
                    </a:lnTo>
                    <a:lnTo>
                      <a:pt x="56" y="48"/>
                    </a:lnTo>
                    <a:lnTo>
                      <a:pt x="56" y="46"/>
                    </a:lnTo>
                    <a:lnTo>
                      <a:pt x="60" y="44"/>
                    </a:lnTo>
                    <a:lnTo>
                      <a:pt x="64" y="46"/>
                    </a:lnTo>
                    <a:lnTo>
                      <a:pt x="68" y="46"/>
                    </a:lnTo>
                    <a:lnTo>
                      <a:pt x="72" y="46"/>
                    </a:lnTo>
                    <a:lnTo>
                      <a:pt x="70" y="40"/>
                    </a:lnTo>
                    <a:lnTo>
                      <a:pt x="66" y="38"/>
                    </a:lnTo>
                    <a:lnTo>
                      <a:pt x="70" y="32"/>
                    </a:lnTo>
                    <a:lnTo>
                      <a:pt x="70" y="26"/>
                    </a:lnTo>
                    <a:lnTo>
                      <a:pt x="80" y="20"/>
                    </a:lnTo>
                    <a:lnTo>
                      <a:pt x="80" y="16"/>
                    </a:lnTo>
                    <a:lnTo>
                      <a:pt x="80" y="12"/>
                    </a:lnTo>
                    <a:lnTo>
                      <a:pt x="80" y="4"/>
                    </a:lnTo>
                    <a:lnTo>
                      <a:pt x="80" y="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57" name="Freeform 543">
                <a:extLst>
                  <a:ext uri="{FF2B5EF4-FFF2-40B4-BE49-F238E27FC236}">
                    <a16:creationId xmlns:a16="http://schemas.microsoft.com/office/drawing/2014/main" id="{4A808C87-8CAE-BA42-587D-407B3B168F8A}"/>
                  </a:ext>
                </a:extLst>
              </p:cNvPr>
              <p:cNvSpPr>
                <a:spLocks/>
              </p:cNvSpPr>
              <p:nvPr/>
            </p:nvSpPr>
            <p:spPr bwMode="auto">
              <a:xfrm>
                <a:off x="5035268" y="3533657"/>
                <a:ext cx="48617" cy="49955"/>
              </a:xfrm>
              <a:custGeom>
                <a:avLst/>
                <a:gdLst/>
                <a:ahLst/>
                <a:cxnLst>
                  <a:cxn ang="0">
                    <a:pos x="46" y="10"/>
                  </a:cxn>
                  <a:cxn ang="0">
                    <a:pos x="46" y="10"/>
                  </a:cxn>
                  <a:cxn ang="0">
                    <a:pos x="42" y="10"/>
                  </a:cxn>
                  <a:cxn ang="0">
                    <a:pos x="38" y="10"/>
                  </a:cxn>
                  <a:cxn ang="0">
                    <a:pos x="36" y="8"/>
                  </a:cxn>
                  <a:cxn ang="0">
                    <a:pos x="34" y="6"/>
                  </a:cxn>
                  <a:cxn ang="0">
                    <a:pos x="28" y="4"/>
                  </a:cxn>
                  <a:cxn ang="0">
                    <a:pos x="24" y="4"/>
                  </a:cxn>
                  <a:cxn ang="0">
                    <a:pos x="20" y="4"/>
                  </a:cxn>
                  <a:cxn ang="0">
                    <a:pos x="18" y="6"/>
                  </a:cxn>
                  <a:cxn ang="0">
                    <a:pos x="16" y="6"/>
                  </a:cxn>
                  <a:cxn ang="0">
                    <a:pos x="12" y="4"/>
                  </a:cxn>
                  <a:cxn ang="0">
                    <a:pos x="10" y="2"/>
                  </a:cxn>
                  <a:cxn ang="0">
                    <a:pos x="10" y="4"/>
                  </a:cxn>
                  <a:cxn ang="0">
                    <a:pos x="8" y="4"/>
                  </a:cxn>
                  <a:cxn ang="0">
                    <a:pos x="6" y="4"/>
                  </a:cxn>
                  <a:cxn ang="0">
                    <a:pos x="4" y="0"/>
                  </a:cxn>
                  <a:cxn ang="0">
                    <a:pos x="2" y="0"/>
                  </a:cxn>
                  <a:cxn ang="0">
                    <a:pos x="0" y="0"/>
                  </a:cxn>
                  <a:cxn ang="0">
                    <a:pos x="0" y="2"/>
                  </a:cxn>
                  <a:cxn ang="0">
                    <a:pos x="0" y="6"/>
                  </a:cxn>
                  <a:cxn ang="0">
                    <a:pos x="4" y="10"/>
                  </a:cxn>
                  <a:cxn ang="0">
                    <a:pos x="8" y="18"/>
                  </a:cxn>
                  <a:cxn ang="0">
                    <a:pos x="8" y="20"/>
                  </a:cxn>
                  <a:cxn ang="0">
                    <a:pos x="6" y="20"/>
                  </a:cxn>
                  <a:cxn ang="0">
                    <a:pos x="8" y="22"/>
                  </a:cxn>
                  <a:cxn ang="0">
                    <a:pos x="14" y="30"/>
                  </a:cxn>
                  <a:cxn ang="0">
                    <a:pos x="20" y="36"/>
                  </a:cxn>
                  <a:cxn ang="0">
                    <a:pos x="24" y="42"/>
                  </a:cxn>
                  <a:cxn ang="0">
                    <a:pos x="28" y="42"/>
                  </a:cxn>
                  <a:cxn ang="0">
                    <a:pos x="30" y="44"/>
                  </a:cxn>
                  <a:cxn ang="0">
                    <a:pos x="34" y="48"/>
                  </a:cxn>
                  <a:cxn ang="0">
                    <a:pos x="38" y="52"/>
                  </a:cxn>
                  <a:cxn ang="0">
                    <a:pos x="36" y="48"/>
                  </a:cxn>
                  <a:cxn ang="0">
                    <a:pos x="36" y="44"/>
                  </a:cxn>
                  <a:cxn ang="0">
                    <a:pos x="36" y="42"/>
                  </a:cxn>
                  <a:cxn ang="0">
                    <a:pos x="38" y="38"/>
                  </a:cxn>
                  <a:cxn ang="0">
                    <a:pos x="44" y="36"/>
                  </a:cxn>
                  <a:cxn ang="0">
                    <a:pos x="44" y="32"/>
                  </a:cxn>
                  <a:cxn ang="0">
                    <a:pos x="48" y="30"/>
                  </a:cxn>
                  <a:cxn ang="0">
                    <a:pos x="50" y="28"/>
                  </a:cxn>
                  <a:cxn ang="0">
                    <a:pos x="50" y="26"/>
                  </a:cxn>
                  <a:cxn ang="0">
                    <a:pos x="48" y="26"/>
                  </a:cxn>
                  <a:cxn ang="0">
                    <a:pos x="46" y="24"/>
                  </a:cxn>
                  <a:cxn ang="0">
                    <a:pos x="44" y="22"/>
                  </a:cxn>
                  <a:cxn ang="0">
                    <a:pos x="48" y="22"/>
                  </a:cxn>
                  <a:cxn ang="0">
                    <a:pos x="50" y="20"/>
                  </a:cxn>
                  <a:cxn ang="0">
                    <a:pos x="50" y="18"/>
                  </a:cxn>
                  <a:cxn ang="0">
                    <a:pos x="48" y="18"/>
                  </a:cxn>
                  <a:cxn ang="0">
                    <a:pos x="46" y="14"/>
                  </a:cxn>
                  <a:cxn ang="0">
                    <a:pos x="46" y="10"/>
                  </a:cxn>
                  <a:cxn ang="0">
                    <a:pos x="46" y="10"/>
                  </a:cxn>
                </a:cxnLst>
                <a:rect l="0" t="0" r="r" b="b"/>
                <a:pathLst>
                  <a:path w="50" h="52">
                    <a:moveTo>
                      <a:pt x="46" y="10"/>
                    </a:moveTo>
                    <a:lnTo>
                      <a:pt x="46" y="10"/>
                    </a:lnTo>
                    <a:lnTo>
                      <a:pt x="42" y="10"/>
                    </a:lnTo>
                    <a:lnTo>
                      <a:pt x="38" y="10"/>
                    </a:lnTo>
                    <a:lnTo>
                      <a:pt x="36" y="8"/>
                    </a:lnTo>
                    <a:lnTo>
                      <a:pt x="34" y="6"/>
                    </a:lnTo>
                    <a:lnTo>
                      <a:pt x="28" y="4"/>
                    </a:lnTo>
                    <a:lnTo>
                      <a:pt x="24" y="4"/>
                    </a:lnTo>
                    <a:lnTo>
                      <a:pt x="20" y="4"/>
                    </a:lnTo>
                    <a:lnTo>
                      <a:pt x="18" y="6"/>
                    </a:lnTo>
                    <a:lnTo>
                      <a:pt x="16" y="6"/>
                    </a:lnTo>
                    <a:lnTo>
                      <a:pt x="12" y="4"/>
                    </a:lnTo>
                    <a:lnTo>
                      <a:pt x="10" y="2"/>
                    </a:lnTo>
                    <a:lnTo>
                      <a:pt x="10" y="4"/>
                    </a:lnTo>
                    <a:lnTo>
                      <a:pt x="8" y="4"/>
                    </a:lnTo>
                    <a:lnTo>
                      <a:pt x="6" y="4"/>
                    </a:lnTo>
                    <a:lnTo>
                      <a:pt x="4" y="0"/>
                    </a:lnTo>
                    <a:lnTo>
                      <a:pt x="2" y="0"/>
                    </a:lnTo>
                    <a:lnTo>
                      <a:pt x="0" y="0"/>
                    </a:lnTo>
                    <a:lnTo>
                      <a:pt x="0" y="2"/>
                    </a:lnTo>
                    <a:lnTo>
                      <a:pt x="0" y="6"/>
                    </a:lnTo>
                    <a:lnTo>
                      <a:pt x="4" y="10"/>
                    </a:lnTo>
                    <a:lnTo>
                      <a:pt x="8" y="18"/>
                    </a:lnTo>
                    <a:lnTo>
                      <a:pt x="8" y="20"/>
                    </a:lnTo>
                    <a:lnTo>
                      <a:pt x="6" y="20"/>
                    </a:lnTo>
                    <a:lnTo>
                      <a:pt x="8" y="22"/>
                    </a:lnTo>
                    <a:lnTo>
                      <a:pt x="14" y="30"/>
                    </a:lnTo>
                    <a:lnTo>
                      <a:pt x="20" y="36"/>
                    </a:lnTo>
                    <a:lnTo>
                      <a:pt x="24" y="42"/>
                    </a:lnTo>
                    <a:lnTo>
                      <a:pt x="28" y="42"/>
                    </a:lnTo>
                    <a:lnTo>
                      <a:pt x="30" y="44"/>
                    </a:lnTo>
                    <a:lnTo>
                      <a:pt x="34" y="48"/>
                    </a:lnTo>
                    <a:lnTo>
                      <a:pt x="38" y="52"/>
                    </a:lnTo>
                    <a:lnTo>
                      <a:pt x="36" y="48"/>
                    </a:lnTo>
                    <a:lnTo>
                      <a:pt x="36" y="44"/>
                    </a:lnTo>
                    <a:lnTo>
                      <a:pt x="36" y="42"/>
                    </a:lnTo>
                    <a:lnTo>
                      <a:pt x="38" y="38"/>
                    </a:lnTo>
                    <a:lnTo>
                      <a:pt x="44" y="36"/>
                    </a:lnTo>
                    <a:lnTo>
                      <a:pt x="44" y="32"/>
                    </a:lnTo>
                    <a:lnTo>
                      <a:pt x="48" y="30"/>
                    </a:lnTo>
                    <a:lnTo>
                      <a:pt x="50" y="28"/>
                    </a:lnTo>
                    <a:lnTo>
                      <a:pt x="50" y="26"/>
                    </a:lnTo>
                    <a:lnTo>
                      <a:pt x="48" y="26"/>
                    </a:lnTo>
                    <a:lnTo>
                      <a:pt x="46" y="24"/>
                    </a:lnTo>
                    <a:lnTo>
                      <a:pt x="44" y="22"/>
                    </a:lnTo>
                    <a:lnTo>
                      <a:pt x="48" y="22"/>
                    </a:lnTo>
                    <a:lnTo>
                      <a:pt x="50" y="20"/>
                    </a:lnTo>
                    <a:lnTo>
                      <a:pt x="50" y="18"/>
                    </a:lnTo>
                    <a:lnTo>
                      <a:pt x="48" y="18"/>
                    </a:lnTo>
                    <a:lnTo>
                      <a:pt x="46" y="14"/>
                    </a:lnTo>
                    <a:lnTo>
                      <a:pt x="46" y="10"/>
                    </a:lnTo>
                    <a:lnTo>
                      <a:pt x="46" y="1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58" name="Freeform 544">
                <a:extLst>
                  <a:ext uri="{FF2B5EF4-FFF2-40B4-BE49-F238E27FC236}">
                    <a16:creationId xmlns:a16="http://schemas.microsoft.com/office/drawing/2014/main" id="{6BDFD83B-8D8A-7B27-5EC9-6DE782983320}"/>
                  </a:ext>
                </a:extLst>
              </p:cNvPr>
              <p:cNvSpPr>
                <a:spLocks/>
              </p:cNvSpPr>
              <p:nvPr/>
            </p:nvSpPr>
            <p:spPr bwMode="auto">
              <a:xfrm>
                <a:off x="5146115" y="3324228"/>
                <a:ext cx="95290" cy="86462"/>
              </a:xfrm>
              <a:custGeom>
                <a:avLst/>
                <a:gdLst/>
                <a:ahLst/>
                <a:cxnLst>
                  <a:cxn ang="0">
                    <a:pos x="28" y="18"/>
                  </a:cxn>
                  <a:cxn ang="0">
                    <a:pos x="34" y="12"/>
                  </a:cxn>
                  <a:cxn ang="0">
                    <a:pos x="42" y="14"/>
                  </a:cxn>
                  <a:cxn ang="0">
                    <a:pos x="44" y="2"/>
                  </a:cxn>
                  <a:cxn ang="0">
                    <a:pos x="50" y="2"/>
                  </a:cxn>
                  <a:cxn ang="0">
                    <a:pos x="56" y="0"/>
                  </a:cxn>
                  <a:cxn ang="0">
                    <a:pos x="56" y="4"/>
                  </a:cxn>
                  <a:cxn ang="0">
                    <a:pos x="62" y="2"/>
                  </a:cxn>
                  <a:cxn ang="0">
                    <a:pos x="70" y="4"/>
                  </a:cxn>
                  <a:cxn ang="0">
                    <a:pos x="76" y="6"/>
                  </a:cxn>
                  <a:cxn ang="0">
                    <a:pos x="78" y="10"/>
                  </a:cxn>
                  <a:cxn ang="0">
                    <a:pos x="82" y="12"/>
                  </a:cxn>
                  <a:cxn ang="0">
                    <a:pos x="84" y="20"/>
                  </a:cxn>
                  <a:cxn ang="0">
                    <a:pos x="86" y="32"/>
                  </a:cxn>
                  <a:cxn ang="0">
                    <a:pos x="88" y="36"/>
                  </a:cxn>
                  <a:cxn ang="0">
                    <a:pos x="96" y="44"/>
                  </a:cxn>
                  <a:cxn ang="0">
                    <a:pos x="98" y="52"/>
                  </a:cxn>
                  <a:cxn ang="0">
                    <a:pos x="94" y="54"/>
                  </a:cxn>
                  <a:cxn ang="0">
                    <a:pos x="88" y="52"/>
                  </a:cxn>
                  <a:cxn ang="0">
                    <a:pos x="86" y="58"/>
                  </a:cxn>
                  <a:cxn ang="0">
                    <a:pos x="90" y="60"/>
                  </a:cxn>
                  <a:cxn ang="0">
                    <a:pos x="92" y="78"/>
                  </a:cxn>
                  <a:cxn ang="0">
                    <a:pos x="84" y="80"/>
                  </a:cxn>
                  <a:cxn ang="0">
                    <a:pos x="82" y="88"/>
                  </a:cxn>
                  <a:cxn ang="0">
                    <a:pos x="74" y="88"/>
                  </a:cxn>
                  <a:cxn ang="0">
                    <a:pos x="64" y="86"/>
                  </a:cxn>
                  <a:cxn ang="0">
                    <a:pos x="60" y="88"/>
                  </a:cxn>
                  <a:cxn ang="0">
                    <a:pos x="56" y="86"/>
                  </a:cxn>
                  <a:cxn ang="0">
                    <a:pos x="52" y="86"/>
                  </a:cxn>
                  <a:cxn ang="0">
                    <a:pos x="44" y="88"/>
                  </a:cxn>
                  <a:cxn ang="0">
                    <a:pos x="24" y="84"/>
                  </a:cxn>
                  <a:cxn ang="0">
                    <a:pos x="12" y="88"/>
                  </a:cxn>
                  <a:cxn ang="0">
                    <a:pos x="8" y="88"/>
                  </a:cxn>
                  <a:cxn ang="0">
                    <a:pos x="4" y="84"/>
                  </a:cxn>
                  <a:cxn ang="0">
                    <a:pos x="0" y="76"/>
                  </a:cxn>
                  <a:cxn ang="0">
                    <a:pos x="4" y="66"/>
                  </a:cxn>
                  <a:cxn ang="0">
                    <a:pos x="2" y="60"/>
                  </a:cxn>
                  <a:cxn ang="0">
                    <a:pos x="0" y="52"/>
                  </a:cxn>
                  <a:cxn ang="0">
                    <a:pos x="14" y="50"/>
                  </a:cxn>
                  <a:cxn ang="0">
                    <a:pos x="16" y="46"/>
                  </a:cxn>
                  <a:cxn ang="0">
                    <a:pos x="22" y="36"/>
                  </a:cxn>
                  <a:cxn ang="0">
                    <a:pos x="26" y="26"/>
                  </a:cxn>
                  <a:cxn ang="0">
                    <a:pos x="30" y="22"/>
                  </a:cxn>
                  <a:cxn ang="0">
                    <a:pos x="28" y="18"/>
                  </a:cxn>
                </a:cxnLst>
                <a:rect l="0" t="0" r="r" b="b"/>
                <a:pathLst>
                  <a:path w="98" h="90">
                    <a:moveTo>
                      <a:pt x="28" y="18"/>
                    </a:moveTo>
                    <a:lnTo>
                      <a:pt x="28" y="18"/>
                    </a:lnTo>
                    <a:lnTo>
                      <a:pt x="32" y="14"/>
                    </a:lnTo>
                    <a:lnTo>
                      <a:pt x="34" y="12"/>
                    </a:lnTo>
                    <a:lnTo>
                      <a:pt x="38" y="12"/>
                    </a:lnTo>
                    <a:lnTo>
                      <a:pt x="42" y="14"/>
                    </a:lnTo>
                    <a:lnTo>
                      <a:pt x="44" y="8"/>
                    </a:lnTo>
                    <a:lnTo>
                      <a:pt x="44" y="2"/>
                    </a:lnTo>
                    <a:lnTo>
                      <a:pt x="46" y="0"/>
                    </a:lnTo>
                    <a:lnTo>
                      <a:pt x="50" y="2"/>
                    </a:lnTo>
                    <a:lnTo>
                      <a:pt x="52" y="2"/>
                    </a:lnTo>
                    <a:lnTo>
                      <a:pt x="56" y="0"/>
                    </a:lnTo>
                    <a:lnTo>
                      <a:pt x="56" y="2"/>
                    </a:lnTo>
                    <a:lnTo>
                      <a:pt x="56" y="4"/>
                    </a:lnTo>
                    <a:lnTo>
                      <a:pt x="58" y="4"/>
                    </a:lnTo>
                    <a:lnTo>
                      <a:pt x="62" y="2"/>
                    </a:lnTo>
                    <a:lnTo>
                      <a:pt x="64" y="2"/>
                    </a:lnTo>
                    <a:lnTo>
                      <a:pt x="70" y="4"/>
                    </a:lnTo>
                    <a:lnTo>
                      <a:pt x="74" y="6"/>
                    </a:lnTo>
                    <a:lnTo>
                      <a:pt x="76" y="6"/>
                    </a:lnTo>
                    <a:lnTo>
                      <a:pt x="78" y="8"/>
                    </a:lnTo>
                    <a:lnTo>
                      <a:pt x="78" y="10"/>
                    </a:lnTo>
                    <a:lnTo>
                      <a:pt x="80" y="12"/>
                    </a:lnTo>
                    <a:lnTo>
                      <a:pt x="82" y="12"/>
                    </a:lnTo>
                    <a:lnTo>
                      <a:pt x="82" y="16"/>
                    </a:lnTo>
                    <a:lnTo>
                      <a:pt x="84" y="20"/>
                    </a:lnTo>
                    <a:lnTo>
                      <a:pt x="86" y="26"/>
                    </a:lnTo>
                    <a:lnTo>
                      <a:pt x="86" y="32"/>
                    </a:lnTo>
                    <a:lnTo>
                      <a:pt x="86" y="36"/>
                    </a:lnTo>
                    <a:lnTo>
                      <a:pt x="88" y="36"/>
                    </a:lnTo>
                    <a:lnTo>
                      <a:pt x="92" y="40"/>
                    </a:lnTo>
                    <a:lnTo>
                      <a:pt x="96" y="44"/>
                    </a:lnTo>
                    <a:lnTo>
                      <a:pt x="98" y="50"/>
                    </a:lnTo>
                    <a:lnTo>
                      <a:pt x="98" y="52"/>
                    </a:lnTo>
                    <a:lnTo>
                      <a:pt x="96" y="54"/>
                    </a:lnTo>
                    <a:lnTo>
                      <a:pt x="94" y="54"/>
                    </a:lnTo>
                    <a:lnTo>
                      <a:pt x="90" y="52"/>
                    </a:lnTo>
                    <a:lnTo>
                      <a:pt x="88" y="52"/>
                    </a:lnTo>
                    <a:lnTo>
                      <a:pt x="86" y="54"/>
                    </a:lnTo>
                    <a:lnTo>
                      <a:pt x="86" y="58"/>
                    </a:lnTo>
                    <a:lnTo>
                      <a:pt x="88" y="58"/>
                    </a:lnTo>
                    <a:lnTo>
                      <a:pt x="90" y="60"/>
                    </a:lnTo>
                    <a:lnTo>
                      <a:pt x="92" y="62"/>
                    </a:lnTo>
                    <a:lnTo>
                      <a:pt x="92" y="78"/>
                    </a:lnTo>
                    <a:lnTo>
                      <a:pt x="86" y="78"/>
                    </a:lnTo>
                    <a:lnTo>
                      <a:pt x="84" y="80"/>
                    </a:lnTo>
                    <a:lnTo>
                      <a:pt x="84" y="84"/>
                    </a:lnTo>
                    <a:lnTo>
                      <a:pt x="82" y="88"/>
                    </a:lnTo>
                    <a:lnTo>
                      <a:pt x="80" y="88"/>
                    </a:lnTo>
                    <a:lnTo>
                      <a:pt x="74" y="88"/>
                    </a:lnTo>
                    <a:lnTo>
                      <a:pt x="68" y="88"/>
                    </a:lnTo>
                    <a:lnTo>
                      <a:pt x="64" y="86"/>
                    </a:lnTo>
                    <a:lnTo>
                      <a:pt x="62" y="88"/>
                    </a:lnTo>
                    <a:lnTo>
                      <a:pt x="60" y="88"/>
                    </a:lnTo>
                    <a:lnTo>
                      <a:pt x="58" y="88"/>
                    </a:lnTo>
                    <a:lnTo>
                      <a:pt x="56" y="86"/>
                    </a:lnTo>
                    <a:lnTo>
                      <a:pt x="56" y="90"/>
                    </a:lnTo>
                    <a:lnTo>
                      <a:pt x="52" y="86"/>
                    </a:lnTo>
                    <a:lnTo>
                      <a:pt x="50" y="86"/>
                    </a:lnTo>
                    <a:lnTo>
                      <a:pt x="44" y="88"/>
                    </a:lnTo>
                    <a:lnTo>
                      <a:pt x="38" y="86"/>
                    </a:lnTo>
                    <a:lnTo>
                      <a:pt x="24" y="84"/>
                    </a:lnTo>
                    <a:lnTo>
                      <a:pt x="14" y="84"/>
                    </a:lnTo>
                    <a:lnTo>
                      <a:pt x="12" y="88"/>
                    </a:lnTo>
                    <a:lnTo>
                      <a:pt x="10" y="90"/>
                    </a:lnTo>
                    <a:lnTo>
                      <a:pt x="8" y="88"/>
                    </a:lnTo>
                    <a:lnTo>
                      <a:pt x="6" y="84"/>
                    </a:lnTo>
                    <a:lnTo>
                      <a:pt x="4" y="84"/>
                    </a:lnTo>
                    <a:lnTo>
                      <a:pt x="2" y="86"/>
                    </a:lnTo>
                    <a:lnTo>
                      <a:pt x="0" y="76"/>
                    </a:lnTo>
                    <a:lnTo>
                      <a:pt x="4" y="70"/>
                    </a:lnTo>
                    <a:lnTo>
                      <a:pt x="4" y="66"/>
                    </a:lnTo>
                    <a:lnTo>
                      <a:pt x="4" y="64"/>
                    </a:lnTo>
                    <a:lnTo>
                      <a:pt x="2" y="60"/>
                    </a:lnTo>
                    <a:lnTo>
                      <a:pt x="0" y="56"/>
                    </a:lnTo>
                    <a:lnTo>
                      <a:pt x="0" y="52"/>
                    </a:lnTo>
                    <a:lnTo>
                      <a:pt x="6" y="50"/>
                    </a:lnTo>
                    <a:lnTo>
                      <a:pt x="14" y="50"/>
                    </a:lnTo>
                    <a:lnTo>
                      <a:pt x="16" y="48"/>
                    </a:lnTo>
                    <a:lnTo>
                      <a:pt x="16" y="46"/>
                    </a:lnTo>
                    <a:lnTo>
                      <a:pt x="22" y="44"/>
                    </a:lnTo>
                    <a:lnTo>
                      <a:pt x="22" y="36"/>
                    </a:lnTo>
                    <a:lnTo>
                      <a:pt x="22" y="32"/>
                    </a:lnTo>
                    <a:lnTo>
                      <a:pt x="26" y="26"/>
                    </a:lnTo>
                    <a:lnTo>
                      <a:pt x="28" y="24"/>
                    </a:lnTo>
                    <a:lnTo>
                      <a:pt x="30" y="22"/>
                    </a:lnTo>
                    <a:lnTo>
                      <a:pt x="28" y="18"/>
                    </a:lnTo>
                    <a:lnTo>
                      <a:pt x="28" y="1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59" name="Freeform 545">
                <a:extLst>
                  <a:ext uri="{FF2B5EF4-FFF2-40B4-BE49-F238E27FC236}">
                    <a16:creationId xmlns:a16="http://schemas.microsoft.com/office/drawing/2014/main" id="{B0D7E75A-DD33-3142-C03D-0CA4C79F3267}"/>
                  </a:ext>
                </a:extLst>
              </p:cNvPr>
              <p:cNvSpPr>
                <a:spLocks/>
              </p:cNvSpPr>
              <p:nvPr/>
            </p:nvSpPr>
            <p:spPr bwMode="auto">
              <a:xfrm>
                <a:off x="4963314" y="3460645"/>
                <a:ext cx="89456" cy="46113"/>
              </a:xfrm>
              <a:custGeom>
                <a:avLst/>
                <a:gdLst/>
                <a:ahLst/>
                <a:cxnLst>
                  <a:cxn ang="0">
                    <a:pos x="0" y="34"/>
                  </a:cxn>
                  <a:cxn ang="0">
                    <a:pos x="4" y="36"/>
                  </a:cxn>
                  <a:cxn ang="0">
                    <a:pos x="8" y="44"/>
                  </a:cxn>
                  <a:cxn ang="0">
                    <a:pos x="12" y="42"/>
                  </a:cxn>
                  <a:cxn ang="0">
                    <a:pos x="18" y="44"/>
                  </a:cxn>
                  <a:cxn ang="0">
                    <a:pos x="24" y="44"/>
                  </a:cxn>
                  <a:cxn ang="0">
                    <a:pos x="28" y="48"/>
                  </a:cxn>
                  <a:cxn ang="0">
                    <a:pos x="34" y="46"/>
                  </a:cxn>
                  <a:cxn ang="0">
                    <a:pos x="46" y="46"/>
                  </a:cxn>
                  <a:cxn ang="0">
                    <a:pos x="48" y="42"/>
                  </a:cxn>
                  <a:cxn ang="0">
                    <a:pos x="60" y="44"/>
                  </a:cxn>
                  <a:cxn ang="0">
                    <a:pos x="64" y="38"/>
                  </a:cxn>
                  <a:cxn ang="0">
                    <a:pos x="72" y="38"/>
                  </a:cxn>
                  <a:cxn ang="0">
                    <a:pos x="82" y="34"/>
                  </a:cxn>
                  <a:cxn ang="0">
                    <a:pos x="84" y="30"/>
                  </a:cxn>
                  <a:cxn ang="0">
                    <a:pos x="88" y="30"/>
                  </a:cxn>
                  <a:cxn ang="0">
                    <a:pos x="90" y="22"/>
                  </a:cxn>
                  <a:cxn ang="0">
                    <a:pos x="90" y="16"/>
                  </a:cxn>
                  <a:cxn ang="0">
                    <a:pos x="90" y="10"/>
                  </a:cxn>
                  <a:cxn ang="0">
                    <a:pos x="86" y="8"/>
                  </a:cxn>
                  <a:cxn ang="0">
                    <a:pos x="80" y="6"/>
                  </a:cxn>
                  <a:cxn ang="0">
                    <a:pos x="70" y="2"/>
                  </a:cxn>
                  <a:cxn ang="0">
                    <a:pos x="64" y="0"/>
                  </a:cxn>
                  <a:cxn ang="0">
                    <a:pos x="62" y="2"/>
                  </a:cxn>
                  <a:cxn ang="0">
                    <a:pos x="56" y="10"/>
                  </a:cxn>
                  <a:cxn ang="0">
                    <a:pos x="48" y="4"/>
                  </a:cxn>
                  <a:cxn ang="0">
                    <a:pos x="44" y="8"/>
                  </a:cxn>
                  <a:cxn ang="0">
                    <a:pos x="42" y="12"/>
                  </a:cxn>
                  <a:cxn ang="0">
                    <a:pos x="34" y="16"/>
                  </a:cxn>
                  <a:cxn ang="0">
                    <a:pos x="36" y="18"/>
                  </a:cxn>
                  <a:cxn ang="0">
                    <a:pos x="38" y="22"/>
                  </a:cxn>
                  <a:cxn ang="0">
                    <a:pos x="34" y="28"/>
                  </a:cxn>
                  <a:cxn ang="0">
                    <a:pos x="30" y="24"/>
                  </a:cxn>
                  <a:cxn ang="0">
                    <a:pos x="24" y="24"/>
                  </a:cxn>
                  <a:cxn ang="0">
                    <a:pos x="20" y="22"/>
                  </a:cxn>
                  <a:cxn ang="0">
                    <a:pos x="14" y="28"/>
                  </a:cxn>
                  <a:cxn ang="0">
                    <a:pos x="8" y="28"/>
                  </a:cxn>
                  <a:cxn ang="0">
                    <a:pos x="0" y="34"/>
                  </a:cxn>
                </a:cxnLst>
                <a:rect l="0" t="0" r="r" b="b"/>
                <a:pathLst>
                  <a:path w="92" h="48">
                    <a:moveTo>
                      <a:pt x="0" y="34"/>
                    </a:moveTo>
                    <a:lnTo>
                      <a:pt x="0" y="34"/>
                    </a:lnTo>
                    <a:lnTo>
                      <a:pt x="4" y="34"/>
                    </a:lnTo>
                    <a:lnTo>
                      <a:pt x="4" y="36"/>
                    </a:lnTo>
                    <a:lnTo>
                      <a:pt x="4" y="42"/>
                    </a:lnTo>
                    <a:lnTo>
                      <a:pt x="8" y="44"/>
                    </a:lnTo>
                    <a:lnTo>
                      <a:pt x="12" y="44"/>
                    </a:lnTo>
                    <a:lnTo>
                      <a:pt x="12" y="42"/>
                    </a:lnTo>
                    <a:lnTo>
                      <a:pt x="16" y="42"/>
                    </a:lnTo>
                    <a:lnTo>
                      <a:pt x="18" y="44"/>
                    </a:lnTo>
                    <a:lnTo>
                      <a:pt x="22" y="44"/>
                    </a:lnTo>
                    <a:lnTo>
                      <a:pt x="24" y="44"/>
                    </a:lnTo>
                    <a:lnTo>
                      <a:pt x="26" y="46"/>
                    </a:lnTo>
                    <a:lnTo>
                      <a:pt x="28" y="48"/>
                    </a:lnTo>
                    <a:lnTo>
                      <a:pt x="30" y="48"/>
                    </a:lnTo>
                    <a:lnTo>
                      <a:pt x="34" y="46"/>
                    </a:lnTo>
                    <a:lnTo>
                      <a:pt x="42" y="46"/>
                    </a:lnTo>
                    <a:lnTo>
                      <a:pt x="46" y="46"/>
                    </a:lnTo>
                    <a:lnTo>
                      <a:pt x="48" y="44"/>
                    </a:lnTo>
                    <a:lnTo>
                      <a:pt x="48" y="42"/>
                    </a:lnTo>
                    <a:lnTo>
                      <a:pt x="54" y="42"/>
                    </a:lnTo>
                    <a:lnTo>
                      <a:pt x="60" y="44"/>
                    </a:lnTo>
                    <a:lnTo>
                      <a:pt x="62" y="40"/>
                    </a:lnTo>
                    <a:lnTo>
                      <a:pt x="64" y="38"/>
                    </a:lnTo>
                    <a:lnTo>
                      <a:pt x="68" y="36"/>
                    </a:lnTo>
                    <a:lnTo>
                      <a:pt x="72" y="38"/>
                    </a:lnTo>
                    <a:lnTo>
                      <a:pt x="76" y="38"/>
                    </a:lnTo>
                    <a:lnTo>
                      <a:pt x="82" y="34"/>
                    </a:lnTo>
                    <a:lnTo>
                      <a:pt x="82" y="32"/>
                    </a:lnTo>
                    <a:lnTo>
                      <a:pt x="84" y="30"/>
                    </a:lnTo>
                    <a:lnTo>
                      <a:pt x="86" y="30"/>
                    </a:lnTo>
                    <a:lnTo>
                      <a:pt x="88" y="30"/>
                    </a:lnTo>
                    <a:lnTo>
                      <a:pt x="88" y="26"/>
                    </a:lnTo>
                    <a:lnTo>
                      <a:pt x="90" y="22"/>
                    </a:lnTo>
                    <a:lnTo>
                      <a:pt x="88" y="18"/>
                    </a:lnTo>
                    <a:lnTo>
                      <a:pt x="90" y="16"/>
                    </a:lnTo>
                    <a:lnTo>
                      <a:pt x="92" y="16"/>
                    </a:lnTo>
                    <a:lnTo>
                      <a:pt x="90" y="10"/>
                    </a:lnTo>
                    <a:lnTo>
                      <a:pt x="86" y="10"/>
                    </a:lnTo>
                    <a:lnTo>
                      <a:pt x="86" y="8"/>
                    </a:lnTo>
                    <a:lnTo>
                      <a:pt x="90" y="4"/>
                    </a:lnTo>
                    <a:lnTo>
                      <a:pt x="80" y="6"/>
                    </a:lnTo>
                    <a:lnTo>
                      <a:pt x="74" y="4"/>
                    </a:lnTo>
                    <a:lnTo>
                      <a:pt x="70" y="2"/>
                    </a:lnTo>
                    <a:lnTo>
                      <a:pt x="68" y="0"/>
                    </a:lnTo>
                    <a:lnTo>
                      <a:pt x="64" y="0"/>
                    </a:lnTo>
                    <a:lnTo>
                      <a:pt x="64" y="0"/>
                    </a:lnTo>
                    <a:lnTo>
                      <a:pt x="62" y="2"/>
                    </a:lnTo>
                    <a:lnTo>
                      <a:pt x="58" y="8"/>
                    </a:lnTo>
                    <a:lnTo>
                      <a:pt x="56" y="10"/>
                    </a:lnTo>
                    <a:lnTo>
                      <a:pt x="52" y="8"/>
                    </a:lnTo>
                    <a:lnTo>
                      <a:pt x="48" y="4"/>
                    </a:lnTo>
                    <a:lnTo>
                      <a:pt x="46" y="6"/>
                    </a:lnTo>
                    <a:lnTo>
                      <a:pt x="44" y="8"/>
                    </a:lnTo>
                    <a:lnTo>
                      <a:pt x="42" y="10"/>
                    </a:lnTo>
                    <a:lnTo>
                      <a:pt x="42" y="12"/>
                    </a:lnTo>
                    <a:lnTo>
                      <a:pt x="38" y="14"/>
                    </a:lnTo>
                    <a:lnTo>
                      <a:pt x="34" y="16"/>
                    </a:lnTo>
                    <a:lnTo>
                      <a:pt x="34" y="18"/>
                    </a:lnTo>
                    <a:lnTo>
                      <a:pt x="36" y="18"/>
                    </a:lnTo>
                    <a:lnTo>
                      <a:pt x="36" y="20"/>
                    </a:lnTo>
                    <a:lnTo>
                      <a:pt x="38" y="22"/>
                    </a:lnTo>
                    <a:lnTo>
                      <a:pt x="38" y="28"/>
                    </a:lnTo>
                    <a:lnTo>
                      <a:pt x="34" y="28"/>
                    </a:lnTo>
                    <a:lnTo>
                      <a:pt x="32" y="24"/>
                    </a:lnTo>
                    <a:lnTo>
                      <a:pt x="30" y="24"/>
                    </a:lnTo>
                    <a:lnTo>
                      <a:pt x="28" y="24"/>
                    </a:lnTo>
                    <a:lnTo>
                      <a:pt x="24" y="24"/>
                    </a:lnTo>
                    <a:lnTo>
                      <a:pt x="22" y="22"/>
                    </a:lnTo>
                    <a:lnTo>
                      <a:pt x="20" y="22"/>
                    </a:lnTo>
                    <a:lnTo>
                      <a:pt x="18" y="26"/>
                    </a:lnTo>
                    <a:lnTo>
                      <a:pt x="14" y="28"/>
                    </a:lnTo>
                    <a:lnTo>
                      <a:pt x="10" y="28"/>
                    </a:lnTo>
                    <a:lnTo>
                      <a:pt x="8" y="28"/>
                    </a:lnTo>
                    <a:lnTo>
                      <a:pt x="4" y="32"/>
                    </a:lnTo>
                    <a:lnTo>
                      <a:pt x="0" y="34"/>
                    </a:lnTo>
                    <a:lnTo>
                      <a:pt x="0" y="3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60" name="Freeform 546">
                <a:extLst>
                  <a:ext uri="{FF2B5EF4-FFF2-40B4-BE49-F238E27FC236}">
                    <a16:creationId xmlns:a16="http://schemas.microsoft.com/office/drawing/2014/main" id="{7E76C0AD-59C0-5DD7-BA36-FD09A8E409D9}"/>
                  </a:ext>
                </a:extLst>
              </p:cNvPr>
              <p:cNvSpPr>
                <a:spLocks/>
              </p:cNvSpPr>
              <p:nvPr/>
            </p:nvSpPr>
            <p:spPr bwMode="auto">
              <a:xfrm>
                <a:off x="5078051" y="3579770"/>
                <a:ext cx="25281" cy="49955"/>
              </a:xfrm>
              <a:custGeom>
                <a:avLst/>
                <a:gdLst/>
                <a:ahLst/>
                <a:cxnLst>
                  <a:cxn ang="0">
                    <a:pos x="0" y="10"/>
                  </a:cxn>
                  <a:cxn ang="0">
                    <a:pos x="0" y="10"/>
                  </a:cxn>
                  <a:cxn ang="0">
                    <a:pos x="2" y="12"/>
                  </a:cxn>
                  <a:cxn ang="0">
                    <a:pos x="6" y="12"/>
                  </a:cxn>
                  <a:cxn ang="0">
                    <a:pos x="4" y="20"/>
                  </a:cxn>
                  <a:cxn ang="0">
                    <a:pos x="6" y="22"/>
                  </a:cxn>
                  <a:cxn ang="0">
                    <a:pos x="6" y="24"/>
                  </a:cxn>
                  <a:cxn ang="0">
                    <a:pos x="4" y="30"/>
                  </a:cxn>
                  <a:cxn ang="0">
                    <a:pos x="4" y="38"/>
                  </a:cxn>
                  <a:cxn ang="0">
                    <a:pos x="4" y="42"/>
                  </a:cxn>
                  <a:cxn ang="0">
                    <a:pos x="8" y="44"/>
                  </a:cxn>
                  <a:cxn ang="0">
                    <a:pos x="14" y="48"/>
                  </a:cxn>
                  <a:cxn ang="0">
                    <a:pos x="14" y="52"/>
                  </a:cxn>
                  <a:cxn ang="0">
                    <a:pos x="18" y="52"/>
                  </a:cxn>
                  <a:cxn ang="0">
                    <a:pos x="20" y="52"/>
                  </a:cxn>
                  <a:cxn ang="0">
                    <a:pos x="20" y="50"/>
                  </a:cxn>
                  <a:cxn ang="0">
                    <a:pos x="24" y="48"/>
                  </a:cxn>
                  <a:cxn ang="0">
                    <a:pos x="26" y="42"/>
                  </a:cxn>
                  <a:cxn ang="0">
                    <a:pos x="26" y="36"/>
                  </a:cxn>
                  <a:cxn ang="0">
                    <a:pos x="24" y="34"/>
                  </a:cxn>
                  <a:cxn ang="0">
                    <a:pos x="22" y="30"/>
                  </a:cxn>
                  <a:cxn ang="0">
                    <a:pos x="20" y="26"/>
                  </a:cxn>
                  <a:cxn ang="0">
                    <a:pos x="22" y="24"/>
                  </a:cxn>
                  <a:cxn ang="0">
                    <a:pos x="22" y="18"/>
                  </a:cxn>
                  <a:cxn ang="0">
                    <a:pos x="22" y="16"/>
                  </a:cxn>
                  <a:cxn ang="0">
                    <a:pos x="20" y="8"/>
                  </a:cxn>
                  <a:cxn ang="0">
                    <a:pos x="14" y="2"/>
                  </a:cxn>
                  <a:cxn ang="0">
                    <a:pos x="12" y="6"/>
                  </a:cxn>
                  <a:cxn ang="0">
                    <a:pos x="10" y="0"/>
                  </a:cxn>
                  <a:cxn ang="0">
                    <a:pos x="2" y="4"/>
                  </a:cxn>
                  <a:cxn ang="0">
                    <a:pos x="0" y="10"/>
                  </a:cxn>
                  <a:cxn ang="0">
                    <a:pos x="0" y="10"/>
                  </a:cxn>
                </a:cxnLst>
                <a:rect l="0" t="0" r="r" b="b"/>
                <a:pathLst>
                  <a:path w="26" h="52">
                    <a:moveTo>
                      <a:pt x="0" y="10"/>
                    </a:moveTo>
                    <a:lnTo>
                      <a:pt x="0" y="10"/>
                    </a:lnTo>
                    <a:lnTo>
                      <a:pt x="2" y="12"/>
                    </a:lnTo>
                    <a:lnTo>
                      <a:pt x="6" y="12"/>
                    </a:lnTo>
                    <a:lnTo>
                      <a:pt x="4" y="20"/>
                    </a:lnTo>
                    <a:lnTo>
                      <a:pt x="6" y="22"/>
                    </a:lnTo>
                    <a:lnTo>
                      <a:pt x="6" y="24"/>
                    </a:lnTo>
                    <a:lnTo>
                      <a:pt x="4" y="30"/>
                    </a:lnTo>
                    <a:lnTo>
                      <a:pt x="4" y="38"/>
                    </a:lnTo>
                    <a:lnTo>
                      <a:pt x="4" y="42"/>
                    </a:lnTo>
                    <a:lnTo>
                      <a:pt x="8" y="44"/>
                    </a:lnTo>
                    <a:lnTo>
                      <a:pt x="14" y="48"/>
                    </a:lnTo>
                    <a:lnTo>
                      <a:pt x="14" y="52"/>
                    </a:lnTo>
                    <a:lnTo>
                      <a:pt x="18" y="52"/>
                    </a:lnTo>
                    <a:lnTo>
                      <a:pt x="20" y="52"/>
                    </a:lnTo>
                    <a:lnTo>
                      <a:pt x="20" y="50"/>
                    </a:lnTo>
                    <a:lnTo>
                      <a:pt x="24" y="48"/>
                    </a:lnTo>
                    <a:lnTo>
                      <a:pt x="26" y="42"/>
                    </a:lnTo>
                    <a:lnTo>
                      <a:pt x="26" y="36"/>
                    </a:lnTo>
                    <a:lnTo>
                      <a:pt x="24" y="34"/>
                    </a:lnTo>
                    <a:lnTo>
                      <a:pt x="22" y="30"/>
                    </a:lnTo>
                    <a:lnTo>
                      <a:pt x="20" y="26"/>
                    </a:lnTo>
                    <a:lnTo>
                      <a:pt x="22" y="24"/>
                    </a:lnTo>
                    <a:lnTo>
                      <a:pt x="22" y="18"/>
                    </a:lnTo>
                    <a:lnTo>
                      <a:pt x="22" y="16"/>
                    </a:lnTo>
                    <a:lnTo>
                      <a:pt x="20" y="8"/>
                    </a:lnTo>
                    <a:lnTo>
                      <a:pt x="14" y="2"/>
                    </a:lnTo>
                    <a:lnTo>
                      <a:pt x="12" y="6"/>
                    </a:lnTo>
                    <a:lnTo>
                      <a:pt x="10" y="0"/>
                    </a:lnTo>
                    <a:lnTo>
                      <a:pt x="2" y="4"/>
                    </a:lnTo>
                    <a:lnTo>
                      <a:pt x="0" y="10"/>
                    </a:lnTo>
                    <a:lnTo>
                      <a:pt x="0" y="1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61" name="Freeform 547">
                <a:extLst>
                  <a:ext uri="{FF2B5EF4-FFF2-40B4-BE49-F238E27FC236}">
                    <a16:creationId xmlns:a16="http://schemas.microsoft.com/office/drawing/2014/main" id="{2FD5322B-FBCD-C7BF-52B6-EAF8AB109942}"/>
                  </a:ext>
                </a:extLst>
              </p:cNvPr>
              <p:cNvSpPr>
                <a:spLocks noEditPoints="1"/>
              </p:cNvSpPr>
              <p:nvPr/>
            </p:nvSpPr>
            <p:spPr bwMode="auto">
              <a:xfrm>
                <a:off x="4776623" y="3420296"/>
                <a:ext cx="180857" cy="180609"/>
              </a:xfrm>
              <a:custGeom>
                <a:avLst/>
                <a:gdLst/>
                <a:ahLst/>
                <a:cxnLst>
                  <a:cxn ang="0">
                    <a:pos x="166" y="58"/>
                  </a:cxn>
                  <a:cxn ang="0">
                    <a:pos x="166" y="72"/>
                  </a:cxn>
                  <a:cxn ang="0">
                    <a:pos x="160" y="76"/>
                  </a:cxn>
                  <a:cxn ang="0">
                    <a:pos x="148" y="88"/>
                  </a:cxn>
                  <a:cxn ang="0">
                    <a:pos x="142" y="104"/>
                  </a:cxn>
                  <a:cxn ang="0">
                    <a:pos x="148" y="104"/>
                  </a:cxn>
                  <a:cxn ang="0">
                    <a:pos x="158" y="108"/>
                  </a:cxn>
                  <a:cxn ang="0">
                    <a:pos x="152" y="118"/>
                  </a:cxn>
                  <a:cxn ang="0">
                    <a:pos x="148" y="124"/>
                  </a:cxn>
                  <a:cxn ang="0">
                    <a:pos x="150" y="134"/>
                  </a:cxn>
                  <a:cxn ang="0">
                    <a:pos x="158" y="138"/>
                  </a:cxn>
                  <a:cxn ang="0">
                    <a:pos x="154" y="146"/>
                  </a:cxn>
                  <a:cxn ang="0">
                    <a:pos x="148" y="156"/>
                  </a:cxn>
                  <a:cxn ang="0">
                    <a:pos x="136" y="154"/>
                  </a:cxn>
                  <a:cxn ang="0">
                    <a:pos x="128" y="150"/>
                  </a:cxn>
                  <a:cxn ang="0">
                    <a:pos x="116" y="148"/>
                  </a:cxn>
                  <a:cxn ang="0">
                    <a:pos x="104" y="156"/>
                  </a:cxn>
                  <a:cxn ang="0">
                    <a:pos x="96" y="168"/>
                  </a:cxn>
                  <a:cxn ang="0">
                    <a:pos x="84" y="166"/>
                  </a:cxn>
                  <a:cxn ang="0">
                    <a:pos x="68" y="164"/>
                  </a:cxn>
                  <a:cxn ang="0">
                    <a:pos x="54" y="162"/>
                  </a:cxn>
                  <a:cxn ang="0">
                    <a:pos x="42" y="154"/>
                  </a:cxn>
                  <a:cxn ang="0">
                    <a:pos x="50" y="142"/>
                  </a:cxn>
                  <a:cxn ang="0">
                    <a:pos x="54" y="128"/>
                  </a:cxn>
                  <a:cxn ang="0">
                    <a:pos x="50" y="112"/>
                  </a:cxn>
                  <a:cxn ang="0">
                    <a:pos x="46" y="100"/>
                  </a:cxn>
                  <a:cxn ang="0">
                    <a:pos x="32" y="84"/>
                  </a:cxn>
                  <a:cxn ang="0">
                    <a:pos x="28" y="80"/>
                  </a:cxn>
                  <a:cxn ang="0">
                    <a:pos x="22" y="76"/>
                  </a:cxn>
                  <a:cxn ang="0">
                    <a:pos x="24" y="70"/>
                  </a:cxn>
                  <a:cxn ang="0">
                    <a:pos x="10" y="68"/>
                  </a:cxn>
                  <a:cxn ang="0">
                    <a:pos x="0" y="64"/>
                  </a:cxn>
                  <a:cxn ang="0">
                    <a:pos x="4" y="58"/>
                  </a:cxn>
                  <a:cxn ang="0">
                    <a:pos x="8" y="50"/>
                  </a:cxn>
                  <a:cxn ang="0">
                    <a:pos x="20" y="48"/>
                  </a:cxn>
                  <a:cxn ang="0">
                    <a:pos x="30" y="50"/>
                  </a:cxn>
                  <a:cxn ang="0">
                    <a:pos x="46" y="46"/>
                  </a:cxn>
                  <a:cxn ang="0">
                    <a:pos x="38" y="28"/>
                  </a:cxn>
                  <a:cxn ang="0">
                    <a:pos x="58" y="34"/>
                  </a:cxn>
                  <a:cxn ang="0">
                    <a:pos x="78" y="20"/>
                  </a:cxn>
                  <a:cxn ang="0">
                    <a:pos x="82" y="8"/>
                  </a:cxn>
                  <a:cxn ang="0">
                    <a:pos x="96" y="6"/>
                  </a:cxn>
                  <a:cxn ang="0">
                    <a:pos x="106" y="18"/>
                  </a:cxn>
                  <a:cxn ang="0">
                    <a:pos x="112" y="22"/>
                  </a:cxn>
                  <a:cxn ang="0">
                    <a:pos x="122" y="26"/>
                  </a:cxn>
                  <a:cxn ang="0">
                    <a:pos x="126" y="32"/>
                  </a:cxn>
                  <a:cxn ang="0">
                    <a:pos x="136" y="34"/>
                  </a:cxn>
                  <a:cxn ang="0">
                    <a:pos x="148" y="38"/>
                  </a:cxn>
                  <a:cxn ang="0">
                    <a:pos x="158" y="44"/>
                  </a:cxn>
                  <a:cxn ang="0">
                    <a:pos x="168" y="50"/>
                  </a:cxn>
                  <a:cxn ang="0">
                    <a:pos x="180" y="160"/>
                  </a:cxn>
                  <a:cxn ang="0">
                    <a:pos x="170" y="172"/>
                  </a:cxn>
                  <a:cxn ang="0">
                    <a:pos x="172" y="182"/>
                  </a:cxn>
                  <a:cxn ang="0">
                    <a:pos x="186" y="164"/>
                  </a:cxn>
                </a:cxnLst>
                <a:rect l="0" t="0" r="r" b="b"/>
                <a:pathLst>
                  <a:path w="186" h="188">
                    <a:moveTo>
                      <a:pt x="168" y="50"/>
                    </a:moveTo>
                    <a:lnTo>
                      <a:pt x="168" y="50"/>
                    </a:lnTo>
                    <a:lnTo>
                      <a:pt x="166" y="54"/>
                    </a:lnTo>
                    <a:lnTo>
                      <a:pt x="166" y="58"/>
                    </a:lnTo>
                    <a:lnTo>
                      <a:pt x="166" y="64"/>
                    </a:lnTo>
                    <a:lnTo>
                      <a:pt x="166" y="68"/>
                    </a:lnTo>
                    <a:lnTo>
                      <a:pt x="168" y="72"/>
                    </a:lnTo>
                    <a:lnTo>
                      <a:pt x="166" y="72"/>
                    </a:lnTo>
                    <a:lnTo>
                      <a:pt x="164" y="72"/>
                    </a:lnTo>
                    <a:lnTo>
                      <a:pt x="162" y="72"/>
                    </a:lnTo>
                    <a:lnTo>
                      <a:pt x="160" y="72"/>
                    </a:lnTo>
                    <a:lnTo>
                      <a:pt x="160" y="76"/>
                    </a:lnTo>
                    <a:lnTo>
                      <a:pt x="156" y="78"/>
                    </a:lnTo>
                    <a:lnTo>
                      <a:pt x="154" y="80"/>
                    </a:lnTo>
                    <a:lnTo>
                      <a:pt x="152" y="82"/>
                    </a:lnTo>
                    <a:lnTo>
                      <a:pt x="148" y="88"/>
                    </a:lnTo>
                    <a:lnTo>
                      <a:pt x="140" y="98"/>
                    </a:lnTo>
                    <a:lnTo>
                      <a:pt x="138" y="102"/>
                    </a:lnTo>
                    <a:lnTo>
                      <a:pt x="138" y="104"/>
                    </a:lnTo>
                    <a:lnTo>
                      <a:pt x="142" y="104"/>
                    </a:lnTo>
                    <a:lnTo>
                      <a:pt x="144" y="102"/>
                    </a:lnTo>
                    <a:lnTo>
                      <a:pt x="146" y="102"/>
                    </a:lnTo>
                    <a:lnTo>
                      <a:pt x="148" y="104"/>
                    </a:lnTo>
                    <a:lnTo>
                      <a:pt x="148" y="104"/>
                    </a:lnTo>
                    <a:lnTo>
                      <a:pt x="150" y="104"/>
                    </a:lnTo>
                    <a:lnTo>
                      <a:pt x="154" y="104"/>
                    </a:lnTo>
                    <a:lnTo>
                      <a:pt x="154" y="106"/>
                    </a:lnTo>
                    <a:lnTo>
                      <a:pt x="158" y="108"/>
                    </a:lnTo>
                    <a:lnTo>
                      <a:pt x="160" y="108"/>
                    </a:lnTo>
                    <a:lnTo>
                      <a:pt x="156" y="114"/>
                    </a:lnTo>
                    <a:lnTo>
                      <a:pt x="154" y="116"/>
                    </a:lnTo>
                    <a:lnTo>
                      <a:pt x="152" y="118"/>
                    </a:lnTo>
                    <a:lnTo>
                      <a:pt x="150" y="118"/>
                    </a:lnTo>
                    <a:lnTo>
                      <a:pt x="148" y="120"/>
                    </a:lnTo>
                    <a:lnTo>
                      <a:pt x="148" y="122"/>
                    </a:lnTo>
                    <a:lnTo>
                      <a:pt x="148" y="124"/>
                    </a:lnTo>
                    <a:lnTo>
                      <a:pt x="150" y="126"/>
                    </a:lnTo>
                    <a:lnTo>
                      <a:pt x="152" y="128"/>
                    </a:lnTo>
                    <a:lnTo>
                      <a:pt x="152" y="130"/>
                    </a:lnTo>
                    <a:lnTo>
                      <a:pt x="150" y="134"/>
                    </a:lnTo>
                    <a:lnTo>
                      <a:pt x="152" y="138"/>
                    </a:lnTo>
                    <a:lnTo>
                      <a:pt x="154" y="138"/>
                    </a:lnTo>
                    <a:lnTo>
                      <a:pt x="156" y="138"/>
                    </a:lnTo>
                    <a:lnTo>
                      <a:pt x="158" y="138"/>
                    </a:lnTo>
                    <a:lnTo>
                      <a:pt x="154" y="142"/>
                    </a:lnTo>
                    <a:lnTo>
                      <a:pt x="154" y="144"/>
                    </a:lnTo>
                    <a:lnTo>
                      <a:pt x="156" y="146"/>
                    </a:lnTo>
                    <a:lnTo>
                      <a:pt x="154" y="146"/>
                    </a:lnTo>
                    <a:lnTo>
                      <a:pt x="152" y="144"/>
                    </a:lnTo>
                    <a:lnTo>
                      <a:pt x="148" y="146"/>
                    </a:lnTo>
                    <a:lnTo>
                      <a:pt x="152" y="148"/>
                    </a:lnTo>
                    <a:lnTo>
                      <a:pt x="148" y="156"/>
                    </a:lnTo>
                    <a:lnTo>
                      <a:pt x="144" y="156"/>
                    </a:lnTo>
                    <a:lnTo>
                      <a:pt x="140" y="158"/>
                    </a:lnTo>
                    <a:lnTo>
                      <a:pt x="138" y="156"/>
                    </a:lnTo>
                    <a:lnTo>
                      <a:pt x="136" y="154"/>
                    </a:lnTo>
                    <a:lnTo>
                      <a:pt x="134" y="152"/>
                    </a:lnTo>
                    <a:lnTo>
                      <a:pt x="130" y="152"/>
                    </a:lnTo>
                    <a:lnTo>
                      <a:pt x="128" y="148"/>
                    </a:lnTo>
                    <a:lnTo>
                      <a:pt x="128" y="150"/>
                    </a:lnTo>
                    <a:lnTo>
                      <a:pt x="126" y="150"/>
                    </a:lnTo>
                    <a:lnTo>
                      <a:pt x="122" y="148"/>
                    </a:lnTo>
                    <a:lnTo>
                      <a:pt x="118" y="148"/>
                    </a:lnTo>
                    <a:lnTo>
                      <a:pt x="116" y="148"/>
                    </a:lnTo>
                    <a:lnTo>
                      <a:pt x="114" y="152"/>
                    </a:lnTo>
                    <a:lnTo>
                      <a:pt x="110" y="156"/>
                    </a:lnTo>
                    <a:lnTo>
                      <a:pt x="108" y="156"/>
                    </a:lnTo>
                    <a:lnTo>
                      <a:pt x="104" y="156"/>
                    </a:lnTo>
                    <a:lnTo>
                      <a:pt x="104" y="164"/>
                    </a:lnTo>
                    <a:lnTo>
                      <a:pt x="100" y="164"/>
                    </a:lnTo>
                    <a:lnTo>
                      <a:pt x="98" y="166"/>
                    </a:lnTo>
                    <a:lnTo>
                      <a:pt x="96" y="168"/>
                    </a:lnTo>
                    <a:lnTo>
                      <a:pt x="90" y="168"/>
                    </a:lnTo>
                    <a:lnTo>
                      <a:pt x="88" y="168"/>
                    </a:lnTo>
                    <a:lnTo>
                      <a:pt x="86" y="166"/>
                    </a:lnTo>
                    <a:lnTo>
                      <a:pt x="84" y="166"/>
                    </a:lnTo>
                    <a:lnTo>
                      <a:pt x="82" y="166"/>
                    </a:lnTo>
                    <a:lnTo>
                      <a:pt x="72" y="164"/>
                    </a:lnTo>
                    <a:lnTo>
                      <a:pt x="70" y="164"/>
                    </a:lnTo>
                    <a:lnTo>
                      <a:pt x="68" y="164"/>
                    </a:lnTo>
                    <a:lnTo>
                      <a:pt x="64" y="164"/>
                    </a:lnTo>
                    <a:lnTo>
                      <a:pt x="60" y="164"/>
                    </a:lnTo>
                    <a:lnTo>
                      <a:pt x="58" y="162"/>
                    </a:lnTo>
                    <a:lnTo>
                      <a:pt x="54" y="162"/>
                    </a:lnTo>
                    <a:lnTo>
                      <a:pt x="50" y="160"/>
                    </a:lnTo>
                    <a:lnTo>
                      <a:pt x="46" y="160"/>
                    </a:lnTo>
                    <a:lnTo>
                      <a:pt x="44" y="158"/>
                    </a:lnTo>
                    <a:lnTo>
                      <a:pt x="42" y="154"/>
                    </a:lnTo>
                    <a:lnTo>
                      <a:pt x="40" y="152"/>
                    </a:lnTo>
                    <a:lnTo>
                      <a:pt x="46" y="150"/>
                    </a:lnTo>
                    <a:lnTo>
                      <a:pt x="48" y="146"/>
                    </a:lnTo>
                    <a:lnTo>
                      <a:pt x="50" y="142"/>
                    </a:lnTo>
                    <a:lnTo>
                      <a:pt x="50" y="136"/>
                    </a:lnTo>
                    <a:lnTo>
                      <a:pt x="52" y="130"/>
                    </a:lnTo>
                    <a:lnTo>
                      <a:pt x="52" y="128"/>
                    </a:lnTo>
                    <a:lnTo>
                      <a:pt x="54" y="128"/>
                    </a:lnTo>
                    <a:lnTo>
                      <a:pt x="50" y="126"/>
                    </a:lnTo>
                    <a:lnTo>
                      <a:pt x="50" y="116"/>
                    </a:lnTo>
                    <a:lnTo>
                      <a:pt x="52" y="116"/>
                    </a:lnTo>
                    <a:lnTo>
                      <a:pt x="50" y="112"/>
                    </a:lnTo>
                    <a:lnTo>
                      <a:pt x="52" y="106"/>
                    </a:lnTo>
                    <a:lnTo>
                      <a:pt x="50" y="102"/>
                    </a:lnTo>
                    <a:lnTo>
                      <a:pt x="48" y="104"/>
                    </a:lnTo>
                    <a:lnTo>
                      <a:pt x="46" y="100"/>
                    </a:lnTo>
                    <a:lnTo>
                      <a:pt x="38" y="96"/>
                    </a:lnTo>
                    <a:lnTo>
                      <a:pt x="34" y="94"/>
                    </a:lnTo>
                    <a:lnTo>
                      <a:pt x="32" y="92"/>
                    </a:lnTo>
                    <a:lnTo>
                      <a:pt x="32" y="84"/>
                    </a:lnTo>
                    <a:lnTo>
                      <a:pt x="32" y="86"/>
                    </a:lnTo>
                    <a:lnTo>
                      <a:pt x="32" y="84"/>
                    </a:lnTo>
                    <a:lnTo>
                      <a:pt x="32" y="80"/>
                    </a:lnTo>
                    <a:lnTo>
                      <a:pt x="28" y="80"/>
                    </a:lnTo>
                    <a:lnTo>
                      <a:pt x="26" y="78"/>
                    </a:lnTo>
                    <a:lnTo>
                      <a:pt x="28" y="78"/>
                    </a:lnTo>
                    <a:lnTo>
                      <a:pt x="28" y="76"/>
                    </a:lnTo>
                    <a:lnTo>
                      <a:pt x="22" y="76"/>
                    </a:lnTo>
                    <a:lnTo>
                      <a:pt x="22" y="74"/>
                    </a:lnTo>
                    <a:lnTo>
                      <a:pt x="24" y="74"/>
                    </a:lnTo>
                    <a:lnTo>
                      <a:pt x="26" y="70"/>
                    </a:lnTo>
                    <a:lnTo>
                      <a:pt x="24" y="70"/>
                    </a:lnTo>
                    <a:lnTo>
                      <a:pt x="18" y="76"/>
                    </a:lnTo>
                    <a:lnTo>
                      <a:pt x="16" y="70"/>
                    </a:lnTo>
                    <a:lnTo>
                      <a:pt x="12" y="66"/>
                    </a:lnTo>
                    <a:lnTo>
                      <a:pt x="10" y="68"/>
                    </a:lnTo>
                    <a:lnTo>
                      <a:pt x="10" y="66"/>
                    </a:lnTo>
                    <a:lnTo>
                      <a:pt x="10" y="64"/>
                    </a:lnTo>
                    <a:lnTo>
                      <a:pt x="0" y="66"/>
                    </a:lnTo>
                    <a:lnTo>
                      <a:pt x="0" y="64"/>
                    </a:lnTo>
                    <a:lnTo>
                      <a:pt x="2" y="62"/>
                    </a:lnTo>
                    <a:lnTo>
                      <a:pt x="2" y="58"/>
                    </a:lnTo>
                    <a:lnTo>
                      <a:pt x="4" y="60"/>
                    </a:lnTo>
                    <a:lnTo>
                      <a:pt x="4" y="58"/>
                    </a:lnTo>
                    <a:lnTo>
                      <a:pt x="0" y="54"/>
                    </a:lnTo>
                    <a:lnTo>
                      <a:pt x="0" y="52"/>
                    </a:lnTo>
                    <a:lnTo>
                      <a:pt x="4" y="48"/>
                    </a:lnTo>
                    <a:lnTo>
                      <a:pt x="8" y="50"/>
                    </a:lnTo>
                    <a:lnTo>
                      <a:pt x="12" y="50"/>
                    </a:lnTo>
                    <a:lnTo>
                      <a:pt x="14" y="46"/>
                    </a:lnTo>
                    <a:lnTo>
                      <a:pt x="18" y="46"/>
                    </a:lnTo>
                    <a:lnTo>
                      <a:pt x="20" y="48"/>
                    </a:lnTo>
                    <a:lnTo>
                      <a:pt x="22" y="52"/>
                    </a:lnTo>
                    <a:lnTo>
                      <a:pt x="24" y="52"/>
                    </a:lnTo>
                    <a:lnTo>
                      <a:pt x="26" y="48"/>
                    </a:lnTo>
                    <a:lnTo>
                      <a:pt x="30" y="50"/>
                    </a:lnTo>
                    <a:lnTo>
                      <a:pt x="32" y="50"/>
                    </a:lnTo>
                    <a:lnTo>
                      <a:pt x="32" y="48"/>
                    </a:lnTo>
                    <a:lnTo>
                      <a:pt x="44" y="48"/>
                    </a:lnTo>
                    <a:lnTo>
                      <a:pt x="46" y="46"/>
                    </a:lnTo>
                    <a:lnTo>
                      <a:pt x="42" y="44"/>
                    </a:lnTo>
                    <a:lnTo>
                      <a:pt x="42" y="42"/>
                    </a:lnTo>
                    <a:lnTo>
                      <a:pt x="42" y="38"/>
                    </a:lnTo>
                    <a:lnTo>
                      <a:pt x="38" y="28"/>
                    </a:lnTo>
                    <a:lnTo>
                      <a:pt x="44" y="28"/>
                    </a:lnTo>
                    <a:lnTo>
                      <a:pt x="46" y="28"/>
                    </a:lnTo>
                    <a:lnTo>
                      <a:pt x="48" y="36"/>
                    </a:lnTo>
                    <a:lnTo>
                      <a:pt x="58" y="34"/>
                    </a:lnTo>
                    <a:lnTo>
                      <a:pt x="64" y="32"/>
                    </a:lnTo>
                    <a:lnTo>
                      <a:pt x="64" y="28"/>
                    </a:lnTo>
                    <a:lnTo>
                      <a:pt x="70" y="24"/>
                    </a:lnTo>
                    <a:lnTo>
                      <a:pt x="78" y="20"/>
                    </a:lnTo>
                    <a:lnTo>
                      <a:pt x="80" y="20"/>
                    </a:lnTo>
                    <a:lnTo>
                      <a:pt x="82" y="20"/>
                    </a:lnTo>
                    <a:lnTo>
                      <a:pt x="80" y="16"/>
                    </a:lnTo>
                    <a:lnTo>
                      <a:pt x="82" y="8"/>
                    </a:lnTo>
                    <a:lnTo>
                      <a:pt x="82" y="2"/>
                    </a:lnTo>
                    <a:lnTo>
                      <a:pt x="90" y="0"/>
                    </a:lnTo>
                    <a:lnTo>
                      <a:pt x="94" y="4"/>
                    </a:lnTo>
                    <a:lnTo>
                      <a:pt x="96" y="6"/>
                    </a:lnTo>
                    <a:lnTo>
                      <a:pt x="98" y="12"/>
                    </a:lnTo>
                    <a:lnTo>
                      <a:pt x="100" y="12"/>
                    </a:lnTo>
                    <a:lnTo>
                      <a:pt x="104" y="16"/>
                    </a:lnTo>
                    <a:lnTo>
                      <a:pt x="106" y="18"/>
                    </a:lnTo>
                    <a:lnTo>
                      <a:pt x="108" y="18"/>
                    </a:lnTo>
                    <a:lnTo>
                      <a:pt x="110" y="16"/>
                    </a:lnTo>
                    <a:lnTo>
                      <a:pt x="110" y="18"/>
                    </a:lnTo>
                    <a:lnTo>
                      <a:pt x="112" y="22"/>
                    </a:lnTo>
                    <a:lnTo>
                      <a:pt x="116" y="24"/>
                    </a:lnTo>
                    <a:lnTo>
                      <a:pt x="118" y="26"/>
                    </a:lnTo>
                    <a:lnTo>
                      <a:pt x="120" y="26"/>
                    </a:lnTo>
                    <a:lnTo>
                      <a:pt x="122" y="26"/>
                    </a:lnTo>
                    <a:lnTo>
                      <a:pt x="124" y="24"/>
                    </a:lnTo>
                    <a:lnTo>
                      <a:pt x="124" y="26"/>
                    </a:lnTo>
                    <a:lnTo>
                      <a:pt x="124" y="30"/>
                    </a:lnTo>
                    <a:lnTo>
                      <a:pt x="126" y="32"/>
                    </a:lnTo>
                    <a:lnTo>
                      <a:pt x="130" y="32"/>
                    </a:lnTo>
                    <a:lnTo>
                      <a:pt x="136" y="30"/>
                    </a:lnTo>
                    <a:lnTo>
                      <a:pt x="136" y="32"/>
                    </a:lnTo>
                    <a:lnTo>
                      <a:pt x="136" y="34"/>
                    </a:lnTo>
                    <a:lnTo>
                      <a:pt x="136" y="36"/>
                    </a:lnTo>
                    <a:lnTo>
                      <a:pt x="138" y="38"/>
                    </a:lnTo>
                    <a:lnTo>
                      <a:pt x="144" y="40"/>
                    </a:lnTo>
                    <a:lnTo>
                      <a:pt x="148" y="38"/>
                    </a:lnTo>
                    <a:lnTo>
                      <a:pt x="152" y="38"/>
                    </a:lnTo>
                    <a:lnTo>
                      <a:pt x="154" y="40"/>
                    </a:lnTo>
                    <a:lnTo>
                      <a:pt x="156" y="42"/>
                    </a:lnTo>
                    <a:lnTo>
                      <a:pt x="158" y="44"/>
                    </a:lnTo>
                    <a:lnTo>
                      <a:pt x="162" y="42"/>
                    </a:lnTo>
                    <a:lnTo>
                      <a:pt x="168" y="44"/>
                    </a:lnTo>
                    <a:lnTo>
                      <a:pt x="168" y="44"/>
                    </a:lnTo>
                    <a:lnTo>
                      <a:pt x="168" y="50"/>
                    </a:lnTo>
                    <a:lnTo>
                      <a:pt x="168" y="50"/>
                    </a:lnTo>
                    <a:close/>
                    <a:moveTo>
                      <a:pt x="182" y="156"/>
                    </a:moveTo>
                    <a:lnTo>
                      <a:pt x="182" y="156"/>
                    </a:lnTo>
                    <a:lnTo>
                      <a:pt x="180" y="160"/>
                    </a:lnTo>
                    <a:lnTo>
                      <a:pt x="178" y="164"/>
                    </a:lnTo>
                    <a:lnTo>
                      <a:pt x="174" y="164"/>
                    </a:lnTo>
                    <a:lnTo>
                      <a:pt x="170" y="164"/>
                    </a:lnTo>
                    <a:lnTo>
                      <a:pt x="170" y="172"/>
                    </a:lnTo>
                    <a:lnTo>
                      <a:pt x="172" y="178"/>
                    </a:lnTo>
                    <a:lnTo>
                      <a:pt x="170" y="178"/>
                    </a:lnTo>
                    <a:lnTo>
                      <a:pt x="170" y="180"/>
                    </a:lnTo>
                    <a:lnTo>
                      <a:pt x="172" y="182"/>
                    </a:lnTo>
                    <a:lnTo>
                      <a:pt x="176" y="184"/>
                    </a:lnTo>
                    <a:lnTo>
                      <a:pt x="182" y="188"/>
                    </a:lnTo>
                    <a:lnTo>
                      <a:pt x="186" y="172"/>
                    </a:lnTo>
                    <a:lnTo>
                      <a:pt x="186" y="164"/>
                    </a:lnTo>
                    <a:lnTo>
                      <a:pt x="184" y="158"/>
                    </a:lnTo>
                    <a:lnTo>
                      <a:pt x="182" y="156"/>
                    </a:lnTo>
                    <a:lnTo>
                      <a:pt x="182" y="15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62" name="Freeform 548">
                <a:extLst>
                  <a:ext uri="{FF2B5EF4-FFF2-40B4-BE49-F238E27FC236}">
                    <a16:creationId xmlns:a16="http://schemas.microsoft.com/office/drawing/2014/main" id="{EB2950B0-980F-98A1-2443-980C242D2092}"/>
                  </a:ext>
                </a:extLst>
              </p:cNvPr>
              <p:cNvSpPr>
                <a:spLocks noEditPoints="1"/>
              </p:cNvSpPr>
              <p:nvPr/>
            </p:nvSpPr>
            <p:spPr bwMode="auto">
              <a:xfrm>
                <a:off x="4739674" y="3268508"/>
                <a:ext cx="120571" cy="174845"/>
              </a:xfrm>
              <a:custGeom>
                <a:avLst/>
                <a:gdLst/>
                <a:ahLst/>
                <a:cxnLst>
                  <a:cxn ang="0">
                    <a:pos x="20" y="80"/>
                  </a:cxn>
                  <a:cxn ang="0">
                    <a:pos x="28" y="96"/>
                  </a:cxn>
                  <a:cxn ang="0">
                    <a:pos x="10" y="98"/>
                  </a:cxn>
                  <a:cxn ang="0">
                    <a:pos x="2" y="94"/>
                  </a:cxn>
                  <a:cxn ang="0">
                    <a:pos x="4" y="90"/>
                  </a:cxn>
                  <a:cxn ang="0">
                    <a:pos x="12" y="82"/>
                  </a:cxn>
                  <a:cxn ang="0">
                    <a:pos x="58" y="26"/>
                  </a:cxn>
                  <a:cxn ang="0">
                    <a:pos x="76" y="26"/>
                  </a:cxn>
                  <a:cxn ang="0">
                    <a:pos x="66" y="48"/>
                  </a:cxn>
                  <a:cxn ang="0">
                    <a:pos x="70" y="62"/>
                  </a:cxn>
                  <a:cxn ang="0">
                    <a:pos x="82" y="76"/>
                  </a:cxn>
                  <a:cxn ang="0">
                    <a:pos x="90" y="94"/>
                  </a:cxn>
                  <a:cxn ang="0">
                    <a:pos x="104" y="106"/>
                  </a:cxn>
                  <a:cxn ang="0">
                    <a:pos x="104" y="116"/>
                  </a:cxn>
                  <a:cxn ang="0">
                    <a:pos x="108" y="126"/>
                  </a:cxn>
                  <a:cxn ang="0">
                    <a:pos x="122" y="124"/>
                  </a:cxn>
                  <a:cxn ang="0">
                    <a:pos x="118" y="144"/>
                  </a:cxn>
                  <a:cxn ang="0">
                    <a:pos x="108" y="152"/>
                  </a:cxn>
                  <a:cxn ang="0">
                    <a:pos x="116" y="156"/>
                  </a:cxn>
                  <a:cxn ang="0">
                    <a:pos x="104" y="166"/>
                  </a:cxn>
                  <a:cxn ang="0">
                    <a:pos x="86" y="164"/>
                  </a:cxn>
                  <a:cxn ang="0">
                    <a:pos x="74" y="166"/>
                  </a:cxn>
                  <a:cxn ang="0">
                    <a:pos x="62" y="166"/>
                  </a:cxn>
                  <a:cxn ang="0">
                    <a:pos x="50" y="170"/>
                  </a:cxn>
                  <a:cxn ang="0">
                    <a:pos x="30" y="182"/>
                  </a:cxn>
                  <a:cxn ang="0">
                    <a:pos x="30" y="172"/>
                  </a:cxn>
                  <a:cxn ang="0">
                    <a:pos x="42" y="154"/>
                  </a:cxn>
                  <a:cxn ang="0">
                    <a:pos x="60" y="148"/>
                  </a:cxn>
                  <a:cxn ang="0">
                    <a:pos x="52" y="148"/>
                  </a:cxn>
                  <a:cxn ang="0">
                    <a:pos x="42" y="148"/>
                  </a:cxn>
                  <a:cxn ang="0">
                    <a:pos x="34" y="148"/>
                  </a:cxn>
                  <a:cxn ang="0">
                    <a:pos x="30" y="142"/>
                  </a:cxn>
                  <a:cxn ang="0">
                    <a:pos x="36" y="126"/>
                  </a:cxn>
                  <a:cxn ang="0">
                    <a:pos x="42" y="110"/>
                  </a:cxn>
                  <a:cxn ang="0">
                    <a:pos x="50" y="114"/>
                  </a:cxn>
                  <a:cxn ang="0">
                    <a:pos x="62" y="106"/>
                  </a:cxn>
                  <a:cxn ang="0">
                    <a:pos x="54" y="90"/>
                  </a:cxn>
                  <a:cxn ang="0">
                    <a:pos x="40" y="84"/>
                  </a:cxn>
                  <a:cxn ang="0">
                    <a:pos x="34" y="86"/>
                  </a:cxn>
                  <a:cxn ang="0">
                    <a:pos x="36" y="64"/>
                  </a:cxn>
                  <a:cxn ang="0">
                    <a:pos x="32" y="62"/>
                  </a:cxn>
                  <a:cxn ang="0">
                    <a:pos x="26" y="60"/>
                  </a:cxn>
                  <a:cxn ang="0">
                    <a:pos x="28" y="54"/>
                  </a:cxn>
                  <a:cxn ang="0">
                    <a:pos x="26" y="44"/>
                  </a:cxn>
                  <a:cxn ang="0">
                    <a:pos x="26" y="36"/>
                  </a:cxn>
                  <a:cxn ang="0">
                    <a:pos x="26" y="24"/>
                  </a:cxn>
                  <a:cxn ang="0">
                    <a:pos x="32" y="18"/>
                  </a:cxn>
                  <a:cxn ang="0">
                    <a:pos x="40" y="2"/>
                  </a:cxn>
                  <a:cxn ang="0">
                    <a:pos x="42" y="2"/>
                  </a:cxn>
                  <a:cxn ang="0">
                    <a:pos x="58" y="2"/>
                  </a:cxn>
                  <a:cxn ang="0">
                    <a:pos x="50" y="18"/>
                  </a:cxn>
                  <a:cxn ang="0">
                    <a:pos x="48" y="28"/>
                  </a:cxn>
                  <a:cxn ang="0">
                    <a:pos x="22" y="54"/>
                  </a:cxn>
                  <a:cxn ang="0">
                    <a:pos x="18" y="50"/>
                  </a:cxn>
                  <a:cxn ang="0">
                    <a:pos x="20" y="28"/>
                  </a:cxn>
                  <a:cxn ang="0">
                    <a:pos x="22" y="40"/>
                  </a:cxn>
                  <a:cxn ang="0">
                    <a:pos x="16" y="36"/>
                  </a:cxn>
                  <a:cxn ang="0">
                    <a:pos x="20" y="28"/>
                  </a:cxn>
                  <a:cxn ang="0">
                    <a:pos x="18" y="20"/>
                  </a:cxn>
                  <a:cxn ang="0">
                    <a:pos x="14" y="16"/>
                  </a:cxn>
                  <a:cxn ang="0">
                    <a:pos x="20" y="2"/>
                  </a:cxn>
                </a:cxnLst>
                <a:rect l="0" t="0" r="r" b="b"/>
                <a:pathLst>
                  <a:path w="124" h="182">
                    <a:moveTo>
                      <a:pt x="12" y="82"/>
                    </a:moveTo>
                    <a:lnTo>
                      <a:pt x="12" y="82"/>
                    </a:lnTo>
                    <a:lnTo>
                      <a:pt x="10" y="84"/>
                    </a:lnTo>
                    <a:lnTo>
                      <a:pt x="18" y="80"/>
                    </a:lnTo>
                    <a:lnTo>
                      <a:pt x="20" y="80"/>
                    </a:lnTo>
                    <a:lnTo>
                      <a:pt x="24" y="82"/>
                    </a:lnTo>
                    <a:lnTo>
                      <a:pt x="22" y="88"/>
                    </a:lnTo>
                    <a:lnTo>
                      <a:pt x="24" y="88"/>
                    </a:lnTo>
                    <a:lnTo>
                      <a:pt x="26" y="94"/>
                    </a:lnTo>
                    <a:lnTo>
                      <a:pt x="28" y="96"/>
                    </a:lnTo>
                    <a:lnTo>
                      <a:pt x="22" y="98"/>
                    </a:lnTo>
                    <a:lnTo>
                      <a:pt x="18" y="98"/>
                    </a:lnTo>
                    <a:lnTo>
                      <a:pt x="18" y="100"/>
                    </a:lnTo>
                    <a:lnTo>
                      <a:pt x="14" y="100"/>
                    </a:lnTo>
                    <a:lnTo>
                      <a:pt x="10" y="98"/>
                    </a:lnTo>
                    <a:lnTo>
                      <a:pt x="6" y="100"/>
                    </a:lnTo>
                    <a:lnTo>
                      <a:pt x="4" y="100"/>
                    </a:lnTo>
                    <a:lnTo>
                      <a:pt x="4" y="98"/>
                    </a:lnTo>
                    <a:lnTo>
                      <a:pt x="4" y="96"/>
                    </a:lnTo>
                    <a:lnTo>
                      <a:pt x="2" y="94"/>
                    </a:lnTo>
                    <a:lnTo>
                      <a:pt x="0" y="94"/>
                    </a:lnTo>
                    <a:lnTo>
                      <a:pt x="0" y="94"/>
                    </a:lnTo>
                    <a:lnTo>
                      <a:pt x="0" y="92"/>
                    </a:lnTo>
                    <a:lnTo>
                      <a:pt x="2" y="92"/>
                    </a:lnTo>
                    <a:lnTo>
                      <a:pt x="4" y="90"/>
                    </a:lnTo>
                    <a:lnTo>
                      <a:pt x="4" y="88"/>
                    </a:lnTo>
                    <a:lnTo>
                      <a:pt x="6" y="84"/>
                    </a:lnTo>
                    <a:lnTo>
                      <a:pt x="8" y="82"/>
                    </a:lnTo>
                    <a:lnTo>
                      <a:pt x="12" y="80"/>
                    </a:lnTo>
                    <a:lnTo>
                      <a:pt x="12" y="82"/>
                    </a:lnTo>
                    <a:lnTo>
                      <a:pt x="12" y="82"/>
                    </a:lnTo>
                    <a:close/>
                    <a:moveTo>
                      <a:pt x="48" y="28"/>
                    </a:moveTo>
                    <a:lnTo>
                      <a:pt x="48" y="28"/>
                    </a:lnTo>
                    <a:lnTo>
                      <a:pt x="50" y="26"/>
                    </a:lnTo>
                    <a:lnTo>
                      <a:pt x="58" y="26"/>
                    </a:lnTo>
                    <a:lnTo>
                      <a:pt x="58" y="24"/>
                    </a:lnTo>
                    <a:lnTo>
                      <a:pt x="64" y="26"/>
                    </a:lnTo>
                    <a:lnTo>
                      <a:pt x="68" y="24"/>
                    </a:lnTo>
                    <a:lnTo>
                      <a:pt x="72" y="24"/>
                    </a:lnTo>
                    <a:lnTo>
                      <a:pt x="76" y="26"/>
                    </a:lnTo>
                    <a:lnTo>
                      <a:pt x="72" y="34"/>
                    </a:lnTo>
                    <a:lnTo>
                      <a:pt x="72" y="40"/>
                    </a:lnTo>
                    <a:lnTo>
                      <a:pt x="70" y="42"/>
                    </a:lnTo>
                    <a:lnTo>
                      <a:pt x="66" y="44"/>
                    </a:lnTo>
                    <a:lnTo>
                      <a:pt x="66" y="48"/>
                    </a:lnTo>
                    <a:lnTo>
                      <a:pt x="64" y="48"/>
                    </a:lnTo>
                    <a:lnTo>
                      <a:pt x="68" y="58"/>
                    </a:lnTo>
                    <a:lnTo>
                      <a:pt x="64" y="58"/>
                    </a:lnTo>
                    <a:lnTo>
                      <a:pt x="62" y="62"/>
                    </a:lnTo>
                    <a:lnTo>
                      <a:pt x="70" y="62"/>
                    </a:lnTo>
                    <a:lnTo>
                      <a:pt x="70" y="66"/>
                    </a:lnTo>
                    <a:lnTo>
                      <a:pt x="74" y="68"/>
                    </a:lnTo>
                    <a:lnTo>
                      <a:pt x="78" y="72"/>
                    </a:lnTo>
                    <a:lnTo>
                      <a:pt x="78" y="74"/>
                    </a:lnTo>
                    <a:lnTo>
                      <a:pt x="82" y="76"/>
                    </a:lnTo>
                    <a:lnTo>
                      <a:pt x="82" y="80"/>
                    </a:lnTo>
                    <a:lnTo>
                      <a:pt x="82" y="84"/>
                    </a:lnTo>
                    <a:lnTo>
                      <a:pt x="86" y="90"/>
                    </a:lnTo>
                    <a:lnTo>
                      <a:pt x="88" y="90"/>
                    </a:lnTo>
                    <a:lnTo>
                      <a:pt x="90" y="94"/>
                    </a:lnTo>
                    <a:lnTo>
                      <a:pt x="94" y="98"/>
                    </a:lnTo>
                    <a:lnTo>
                      <a:pt x="96" y="98"/>
                    </a:lnTo>
                    <a:lnTo>
                      <a:pt x="98" y="98"/>
                    </a:lnTo>
                    <a:lnTo>
                      <a:pt x="102" y="102"/>
                    </a:lnTo>
                    <a:lnTo>
                      <a:pt x="104" y="106"/>
                    </a:lnTo>
                    <a:lnTo>
                      <a:pt x="104" y="108"/>
                    </a:lnTo>
                    <a:lnTo>
                      <a:pt x="102" y="108"/>
                    </a:lnTo>
                    <a:lnTo>
                      <a:pt x="96" y="104"/>
                    </a:lnTo>
                    <a:lnTo>
                      <a:pt x="100" y="110"/>
                    </a:lnTo>
                    <a:lnTo>
                      <a:pt x="104" y="116"/>
                    </a:lnTo>
                    <a:lnTo>
                      <a:pt x="106" y="122"/>
                    </a:lnTo>
                    <a:lnTo>
                      <a:pt x="104" y="122"/>
                    </a:lnTo>
                    <a:lnTo>
                      <a:pt x="104" y="124"/>
                    </a:lnTo>
                    <a:lnTo>
                      <a:pt x="106" y="128"/>
                    </a:lnTo>
                    <a:lnTo>
                      <a:pt x="108" y="126"/>
                    </a:lnTo>
                    <a:lnTo>
                      <a:pt x="110" y="126"/>
                    </a:lnTo>
                    <a:lnTo>
                      <a:pt x="108" y="126"/>
                    </a:lnTo>
                    <a:lnTo>
                      <a:pt x="110" y="122"/>
                    </a:lnTo>
                    <a:lnTo>
                      <a:pt x="116" y="124"/>
                    </a:lnTo>
                    <a:lnTo>
                      <a:pt x="122" y="124"/>
                    </a:lnTo>
                    <a:lnTo>
                      <a:pt x="124" y="128"/>
                    </a:lnTo>
                    <a:lnTo>
                      <a:pt x="124" y="134"/>
                    </a:lnTo>
                    <a:lnTo>
                      <a:pt x="122" y="140"/>
                    </a:lnTo>
                    <a:lnTo>
                      <a:pt x="120" y="144"/>
                    </a:lnTo>
                    <a:lnTo>
                      <a:pt x="118" y="144"/>
                    </a:lnTo>
                    <a:lnTo>
                      <a:pt x="118" y="148"/>
                    </a:lnTo>
                    <a:lnTo>
                      <a:pt x="110" y="148"/>
                    </a:lnTo>
                    <a:lnTo>
                      <a:pt x="110" y="148"/>
                    </a:lnTo>
                    <a:lnTo>
                      <a:pt x="106" y="148"/>
                    </a:lnTo>
                    <a:lnTo>
                      <a:pt x="108" y="152"/>
                    </a:lnTo>
                    <a:lnTo>
                      <a:pt x="106" y="152"/>
                    </a:lnTo>
                    <a:lnTo>
                      <a:pt x="106" y="154"/>
                    </a:lnTo>
                    <a:lnTo>
                      <a:pt x="114" y="154"/>
                    </a:lnTo>
                    <a:lnTo>
                      <a:pt x="118" y="154"/>
                    </a:lnTo>
                    <a:lnTo>
                      <a:pt x="116" y="156"/>
                    </a:lnTo>
                    <a:lnTo>
                      <a:pt x="116" y="158"/>
                    </a:lnTo>
                    <a:lnTo>
                      <a:pt x="112" y="160"/>
                    </a:lnTo>
                    <a:lnTo>
                      <a:pt x="110" y="162"/>
                    </a:lnTo>
                    <a:lnTo>
                      <a:pt x="106" y="162"/>
                    </a:lnTo>
                    <a:lnTo>
                      <a:pt x="104" y="166"/>
                    </a:lnTo>
                    <a:lnTo>
                      <a:pt x="102" y="164"/>
                    </a:lnTo>
                    <a:lnTo>
                      <a:pt x="98" y="162"/>
                    </a:lnTo>
                    <a:lnTo>
                      <a:pt x="94" y="162"/>
                    </a:lnTo>
                    <a:lnTo>
                      <a:pt x="92" y="162"/>
                    </a:lnTo>
                    <a:lnTo>
                      <a:pt x="86" y="164"/>
                    </a:lnTo>
                    <a:lnTo>
                      <a:pt x="84" y="164"/>
                    </a:lnTo>
                    <a:lnTo>
                      <a:pt x="82" y="162"/>
                    </a:lnTo>
                    <a:lnTo>
                      <a:pt x="78" y="162"/>
                    </a:lnTo>
                    <a:lnTo>
                      <a:pt x="78" y="164"/>
                    </a:lnTo>
                    <a:lnTo>
                      <a:pt x="74" y="166"/>
                    </a:lnTo>
                    <a:lnTo>
                      <a:pt x="74" y="168"/>
                    </a:lnTo>
                    <a:lnTo>
                      <a:pt x="70" y="168"/>
                    </a:lnTo>
                    <a:lnTo>
                      <a:pt x="68" y="168"/>
                    </a:lnTo>
                    <a:lnTo>
                      <a:pt x="64" y="166"/>
                    </a:lnTo>
                    <a:lnTo>
                      <a:pt x="62" y="166"/>
                    </a:lnTo>
                    <a:lnTo>
                      <a:pt x="58" y="166"/>
                    </a:lnTo>
                    <a:lnTo>
                      <a:pt x="56" y="170"/>
                    </a:lnTo>
                    <a:lnTo>
                      <a:pt x="52" y="174"/>
                    </a:lnTo>
                    <a:lnTo>
                      <a:pt x="50" y="172"/>
                    </a:lnTo>
                    <a:lnTo>
                      <a:pt x="50" y="170"/>
                    </a:lnTo>
                    <a:lnTo>
                      <a:pt x="38" y="172"/>
                    </a:lnTo>
                    <a:lnTo>
                      <a:pt x="38" y="174"/>
                    </a:lnTo>
                    <a:lnTo>
                      <a:pt x="36" y="174"/>
                    </a:lnTo>
                    <a:lnTo>
                      <a:pt x="34" y="174"/>
                    </a:lnTo>
                    <a:lnTo>
                      <a:pt x="30" y="182"/>
                    </a:lnTo>
                    <a:lnTo>
                      <a:pt x="26" y="180"/>
                    </a:lnTo>
                    <a:lnTo>
                      <a:pt x="22" y="178"/>
                    </a:lnTo>
                    <a:lnTo>
                      <a:pt x="22" y="176"/>
                    </a:lnTo>
                    <a:lnTo>
                      <a:pt x="28" y="174"/>
                    </a:lnTo>
                    <a:lnTo>
                      <a:pt x="30" y="172"/>
                    </a:lnTo>
                    <a:lnTo>
                      <a:pt x="30" y="168"/>
                    </a:lnTo>
                    <a:lnTo>
                      <a:pt x="36" y="164"/>
                    </a:lnTo>
                    <a:lnTo>
                      <a:pt x="38" y="158"/>
                    </a:lnTo>
                    <a:lnTo>
                      <a:pt x="40" y="156"/>
                    </a:lnTo>
                    <a:lnTo>
                      <a:pt x="42" y="154"/>
                    </a:lnTo>
                    <a:lnTo>
                      <a:pt x="52" y="154"/>
                    </a:lnTo>
                    <a:lnTo>
                      <a:pt x="64" y="154"/>
                    </a:lnTo>
                    <a:lnTo>
                      <a:pt x="66" y="148"/>
                    </a:lnTo>
                    <a:lnTo>
                      <a:pt x="66" y="146"/>
                    </a:lnTo>
                    <a:lnTo>
                      <a:pt x="60" y="148"/>
                    </a:lnTo>
                    <a:lnTo>
                      <a:pt x="60" y="148"/>
                    </a:lnTo>
                    <a:lnTo>
                      <a:pt x="58" y="150"/>
                    </a:lnTo>
                    <a:lnTo>
                      <a:pt x="54" y="148"/>
                    </a:lnTo>
                    <a:lnTo>
                      <a:pt x="54" y="148"/>
                    </a:lnTo>
                    <a:lnTo>
                      <a:pt x="52" y="148"/>
                    </a:lnTo>
                    <a:lnTo>
                      <a:pt x="48" y="150"/>
                    </a:lnTo>
                    <a:lnTo>
                      <a:pt x="44" y="150"/>
                    </a:lnTo>
                    <a:lnTo>
                      <a:pt x="42" y="150"/>
                    </a:lnTo>
                    <a:lnTo>
                      <a:pt x="42" y="148"/>
                    </a:lnTo>
                    <a:lnTo>
                      <a:pt x="42" y="148"/>
                    </a:lnTo>
                    <a:lnTo>
                      <a:pt x="38" y="148"/>
                    </a:lnTo>
                    <a:lnTo>
                      <a:pt x="38" y="148"/>
                    </a:lnTo>
                    <a:lnTo>
                      <a:pt x="36" y="150"/>
                    </a:lnTo>
                    <a:lnTo>
                      <a:pt x="34" y="150"/>
                    </a:lnTo>
                    <a:lnTo>
                      <a:pt x="34" y="148"/>
                    </a:lnTo>
                    <a:lnTo>
                      <a:pt x="34" y="148"/>
                    </a:lnTo>
                    <a:lnTo>
                      <a:pt x="30" y="148"/>
                    </a:lnTo>
                    <a:lnTo>
                      <a:pt x="30" y="146"/>
                    </a:lnTo>
                    <a:lnTo>
                      <a:pt x="32" y="146"/>
                    </a:lnTo>
                    <a:lnTo>
                      <a:pt x="30" y="142"/>
                    </a:lnTo>
                    <a:lnTo>
                      <a:pt x="38" y="138"/>
                    </a:lnTo>
                    <a:lnTo>
                      <a:pt x="40" y="136"/>
                    </a:lnTo>
                    <a:lnTo>
                      <a:pt x="44" y="132"/>
                    </a:lnTo>
                    <a:lnTo>
                      <a:pt x="44" y="124"/>
                    </a:lnTo>
                    <a:lnTo>
                      <a:pt x="36" y="126"/>
                    </a:lnTo>
                    <a:lnTo>
                      <a:pt x="42" y="120"/>
                    </a:lnTo>
                    <a:lnTo>
                      <a:pt x="46" y="116"/>
                    </a:lnTo>
                    <a:lnTo>
                      <a:pt x="42" y="116"/>
                    </a:lnTo>
                    <a:lnTo>
                      <a:pt x="40" y="110"/>
                    </a:lnTo>
                    <a:lnTo>
                      <a:pt x="42" y="110"/>
                    </a:lnTo>
                    <a:lnTo>
                      <a:pt x="42" y="108"/>
                    </a:lnTo>
                    <a:lnTo>
                      <a:pt x="44" y="108"/>
                    </a:lnTo>
                    <a:lnTo>
                      <a:pt x="48" y="108"/>
                    </a:lnTo>
                    <a:lnTo>
                      <a:pt x="48" y="112"/>
                    </a:lnTo>
                    <a:lnTo>
                      <a:pt x="50" y="114"/>
                    </a:lnTo>
                    <a:lnTo>
                      <a:pt x="60" y="114"/>
                    </a:lnTo>
                    <a:lnTo>
                      <a:pt x="60" y="112"/>
                    </a:lnTo>
                    <a:lnTo>
                      <a:pt x="62" y="112"/>
                    </a:lnTo>
                    <a:lnTo>
                      <a:pt x="62" y="110"/>
                    </a:lnTo>
                    <a:lnTo>
                      <a:pt x="62" y="106"/>
                    </a:lnTo>
                    <a:lnTo>
                      <a:pt x="64" y="102"/>
                    </a:lnTo>
                    <a:lnTo>
                      <a:pt x="64" y="94"/>
                    </a:lnTo>
                    <a:lnTo>
                      <a:pt x="58" y="94"/>
                    </a:lnTo>
                    <a:lnTo>
                      <a:pt x="54" y="94"/>
                    </a:lnTo>
                    <a:lnTo>
                      <a:pt x="54" y="90"/>
                    </a:lnTo>
                    <a:lnTo>
                      <a:pt x="60" y="86"/>
                    </a:lnTo>
                    <a:lnTo>
                      <a:pt x="56" y="84"/>
                    </a:lnTo>
                    <a:lnTo>
                      <a:pt x="52" y="86"/>
                    </a:lnTo>
                    <a:lnTo>
                      <a:pt x="46" y="86"/>
                    </a:lnTo>
                    <a:lnTo>
                      <a:pt x="40" y="84"/>
                    </a:lnTo>
                    <a:lnTo>
                      <a:pt x="40" y="88"/>
                    </a:lnTo>
                    <a:lnTo>
                      <a:pt x="40" y="90"/>
                    </a:lnTo>
                    <a:lnTo>
                      <a:pt x="38" y="88"/>
                    </a:lnTo>
                    <a:lnTo>
                      <a:pt x="36" y="86"/>
                    </a:lnTo>
                    <a:lnTo>
                      <a:pt x="34" y="86"/>
                    </a:lnTo>
                    <a:lnTo>
                      <a:pt x="32" y="86"/>
                    </a:lnTo>
                    <a:lnTo>
                      <a:pt x="36" y="74"/>
                    </a:lnTo>
                    <a:lnTo>
                      <a:pt x="36" y="70"/>
                    </a:lnTo>
                    <a:lnTo>
                      <a:pt x="34" y="64"/>
                    </a:lnTo>
                    <a:lnTo>
                      <a:pt x="36" y="64"/>
                    </a:lnTo>
                    <a:lnTo>
                      <a:pt x="36" y="62"/>
                    </a:lnTo>
                    <a:lnTo>
                      <a:pt x="36" y="60"/>
                    </a:lnTo>
                    <a:lnTo>
                      <a:pt x="34" y="60"/>
                    </a:lnTo>
                    <a:lnTo>
                      <a:pt x="34" y="62"/>
                    </a:lnTo>
                    <a:lnTo>
                      <a:pt x="32" y="62"/>
                    </a:lnTo>
                    <a:lnTo>
                      <a:pt x="32" y="60"/>
                    </a:lnTo>
                    <a:lnTo>
                      <a:pt x="28" y="62"/>
                    </a:lnTo>
                    <a:lnTo>
                      <a:pt x="26" y="66"/>
                    </a:lnTo>
                    <a:lnTo>
                      <a:pt x="26" y="62"/>
                    </a:lnTo>
                    <a:lnTo>
                      <a:pt x="26" y="60"/>
                    </a:lnTo>
                    <a:lnTo>
                      <a:pt x="28" y="60"/>
                    </a:lnTo>
                    <a:lnTo>
                      <a:pt x="28" y="56"/>
                    </a:lnTo>
                    <a:lnTo>
                      <a:pt x="26" y="56"/>
                    </a:lnTo>
                    <a:lnTo>
                      <a:pt x="28" y="56"/>
                    </a:lnTo>
                    <a:lnTo>
                      <a:pt x="28" y="54"/>
                    </a:lnTo>
                    <a:lnTo>
                      <a:pt x="32" y="54"/>
                    </a:lnTo>
                    <a:lnTo>
                      <a:pt x="32" y="50"/>
                    </a:lnTo>
                    <a:lnTo>
                      <a:pt x="24" y="52"/>
                    </a:lnTo>
                    <a:lnTo>
                      <a:pt x="24" y="50"/>
                    </a:lnTo>
                    <a:lnTo>
                      <a:pt x="26" y="44"/>
                    </a:lnTo>
                    <a:lnTo>
                      <a:pt x="26" y="42"/>
                    </a:lnTo>
                    <a:lnTo>
                      <a:pt x="28" y="40"/>
                    </a:lnTo>
                    <a:lnTo>
                      <a:pt x="26" y="40"/>
                    </a:lnTo>
                    <a:lnTo>
                      <a:pt x="24" y="38"/>
                    </a:lnTo>
                    <a:lnTo>
                      <a:pt x="26" y="36"/>
                    </a:lnTo>
                    <a:lnTo>
                      <a:pt x="26" y="34"/>
                    </a:lnTo>
                    <a:lnTo>
                      <a:pt x="24" y="28"/>
                    </a:lnTo>
                    <a:lnTo>
                      <a:pt x="28" y="28"/>
                    </a:lnTo>
                    <a:lnTo>
                      <a:pt x="26" y="26"/>
                    </a:lnTo>
                    <a:lnTo>
                      <a:pt x="26" y="24"/>
                    </a:lnTo>
                    <a:lnTo>
                      <a:pt x="26" y="22"/>
                    </a:lnTo>
                    <a:lnTo>
                      <a:pt x="32" y="22"/>
                    </a:lnTo>
                    <a:lnTo>
                      <a:pt x="34" y="20"/>
                    </a:lnTo>
                    <a:lnTo>
                      <a:pt x="32" y="20"/>
                    </a:lnTo>
                    <a:lnTo>
                      <a:pt x="32" y="18"/>
                    </a:lnTo>
                    <a:lnTo>
                      <a:pt x="32" y="16"/>
                    </a:lnTo>
                    <a:lnTo>
                      <a:pt x="34" y="12"/>
                    </a:lnTo>
                    <a:lnTo>
                      <a:pt x="36" y="8"/>
                    </a:lnTo>
                    <a:lnTo>
                      <a:pt x="36" y="2"/>
                    </a:lnTo>
                    <a:lnTo>
                      <a:pt x="40" y="2"/>
                    </a:lnTo>
                    <a:lnTo>
                      <a:pt x="42" y="2"/>
                    </a:lnTo>
                    <a:lnTo>
                      <a:pt x="42" y="4"/>
                    </a:lnTo>
                    <a:lnTo>
                      <a:pt x="40" y="6"/>
                    </a:lnTo>
                    <a:lnTo>
                      <a:pt x="42" y="6"/>
                    </a:lnTo>
                    <a:lnTo>
                      <a:pt x="42" y="2"/>
                    </a:lnTo>
                    <a:lnTo>
                      <a:pt x="44" y="2"/>
                    </a:lnTo>
                    <a:lnTo>
                      <a:pt x="44" y="4"/>
                    </a:lnTo>
                    <a:lnTo>
                      <a:pt x="50" y="0"/>
                    </a:lnTo>
                    <a:lnTo>
                      <a:pt x="54" y="0"/>
                    </a:lnTo>
                    <a:lnTo>
                      <a:pt x="58" y="2"/>
                    </a:lnTo>
                    <a:lnTo>
                      <a:pt x="60" y="4"/>
                    </a:lnTo>
                    <a:lnTo>
                      <a:pt x="58" y="10"/>
                    </a:lnTo>
                    <a:lnTo>
                      <a:pt x="54" y="12"/>
                    </a:lnTo>
                    <a:lnTo>
                      <a:pt x="52" y="18"/>
                    </a:lnTo>
                    <a:lnTo>
                      <a:pt x="50" y="18"/>
                    </a:lnTo>
                    <a:lnTo>
                      <a:pt x="46" y="20"/>
                    </a:lnTo>
                    <a:lnTo>
                      <a:pt x="46" y="22"/>
                    </a:lnTo>
                    <a:lnTo>
                      <a:pt x="46" y="26"/>
                    </a:lnTo>
                    <a:lnTo>
                      <a:pt x="46" y="28"/>
                    </a:lnTo>
                    <a:lnTo>
                      <a:pt x="48" y="28"/>
                    </a:lnTo>
                    <a:lnTo>
                      <a:pt x="48" y="28"/>
                    </a:lnTo>
                    <a:close/>
                    <a:moveTo>
                      <a:pt x="22" y="48"/>
                    </a:moveTo>
                    <a:lnTo>
                      <a:pt x="22" y="48"/>
                    </a:lnTo>
                    <a:lnTo>
                      <a:pt x="22" y="52"/>
                    </a:lnTo>
                    <a:lnTo>
                      <a:pt x="22" y="54"/>
                    </a:lnTo>
                    <a:lnTo>
                      <a:pt x="22" y="56"/>
                    </a:lnTo>
                    <a:lnTo>
                      <a:pt x="18" y="54"/>
                    </a:lnTo>
                    <a:lnTo>
                      <a:pt x="20" y="54"/>
                    </a:lnTo>
                    <a:lnTo>
                      <a:pt x="20" y="52"/>
                    </a:lnTo>
                    <a:lnTo>
                      <a:pt x="18" y="50"/>
                    </a:lnTo>
                    <a:lnTo>
                      <a:pt x="18" y="48"/>
                    </a:lnTo>
                    <a:lnTo>
                      <a:pt x="22" y="48"/>
                    </a:lnTo>
                    <a:lnTo>
                      <a:pt x="22" y="48"/>
                    </a:lnTo>
                    <a:close/>
                    <a:moveTo>
                      <a:pt x="20" y="28"/>
                    </a:moveTo>
                    <a:lnTo>
                      <a:pt x="20" y="28"/>
                    </a:lnTo>
                    <a:lnTo>
                      <a:pt x="20" y="32"/>
                    </a:lnTo>
                    <a:lnTo>
                      <a:pt x="20" y="38"/>
                    </a:lnTo>
                    <a:lnTo>
                      <a:pt x="22" y="38"/>
                    </a:lnTo>
                    <a:lnTo>
                      <a:pt x="22" y="40"/>
                    </a:lnTo>
                    <a:lnTo>
                      <a:pt x="22" y="40"/>
                    </a:lnTo>
                    <a:lnTo>
                      <a:pt x="22" y="42"/>
                    </a:lnTo>
                    <a:lnTo>
                      <a:pt x="22" y="42"/>
                    </a:lnTo>
                    <a:lnTo>
                      <a:pt x="22" y="40"/>
                    </a:lnTo>
                    <a:lnTo>
                      <a:pt x="20" y="40"/>
                    </a:lnTo>
                    <a:lnTo>
                      <a:pt x="16" y="36"/>
                    </a:lnTo>
                    <a:lnTo>
                      <a:pt x="16" y="28"/>
                    </a:lnTo>
                    <a:lnTo>
                      <a:pt x="20" y="28"/>
                    </a:lnTo>
                    <a:lnTo>
                      <a:pt x="20" y="24"/>
                    </a:lnTo>
                    <a:lnTo>
                      <a:pt x="20" y="26"/>
                    </a:lnTo>
                    <a:lnTo>
                      <a:pt x="20" y="28"/>
                    </a:lnTo>
                    <a:lnTo>
                      <a:pt x="20" y="28"/>
                    </a:lnTo>
                    <a:close/>
                    <a:moveTo>
                      <a:pt x="20" y="12"/>
                    </a:moveTo>
                    <a:lnTo>
                      <a:pt x="20" y="12"/>
                    </a:lnTo>
                    <a:lnTo>
                      <a:pt x="18" y="16"/>
                    </a:lnTo>
                    <a:lnTo>
                      <a:pt x="18" y="20"/>
                    </a:lnTo>
                    <a:lnTo>
                      <a:pt x="14" y="20"/>
                    </a:lnTo>
                    <a:lnTo>
                      <a:pt x="14" y="22"/>
                    </a:lnTo>
                    <a:lnTo>
                      <a:pt x="10" y="24"/>
                    </a:lnTo>
                    <a:lnTo>
                      <a:pt x="10" y="20"/>
                    </a:lnTo>
                    <a:lnTo>
                      <a:pt x="14" y="16"/>
                    </a:lnTo>
                    <a:lnTo>
                      <a:pt x="12" y="14"/>
                    </a:lnTo>
                    <a:lnTo>
                      <a:pt x="10" y="10"/>
                    </a:lnTo>
                    <a:lnTo>
                      <a:pt x="14" y="10"/>
                    </a:lnTo>
                    <a:lnTo>
                      <a:pt x="14" y="6"/>
                    </a:lnTo>
                    <a:lnTo>
                      <a:pt x="20" y="2"/>
                    </a:lnTo>
                    <a:lnTo>
                      <a:pt x="22" y="4"/>
                    </a:lnTo>
                    <a:lnTo>
                      <a:pt x="22" y="8"/>
                    </a:lnTo>
                    <a:lnTo>
                      <a:pt x="20" y="12"/>
                    </a:lnTo>
                    <a:lnTo>
                      <a:pt x="20" y="1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63" name="Freeform 549">
                <a:extLst>
                  <a:ext uri="{FF2B5EF4-FFF2-40B4-BE49-F238E27FC236}">
                    <a16:creationId xmlns:a16="http://schemas.microsoft.com/office/drawing/2014/main" id="{55703DDE-663C-F4A0-62F7-618CEA2372FE}"/>
                  </a:ext>
                </a:extLst>
              </p:cNvPr>
              <p:cNvSpPr>
                <a:spLocks noEditPoints="1"/>
              </p:cNvSpPr>
              <p:nvPr/>
            </p:nvSpPr>
            <p:spPr bwMode="auto">
              <a:xfrm>
                <a:off x="5083885" y="2838121"/>
                <a:ext cx="2143054" cy="768548"/>
              </a:xfrm>
              <a:custGeom>
                <a:avLst/>
                <a:gdLst/>
                <a:ahLst/>
                <a:cxnLst>
                  <a:cxn ang="0">
                    <a:pos x="1586" y="638"/>
                  </a:cxn>
                  <a:cxn ang="0">
                    <a:pos x="2200" y="306"/>
                  </a:cxn>
                  <a:cxn ang="0">
                    <a:pos x="2124" y="310"/>
                  </a:cxn>
                  <a:cxn ang="0">
                    <a:pos x="2034" y="326"/>
                  </a:cxn>
                  <a:cxn ang="0">
                    <a:pos x="1976" y="402"/>
                  </a:cxn>
                  <a:cxn ang="0">
                    <a:pos x="1870" y="424"/>
                  </a:cxn>
                  <a:cxn ang="0">
                    <a:pos x="1844" y="544"/>
                  </a:cxn>
                  <a:cxn ang="0">
                    <a:pos x="1778" y="494"/>
                  </a:cxn>
                  <a:cxn ang="0">
                    <a:pos x="1884" y="370"/>
                  </a:cxn>
                  <a:cxn ang="0">
                    <a:pos x="1812" y="388"/>
                  </a:cxn>
                  <a:cxn ang="0">
                    <a:pos x="1738" y="444"/>
                  </a:cxn>
                  <a:cxn ang="0">
                    <a:pos x="1658" y="440"/>
                  </a:cxn>
                  <a:cxn ang="0">
                    <a:pos x="1538" y="492"/>
                  </a:cxn>
                  <a:cxn ang="0">
                    <a:pos x="1570" y="574"/>
                  </a:cxn>
                  <a:cxn ang="0">
                    <a:pos x="1542" y="682"/>
                  </a:cxn>
                  <a:cxn ang="0">
                    <a:pos x="1438" y="768"/>
                  </a:cxn>
                  <a:cxn ang="0">
                    <a:pos x="1436" y="666"/>
                  </a:cxn>
                  <a:cxn ang="0">
                    <a:pos x="1288" y="630"/>
                  </a:cxn>
                  <a:cxn ang="0">
                    <a:pos x="1026" y="592"/>
                  </a:cxn>
                  <a:cxn ang="0">
                    <a:pos x="810" y="618"/>
                  </a:cxn>
                  <a:cxn ang="0">
                    <a:pos x="578" y="544"/>
                  </a:cxn>
                  <a:cxn ang="0">
                    <a:pos x="470" y="610"/>
                  </a:cxn>
                  <a:cxn ang="0">
                    <a:pos x="390" y="624"/>
                  </a:cxn>
                  <a:cxn ang="0">
                    <a:pos x="370" y="710"/>
                  </a:cxn>
                  <a:cxn ang="0">
                    <a:pos x="352" y="776"/>
                  </a:cxn>
                  <a:cxn ang="0">
                    <a:pos x="238" y="734"/>
                  </a:cxn>
                  <a:cxn ang="0">
                    <a:pos x="268" y="644"/>
                  </a:cxn>
                  <a:cxn ang="0">
                    <a:pos x="162" y="588"/>
                  </a:cxn>
                  <a:cxn ang="0">
                    <a:pos x="108" y="482"/>
                  </a:cxn>
                  <a:cxn ang="0">
                    <a:pos x="136" y="384"/>
                  </a:cxn>
                  <a:cxn ang="0">
                    <a:pos x="134" y="214"/>
                  </a:cxn>
                  <a:cxn ang="0">
                    <a:pos x="232" y="224"/>
                  </a:cxn>
                  <a:cxn ang="0">
                    <a:pos x="176" y="264"/>
                  </a:cxn>
                  <a:cxn ang="0">
                    <a:pos x="238" y="342"/>
                  </a:cxn>
                  <a:cxn ang="0">
                    <a:pos x="302" y="284"/>
                  </a:cxn>
                  <a:cxn ang="0">
                    <a:pos x="346" y="282"/>
                  </a:cxn>
                  <a:cxn ang="0">
                    <a:pos x="436" y="244"/>
                  </a:cxn>
                  <a:cxn ang="0">
                    <a:pos x="554" y="208"/>
                  </a:cxn>
                  <a:cxn ang="0">
                    <a:pos x="622" y="208"/>
                  </a:cxn>
                  <a:cxn ang="0">
                    <a:pos x="680" y="176"/>
                  </a:cxn>
                  <a:cxn ang="0">
                    <a:pos x="690" y="286"/>
                  </a:cxn>
                  <a:cxn ang="0">
                    <a:pos x="756" y="250"/>
                  </a:cxn>
                  <a:cxn ang="0">
                    <a:pos x="720" y="136"/>
                  </a:cxn>
                  <a:cxn ang="0">
                    <a:pos x="778" y="142"/>
                  </a:cxn>
                  <a:cxn ang="0">
                    <a:pos x="850" y="208"/>
                  </a:cxn>
                  <a:cxn ang="0">
                    <a:pos x="844" y="100"/>
                  </a:cxn>
                  <a:cxn ang="0">
                    <a:pos x="904" y="58"/>
                  </a:cxn>
                  <a:cxn ang="0">
                    <a:pos x="1016" y="50"/>
                  </a:cxn>
                  <a:cxn ang="0">
                    <a:pos x="1100" y="2"/>
                  </a:cxn>
                  <a:cxn ang="0">
                    <a:pos x="1206" y="38"/>
                  </a:cxn>
                  <a:cxn ang="0">
                    <a:pos x="1112" y="138"/>
                  </a:cxn>
                  <a:cxn ang="0">
                    <a:pos x="1208" y="106"/>
                  </a:cxn>
                  <a:cxn ang="0">
                    <a:pos x="1328" y="134"/>
                  </a:cxn>
                  <a:cxn ang="0">
                    <a:pos x="1360" y="134"/>
                  </a:cxn>
                  <a:cxn ang="0">
                    <a:pos x="1410" y="170"/>
                  </a:cxn>
                  <a:cxn ang="0">
                    <a:pos x="1534" y="166"/>
                  </a:cxn>
                  <a:cxn ang="0">
                    <a:pos x="1610" y="136"/>
                  </a:cxn>
                  <a:cxn ang="0">
                    <a:pos x="1682" y="170"/>
                  </a:cxn>
                  <a:cxn ang="0">
                    <a:pos x="1820" y="200"/>
                  </a:cxn>
                  <a:cxn ang="0">
                    <a:pos x="1952" y="222"/>
                  </a:cxn>
                  <a:cxn ang="0">
                    <a:pos x="2090" y="236"/>
                  </a:cxn>
                  <a:cxn ang="0">
                    <a:pos x="26" y="538"/>
                  </a:cxn>
                </a:cxnLst>
                <a:rect l="0" t="0" r="r" b="b"/>
                <a:pathLst>
                  <a:path w="2204" h="800">
                    <a:moveTo>
                      <a:pt x="1614" y="644"/>
                    </a:moveTo>
                    <a:lnTo>
                      <a:pt x="1614" y="644"/>
                    </a:lnTo>
                    <a:lnTo>
                      <a:pt x="1616" y="652"/>
                    </a:lnTo>
                    <a:lnTo>
                      <a:pt x="1612" y="648"/>
                    </a:lnTo>
                    <a:lnTo>
                      <a:pt x="1606" y="644"/>
                    </a:lnTo>
                    <a:lnTo>
                      <a:pt x="1604" y="644"/>
                    </a:lnTo>
                    <a:lnTo>
                      <a:pt x="1600" y="644"/>
                    </a:lnTo>
                    <a:lnTo>
                      <a:pt x="1598" y="646"/>
                    </a:lnTo>
                    <a:lnTo>
                      <a:pt x="1596" y="650"/>
                    </a:lnTo>
                    <a:lnTo>
                      <a:pt x="1596" y="656"/>
                    </a:lnTo>
                    <a:lnTo>
                      <a:pt x="1596" y="658"/>
                    </a:lnTo>
                    <a:lnTo>
                      <a:pt x="1594" y="668"/>
                    </a:lnTo>
                    <a:lnTo>
                      <a:pt x="1592" y="678"/>
                    </a:lnTo>
                    <a:lnTo>
                      <a:pt x="1594" y="686"/>
                    </a:lnTo>
                    <a:lnTo>
                      <a:pt x="1596" y="696"/>
                    </a:lnTo>
                    <a:lnTo>
                      <a:pt x="1600" y="698"/>
                    </a:lnTo>
                    <a:lnTo>
                      <a:pt x="1600" y="704"/>
                    </a:lnTo>
                    <a:lnTo>
                      <a:pt x="1602" y="710"/>
                    </a:lnTo>
                    <a:lnTo>
                      <a:pt x="1598" y="712"/>
                    </a:lnTo>
                    <a:lnTo>
                      <a:pt x="1598" y="710"/>
                    </a:lnTo>
                    <a:lnTo>
                      <a:pt x="1596" y="706"/>
                    </a:lnTo>
                    <a:lnTo>
                      <a:pt x="1596" y="704"/>
                    </a:lnTo>
                    <a:lnTo>
                      <a:pt x="1594" y="702"/>
                    </a:lnTo>
                    <a:lnTo>
                      <a:pt x="1592" y="698"/>
                    </a:lnTo>
                    <a:lnTo>
                      <a:pt x="1590" y="698"/>
                    </a:lnTo>
                    <a:lnTo>
                      <a:pt x="1588" y="700"/>
                    </a:lnTo>
                    <a:lnTo>
                      <a:pt x="1586" y="702"/>
                    </a:lnTo>
                    <a:lnTo>
                      <a:pt x="1584" y="708"/>
                    </a:lnTo>
                    <a:lnTo>
                      <a:pt x="1584" y="710"/>
                    </a:lnTo>
                    <a:lnTo>
                      <a:pt x="1580" y="710"/>
                    </a:lnTo>
                    <a:lnTo>
                      <a:pt x="1582" y="698"/>
                    </a:lnTo>
                    <a:lnTo>
                      <a:pt x="1584" y="696"/>
                    </a:lnTo>
                    <a:lnTo>
                      <a:pt x="1584" y="692"/>
                    </a:lnTo>
                    <a:lnTo>
                      <a:pt x="1584" y="686"/>
                    </a:lnTo>
                    <a:lnTo>
                      <a:pt x="1586" y="684"/>
                    </a:lnTo>
                    <a:lnTo>
                      <a:pt x="1586" y="672"/>
                    </a:lnTo>
                    <a:lnTo>
                      <a:pt x="1584" y="658"/>
                    </a:lnTo>
                    <a:lnTo>
                      <a:pt x="1586" y="656"/>
                    </a:lnTo>
                    <a:lnTo>
                      <a:pt x="1584" y="648"/>
                    </a:lnTo>
                    <a:lnTo>
                      <a:pt x="1586" y="638"/>
                    </a:lnTo>
                    <a:lnTo>
                      <a:pt x="1586" y="630"/>
                    </a:lnTo>
                    <a:lnTo>
                      <a:pt x="1584" y="622"/>
                    </a:lnTo>
                    <a:lnTo>
                      <a:pt x="1586" y="614"/>
                    </a:lnTo>
                    <a:lnTo>
                      <a:pt x="1584" y="608"/>
                    </a:lnTo>
                    <a:lnTo>
                      <a:pt x="1582" y="600"/>
                    </a:lnTo>
                    <a:lnTo>
                      <a:pt x="1582" y="596"/>
                    </a:lnTo>
                    <a:lnTo>
                      <a:pt x="1584" y="592"/>
                    </a:lnTo>
                    <a:lnTo>
                      <a:pt x="1584" y="588"/>
                    </a:lnTo>
                    <a:lnTo>
                      <a:pt x="1582" y="584"/>
                    </a:lnTo>
                    <a:lnTo>
                      <a:pt x="1586" y="582"/>
                    </a:lnTo>
                    <a:lnTo>
                      <a:pt x="1586" y="576"/>
                    </a:lnTo>
                    <a:lnTo>
                      <a:pt x="1594" y="572"/>
                    </a:lnTo>
                    <a:lnTo>
                      <a:pt x="1592" y="554"/>
                    </a:lnTo>
                    <a:lnTo>
                      <a:pt x="1596" y="554"/>
                    </a:lnTo>
                    <a:lnTo>
                      <a:pt x="1596" y="550"/>
                    </a:lnTo>
                    <a:lnTo>
                      <a:pt x="1600" y="556"/>
                    </a:lnTo>
                    <a:lnTo>
                      <a:pt x="1600" y="562"/>
                    </a:lnTo>
                    <a:lnTo>
                      <a:pt x="1598" y="564"/>
                    </a:lnTo>
                    <a:lnTo>
                      <a:pt x="1598" y="568"/>
                    </a:lnTo>
                    <a:lnTo>
                      <a:pt x="1598" y="572"/>
                    </a:lnTo>
                    <a:lnTo>
                      <a:pt x="1598" y="576"/>
                    </a:lnTo>
                    <a:lnTo>
                      <a:pt x="1602" y="580"/>
                    </a:lnTo>
                    <a:lnTo>
                      <a:pt x="1604" y="584"/>
                    </a:lnTo>
                    <a:lnTo>
                      <a:pt x="1604" y="588"/>
                    </a:lnTo>
                    <a:lnTo>
                      <a:pt x="1600" y="598"/>
                    </a:lnTo>
                    <a:lnTo>
                      <a:pt x="1602" y="600"/>
                    </a:lnTo>
                    <a:lnTo>
                      <a:pt x="1600" y="604"/>
                    </a:lnTo>
                    <a:lnTo>
                      <a:pt x="1600" y="612"/>
                    </a:lnTo>
                    <a:lnTo>
                      <a:pt x="1602" y="616"/>
                    </a:lnTo>
                    <a:lnTo>
                      <a:pt x="1604" y="622"/>
                    </a:lnTo>
                    <a:lnTo>
                      <a:pt x="1602" y="626"/>
                    </a:lnTo>
                    <a:lnTo>
                      <a:pt x="1602" y="628"/>
                    </a:lnTo>
                    <a:lnTo>
                      <a:pt x="1602" y="632"/>
                    </a:lnTo>
                    <a:lnTo>
                      <a:pt x="1606" y="638"/>
                    </a:lnTo>
                    <a:lnTo>
                      <a:pt x="1610" y="638"/>
                    </a:lnTo>
                    <a:lnTo>
                      <a:pt x="1610" y="640"/>
                    </a:lnTo>
                    <a:lnTo>
                      <a:pt x="1612" y="644"/>
                    </a:lnTo>
                    <a:lnTo>
                      <a:pt x="1614" y="644"/>
                    </a:lnTo>
                    <a:lnTo>
                      <a:pt x="1614" y="644"/>
                    </a:lnTo>
                    <a:close/>
                    <a:moveTo>
                      <a:pt x="2200" y="306"/>
                    </a:moveTo>
                    <a:lnTo>
                      <a:pt x="2200" y="306"/>
                    </a:lnTo>
                    <a:lnTo>
                      <a:pt x="2200" y="308"/>
                    </a:lnTo>
                    <a:lnTo>
                      <a:pt x="2200" y="312"/>
                    </a:lnTo>
                    <a:lnTo>
                      <a:pt x="2196" y="312"/>
                    </a:lnTo>
                    <a:lnTo>
                      <a:pt x="2194" y="318"/>
                    </a:lnTo>
                    <a:lnTo>
                      <a:pt x="2190" y="318"/>
                    </a:lnTo>
                    <a:lnTo>
                      <a:pt x="2190" y="316"/>
                    </a:lnTo>
                    <a:lnTo>
                      <a:pt x="2186" y="314"/>
                    </a:lnTo>
                    <a:lnTo>
                      <a:pt x="2172" y="314"/>
                    </a:lnTo>
                    <a:lnTo>
                      <a:pt x="2172" y="320"/>
                    </a:lnTo>
                    <a:lnTo>
                      <a:pt x="2178" y="318"/>
                    </a:lnTo>
                    <a:lnTo>
                      <a:pt x="2178" y="324"/>
                    </a:lnTo>
                    <a:lnTo>
                      <a:pt x="2170" y="326"/>
                    </a:lnTo>
                    <a:lnTo>
                      <a:pt x="2172" y="328"/>
                    </a:lnTo>
                    <a:lnTo>
                      <a:pt x="2172" y="330"/>
                    </a:lnTo>
                    <a:lnTo>
                      <a:pt x="2172" y="332"/>
                    </a:lnTo>
                    <a:lnTo>
                      <a:pt x="2174" y="336"/>
                    </a:lnTo>
                    <a:lnTo>
                      <a:pt x="2178" y="340"/>
                    </a:lnTo>
                    <a:lnTo>
                      <a:pt x="2170" y="338"/>
                    </a:lnTo>
                    <a:lnTo>
                      <a:pt x="2170" y="340"/>
                    </a:lnTo>
                    <a:lnTo>
                      <a:pt x="2168" y="340"/>
                    </a:lnTo>
                    <a:lnTo>
                      <a:pt x="2166" y="338"/>
                    </a:lnTo>
                    <a:lnTo>
                      <a:pt x="2164" y="338"/>
                    </a:lnTo>
                    <a:lnTo>
                      <a:pt x="2164" y="334"/>
                    </a:lnTo>
                    <a:lnTo>
                      <a:pt x="2162" y="334"/>
                    </a:lnTo>
                    <a:lnTo>
                      <a:pt x="2162" y="336"/>
                    </a:lnTo>
                    <a:lnTo>
                      <a:pt x="2160" y="336"/>
                    </a:lnTo>
                    <a:lnTo>
                      <a:pt x="2160" y="338"/>
                    </a:lnTo>
                    <a:lnTo>
                      <a:pt x="2154" y="340"/>
                    </a:lnTo>
                    <a:lnTo>
                      <a:pt x="2154" y="336"/>
                    </a:lnTo>
                    <a:lnTo>
                      <a:pt x="2148" y="330"/>
                    </a:lnTo>
                    <a:lnTo>
                      <a:pt x="2140" y="328"/>
                    </a:lnTo>
                    <a:lnTo>
                      <a:pt x="2138" y="330"/>
                    </a:lnTo>
                    <a:lnTo>
                      <a:pt x="2136" y="330"/>
                    </a:lnTo>
                    <a:lnTo>
                      <a:pt x="2132" y="328"/>
                    </a:lnTo>
                    <a:lnTo>
                      <a:pt x="2128" y="324"/>
                    </a:lnTo>
                    <a:lnTo>
                      <a:pt x="2130" y="320"/>
                    </a:lnTo>
                    <a:lnTo>
                      <a:pt x="2128" y="320"/>
                    </a:lnTo>
                    <a:lnTo>
                      <a:pt x="2128" y="316"/>
                    </a:lnTo>
                    <a:lnTo>
                      <a:pt x="2124" y="310"/>
                    </a:lnTo>
                    <a:lnTo>
                      <a:pt x="2122" y="310"/>
                    </a:lnTo>
                    <a:lnTo>
                      <a:pt x="2118" y="310"/>
                    </a:lnTo>
                    <a:lnTo>
                      <a:pt x="2112" y="310"/>
                    </a:lnTo>
                    <a:lnTo>
                      <a:pt x="2112" y="308"/>
                    </a:lnTo>
                    <a:lnTo>
                      <a:pt x="2110" y="308"/>
                    </a:lnTo>
                    <a:lnTo>
                      <a:pt x="2108" y="310"/>
                    </a:lnTo>
                    <a:lnTo>
                      <a:pt x="2108" y="312"/>
                    </a:lnTo>
                    <a:lnTo>
                      <a:pt x="2102" y="314"/>
                    </a:lnTo>
                    <a:lnTo>
                      <a:pt x="2096" y="316"/>
                    </a:lnTo>
                    <a:lnTo>
                      <a:pt x="2092" y="312"/>
                    </a:lnTo>
                    <a:lnTo>
                      <a:pt x="2086" y="310"/>
                    </a:lnTo>
                    <a:lnTo>
                      <a:pt x="2086" y="306"/>
                    </a:lnTo>
                    <a:lnTo>
                      <a:pt x="2090" y="302"/>
                    </a:lnTo>
                    <a:lnTo>
                      <a:pt x="2090" y="300"/>
                    </a:lnTo>
                    <a:lnTo>
                      <a:pt x="2088" y="298"/>
                    </a:lnTo>
                    <a:lnTo>
                      <a:pt x="2086" y="296"/>
                    </a:lnTo>
                    <a:lnTo>
                      <a:pt x="2086" y="294"/>
                    </a:lnTo>
                    <a:lnTo>
                      <a:pt x="2088" y="292"/>
                    </a:lnTo>
                    <a:lnTo>
                      <a:pt x="2084" y="290"/>
                    </a:lnTo>
                    <a:lnTo>
                      <a:pt x="2080" y="294"/>
                    </a:lnTo>
                    <a:lnTo>
                      <a:pt x="2080" y="296"/>
                    </a:lnTo>
                    <a:lnTo>
                      <a:pt x="2082" y="298"/>
                    </a:lnTo>
                    <a:lnTo>
                      <a:pt x="2082" y="302"/>
                    </a:lnTo>
                    <a:lnTo>
                      <a:pt x="2080" y="302"/>
                    </a:lnTo>
                    <a:lnTo>
                      <a:pt x="2078" y="306"/>
                    </a:lnTo>
                    <a:lnTo>
                      <a:pt x="2084" y="310"/>
                    </a:lnTo>
                    <a:lnTo>
                      <a:pt x="2084" y="312"/>
                    </a:lnTo>
                    <a:lnTo>
                      <a:pt x="2080" y="318"/>
                    </a:lnTo>
                    <a:lnTo>
                      <a:pt x="2082" y="320"/>
                    </a:lnTo>
                    <a:lnTo>
                      <a:pt x="2080" y="322"/>
                    </a:lnTo>
                    <a:lnTo>
                      <a:pt x="2074" y="326"/>
                    </a:lnTo>
                    <a:lnTo>
                      <a:pt x="2066" y="328"/>
                    </a:lnTo>
                    <a:lnTo>
                      <a:pt x="2060" y="328"/>
                    </a:lnTo>
                    <a:lnTo>
                      <a:pt x="2054" y="326"/>
                    </a:lnTo>
                    <a:lnTo>
                      <a:pt x="2042" y="322"/>
                    </a:lnTo>
                    <a:lnTo>
                      <a:pt x="2040" y="324"/>
                    </a:lnTo>
                    <a:lnTo>
                      <a:pt x="2034" y="324"/>
                    </a:lnTo>
                    <a:lnTo>
                      <a:pt x="2028" y="324"/>
                    </a:lnTo>
                    <a:lnTo>
                      <a:pt x="2028" y="326"/>
                    </a:lnTo>
                    <a:lnTo>
                      <a:pt x="2034" y="326"/>
                    </a:lnTo>
                    <a:lnTo>
                      <a:pt x="2040" y="330"/>
                    </a:lnTo>
                    <a:lnTo>
                      <a:pt x="2044" y="326"/>
                    </a:lnTo>
                    <a:lnTo>
                      <a:pt x="2046" y="332"/>
                    </a:lnTo>
                    <a:lnTo>
                      <a:pt x="2042" y="332"/>
                    </a:lnTo>
                    <a:lnTo>
                      <a:pt x="2040" y="338"/>
                    </a:lnTo>
                    <a:lnTo>
                      <a:pt x="2046" y="336"/>
                    </a:lnTo>
                    <a:lnTo>
                      <a:pt x="2050" y="336"/>
                    </a:lnTo>
                    <a:lnTo>
                      <a:pt x="2056" y="348"/>
                    </a:lnTo>
                    <a:lnTo>
                      <a:pt x="2058" y="348"/>
                    </a:lnTo>
                    <a:lnTo>
                      <a:pt x="2060" y="354"/>
                    </a:lnTo>
                    <a:lnTo>
                      <a:pt x="2062" y="356"/>
                    </a:lnTo>
                    <a:lnTo>
                      <a:pt x="2060" y="358"/>
                    </a:lnTo>
                    <a:lnTo>
                      <a:pt x="2060" y="360"/>
                    </a:lnTo>
                    <a:lnTo>
                      <a:pt x="2066" y="362"/>
                    </a:lnTo>
                    <a:lnTo>
                      <a:pt x="2066" y="364"/>
                    </a:lnTo>
                    <a:lnTo>
                      <a:pt x="2066" y="366"/>
                    </a:lnTo>
                    <a:lnTo>
                      <a:pt x="2066" y="370"/>
                    </a:lnTo>
                    <a:lnTo>
                      <a:pt x="2068" y="372"/>
                    </a:lnTo>
                    <a:lnTo>
                      <a:pt x="2062" y="376"/>
                    </a:lnTo>
                    <a:lnTo>
                      <a:pt x="2058" y="376"/>
                    </a:lnTo>
                    <a:lnTo>
                      <a:pt x="2054" y="376"/>
                    </a:lnTo>
                    <a:lnTo>
                      <a:pt x="2048" y="372"/>
                    </a:lnTo>
                    <a:lnTo>
                      <a:pt x="2038" y="374"/>
                    </a:lnTo>
                    <a:lnTo>
                      <a:pt x="2036" y="374"/>
                    </a:lnTo>
                    <a:lnTo>
                      <a:pt x="2034" y="372"/>
                    </a:lnTo>
                    <a:lnTo>
                      <a:pt x="2032" y="374"/>
                    </a:lnTo>
                    <a:lnTo>
                      <a:pt x="2026" y="376"/>
                    </a:lnTo>
                    <a:lnTo>
                      <a:pt x="2016" y="378"/>
                    </a:lnTo>
                    <a:lnTo>
                      <a:pt x="2016" y="380"/>
                    </a:lnTo>
                    <a:lnTo>
                      <a:pt x="2008" y="382"/>
                    </a:lnTo>
                    <a:lnTo>
                      <a:pt x="2002" y="384"/>
                    </a:lnTo>
                    <a:lnTo>
                      <a:pt x="1996" y="390"/>
                    </a:lnTo>
                    <a:lnTo>
                      <a:pt x="1990" y="386"/>
                    </a:lnTo>
                    <a:lnTo>
                      <a:pt x="1990" y="392"/>
                    </a:lnTo>
                    <a:lnTo>
                      <a:pt x="1988" y="396"/>
                    </a:lnTo>
                    <a:lnTo>
                      <a:pt x="1984" y="396"/>
                    </a:lnTo>
                    <a:lnTo>
                      <a:pt x="1978" y="392"/>
                    </a:lnTo>
                    <a:lnTo>
                      <a:pt x="1982" y="398"/>
                    </a:lnTo>
                    <a:lnTo>
                      <a:pt x="1978" y="402"/>
                    </a:lnTo>
                    <a:lnTo>
                      <a:pt x="1976" y="402"/>
                    </a:lnTo>
                    <a:lnTo>
                      <a:pt x="1974" y="402"/>
                    </a:lnTo>
                    <a:lnTo>
                      <a:pt x="1968" y="404"/>
                    </a:lnTo>
                    <a:lnTo>
                      <a:pt x="1968" y="406"/>
                    </a:lnTo>
                    <a:lnTo>
                      <a:pt x="1968" y="410"/>
                    </a:lnTo>
                    <a:lnTo>
                      <a:pt x="1966" y="410"/>
                    </a:lnTo>
                    <a:lnTo>
                      <a:pt x="1962" y="412"/>
                    </a:lnTo>
                    <a:lnTo>
                      <a:pt x="1962" y="414"/>
                    </a:lnTo>
                    <a:lnTo>
                      <a:pt x="1958" y="418"/>
                    </a:lnTo>
                    <a:lnTo>
                      <a:pt x="1956" y="424"/>
                    </a:lnTo>
                    <a:lnTo>
                      <a:pt x="1954" y="428"/>
                    </a:lnTo>
                    <a:lnTo>
                      <a:pt x="1942" y="422"/>
                    </a:lnTo>
                    <a:lnTo>
                      <a:pt x="1942" y="420"/>
                    </a:lnTo>
                    <a:lnTo>
                      <a:pt x="1942" y="416"/>
                    </a:lnTo>
                    <a:lnTo>
                      <a:pt x="1940" y="416"/>
                    </a:lnTo>
                    <a:lnTo>
                      <a:pt x="1936" y="416"/>
                    </a:lnTo>
                    <a:lnTo>
                      <a:pt x="1932" y="412"/>
                    </a:lnTo>
                    <a:lnTo>
                      <a:pt x="1926" y="408"/>
                    </a:lnTo>
                    <a:lnTo>
                      <a:pt x="1922" y="408"/>
                    </a:lnTo>
                    <a:lnTo>
                      <a:pt x="1920" y="410"/>
                    </a:lnTo>
                    <a:lnTo>
                      <a:pt x="1920" y="412"/>
                    </a:lnTo>
                    <a:lnTo>
                      <a:pt x="1916" y="412"/>
                    </a:lnTo>
                    <a:lnTo>
                      <a:pt x="1914" y="414"/>
                    </a:lnTo>
                    <a:lnTo>
                      <a:pt x="1912" y="414"/>
                    </a:lnTo>
                    <a:lnTo>
                      <a:pt x="1912" y="418"/>
                    </a:lnTo>
                    <a:lnTo>
                      <a:pt x="1904" y="428"/>
                    </a:lnTo>
                    <a:lnTo>
                      <a:pt x="1902" y="430"/>
                    </a:lnTo>
                    <a:lnTo>
                      <a:pt x="1900" y="430"/>
                    </a:lnTo>
                    <a:lnTo>
                      <a:pt x="1898" y="428"/>
                    </a:lnTo>
                    <a:lnTo>
                      <a:pt x="1898" y="422"/>
                    </a:lnTo>
                    <a:lnTo>
                      <a:pt x="1900" y="416"/>
                    </a:lnTo>
                    <a:lnTo>
                      <a:pt x="1902" y="412"/>
                    </a:lnTo>
                    <a:lnTo>
                      <a:pt x="1900" y="412"/>
                    </a:lnTo>
                    <a:lnTo>
                      <a:pt x="1896" y="418"/>
                    </a:lnTo>
                    <a:lnTo>
                      <a:pt x="1884" y="424"/>
                    </a:lnTo>
                    <a:lnTo>
                      <a:pt x="1884" y="428"/>
                    </a:lnTo>
                    <a:lnTo>
                      <a:pt x="1880" y="428"/>
                    </a:lnTo>
                    <a:lnTo>
                      <a:pt x="1878" y="426"/>
                    </a:lnTo>
                    <a:lnTo>
                      <a:pt x="1876" y="426"/>
                    </a:lnTo>
                    <a:lnTo>
                      <a:pt x="1872" y="426"/>
                    </a:lnTo>
                    <a:lnTo>
                      <a:pt x="1870" y="424"/>
                    </a:lnTo>
                    <a:lnTo>
                      <a:pt x="1868" y="424"/>
                    </a:lnTo>
                    <a:lnTo>
                      <a:pt x="1866" y="430"/>
                    </a:lnTo>
                    <a:lnTo>
                      <a:pt x="1862" y="432"/>
                    </a:lnTo>
                    <a:lnTo>
                      <a:pt x="1862" y="434"/>
                    </a:lnTo>
                    <a:lnTo>
                      <a:pt x="1862" y="438"/>
                    </a:lnTo>
                    <a:lnTo>
                      <a:pt x="1860" y="438"/>
                    </a:lnTo>
                    <a:lnTo>
                      <a:pt x="1860" y="442"/>
                    </a:lnTo>
                    <a:lnTo>
                      <a:pt x="1858" y="442"/>
                    </a:lnTo>
                    <a:lnTo>
                      <a:pt x="1856" y="442"/>
                    </a:lnTo>
                    <a:lnTo>
                      <a:pt x="1856" y="446"/>
                    </a:lnTo>
                    <a:lnTo>
                      <a:pt x="1852" y="448"/>
                    </a:lnTo>
                    <a:lnTo>
                      <a:pt x="1848" y="452"/>
                    </a:lnTo>
                    <a:lnTo>
                      <a:pt x="1844" y="458"/>
                    </a:lnTo>
                    <a:lnTo>
                      <a:pt x="1844" y="462"/>
                    </a:lnTo>
                    <a:lnTo>
                      <a:pt x="1846" y="470"/>
                    </a:lnTo>
                    <a:lnTo>
                      <a:pt x="1848" y="472"/>
                    </a:lnTo>
                    <a:lnTo>
                      <a:pt x="1848" y="470"/>
                    </a:lnTo>
                    <a:lnTo>
                      <a:pt x="1858" y="472"/>
                    </a:lnTo>
                    <a:lnTo>
                      <a:pt x="1858" y="476"/>
                    </a:lnTo>
                    <a:lnTo>
                      <a:pt x="1856" y="482"/>
                    </a:lnTo>
                    <a:lnTo>
                      <a:pt x="1852" y="484"/>
                    </a:lnTo>
                    <a:lnTo>
                      <a:pt x="1850" y="484"/>
                    </a:lnTo>
                    <a:lnTo>
                      <a:pt x="1850" y="488"/>
                    </a:lnTo>
                    <a:lnTo>
                      <a:pt x="1850" y="490"/>
                    </a:lnTo>
                    <a:lnTo>
                      <a:pt x="1848" y="492"/>
                    </a:lnTo>
                    <a:lnTo>
                      <a:pt x="1848" y="496"/>
                    </a:lnTo>
                    <a:lnTo>
                      <a:pt x="1850" y="498"/>
                    </a:lnTo>
                    <a:lnTo>
                      <a:pt x="1852" y="500"/>
                    </a:lnTo>
                    <a:lnTo>
                      <a:pt x="1852" y="504"/>
                    </a:lnTo>
                    <a:lnTo>
                      <a:pt x="1860" y="504"/>
                    </a:lnTo>
                    <a:lnTo>
                      <a:pt x="1860" y="510"/>
                    </a:lnTo>
                    <a:lnTo>
                      <a:pt x="1858" y="514"/>
                    </a:lnTo>
                    <a:lnTo>
                      <a:pt x="1854" y="512"/>
                    </a:lnTo>
                    <a:lnTo>
                      <a:pt x="1850" y="510"/>
                    </a:lnTo>
                    <a:lnTo>
                      <a:pt x="1846" y="514"/>
                    </a:lnTo>
                    <a:lnTo>
                      <a:pt x="1840" y="516"/>
                    </a:lnTo>
                    <a:lnTo>
                      <a:pt x="1838" y="534"/>
                    </a:lnTo>
                    <a:lnTo>
                      <a:pt x="1842" y="536"/>
                    </a:lnTo>
                    <a:lnTo>
                      <a:pt x="1844" y="540"/>
                    </a:lnTo>
                    <a:lnTo>
                      <a:pt x="1844" y="544"/>
                    </a:lnTo>
                    <a:lnTo>
                      <a:pt x="1842" y="544"/>
                    </a:lnTo>
                    <a:lnTo>
                      <a:pt x="1840" y="546"/>
                    </a:lnTo>
                    <a:lnTo>
                      <a:pt x="1840" y="548"/>
                    </a:lnTo>
                    <a:lnTo>
                      <a:pt x="1836" y="548"/>
                    </a:lnTo>
                    <a:lnTo>
                      <a:pt x="1830" y="548"/>
                    </a:lnTo>
                    <a:lnTo>
                      <a:pt x="1826" y="548"/>
                    </a:lnTo>
                    <a:lnTo>
                      <a:pt x="1822" y="552"/>
                    </a:lnTo>
                    <a:lnTo>
                      <a:pt x="1814" y="564"/>
                    </a:lnTo>
                    <a:lnTo>
                      <a:pt x="1814" y="572"/>
                    </a:lnTo>
                    <a:lnTo>
                      <a:pt x="1814" y="578"/>
                    </a:lnTo>
                    <a:lnTo>
                      <a:pt x="1814" y="580"/>
                    </a:lnTo>
                    <a:lnTo>
                      <a:pt x="1810" y="580"/>
                    </a:lnTo>
                    <a:lnTo>
                      <a:pt x="1806" y="580"/>
                    </a:lnTo>
                    <a:lnTo>
                      <a:pt x="1804" y="582"/>
                    </a:lnTo>
                    <a:lnTo>
                      <a:pt x="1802" y="584"/>
                    </a:lnTo>
                    <a:lnTo>
                      <a:pt x="1798" y="584"/>
                    </a:lnTo>
                    <a:lnTo>
                      <a:pt x="1798" y="588"/>
                    </a:lnTo>
                    <a:lnTo>
                      <a:pt x="1798" y="592"/>
                    </a:lnTo>
                    <a:lnTo>
                      <a:pt x="1798" y="598"/>
                    </a:lnTo>
                    <a:lnTo>
                      <a:pt x="1798" y="600"/>
                    </a:lnTo>
                    <a:lnTo>
                      <a:pt x="1778" y="616"/>
                    </a:lnTo>
                    <a:lnTo>
                      <a:pt x="1778" y="616"/>
                    </a:lnTo>
                    <a:lnTo>
                      <a:pt x="1778" y="612"/>
                    </a:lnTo>
                    <a:lnTo>
                      <a:pt x="1774" y="608"/>
                    </a:lnTo>
                    <a:lnTo>
                      <a:pt x="1774" y="602"/>
                    </a:lnTo>
                    <a:lnTo>
                      <a:pt x="1774" y="596"/>
                    </a:lnTo>
                    <a:lnTo>
                      <a:pt x="1770" y="588"/>
                    </a:lnTo>
                    <a:lnTo>
                      <a:pt x="1768" y="578"/>
                    </a:lnTo>
                    <a:lnTo>
                      <a:pt x="1768" y="564"/>
                    </a:lnTo>
                    <a:lnTo>
                      <a:pt x="1768" y="552"/>
                    </a:lnTo>
                    <a:lnTo>
                      <a:pt x="1766" y="546"/>
                    </a:lnTo>
                    <a:lnTo>
                      <a:pt x="1764" y="540"/>
                    </a:lnTo>
                    <a:lnTo>
                      <a:pt x="1762" y="530"/>
                    </a:lnTo>
                    <a:lnTo>
                      <a:pt x="1762" y="518"/>
                    </a:lnTo>
                    <a:lnTo>
                      <a:pt x="1766" y="510"/>
                    </a:lnTo>
                    <a:lnTo>
                      <a:pt x="1766" y="504"/>
                    </a:lnTo>
                    <a:lnTo>
                      <a:pt x="1768" y="500"/>
                    </a:lnTo>
                    <a:lnTo>
                      <a:pt x="1770" y="498"/>
                    </a:lnTo>
                    <a:lnTo>
                      <a:pt x="1774" y="494"/>
                    </a:lnTo>
                    <a:lnTo>
                      <a:pt x="1778" y="494"/>
                    </a:lnTo>
                    <a:lnTo>
                      <a:pt x="1780" y="478"/>
                    </a:lnTo>
                    <a:lnTo>
                      <a:pt x="1778" y="476"/>
                    </a:lnTo>
                    <a:lnTo>
                      <a:pt x="1778" y="474"/>
                    </a:lnTo>
                    <a:lnTo>
                      <a:pt x="1788" y="474"/>
                    </a:lnTo>
                    <a:lnTo>
                      <a:pt x="1790" y="472"/>
                    </a:lnTo>
                    <a:lnTo>
                      <a:pt x="1794" y="468"/>
                    </a:lnTo>
                    <a:lnTo>
                      <a:pt x="1796" y="468"/>
                    </a:lnTo>
                    <a:lnTo>
                      <a:pt x="1800" y="470"/>
                    </a:lnTo>
                    <a:lnTo>
                      <a:pt x="1802" y="466"/>
                    </a:lnTo>
                    <a:lnTo>
                      <a:pt x="1804" y="464"/>
                    </a:lnTo>
                    <a:lnTo>
                      <a:pt x="1810" y="458"/>
                    </a:lnTo>
                    <a:lnTo>
                      <a:pt x="1816" y="452"/>
                    </a:lnTo>
                    <a:lnTo>
                      <a:pt x="1816" y="450"/>
                    </a:lnTo>
                    <a:lnTo>
                      <a:pt x="1820" y="444"/>
                    </a:lnTo>
                    <a:lnTo>
                      <a:pt x="1826" y="442"/>
                    </a:lnTo>
                    <a:lnTo>
                      <a:pt x="1828" y="438"/>
                    </a:lnTo>
                    <a:lnTo>
                      <a:pt x="1828" y="436"/>
                    </a:lnTo>
                    <a:lnTo>
                      <a:pt x="1834" y="434"/>
                    </a:lnTo>
                    <a:lnTo>
                      <a:pt x="1838" y="428"/>
                    </a:lnTo>
                    <a:lnTo>
                      <a:pt x="1838" y="424"/>
                    </a:lnTo>
                    <a:lnTo>
                      <a:pt x="1842" y="422"/>
                    </a:lnTo>
                    <a:lnTo>
                      <a:pt x="1842" y="414"/>
                    </a:lnTo>
                    <a:lnTo>
                      <a:pt x="1844" y="412"/>
                    </a:lnTo>
                    <a:lnTo>
                      <a:pt x="1850" y="412"/>
                    </a:lnTo>
                    <a:lnTo>
                      <a:pt x="1854" y="408"/>
                    </a:lnTo>
                    <a:lnTo>
                      <a:pt x="1860" y="408"/>
                    </a:lnTo>
                    <a:lnTo>
                      <a:pt x="1868" y="408"/>
                    </a:lnTo>
                    <a:lnTo>
                      <a:pt x="1868" y="404"/>
                    </a:lnTo>
                    <a:lnTo>
                      <a:pt x="1872" y="404"/>
                    </a:lnTo>
                    <a:lnTo>
                      <a:pt x="1870" y="398"/>
                    </a:lnTo>
                    <a:lnTo>
                      <a:pt x="1872" y="392"/>
                    </a:lnTo>
                    <a:lnTo>
                      <a:pt x="1874" y="388"/>
                    </a:lnTo>
                    <a:lnTo>
                      <a:pt x="1874" y="384"/>
                    </a:lnTo>
                    <a:lnTo>
                      <a:pt x="1872" y="380"/>
                    </a:lnTo>
                    <a:lnTo>
                      <a:pt x="1872" y="378"/>
                    </a:lnTo>
                    <a:lnTo>
                      <a:pt x="1876" y="376"/>
                    </a:lnTo>
                    <a:lnTo>
                      <a:pt x="1880" y="374"/>
                    </a:lnTo>
                    <a:lnTo>
                      <a:pt x="1886" y="376"/>
                    </a:lnTo>
                    <a:lnTo>
                      <a:pt x="1890" y="374"/>
                    </a:lnTo>
                    <a:lnTo>
                      <a:pt x="1884" y="370"/>
                    </a:lnTo>
                    <a:lnTo>
                      <a:pt x="1880" y="368"/>
                    </a:lnTo>
                    <a:lnTo>
                      <a:pt x="1876" y="368"/>
                    </a:lnTo>
                    <a:lnTo>
                      <a:pt x="1870" y="370"/>
                    </a:lnTo>
                    <a:lnTo>
                      <a:pt x="1866" y="372"/>
                    </a:lnTo>
                    <a:lnTo>
                      <a:pt x="1866" y="376"/>
                    </a:lnTo>
                    <a:lnTo>
                      <a:pt x="1864" y="376"/>
                    </a:lnTo>
                    <a:lnTo>
                      <a:pt x="1862" y="376"/>
                    </a:lnTo>
                    <a:lnTo>
                      <a:pt x="1864" y="386"/>
                    </a:lnTo>
                    <a:lnTo>
                      <a:pt x="1866" y="386"/>
                    </a:lnTo>
                    <a:lnTo>
                      <a:pt x="1866" y="388"/>
                    </a:lnTo>
                    <a:lnTo>
                      <a:pt x="1860" y="390"/>
                    </a:lnTo>
                    <a:lnTo>
                      <a:pt x="1858" y="390"/>
                    </a:lnTo>
                    <a:lnTo>
                      <a:pt x="1858" y="388"/>
                    </a:lnTo>
                    <a:lnTo>
                      <a:pt x="1854" y="386"/>
                    </a:lnTo>
                    <a:lnTo>
                      <a:pt x="1850" y="388"/>
                    </a:lnTo>
                    <a:lnTo>
                      <a:pt x="1846" y="390"/>
                    </a:lnTo>
                    <a:lnTo>
                      <a:pt x="1840" y="394"/>
                    </a:lnTo>
                    <a:lnTo>
                      <a:pt x="1840" y="398"/>
                    </a:lnTo>
                    <a:lnTo>
                      <a:pt x="1840" y="400"/>
                    </a:lnTo>
                    <a:lnTo>
                      <a:pt x="1838" y="400"/>
                    </a:lnTo>
                    <a:lnTo>
                      <a:pt x="1838" y="404"/>
                    </a:lnTo>
                    <a:lnTo>
                      <a:pt x="1832" y="406"/>
                    </a:lnTo>
                    <a:lnTo>
                      <a:pt x="1826" y="414"/>
                    </a:lnTo>
                    <a:lnTo>
                      <a:pt x="1824" y="412"/>
                    </a:lnTo>
                    <a:lnTo>
                      <a:pt x="1824" y="408"/>
                    </a:lnTo>
                    <a:lnTo>
                      <a:pt x="1826" y="408"/>
                    </a:lnTo>
                    <a:lnTo>
                      <a:pt x="1826" y="404"/>
                    </a:lnTo>
                    <a:lnTo>
                      <a:pt x="1828" y="404"/>
                    </a:lnTo>
                    <a:lnTo>
                      <a:pt x="1828" y="402"/>
                    </a:lnTo>
                    <a:lnTo>
                      <a:pt x="1826" y="402"/>
                    </a:lnTo>
                    <a:lnTo>
                      <a:pt x="1824" y="406"/>
                    </a:lnTo>
                    <a:lnTo>
                      <a:pt x="1818" y="406"/>
                    </a:lnTo>
                    <a:lnTo>
                      <a:pt x="1820" y="400"/>
                    </a:lnTo>
                    <a:lnTo>
                      <a:pt x="1822" y="394"/>
                    </a:lnTo>
                    <a:lnTo>
                      <a:pt x="1824" y="394"/>
                    </a:lnTo>
                    <a:lnTo>
                      <a:pt x="1826" y="394"/>
                    </a:lnTo>
                    <a:lnTo>
                      <a:pt x="1826" y="384"/>
                    </a:lnTo>
                    <a:lnTo>
                      <a:pt x="1818" y="390"/>
                    </a:lnTo>
                    <a:lnTo>
                      <a:pt x="1814" y="390"/>
                    </a:lnTo>
                    <a:lnTo>
                      <a:pt x="1812" y="388"/>
                    </a:lnTo>
                    <a:lnTo>
                      <a:pt x="1808" y="384"/>
                    </a:lnTo>
                    <a:lnTo>
                      <a:pt x="1802" y="384"/>
                    </a:lnTo>
                    <a:lnTo>
                      <a:pt x="1798" y="386"/>
                    </a:lnTo>
                    <a:lnTo>
                      <a:pt x="1790" y="386"/>
                    </a:lnTo>
                    <a:lnTo>
                      <a:pt x="1784" y="388"/>
                    </a:lnTo>
                    <a:lnTo>
                      <a:pt x="1782" y="390"/>
                    </a:lnTo>
                    <a:lnTo>
                      <a:pt x="1780" y="392"/>
                    </a:lnTo>
                    <a:lnTo>
                      <a:pt x="1778" y="390"/>
                    </a:lnTo>
                    <a:lnTo>
                      <a:pt x="1778" y="390"/>
                    </a:lnTo>
                    <a:lnTo>
                      <a:pt x="1778" y="394"/>
                    </a:lnTo>
                    <a:lnTo>
                      <a:pt x="1776" y="398"/>
                    </a:lnTo>
                    <a:lnTo>
                      <a:pt x="1772" y="400"/>
                    </a:lnTo>
                    <a:lnTo>
                      <a:pt x="1770" y="400"/>
                    </a:lnTo>
                    <a:lnTo>
                      <a:pt x="1770" y="402"/>
                    </a:lnTo>
                    <a:lnTo>
                      <a:pt x="1772" y="406"/>
                    </a:lnTo>
                    <a:lnTo>
                      <a:pt x="1768" y="406"/>
                    </a:lnTo>
                    <a:lnTo>
                      <a:pt x="1768" y="410"/>
                    </a:lnTo>
                    <a:lnTo>
                      <a:pt x="1764" y="410"/>
                    </a:lnTo>
                    <a:lnTo>
                      <a:pt x="1762" y="410"/>
                    </a:lnTo>
                    <a:lnTo>
                      <a:pt x="1758" y="414"/>
                    </a:lnTo>
                    <a:lnTo>
                      <a:pt x="1752" y="416"/>
                    </a:lnTo>
                    <a:lnTo>
                      <a:pt x="1750" y="418"/>
                    </a:lnTo>
                    <a:lnTo>
                      <a:pt x="1750" y="420"/>
                    </a:lnTo>
                    <a:lnTo>
                      <a:pt x="1748" y="426"/>
                    </a:lnTo>
                    <a:lnTo>
                      <a:pt x="1744" y="426"/>
                    </a:lnTo>
                    <a:lnTo>
                      <a:pt x="1744" y="428"/>
                    </a:lnTo>
                    <a:lnTo>
                      <a:pt x="1744" y="432"/>
                    </a:lnTo>
                    <a:lnTo>
                      <a:pt x="1742" y="436"/>
                    </a:lnTo>
                    <a:lnTo>
                      <a:pt x="1744" y="436"/>
                    </a:lnTo>
                    <a:lnTo>
                      <a:pt x="1746" y="438"/>
                    </a:lnTo>
                    <a:lnTo>
                      <a:pt x="1750" y="434"/>
                    </a:lnTo>
                    <a:lnTo>
                      <a:pt x="1756" y="436"/>
                    </a:lnTo>
                    <a:lnTo>
                      <a:pt x="1758" y="436"/>
                    </a:lnTo>
                    <a:lnTo>
                      <a:pt x="1758" y="442"/>
                    </a:lnTo>
                    <a:lnTo>
                      <a:pt x="1750" y="444"/>
                    </a:lnTo>
                    <a:lnTo>
                      <a:pt x="1744" y="446"/>
                    </a:lnTo>
                    <a:lnTo>
                      <a:pt x="1744" y="444"/>
                    </a:lnTo>
                    <a:lnTo>
                      <a:pt x="1742" y="442"/>
                    </a:lnTo>
                    <a:lnTo>
                      <a:pt x="1740" y="442"/>
                    </a:lnTo>
                    <a:lnTo>
                      <a:pt x="1738" y="444"/>
                    </a:lnTo>
                    <a:lnTo>
                      <a:pt x="1734" y="446"/>
                    </a:lnTo>
                    <a:lnTo>
                      <a:pt x="1732" y="450"/>
                    </a:lnTo>
                    <a:lnTo>
                      <a:pt x="1724" y="446"/>
                    </a:lnTo>
                    <a:lnTo>
                      <a:pt x="1722" y="452"/>
                    </a:lnTo>
                    <a:lnTo>
                      <a:pt x="1714" y="452"/>
                    </a:lnTo>
                    <a:lnTo>
                      <a:pt x="1712" y="452"/>
                    </a:lnTo>
                    <a:lnTo>
                      <a:pt x="1710" y="448"/>
                    </a:lnTo>
                    <a:lnTo>
                      <a:pt x="1708" y="442"/>
                    </a:lnTo>
                    <a:lnTo>
                      <a:pt x="1714" y="442"/>
                    </a:lnTo>
                    <a:lnTo>
                      <a:pt x="1720" y="442"/>
                    </a:lnTo>
                    <a:lnTo>
                      <a:pt x="1722" y="438"/>
                    </a:lnTo>
                    <a:lnTo>
                      <a:pt x="1720" y="436"/>
                    </a:lnTo>
                    <a:lnTo>
                      <a:pt x="1714" y="432"/>
                    </a:lnTo>
                    <a:lnTo>
                      <a:pt x="1714" y="430"/>
                    </a:lnTo>
                    <a:lnTo>
                      <a:pt x="1708" y="432"/>
                    </a:lnTo>
                    <a:lnTo>
                      <a:pt x="1708" y="432"/>
                    </a:lnTo>
                    <a:lnTo>
                      <a:pt x="1706" y="434"/>
                    </a:lnTo>
                    <a:lnTo>
                      <a:pt x="1704" y="432"/>
                    </a:lnTo>
                    <a:lnTo>
                      <a:pt x="1702" y="432"/>
                    </a:lnTo>
                    <a:lnTo>
                      <a:pt x="1702" y="432"/>
                    </a:lnTo>
                    <a:lnTo>
                      <a:pt x="1698" y="432"/>
                    </a:lnTo>
                    <a:lnTo>
                      <a:pt x="1692" y="432"/>
                    </a:lnTo>
                    <a:lnTo>
                      <a:pt x="1686" y="430"/>
                    </a:lnTo>
                    <a:lnTo>
                      <a:pt x="1682" y="430"/>
                    </a:lnTo>
                    <a:lnTo>
                      <a:pt x="1678" y="432"/>
                    </a:lnTo>
                    <a:lnTo>
                      <a:pt x="1678" y="432"/>
                    </a:lnTo>
                    <a:lnTo>
                      <a:pt x="1680" y="436"/>
                    </a:lnTo>
                    <a:lnTo>
                      <a:pt x="1678" y="436"/>
                    </a:lnTo>
                    <a:lnTo>
                      <a:pt x="1678" y="438"/>
                    </a:lnTo>
                    <a:lnTo>
                      <a:pt x="1680" y="438"/>
                    </a:lnTo>
                    <a:lnTo>
                      <a:pt x="1680" y="440"/>
                    </a:lnTo>
                    <a:lnTo>
                      <a:pt x="1678" y="442"/>
                    </a:lnTo>
                    <a:lnTo>
                      <a:pt x="1676" y="442"/>
                    </a:lnTo>
                    <a:lnTo>
                      <a:pt x="1674" y="442"/>
                    </a:lnTo>
                    <a:lnTo>
                      <a:pt x="1674" y="440"/>
                    </a:lnTo>
                    <a:lnTo>
                      <a:pt x="1672" y="438"/>
                    </a:lnTo>
                    <a:lnTo>
                      <a:pt x="1670" y="438"/>
                    </a:lnTo>
                    <a:lnTo>
                      <a:pt x="1668" y="438"/>
                    </a:lnTo>
                    <a:lnTo>
                      <a:pt x="1664" y="440"/>
                    </a:lnTo>
                    <a:lnTo>
                      <a:pt x="1658" y="440"/>
                    </a:lnTo>
                    <a:lnTo>
                      <a:pt x="1652" y="436"/>
                    </a:lnTo>
                    <a:lnTo>
                      <a:pt x="1652" y="434"/>
                    </a:lnTo>
                    <a:lnTo>
                      <a:pt x="1648" y="434"/>
                    </a:lnTo>
                    <a:lnTo>
                      <a:pt x="1646" y="440"/>
                    </a:lnTo>
                    <a:lnTo>
                      <a:pt x="1644" y="442"/>
                    </a:lnTo>
                    <a:lnTo>
                      <a:pt x="1640" y="442"/>
                    </a:lnTo>
                    <a:lnTo>
                      <a:pt x="1640" y="440"/>
                    </a:lnTo>
                    <a:lnTo>
                      <a:pt x="1640" y="434"/>
                    </a:lnTo>
                    <a:lnTo>
                      <a:pt x="1632" y="432"/>
                    </a:lnTo>
                    <a:lnTo>
                      <a:pt x="1624" y="432"/>
                    </a:lnTo>
                    <a:lnTo>
                      <a:pt x="1604" y="434"/>
                    </a:lnTo>
                    <a:lnTo>
                      <a:pt x="1606" y="432"/>
                    </a:lnTo>
                    <a:lnTo>
                      <a:pt x="1604" y="430"/>
                    </a:lnTo>
                    <a:lnTo>
                      <a:pt x="1604" y="432"/>
                    </a:lnTo>
                    <a:lnTo>
                      <a:pt x="1600" y="430"/>
                    </a:lnTo>
                    <a:lnTo>
                      <a:pt x="1598" y="430"/>
                    </a:lnTo>
                    <a:lnTo>
                      <a:pt x="1598" y="434"/>
                    </a:lnTo>
                    <a:lnTo>
                      <a:pt x="1596" y="434"/>
                    </a:lnTo>
                    <a:lnTo>
                      <a:pt x="1592" y="436"/>
                    </a:lnTo>
                    <a:lnTo>
                      <a:pt x="1590" y="438"/>
                    </a:lnTo>
                    <a:lnTo>
                      <a:pt x="1586" y="442"/>
                    </a:lnTo>
                    <a:lnTo>
                      <a:pt x="1584" y="440"/>
                    </a:lnTo>
                    <a:lnTo>
                      <a:pt x="1582" y="440"/>
                    </a:lnTo>
                    <a:lnTo>
                      <a:pt x="1582" y="442"/>
                    </a:lnTo>
                    <a:lnTo>
                      <a:pt x="1582" y="446"/>
                    </a:lnTo>
                    <a:lnTo>
                      <a:pt x="1580" y="448"/>
                    </a:lnTo>
                    <a:lnTo>
                      <a:pt x="1576" y="450"/>
                    </a:lnTo>
                    <a:lnTo>
                      <a:pt x="1572" y="460"/>
                    </a:lnTo>
                    <a:lnTo>
                      <a:pt x="1568" y="472"/>
                    </a:lnTo>
                    <a:lnTo>
                      <a:pt x="1560" y="474"/>
                    </a:lnTo>
                    <a:lnTo>
                      <a:pt x="1558" y="478"/>
                    </a:lnTo>
                    <a:lnTo>
                      <a:pt x="1558" y="480"/>
                    </a:lnTo>
                    <a:lnTo>
                      <a:pt x="1556" y="480"/>
                    </a:lnTo>
                    <a:lnTo>
                      <a:pt x="1552" y="484"/>
                    </a:lnTo>
                    <a:lnTo>
                      <a:pt x="1546" y="486"/>
                    </a:lnTo>
                    <a:lnTo>
                      <a:pt x="1546" y="488"/>
                    </a:lnTo>
                    <a:lnTo>
                      <a:pt x="1544" y="488"/>
                    </a:lnTo>
                    <a:lnTo>
                      <a:pt x="1542" y="490"/>
                    </a:lnTo>
                    <a:lnTo>
                      <a:pt x="1540" y="492"/>
                    </a:lnTo>
                    <a:lnTo>
                      <a:pt x="1538" y="492"/>
                    </a:lnTo>
                    <a:lnTo>
                      <a:pt x="1538" y="490"/>
                    </a:lnTo>
                    <a:lnTo>
                      <a:pt x="1536" y="492"/>
                    </a:lnTo>
                    <a:lnTo>
                      <a:pt x="1536" y="494"/>
                    </a:lnTo>
                    <a:lnTo>
                      <a:pt x="1536" y="496"/>
                    </a:lnTo>
                    <a:lnTo>
                      <a:pt x="1534" y="500"/>
                    </a:lnTo>
                    <a:lnTo>
                      <a:pt x="1534" y="506"/>
                    </a:lnTo>
                    <a:lnTo>
                      <a:pt x="1532" y="508"/>
                    </a:lnTo>
                    <a:lnTo>
                      <a:pt x="1528" y="510"/>
                    </a:lnTo>
                    <a:lnTo>
                      <a:pt x="1528" y="512"/>
                    </a:lnTo>
                    <a:lnTo>
                      <a:pt x="1528" y="514"/>
                    </a:lnTo>
                    <a:lnTo>
                      <a:pt x="1524" y="516"/>
                    </a:lnTo>
                    <a:lnTo>
                      <a:pt x="1520" y="520"/>
                    </a:lnTo>
                    <a:lnTo>
                      <a:pt x="1516" y="524"/>
                    </a:lnTo>
                    <a:lnTo>
                      <a:pt x="1512" y="526"/>
                    </a:lnTo>
                    <a:lnTo>
                      <a:pt x="1508" y="530"/>
                    </a:lnTo>
                    <a:lnTo>
                      <a:pt x="1506" y="534"/>
                    </a:lnTo>
                    <a:lnTo>
                      <a:pt x="1502" y="536"/>
                    </a:lnTo>
                    <a:lnTo>
                      <a:pt x="1498" y="540"/>
                    </a:lnTo>
                    <a:lnTo>
                      <a:pt x="1496" y="546"/>
                    </a:lnTo>
                    <a:lnTo>
                      <a:pt x="1506" y="546"/>
                    </a:lnTo>
                    <a:lnTo>
                      <a:pt x="1516" y="546"/>
                    </a:lnTo>
                    <a:lnTo>
                      <a:pt x="1516" y="566"/>
                    </a:lnTo>
                    <a:lnTo>
                      <a:pt x="1520" y="566"/>
                    </a:lnTo>
                    <a:lnTo>
                      <a:pt x="1522" y="558"/>
                    </a:lnTo>
                    <a:lnTo>
                      <a:pt x="1526" y="562"/>
                    </a:lnTo>
                    <a:lnTo>
                      <a:pt x="1528" y="564"/>
                    </a:lnTo>
                    <a:lnTo>
                      <a:pt x="1524" y="572"/>
                    </a:lnTo>
                    <a:lnTo>
                      <a:pt x="1528" y="572"/>
                    </a:lnTo>
                    <a:lnTo>
                      <a:pt x="1532" y="568"/>
                    </a:lnTo>
                    <a:lnTo>
                      <a:pt x="1532" y="564"/>
                    </a:lnTo>
                    <a:lnTo>
                      <a:pt x="1538" y="566"/>
                    </a:lnTo>
                    <a:lnTo>
                      <a:pt x="1538" y="556"/>
                    </a:lnTo>
                    <a:lnTo>
                      <a:pt x="1544" y="558"/>
                    </a:lnTo>
                    <a:lnTo>
                      <a:pt x="1550" y="558"/>
                    </a:lnTo>
                    <a:lnTo>
                      <a:pt x="1552" y="562"/>
                    </a:lnTo>
                    <a:lnTo>
                      <a:pt x="1560" y="564"/>
                    </a:lnTo>
                    <a:lnTo>
                      <a:pt x="1560" y="566"/>
                    </a:lnTo>
                    <a:lnTo>
                      <a:pt x="1560" y="570"/>
                    </a:lnTo>
                    <a:lnTo>
                      <a:pt x="1568" y="576"/>
                    </a:lnTo>
                    <a:lnTo>
                      <a:pt x="1570" y="574"/>
                    </a:lnTo>
                    <a:lnTo>
                      <a:pt x="1570" y="578"/>
                    </a:lnTo>
                    <a:lnTo>
                      <a:pt x="1578" y="580"/>
                    </a:lnTo>
                    <a:lnTo>
                      <a:pt x="1580" y="578"/>
                    </a:lnTo>
                    <a:lnTo>
                      <a:pt x="1580" y="584"/>
                    </a:lnTo>
                    <a:lnTo>
                      <a:pt x="1574" y="582"/>
                    </a:lnTo>
                    <a:lnTo>
                      <a:pt x="1572" y="582"/>
                    </a:lnTo>
                    <a:lnTo>
                      <a:pt x="1570" y="582"/>
                    </a:lnTo>
                    <a:lnTo>
                      <a:pt x="1568" y="590"/>
                    </a:lnTo>
                    <a:lnTo>
                      <a:pt x="1570" y="592"/>
                    </a:lnTo>
                    <a:lnTo>
                      <a:pt x="1570" y="596"/>
                    </a:lnTo>
                    <a:lnTo>
                      <a:pt x="1570" y="594"/>
                    </a:lnTo>
                    <a:lnTo>
                      <a:pt x="1570" y="596"/>
                    </a:lnTo>
                    <a:lnTo>
                      <a:pt x="1570" y="598"/>
                    </a:lnTo>
                    <a:lnTo>
                      <a:pt x="1572" y="598"/>
                    </a:lnTo>
                    <a:lnTo>
                      <a:pt x="1572" y="600"/>
                    </a:lnTo>
                    <a:lnTo>
                      <a:pt x="1570" y="600"/>
                    </a:lnTo>
                    <a:lnTo>
                      <a:pt x="1570" y="604"/>
                    </a:lnTo>
                    <a:lnTo>
                      <a:pt x="1566" y="608"/>
                    </a:lnTo>
                    <a:lnTo>
                      <a:pt x="1562" y="612"/>
                    </a:lnTo>
                    <a:lnTo>
                      <a:pt x="1564" y="618"/>
                    </a:lnTo>
                    <a:lnTo>
                      <a:pt x="1562" y="622"/>
                    </a:lnTo>
                    <a:lnTo>
                      <a:pt x="1562" y="626"/>
                    </a:lnTo>
                    <a:lnTo>
                      <a:pt x="1564" y="626"/>
                    </a:lnTo>
                    <a:lnTo>
                      <a:pt x="1562" y="634"/>
                    </a:lnTo>
                    <a:lnTo>
                      <a:pt x="1564" y="636"/>
                    </a:lnTo>
                    <a:lnTo>
                      <a:pt x="1564" y="642"/>
                    </a:lnTo>
                    <a:lnTo>
                      <a:pt x="1562" y="646"/>
                    </a:lnTo>
                    <a:lnTo>
                      <a:pt x="1560" y="650"/>
                    </a:lnTo>
                    <a:lnTo>
                      <a:pt x="1560" y="652"/>
                    </a:lnTo>
                    <a:lnTo>
                      <a:pt x="1562" y="654"/>
                    </a:lnTo>
                    <a:lnTo>
                      <a:pt x="1560" y="656"/>
                    </a:lnTo>
                    <a:lnTo>
                      <a:pt x="1558" y="658"/>
                    </a:lnTo>
                    <a:lnTo>
                      <a:pt x="1558" y="662"/>
                    </a:lnTo>
                    <a:lnTo>
                      <a:pt x="1556" y="664"/>
                    </a:lnTo>
                    <a:lnTo>
                      <a:pt x="1552" y="668"/>
                    </a:lnTo>
                    <a:lnTo>
                      <a:pt x="1546" y="672"/>
                    </a:lnTo>
                    <a:lnTo>
                      <a:pt x="1546" y="676"/>
                    </a:lnTo>
                    <a:lnTo>
                      <a:pt x="1544" y="680"/>
                    </a:lnTo>
                    <a:lnTo>
                      <a:pt x="1544" y="682"/>
                    </a:lnTo>
                    <a:lnTo>
                      <a:pt x="1542" y="682"/>
                    </a:lnTo>
                    <a:lnTo>
                      <a:pt x="1538" y="688"/>
                    </a:lnTo>
                    <a:lnTo>
                      <a:pt x="1534" y="694"/>
                    </a:lnTo>
                    <a:lnTo>
                      <a:pt x="1534" y="696"/>
                    </a:lnTo>
                    <a:lnTo>
                      <a:pt x="1536" y="698"/>
                    </a:lnTo>
                    <a:lnTo>
                      <a:pt x="1532" y="710"/>
                    </a:lnTo>
                    <a:lnTo>
                      <a:pt x="1526" y="712"/>
                    </a:lnTo>
                    <a:lnTo>
                      <a:pt x="1524" y="718"/>
                    </a:lnTo>
                    <a:lnTo>
                      <a:pt x="1518" y="718"/>
                    </a:lnTo>
                    <a:lnTo>
                      <a:pt x="1510" y="728"/>
                    </a:lnTo>
                    <a:lnTo>
                      <a:pt x="1508" y="734"/>
                    </a:lnTo>
                    <a:lnTo>
                      <a:pt x="1506" y="736"/>
                    </a:lnTo>
                    <a:lnTo>
                      <a:pt x="1504" y="736"/>
                    </a:lnTo>
                    <a:lnTo>
                      <a:pt x="1504" y="740"/>
                    </a:lnTo>
                    <a:lnTo>
                      <a:pt x="1500" y="742"/>
                    </a:lnTo>
                    <a:lnTo>
                      <a:pt x="1500" y="746"/>
                    </a:lnTo>
                    <a:lnTo>
                      <a:pt x="1498" y="752"/>
                    </a:lnTo>
                    <a:lnTo>
                      <a:pt x="1494" y="752"/>
                    </a:lnTo>
                    <a:lnTo>
                      <a:pt x="1492" y="756"/>
                    </a:lnTo>
                    <a:lnTo>
                      <a:pt x="1484" y="764"/>
                    </a:lnTo>
                    <a:lnTo>
                      <a:pt x="1478" y="770"/>
                    </a:lnTo>
                    <a:lnTo>
                      <a:pt x="1476" y="772"/>
                    </a:lnTo>
                    <a:lnTo>
                      <a:pt x="1474" y="770"/>
                    </a:lnTo>
                    <a:lnTo>
                      <a:pt x="1470" y="768"/>
                    </a:lnTo>
                    <a:lnTo>
                      <a:pt x="1468" y="768"/>
                    </a:lnTo>
                    <a:lnTo>
                      <a:pt x="1466" y="766"/>
                    </a:lnTo>
                    <a:lnTo>
                      <a:pt x="1464" y="766"/>
                    </a:lnTo>
                    <a:lnTo>
                      <a:pt x="1462" y="762"/>
                    </a:lnTo>
                    <a:lnTo>
                      <a:pt x="1464" y="756"/>
                    </a:lnTo>
                    <a:lnTo>
                      <a:pt x="1460" y="758"/>
                    </a:lnTo>
                    <a:lnTo>
                      <a:pt x="1458" y="758"/>
                    </a:lnTo>
                    <a:lnTo>
                      <a:pt x="1456" y="758"/>
                    </a:lnTo>
                    <a:lnTo>
                      <a:pt x="1456" y="756"/>
                    </a:lnTo>
                    <a:lnTo>
                      <a:pt x="1456" y="754"/>
                    </a:lnTo>
                    <a:lnTo>
                      <a:pt x="1452" y="754"/>
                    </a:lnTo>
                    <a:lnTo>
                      <a:pt x="1450" y="760"/>
                    </a:lnTo>
                    <a:lnTo>
                      <a:pt x="1446" y="764"/>
                    </a:lnTo>
                    <a:lnTo>
                      <a:pt x="1444" y="764"/>
                    </a:lnTo>
                    <a:lnTo>
                      <a:pt x="1442" y="768"/>
                    </a:lnTo>
                    <a:lnTo>
                      <a:pt x="1438" y="768"/>
                    </a:lnTo>
                    <a:lnTo>
                      <a:pt x="1438" y="768"/>
                    </a:lnTo>
                    <a:lnTo>
                      <a:pt x="1440" y="764"/>
                    </a:lnTo>
                    <a:lnTo>
                      <a:pt x="1440" y="758"/>
                    </a:lnTo>
                    <a:lnTo>
                      <a:pt x="1442" y="756"/>
                    </a:lnTo>
                    <a:lnTo>
                      <a:pt x="1444" y="750"/>
                    </a:lnTo>
                    <a:lnTo>
                      <a:pt x="1442" y="740"/>
                    </a:lnTo>
                    <a:lnTo>
                      <a:pt x="1444" y="734"/>
                    </a:lnTo>
                    <a:lnTo>
                      <a:pt x="1444" y="728"/>
                    </a:lnTo>
                    <a:lnTo>
                      <a:pt x="1448" y="724"/>
                    </a:lnTo>
                    <a:lnTo>
                      <a:pt x="1452" y="722"/>
                    </a:lnTo>
                    <a:lnTo>
                      <a:pt x="1456" y="724"/>
                    </a:lnTo>
                    <a:lnTo>
                      <a:pt x="1454" y="728"/>
                    </a:lnTo>
                    <a:lnTo>
                      <a:pt x="1452" y="730"/>
                    </a:lnTo>
                    <a:lnTo>
                      <a:pt x="1454" y="734"/>
                    </a:lnTo>
                    <a:lnTo>
                      <a:pt x="1456" y="736"/>
                    </a:lnTo>
                    <a:lnTo>
                      <a:pt x="1460" y="736"/>
                    </a:lnTo>
                    <a:lnTo>
                      <a:pt x="1460" y="724"/>
                    </a:lnTo>
                    <a:lnTo>
                      <a:pt x="1464" y="720"/>
                    </a:lnTo>
                    <a:lnTo>
                      <a:pt x="1470" y="716"/>
                    </a:lnTo>
                    <a:lnTo>
                      <a:pt x="1470" y="712"/>
                    </a:lnTo>
                    <a:lnTo>
                      <a:pt x="1474" y="712"/>
                    </a:lnTo>
                    <a:lnTo>
                      <a:pt x="1478" y="706"/>
                    </a:lnTo>
                    <a:lnTo>
                      <a:pt x="1482" y="700"/>
                    </a:lnTo>
                    <a:lnTo>
                      <a:pt x="1484" y="690"/>
                    </a:lnTo>
                    <a:lnTo>
                      <a:pt x="1484" y="684"/>
                    </a:lnTo>
                    <a:lnTo>
                      <a:pt x="1488" y="682"/>
                    </a:lnTo>
                    <a:lnTo>
                      <a:pt x="1488" y="674"/>
                    </a:lnTo>
                    <a:lnTo>
                      <a:pt x="1484" y="670"/>
                    </a:lnTo>
                    <a:lnTo>
                      <a:pt x="1484" y="666"/>
                    </a:lnTo>
                    <a:lnTo>
                      <a:pt x="1488" y="658"/>
                    </a:lnTo>
                    <a:lnTo>
                      <a:pt x="1480" y="660"/>
                    </a:lnTo>
                    <a:lnTo>
                      <a:pt x="1478" y="664"/>
                    </a:lnTo>
                    <a:lnTo>
                      <a:pt x="1472" y="666"/>
                    </a:lnTo>
                    <a:lnTo>
                      <a:pt x="1470" y="666"/>
                    </a:lnTo>
                    <a:lnTo>
                      <a:pt x="1464" y="670"/>
                    </a:lnTo>
                    <a:lnTo>
                      <a:pt x="1460" y="674"/>
                    </a:lnTo>
                    <a:lnTo>
                      <a:pt x="1454" y="676"/>
                    </a:lnTo>
                    <a:lnTo>
                      <a:pt x="1450" y="678"/>
                    </a:lnTo>
                    <a:lnTo>
                      <a:pt x="1444" y="674"/>
                    </a:lnTo>
                    <a:lnTo>
                      <a:pt x="1438" y="672"/>
                    </a:lnTo>
                    <a:lnTo>
                      <a:pt x="1436" y="666"/>
                    </a:lnTo>
                    <a:lnTo>
                      <a:pt x="1436" y="660"/>
                    </a:lnTo>
                    <a:lnTo>
                      <a:pt x="1434" y="656"/>
                    </a:lnTo>
                    <a:lnTo>
                      <a:pt x="1428" y="650"/>
                    </a:lnTo>
                    <a:lnTo>
                      <a:pt x="1426" y="644"/>
                    </a:lnTo>
                    <a:lnTo>
                      <a:pt x="1424" y="638"/>
                    </a:lnTo>
                    <a:lnTo>
                      <a:pt x="1420" y="634"/>
                    </a:lnTo>
                    <a:lnTo>
                      <a:pt x="1414" y="632"/>
                    </a:lnTo>
                    <a:lnTo>
                      <a:pt x="1408" y="630"/>
                    </a:lnTo>
                    <a:lnTo>
                      <a:pt x="1402" y="630"/>
                    </a:lnTo>
                    <a:lnTo>
                      <a:pt x="1398" y="626"/>
                    </a:lnTo>
                    <a:lnTo>
                      <a:pt x="1394" y="618"/>
                    </a:lnTo>
                    <a:lnTo>
                      <a:pt x="1388" y="608"/>
                    </a:lnTo>
                    <a:lnTo>
                      <a:pt x="1386" y="600"/>
                    </a:lnTo>
                    <a:lnTo>
                      <a:pt x="1386" y="596"/>
                    </a:lnTo>
                    <a:lnTo>
                      <a:pt x="1380" y="590"/>
                    </a:lnTo>
                    <a:lnTo>
                      <a:pt x="1378" y="584"/>
                    </a:lnTo>
                    <a:lnTo>
                      <a:pt x="1370" y="578"/>
                    </a:lnTo>
                    <a:lnTo>
                      <a:pt x="1360" y="578"/>
                    </a:lnTo>
                    <a:lnTo>
                      <a:pt x="1356" y="572"/>
                    </a:lnTo>
                    <a:lnTo>
                      <a:pt x="1350" y="568"/>
                    </a:lnTo>
                    <a:lnTo>
                      <a:pt x="1346" y="564"/>
                    </a:lnTo>
                    <a:lnTo>
                      <a:pt x="1338" y="562"/>
                    </a:lnTo>
                    <a:lnTo>
                      <a:pt x="1334" y="564"/>
                    </a:lnTo>
                    <a:lnTo>
                      <a:pt x="1328" y="566"/>
                    </a:lnTo>
                    <a:lnTo>
                      <a:pt x="1320" y="566"/>
                    </a:lnTo>
                    <a:lnTo>
                      <a:pt x="1314" y="570"/>
                    </a:lnTo>
                    <a:lnTo>
                      <a:pt x="1308" y="576"/>
                    </a:lnTo>
                    <a:lnTo>
                      <a:pt x="1304" y="582"/>
                    </a:lnTo>
                    <a:lnTo>
                      <a:pt x="1302" y="584"/>
                    </a:lnTo>
                    <a:lnTo>
                      <a:pt x="1300" y="588"/>
                    </a:lnTo>
                    <a:lnTo>
                      <a:pt x="1306" y="586"/>
                    </a:lnTo>
                    <a:lnTo>
                      <a:pt x="1306" y="594"/>
                    </a:lnTo>
                    <a:lnTo>
                      <a:pt x="1306" y="600"/>
                    </a:lnTo>
                    <a:lnTo>
                      <a:pt x="1302" y="602"/>
                    </a:lnTo>
                    <a:lnTo>
                      <a:pt x="1304" y="608"/>
                    </a:lnTo>
                    <a:lnTo>
                      <a:pt x="1298" y="616"/>
                    </a:lnTo>
                    <a:lnTo>
                      <a:pt x="1294" y="622"/>
                    </a:lnTo>
                    <a:lnTo>
                      <a:pt x="1290" y="626"/>
                    </a:lnTo>
                    <a:lnTo>
                      <a:pt x="1288" y="628"/>
                    </a:lnTo>
                    <a:lnTo>
                      <a:pt x="1288" y="630"/>
                    </a:lnTo>
                    <a:lnTo>
                      <a:pt x="1290" y="632"/>
                    </a:lnTo>
                    <a:lnTo>
                      <a:pt x="1288" y="634"/>
                    </a:lnTo>
                    <a:lnTo>
                      <a:pt x="1286" y="636"/>
                    </a:lnTo>
                    <a:lnTo>
                      <a:pt x="1282" y="638"/>
                    </a:lnTo>
                    <a:lnTo>
                      <a:pt x="1272" y="644"/>
                    </a:lnTo>
                    <a:lnTo>
                      <a:pt x="1266" y="640"/>
                    </a:lnTo>
                    <a:lnTo>
                      <a:pt x="1258" y="636"/>
                    </a:lnTo>
                    <a:lnTo>
                      <a:pt x="1252" y="638"/>
                    </a:lnTo>
                    <a:lnTo>
                      <a:pt x="1242" y="636"/>
                    </a:lnTo>
                    <a:lnTo>
                      <a:pt x="1236" y="636"/>
                    </a:lnTo>
                    <a:lnTo>
                      <a:pt x="1226" y="630"/>
                    </a:lnTo>
                    <a:lnTo>
                      <a:pt x="1224" y="632"/>
                    </a:lnTo>
                    <a:lnTo>
                      <a:pt x="1212" y="640"/>
                    </a:lnTo>
                    <a:lnTo>
                      <a:pt x="1200" y="642"/>
                    </a:lnTo>
                    <a:lnTo>
                      <a:pt x="1194" y="646"/>
                    </a:lnTo>
                    <a:lnTo>
                      <a:pt x="1184" y="648"/>
                    </a:lnTo>
                    <a:lnTo>
                      <a:pt x="1174" y="646"/>
                    </a:lnTo>
                    <a:lnTo>
                      <a:pt x="1168" y="644"/>
                    </a:lnTo>
                    <a:lnTo>
                      <a:pt x="1162" y="646"/>
                    </a:lnTo>
                    <a:lnTo>
                      <a:pt x="1158" y="646"/>
                    </a:lnTo>
                    <a:lnTo>
                      <a:pt x="1152" y="642"/>
                    </a:lnTo>
                    <a:lnTo>
                      <a:pt x="1146" y="642"/>
                    </a:lnTo>
                    <a:lnTo>
                      <a:pt x="1140" y="638"/>
                    </a:lnTo>
                    <a:lnTo>
                      <a:pt x="1140" y="632"/>
                    </a:lnTo>
                    <a:lnTo>
                      <a:pt x="1134" y="632"/>
                    </a:lnTo>
                    <a:lnTo>
                      <a:pt x="1122" y="628"/>
                    </a:lnTo>
                    <a:lnTo>
                      <a:pt x="1114" y="626"/>
                    </a:lnTo>
                    <a:lnTo>
                      <a:pt x="1108" y="630"/>
                    </a:lnTo>
                    <a:lnTo>
                      <a:pt x="1102" y="632"/>
                    </a:lnTo>
                    <a:lnTo>
                      <a:pt x="1098" y="632"/>
                    </a:lnTo>
                    <a:lnTo>
                      <a:pt x="1092" y="632"/>
                    </a:lnTo>
                    <a:lnTo>
                      <a:pt x="1082" y="626"/>
                    </a:lnTo>
                    <a:lnTo>
                      <a:pt x="1078" y="624"/>
                    </a:lnTo>
                    <a:lnTo>
                      <a:pt x="1074" y="614"/>
                    </a:lnTo>
                    <a:lnTo>
                      <a:pt x="1066" y="608"/>
                    </a:lnTo>
                    <a:lnTo>
                      <a:pt x="1054" y="600"/>
                    </a:lnTo>
                    <a:lnTo>
                      <a:pt x="1044" y="598"/>
                    </a:lnTo>
                    <a:lnTo>
                      <a:pt x="1042" y="594"/>
                    </a:lnTo>
                    <a:lnTo>
                      <a:pt x="1032" y="594"/>
                    </a:lnTo>
                    <a:lnTo>
                      <a:pt x="1026" y="592"/>
                    </a:lnTo>
                    <a:lnTo>
                      <a:pt x="1016" y="592"/>
                    </a:lnTo>
                    <a:lnTo>
                      <a:pt x="1014" y="596"/>
                    </a:lnTo>
                    <a:lnTo>
                      <a:pt x="1010" y="600"/>
                    </a:lnTo>
                    <a:lnTo>
                      <a:pt x="1008" y="606"/>
                    </a:lnTo>
                    <a:lnTo>
                      <a:pt x="1014" y="610"/>
                    </a:lnTo>
                    <a:lnTo>
                      <a:pt x="1018" y="616"/>
                    </a:lnTo>
                    <a:lnTo>
                      <a:pt x="1020" y="624"/>
                    </a:lnTo>
                    <a:lnTo>
                      <a:pt x="1016" y="628"/>
                    </a:lnTo>
                    <a:lnTo>
                      <a:pt x="1006" y="628"/>
                    </a:lnTo>
                    <a:lnTo>
                      <a:pt x="994" y="628"/>
                    </a:lnTo>
                    <a:lnTo>
                      <a:pt x="984" y="628"/>
                    </a:lnTo>
                    <a:lnTo>
                      <a:pt x="978" y="626"/>
                    </a:lnTo>
                    <a:lnTo>
                      <a:pt x="970" y="622"/>
                    </a:lnTo>
                    <a:lnTo>
                      <a:pt x="960" y="618"/>
                    </a:lnTo>
                    <a:lnTo>
                      <a:pt x="952" y="620"/>
                    </a:lnTo>
                    <a:lnTo>
                      <a:pt x="950" y="616"/>
                    </a:lnTo>
                    <a:lnTo>
                      <a:pt x="942" y="616"/>
                    </a:lnTo>
                    <a:lnTo>
                      <a:pt x="932" y="616"/>
                    </a:lnTo>
                    <a:lnTo>
                      <a:pt x="928" y="620"/>
                    </a:lnTo>
                    <a:lnTo>
                      <a:pt x="920" y="624"/>
                    </a:lnTo>
                    <a:lnTo>
                      <a:pt x="914" y="626"/>
                    </a:lnTo>
                    <a:lnTo>
                      <a:pt x="910" y="630"/>
                    </a:lnTo>
                    <a:lnTo>
                      <a:pt x="906" y="634"/>
                    </a:lnTo>
                    <a:lnTo>
                      <a:pt x="906" y="638"/>
                    </a:lnTo>
                    <a:lnTo>
                      <a:pt x="904" y="642"/>
                    </a:lnTo>
                    <a:lnTo>
                      <a:pt x="898" y="644"/>
                    </a:lnTo>
                    <a:lnTo>
                      <a:pt x="892" y="646"/>
                    </a:lnTo>
                    <a:lnTo>
                      <a:pt x="886" y="650"/>
                    </a:lnTo>
                    <a:lnTo>
                      <a:pt x="876" y="648"/>
                    </a:lnTo>
                    <a:lnTo>
                      <a:pt x="874" y="644"/>
                    </a:lnTo>
                    <a:lnTo>
                      <a:pt x="868" y="640"/>
                    </a:lnTo>
                    <a:lnTo>
                      <a:pt x="866" y="632"/>
                    </a:lnTo>
                    <a:lnTo>
                      <a:pt x="858" y="632"/>
                    </a:lnTo>
                    <a:lnTo>
                      <a:pt x="850" y="634"/>
                    </a:lnTo>
                    <a:lnTo>
                      <a:pt x="834" y="642"/>
                    </a:lnTo>
                    <a:lnTo>
                      <a:pt x="824" y="644"/>
                    </a:lnTo>
                    <a:lnTo>
                      <a:pt x="818" y="640"/>
                    </a:lnTo>
                    <a:lnTo>
                      <a:pt x="814" y="636"/>
                    </a:lnTo>
                    <a:lnTo>
                      <a:pt x="812" y="626"/>
                    </a:lnTo>
                    <a:lnTo>
                      <a:pt x="810" y="618"/>
                    </a:lnTo>
                    <a:lnTo>
                      <a:pt x="804" y="612"/>
                    </a:lnTo>
                    <a:lnTo>
                      <a:pt x="800" y="608"/>
                    </a:lnTo>
                    <a:lnTo>
                      <a:pt x="796" y="606"/>
                    </a:lnTo>
                    <a:lnTo>
                      <a:pt x="784" y="606"/>
                    </a:lnTo>
                    <a:lnTo>
                      <a:pt x="780" y="608"/>
                    </a:lnTo>
                    <a:lnTo>
                      <a:pt x="772" y="610"/>
                    </a:lnTo>
                    <a:lnTo>
                      <a:pt x="768" y="608"/>
                    </a:lnTo>
                    <a:lnTo>
                      <a:pt x="766" y="604"/>
                    </a:lnTo>
                    <a:lnTo>
                      <a:pt x="762" y="600"/>
                    </a:lnTo>
                    <a:lnTo>
                      <a:pt x="756" y="586"/>
                    </a:lnTo>
                    <a:lnTo>
                      <a:pt x="746" y="564"/>
                    </a:lnTo>
                    <a:lnTo>
                      <a:pt x="736" y="548"/>
                    </a:lnTo>
                    <a:lnTo>
                      <a:pt x="738" y="544"/>
                    </a:lnTo>
                    <a:lnTo>
                      <a:pt x="736" y="542"/>
                    </a:lnTo>
                    <a:lnTo>
                      <a:pt x="726" y="544"/>
                    </a:lnTo>
                    <a:lnTo>
                      <a:pt x="716" y="546"/>
                    </a:lnTo>
                    <a:lnTo>
                      <a:pt x="702" y="552"/>
                    </a:lnTo>
                    <a:lnTo>
                      <a:pt x="692" y="556"/>
                    </a:lnTo>
                    <a:lnTo>
                      <a:pt x="680" y="556"/>
                    </a:lnTo>
                    <a:lnTo>
                      <a:pt x="680" y="554"/>
                    </a:lnTo>
                    <a:lnTo>
                      <a:pt x="680" y="550"/>
                    </a:lnTo>
                    <a:lnTo>
                      <a:pt x="678" y="548"/>
                    </a:lnTo>
                    <a:lnTo>
                      <a:pt x="676" y="548"/>
                    </a:lnTo>
                    <a:lnTo>
                      <a:pt x="672" y="550"/>
                    </a:lnTo>
                    <a:lnTo>
                      <a:pt x="670" y="548"/>
                    </a:lnTo>
                    <a:lnTo>
                      <a:pt x="662" y="544"/>
                    </a:lnTo>
                    <a:lnTo>
                      <a:pt x="656" y="550"/>
                    </a:lnTo>
                    <a:lnTo>
                      <a:pt x="650" y="552"/>
                    </a:lnTo>
                    <a:lnTo>
                      <a:pt x="644" y="546"/>
                    </a:lnTo>
                    <a:lnTo>
                      <a:pt x="640" y="544"/>
                    </a:lnTo>
                    <a:lnTo>
                      <a:pt x="642" y="540"/>
                    </a:lnTo>
                    <a:lnTo>
                      <a:pt x="642" y="536"/>
                    </a:lnTo>
                    <a:lnTo>
                      <a:pt x="636" y="534"/>
                    </a:lnTo>
                    <a:lnTo>
                      <a:pt x="634" y="530"/>
                    </a:lnTo>
                    <a:lnTo>
                      <a:pt x="628" y="532"/>
                    </a:lnTo>
                    <a:lnTo>
                      <a:pt x="618" y="534"/>
                    </a:lnTo>
                    <a:lnTo>
                      <a:pt x="608" y="542"/>
                    </a:lnTo>
                    <a:lnTo>
                      <a:pt x="604" y="542"/>
                    </a:lnTo>
                    <a:lnTo>
                      <a:pt x="590" y="544"/>
                    </a:lnTo>
                    <a:lnTo>
                      <a:pt x="578" y="544"/>
                    </a:lnTo>
                    <a:lnTo>
                      <a:pt x="568" y="546"/>
                    </a:lnTo>
                    <a:lnTo>
                      <a:pt x="556" y="548"/>
                    </a:lnTo>
                    <a:lnTo>
                      <a:pt x="550" y="546"/>
                    </a:lnTo>
                    <a:lnTo>
                      <a:pt x="544" y="544"/>
                    </a:lnTo>
                    <a:lnTo>
                      <a:pt x="536" y="542"/>
                    </a:lnTo>
                    <a:lnTo>
                      <a:pt x="530" y="544"/>
                    </a:lnTo>
                    <a:lnTo>
                      <a:pt x="532" y="548"/>
                    </a:lnTo>
                    <a:lnTo>
                      <a:pt x="532" y="556"/>
                    </a:lnTo>
                    <a:lnTo>
                      <a:pt x="526" y="562"/>
                    </a:lnTo>
                    <a:lnTo>
                      <a:pt x="526" y="570"/>
                    </a:lnTo>
                    <a:lnTo>
                      <a:pt x="522" y="576"/>
                    </a:lnTo>
                    <a:lnTo>
                      <a:pt x="522" y="582"/>
                    </a:lnTo>
                    <a:lnTo>
                      <a:pt x="528" y="590"/>
                    </a:lnTo>
                    <a:lnTo>
                      <a:pt x="530" y="594"/>
                    </a:lnTo>
                    <a:lnTo>
                      <a:pt x="524" y="602"/>
                    </a:lnTo>
                    <a:lnTo>
                      <a:pt x="530" y="606"/>
                    </a:lnTo>
                    <a:lnTo>
                      <a:pt x="532" y="606"/>
                    </a:lnTo>
                    <a:lnTo>
                      <a:pt x="538" y="612"/>
                    </a:lnTo>
                    <a:lnTo>
                      <a:pt x="538" y="616"/>
                    </a:lnTo>
                    <a:lnTo>
                      <a:pt x="536" y="618"/>
                    </a:lnTo>
                    <a:lnTo>
                      <a:pt x="532" y="620"/>
                    </a:lnTo>
                    <a:lnTo>
                      <a:pt x="526" y="620"/>
                    </a:lnTo>
                    <a:lnTo>
                      <a:pt x="518" y="618"/>
                    </a:lnTo>
                    <a:lnTo>
                      <a:pt x="516" y="614"/>
                    </a:lnTo>
                    <a:lnTo>
                      <a:pt x="512" y="606"/>
                    </a:lnTo>
                    <a:lnTo>
                      <a:pt x="510" y="606"/>
                    </a:lnTo>
                    <a:lnTo>
                      <a:pt x="508" y="606"/>
                    </a:lnTo>
                    <a:lnTo>
                      <a:pt x="506" y="608"/>
                    </a:lnTo>
                    <a:lnTo>
                      <a:pt x="504" y="608"/>
                    </a:lnTo>
                    <a:lnTo>
                      <a:pt x="502" y="606"/>
                    </a:lnTo>
                    <a:lnTo>
                      <a:pt x="502" y="604"/>
                    </a:lnTo>
                    <a:lnTo>
                      <a:pt x="498" y="604"/>
                    </a:lnTo>
                    <a:lnTo>
                      <a:pt x="492" y="608"/>
                    </a:lnTo>
                    <a:lnTo>
                      <a:pt x="488" y="612"/>
                    </a:lnTo>
                    <a:lnTo>
                      <a:pt x="486" y="612"/>
                    </a:lnTo>
                    <a:lnTo>
                      <a:pt x="484" y="612"/>
                    </a:lnTo>
                    <a:lnTo>
                      <a:pt x="478" y="608"/>
                    </a:lnTo>
                    <a:lnTo>
                      <a:pt x="474" y="608"/>
                    </a:lnTo>
                    <a:lnTo>
                      <a:pt x="472" y="608"/>
                    </a:lnTo>
                    <a:lnTo>
                      <a:pt x="470" y="610"/>
                    </a:lnTo>
                    <a:lnTo>
                      <a:pt x="470" y="612"/>
                    </a:lnTo>
                    <a:lnTo>
                      <a:pt x="470" y="614"/>
                    </a:lnTo>
                    <a:lnTo>
                      <a:pt x="470" y="618"/>
                    </a:lnTo>
                    <a:lnTo>
                      <a:pt x="462" y="616"/>
                    </a:lnTo>
                    <a:lnTo>
                      <a:pt x="464" y="614"/>
                    </a:lnTo>
                    <a:lnTo>
                      <a:pt x="466" y="612"/>
                    </a:lnTo>
                    <a:lnTo>
                      <a:pt x="464" y="608"/>
                    </a:lnTo>
                    <a:lnTo>
                      <a:pt x="464" y="606"/>
                    </a:lnTo>
                    <a:lnTo>
                      <a:pt x="462" y="606"/>
                    </a:lnTo>
                    <a:lnTo>
                      <a:pt x="456" y="606"/>
                    </a:lnTo>
                    <a:lnTo>
                      <a:pt x="454" y="606"/>
                    </a:lnTo>
                    <a:lnTo>
                      <a:pt x="452" y="602"/>
                    </a:lnTo>
                    <a:lnTo>
                      <a:pt x="448" y="600"/>
                    </a:lnTo>
                    <a:lnTo>
                      <a:pt x="444" y="598"/>
                    </a:lnTo>
                    <a:lnTo>
                      <a:pt x="440" y="596"/>
                    </a:lnTo>
                    <a:lnTo>
                      <a:pt x="436" y="596"/>
                    </a:lnTo>
                    <a:lnTo>
                      <a:pt x="436" y="594"/>
                    </a:lnTo>
                    <a:lnTo>
                      <a:pt x="436" y="590"/>
                    </a:lnTo>
                    <a:lnTo>
                      <a:pt x="432" y="588"/>
                    </a:lnTo>
                    <a:lnTo>
                      <a:pt x="430" y="586"/>
                    </a:lnTo>
                    <a:lnTo>
                      <a:pt x="430" y="588"/>
                    </a:lnTo>
                    <a:lnTo>
                      <a:pt x="430" y="590"/>
                    </a:lnTo>
                    <a:lnTo>
                      <a:pt x="424" y="590"/>
                    </a:lnTo>
                    <a:lnTo>
                      <a:pt x="424" y="586"/>
                    </a:lnTo>
                    <a:lnTo>
                      <a:pt x="412" y="588"/>
                    </a:lnTo>
                    <a:lnTo>
                      <a:pt x="414" y="590"/>
                    </a:lnTo>
                    <a:lnTo>
                      <a:pt x="414" y="592"/>
                    </a:lnTo>
                    <a:lnTo>
                      <a:pt x="404" y="602"/>
                    </a:lnTo>
                    <a:lnTo>
                      <a:pt x="400" y="602"/>
                    </a:lnTo>
                    <a:lnTo>
                      <a:pt x="394" y="602"/>
                    </a:lnTo>
                    <a:lnTo>
                      <a:pt x="392" y="602"/>
                    </a:lnTo>
                    <a:lnTo>
                      <a:pt x="390" y="602"/>
                    </a:lnTo>
                    <a:lnTo>
                      <a:pt x="390" y="604"/>
                    </a:lnTo>
                    <a:lnTo>
                      <a:pt x="388" y="606"/>
                    </a:lnTo>
                    <a:lnTo>
                      <a:pt x="386" y="606"/>
                    </a:lnTo>
                    <a:lnTo>
                      <a:pt x="384" y="610"/>
                    </a:lnTo>
                    <a:lnTo>
                      <a:pt x="384" y="616"/>
                    </a:lnTo>
                    <a:lnTo>
                      <a:pt x="384" y="618"/>
                    </a:lnTo>
                    <a:lnTo>
                      <a:pt x="386" y="620"/>
                    </a:lnTo>
                    <a:lnTo>
                      <a:pt x="390" y="624"/>
                    </a:lnTo>
                    <a:lnTo>
                      <a:pt x="380" y="628"/>
                    </a:lnTo>
                    <a:lnTo>
                      <a:pt x="376" y="618"/>
                    </a:lnTo>
                    <a:lnTo>
                      <a:pt x="372" y="618"/>
                    </a:lnTo>
                    <a:lnTo>
                      <a:pt x="370" y="624"/>
                    </a:lnTo>
                    <a:lnTo>
                      <a:pt x="368" y="624"/>
                    </a:lnTo>
                    <a:lnTo>
                      <a:pt x="366" y="626"/>
                    </a:lnTo>
                    <a:lnTo>
                      <a:pt x="366" y="626"/>
                    </a:lnTo>
                    <a:lnTo>
                      <a:pt x="366" y="632"/>
                    </a:lnTo>
                    <a:lnTo>
                      <a:pt x="364" y="636"/>
                    </a:lnTo>
                    <a:lnTo>
                      <a:pt x="362" y="640"/>
                    </a:lnTo>
                    <a:lnTo>
                      <a:pt x="364" y="640"/>
                    </a:lnTo>
                    <a:lnTo>
                      <a:pt x="366" y="642"/>
                    </a:lnTo>
                    <a:lnTo>
                      <a:pt x="366" y="644"/>
                    </a:lnTo>
                    <a:lnTo>
                      <a:pt x="364" y="646"/>
                    </a:lnTo>
                    <a:lnTo>
                      <a:pt x="364" y="648"/>
                    </a:lnTo>
                    <a:lnTo>
                      <a:pt x="358" y="656"/>
                    </a:lnTo>
                    <a:lnTo>
                      <a:pt x="356" y="656"/>
                    </a:lnTo>
                    <a:lnTo>
                      <a:pt x="358" y="658"/>
                    </a:lnTo>
                    <a:lnTo>
                      <a:pt x="362" y="662"/>
                    </a:lnTo>
                    <a:lnTo>
                      <a:pt x="364" y="664"/>
                    </a:lnTo>
                    <a:lnTo>
                      <a:pt x="364" y="666"/>
                    </a:lnTo>
                    <a:lnTo>
                      <a:pt x="364" y="672"/>
                    </a:lnTo>
                    <a:lnTo>
                      <a:pt x="366" y="674"/>
                    </a:lnTo>
                    <a:lnTo>
                      <a:pt x="366" y="674"/>
                    </a:lnTo>
                    <a:lnTo>
                      <a:pt x="370" y="672"/>
                    </a:lnTo>
                    <a:lnTo>
                      <a:pt x="374" y="684"/>
                    </a:lnTo>
                    <a:lnTo>
                      <a:pt x="376" y="686"/>
                    </a:lnTo>
                    <a:lnTo>
                      <a:pt x="374" y="690"/>
                    </a:lnTo>
                    <a:lnTo>
                      <a:pt x="374" y="692"/>
                    </a:lnTo>
                    <a:lnTo>
                      <a:pt x="376" y="696"/>
                    </a:lnTo>
                    <a:lnTo>
                      <a:pt x="376" y="698"/>
                    </a:lnTo>
                    <a:lnTo>
                      <a:pt x="376" y="702"/>
                    </a:lnTo>
                    <a:lnTo>
                      <a:pt x="372" y="702"/>
                    </a:lnTo>
                    <a:lnTo>
                      <a:pt x="372" y="700"/>
                    </a:lnTo>
                    <a:lnTo>
                      <a:pt x="370" y="698"/>
                    </a:lnTo>
                    <a:lnTo>
                      <a:pt x="370" y="700"/>
                    </a:lnTo>
                    <a:lnTo>
                      <a:pt x="370" y="702"/>
                    </a:lnTo>
                    <a:lnTo>
                      <a:pt x="374" y="702"/>
                    </a:lnTo>
                    <a:lnTo>
                      <a:pt x="374" y="706"/>
                    </a:lnTo>
                    <a:lnTo>
                      <a:pt x="370" y="710"/>
                    </a:lnTo>
                    <a:lnTo>
                      <a:pt x="368" y="708"/>
                    </a:lnTo>
                    <a:lnTo>
                      <a:pt x="370" y="706"/>
                    </a:lnTo>
                    <a:lnTo>
                      <a:pt x="366" y="706"/>
                    </a:lnTo>
                    <a:lnTo>
                      <a:pt x="366" y="702"/>
                    </a:lnTo>
                    <a:lnTo>
                      <a:pt x="366" y="702"/>
                    </a:lnTo>
                    <a:lnTo>
                      <a:pt x="366" y="704"/>
                    </a:lnTo>
                    <a:lnTo>
                      <a:pt x="362" y="706"/>
                    </a:lnTo>
                    <a:lnTo>
                      <a:pt x="360" y="706"/>
                    </a:lnTo>
                    <a:lnTo>
                      <a:pt x="358" y="706"/>
                    </a:lnTo>
                    <a:lnTo>
                      <a:pt x="358" y="708"/>
                    </a:lnTo>
                    <a:lnTo>
                      <a:pt x="360" y="708"/>
                    </a:lnTo>
                    <a:lnTo>
                      <a:pt x="358" y="708"/>
                    </a:lnTo>
                    <a:lnTo>
                      <a:pt x="358" y="710"/>
                    </a:lnTo>
                    <a:lnTo>
                      <a:pt x="360" y="712"/>
                    </a:lnTo>
                    <a:lnTo>
                      <a:pt x="356" y="714"/>
                    </a:lnTo>
                    <a:lnTo>
                      <a:pt x="352" y="724"/>
                    </a:lnTo>
                    <a:lnTo>
                      <a:pt x="352" y="730"/>
                    </a:lnTo>
                    <a:lnTo>
                      <a:pt x="350" y="732"/>
                    </a:lnTo>
                    <a:lnTo>
                      <a:pt x="350" y="736"/>
                    </a:lnTo>
                    <a:lnTo>
                      <a:pt x="350" y="738"/>
                    </a:lnTo>
                    <a:lnTo>
                      <a:pt x="348" y="740"/>
                    </a:lnTo>
                    <a:lnTo>
                      <a:pt x="360" y="740"/>
                    </a:lnTo>
                    <a:lnTo>
                      <a:pt x="360" y="750"/>
                    </a:lnTo>
                    <a:lnTo>
                      <a:pt x="362" y="752"/>
                    </a:lnTo>
                    <a:lnTo>
                      <a:pt x="362" y="766"/>
                    </a:lnTo>
                    <a:lnTo>
                      <a:pt x="366" y="768"/>
                    </a:lnTo>
                    <a:lnTo>
                      <a:pt x="368" y="772"/>
                    </a:lnTo>
                    <a:lnTo>
                      <a:pt x="368" y="776"/>
                    </a:lnTo>
                    <a:lnTo>
                      <a:pt x="370" y="780"/>
                    </a:lnTo>
                    <a:lnTo>
                      <a:pt x="378" y="786"/>
                    </a:lnTo>
                    <a:lnTo>
                      <a:pt x="380" y="790"/>
                    </a:lnTo>
                    <a:lnTo>
                      <a:pt x="378" y="796"/>
                    </a:lnTo>
                    <a:lnTo>
                      <a:pt x="372" y="800"/>
                    </a:lnTo>
                    <a:lnTo>
                      <a:pt x="370" y="798"/>
                    </a:lnTo>
                    <a:lnTo>
                      <a:pt x="368" y="794"/>
                    </a:lnTo>
                    <a:lnTo>
                      <a:pt x="366" y="790"/>
                    </a:lnTo>
                    <a:lnTo>
                      <a:pt x="364" y="788"/>
                    </a:lnTo>
                    <a:lnTo>
                      <a:pt x="358" y="782"/>
                    </a:lnTo>
                    <a:lnTo>
                      <a:pt x="354" y="778"/>
                    </a:lnTo>
                    <a:lnTo>
                      <a:pt x="352" y="776"/>
                    </a:lnTo>
                    <a:lnTo>
                      <a:pt x="350" y="776"/>
                    </a:lnTo>
                    <a:lnTo>
                      <a:pt x="346" y="776"/>
                    </a:lnTo>
                    <a:lnTo>
                      <a:pt x="346" y="774"/>
                    </a:lnTo>
                    <a:lnTo>
                      <a:pt x="346" y="772"/>
                    </a:lnTo>
                    <a:lnTo>
                      <a:pt x="346" y="770"/>
                    </a:lnTo>
                    <a:lnTo>
                      <a:pt x="342" y="768"/>
                    </a:lnTo>
                    <a:lnTo>
                      <a:pt x="340" y="768"/>
                    </a:lnTo>
                    <a:lnTo>
                      <a:pt x="338" y="766"/>
                    </a:lnTo>
                    <a:lnTo>
                      <a:pt x="336" y="762"/>
                    </a:lnTo>
                    <a:lnTo>
                      <a:pt x="332" y="760"/>
                    </a:lnTo>
                    <a:lnTo>
                      <a:pt x="328" y="762"/>
                    </a:lnTo>
                    <a:lnTo>
                      <a:pt x="324" y="764"/>
                    </a:lnTo>
                    <a:lnTo>
                      <a:pt x="322" y="764"/>
                    </a:lnTo>
                    <a:lnTo>
                      <a:pt x="320" y="762"/>
                    </a:lnTo>
                    <a:lnTo>
                      <a:pt x="318" y="762"/>
                    </a:lnTo>
                    <a:lnTo>
                      <a:pt x="312" y="764"/>
                    </a:lnTo>
                    <a:lnTo>
                      <a:pt x="308" y="764"/>
                    </a:lnTo>
                    <a:lnTo>
                      <a:pt x="306" y="762"/>
                    </a:lnTo>
                    <a:lnTo>
                      <a:pt x="304" y="756"/>
                    </a:lnTo>
                    <a:lnTo>
                      <a:pt x="300" y="754"/>
                    </a:lnTo>
                    <a:lnTo>
                      <a:pt x="296" y="752"/>
                    </a:lnTo>
                    <a:lnTo>
                      <a:pt x="292" y="752"/>
                    </a:lnTo>
                    <a:lnTo>
                      <a:pt x="286" y="752"/>
                    </a:lnTo>
                    <a:lnTo>
                      <a:pt x="280" y="752"/>
                    </a:lnTo>
                    <a:lnTo>
                      <a:pt x="278" y="748"/>
                    </a:lnTo>
                    <a:lnTo>
                      <a:pt x="276" y="748"/>
                    </a:lnTo>
                    <a:lnTo>
                      <a:pt x="272" y="748"/>
                    </a:lnTo>
                    <a:lnTo>
                      <a:pt x="268" y="750"/>
                    </a:lnTo>
                    <a:lnTo>
                      <a:pt x="264" y="754"/>
                    </a:lnTo>
                    <a:lnTo>
                      <a:pt x="264" y="758"/>
                    </a:lnTo>
                    <a:lnTo>
                      <a:pt x="262" y="756"/>
                    </a:lnTo>
                    <a:lnTo>
                      <a:pt x="258" y="752"/>
                    </a:lnTo>
                    <a:lnTo>
                      <a:pt x="254" y="748"/>
                    </a:lnTo>
                    <a:lnTo>
                      <a:pt x="252" y="746"/>
                    </a:lnTo>
                    <a:lnTo>
                      <a:pt x="248" y="746"/>
                    </a:lnTo>
                    <a:lnTo>
                      <a:pt x="246" y="740"/>
                    </a:lnTo>
                    <a:lnTo>
                      <a:pt x="242" y="738"/>
                    </a:lnTo>
                    <a:lnTo>
                      <a:pt x="242" y="734"/>
                    </a:lnTo>
                    <a:lnTo>
                      <a:pt x="240" y="734"/>
                    </a:lnTo>
                    <a:lnTo>
                      <a:pt x="238" y="734"/>
                    </a:lnTo>
                    <a:lnTo>
                      <a:pt x="234" y="728"/>
                    </a:lnTo>
                    <a:lnTo>
                      <a:pt x="234" y="724"/>
                    </a:lnTo>
                    <a:lnTo>
                      <a:pt x="224" y="728"/>
                    </a:lnTo>
                    <a:lnTo>
                      <a:pt x="224" y="724"/>
                    </a:lnTo>
                    <a:lnTo>
                      <a:pt x="230" y="722"/>
                    </a:lnTo>
                    <a:lnTo>
                      <a:pt x="230" y="718"/>
                    </a:lnTo>
                    <a:lnTo>
                      <a:pt x="238" y="718"/>
                    </a:lnTo>
                    <a:lnTo>
                      <a:pt x="238" y="714"/>
                    </a:lnTo>
                    <a:lnTo>
                      <a:pt x="242" y="712"/>
                    </a:lnTo>
                    <a:lnTo>
                      <a:pt x="242" y="710"/>
                    </a:lnTo>
                    <a:lnTo>
                      <a:pt x="242" y="708"/>
                    </a:lnTo>
                    <a:lnTo>
                      <a:pt x="238" y="706"/>
                    </a:lnTo>
                    <a:lnTo>
                      <a:pt x="236" y="702"/>
                    </a:lnTo>
                    <a:lnTo>
                      <a:pt x="244" y="702"/>
                    </a:lnTo>
                    <a:lnTo>
                      <a:pt x="244" y="696"/>
                    </a:lnTo>
                    <a:lnTo>
                      <a:pt x="246" y="696"/>
                    </a:lnTo>
                    <a:lnTo>
                      <a:pt x="248" y="696"/>
                    </a:lnTo>
                    <a:lnTo>
                      <a:pt x="250" y="694"/>
                    </a:lnTo>
                    <a:lnTo>
                      <a:pt x="252" y="692"/>
                    </a:lnTo>
                    <a:lnTo>
                      <a:pt x="260" y="688"/>
                    </a:lnTo>
                    <a:lnTo>
                      <a:pt x="260" y="686"/>
                    </a:lnTo>
                    <a:lnTo>
                      <a:pt x="258" y="686"/>
                    </a:lnTo>
                    <a:lnTo>
                      <a:pt x="256" y="688"/>
                    </a:lnTo>
                    <a:lnTo>
                      <a:pt x="252" y="688"/>
                    </a:lnTo>
                    <a:lnTo>
                      <a:pt x="254" y="684"/>
                    </a:lnTo>
                    <a:lnTo>
                      <a:pt x="256" y="680"/>
                    </a:lnTo>
                    <a:lnTo>
                      <a:pt x="262" y="678"/>
                    </a:lnTo>
                    <a:lnTo>
                      <a:pt x="266" y="678"/>
                    </a:lnTo>
                    <a:lnTo>
                      <a:pt x="268" y="676"/>
                    </a:lnTo>
                    <a:lnTo>
                      <a:pt x="270" y="666"/>
                    </a:lnTo>
                    <a:lnTo>
                      <a:pt x="270" y="662"/>
                    </a:lnTo>
                    <a:lnTo>
                      <a:pt x="268" y="660"/>
                    </a:lnTo>
                    <a:lnTo>
                      <a:pt x="268" y="656"/>
                    </a:lnTo>
                    <a:lnTo>
                      <a:pt x="268" y="656"/>
                    </a:lnTo>
                    <a:lnTo>
                      <a:pt x="268" y="654"/>
                    </a:lnTo>
                    <a:lnTo>
                      <a:pt x="266" y="652"/>
                    </a:lnTo>
                    <a:lnTo>
                      <a:pt x="264" y="650"/>
                    </a:lnTo>
                    <a:lnTo>
                      <a:pt x="266" y="650"/>
                    </a:lnTo>
                    <a:lnTo>
                      <a:pt x="268" y="646"/>
                    </a:lnTo>
                    <a:lnTo>
                      <a:pt x="268" y="644"/>
                    </a:lnTo>
                    <a:lnTo>
                      <a:pt x="266" y="644"/>
                    </a:lnTo>
                    <a:lnTo>
                      <a:pt x="262" y="642"/>
                    </a:lnTo>
                    <a:lnTo>
                      <a:pt x="262" y="640"/>
                    </a:lnTo>
                    <a:lnTo>
                      <a:pt x="264" y="638"/>
                    </a:lnTo>
                    <a:lnTo>
                      <a:pt x="262" y="634"/>
                    </a:lnTo>
                    <a:lnTo>
                      <a:pt x="244" y="628"/>
                    </a:lnTo>
                    <a:lnTo>
                      <a:pt x="242" y="626"/>
                    </a:lnTo>
                    <a:lnTo>
                      <a:pt x="238" y="624"/>
                    </a:lnTo>
                    <a:lnTo>
                      <a:pt x="236" y="622"/>
                    </a:lnTo>
                    <a:lnTo>
                      <a:pt x="236" y="620"/>
                    </a:lnTo>
                    <a:lnTo>
                      <a:pt x="232" y="618"/>
                    </a:lnTo>
                    <a:lnTo>
                      <a:pt x="228" y="618"/>
                    </a:lnTo>
                    <a:lnTo>
                      <a:pt x="224" y="620"/>
                    </a:lnTo>
                    <a:lnTo>
                      <a:pt x="216" y="624"/>
                    </a:lnTo>
                    <a:lnTo>
                      <a:pt x="214" y="620"/>
                    </a:lnTo>
                    <a:lnTo>
                      <a:pt x="214" y="616"/>
                    </a:lnTo>
                    <a:lnTo>
                      <a:pt x="212" y="614"/>
                    </a:lnTo>
                    <a:lnTo>
                      <a:pt x="206" y="612"/>
                    </a:lnTo>
                    <a:lnTo>
                      <a:pt x="204" y="608"/>
                    </a:lnTo>
                    <a:lnTo>
                      <a:pt x="204" y="606"/>
                    </a:lnTo>
                    <a:lnTo>
                      <a:pt x="202" y="606"/>
                    </a:lnTo>
                    <a:lnTo>
                      <a:pt x="198" y="608"/>
                    </a:lnTo>
                    <a:lnTo>
                      <a:pt x="192" y="604"/>
                    </a:lnTo>
                    <a:lnTo>
                      <a:pt x="188" y="604"/>
                    </a:lnTo>
                    <a:lnTo>
                      <a:pt x="184" y="604"/>
                    </a:lnTo>
                    <a:lnTo>
                      <a:pt x="184" y="604"/>
                    </a:lnTo>
                    <a:lnTo>
                      <a:pt x="180" y="602"/>
                    </a:lnTo>
                    <a:lnTo>
                      <a:pt x="180" y="600"/>
                    </a:lnTo>
                    <a:lnTo>
                      <a:pt x="180" y="600"/>
                    </a:lnTo>
                    <a:lnTo>
                      <a:pt x="178" y="600"/>
                    </a:lnTo>
                    <a:lnTo>
                      <a:pt x="178" y="598"/>
                    </a:lnTo>
                    <a:lnTo>
                      <a:pt x="178" y="594"/>
                    </a:lnTo>
                    <a:lnTo>
                      <a:pt x="178" y="592"/>
                    </a:lnTo>
                    <a:lnTo>
                      <a:pt x="176" y="588"/>
                    </a:lnTo>
                    <a:lnTo>
                      <a:pt x="176" y="586"/>
                    </a:lnTo>
                    <a:lnTo>
                      <a:pt x="174" y="586"/>
                    </a:lnTo>
                    <a:lnTo>
                      <a:pt x="170" y="586"/>
                    </a:lnTo>
                    <a:lnTo>
                      <a:pt x="166" y="584"/>
                    </a:lnTo>
                    <a:lnTo>
                      <a:pt x="164" y="586"/>
                    </a:lnTo>
                    <a:lnTo>
                      <a:pt x="162" y="588"/>
                    </a:lnTo>
                    <a:lnTo>
                      <a:pt x="158" y="588"/>
                    </a:lnTo>
                    <a:lnTo>
                      <a:pt x="156" y="584"/>
                    </a:lnTo>
                    <a:lnTo>
                      <a:pt x="156" y="568"/>
                    </a:lnTo>
                    <a:lnTo>
                      <a:pt x="154" y="566"/>
                    </a:lnTo>
                    <a:lnTo>
                      <a:pt x="152" y="564"/>
                    </a:lnTo>
                    <a:lnTo>
                      <a:pt x="150" y="564"/>
                    </a:lnTo>
                    <a:lnTo>
                      <a:pt x="150" y="560"/>
                    </a:lnTo>
                    <a:lnTo>
                      <a:pt x="152" y="558"/>
                    </a:lnTo>
                    <a:lnTo>
                      <a:pt x="154" y="558"/>
                    </a:lnTo>
                    <a:lnTo>
                      <a:pt x="158" y="560"/>
                    </a:lnTo>
                    <a:lnTo>
                      <a:pt x="160" y="560"/>
                    </a:lnTo>
                    <a:lnTo>
                      <a:pt x="162" y="558"/>
                    </a:lnTo>
                    <a:lnTo>
                      <a:pt x="162" y="556"/>
                    </a:lnTo>
                    <a:lnTo>
                      <a:pt x="160" y="550"/>
                    </a:lnTo>
                    <a:lnTo>
                      <a:pt x="156" y="546"/>
                    </a:lnTo>
                    <a:lnTo>
                      <a:pt x="152" y="544"/>
                    </a:lnTo>
                    <a:lnTo>
                      <a:pt x="150" y="542"/>
                    </a:lnTo>
                    <a:lnTo>
                      <a:pt x="150" y="540"/>
                    </a:lnTo>
                    <a:lnTo>
                      <a:pt x="150" y="532"/>
                    </a:lnTo>
                    <a:lnTo>
                      <a:pt x="148" y="526"/>
                    </a:lnTo>
                    <a:lnTo>
                      <a:pt x="146" y="522"/>
                    </a:lnTo>
                    <a:lnTo>
                      <a:pt x="146" y="518"/>
                    </a:lnTo>
                    <a:lnTo>
                      <a:pt x="144" y="518"/>
                    </a:lnTo>
                    <a:lnTo>
                      <a:pt x="142" y="516"/>
                    </a:lnTo>
                    <a:lnTo>
                      <a:pt x="142" y="514"/>
                    </a:lnTo>
                    <a:lnTo>
                      <a:pt x="140" y="512"/>
                    </a:lnTo>
                    <a:lnTo>
                      <a:pt x="138" y="512"/>
                    </a:lnTo>
                    <a:lnTo>
                      <a:pt x="134" y="510"/>
                    </a:lnTo>
                    <a:lnTo>
                      <a:pt x="128" y="508"/>
                    </a:lnTo>
                    <a:lnTo>
                      <a:pt x="126" y="508"/>
                    </a:lnTo>
                    <a:lnTo>
                      <a:pt x="122" y="510"/>
                    </a:lnTo>
                    <a:lnTo>
                      <a:pt x="122" y="510"/>
                    </a:lnTo>
                    <a:lnTo>
                      <a:pt x="122" y="508"/>
                    </a:lnTo>
                    <a:lnTo>
                      <a:pt x="120" y="506"/>
                    </a:lnTo>
                    <a:lnTo>
                      <a:pt x="116" y="500"/>
                    </a:lnTo>
                    <a:lnTo>
                      <a:pt x="114" y="494"/>
                    </a:lnTo>
                    <a:lnTo>
                      <a:pt x="112" y="492"/>
                    </a:lnTo>
                    <a:lnTo>
                      <a:pt x="110" y="492"/>
                    </a:lnTo>
                    <a:lnTo>
                      <a:pt x="108" y="490"/>
                    </a:lnTo>
                    <a:lnTo>
                      <a:pt x="108" y="482"/>
                    </a:lnTo>
                    <a:lnTo>
                      <a:pt x="104" y="484"/>
                    </a:lnTo>
                    <a:lnTo>
                      <a:pt x="102" y="484"/>
                    </a:lnTo>
                    <a:lnTo>
                      <a:pt x="100" y="482"/>
                    </a:lnTo>
                    <a:lnTo>
                      <a:pt x="100" y="478"/>
                    </a:lnTo>
                    <a:lnTo>
                      <a:pt x="98" y="478"/>
                    </a:lnTo>
                    <a:lnTo>
                      <a:pt x="100" y="474"/>
                    </a:lnTo>
                    <a:lnTo>
                      <a:pt x="100" y="470"/>
                    </a:lnTo>
                    <a:lnTo>
                      <a:pt x="102" y="470"/>
                    </a:lnTo>
                    <a:lnTo>
                      <a:pt x="106" y="466"/>
                    </a:lnTo>
                    <a:lnTo>
                      <a:pt x="108" y="464"/>
                    </a:lnTo>
                    <a:lnTo>
                      <a:pt x="110" y="464"/>
                    </a:lnTo>
                    <a:lnTo>
                      <a:pt x="112" y="454"/>
                    </a:lnTo>
                    <a:lnTo>
                      <a:pt x="110" y="446"/>
                    </a:lnTo>
                    <a:lnTo>
                      <a:pt x="114" y="444"/>
                    </a:lnTo>
                    <a:lnTo>
                      <a:pt x="114" y="442"/>
                    </a:lnTo>
                    <a:lnTo>
                      <a:pt x="116" y="440"/>
                    </a:lnTo>
                    <a:lnTo>
                      <a:pt x="114" y="436"/>
                    </a:lnTo>
                    <a:lnTo>
                      <a:pt x="112" y="434"/>
                    </a:lnTo>
                    <a:lnTo>
                      <a:pt x="116" y="426"/>
                    </a:lnTo>
                    <a:lnTo>
                      <a:pt x="116" y="428"/>
                    </a:lnTo>
                    <a:lnTo>
                      <a:pt x="120" y="426"/>
                    </a:lnTo>
                    <a:lnTo>
                      <a:pt x="122" y="428"/>
                    </a:lnTo>
                    <a:lnTo>
                      <a:pt x="126" y="428"/>
                    </a:lnTo>
                    <a:lnTo>
                      <a:pt x="128" y="426"/>
                    </a:lnTo>
                    <a:lnTo>
                      <a:pt x="132" y="422"/>
                    </a:lnTo>
                    <a:lnTo>
                      <a:pt x="136" y="424"/>
                    </a:lnTo>
                    <a:lnTo>
                      <a:pt x="138" y="424"/>
                    </a:lnTo>
                    <a:lnTo>
                      <a:pt x="142" y="424"/>
                    </a:lnTo>
                    <a:lnTo>
                      <a:pt x="144" y="422"/>
                    </a:lnTo>
                    <a:lnTo>
                      <a:pt x="140" y="422"/>
                    </a:lnTo>
                    <a:lnTo>
                      <a:pt x="138" y="418"/>
                    </a:lnTo>
                    <a:lnTo>
                      <a:pt x="134" y="414"/>
                    </a:lnTo>
                    <a:lnTo>
                      <a:pt x="124" y="416"/>
                    </a:lnTo>
                    <a:lnTo>
                      <a:pt x="114" y="406"/>
                    </a:lnTo>
                    <a:lnTo>
                      <a:pt x="116" y="404"/>
                    </a:lnTo>
                    <a:lnTo>
                      <a:pt x="116" y="402"/>
                    </a:lnTo>
                    <a:lnTo>
                      <a:pt x="108" y="406"/>
                    </a:lnTo>
                    <a:lnTo>
                      <a:pt x="106" y="406"/>
                    </a:lnTo>
                    <a:lnTo>
                      <a:pt x="114" y="400"/>
                    </a:lnTo>
                    <a:lnTo>
                      <a:pt x="136" y="384"/>
                    </a:lnTo>
                    <a:lnTo>
                      <a:pt x="152" y="376"/>
                    </a:lnTo>
                    <a:lnTo>
                      <a:pt x="158" y="370"/>
                    </a:lnTo>
                    <a:lnTo>
                      <a:pt x="158" y="366"/>
                    </a:lnTo>
                    <a:lnTo>
                      <a:pt x="156" y="360"/>
                    </a:lnTo>
                    <a:lnTo>
                      <a:pt x="156" y="358"/>
                    </a:lnTo>
                    <a:lnTo>
                      <a:pt x="154" y="358"/>
                    </a:lnTo>
                    <a:lnTo>
                      <a:pt x="148" y="356"/>
                    </a:lnTo>
                    <a:lnTo>
                      <a:pt x="146" y="354"/>
                    </a:lnTo>
                    <a:lnTo>
                      <a:pt x="146" y="352"/>
                    </a:lnTo>
                    <a:lnTo>
                      <a:pt x="146" y="346"/>
                    </a:lnTo>
                    <a:lnTo>
                      <a:pt x="146" y="342"/>
                    </a:lnTo>
                    <a:lnTo>
                      <a:pt x="150" y="338"/>
                    </a:lnTo>
                    <a:lnTo>
                      <a:pt x="150" y="336"/>
                    </a:lnTo>
                    <a:lnTo>
                      <a:pt x="150" y="334"/>
                    </a:lnTo>
                    <a:lnTo>
                      <a:pt x="148" y="328"/>
                    </a:lnTo>
                    <a:lnTo>
                      <a:pt x="146" y="324"/>
                    </a:lnTo>
                    <a:lnTo>
                      <a:pt x="144" y="322"/>
                    </a:lnTo>
                    <a:lnTo>
                      <a:pt x="140" y="320"/>
                    </a:lnTo>
                    <a:lnTo>
                      <a:pt x="140" y="316"/>
                    </a:lnTo>
                    <a:lnTo>
                      <a:pt x="138" y="308"/>
                    </a:lnTo>
                    <a:lnTo>
                      <a:pt x="138" y="304"/>
                    </a:lnTo>
                    <a:lnTo>
                      <a:pt x="138" y="300"/>
                    </a:lnTo>
                    <a:lnTo>
                      <a:pt x="140" y="298"/>
                    </a:lnTo>
                    <a:lnTo>
                      <a:pt x="138" y="296"/>
                    </a:lnTo>
                    <a:lnTo>
                      <a:pt x="138" y="292"/>
                    </a:lnTo>
                    <a:lnTo>
                      <a:pt x="138" y="288"/>
                    </a:lnTo>
                    <a:lnTo>
                      <a:pt x="136" y="284"/>
                    </a:lnTo>
                    <a:lnTo>
                      <a:pt x="130" y="260"/>
                    </a:lnTo>
                    <a:lnTo>
                      <a:pt x="130" y="258"/>
                    </a:lnTo>
                    <a:lnTo>
                      <a:pt x="132" y="254"/>
                    </a:lnTo>
                    <a:lnTo>
                      <a:pt x="138" y="248"/>
                    </a:lnTo>
                    <a:lnTo>
                      <a:pt x="138" y="244"/>
                    </a:lnTo>
                    <a:lnTo>
                      <a:pt x="136" y="240"/>
                    </a:lnTo>
                    <a:lnTo>
                      <a:pt x="134" y="236"/>
                    </a:lnTo>
                    <a:lnTo>
                      <a:pt x="132" y="238"/>
                    </a:lnTo>
                    <a:lnTo>
                      <a:pt x="130" y="236"/>
                    </a:lnTo>
                    <a:lnTo>
                      <a:pt x="128" y="232"/>
                    </a:lnTo>
                    <a:lnTo>
                      <a:pt x="128" y="226"/>
                    </a:lnTo>
                    <a:lnTo>
                      <a:pt x="130" y="218"/>
                    </a:lnTo>
                    <a:lnTo>
                      <a:pt x="134" y="214"/>
                    </a:lnTo>
                    <a:lnTo>
                      <a:pt x="134" y="216"/>
                    </a:lnTo>
                    <a:lnTo>
                      <a:pt x="136" y="218"/>
                    </a:lnTo>
                    <a:lnTo>
                      <a:pt x="138" y="218"/>
                    </a:lnTo>
                    <a:lnTo>
                      <a:pt x="140" y="212"/>
                    </a:lnTo>
                    <a:lnTo>
                      <a:pt x="140" y="208"/>
                    </a:lnTo>
                    <a:lnTo>
                      <a:pt x="140" y="204"/>
                    </a:lnTo>
                    <a:lnTo>
                      <a:pt x="138" y="202"/>
                    </a:lnTo>
                    <a:lnTo>
                      <a:pt x="140" y="202"/>
                    </a:lnTo>
                    <a:lnTo>
                      <a:pt x="142" y="202"/>
                    </a:lnTo>
                    <a:lnTo>
                      <a:pt x="144" y="200"/>
                    </a:lnTo>
                    <a:lnTo>
                      <a:pt x="148" y="198"/>
                    </a:lnTo>
                    <a:lnTo>
                      <a:pt x="152" y="196"/>
                    </a:lnTo>
                    <a:lnTo>
                      <a:pt x="156" y="196"/>
                    </a:lnTo>
                    <a:lnTo>
                      <a:pt x="158" y="198"/>
                    </a:lnTo>
                    <a:lnTo>
                      <a:pt x="160" y="200"/>
                    </a:lnTo>
                    <a:lnTo>
                      <a:pt x="160" y="196"/>
                    </a:lnTo>
                    <a:lnTo>
                      <a:pt x="164" y="196"/>
                    </a:lnTo>
                    <a:lnTo>
                      <a:pt x="164" y="194"/>
                    </a:lnTo>
                    <a:lnTo>
                      <a:pt x="166" y="194"/>
                    </a:lnTo>
                    <a:lnTo>
                      <a:pt x="176" y="200"/>
                    </a:lnTo>
                    <a:lnTo>
                      <a:pt x="168" y="204"/>
                    </a:lnTo>
                    <a:lnTo>
                      <a:pt x="168" y="206"/>
                    </a:lnTo>
                    <a:lnTo>
                      <a:pt x="174" y="208"/>
                    </a:lnTo>
                    <a:lnTo>
                      <a:pt x="178" y="208"/>
                    </a:lnTo>
                    <a:lnTo>
                      <a:pt x="180" y="208"/>
                    </a:lnTo>
                    <a:lnTo>
                      <a:pt x="184" y="208"/>
                    </a:lnTo>
                    <a:lnTo>
                      <a:pt x="184" y="208"/>
                    </a:lnTo>
                    <a:lnTo>
                      <a:pt x="184" y="208"/>
                    </a:lnTo>
                    <a:lnTo>
                      <a:pt x="190" y="208"/>
                    </a:lnTo>
                    <a:lnTo>
                      <a:pt x="198" y="210"/>
                    </a:lnTo>
                    <a:lnTo>
                      <a:pt x="202" y="214"/>
                    </a:lnTo>
                    <a:lnTo>
                      <a:pt x="204" y="214"/>
                    </a:lnTo>
                    <a:lnTo>
                      <a:pt x="208" y="214"/>
                    </a:lnTo>
                    <a:lnTo>
                      <a:pt x="210" y="216"/>
                    </a:lnTo>
                    <a:lnTo>
                      <a:pt x="212" y="218"/>
                    </a:lnTo>
                    <a:lnTo>
                      <a:pt x="214" y="218"/>
                    </a:lnTo>
                    <a:lnTo>
                      <a:pt x="216" y="218"/>
                    </a:lnTo>
                    <a:lnTo>
                      <a:pt x="220" y="220"/>
                    </a:lnTo>
                    <a:lnTo>
                      <a:pt x="226" y="222"/>
                    </a:lnTo>
                    <a:lnTo>
                      <a:pt x="232" y="224"/>
                    </a:lnTo>
                    <a:lnTo>
                      <a:pt x="236" y="228"/>
                    </a:lnTo>
                    <a:lnTo>
                      <a:pt x="242" y="228"/>
                    </a:lnTo>
                    <a:lnTo>
                      <a:pt x="248" y="234"/>
                    </a:lnTo>
                    <a:lnTo>
                      <a:pt x="254" y="242"/>
                    </a:lnTo>
                    <a:lnTo>
                      <a:pt x="258" y="240"/>
                    </a:lnTo>
                    <a:lnTo>
                      <a:pt x="260" y="242"/>
                    </a:lnTo>
                    <a:lnTo>
                      <a:pt x="262" y="246"/>
                    </a:lnTo>
                    <a:lnTo>
                      <a:pt x="268" y="246"/>
                    </a:lnTo>
                    <a:lnTo>
                      <a:pt x="278" y="256"/>
                    </a:lnTo>
                    <a:lnTo>
                      <a:pt x="280" y="262"/>
                    </a:lnTo>
                    <a:lnTo>
                      <a:pt x="280" y="264"/>
                    </a:lnTo>
                    <a:lnTo>
                      <a:pt x="278" y="270"/>
                    </a:lnTo>
                    <a:lnTo>
                      <a:pt x="276" y="272"/>
                    </a:lnTo>
                    <a:lnTo>
                      <a:pt x="274" y="274"/>
                    </a:lnTo>
                    <a:lnTo>
                      <a:pt x="272" y="276"/>
                    </a:lnTo>
                    <a:lnTo>
                      <a:pt x="272" y="278"/>
                    </a:lnTo>
                    <a:lnTo>
                      <a:pt x="270" y="278"/>
                    </a:lnTo>
                    <a:lnTo>
                      <a:pt x="268" y="278"/>
                    </a:lnTo>
                    <a:lnTo>
                      <a:pt x="264" y="284"/>
                    </a:lnTo>
                    <a:lnTo>
                      <a:pt x="258" y="286"/>
                    </a:lnTo>
                    <a:lnTo>
                      <a:pt x="254" y="288"/>
                    </a:lnTo>
                    <a:lnTo>
                      <a:pt x="250" y="288"/>
                    </a:lnTo>
                    <a:lnTo>
                      <a:pt x="248" y="288"/>
                    </a:lnTo>
                    <a:lnTo>
                      <a:pt x="238" y="286"/>
                    </a:lnTo>
                    <a:lnTo>
                      <a:pt x="226" y="286"/>
                    </a:lnTo>
                    <a:lnTo>
                      <a:pt x="220" y="282"/>
                    </a:lnTo>
                    <a:lnTo>
                      <a:pt x="212" y="282"/>
                    </a:lnTo>
                    <a:lnTo>
                      <a:pt x="210" y="280"/>
                    </a:lnTo>
                    <a:lnTo>
                      <a:pt x="206" y="278"/>
                    </a:lnTo>
                    <a:lnTo>
                      <a:pt x="202" y="278"/>
                    </a:lnTo>
                    <a:lnTo>
                      <a:pt x="198" y="270"/>
                    </a:lnTo>
                    <a:lnTo>
                      <a:pt x="196" y="272"/>
                    </a:lnTo>
                    <a:lnTo>
                      <a:pt x="196" y="276"/>
                    </a:lnTo>
                    <a:lnTo>
                      <a:pt x="194" y="276"/>
                    </a:lnTo>
                    <a:lnTo>
                      <a:pt x="194" y="274"/>
                    </a:lnTo>
                    <a:lnTo>
                      <a:pt x="188" y="272"/>
                    </a:lnTo>
                    <a:lnTo>
                      <a:pt x="186" y="268"/>
                    </a:lnTo>
                    <a:lnTo>
                      <a:pt x="184" y="268"/>
                    </a:lnTo>
                    <a:lnTo>
                      <a:pt x="178" y="268"/>
                    </a:lnTo>
                    <a:lnTo>
                      <a:pt x="176" y="264"/>
                    </a:lnTo>
                    <a:lnTo>
                      <a:pt x="174" y="262"/>
                    </a:lnTo>
                    <a:lnTo>
                      <a:pt x="168" y="260"/>
                    </a:lnTo>
                    <a:lnTo>
                      <a:pt x="166" y="262"/>
                    </a:lnTo>
                    <a:lnTo>
                      <a:pt x="168" y="262"/>
                    </a:lnTo>
                    <a:lnTo>
                      <a:pt x="172" y="268"/>
                    </a:lnTo>
                    <a:lnTo>
                      <a:pt x="174" y="270"/>
                    </a:lnTo>
                    <a:lnTo>
                      <a:pt x="172" y="272"/>
                    </a:lnTo>
                    <a:lnTo>
                      <a:pt x="178" y="272"/>
                    </a:lnTo>
                    <a:lnTo>
                      <a:pt x="178" y="274"/>
                    </a:lnTo>
                    <a:lnTo>
                      <a:pt x="176" y="276"/>
                    </a:lnTo>
                    <a:lnTo>
                      <a:pt x="176" y="278"/>
                    </a:lnTo>
                    <a:lnTo>
                      <a:pt x="178" y="280"/>
                    </a:lnTo>
                    <a:lnTo>
                      <a:pt x="178" y="282"/>
                    </a:lnTo>
                    <a:lnTo>
                      <a:pt x="180" y="282"/>
                    </a:lnTo>
                    <a:lnTo>
                      <a:pt x="184" y="280"/>
                    </a:lnTo>
                    <a:lnTo>
                      <a:pt x="184" y="284"/>
                    </a:lnTo>
                    <a:lnTo>
                      <a:pt x="178" y="284"/>
                    </a:lnTo>
                    <a:lnTo>
                      <a:pt x="180" y="286"/>
                    </a:lnTo>
                    <a:lnTo>
                      <a:pt x="190" y="288"/>
                    </a:lnTo>
                    <a:lnTo>
                      <a:pt x="192" y="290"/>
                    </a:lnTo>
                    <a:lnTo>
                      <a:pt x="196" y="290"/>
                    </a:lnTo>
                    <a:lnTo>
                      <a:pt x="200" y="290"/>
                    </a:lnTo>
                    <a:lnTo>
                      <a:pt x="200" y="294"/>
                    </a:lnTo>
                    <a:lnTo>
                      <a:pt x="202" y="296"/>
                    </a:lnTo>
                    <a:lnTo>
                      <a:pt x="206" y="296"/>
                    </a:lnTo>
                    <a:lnTo>
                      <a:pt x="206" y="298"/>
                    </a:lnTo>
                    <a:lnTo>
                      <a:pt x="206" y="300"/>
                    </a:lnTo>
                    <a:lnTo>
                      <a:pt x="204" y="302"/>
                    </a:lnTo>
                    <a:lnTo>
                      <a:pt x="204" y="308"/>
                    </a:lnTo>
                    <a:lnTo>
                      <a:pt x="206" y="312"/>
                    </a:lnTo>
                    <a:lnTo>
                      <a:pt x="208" y="330"/>
                    </a:lnTo>
                    <a:lnTo>
                      <a:pt x="210" y="330"/>
                    </a:lnTo>
                    <a:lnTo>
                      <a:pt x="212" y="332"/>
                    </a:lnTo>
                    <a:lnTo>
                      <a:pt x="214" y="330"/>
                    </a:lnTo>
                    <a:lnTo>
                      <a:pt x="216" y="328"/>
                    </a:lnTo>
                    <a:lnTo>
                      <a:pt x="220" y="332"/>
                    </a:lnTo>
                    <a:lnTo>
                      <a:pt x="220" y="340"/>
                    </a:lnTo>
                    <a:lnTo>
                      <a:pt x="228" y="338"/>
                    </a:lnTo>
                    <a:lnTo>
                      <a:pt x="234" y="340"/>
                    </a:lnTo>
                    <a:lnTo>
                      <a:pt x="238" y="342"/>
                    </a:lnTo>
                    <a:lnTo>
                      <a:pt x="238" y="344"/>
                    </a:lnTo>
                    <a:lnTo>
                      <a:pt x="240" y="344"/>
                    </a:lnTo>
                    <a:lnTo>
                      <a:pt x="242" y="342"/>
                    </a:lnTo>
                    <a:lnTo>
                      <a:pt x="242" y="340"/>
                    </a:lnTo>
                    <a:lnTo>
                      <a:pt x="244" y="340"/>
                    </a:lnTo>
                    <a:lnTo>
                      <a:pt x="244" y="338"/>
                    </a:lnTo>
                    <a:lnTo>
                      <a:pt x="244" y="326"/>
                    </a:lnTo>
                    <a:lnTo>
                      <a:pt x="240" y="324"/>
                    </a:lnTo>
                    <a:lnTo>
                      <a:pt x="236" y="320"/>
                    </a:lnTo>
                    <a:lnTo>
                      <a:pt x="234" y="314"/>
                    </a:lnTo>
                    <a:lnTo>
                      <a:pt x="238" y="314"/>
                    </a:lnTo>
                    <a:lnTo>
                      <a:pt x="238" y="308"/>
                    </a:lnTo>
                    <a:lnTo>
                      <a:pt x="236" y="308"/>
                    </a:lnTo>
                    <a:lnTo>
                      <a:pt x="236" y="306"/>
                    </a:lnTo>
                    <a:lnTo>
                      <a:pt x="238" y="306"/>
                    </a:lnTo>
                    <a:lnTo>
                      <a:pt x="242" y="306"/>
                    </a:lnTo>
                    <a:lnTo>
                      <a:pt x="242" y="308"/>
                    </a:lnTo>
                    <a:lnTo>
                      <a:pt x="244" y="310"/>
                    </a:lnTo>
                    <a:lnTo>
                      <a:pt x="252" y="314"/>
                    </a:lnTo>
                    <a:lnTo>
                      <a:pt x="252" y="316"/>
                    </a:lnTo>
                    <a:lnTo>
                      <a:pt x="256" y="318"/>
                    </a:lnTo>
                    <a:lnTo>
                      <a:pt x="260" y="318"/>
                    </a:lnTo>
                    <a:lnTo>
                      <a:pt x="264" y="320"/>
                    </a:lnTo>
                    <a:lnTo>
                      <a:pt x="276" y="320"/>
                    </a:lnTo>
                    <a:lnTo>
                      <a:pt x="274" y="318"/>
                    </a:lnTo>
                    <a:lnTo>
                      <a:pt x="272" y="312"/>
                    </a:lnTo>
                    <a:lnTo>
                      <a:pt x="268" y="308"/>
                    </a:lnTo>
                    <a:lnTo>
                      <a:pt x="266" y="306"/>
                    </a:lnTo>
                    <a:lnTo>
                      <a:pt x="264" y="304"/>
                    </a:lnTo>
                    <a:lnTo>
                      <a:pt x="264" y="300"/>
                    </a:lnTo>
                    <a:lnTo>
                      <a:pt x="270" y="296"/>
                    </a:lnTo>
                    <a:lnTo>
                      <a:pt x="276" y="292"/>
                    </a:lnTo>
                    <a:lnTo>
                      <a:pt x="278" y="286"/>
                    </a:lnTo>
                    <a:lnTo>
                      <a:pt x="280" y="286"/>
                    </a:lnTo>
                    <a:lnTo>
                      <a:pt x="284" y="286"/>
                    </a:lnTo>
                    <a:lnTo>
                      <a:pt x="288" y="282"/>
                    </a:lnTo>
                    <a:lnTo>
                      <a:pt x="290" y="280"/>
                    </a:lnTo>
                    <a:lnTo>
                      <a:pt x="294" y="280"/>
                    </a:lnTo>
                    <a:lnTo>
                      <a:pt x="298" y="284"/>
                    </a:lnTo>
                    <a:lnTo>
                      <a:pt x="302" y="284"/>
                    </a:lnTo>
                    <a:lnTo>
                      <a:pt x="304" y="290"/>
                    </a:lnTo>
                    <a:lnTo>
                      <a:pt x="304" y="292"/>
                    </a:lnTo>
                    <a:lnTo>
                      <a:pt x="310" y="292"/>
                    </a:lnTo>
                    <a:lnTo>
                      <a:pt x="310" y="284"/>
                    </a:lnTo>
                    <a:lnTo>
                      <a:pt x="314" y="276"/>
                    </a:lnTo>
                    <a:lnTo>
                      <a:pt x="318" y="272"/>
                    </a:lnTo>
                    <a:lnTo>
                      <a:pt x="318" y="270"/>
                    </a:lnTo>
                    <a:lnTo>
                      <a:pt x="318" y="266"/>
                    </a:lnTo>
                    <a:lnTo>
                      <a:pt x="314" y="264"/>
                    </a:lnTo>
                    <a:lnTo>
                      <a:pt x="312" y="262"/>
                    </a:lnTo>
                    <a:lnTo>
                      <a:pt x="312" y="258"/>
                    </a:lnTo>
                    <a:lnTo>
                      <a:pt x="314" y="256"/>
                    </a:lnTo>
                    <a:lnTo>
                      <a:pt x="316" y="252"/>
                    </a:lnTo>
                    <a:lnTo>
                      <a:pt x="318" y="252"/>
                    </a:lnTo>
                    <a:lnTo>
                      <a:pt x="318" y="248"/>
                    </a:lnTo>
                    <a:lnTo>
                      <a:pt x="320" y="248"/>
                    </a:lnTo>
                    <a:lnTo>
                      <a:pt x="322" y="242"/>
                    </a:lnTo>
                    <a:lnTo>
                      <a:pt x="322" y="238"/>
                    </a:lnTo>
                    <a:lnTo>
                      <a:pt x="318" y="234"/>
                    </a:lnTo>
                    <a:lnTo>
                      <a:pt x="312" y="228"/>
                    </a:lnTo>
                    <a:lnTo>
                      <a:pt x="312" y="224"/>
                    </a:lnTo>
                    <a:lnTo>
                      <a:pt x="318" y="228"/>
                    </a:lnTo>
                    <a:lnTo>
                      <a:pt x="326" y="230"/>
                    </a:lnTo>
                    <a:lnTo>
                      <a:pt x="328" y="232"/>
                    </a:lnTo>
                    <a:lnTo>
                      <a:pt x="334" y="232"/>
                    </a:lnTo>
                    <a:lnTo>
                      <a:pt x="340" y="234"/>
                    </a:lnTo>
                    <a:lnTo>
                      <a:pt x="344" y="236"/>
                    </a:lnTo>
                    <a:lnTo>
                      <a:pt x="346" y="240"/>
                    </a:lnTo>
                    <a:lnTo>
                      <a:pt x="350" y="246"/>
                    </a:lnTo>
                    <a:lnTo>
                      <a:pt x="352" y="248"/>
                    </a:lnTo>
                    <a:lnTo>
                      <a:pt x="352" y="252"/>
                    </a:lnTo>
                    <a:lnTo>
                      <a:pt x="356" y="254"/>
                    </a:lnTo>
                    <a:lnTo>
                      <a:pt x="354" y="258"/>
                    </a:lnTo>
                    <a:lnTo>
                      <a:pt x="340" y="258"/>
                    </a:lnTo>
                    <a:lnTo>
                      <a:pt x="338" y="264"/>
                    </a:lnTo>
                    <a:lnTo>
                      <a:pt x="336" y="264"/>
                    </a:lnTo>
                    <a:lnTo>
                      <a:pt x="336" y="268"/>
                    </a:lnTo>
                    <a:lnTo>
                      <a:pt x="338" y="272"/>
                    </a:lnTo>
                    <a:lnTo>
                      <a:pt x="340" y="282"/>
                    </a:lnTo>
                    <a:lnTo>
                      <a:pt x="346" y="282"/>
                    </a:lnTo>
                    <a:lnTo>
                      <a:pt x="352" y="280"/>
                    </a:lnTo>
                    <a:lnTo>
                      <a:pt x="360" y="278"/>
                    </a:lnTo>
                    <a:lnTo>
                      <a:pt x="360" y="276"/>
                    </a:lnTo>
                    <a:lnTo>
                      <a:pt x="366" y="276"/>
                    </a:lnTo>
                    <a:lnTo>
                      <a:pt x="366" y="264"/>
                    </a:lnTo>
                    <a:lnTo>
                      <a:pt x="366" y="256"/>
                    </a:lnTo>
                    <a:lnTo>
                      <a:pt x="368" y="258"/>
                    </a:lnTo>
                    <a:lnTo>
                      <a:pt x="370" y="258"/>
                    </a:lnTo>
                    <a:lnTo>
                      <a:pt x="376" y="254"/>
                    </a:lnTo>
                    <a:lnTo>
                      <a:pt x="376" y="250"/>
                    </a:lnTo>
                    <a:lnTo>
                      <a:pt x="386" y="250"/>
                    </a:lnTo>
                    <a:lnTo>
                      <a:pt x="394" y="248"/>
                    </a:lnTo>
                    <a:lnTo>
                      <a:pt x="396" y="244"/>
                    </a:lnTo>
                    <a:lnTo>
                      <a:pt x="402" y="244"/>
                    </a:lnTo>
                    <a:lnTo>
                      <a:pt x="406" y="240"/>
                    </a:lnTo>
                    <a:lnTo>
                      <a:pt x="412" y="240"/>
                    </a:lnTo>
                    <a:lnTo>
                      <a:pt x="414" y="236"/>
                    </a:lnTo>
                    <a:lnTo>
                      <a:pt x="420" y="236"/>
                    </a:lnTo>
                    <a:lnTo>
                      <a:pt x="424" y="236"/>
                    </a:lnTo>
                    <a:lnTo>
                      <a:pt x="424" y="238"/>
                    </a:lnTo>
                    <a:lnTo>
                      <a:pt x="424" y="240"/>
                    </a:lnTo>
                    <a:lnTo>
                      <a:pt x="424" y="238"/>
                    </a:lnTo>
                    <a:lnTo>
                      <a:pt x="424" y="236"/>
                    </a:lnTo>
                    <a:lnTo>
                      <a:pt x="424" y="234"/>
                    </a:lnTo>
                    <a:lnTo>
                      <a:pt x="424" y="232"/>
                    </a:lnTo>
                    <a:lnTo>
                      <a:pt x="432" y="228"/>
                    </a:lnTo>
                    <a:lnTo>
                      <a:pt x="434" y="226"/>
                    </a:lnTo>
                    <a:lnTo>
                      <a:pt x="436" y="224"/>
                    </a:lnTo>
                    <a:lnTo>
                      <a:pt x="438" y="224"/>
                    </a:lnTo>
                    <a:lnTo>
                      <a:pt x="438" y="226"/>
                    </a:lnTo>
                    <a:lnTo>
                      <a:pt x="438" y="228"/>
                    </a:lnTo>
                    <a:lnTo>
                      <a:pt x="436" y="230"/>
                    </a:lnTo>
                    <a:lnTo>
                      <a:pt x="438" y="230"/>
                    </a:lnTo>
                    <a:lnTo>
                      <a:pt x="442" y="230"/>
                    </a:lnTo>
                    <a:lnTo>
                      <a:pt x="442" y="234"/>
                    </a:lnTo>
                    <a:lnTo>
                      <a:pt x="446" y="236"/>
                    </a:lnTo>
                    <a:lnTo>
                      <a:pt x="446" y="240"/>
                    </a:lnTo>
                    <a:lnTo>
                      <a:pt x="438" y="240"/>
                    </a:lnTo>
                    <a:lnTo>
                      <a:pt x="436" y="242"/>
                    </a:lnTo>
                    <a:lnTo>
                      <a:pt x="436" y="244"/>
                    </a:lnTo>
                    <a:lnTo>
                      <a:pt x="448" y="244"/>
                    </a:lnTo>
                    <a:lnTo>
                      <a:pt x="454" y="240"/>
                    </a:lnTo>
                    <a:lnTo>
                      <a:pt x="456" y="240"/>
                    </a:lnTo>
                    <a:lnTo>
                      <a:pt x="456" y="242"/>
                    </a:lnTo>
                    <a:lnTo>
                      <a:pt x="460" y="244"/>
                    </a:lnTo>
                    <a:lnTo>
                      <a:pt x="462" y="242"/>
                    </a:lnTo>
                    <a:lnTo>
                      <a:pt x="460" y="238"/>
                    </a:lnTo>
                    <a:lnTo>
                      <a:pt x="468" y="234"/>
                    </a:lnTo>
                    <a:lnTo>
                      <a:pt x="476" y="232"/>
                    </a:lnTo>
                    <a:lnTo>
                      <a:pt x="480" y="232"/>
                    </a:lnTo>
                    <a:lnTo>
                      <a:pt x="484" y="232"/>
                    </a:lnTo>
                    <a:lnTo>
                      <a:pt x="490" y="238"/>
                    </a:lnTo>
                    <a:lnTo>
                      <a:pt x="494" y="238"/>
                    </a:lnTo>
                    <a:lnTo>
                      <a:pt x="496" y="234"/>
                    </a:lnTo>
                    <a:lnTo>
                      <a:pt x="494" y="232"/>
                    </a:lnTo>
                    <a:lnTo>
                      <a:pt x="494" y="230"/>
                    </a:lnTo>
                    <a:lnTo>
                      <a:pt x="496" y="230"/>
                    </a:lnTo>
                    <a:lnTo>
                      <a:pt x="496" y="232"/>
                    </a:lnTo>
                    <a:lnTo>
                      <a:pt x="498" y="232"/>
                    </a:lnTo>
                    <a:lnTo>
                      <a:pt x="502" y="230"/>
                    </a:lnTo>
                    <a:lnTo>
                      <a:pt x="508" y="226"/>
                    </a:lnTo>
                    <a:lnTo>
                      <a:pt x="514" y="226"/>
                    </a:lnTo>
                    <a:lnTo>
                      <a:pt x="512" y="240"/>
                    </a:lnTo>
                    <a:lnTo>
                      <a:pt x="520" y="246"/>
                    </a:lnTo>
                    <a:lnTo>
                      <a:pt x="522" y="236"/>
                    </a:lnTo>
                    <a:lnTo>
                      <a:pt x="526" y="234"/>
                    </a:lnTo>
                    <a:lnTo>
                      <a:pt x="528" y="236"/>
                    </a:lnTo>
                    <a:lnTo>
                      <a:pt x="530" y="236"/>
                    </a:lnTo>
                    <a:lnTo>
                      <a:pt x="534" y="236"/>
                    </a:lnTo>
                    <a:lnTo>
                      <a:pt x="536" y="234"/>
                    </a:lnTo>
                    <a:lnTo>
                      <a:pt x="536" y="224"/>
                    </a:lnTo>
                    <a:lnTo>
                      <a:pt x="536" y="218"/>
                    </a:lnTo>
                    <a:lnTo>
                      <a:pt x="534" y="214"/>
                    </a:lnTo>
                    <a:lnTo>
                      <a:pt x="532" y="212"/>
                    </a:lnTo>
                    <a:lnTo>
                      <a:pt x="532" y="210"/>
                    </a:lnTo>
                    <a:lnTo>
                      <a:pt x="538" y="208"/>
                    </a:lnTo>
                    <a:lnTo>
                      <a:pt x="540" y="206"/>
                    </a:lnTo>
                    <a:lnTo>
                      <a:pt x="546" y="206"/>
                    </a:lnTo>
                    <a:lnTo>
                      <a:pt x="548" y="208"/>
                    </a:lnTo>
                    <a:lnTo>
                      <a:pt x="554" y="208"/>
                    </a:lnTo>
                    <a:lnTo>
                      <a:pt x="558" y="206"/>
                    </a:lnTo>
                    <a:lnTo>
                      <a:pt x="558" y="204"/>
                    </a:lnTo>
                    <a:lnTo>
                      <a:pt x="560" y="204"/>
                    </a:lnTo>
                    <a:lnTo>
                      <a:pt x="564" y="204"/>
                    </a:lnTo>
                    <a:lnTo>
                      <a:pt x="566" y="204"/>
                    </a:lnTo>
                    <a:lnTo>
                      <a:pt x="568" y="208"/>
                    </a:lnTo>
                    <a:lnTo>
                      <a:pt x="570" y="208"/>
                    </a:lnTo>
                    <a:lnTo>
                      <a:pt x="572" y="208"/>
                    </a:lnTo>
                    <a:lnTo>
                      <a:pt x="572" y="208"/>
                    </a:lnTo>
                    <a:lnTo>
                      <a:pt x="574" y="210"/>
                    </a:lnTo>
                    <a:lnTo>
                      <a:pt x="582" y="210"/>
                    </a:lnTo>
                    <a:lnTo>
                      <a:pt x="588" y="212"/>
                    </a:lnTo>
                    <a:lnTo>
                      <a:pt x="586" y="224"/>
                    </a:lnTo>
                    <a:lnTo>
                      <a:pt x="588" y="224"/>
                    </a:lnTo>
                    <a:lnTo>
                      <a:pt x="592" y="216"/>
                    </a:lnTo>
                    <a:lnTo>
                      <a:pt x="604" y="220"/>
                    </a:lnTo>
                    <a:lnTo>
                      <a:pt x="602" y="222"/>
                    </a:lnTo>
                    <a:lnTo>
                      <a:pt x="602" y="224"/>
                    </a:lnTo>
                    <a:lnTo>
                      <a:pt x="608" y="226"/>
                    </a:lnTo>
                    <a:lnTo>
                      <a:pt x="612" y="228"/>
                    </a:lnTo>
                    <a:lnTo>
                      <a:pt x="618" y="236"/>
                    </a:lnTo>
                    <a:lnTo>
                      <a:pt x="620" y="240"/>
                    </a:lnTo>
                    <a:lnTo>
                      <a:pt x="622" y="240"/>
                    </a:lnTo>
                    <a:lnTo>
                      <a:pt x="624" y="240"/>
                    </a:lnTo>
                    <a:lnTo>
                      <a:pt x="626" y="246"/>
                    </a:lnTo>
                    <a:lnTo>
                      <a:pt x="628" y="246"/>
                    </a:lnTo>
                    <a:lnTo>
                      <a:pt x="632" y="244"/>
                    </a:lnTo>
                    <a:lnTo>
                      <a:pt x="634" y="236"/>
                    </a:lnTo>
                    <a:lnTo>
                      <a:pt x="636" y="228"/>
                    </a:lnTo>
                    <a:lnTo>
                      <a:pt x="634" y="228"/>
                    </a:lnTo>
                    <a:lnTo>
                      <a:pt x="632" y="230"/>
                    </a:lnTo>
                    <a:lnTo>
                      <a:pt x="628" y="222"/>
                    </a:lnTo>
                    <a:lnTo>
                      <a:pt x="628" y="220"/>
                    </a:lnTo>
                    <a:lnTo>
                      <a:pt x="628" y="218"/>
                    </a:lnTo>
                    <a:lnTo>
                      <a:pt x="628" y="216"/>
                    </a:lnTo>
                    <a:lnTo>
                      <a:pt x="632" y="214"/>
                    </a:lnTo>
                    <a:lnTo>
                      <a:pt x="632" y="210"/>
                    </a:lnTo>
                    <a:lnTo>
                      <a:pt x="628" y="210"/>
                    </a:lnTo>
                    <a:lnTo>
                      <a:pt x="626" y="212"/>
                    </a:lnTo>
                    <a:lnTo>
                      <a:pt x="622" y="208"/>
                    </a:lnTo>
                    <a:lnTo>
                      <a:pt x="618" y="208"/>
                    </a:lnTo>
                    <a:lnTo>
                      <a:pt x="616" y="208"/>
                    </a:lnTo>
                    <a:lnTo>
                      <a:pt x="614" y="208"/>
                    </a:lnTo>
                    <a:lnTo>
                      <a:pt x="616" y="200"/>
                    </a:lnTo>
                    <a:lnTo>
                      <a:pt x="618" y="198"/>
                    </a:lnTo>
                    <a:lnTo>
                      <a:pt x="622" y="194"/>
                    </a:lnTo>
                    <a:lnTo>
                      <a:pt x="622" y="190"/>
                    </a:lnTo>
                    <a:lnTo>
                      <a:pt x="620" y="184"/>
                    </a:lnTo>
                    <a:lnTo>
                      <a:pt x="616" y="176"/>
                    </a:lnTo>
                    <a:lnTo>
                      <a:pt x="616" y="170"/>
                    </a:lnTo>
                    <a:lnTo>
                      <a:pt x="616" y="166"/>
                    </a:lnTo>
                    <a:lnTo>
                      <a:pt x="626" y="160"/>
                    </a:lnTo>
                    <a:lnTo>
                      <a:pt x="628" y="158"/>
                    </a:lnTo>
                    <a:lnTo>
                      <a:pt x="630" y="152"/>
                    </a:lnTo>
                    <a:lnTo>
                      <a:pt x="636" y="148"/>
                    </a:lnTo>
                    <a:lnTo>
                      <a:pt x="642" y="142"/>
                    </a:lnTo>
                    <a:lnTo>
                      <a:pt x="644" y="134"/>
                    </a:lnTo>
                    <a:lnTo>
                      <a:pt x="648" y="128"/>
                    </a:lnTo>
                    <a:lnTo>
                      <a:pt x="652" y="126"/>
                    </a:lnTo>
                    <a:lnTo>
                      <a:pt x="654" y="124"/>
                    </a:lnTo>
                    <a:lnTo>
                      <a:pt x="656" y="120"/>
                    </a:lnTo>
                    <a:lnTo>
                      <a:pt x="658" y="122"/>
                    </a:lnTo>
                    <a:lnTo>
                      <a:pt x="674" y="122"/>
                    </a:lnTo>
                    <a:lnTo>
                      <a:pt x="678" y="120"/>
                    </a:lnTo>
                    <a:lnTo>
                      <a:pt x="684" y="124"/>
                    </a:lnTo>
                    <a:lnTo>
                      <a:pt x="688" y="124"/>
                    </a:lnTo>
                    <a:lnTo>
                      <a:pt x="688" y="130"/>
                    </a:lnTo>
                    <a:lnTo>
                      <a:pt x="692" y="134"/>
                    </a:lnTo>
                    <a:lnTo>
                      <a:pt x="692" y="136"/>
                    </a:lnTo>
                    <a:lnTo>
                      <a:pt x="690" y="136"/>
                    </a:lnTo>
                    <a:lnTo>
                      <a:pt x="690" y="140"/>
                    </a:lnTo>
                    <a:lnTo>
                      <a:pt x="692" y="142"/>
                    </a:lnTo>
                    <a:lnTo>
                      <a:pt x="688" y="146"/>
                    </a:lnTo>
                    <a:lnTo>
                      <a:pt x="688" y="152"/>
                    </a:lnTo>
                    <a:lnTo>
                      <a:pt x="688" y="156"/>
                    </a:lnTo>
                    <a:lnTo>
                      <a:pt x="686" y="160"/>
                    </a:lnTo>
                    <a:lnTo>
                      <a:pt x="682" y="166"/>
                    </a:lnTo>
                    <a:lnTo>
                      <a:pt x="680" y="168"/>
                    </a:lnTo>
                    <a:lnTo>
                      <a:pt x="680" y="174"/>
                    </a:lnTo>
                    <a:lnTo>
                      <a:pt x="680" y="176"/>
                    </a:lnTo>
                    <a:lnTo>
                      <a:pt x="682" y="180"/>
                    </a:lnTo>
                    <a:lnTo>
                      <a:pt x="690" y="182"/>
                    </a:lnTo>
                    <a:lnTo>
                      <a:pt x="688" y="190"/>
                    </a:lnTo>
                    <a:lnTo>
                      <a:pt x="692" y="192"/>
                    </a:lnTo>
                    <a:lnTo>
                      <a:pt x="692" y="200"/>
                    </a:lnTo>
                    <a:lnTo>
                      <a:pt x="686" y="208"/>
                    </a:lnTo>
                    <a:lnTo>
                      <a:pt x="686" y="208"/>
                    </a:lnTo>
                    <a:lnTo>
                      <a:pt x="688" y="210"/>
                    </a:lnTo>
                    <a:lnTo>
                      <a:pt x="686" y="214"/>
                    </a:lnTo>
                    <a:lnTo>
                      <a:pt x="686" y="218"/>
                    </a:lnTo>
                    <a:lnTo>
                      <a:pt x="690" y="220"/>
                    </a:lnTo>
                    <a:lnTo>
                      <a:pt x="694" y="228"/>
                    </a:lnTo>
                    <a:lnTo>
                      <a:pt x="700" y="234"/>
                    </a:lnTo>
                    <a:lnTo>
                      <a:pt x="696" y="246"/>
                    </a:lnTo>
                    <a:lnTo>
                      <a:pt x="696" y="252"/>
                    </a:lnTo>
                    <a:lnTo>
                      <a:pt x="700" y="258"/>
                    </a:lnTo>
                    <a:lnTo>
                      <a:pt x="694" y="260"/>
                    </a:lnTo>
                    <a:lnTo>
                      <a:pt x="694" y="264"/>
                    </a:lnTo>
                    <a:lnTo>
                      <a:pt x="690" y="266"/>
                    </a:lnTo>
                    <a:lnTo>
                      <a:pt x="690" y="270"/>
                    </a:lnTo>
                    <a:lnTo>
                      <a:pt x="686" y="274"/>
                    </a:lnTo>
                    <a:lnTo>
                      <a:pt x="678" y="270"/>
                    </a:lnTo>
                    <a:lnTo>
                      <a:pt x="674" y="276"/>
                    </a:lnTo>
                    <a:lnTo>
                      <a:pt x="672" y="278"/>
                    </a:lnTo>
                    <a:lnTo>
                      <a:pt x="664" y="278"/>
                    </a:lnTo>
                    <a:lnTo>
                      <a:pt x="650" y="278"/>
                    </a:lnTo>
                    <a:lnTo>
                      <a:pt x="650" y="282"/>
                    </a:lnTo>
                    <a:lnTo>
                      <a:pt x="658" y="286"/>
                    </a:lnTo>
                    <a:lnTo>
                      <a:pt x="662" y="290"/>
                    </a:lnTo>
                    <a:lnTo>
                      <a:pt x="668" y="290"/>
                    </a:lnTo>
                    <a:lnTo>
                      <a:pt x="670" y="288"/>
                    </a:lnTo>
                    <a:lnTo>
                      <a:pt x="674" y="288"/>
                    </a:lnTo>
                    <a:lnTo>
                      <a:pt x="680" y="288"/>
                    </a:lnTo>
                    <a:lnTo>
                      <a:pt x="680" y="292"/>
                    </a:lnTo>
                    <a:lnTo>
                      <a:pt x="684" y="294"/>
                    </a:lnTo>
                    <a:lnTo>
                      <a:pt x="686" y="302"/>
                    </a:lnTo>
                    <a:lnTo>
                      <a:pt x="688" y="302"/>
                    </a:lnTo>
                    <a:lnTo>
                      <a:pt x="692" y="302"/>
                    </a:lnTo>
                    <a:lnTo>
                      <a:pt x="694" y="304"/>
                    </a:lnTo>
                    <a:lnTo>
                      <a:pt x="690" y="286"/>
                    </a:lnTo>
                    <a:lnTo>
                      <a:pt x="682" y="284"/>
                    </a:lnTo>
                    <a:lnTo>
                      <a:pt x="684" y="280"/>
                    </a:lnTo>
                    <a:lnTo>
                      <a:pt x="694" y="278"/>
                    </a:lnTo>
                    <a:lnTo>
                      <a:pt x="700" y="276"/>
                    </a:lnTo>
                    <a:lnTo>
                      <a:pt x="704" y="276"/>
                    </a:lnTo>
                    <a:lnTo>
                      <a:pt x="712" y="264"/>
                    </a:lnTo>
                    <a:lnTo>
                      <a:pt x="712" y="262"/>
                    </a:lnTo>
                    <a:lnTo>
                      <a:pt x="712" y="260"/>
                    </a:lnTo>
                    <a:lnTo>
                      <a:pt x="714" y="254"/>
                    </a:lnTo>
                    <a:lnTo>
                      <a:pt x="716" y="250"/>
                    </a:lnTo>
                    <a:lnTo>
                      <a:pt x="716" y="244"/>
                    </a:lnTo>
                    <a:lnTo>
                      <a:pt x="712" y="240"/>
                    </a:lnTo>
                    <a:lnTo>
                      <a:pt x="714" y="236"/>
                    </a:lnTo>
                    <a:lnTo>
                      <a:pt x="716" y="232"/>
                    </a:lnTo>
                    <a:lnTo>
                      <a:pt x="716" y="228"/>
                    </a:lnTo>
                    <a:lnTo>
                      <a:pt x="720" y="228"/>
                    </a:lnTo>
                    <a:lnTo>
                      <a:pt x="724" y="226"/>
                    </a:lnTo>
                    <a:lnTo>
                      <a:pt x="734" y="224"/>
                    </a:lnTo>
                    <a:lnTo>
                      <a:pt x="736" y="220"/>
                    </a:lnTo>
                    <a:lnTo>
                      <a:pt x="742" y="220"/>
                    </a:lnTo>
                    <a:lnTo>
                      <a:pt x="746" y="232"/>
                    </a:lnTo>
                    <a:lnTo>
                      <a:pt x="748" y="236"/>
                    </a:lnTo>
                    <a:lnTo>
                      <a:pt x="750" y="242"/>
                    </a:lnTo>
                    <a:lnTo>
                      <a:pt x="750" y="248"/>
                    </a:lnTo>
                    <a:lnTo>
                      <a:pt x="746" y="262"/>
                    </a:lnTo>
                    <a:lnTo>
                      <a:pt x="752" y="266"/>
                    </a:lnTo>
                    <a:lnTo>
                      <a:pt x="758" y="270"/>
                    </a:lnTo>
                    <a:lnTo>
                      <a:pt x="760" y="268"/>
                    </a:lnTo>
                    <a:lnTo>
                      <a:pt x="758" y="268"/>
                    </a:lnTo>
                    <a:lnTo>
                      <a:pt x="758" y="264"/>
                    </a:lnTo>
                    <a:lnTo>
                      <a:pt x="764" y="262"/>
                    </a:lnTo>
                    <a:lnTo>
                      <a:pt x="766" y="264"/>
                    </a:lnTo>
                    <a:lnTo>
                      <a:pt x="774" y="266"/>
                    </a:lnTo>
                    <a:lnTo>
                      <a:pt x="782" y="266"/>
                    </a:lnTo>
                    <a:lnTo>
                      <a:pt x="780" y="264"/>
                    </a:lnTo>
                    <a:lnTo>
                      <a:pt x="772" y="262"/>
                    </a:lnTo>
                    <a:lnTo>
                      <a:pt x="764" y="260"/>
                    </a:lnTo>
                    <a:lnTo>
                      <a:pt x="760" y="256"/>
                    </a:lnTo>
                    <a:lnTo>
                      <a:pt x="756" y="256"/>
                    </a:lnTo>
                    <a:lnTo>
                      <a:pt x="756" y="250"/>
                    </a:lnTo>
                    <a:lnTo>
                      <a:pt x="756" y="248"/>
                    </a:lnTo>
                    <a:lnTo>
                      <a:pt x="764" y="244"/>
                    </a:lnTo>
                    <a:lnTo>
                      <a:pt x="762" y="240"/>
                    </a:lnTo>
                    <a:lnTo>
                      <a:pt x="760" y="236"/>
                    </a:lnTo>
                    <a:lnTo>
                      <a:pt x="760" y="234"/>
                    </a:lnTo>
                    <a:lnTo>
                      <a:pt x="756" y="232"/>
                    </a:lnTo>
                    <a:lnTo>
                      <a:pt x="754" y="226"/>
                    </a:lnTo>
                    <a:lnTo>
                      <a:pt x="752" y="220"/>
                    </a:lnTo>
                    <a:lnTo>
                      <a:pt x="742" y="216"/>
                    </a:lnTo>
                    <a:lnTo>
                      <a:pt x="730" y="214"/>
                    </a:lnTo>
                    <a:lnTo>
                      <a:pt x="726" y="216"/>
                    </a:lnTo>
                    <a:lnTo>
                      <a:pt x="722" y="218"/>
                    </a:lnTo>
                    <a:lnTo>
                      <a:pt x="714" y="218"/>
                    </a:lnTo>
                    <a:lnTo>
                      <a:pt x="712" y="218"/>
                    </a:lnTo>
                    <a:lnTo>
                      <a:pt x="712" y="220"/>
                    </a:lnTo>
                    <a:lnTo>
                      <a:pt x="710" y="220"/>
                    </a:lnTo>
                    <a:lnTo>
                      <a:pt x="708" y="220"/>
                    </a:lnTo>
                    <a:lnTo>
                      <a:pt x="708" y="212"/>
                    </a:lnTo>
                    <a:lnTo>
                      <a:pt x="706" y="210"/>
                    </a:lnTo>
                    <a:lnTo>
                      <a:pt x="704" y="204"/>
                    </a:lnTo>
                    <a:lnTo>
                      <a:pt x="706" y="200"/>
                    </a:lnTo>
                    <a:lnTo>
                      <a:pt x="708" y="196"/>
                    </a:lnTo>
                    <a:lnTo>
                      <a:pt x="708" y="190"/>
                    </a:lnTo>
                    <a:lnTo>
                      <a:pt x="704" y="184"/>
                    </a:lnTo>
                    <a:lnTo>
                      <a:pt x="700" y="180"/>
                    </a:lnTo>
                    <a:lnTo>
                      <a:pt x="700" y="176"/>
                    </a:lnTo>
                    <a:lnTo>
                      <a:pt x="702" y="174"/>
                    </a:lnTo>
                    <a:lnTo>
                      <a:pt x="704" y="170"/>
                    </a:lnTo>
                    <a:lnTo>
                      <a:pt x="704" y="168"/>
                    </a:lnTo>
                    <a:lnTo>
                      <a:pt x="704" y="164"/>
                    </a:lnTo>
                    <a:lnTo>
                      <a:pt x="706" y="162"/>
                    </a:lnTo>
                    <a:lnTo>
                      <a:pt x="708" y="162"/>
                    </a:lnTo>
                    <a:lnTo>
                      <a:pt x="712" y="158"/>
                    </a:lnTo>
                    <a:lnTo>
                      <a:pt x="714" y="152"/>
                    </a:lnTo>
                    <a:lnTo>
                      <a:pt x="716" y="146"/>
                    </a:lnTo>
                    <a:lnTo>
                      <a:pt x="716" y="140"/>
                    </a:lnTo>
                    <a:lnTo>
                      <a:pt x="712" y="128"/>
                    </a:lnTo>
                    <a:lnTo>
                      <a:pt x="716" y="126"/>
                    </a:lnTo>
                    <a:lnTo>
                      <a:pt x="720" y="134"/>
                    </a:lnTo>
                    <a:lnTo>
                      <a:pt x="720" y="136"/>
                    </a:lnTo>
                    <a:lnTo>
                      <a:pt x="718" y="138"/>
                    </a:lnTo>
                    <a:lnTo>
                      <a:pt x="718" y="140"/>
                    </a:lnTo>
                    <a:lnTo>
                      <a:pt x="720" y="142"/>
                    </a:lnTo>
                    <a:lnTo>
                      <a:pt x="722" y="146"/>
                    </a:lnTo>
                    <a:lnTo>
                      <a:pt x="720" y="150"/>
                    </a:lnTo>
                    <a:lnTo>
                      <a:pt x="718" y="152"/>
                    </a:lnTo>
                    <a:lnTo>
                      <a:pt x="718" y="154"/>
                    </a:lnTo>
                    <a:lnTo>
                      <a:pt x="720" y="154"/>
                    </a:lnTo>
                    <a:lnTo>
                      <a:pt x="720" y="160"/>
                    </a:lnTo>
                    <a:lnTo>
                      <a:pt x="724" y="166"/>
                    </a:lnTo>
                    <a:lnTo>
                      <a:pt x="726" y="170"/>
                    </a:lnTo>
                    <a:lnTo>
                      <a:pt x="722" y="174"/>
                    </a:lnTo>
                    <a:lnTo>
                      <a:pt x="726" y="178"/>
                    </a:lnTo>
                    <a:lnTo>
                      <a:pt x="730" y="180"/>
                    </a:lnTo>
                    <a:lnTo>
                      <a:pt x="732" y="180"/>
                    </a:lnTo>
                    <a:lnTo>
                      <a:pt x="734" y="178"/>
                    </a:lnTo>
                    <a:lnTo>
                      <a:pt x="736" y="176"/>
                    </a:lnTo>
                    <a:lnTo>
                      <a:pt x="740" y="176"/>
                    </a:lnTo>
                    <a:lnTo>
                      <a:pt x="742" y="178"/>
                    </a:lnTo>
                    <a:lnTo>
                      <a:pt x="754" y="176"/>
                    </a:lnTo>
                    <a:lnTo>
                      <a:pt x="756" y="178"/>
                    </a:lnTo>
                    <a:lnTo>
                      <a:pt x="758" y="176"/>
                    </a:lnTo>
                    <a:lnTo>
                      <a:pt x="756" y="172"/>
                    </a:lnTo>
                    <a:lnTo>
                      <a:pt x="752" y="172"/>
                    </a:lnTo>
                    <a:lnTo>
                      <a:pt x="750" y="168"/>
                    </a:lnTo>
                    <a:lnTo>
                      <a:pt x="744" y="168"/>
                    </a:lnTo>
                    <a:lnTo>
                      <a:pt x="742" y="164"/>
                    </a:lnTo>
                    <a:lnTo>
                      <a:pt x="740" y="164"/>
                    </a:lnTo>
                    <a:lnTo>
                      <a:pt x="736" y="162"/>
                    </a:lnTo>
                    <a:lnTo>
                      <a:pt x="740" y="152"/>
                    </a:lnTo>
                    <a:lnTo>
                      <a:pt x="750" y="154"/>
                    </a:lnTo>
                    <a:lnTo>
                      <a:pt x="758" y="158"/>
                    </a:lnTo>
                    <a:lnTo>
                      <a:pt x="760" y="158"/>
                    </a:lnTo>
                    <a:lnTo>
                      <a:pt x="764" y="156"/>
                    </a:lnTo>
                    <a:lnTo>
                      <a:pt x="766" y="152"/>
                    </a:lnTo>
                    <a:lnTo>
                      <a:pt x="762" y="150"/>
                    </a:lnTo>
                    <a:lnTo>
                      <a:pt x="756" y="150"/>
                    </a:lnTo>
                    <a:lnTo>
                      <a:pt x="766" y="144"/>
                    </a:lnTo>
                    <a:lnTo>
                      <a:pt x="770" y="142"/>
                    </a:lnTo>
                    <a:lnTo>
                      <a:pt x="778" y="142"/>
                    </a:lnTo>
                    <a:lnTo>
                      <a:pt x="788" y="146"/>
                    </a:lnTo>
                    <a:lnTo>
                      <a:pt x="792" y="150"/>
                    </a:lnTo>
                    <a:lnTo>
                      <a:pt x="794" y="150"/>
                    </a:lnTo>
                    <a:lnTo>
                      <a:pt x="796" y="152"/>
                    </a:lnTo>
                    <a:lnTo>
                      <a:pt x="800" y="156"/>
                    </a:lnTo>
                    <a:lnTo>
                      <a:pt x="806" y="156"/>
                    </a:lnTo>
                    <a:lnTo>
                      <a:pt x="810" y="156"/>
                    </a:lnTo>
                    <a:lnTo>
                      <a:pt x="816" y="156"/>
                    </a:lnTo>
                    <a:lnTo>
                      <a:pt x="822" y="156"/>
                    </a:lnTo>
                    <a:lnTo>
                      <a:pt x="824" y="158"/>
                    </a:lnTo>
                    <a:lnTo>
                      <a:pt x="824" y="160"/>
                    </a:lnTo>
                    <a:lnTo>
                      <a:pt x="822" y="162"/>
                    </a:lnTo>
                    <a:lnTo>
                      <a:pt x="818" y="168"/>
                    </a:lnTo>
                    <a:lnTo>
                      <a:pt x="814" y="172"/>
                    </a:lnTo>
                    <a:lnTo>
                      <a:pt x="814" y="176"/>
                    </a:lnTo>
                    <a:lnTo>
                      <a:pt x="814" y="186"/>
                    </a:lnTo>
                    <a:lnTo>
                      <a:pt x="812" y="188"/>
                    </a:lnTo>
                    <a:lnTo>
                      <a:pt x="808" y="196"/>
                    </a:lnTo>
                    <a:lnTo>
                      <a:pt x="804" y="204"/>
                    </a:lnTo>
                    <a:lnTo>
                      <a:pt x="808" y="202"/>
                    </a:lnTo>
                    <a:lnTo>
                      <a:pt x="814" y="196"/>
                    </a:lnTo>
                    <a:lnTo>
                      <a:pt x="816" y="196"/>
                    </a:lnTo>
                    <a:lnTo>
                      <a:pt x="816" y="200"/>
                    </a:lnTo>
                    <a:lnTo>
                      <a:pt x="822" y="204"/>
                    </a:lnTo>
                    <a:lnTo>
                      <a:pt x="822" y="208"/>
                    </a:lnTo>
                    <a:lnTo>
                      <a:pt x="832" y="208"/>
                    </a:lnTo>
                    <a:lnTo>
                      <a:pt x="842" y="210"/>
                    </a:lnTo>
                    <a:lnTo>
                      <a:pt x="844" y="208"/>
                    </a:lnTo>
                    <a:lnTo>
                      <a:pt x="846" y="208"/>
                    </a:lnTo>
                    <a:lnTo>
                      <a:pt x="848" y="208"/>
                    </a:lnTo>
                    <a:lnTo>
                      <a:pt x="850" y="208"/>
                    </a:lnTo>
                    <a:lnTo>
                      <a:pt x="854" y="210"/>
                    </a:lnTo>
                    <a:lnTo>
                      <a:pt x="854" y="216"/>
                    </a:lnTo>
                    <a:lnTo>
                      <a:pt x="856" y="216"/>
                    </a:lnTo>
                    <a:lnTo>
                      <a:pt x="858" y="218"/>
                    </a:lnTo>
                    <a:lnTo>
                      <a:pt x="856" y="210"/>
                    </a:lnTo>
                    <a:lnTo>
                      <a:pt x="856" y="208"/>
                    </a:lnTo>
                    <a:lnTo>
                      <a:pt x="854" y="208"/>
                    </a:lnTo>
                    <a:lnTo>
                      <a:pt x="852" y="208"/>
                    </a:lnTo>
                    <a:lnTo>
                      <a:pt x="850" y="208"/>
                    </a:lnTo>
                    <a:lnTo>
                      <a:pt x="848" y="204"/>
                    </a:lnTo>
                    <a:lnTo>
                      <a:pt x="846" y="204"/>
                    </a:lnTo>
                    <a:lnTo>
                      <a:pt x="842" y="206"/>
                    </a:lnTo>
                    <a:lnTo>
                      <a:pt x="836" y="208"/>
                    </a:lnTo>
                    <a:lnTo>
                      <a:pt x="824" y="200"/>
                    </a:lnTo>
                    <a:lnTo>
                      <a:pt x="822" y="194"/>
                    </a:lnTo>
                    <a:lnTo>
                      <a:pt x="832" y="192"/>
                    </a:lnTo>
                    <a:lnTo>
                      <a:pt x="832" y="184"/>
                    </a:lnTo>
                    <a:lnTo>
                      <a:pt x="828" y="178"/>
                    </a:lnTo>
                    <a:lnTo>
                      <a:pt x="828" y="174"/>
                    </a:lnTo>
                    <a:lnTo>
                      <a:pt x="828" y="172"/>
                    </a:lnTo>
                    <a:lnTo>
                      <a:pt x="830" y="166"/>
                    </a:lnTo>
                    <a:lnTo>
                      <a:pt x="832" y="162"/>
                    </a:lnTo>
                    <a:lnTo>
                      <a:pt x="832" y="160"/>
                    </a:lnTo>
                    <a:lnTo>
                      <a:pt x="832" y="156"/>
                    </a:lnTo>
                    <a:lnTo>
                      <a:pt x="820" y="152"/>
                    </a:lnTo>
                    <a:lnTo>
                      <a:pt x="820" y="150"/>
                    </a:lnTo>
                    <a:lnTo>
                      <a:pt x="816" y="148"/>
                    </a:lnTo>
                    <a:lnTo>
                      <a:pt x="812" y="148"/>
                    </a:lnTo>
                    <a:lnTo>
                      <a:pt x="808" y="148"/>
                    </a:lnTo>
                    <a:lnTo>
                      <a:pt x="806" y="146"/>
                    </a:lnTo>
                    <a:lnTo>
                      <a:pt x="800" y="142"/>
                    </a:lnTo>
                    <a:lnTo>
                      <a:pt x="796" y="140"/>
                    </a:lnTo>
                    <a:lnTo>
                      <a:pt x="794" y="134"/>
                    </a:lnTo>
                    <a:lnTo>
                      <a:pt x="796" y="126"/>
                    </a:lnTo>
                    <a:lnTo>
                      <a:pt x="800" y="118"/>
                    </a:lnTo>
                    <a:lnTo>
                      <a:pt x="800" y="116"/>
                    </a:lnTo>
                    <a:lnTo>
                      <a:pt x="800" y="114"/>
                    </a:lnTo>
                    <a:lnTo>
                      <a:pt x="802" y="106"/>
                    </a:lnTo>
                    <a:lnTo>
                      <a:pt x="804" y="106"/>
                    </a:lnTo>
                    <a:lnTo>
                      <a:pt x="806" y="106"/>
                    </a:lnTo>
                    <a:lnTo>
                      <a:pt x="808" y="104"/>
                    </a:lnTo>
                    <a:lnTo>
                      <a:pt x="814" y="104"/>
                    </a:lnTo>
                    <a:lnTo>
                      <a:pt x="818" y="104"/>
                    </a:lnTo>
                    <a:lnTo>
                      <a:pt x="822" y="102"/>
                    </a:lnTo>
                    <a:lnTo>
                      <a:pt x="826" y="102"/>
                    </a:lnTo>
                    <a:lnTo>
                      <a:pt x="832" y="104"/>
                    </a:lnTo>
                    <a:lnTo>
                      <a:pt x="836" y="100"/>
                    </a:lnTo>
                    <a:lnTo>
                      <a:pt x="840" y="100"/>
                    </a:lnTo>
                    <a:lnTo>
                      <a:pt x="844" y="100"/>
                    </a:lnTo>
                    <a:lnTo>
                      <a:pt x="848" y="102"/>
                    </a:lnTo>
                    <a:lnTo>
                      <a:pt x="850" y="104"/>
                    </a:lnTo>
                    <a:lnTo>
                      <a:pt x="852" y="104"/>
                    </a:lnTo>
                    <a:lnTo>
                      <a:pt x="854" y="102"/>
                    </a:lnTo>
                    <a:lnTo>
                      <a:pt x="856" y="102"/>
                    </a:lnTo>
                    <a:lnTo>
                      <a:pt x="858" y="102"/>
                    </a:lnTo>
                    <a:lnTo>
                      <a:pt x="862" y="100"/>
                    </a:lnTo>
                    <a:lnTo>
                      <a:pt x="868" y="100"/>
                    </a:lnTo>
                    <a:lnTo>
                      <a:pt x="872" y="100"/>
                    </a:lnTo>
                    <a:lnTo>
                      <a:pt x="874" y="102"/>
                    </a:lnTo>
                    <a:lnTo>
                      <a:pt x="874" y="104"/>
                    </a:lnTo>
                    <a:lnTo>
                      <a:pt x="872" y="108"/>
                    </a:lnTo>
                    <a:lnTo>
                      <a:pt x="874" y="110"/>
                    </a:lnTo>
                    <a:lnTo>
                      <a:pt x="880" y="110"/>
                    </a:lnTo>
                    <a:lnTo>
                      <a:pt x="880" y="106"/>
                    </a:lnTo>
                    <a:lnTo>
                      <a:pt x="878" y="100"/>
                    </a:lnTo>
                    <a:lnTo>
                      <a:pt x="874" y="94"/>
                    </a:lnTo>
                    <a:lnTo>
                      <a:pt x="870" y="92"/>
                    </a:lnTo>
                    <a:lnTo>
                      <a:pt x="866" y="90"/>
                    </a:lnTo>
                    <a:lnTo>
                      <a:pt x="866" y="86"/>
                    </a:lnTo>
                    <a:lnTo>
                      <a:pt x="872" y="86"/>
                    </a:lnTo>
                    <a:lnTo>
                      <a:pt x="878" y="86"/>
                    </a:lnTo>
                    <a:lnTo>
                      <a:pt x="878" y="84"/>
                    </a:lnTo>
                    <a:lnTo>
                      <a:pt x="876" y="82"/>
                    </a:lnTo>
                    <a:lnTo>
                      <a:pt x="874" y="80"/>
                    </a:lnTo>
                    <a:lnTo>
                      <a:pt x="872" y="78"/>
                    </a:lnTo>
                    <a:lnTo>
                      <a:pt x="868" y="78"/>
                    </a:lnTo>
                    <a:lnTo>
                      <a:pt x="870" y="74"/>
                    </a:lnTo>
                    <a:lnTo>
                      <a:pt x="880" y="80"/>
                    </a:lnTo>
                    <a:lnTo>
                      <a:pt x="882" y="72"/>
                    </a:lnTo>
                    <a:lnTo>
                      <a:pt x="884" y="68"/>
                    </a:lnTo>
                    <a:lnTo>
                      <a:pt x="888" y="68"/>
                    </a:lnTo>
                    <a:lnTo>
                      <a:pt x="890" y="64"/>
                    </a:lnTo>
                    <a:lnTo>
                      <a:pt x="886" y="62"/>
                    </a:lnTo>
                    <a:lnTo>
                      <a:pt x="882" y="62"/>
                    </a:lnTo>
                    <a:lnTo>
                      <a:pt x="882" y="60"/>
                    </a:lnTo>
                    <a:lnTo>
                      <a:pt x="888" y="60"/>
                    </a:lnTo>
                    <a:lnTo>
                      <a:pt x="894" y="60"/>
                    </a:lnTo>
                    <a:lnTo>
                      <a:pt x="896" y="58"/>
                    </a:lnTo>
                    <a:lnTo>
                      <a:pt x="904" y="58"/>
                    </a:lnTo>
                    <a:lnTo>
                      <a:pt x="904" y="56"/>
                    </a:lnTo>
                    <a:lnTo>
                      <a:pt x="910" y="56"/>
                    </a:lnTo>
                    <a:lnTo>
                      <a:pt x="914" y="52"/>
                    </a:lnTo>
                    <a:lnTo>
                      <a:pt x="918" y="50"/>
                    </a:lnTo>
                    <a:lnTo>
                      <a:pt x="920" y="52"/>
                    </a:lnTo>
                    <a:lnTo>
                      <a:pt x="922" y="52"/>
                    </a:lnTo>
                    <a:lnTo>
                      <a:pt x="930" y="50"/>
                    </a:lnTo>
                    <a:lnTo>
                      <a:pt x="934" y="50"/>
                    </a:lnTo>
                    <a:lnTo>
                      <a:pt x="940" y="50"/>
                    </a:lnTo>
                    <a:lnTo>
                      <a:pt x="946" y="46"/>
                    </a:lnTo>
                    <a:lnTo>
                      <a:pt x="952" y="46"/>
                    </a:lnTo>
                    <a:lnTo>
                      <a:pt x="958" y="46"/>
                    </a:lnTo>
                    <a:lnTo>
                      <a:pt x="962" y="44"/>
                    </a:lnTo>
                    <a:lnTo>
                      <a:pt x="962" y="42"/>
                    </a:lnTo>
                    <a:lnTo>
                      <a:pt x="962" y="40"/>
                    </a:lnTo>
                    <a:lnTo>
                      <a:pt x="966" y="40"/>
                    </a:lnTo>
                    <a:lnTo>
                      <a:pt x="968" y="40"/>
                    </a:lnTo>
                    <a:lnTo>
                      <a:pt x="970" y="42"/>
                    </a:lnTo>
                    <a:lnTo>
                      <a:pt x="972" y="40"/>
                    </a:lnTo>
                    <a:lnTo>
                      <a:pt x="974" y="40"/>
                    </a:lnTo>
                    <a:lnTo>
                      <a:pt x="980" y="40"/>
                    </a:lnTo>
                    <a:lnTo>
                      <a:pt x="982" y="42"/>
                    </a:lnTo>
                    <a:lnTo>
                      <a:pt x="982" y="42"/>
                    </a:lnTo>
                    <a:lnTo>
                      <a:pt x="984" y="40"/>
                    </a:lnTo>
                    <a:lnTo>
                      <a:pt x="992" y="42"/>
                    </a:lnTo>
                    <a:lnTo>
                      <a:pt x="996" y="40"/>
                    </a:lnTo>
                    <a:lnTo>
                      <a:pt x="998" y="40"/>
                    </a:lnTo>
                    <a:lnTo>
                      <a:pt x="1002" y="40"/>
                    </a:lnTo>
                    <a:lnTo>
                      <a:pt x="1004" y="44"/>
                    </a:lnTo>
                    <a:lnTo>
                      <a:pt x="1000" y="48"/>
                    </a:lnTo>
                    <a:lnTo>
                      <a:pt x="996" y="52"/>
                    </a:lnTo>
                    <a:lnTo>
                      <a:pt x="996" y="54"/>
                    </a:lnTo>
                    <a:lnTo>
                      <a:pt x="1004" y="52"/>
                    </a:lnTo>
                    <a:lnTo>
                      <a:pt x="1006" y="48"/>
                    </a:lnTo>
                    <a:lnTo>
                      <a:pt x="1008" y="48"/>
                    </a:lnTo>
                    <a:lnTo>
                      <a:pt x="1008" y="52"/>
                    </a:lnTo>
                    <a:lnTo>
                      <a:pt x="1010" y="52"/>
                    </a:lnTo>
                    <a:lnTo>
                      <a:pt x="1012" y="48"/>
                    </a:lnTo>
                    <a:lnTo>
                      <a:pt x="1016" y="48"/>
                    </a:lnTo>
                    <a:lnTo>
                      <a:pt x="1016" y="50"/>
                    </a:lnTo>
                    <a:lnTo>
                      <a:pt x="1024" y="44"/>
                    </a:lnTo>
                    <a:lnTo>
                      <a:pt x="1030" y="40"/>
                    </a:lnTo>
                    <a:lnTo>
                      <a:pt x="1032" y="40"/>
                    </a:lnTo>
                    <a:lnTo>
                      <a:pt x="1036" y="42"/>
                    </a:lnTo>
                    <a:lnTo>
                      <a:pt x="1038" y="44"/>
                    </a:lnTo>
                    <a:lnTo>
                      <a:pt x="1036" y="48"/>
                    </a:lnTo>
                    <a:lnTo>
                      <a:pt x="1036" y="52"/>
                    </a:lnTo>
                    <a:lnTo>
                      <a:pt x="1038" y="54"/>
                    </a:lnTo>
                    <a:lnTo>
                      <a:pt x="1038" y="50"/>
                    </a:lnTo>
                    <a:lnTo>
                      <a:pt x="1042" y="50"/>
                    </a:lnTo>
                    <a:lnTo>
                      <a:pt x="1040" y="42"/>
                    </a:lnTo>
                    <a:lnTo>
                      <a:pt x="1040" y="40"/>
                    </a:lnTo>
                    <a:lnTo>
                      <a:pt x="1038" y="40"/>
                    </a:lnTo>
                    <a:lnTo>
                      <a:pt x="1034" y="38"/>
                    </a:lnTo>
                    <a:lnTo>
                      <a:pt x="1032" y="36"/>
                    </a:lnTo>
                    <a:lnTo>
                      <a:pt x="1050" y="36"/>
                    </a:lnTo>
                    <a:lnTo>
                      <a:pt x="1052" y="34"/>
                    </a:lnTo>
                    <a:lnTo>
                      <a:pt x="1056" y="32"/>
                    </a:lnTo>
                    <a:lnTo>
                      <a:pt x="1060" y="38"/>
                    </a:lnTo>
                    <a:lnTo>
                      <a:pt x="1064" y="38"/>
                    </a:lnTo>
                    <a:lnTo>
                      <a:pt x="1060" y="32"/>
                    </a:lnTo>
                    <a:lnTo>
                      <a:pt x="1056" y="28"/>
                    </a:lnTo>
                    <a:lnTo>
                      <a:pt x="1056" y="22"/>
                    </a:lnTo>
                    <a:lnTo>
                      <a:pt x="1058" y="22"/>
                    </a:lnTo>
                    <a:lnTo>
                      <a:pt x="1068" y="14"/>
                    </a:lnTo>
                    <a:lnTo>
                      <a:pt x="1070" y="12"/>
                    </a:lnTo>
                    <a:lnTo>
                      <a:pt x="1070" y="10"/>
                    </a:lnTo>
                    <a:lnTo>
                      <a:pt x="1070" y="8"/>
                    </a:lnTo>
                    <a:lnTo>
                      <a:pt x="1074" y="6"/>
                    </a:lnTo>
                    <a:lnTo>
                      <a:pt x="1078" y="6"/>
                    </a:lnTo>
                    <a:lnTo>
                      <a:pt x="1080" y="4"/>
                    </a:lnTo>
                    <a:lnTo>
                      <a:pt x="1084" y="4"/>
                    </a:lnTo>
                    <a:lnTo>
                      <a:pt x="1086" y="6"/>
                    </a:lnTo>
                    <a:lnTo>
                      <a:pt x="1088" y="6"/>
                    </a:lnTo>
                    <a:lnTo>
                      <a:pt x="1090" y="8"/>
                    </a:lnTo>
                    <a:lnTo>
                      <a:pt x="1092" y="6"/>
                    </a:lnTo>
                    <a:lnTo>
                      <a:pt x="1094" y="4"/>
                    </a:lnTo>
                    <a:lnTo>
                      <a:pt x="1096" y="2"/>
                    </a:lnTo>
                    <a:lnTo>
                      <a:pt x="1098" y="0"/>
                    </a:lnTo>
                    <a:lnTo>
                      <a:pt x="1100" y="2"/>
                    </a:lnTo>
                    <a:lnTo>
                      <a:pt x="1102" y="4"/>
                    </a:lnTo>
                    <a:lnTo>
                      <a:pt x="1106" y="2"/>
                    </a:lnTo>
                    <a:lnTo>
                      <a:pt x="1110" y="2"/>
                    </a:lnTo>
                    <a:lnTo>
                      <a:pt x="1110" y="6"/>
                    </a:lnTo>
                    <a:lnTo>
                      <a:pt x="1110" y="8"/>
                    </a:lnTo>
                    <a:lnTo>
                      <a:pt x="1114" y="8"/>
                    </a:lnTo>
                    <a:lnTo>
                      <a:pt x="1118" y="8"/>
                    </a:lnTo>
                    <a:lnTo>
                      <a:pt x="1120" y="10"/>
                    </a:lnTo>
                    <a:lnTo>
                      <a:pt x="1120" y="12"/>
                    </a:lnTo>
                    <a:lnTo>
                      <a:pt x="1116" y="12"/>
                    </a:lnTo>
                    <a:lnTo>
                      <a:pt x="1114" y="16"/>
                    </a:lnTo>
                    <a:lnTo>
                      <a:pt x="1112" y="20"/>
                    </a:lnTo>
                    <a:lnTo>
                      <a:pt x="1116" y="18"/>
                    </a:lnTo>
                    <a:lnTo>
                      <a:pt x="1118" y="18"/>
                    </a:lnTo>
                    <a:lnTo>
                      <a:pt x="1118" y="20"/>
                    </a:lnTo>
                    <a:lnTo>
                      <a:pt x="1118" y="22"/>
                    </a:lnTo>
                    <a:lnTo>
                      <a:pt x="1122" y="22"/>
                    </a:lnTo>
                    <a:lnTo>
                      <a:pt x="1124" y="20"/>
                    </a:lnTo>
                    <a:lnTo>
                      <a:pt x="1126" y="20"/>
                    </a:lnTo>
                    <a:lnTo>
                      <a:pt x="1130" y="20"/>
                    </a:lnTo>
                    <a:lnTo>
                      <a:pt x="1132" y="22"/>
                    </a:lnTo>
                    <a:lnTo>
                      <a:pt x="1140" y="24"/>
                    </a:lnTo>
                    <a:lnTo>
                      <a:pt x="1136" y="38"/>
                    </a:lnTo>
                    <a:lnTo>
                      <a:pt x="1142" y="36"/>
                    </a:lnTo>
                    <a:lnTo>
                      <a:pt x="1148" y="32"/>
                    </a:lnTo>
                    <a:lnTo>
                      <a:pt x="1150" y="30"/>
                    </a:lnTo>
                    <a:lnTo>
                      <a:pt x="1152" y="28"/>
                    </a:lnTo>
                    <a:lnTo>
                      <a:pt x="1162" y="26"/>
                    </a:lnTo>
                    <a:lnTo>
                      <a:pt x="1174" y="24"/>
                    </a:lnTo>
                    <a:lnTo>
                      <a:pt x="1176" y="26"/>
                    </a:lnTo>
                    <a:lnTo>
                      <a:pt x="1178" y="26"/>
                    </a:lnTo>
                    <a:lnTo>
                      <a:pt x="1182" y="24"/>
                    </a:lnTo>
                    <a:lnTo>
                      <a:pt x="1190" y="24"/>
                    </a:lnTo>
                    <a:lnTo>
                      <a:pt x="1192" y="22"/>
                    </a:lnTo>
                    <a:lnTo>
                      <a:pt x="1194" y="22"/>
                    </a:lnTo>
                    <a:lnTo>
                      <a:pt x="1196" y="26"/>
                    </a:lnTo>
                    <a:lnTo>
                      <a:pt x="1198" y="28"/>
                    </a:lnTo>
                    <a:lnTo>
                      <a:pt x="1198" y="34"/>
                    </a:lnTo>
                    <a:lnTo>
                      <a:pt x="1200" y="36"/>
                    </a:lnTo>
                    <a:lnTo>
                      <a:pt x="1206" y="38"/>
                    </a:lnTo>
                    <a:lnTo>
                      <a:pt x="1214" y="40"/>
                    </a:lnTo>
                    <a:lnTo>
                      <a:pt x="1216" y="48"/>
                    </a:lnTo>
                    <a:lnTo>
                      <a:pt x="1220" y="48"/>
                    </a:lnTo>
                    <a:lnTo>
                      <a:pt x="1222" y="52"/>
                    </a:lnTo>
                    <a:lnTo>
                      <a:pt x="1222" y="54"/>
                    </a:lnTo>
                    <a:lnTo>
                      <a:pt x="1220" y="62"/>
                    </a:lnTo>
                    <a:lnTo>
                      <a:pt x="1214" y="60"/>
                    </a:lnTo>
                    <a:lnTo>
                      <a:pt x="1214" y="58"/>
                    </a:lnTo>
                    <a:lnTo>
                      <a:pt x="1212" y="60"/>
                    </a:lnTo>
                    <a:lnTo>
                      <a:pt x="1212" y="62"/>
                    </a:lnTo>
                    <a:lnTo>
                      <a:pt x="1220" y="68"/>
                    </a:lnTo>
                    <a:lnTo>
                      <a:pt x="1224" y="74"/>
                    </a:lnTo>
                    <a:lnTo>
                      <a:pt x="1222" y="76"/>
                    </a:lnTo>
                    <a:lnTo>
                      <a:pt x="1220" y="78"/>
                    </a:lnTo>
                    <a:lnTo>
                      <a:pt x="1208" y="82"/>
                    </a:lnTo>
                    <a:lnTo>
                      <a:pt x="1194" y="86"/>
                    </a:lnTo>
                    <a:lnTo>
                      <a:pt x="1186" y="86"/>
                    </a:lnTo>
                    <a:lnTo>
                      <a:pt x="1182" y="90"/>
                    </a:lnTo>
                    <a:lnTo>
                      <a:pt x="1170" y="92"/>
                    </a:lnTo>
                    <a:lnTo>
                      <a:pt x="1166" y="92"/>
                    </a:lnTo>
                    <a:lnTo>
                      <a:pt x="1164" y="92"/>
                    </a:lnTo>
                    <a:lnTo>
                      <a:pt x="1162" y="96"/>
                    </a:lnTo>
                    <a:lnTo>
                      <a:pt x="1160" y="98"/>
                    </a:lnTo>
                    <a:lnTo>
                      <a:pt x="1162" y="108"/>
                    </a:lnTo>
                    <a:lnTo>
                      <a:pt x="1156" y="108"/>
                    </a:lnTo>
                    <a:lnTo>
                      <a:pt x="1152" y="112"/>
                    </a:lnTo>
                    <a:lnTo>
                      <a:pt x="1150" y="118"/>
                    </a:lnTo>
                    <a:lnTo>
                      <a:pt x="1146" y="118"/>
                    </a:lnTo>
                    <a:lnTo>
                      <a:pt x="1142" y="120"/>
                    </a:lnTo>
                    <a:lnTo>
                      <a:pt x="1138" y="122"/>
                    </a:lnTo>
                    <a:lnTo>
                      <a:pt x="1134" y="124"/>
                    </a:lnTo>
                    <a:lnTo>
                      <a:pt x="1130" y="124"/>
                    </a:lnTo>
                    <a:lnTo>
                      <a:pt x="1128" y="126"/>
                    </a:lnTo>
                    <a:lnTo>
                      <a:pt x="1128" y="128"/>
                    </a:lnTo>
                    <a:lnTo>
                      <a:pt x="1126" y="132"/>
                    </a:lnTo>
                    <a:lnTo>
                      <a:pt x="1120" y="134"/>
                    </a:lnTo>
                    <a:lnTo>
                      <a:pt x="1114" y="136"/>
                    </a:lnTo>
                    <a:lnTo>
                      <a:pt x="1102" y="138"/>
                    </a:lnTo>
                    <a:lnTo>
                      <a:pt x="1100" y="140"/>
                    </a:lnTo>
                    <a:lnTo>
                      <a:pt x="1112" y="138"/>
                    </a:lnTo>
                    <a:lnTo>
                      <a:pt x="1126" y="138"/>
                    </a:lnTo>
                    <a:lnTo>
                      <a:pt x="1130" y="134"/>
                    </a:lnTo>
                    <a:lnTo>
                      <a:pt x="1130" y="132"/>
                    </a:lnTo>
                    <a:lnTo>
                      <a:pt x="1132" y="130"/>
                    </a:lnTo>
                    <a:lnTo>
                      <a:pt x="1136" y="128"/>
                    </a:lnTo>
                    <a:lnTo>
                      <a:pt x="1140" y="130"/>
                    </a:lnTo>
                    <a:lnTo>
                      <a:pt x="1148" y="130"/>
                    </a:lnTo>
                    <a:lnTo>
                      <a:pt x="1150" y="130"/>
                    </a:lnTo>
                    <a:lnTo>
                      <a:pt x="1150" y="128"/>
                    </a:lnTo>
                    <a:lnTo>
                      <a:pt x="1154" y="128"/>
                    </a:lnTo>
                    <a:lnTo>
                      <a:pt x="1158" y="126"/>
                    </a:lnTo>
                    <a:lnTo>
                      <a:pt x="1162" y="122"/>
                    </a:lnTo>
                    <a:lnTo>
                      <a:pt x="1162" y="120"/>
                    </a:lnTo>
                    <a:lnTo>
                      <a:pt x="1162" y="118"/>
                    </a:lnTo>
                    <a:lnTo>
                      <a:pt x="1164" y="122"/>
                    </a:lnTo>
                    <a:lnTo>
                      <a:pt x="1166" y="122"/>
                    </a:lnTo>
                    <a:lnTo>
                      <a:pt x="1170" y="122"/>
                    </a:lnTo>
                    <a:lnTo>
                      <a:pt x="1172" y="118"/>
                    </a:lnTo>
                    <a:lnTo>
                      <a:pt x="1166" y="118"/>
                    </a:lnTo>
                    <a:lnTo>
                      <a:pt x="1164" y="114"/>
                    </a:lnTo>
                    <a:lnTo>
                      <a:pt x="1164" y="112"/>
                    </a:lnTo>
                    <a:lnTo>
                      <a:pt x="1166" y="112"/>
                    </a:lnTo>
                    <a:lnTo>
                      <a:pt x="1166" y="110"/>
                    </a:lnTo>
                    <a:lnTo>
                      <a:pt x="1168" y="108"/>
                    </a:lnTo>
                    <a:lnTo>
                      <a:pt x="1170" y="108"/>
                    </a:lnTo>
                    <a:lnTo>
                      <a:pt x="1170" y="104"/>
                    </a:lnTo>
                    <a:lnTo>
                      <a:pt x="1174" y="102"/>
                    </a:lnTo>
                    <a:lnTo>
                      <a:pt x="1176" y="102"/>
                    </a:lnTo>
                    <a:lnTo>
                      <a:pt x="1176" y="104"/>
                    </a:lnTo>
                    <a:lnTo>
                      <a:pt x="1178" y="106"/>
                    </a:lnTo>
                    <a:lnTo>
                      <a:pt x="1180" y="106"/>
                    </a:lnTo>
                    <a:lnTo>
                      <a:pt x="1180" y="104"/>
                    </a:lnTo>
                    <a:lnTo>
                      <a:pt x="1182" y="100"/>
                    </a:lnTo>
                    <a:lnTo>
                      <a:pt x="1184" y="100"/>
                    </a:lnTo>
                    <a:lnTo>
                      <a:pt x="1188" y="108"/>
                    </a:lnTo>
                    <a:lnTo>
                      <a:pt x="1190" y="112"/>
                    </a:lnTo>
                    <a:lnTo>
                      <a:pt x="1194" y="112"/>
                    </a:lnTo>
                    <a:lnTo>
                      <a:pt x="1206" y="112"/>
                    </a:lnTo>
                    <a:lnTo>
                      <a:pt x="1206" y="104"/>
                    </a:lnTo>
                    <a:lnTo>
                      <a:pt x="1208" y="106"/>
                    </a:lnTo>
                    <a:lnTo>
                      <a:pt x="1212" y="108"/>
                    </a:lnTo>
                    <a:lnTo>
                      <a:pt x="1212" y="114"/>
                    </a:lnTo>
                    <a:lnTo>
                      <a:pt x="1210" y="116"/>
                    </a:lnTo>
                    <a:lnTo>
                      <a:pt x="1210" y="120"/>
                    </a:lnTo>
                    <a:lnTo>
                      <a:pt x="1212" y="122"/>
                    </a:lnTo>
                    <a:lnTo>
                      <a:pt x="1212" y="118"/>
                    </a:lnTo>
                    <a:lnTo>
                      <a:pt x="1216" y="112"/>
                    </a:lnTo>
                    <a:lnTo>
                      <a:pt x="1220" y="110"/>
                    </a:lnTo>
                    <a:lnTo>
                      <a:pt x="1228" y="104"/>
                    </a:lnTo>
                    <a:lnTo>
                      <a:pt x="1230" y="100"/>
                    </a:lnTo>
                    <a:lnTo>
                      <a:pt x="1232" y="100"/>
                    </a:lnTo>
                    <a:lnTo>
                      <a:pt x="1236" y="100"/>
                    </a:lnTo>
                    <a:lnTo>
                      <a:pt x="1238" y="100"/>
                    </a:lnTo>
                    <a:lnTo>
                      <a:pt x="1244" y="104"/>
                    </a:lnTo>
                    <a:lnTo>
                      <a:pt x="1248" y="102"/>
                    </a:lnTo>
                    <a:lnTo>
                      <a:pt x="1252" y="102"/>
                    </a:lnTo>
                    <a:lnTo>
                      <a:pt x="1254" y="106"/>
                    </a:lnTo>
                    <a:lnTo>
                      <a:pt x="1260" y="104"/>
                    </a:lnTo>
                    <a:lnTo>
                      <a:pt x="1270" y="104"/>
                    </a:lnTo>
                    <a:lnTo>
                      <a:pt x="1276" y="106"/>
                    </a:lnTo>
                    <a:lnTo>
                      <a:pt x="1276" y="116"/>
                    </a:lnTo>
                    <a:lnTo>
                      <a:pt x="1274" y="116"/>
                    </a:lnTo>
                    <a:lnTo>
                      <a:pt x="1274" y="118"/>
                    </a:lnTo>
                    <a:lnTo>
                      <a:pt x="1280" y="122"/>
                    </a:lnTo>
                    <a:lnTo>
                      <a:pt x="1284" y="124"/>
                    </a:lnTo>
                    <a:lnTo>
                      <a:pt x="1286" y="124"/>
                    </a:lnTo>
                    <a:lnTo>
                      <a:pt x="1288" y="126"/>
                    </a:lnTo>
                    <a:lnTo>
                      <a:pt x="1290" y="126"/>
                    </a:lnTo>
                    <a:lnTo>
                      <a:pt x="1296" y="130"/>
                    </a:lnTo>
                    <a:lnTo>
                      <a:pt x="1298" y="130"/>
                    </a:lnTo>
                    <a:lnTo>
                      <a:pt x="1298" y="128"/>
                    </a:lnTo>
                    <a:lnTo>
                      <a:pt x="1302" y="128"/>
                    </a:lnTo>
                    <a:lnTo>
                      <a:pt x="1304" y="128"/>
                    </a:lnTo>
                    <a:lnTo>
                      <a:pt x="1308" y="130"/>
                    </a:lnTo>
                    <a:lnTo>
                      <a:pt x="1310" y="130"/>
                    </a:lnTo>
                    <a:lnTo>
                      <a:pt x="1314" y="128"/>
                    </a:lnTo>
                    <a:lnTo>
                      <a:pt x="1320" y="132"/>
                    </a:lnTo>
                    <a:lnTo>
                      <a:pt x="1324" y="132"/>
                    </a:lnTo>
                    <a:lnTo>
                      <a:pt x="1326" y="130"/>
                    </a:lnTo>
                    <a:lnTo>
                      <a:pt x="1328" y="134"/>
                    </a:lnTo>
                    <a:lnTo>
                      <a:pt x="1332" y="136"/>
                    </a:lnTo>
                    <a:lnTo>
                      <a:pt x="1338" y="138"/>
                    </a:lnTo>
                    <a:lnTo>
                      <a:pt x="1346" y="138"/>
                    </a:lnTo>
                    <a:lnTo>
                      <a:pt x="1344" y="136"/>
                    </a:lnTo>
                    <a:lnTo>
                      <a:pt x="1346" y="134"/>
                    </a:lnTo>
                    <a:lnTo>
                      <a:pt x="1352" y="132"/>
                    </a:lnTo>
                    <a:lnTo>
                      <a:pt x="1350" y="130"/>
                    </a:lnTo>
                    <a:lnTo>
                      <a:pt x="1350" y="128"/>
                    </a:lnTo>
                    <a:lnTo>
                      <a:pt x="1354" y="126"/>
                    </a:lnTo>
                    <a:lnTo>
                      <a:pt x="1352" y="124"/>
                    </a:lnTo>
                    <a:lnTo>
                      <a:pt x="1350" y="122"/>
                    </a:lnTo>
                    <a:lnTo>
                      <a:pt x="1346" y="122"/>
                    </a:lnTo>
                    <a:lnTo>
                      <a:pt x="1340" y="122"/>
                    </a:lnTo>
                    <a:lnTo>
                      <a:pt x="1340" y="118"/>
                    </a:lnTo>
                    <a:lnTo>
                      <a:pt x="1336" y="116"/>
                    </a:lnTo>
                    <a:lnTo>
                      <a:pt x="1336" y="110"/>
                    </a:lnTo>
                    <a:lnTo>
                      <a:pt x="1336" y="106"/>
                    </a:lnTo>
                    <a:lnTo>
                      <a:pt x="1340" y="102"/>
                    </a:lnTo>
                    <a:lnTo>
                      <a:pt x="1348" y="100"/>
                    </a:lnTo>
                    <a:lnTo>
                      <a:pt x="1354" y="100"/>
                    </a:lnTo>
                    <a:lnTo>
                      <a:pt x="1358" y="100"/>
                    </a:lnTo>
                    <a:lnTo>
                      <a:pt x="1362" y="102"/>
                    </a:lnTo>
                    <a:lnTo>
                      <a:pt x="1362" y="104"/>
                    </a:lnTo>
                    <a:lnTo>
                      <a:pt x="1368" y="104"/>
                    </a:lnTo>
                    <a:lnTo>
                      <a:pt x="1370" y="108"/>
                    </a:lnTo>
                    <a:lnTo>
                      <a:pt x="1372" y="110"/>
                    </a:lnTo>
                    <a:lnTo>
                      <a:pt x="1380" y="110"/>
                    </a:lnTo>
                    <a:lnTo>
                      <a:pt x="1380" y="116"/>
                    </a:lnTo>
                    <a:lnTo>
                      <a:pt x="1376" y="120"/>
                    </a:lnTo>
                    <a:lnTo>
                      <a:pt x="1374" y="122"/>
                    </a:lnTo>
                    <a:lnTo>
                      <a:pt x="1372" y="124"/>
                    </a:lnTo>
                    <a:lnTo>
                      <a:pt x="1368" y="124"/>
                    </a:lnTo>
                    <a:lnTo>
                      <a:pt x="1364" y="126"/>
                    </a:lnTo>
                    <a:lnTo>
                      <a:pt x="1358" y="126"/>
                    </a:lnTo>
                    <a:lnTo>
                      <a:pt x="1358" y="130"/>
                    </a:lnTo>
                    <a:lnTo>
                      <a:pt x="1358" y="132"/>
                    </a:lnTo>
                    <a:lnTo>
                      <a:pt x="1354" y="134"/>
                    </a:lnTo>
                    <a:lnTo>
                      <a:pt x="1352" y="134"/>
                    </a:lnTo>
                    <a:lnTo>
                      <a:pt x="1356" y="134"/>
                    </a:lnTo>
                    <a:lnTo>
                      <a:pt x="1360" y="134"/>
                    </a:lnTo>
                    <a:lnTo>
                      <a:pt x="1362" y="136"/>
                    </a:lnTo>
                    <a:lnTo>
                      <a:pt x="1360" y="140"/>
                    </a:lnTo>
                    <a:lnTo>
                      <a:pt x="1358" y="140"/>
                    </a:lnTo>
                    <a:lnTo>
                      <a:pt x="1362" y="140"/>
                    </a:lnTo>
                    <a:lnTo>
                      <a:pt x="1366" y="144"/>
                    </a:lnTo>
                    <a:lnTo>
                      <a:pt x="1368" y="144"/>
                    </a:lnTo>
                    <a:lnTo>
                      <a:pt x="1368" y="140"/>
                    </a:lnTo>
                    <a:lnTo>
                      <a:pt x="1376" y="138"/>
                    </a:lnTo>
                    <a:lnTo>
                      <a:pt x="1378" y="146"/>
                    </a:lnTo>
                    <a:lnTo>
                      <a:pt x="1370" y="144"/>
                    </a:lnTo>
                    <a:lnTo>
                      <a:pt x="1368" y="144"/>
                    </a:lnTo>
                    <a:lnTo>
                      <a:pt x="1370" y="146"/>
                    </a:lnTo>
                    <a:lnTo>
                      <a:pt x="1376" y="148"/>
                    </a:lnTo>
                    <a:lnTo>
                      <a:pt x="1382" y="148"/>
                    </a:lnTo>
                    <a:lnTo>
                      <a:pt x="1384" y="152"/>
                    </a:lnTo>
                    <a:lnTo>
                      <a:pt x="1386" y="154"/>
                    </a:lnTo>
                    <a:lnTo>
                      <a:pt x="1388" y="158"/>
                    </a:lnTo>
                    <a:lnTo>
                      <a:pt x="1390" y="160"/>
                    </a:lnTo>
                    <a:lnTo>
                      <a:pt x="1390" y="158"/>
                    </a:lnTo>
                    <a:lnTo>
                      <a:pt x="1390" y="160"/>
                    </a:lnTo>
                    <a:lnTo>
                      <a:pt x="1390" y="158"/>
                    </a:lnTo>
                    <a:lnTo>
                      <a:pt x="1392" y="156"/>
                    </a:lnTo>
                    <a:lnTo>
                      <a:pt x="1388" y="152"/>
                    </a:lnTo>
                    <a:lnTo>
                      <a:pt x="1388" y="150"/>
                    </a:lnTo>
                    <a:lnTo>
                      <a:pt x="1390" y="148"/>
                    </a:lnTo>
                    <a:lnTo>
                      <a:pt x="1392" y="146"/>
                    </a:lnTo>
                    <a:lnTo>
                      <a:pt x="1394" y="146"/>
                    </a:lnTo>
                    <a:lnTo>
                      <a:pt x="1402" y="152"/>
                    </a:lnTo>
                    <a:lnTo>
                      <a:pt x="1406" y="156"/>
                    </a:lnTo>
                    <a:lnTo>
                      <a:pt x="1408" y="160"/>
                    </a:lnTo>
                    <a:lnTo>
                      <a:pt x="1414" y="160"/>
                    </a:lnTo>
                    <a:lnTo>
                      <a:pt x="1414" y="158"/>
                    </a:lnTo>
                    <a:lnTo>
                      <a:pt x="1414" y="158"/>
                    </a:lnTo>
                    <a:lnTo>
                      <a:pt x="1414" y="156"/>
                    </a:lnTo>
                    <a:lnTo>
                      <a:pt x="1414" y="156"/>
                    </a:lnTo>
                    <a:lnTo>
                      <a:pt x="1418" y="162"/>
                    </a:lnTo>
                    <a:lnTo>
                      <a:pt x="1416" y="162"/>
                    </a:lnTo>
                    <a:lnTo>
                      <a:pt x="1414" y="162"/>
                    </a:lnTo>
                    <a:lnTo>
                      <a:pt x="1410" y="168"/>
                    </a:lnTo>
                    <a:lnTo>
                      <a:pt x="1410" y="170"/>
                    </a:lnTo>
                    <a:lnTo>
                      <a:pt x="1416" y="168"/>
                    </a:lnTo>
                    <a:lnTo>
                      <a:pt x="1422" y="176"/>
                    </a:lnTo>
                    <a:lnTo>
                      <a:pt x="1432" y="174"/>
                    </a:lnTo>
                    <a:lnTo>
                      <a:pt x="1436" y="180"/>
                    </a:lnTo>
                    <a:lnTo>
                      <a:pt x="1440" y="182"/>
                    </a:lnTo>
                    <a:lnTo>
                      <a:pt x="1442" y="182"/>
                    </a:lnTo>
                    <a:lnTo>
                      <a:pt x="1442" y="180"/>
                    </a:lnTo>
                    <a:lnTo>
                      <a:pt x="1446" y="180"/>
                    </a:lnTo>
                    <a:lnTo>
                      <a:pt x="1442" y="190"/>
                    </a:lnTo>
                    <a:lnTo>
                      <a:pt x="1444" y="190"/>
                    </a:lnTo>
                    <a:lnTo>
                      <a:pt x="1444" y="192"/>
                    </a:lnTo>
                    <a:lnTo>
                      <a:pt x="1448" y="190"/>
                    </a:lnTo>
                    <a:lnTo>
                      <a:pt x="1450" y="186"/>
                    </a:lnTo>
                    <a:lnTo>
                      <a:pt x="1456" y="178"/>
                    </a:lnTo>
                    <a:lnTo>
                      <a:pt x="1458" y="168"/>
                    </a:lnTo>
                    <a:lnTo>
                      <a:pt x="1462" y="166"/>
                    </a:lnTo>
                    <a:lnTo>
                      <a:pt x="1460" y="162"/>
                    </a:lnTo>
                    <a:lnTo>
                      <a:pt x="1460" y="156"/>
                    </a:lnTo>
                    <a:lnTo>
                      <a:pt x="1466" y="150"/>
                    </a:lnTo>
                    <a:lnTo>
                      <a:pt x="1468" y="152"/>
                    </a:lnTo>
                    <a:lnTo>
                      <a:pt x="1468" y="154"/>
                    </a:lnTo>
                    <a:lnTo>
                      <a:pt x="1468" y="156"/>
                    </a:lnTo>
                    <a:lnTo>
                      <a:pt x="1470" y="156"/>
                    </a:lnTo>
                    <a:lnTo>
                      <a:pt x="1470" y="158"/>
                    </a:lnTo>
                    <a:lnTo>
                      <a:pt x="1470" y="162"/>
                    </a:lnTo>
                    <a:lnTo>
                      <a:pt x="1470" y="168"/>
                    </a:lnTo>
                    <a:lnTo>
                      <a:pt x="1474" y="164"/>
                    </a:lnTo>
                    <a:lnTo>
                      <a:pt x="1480" y="164"/>
                    </a:lnTo>
                    <a:lnTo>
                      <a:pt x="1488" y="158"/>
                    </a:lnTo>
                    <a:lnTo>
                      <a:pt x="1492" y="156"/>
                    </a:lnTo>
                    <a:lnTo>
                      <a:pt x="1496" y="154"/>
                    </a:lnTo>
                    <a:lnTo>
                      <a:pt x="1500" y="158"/>
                    </a:lnTo>
                    <a:lnTo>
                      <a:pt x="1504" y="158"/>
                    </a:lnTo>
                    <a:lnTo>
                      <a:pt x="1518" y="168"/>
                    </a:lnTo>
                    <a:lnTo>
                      <a:pt x="1518" y="170"/>
                    </a:lnTo>
                    <a:lnTo>
                      <a:pt x="1524" y="170"/>
                    </a:lnTo>
                    <a:lnTo>
                      <a:pt x="1526" y="172"/>
                    </a:lnTo>
                    <a:lnTo>
                      <a:pt x="1532" y="172"/>
                    </a:lnTo>
                    <a:lnTo>
                      <a:pt x="1536" y="170"/>
                    </a:lnTo>
                    <a:lnTo>
                      <a:pt x="1534" y="166"/>
                    </a:lnTo>
                    <a:lnTo>
                      <a:pt x="1534" y="162"/>
                    </a:lnTo>
                    <a:lnTo>
                      <a:pt x="1536" y="162"/>
                    </a:lnTo>
                    <a:lnTo>
                      <a:pt x="1536" y="160"/>
                    </a:lnTo>
                    <a:lnTo>
                      <a:pt x="1538" y="160"/>
                    </a:lnTo>
                    <a:lnTo>
                      <a:pt x="1540" y="160"/>
                    </a:lnTo>
                    <a:lnTo>
                      <a:pt x="1542" y="158"/>
                    </a:lnTo>
                    <a:lnTo>
                      <a:pt x="1542" y="160"/>
                    </a:lnTo>
                    <a:lnTo>
                      <a:pt x="1544" y="162"/>
                    </a:lnTo>
                    <a:lnTo>
                      <a:pt x="1542" y="168"/>
                    </a:lnTo>
                    <a:lnTo>
                      <a:pt x="1546" y="166"/>
                    </a:lnTo>
                    <a:lnTo>
                      <a:pt x="1548" y="166"/>
                    </a:lnTo>
                    <a:lnTo>
                      <a:pt x="1550" y="168"/>
                    </a:lnTo>
                    <a:lnTo>
                      <a:pt x="1554" y="166"/>
                    </a:lnTo>
                    <a:lnTo>
                      <a:pt x="1556" y="166"/>
                    </a:lnTo>
                    <a:lnTo>
                      <a:pt x="1556" y="160"/>
                    </a:lnTo>
                    <a:lnTo>
                      <a:pt x="1552" y="158"/>
                    </a:lnTo>
                    <a:lnTo>
                      <a:pt x="1552" y="152"/>
                    </a:lnTo>
                    <a:lnTo>
                      <a:pt x="1552" y="148"/>
                    </a:lnTo>
                    <a:lnTo>
                      <a:pt x="1554" y="148"/>
                    </a:lnTo>
                    <a:lnTo>
                      <a:pt x="1560" y="146"/>
                    </a:lnTo>
                    <a:lnTo>
                      <a:pt x="1568" y="148"/>
                    </a:lnTo>
                    <a:lnTo>
                      <a:pt x="1566" y="144"/>
                    </a:lnTo>
                    <a:lnTo>
                      <a:pt x="1562" y="144"/>
                    </a:lnTo>
                    <a:lnTo>
                      <a:pt x="1554" y="142"/>
                    </a:lnTo>
                    <a:lnTo>
                      <a:pt x="1556" y="136"/>
                    </a:lnTo>
                    <a:lnTo>
                      <a:pt x="1568" y="136"/>
                    </a:lnTo>
                    <a:lnTo>
                      <a:pt x="1570" y="134"/>
                    </a:lnTo>
                    <a:lnTo>
                      <a:pt x="1570" y="132"/>
                    </a:lnTo>
                    <a:lnTo>
                      <a:pt x="1568" y="132"/>
                    </a:lnTo>
                    <a:lnTo>
                      <a:pt x="1568" y="130"/>
                    </a:lnTo>
                    <a:lnTo>
                      <a:pt x="1564" y="130"/>
                    </a:lnTo>
                    <a:lnTo>
                      <a:pt x="1564" y="126"/>
                    </a:lnTo>
                    <a:lnTo>
                      <a:pt x="1568" y="126"/>
                    </a:lnTo>
                    <a:lnTo>
                      <a:pt x="1572" y="126"/>
                    </a:lnTo>
                    <a:lnTo>
                      <a:pt x="1576" y="130"/>
                    </a:lnTo>
                    <a:lnTo>
                      <a:pt x="1584" y="134"/>
                    </a:lnTo>
                    <a:lnTo>
                      <a:pt x="1592" y="134"/>
                    </a:lnTo>
                    <a:lnTo>
                      <a:pt x="1600" y="138"/>
                    </a:lnTo>
                    <a:lnTo>
                      <a:pt x="1604" y="136"/>
                    </a:lnTo>
                    <a:lnTo>
                      <a:pt x="1610" y="136"/>
                    </a:lnTo>
                    <a:lnTo>
                      <a:pt x="1612" y="138"/>
                    </a:lnTo>
                    <a:lnTo>
                      <a:pt x="1628" y="142"/>
                    </a:lnTo>
                    <a:lnTo>
                      <a:pt x="1628" y="144"/>
                    </a:lnTo>
                    <a:lnTo>
                      <a:pt x="1616" y="142"/>
                    </a:lnTo>
                    <a:lnTo>
                      <a:pt x="1614" y="144"/>
                    </a:lnTo>
                    <a:lnTo>
                      <a:pt x="1614" y="150"/>
                    </a:lnTo>
                    <a:lnTo>
                      <a:pt x="1642" y="148"/>
                    </a:lnTo>
                    <a:lnTo>
                      <a:pt x="1640" y="156"/>
                    </a:lnTo>
                    <a:lnTo>
                      <a:pt x="1638" y="154"/>
                    </a:lnTo>
                    <a:lnTo>
                      <a:pt x="1638" y="152"/>
                    </a:lnTo>
                    <a:lnTo>
                      <a:pt x="1638" y="152"/>
                    </a:lnTo>
                    <a:lnTo>
                      <a:pt x="1636" y="150"/>
                    </a:lnTo>
                    <a:lnTo>
                      <a:pt x="1632" y="156"/>
                    </a:lnTo>
                    <a:lnTo>
                      <a:pt x="1626" y="158"/>
                    </a:lnTo>
                    <a:lnTo>
                      <a:pt x="1626" y="160"/>
                    </a:lnTo>
                    <a:lnTo>
                      <a:pt x="1630" y="164"/>
                    </a:lnTo>
                    <a:lnTo>
                      <a:pt x="1624" y="166"/>
                    </a:lnTo>
                    <a:lnTo>
                      <a:pt x="1624" y="168"/>
                    </a:lnTo>
                    <a:lnTo>
                      <a:pt x="1626" y="170"/>
                    </a:lnTo>
                    <a:lnTo>
                      <a:pt x="1638" y="168"/>
                    </a:lnTo>
                    <a:lnTo>
                      <a:pt x="1640" y="164"/>
                    </a:lnTo>
                    <a:lnTo>
                      <a:pt x="1646" y="154"/>
                    </a:lnTo>
                    <a:lnTo>
                      <a:pt x="1650" y="146"/>
                    </a:lnTo>
                    <a:lnTo>
                      <a:pt x="1658" y="146"/>
                    </a:lnTo>
                    <a:lnTo>
                      <a:pt x="1668" y="146"/>
                    </a:lnTo>
                    <a:lnTo>
                      <a:pt x="1670" y="148"/>
                    </a:lnTo>
                    <a:lnTo>
                      <a:pt x="1672" y="150"/>
                    </a:lnTo>
                    <a:lnTo>
                      <a:pt x="1676" y="148"/>
                    </a:lnTo>
                    <a:lnTo>
                      <a:pt x="1678" y="148"/>
                    </a:lnTo>
                    <a:lnTo>
                      <a:pt x="1684" y="152"/>
                    </a:lnTo>
                    <a:lnTo>
                      <a:pt x="1690" y="154"/>
                    </a:lnTo>
                    <a:lnTo>
                      <a:pt x="1688" y="160"/>
                    </a:lnTo>
                    <a:lnTo>
                      <a:pt x="1682" y="162"/>
                    </a:lnTo>
                    <a:lnTo>
                      <a:pt x="1680" y="158"/>
                    </a:lnTo>
                    <a:lnTo>
                      <a:pt x="1678" y="158"/>
                    </a:lnTo>
                    <a:lnTo>
                      <a:pt x="1678" y="160"/>
                    </a:lnTo>
                    <a:lnTo>
                      <a:pt x="1676" y="160"/>
                    </a:lnTo>
                    <a:lnTo>
                      <a:pt x="1676" y="166"/>
                    </a:lnTo>
                    <a:lnTo>
                      <a:pt x="1682" y="166"/>
                    </a:lnTo>
                    <a:lnTo>
                      <a:pt x="1682" y="170"/>
                    </a:lnTo>
                    <a:lnTo>
                      <a:pt x="1676" y="176"/>
                    </a:lnTo>
                    <a:lnTo>
                      <a:pt x="1670" y="184"/>
                    </a:lnTo>
                    <a:lnTo>
                      <a:pt x="1678" y="182"/>
                    </a:lnTo>
                    <a:lnTo>
                      <a:pt x="1684" y="184"/>
                    </a:lnTo>
                    <a:lnTo>
                      <a:pt x="1688" y="182"/>
                    </a:lnTo>
                    <a:lnTo>
                      <a:pt x="1694" y="182"/>
                    </a:lnTo>
                    <a:lnTo>
                      <a:pt x="1700" y="182"/>
                    </a:lnTo>
                    <a:lnTo>
                      <a:pt x="1708" y="182"/>
                    </a:lnTo>
                    <a:lnTo>
                      <a:pt x="1714" y="182"/>
                    </a:lnTo>
                    <a:lnTo>
                      <a:pt x="1720" y="182"/>
                    </a:lnTo>
                    <a:lnTo>
                      <a:pt x="1722" y="180"/>
                    </a:lnTo>
                    <a:lnTo>
                      <a:pt x="1730" y="176"/>
                    </a:lnTo>
                    <a:lnTo>
                      <a:pt x="1734" y="176"/>
                    </a:lnTo>
                    <a:lnTo>
                      <a:pt x="1736" y="178"/>
                    </a:lnTo>
                    <a:lnTo>
                      <a:pt x="1740" y="180"/>
                    </a:lnTo>
                    <a:lnTo>
                      <a:pt x="1746" y="180"/>
                    </a:lnTo>
                    <a:lnTo>
                      <a:pt x="1748" y="178"/>
                    </a:lnTo>
                    <a:lnTo>
                      <a:pt x="1756" y="174"/>
                    </a:lnTo>
                    <a:lnTo>
                      <a:pt x="1760" y="174"/>
                    </a:lnTo>
                    <a:lnTo>
                      <a:pt x="1764" y="176"/>
                    </a:lnTo>
                    <a:lnTo>
                      <a:pt x="1768" y="176"/>
                    </a:lnTo>
                    <a:lnTo>
                      <a:pt x="1772" y="176"/>
                    </a:lnTo>
                    <a:lnTo>
                      <a:pt x="1774" y="178"/>
                    </a:lnTo>
                    <a:lnTo>
                      <a:pt x="1778" y="178"/>
                    </a:lnTo>
                    <a:lnTo>
                      <a:pt x="1780" y="176"/>
                    </a:lnTo>
                    <a:lnTo>
                      <a:pt x="1784" y="176"/>
                    </a:lnTo>
                    <a:lnTo>
                      <a:pt x="1788" y="178"/>
                    </a:lnTo>
                    <a:lnTo>
                      <a:pt x="1788" y="176"/>
                    </a:lnTo>
                    <a:lnTo>
                      <a:pt x="1792" y="174"/>
                    </a:lnTo>
                    <a:lnTo>
                      <a:pt x="1798" y="178"/>
                    </a:lnTo>
                    <a:lnTo>
                      <a:pt x="1802" y="178"/>
                    </a:lnTo>
                    <a:lnTo>
                      <a:pt x="1806" y="180"/>
                    </a:lnTo>
                    <a:lnTo>
                      <a:pt x="1808" y="182"/>
                    </a:lnTo>
                    <a:lnTo>
                      <a:pt x="1810" y="186"/>
                    </a:lnTo>
                    <a:lnTo>
                      <a:pt x="1814" y="186"/>
                    </a:lnTo>
                    <a:lnTo>
                      <a:pt x="1818" y="190"/>
                    </a:lnTo>
                    <a:lnTo>
                      <a:pt x="1822" y="194"/>
                    </a:lnTo>
                    <a:lnTo>
                      <a:pt x="1818" y="196"/>
                    </a:lnTo>
                    <a:lnTo>
                      <a:pt x="1818" y="200"/>
                    </a:lnTo>
                    <a:lnTo>
                      <a:pt x="1820" y="200"/>
                    </a:lnTo>
                    <a:lnTo>
                      <a:pt x="1820" y="204"/>
                    </a:lnTo>
                    <a:lnTo>
                      <a:pt x="1818" y="206"/>
                    </a:lnTo>
                    <a:lnTo>
                      <a:pt x="1822" y="208"/>
                    </a:lnTo>
                    <a:lnTo>
                      <a:pt x="1826" y="208"/>
                    </a:lnTo>
                    <a:lnTo>
                      <a:pt x="1826" y="210"/>
                    </a:lnTo>
                    <a:lnTo>
                      <a:pt x="1830" y="214"/>
                    </a:lnTo>
                    <a:lnTo>
                      <a:pt x="1830" y="218"/>
                    </a:lnTo>
                    <a:lnTo>
                      <a:pt x="1832" y="220"/>
                    </a:lnTo>
                    <a:lnTo>
                      <a:pt x="1832" y="224"/>
                    </a:lnTo>
                    <a:lnTo>
                      <a:pt x="1834" y="222"/>
                    </a:lnTo>
                    <a:lnTo>
                      <a:pt x="1838" y="208"/>
                    </a:lnTo>
                    <a:lnTo>
                      <a:pt x="1842" y="208"/>
                    </a:lnTo>
                    <a:lnTo>
                      <a:pt x="1850" y="204"/>
                    </a:lnTo>
                    <a:lnTo>
                      <a:pt x="1852" y="204"/>
                    </a:lnTo>
                    <a:lnTo>
                      <a:pt x="1854" y="204"/>
                    </a:lnTo>
                    <a:lnTo>
                      <a:pt x="1866" y="204"/>
                    </a:lnTo>
                    <a:lnTo>
                      <a:pt x="1876" y="204"/>
                    </a:lnTo>
                    <a:lnTo>
                      <a:pt x="1876" y="208"/>
                    </a:lnTo>
                    <a:lnTo>
                      <a:pt x="1880" y="208"/>
                    </a:lnTo>
                    <a:lnTo>
                      <a:pt x="1882" y="208"/>
                    </a:lnTo>
                    <a:lnTo>
                      <a:pt x="1884" y="206"/>
                    </a:lnTo>
                    <a:lnTo>
                      <a:pt x="1896" y="206"/>
                    </a:lnTo>
                    <a:lnTo>
                      <a:pt x="1904" y="208"/>
                    </a:lnTo>
                    <a:lnTo>
                      <a:pt x="1904" y="210"/>
                    </a:lnTo>
                    <a:lnTo>
                      <a:pt x="1906" y="210"/>
                    </a:lnTo>
                    <a:lnTo>
                      <a:pt x="1910" y="208"/>
                    </a:lnTo>
                    <a:lnTo>
                      <a:pt x="1916" y="208"/>
                    </a:lnTo>
                    <a:lnTo>
                      <a:pt x="1918" y="208"/>
                    </a:lnTo>
                    <a:lnTo>
                      <a:pt x="1920" y="208"/>
                    </a:lnTo>
                    <a:lnTo>
                      <a:pt x="1926" y="204"/>
                    </a:lnTo>
                    <a:lnTo>
                      <a:pt x="1926" y="208"/>
                    </a:lnTo>
                    <a:lnTo>
                      <a:pt x="1926" y="214"/>
                    </a:lnTo>
                    <a:lnTo>
                      <a:pt x="1928" y="214"/>
                    </a:lnTo>
                    <a:lnTo>
                      <a:pt x="1932" y="216"/>
                    </a:lnTo>
                    <a:lnTo>
                      <a:pt x="1934" y="230"/>
                    </a:lnTo>
                    <a:lnTo>
                      <a:pt x="1944" y="228"/>
                    </a:lnTo>
                    <a:lnTo>
                      <a:pt x="1944" y="226"/>
                    </a:lnTo>
                    <a:lnTo>
                      <a:pt x="1948" y="228"/>
                    </a:lnTo>
                    <a:lnTo>
                      <a:pt x="1952" y="226"/>
                    </a:lnTo>
                    <a:lnTo>
                      <a:pt x="1952" y="222"/>
                    </a:lnTo>
                    <a:lnTo>
                      <a:pt x="1956" y="222"/>
                    </a:lnTo>
                    <a:lnTo>
                      <a:pt x="1958" y="218"/>
                    </a:lnTo>
                    <a:lnTo>
                      <a:pt x="1962" y="218"/>
                    </a:lnTo>
                    <a:lnTo>
                      <a:pt x="1962" y="212"/>
                    </a:lnTo>
                    <a:lnTo>
                      <a:pt x="1962" y="208"/>
                    </a:lnTo>
                    <a:lnTo>
                      <a:pt x="1958" y="206"/>
                    </a:lnTo>
                    <a:lnTo>
                      <a:pt x="1956" y="206"/>
                    </a:lnTo>
                    <a:lnTo>
                      <a:pt x="1956" y="198"/>
                    </a:lnTo>
                    <a:lnTo>
                      <a:pt x="1956" y="192"/>
                    </a:lnTo>
                    <a:lnTo>
                      <a:pt x="1960" y="192"/>
                    </a:lnTo>
                    <a:lnTo>
                      <a:pt x="1964" y="194"/>
                    </a:lnTo>
                    <a:lnTo>
                      <a:pt x="1970" y="194"/>
                    </a:lnTo>
                    <a:lnTo>
                      <a:pt x="1978" y="194"/>
                    </a:lnTo>
                    <a:lnTo>
                      <a:pt x="1982" y="196"/>
                    </a:lnTo>
                    <a:lnTo>
                      <a:pt x="1986" y="196"/>
                    </a:lnTo>
                    <a:lnTo>
                      <a:pt x="1988" y="194"/>
                    </a:lnTo>
                    <a:lnTo>
                      <a:pt x="1992" y="196"/>
                    </a:lnTo>
                    <a:lnTo>
                      <a:pt x="1998" y="196"/>
                    </a:lnTo>
                    <a:lnTo>
                      <a:pt x="2004" y="198"/>
                    </a:lnTo>
                    <a:lnTo>
                      <a:pt x="2012" y="196"/>
                    </a:lnTo>
                    <a:lnTo>
                      <a:pt x="2014" y="194"/>
                    </a:lnTo>
                    <a:lnTo>
                      <a:pt x="2014" y="196"/>
                    </a:lnTo>
                    <a:lnTo>
                      <a:pt x="2020" y="202"/>
                    </a:lnTo>
                    <a:lnTo>
                      <a:pt x="2026" y="202"/>
                    </a:lnTo>
                    <a:lnTo>
                      <a:pt x="2030" y="204"/>
                    </a:lnTo>
                    <a:lnTo>
                      <a:pt x="2032" y="208"/>
                    </a:lnTo>
                    <a:lnTo>
                      <a:pt x="2036" y="210"/>
                    </a:lnTo>
                    <a:lnTo>
                      <a:pt x="2040" y="210"/>
                    </a:lnTo>
                    <a:lnTo>
                      <a:pt x="2042" y="210"/>
                    </a:lnTo>
                    <a:lnTo>
                      <a:pt x="2046" y="208"/>
                    </a:lnTo>
                    <a:lnTo>
                      <a:pt x="2050" y="208"/>
                    </a:lnTo>
                    <a:lnTo>
                      <a:pt x="2052" y="210"/>
                    </a:lnTo>
                    <a:lnTo>
                      <a:pt x="2056" y="212"/>
                    </a:lnTo>
                    <a:lnTo>
                      <a:pt x="2066" y="212"/>
                    </a:lnTo>
                    <a:lnTo>
                      <a:pt x="2070" y="216"/>
                    </a:lnTo>
                    <a:lnTo>
                      <a:pt x="2070" y="220"/>
                    </a:lnTo>
                    <a:lnTo>
                      <a:pt x="2074" y="222"/>
                    </a:lnTo>
                    <a:lnTo>
                      <a:pt x="2078" y="226"/>
                    </a:lnTo>
                    <a:lnTo>
                      <a:pt x="2080" y="234"/>
                    </a:lnTo>
                    <a:lnTo>
                      <a:pt x="2090" y="236"/>
                    </a:lnTo>
                    <a:lnTo>
                      <a:pt x="2090" y="238"/>
                    </a:lnTo>
                    <a:lnTo>
                      <a:pt x="2094" y="238"/>
                    </a:lnTo>
                    <a:lnTo>
                      <a:pt x="2096" y="238"/>
                    </a:lnTo>
                    <a:lnTo>
                      <a:pt x="2100" y="242"/>
                    </a:lnTo>
                    <a:lnTo>
                      <a:pt x="2098" y="244"/>
                    </a:lnTo>
                    <a:lnTo>
                      <a:pt x="2098" y="246"/>
                    </a:lnTo>
                    <a:lnTo>
                      <a:pt x="2100" y="246"/>
                    </a:lnTo>
                    <a:lnTo>
                      <a:pt x="2106" y="250"/>
                    </a:lnTo>
                    <a:lnTo>
                      <a:pt x="2112" y="254"/>
                    </a:lnTo>
                    <a:lnTo>
                      <a:pt x="2116" y="254"/>
                    </a:lnTo>
                    <a:lnTo>
                      <a:pt x="2118" y="258"/>
                    </a:lnTo>
                    <a:lnTo>
                      <a:pt x="2126" y="260"/>
                    </a:lnTo>
                    <a:lnTo>
                      <a:pt x="2128" y="264"/>
                    </a:lnTo>
                    <a:lnTo>
                      <a:pt x="2132" y="264"/>
                    </a:lnTo>
                    <a:lnTo>
                      <a:pt x="2136" y="264"/>
                    </a:lnTo>
                    <a:lnTo>
                      <a:pt x="2138" y="270"/>
                    </a:lnTo>
                    <a:lnTo>
                      <a:pt x="2140" y="272"/>
                    </a:lnTo>
                    <a:lnTo>
                      <a:pt x="2144" y="274"/>
                    </a:lnTo>
                    <a:lnTo>
                      <a:pt x="2144" y="280"/>
                    </a:lnTo>
                    <a:lnTo>
                      <a:pt x="2142" y="288"/>
                    </a:lnTo>
                    <a:lnTo>
                      <a:pt x="2148" y="290"/>
                    </a:lnTo>
                    <a:lnTo>
                      <a:pt x="2146" y="278"/>
                    </a:lnTo>
                    <a:lnTo>
                      <a:pt x="2156" y="276"/>
                    </a:lnTo>
                    <a:lnTo>
                      <a:pt x="2168" y="276"/>
                    </a:lnTo>
                    <a:lnTo>
                      <a:pt x="2170" y="278"/>
                    </a:lnTo>
                    <a:lnTo>
                      <a:pt x="2174" y="280"/>
                    </a:lnTo>
                    <a:lnTo>
                      <a:pt x="2176" y="280"/>
                    </a:lnTo>
                    <a:lnTo>
                      <a:pt x="2178" y="282"/>
                    </a:lnTo>
                    <a:lnTo>
                      <a:pt x="2178" y="286"/>
                    </a:lnTo>
                    <a:lnTo>
                      <a:pt x="2184" y="288"/>
                    </a:lnTo>
                    <a:lnTo>
                      <a:pt x="2184" y="292"/>
                    </a:lnTo>
                    <a:lnTo>
                      <a:pt x="2192" y="296"/>
                    </a:lnTo>
                    <a:lnTo>
                      <a:pt x="2198" y="300"/>
                    </a:lnTo>
                    <a:lnTo>
                      <a:pt x="2200" y="302"/>
                    </a:lnTo>
                    <a:lnTo>
                      <a:pt x="2204" y="302"/>
                    </a:lnTo>
                    <a:lnTo>
                      <a:pt x="2204" y="304"/>
                    </a:lnTo>
                    <a:lnTo>
                      <a:pt x="2200" y="306"/>
                    </a:lnTo>
                    <a:lnTo>
                      <a:pt x="2200" y="306"/>
                    </a:lnTo>
                    <a:close/>
                    <a:moveTo>
                      <a:pt x="26" y="538"/>
                    </a:moveTo>
                    <a:lnTo>
                      <a:pt x="26" y="538"/>
                    </a:lnTo>
                    <a:lnTo>
                      <a:pt x="16" y="528"/>
                    </a:lnTo>
                    <a:lnTo>
                      <a:pt x="12" y="530"/>
                    </a:lnTo>
                    <a:lnTo>
                      <a:pt x="14" y="526"/>
                    </a:lnTo>
                    <a:lnTo>
                      <a:pt x="14" y="524"/>
                    </a:lnTo>
                    <a:lnTo>
                      <a:pt x="12" y="524"/>
                    </a:lnTo>
                    <a:lnTo>
                      <a:pt x="10" y="524"/>
                    </a:lnTo>
                    <a:lnTo>
                      <a:pt x="12" y="524"/>
                    </a:lnTo>
                    <a:lnTo>
                      <a:pt x="8" y="528"/>
                    </a:lnTo>
                    <a:lnTo>
                      <a:pt x="6" y="528"/>
                    </a:lnTo>
                    <a:lnTo>
                      <a:pt x="4" y="536"/>
                    </a:lnTo>
                    <a:lnTo>
                      <a:pt x="6" y="536"/>
                    </a:lnTo>
                    <a:lnTo>
                      <a:pt x="4" y="538"/>
                    </a:lnTo>
                    <a:lnTo>
                      <a:pt x="4" y="542"/>
                    </a:lnTo>
                    <a:lnTo>
                      <a:pt x="0" y="544"/>
                    </a:lnTo>
                    <a:lnTo>
                      <a:pt x="0" y="544"/>
                    </a:lnTo>
                    <a:lnTo>
                      <a:pt x="4" y="548"/>
                    </a:lnTo>
                    <a:lnTo>
                      <a:pt x="14" y="552"/>
                    </a:lnTo>
                    <a:lnTo>
                      <a:pt x="26" y="554"/>
                    </a:lnTo>
                    <a:lnTo>
                      <a:pt x="32" y="554"/>
                    </a:lnTo>
                    <a:lnTo>
                      <a:pt x="40" y="554"/>
                    </a:lnTo>
                    <a:lnTo>
                      <a:pt x="46" y="552"/>
                    </a:lnTo>
                    <a:lnTo>
                      <a:pt x="44" y="542"/>
                    </a:lnTo>
                    <a:lnTo>
                      <a:pt x="36" y="542"/>
                    </a:lnTo>
                    <a:lnTo>
                      <a:pt x="30" y="540"/>
                    </a:lnTo>
                    <a:lnTo>
                      <a:pt x="26" y="538"/>
                    </a:lnTo>
                    <a:lnTo>
                      <a:pt x="26" y="53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64" name="Freeform 550">
                <a:extLst>
                  <a:ext uri="{FF2B5EF4-FFF2-40B4-BE49-F238E27FC236}">
                    <a16:creationId xmlns:a16="http://schemas.microsoft.com/office/drawing/2014/main" id="{BAEFEB3D-D67B-2DA3-52EF-AD5AC105A390}"/>
                  </a:ext>
                </a:extLst>
              </p:cNvPr>
              <p:cNvSpPr>
                <a:spLocks/>
              </p:cNvSpPr>
              <p:nvPr/>
            </p:nvSpPr>
            <p:spPr bwMode="auto">
              <a:xfrm>
                <a:off x="5103332" y="3472173"/>
                <a:ext cx="110848" cy="84541"/>
              </a:xfrm>
              <a:custGeom>
                <a:avLst/>
                <a:gdLst/>
                <a:ahLst/>
                <a:cxnLst>
                  <a:cxn ang="0">
                    <a:pos x="114" y="58"/>
                  </a:cxn>
                  <a:cxn ang="0">
                    <a:pos x="108" y="58"/>
                  </a:cxn>
                  <a:cxn ang="0">
                    <a:pos x="106" y="60"/>
                  </a:cxn>
                  <a:cxn ang="0">
                    <a:pos x="102" y="58"/>
                  </a:cxn>
                  <a:cxn ang="0">
                    <a:pos x="96" y="56"/>
                  </a:cxn>
                  <a:cxn ang="0">
                    <a:pos x="94" y="52"/>
                  </a:cxn>
                  <a:cxn ang="0">
                    <a:pos x="94" y="48"/>
                  </a:cxn>
                  <a:cxn ang="0">
                    <a:pos x="94" y="42"/>
                  </a:cxn>
                  <a:cxn ang="0">
                    <a:pos x="96" y="38"/>
                  </a:cxn>
                  <a:cxn ang="0">
                    <a:pos x="94" y="34"/>
                  </a:cxn>
                  <a:cxn ang="0">
                    <a:pos x="94" y="30"/>
                  </a:cxn>
                  <a:cxn ang="0">
                    <a:pos x="92" y="24"/>
                  </a:cxn>
                  <a:cxn ang="0">
                    <a:pos x="84" y="14"/>
                  </a:cxn>
                  <a:cxn ang="0">
                    <a:pos x="78" y="2"/>
                  </a:cxn>
                  <a:cxn ang="0">
                    <a:pos x="72" y="0"/>
                  </a:cxn>
                  <a:cxn ang="0">
                    <a:pos x="66" y="6"/>
                  </a:cxn>
                  <a:cxn ang="0">
                    <a:pos x="60" y="8"/>
                  </a:cxn>
                  <a:cxn ang="0">
                    <a:pos x="56" y="12"/>
                  </a:cxn>
                  <a:cxn ang="0">
                    <a:pos x="50" y="10"/>
                  </a:cxn>
                  <a:cxn ang="0">
                    <a:pos x="44" y="8"/>
                  </a:cxn>
                  <a:cxn ang="0">
                    <a:pos x="34" y="6"/>
                  </a:cxn>
                  <a:cxn ang="0">
                    <a:pos x="30" y="2"/>
                  </a:cxn>
                  <a:cxn ang="0">
                    <a:pos x="26" y="18"/>
                  </a:cxn>
                  <a:cxn ang="0">
                    <a:pos x="18" y="26"/>
                  </a:cxn>
                  <a:cxn ang="0">
                    <a:pos x="16" y="40"/>
                  </a:cxn>
                  <a:cxn ang="0">
                    <a:pos x="10" y="48"/>
                  </a:cxn>
                  <a:cxn ang="0">
                    <a:pos x="4" y="52"/>
                  </a:cxn>
                  <a:cxn ang="0">
                    <a:pos x="4" y="56"/>
                  </a:cxn>
                  <a:cxn ang="0">
                    <a:pos x="8" y="62"/>
                  </a:cxn>
                  <a:cxn ang="0">
                    <a:pos x="10" y="66"/>
                  </a:cxn>
                  <a:cxn ang="0">
                    <a:pos x="14" y="70"/>
                  </a:cxn>
                  <a:cxn ang="0">
                    <a:pos x="18" y="70"/>
                  </a:cxn>
                  <a:cxn ang="0">
                    <a:pos x="20" y="66"/>
                  </a:cxn>
                  <a:cxn ang="0">
                    <a:pos x="28" y="70"/>
                  </a:cxn>
                  <a:cxn ang="0">
                    <a:pos x="28" y="72"/>
                  </a:cxn>
                  <a:cxn ang="0">
                    <a:pos x="24" y="74"/>
                  </a:cxn>
                  <a:cxn ang="0">
                    <a:pos x="30" y="80"/>
                  </a:cxn>
                  <a:cxn ang="0">
                    <a:pos x="36" y="82"/>
                  </a:cxn>
                  <a:cxn ang="0">
                    <a:pos x="38" y="84"/>
                  </a:cxn>
                  <a:cxn ang="0">
                    <a:pos x="36" y="88"/>
                  </a:cxn>
                  <a:cxn ang="0">
                    <a:pos x="42" y="88"/>
                  </a:cxn>
                  <a:cxn ang="0">
                    <a:pos x="48" y="86"/>
                  </a:cxn>
                  <a:cxn ang="0">
                    <a:pos x="54" y="88"/>
                  </a:cxn>
                  <a:cxn ang="0">
                    <a:pos x="64" y="86"/>
                  </a:cxn>
                  <a:cxn ang="0">
                    <a:pos x="72" y="80"/>
                  </a:cxn>
                  <a:cxn ang="0">
                    <a:pos x="80" y="82"/>
                  </a:cxn>
                  <a:cxn ang="0">
                    <a:pos x="86" y="82"/>
                  </a:cxn>
                  <a:cxn ang="0">
                    <a:pos x="94" y="80"/>
                  </a:cxn>
                  <a:cxn ang="0">
                    <a:pos x="104" y="82"/>
                  </a:cxn>
                  <a:cxn ang="0">
                    <a:pos x="104" y="78"/>
                  </a:cxn>
                  <a:cxn ang="0">
                    <a:pos x="106" y="74"/>
                  </a:cxn>
                  <a:cxn ang="0">
                    <a:pos x="110" y="74"/>
                  </a:cxn>
                  <a:cxn ang="0">
                    <a:pos x="112" y="70"/>
                  </a:cxn>
                  <a:cxn ang="0">
                    <a:pos x="114" y="62"/>
                  </a:cxn>
                  <a:cxn ang="0">
                    <a:pos x="112" y="60"/>
                  </a:cxn>
                  <a:cxn ang="0">
                    <a:pos x="114" y="58"/>
                  </a:cxn>
                </a:cxnLst>
                <a:rect l="0" t="0" r="r" b="b"/>
                <a:pathLst>
                  <a:path w="114" h="88">
                    <a:moveTo>
                      <a:pt x="114" y="58"/>
                    </a:moveTo>
                    <a:lnTo>
                      <a:pt x="114" y="58"/>
                    </a:lnTo>
                    <a:lnTo>
                      <a:pt x="112" y="58"/>
                    </a:lnTo>
                    <a:lnTo>
                      <a:pt x="108" y="58"/>
                    </a:lnTo>
                    <a:lnTo>
                      <a:pt x="106" y="58"/>
                    </a:lnTo>
                    <a:lnTo>
                      <a:pt x="106" y="60"/>
                    </a:lnTo>
                    <a:lnTo>
                      <a:pt x="104" y="60"/>
                    </a:lnTo>
                    <a:lnTo>
                      <a:pt x="102" y="58"/>
                    </a:lnTo>
                    <a:lnTo>
                      <a:pt x="100" y="58"/>
                    </a:lnTo>
                    <a:lnTo>
                      <a:pt x="96" y="56"/>
                    </a:lnTo>
                    <a:lnTo>
                      <a:pt x="94" y="54"/>
                    </a:lnTo>
                    <a:lnTo>
                      <a:pt x="94" y="52"/>
                    </a:lnTo>
                    <a:lnTo>
                      <a:pt x="96" y="50"/>
                    </a:lnTo>
                    <a:lnTo>
                      <a:pt x="94" y="48"/>
                    </a:lnTo>
                    <a:lnTo>
                      <a:pt x="94" y="48"/>
                    </a:lnTo>
                    <a:lnTo>
                      <a:pt x="94" y="42"/>
                    </a:lnTo>
                    <a:lnTo>
                      <a:pt x="94" y="40"/>
                    </a:lnTo>
                    <a:lnTo>
                      <a:pt x="96" y="38"/>
                    </a:lnTo>
                    <a:lnTo>
                      <a:pt x="94" y="36"/>
                    </a:lnTo>
                    <a:lnTo>
                      <a:pt x="94" y="34"/>
                    </a:lnTo>
                    <a:lnTo>
                      <a:pt x="94" y="32"/>
                    </a:lnTo>
                    <a:lnTo>
                      <a:pt x="94" y="30"/>
                    </a:lnTo>
                    <a:lnTo>
                      <a:pt x="94" y="28"/>
                    </a:lnTo>
                    <a:lnTo>
                      <a:pt x="92" y="24"/>
                    </a:lnTo>
                    <a:lnTo>
                      <a:pt x="88" y="18"/>
                    </a:lnTo>
                    <a:lnTo>
                      <a:pt x="84" y="14"/>
                    </a:lnTo>
                    <a:lnTo>
                      <a:pt x="84" y="10"/>
                    </a:lnTo>
                    <a:lnTo>
                      <a:pt x="78" y="2"/>
                    </a:lnTo>
                    <a:lnTo>
                      <a:pt x="74" y="0"/>
                    </a:lnTo>
                    <a:lnTo>
                      <a:pt x="72" y="0"/>
                    </a:lnTo>
                    <a:lnTo>
                      <a:pt x="68" y="4"/>
                    </a:lnTo>
                    <a:lnTo>
                      <a:pt x="66" y="6"/>
                    </a:lnTo>
                    <a:lnTo>
                      <a:pt x="62" y="8"/>
                    </a:lnTo>
                    <a:lnTo>
                      <a:pt x="60" y="8"/>
                    </a:lnTo>
                    <a:lnTo>
                      <a:pt x="60" y="10"/>
                    </a:lnTo>
                    <a:lnTo>
                      <a:pt x="56" y="12"/>
                    </a:lnTo>
                    <a:lnTo>
                      <a:pt x="52" y="14"/>
                    </a:lnTo>
                    <a:lnTo>
                      <a:pt x="50" y="10"/>
                    </a:lnTo>
                    <a:lnTo>
                      <a:pt x="48" y="8"/>
                    </a:lnTo>
                    <a:lnTo>
                      <a:pt x="44" y="8"/>
                    </a:lnTo>
                    <a:lnTo>
                      <a:pt x="38" y="8"/>
                    </a:lnTo>
                    <a:lnTo>
                      <a:pt x="34" y="6"/>
                    </a:lnTo>
                    <a:lnTo>
                      <a:pt x="32" y="2"/>
                    </a:lnTo>
                    <a:lnTo>
                      <a:pt x="30" y="2"/>
                    </a:lnTo>
                    <a:lnTo>
                      <a:pt x="28" y="14"/>
                    </a:lnTo>
                    <a:lnTo>
                      <a:pt x="26" y="18"/>
                    </a:lnTo>
                    <a:lnTo>
                      <a:pt x="20" y="22"/>
                    </a:lnTo>
                    <a:lnTo>
                      <a:pt x="18" y="26"/>
                    </a:lnTo>
                    <a:lnTo>
                      <a:pt x="16" y="32"/>
                    </a:lnTo>
                    <a:lnTo>
                      <a:pt x="16" y="40"/>
                    </a:lnTo>
                    <a:lnTo>
                      <a:pt x="14" y="46"/>
                    </a:lnTo>
                    <a:lnTo>
                      <a:pt x="10" y="48"/>
                    </a:lnTo>
                    <a:lnTo>
                      <a:pt x="8" y="50"/>
                    </a:lnTo>
                    <a:lnTo>
                      <a:pt x="4" y="52"/>
                    </a:lnTo>
                    <a:lnTo>
                      <a:pt x="0" y="52"/>
                    </a:lnTo>
                    <a:lnTo>
                      <a:pt x="4" y="56"/>
                    </a:lnTo>
                    <a:lnTo>
                      <a:pt x="6" y="58"/>
                    </a:lnTo>
                    <a:lnTo>
                      <a:pt x="8" y="62"/>
                    </a:lnTo>
                    <a:lnTo>
                      <a:pt x="6" y="66"/>
                    </a:lnTo>
                    <a:lnTo>
                      <a:pt x="10" y="66"/>
                    </a:lnTo>
                    <a:lnTo>
                      <a:pt x="12" y="66"/>
                    </a:lnTo>
                    <a:lnTo>
                      <a:pt x="14" y="70"/>
                    </a:lnTo>
                    <a:lnTo>
                      <a:pt x="16" y="72"/>
                    </a:lnTo>
                    <a:lnTo>
                      <a:pt x="18" y="70"/>
                    </a:lnTo>
                    <a:lnTo>
                      <a:pt x="20" y="68"/>
                    </a:lnTo>
                    <a:lnTo>
                      <a:pt x="20" y="66"/>
                    </a:lnTo>
                    <a:lnTo>
                      <a:pt x="24" y="66"/>
                    </a:lnTo>
                    <a:lnTo>
                      <a:pt x="28" y="70"/>
                    </a:lnTo>
                    <a:lnTo>
                      <a:pt x="30" y="72"/>
                    </a:lnTo>
                    <a:lnTo>
                      <a:pt x="28" y="72"/>
                    </a:lnTo>
                    <a:lnTo>
                      <a:pt x="24" y="72"/>
                    </a:lnTo>
                    <a:lnTo>
                      <a:pt x="24" y="74"/>
                    </a:lnTo>
                    <a:lnTo>
                      <a:pt x="26" y="78"/>
                    </a:lnTo>
                    <a:lnTo>
                      <a:pt x="30" y="80"/>
                    </a:lnTo>
                    <a:lnTo>
                      <a:pt x="32" y="80"/>
                    </a:lnTo>
                    <a:lnTo>
                      <a:pt x="36" y="82"/>
                    </a:lnTo>
                    <a:lnTo>
                      <a:pt x="38" y="82"/>
                    </a:lnTo>
                    <a:lnTo>
                      <a:pt x="38" y="84"/>
                    </a:lnTo>
                    <a:lnTo>
                      <a:pt x="36" y="86"/>
                    </a:lnTo>
                    <a:lnTo>
                      <a:pt x="36" y="88"/>
                    </a:lnTo>
                    <a:lnTo>
                      <a:pt x="38" y="88"/>
                    </a:lnTo>
                    <a:lnTo>
                      <a:pt x="42" y="88"/>
                    </a:lnTo>
                    <a:lnTo>
                      <a:pt x="46" y="88"/>
                    </a:lnTo>
                    <a:lnTo>
                      <a:pt x="48" y="86"/>
                    </a:lnTo>
                    <a:lnTo>
                      <a:pt x="50" y="88"/>
                    </a:lnTo>
                    <a:lnTo>
                      <a:pt x="54" y="88"/>
                    </a:lnTo>
                    <a:lnTo>
                      <a:pt x="60" y="88"/>
                    </a:lnTo>
                    <a:lnTo>
                      <a:pt x="64" y="86"/>
                    </a:lnTo>
                    <a:lnTo>
                      <a:pt x="68" y="84"/>
                    </a:lnTo>
                    <a:lnTo>
                      <a:pt x="72" y="80"/>
                    </a:lnTo>
                    <a:lnTo>
                      <a:pt x="76" y="80"/>
                    </a:lnTo>
                    <a:lnTo>
                      <a:pt x="80" y="82"/>
                    </a:lnTo>
                    <a:lnTo>
                      <a:pt x="82" y="84"/>
                    </a:lnTo>
                    <a:lnTo>
                      <a:pt x="86" y="82"/>
                    </a:lnTo>
                    <a:lnTo>
                      <a:pt x="90" y="80"/>
                    </a:lnTo>
                    <a:lnTo>
                      <a:pt x="94" y="80"/>
                    </a:lnTo>
                    <a:lnTo>
                      <a:pt x="100" y="84"/>
                    </a:lnTo>
                    <a:lnTo>
                      <a:pt x="104" y="82"/>
                    </a:lnTo>
                    <a:lnTo>
                      <a:pt x="104" y="80"/>
                    </a:lnTo>
                    <a:lnTo>
                      <a:pt x="104" y="78"/>
                    </a:lnTo>
                    <a:lnTo>
                      <a:pt x="104" y="76"/>
                    </a:lnTo>
                    <a:lnTo>
                      <a:pt x="106" y="74"/>
                    </a:lnTo>
                    <a:lnTo>
                      <a:pt x="110" y="76"/>
                    </a:lnTo>
                    <a:lnTo>
                      <a:pt x="110" y="74"/>
                    </a:lnTo>
                    <a:lnTo>
                      <a:pt x="112" y="74"/>
                    </a:lnTo>
                    <a:lnTo>
                      <a:pt x="112" y="70"/>
                    </a:lnTo>
                    <a:lnTo>
                      <a:pt x="112" y="64"/>
                    </a:lnTo>
                    <a:lnTo>
                      <a:pt x="114" y="62"/>
                    </a:lnTo>
                    <a:lnTo>
                      <a:pt x="112" y="62"/>
                    </a:lnTo>
                    <a:lnTo>
                      <a:pt x="112" y="60"/>
                    </a:lnTo>
                    <a:lnTo>
                      <a:pt x="114" y="60"/>
                    </a:lnTo>
                    <a:lnTo>
                      <a:pt x="114" y="58"/>
                    </a:lnTo>
                    <a:lnTo>
                      <a:pt x="114" y="58"/>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65" name="Freeform 551">
                <a:extLst>
                  <a:ext uri="{FF2B5EF4-FFF2-40B4-BE49-F238E27FC236}">
                    <a16:creationId xmlns:a16="http://schemas.microsoft.com/office/drawing/2014/main" id="{4BAD5BB6-EF05-A6A2-1926-70947A7B755C}"/>
                  </a:ext>
                </a:extLst>
              </p:cNvPr>
              <p:cNvSpPr>
                <a:spLocks noEditPoints="1"/>
              </p:cNvSpPr>
              <p:nvPr/>
            </p:nvSpPr>
            <p:spPr bwMode="auto">
              <a:xfrm>
                <a:off x="4920531" y="3500993"/>
                <a:ext cx="145852" cy="180609"/>
              </a:xfrm>
              <a:custGeom>
                <a:avLst/>
                <a:gdLst/>
                <a:ahLst/>
                <a:cxnLst>
                  <a:cxn ang="0">
                    <a:pos x="76" y="164"/>
                  </a:cxn>
                  <a:cxn ang="0">
                    <a:pos x="90" y="180"/>
                  </a:cxn>
                  <a:cxn ang="0">
                    <a:pos x="104" y="186"/>
                  </a:cxn>
                  <a:cxn ang="0">
                    <a:pos x="112" y="180"/>
                  </a:cxn>
                  <a:cxn ang="0">
                    <a:pos x="112" y="168"/>
                  </a:cxn>
                  <a:cxn ang="0">
                    <a:pos x="96" y="168"/>
                  </a:cxn>
                  <a:cxn ang="0">
                    <a:pos x="80" y="164"/>
                  </a:cxn>
                  <a:cxn ang="0">
                    <a:pos x="8" y="62"/>
                  </a:cxn>
                  <a:cxn ang="0">
                    <a:pos x="22" y="54"/>
                  </a:cxn>
                  <a:cxn ang="0">
                    <a:pos x="34" y="52"/>
                  </a:cxn>
                  <a:cxn ang="0">
                    <a:pos x="46" y="58"/>
                  </a:cxn>
                  <a:cxn ang="0">
                    <a:pos x="50" y="72"/>
                  </a:cxn>
                  <a:cxn ang="0">
                    <a:pos x="60" y="86"/>
                  </a:cxn>
                  <a:cxn ang="0">
                    <a:pos x="74" y="104"/>
                  </a:cxn>
                  <a:cxn ang="0">
                    <a:pos x="90" y="108"/>
                  </a:cxn>
                  <a:cxn ang="0">
                    <a:pos x="100" y="118"/>
                  </a:cxn>
                  <a:cxn ang="0">
                    <a:pos x="106" y="124"/>
                  </a:cxn>
                  <a:cxn ang="0">
                    <a:pos x="120" y="140"/>
                  </a:cxn>
                  <a:cxn ang="0">
                    <a:pos x="116" y="164"/>
                  </a:cxn>
                  <a:cxn ang="0">
                    <a:pos x="122" y="170"/>
                  </a:cxn>
                  <a:cxn ang="0">
                    <a:pos x="128" y="152"/>
                  </a:cxn>
                  <a:cxn ang="0">
                    <a:pos x="132" y="142"/>
                  </a:cxn>
                  <a:cxn ang="0">
                    <a:pos x="128" y="126"/>
                  </a:cxn>
                  <a:cxn ang="0">
                    <a:pos x="144" y="126"/>
                  </a:cxn>
                  <a:cxn ang="0">
                    <a:pos x="150" y="128"/>
                  </a:cxn>
                  <a:cxn ang="0">
                    <a:pos x="144" y="120"/>
                  </a:cxn>
                  <a:cxn ang="0">
                    <a:pos x="122" y="96"/>
                  </a:cxn>
                  <a:cxn ang="0">
                    <a:pos x="92" y="76"/>
                  </a:cxn>
                  <a:cxn ang="0">
                    <a:pos x="84" y="62"/>
                  </a:cxn>
                  <a:cxn ang="0">
                    <a:pos x="70" y="54"/>
                  </a:cxn>
                  <a:cxn ang="0">
                    <a:pos x="74" y="36"/>
                  </a:cxn>
                  <a:cxn ang="0">
                    <a:pos x="72" y="28"/>
                  </a:cxn>
                  <a:cxn ang="0">
                    <a:pos x="88" y="22"/>
                  </a:cxn>
                  <a:cxn ang="0">
                    <a:pos x="86" y="12"/>
                  </a:cxn>
                  <a:cxn ang="0">
                    <a:pos x="78" y="4"/>
                  </a:cxn>
                  <a:cxn ang="0">
                    <a:pos x="68" y="2"/>
                  </a:cxn>
                  <a:cxn ang="0">
                    <a:pos x="58" y="0"/>
                  </a:cxn>
                  <a:cxn ang="0">
                    <a:pos x="50" y="2"/>
                  </a:cxn>
                  <a:cxn ang="0">
                    <a:pos x="50" y="6"/>
                  </a:cxn>
                  <a:cxn ang="0">
                    <a:pos x="42" y="6"/>
                  </a:cxn>
                  <a:cxn ang="0">
                    <a:pos x="36" y="12"/>
                  </a:cxn>
                  <a:cxn ang="0">
                    <a:pos x="34" y="20"/>
                  </a:cxn>
                  <a:cxn ang="0">
                    <a:pos x="22" y="14"/>
                  </a:cxn>
                  <a:cxn ang="0">
                    <a:pos x="18" y="20"/>
                  </a:cxn>
                  <a:cxn ang="0">
                    <a:pos x="8" y="30"/>
                  </a:cxn>
                  <a:cxn ang="0">
                    <a:pos x="0" y="36"/>
                  </a:cxn>
                  <a:cxn ang="0">
                    <a:pos x="4" y="44"/>
                  </a:cxn>
                  <a:cxn ang="0">
                    <a:pos x="6" y="54"/>
                  </a:cxn>
                  <a:cxn ang="0">
                    <a:pos x="6" y="60"/>
                  </a:cxn>
                  <a:cxn ang="0">
                    <a:pos x="34" y="106"/>
                  </a:cxn>
                  <a:cxn ang="0">
                    <a:pos x="24" y="132"/>
                  </a:cxn>
                  <a:cxn ang="0">
                    <a:pos x="34" y="146"/>
                  </a:cxn>
                  <a:cxn ang="0">
                    <a:pos x="38" y="110"/>
                  </a:cxn>
                </a:cxnLst>
                <a:rect l="0" t="0" r="r" b="b"/>
                <a:pathLst>
                  <a:path w="150" h="188">
                    <a:moveTo>
                      <a:pt x="78" y="162"/>
                    </a:moveTo>
                    <a:lnTo>
                      <a:pt x="78" y="162"/>
                    </a:lnTo>
                    <a:lnTo>
                      <a:pt x="78" y="164"/>
                    </a:lnTo>
                    <a:lnTo>
                      <a:pt x="76" y="164"/>
                    </a:lnTo>
                    <a:lnTo>
                      <a:pt x="76" y="170"/>
                    </a:lnTo>
                    <a:lnTo>
                      <a:pt x="82" y="174"/>
                    </a:lnTo>
                    <a:lnTo>
                      <a:pt x="88" y="176"/>
                    </a:lnTo>
                    <a:lnTo>
                      <a:pt x="90" y="180"/>
                    </a:lnTo>
                    <a:lnTo>
                      <a:pt x="92" y="180"/>
                    </a:lnTo>
                    <a:lnTo>
                      <a:pt x="96" y="180"/>
                    </a:lnTo>
                    <a:lnTo>
                      <a:pt x="98" y="182"/>
                    </a:lnTo>
                    <a:lnTo>
                      <a:pt x="104" y="186"/>
                    </a:lnTo>
                    <a:lnTo>
                      <a:pt x="104" y="188"/>
                    </a:lnTo>
                    <a:lnTo>
                      <a:pt x="110" y="188"/>
                    </a:lnTo>
                    <a:lnTo>
                      <a:pt x="108" y="182"/>
                    </a:lnTo>
                    <a:lnTo>
                      <a:pt x="112" y="180"/>
                    </a:lnTo>
                    <a:lnTo>
                      <a:pt x="112" y="176"/>
                    </a:lnTo>
                    <a:lnTo>
                      <a:pt x="112" y="172"/>
                    </a:lnTo>
                    <a:lnTo>
                      <a:pt x="112" y="170"/>
                    </a:lnTo>
                    <a:lnTo>
                      <a:pt x="112" y="168"/>
                    </a:lnTo>
                    <a:lnTo>
                      <a:pt x="114" y="166"/>
                    </a:lnTo>
                    <a:lnTo>
                      <a:pt x="114" y="162"/>
                    </a:lnTo>
                    <a:lnTo>
                      <a:pt x="102" y="166"/>
                    </a:lnTo>
                    <a:lnTo>
                      <a:pt x="96" y="168"/>
                    </a:lnTo>
                    <a:lnTo>
                      <a:pt x="90" y="166"/>
                    </a:lnTo>
                    <a:lnTo>
                      <a:pt x="86" y="164"/>
                    </a:lnTo>
                    <a:lnTo>
                      <a:pt x="84" y="164"/>
                    </a:lnTo>
                    <a:lnTo>
                      <a:pt x="80" y="164"/>
                    </a:lnTo>
                    <a:lnTo>
                      <a:pt x="78" y="162"/>
                    </a:lnTo>
                    <a:lnTo>
                      <a:pt x="78" y="162"/>
                    </a:lnTo>
                    <a:close/>
                    <a:moveTo>
                      <a:pt x="8" y="62"/>
                    </a:moveTo>
                    <a:lnTo>
                      <a:pt x="8" y="62"/>
                    </a:lnTo>
                    <a:lnTo>
                      <a:pt x="12" y="60"/>
                    </a:lnTo>
                    <a:lnTo>
                      <a:pt x="18" y="60"/>
                    </a:lnTo>
                    <a:lnTo>
                      <a:pt x="18" y="56"/>
                    </a:lnTo>
                    <a:lnTo>
                      <a:pt x="22" y="54"/>
                    </a:lnTo>
                    <a:lnTo>
                      <a:pt x="22" y="50"/>
                    </a:lnTo>
                    <a:lnTo>
                      <a:pt x="26" y="48"/>
                    </a:lnTo>
                    <a:lnTo>
                      <a:pt x="32" y="48"/>
                    </a:lnTo>
                    <a:lnTo>
                      <a:pt x="34" y="52"/>
                    </a:lnTo>
                    <a:lnTo>
                      <a:pt x="38" y="52"/>
                    </a:lnTo>
                    <a:lnTo>
                      <a:pt x="44" y="56"/>
                    </a:lnTo>
                    <a:lnTo>
                      <a:pt x="44" y="58"/>
                    </a:lnTo>
                    <a:lnTo>
                      <a:pt x="46" y="58"/>
                    </a:lnTo>
                    <a:lnTo>
                      <a:pt x="46" y="62"/>
                    </a:lnTo>
                    <a:lnTo>
                      <a:pt x="46" y="64"/>
                    </a:lnTo>
                    <a:lnTo>
                      <a:pt x="50" y="68"/>
                    </a:lnTo>
                    <a:lnTo>
                      <a:pt x="50" y="72"/>
                    </a:lnTo>
                    <a:lnTo>
                      <a:pt x="56" y="74"/>
                    </a:lnTo>
                    <a:lnTo>
                      <a:pt x="56" y="78"/>
                    </a:lnTo>
                    <a:lnTo>
                      <a:pt x="58" y="84"/>
                    </a:lnTo>
                    <a:lnTo>
                      <a:pt x="60" y="86"/>
                    </a:lnTo>
                    <a:lnTo>
                      <a:pt x="62" y="90"/>
                    </a:lnTo>
                    <a:lnTo>
                      <a:pt x="70" y="96"/>
                    </a:lnTo>
                    <a:lnTo>
                      <a:pt x="72" y="100"/>
                    </a:lnTo>
                    <a:lnTo>
                      <a:pt x="74" y="104"/>
                    </a:lnTo>
                    <a:lnTo>
                      <a:pt x="84" y="108"/>
                    </a:lnTo>
                    <a:lnTo>
                      <a:pt x="84" y="110"/>
                    </a:lnTo>
                    <a:lnTo>
                      <a:pt x="88" y="108"/>
                    </a:lnTo>
                    <a:lnTo>
                      <a:pt x="90" y="108"/>
                    </a:lnTo>
                    <a:lnTo>
                      <a:pt x="94" y="112"/>
                    </a:lnTo>
                    <a:lnTo>
                      <a:pt x="98" y="116"/>
                    </a:lnTo>
                    <a:lnTo>
                      <a:pt x="100" y="116"/>
                    </a:lnTo>
                    <a:lnTo>
                      <a:pt x="100" y="118"/>
                    </a:lnTo>
                    <a:lnTo>
                      <a:pt x="100" y="120"/>
                    </a:lnTo>
                    <a:lnTo>
                      <a:pt x="102" y="120"/>
                    </a:lnTo>
                    <a:lnTo>
                      <a:pt x="106" y="120"/>
                    </a:lnTo>
                    <a:lnTo>
                      <a:pt x="106" y="124"/>
                    </a:lnTo>
                    <a:lnTo>
                      <a:pt x="108" y="128"/>
                    </a:lnTo>
                    <a:lnTo>
                      <a:pt x="112" y="128"/>
                    </a:lnTo>
                    <a:lnTo>
                      <a:pt x="116" y="130"/>
                    </a:lnTo>
                    <a:lnTo>
                      <a:pt x="120" y="140"/>
                    </a:lnTo>
                    <a:lnTo>
                      <a:pt x="122" y="152"/>
                    </a:lnTo>
                    <a:lnTo>
                      <a:pt x="118" y="152"/>
                    </a:lnTo>
                    <a:lnTo>
                      <a:pt x="118" y="160"/>
                    </a:lnTo>
                    <a:lnTo>
                      <a:pt x="116" y="164"/>
                    </a:lnTo>
                    <a:lnTo>
                      <a:pt x="116" y="168"/>
                    </a:lnTo>
                    <a:lnTo>
                      <a:pt x="118" y="170"/>
                    </a:lnTo>
                    <a:lnTo>
                      <a:pt x="120" y="170"/>
                    </a:lnTo>
                    <a:lnTo>
                      <a:pt x="122" y="170"/>
                    </a:lnTo>
                    <a:lnTo>
                      <a:pt x="124" y="164"/>
                    </a:lnTo>
                    <a:lnTo>
                      <a:pt x="128" y="160"/>
                    </a:lnTo>
                    <a:lnTo>
                      <a:pt x="128" y="156"/>
                    </a:lnTo>
                    <a:lnTo>
                      <a:pt x="128" y="152"/>
                    </a:lnTo>
                    <a:lnTo>
                      <a:pt x="130" y="152"/>
                    </a:lnTo>
                    <a:lnTo>
                      <a:pt x="134" y="150"/>
                    </a:lnTo>
                    <a:lnTo>
                      <a:pt x="134" y="144"/>
                    </a:lnTo>
                    <a:lnTo>
                      <a:pt x="132" y="142"/>
                    </a:lnTo>
                    <a:lnTo>
                      <a:pt x="130" y="140"/>
                    </a:lnTo>
                    <a:lnTo>
                      <a:pt x="128" y="134"/>
                    </a:lnTo>
                    <a:lnTo>
                      <a:pt x="124" y="132"/>
                    </a:lnTo>
                    <a:lnTo>
                      <a:pt x="128" y="126"/>
                    </a:lnTo>
                    <a:lnTo>
                      <a:pt x="130" y="122"/>
                    </a:lnTo>
                    <a:lnTo>
                      <a:pt x="134" y="122"/>
                    </a:lnTo>
                    <a:lnTo>
                      <a:pt x="134" y="124"/>
                    </a:lnTo>
                    <a:lnTo>
                      <a:pt x="144" y="126"/>
                    </a:lnTo>
                    <a:lnTo>
                      <a:pt x="144" y="130"/>
                    </a:lnTo>
                    <a:lnTo>
                      <a:pt x="148" y="130"/>
                    </a:lnTo>
                    <a:lnTo>
                      <a:pt x="148" y="128"/>
                    </a:lnTo>
                    <a:lnTo>
                      <a:pt x="150" y="128"/>
                    </a:lnTo>
                    <a:lnTo>
                      <a:pt x="148" y="126"/>
                    </a:lnTo>
                    <a:lnTo>
                      <a:pt x="148" y="122"/>
                    </a:lnTo>
                    <a:lnTo>
                      <a:pt x="146" y="122"/>
                    </a:lnTo>
                    <a:lnTo>
                      <a:pt x="144" y="120"/>
                    </a:lnTo>
                    <a:lnTo>
                      <a:pt x="138" y="114"/>
                    </a:lnTo>
                    <a:lnTo>
                      <a:pt x="130" y="108"/>
                    </a:lnTo>
                    <a:lnTo>
                      <a:pt x="122" y="104"/>
                    </a:lnTo>
                    <a:lnTo>
                      <a:pt x="122" y="96"/>
                    </a:lnTo>
                    <a:lnTo>
                      <a:pt x="114" y="96"/>
                    </a:lnTo>
                    <a:lnTo>
                      <a:pt x="106" y="92"/>
                    </a:lnTo>
                    <a:lnTo>
                      <a:pt x="98" y="86"/>
                    </a:lnTo>
                    <a:lnTo>
                      <a:pt x="92" y="76"/>
                    </a:lnTo>
                    <a:lnTo>
                      <a:pt x="92" y="72"/>
                    </a:lnTo>
                    <a:lnTo>
                      <a:pt x="90" y="68"/>
                    </a:lnTo>
                    <a:lnTo>
                      <a:pt x="88" y="68"/>
                    </a:lnTo>
                    <a:lnTo>
                      <a:pt x="84" y="62"/>
                    </a:lnTo>
                    <a:lnTo>
                      <a:pt x="78" y="58"/>
                    </a:lnTo>
                    <a:lnTo>
                      <a:pt x="74" y="58"/>
                    </a:lnTo>
                    <a:lnTo>
                      <a:pt x="72" y="54"/>
                    </a:lnTo>
                    <a:lnTo>
                      <a:pt x="70" y="54"/>
                    </a:lnTo>
                    <a:lnTo>
                      <a:pt x="70" y="50"/>
                    </a:lnTo>
                    <a:lnTo>
                      <a:pt x="72" y="44"/>
                    </a:lnTo>
                    <a:lnTo>
                      <a:pt x="74" y="40"/>
                    </a:lnTo>
                    <a:lnTo>
                      <a:pt x="74" y="36"/>
                    </a:lnTo>
                    <a:lnTo>
                      <a:pt x="74" y="34"/>
                    </a:lnTo>
                    <a:lnTo>
                      <a:pt x="72" y="32"/>
                    </a:lnTo>
                    <a:lnTo>
                      <a:pt x="72" y="30"/>
                    </a:lnTo>
                    <a:lnTo>
                      <a:pt x="72" y="28"/>
                    </a:lnTo>
                    <a:lnTo>
                      <a:pt x="74" y="28"/>
                    </a:lnTo>
                    <a:lnTo>
                      <a:pt x="74" y="30"/>
                    </a:lnTo>
                    <a:lnTo>
                      <a:pt x="90" y="24"/>
                    </a:lnTo>
                    <a:lnTo>
                      <a:pt x="88" y="22"/>
                    </a:lnTo>
                    <a:lnTo>
                      <a:pt x="88" y="20"/>
                    </a:lnTo>
                    <a:lnTo>
                      <a:pt x="90" y="16"/>
                    </a:lnTo>
                    <a:lnTo>
                      <a:pt x="88" y="12"/>
                    </a:lnTo>
                    <a:lnTo>
                      <a:pt x="86" y="12"/>
                    </a:lnTo>
                    <a:lnTo>
                      <a:pt x="84" y="10"/>
                    </a:lnTo>
                    <a:lnTo>
                      <a:pt x="84" y="6"/>
                    </a:lnTo>
                    <a:lnTo>
                      <a:pt x="86" y="4"/>
                    </a:lnTo>
                    <a:lnTo>
                      <a:pt x="78" y="4"/>
                    </a:lnTo>
                    <a:lnTo>
                      <a:pt x="74" y="6"/>
                    </a:lnTo>
                    <a:lnTo>
                      <a:pt x="72" y="6"/>
                    </a:lnTo>
                    <a:lnTo>
                      <a:pt x="70" y="4"/>
                    </a:lnTo>
                    <a:lnTo>
                      <a:pt x="68" y="2"/>
                    </a:lnTo>
                    <a:lnTo>
                      <a:pt x="66" y="2"/>
                    </a:lnTo>
                    <a:lnTo>
                      <a:pt x="62" y="2"/>
                    </a:lnTo>
                    <a:lnTo>
                      <a:pt x="62" y="0"/>
                    </a:lnTo>
                    <a:lnTo>
                      <a:pt x="58" y="0"/>
                    </a:lnTo>
                    <a:lnTo>
                      <a:pt x="58" y="2"/>
                    </a:lnTo>
                    <a:lnTo>
                      <a:pt x="56" y="2"/>
                    </a:lnTo>
                    <a:lnTo>
                      <a:pt x="50" y="0"/>
                    </a:lnTo>
                    <a:lnTo>
                      <a:pt x="50" y="2"/>
                    </a:lnTo>
                    <a:lnTo>
                      <a:pt x="48" y="4"/>
                    </a:lnTo>
                    <a:lnTo>
                      <a:pt x="46" y="6"/>
                    </a:lnTo>
                    <a:lnTo>
                      <a:pt x="48" y="6"/>
                    </a:lnTo>
                    <a:lnTo>
                      <a:pt x="50" y="6"/>
                    </a:lnTo>
                    <a:lnTo>
                      <a:pt x="48" y="6"/>
                    </a:lnTo>
                    <a:lnTo>
                      <a:pt x="46" y="8"/>
                    </a:lnTo>
                    <a:lnTo>
                      <a:pt x="44" y="8"/>
                    </a:lnTo>
                    <a:lnTo>
                      <a:pt x="42" y="6"/>
                    </a:lnTo>
                    <a:lnTo>
                      <a:pt x="40" y="8"/>
                    </a:lnTo>
                    <a:lnTo>
                      <a:pt x="38" y="10"/>
                    </a:lnTo>
                    <a:lnTo>
                      <a:pt x="38" y="12"/>
                    </a:lnTo>
                    <a:lnTo>
                      <a:pt x="36" y="12"/>
                    </a:lnTo>
                    <a:lnTo>
                      <a:pt x="34" y="14"/>
                    </a:lnTo>
                    <a:lnTo>
                      <a:pt x="34" y="16"/>
                    </a:lnTo>
                    <a:lnTo>
                      <a:pt x="34" y="20"/>
                    </a:lnTo>
                    <a:lnTo>
                      <a:pt x="34" y="20"/>
                    </a:lnTo>
                    <a:lnTo>
                      <a:pt x="32" y="20"/>
                    </a:lnTo>
                    <a:lnTo>
                      <a:pt x="28" y="18"/>
                    </a:lnTo>
                    <a:lnTo>
                      <a:pt x="24" y="18"/>
                    </a:lnTo>
                    <a:lnTo>
                      <a:pt x="22" y="14"/>
                    </a:lnTo>
                    <a:lnTo>
                      <a:pt x="20" y="12"/>
                    </a:lnTo>
                    <a:lnTo>
                      <a:pt x="20" y="14"/>
                    </a:lnTo>
                    <a:lnTo>
                      <a:pt x="20" y="18"/>
                    </a:lnTo>
                    <a:lnTo>
                      <a:pt x="18" y="20"/>
                    </a:lnTo>
                    <a:lnTo>
                      <a:pt x="16" y="22"/>
                    </a:lnTo>
                    <a:lnTo>
                      <a:pt x="12" y="22"/>
                    </a:lnTo>
                    <a:lnTo>
                      <a:pt x="10" y="24"/>
                    </a:lnTo>
                    <a:lnTo>
                      <a:pt x="8" y="30"/>
                    </a:lnTo>
                    <a:lnTo>
                      <a:pt x="6" y="32"/>
                    </a:lnTo>
                    <a:lnTo>
                      <a:pt x="4" y="34"/>
                    </a:lnTo>
                    <a:lnTo>
                      <a:pt x="2" y="34"/>
                    </a:lnTo>
                    <a:lnTo>
                      <a:pt x="0" y="36"/>
                    </a:lnTo>
                    <a:lnTo>
                      <a:pt x="0" y="38"/>
                    </a:lnTo>
                    <a:lnTo>
                      <a:pt x="0" y="40"/>
                    </a:lnTo>
                    <a:lnTo>
                      <a:pt x="2" y="42"/>
                    </a:lnTo>
                    <a:lnTo>
                      <a:pt x="4" y="44"/>
                    </a:lnTo>
                    <a:lnTo>
                      <a:pt x="4" y="46"/>
                    </a:lnTo>
                    <a:lnTo>
                      <a:pt x="2" y="50"/>
                    </a:lnTo>
                    <a:lnTo>
                      <a:pt x="4" y="54"/>
                    </a:lnTo>
                    <a:lnTo>
                      <a:pt x="6" y="54"/>
                    </a:lnTo>
                    <a:lnTo>
                      <a:pt x="8" y="54"/>
                    </a:lnTo>
                    <a:lnTo>
                      <a:pt x="10" y="54"/>
                    </a:lnTo>
                    <a:lnTo>
                      <a:pt x="6" y="58"/>
                    </a:lnTo>
                    <a:lnTo>
                      <a:pt x="6" y="60"/>
                    </a:lnTo>
                    <a:lnTo>
                      <a:pt x="8" y="62"/>
                    </a:lnTo>
                    <a:lnTo>
                      <a:pt x="8" y="62"/>
                    </a:lnTo>
                    <a:close/>
                    <a:moveTo>
                      <a:pt x="34" y="106"/>
                    </a:moveTo>
                    <a:lnTo>
                      <a:pt x="34" y="106"/>
                    </a:lnTo>
                    <a:lnTo>
                      <a:pt x="24" y="114"/>
                    </a:lnTo>
                    <a:lnTo>
                      <a:pt x="22" y="114"/>
                    </a:lnTo>
                    <a:lnTo>
                      <a:pt x="24" y="122"/>
                    </a:lnTo>
                    <a:lnTo>
                      <a:pt x="24" y="132"/>
                    </a:lnTo>
                    <a:lnTo>
                      <a:pt x="28" y="142"/>
                    </a:lnTo>
                    <a:lnTo>
                      <a:pt x="30" y="144"/>
                    </a:lnTo>
                    <a:lnTo>
                      <a:pt x="32" y="146"/>
                    </a:lnTo>
                    <a:lnTo>
                      <a:pt x="34" y="146"/>
                    </a:lnTo>
                    <a:lnTo>
                      <a:pt x="38" y="142"/>
                    </a:lnTo>
                    <a:lnTo>
                      <a:pt x="42" y="118"/>
                    </a:lnTo>
                    <a:lnTo>
                      <a:pt x="38" y="114"/>
                    </a:lnTo>
                    <a:lnTo>
                      <a:pt x="38" y="110"/>
                    </a:lnTo>
                    <a:lnTo>
                      <a:pt x="36" y="108"/>
                    </a:lnTo>
                    <a:lnTo>
                      <a:pt x="34" y="106"/>
                    </a:lnTo>
                    <a:lnTo>
                      <a:pt x="34" y="10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66" name="Freeform 552">
                <a:extLst>
                  <a:ext uri="{FF2B5EF4-FFF2-40B4-BE49-F238E27FC236}">
                    <a16:creationId xmlns:a16="http://schemas.microsoft.com/office/drawing/2014/main" id="{513E44EC-C40E-4F6E-C627-0208AEFE9156}"/>
                  </a:ext>
                </a:extLst>
              </p:cNvPr>
              <p:cNvSpPr>
                <a:spLocks/>
              </p:cNvSpPr>
              <p:nvPr/>
            </p:nvSpPr>
            <p:spPr bwMode="auto">
              <a:xfrm>
                <a:off x="5043046" y="3470252"/>
                <a:ext cx="89456" cy="59562"/>
              </a:xfrm>
              <a:custGeom>
                <a:avLst/>
                <a:gdLst/>
                <a:ahLst/>
                <a:cxnLst>
                  <a:cxn ang="0">
                    <a:pos x="40" y="62"/>
                  </a:cxn>
                  <a:cxn ang="0">
                    <a:pos x="34" y="62"/>
                  </a:cxn>
                  <a:cxn ang="0">
                    <a:pos x="26" y="58"/>
                  </a:cxn>
                  <a:cxn ang="0">
                    <a:pos x="14" y="50"/>
                  </a:cxn>
                  <a:cxn ang="0">
                    <a:pos x="8" y="40"/>
                  </a:cxn>
                  <a:cxn ang="0">
                    <a:pos x="2" y="34"/>
                  </a:cxn>
                  <a:cxn ang="0">
                    <a:pos x="0" y="26"/>
                  </a:cxn>
                  <a:cxn ang="0">
                    <a:pos x="0" y="22"/>
                  </a:cxn>
                  <a:cxn ang="0">
                    <a:pos x="4" y="20"/>
                  </a:cxn>
                  <a:cxn ang="0">
                    <a:pos x="6" y="16"/>
                  </a:cxn>
                  <a:cxn ang="0">
                    <a:pos x="6" y="8"/>
                  </a:cxn>
                  <a:cxn ang="0">
                    <a:pos x="10" y="6"/>
                  </a:cxn>
                  <a:cxn ang="0">
                    <a:pos x="20" y="10"/>
                  </a:cxn>
                  <a:cxn ang="0">
                    <a:pos x="32" y="12"/>
                  </a:cxn>
                  <a:cxn ang="0">
                    <a:pos x="38" y="8"/>
                  </a:cxn>
                  <a:cxn ang="0">
                    <a:pos x="50" y="4"/>
                  </a:cxn>
                  <a:cxn ang="0">
                    <a:pos x="52" y="6"/>
                  </a:cxn>
                  <a:cxn ang="0">
                    <a:pos x="56" y="8"/>
                  </a:cxn>
                  <a:cxn ang="0">
                    <a:pos x="60" y="6"/>
                  </a:cxn>
                  <a:cxn ang="0">
                    <a:pos x="70" y="2"/>
                  </a:cxn>
                  <a:cxn ang="0">
                    <a:pos x="82" y="0"/>
                  </a:cxn>
                  <a:cxn ang="0">
                    <a:pos x="86" y="2"/>
                  </a:cxn>
                  <a:cxn ang="0">
                    <a:pos x="92" y="4"/>
                  </a:cxn>
                  <a:cxn ang="0">
                    <a:pos x="88" y="20"/>
                  </a:cxn>
                  <a:cxn ang="0">
                    <a:pos x="80" y="28"/>
                  </a:cxn>
                  <a:cxn ang="0">
                    <a:pos x="78" y="42"/>
                  </a:cxn>
                  <a:cxn ang="0">
                    <a:pos x="72" y="52"/>
                  </a:cxn>
                  <a:cxn ang="0">
                    <a:pos x="66" y="56"/>
                  </a:cxn>
                  <a:cxn ang="0">
                    <a:pos x="56" y="56"/>
                  </a:cxn>
                  <a:cxn ang="0">
                    <a:pos x="48" y="58"/>
                  </a:cxn>
                  <a:cxn ang="0">
                    <a:pos x="42" y="62"/>
                  </a:cxn>
                  <a:cxn ang="0">
                    <a:pos x="40" y="62"/>
                  </a:cxn>
                </a:cxnLst>
                <a:rect l="0" t="0" r="r" b="b"/>
                <a:pathLst>
                  <a:path w="92" h="62">
                    <a:moveTo>
                      <a:pt x="40" y="62"/>
                    </a:moveTo>
                    <a:lnTo>
                      <a:pt x="40" y="62"/>
                    </a:lnTo>
                    <a:lnTo>
                      <a:pt x="36" y="62"/>
                    </a:lnTo>
                    <a:lnTo>
                      <a:pt x="34" y="62"/>
                    </a:lnTo>
                    <a:lnTo>
                      <a:pt x="30" y="60"/>
                    </a:lnTo>
                    <a:lnTo>
                      <a:pt x="26" y="58"/>
                    </a:lnTo>
                    <a:lnTo>
                      <a:pt x="20" y="56"/>
                    </a:lnTo>
                    <a:lnTo>
                      <a:pt x="14" y="50"/>
                    </a:lnTo>
                    <a:lnTo>
                      <a:pt x="10" y="44"/>
                    </a:lnTo>
                    <a:lnTo>
                      <a:pt x="8" y="40"/>
                    </a:lnTo>
                    <a:lnTo>
                      <a:pt x="6" y="38"/>
                    </a:lnTo>
                    <a:lnTo>
                      <a:pt x="2" y="34"/>
                    </a:lnTo>
                    <a:lnTo>
                      <a:pt x="2" y="30"/>
                    </a:lnTo>
                    <a:lnTo>
                      <a:pt x="0" y="26"/>
                    </a:lnTo>
                    <a:lnTo>
                      <a:pt x="0" y="24"/>
                    </a:lnTo>
                    <a:lnTo>
                      <a:pt x="0" y="22"/>
                    </a:lnTo>
                    <a:lnTo>
                      <a:pt x="2" y="20"/>
                    </a:lnTo>
                    <a:lnTo>
                      <a:pt x="4" y="20"/>
                    </a:lnTo>
                    <a:lnTo>
                      <a:pt x="6" y="20"/>
                    </a:lnTo>
                    <a:lnTo>
                      <a:pt x="6" y="16"/>
                    </a:lnTo>
                    <a:lnTo>
                      <a:pt x="8" y="12"/>
                    </a:lnTo>
                    <a:lnTo>
                      <a:pt x="6" y="8"/>
                    </a:lnTo>
                    <a:lnTo>
                      <a:pt x="8" y="6"/>
                    </a:lnTo>
                    <a:lnTo>
                      <a:pt x="10" y="6"/>
                    </a:lnTo>
                    <a:lnTo>
                      <a:pt x="14" y="8"/>
                    </a:lnTo>
                    <a:lnTo>
                      <a:pt x="20" y="10"/>
                    </a:lnTo>
                    <a:lnTo>
                      <a:pt x="24" y="10"/>
                    </a:lnTo>
                    <a:lnTo>
                      <a:pt x="32" y="12"/>
                    </a:lnTo>
                    <a:lnTo>
                      <a:pt x="38" y="12"/>
                    </a:lnTo>
                    <a:lnTo>
                      <a:pt x="38" y="8"/>
                    </a:lnTo>
                    <a:lnTo>
                      <a:pt x="44" y="6"/>
                    </a:lnTo>
                    <a:lnTo>
                      <a:pt x="50" y="4"/>
                    </a:lnTo>
                    <a:lnTo>
                      <a:pt x="52" y="4"/>
                    </a:lnTo>
                    <a:lnTo>
                      <a:pt x="52" y="6"/>
                    </a:lnTo>
                    <a:lnTo>
                      <a:pt x="54" y="6"/>
                    </a:lnTo>
                    <a:lnTo>
                      <a:pt x="56" y="8"/>
                    </a:lnTo>
                    <a:lnTo>
                      <a:pt x="58" y="6"/>
                    </a:lnTo>
                    <a:lnTo>
                      <a:pt x="60" y="6"/>
                    </a:lnTo>
                    <a:lnTo>
                      <a:pt x="64" y="2"/>
                    </a:lnTo>
                    <a:lnTo>
                      <a:pt x="70" y="2"/>
                    </a:lnTo>
                    <a:lnTo>
                      <a:pt x="76" y="2"/>
                    </a:lnTo>
                    <a:lnTo>
                      <a:pt x="82" y="0"/>
                    </a:lnTo>
                    <a:lnTo>
                      <a:pt x="84" y="0"/>
                    </a:lnTo>
                    <a:lnTo>
                      <a:pt x="86" y="2"/>
                    </a:lnTo>
                    <a:lnTo>
                      <a:pt x="90" y="4"/>
                    </a:lnTo>
                    <a:lnTo>
                      <a:pt x="92" y="4"/>
                    </a:lnTo>
                    <a:lnTo>
                      <a:pt x="90" y="16"/>
                    </a:lnTo>
                    <a:lnTo>
                      <a:pt x="88" y="20"/>
                    </a:lnTo>
                    <a:lnTo>
                      <a:pt x="82" y="24"/>
                    </a:lnTo>
                    <a:lnTo>
                      <a:pt x="80" y="28"/>
                    </a:lnTo>
                    <a:lnTo>
                      <a:pt x="78" y="34"/>
                    </a:lnTo>
                    <a:lnTo>
                      <a:pt x="78" y="42"/>
                    </a:lnTo>
                    <a:lnTo>
                      <a:pt x="76" y="48"/>
                    </a:lnTo>
                    <a:lnTo>
                      <a:pt x="72" y="52"/>
                    </a:lnTo>
                    <a:lnTo>
                      <a:pt x="70" y="54"/>
                    </a:lnTo>
                    <a:lnTo>
                      <a:pt x="66" y="56"/>
                    </a:lnTo>
                    <a:lnTo>
                      <a:pt x="64" y="56"/>
                    </a:lnTo>
                    <a:lnTo>
                      <a:pt x="56" y="56"/>
                    </a:lnTo>
                    <a:lnTo>
                      <a:pt x="50" y="56"/>
                    </a:lnTo>
                    <a:lnTo>
                      <a:pt x="48" y="58"/>
                    </a:lnTo>
                    <a:lnTo>
                      <a:pt x="44" y="62"/>
                    </a:lnTo>
                    <a:lnTo>
                      <a:pt x="42" y="62"/>
                    </a:lnTo>
                    <a:lnTo>
                      <a:pt x="40" y="62"/>
                    </a:lnTo>
                    <a:lnTo>
                      <a:pt x="40" y="6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67" name="Freeform 553">
                <a:extLst>
                  <a:ext uri="{FF2B5EF4-FFF2-40B4-BE49-F238E27FC236}">
                    <a16:creationId xmlns:a16="http://schemas.microsoft.com/office/drawing/2014/main" id="{80F64B4A-6ADD-E2FF-A6CE-3BA9F590E1B1}"/>
                  </a:ext>
                </a:extLst>
              </p:cNvPr>
              <p:cNvSpPr>
                <a:spLocks/>
              </p:cNvSpPr>
              <p:nvPr/>
            </p:nvSpPr>
            <p:spPr bwMode="auto">
              <a:xfrm>
                <a:off x="4910807" y="3483701"/>
                <a:ext cx="58341" cy="40349"/>
              </a:xfrm>
              <a:custGeom>
                <a:avLst/>
                <a:gdLst/>
                <a:ahLst/>
                <a:cxnLst>
                  <a:cxn ang="0">
                    <a:pos x="58" y="20"/>
                  </a:cxn>
                  <a:cxn ang="0">
                    <a:pos x="58" y="18"/>
                  </a:cxn>
                  <a:cxn ang="0">
                    <a:pos x="54" y="12"/>
                  </a:cxn>
                  <a:cxn ang="0">
                    <a:pos x="44" y="2"/>
                  </a:cxn>
                  <a:cxn ang="0">
                    <a:pos x="38" y="0"/>
                  </a:cxn>
                  <a:cxn ang="0">
                    <a:pos x="36" y="2"/>
                  </a:cxn>
                  <a:cxn ang="0">
                    <a:pos x="28" y="6"/>
                  </a:cxn>
                  <a:cxn ang="0">
                    <a:pos x="24" y="6"/>
                  </a:cxn>
                  <a:cxn ang="0">
                    <a:pos x="22" y="10"/>
                  </a:cxn>
                  <a:cxn ang="0">
                    <a:pos x="16" y="14"/>
                  </a:cxn>
                  <a:cxn ang="0">
                    <a:pos x="10" y="22"/>
                  </a:cxn>
                  <a:cxn ang="0">
                    <a:pos x="0" y="34"/>
                  </a:cxn>
                  <a:cxn ang="0">
                    <a:pos x="4" y="36"/>
                  </a:cxn>
                  <a:cxn ang="0">
                    <a:pos x="8" y="34"/>
                  </a:cxn>
                  <a:cxn ang="0">
                    <a:pos x="10" y="38"/>
                  </a:cxn>
                  <a:cxn ang="0">
                    <a:pos x="16" y="38"/>
                  </a:cxn>
                  <a:cxn ang="0">
                    <a:pos x="18" y="42"/>
                  </a:cxn>
                  <a:cxn ang="0">
                    <a:pos x="22" y="42"/>
                  </a:cxn>
                  <a:cxn ang="0">
                    <a:pos x="26" y="38"/>
                  </a:cxn>
                  <a:cxn ang="0">
                    <a:pos x="30" y="36"/>
                  </a:cxn>
                  <a:cxn ang="0">
                    <a:pos x="30" y="30"/>
                  </a:cxn>
                  <a:cxn ang="0">
                    <a:pos x="34" y="36"/>
                  </a:cxn>
                  <a:cxn ang="0">
                    <a:pos x="40" y="38"/>
                  </a:cxn>
                  <a:cxn ang="0">
                    <a:pos x="44" y="38"/>
                  </a:cxn>
                  <a:cxn ang="0">
                    <a:pos x="44" y="32"/>
                  </a:cxn>
                  <a:cxn ang="0">
                    <a:pos x="48" y="30"/>
                  </a:cxn>
                  <a:cxn ang="0">
                    <a:pos x="50" y="28"/>
                  </a:cxn>
                  <a:cxn ang="0">
                    <a:pos x="54" y="28"/>
                  </a:cxn>
                  <a:cxn ang="0">
                    <a:pos x="58" y="26"/>
                  </a:cxn>
                  <a:cxn ang="0">
                    <a:pos x="58" y="24"/>
                  </a:cxn>
                  <a:cxn ang="0">
                    <a:pos x="58" y="22"/>
                  </a:cxn>
                  <a:cxn ang="0">
                    <a:pos x="58" y="20"/>
                  </a:cxn>
                </a:cxnLst>
                <a:rect l="0" t="0" r="r" b="b"/>
                <a:pathLst>
                  <a:path w="60" h="42">
                    <a:moveTo>
                      <a:pt x="58" y="20"/>
                    </a:moveTo>
                    <a:lnTo>
                      <a:pt x="58" y="20"/>
                    </a:lnTo>
                    <a:lnTo>
                      <a:pt x="60" y="18"/>
                    </a:lnTo>
                    <a:lnTo>
                      <a:pt x="58" y="18"/>
                    </a:lnTo>
                    <a:lnTo>
                      <a:pt x="54" y="16"/>
                    </a:lnTo>
                    <a:lnTo>
                      <a:pt x="54" y="12"/>
                    </a:lnTo>
                    <a:lnTo>
                      <a:pt x="56" y="10"/>
                    </a:lnTo>
                    <a:lnTo>
                      <a:pt x="44" y="2"/>
                    </a:lnTo>
                    <a:lnTo>
                      <a:pt x="40" y="0"/>
                    </a:lnTo>
                    <a:lnTo>
                      <a:pt x="38" y="0"/>
                    </a:lnTo>
                    <a:lnTo>
                      <a:pt x="36" y="0"/>
                    </a:lnTo>
                    <a:lnTo>
                      <a:pt x="36" y="2"/>
                    </a:lnTo>
                    <a:lnTo>
                      <a:pt x="30" y="6"/>
                    </a:lnTo>
                    <a:lnTo>
                      <a:pt x="28" y="6"/>
                    </a:lnTo>
                    <a:lnTo>
                      <a:pt x="26" y="6"/>
                    </a:lnTo>
                    <a:lnTo>
                      <a:pt x="24" y="6"/>
                    </a:lnTo>
                    <a:lnTo>
                      <a:pt x="22" y="6"/>
                    </a:lnTo>
                    <a:lnTo>
                      <a:pt x="22" y="10"/>
                    </a:lnTo>
                    <a:lnTo>
                      <a:pt x="18" y="12"/>
                    </a:lnTo>
                    <a:lnTo>
                      <a:pt x="16" y="14"/>
                    </a:lnTo>
                    <a:lnTo>
                      <a:pt x="14" y="16"/>
                    </a:lnTo>
                    <a:lnTo>
                      <a:pt x="10" y="22"/>
                    </a:lnTo>
                    <a:lnTo>
                      <a:pt x="2" y="30"/>
                    </a:lnTo>
                    <a:lnTo>
                      <a:pt x="0" y="34"/>
                    </a:lnTo>
                    <a:lnTo>
                      <a:pt x="0" y="36"/>
                    </a:lnTo>
                    <a:lnTo>
                      <a:pt x="4" y="36"/>
                    </a:lnTo>
                    <a:lnTo>
                      <a:pt x="6" y="34"/>
                    </a:lnTo>
                    <a:lnTo>
                      <a:pt x="8" y="34"/>
                    </a:lnTo>
                    <a:lnTo>
                      <a:pt x="10" y="36"/>
                    </a:lnTo>
                    <a:lnTo>
                      <a:pt x="10" y="38"/>
                    </a:lnTo>
                    <a:lnTo>
                      <a:pt x="12" y="38"/>
                    </a:lnTo>
                    <a:lnTo>
                      <a:pt x="16" y="38"/>
                    </a:lnTo>
                    <a:lnTo>
                      <a:pt x="16" y="40"/>
                    </a:lnTo>
                    <a:lnTo>
                      <a:pt x="18" y="42"/>
                    </a:lnTo>
                    <a:lnTo>
                      <a:pt x="20" y="42"/>
                    </a:lnTo>
                    <a:lnTo>
                      <a:pt x="22" y="42"/>
                    </a:lnTo>
                    <a:lnTo>
                      <a:pt x="24" y="40"/>
                    </a:lnTo>
                    <a:lnTo>
                      <a:pt x="26" y="38"/>
                    </a:lnTo>
                    <a:lnTo>
                      <a:pt x="28" y="38"/>
                    </a:lnTo>
                    <a:lnTo>
                      <a:pt x="30" y="36"/>
                    </a:lnTo>
                    <a:lnTo>
                      <a:pt x="30" y="32"/>
                    </a:lnTo>
                    <a:lnTo>
                      <a:pt x="30" y="30"/>
                    </a:lnTo>
                    <a:lnTo>
                      <a:pt x="32" y="32"/>
                    </a:lnTo>
                    <a:lnTo>
                      <a:pt x="34" y="36"/>
                    </a:lnTo>
                    <a:lnTo>
                      <a:pt x="36" y="36"/>
                    </a:lnTo>
                    <a:lnTo>
                      <a:pt x="40" y="38"/>
                    </a:lnTo>
                    <a:lnTo>
                      <a:pt x="42" y="38"/>
                    </a:lnTo>
                    <a:lnTo>
                      <a:pt x="44" y="38"/>
                    </a:lnTo>
                    <a:lnTo>
                      <a:pt x="42" y="34"/>
                    </a:lnTo>
                    <a:lnTo>
                      <a:pt x="44" y="32"/>
                    </a:lnTo>
                    <a:lnTo>
                      <a:pt x="46" y="30"/>
                    </a:lnTo>
                    <a:lnTo>
                      <a:pt x="48" y="30"/>
                    </a:lnTo>
                    <a:lnTo>
                      <a:pt x="48" y="30"/>
                    </a:lnTo>
                    <a:lnTo>
                      <a:pt x="50" y="28"/>
                    </a:lnTo>
                    <a:lnTo>
                      <a:pt x="52" y="26"/>
                    </a:lnTo>
                    <a:lnTo>
                      <a:pt x="54" y="28"/>
                    </a:lnTo>
                    <a:lnTo>
                      <a:pt x="56" y="28"/>
                    </a:lnTo>
                    <a:lnTo>
                      <a:pt x="58" y="26"/>
                    </a:lnTo>
                    <a:lnTo>
                      <a:pt x="60" y="26"/>
                    </a:lnTo>
                    <a:lnTo>
                      <a:pt x="58" y="24"/>
                    </a:lnTo>
                    <a:lnTo>
                      <a:pt x="56" y="24"/>
                    </a:lnTo>
                    <a:lnTo>
                      <a:pt x="58" y="22"/>
                    </a:lnTo>
                    <a:lnTo>
                      <a:pt x="58" y="20"/>
                    </a:lnTo>
                    <a:lnTo>
                      <a:pt x="58" y="2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68" name="Freeform 554">
                <a:extLst>
                  <a:ext uri="{FF2B5EF4-FFF2-40B4-BE49-F238E27FC236}">
                    <a16:creationId xmlns:a16="http://schemas.microsoft.com/office/drawing/2014/main" id="{7455E2B6-3B8F-6494-D797-FB8C224C0B47}"/>
                  </a:ext>
                </a:extLst>
              </p:cNvPr>
              <p:cNvSpPr>
                <a:spLocks/>
              </p:cNvSpPr>
              <p:nvPr/>
            </p:nvSpPr>
            <p:spPr bwMode="auto">
              <a:xfrm>
                <a:off x="5153894" y="4724907"/>
                <a:ext cx="31115" cy="28821"/>
              </a:xfrm>
              <a:custGeom>
                <a:avLst/>
                <a:gdLst/>
                <a:ahLst/>
                <a:cxnLst>
                  <a:cxn ang="0">
                    <a:pos x="12" y="0"/>
                  </a:cxn>
                  <a:cxn ang="0">
                    <a:pos x="26" y="2"/>
                  </a:cxn>
                  <a:cxn ang="0">
                    <a:pos x="32" y="14"/>
                  </a:cxn>
                  <a:cxn ang="0">
                    <a:pos x="24" y="22"/>
                  </a:cxn>
                  <a:cxn ang="0">
                    <a:pos x="8" y="30"/>
                  </a:cxn>
                  <a:cxn ang="0">
                    <a:pos x="0" y="20"/>
                  </a:cxn>
                  <a:cxn ang="0">
                    <a:pos x="4" y="8"/>
                  </a:cxn>
                  <a:cxn ang="0">
                    <a:pos x="12" y="0"/>
                  </a:cxn>
                  <a:cxn ang="0">
                    <a:pos x="12" y="0"/>
                  </a:cxn>
                </a:cxnLst>
                <a:rect l="0" t="0" r="r" b="b"/>
                <a:pathLst>
                  <a:path w="32" h="30">
                    <a:moveTo>
                      <a:pt x="12" y="0"/>
                    </a:moveTo>
                    <a:lnTo>
                      <a:pt x="26" y="2"/>
                    </a:lnTo>
                    <a:lnTo>
                      <a:pt x="32" y="14"/>
                    </a:lnTo>
                    <a:lnTo>
                      <a:pt x="24" y="22"/>
                    </a:lnTo>
                    <a:lnTo>
                      <a:pt x="8" y="30"/>
                    </a:lnTo>
                    <a:lnTo>
                      <a:pt x="0" y="20"/>
                    </a:lnTo>
                    <a:lnTo>
                      <a:pt x="4" y="8"/>
                    </a:lnTo>
                    <a:lnTo>
                      <a:pt x="12" y="0"/>
                    </a:lnTo>
                    <a:lnTo>
                      <a:pt x="12"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69" name="Freeform 555">
                <a:extLst>
                  <a:ext uri="{FF2B5EF4-FFF2-40B4-BE49-F238E27FC236}">
                    <a16:creationId xmlns:a16="http://schemas.microsoft.com/office/drawing/2014/main" id="{9B914FAA-70D3-88F1-1271-5373CFF600F6}"/>
                  </a:ext>
                </a:extLst>
              </p:cNvPr>
              <p:cNvSpPr>
                <a:spLocks/>
              </p:cNvSpPr>
              <p:nvPr/>
            </p:nvSpPr>
            <p:spPr bwMode="auto">
              <a:xfrm>
                <a:off x="5844261" y="3777671"/>
                <a:ext cx="5834" cy="7686"/>
              </a:xfrm>
              <a:custGeom>
                <a:avLst/>
                <a:gdLst/>
                <a:ahLst/>
                <a:cxnLst>
                  <a:cxn ang="0">
                    <a:pos x="0" y="0"/>
                  </a:cxn>
                  <a:cxn ang="0">
                    <a:pos x="6" y="8"/>
                  </a:cxn>
                  <a:cxn ang="0">
                    <a:pos x="0" y="0"/>
                  </a:cxn>
                  <a:cxn ang="0">
                    <a:pos x="0" y="0"/>
                  </a:cxn>
                </a:cxnLst>
                <a:rect l="0" t="0" r="r" b="b"/>
                <a:pathLst>
                  <a:path w="6" h="8">
                    <a:moveTo>
                      <a:pt x="0" y="0"/>
                    </a:moveTo>
                    <a:lnTo>
                      <a:pt x="6" y="8"/>
                    </a:lnTo>
                    <a:lnTo>
                      <a:pt x="0" y="0"/>
                    </a:lnTo>
                    <a:lnTo>
                      <a:pt x="0" y="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70" name="Freeform 556">
                <a:extLst>
                  <a:ext uri="{FF2B5EF4-FFF2-40B4-BE49-F238E27FC236}">
                    <a16:creationId xmlns:a16="http://schemas.microsoft.com/office/drawing/2014/main" id="{303CA51E-760D-2ACB-ACC3-F6DD17D9762E}"/>
                  </a:ext>
                </a:extLst>
              </p:cNvPr>
              <p:cNvSpPr>
                <a:spLocks/>
              </p:cNvSpPr>
              <p:nvPr/>
            </p:nvSpPr>
            <p:spPr bwMode="auto">
              <a:xfrm>
                <a:off x="5844261" y="3785356"/>
                <a:ext cx="103069" cy="63405"/>
              </a:xfrm>
              <a:custGeom>
                <a:avLst/>
                <a:gdLst/>
                <a:ahLst/>
                <a:cxnLst>
                  <a:cxn ang="0">
                    <a:pos x="104" y="50"/>
                  </a:cxn>
                  <a:cxn ang="0">
                    <a:pos x="96" y="48"/>
                  </a:cxn>
                  <a:cxn ang="0">
                    <a:pos x="84" y="46"/>
                  </a:cxn>
                  <a:cxn ang="0">
                    <a:pos x="78" y="42"/>
                  </a:cxn>
                  <a:cxn ang="0">
                    <a:pos x="74" y="42"/>
                  </a:cxn>
                  <a:cxn ang="0">
                    <a:pos x="70" y="38"/>
                  </a:cxn>
                  <a:cxn ang="0">
                    <a:pos x="66" y="36"/>
                  </a:cxn>
                  <a:cxn ang="0">
                    <a:pos x="64" y="32"/>
                  </a:cxn>
                  <a:cxn ang="0">
                    <a:pos x="58" y="28"/>
                  </a:cxn>
                  <a:cxn ang="0">
                    <a:pos x="58" y="22"/>
                  </a:cxn>
                  <a:cxn ang="0">
                    <a:pos x="52" y="18"/>
                  </a:cxn>
                  <a:cxn ang="0">
                    <a:pos x="46" y="20"/>
                  </a:cxn>
                  <a:cxn ang="0">
                    <a:pos x="40" y="20"/>
                  </a:cxn>
                  <a:cxn ang="0">
                    <a:pos x="40" y="20"/>
                  </a:cxn>
                  <a:cxn ang="0">
                    <a:pos x="40" y="20"/>
                  </a:cxn>
                  <a:cxn ang="0">
                    <a:pos x="34" y="12"/>
                  </a:cxn>
                  <a:cxn ang="0">
                    <a:pos x="28" y="10"/>
                  </a:cxn>
                  <a:cxn ang="0">
                    <a:pos x="24" y="10"/>
                  </a:cxn>
                  <a:cxn ang="0">
                    <a:pos x="18" y="10"/>
                  </a:cxn>
                  <a:cxn ang="0">
                    <a:pos x="18" y="10"/>
                  </a:cxn>
                  <a:cxn ang="0">
                    <a:pos x="18" y="10"/>
                  </a:cxn>
                  <a:cxn ang="0">
                    <a:pos x="14" y="10"/>
                  </a:cxn>
                  <a:cxn ang="0">
                    <a:pos x="10" y="6"/>
                  </a:cxn>
                  <a:cxn ang="0">
                    <a:pos x="6" y="2"/>
                  </a:cxn>
                  <a:cxn ang="0">
                    <a:pos x="6" y="0"/>
                  </a:cxn>
                  <a:cxn ang="0">
                    <a:pos x="2" y="10"/>
                  </a:cxn>
                  <a:cxn ang="0">
                    <a:pos x="0" y="22"/>
                  </a:cxn>
                  <a:cxn ang="0">
                    <a:pos x="2" y="34"/>
                  </a:cxn>
                  <a:cxn ang="0">
                    <a:pos x="10" y="38"/>
                  </a:cxn>
                  <a:cxn ang="0">
                    <a:pos x="26" y="44"/>
                  </a:cxn>
                  <a:cxn ang="0">
                    <a:pos x="34" y="50"/>
                  </a:cxn>
                  <a:cxn ang="0">
                    <a:pos x="52" y="58"/>
                  </a:cxn>
                  <a:cxn ang="0">
                    <a:pos x="78" y="66"/>
                  </a:cxn>
                  <a:cxn ang="0">
                    <a:pos x="94" y="66"/>
                  </a:cxn>
                  <a:cxn ang="0">
                    <a:pos x="104" y="66"/>
                  </a:cxn>
                  <a:cxn ang="0">
                    <a:pos x="106" y="62"/>
                  </a:cxn>
                  <a:cxn ang="0">
                    <a:pos x="104" y="62"/>
                  </a:cxn>
                  <a:cxn ang="0">
                    <a:pos x="106" y="58"/>
                  </a:cxn>
                  <a:cxn ang="0">
                    <a:pos x="106" y="50"/>
                  </a:cxn>
                  <a:cxn ang="0">
                    <a:pos x="104" y="48"/>
                  </a:cxn>
                  <a:cxn ang="0">
                    <a:pos x="104" y="50"/>
                  </a:cxn>
                </a:cxnLst>
                <a:rect l="0" t="0" r="r" b="b"/>
                <a:pathLst>
                  <a:path w="106" h="66">
                    <a:moveTo>
                      <a:pt x="104" y="50"/>
                    </a:moveTo>
                    <a:lnTo>
                      <a:pt x="96" y="48"/>
                    </a:lnTo>
                    <a:lnTo>
                      <a:pt x="84" y="46"/>
                    </a:lnTo>
                    <a:lnTo>
                      <a:pt x="78" y="42"/>
                    </a:lnTo>
                    <a:lnTo>
                      <a:pt x="74" y="42"/>
                    </a:lnTo>
                    <a:lnTo>
                      <a:pt x="70" y="38"/>
                    </a:lnTo>
                    <a:lnTo>
                      <a:pt x="66" y="36"/>
                    </a:lnTo>
                    <a:lnTo>
                      <a:pt x="64" y="32"/>
                    </a:lnTo>
                    <a:lnTo>
                      <a:pt x="58" y="28"/>
                    </a:lnTo>
                    <a:lnTo>
                      <a:pt x="58" y="22"/>
                    </a:lnTo>
                    <a:lnTo>
                      <a:pt x="52" y="18"/>
                    </a:lnTo>
                    <a:lnTo>
                      <a:pt x="46" y="20"/>
                    </a:lnTo>
                    <a:lnTo>
                      <a:pt x="40" y="20"/>
                    </a:lnTo>
                    <a:lnTo>
                      <a:pt x="40" y="20"/>
                    </a:lnTo>
                    <a:lnTo>
                      <a:pt x="40" y="20"/>
                    </a:lnTo>
                    <a:lnTo>
                      <a:pt x="34" y="12"/>
                    </a:lnTo>
                    <a:lnTo>
                      <a:pt x="28" y="10"/>
                    </a:lnTo>
                    <a:lnTo>
                      <a:pt x="24" y="10"/>
                    </a:lnTo>
                    <a:lnTo>
                      <a:pt x="18" y="10"/>
                    </a:lnTo>
                    <a:lnTo>
                      <a:pt x="18" y="10"/>
                    </a:lnTo>
                    <a:lnTo>
                      <a:pt x="18" y="10"/>
                    </a:lnTo>
                    <a:lnTo>
                      <a:pt x="14" y="10"/>
                    </a:lnTo>
                    <a:lnTo>
                      <a:pt x="10" y="6"/>
                    </a:lnTo>
                    <a:lnTo>
                      <a:pt x="6" y="2"/>
                    </a:lnTo>
                    <a:lnTo>
                      <a:pt x="6" y="0"/>
                    </a:lnTo>
                    <a:lnTo>
                      <a:pt x="2" y="10"/>
                    </a:lnTo>
                    <a:lnTo>
                      <a:pt x="0" y="22"/>
                    </a:lnTo>
                    <a:lnTo>
                      <a:pt x="2" y="34"/>
                    </a:lnTo>
                    <a:lnTo>
                      <a:pt x="10" y="38"/>
                    </a:lnTo>
                    <a:lnTo>
                      <a:pt x="26" y="44"/>
                    </a:lnTo>
                    <a:lnTo>
                      <a:pt x="34" y="50"/>
                    </a:lnTo>
                    <a:lnTo>
                      <a:pt x="52" y="58"/>
                    </a:lnTo>
                    <a:lnTo>
                      <a:pt x="78" y="66"/>
                    </a:lnTo>
                    <a:lnTo>
                      <a:pt x="94" y="66"/>
                    </a:lnTo>
                    <a:lnTo>
                      <a:pt x="104" y="66"/>
                    </a:lnTo>
                    <a:lnTo>
                      <a:pt x="106" y="62"/>
                    </a:lnTo>
                    <a:lnTo>
                      <a:pt x="104" y="62"/>
                    </a:lnTo>
                    <a:lnTo>
                      <a:pt x="106" y="58"/>
                    </a:lnTo>
                    <a:lnTo>
                      <a:pt x="106" y="50"/>
                    </a:lnTo>
                    <a:lnTo>
                      <a:pt x="104" y="48"/>
                    </a:lnTo>
                    <a:lnTo>
                      <a:pt x="104" y="50"/>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71" name="Freeform 557">
                <a:extLst>
                  <a:ext uri="{FF2B5EF4-FFF2-40B4-BE49-F238E27FC236}">
                    <a16:creationId xmlns:a16="http://schemas.microsoft.com/office/drawing/2014/main" id="{10D304B0-E6A7-0240-7400-E8913ABFC3DB}"/>
                  </a:ext>
                </a:extLst>
              </p:cNvPr>
              <p:cNvSpPr>
                <a:spLocks/>
              </p:cNvSpPr>
              <p:nvPr/>
            </p:nvSpPr>
            <p:spPr bwMode="auto">
              <a:xfrm>
                <a:off x="6003726" y="3833391"/>
                <a:ext cx="106958" cy="261306"/>
              </a:xfrm>
              <a:custGeom>
                <a:avLst/>
                <a:gdLst/>
                <a:ahLst/>
                <a:cxnLst>
                  <a:cxn ang="0">
                    <a:pos x="96" y="92"/>
                  </a:cxn>
                  <a:cxn ang="0">
                    <a:pos x="88" y="86"/>
                  </a:cxn>
                  <a:cxn ang="0">
                    <a:pos x="88" y="78"/>
                  </a:cxn>
                  <a:cxn ang="0">
                    <a:pos x="84" y="64"/>
                  </a:cxn>
                  <a:cxn ang="0">
                    <a:pos x="72" y="68"/>
                  </a:cxn>
                  <a:cxn ang="0">
                    <a:pos x="68" y="62"/>
                  </a:cxn>
                  <a:cxn ang="0">
                    <a:pos x="70" y="48"/>
                  </a:cxn>
                  <a:cxn ang="0">
                    <a:pos x="76" y="28"/>
                  </a:cxn>
                  <a:cxn ang="0">
                    <a:pos x="74" y="12"/>
                  </a:cxn>
                  <a:cxn ang="0">
                    <a:pos x="64" y="8"/>
                  </a:cxn>
                  <a:cxn ang="0">
                    <a:pos x="32" y="40"/>
                  </a:cxn>
                  <a:cxn ang="0">
                    <a:pos x="30" y="48"/>
                  </a:cxn>
                  <a:cxn ang="0">
                    <a:pos x="28" y="58"/>
                  </a:cxn>
                  <a:cxn ang="0">
                    <a:pos x="14" y="68"/>
                  </a:cxn>
                  <a:cxn ang="0">
                    <a:pos x="16" y="86"/>
                  </a:cxn>
                  <a:cxn ang="0">
                    <a:pos x="16" y="96"/>
                  </a:cxn>
                  <a:cxn ang="0">
                    <a:pos x="6" y="100"/>
                  </a:cxn>
                  <a:cxn ang="0">
                    <a:pos x="2" y="100"/>
                  </a:cxn>
                  <a:cxn ang="0">
                    <a:pos x="6" y="112"/>
                  </a:cxn>
                  <a:cxn ang="0">
                    <a:pos x="0" y="118"/>
                  </a:cxn>
                  <a:cxn ang="0">
                    <a:pos x="4" y="132"/>
                  </a:cxn>
                  <a:cxn ang="0">
                    <a:pos x="8" y="128"/>
                  </a:cxn>
                  <a:cxn ang="0">
                    <a:pos x="14" y="132"/>
                  </a:cxn>
                  <a:cxn ang="0">
                    <a:pos x="20" y="142"/>
                  </a:cxn>
                  <a:cxn ang="0">
                    <a:pos x="20" y="154"/>
                  </a:cxn>
                  <a:cxn ang="0">
                    <a:pos x="24" y="170"/>
                  </a:cxn>
                  <a:cxn ang="0">
                    <a:pos x="22" y="192"/>
                  </a:cxn>
                  <a:cxn ang="0">
                    <a:pos x="28" y="194"/>
                  </a:cxn>
                  <a:cxn ang="0">
                    <a:pos x="40" y="188"/>
                  </a:cxn>
                  <a:cxn ang="0">
                    <a:pos x="46" y="184"/>
                  </a:cxn>
                  <a:cxn ang="0">
                    <a:pos x="58" y="182"/>
                  </a:cxn>
                  <a:cxn ang="0">
                    <a:pos x="64" y="186"/>
                  </a:cxn>
                  <a:cxn ang="0">
                    <a:pos x="72" y="224"/>
                  </a:cxn>
                  <a:cxn ang="0">
                    <a:pos x="78" y="242"/>
                  </a:cxn>
                  <a:cxn ang="0">
                    <a:pos x="80" y="260"/>
                  </a:cxn>
                  <a:cxn ang="0">
                    <a:pos x="88" y="258"/>
                  </a:cxn>
                  <a:cxn ang="0">
                    <a:pos x="90" y="234"/>
                  </a:cxn>
                  <a:cxn ang="0">
                    <a:pos x="74" y="202"/>
                  </a:cxn>
                  <a:cxn ang="0">
                    <a:pos x="76" y="186"/>
                  </a:cxn>
                  <a:cxn ang="0">
                    <a:pos x="70" y="160"/>
                  </a:cxn>
                  <a:cxn ang="0">
                    <a:pos x="70" y="140"/>
                  </a:cxn>
                  <a:cxn ang="0">
                    <a:pos x="82" y="134"/>
                  </a:cxn>
                  <a:cxn ang="0">
                    <a:pos x="88" y="124"/>
                  </a:cxn>
                  <a:cxn ang="0">
                    <a:pos x="104" y="124"/>
                  </a:cxn>
                  <a:cxn ang="0">
                    <a:pos x="110" y="108"/>
                  </a:cxn>
                </a:cxnLst>
                <a:rect l="0" t="0" r="r" b="b"/>
                <a:pathLst>
                  <a:path w="110" h="272">
                    <a:moveTo>
                      <a:pt x="102" y="106"/>
                    </a:moveTo>
                    <a:lnTo>
                      <a:pt x="98" y="100"/>
                    </a:lnTo>
                    <a:lnTo>
                      <a:pt x="96" y="92"/>
                    </a:lnTo>
                    <a:lnTo>
                      <a:pt x="94" y="92"/>
                    </a:lnTo>
                    <a:lnTo>
                      <a:pt x="88" y="90"/>
                    </a:lnTo>
                    <a:lnTo>
                      <a:pt x="88" y="86"/>
                    </a:lnTo>
                    <a:lnTo>
                      <a:pt x="92" y="80"/>
                    </a:lnTo>
                    <a:lnTo>
                      <a:pt x="92" y="78"/>
                    </a:lnTo>
                    <a:lnTo>
                      <a:pt x="88" y="78"/>
                    </a:lnTo>
                    <a:lnTo>
                      <a:pt x="86" y="70"/>
                    </a:lnTo>
                    <a:lnTo>
                      <a:pt x="86" y="66"/>
                    </a:lnTo>
                    <a:lnTo>
                      <a:pt x="84" y="64"/>
                    </a:lnTo>
                    <a:lnTo>
                      <a:pt x="80" y="64"/>
                    </a:lnTo>
                    <a:lnTo>
                      <a:pt x="74" y="66"/>
                    </a:lnTo>
                    <a:lnTo>
                      <a:pt x="72" y="68"/>
                    </a:lnTo>
                    <a:lnTo>
                      <a:pt x="70" y="68"/>
                    </a:lnTo>
                    <a:lnTo>
                      <a:pt x="68" y="66"/>
                    </a:lnTo>
                    <a:lnTo>
                      <a:pt x="68" y="62"/>
                    </a:lnTo>
                    <a:lnTo>
                      <a:pt x="66" y="58"/>
                    </a:lnTo>
                    <a:lnTo>
                      <a:pt x="66" y="54"/>
                    </a:lnTo>
                    <a:lnTo>
                      <a:pt x="70" y="48"/>
                    </a:lnTo>
                    <a:lnTo>
                      <a:pt x="74" y="42"/>
                    </a:lnTo>
                    <a:lnTo>
                      <a:pt x="76" y="32"/>
                    </a:lnTo>
                    <a:lnTo>
                      <a:pt x="76" y="28"/>
                    </a:lnTo>
                    <a:lnTo>
                      <a:pt x="74" y="26"/>
                    </a:lnTo>
                    <a:lnTo>
                      <a:pt x="76" y="16"/>
                    </a:lnTo>
                    <a:lnTo>
                      <a:pt x="74" y="12"/>
                    </a:lnTo>
                    <a:lnTo>
                      <a:pt x="72" y="8"/>
                    </a:lnTo>
                    <a:lnTo>
                      <a:pt x="68" y="8"/>
                    </a:lnTo>
                    <a:lnTo>
                      <a:pt x="64" y="8"/>
                    </a:lnTo>
                    <a:lnTo>
                      <a:pt x="56" y="0"/>
                    </a:lnTo>
                    <a:lnTo>
                      <a:pt x="42" y="6"/>
                    </a:lnTo>
                    <a:lnTo>
                      <a:pt x="32" y="40"/>
                    </a:lnTo>
                    <a:lnTo>
                      <a:pt x="38" y="42"/>
                    </a:lnTo>
                    <a:lnTo>
                      <a:pt x="32" y="46"/>
                    </a:lnTo>
                    <a:lnTo>
                      <a:pt x="30" y="48"/>
                    </a:lnTo>
                    <a:lnTo>
                      <a:pt x="28" y="54"/>
                    </a:lnTo>
                    <a:lnTo>
                      <a:pt x="28" y="54"/>
                    </a:lnTo>
                    <a:lnTo>
                      <a:pt x="28" y="58"/>
                    </a:lnTo>
                    <a:lnTo>
                      <a:pt x="24" y="66"/>
                    </a:lnTo>
                    <a:lnTo>
                      <a:pt x="22" y="72"/>
                    </a:lnTo>
                    <a:lnTo>
                      <a:pt x="14" y="68"/>
                    </a:lnTo>
                    <a:lnTo>
                      <a:pt x="14" y="74"/>
                    </a:lnTo>
                    <a:lnTo>
                      <a:pt x="16" y="86"/>
                    </a:lnTo>
                    <a:lnTo>
                      <a:pt x="16" y="86"/>
                    </a:lnTo>
                    <a:lnTo>
                      <a:pt x="16" y="86"/>
                    </a:lnTo>
                    <a:lnTo>
                      <a:pt x="16" y="92"/>
                    </a:lnTo>
                    <a:lnTo>
                      <a:pt x="16" y="96"/>
                    </a:lnTo>
                    <a:lnTo>
                      <a:pt x="14" y="100"/>
                    </a:lnTo>
                    <a:lnTo>
                      <a:pt x="10" y="102"/>
                    </a:lnTo>
                    <a:lnTo>
                      <a:pt x="6" y="100"/>
                    </a:lnTo>
                    <a:lnTo>
                      <a:pt x="6" y="100"/>
                    </a:lnTo>
                    <a:lnTo>
                      <a:pt x="2" y="104"/>
                    </a:lnTo>
                    <a:lnTo>
                      <a:pt x="2" y="100"/>
                    </a:lnTo>
                    <a:lnTo>
                      <a:pt x="2" y="100"/>
                    </a:lnTo>
                    <a:lnTo>
                      <a:pt x="4" y="108"/>
                    </a:lnTo>
                    <a:lnTo>
                      <a:pt x="6" y="112"/>
                    </a:lnTo>
                    <a:lnTo>
                      <a:pt x="6" y="118"/>
                    </a:lnTo>
                    <a:lnTo>
                      <a:pt x="2" y="116"/>
                    </a:lnTo>
                    <a:lnTo>
                      <a:pt x="0" y="118"/>
                    </a:lnTo>
                    <a:lnTo>
                      <a:pt x="0" y="122"/>
                    </a:lnTo>
                    <a:lnTo>
                      <a:pt x="2" y="132"/>
                    </a:lnTo>
                    <a:lnTo>
                      <a:pt x="4" y="132"/>
                    </a:lnTo>
                    <a:lnTo>
                      <a:pt x="6" y="130"/>
                    </a:lnTo>
                    <a:lnTo>
                      <a:pt x="6" y="128"/>
                    </a:lnTo>
                    <a:lnTo>
                      <a:pt x="8" y="128"/>
                    </a:lnTo>
                    <a:lnTo>
                      <a:pt x="8" y="124"/>
                    </a:lnTo>
                    <a:lnTo>
                      <a:pt x="14" y="124"/>
                    </a:lnTo>
                    <a:lnTo>
                      <a:pt x="14" y="132"/>
                    </a:lnTo>
                    <a:lnTo>
                      <a:pt x="16" y="134"/>
                    </a:lnTo>
                    <a:lnTo>
                      <a:pt x="16" y="140"/>
                    </a:lnTo>
                    <a:lnTo>
                      <a:pt x="20" y="142"/>
                    </a:lnTo>
                    <a:lnTo>
                      <a:pt x="18" y="148"/>
                    </a:lnTo>
                    <a:lnTo>
                      <a:pt x="18" y="150"/>
                    </a:lnTo>
                    <a:lnTo>
                      <a:pt x="20" y="154"/>
                    </a:lnTo>
                    <a:lnTo>
                      <a:pt x="24" y="156"/>
                    </a:lnTo>
                    <a:lnTo>
                      <a:pt x="26" y="164"/>
                    </a:lnTo>
                    <a:lnTo>
                      <a:pt x="24" y="170"/>
                    </a:lnTo>
                    <a:lnTo>
                      <a:pt x="22" y="174"/>
                    </a:lnTo>
                    <a:lnTo>
                      <a:pt x="20" y="190"/>
                    </a:lnTo>
                    <a:lnTo>
                      <a:pt x="22" y="192"/>
                    </a:lnTo>
                    <a:lnTo>
                      <a:pt x="24" y="192"/>
                    </a:lnTo>
                    <a:lnTo>
                      <a:pt x="26" y="192"/>
                    </a:lnTo>
                    <a:lnTo>
                      <a:pt x="28" y="194"/>
                    </a:lnTo>
                    <a:lnTo>
                      <a:pt x="38" y="194"/>
                    </a:lnTo>
                    <a:lnTo>
                      <a:pt x="38" y="190"/>
                    </a:lnTo>
                    <a:lnTo>
                      <a:pt x="40" y="188"/>
                    </a:lnTo>
                    <a:lnTo>
                      <a:pt x="40" y="188"/>
                    </a:lnTo>
                    <a:lnTo>
                      <a:pt x="44" y="186"/>
                    </a:lnTo>
                    <a:lnTo>
                      <a:pt x="46" y="184"/>
                    </a:lnTo>
                    <a:lnTo>
                      <a:pt x="48" y="176"/>
                    </a:lnTo>
                    <a:lnTo>
                      <a:pt x="50" y="174"/>
                    </a:lnTo>
                    <a:lnTo>
                      <a:pt x="58" y="182"/>
                    </a:lnTo>
                    <a:lnTo>
                      <a:pt x="58" y="184"/>
                    </a:lnTo>
                    <a:lnTo>
                      <a:pt x="58" y="184"/>
                    </a:lnTo>
                    <a:lnTo>
                      <a:pt x="64" y="186"/>
                    </a:lnTo>
                    <a:lnTo>
                      <a:pt x="62" y="196"/>
                    </a:lnTo>
                    <a:lnTo>
                      <a:pt x="66" y="200"/>
                    </a:lnTo>
                    <a:lnTo>
                      <a:pt x="72" y="224"/>
                    </a:lnTo>
                    <a:lnTo>
                      <a:pt x="72" y="226"/>
                    </a:lnTo>
                    <a:lnTo>
                      <a:pt x="76" y="228"/>
                    </a:lnTo>
                    <a:lnTo>
                      <a:pt x="78" y="242"/>
                    </a:lnTo>
                    <a:lnTo>
                      <a:pt x="80" y="256"/>
                    </a:lnTo>
                    <a:lnTo>
                      <a:pt x="78" y="258"/>
                    </a:lnTo>
                    <a:lnTo>
                      <a:pt x="80" y="260"/>
                    </a:lnTo>
                    <a:lnTo>
                      <a:pt x="84" y="272"/>
                    </a:lnTo>
                    <a:lnTo>
                      <a:pt x="86" y="266"/>
                    </a:lnTo>
                    <a:lnTo>
                      <a:pt x="88" y="258"/>
                    </a:lnTo>
                    <a:lnTo>
                      <a:pt x="94" y="250"/>
                    </a:lnTo>
                    <a:lnTo>
                      <a:pt x="94" y="242"/>
                    </a:lnTo>
                    <a:lnTo>
                      <a:pt x="90" y="234"/>
                    </a:lnTo>
                    <a:lnTo>
                      <a:pt x="82" y="224"/>
                    </a:lnTo>
                    <a:lnTo>
                      <a:pt x="78" y="214"/>
                    </a:lnTo>
                    <a:lnTo>
                      <a:pt x="74" y="202"/>
                    </a:lnTo>
                    <a:lnTo>
                      <a:pt x="82" y="198"/>
                    </a:lnTo>
                    <a:lnTo>
                      <a:pt x="82" y="192"/>
                    </a:lnTo>
                    <a:lnTo>
                      <a:pt x="76" y="186"/>
                    </a:lnTo>
                    <a:lnTo>
                      <a:pt x="70" y="178"/>
                    </a:lnTo>
                    <a:lnTo>
                      <a:pt x="68" y="168"/>
                    </a:lnTo>
                    <a:lnTo>
                      <a:pt x="70" y="160"/>
                    </a:lnTo>
                    <a:lnTo>
                      <a:pt x="70" y="154"/>
                    </a:lnTo>
                    <a:lnTo>
                      <a:pt x="68" y="146"/>
                    </a:lnTo>
                    <a:lnTo>
                      <a:pt x="70" y="140"/>
                    </a:lnTo>
                    <a:lnTo>
                      <a:pt x="74" y="140"/>
                    </a:lnTo>
                    <a:lnTo>
                      <a:pt x="78" y="134"/>
                    </a:lnTo>
                    <a:lnTo>
                      <a:pt x="82" y="134"/>
                    </a:lnTo>
                    <a:lnTo>
                      <a:pt x="82" y="132"/>
                    </a:lnTo>
                    <a:lnTo>
                      <a:pt x="84" y="124"/>
                    </a:lnTo>
                    <a:lnTo>
                      <a:pt x="88" y="124"/>
                    </a:lnTo>
                    <a:lnTo>
                      <a:pt x="92" y="128"/>
                    </a:lnTo>
                    <a:lnTo>
                      <a:pt x="102" y="128"/>
                    </a:lnTo>
                    <a:lnTo>
                      <a:pt x="104" y="124"/>
                    </a:lnTo>
                    <a:lnTo>
                      <a:pt x="104" y="118"/>
                    </a:lnTo>
                    <a:lnTo>
                      <a:pt x="108" y="112"/>
                    </a:lnTo>
                    <a:lnTo>
                      <a:pt x="110" y="108"/>
                    </a:lnTo>
                    <a:lnTo>
                      <a:pt x="102" y="106"/>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72" name="Freeform 558">
                <a:extLst>
                  <a:ext uri="{FF2B5EF4-FFF2-40B4-BE49-F238E27FC236}">
                    <a16:creationId xmlns:a16="http://schemas.microsoft.com/office/drawing/2014/main" id="{0E882B00-D7AA-42A4-C009-5D0EA01C83BA}"/>
                  </a:ext>
                </a:extLst>
              </p:cNvPr>
              <p:cNvSpPr>
                <a:spLocks/>
              </p:cNvSpPr>
              <p:nvPr/>
            </p:nvSpPr>
            <p:spPr bwMode="auto">
              <a:xfrm>
                <a:off x="5949274" y="3854526"/>
                <a:ext cx="60285" cy="97990"/>
              </a:xfrm>
              <a:custGeom>
                <a:avLst/>
                <a:gdLst/>
                <a:ahLst/>
                <a:cxnLst>
                  <a:cxn ang="0">
                    <a:pos x="58" y="82"/>
                  </a:cxn>
                  <a:cxn ang="0">
                    <a:pos x="58" y="78"/>
                  </a:cxn>
                  <a:cxn ang="0">
                    <a:pos x="58" y="66"/>
                  </a:cxn>
                  <a:cxn ang="0">
                    <a:pos x="50" y="62"/>
                  </a:cxn>
                  <a:cxn ang="0">
                    <a:pos x="42" y="58"/>
                  </a:cxn>
                  <a:cxn ang="0">
                    <a:pos x="42" y="50"/>
                  </a:cxn>
                  <a:cxn ang="0">
                    <a:pos x="52" y="20"/>
                  </a:cxn>
                  <a:cxn ang="0">
                    <a:pos x="48" y="6"/>
                  </a:cxn>
                  <a:cxn ang="0">
                    <a:pos x="24" y="6"/>
                  </a:cxn>
                  <a:cxn ang="0">
                    <a:pos x="16" y="6"/>
                  </a:cxn>
                  <a:cxn ang="0">
                    <a:pos x="2" y="0"/>
                  </a:cxn>
                  <a:cxn ang="0">
                    <a:pos x="6" y="4"/>
                  </a:cxn>
                  <a:cxn ang="0">
                    <a:pos x="10" y="16"/>
                  </a:cxn>
                  <a:cxn ang="0">
                    <a:pos x="2" y="20"/>
                  </a:cxn>
                  <a:cxn ang="0">
                    <a:pos x="0" y="22"/>
                  </a:cxn>
                  <a:cxn ang="0">
                    <a:pos x="6" y="42"/>
                  </a:cxn>
                  <a:cxn ang="0">
                    <a:pos x="10" y="72"/>
                  </a:cxn>
                  <a:cxn ang="0">
                    <a:pos x="4" y="76"/>
                  </a:cxn>
                  <a:cxn ang="0">
                    <a:pos x="4" y="84"/>
                  </a:cxn>
                  <a:cxn ang="0">
                    <a:pos x="10" y="82"/>
                  </a:cxn>
                  <a:cxn ang="0">
                    <a:pos x="16" y="80"/>
                  </a:cxn>
                  <a:cxn ang="0">
                    <a:pos x="18" y="78"/>
                  </a:cxn>
                  <a:cxn ang="0">
                    <a:pos x="20" y="76"/>
                  </a:cxn>
                  <a:cxn ang="0">
                    <a:pos x="24" y="78"/>
                  </a:cxn>
                  <a:cxn ang="0">
                    <a:pos x="28" y="74"/>
                  </a:cxn>
                  <a:cxn ang="0">
                    <a:pos x="28" y="70"/>
                  </a:cxn>
                  <a:cxn ang="0">
                    <a:pos x="28" y="66"/>
                  </a:cxn>
                  <a:cxn ang="0">
                    <a:pos x="26" y="64"/>
                  </a:cxn>
                  <a:cxn ang="0">
                    <a:pos x="28" y="54"/>
                  </a:cxn>
                  <a:cxn ang="0">
                    <a:pos x="30" y="56"/>
                  </a:cxn>
                  <a:cxn ang="0">
                    <a:pos x="36" y="62"/>
                  </a:cxn>
                  <a:cxn ang="0">
                    <a:pos x="40" y="62"/>
                  </a:cxn>
                  <a:cxn ang="0">
                    <a:pos x="46" y="70"/>
                  </a:cxn>
                  <a:cxn ang="0">
                    <a:pos x="48" y="76"/>
                  </a:cxn>
                  <a:cxn ang="0">
                    <a:pos x="50" y="92"/>
                  </a:cxn>
                  <a:cxn ang="0">
                    <a:pos x="56" y="102"/>
                  </a:cxn>
                  <a:cxn ang="0">
                    <a:pos x="58" y="94"/>
                  </a:cxn>
                  <a:cxn ang="0">
                    <a:pos x="62" y="88"/>
                  </a:cxn>
                  <a:cxn ang="0">
                    <a:pos x="58" y="82"/>
                  </a:cxn>
                </a:cxnLst>
                <a:rect l="0" t="0" r="r" b="b"/>
                <a:pathLst>
                  <a:path w="62" h="102">
                    <a:moveTo>
                      <a:pt x="58" y="82"/>
                    </a:moveTo>
                    <a:lnTo>
                      <a:pt x="58" y="82"/>
                    </a:lnTo>
                    <a:lnTo>
                      <a:pt x="58" y="82"/>
                    </a:lnTo>
                    <a:lnTo>
                      <a:pt x="58" y="78"/>
                    </a:lnTo>
                    <a:lnTo>
                      <a:pt x="58" y="72"/>
                    </a:lnTo>
                    <a:lnTo>
                      <a:pt x="58" y="66"/>
                    </a:lnTo>
                    <a:lnTo>
                      <a:pt x="52" y="56"/>
                    </a:lnTo>
                    <a:lnTo>
                      <a:pt x="50" y="62"/>
                    </a:lnTo>
                    <a:lnTo>
                      <a:pt x="44" y="62"/>
                    </a:lnTo>
                    <a:lnTo>
                      <a:pt x="42" y="58"/>
                    </a:lnTo>
                    <a:lnTo>
                      <a:pt x="44" y="52"/>
                    </a:lnTo>
                    <a:lnTo>
                      <a:pt x="42" y="50"/>
                    </a:lnTo>
                    <a:lnTo>
                      <a:pt x="44" y="28"/>
                    </a:lnTo>
                    <a:lnTo>
                      <a:pt x="52" y="20"/>
                    </a:lnTo>
                    <a:lnTo>
                      <a:pt x="52" y="14"/>
                    </a:lnTo>
                    <a:lnTo>
                      <a:pt x="48" y="6"/>
                    </a:lnTo>
                    <a:lnTo>
                      <a:pt x="26" y="8"/>
                    </a:lnTo>
                    <a:lnTo>
                      <a:pt x="24" y="6"/>
                    </a:lnTo>
                    <a:lnTo>
                      <a:pt x="22" y="8"/>
                    </a:lnTo>
                    <a:lnTo>
                      <a:pt x="16" y="6"/>
                    </a:lnTo>
                    <a:lnTo>
                      <a:pt x="10" y="6"/>
                    </a:lnTo>
                    <a:lnTo>
                      <a:pt x="2" y="0"/>
                    </a:lnTo>
                    <a:lnTo>
                      <a:pt x="0" y="2"/>
                    </a:lnTo>
                    <a:lnTo>
                      <a:pt x="6" y="4"/>
                    </a:lnTo>
                    <a:lnTo>
                      <a:pt x="8" y="10"/>
                    </a:lnTo>
                    <a:lnTo>
                      <a:pt x="10" y="16"/>
                    </a:lnTo>
                    <a:lnTo>
                      <a:pt x="4" y="16"/>
                    </a:lnTo>
                    <a:lnTo>
                      <a:pt x="2" y="20"/>
                    </a:lnTo>
                    <a:lnTo>
                      <a:pt x="0" y="20"/>
                    </a:lnTo>
                    <a:lnTo>
                      <a:pt x="0" y="22"/>
                    </a:lnTo>
                    <a:lnTo>
                      <a:pt x="6" y="30"/>
                    </a:lnTo>
                    <a:lnTo>
                      <a:pt x="6" y="42"/>
                    </a:lnTo>
                    <a:lnTo>
                      <a:pt x="10" y="50"/>
                    </a:lnTo>
                    <a:lnTo>
                      <a:pt x="10" y="72"/>
                    </a:lnTo>
                    <a:lnTo>
                      <a:pt x="4" y="74"/>
                    </a:lnTo>
                    <a:lnTo>
                      <a:pt x="4" y="76"/>
                    </a:lnTo>
                    <a:lnTo>
                      <a:pt x="4" y="80"/>
                    </a:lnTo>
                    <a:lnTo>
                      <a:pt x="4" y="84"/>
                    </a:lnTo>
                    <a:lnTo>
                      <a:pt x="8" y="84"/>
                    </a:lnTo>
                    <a:lnTo>
                      <a:pt x="10" y="82"/>
                    </a:lnTo>
                    <a:lnTo>
                      <a:pt x="12" y="80"/>
                    </a:lnTo>
                    <a:lnTo>
                      <a:pt x="16" y="80"/>
                    </a:lnTo>
                    <a:lnTo>
                      <a:pt x="16" y="78"/>
                    </a:lnTo>
                    <a:lnTo>
                      <a:pt x="18" y="78"/>
                    </a:lnTo>
                    <a:lnTo>
                      <a:pt x="20" y="78"/>
                    </a:lnTo>
                    <a:lnTo>
                      <a:pt x="20" y="76"/>
                    </a:lnTo>
                    <a:lnTo>
                      <a:pt x="22" y="76"/>
                    </a:lnTo>
                    <a:lnTo>
                      <a:pt x="24" y="78"/>
                    </a:lnTo>
                    <a:lnTo>
                      <a:pt x="28" y="76"/>
                    </a:lnTo>
                    <a:lnTo>
                      <a:pt x="28" y="74"/>
                    </a:lnTo>
                    <a:lnTo>
                      <a:pt x="28" y="72"/>
                    </a:lnTo>
                    <a:lnTo>
                      <a:pt x="28" y="70"/>
                    </a:lnTo>
                    <a:lnTo>
                      <a:pt x="28" y="68"/>
                    </a:lnTo>
                    <a:lnTo>
                      <a:pt x="28" y="66"/>
                    </a:lnTo>
                    <a:lnTo>
                      <a:pt x="26" y="66"/>
                    </a:lnTo>
                    <a:lnTo>
                      <a:pt x="26" y="64"/>
                    </a:lnTo>
                    <a:lnTo>
                      <a:pt x="30" y="62"/>
                    </a:lnTo>
                    <a:lnTo>
                      <a:pt x="28" y="54"/>
                    </a:lnTo>
                    <a:lnTo>
                      <a:pt x="28" y="52"/>
                    </a:lnTo>
                    <a:lnTo>
                      <a:pt x="30" y="56"/>
                    </a:lnTo>
                    <a:lnTo>
                      <a:pt x="34" y="60"/>
                    </a:lnTo>
                    <a:lnTo>
                      <a:pt x="36" y="62"/>
                    </a:lnTo>
                    <a:lnTo>
                      <a:pt x="40" y="60"/>
                    </a:lnTo>
                    <a:lnTo>
                      <a:pt x="40" y="62"/>
                    </a:lnTo>
                    <a:lnTo>
                      <a:pt x="40" y="64"/>
                    </a:lnTo>
                    <a:lnTo>
                      <a:pt x="46" y="70"/>
                    </a:lnTo>
                    <a:lnTo>
                      <a:pt x="46" y="74"/>
                    </a:lnTo>
                    <a:lnTo>
                      <a:pt x="48" y="76"/>
                    </a:lnTo>
                    <a:lnTo>
                      <a:pt x="48" y="84"/>
                    </a:lnTo>
                    <a:lnTo>
                      <a:pt x="50" y="92"/>
                    </a:lnTo>
                    <a:lnTo>
                      <a:pt x="52" y="94"/>
                    </a:lnTo>
                    <a:lnTo>
                      <a:pt x="56" y="102"/>
                    </a:lnTo>
                    <a:lnTo>
                      <a:pt x="56" y="98"/>
                    </a:lnTo>
                    <a:lnTo>
                      <a:pt x="58" y="94"/>
                    </a:lnTo>
                    <a:lnTo>
                      <a:pt x="62" y="96"/>
                    </a:lnTo>
                    <a:lnTo>
                      <a:pt x="62" y="88"/>
                    </a:lnTo>
                    <a:lnTo>
                      <a:pt x="60" y="84"/>
                    </a:lnTo>
                    <a:lnTo>
                      <a:pt x="58" y="8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73" name="Freeform 559">
                <a:extLst>
                  <a:ext uri="{FF2B5EF4-FFF2-40B4-BE49-F238E27FC236}">
                    <a16:creationId xmlns:a16="http://schemas.microsoft.com/office/drawing/2014/main" id="{F4662685-638C-71A5-5BDF-87CA410F43F7}"/>
                  </a:ext>
                </a:extLst>
              </p:cNvPr>
              <p:cNvSpPr>
                <a:spLocks/>
              </p:cNvSpPr>
              <p:nvPr/>
            </p:nvSpPr>
            <p:spPr bwMode="auto">
              <a:xfrm>
                <a:off x="5962887" y="3823784"/>
                <a:ext cx="36949" cy="21135"/>
              </a:xfrm>
              <a:custGeom>
                <a:avLst/>
                <a:gdLst/>
                <a:ahLst/>
                <a:cxnLst>
                  <a:cxn ang="0">
                    <a:pos x="10" y="22"/>
                  </a:cxn>
                  <a:cxn ang="0">
                    <a:pos x="10" y="22"/>
                  </a:cxn>
                  <a:cxn ang="0">
                    <a:pos x="38" y="20"/>
                  </a:cxn>
                  <a:cxn ang="0">
                    <a:pos x="38" y="14"/>
                  </a:cxn>
                  <a:cxn ang="0">
                    <a:pos x="36" y="4"/>
                  </a:cxn>
                  <a:cxn ang="0">
                    <a:pos x="26" y="4"/>
                  </a:cxn>
                  <a:cxn ang="0">
                    <a:pos x="22" y="4"/>
                  </a:cxn>
                  <a:cxn ang="0">
                    <a:pos x="14" y="0"/>
                  </a:cxn>
                  <a:cxn ang="0">
                    <a:pos x="8" y="2"/>
                  </a:cxn>
                  <a:cxn ang="0">
                    <a:pos x="4" y="4"/>
                  </a:cxn>
                  <a:cxn ang="0">
                    <a:pos x="0" y="12"/>
                  </a:cxn>
                  <a:cxn ang="0">
                    <a:pos x="0" y="14"/>
                  </a:cxn>
                  <a:cxn ang="0">
                    <a:pos x="6" y="22"/>
                  </a:cxn>
                  <a:cxn ang="0">
                    <a:pos x="10" y="22"/>
                  </a:cxn>
                </a:cxnLst>
                <a:rect l="0" t="0" r="r" b="b"/>
                <a:pathLst>
                  <a:path w="38" h="22">
                    <a:moveTo>
                      <a:pt x="10" y="22"/>
                    </a:moveTo>
                    <a:lnTo>
                      <a:pt x="10" y="22"/>
                    </a:lnTo>
                    <a:lnTo>
                      <a:pt x="38" y="20"/>
                    </a:lnTo>
                    <a:lnTo>
                      <a:pt x="38" y="14"/>
                    </a:lnTo>
                    <a:lnTo>
                      <a:pt x="36" y="4"/>
                    </a:lnTo>
                    <a:lnTo>
                      <a:pt x="26" y="4"/>
                    </a:lnTo>
                    <a:lnTo>
                      <a:pt x="22" y="4"/>
                    </a:lnTo>
                    <a:lnTo>
                      <a:pt x="14" y="0"/>
                    </a:lnTo>
                    <a:lnTo>
                      <a:pt x="8" y="2"/>
                    </a:lnTo>
                    <a:lnTo>
                      <a:pt x="4" y="4"/>
                    </a:lnTo>
                    <a:lnTo>
                      <a:pt x="0" y="12"/>
                    </a:lnTo>
                    <a:lnTo>
                      <a:pt x="0" y="14"/>
                    </a:lnTo>
                    <a:lnTo>
                      <a:pt x="6" y="22"/>
                    </a:lnTo>
                    <a:lnTo>
                      <a:pt x="10" y="2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74" name="Freeform 560">
                <a:extLst>
                  <a:ext uri="{FF2B5EF4-FFF2-40B4-BE49-F238E27FC236}">
                    <a16:creationId xmlns:a16="http://schemas.microsoft.com/office/drawing/2014/main" id="{F327ADD9-8A3F-F9A7-A530-A4AEA3427C8D}"/>
                  </a:ext>
                </a:extLst>
              </p:cNvPr>
              <p:cNvSpPr>
                <a:spLocks/>
              </p:cNvSpPr>
              <p:nvPr/>
            </p:nvSpPr>
            <p:spPr bwMode="auto">
              <a:xfrm>
                <a:off x="6202085" y="3958280"/>
                <a:ext cx="33060" cy="30742"/>
              </a:xfrm>
              <a:custGeom>
                <a:avLst/>
                <a:gdLst/>
                <a:ahLst/>
                <a:cxnLst>
                  <a:cxn ang="0">
                    <a:pos x="22" y="2"/>
                  </a:cxn>
                  <a:cxn ang="0">
                    <a:pos x="16" y="2"/>
                  </a:cxn>
                  <a:cxn ang="0">
                    <a:pos x="12" y="2"/>
                  </a:cxn>
                  <a:cxn ang="0">
                    <a:pos x="10" y="4"/>
                  </a:cxn>
                  <a:cxn ang="0">
                    <a:pos x="10" y="6"/>
                  </a:cxn>
                  <a:cxn ang="0">
                    <a:pos x="10" y="8"/>
                  </a:cxn>
                  <a:cxn ang="0">
                    <a:pos x="8" y="8"/>
                  </a:cxn>
                  <a:cxn ang="0">
                    <a:pos x="6" y="8"/>
                  </a:cxn>
                  <a:cxn ang="0">
                    <a:pos x="0" y="12"/>
                  </a:cxn>
                  <a:cxn ang="0">
                    <a:pos x="0" y="20"/>
                  </a:cxn>
                  <a:cxn ang="0">
                    <a:pos x="2" y="26"/>
                  </a:cxn>
                  <a:cxn ang="0">
                    <a:pos x="4" y="26"/>
                  </a:cxn>
                  <a:cxn ang="0">
                    <a:pos x="8" y="28"/>
                  </a:cxn>
                  <a:cxn ang="0">
                    <a:pos x="12" y="32"/>
                  </a:cxn>
                  <a:cxn ang="0">
                    <a:pos x="22" y="28"/>
                  </a:cxn>
                  <a:cxn ang="0">
                    <a:pos x="22" y="24"/>
                  </a:cxn>
                  <a:cxn ang="0">
                    <a:pos x="26" y="24"/>
                  </a:cxn>
                  <a:cxn ang="0">
                    <a:pos x="28" y="22"/>
                  </a:cxn>
                  <a:cxn ang="0">
                    <a:pos x="28" y="20"/>
                  </a:cxn>
                  <a:cxn ang="0">
                    <a:pos x="28" y="16"/>
                  </a:cxn>
                  <a:cxn ang="0">
                    <a:pos x="30" y="14"/>
                  </a:cxn>
                  <a:cxn ang="0">
                    <a:pos x="32" y="8"/>
                  </a:cxn>
                  <a:cxn ang="0">
                    <a:pos x="34" y="6"/>
                  </a:cxn>
                  <a:cxn ang="0">
                    <a:pos x="34" y="4"/>
                  </a:cxn>
                  <a:cxn ang="0">
                    <a:pos x="34" y="2"/>
                  </a:cxn>
                  <a:cxn ang="0">
                    <a:pos x="30" y="0"/>
                  </a:cxn>
                  <a:cxn ang="0">
                    <a:pos x="22" y="2"/>
                  </a:cxn>
                </a:cxnLst>
                <a:rect l="0" t="0" r="r" b="b"/>
                <a:pathLst>
                  <a:path w="34" h="32">
                    <a:moveTo>
                      <a:pt x="22" y="2"/>
                    </a:moveTo>
                    <a:lnTo>
                      <a:pt x="16" y="2"/>
                    </a:lnTo>
                    <a:lnTo>
                      <a:pt x="12" y="2"/>
                    </a:lnTo>
                    <a:lnTo>
                      <a:pt x="10" y="4"/>
                    </a:lnTo>
                    <a:lnTo>
                      <a:pt x="10" y="6"/>
                    </a:lnTo>
                    <a:lnTo>
                      <a:pt x="10" y="8"/>
                    </a:lnTo>
                    <a:lnTo>
                      <a:pt x="8" y="8"/>
                    </a:lnTo>
                    <a:lnTo>
                      <a:pt x="6" y="8"/>
                    </a:lnTo>
                    <a:lnTo>
                      <a:pt x="0" y="12"/>
                    </a:lnTo>
                    <a:lnTo>
                      <a:pt x="0" y="20"/>
                    </a:lnTo>
                    <a:lnTo>
                      <a:pt x="2" y="26"/>
                    </a:lnTo>
                    <a:lnTo>
                      <a:pt x="4" y="26"/>
                    </a:lnTo>
                    <a:lnTo>
                      <a:pt x="8" y="28"/>
                    </a:lnTo>
                    <a:lnTo>
                      <a:pt x="12" y="32"/>
                    </a:lnTo>
                    <a:lnTo>
                      <a:pt x="22" y="28"/>
                    </a:lnTo>
                    <a:lnTo>
                      <a:pt x="22" y="24"/>
                    </a:lnTo>
                    <a:lnTo>
                      <a:pt x="26" y="24"/>
                    </a:lnTo>
                    <a:lnTo>
                      <a:pt x="28" y="22"/>
                    </a:lnTo>
                    <a:lnTo>
                      <a:pt x="28" y="20"/>
                    </a:lnTo>
                    <a:lnTo>
                      <a:pt x="28" y="16"/>
                    </a:lnTo>
                    <a:lnTo>
                      <a:pt x="30" y="14"/>
                    </a:lnTo>
                    <a:lnTo>
                      <a:pt x="32" y="8"/>
                    </a:lnTo>
                    <a:lnTo>
                      <a:pt x="34" y="6"/>
                    </a:lnTo>
                    <a:lnTo>
                      <a:pt x="34" y="4"/>
                    </a:lnTo>
                    <a:lnTo>
                      <a:pt x="34" y="2"/>
                    </a:lnTo>
                    <a:lnTo>
                      <a:pt x="30" y="0"/>
                    </a:lnTo>
                    <a:lnTo>
                      <a:pt x="22" y="2"/>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75" name="Freeform 561">
                <a:extLst>
                  <a:ext uri="{FF2B5EF4-FFF2-40B4-BE49-F238E27FC236}">
                    <a16:creationId xmlns:a16="http://schemas.microsoft.com/office/drawing/2014/main" id="{31363804-AB4D-1A03-2F83-71A2C82BF287}"/>
                  </a:ext>
                </a:extLst>
              </p:cNvPr>
              <p:cNvSpPr>
                <a:spLocks/>
              </p:cNvSpPr>
              <p:nvPr/>
            </p:nvSpPr>
            <p:spPr bwMode="auto">
              <a:xfrm>
                <a:off x="5754805" y="3378026"/>
                <a:ext cx="775933" cy="576411"/>
              </a:xfrm>
              <a:custGeom>
                <a:avLst/>
                <a:gdLst/>
                <a:ahLst/>
                <a:cxnLst>
                  <a:cxn ang="0">
                    <a:pos x="764" y="114"/>
                  </a:cxn>
                  <a:cxn ang="0">
                    <a:pos x="734" y="76"/>
                  </a:cxn>
                  <a:cxn ang="0">
                    <a:pos x="696" y="32"/>
                  </a:cxn>
                  <a:cxn ang="0">
                    <a:pos x="644" y="2"/>
                  </a:cxn>
                  <a:cxn ang="0">
                    <a:pos x="616" y="30"/>
                  </a:cxn>
                  <a:cxn ang="0">
                    <a:pos x="600" y="70"/>
                  </a:cxn>
                  <a:cxn ang="0">
                    <a:pos x="558" y="96"/>
                  </a:cxn>
                  <a:cxn ang="0">
                    <a:pos x="588" y="112"/>
                  </a:cxn>
                  <a:cxn ang="0">
                    <a:pos x="588" y="138"/>
                  </a:cxn>
                  <a:cxn ang="0">
                    <a:pos x="534" y="168"/>
                  </a:cxn>
                  <a:cxn ang="0">
                    <a:pos x="496" y="196"/>
                  </a:cxn>
                  <a:cxn ang="0">
                    <a:pos x="424" y="224"/>
                  </a:cxn>
                  <a:cxn ang="0">
                    <a:pos x="334" y="210"/>
                  </a:cxn>
                  <a:cxn ang="0">
                    <a:pos x="276" y="174"/>
                  </a:cxn>
                  <a:cxn ang="0">
                    <a:pos x="238" y="134"/>
                  </a:cxn>
                  <a:cxn ang="0">
                    <a:pos x="202" y="84"/>
                  </a:cxn>
                  <a:cxn ang="0">
                    <a:pos x="138" y="120"/>
                  </a:cxn>
                  <a:cxn ang="0">
                    <a:pos x="102" y="168"/>
                  </a:cxn>
                  <a:cxn ang="0">
                    <a:pos x="84" y="216"/>
                  </a:cxn>
                  <a:cxn ang="0">
                    <a:pos x="52" y="234"/>
                  </a:cxn>
                  <a:cxn ang="0">
                    <a:pos x="34" y="254"/>
                  </a:cxn>
                  <a:cxn ang="0">
                    <a:pos x="10" y="258"/>
                  </a:cxn>
                  <a:cxn ang="0">
                    <a:pos x="16" y="282"/>
                  </a:cxn>
                  <a:cxn ang="0">
                    <a:pos x="50" y="326"/>
                  </a:cxn>
                  <a:cxn ang="0">
                    <a:pos x="72" y="384"/>
                  </a:cxn>
                  <a:cxn ang="0">
                    <a:pos x="102" y="430"/>
                  </a:cxn>
                  <a:cxn ang="0">
                    <a:pos x="150" y="446"/>
                  </a:cxn>
                  <a:cxn ang="0">
                    <a:pos x="198" y="472"/>
                  </a:cxn>
                  <a:cxn ang="0">
                    <a:pos x="240" y="468"/>
                  </a:cxn>
                  <a:cxn ang="0">
                    <a:pos x="314" y="472"/>
                  </a:cxn>
                  <a:cxn ang="0">
                    <a:pos x="332" y="502"/>
                  </a:cxn>
                  <a:cxn ang="0">
                    <a:pos x="328" y="544"/>
                  </a:cxn>
                  <a:cxn ang="0">
                    <a:pos x="344" y="560"/>
                  </a:cxn>
                  <a:cxn ang="0">
                    <a:pos x="376" y="582"/>
                  </a:cxn>
                  <a:cxn ang="0">
                    <a:pos x="418" y="550"/>
                  </a:cxn>
                  <a:cxn ang="0">
                    <a:pos x="456" y="578"/>
                  </a:cxn>
                  <a:cxn ang="0">
                    <a:pos x="472" y="584"/>
                  </a:cxn>
                  <a:cxn ang="0">
                    <a:pos x="484" y="584"/>
                  </a:cxn>
                  <a:cxn ang="0">
                    <a:pos x="508" y="572"/>
                  </a:cxn>
                  <a:cxn ang="0">
                    <a:pos x="530" y="552"/>
                  </a:cxn>
                  <a:cxn ang="0">
                    <a:pos x="556" y="556"/>
                  </a:cxn>
                  <a:cxn ang="0">
                    <a:pos x="572" y="540"/>
                  </a:cxn>
                  <a:cxn ang="0">
                    <a:pos x="596" y="520"/>
                  </a:cxn>
                  <a:cxn ang="0">
                    <a:pos x="604" y="510"/>
                  </a:cxn>
                  <a:cxn ang="0">
                    <a:pos x="612" y="484"/>
                  </a:cxn>
                  <a:cxn ang="0">
                    <a:pos x="626" y="462"/>
                  </a:cxn>
                  <a:cxn ang="0">
                    <a:pos x="634" y="440"/>
                  </a:cxn>
                  <a:cxn ang="0">
                    <a:pos x="624" y="430"/>
                  </a:cxn>
                  <a:cxn ang="0">
                    <a:pos x="616" y="386"/>
                  </a:cxn>
                  <a:cxn ang="0">
                    <a:pos x="604" y="338"/>
                  </a:cxn>
                  <a:cxn ang="0">
                    <a:pos x="632" y="312"/>
                  </a:cxn>
                  <a:cxn ang="0">
                    <a:pos x="634" y="302"/>
                  </a:cxn>
                  <a:cxn ang="0">
                    <a:pos x="602" y="308"/>
                  </a:cxn>
                  <a:cxn ang="0">
                    <a:pos x="580" y="288"/>
                  </a:cxn>
                  <a:cxn ang="0">
                    <a:pos x="608" y="258"/>
                  </a:cxn>
                  <a:cxn ang="0">
                    <a:pos x="636" y="252"/>
                  </a:cxn>
                  <a:cxn ang="0">
                    <a:pos x="630" y="278"/>
                  </a:cxn>
                  <a:cxn ang="0">
                    <a:pos x="668" y="260"/>
                  </a:cxn>
                  <a:cxn ang="0">
                    <a:pos x="698" y="216"/>
                  </a:cxn>
                  <a:cxn ang="0">
                    <a:pos x="732" y="208"/>
                  </a:cxn>
                  <a:cxn ang="0">
                    <a:pos x="752" y="178"/>
                  </a:cxn>
                  <a:cxn ang="0">
                    <a:pos x="774" y="158"/>
                  </a:cxn>
                  <a:cxn ang="0">
                    <a:pos x="798" y="112"/>
                  </a:cxn>
                </a:cxnLst>
                <a:rect l="0" t="0" r="r" b="b"/>
                <a:pathLst>
                  <a:path w="798" h="600">
                    <a:moveTo>
                      <a:pt x="794" y="104"/>
                    </a:moveTo>
                    <a:lnTo>
                      <a:pt x="798" y="96"/>
                    </a:lnTo>
                    <a:lnTo>
                      <a:pt x="790" y="98"/>
                    </a:lnTo>
                    <a:lnTo>
                      <a:pt x="788" y="102"/>
                    </a:lnTo>
                    <a:lnTo>
                      <a:pt x="782" y="104"/>
                    </a:lnTo>
                    <a:lnTo>
                      <a:pt x="778" y="104"/>
                    </a:lnTo>
                    <a:lnTo>
                      <a:pt x="774" y="108"/>
                    </a:lnTo>
                    <a:lnTo>
                      <a:pt x="770" y="112"/>
                    </a:lnTo>
                    <a:lnTo>
                      <a:pt x="764" y="114"/>
                    </a:lnTo>
                    <a:lnTo>
                      <a:pt x="760" y="116"/>
                    </a:lnTo>
                    <a:lnTo>
                      <a:pt x="754" y="112"/>
                    </a:lnTo>
                    <a:lnTo>
                      <a:pt x="748" y="110"/>
                    </a:lnTo>
                    <a:lnTo>
                      <a:pt x="746" y="104"/>
                    </a:lnTo>
                    <a:lnTo>
                      <a:pt x="746" y="98"/>
                    </a:lnTo>
                    <a:lnTo>
                      <a:pt x="744" y="92"/>
                    </a:lnTo>
                    <a:lnTo>
                      <a:pt x="738" y="86"/>
                    </a:lnTo>
                    <a:lnTo>
                      <a:pt x="736" y="82"/>
                    </a:lnTo>
                    <a:lnTo>
                      <a:pt x="734" y="76"/>
                    </a:lnTo>
                    <a:lnTo>
                      <a:pt x="730" y="72"/>
                    </a:lnTo>
                    <a:lnTo>
                      <a:pt x="722" y="70"/>
                    </a:lnTo>
                    <a:lnTo>
                      <a:pt x="716" y="68"/>
                    </a:lnTo>
                    <a:lnTo>
                      <a:pt x="712" y="68"/>
                    </a:lnTo>
                    <a:lnTo>
                      <a:pt x="708" y="64"/>
                    </a:lnTo>
                    <a:lnTo>
                      <a:pt x="704" y="56"/>
                    </a:lnTo>
                    <a:lnTo>
                      <a:pt x="698" y="46"/>
                    </a:lnTo>
                    <a:lnTo>
                      <a:pt x="696" y="38"/>
                    </a:lnTo>
                    <a:lnTo>
                      <a:pt x="696" y="32"/>
                    </a:lnTo>
                    <a:lnTo>
                      <a:pt x="690" y="26"/>
                    </a:lnTo>
                    <a:lnTo>
                      <a:pt x="688" y="22"/>
                    </a:lnTo>
                    <a:lnTo>
                      <a:pt x="680" y="16"/>
                    </a:lnTo>
                    <a:lnTo>
                      <a:pt x="670" y="16"/>
                    </a:lnTo>
                    <a:lnTo>
                      <a:pt x="666" y="10"/>
                    </a:lnTo>
                    <a:lnTo>
                      <a:pt x="660" y="6"/>
                    </a:lnTo>
                    <a:lnTo>
                      <a:pt x="656" y="2"/>
                    </a:lnTo>
                    <a:lnTo>
                      <a:pt x="648" y="0"/>
                    </a:lnTo>
                    <a:lnTo>
                      <a:pt x="644" y="2"/>
                    </a:lnTo>
                    <a:lnTo>
                      <a:pt x="638" y="4"/>
                    </a:lnTo>
                    <a:lnTo>
                      <a:pt x="630" y="4"/>
                    </a:lnTo>
                    <a:lnTo>
                      <a:pt x="624" y="8"/>
                    </a:lnTo>
                    <a:lnTo>
                      <a:pt x="618" y="14"/>
                    </a:lnTo>
                    <a:lnTo>
                      <a:pt x="614" y="20"/>
                    </a:lnTo>
                    <a:lnTo>
                      <a:pt x="612" y="22"/>
                    </a:lnTo>
                    <a:lnTo>
                      <a:pt x="610" y="26"/>
                    </a:lnTo>
                    <a:lnTo>
                      <a:pt x="616" y="24"/>
                    </a:lnTo>
                    <a:lnTo>
                      <a:pt x="616" y="30"/>
                    </a:lnTo>
                    <a:lnTo>
                      <a:pt x="616" y="36"/>
                    </a:lnTo>
                    <a:lnTo>
                      <a:pt x="612" y="40"/>
                    </a:lnTo>
                    <a:lnTo>
                      <a:pt x="614" y="46"/>
                    </a:lnTo>
                    <a:lnTo>
                      <a:pt x="608" y="54"/>
                    </a:lnTo>
                    <a:lnTo>
                      <a:pt x="604" y="60"/>
                    </a:lnTo>
                    <a:lnTo>
                      <a:pt x="600" y="64"/>
                    </a:lnTo>
                    <a:lnTo>
                      <a:pt x="598" y="66"/>
                    </a:lnTo>
                    <a:lnTo>
                      <a:pt x="598" y="68"/>
                    </a:lnTo>
                    <a:lnTo>
                      <a:pt x="600" y="70"/>
                    </a:lnTo>
                    <a:lnTo>
                      <a:pt x="598" y="72"/>
                    </a:lnTo>
                    <a:lnTo>
                      <a:pt x="596" y="74"/>
                    </a:lnTo>
                    <a:lnTo>
                      <a:pt x="592" y="76"/>
                    </a:lnTo>
                    <a:lnTo>
                      <a:pt x="582" y="82"/>
                    </a:lnTo>
                    <a:lnTo>
                      <a:pt x="576" y="78"/>
                    </a:lnTo>
                    <a:lnTo>
                      <a:pt x="568" y="74"/>
                    </a:lnTo>
                    <a:lnTo>
                      <a:pt x="562" y="76"/>
                    </a:lnTo>
                    <a:lnTo>
                      <a:pt x="556" y="90"/>
                    </a:lnTo>
                    <a:lnTo>
                      <a:pt x="558" y="96"/>
                    </a:lnTo>
                    <a:lnTo>
                      <a:pt x="558" y="100"/>
                    </a:lnTo>
                    <a:lnTo>
                      <a:pt x="556" y="102"/>
                    </a:lnTo>
                    <a:lnTo>
                      <a:pt x="554" y="106"/>
                    </a:lnTo>
                    <a:lnTo>
                      <a:pt x="554" y="112"/>
                    </a:lnTo>
                    <a:lnTo>
                      <a:pt x="564" y="116"/>
                    </a:lnTo>
                    <a:lnTo>
                      <a:pt x="574" y="114"/>
                    </a:lnTo>
                    <a:lnTo>
                      <a:pt x="580" y="108"/>
                    </a:lnTo>
                    <a:lnTo>
                      <a:pt x="584" y="108"/>
                    </a:lnTo>
                    <a:lnTo>
                      <a:pt x="588" y="112"/>
                    </a:lnTo>
                    <a:lnTo>
                      <a:pt x="594" y="118"/>
                    </a:lnTo>
                    <a:lnTo>
                      <a:pt x="602" y="122"/>
                    </a:lnTo>
                    <a:lnTo>
                      <a:pt x="608" y="128"/>
                    </a:lnTo>
                    <a:lnTo>
                      <a:pt x="604" y="134"/>
                    </a:lnTo>
                    <a:lnTo>
                      <a:pt x="600" y="132"/>
                    </a:lnTo>
                    <a:lnTo>
                      <a:pt x="596" y="132"/>
                    </a:lnTo>
                    <a:lnTo>
                      <a:pt x="596" y="134"/>
                    </a:lnTo>
                    <a:lnTo>
                      <a:pt x="592" y="136"/>
                    </a:lnTo>
                    <a:lnTo>
                      <a:pt x="588" y="138"/>
                    </a:lnTo>
                    <a:lnTo>
                      <a:pt x="586" y="142"/>
                    </a:lnTo>
                    <a:lnTo>
                      <a:pt x="578" y="140"/>
                    </a:lnTo>
                    <a:lnTo>
                      <a:pt x="568" y="146"/>
                    </a:lnTo>
                    <a:lnTo>
                      <a:pt x="562" y="142"/>
                    </a:lnTo>
                    <a:lnTo>
                      <a:pt x="558" y="142"/>
                    </a:lnTo>
                    <a:lnTo>
                      <a:pt x="556" y="150"/>
                    </a:lnTo>
                    <a:lnTo>
                      <a:pt x="552" y="154"/>
                    </a:lnTo>
                    <a:lnTo>
                      <a:pt x="534" y="158"/>
                    </a:lnTo>
                    <a:lnTo>
                      <a:pt x="534" y="168"/>
                    </a:lnTo>
                    <a:lnTo>
                      <a:pt x="522" y="174"/>
                    </a:lnTo>
                    <a:lnTo>
                      <a:pt x="514" y="170"/>
                    </a:lnTo>
                    <a:lnTo>
                      <a:pt x="508" y="164"/>
                    </a:lnTo>
                    <a:lnTo>
                      <a:pt x="502" y="162"/>
                    </a:lnTo>
                    <a:lnTo>
                      <a:pt x="496" y="166"/>
                    </a:lnTo>
                    <a:lnTo>
                      <a:pt x="494" y="174"/>
                    </a:lnTo>
                    <a:lnTo>
                      <a:pt x="492" y="180"/>
                    </a:lnTo>
                    <a:lnTo>
                      <a:pt x="494" y="190"/>
                    </a:lnTo>
                    <a:lnTo>
                      <a:pt x="496" y="196"/>
                    </a:lnTo>
                    <a:lnTo>
                      <a:pt x="492" y="200"/>
                    </a:lnTo>
                    <a:lnTo>
                      <a:pt x="486" y="204"/>
                    </a:lnTo>
                    <a:lnTo>
                      <a:pt x="476" y="206"/>
                    </a:lnTo>
                    <a:lnTo>
                      <a:pt x="464" y="210"/>
                    </a:lnTo>
                    <a:lnTo>
                      <a:pt x="452" y="210"/>
                    </a:lnTo>
                    <a:lnTo>
                      <a:pt x="444" y="212"/>
                    </a:lnTo>
                    <a:lnTo>
                      <a:pt x="440" y="212"/>
                    </a:lnTo>
                    <a:lnTo>
                      <a:pt x="432" y="220"/>
                    </a:lnTo>
                    <a:lnTo>
                      <a:pt x="424" y="224"/>
                    </a:lnTo>
                    <a:lnTo>
                      <a:pt x="414" y="224"/>
                    </a:lnTo>
                    <a:lnTo>
                      <a:pt x="406" y="226"/>
                    </a:lnTo>
                    <a:lnTo>
                      <a:pt x="394" y="226"/>
                    </a:lnTo>
                    <a:lnTo>
                      <a:pt x="386" y="222"/>
                    </a:lnTo>
                    <a:lnTo>
                      <a:pt x="380" y="214"/>
                    </a:lnTo>
                    <a:lnTo>
                      <a:pt x="376" y="212"/>
                    </a:lnTo>
                    <a:lnTo>
                      <a:pt x="356" y="212"/>
                    </a:lnTo>
                    <a:lnTo>
                      <a:pt x="346" y="210"/>
                    </a:lnTo>
                    <a:lnTo>
                      <a:pt x="334" y="210"/>
                    </a:lnTo>
                    <a:lnTo>
                      <a:pt x="324" y="210"/>
                    </a:lnTo>
                    <a:lnTo>
                      <a:pt x="316" y="210"/>
                    </a:lnTo>
                    <a:lnTo>
                      <a:pt x="310" y="204"/>
                    </a:lnTo>
                    <a:lnTo>
                      <a:pt x="302" y="198"/>
                    </a:lnTo>
                    <a:lnTo>
                      <a:pt x="294" y="194"/>
                    </a:lnTo>
                    <a:lnTo>
                      <a:pt x="292" y="190"/>
                    </a:lnTo>
                    <a:lnTo>
                      <a:pt x="290" y="182"/>
                    </a:lnTo>
                    <a:lnTo>
                      <a:pt x="284" y="176"/>
                    </a:lnTo>
                    <a:lnTo>
                      <a:pt x="276" y="174"/>
                    </a:lnTo>
                    <a:lnTo>
                      <a:pt x="272" y="170"/>
                    </a:lnTo>
                    <a:lnTo>
                      <a:pt x="264" y="166"/>
                    </a:lnTo>
                    <a:lnTo>
                      <a:pt x="256" y="164"/>
                    </a:lnTo>
                    <a:lnTo>
                      <a:pt x="248" y="162"/>
                    </a:lnTo>
                    <a:lnTo>
                      <a:pt x="246" y="156"/>
                    </a:lnTo>
                    <a:lnTo>
                      <a:pt x="248" y="148"/>
                    </a:lnTo>
                    <a:lnTo>
                      <a:pt x="250" y="142"/>
                    </a:lnTo>
                    <a:lnTo>
                      <a:pt x="246" y="136"/>
                    </a:lnTo>
                    <a:lnTo>
                      <a:pt x="238" y="134"/>
                    </a:lnTo>
                    <a:lnTo>
                      <a:pt x="238" y="128"/>
                    </a:lnTo>
                    <a:lnTo>
                      <a:pt x="230" y="120"/>
                    </a:lnTo>
                    <a:lnTo>
                      <a:pt x="224" y="114"/>
                    </a:lnTo>
                    <a:lnTo>
                      <a:pt x="216" y="116"/>
                    </a:lnTo>
                    <a:lnTo>
                      <a:pt x="208" y="114"/>
                    </a:lnTo>
                    <a:lnTo>
                      <a:pt x="204" y="110"/>
                    </a:lnTo>
                    <a:lnTo>
                      <a:pt x="202" y="106"/>
                    </a:lnTo>
                    <a:lnTo>
                      <a:pt x="200" y="96"/>
                    </a:lnTo>
                    <a:lnTo>
                      <a:pt x="202" y="84"/>
                    </a:lnTo>
                    <a:lnTo>
                      <a:pt x="194" y="88"/>
                    </a:lnTo>
                    <a:lnTo>
                      <a:pt x="176" y="90"/>
                    </a:lnTo>
                    <a:lnTo>
                      <a:pt x="170" y="96"/>
                    </a:lnTo>
                    <a:lnTo>
                      <a:pt x="168" y="102"/>
                    </a:lnTo>
                    <a:lnTo>
                      <a:pt x="160" y="104"/>
                    </a:lnTo>
                    <a:lnTo>
                      <a:pt x="158" y="108"/>
                    </a:lnTo>
                    <a:lnTo>
                      <a:pt x="156" y="116"/>
                    </a:lnTo>
                    <a:lnTo>
                      <a:pt x="146" y="120"/>
                    </a:lnTo>
                    <a:lnTo>
                      <a:pt x="138" y="120"/>
                    </a:lnTo>
                    <a:lnTo>
                      <a:pt x="132" y="124"/>
                    </a:lnTo>
                    <a:lnTo>
                      <a:pt x="128" y="132"/>
                    </a:lnTo>
                    <a:lnTo>
                      <a:pt x="122" y="136"/>
                    </a:lnTo>
                    <a:lnTo>
                      <a:pt x="120" y="144"/>
                    </a:lnTo>
                    <a:lnTo>
                      <a:pt x="122" y="154"/>
                    </a:lnTo>
                    <a:lnTo>
                      <a:pt x="126" y="158"/>
                    </a:lnTo>
                    <a:lnTo>
                      <a:pt x="124" y="162"/>
                    </a:lnTo>
                    <a:lnTo>
                      <a:pt x="112" y="162"/>
                    </a:lnTo>
                    <a:lnTo>
                      <a:pt x="102" y="168"/>
                    </a:lnTo>
                    <a:lnTo>
                      <a:pt x="92" y="170"/>
                    </a:lnTo>
                    <a:lnTo>
                      <a:pt x="88" y="172"/>
                    </a:lnTo>
                    <a:lnTo>
                      <a:pt x="90" y="178"/>
                    </a:lnTo>
                    <a:lnTo>
                      <a:pt x="98" y="184"/>
                    </a:lnTo>
                    <a:lnTo>
                      <a:pt x="100" y="190"/>
                    </a:lnTo>
                    <a:lnTo>
                      <a:pt x="98" y="196"/>
                    </a:lnTo>
                    <a:lnTo>
                      <a:pt x="94" y="200"/>
                    </a:lnTo>
                    <a:lnTo>
                      <a:pt x="94" y="210"/>
                    </a:lnTo>
                    <a:lnTo>
                      <a:pt x="84" y="216"/>
                    </a:lnTo>
                    <a:lnTo>
                      <a:pt x="78" y="222"/>
                    </a:lnTo>
                    <a:lnTo>
                      <a:pt x="74" y="222"/>
                    </a:lnTo>
                    <a:lnTo>
                      <a:pt x="70" y="224"/>
                    </a:lnTo>
                    <a:lnTo>
                      <a:pt x="68" y="228"/>
                    </a:lnTo>
                    <a:lnTo>
                      <a:pt x="68" y="230"/>
                    </a:lnTo>
                    <a:lnTo>
                      <a:pt x="68" y="232"/>
                    </a:lnTo>
                    <a:lnTo>
                      <a:pt x="66" y="232"/>
                    </a:lnTo>
                    <a:lnTo>
                      <a:pt x="60" y="232"/>
                    </a:lnTo>
                    <a:lnTo>
                      <a:pt x="52" y="234"/>
                    </a:lnTo>
                    <a:lnTo>
                      <a:pt x="50" y="236"/>
                    </a:lnTo>
                    <a:lnTo>
                      <a:pt x="48" y="238"/>
                    </a:lnTo>
                    <a:lnTo>
                      <a:pt x="48" y="242"/>
                    </a:lnTo>
                    <a:lnTo>
                      <a:pt x="48" y="244"/>
                    </a:lnTo>
                    <a:lnTo>
                      <a:pt x="46" y="248"/>
                    </a:lnTo>
                    <a:lnTo>
                      <a:pt x="46" y="250"/>
                    </a:lnTo>
                    <a:lnTo>
                      <a:pt x="42" y="252"/>
                    </a:lnTo>
                    <a:lnTo>
                      <a:pt x="40" y="252"/>
                    </a:lnTo>
                    <a:lnTo>
                      <a:pt x="34" y="254"/>
                    </a:lnTo>
                    <a:lnTo>
                      <a:pt x="30" y="256"/>
                    </a:lnTo>
                    <a:lnTo>
                      <a:pt x="28" y="256"/>
                    </a:lnTo>
                    <a:lnTo>
                      <a:pt x="26" y="256"/>
                    </a:lnTo>
                    <a:lnTo>
                      <a:pt x="24" y="254"/>
                    </a:lnTo>
                    <a:lnTo>
                      <a:pt x="24" y="252"/>
                    </a:lnTo>
                    <a:lnTo>
                      <a:pt x="22" y="250"/>
                    </a:lnTo>
                    <a:lnTo>
                      <a:pt x="18" y="250"/>
                    </a:lnTo>
                    <a:lnTo>
                      <a:pt x="14" y="254"/>
                    </a:lnTo>
                    <a:lnTo>
                      <a:pt x="10" y="258"/>
                    </a:lnTo>
                    <a:lnTo>
                      <a:pt x="4" y="260"/>
                    </a:lnTo>
                    <a:lnTo>
                      <a:pt x="0" y="264"/>
                    </a:lnTo>
                    <a:lnTo>
                      <a:pt x="2" y="266"/>
                    </a:lnTo>
                    <a:lnTo>
                      <a:pt x="2" y="272"/>
                    </a:lnTo>
                    <a:lnTo>
                      <a:pt x="2" y="276"/>
                    </a:lnTo>
                    <a:lnTo>
                      <a:pt x="6" y="280"/>
                    </a:lnTo>
                    <a:lnTo>
                      <a:pt x="14" y="276"/>
                    </a:lnTo>
                    <a:lnTo>
                      <a:pt x="16" y="278"/>
                    </a:lnTo>
                    <a:lnTo>
                      <a:pt x="16" y="282"/>
                    </a:lnTo>
                    <a:lnTo>
                      <a:pt x="14" y="288"/>
                    </a:lnTo>
                    <a:lnTo>
                      <a:pt x="16" y="296"/>
                    </a:lnTo>
                    <a:lnTo>
                      <a:pt x="18" y="302"/>
                    </a:lnTo>
                    <a:lnTo>
                      <a:pt x="20" y="306"/>
                    </a:lnTo>
                    <a:lnTo>
                      <a:pt x="22" y="310"/>
                    </a:lnTo>
                    <a:lnTo>
                      <a:pt x="16" y="312"/>
                    </a:lnTo>
                    <a:lnTo>
                      <a:pt x="16" y="314"/>
                    </a:lnTo>
                    <a:lnTo>
                      <a:pt x="24" y="310"/>
                    </a:lnTo>
                    <a:lnTo>
                      <a:pt x="50" y="326"/>
                    </a:lnTo>
                    <a:lnTo>
                      <a:pt x="72" y="312"/>
                    </a:lnTo>
                    <a:lnTo>
                      <a:pt x="90" y="342"/>
                    </a:lnTo>
                    <a:lnTo>
                      <a:pt x="78" y="352"/>
                    </a:lnTo>
                    <a:lnTo>
                      <a:pt x="76" y="356"/>
                    </a:lnTo>
                    <a:lnTo>
                      <a:pt x="74" y="358"/>
                    </a:lnTo>
                    <a:lnTo>
                      <a:pt x="80" y="370"/>
                    </a:lnTo>
                    <a:lnTo>
                      <a:pt x="72" y="382"/>
                    </a:lnTo>
                    <a:lnTo>
                      <a:pt x="72" y="382"/>
                    </a:lnTo>
                    <a:lnTo>
                      <a:pt x="72" y="384"/>
                    </a:lnTo>
                    <a:lnTo>
                      <a:pt x="78" y="386"/>
                    </a:lnTo>
                    <a:lnTo>
                      <a:pt x="80" y="396"/>
                    </a:lnTo>
                    <a:lnTo>
                      <a:pt x="80" y="398"/>
                    </a:lnTo>
                    <a:lnTo>
                      <a:pt x="72" y="408"/>
                    </a:lnTo>
                    <a:lnTo>
                      <a:pt x="78" y="412"/>
                    </a:lnTo>
                    <a:lnTo>
                      <a:pt x="90" y="412"/>
                    </a:lnTo>
                    <a:lnTo>
                      <a:pt x="98" y="424"/>
                    </a:lnTo>
                    <a:lnTo>
                      <a:pt x="98" y="426"/>
                    </a:lnTo>
                    <a:lnTo>
                      <a:pt x="102" y="430"/>
                    </a:lnTo>
                    <a:lnTo>
                      <a:pt x="106" y="434"/>
                    </a:lnTo>
                    <a:lnTo>
                      <a:pt x="110" y="434"/>
                    </a:lnTo>
                    <a:lnTo>
                      <a:pt x="114" y="434"/>
                    </a:lnTo>
                    <a:lnTo>
                      <a:pt x="120" y="434"/>
                    </a:lnTo>
                    <a:lnTo>
                      <a:pt x="126" y="434"/>
                    </a:lnTo>
                    <a:lnTo>
                      <a:pt x="132" y="444"/>
                    </a:lnTo>
                    <a:lnTo>
                      <a:pt x="138" y="444"/>
                    </a:lnTo>
                    <a:lnTo>
                      <a:pt x="144" y="442"/>
                    </a:lnTo>
                    <a:lnTo>
                      <a:pt x="150" y="446"/>
                    </a:lnTo>
                    <a:lnTo>
                      <a:pt x="150" y="452"/>
                    </a:lnTo>
                    <a:lnTo>
                      <a:pt x="156" y="456"/>
                    </a:lnTo>
                    <a:lnTo>
                      <a:pt x="162" y="462"/>
                    </a:lnTo>
                    <a:lnTo>
                      <a:pt x="166" y="466"/>
                    </a:lnTo>
                    <a:lnTo>
                      <a:pt x="170" y="466"/>
                    </a:lnTo>
                    <a:lnTo>
                      <a:pt x="176" y="470"/>
                    </a:lnTo>
                    <a:lnTo>
                      <a:pt x="188" y="472"/>
                    </a:lnTo>
                    <a:lnTo>
                      <a:pt x="196" y="474"/>
                    </a:lnTo>
                    <a:lnTo>
                      <a:pt x="198" y="472"/>
                    </a:lnTo>
                    <a:lnTo>
                      <a:pt x="198" y="466"/>
                    </a:lnTo>
                    <a:lnTo>
                      <a:pt x="202" y="464"/>
                    </a:lnTo>
                    <a:lnTo>
                      <a:pt x="212" y="468"/>
                    </a:lnTo>
                    <a:lnTo>
                      <a:pt x="214" y="476"/>
                    </a:lnTo>
                    <a:lnTo>
                      <a:pt x="218" y="468"/>
                    </a:lnTo>
                    <a:lnTo>
                      <a:pt x="222" y="466"/>
                    </a:lnTo>
                    <a:lnTo>
                      <a:pt x="230" y="464"/>
                    </a:lnTo>
                    <a:lnTo>
                      <a:pt x="234" y="468"/>
                    </a:lnTo>
                    <a:lnTo>
                      <a:pt x="240" y="468"/>
                    </a:lnTo>
                    <a:lnTo>
                      <a:pt x="250" y="468"/>
                    </a:lnTo>
                    <a:lnTo>
                      <a:pt x="256" y="466"/>
                    </a:lnTo>
                    <a:lnTo>
                      <a:pt x="276" y="450"/>
                    </a:lnTo>
                    <a:lnTo>
                      <a:pt x="308" y="438"/>
                    </a:lnTo>
                    <a:lnTo>
                      <a:pt x="314" y="442"/>
                    </a:lnTo>
                    <a:lnTo>
                      <a:pt x="312" y="450"/>
                    </a:lnTo>
                    <a:lnTo>
                      <a:pt x="324" y="460"/>
                    </a:lnTo>
                    <a:lnTo>
                      <a:pt x="316" y="470"/>
                    </a:lnTo>
                    <a:lnTo>
                      <a:pt x="314" y="472"/>
                    </a:lnTo>
                    <a:lnTo>
                      <a:pt x="316" y="474"/>
                    </a:lnTo>
                    <a:lnTo>
                      <a:pt x="318" y="478"/>
                    </a:lnTo>
                    <a:lnTo>
                      <a:pt x="320" y="482"/>
                    </a:lnTo>
                    <a:lnTo>
                      <a:pt x="324" y="482"/>
                    </a:lnTo>
                    <a:lnTo>
                      <a:pt x="328" y="482"/>
                    </a:lnTo>
                    <a:lnTo>
                      <a:pt x="330" y="488"/>
                    </a:lnTo>
                    <a:lnTo>
                      <a:pt x="332" y="490"/>
                    </a:lnTo>
                    <a:lnTo>
                      <a:pt x="330" y="498"/>
                    </a:lnTo>
                    <a:lnTo>
                      <a:pt x="332" y="502"/>
                    </a:lnTo>
                    <a:lnTo>
                      <a:pt x="332" y="506"/>
                    </a:lnTo>
                    <a:lnTo>
                      <a:pt x="330" y="516"/>
                    </a:lnTo>
                    <a:lnTo>
                      <a:pt x="326" y="522"/>
                    </a:lnTo>
                    <a:lnTo>
                      <a:pt x="322" y="528"/>
                    </a:lnTo>
                    <a:lnTo>
                      <a:pt x="322" y="532"/>
                    </a:lnTo>
                    <a:lnTo>
                      <a:pt x="324" y="536"/>
                    </a:lnTo>
                    <a:lnTo>
                      <a:pt x="324" y="542"/>
                    </a:lnTo>
                    <a:lnTo>
                      <a:pt x="326" y="544"/>
                    </a:lnTo>
                    <a:lnTo>
                      <a:pt x="328" y="544"/>
                    </a:lnTo>
                    <a:lnTo>
                      <a:pt x="330" y="540"/>
                    </a:lnTo>
                    <a:lnTo>
                      <a:pt x="336" y="538"/>
                    </a:lnTo>
                    <a:lnTo>
                      <a:pt x="340" y="538"/>
                    </a:lnTo>
                    <a:lnTo>
                      <a:pt x="342" y="542"/>
                    </a:lnTo>
                    <a:lnTo>
                      <a:pt x="342" y="546"/>
                    </a:lnTo>
                    <a:lnTo>
                      <a:pt x="344" y="550"/>
                    </a:lnTo>
                    <a:lnTo>
                      <a:pt x="348" y="550"/>
                    </a:lnTo>
                    <a:lnTo>
                      <a:pt x="348" y="554"/>
                    </a:lnTo>
                    <a:lnTo>
                      <a:pt x="344" y="560"/>
                    </a:lnTo>
                    <a:lnTo>
                      <a:pt x="344" y="564"/>
                    </a:lnTo>
                    <a:lnTo>
                      <a:pt x="350" y="566"/>
                    </a:lnTo>
                    <a:lnTo>
                      <a:pt x="354" y="566"/>
                    </a:lnTo>
                    <a:lnTo>
                      <a:pt x="354" y="574"/>
                    </a:lnTo>
                    <a:lnTo>
                      <a:pt x="356" y="580"/>
                    </a:lnTo>
                    <a:lnTo>
                      <a:pt x="366" y="582"/>
                    </a:lnTo>
                    <a:lnTo>
                      <a:pt x="364" y="588"/>
                    </a:lnTo>
                    <a:lnTo>
                      <a:pt x="372" y="588"/>
                    </a:lnTo>
                    <a:lnTo>
                      <a:pt x="376" y="582"/>
                    </a:lnTo>
                    <a:lnTo>
                      <a:pt x="376" y="572"/>
                    </a:lnTo>
                    <a:lnTo>
                      <a:pt x="372" y="564"/>
                    </a:lnTo>
                    <a:lnTo>
                      <a:pt x="376" y="558"/>
                    </a:lnTo>
                    <a:lnTo>
                      <a:pt x="382" y="560"/>
                    </a:lnTo>
                    <a:lnTo>
                      <a:pt x="388" y="556"/>
                    </a:lnTo>
                    <a:lnTo>
                      <a:pt x="396" y="558"/>
                    </a:lnTo>
                    <a:lnTo>
                      <a:pt x="404" y="556"/>
                    </a:lnTo>
                    <a:lnTo>
                      <a:pt x="412" y="556"/>
                    </a:lnTo>
                    <a:lnTo>
                      <a:pt x="418" y="550"/>
                    </a:lnTo>
                    <a:lnTo>
                      <a:pt x="424" y="552"/>
                    </a:lnTo>
                    <a:lnTo>
                      <a:pt x="428" y="554"/>
                    </a:lnTo>
                    <a:lnTo>
                      <a:pt x="434" y="556"/>
                    </a:lnTo>
                    <a:lnTo>
                      <a:pt x="432" y="564"/>
                    </a:lnTo>
                    <a:lnTo>
                      <a:pt x="436" y="570"/>
                    </a:lnTo>
                    <a:lnTo>
                      <a:pt x="440" y="574"/>
                    </a:lnTo>
                    <a:lnTo>
                      <a:pt x="446" y="576"/>
                    </a:lnTo>
                    <a:lnTo>
                      <a:pt x="450" y="576"/>
                    </a:lnTo>
                    <a:lnTo>
                      <a:pt x="456" y="578"/>
                    </a:lnTo>
                    <a:lnTo>
                      <a:pt x="458" y="574"/>
                    </a:lnTo>
                    <a:lnTo>
                      <a:pt x="462" y="574"/>
                    </a:lnTo>
                    <a:lnTo>
                      <a:pt x="468" y="574"/>
                    </a:lnTo>
                    <a:lnTo>
                      <a:pt x="470" y="576"/>
                    </a:lnTo>
                    <a:lnTo>
                      <a:pt x="472" y="576"/>
                    </a:lnTo>
                    <a:lnTo>
                      <a:pt x="472" y="576"/>
                    </a:lnTo>
                    <a:lnTo>
                      <a:pt x="472" y="578"/>
                    </a:lnTo>
                    <a:lnTo>
                      <a:pt x="474" y="580"/>
                    </a:lnTo>
                    <a:lnTo>
                      <a:pt x="472" y="584"/>
                    </a:lnTo>
                    <a:lnTo>
                      <a:pt x="472" y="590"/>
                    </a:lnTo>
                    <a:lnTo>
                      <a:pt x="474" y="590"/>
                    </a:lnTo>
                    <a:lnTo>
                      <a:pt x="476" y="600"/>
                    </a:lnTo>
                    <a:lnTo>
                      <a:pt x="484" y="598"/>
                    </a:lnTo>
                    <a:lnTo>
                      <a:pt x="484" y="592"/>
                    </a:lnTo>
                    <a:lnTo>
                      <a:pt x="480" y="588"/>
                    </a:lnTo>
                    <a:lnTo>
                      <a:pt x="482" y="588"/>
                    </a:lnTo>
                    <a:lnTo>
                      <a:pt x="484" y="586"/>
                    </a:lnTo>
                    <a:lnTo>
                      <a:pt x="484" y="584"/>
                    </a:lnTo>
                    <a:lnTo>
                      <a:pt x="488" y="584"/>
                    </a:lnTo>
                    <a:lnTo>
                      <a:pt x="492" y="582"/>
                    </a:lnTo>
                    <a:lnTo>
                      <a:pt x="496" y="576"/>
                    </a:lnTo>
                    <a:lnTo>
                      <a:pt x="500" y="576"/>
                    </a:lnTo>
                    <a:lnTo>
                      <a:pt x="500" y="574"/>
                    </a:lnTo>
                    <a:lnTo>
                      <a:pt x="502" y="574"/>
                    </a:lnTo>
                    <a:lnTo>
                      <a:pt x="504" y="570"/>
                    </a:lnTo>
                    <a:lnTo>
                      <a:pt x="506" y="570"/>
                    </a:lnTo>
                    <a:lnTo>
                      <a:pt x="508" y="572"/>
                    </a:lnTo>
                    <a:lnTo>
                      <a:pt x="510" y="570"/>
                    </a:lnTo>
                    <a:lnTo>
                      <a:pt x="516" y="570"/>
                    </a:lnTo>
                    <a:lnTo>
                      <a:pt x="522" y="570"/>
                    </a:lnTo>
                    <a:lnTo>
                      <a:pt x="528" y="558"/>
                    </a:lnTo>
                    <a:lnTo>
                      <a:pt x="530" y="558"/>
                    </a:lnTo>
                    <a:lnTo>
                      <a:pt x="532" y="556"/>
                    </a:lnTo>
                    <a:lnTo>
                      <a:pt x="532" y="554"/>
                    </a:lnTo>
                    <a:lnTo>
                      <a:pt x="530" y="554"/>
                    </a:lnTo>
                    <a:lnTo>
                      <a:pt x="530" y="552"/>
                    </a:lnTo>
                    <a:lnTo>
                      <a:pt x="534" y="552"/>
                    </a:lnTo>
                    <a:lnTo>
                      <a:pt x="534" y="558"/>
                    </a:lnTo>
                    <a:lnTo>
                      <a:pt x="538" y="558"/>
                    </a:lnTo>
                    <a:lnTo>
                      <a:pt x="540" y="558"/>
                    </a:lnTo>
                    <a:lnTo>
                      <a:pt x="542" y="560"/>
                    </a:lnTo>
                    <a:lnTo>
                      <a:pt x="544" y="558"/>
                    </a:lnTo>
                    <a:lnTo>
                      <a:pt x="544" y="556"/>
                    </a:lnTo>
                    <a:lnTo>
                      <a:pt x="552" y="554"/>
                    </a:lnTo>
                    <a:lnTo>
                      <a:pt x="556" y="556"/>
                    </a:lnTo>
                    <a:lnTo>
                      <a:pt x="558" y="556"/>
                    </a:lnTo>
                    <a:lnTo>
                      <a:pt x="558" y="554"/>
                    </a:lnTo>
                    <a:lnTo>
                      <a:pt x="562" y="552"/>
                    </a:lnTo>
                    <a:lnTo>
                      <a:pt x="564" y="548"/>
                    </a:lnTo>
                    <a:lnTo>
                      <a:pt x="562" y="548"/>
                    </a:lnTo>
                    <a:lnTo>
                      <a:pt x="562" y="546"/>
                    </a:lnTo>
                    <a:lnTo>
                      <a:pt x="570" y="542"/>
                    </a:lnTo>
                    <a:lnTo>
                      <a:pt x="570" y="540"/>
                    </a:lnTo>
                    <a:lnTo>
                      <a:pt x="572" y="540"/>
                    </a:lnTo>
                    <a:lnTo>
                      <a:pt x="574" y="540"/>
                    </a:lnTo>
                    <a:lnTo>
                      <a:pt x="576" y="538"/>
                    </a:lnTo>
                    <a:lnTo>
                      <a:pt x="576" y="534"/>
                    </a:lnTo>
                    <a:lnTo>
                      <a:pt x="580" y="534"/>
                    </a:lnTo>
                    <a:lnTo>
                      <a:pt x="582" y="534"/>
                    </a:lnTo>
                    <a:lnTo>
                      <a:pt x="584" y="530"/>
                    </a:lnTo>
                    <a:lnTo>
                      <a:pt x="584" y="524"/>
                    </a:lnTo>
                    <a:lnTo>
                      <a:pt x="596" y="522"/>
                    </a:lnTo>
                    <a:lnTo>
                      <a:pt x="596" y="520"/>
                    </a:lnTo>
                    <a:lnTo>
                      <a:pt x="596" y="520"/>
                    </a:lnTo>
                    <a:lnTo>
                      <a:pt x="596" y="518"/>
                    </a:lnTo>
                    <a:lnTo>
                      <a:pt x="596" y="516"/>
                    </a:lnTo>
                    <a:lnTo>
                      <a:pt x="598" y="516"/>
                    </a:lnTo>
                    <a:lnTo>
                      <a:pt x="598" y="514"/>
                    </a:lnTo>
                    <a:lnTo>
                      <a:pt x="596" y="514"/>
                    </a:lnTo>
                    <a:lnTo>
                      <a:pt x="596" y="512"/>
                    </a:lnTo>
                    <a:lnTo>
                      <a:pt x="598" y="510"/>
                    </a:lnTo>
                    <a:lnTo>
                      <a:pt x="604" y="510"/>
                    </a:lnTo>
                    <a:lnTo>
                      <a:pt x="604" y="508"/>
                    </a:lnTo>
                    <a:lnTo>
                      <a:pt x="606" y="508"/>
                    </a:lnTo>
                    <a:lnTo>
                      <a:pt x="604" y="498"/>
                    </a:lnTo>
                    <a:lnTo>
                      <a:pt x="600" y="498"/>
                    </a:lnTo>
                    <a:lnTo>
                      <a:pt x="600" y="494"/>
                    </a:lnTo>
                    <a:lnTo>
                      <a:pt x="604" y="494"/>
                    </a:lnTo>
                    <a:lnTo>
                      <a:pt x="604" y="488"/>
                    </a:lnTo>
                    <a:lnTo>
                      <a:pt x="608" y="486"/>
                    </a:lnTo>
                    <a:lnTo>
                      <a:pt x="612" y="484"/>
                    </a:lnTo>
                    <a:lnTo>
                      <a:pt x="612" y="482"/>
                    </a:lnTo>
                    <a:lnTo>
                      <a:pt x="618" y="478"/>
                    </a:lnTo>
                    <a:lnTo>
                      <a:pt x="618" y="472"/>
                    </a:lnTo>
                    <a:lnTo>
                      <a:pt x="618" y="470"/>
                    </a:lnTo>
                    <a:lnTo>
                      <a:pt x="620" y="470"/>
                    </a:lnTo>
                    <a:lnTo>
                      <a:pt x="620" y="468"/>
                    </a:lnTo>
                    <a:lnTo>
                      <a:pt x="624" y="468"/>
                    </a:lnTo>
                    <a:lnTo>
                      <a:pt x="624" y="464"/>
                    </a:lnTo>
                    <a:lnTo>
                      <a:pt x="626" y="462"/>
                    </a:lnTo>
                    <a:lnTo>
                      <a:pt x="630" y="462"/>
                    </a:lnTo>
                    <a:lnTo>
                      <a:pt x="630" y="458"/>
                    </a:lnTo>
                    <a:lnTo>
                      <a:pt x="626" y="456"/>
                    </a:lnTo>
                    <a:lnTo>
                      <a:pt x="628" y="454"/>
                    </a:lnTo>
                    <a:lnTo>
                      <a:pt x="628" y="452"/>
                    </a:lnTo>
                    <a:lnTo>
                      <a:pt x="628" y="446"/>
                    </a:lnTo>
                    <a:lnTo>
                      <a:pt x="636" y="446"/>
                    </a:lnTo>
                    <a:lnTo>
                      <a:pt x="634" y="444"/>
                    </a:lnTo>
                    <a:lnTo>
                      <a:pt x="634" y="440"/>
                    </a:lnTo>
                    <a:lnTo>
                      <a:pt x="636" y="438"/>
                    </a:lnTo>
                    <a:lnTo>
                      <a:pt x="634" y="436"/>
                    </a:lnTo>
                    <a:lnTo>
                      <a:pt x="638" y="434"/>
                    </a:lnTo>
                    <a:lnTo>
                      <a:pt x="640" y="434"/>
                    </a:lnTo>
                    <a:lnTo>
                      <a:pt x="638" y="432"/>
                    </a:lnTo>
                    <a:lnTo>
                      <a:pt x="634" y="432"/>
                    </a:lnTo>
                    <a:lnTo>
                      <a:pt x="632" y="428"/>
                    </a:lnTo>
                    <a:lnTo>
                      <a:pt x="626" y="430"/>
                    </a:lnTo>
                    <a:lnTo>
                      <a:pt x="624" y="430"/>
                    </a:lnTo>
                    <a:lnTo>
                      <a:pt x="620" y="430"/>
                    </a:lnTo>
                    <a:lnTo>
                      <a:pt x="620" y="428"/>
                    </a:lnTo>
                    <a:lnTo>
                      <a:pt x="620" y="426"/>
                    </a:lnTo>
                    <a:lnTo>
                      <a:pt x="632" y="418"/>
                    </a:lnTo>
                    <a:lnTo>
                      <a:pt x="610" y="402"/>
                    </a:lnTo>
                    <a:lnTo>
                      <a:pt x="618" y="400"/>
                    </a:lnTo>
                    <a:lnTo>
                      <a:pt x="626" y="402"/>
                    </a:lnTo>
                    <a:lnTo>
                      <a:pt x="626" y="398"/>
                    </a:lnTo>
                    <a:lnTo>
                      <a:pt x="616" y="386"/>
                    </a:lnTo>
                    <a:lnTo>
                      <a:pt x="612" y="378"/>
                    </a:lnTo>
                    <a:lnTo>
                      <a:pt x="610" y="370"/>
                    </a:lnTo>
                    <a:lnTo>
                      <a:pt x="604" y="372"/>
                    </a:lnTo>
                    <a:lnTo>
                      <a:pt x="606" y="370"/>
                    </a:lnTo>
                    <a:lnTo>
                      <a:pt x="600" y="358"/>
                    </a:lnTo>
                    <a:lnTo>
                      <a:pt x="598" y="350"/>
                    </a:lnTo>
                    <a:lnTo>
                      <a:pt x="600" y="342"/>
                    </a:lnTo>
                    <a:lnTo>
                      <a:pt x="602" y="340"/>
                    </a:lnTo>
                    <a:lnTo>
                      <a:pt x="604" y="338"/>
                    </a:lnTo>
                    <a:lnTo>
                      <a:pt x="608" y="336"/>
                    </a:lnTo>
                    <a:lnTo>
                      <a:pt x="608" y="330"/>
                    </a:lnTo>
                    <a:lnTo>
                      <a:pt x="612" y="326"/>
                    </a:lnTo>
                    <a:lnTo>
                      <a:pt x="616" y="322"/>
                    </a:lnTo>
                    <a:lnTo>
                      <a:pt x="618" y="320"/>
                    </a:lnTo>
                    <a:lnTo>
                      <a:pt x="624" y="318"/>
                    </a:lnTo>
                    <a:lnTo>
                      <a:pt x="626" y="314"/>
                    </a:lnTo>
                    <a:lnTo>
                      <a:pt x="630" y="314"/>
                    </a:lnTo>
                    <a:lnTo>
                      <a:pt x="632" y="312"/>
                    </a:lnTo>
                    <a:lnTo>
                      <a:pt x="634" y="312"/>
                    </a:lnTo>
                    <a:lnTo>
                      <a:pt x="638" y="312"/>
                    </a:lnTo>
                    <a:lnTo>
                      <a:pt x="640" y="312"/>
                    </a:lnTo>
                    <a:lnTo>
                      <a:pt x="642" y="312"/>
                    </a:lnTo>
                    <a:lnTo>
                      <a:pt x="646" y="304"/>
                    </a:lnTo>
                    <a:lnTo>
                      <a:pt x="646" y="302"/>
                    </a:lnTo>
                    <a:lnTo>
                      <a:pt x="640" y="300"/>
                    </a:lnTo>
                    <a:lnTo>
                      <a:pt x="636" y="300"/>
                    </a:lnTo>
                    <a:lnTo>
                      <a:pt x="634" y="302"/>
                    </a:lnTo>
                    <a:lnTo>
                      <a:pt x="630" y="302"/>
                    </a:lnTo>
                    <a:lnTo>
                      <a:pt x="626" y="302"/>
                    </a:lnTo>
                    <a:lnTo>
                      <a:pt x="624" y="298"/>
                    </a:lnTo>
                    <a:lnTo>
                      <a:pt x="618" y="298"/>
                    </a:lnTo>
                    <a:lnTo>
                      <a:pt x="610" y="298"/>
                    </a:lnTo>
                    <a:lnTo>
                      <a:pt x="610" y="302"/>
                    </a:lnTo>
                    <a:lnTo>
                      <a:pt x="604" y="304"/>
                    </a:lnTo>
                    <a:lnTo>
                      <a:pt x="602" y="306"/>
                    </a:lnTo>
                    <a:lnTo>
                      <a:pt x="602" y="308"/>
                    </a:lnTo>
                    <a:lnTo>
                      <a:pt x="596" y="308"/>
                    </a:lnTo>
                    <a:lnTo>
                      <a:pt x="596" y="310"/>
                    </a:lnTo>
                    <a:lnTo>
                      <a:pt x="592" y="310"/>
                    </a:lnTo>
                    <a:lnTo>
                      <a:pt x="590" y="306"/>
                    </a:lnTo>
                    <a:lnTo>
                      <a:pt x="590" y="302"/>
                    </a:lnTo>
                    <a:lnTo>
                      <a:pt x="588" y="298"/>
                    </a:lnTo>
                    <a:lnTo>
                      <a:pt x="586" y="294"/>
                    </a:lnTo>
                    <a:lnTo>
                      <a:pt x="584" y="294"/>
                    </a:lnTo>
                    <a:lnTo>
                      <a:pt x="580" y="288"/>
                    </a:lnTo>
                    <a:lnTo>
                      <a:pt x="578" y="282"/>
                    </a:lnTo>
                    <a:lnTo>
                      <a:pt x="578" y="276"/>
                    </a:lnTo>
                    <a:lnTo>
                      <a:pt x="580" y="274"/>
                    </a:lnTo>
                    <a:lnTo>
                      <a:pt x="588" y="274"/>
                    </a:lnTo>
                    <a:lnTo>
                      <a:pt x="594" y="274"/>
                    </a:lnTo>
                    <a:lnTo>
                      <a:pt x="596" y="270"/>
                    </a:lnTo>
                    <a:lnTo>
                      <a:pt x="598" y="264"/>
                    </a:lnTo>
                    <a:lnTo>
                      <a:pt x="606" y="258"/>
                    </a:lnTo>
                    <a:lnTo>
                      <a:pt x="608" y="258"/>
                    </a:lnTo>
                    <a:lnTo>
                      <a:pt x="610" y="256"/>
                    </a:lnTo>
                    <a:lnTo>
                      <a:pt x="612" y="254"/>
                    </a:lnTo>
                    <a:lnTo>
                      <a:pt x="614" y="254"/>
                    </a:lnTo>
                    <a:lnTo>
                      <a:pt x="616" y="252"/>
                    </a:lnTo>
                    <a:lnTo>
                      <a:pt x="616" y="248"/>
                    </a:lnTo>
                    <a:lnTo>
                      <a:pt x="620" y="242"/>
                    </a:lnTo>
                    <a:lnTo>
                      <a:pt x="624" y="238"/>
                    </a:lnTo>
                    <a:lnTo>
                      <a:pt x="642" y="244"/>
                    </a:lnTo>
                    <a:lnTo>
                      <a:pt x="636" y="252"/>
                    </a:lnTo>
                    <a:lnTo>
                      <a:pt x="630" y="258"/>
                    </a:lnTo>
                    <a:lnTo>
                      <a:pt x="628" y="260"/>
                    </a:lnTo>
                    <a:lnTo>
                      <a:pt x="628" y="264"/>
                    </a:lnTo>
                    <a:lnTo>
                      <a:pt x="628" y="268"/>
                    </a:lnTo>
                    <a:lnTo>
                      <a:pt x="634" y="268"/>
                    </a:lnTo>
                    <a:lnTo>
                      <a:pt x="630" y="272"/>
                    </a:lnTo>
                    <a:lnTo>
                      <a:pt x="628" y="276"/>
                    </a:lnTo>
                    <a:lnTo>
                      <a:pt x="628" y="278"/>
                    </a:lnTo>
                    <a:lnTo>
                      <a:pt x="630" y="278"/>
                    </a:lnTo>
                    <a:lnTo>
                      <a:pt x="634" y="278"/>
                    </a:lnTo>
                    <a:lnTo>
                      <a:pt x="634" y="276"/>
                    </a:lnTo>
                    <a:lnTo>
                      <a:pt x="634" y="274"/>
                    </a:lnTo>
                    <a:lnTo>
                      <a:pt x="646" y="264"/>
                    </a:lnTo>
                    <a:lnTo>
                      <a:pt x="656" y="258"/>
                    </a:lnTo>
                    <a:lnTo>
                      <a:pt x="660" y="258"/>
                    </a:lnTo>
                    <a:lnTo>
                      <a:pt x="662" y="258"/>
                    </a:lnTo>
                    <a:lnTo>
                      <a:pt x="666" y="260"/>
                    </a:lnTo>
                    <a:lnTo>
                      <a:pt x="668" y="260"/>
                    </a:lnTo>
                    <a:lnTo>
                      <a:pt x="668" y="258"/>
                    </a:lnTo>
                    <a:lnTo>
                      <a:pt x="670" y="258"/>
                    </a:lnTo>
                    <a:lnTo>
                      <a:pt x="670" y="260"/>
                    </a:lnTo>
                    <a:lnTo>
                      <a:pt x="676" y="252"/>
                    </a:lnTo>
                    <a:lnTo>
                      <a:pt x="680" y="246"/>
                    </a:lnTo>
                    <a:lnTo>
                      <a:pt x="686" y="238"/>
                    </a:lnTo>
                    <a:lnTo>
                      <a:pt x="690" y="232"/>
                    </a:lnTo>
                    <a:lnTo>
                      <a:pt x="698" y="224"/>
                    </a:lnTo>
                    <a:lnTo>
                      <a:pt x="698" y="216"/>
                    </a:lnTo>
                    <a:lnTo>
                      <a:pt x="704" y="214"/>
                    </a:lnTo>
                    <a:lnTo>
                      <a:pt x="708" y="220"/>
                    </a:lnTo>
                    <a:lnTo>
                      <a:pt x="712" y="222"/>
                    </a:lnTo>
                    <a:lnTo>
                      <a:pt x="718" y="224"/>
                    </a:lnTo>
                    <a:lnTo>
                      <a:pt x="718" y="218"/>
                    </a:lnTo>
                    <a:lnTo>
                      <a:pt x="718" y="214"/>
                    </a:lnTo>
                    <a:lnTo>
                      <a:pt x="722" y="210"/>
                    </a:lnTo>
                    <a:lnTo>
                      <a:pt x="728" y="210"/>
                    </a:lnTo>
                    <a:lnTo>
                      <a:pt x="732" y="208"/>
                    </a:lnTo>
                    <a:lnTo>
                      <a:pt x="732" y="204"/>
                    </a:lnTo>
                    <a:lnTo>
                      <a:pt x="738" y="202"/>
                    </a:lnTo>
                    <a:lnTo>
                      <a:pt x="738" y="194"/>
                    </a:lnTo>
                    <a:lnTo>
                      <a:pt x="748" y="204"/>
                    </a:lnTo>
                    <a:lnTo>
                      <a:pt x="750" y="200"/>
                    </a:lnTo>
                    <a:lnTo>
                      <a:pt x="750" y="196"/>
                    </a:lnTo>
                    <a:lnTo>
                      <a:pt x="752" y="194"/>
                    </a:lnTo>
                    <a:lnTo>
                      <a:pt x="754" y="188"/>
                    </a:lnTo>
                    <a:lnTo>
                      <a:pt x="752" y="178"/>
                    </a:lnTo>
                    <a:lnTo>
                      <a:pt x="754" y="172"/>
                    </a:lnTo>
                    <a:lnTo>
                      <a:pt x="754" y="166"/>
                    </a:lnTo>
                    <a:lnTo>
                      <a:pt x="758" y="162"/>
                    </a:lnTo>
                    <a:lnTo>
                      <a:pt x="762" y="160"/>
                    </a:lnTo>
                    <a:lnTo>
                      <a:pt x="762" y="158"/>
                    </a:lnTo>
                    <a:lnTo>
                      <a:pt x="762" y="156"/>
                    </a:lnTo>
                    <a:lnTo>
                      <a:pt x="768" y="158"/>
                    </a:lnTo>
                    <a:lnTo>
                      <a:pt x="770" y="162"/>
                    </a:lnTo>
                    <a:lnTo>
                      <a:pt x="774" y="158"/>
                    </a:lnTo>
                    <a:lnTo>
                      <a:pt x="778" y="154"/>
                    </a:lnTo>
                    <a:lnTo>
                      <a:pt x="780" y="150"/>
                    </a:lnTo>
                    <a:lnTo>
                      <a:pt x="784" y="148"/>
                    </a:lnTo>
                    <a:lnTo>
                      <a:pt x="788" y="142"/>
                    </a:lnTo>
                    <a:lnTo>
                      <a:pt x="792" y="138"/>
                    </a:lnTo>
                    <a:lnTo>
                      <a:pt x="794" y="128"/>
                    </a:lnTo>
                    <a:lnTo>
                      <a:pt x="794" y="122"/>
                    </a:lnTo>
                    <a:lnTo>
                      <a:pt x="798" y="120"/>
                    </a:lnTo>
                    <a:lnTo>
                      <a:pt x="798" y="112"/>
                    </a:lnTo>
                    <a:lnTo>
                      <a:pt x="794" y="108"/>
                    </a:lnTo>
                    <a:lnTo>
                      <a:pt x="794" y="10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sp>
            <p:nvSpPr>
              <p:cNvPr id="576" name="Freeform 562">
                <a:extLst>
                  <a:ext uri="{FF2B5EF4-FFF2-40B4-BE49-F238E27FC236}">
                    <a16:creationId xmlns:a16="http://schemas.microsoft.com/office/drawing/2014/main" id="{B7316AE2-2B66-45F4-F62A-717090E09DA3}"/>
                  </a:ext>
                </a:extLst>
              </p:cNvPr>
              <p:cNvSpPr>
                <a:spLocks/>
              </p:cNvSpPr>
              <p:nvPr/>
            </p:nvSpPr>
            <p:spPr bwMode="auto">
              <a:xfrm>
                <a:off x="5678962" y="3675839"/>
                <a:ext cx="390884" cy="466893"/>
              </a:xfrm>
              <a:custGeom>
                <a:avLst/>
                <a:gdLst/>
                <a:ahLst/>
                <a:cxnLst>
                  <a:cxn ang="0">
                    <a:pos x="170" y="136"/>
                  </a:cxn>
                  <a:cxn ang="0">
                    <a:pos x="196" y="158"/>
                  </a:cxn>
                  <a:cxn ang="0">
                    <a:pos x="248" y="180"/>
                  </a:cxn>
                  <a:cxn ang="0">
                    <a:pos x="278" y="168"/>
                  </a:cxn>
                  <a:cxn ang="0">
                    <a:pos x="290" y="158"/>
                  </a:cxn>
                  <a:cxn ang="0">
                    <a:pos x="332" y="172"/>
                  </a:cxn>
                  <a:cxn ang="0">
                    <a:pos x="386" y="128"/>
                  </a:cxn>
                  <a:cxn ang="0">
                    <a:pos x="402" y="150"/>
                  </a:cxn>
                  <a:cxn ang="0">
                    <a:pos x="362" y="218"/>
                  </a:cxn>
                  <a:cxn ang="0">
                    <a:pos x="346" y="228"/>
                  </a:cxn>
                  <a:cxn ang="0">
                    <a:pos x="336" y="246"/>
                  </a:cxn>
                  <a:cxn ang="0">
                    <a:pos x="322" y="214"/>
                  </a:cxn>
                  <a:cxn ang="0">
                    <a:pos x="326" y="192"/>
                  </a:cxn>
                  <a:cxn ang="0">
                    <a:pos x="284" y="182"/>
                  </a:cxn>
                  <a:cxn ang="0">
                    <a:pos x="286" y="196"/>
                  </a:cxn>
                  <a:cxn ang="0">
                    <a:pos x="278" y="208"/>
                  </a:cxn>
                  <a:cxn ang="0">
                    <a:pos x="288" y="236"/>
                  </a:cxn>
                  <a:cxn ang="0">
                    <a:pos x="260" y="278"/>
                  </a:cxn>
                  <a:cxn ang="0">
                    <a:pos x="250" y="294"/>
                  </a:cxn>
                  <a:cxn ang="0">
                    <a:pos x="230" y="316"/>
                  </a:cxn>
                  <a:cxn ang="0">
                    <a:pos x="208" y="330"/>
                  </a:cxn>
                  <a:cxn ang="0">
                    <a:pos x="186" y="356"/>
                  </a:cxn>
                  <a:cxn ang="0">
                    <a:pos x="170" y="370"/>
                  </a:cxn>
                  <a:cxn ang="0">
                    <a:pos x="170" y="414"/>
                  </a:cxn>
                  <a:cxn ang="0">
                    <a:pos x="160" y="448"/>
                  </a:cxn>
                  <a:cxn ang="0">
                    <a:pos x="150" y="468"/>
                  </a:cxn>
                  <a:cxn ang="0">
                    <a:pos x="136" y="486"/>
                  </a:cxn>
                  <a:cxn ang="0">
                    <a:pos x="116" y="452"/>
                  </a:cxn>
                  <a:cxn ang="0">
                    <a:pos x="98" y="414"/>
                  </a:cxn>
                  <a:cxn ang="0">
                    <a:pos x="92" y="388"/>
                  </a:cxn>
                  <a:cxn ang="0">
                    <a:pos x="72" y="328"/>
                  </a:cxn>
                  <a:cxn ang="0">
                    <a:pos x="66" y="276"/>
                  </a:cxn>
                  <a:cxn ang="0">
                    <a:pos x="60" y="274"/>
                  </a:cxn>
                  <a:cxn ang="0">
                    <a:pos x="32" y="278"/>
                  </a:cxn>
                  <a:cxn ang="0">
                    <a:pos x="22" y="254"/>
                  </a:cxn>
                  <a:cxn ang="0">
                    <a:pos x="24" y="248"/>
                  </a:cxn>
                  <a:cxn ang="0">
                    <a:pos x="10" y="236"/>
                  </a:cxn>
                  <a:cxn ang="0">
                    <a:pos x="0" y="216"/>
                  </a:cxn>
                  <a:cxn ang="0">
                    <a:pos x="44" y="206"/>
                  </a:cxn>
                  <a:cxn ang="0">
                    <a:pos x="40" y="162"/>
                  </a:cxn>
                  <a:cxn ang="0">
                    <a:pos x="80" y="118"/>
                  </a:cxn>
                  <a:cxn ang="0">
                    <a:pos x="98" y="74"/>
                  </a:cxn>
                  <a:cxn ang="0">
                    <a:pos x="82" y="34"/>
                  </a:cxn>
                  <a:cxn ang="0">
                    <a:pos x="128" y="16"/>
                  </a:cxn>
                  <a:cxn ang="0">
                    <a:pos x="150" y="46"/>
                  </a:cxn>
                  <a:cxn ang="0">
                    <a:pos x="144" y="72"/>
                  </a:cxn>
                  <a:cxn ang="0">
                    <a:pos x="150" y="98"/>
                  </a:cxn>
                  <a:cxn ang="0">
                    <a:pos x="176" y="114"/>
                  </a:cxn>
                </a:cxnLst>
                <a:rect l="0" t="0" r="r" b="b"/>
                <a:pathLst>
                  <a:path w="402" h="486">
                    <a:moveTo>
                      <a:pt x="176" y="114"/>
                    </a:moveTo>
                    <a:lnTo>
                      <a:pt x="172" y="124"/>
                    </a:lnTo>
                    <a:lnTo>
                      <a:pt x="170" y="136"/>
                    </a:lnTo>
                    <a:lnTo>
                      <a:pt x="172" y="148"/>
                    </a:lnTo>
                    <a:lnTo>
                      <a:pt x="180" y="152"/>
                    </a:lnTo>
                    <a:lnTo>
                      <a:pt x="196" y="158"/>
                    </a:lnTo>
                    <a:lnTo>
                      <a:pt x="204" y="164"/>
                    </a:lnTo>
                    <a:lnTo>
                      <a:pt x="222" y="172"/>
                    </a:lnTo>
                    <a:lnTo>
                      <a:pt x="248" y="180"/>
                    </a:lnTo>
                    <a:lnTo>
                      <a:pt x="264" y="180"/>
                    </a:lnTo>
                    <a:lnTo>
                      <a:pt x="274" y="180"/>
                    </a:lnTo>
                    <a:lnTo>
                      <a:pt x="278" y="168"/>
                    </a:lnTo>
                    <a:lnTo>
                      <a:pt x="276" y="156"/>
                    </a:lnTo>
                    <a:lnTo>
                      <a:pt x="280" y="154"/>
                    </a:lnTo>
                    <a:lnTo>
                      <a:pt x="290" y="158"/>
                    </a:lnTo>
                    <a:lnTo>
                      <a:pt x="292" y="168"/>
                    </a:lnTo>
                    <a:lnTo>
                      <a:pt x="298" y="176"/>
                    </a:lnTo>
                    <a:lnTo>
                      <a:pt x="332" y="172"/>
                    </a:lnTo>
                    <a:lnTo>
                      <a:pt x="332" y="158"/>
                    </a:lnTo>
                    <a:lnTo>
                      <a:pt x="354" y="140"/>
                    </a:lnTo>
                    <a:lnTo>
                      <a:pt x="386" y="128"/>
                    </a:lnTo>
                    <a:lnTo>
                      <a:pt x="392" y="132"/>
                    </a:lnTo>
                    <a:lnTo>
                      <a:pt x="390" y="140"/>
                    </a:lnTo>
                    <a:lnTo>
                      <a:pt x="402" y="150"/>
                    </a:lnTo>
                    <a:lnTo>
                      <a:pt x="394" y="160"/>
                    </a:lnTo>
                    <a:lnTo>
                      <a:pt x="376" y="170"/>
                    </a:lnTo>
                    <a:lnTo>
                      <a:pt x="362" y="218"/>
                    </a:lnTo>
                    <a:lnTo>
                      <a:pt x="354" y="218"/>
                    </a:lnTo>
                    <a:lnTo>
                      <a:pt x="352" y="228"/>
                    </a:lnTo>
                    <a:lnTo>
                      <a:pt x="346" y="228"/>
                    </a:lnTo>
                    <a:lnTo>
                      <a:pt x="350" y="250"/>
                    </a:lnTo>
                    <a:lnTo>
                      <a:pt x="336" y="268"/>
                    </a:lnTo>
                    <a:lnTo>
                      <a:pt x="336" y="246"/>
                    </a:lnTo>
                    <a:lnTo>
                      <a:pt x="330" y="238"/>
                    </a:lnTo>
                    <a:lnTo>
                      <a:pt x="320" y="236"/>
                    </a:lnTo>
                    <a:lnTo>
                      <a:pt x="322" y="214"/>
                    </a:lnTo>
                    <a:lnTo>
                      <a:pt x="330" y="206"/>
                    </a:lnTo>
                    <a:lnTo>
                      <a:pt x="330" y="200"/>
                    </a:lnTo>
                    <a:lnTo>
                      <a:pt x="326" y="192"/>
                    </a:lnTo>
                    <a:lnTo>
                      <a:pt x="304" y="194"/>
                    </a:lnTo>
                    <a:lnTo>
                      <a:pt x="294" y="184"/>
                    </a:lnTo>
                    <a:lnTo>
                      <a:pt x="284" y="182"/>
                    </a:lnTo>
                    <a:lnTo>
                      <a:pt x="278" y="188"/>
                    </a:lnTo>
                    <a:lnTo>
                      <a:pt x="284" y="190"/>
                    </a:lnTo>
                    <a:lnTo>
                      <a:pt x="286" y="196"/>
                    </a:lnTo>
                    <a:lnTo>
                      <a:pt x="288" y="202"/>
                    </a:lnTo>
                    <a:lnTo>
                      <a:pt x="278" y="202"/>
                    </a:lnTo>
                    <a:lnTo>
                      <a:pt x="278" y="208"/>
                    </a:lnTo>
                    <a:lnTo>
                      <a:pt x="284" y="216"/>
                    </a:lnTo>
                    <a:lnTo>
                      <a:pt x="284" y="228"/>
                    </a:lnTo>
                    <a:lnTo>
                      <a:pt x="288" y="236"/>
                    </a:lnTo>
                    <a:lnTo>
                      <a:pt x="288" y="258"/>
                    </a:lnTo>
                    <a:lnTo>
                      <a:pt x="264" y="266"/>
                    </a:lnTo>
                    <a:lnTo>
                      <a:pt x="260" y="278"/>
                    </a:lnTo>
                    <a:lnTo>
                      <a:pt x="264" y="282"/>
                    </a:lnTo>
                    <a:lnTo>
                      <a:pt x="260" y="290"/>
                    </a:lnTo>
                    <a:lnTo>
                      <a:pt x="250" y="294"/>
                    </a:lnTo>
                    <a:lnTo>
                      <a:pt x="240" y="298"/>
                    </a:lnTo>
                    <a:lnTo>
                      <a:pt x="230" y="308"/>
                    </a:lnTo>
                    <a:lnTo>
                      <a:pt x="230" y="316"/>
                    </a:lnTo>
                    <a:lnTo>
                      <a:pt x="222" y="322"/>
                    </a:lnTo>
                    <a:lnTo>
                      <a:pt x="218" y="326"/>
                    </a:lnTo>
                    <a:lnTo>
                      <a:pt x="208" y="330"/>
                    </a:lnTo>
                    <a:lnTo>
                      <a:pt x="198" y="344"/>
                    </a:lnTo>
                    <a:lnTo>
                      <a:pt x="196" y="356"/>
                    </a:lnTo>
                    <a:lnTo>
                      <a:pt x="186" y="356"/>
                    </a:lnTo>
                    <a:lnTo>
                      <a:pt x="180" y="362"/>
                    </a:lnTo>
                    <a:lnTo>
                      <a:pt x="172" y="364"/>
                    </a:lnTo>
                    <a:lnTo>
                      <a:pt x="170" y="370"/>
                    </a:lnTo>
                    <a:lnTo>
                      <a:pt x="170" y="386"/>
                    </a:lnTo>
                    <a:lnTo>
                      <a:pt x="172" y="394"/>
                    </a:lnTo>
                    <a:lnTo>
                      <a:pt x="170" y="414"/>
                    </a:lnTo>
                    <a:lnTo>
                      <a:pt x="166" y="424"/>
                    </a:lnTo>
                    <a:lnTo>
                      <a:pt x="168" y="446"/>
                    </a:lnTo>
                    <a:lnTo>
                      <a:pt x="160" y="448"/>
                    </a:lnTo>
                    <a:lnTo>
                      <a:pt x="156" y="452"/>
                    </a:lnTo>
                    <a:lnTo>
                      <a:pt x="156" y="460"/>
                    </a:lnTo>
                    <a:lnTo>
                      <a:pt x="150" y="468"/>
                    </a:lnTo>
                    <a:lnTo>
                      <a:pt x="146" y="474"/>
                    </a:lnTo>
                    <a:lnTo>
                      <a:pt x="144" y="476"/>
                    </a:lnTo>
                    <a:lnTo>
                      <a:pt x="136" y="486"/>
                    </a:lnTo>
                    <a:lnTo>
                      <a:pt x="126" y="480"/>
                    </a:lnTo>
                    <a:lnTo>
                      <a:pt x="120" y="474"/>
                    </a:lnTo>
                    <a:lnTo>
                      <a:pt x="116" y="452"/>
                    </a:lnTo>
                    <a:lnTo>
                      <a:pt x="112" y="438"/>
                    </a:lnTo>
                    <a:lnTo>
                      <a:pt x="106" y="426"/>
                    </a:lnTo>
                    <a:lnTo>
                      <a:pt x="98" y="414"/>
                    </a:lnTo>
                    <a:lnTo>
                      <a:pt x="96" y="406"/>
                    </a:lnTo>
                    <a:lnTo>
                      <a:pt x="96" y="396"/>
                    </a:lnTo>
                    <a:lnTo>
                      <a:pt x="92" y="388"/>
                    </a:lnTo>
                    <a:lnTo>
                      <a:pt x="84" y="362"/>
                    </a:lnTo>
                    <a:lnTo>
                      <a:pt x="78" y="356"/>
                    </a:lnTo>
                    <a:lnTo>
                      <a:pt x="72" y="328"/>
                    </a:lnTo>
                    <a:lnTo>
                      <a:pt x="70" y="306"/>
                    </a:lnTo>
                    <a:lnTo>
                      <a:pt x="68" y="280"/>
                    </a:lnTo>
                    <a:lnTo>
                      <a:pt x="66" y="276"/>
                    </a:lnTo>
                    <a:lnTo>
                      <a:pt x="66" y="260"/>
                    </a:lnTo>
                    <a:lnTo>
                      <a:pt x="60" y="268"/>
                    </a:lnTo>
                    <a:lnTo>
                      <a:pt x="60" y="274"/>
                    </a:lnTo>
                    <a:lnTo>
                      <a:pt x="54" y="282"/>
                    </a:lnTo>
                    <a:lnTo>
                      <a:pt x="40" y="282"/>
                    </a:lnTo>
                    <a:lnTo>
                      <a:pt x="32" y="278"/>
                    </a:lnTo>
                    <a:lnTo>
                      <a:pt x="16" y="260"/>
                    </a:lnTo>
                    <a:lnTo>
                      <a:pt x="16" y="252"/>
                    </a:lnTo>
                    <a:lnTo>
                      <a:pt x="22" y="254"/>
                    </a:lnTo>
                    <a:lnTo>
                      <a:pt x="28" y="252"/>
                    </a:lnTo>
                    <a:lnTo>
                      <a:pt x="34" y="246"/>
                    </a:lnTo>
                    <a:lnTo>
                      <a:pt x="24" y="248"/>
                    </a:lnTo>
                    <a:lnTo>
                      <a:pt x="16" y="248"/>
                    </a:lnTo>
                    <a:lnTo>
                      <a:pt x="10" y="244"/>
                    </a:lnTo>
                    <a:lnTo>
                      <a:pt x="10" y="236"/>
                    </a:lnTo>
                    <a:lnTo>
                      <a:pt x="6" y="236"/>
                    </a:lnTo>
                    <a:lnTo>
                      <a:pt x="4" y="230"/>
                    </a:lnTo>
                    <a:lnTo>
                      <a:pt x="0" y="216"/>
                    </a:lnTo>
                    <a:lnTo>
                      <a:pt x="14" y="210"/>
                    </a:lnTo>
                    <a:lnTo>
                      <a:pt x="32" y="212"/>
                    </a:lnTo>
                    <a:lnTo>
                      <a:pt x="44" y="206"/>
                    </a:lnTo>
                    <a:lnTo>
                      <a:pt x="26" y="176"/>
                    </a:lnTo>
                    <a:lnTo>
                      <a:pt x="34" y="156"/>
                    </a:lnTo>
                    <a:lnTo>
                      <a:pt x="40" y="162"/>
                    </a:lnTo>
                    <a:lnTo>
                      <a:pt x="52" y="146"/>
                    </a:lnTo>
                    <a:lnTo>
                      <a:pt x="68" y="128"/>
                    </a:lnTo>
                    <a:lnTo>
                      <a:pt x="80" y="118"/>
                    </a:lnTo>
                    <a:lnTo>
                      <a:pt x="82" y="110"/>
                    </a:lnTo>
                    <a:lnTo>
                      <a:pt x="92" y="96"/>
                    </a:lnTo>
                    <a:lnTo>
                      <a:pt x="98" y="74"/>
                    </a:lnTo>
                    <a:lnTo>
                      <a:pt x="80" y="66"/>
                    </a:lnTo>
                    <a:lnTo>
                      <a:pt x="72" y="52"/>
                    </a:lnTo>
                    <a:lnTo>
                      <a:pt x="82" y="34"/>
                    </a:lnTo>
                    <a:lnTo>
                      <a:pt x="70" y="20"/>
                    </a:lnTo>
                    <a:lnTo>
                      <a:pt x="102" y="0"/>
                    </a:lnTo>
                    <a:lnTo>
                      <a:pt x="128" y="16"/>
                    </a:lnTo>
                    <a:lnTo>
                      <a:pt x="150" y="2"/>
                    </a:lnTo>
                    <a:lnTo>
                      <a:pt x="168" y="32"/>
                    </a:lnTo>
                    <a:lnTo>
                      <a:pt x="150" y="46"/>
                    </a:lnTo>
                    <a:lnTo>
                      <a:pt x="158" y="60"/>
                    </a:lnTo>
                    <a:lnTo>
                      <a:pt x="150" y="72"/>
                    </a:lnTo>
                    <a:lnTo>
                      <a:pt x="144" y="72"/>
                    </a:lnTo>
                    <a:lnTo>
                      <a:pt x="156" y="76"/>
                    </a:lnTo>
                    <a:lnTo>
                      <a:pt x="158" y="86"/>
                    </a:lnTo>
                    <a:lnTo>
                      <a:pt x="150" y="98"/>
                    </a:lnTo>
                    <a:lnTo>
                      <a:pt x="156" y="102"/>
                    </a:lnTo>
                    <a:lnTo>
                      <a:pt x="168" y="102"/>
                    </a:lnTo>
                    <a:lnTo>
                      <a:pt x="176" y="114"/>
                    </a:lnTo>
                    <a:lnTo>
                      <a:pt x="176" y="114"/>
                    </a:lnTo>
                    <a:close/>
                  </a:path>
                </a:pathLst>
              </a:custGeom>
              <a:solidFill>
                <a:srgbClr val="C4C4CD"/>
              </a:solidFill>
              <a:ln w="3175">
                <a:solidFill>
                  <a:srgbClr val="2E2E38">
                    <a:lumMod val="20000"/>
                    <a:lumOff val="80000"/>
                  </a:srgb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E2E38"/>
                  </a:solidFill>
                  <a:effectLst/>
                  <a:uLnTx/>
                  <a:uFillTx/>
                  <a:latin typeface="EYInterstate Light"/>
                  <a:ea typeface="+mn-ea"/>
                  <a:cs typeface="+mn-cs"/>
                </a:endParaRPr>
              </a:p>
            </p:txBody>
          </p:sp>
        </p:grpSp>
      </p:grpSp>
      <p:sp>
        <p:nvSpPr>
          <p:cNvPr id="598" name="Teardrop 597">
            <a:extLst>
              <a:ext uri="{FF2B5EF4-FFF2-40B4-BE49-F238E27FC236}">
                <a16:creationId xmlns:a16="http://schemas.microsoft.com/office/drawing/2014/main" id="{45AFB41D-05AB-1E01-B9EB-54BAC34609DF}"/>
              </a:ext>
            </a:extLst>
          </p:cNvPr>
          <p:cNvSpPr/>
          <p:nvPr/>
        </p:nvSpPr>
        <p:spPr>
          <a:xfrm rot="8100000">
            <a:off x="8978806" y="2296112"/>
            <a:ext cx="582631" cy="582633"/>
          </a:xfrm>
          <a:prstGeom prst="teardrop">
            <a:avLst/>
          </a:prstGeom>
          <a:solidFill>
            <a:srgbClr val="151726">
              <a:alpha val="70000"/>
            </a:srgbClr>
          </a:solidFill>
          <a:ln w="15875" cap="flat" cmpd="sng" algn="ctr">
            <a:gradFill flip="none" rotWithShape="1">
              <a:gsLst>
                <a:gs pos="0">
                  <a:sysClr val="window" lastClr="FFFFFF">
                    <a:alpha val="60000"/>
                  </a:sysClr>
                </a:gs>
                <a:gs pos="50000">
                  <a:sysClr val="window" lastClr="FFFFFF">
                    <a:alpha val="0"/>
                  </a:sysClr>
                </a:gs>
                <a:gs pos="100000">
                  <a:sysClr val="window" lastClr="FFFFFF">
                    <a:alpha val="60000"/>
                  </a:sysClr>
                </a:gs>
              </a:gsLst>
              <a:lin ang="18900000" scaled="1"/>
              <a:tileRect/>
            </a:gra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Encode Sans SemiExpanded"/>
              <a:ea typeface="+mn-ea"/>
              <a:cs typeface="+mn-cs"/>
            </a:endParaRPr>
          </a:p>
        </p:txBody>
      </p:sp>
      <p:sp>
        <p:nvSpPr>
          <p:cNvPr id="599" name="Oval 598">
            <a:extLst>
              <a:ext uri="{FF2B5EF4-FFF2-40B4-BE49-F238E27FC236}">
                <a16:creationId xmlns:a16="http://schemas.microsoft.com/office/drawing/2014/main" id="{FD14FFEB-5BB7-94AB-C417-747FD93B1098}"/>
              </a:ext>
            </a:extLst>
          </p:cNvPr>
          <p:cNvSpPr/>
          <p:nvPr/>
        </p:nvSpPr>
        <p:spPr>
          <a:xfrm>
            <a:off x="9056179" y="2375352"/>
            <a:ext cx="427884" cy="424152"/>
          </a:xfrm>
          <a:prstGeom prst="ellipse">
            <a:avLst/>
          </a:prstGeom>
          <a:gradFill>
            <a:gsLst>
              <a:gs pos="0">
                <a:sysClr val="window" lastClr="FFFFFF">
                  <a:alpha val="60000"/>
                </a:sysClr>
              </a:gs>
              <a:gs pos="50000">
                <a:schemeClr val="bg1">
                  <a:lumMod val="95000"/>
                </a:schemeClr>
              </a:gs>
              <a:gs pos="100000">
                <a:sysClr val="window" lastClr="FFFFFF">
                  <a:alpha val="60000"/>
                </a:sysClr>
              </a:gs>
            </a:gsLst>
            <a:lin ang="18900000" scaled="1"/>
          </a:gradFill>
          <a:ln w="0" cap="flat" cmpd="sng" algn="ctr">
            <a:noFill/>
            <a:prstDash val="solid"/>
          </a:ln>
          <a:effectLst/>
          <a:scene3d>
            <a:camera prst="orthographicFront"/>
            <a:lightRig rig="threePt" dir="t"/>
          </a:scene3d>
          <a:sp3d>
            <a:bevelT w="152400" h="50800" prst="softRound"/>
          </a:sp3d>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2E2E38"/>
                </a:solidFill>
                <a:effectLst/>
                <a:uLnTx/>
                <a:uFillTx/>
                <a:latin typeface="EYInterstate Light"/>
                <a:ea typeface="+mn-ea"/>
                <a:cs typeface="+mn-cs"/>
              </a:rPr>
              <a:t>MENA</a:t>
            </a:r>
          </a:p>
        </p:txBody>
      </p:sp>
      <p:sp>
        <p:nvSpPr>
          <p:cNvPr id="623" name="Rectangle: Rounded Corners 622">
            <a:extLst>
              <a:ext uri="{FF2B5EF4-FFF2-40B4-BE49-F238E27FC236}">
                <a16:creationId xmlns:a16="http://schemas.microsoft.com/office/drawing/2014/main" id="{B321A4CC-8676-E1C8-5602-4A3731D2D191}"/>
              </a:ext>
            </a:extLst>
          </p:cNvPr>
          <p:cNvSpPr/>
          <p:nvPr/>
        </p:nvSpPr>
        <p:spPr bwMode="auto">
          <a:xfrm>
            <a:off x="726764" y="2015693"/>
            <a:ext cx="5458136" cy="2619487"/>
          </a:xfrm>
          <a:prstGeom prst="roundRect">
            <a:avLst>
              <a:gd name="adj" fmla="val 5822"/>
            </a:avLst>
          </a:prstGeom>
          <a:gradFill flip="none" rotWithShape="1">
            <a:gsLst>
              <a:gs pos="0">
                <a:srgbClr val="F7F7F7"/>
              </a:gs>
              <a:gs pos="100000">
                <a:sysClr val="window" lastClr="FFFFFF"/>
              </a:gs>
            </a:gsLst>
            <a:path path="circle">
              <a:fillToRect r="100000" b="100000"/>
            </a:path>
            <a:tileRect l="-100000" t="-100000"/>
          </a:gradFill>
          <a:ln w="3175" cap="flat" cmpd="sng" algn="ctr">
            <a:solidFill>
              <a:srgbClr val="0073BF">
                <a:alpha val="60000"/>
              </a:srgbClr>
            </a:solidFill>
            <a:prstDash val="sysDot"/>
            <a:miter lim="800000"/>
          </a:ln>
          <a:effectLst>
            <a:outerShdw blurRad="63500" sx="101000" sy="101000" algn="ctr" rotWithShape="0">
              <a:sysClr val="window" lastClr="FFFFFF">
                <a:lumMod val="95000"/>
                <a:alpha val="40000"/>
              </a:sysClr>
            </a:outerShdw>
          </a:effectLst>
        </p:spPr>
        <p:txBody>
          <a:bodyPr lIns="73152" tIns="73152" rIns="45720" bIns="0" numCol="2" spcCol="91440" rtlCol="0" anchor="t" anchorCtr="0"/>
          <a:lstStyle/>
          <a:p>
            <a:pPr marL="171450" indent="-171450" fontAlgn="base">
              <a:spcAft>
                <a:spcPts val="300"/>
              </a:spcAft>
              <a:buSzPct val="100000"/>
              <a:buFont typeface="EYInterstate" panose="02000503020000020004" pitchFamily="2" charset="0"/>
              <a:buChar char="•"/>
              <a:tabLst>
                <a:tab pos="1371600" algn="r"/>
              </a:tabLst>
              <a:defRPr/>
            </a:pPr>
            <a:r>
              <a:rPr lang="en-US" sz="900" kern="0">
                <a:latin typeface="+mj-lt"/>
                <a:cs typeface="Times New Roman"/>
              </a:rPr>
              <a:t>HHC, 10-year Business Plan Development, KSA</a:t>
            </a:r>
          </a:p>
          <a:p>
            <a:pPr marL="171450" indent="-171450" fontAlgn="base">
              <a:spcAft>
                <a:spcPts val="300"/>
              </a:spcAft>
              <a:buSzPct val="100000"/>
              <a:buFont typeface="EYInterstate" panose="02000503020000020004" pitchFamily="2" charset="0"/>
              <a:buChar char="•"/>
              <a:tabLst>
                <a:tab pos="1371600" algn="r"/>
              </a:tabLst>
              <a:defRPr/>
            </a:pPr>
            <a:r>
              <a:rPr lang="en-US" sz="900" kern="0">
                <a:latin typeface="+mj-lt"/>
                <a:cs typeface="Times New Roman"/>
              </a:rPr>
              <a:t>Project Life Dialysis PPP, KSA</a:t>
            </a:r>
          </a:p>
          <a:p>
            <a:pPr marL="171450" indent="-171450" fontAlgn="base">
              <a:spcAft>
                <a:spcPts val="300"/>
              </a:spcAft>
              <a:buSzPct val="100000"/>
              <a:buFont typeface="EYInterstate" panose="02000503020000020004" pitchFamily="2" charset="0"/>
              <a:buChar char="•"/>
              <a:tabLst>
                <a:tab pos="1371600" algn="r"/>
              </a:tabLst>
              <a:defRPr/>
            </a:pPr>
            <a:r>
              <a:rPr lang="en-US" sz="900" kern="0">
                <a:latin typeface="+mj-lt"/>
                <a:cs typeface="Times New Roman"/>
              </a:rPr>
              <a:t>Behavioural Care specialist Hospital PPP, MOH, KSA</a:t>
            </a:r>
          </a:p>
          <a:p>
            <a:pPr marL="171450" indent="-171450" fontAlgn="base">
              <a:spcAft>
                <a:spcPts val="300"/>
              </a:spcAft>
              <a:buSzPct val="100000"/>
              <a:buFont typeface="EYInterstate" panose="02000503020000020004" pitchFamily="2" charset="0"/>
              <a:buChar char="•"/>
              <a:tabLst>
                <a:tab pos="1371600" algn="r"/>
              </a:tabLst>
              <a:defRPr/>
            </a:pPr>
            <a:r>
              <a:rPr lang="en-US" sz="900" kern="0">
                <a:latin typeface="+mj-lt"/>
                <a:cs typeface="Times New Roman"/>
              </a:rPr>
              <a:t>Maternity and Children’s Hospital PSP, MOH, KSA</a:t>
            </a:r>
          </a:p>
          <a:p>
            <a:pPr marL="171450" indent="-171450" fontAlgn="base">
              <a:spcAft>
                <a:spcPts val="300"/>
              </a:spcAft>
              <a:buSzPct val="100000"/>
              <a:buFont typeface="EYInterstate" panose="02000503020000020004" pitchFamily="2" charset="0"/>
              <a:buChar char="•"/>
              <a:tabLst>
                <a:tab pos="1371600" algn="r"/>
              </a:tabLst>
              <a:defRPr/>
            </a:pPr>
            <a:r>
              <a:rPr lang="en-US" sz="900" kern="0">
                <a:latin typeface="+mj-lt"/>
                <a:cs typeface="Times New Roman"/>
              </a:rPr>
              <a:t>Imam Abdulrahman bin Faisal University Hospital PSP</a:t>
            </a:r>
          </a:p>
          <a:p>
            <a:pPr marL="171450" indent="-171450" fontAlgn="base">
              <a:spcAft>
                <a:spcPts val="300"/>
              </a:spcAft>
              <a:buSzPct val="100000"/>
              <a:buFont typeface="EYInterstate" panose="02000503020000020004" pitchFamily="2" charset="0"/>
              <a:buChar char="•"/>
              <a:tabLst>
                <a:tab pos="1371600" algn="r"/>
              </a:tabLst>
              <a:defRPr/>
            </a:pPr>
            <a:r>
              <a:rPr lang="en-US" sz="900" kern="0">
                <a:latin typeface="+mj-lt"/>
                <a:cs typeface="Times New Roman"/>
              </a:rPr>
              <a:t>Private sector operator selection for a new hospital, Oman</a:t>
            </a:r>
          </a:p>
          <a:p>
            <a:pPr marL="171450" indent="-171450" fontAlgn="base">
              <a:spcAft>
                <a:spcPts val="300"/>
              </a:spcAft>
              <a:buSzPct val="100000"/>
              <a:buFont typeface="EYInterstate" panose="02000503020000020004" pitchFamily="2" charset="0"/>
              <a:buChar char="•"/>
              <a:tabLst>
                <a:tab pos="1371600" algn="r"/>
              </a:tabLst>
              <a:defRPr/>
            </a:pPr>
            <a:r>
              <a:rPr lang="en-US" sz="900" kern="0">
                <a:latin typeface="+mj-lt"/>
                <a:cs typeface="Times New Roman"/>
              </a:rPr>
              <a:t>Outsourcing of dialysis services, MOH KSA</a:t>
            </a:r>
          </a:p>
          <a:p>
            <a:pPr marL="171450" indent="-171450" fontAlgn="base">
              <a:spcAft>
                <a:spcPts val="300"/>
              </a:spcAft>
              <a:buSzPct val="100000"/>
              <a:buFont typeface="EYInterstate" panose="02000503020000020004" pitchFamily="2" charset="0"/>
              <a:buChar char="•"/>
              <a:tabLst>
                <a:tab pos="1371600" algn="r"/>
              </a:tabLst>
              <a:defRPr/>
            </a:pPr>
            <a:r>
              <a:rPr lang="en-US" sz="900" kern="0">
                <a:latin typeface="+mj-lt"/>
                <a:cs typeface="Times New Roman"/>
              </a:rPr>
              <a:t>Al Iman Hospital Residential development, MOH KSA</a:t>
            </a:r>
          </a:p>
          <a:p>
            <a:pPr marL="171450" indent="-171450" fontAlgn="base">
              <a:spcAft>
                <a:spcPts val="300"/>
              </a:spcAft>
              <a:buSzPct val="100000"/>
              <a:buFont typeface="EYInterstate" panose="02000503020000020004" pitchFamily="2" charset="0"/>
              <a:buChar char="•"/>
              <a:tabLst>
                <a:tab pos="1371600" algn="r"/>
              </a:tabLst>
              <a:defRPr/>
            </a:pPr>
            <a:r>
              <a:rPr lang="en-US" sz="900" kern="0">
                <a:latin typeface="+mj-lt"/>
                <a:cs typeface="Times New Roman"/>
              </a:rPr>
              <a:t>King Fahad Medical City, KSA</a:t>
            </a:r>
          </a:p>
          <a:p>
            <a:pPr marL="171450" indent="-171450" fontAlgn="base">
              <a:spcAft>
                <a:spcPts val="300"/>
              </a:spcAft>
              <a:buSzPct val="100000"/>
              <a:buFont typeface="EYInterstate" panose="02000503020000020004" pitchFamily="2" charset="0"/>
              <a:buChar char="•"/>
              <a:tabLst>
                <a:tab pos="1371600" algn="r"/>
              </a:tabLst>
              <a:defRPr/>
            </a:pPr>
            <a:r>
              <a:rPr lang="en-US" sz="900" kern="0" err="1">
                <a:latin typeface="+mj-lt"/>
                <a:cs typeface="Times New Roman"/>
              </a:rPr>
              <a:t>Helathcare</a:t>
            </a:r>
            <a:r>
              <a:rPr lang="en-US" sz="900" kern="0">
                <a:latin typeface="+mj-lt"/>
                <a:cs typeface="Times New Roman"/>
              </a:rPr>
              <a:t> PPP, Malta</a:t>
            </a:r>
          </a:p>
          <a:p>
            <a:pPr marL="171450" indent="-171450" fontAlgn="base">
              <a:spcAft>
                <a:spcPts val="300"/>
              </a:spcAft>
              <a:buSzPct val="100000"/>
              <a:buFont typeface="EYInterstate" panose="02000503020000020004" pitchFamily="2" charset="0"/>
              <a:buChar char="•"/>
              <a:tabLst>
                <a:tab pos="1371600" algn="r"/>
              </a:tabLst>
              <a:defRPr/>
            </a:pPr>
            <a:r>
              <a:rPr lang="en-US" sz="900" kern="0">
                <a:latin typeface="+mj-lt"/>
                <a:cs typeface="Times New Roman"/>
              </a:rPr>
              <a:t>Kenya MES PPP Project, Kenya</a:t>
            </a:r>
          </a:p>
          <a:p>
            <a:pPr marL="171450" indent="-171450" fontAlgn="base">
              <a:spcAft>
                <a:spcPts val="300"/>
              </a:spcAft>
              <a:buSzPct val="100000"/>
              <a:buFont typeface="EYInterstate" panose="02000503020000020004" pitchFamily="2" charset="0"/>
              <a:buChar char="•"/>
              <a:tabLst>
                <a:tab pos="1371600" algn="r"/>
              </a:tabLst>
              <a:defRPr/>
            </a:pPr>
            <a:r>
              <a:rPr lang="en-IN" sz="900" kern="0">
                <a:latin typeface="+mj-lt"/>
                <a:cs typeface="Times New Roman"/>
              </a:rPr>
              <a:t>Private sector participation (PSP) across four Medical City projects, KSA</a:t>
            </a:r>
            <a:endParaRPr lang="en-US" sz="900" kern="0">
              <a:latin typeface="+mj-lt"/>
              <a:cs typeface="Times New Roman"/>
            </a:endParaRPr>
          </a:p>
          <a:p>
            <a:pPr marL="171450" indent="-171450" fontAlgn="base">
              <a:spcAft>
                <a:spcPts val="300"/>
              </a:spcAft>
              <a:buSzPct val="100000"/>
              <a:buFont typeface="EYInterstate" panose="02000503020000020004" pitchFamily="2" charset="0"/>
              <a:buChar char="•"/>
              <a:tabLst>
                <a:tab pos="1371600" algn="r"/>
              </a:tabLst>
              <a:defRPr/>
            </a:pPr>
            <a:r>
              <a:rPr lang="en-IN" sz="900" kern="0">
                <a:latin typeface="+mj-lt"/>
                <a:cs typeface="Times New Roman"/>
              </a:rPr>
              <a:t>King Abdullah Center for Oncology &amp; Liver Disease, KSA</a:t>
            </a:r>
          </a:p>
          <a:p>
            <a:pPr marL="171450" indent="-171450" fontAlgn="base">
              <a:spcAft>
                <a:spcPts val="300"/>
              </a:spcAft>
              <a:buSzPct val="100000"/>
              <a:buFont typeface="EYInterstate" panose="02000503020000020004" pitchFamily="2" charset="0"/>
              <a:buChar char="•"/>
              <a:tabLst>
                <a:tab pos="1371600" algn="r"/>
              </a:tabLst>
              <a:defRPr/>
            </a:pPr>
            <a:r>
              <a:rPr lang="en-IN" sz="900" kern="0">
                <a:latin typeface="+mj-lt"/>
                <a:cs typeface="Times New Roman"/>
              </a:rPr>
              <a:t>Development of PSCC Medical City, KSA</a:t>
            </a:r>
            <a:endParaRPr lang="en-US" sz="900" kern="0">
              <a:latin typeface="+mj-lt"/>
              <a:cs typeface="Times New Roman"/>
            </a:endParaRPr>
          </a:p>
          <a:p>
            <a:pPr marL="171450" indent="-171450" fontAlgn="base">
              <a:spcAft>
                <a:spcPts val="300"/>
              </a:spcAft>
              <a:buSzPct val="100000"/>
              <a:buFont typeface="EYInterstate" panose="02000503020000020004" pitchFamily="2" charset="0"/>
              <a:buChar char="•"/>
              <a:tabLst>
                <a:tab pos="1371600" algn="r"/>
              </a:tabLst>
              <a:defRPr/>
            </a:pPr>
            <a:r>
              <a:rPr lang="en-IN" sz="900" kern="0">
                <a:latin typeface="+mj-lt"/>
                <a:cs typeface="Times New Roman"/>
              </a:rPr>
              <a:t>Dammam Health Network Transformation Program, KSA</a:t>
            </a:r>
          </a:p>
          <a:p>
            <a:pPr marL="171450" indent="-171450" fontAlgn="base">
              <a:spcAft>
                <a:spcPts val="300"/>
              </a:spcAft>
              <a:buSzPct val="100000"/>
              <a:buFont typeface="EYInterstate" panose="02000503020000020004" pitchFamily="2" charset="0"/>
              <a:buChar char="•"/>
              <a:tabLst>
                <a:tab pos="1371600" algn="r"/>
              </a:tabLst>
              <a:defRPr/>
            </a:pPr>
            <a:r>
              <a:rPr lang="en-US" sz="900" kern="0">
                <a:latin typeface="+mj-lt"/>
                <a:cs typeface="Times New Roman"/>
              </a:rPr>
              <a:t>Outsourcing of Abu Dhabi National Oil Company’s (ADNOC) medical facilities in UAE</a:t>
            </a:r>
          </a:p>
          <a:p>
            <a:pPr marL="171450" indent="-171450" fontAlgn="base">
              <a:spcAft>
                <a:spcPts val="300"/>
              </a:spcAft>
              <a:buSzPct val="100000"/>
              <a:buFont typeface="EYInterstate" panose="02000503020000020004" pitchFamily="2" charset="0"/>
              <a:buChar char="•"/>
              <a:tabLst>
                <a:tab pos="1371600" algn="r"/>
              </a:tabLst>
              <a:defRPr/>
            </a:pPr>
            <a:endParaRPr lang="en-US" sz="900" kern="0">
              <a:latin typeface="+mj-lt"/>
              <a:cs typeface="Times New Roman"/>
            </a:endParaRPr>
          </a:p>
        </p:txBody>
      </p:sp>
      <p:sp>
        <p:nvSpPr>
          <p:cNvPr id="1752" name="Rectangle: Rounded Corners 1751">
            <a:extLst>
              <a:ext uri="{FF2B5EF4-FFF2-40B4-BE49-F238E27FC236}">
                <a16:creationId xmlns:a16="http://schemas.microsoft.com/office/drawing/2014/main" id="{9AEA96B6-8965-B864-1EF7-67500D558831}"/>
              </a:ext>
            </a:extLst>
          </p:cNvPr>
          <p:cNvSpPr>
            <a:spLocks/>
          </p:cNvSpPr>
          <p:nvPr/>
        </p:nvSpPr>
        <p:spPr>
          <a:xfrm>
            <a:off x="726764" y="5023333"/>
            <a:ext cx="10820400" cy="263832"/>
          </a:xfrm>
          <a:prstGeom prst="roundRect">
            <a:avLst>
              <a:gd name="adj" fmla="val 19066"/>
            </a:avLst>
          </a:prstGeom>
          <a:gradFill flip="none" rotWithShape="1">
            <a:gsLst>
              <a:gs pos="0">
                <a:srgbClr val="1A9AFA">
                  <a:alpha val="34000"/>
                </a:srgbClr>
              </a:gs>
              <a:gs pos="100000">
                <a:srgbClr val="FFFFFF"/>
              </a:gs>
            </a:gsLst>
            <a:lin ang="0" scaled="1"/>
            <a:tileRect/>
          </a:gradFill>
        </p:spPr>
        <p:txBody>
          <a:bodyPr wrap="square" lIns="91440" rIns="0" anchor="ctr" anchorCtr="0">
            <a:noAutofit/>
          </a:bodyPr>
          <a:lstStyle/>
          <a:p>
            <a:pPr marL="0" marR="0" lvl="0" indent="0" defTabSz="1036752" eaLnBrk="1" fontAlgn="auto" latinLnBrk="0" hangingPunct="1">
              <a:lnSpc>
                <a:spcPct val="100000"/>
              </a:lnSpc>
              <a:spcBef>
                <a:spcPts val="0"/>
              </a:spcBef>
              <a:spcAft>
                <a:spcPts val="0"/>
              </a:spcAft>
              <a:buClrTx/>
              <a:buSzTx/>
              <a:buFontTx/>
              <a:buNone/>
              <a:tabLst/>
              <a:defRPr/>
            </a:pPr>
            <a:r>
              <a:rPr kumimoji="0" lang="en-IN" sz="1050" b="0" i="0" u="none" strike="noStrike" kern="0" cap="none" spc="0" normalizeH="0" baseline="0" noProof="0">
                <a:ln>
                  <a:noFill/>
                </a:ln>
                <a:solidFill>
                  <a:srgbClr val="1A1A24"/>
                </a:solidFill>
                <a:effectLst/>
                <a:uLnTx/>
                <a:uFillTx/>
              </a:rPr>
              <a:t>We are trusted advisors to major healthcare clients in MENA region, ensuring a clear understanding of the needs of both public and private sector clients</a:t>
            </a:r>
          </a:p>
        </p:txBody>
      </p:sp>
      <p:sp>
        <p:nvSpPr>
          <p:cNvPr id="1751" name="Rectangle: Rounded Corners 1750">
            <a:extLst>
              <a:ext uri="{FF2B5EF4-FFF2-40B4-BE49-F238E27FC236}">
                <a16:creationId xmlns:a16="http://schemas.microsoft.com/office/drawing/2014/main" id="{24E70F96-6C56-7029-C412-DD333DB37A9F}"/>
              </a:ext>
            </a:extLst>
          </p:cNvPr>
          <p:cNvSpPr>
            <a:spLocks/>
          </p:cNvSpPr>
          <p:nvPr/>
        </p:nvSpPr>
        <p:spPr bwMode="auto">
          <a:xfrm flipV="1">
            <a:off x="502509" y="4931319"/>
            <a:ext cx="9692640" cy="27432"/>
          </a:xfrm>
          <a:prstGeom prst="roundRect">
            <a:avLst>
              <a:gd name="adj" fmla="val 50000"/>
            </a:avLst>
          </a:prstGeom>
          <a:gradFill flip="none" rotWithShape="1">
            <a:gsLst>
              <a:gs pos="0">
                <a:srgbClr val="42C9C2">
                  <a:alpha val="0"/>
                </a:srgbClr>
              </a:gs>
              <a:gs pos="56000">
                <a:srgbClr val="42C9C2"/>
              </a:gs>
              <a:gs pos="100000">
                <a:srgbClr val="42C9C2">
                  <a:alpha val="0"/>
                </a:srgbClr>
              </a:gs>
            </a:gsLst>
            <a:lin ang="0" scaled="1"/>
            <a:tileRect/>
          </a:gradFill>
        </p:spPr>
        <p:txBody>
          <a:bodyPr wrap="square" rtlCol="0" anchor="ctr">
            <a:noAutofit/>
          </a:bodyPr>
          <a:lstStyle/>
          <a:p>
            <a:pPr marL="0" marR="0" lvl="0" indent="0" defTabSz="829361" eaLnBrk="1" fontAlgn="base" latinLnBrk="0" hangingPunct="1">
              <a:lnSpc>
                <a:spcPct val="100000"/>
              </a:lnSpc>
              <a:spcBef>
                <a:spcPct val="0"/>
              </a:spcBef>
              <a:spcAft>
                <a:spcPct val="0"/>
              </a:spcAft>
              <a:buClrTx/>
              <a:buSzTx/>
              <a:buFontTx/>
              <a:buNone/>
              <a:tabLst/>
              <a:defRPr/>
            </a:pPr>
            <a:endParaRPr kumimoji="0" lang="en-IN" sz="1270" b="1" i="0" u="none" strike="noStrike" kern="0" cap="none" spc="-17" normalizeH="0" baseline="0" noProof="0">
              <a:ln>
                <a:noFill/>
              </a:ln>
              <a:solidFill>
                <a:srgbClr val="0D0D0D"/>
              </a:solidFill>
              <a:effectLst/>
              <a:uLnTx/>
              <a:uFillTx/>
              <a:cs typeface="Calibri Light"/>
            </a:endParaRPr>
          </a:p>
        </p:txBody>
      </p:sp>
      <p:cxnSp>
        <p:nvCxnSpPr>
          <p:cNvPr id="4" name="Connector: Elbow 3">
            <a:extLst>
              <a:ext uri="{FF2B5EF4-FFF2-40B4-BE49-F238E27FC236}">
                <a16:creationId xmlns:a16="http://schemas.microsoft.com/office/drawing/2014/main" id="{FB6A3B30-EAED-2824-DBBB-05E7A87F3EEB}"/>
              </a:ext>
            </a:extLst>
          </p:cNvPr>
          <p:cNvCxnSpPr>
            <a:cxnSpLocks/>
            <a:stCxn id="598" idx="3"/>
            <a:endCxn id="623" idx="0"/>
          </p:cNvCxnSpPr>
          <p:nvPr/>
        </p:nvCxnSpPr>
        <p:spPr bwMode="auto">
          <a:xfrm rot="16200000" flipV="1">
            <a:off x="6222767" y="-751242"/>
            <a:ext cx="280420" cy="5814290"/>
          </a:xfrm>
          <a:prstGeom prst="bentConnector3">
            <a:avLst>
              <a:gd name="adj1" fmla="val 181521"/>
            </a:avLst>
          </a:prstGeom>
          <a:solidFill>
            <a:schemeClr val="accent1"/>
          </a:solidFill>
          <a:ln w="9525" cap="flat" cmpd="sng" algn="ctr">
            <a:solidFill>
              <a:schemeClr val="tx1"/>
            </a:solidFill>
            <a:prstDash val="dash"/>
            <a:round/>
            <a:headEnd type="oval" w="med" len="med"/>
            <a:tailEnd type="oval" w="med" len="med"/>
          </a:ln>
          <a:effectLst/>
        </p:spPr>
      </p:cxnSp>
      <p:sp>
        <p:nvSpPr>
          <p:cNvPr id="5" name="TextBox 4">
            <a:extLst>
              <a:ext uri="{FF2B5EF4-FFF2-40B4-BE49-F238E27FC236}">
                <a16:creationId xmlns:a16="http://schemas.microsoft.com/office/drawing/2014/main" id="{3926AD7C-9727-A40A-4273-F4EDCB79B08A}"/>
              </a:ext>
            </a:extLst>
          </p:cNvPr>
          <p:cNvSpPr txBox="1"/>
          <p:nvPr/>
        </p:nvSpPr>
        <p:spPr>
          <a:xfrm>
            <a:off x="662894" y="4668235"/>
            <a:ext cx="3230923" cy="2308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900" b="1" kern="0" spc="-10">
                <a:solidFill>
                  <a:srgbClr val="000000"/>
                </a:solidFill>
                <a:latin typeface="EYInterstate Light" panose="02000506000000020004" pitchFamily="2" charset="0"/>
                <a:cs typeface="Arial"/>
              </a:rPr>
              <a:t>More details of our credentials can be found in Appendix E. </a:t>
            </a:r>
          </a:p>
        </p:txBody>
      </p:sp>
    </p:spTree>
    <p:extLst>
      <p:ext uri="{BB962C8B-B14F-4D97-AF65-F5344CB8AC3E}">
        <p14:creationId xmlns:p14="http://schemas.microsoft.com/office/powerpoint/2010/main" val="3530166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AD33F-AA45-63C3-2D51-2FF0699ACB98}"/>
            </a:ext>
          </a:extLst>
        </p:cNvPr>
        <p:cNvGrpSpPr/>
        <p:nvPr/>
      </p:nvGrpSpPr>
      <p:grpSpPr>
        <a:xfrm>
          <a:off x="0" y="0"/>
          <a:ext cx="0" cy="0"/>
          <a:chOff x="0" y="0"/>
          <a:chExt cx="0" cy="0"/>
        </a:xfrm>
      </p:grpSpPr>
      <p:graphicFrame>
        <p:nvGraphicFramePr>
          <p:cNvPr id="72" name="think-cell data - do not delete" hidden="1">
            <a:extLst>
              <a:ext uri="{FF2B5EF4-FFF2-40B4-BE49-F238E27FC236}">
                <a16:creationId xmlns:a16="http://schemas.microsoft.com/office/drawing/2014/main" id="{A771D07E-CD46-65EE-37BC-89339D2BFA61}"/>
              </a:ext>
            </a:extLst>
          </p:cNvPr>
          <p:cNvGraphicFramePr>
            <a:graphicFrameLocks noChangeAspect="1"/>
          </p:cNvGraphicFramePr>
          <p:nvPr>
            <p:custDataLst>
              <p:tags r:id="rId1"/>
            </p:custDataLst>
            <p:extLst>
              <p:ext uri="{D42A27DB-BD31-4B8C-83A1-F6EECF244321}">
                <p14:modId xmlns:p14="http://schemas.microsoft.com/office/powerpoint/2010/main" val="37437072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72" name="think-cell data - do not delete" hidden="1">
                        <a:extLst>
                          <a:ext uri="{FF2B5EF4-FFF2-40B4-BE49-F238E27FC236}">
                            <a16:creationId xmlns:a16="http://schemas.microsoft.com/office/drawing/2014/main" id="{A771D07E-CD46-65EE-37BC-89339D2BFA6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4BBF395-7322-C114-BCAD-F647C703718A}"/>
              </a:ext>
            </a:extLst>
          </p:cNvPr>
          <p:cNvSpPr>
            <a:spLocks noGrp="1"/>
          </p:cNvSpPr>
          <p:nvPr>
            <p:ph type="title"/>
          </p:nvPr>
        </p:nvSpPr>
        <p:spPr/>
        <p:txBody>
          <a:bodyPr vert="horz"/>
          <a:lstStyle/>
          <a:p>
            <a:r>
              <a:rPr lang="en-US" sz="2200"/>
              <a:t>C. We have a team on the ground in Saudi Arabia</a:t>
            </a:r>
            <a:br>
              <a:rPr lang="en-US" sz="2200"/>
            </a:br>
            <a:r>
              <a:rPr lang="en-US" sz="1600" kern="0">
                <a:latin typeface="+mn-lt"/>
                <a:sym typeface="Arial" panose="020B0604020202020204" pitchFamily="34" charset="0"/>
              </a:rPr>
              <a:t>Collaborative success: partnering with Kingdom’s leading government agencies and companies</a:t>
            </a:r>
            <a:endParaRPr lang="en-US" sz="1600">
              <a:sym typeface="Arial" panose="020B0604020202020204" pitchFamily="34" charset="0"/>
            </a:endParaRPr>
          </a:p>
        </p:txBody>
      </p:sp>
      <p:sp>
        <p:nvSpPr>
          <p:cNvPr id="51" name="Rectangle 50">
            <a:extLst>
              <a:ext uri="{FF2B5EF4-FFF2-40B4-BE49-F238E27FC236}">
                <a16:creationId xmlns:a16="http://schemas.microsoft.com/office/drawing/2014/main" id="{8E293885-D4E6-76D3-333F-14799698B615}"/>
              </a:ext>
            </a:extLst>
          </p:cNvPr>
          <p:cNvSpPr/>
          <p:nvPr/>
        </p:nvSpPr>
        <p:spPr bwMode="auto">
          <a:xfrm>
            <a:off x="690563" y="1278629"/>
            <a:ext cx="10809437" cy="5002212"/>
          </a:xfrm>
          <a:prstGeom prst="rect">
            <a:avLst/>
          </a:prstGeom>
          <a:noFill/>
          <a:ln w="6350" cap="flat" cmpd="sng" algn="ctr">
            <a:gradFill flip="none" rotWithShape="1">
              <a:gsLst>
                <a:gs pos="0">
                  <a:schemeClr val="accent1">
                    <a:lumMod val="5000"/>
                    <a:lumOff val="95000"/>
                  </a:schemeClr>
                </a:gs>
                <a:gs pos="100000">
                  <a:srgbClr val="35A4E8"/>
                </a:gs>
              </a:gsLst>
              <a:lin ang="16200000" scaled="1"/>
              <a:tileRect/>
            </a:gradFill>
            <a:prstDash val="sysDot"/>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a:ln>
                <a:noFill/>
              </a:ln>
              <a:solidFill>
                <a:srgbClr val="000000"/>
              </a:solidFill>
              <a:effectLst/>
              <a:uLnTx/>
              <a:uFillTx/>
              <a:latin typeface="EYInterstate Light"/>
              <a:ea typeface="+mn-ea"/>
              <a:cs typeface="Arial"/>
            </a:endParaRPr>
          </a:p>
        </p:txBody>
      </p:sp>
    </p:spTree>
    <p:extLst>
      <p:ext uri="{BB962C8B-B14F-4D97-AF65-F5344CB8AC3E}">
        <p14:creationId xmlns:p14="http://schemas.microsoft.com/office/powerpoint/2010/main" val="1260572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93FF7-CA6C-B96C-C07A-2CDB0F822755}"/>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6546D50-00FD-F86E-B5C7-195E55540F2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9" name="think-cell data - do not delete" hidden="1">
                        <a:extLst>
                          <a:ext uri="{FF2B5EF4-FFF2-40B4-BE49-F238E27FC236}">
                            <a16:creationId xmlns:a16="http://schemas.microsoft.com/office/drawing/2014/main" id="{36546D50-00FD-F86E-B5C7-195E55540F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7EE17D0-66D9-F53B-576A-656C761BBAFD}"/>
              </a:ext>
            </a:extLst>
          </p:cNvPr>
          <p:cNvSpPr>
            <a:spLocks noGrp="1"/>
          </p:cNvSpPr>
          <p:nvPr>
            <p:ph type="title"/>
          </p:nvPr>
        </p:nvSpPr>
        <p:spPr/>
        <p:txBody>
          <a:bodyPr vert="horz"/>
          <a:lstStyle/>
          <a:p>
            <a:r>
              <a:rPr lang="en-US" sz="2200">
                <a:sym typeface="Arial" panose="020B0604020202020204" pitchFamily="34" charset="0"/>
              </a:rPr>
              <a:t>D: </a:t>
            </a:r>
            <a:r>
              <a:rPr kumimoji="0" lang="en-US" sz="2200" i="0" u="none" strike="noStrike" kern="0" cap="none" spc="0" normalizeH="0" baseline="0" noProof="0">
                <a:ln>
                  <a:noFill/>
                </a:ln>
                <a:solidFill>
                  <a:srgbClr val="000000"/>
                </a:solidFill>
                <a:effectLst/>
                <a:uLnTx/>
                <a:uFillTx/>
                <a:latin typeface="EYInterstate Light"/>
                <a:ea typeface="+mn-ea"/>
                <a:cs typeface="+mn-cs"/>
                <a:sym typeface="Arial" panose="020B0604020202020204" pitchFamily="34" charset="0"/>
              </a:rPr>
              <a:t>Our consortium includes an internationally renowned clinical operator </a:t>
            </a:r>
            <a:br>
              <a:rPr lang="en-US" sz="2200">
                <a:sym typeface="Arial" panose="020B0604020202020204" pitchFamily="34" charset="0"/>
              </a:rPr>
            </a:br>
            <a:r>
              <a:rPr lang="en-US" sz="1600">
                <a:sym typeface="Arial" panose="020B0604020202020204" pitchFamily="34" charset="0"/>
              </a:rPr>
              <a:t>Methodist functions as advisor, yet is also a clinical operator</a:t>
            </a:r>
          </a:p>
        </p:txBody>
      </p:sp>
      <p:sp>
        <p:nvSpPr>
          <p:cNvPr id="5" name="Rectangle: Rounded Corners 4">
            <a:extLst>
              <a:ext uri="{FF2B5EF4-FFF2-40B4-BE49-F238E27FC236}">
                <a16:creationId xmlns:a16="http://schemas.microsoft.com/office/drawing/2014/main" id="{39D779A0-4935-A0F2-326D-03C84B6FDF02}"/>
              </a:ext>
            </a:extLst>
          </p:cNvPr>
          <p:cNvSpPr>
            <a:spLocks/>
          </p:cNvSpPr>
          <p:nvPr/>
        </p:nvSpPr>
        <p:spPr bwMode="auto">
          <a:xfrm>
            <a:off x="685801" y="1295400"/>
            <a:ext cx="10823574" cy="4921474"/>
          </a:xfrm>
          <a:prstGeom prst="roundRect">
            <a:avLst>
              <a:gd name="adj" fmla="val 5211"/>
            </a:avLst>
          </a:prstGeom>
          <a:gradFill flip="none" rotWithShape="1">
            <a:gsLst>
              <a:gs pos="0">
                <a:srgbClr val="35A4E8">
                  <a:alpha val="20000"/>
                </a:srgbClr>
              </a:gs>
              <a:gs pos="98000">
                <a:schemeClr val="bg1">
                  <a:alpha val="0"/>
                </a:schemeClr>
              </a:gs>
            </a:gsLst>
            <a:lin ang="5400000" scaled="1"/>
            <a:tileRect/>
          </a:gradFill>
          <a:ln w="9525" cap="flat" cmpd="sng" algn="ctr">
            <a:noFill/>
            <a:prstDash val="solid"/>
            <a:round/>
            <a:headEnd type="none" w="med" len="med"/>
            <a:tailEnd type="none" w="med" len="med"/>
          </a:ln>
          <a:effectLst/>
        </p:spPr>
        <p:txBody>
          <a:bodyPr vert="horz" wrap="square" lIns="54000" tIns="54000" rIns="54000" bIns="54000" numCol="2" spcCol="180000" rtlCol="0" anchor="t" anchorCtr="0" compatLnSpc="1">
            <a:prstTxWarp prst="textNoShape">
              <a:avLst/>
            </a:prstTxWarp>
          </a:bodyPr>
          <a:lstStyle/>
          <a:p>
            <a:pPr marL="172800" marR="0" lvl="0" indent="-172800" defTabSz="914400" rtl="0" eaLnBrk="1" fontAlgn="base" latinLnBrk="0" hangingPunct="1">
              <a:lnSpc>
                <a:spcPct val="100000"/>
              </a:lnSpc>
              <a:spcBef>
                <a:spcPts val="0"/>
              </a:spcBef>
              <a:spcAft>
                <a:spcPts val="600"/>
              </a:spcAft>
              <a:buClr>
                <a:schemeClr val="tx1"/>
              </a:buClr>
              <a:buSzPct val="100000"/>
              <a:buFont typeface="EYInterstate Light" panose="02000506000000020004" pitchFamily="2" charset="0"/>
              <a:buChar char="•"/>
              <a:tabLst>
                <a:tab pos="1189741" algn="l"/>
                <a:tab pos="2379479" algn="l"/>
                <a:tab pos="3438196" algn="r"/>
              </a:tabLst>
              <a:defRPr/>
            </a:pPr>
            <a:r>
              <a:rPr kumimoji="0" lang="en-US" sz="1200" b="0" i="0" strike="noStrike" kern="1200" cap="none" spc="0" normalizeH="0" baseline="0" noProof="0" dirty="0">
                <a:ln>
                  <a:noFill/>
                </a:ln>
                <a:effectLst/>
                <a:uLnTx/>
                <a:uFillTx/>
                <a:latin typeface="EYInterstate Light" panose="02000506000000020004" pitchFamily="2" charset="0"/>
                <a:cs typeface="Arial"/>
              </a:rPr>
              <a:t>[COMPANY]Global Health Care Services ([COMPANY]) serves as </a:t>
            </a:r>
            <a:r>
              <a:rPr kumimoji="0" lang="en-US" sz="1200" b="1" i="0" strike="noStrike" kern="1200" cap="none" spc="0" normalizeH="0" baseline="0" noProof="0" dirty="0">
                <a:ln>
                  <a:noFill/>
                </a:ln>
                <a:effectLst/>
                <a:uLnTx/>
                <a:uFillTx/>
                <a:latin typeface="EYInterstate Light" panose="02000506000000020004" pitchFamily="2" charset="0"/>
                <a:cs typeface="Arial"/>
              </a:rPr>
              <a:t>a trusted advisor to healthcare organizations </a:t>
            </a:r>
            <a:r>
              <a:rPr kumimoji="0" lang="en-US" sz="1200" b="0" i="0" strike="noStrike" kern="1200" cap="none" spc="0" normalizeH="0" baseline="0" noProof="0" dirty="0">
                <a:ln>
                  <a:noFill/>
                </a:ln>
                <a:effectLst/>
                <a:uLnTx/>
                <a:uFillTx/>
                <a:latin typeface="EYInterstate Light" panose="02000506000000020004" pitchFamily="2" charset="0"/>
                <a:cs typeface="Arial"/>
              </a:rPr>
              <a:t>worldwide, drawing on over a century of medical excellence and innovation. From its origins as a 30-bed hospital, [COMPANY]has grown into a leading academic medical center with more than </a:t>
            </a:r>
            <a:r>
              <a:rPr kumimoji="0" lang="en-US" sz="1200" b="1" i="0" strike="noStrike" kern="1200" cap="none" spc="0" normalizeH="0" baseline="0" noProof="0" dirty="0">
                <a:ln>
                  <a:noFill/>
                </a:ln>
                <a:effectLst/>
                <a:uLnTx/>
                <a:uFillTx/>
                <a:latin typeface="EYInterstate Light" panose="02000506000000020004" pitchFamily="2" charset="0"/>
                <a:cs typeface="Arial"/>
              </a:rPr>
              <a:t>900 beds at its flagship hospital</a:t>
            </a:r>
            <a:r>
              <a:rPr kumimoji="0" lang="en-US" sz="1200" b="0" i="0" strike="noStrike" kern="1200" cap="none" spc="0" normalizeH="0" baseline="0" noProof="0" dirty="0">
                <a:ln>
                  <a:noFill/>
                </a:ln>
                <a:effectLst/>
                <a:uLnTx/>
                <a:uFillTx/>
                <a:latin typeface="EYInterstate Light" panose="02000506000000020004" pitchFamily="2" charset="0"/>
                <a:cs typeface="Arial"/>
              </a:rPr>
              <a:t>, over </a:t>
            </a:r>
            <a:r>
              <a:rPr kumimoji="0" lang="en-US" sz="1200" b="1" i="0" strike="noStrike" kern="1200" cap="none" spc="0" normalizeH="0" baseline="0" noProof="0" dirty="0">
                <a:ln>
                  <a:noFill/>
                </a:ln>
                <a:effectLst/>
                <a:uLnTx/>
                <a:uFillTx/>
                <a:latin typeface="EYInterstate Light" panose="02000506000000020004" pitchFamily="2" charset="0"/>
                <a:cs typeface="Arial"/>
              </a:rPr>
              <a:t>2,300 beds </a:t>
            </a:r>
            <a:r>
              <a:rPr kumimoji="0" lang="en-US" sz="1200" b="0" i="0" strike="noStrike" kern="1200" cap="none" spc="0" normalizeH="0" baseline="0" noProof="0" dirty="0">
                <a:ln>
                  <a:noFill/>
                </a:ln>
                <a:effectLst/>
                <a:uLnTx/>
                <a:uFillTx/>
                <a:latin typeface="EYInterstate Light" panose="02000506000000020004" pitchFamily="2" charset="0"/>
                <a:cs typeface="Arial"/>
              </a:rPr>
              <a:t>across the system, </a:t>
            </a:r>
            <a:r>
              <a:rPr lang="en-US" sz="1200" b="1" dirty="0">
                <a:latin typeface="EYInterstate Light" panose="02000506000000020004" pitchFamily="2" charset="0"/>
                <a:cs typeface="Arial"/>
              </a:rPr>
              <a:t>S</a:t>
            </a:r>
            <a:r>
              <a:rPr kumimoji="0" lang="en-US" sz="1200" b="1" i="0" strike="noStrike" kern="1200" cap="none" spc="0" normalizeH="0" baseline="0" noProof="0" dirty="0">
                <a:ln>
                  <a:noFill/>
                </a:ln>
                <a:effectLst/>
                <a:uLnTx/>
                <a:uFillTx/>
                <a:latin typeface="EYInterstate Light" panose="02000506000000020004" pitchFamily="2" charset="0"/>
                <a:cs typeface="Arial"/>
              </a:rPr>
              <a:t>ix Centers of Excellence</a:t>
            </a:r>
            <a:r>
              <a:rPr kumimoji="0" lang="en-US" sz="1200" b="0" i="0" strike="noStrike" kern="1200" cap="none" spc="0" normalizeH="0" baseline="0" noProof="0" dirty="0">
                <a:ln>
                  <a:noFill/>
                </a:ln>
                <a:effectLst/>
                <a:uLnTx/>
                <a:uFillTx/>
                <a:latin typeface="EYInterstate Light" panose="02000506000000020004" pitchFamily="2" charset="0"/>
                <a:cs typeface="Arial"/>
              </a:rPr>
              <a:t>, an Academic Institute, and more than </a:t>
            </a:r>
            <a:r>
              <a:rPr kumimoji="0" lang="en-US" sz="1200" b="1" i="0" strike="noStrike" kern="1200" cap="none" spc="0" normalizeH="0" baseline="0" noProof="0" dirty="0">
                <a:ln>
                  <a:noFill/>
                </a:ln>
                <a:effectLst/>
                <a:uLnTx/>
                <a:uFillTx/>
                <a:latin typeface="EYInterstate Light" panose="02000506000000020004" pitchFamily="2" charset="0"/>
                <a:cs typeface="Arial"/>
              </a:rPr>
              <a:t>25,000 employees—delivering world-class </a:t>
            </a:r>
            <a:r>
              <a:rPr kumimoji="0" lang="en-US" sz="1200" b="0" i="0" strike="noStrike" kern="1200" cap="none" spc="0" normalizeH="0" baseline="0" noProof="0" dirty="0">
                <a:ln>
                  <a:noFill/>
                </a:ln>
                <a:effectLst/>
                <a:uLnTx/>
                <a:uFillTx/>
                <a:latin typeface="EYInterstate Light" panose="02000506000000020004" pitchFamily="2" charset="0"/>
                <a:cs typeface="Arial"/>
              </a:rPr>
              <a:t>care to patients from around the globe.</a:t>
            </a:r>
          </a:p>
          <a:p>
            <a:pPr marL="172800" marR="0" lvl="0" indent="-172800" defTabSz="914400" rtl="0" eaLnBrk="1" fontAlgn="base" latinLnBrk="0" hangingPunct="1">
              <a:lnSpc>
                <a:spcPct val="100000"/>
              </a:lnSpc>
              <a:spcBef>
                <a:spcPts val="0"/>
              </a:spcBef>
              <a:spcAft>
                <a:spcPts val="600"/>
              </a:spcAft>
              <a:buClr>
                <a:schemeClr val="tx1"/>
              </a:buClr>
              <a:buSzPct val="100000"/>
              <a:buFont typeface="EYInterstate Light" panose="02000506000000020004" pitchFamily="2" charset="0"/>
              <a:buChar char="•"/>
              <a:tabLst>
                <a:tab pos="1189741" algn="l"/>
                <a:tab pos="2379479" algn="l"/>
                <a:tab pos="3438196" algn="r"/>
              </a:tabLst>
              <a:defRPr/>
            </a:pPr>
            <a:r>
              <a:rPr kumimoji="0" lang="en-US" sz="1200" b="0" i="0" strike="noStrike" kern="1200" cap="none" spc="0" normalizeH="0" baseline="0" noProof="0" dirty="0">
                <a:ln>
                  <a:noFill/>
                </a:ln>
                <a:effectLst/>
                <a:uLnTx/>
                <a:uFillTx/>
                <a:latin typeface="EYInterstate Light" panose="02000506000000020004" pitchFamily="2" charset="0"/>
                <a:cs typeface="Arial"/>
              </a:rPr>
              <a:t>Recognizing the growing demand for localized, high-impact solutions, [COMPANY] expanded its regional footprint with the establishment of a </a:t>
            </a:r>
            <a:r>
              <a:rPr kumimoji="0" lang="en-US" sz="1200" b="1" i="0" strike="noStrike" kern="1200" cap="none" spc="0" normalizeH="0" baseline="0" noProof="0" dirty="0">
                <a:ln>
                  <a:noFill/>
                </a:ln>
                <a:effectLst/>
                <a:uLnTx/>
                <a:uFillTx/>
                <a:latin typeface="EYInterstate Light" panose="02000506000000020004" pitchFamily="2" charset="0"/>
                <a:cs typeface="Arial"/>
              </a:rPr>
              <a:t>Middle East office in Dubai in 2008</a:t>
            </a:r>
            <a:r>
              <a:rPr kumimoji="0" lang="en-US" sz="1200" b="0" i="0" strike="noStrike" kern="1200" cap="none" spc="0" normalizeH="0" baseline="0" noProof="0" dirty="0">
                <a:ln>
                  <a:noFill/>
                </a:ln>
                <a:effectLst/>
                <a:uLnTx/>
                <a:uFillTx/>
                <a:latin typeface="EYInterstate Light" panose="02000506000000020004" pitchFamily="2" charset="0"/>
                <a:cs typeface="Arial"/>
              </a:rPr>
              <a:t>. Together with teams based in Houston and Riyadh, [COMPANY] supports healthcare initiatives throughout the broader MENA region. Through strategic collaborations and PPP frameworks, [COMPANY] has played a </a:t>
            </a:r>
            <a:r>
              <a:rPr kumimoji="0" lang="en-US" sz="1200" b="1" i="0" strike="noStrike" kern="1200" cap="none" spc="0" normalizeH="0" baseline="0" noProof="0" dirty="0">
                <a:ln>
                  <a:noFill/>
                </a:ln>
                <a:effectLst/>
                <a:uLnTx/>
                <a:uFillTx/>
                <a:latin typeface="EYInterstate Light" panose="02000506000000020004" pitchFamily="2" charset="0"/>
                <a:cs typeface="Arial"/>
              </a:rPr>
              <a:t>pivotal role in shaping the future of healthcare delivery</a:t>
            </a:r>
            <a:r>
              <a:rPr kumimoji="0" lang="en-US" sz="1200" b="0" i="0" strike="noStrike" kern="1200" cap="none" spc="0" normalizeH="0" baseline="0" noProof="0" dirty="0">
                <a:ln>
                  <a:noFill/>
                </a:ln>
                <a:effectLst/>
                <a:uLnTx/>
                <a:uFillTx/>
                <a:latin typeface="EYInterstate Light" panose="02000506000000020004" pitchFamily="2" charset="0"/>
                <a:cs typeface="Arial"/>
              </a:rPr>
              <a:t>, bridging global best practices with local needs.</a:t>
            </a:r>
          </a:p>
          <a:p>
            <a:pPr marL="172800" marR="0" lvl="0" indent="-172800" defTabSz="914400" rtl="0" eaLnBrk="1" fontAlgn="base" latinLnBrk="0" hangingPunct="1">
              <a:lnSpc>
                <a:spcPct val="100000"/>
              </a:lnSpc>
              <a:spcBef>
                <a:spcPts val="0"/>
              </a:spcBef>
              <a:spcAft>
                <a:spcPts val="600"/>
              </a:spcAft>
              <a:buClr>
                <a:schemeClr val="tx1"/>
              </a:buClr>
              <a:buSzPct val="100000"/>
              <a:buFont typeface="EYInterstate Light" panose="02000506000000020004" pitchFamily="2" charset="0"/>
              <a:buChar char="•"/>
              <a:tabLst>
                <a:tab pos="1189741" algn="l"/>
                <a:tab pos="2379479" algn="l"/>
                <a:tab pos="3438196" algn="r"/>
              </a:tabLst>
              <a:defRPr/>
            </a:pPr>
            <a:r>
              <a:rPr kumimoji="0" lang="en-US" sz="1200" b="0" i="0" strike="noStrike" kern="1200" cap="none" spc="0" normalizeH="0" baseline="0" noProof="0" dirty="0">
                <a:ln>
                  <a:noFill/>
                </a:ln>
                <a:effectLst/>
                <a:uLnTx/>
                <a:uFillTx/>
                <a:latin typeface="EYInterstate Light" panose="02000506000000020004" pitchFamily="2" charset="0"/>
                <a:cs typeface="Arial"/>
              </a:rPr>
              <a:t>Since its establishment in the MENA region, </a:t>
            </a:r>
            <a:r>
              <a:rPr kumimoji="0" lang="en-US" sz="1200" b="1" i="0" strike="noStrike" kern="1200" cap="none" spc="0" normalizeH="0" baseline="0" noProof="0" dirty="0">
                <a:ln>
                  <a:noFill/>
                </a:ln>
                <a:effectLst/>
                <a:uLnTx/>
                <a:uFillTx/>
                <a:latin typeface="EYInterstate Light" panose="02000506000000020004" pitchFamily="2" charset="0"/>
                <a:cs typeface="Arial"/>
              </a:rPr>
              <a:t>[COMPANY] has provided strategic advisory, PPP advisory, and management services to hospitals, health systems, and government entities across Europe, Latin America, Asia, and the Middle East</a:t>
            </a:r>
            <a:r>
              <a:rPr kumimoji="0" lang="en-US" sz="1200" b="0" i="0" strike="noStrike" kern="1200" cap="none" spc="0" normalizeH="0" baseline="0" noProof="0" dirty="0">
                <a:ln>
                  <a:noFill/>
                </a:ln>
                <a:effectLst/>
                <a:uLnTx/>
                <a:uFillTx/>
                <a:latin typeface="EYInterstate Light" panose="02000506000000020004" pitchFamily="2" charset="0"/>
                <a:cs typeface="Arial"/>
              </a:rPr>
              <a:t>. With deep expertise in hospital development, clinical operations, business planning, health system transformation, and </a:t>
            </a:r>
            <a:r>
              <a:rPr kumimoji="0" lang="en-US" sz="1200" b="1" i="0" strike="noStrike" kern="1200" cap="none" spc="0" normalizeH="0" baseline="0" noProof="0" dirty="0">
                <a:ln>
                  <a:noFill/>
                </a:ln>
                <a:effectLst/>
                <a:uLnTx/>
                <a:uFillTx/>
                <a:latin typeface="EYInterstate Light" panose="02000506000000020004" pitchFamily="2" charset="0"/>
                <a:cs typeface="Arial"/>
              </a:rPr>
              <a:t>Public-Private Partnership models</a:t>
            </a:r>
            <a:r>
              <a:rPr kumimoji="0" lang="en-US" sz="1200" b="0" i="0" strike="noStrike" kern="1200" cap="none" spc="0" normalizeH="0" baseline="0" noProof="0" dirty="0">
                <a:ln>
                  <a:noFill/>
                </a:ln>
                <a:effectLst/>
                <a:uLnTx/>
                <a:uFillTx/>
                <a:latin typeface="EYInterstate Light" panose="02000506000000020004" pitchFamily="2" charset="0"/>
                <a:cs typeface="Arial"/>
              </a:rPr>
              <a:t>, [COMPANY] partners with Ministries of Health, academic medical centers, private investors, and healthcare developers to ensure projects are structured for long-term success and sustainability.</a:t>
            </a:r>
          </a:p>
          <a:p>
            <a:pPr marL="172800" marR="0" lvl="0" indent="-172800" defTabSz="914400" rtl="0" eaLnBrk="1" fontAlgn="base" latinLnBrk="0" hangingPunct="1">
              <a:lnSpc>
                <a:spcPct val="100000"/>
              </a:lnSpc>
              <a:spcBef>
                <a:spcPts val="0"/>
              </a:spcBef>
              <a:spcAft>
                <a:spcPts val="600"/>
              </a:spcAft>
              <a:buClr>
                <a:schemeClr val="tx1"/>
              </a:buClr>
              <a:buSzPct val="100000"/>
              <a:buFont typeface="EYInterstate Light" panose="02000506000000020004" pitchFamily="2" charset="0"/>
              <a:buChar char="•"/>
              <a:tabLst>
                <a:tab pos="1189741" algn="l"/>
                <a:tab pos="2379479" algn="l"/>
                <a:tab pos="3438196" algn="r"/>
              </a:tabLst>
              <a:defRPr/>
            </a:pPr>
            <a:r>
              <a:rPr kumimoji="0" lang="en-US" sz="1200" b="0" i="0" strike="noStrike" kern="1200" cap="none" spc="0" normalizeH="0" baseline="0" noProof="0" dirty="0">
                <a:ln>
                  <a:noFill/>
                </a:ln>
                <a:effectLst/>
                <a:uLnTx/>
                <a:uFillTx/>
                <a:latin typeface="EYInterstate Light" panose="02000506000000020004" pitchFamily="2" charset="0"/>
                <a:cs typeface="Arial"/>
              </a:rPr>
              <a:t>[COMPANY]’s approach is grounded in real-world expertise. </a:t>
            </a:r>
            <a:r>
              <a:rPr kumimoji="0" lang="en-US" sz="1200" b="1" i="0" strike="noStrike" kern="1200" cap="none" spc="0" normalizeH="0" baseline="0" noProof="0" dirty="0">
                <a:ln>
                  <a:noFill/>
                </a:ln>
                <a:effectLst/>
                <a:uLnTx/>
                <a:uFillTx/>
                <a:latin typeface="EYInterstate Light" panose="02000506000000020004" pitchFamily="2" charset="0"/>
                <a:cs typeface="Arial"/>
              </a:rPr>
              <a:t>Our teams include experienced healthcare executives, practicing physicians, and operational leaders from Houston Methodist</a:t>
            </a:r>
            <a:r>
              <a:rPr kumimoji="0" lang="en-US" sz="1200" b="0" i="0" strike="noStrike" kern="1200" cap="none" spc="0" normalizeH="0" baseline="0" noProof="0" dirty="0">
                <a:ln>
                  <a:noFill/>
                </a:ln>
                <a:effectLst/>
                <a:uLnTx/>
                <a:uFillTx/>
                <a:latin typeface="EYInterstate Light" panose="02000506000000020004" pitchFamily="2" charset="0"/>
                <a:cs typeface="Arial"/>
              </a:rPr>
              <a:t>, ensuring that every project is supported by clinical depth and practical insight. Whether advising on greenfield hospital projects, optimizing existing systems, or </a:t>
            </a:r>
            <a:r>
              <a:rPr kumimoji="0" lang="en-US" sz="1200" b="1" i="0" strike="noStrike" kern="1200" cap="none" spc="0" normalizeH="0" baseline="0" noProof="0" dirty="0">
                <a:ln>
                  <a:noFill/>
                </a:ln>
                <a:effectLst/>
                <a:uLnTx/>
                <a:uFillTx/>
                <a:latin typeface="EYInterstate Light" panose="02000506000000020004" pitchFamily="2" charset="0"/>
                <a:cs typeface="Arial"/>
              </a:rPr>
              <a:t>structuring complex PPP transactions</a:t>
            </a:r>
            <a:r>
              <a:rPr kumimoji="0" lang="en-US" sz="1200" b="0" i="0" strike="noStrike" kern="1200" cap="none" spc="0" normalizeH="0" baseline="0" noProof="0" dirty="0">
                <a:ln>
                  <a:noFill/>
                </a:ln>
                <a:effectLst/>
                <a:uLnTx/>
                <a:uFillTx/>
                <a:latin typeface="EYInterstate Light" panose="02000506000000020004" pitchFamily="2" charset="0"/>
                <a:cs typeface="Arial"/>
              </a:rPr>
              <a:t>, [COMPANY] is committed to delivering patient-centered, financially sustainable solutions that raise the bar for healthcare excellence worldwide</a:t>
            </a:r>
            <a:r>
              <a:rPr lang="en-US" sz="1200" dirty="0">
                <a:latin typeface="EYInterstate Light" panose="02000506000000020004" pitchFamily="2" charset="0"/>
                <a:cs typeface="Arial"/>
              </a:rPr>
              <a:t>.</a:t>
            </a:r>
            <a:endParaRPr kumimoji="0" lang="en-US" sz="1200" b="0" i="0" strike="noStrike" kern="1200" cap="none" spc="0" normalizeH="0" baseline="0" noProof="0" dirty="0">
              <a:ln>
                <a:noFill/>
              </a:ln>
              <a:effectLst/>
              <a:uLnTx/>
              <a:uFillTx/>
              <a:latin typeface="EYInterstate Light" panose="02000506000000020004" pitchFamily="2" charset="0"/>
              <a:cs typeface="Arial"/>
            </a:endParaRPr>
          </a:p>
        </p:txBody>
      </p:sp>
      <p:sp>
        <p:nvSpPr>
          <p:cNvPr id="8" name="Rectangle 60">
            <a:extLst>
              <a:ext uri="{FF2B5EF4-FFF2-40B4-BE49-F238E27FC236}">
                <a16:creationId xmlns:a16="http://schemas.microsoft.com/office/drawing/2014/main" id="{6CE13E52-9E07-FD19-3053-34301062111E}"/>
              </a:ext>
            </a:extLst>
          </p:cNvPr>
          <p:cNvSpPr>
            <a:spLocks/>
          </p:cNvSpPr>
          <p:nvPr/>
        </p:nvSpPr>
        <p:spPr bwMode="auto">
          <a:xfrm rot="5400000" flipH="1">
            <a:off x="7347315" y="2158250"/>
            <a:ext cx="2940274" cy="5176973"/>
          </a:xfrm>
          <a:prstGeom prst="roundRect">
            <a:avLst>
              <a:gd name="adj" fmla="val 5588"/>
            </a:avLst>
          </a:prstGeom>
          <a:solidFill>
            <a:srgbClr val="FFFFFF"/>
          </a:solidFill>
          <a:ln w="22225" cap="flat" cmpd="sng" algn="ctr">
            <a:gradFill>
              <a:gsLst>
                <a:gs pos="44263">
                  <a:srgbClr val="0070C0"/>
                </a:gs>
                <a:gs pos="1000">
                  <a:schemeClr val="tx1"/>
                </a:gs>
                <a:gs pos="100000">
                  <a:srgbClr val="35A4E8"/>
                </a:gs>
              </a:gsLst>
              <a:lin ang="5400000" scaled="1"/>
            </a:gradFill>
            <a:prstDash val="solid"/>
            <a:round/>
            <a:headEnd type="none" w="med" len="med"/>
            <a:tailEnd type="none" w="med" len="med"/>
          </a:ln>
          <a:effectLst>
            <a:outerShdw blurRad="63500" sx="102000" sy="102000" algn="ctr" rotWithShape="0">
              <a:prstClr val="black">
                <a:alpha val="14000"/>
              </a:prstClr>
            </a:outerShdw>
          </a:effectLst>
        </p:spPr>
        <p:txBody>
          <a:bodyPr vert="horz" wrap="none" lIns="40500" tIns="40500" rIns="40500" bIns="40500" numCol="1" rtlCol="0" anchor="ctr" anchorCtr="0" compatLnSpc="1">
            <a:prstTxWarp prst="textNoShape">
              <a:avLst/>
            </a:prstTxWarp>
          </a:bodyPr>
          <a:lstStyle/>
          <a:p>
            <a:pPr marL="0" marR="0" lvl="0" indent="0" algn="ctr" defTabSz="746522" rtl="1" eaLnBrk="1" fontAlgn="auto" latinLnBrk="0" hangingPunct="1">
              <a:lnSpc>
                <a:spcPct val="100000"/>
              </a:lnSpc>
              <a:spcBef>
                <a:spcPts val="0"/>
              </a:spcBef>
              <a:spcAft>
                <a:spcPts val="0"/>
              </a:spcAft>
              <a:buClrTx/>
              <a:buSzTx/>
              <a:buFontTx/>
              <a:buNone/>
              <a:tabLst/>
              <a:defRPr/>
            </a:pPr>
            <a:endParaRPr kumimoji="0" lang="en-IN" sz="2000" b="1" i="0" u="none" strike="noStrike" kern="0" cap="none" spc="0" normalizeH="0" baseline="0" noProof="0">
              <a:ln>
                <a:noFill/>
              </a:ln>
              <a:solidFill>
                <a:srgbClr val="000000"/>
              </a:solidFill>
              <a:effectLst/>
              <a:uLnTx/>
              <a:uFillTx/>
              <a:latin typeface="EYInterstate Light" panose="02000506000000020004" pitchFamily="2" charset="0"/>
              <a:cs typeface="Sakkal Majalla" panose="02000000000000000000" pitchFamily="2" charset="-78"/>
            </a:endParaRPr>
          </a:p>
        </p:txBody>
      </p:sp>
    </p:spTree>
    <p:extLst>
      <p:ext uri="{BB962C8B-B14F-4D97-AF65-F5344CB8AC3E}">
        <p14:creationId xmlns:p14="http://schemas.microsoft.com/office/powerpoint/2010/main" val="578273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54D41-AC5B-059B-88A3-332CA8F0AD4B}"/>
            </a:ext>
          </a:extLst>
        </p:cNvPr>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76153209-6DA8-8F7C-61A1-62CFB7347CAE}"/>
              </a:ext>
            </a:extLst>
          </p:cNvPr>
          <p:cNvGraphicFramePr>
            <a:graphicFrameLocks noChangeAspect="1"/>
          </p:cNvGraphicFramePr>
          <p:nvPr>
            <p:custDataLst>
              <p:tags r:id="rId1"/>
            </p:custDataLst>
            <p:extLst>
              <p:ext uri="{D42A27DB-BD31-4B8C-83A1-F6EECF244321}">
                <p14:modId xmlns:p14="http://schemas.microsoft.com/office/powerpoint/2010/main" val="9554894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6" imgH="486" progId="TCLayout.ActiveDocument.1">
                  <p:embed/>
                </p:oleObj>
              </mc:Choice>
              <mc:Fallback>
                <p:oleObj name="think-cell Slide" r:id="rId3" imgW="486" imgH="486" progId="TCLayout.ActiveDocument.1">
                  <p:embed/>
                  <p:pic>
                    <p:nvPicPr>
                      <p:cNvPr id="19" name="think-cell data - do not delete" hidden="1">
                        <a:extLst>
                          <a:ext uri="{FF2B5EF4-FFF2-40B4-BE49-F238E27FC236}">
                            <a16:creationId xmlns:a16="http://schemas.microsoft.com/office/drawing/2014/main" id="{76153209-6DA8-8F7C-61A1-62CFB7347C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22A0FC1-B733-FAB5-9D23-3098BC817DD9}"/>
              </a:ext>
            </a:extLst>
          </p:cNvPr>
          <p:cNvSpPr>
            <a:spLocks noGrp="1"/>
          </p:cNvSpPr>
          <p:nvPr>
            <p:ph type="title"/>
          </p:nvPr>
        </p:nvSpPr>
        <p:spPr/>
        <p:txBody>
          <a:bodyPr vert="horz"/>
          <a:lstStyle/>
          <a:p>
            <a:r>
              <a:rPr lang="en-US" sz="2200" dirty="0"/>
              <a:t>Our understanding and Point of View</a:t>
            </a:r>
            <a:br>
              <a:rPr lang="en-US" sz="1600" dirty="0"/>
            </a:br>
            <a:r>
              <a:rPr lang="en-US" sz="1600" dirty="0"/>
              <a:t>Privatization Benefits for [CLIENT] </a:t>
            </a:r>
          </a:p>
        </p:txBody>
      </p:sp>
      <p:sp>
        <p:nvSpPr>
          <p:cNvPr id="4" name="Rectangle: Rounded Corners 3">
            <a:extLst>
              <a:ext uri="{FF2B5EF4-FFF2-40B4-BE49-F238E27FC236}">
                <a16:creationId xmlns:a16="http://schemas.microsoft.com/office/drawing/2014/main" id="{256BFD03-444A-0E7F-99EE-205B8DBE7738}"/>
              </a:ext>
            </a:extLst>
          </p:cNvPr>
          <p:cNvSpPr>
            <a:spLocks/>
          </p:cNvSpPr>
          <p:nvPr/>
        </p:nvSpPr>
        <p:spPr bwMode="auto">
          <a:xfrm>
            <a:off x="691236" y="1305024"/>
            <a:ext cx="10819865" cy="435477"/>
          </a:xfrm>
          <a:prstGeom prst="roundRect">
            <a:avLst>
              <a:gd name="adj" fmla="val 21766"/>
            </a:avLst>
          </a:prstGeom>
          <a:solidFill>
            <a:srgbClr val="D2D2DA"/>
          </a:solidFill>
          <a:ln w="9525" cap="flat" cmpd="sng" algn="ctr">
            <a:noFill/>
            <a:prstDash val="solid"/>
            <a:round/>
            <a:headEnd type="none" w="med" len="med"/>
            <a:tailEnd type="none" w="med" len="med"/>
          </a:ln>
          <a:effectLst/>
        </p:spPr>
        <p:txBody>
          <a:bodyPr vert="horz" wrap="square" lIns="65368" tIns="0" rIns="65368" bIns="0" numCol="1" rtlCol="0" anchor="ctr" anchorCtr="0" compatLnSpc="1">
            <a:prstTxWarp prst="textNoShape">
              <a:avLst/>
            </a:prstTxWarp>
          </a:bodyPr>
          <a:lstStyle/>
          <a:p>
            <a:pPr defTabSz="830208">
              <a:buFont typeface="EYInterstate Light" panose="02000506000000020004" pitchFamily="2" charset="0"/>
            </a:pPr>
            <a:r>
              <a:rPr lang="en-IN" sz="1200" dirty="0">
                <a:latin typeface="EYInterstate Light" panose="02000506000000020004" pitchFamily="2" charset="0"/>
              </a:rPr>
              <a:t>In the context of the Healthcare projects, PPP structures can provide [CLIENT] with a number of benefits: </a:t>
            </a:r>
            <a:endParaRPr lang="en-US" sz="1200" dirty="0">
              <a:latin typeface="EYInterstate Light" panose="02000506000000020004" pitchFamily="2" charset="0"/>
            </a:endParaRPr>
          </a:p>
        </p:txBody>
      </p:sp>
      <p:sp>
        <p:nvSpPr>
          <p:cNvPr id="3" name="Rectangle 60">
            <a:extLst>
              <a:ext uri="{FF2B5EF4-FFF2-40B4-BE49-F238E27FC236}">
                <a16:creationId xmlns:a16="http://schemas.microsoft.com/office/drawing/2014/main" id="{0F7D4AD6-B619-B529-3675-51DF2B6DF975}"/>
              </a:ext>
            </a:extLst>
          </p:cNvPr>
          <p:cNvSpPr>
            <a:spLocks/>
          </p:cNvSpPr>
          <p:nvPr/>
        </p:nvSpPr>
        <p:spPr bwMode="auto">
          <a:xfrm flipH="1">
            <a:off x="701365" y="1941017"/>
            <a:ext cx="3511323" cy="2106049"/>
          </a:xfrm>
          <a:prstGeom prst="roundRect">
            <a:avLst>
              <a:gd name="adj" fmla="val 10793"/>
            </a:avLst>
          </a:prstGeom>
          <a:solidFill>
            <a:srgbClr val="FFFFFF"/>
          </a:solidFill>
          <a:ln w="9525" cap="flat" cmpd="sng" algn="ctr">
            <a:gradFill flip="none" rotWithShape="1">
              <a:gsLst>
                <a:gs pos="44263">
                  <a:srgbClr val="0070C0"/>
                </a:gs>
                <a:gs pos="1000">
                  <a:schemeClr val="tx1"/>
                </a:gs>
                <a:gs pos="100000">
                  <a:srgbClr val="35A4E8"/>
                </a:gs>
              </a:gsLst>
              <a:lin ang="5400000" scaled="1"/>
              <a:tileRect/>
            </a:gradFill>
            <a:prstDash val="solid"/>
            <a:round/>
            <a:headEnd type="none" w="med" len="med"/>
            <a:tailEnd type="none" w="med" len="med"/>
          </a:ln>
          <a:effectLst>
            <a:outerShdw blurRad="63500" sx="102000" sy="102000" algn="ctr" rotWithShape="0">
              <a:prstClr val="black">
                <a:alpha val="14000"/>
              </a:prstClr>
            </a:outerShdw>
          </a:effectLst>
        </p:spPr>
        <p:txBody>
          <a:bodyPr vert="horz" wrap="none" lIns="40500" tIns="40500" rIns="40500" bIns="40500" numCol="1" rtlCol="0" anchor="ctr" anchorCtr="0" compatLnSpc="1">
            <a:prstTxWarp prst="textNoShape">
              <a:avLst/>
            </a:prstTxWarp>
          </a:bodyPr>
          <a:lstStyle/>
          <a:p>
            <a:pPr algn="ctr" defTabSz="746522" rtl="1"/>
            <a:endParaRPr lang="en-IN" sz="2000" b="1" kern="0">
              <a:solidFill>
                <a:srgbClr val="000000"/>
              </a:solidFill>
              <a:latin typeface="Sakkal Majalla" panose="02000000000000000000" pitchFamily="2" charset="-78"/>
              <a:cs typeface="Sakkal Majalla" panose="02000000000000000000" pitchFamily="2" charset="-78"/>
            </a:endParaRPr>
          </a:p>
        </p:txBody>
      </p:sp>
      <p:sp>
        <p:nvSpPr>
          <p:cNvPr id="18" name="Rectangle 60">
            <a:extLst>
              <a:ext uri="{FF2B5EF4-FFF2-40B4-BE49-F238E27FC236}">
                <a16:creationId xmlns:a16="http://schemas.microsoft.com/office/drawing/2014/main" id="{DBAB9045-8E7B-9893-892E-98450702ADB9}"/>
              </a:ext>
            </a:extLst>
          </p:cNvPr>
          <p:cNvSpPr>
            <a:spLocks/>
          </p:cNvSpPr>
          <p:nvPr/>
        </p:nvSpPr>
        <p:spPr bwMode="auto">
          <a:xfrm flipH="1">
            <a:off x="701365" y="4167751"/>
            <a:ext cx="3511323" cy="2106049"/>
          </a:xfrm>
          <a:prstGeom prst="roundRect">
            <a:avLst>
              <a:gd name="adj" fmla="val 10793"/>
            </a:avLst>
          </a:prstGeom>
          <a:solidFill>
            <a:srgbClr val="FFFFFF"/>
          </a:solidFill>
          <a:ln w="9525" cap="flat" cmpd="sng" algn="ctr">
            <a:gradFill flip="none" rotWithShape="1">
              <a:gsLst>
                <a:gs pos="44263">
                  <a:srgbClr val="0070C0"/>
                </a:gs>
                <a:gs pos="1000">
                  <a:schemeClr val="tx1"/>
                </a:gs>
                <a:gs pos="100000">
                  <a:srgbClr val="35A4E8"/>
                </a:gs>
              </a:gsLst>
              <a:lin ang="5400000" scaled="1"/>
              <a:tileRect/>
            </a:gradFill>
            <a:prstDash val="solid"/>
            <a:round/>
            <a:headEnd type="none" w="med" len="med"/>
            <a:tailEnd type="none" w="med" len="med"/>
          </a:ln>
          <a:effectLst>
            <a:outerShdw blurRad="63500" sx="102000" sy="102000" algn="ctr" rotWithShape="0">
              <a:prstClr val="black">
                <a:alpha val="14000"/>
              </a:prstClr>
            </a:outerShdw>
          </a:effectLst>
        </p:spPr>
        <p:txBody>
          <a:bodyPr vert="horz" wrap="none" lIns="40500" tIns="40500" rIns="40500" bIns="40500" numCol="1" rtlCol="0" anchor="ctr" anchorCtr="0" compatLnSpc="1">
            <a:prstTxWarp prst="textNoShape">
              <a:avLst/>
            </a:prstTxWarp>
          </a:bodyPr>
          <a:lstStyle/>
          <a:p>
            <a:pPr algn="ctr" defTabSz="746522" rtl="1"/>
            <a:endParaRPr lang="en-IN" sz="2000" b="1" kern="0">
              <a:solidFill>
                <a:srgbClr val="000000"/>
              </a:solidFill>
              <a:latin typeface="Sakkal Majalla" panose="02000000000000000000" pitchFamily="2" charset="-78"/>
              <a:cs typeface="Sakkal Majalla" panose="02000000000000000000" pitchFamily="2" charset="-78"/>
            </a:endParaRPr>
          </a:p>
        </p:txBody>
      </p:sp>
      <p:sp>
        <p:nvSpPr>
          <p:cNvPr id="20" name="Rectangle 60">
            <a:extLst>
              <a:ext uri="{FF2B5EF4-FFF2-40B4-BE49-F238E27FC236}">
                <a16:creationId xmlns:a16="http://schemas.microsoft.com/office/drawing/2014/main" id="{42A9D47F-17CC-425A-6331-CA1C486BC4D0}"/>
              </a:ext>
            </a:extLst>
          </p:cNvPr>
          <p:cNvSpPr>
            <a:spLocks/>
          </p:cNvSpPr>
          <p:nvPr/>
        </p:nvSpPr>
        <p:spPr bwMode="auto">
          <a:xfrm flipH="1">
            <a:off x="4340338" y="1941017"/>
            <a:ext cx="3511323" cy="2106049"/>
          </a:xfrm>
          <a:prstGeom prst="roundRect">
            <a:avLst>
              <a:gd name="adj" fmla="val 10793"/>
            </a:avLst>
          </a:prstGeom>
          <a:solidFill>
            <a:srgbClr val="FFFFFF"/>
          </a:solidFill>
          <a:ln w="9525" cap="flat" cmpd="sng" algn="ctr">
            <a:gradFill flip="none" rotWithShape="1">
              <a:gsLst>
                <a:gs pos="44263">
                  <a:srgbClr val="0070C0"/>
                </a:gs>
                <a:gs pos="1000">
                  <a:schemeClr val="tx1"/>
                </a:gs>
                <a:gs pos="100000">
                  <a:srgbClr val="35A4E8"/>
                </a:gs>
              </a:gsLst>
              <a:lin ang="5400000" scaled="1"/>
              <a:tileRect/>
            </a:gradFill>
            <a:prstDash val="solid"/>
            <a:round/>
            <a:headEnd type="none" w="med" len="med"/>
            <a:tailEnd type="none" w="med" len="med"/>
          </a:ln>
          <a:effectLst>
            <a:outerShdw blurRad="63500" sx="102000" sy="102000" algn="ctr" rotWithShape="0">
              <a:prstClr val="black">
                <a:alpha val="14000"/>
              </a:prstClr>
            </a:outerShdw>
          </a:effectLst>
        </p:spPr>
        <p:txBody>
          <a:bodyPr vert="horz" wrap="none" lIns="40500" tIns="40500" rIns="40500" bIns="40500" numCol="1" rtlCol="0" anchor="ctr" anchorCtr="0" compatLnSpc="1">
            <a:prstTxWarp prst="textNoShape">
              <a:avLst/>
            </a:prstTxWarp>
          </a:bodyPr>
          <a:lstStyle/>
          <a:p>
            <a:pPr algn="ctr" defTabSz="746522" rtl="1"/>
            <a:endParaRPr lang="en-IN" sz="2000" b="1" kern="0">
              <a:solidFill>
                <a:srgbClr val="000000"/>
              </a:solidFill>
              <a:latin typeface="Sakkal Majalla" panose="02000000000000000000" pitchFamily="2" charset="-78"/>
              <a:cs typeface="Sakkal Majalla" panose="02000000000000000000" pitchFamily="2" charset="-78"/>
            </a:endParaRPr>
          </a:p>
        </p:txBody>
      </p:sp>
      <p:sp>
        <p:nvSpPr>
          <p:cNvPr id="21" name="Rectangle 60">
            <a:extLst>
              <a:ext uri="{FF2B5EF4-FFF2-40B4-BE49-F238E27FC236}">
                <a16:creationId xmlns:a16="http://schemas.microsoft.com/office/drawing/2014/main" id="{FEB5A9C0-6C2E-6AFF-3A94-2D4A797FA8A9}"/>
              </a:ext>
            </a:extLst>
          </p:cNvPr>
          <p:cNvSpPr>
            <a:spLocks/>
          </p:cNvSpPr>
          <p:nvPr/>
        </p:nvSpPr>
        <p:spPr bwMode="auto">
          <a:xfrm flipH="1">
            <a:off x="4340338" y="4167751"/>
            <a:ext cx="3511323" cy="2106049"/>
          </a:xfrm>
          <a:prstGeom prst="roundRect">
            <a:avLst>
              <a:gd name="adj" fmla="val 10793"/>
            </a:avLst>
          </a:prstGeom>
          <a:solidFill>
            <a:srgbClr val="FFFFFF"/>
          </a:solidFill>
          <a:ln w="9525" cap="flat" cmpd="sng" algn="ctr">
            <a:gradFill flip="none" rotWithShape="1">
              <a:gsLst>
                <a:gs pos="44263">
                  <a:srgbClr val="0070C0"/>
                </a:gs>
                <a:gs pos="1000">
                  <a:schemeClr val="tx1"/>
                </a:gs>
                <a:gs pos="100000">
                  <a:srgbClr val="35A4E8"/>
                </a:gs>
              </a:gsLst>
              <a:lin ang="5400000" scaled="1"/>
              <a:tileRect/>
            </a:gradFill>
            <a:prstDash val="solid"/>
            <a:round/>
            <a:headEnd type="none" w="med" len="med"/>
            <a:tailEnd type="none" w="med" len="med"/>
          </a:ln>
          <a:effectLst>
            <a:outerShdw blurRad="63500" sx="102000" sy="102000" algn="ctr" rotWithShape="0">
              <a:prstClr val="black">
                <a:alpha val="14000"/>
              </a:prstClr>
            </a:outerShdw>
          </a:effectLst>
        </p:spPr>
        <p:txBody>
          <a:bodyPr vert="horz" wrap="none" lIns="40500" tIns="40500" rIns="40500" bIns="40500" numCol="1" rtlCol="0" anchor="ctr" anchorCtr="0" compatLnSpc="1">
            <a:prstTxWarp prst="textNoShape">
              <a:avLst/>
            </a:prstTxWarp>
          </a:bodyPr>
          <a:lstStyle/>
          <a:p>
            <a:pPr algn="ctr" defTabSz="746522" rtl="1"/>
            <a:endParaRPr lang="en-IN" sz="2000" b="1" kern="0">
              <a:solidFill>
                <a:srgbClr val="000000"/>
              </a:solidFill>
              <a:latin typeface="Sakkal Majalla" panose="02000000000000000000" pitchFamily="2" charset="-78"/>
              <a:cs typeface="Sakkal Majalla" panose="02000000000000000000" pitchFamily="2" charset="-78"/>
            </a:endParaRPr>
          </a:p>
        </p:txBody>
      </p:sp>
      <p:sp>
        <p:nvSpPr>
          <p:cNvPr id="23" name="Rectangle 60">
            <a:extLst>
              <a:ext uri="{FF2B5EF4-FFF2-40B4-BE49-F238E27FC236}">
                <a16:creationId xmlns:a16="http://schemas.microsoft.com/office/drawing/2014/main" id="{705EB0E3-7206-B285-6270-660E43BD5B3F}"/>
              </a:ext>
            </a:extLst>
          </p:cNvPr>
          <p:cNvSpPr>
            <a:spLocks/>
          </p:cNvSpPr>
          <p:nvPr/>
        </p:nvSpPr>
        <p:spPr bwMode="auto">
          <a:xfrm flipH="1">
            <a:off x="7979310" y="1941017"/>
            <a:ext cx="3511323" cy="2106049"/>
          </a:xfrm>
          <a:prstGeom prst="roundRect">
            <a:avLst>
              <a:gd name="adj" fmla="val 10793"/>
            </a:avLst>
          </a:prstGeom>
          <a:solidFill>
            <a:srgbClr val="FFFFFF"/>
          </a:solidFill>
          <a:ln w="9525" cap="flat" cmpd="sng" algn="ctr">
            <a:gradFill flip="none" rotWithShape="1">
              <a:gsLst>
                <a:gs pos="44263">
                  <a:srgbClr val="0070C0"/>
                </a:gs>
                <a:gs pos="1000">
                  <a:schemeClr val="tx1"/>
                </a:gs>
                <a:gs pos="100000">
                  <a:srgbClr val="35A4E8"/>
                </a:gs>
              </a:gsLst>
              <a:lin ang="5400000" scaled="1"/>
              <a:tileRect/>
            </a:gradFill>
            <a:prstDash val="solid"/>
            <a:round/>
            <a:headEnd type="none" w="med" len="med"/>
            <a:tailEnd type="none" w="med" len="med"/>
          </a:ln>
          <a:effectLst>
            <a:outerShdw blurRad="63500" sx="102000" sy="102000" algn="ctr" rotWithShape="0">
              <a:prstClr val="black">
                <a:alpha val="14000"/>
              </a:prstClr>
            </a:outerShdw>
          </a:effectLst>
        </p:spPr>
        <p:txBody>
          <a:bodyPr vert="horz" wrap="none" lIns="40500" tIns="40500" rIns="40500" bIns="40500" numCol="1" rtlCol="0" anchor="ctr" anchorCtr="0" compatLnSpc="1">
            <a:prstTxWarp prst="textNoShape">
              <a:avLst/>
            </a:prstTxWarp>
          </a:bodyPr>
          <a:lstStyle/>
          <a:p>
            <a:pPr algn="ctr" defTabSz="746522" rtl="1"/>
            <a:endParaRPr lang="en-IN" sz="2000" b="1" kern="0">
              <a:solidFill>
                <a:srgbClr val="000000"/>
              </a:solidFill>
              <a:latin typeface="Sakkal Majalla" panose="02000000000000000000" pitchFamily="2" charset="-78"/>
              <a:cs typeface="Sakkal Majalla" panose="02000000000000000000" pitchFamily="2" charset="-78"/>
            </a:endParaRPr>
          </a:p>
        </p:txBody>
      </p:sp>
      <p:sp>
        <p:nvSpPr>
          <p:cNvPr id="24" name="Rectangle 60">
            <a:extLst>
              <a:ext uri="{FF2B5EF4-FFF2-40B4-BE49-F238E27FC236}">
                <a16:creationId xmlns:a16="http://schemas.microsoft.com/office/drawing/2014/main" id="{D69EBB76-BABD-A1D2-52A3-3E9E2D0299FF}"/>
              </a:ext>
            </a:extLst>
          </p:cNvPr>
          <p:cNvSpPr>
            <a:spLocks/>
          </p:cNvSpPr>
          <p:nvPr/>
        </p:nvSpPr>
        <p:spPr bwMode="auto">
          <a:xfrm flipH="1">
            <a:off x="7979310" y="4167751"/>
            <a:ext cx="3511323" cy="2106049"/>
          </a:xfrm>
          <a:prstGeom prst="roundRect">
            <a:avLst>
              <a:gd name="adj" fmla="val 10793"/>
            </a:avLst>
          </a:prstGeom>
          <a:solidFill>
            <a:srgbClr val="FFFFFF"/>
          </a:solidFill>
          <a:ln w="9525" cap="flat" cmpd="sng" algn="ctr">
            <a:gradFill flip="none" rotWithShape="1">
              <a:gsLst>
                <a:gs pos="44263">
                  <a:srgbClr val="0070C0"/>
                </a:gs>
                <a:gs pos="1000">
                  <a:schemeClr val="tx1"/>
                </a:gs>
                <a:gs pos="100000">
                  <a:srgbClr val="35A4E8"/>
                </a:gs>
              </a:gsLst>
              <a:lin ang="5400000" scaled="1"/>
              <a:tileRect/>
            </a:gradFill>
            <a:prstDash val="solid"/>
            <a:round/>
            <a:headEnd type="none" w="med" len="med"/>
            <a:tailEnd type="none" w="med" len="med"/>
          </a:ln>
          <a:effectLst>
            <a:outerShdw blurRad="63500" sx="102000" sy="102000" algn="ctr" rotWithShape="0">
              <a:prstClr val="black">
                <a:alpha val="14000"/>
              </a:prstClr>
            </a:outerShdw>
          </a:effectLst>
        </p:spPr>
        <p:txBody>
          <a:bodyPr vert="horz" wrap="none" lIns="40500" tIns="40500" rIns="40500" bIns="40500" numCol="1" rtlCol="0" anchor="ctr" anchorCtr="0" compatLnSpc="1">
            <a:prstTxWarp prst="textNoShape">
              <a:avLst/>
            </a:prstTxWarp>
          </a:bodyPr>
          <a:lstStyle/>
          <a:p>
            <a:pPr algn="ctr" defTabSz="746522" rtl="1"/>
            <a:endParaRPr lang="en-IN" sz="2000" b="1" kern="0">
              <a:solidFill>
                <a:srgbClr val="000000"/>
              </a:solidFill>
              <a:latin typeface="Sakkal Majalla" panose="02000000000000000000" pitchFamily="2" charset="-78"/>
              <a:cs typeface="Sakkal Majalla" panose="02000000000000000000" pitchFamily="2" charset="-78"/>
            </a:endParaRPr>
          </a:p>
        </p:txBody>
      </p:sp>
      <p:sp>
        <p:nvSpPr>
          <p:cNvPr id="26" name="Rectangle 25">
            <a:extLst>
              <a:ext uri="{FF2B5EF4-FFF2-40B4-BE49-F238E27FC236}">
                <a16:creationId xmlns:a16="http://schemas.microsoft.com/office/drawing/2014/main" id="{DA91DD44-504F-5811-AF26-AB6D56DB192F}"/>
              </a:ext>
            </a:extLst>
          </p:cNvPr>
          <p:cNvSpPr>
            <a:spLocks/>
          </p:cNvSpPr>
          <p:nvPr/>
        </p:nvSpPr>
        <p:spPr>
          <a:xfrm>
            <a:off x="701365" y="2464206"/>
            <a:ext cx="3511323" cy="1563609"/>
          </a:xfrm>
          <a:prstGeom prst="rect">
            <a:avLst/>
          </a:prstGeom>
          <a:noFill/>
          <a:ln w="6350" cap="flat" cmpd="sng" algn="ctr">
            <a:noFill/>
            <a:prstDash val="solid"/>
            <a:miter lim="800000"/>
          </a:ln>
          <a:effectLst/>
        </p:spPr>
        <p:txBody>
          <a:bodyPr tIns="182880" rtlCol="0" anchor="t"/>
          <a:lstStyle/>
          <a:p>
            <a:pPr marL="0" marR="0" lvl="0" indent="0" algn="l" defTabSz="913943" rtl="0" eaLnBrk="1" fontAlgn="auto" latinLnBrk="0" hangingPunct="1">
              <a:lnSpc>
                <a:spcPct val="100000"/>
              </a:lnSpc>
              <a:spcBef>
                <a:spcPts val="0"/>
              </a:spcBef>
              <a:spcAft>
                <a:spcPts val="450"/>
              </a:spcAft>
              <a:buClr>
                <a:srgbClr val="6F5631"/>
              </a:buClr>
              <a:buSzPct val="100000"/>
              <a:buFontTx/>
              <a:buNone/>
              <a:tabLst/>
              <a:defRPr/>
            </a:pPr>
            <a:endParaRPr kumimoji="0" lang="en-US" sz="1200" b="0" i="0" u="none" strike="noStrike" kern="0" cap="none" spc="0" normalizeH="0" baseline="0" noProof="0">
              <a:ln>
                <a:noFill/>
              </a:ln>
              <a:effectLst/>
              <a:uLnTx/>
              <a:uFillTx/>
              <a:latin typeface="EYInterstate Light" panose="02000506000000020004" charset="0"/>
              <a:ea typeface="+mn-ea"/>
              <a:cs typeface="Arial" panose="020B0604020202020204" pitchFamily="34" charset="0"/>
            </a:endParaRPr>
          </a:p>
        </p:txBody>
      </p:sp>
      <p:sp>
        <p:nvSpPr>
          <p:cNvPr id="27" name="Rectangle 26">
            <a:extLst>
              <a:ext uri="{FF2B5EF4-FFF2-40B4-BE49-F238E27FC236}">
                <a16:creationId xmlns:a16="http://schemas.microsoft.com/office/drawing/2014/main" id="{8D969EDE-AA4D-7204-EF97-5A1C921F3906}"/>
              </a:ext>
            </a:extLst>
          </p:cNvPr>
          <p:cNvSpPr>
            <a:spLocks/>
          </p:cNvSpPr>
          <p:nvPr/>
        </p:nvSpPr>
        <p:spPr>
          <a:xfrm>
            <a:off x="4340338" y="2464206"/>
            <a:ext cx="3511323" cy="1563609"/>
          </a:xfrm>
          <a:prstGeom prst="rect">
            <a:avLst/>
          </a:prstGeom>
          <a:noFill/>
          <a:ln w="6350" cap="flat" cmpd="sng" algn="ctr">
            <a:noFill/>
            <a:prstDash val="solid"/>
            <a:miter lim="800000"/>
          </a:ln>
          <a:effectLst/>
        </p:spPr>
        <p:txBody>
          <a:bodyPr tIns="182880" rtlCol="0" anchor="t"/>
          <a:lstStyle/>
          <a:p>
            <a:pPr marL="0" marR="0" lvl="0" indent="0" algn="l" defTabSz="913943" rtl="0" eaLnBrk="1" fontAlgn="auto" latinLnBrk="0" hangingPunct="1">
              <a:lnSpc>
                <a:spcPct val="100000"/>
              </a:lnSpc>
              <a:spcBef>
                <a:spcPts val="0"/>
              </a:spcBef>
              <a:spcAft>
                <a:spcPts val="450"/>
              </a:spcAft>
              <a:buClr>
                <a:srgbClr val="6F5631"/>
              </a:buClr>
              <a:buSzPct val="100000"/>
              <a:buFontTx/>
              <a:buNone/>
              <a:tabLst/>
              <a:defRPr/>
            </a:pPr>
            <a:r>
              <a:rPr kumimoji="0" lang="en-US" sz="1200" b="1" i="0" u="none" strike="noStrike" kern="0" cap="none" spc="0" normalizeH="0" baseline="0" noProof="0">
                <a:ln>
                  <a:noFill/>
                </a:ln>
                <a:effectLst/>
                <a:uLnTx/>
                <a:uFillTx/>
                <a:latin typeface="EYInterstate Light" panose="02000506000000020004" charset="0"/>
                <a:ea typeface="+mn-ea"/>
                <a:cs typeface="Arial" panose="020B0604020202020204" pitchFamily="34" charset="0"/>
              </a:rPr>
              <a:t>Budget planning</a:t>
            </a:r>
          </a:p>
          <a:p>
            <a:pPr marL="0" marR="0" lvl="0" indent="0" algn="l" defTabSz="913943" rtl="0" eaLnBrk="1" fontAlgn="auto" latinLnBrk="0" hangingPunct="1">
              <a:lnSpc>
                <a:spcPct val="100000"/>
              </a:lnSpc>
              <a:spcBef>
                <a:spcPts val="0"/>
              </a:spcBef>
              <a:spcAft>
                <a:spcPts val="450"/>
              </a:spcAft>
              <a:buClr>
                <a:srgbClr val="6F5631"/>
              </a:buClr>
              <a:buSzPct val="100000"/>
              <a:buFontTx/>
              <a:buNone/>
              <a:tabLst/>
              <a:defRPr/>
            </a:pPr>
            <a:r>
              <a:rPr lang="en-US" sz="1200" kern="0">
                <a:latin typeface="EYInterstate Light" panose="02000506000000020004" charset="0"/>
                <a:cs typeface="Arial" panose="020B0604020202020204" pitchFamily="34" charset="0"/>
              </a:rPr>
              <a:t>PPP’s provide a high degree of certainty of project costs through out the life of the project and there is potential to spread large </a:t>
            </a:r>
            <a:r>
              <a:rPr kumimoji="0" lang="en-US" sz="1200" b="0" i="0" u="none" strike="noStrike" kern="0" cap="none" spc="0" normalizeH="0" baseline="0" noProof="0">
                <a:ln>
                  <a:noFill/>
                </a:ln>
                <a:effectLst/>
                <a:uLnTx/>
                <a:uFillTx/>
                <a:latin typeface="EYInterstate Light" panose="02000506000000020004" charset="0"/>
                <a:ea typeface="+mn-ea"/>
                <a:cs typeface="Arial" panose="020B0604020202020204" pitchFamily="34" charset="0"/>
              </a:rPr>
              <a:t>upfront capital expenditure over several years and during operations cycle of these assets.</a:t>
            </a:r>
          </a:p>
          <a:p>
            <a:pPr marL="0" marR="0" lvl="0" indent="0" algn="l" defTabSz="914400" rtl="0" eaLnBrk="1" fontAlgn="auto" latinLnBrk="0" hangingPunct="1">
              <a:lnSpc>
                <a:spcPct val="115000"/>
              </a:lnSpc>
              <a:spcBef>
                <a:spcPts val="0"/>
              </a:spcBef>
              <a:spcAft>
                <a:spcPts val="600"/>
              </a:spcAft>
              <a:buClrTx/>
              <a:buSzPts val="1000"/>
              <a:buFontTx/>
              <a:buNone/>
              <a:tabLst>
                <a:tab pos="540385" algn="l"/>
              </a:tabLst>
              <a:defRPr/>
            </a:pPr>
            <a:endParaRPr kumimoji="0" lang="en-AE" sz="1200" b="0" i="0" u="none" strike="noStrike" kern="100" cap="none" spc="0" normalizeH="0" baseline="0" noProof="0">
              <a:ln>
                <a:noFill/>
              </a:ln>
              <a:effectLst/>
              <a:uLnTx/>
              <a:uFillTx/>
              <a:latin typeface="EYInterstate Light" panose="02000506000000020004" charset="0"/>
              <a:ea typeface="Aptos" panose="020B0004020202020204" pitchFamily="34" charset="0"/>
              <a:cs typeface="Arial" panose="020B0604020202020204" pitchFamily="34" charset="0"/>
            </a:endParaRPr>
          </a:p>
        </p:txBody>
      </p:sp>
      <p:sp>
        <p:nvSpPr>
          <p:cNvPr id="28" name="Rectangle 27">
            <a:extLst>
              <a:ext uri="{FF2B5EF4-FFF2-40B4-BE49-F238E27FC236}">
                <a16:creationId xmlns:a16="http://schemas.microsoft.com/office/drawing/2014/main" id="{033790A6-56FB-5BBE-71CC-9A384DE89090}"/>
              </a:ext>
            </a:extLst>
          </p:cNvPr>
          <p:cNvSpPr>
            <a:spLocks/>
          </p:cNvSpPr>
          <p:nvPr/>
        </p:nvSpPr>
        <p:spPr>
          <a:xfrm>
            <a:off x="8127428" y="4703128"/>
            <a:ext cx="3511323" cy="1563609"/>
          </a:xfrm>
          <a:prstGeom prst="rect">
            <a:avLst/>
          </a:prstGeom>
          <a:noFill/>
          <a:ln w="6350" cap="flat" cmpd="sng" algn="ctr">
            <a:noFill/>
            <a:prstDash val="solid"/>
            <a:miter lim="800000"/>
          </a:ln>
          <a:effectLst/>
        </p:spPr>
        <p:txBody>
          <a:bodyPr tIns="182880" rtlCol="0" anchor="t"/>
          <a:lstStyle/>
          <a:p>
            <a:pPr marL="0" marR="0" lvl="0" indent="0" algn="l" defTabSz="914400" rtl="0" eaLnBrk="1" fontAlgn="auto" latinLnBrk="0" hangingPunct="1">
              <a:lnSpc>
                <a:spcPct val="115000"/>
              </a:lnSpc>
              <a:spcBef>
                <a:spcPts val="0"/>
              </a:spcBef>
              <a:spcAft>
                <a:spcPts val="600"/>
              </a:spcAft>
              <a:buClrTx/>
              <a:buSzPts val="1000"/>
              <a:buFontTx/>
              <a:buNone/>
              <a:tabLst>
                <a:tab pos="540385" algn="l"/>
              </a:tabLst>
              <a:defRPr/>
            </a:pPr>
            <a:r>
              <a:rPr lang="en-US" sz="1200" b="1" kern="100">
                <a:latin typeface="EYInterstate Light" panose="02000506000000020004" charset="0"/>
                <a:ea typeface="Aptos" panose="020B0004020202020204" pitchFamily="34" charset="0"/>
                <a:cs typeface="Arial" panose="020B0604020202020204" pitchFamily="34" charset="0"/>
              </a:rPr>
              <a:t>Improved Utilization </a:t>
            </a:r>
            <a:endParaRPr kumimoji="0" lang="en-US" sz="1200" b="1" i="0" u="none" strike="noStrike" kern="100" cap="none" spc="0" normalizeH="0" baseline="0" noProof="0">
              <a:ln>
                <a:noFill/>
              </a:ln>
              <a:effectLst/>
              <a:uLnTx/>
              <a:uFillTx/>
              <a:latin typeface="EYInterstate Light" panose="02000506000000020004" charset="0"/>
              <a:ea typeface="Aptos" panose="020B0004020202020204" pitchFamily="34"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600"/>
              </a:spcAft>
              <a:buClrTx/>
              <a:buSzPts val="1000"/>
              <a:buFontTx/>
              <a:buNone/>
              <a:tabLst>
                <a:tab pos="540385" algn="l"/>
              </a:tabLst>
              <a:defRPr/>
            </a:pPr>
            <a:r>
              <a:rPr lang="en-US" sz="1200" kern="100">
                <a:latin typeface="EYInterstate Light" panose="02000506000000020004" charset="0"/>
                <a:ea typeface="Aptos" panose="020B0004020202020204" pitchFamily="34" charset="0"/>
                <a:cs typeface="Arial" panose="020B0604020202020204" pitchFamily="34" charset="0"/>
              </a:rPr>
              <a:t>A service or asset being led by the private sector may mean it will be more highly utilized, e.g. due to branding or the private sectors efforts to promote or market their offerings </a:t>
            </a:r>
            <a:endParaRPr kumimoji="0" lang="en-AE" sz="1200" b="0" i="0" u="none" strike="noStrike" kern="100" cap="none" spc="0" normalizeH="0" baseline="0" noProof="0">
              <a:ln>
                <a:noFill/>
              </a:ln>
              <a:effectLst/>
              <a:uLnTx/>
              <a:uFillTx/>
              <a:latin typeface="EYInterstate Light" panose="02000506000000020004" charset="0"/>
              <a:ea typeface="Aptos" panose="020B00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74A9C6F8-CF81-B4C9-657F-EFF43B61DB0C}"/>
              </a:ext>
            </a:extLst>
          </p:cNvPr>
          <p:cNvSpPr>
            <a:spLocks/>
          </p:cNvSpPr>
          <p:nvPr/>
        </p:nvSpPr>
        <p:spPr>
          <a:xfrm>
            <a:off x="701365" y="4730617"/>
            <a:ext cx="3511323" cy="1563609"/>
          </a:xfrm>
          <a:prstGeom prst="rect">
            <a:avLst/>
          </a:prstGeom>
          <a:noFill/>
          <a:ln w="6350" cap="flat" cmpd="sng" algn="ctr">
            <a:noFill/>
            <a:prstDash val="solid"/>
            <a:miter lim="800000"/>
          </a:ln>
          <a:effectLst/>
        </p:spPr>
        <p:txBody>
          <a:bodyPr tIns="182880" rtlCol="0" anchor="t"/>
          <a:lstStyle/>
          <a:p>
            <a:pPr marL="0" marR="0" lvl="0" indent="0" algn="l" defTabSz="914400" rtl="0" eaLnBrk="1" fontAlgn="auto" latinLnBrk="0" hangingPunct="1">
              <a:lnSpc>
                <a:spcPct val="115000"/>
              </a:lnSpc>
              <a:spcBef>
                <a:spcPts val="0"/>
              </a:spcBef>
              <a:spcAft>
                <a:spcPts val="600"/>
              </a:spcAft>
              <a:buClrTx/>
              <a:buSzPts val="1000"/>
              <a:buFontTx/>
              <a:buNone/>
              <a:tabLst>
                <a:tab pos="540385" algn="l"/>
              </a:tabLst>
              <a:defRPr/>
            </a:pPr>
            <a:r>
              <a:rPr kumimoji="0" lang="en-IN" sz="1200" b="1" i="0" u="none" strike="noStrike" kern="100" cap="none" spc="0" normalizeH="0" baseline="0" noProof="0">
                <a:ln>
                  <a:noFill/>
                </a:ln>
                <a:effectLst/>
                <a:uLnTx/>
                <a:uFillTx/>
                <a:latin typeface="EYInterstate Light" panose="02000506000000020004" charset="0"/>
                <a:ea typeface="Aptos" panose="020B0004020202020204" pitchFamily="34" charset="0"/>
                <a:cs typeface="Arial" panose="020B0604020202020204" pitchFamily="34" charset="0"/>
              </a:rPr>
              <a:t>Long term maintenance and management</a:t>
            </a:r>
          </a:p>
          <a:p>
            <a:pPr marL="0" marR="0" lvl="0" indent="0" algn="l" defTabSz="914400" rtl="0" eaLnBrk="1" fontAlgn="auto" latinLnBrk="0" hangingPunct="1">
              <a:lnSpc>
                <a:spcPct val="115000"/>
              </a:lnSpc>
              <a:spcBef>
                <a:spcPts val="0"/>
              </a:spcBef>
              <a:spcAft>
                <a:spcPts val="600"/>
              </a:spcAft>
              <a:buClrTx/>
              <a:buSzPts val="1000"/>
              <a:buFontTx/>
              <a:buNone/>
              <a:tabLst>
                <a:tab pos="540385" algn="l"/>
              </a:tabLst>
              <a:defRPr/>
            </a:pPr>
            <a:r>
              <a:rPr kumimoji="0" lang="en-IN" sz="1200" b="0" i="0" u="none" strike="noStrike" kern="100" cap="none" spc="0" normalizeH="0" baseline="0" noProof="0">
                <a:ln>
                  <a:noFill/>
                </a:ln>
                <a:effectLst/>
                <a:uLnTx/>
                <a:uFillTx/>
                <a:latin typeface="EYInterstate Light" panose="02000506000000020004" charset="0"/>
                <a:ea typeface="Aptos" panose="020B0004020202020204" pitchFamily="34" charset="0"/>
                <a:cs typeface="Arial" panose="020B0604020202020204" pitchFamily="34" charset="0"/>
              </a:rPr>
              <a:t>Arrangements typically include provisions for long-term maintenance including hand-back requirements, ensuring that infrastructure remains in good condition over time. </a:t>
            </a:r>
          </a:p>
        </p:txBody>
      </p:sp>
      <p:sp>
        <p:nvSpPr>
          <p:cNvPr id="30" name="Rectangle 29">
            <a:extLst>
              <a:ext uri="{FF2B5EF4-FFF2-40B4-BE49-F238E27FC236}">
                <a16:creationId xmlns:a16="http://schemas.microsoft.com/office/drawing/2014/main" id="{08B838EA-87A5-40BF-132E-B5AAEE103CB2}"/>
              </a:ext>
            </a:extLst>
          </p:cNvPr>
          <p:cNvSpPr>
            <a:spLocks/>
          </p:cNvSpPr>
          <p:nvPr/>
        </p:nvSpPr>
        <p:spPr>
          <a:xfrm>
            <a:off x="4340338" y="4730617"/>
            <a:ext cx="3511323" cy="1563609"/>
          </a:xfrm>
          <a:prstGeom prst="rect">
            <a:avLst/>
          </a:prstGeom>
          <a:noFill/>
          <a:ln w="6350" cap="flat" cmpd="sng" algn="ctr">
            <a:noFill/>
            <a:prstDash val="solid"/>
            <a:miter lim="800000"/>
          </a:ln>
          <a:effectLst/>
        </p:spPr>
        <p:txBody>
          <a:bodyPr tIns="182880" rtlCol="0" anchor="t"/>
          <a:lstStyle/>
          <a:p>
            <a:pPr marL="0" marR="0" lvl="0" indent="0" algn="l" defTabSz="914400" rtl="0" eaLnBrk="1" fontAlgn="auto" latinLnBrk="0" hangingPunct="1">
              <a:lnSpc>
                <a:spcPct val="115000"/>
              </a:lnSpc>
              <a:spcBef>
                <a:spcPts val="0"/>
              </a:spcBef>
              <a:spcAft>
                <a:spcPts val="600"/>
              </a:spcAft>
              <a:buClrTx/>
              <a:buSzPts val="1000"/>
              <a:buFontTx/>
              <a:buNone/>
              <a:tabLst>
                <a:tab pos="540385" algn="l"/>
              </a:tabLst>
              <a:defRPr/>
            </a:pPr>
            <a:r>
              <a:rPr lang="en-US" sz="1200" b="1" kern="100">
                <a:latin typeface="EYInterstate Light" panose="02000506000000020004" charset="0"/>
                <a:ea typeface="Aptos" panose="020B0004020202020204" pitchFamily="34" charset="0"/>
                <a:cs typeface="Arial" panose="020B0604020202020204" pitchFamily="34" charset="0"/>
              </a:rPr>
              <a:t>Risk Transfer </a:t>
            </a:r>
          </a:p>
          <a:p>
            <a:pPr marL="0" marR="0" lvl="0" indent="0" algn="l" defTabSz="914400" rtl="0" eaLnBrk="1" fontAlgn="auto" latinLnBrk="0" hangingPunct="1">
              <a:lnSpc>
                <a:spcPct val="115000"/>
              </a:lnSpc>
              <a:spcBef>
                <a:spcPts val="0"/>
              </a:spcBef>
              <a:spcAft>
                <a:spcPts val="600"/>
              </a:spcAft>
              <a:buClrTx/>
              <a:buSzPts val="1000"/>
              <a:buFontTx/>
              <a:buNone/>
              <a:tabLst>
                <a:tab pos="540385" algn="l"/>
              </a:tabLst>
              <a:defRPr/>
            </a:pPr>
            <a:r>
              <a:rPr kumimoji="0" lang="en-US" sz="1200" b="0" i="0" u="none" strike="noStrike" kern="100" cap="none" spc="0" normalizeH="0" baseline="0" noProof="0">
                <a:ln>
                  <a:noFill/>
                </a:ln>
                <a:effectLst/>
                <a:uLnTx/>
                <a:uFillTx/>
                <a:latin typeface="EYInterstate Light" panose="02000506000000020004" charset="0"/>
                <a:ea typeface="Aptos" panose="020B0004020202020204" pitchFamily="34" charset="0"/>
                <a:cs typeface="Arial" panose="020B0604020202020204" pitchFamily="34" charset="0"/>
              </a:rPr>
              <a:t>Involving Private </a:t>
            </a:r>
            <a:r>
              <a:rPr kumimoji="0" lang="en-IN" sz="1200" b="0" i="0" u="none" strike="noStrike" kern="100" cap="none" spc="0" normalizeH="0" baseline="0" noProof="0">
                <a:ln>
                  <a:noFill/>
                </a:ln>
                <a:effectLst/>
                <a:uLnTx/>
                <a:uFillTx/>
                <a:latin typeface="EYInterstate Light" panose="02000506000000020004" charset="0"/>
                <a:ea typeface="Aptos" panose="020B0004020202020204" pitchFamily="34" charset="0"/>
                <a:cs typeface="Arial" panose="020B0604020202020204" pitchFamily="34" charset="0"/>
              </a:rPr>
              <a:t>partners can lead to the </a:t>
            </a:r>
            <a:r>
              <a:rPr lang="en-IN" sz="1200" kern="100">
                <a:latin typeface="EYInterstate Light" panose="02000506000000020004" charset="0"/>
                <a:ea typeface="Aptos" panose="020B0004020202020204" pitchFamily="34" charset="0"/>
                <a:cs typeface="Arial" panose="020B0604020202020204" pitchFamily="34" charset="0"/>
              </a:rPr>
              <a:t>transfer of risks to partners that are better prepared to manage them, and allows government to focus on its core operational areas.</a:t>
            </a:r>
            <a:r>
              <a:rPr kumimoji="0" lang="en-IN" sz="1200" b="0" i="0" u="none" strike="noStrike" kern="100" cap="none" spc="0" normalizeH="0" baseline="0" noProof="0">
                <a:ln>
                  <a:noFill/>
                </a:ln>
                <a:effectLst/>
                <a:uLnTx/>
                <a:uFillTx/>
                <a:latin typeface="EYInterstate Light" panose="02000506000000020004" charset="0"/>
                <a:ea typeface="Aptos" panose="020B0004020202020204" pitchFamily="34" charset="0"/>
                <a:cs typeface="Arial" panose="020B0604020202020204" pitchFamily="34" charset="0"/>
              </a:rPr>
              <a:t> </a:t>
            </a:r>
            <a:endParaRPr kumimoji="0" lang="en-AE" sz="1200" b="0" i="0" u="none" strike="noStrike" kern="100" cap="none" spc="0" normalizeH="0" baseline="0" noProof="0">
              <a:ln>
                <a:noFill/>
              </a:ln>
              <a:effectLst/>
              <a:uLnTx/>
              <a:uFillTx/>
              <a:latin typeface="EYInterstate Light" panose="02000506000000020004" charset="0"/>
              <a:ea typeface="Aptos" panose="020B00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3D34D8C1-798C-534A-9070-50788A0D510A}"/>
              </a:ext>
            </a:extLst>
          </p:cNvPr>
          <p:cNvSpPr>
            <a:spLocks/>
          </p:cNvSpPr>
          <p:nvPr/>
        </p:nvSpPr>
        <p:spPr>
          <a:xfrm>
            <a:off x="8020245" y="2483457"/>
            <a:ext cx="3511323" cy="1563609"/>
          </a:xfrm>
          <a:prstGeom prst="rect">
            <a:avLst/>
          </a:prstGeom>
          <a:noFill/>
          <a:ln w="6350" cap="flat" cmpd="sng" algn="ctr">
            <a:noFill/>
            <a:prstDash val="solid"/>
            <a:miter lim="800000"/>
          </a:ln>
          <a:effectLst/>
        </p:spPr>
        <p:txBody>
          <a:bodyPr tIns="182880" rtlCol="0" anchor="t"/>
          <a:lstStyle/>
          <a:p>
            <a:pPr marL="0" marR="0" lvl="0" indent="0" algn="l" defTabSz="914400" rtl="0" eaLnBrk="1" fontAlgn="auto" latinLnBrk="0" hangingPunct="1">
              <a:lnSpc>
                <a:spcPct val="115000"/>
              </a:lnSpc>
              <a:spcBef>
                <a:spcPts val="0"/>
              </a:spcBef>
              <a:spcAft>
                <a:spcPts val="600"/>
              </a:spcAft>
              <a:buClrTx/>
              <a:buSzPts val="1000"/>
              <a:buFontTx/>
              <a:buNone/>
              <a:tabLst>
                <a:tab pos="540385" algn="l"/>
              </a:tabLst>
              <a:defRPr/>
            </a:pPr>
            <a:r>
              <a:rPr lang="en-US" sz="1200" b="1" kern="100" dirty="0">
                <a:latin typeface="EYInterstate Light" panose="02000506000000020004" charset="0"/>
                <a:ea typeface="Aptos" panose="020B0004020202020204" pitchFamily="34" charset="0"/>
                <a:cs typeface="Arial" panose="020B0604020202020204" pitchFamily="34" charset="0"/>
              </a:rPr>
              <a:t>Innovation </a:t>
            </a:r>
            <a:endParaRPr kumimoji="0" lang="en-US" sz="1200" b="0" i="0" u="none" strike="noStrike" kern="100" cap="none" spc="0" normalizeH="0" baseline="0" noProof="0" dirty="0">
              <a:ln>
                <a:noFill/>
              </a:ln>
              <a:effectLst/>
              <a:uLnTx/>
              <a:uFillTx/>
              <a:latin typeface="EYInterstate Light" panose="02000506000000020004" charset="0"/>
              <a:ea typeface="Aptos" panose="020B0004020202020204" pitchFamily="34"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600"/>
              </a:spcAft>
              <a:buClrTx/>
              <a:buSzPts val="1000"/>
              <a:buFontTx/>
              <a:buNone/>
              <a:tabLst>
                <a:tab pos="540385" algn="l"/>
              </a:tabLst>
              <a:defRPr/>
            </a:pPr>
            <a:r>
              <a:rPr lang="en-US" sz="1200" kern="100" dirty="0">
                <a:latin typeface="EYInterstate Light" panose="02000506000000020004" charset="0"/>
                <a:ea typeface="Aptos" panose="020B0004020202020204" pitchFamily="34" charset="0"/>
                <a:cs typeface="Arial" panose="020B0604020202020204" pitchFamily="34" charset="0"/>
              </a:rPr>
              <a:t>Private sector partners are incentivized to be efficient meaning they are always looks at ways to be innovate and implement the latest systems and technology to improve efficiency.</a:t>
            </a:r>
            <a:endParaRPr kumimoji="0" lang="en-AE" sz="1200" b="0" i="0" u="none" strike="noStrike" kern="100" cap="none" spc="0" normalizeH="0" baseline="0" noProof="0" dirty="0">
              <a:ln>
                <a:noFill/>
              </a:ln>
              <a:effectLst/>
              <a:uLnTx/>
              <a:uFillTx/>
              <a:latin typeface="EYInterstate Light" panose="02000506000000020004" charset="0"/>
              <a:ea typeface="Aptos" panose="020B0004020202020204" pitchFamily="34" charset="0"/>
              <a:cs typeface="Arial" panose="020B0604020202020204" pitchFamily="34" charset="0"/>
            </a:endParaRPr>
          </a:p>
        </p:txBody>
      </p:sp>
      <p:pic>
        <p:nvPicPr>
          <p:cNvPr id="33" name="Picture 32" descr="A black background with a black square&#10;&#10;AI-generated content may be incorrect.">
            <a:extLst>
              <a:ext uri="{FF2B5EF4-FFF2-40B4-BE49-F238E27FC236}">
                <a16:creationId xmlns:a16="http://schemas.microsoft.com/office/drawing/2014/main" id="{7EE60F66-2151-7AF1-AE05-6BA57FADC806}"/>
              </a:ext>
            </a:extLst>
          </p:cNvPr>
          <p:cNvPicPr>
            <a:picLocks/>
          </p:cNvPicPr>
          <p:nvPr/>
        </p:nvPicPr>
        <p:blipFill>
          <a:blip r:embed="rId5" cstate="screen">
            <a:duotone>
              <a:schemeClr val="accent4">
                <a:shade val="45000"/>
                <a:satMod val="135000"/>
              </a:schemeClr>
              <a:prstClr val="white"/>
            </a:duotone>
            <a:extLst>
              <a:ext uri="{28A0092B-C50C-407E-A947-70E740481C1C}">
                <a14:useLocalDpi xmlns:a14="http://schemas.microsoft.com/office/drawing/2010/main"/>
              </a:ext>
            </a:extLst>
          </a:blip>
          <a:stretch>
            <a:fillRect/>
          </a:stretch>
        </p:blipFill>
        <p:spPr>
          <a:xfrm>
            <a:off x="5855756" y="2054639"/>
            <a:ext cx="480488" cy="485508"/>
          </a:xfrm>
          <a:prstGeom prst="rect">
            <a:avLst/>
          </a:prstGeom>
        </p:spPr>
      </p:pic>
      <p:pic>
        <p:nvPicPr>
          <p:cNvPr id="34" name="Picture 33" descr="A black background with a black square&#10;&#10;AI-generated content may be incorrect.">
            <a:extLst>
              <a:ext uri="{FF2B5EF4-FFF2-40B4-BE49-F238E27FC236}">
                <a16:creationId xmlns:a16="http://schemas.microsoft.com/office/drawing/2014/main" id="{5FF01CDB-CC30-C9D0-FA99-D5F1E4CE9F98}"/>
              </a:ext>
            </a:extLst>
          </p:cNvPr>
          <p:cNvPicPr>
            <a:picLocks/>
          </p:cNvPicPr>
          <p:nvPr/>
        </p:nvPicPr>
        <p:blipFill>
          <a:blip r:embed="rId6" cstate="screen">
            <a:duotone>
              <a:schemeClr val="accent4">
                <a:shade val="45000"/>
                <a:satMod val="135000"/>
              </a:schemeClr>
              <a:prstClr val="white"/>
            </a:duotone>
            <a:extLst>
              <a:ext uri="{28A0092B-C50C-407E-A947-70E740481C1C}">
                <a14:useLocalDpi xmlns:a14="http://schemas.microsoft.com/office/drawing/2010/main"/>
              </a:ext>
            </a:extLst>
          </a:blip>
          <a:stretch>
            <a:fillRect/>
          </a:stretch>
        </p:blipFill>
        <p:spPr>
          <a:xfrm>
            <a:off x="9471304" y="4299479"/>
            <a:ext cx="527334" cy="521409"/>
          </a:xfrm>
          <a:prstGeom prst="rect">
            <a:avLst/>
          </a:prstGeom>
        </p:spPr>
      </p:pic>
      <p:pic>
        <p:nvPicPr>
          <p:cNvPr id="35" name="Picture 34" descr="A black background with a black square&#10;&#10;AI-generated content may be incorrect.">
            <a:extLst>
              <a:ext uri="{FF2B5EF4-FFF2-40B4-BE49-F238E27FC236}">
                <a16:creationId xmlns:a16="http://schemas.microsoft.com/office/drawing/2014/main" id="{C446BB04-4D82-20B2-72CB-0415D653B2BB}"/>
              </a:ext>
            </a:extLst>
          </p:cNvPr>
          <p:cNvPicPr>
            <a:picLocks/>
          </p:cNvPicPr>
          <p:nvPr/>
        </p:nvPicPr>
        <p:blipFill>
          <a:blip r:embed="rId7" cstate="screen">
            <a:duotone>
              <a:schemeClr val="accent4">
                <a:shade val="45000"/>
                <a:satMod val="135000"/>
              </a:schemeClr>
              <a:prstClr val="white"/>
            </a:duotone>
            <a:extLst>
              <a:ext uri="{28A0092B-C50C-407E-A947-70E740481C1C}">
                <a14:useLocalDpi xmlns:a14="http://schemas.microsoft.com/office/drawing/2010/main"/>
              </a:ext>
            </a:extLst>
          </a:blip>
          <a:stretch>
            <a:fillRect/>
          </a:stretch>
        </p:blipFill>
        <p:spPr>
          <a:xfrm>
            <a:off x="2169400" y="4297230"/>
            <a:ext cx="575253" cy="557306"/>
          </a:xfrm>
          <a:prstGeom prst="rect">
            <a:avLst/>
          </a:prstGeom>
        </p:spPr>
      </p:pic>
      <p:pic>
        <p:nvPicPr>
          <p:cNvPr id="36" name="Picture 35" descr="A black background with a black square&#10;&#10;AI-generated content may be incorrect.">
            <a:extLst>
              <a:ext uri="{FF2B5EF4-FFF2-40B4-BE49-F238E27FC236}">
                <a16:creationId xmlns:a16="http://schemas.microsoft.com/office/drawing/2014/main" id="{DC63F0E0-A661-B2F0-9431-4FCD25000FDF}"/>
              </a:ext>
            </a:extLst>
          </p:cNvPr>
          <p:cNvPicPr>
            <a:picLocks/>
          </p:cNvPicPr>
          <p:nvPr/>
        </p:nvPicPr>
        <p:blipFill>
          <a:blip r:embed="rId8" cstate="screen">
            <a:duotone>
              <a:schemeClr val="accent4">
                <a:shade val="45000"/>
                <a:satMod val="135000"/>
              </a:schemeClr>
              <a:prstClr val="white"/>
            </a:duotone>
            <a:extLst>
              <a:ext uri="{28A0092B-C50C-407E-A947-70E740481C1C}">
                <a14:useLocalDpi xmlns:a14="http://schemas.microsoft.com/office/drawing/2010/main"/>
              </a:ext>
            </a:extLst>
          </a:blip>
          <a:stretch>
            <a:fillRect/>
          </a:stretch>
        </p:blipFill>
        <p:spPr>
          <a:xfrm>
            <a:off x="5793282" y="4297230"/>
            <a:ext cx="605435" cy="564193"/>
          </a:xfrm>
          <a:prstGeom prst="rect">
            <a:avLst/>
          </a:prstGeom>
        </p:spPr>
      </p:pic>
      <p:sp>
        <p:nvSpPr>
          <p:cNvPr id="5" name="Rectangle 4">
            <a:extLst>
              <a:ext uri="{FF2B5EF4-FFF2-40B4-BE49-F238E27FC236}">
                <a16:creationId xmlns:a16="http://schemas.microsoft.com/office/drawing/2014/main" id="{8DD743FA-A087-5C64-013B-355AA050E77A}"/>
              </a:ext>
            </a:extLst>
          </p:cNvPr>
          <p:cNvSpPr>
            <a:spLocks/>
          </p:cNvSpPr>
          <p:nvPr/>
        </p:nvSpPr>
        <p:spPr>
          <a:xfrm>
            <a:off x="729000" y="2531705"/>
            <a:ext cx="3511323" cy="1563609"/>
          </a:xfrm>
          <a:prstGeom prst="rect">
            <a:avLst/>
          </a:prstGeom>
          <a:noFill/>
          <a:ln w="6350" cap="flat" cmpd="sng" algn="ctr">
            <a:noFill/>
            <a:prstDash val="solid"/>
            <a:miter lim="800000"/>
          </a:ln>
          <a:effectLst/>
        </p:spPr>
        <p:txBody>
          <a:bodyPr tIns="182880" rtlCol="0" anchor="t"/>
          <a:lstStyle/>
          <a:p>
            <a:pPr marL="0" marR="0" lvl="0" indent="0" algn="l" defTabSz="914400" rtl="0" eaLnBrk="1" fontAlgn="auto" latinLnBrk="0" hangingPunct="1">
              <a:lnSpc>
                <a:spcPct val="115000"/>
              </a:lnSpc>
              <a:spcBef>
                <a:spcPts val="0"/>
              </a:spcBef>
              <a:spcAft>
                <a:spcPts val="600"/>
              </a:spcAft>
              <a:buClrTx/>
              <a:buSzPts val="1000"/>
              <a:buFontTx/>
              <a:buNone/>
              <a:tabLst>
                <a:tab pos="540385" algn="l"/>
              </a:tabLst>
              <a:defRPr/>
            </a:pPr>
            <a:r>
              <a:rPr kumimoji="0" lang="en-US" sz="1200" b="1" i="0" u="none" strike="noStrike" kern="100" cap="none" spc="0" normalizeH="0" baseline="0" noProof="0">
                <a:ln>
                  <a:noFill/>
                </a:ln>
                <a:effectLst/>
                <a:uLnTx/>
                <a:uFillTx/>
                <a:latin typeface="EYInterstate Light" panose="02000506000000020004" charset="0"/>
                <a:ea typeface="Aptos" panose="020B0004020202020204" pitchFamily="34" charset="0"/>
                <a:cs typeface="Arial" panose="020B0604020202020204" pitchFamily="34" charset="0"/>
              </a:rPr>
              <a:t>Service quality</a:t>
            </a:r>
            <a:r>
              <a:rPr kumimoji="0" lang="en-US" sz="1200" b="0" i="0" u="none" strike="noStrike" kern="100" cap="none" spc="0" normalizeH="0" baseline="0" noProof="0">
                <a:ln>
                  <a:noFill/>
                </a:ln>
                <a:effectLst/>
                <a:uLnTx/>
                <a:uFillTx/>
                <a:latin typeface="EYInterstate Light" panose="02000506000000020004" charset="0"/>
                <a:ea typeface="Aptos" panose="020B0004020202020204" pitchFamily="34" charset="0"/>
                <a:cs typeface="Arial" panose="020B0604020202020204" pitchFamily="34" charset="0"/>
              </a:rPr>
              <a:t> </a:t>
            </a:r>
          </a:p>
          <a:p>
            <a:pPr marL="0" marR="0" lvl="0" indent="0" algn="l" defTabSz="914400" rtl="0" eaLnBrk="1" fontAlgn="auto" latinLnBrk="0" hangingPunct="1">
              <a:lnSpc>
                <a:spcPct val="115000"/>
              </a:lnSpc>
              <a:spcBef>
                <a:spcPts val="0"/>
              </a:spcBef>
              <a:spcAft>
                <a:spcPts val="600"/>
              </a:spcAft>
              <a:buClrTx/>
              <a:buSzPts val="1000"/>
              <a:buFontTx/>
              <a:buNone/>
              <a:tabLst>
                <a:tab pos="540385" algn="l"/>
              </a:tabLst>
              <a:defRPr/>
            </a:pPr>
            <a:r>
              <a:rPr kumimoji="0" lang="en-US" sz="1200" b="0" i="0" u="none" strike="noStrike" kern="100" cap="none" spc="0" normalizeH="0" baseline="0" noProof="0">
                <a:ln>
                  <a:noFill/>
                </a:ln>
                <a:effectLst/>
                <a:uLnTx/>
                <a:uFillTx/>
                <a:latin typeface="EYInterstate Light" panose="02000506000000020004" charset="0"/>
                <a:ea typeface="Aptos" panose="020B0004020202020204" pitchFamily="34" charset="0"/>
                <a:cs typeface="Arial" panose="020B0604020202020204" pitchFamily="34" charset="0"/>
              </a:rPr>
              <a:t>Private partners often </a:t>
            </a:r>
            <a:r>
              <a:rPr lang="en-US" sz="1200" kern="100">
                <a:latin typeface="EYInterstate Light" panose="02000506000000020004" charset="0"/>
                <a:ea typeface="Aptos" panose="020B0004020202020204" pitchFamily="34" charset="0"/>
                <a:cs typeface="Arial" panose="020B0604020202020204" pitchFamily="34" charset="0"/>
              </a:rPr>
              <a:t>bring international best practices and a</a:t>
            </a:r>
            <a:r>
              <a:rPr kumimoji="0" lang="en-US" sz="1200" b="0" i="0" u="none" strike="noStrike" kern="100" cap="none" spc="0" normalizeH="0" baseline="0" noProof="0">
                <a:ln>
                  <a:noFill/>
                </a:ln>
                <a:effectLst/>
                <a:uLnTx/>
                <a:uFillTx/>
                <a:latin typeface="EYInterstate Light" panose="02000506000000020004" charset="0"/>
                <a:ea typeface="Aptos" panose="020B0004020202020204" pitchFamily="34" charset="0"/>
                <a:cs typeface="Arial" panose="020B0604020202020204" pitchFamily="34" charset="0"/>
              </a:rPr>
              <a:t> high standards of service delivery which can lead to improved quality</a:t>
            </a:r>
            <a:r>
              <a:rPr lang="en-US" sz="1200" kern="100">
                <a:latin typeface="EYInterstate Light" panose="02000506000000020004" charset="0"/>
                <a:ea typeface="Aptos" panose="020B0004020202020204" pitchFamily="34" charset="0"/>
                <a:cs typeface="Arial" panose="020B0604020202020204" pitchFamily="34" charset="0"/>
              </a:rPr>
              <a:t> </a:t>
            </a:r>
            <a:r>
              <a:rPr kumimoji="0" lang="en-US" sz="1200" b="0" i="0" u="none" strike="noStrike" kern="100" cap="none" spc="0" normalizeH="0" baseline="0" noProof="0">
                <a:ln>
                  <a:noFill/>
                </a:ln>
                <a:effectLst/>
                <a:uLnTx/>
                <a:uFillTx/>
                <a:latin typeface="EYInterstate Light" panose="02000506000000020004" charset="0"/>
                <a:ea typeface="Aptos" panose="020B0004020202020204" pitchFamily="34" charset="0"/>
                <a:cs typeface="Arial" panose="020B0604020202020204" pitchFamily="34" charset="0"/>
              </a:rPr>
              <a:t> and customer satisfaction.</a:t>
            </a:r>
            <a:endParaRPr kumimoji="0" lang="en-AE" sz="1200" b="0" i="0" u="none" strike="noStrike" kern="100" cap="none" spc="0" normalizeH="0" baseline="0" noProof="0">
              <a:ln>
                <a:noFill/>
              </a:ln>
              <a:effectLst/>
              <a:uLnTx/>
              <a:uFillTx/>
              <a:latin typeface="EYInterstate Light" panose="02000506000000020004" charset="0"/>
              <a:ea typeface="Aptos" panose="020B0004020202020204" pitchFamily="34" charset="0"/>
              <a:cs typeface="Arial" panose="020B0604020202020204" pitchFamily="34" charset="0"/>
            </a:endParaRPr>
          </a:p>
        </p:txBody>
      </p:sp>
      <p:pic>
        <p:nvPicPr>
          <p:cNvPr id="6" name="Picture 5" descr="A black background with a black square&#10;&#10;AI-generated content may be incorrect.">
            <a:extLst>
              <a:ext uri="{FF2B5EF4-FFF2-40B4-BE49-F238E27FC236}">
                <a16:creationId xmlns:a16="http://schemas.microsoft.com/office/drawing/2014/main" id="{8AB8E8C6-BED8-C118-36C6-B7C3DA2D0BD9}"/>
              </a:ext>
            </a:extLst>
          </p:cNvPr>
          <p:cNvPicPr>
            <a:picLocks/>
          </p:cNvPicPr>
          <p:nvPr/>
        </p:nvPicPr>
        <p:blipFill>
          <a:blip r:embed="rId8" cstate="screen">
            <a:duotone>
              <a:schemeClr val="accent4">
                <a:shade val="45000"/>
                <a:satMod val="135000"/>
              </a:schemeClr>
              <a:prstClr val="white"/>
            </a:duotone>
            <a:extLst>
              <a:ext uri="{28A0092B-C50C-407E-A947-70E740481C1C}">
                <a14:useLocalDpi xmlns:a14="http://schemas.microsoft.com/office/drawing/2010/main"/>
              </a:ext>
            </a:extLst>
          </a:blip>
          <a:stretch>
            <a:fillRect/>
          </a:stretch>
        </p:blipFill>
        <p:spPr>
          <a:xfrm>
            <a:off x="2154309" y="2098318"/>
            <a:ext cx="605435" cy="564193"/>
          </a:xfrm>
          <a:prstGeom prst="rect">
            <a:avLst/>
          </a:prstGeom>
        </p:spPr>
      </p:pic>
      <p:grpSp>
        <p:nvGrpSpPr>
          <p:cNvPr id="7" name="Group 6">
            <a:extLst>
              <a:ext uri="{FF2B5EF4-FFF2-40B4-BE49-F238E27FC236}">
                <a16:creationId xmlns:a16="http://schemas.microsoft.com/office/drawing/2014/main" id="{A5794C81-FE2D-EACC-FD2B-E01FDD7C164F}"/>
              </a:ext>
            </a:extLst>
          </p:cNvPr>
          <p:cNvGrpSpPr>
            <a:grpSpLocks noChangeAspect="1"/>
          </p:cNvGrpSpPr>
          <p:nvPr/>
        </p:nvGrpSpPr>
        <p:grpSpPr>
          <a:xfrm>
            <a:off x="9551316" y="2030997"/>
            <a:ext cx="367307" cy="523292"/>
            <a:chOff x="944563" y="3032125"/>
            <a:chExt cx="927100" cy="1320800"/>
          </a:xfrm>
          <a:solidFill>
            <a:schemeClr val="bg1"/>
          </a:solidFill>
        </p:grpSpPr>
        <p:sp>
          <p:nvSpPr>
            <p:cNvPr id="8" name="Freeform 5">
              <a:extLst>
                <a:ext uri="{FF2B5EF4-FFF2-40B4-BE49-F238E27FC236}">
                  <a16:creationId xmlns:a16="http://schemas.microsoft.com/office/drawing/2014/main" id="{A50AB4E8-00EA-50A9-002F-CA24B148F438}"/>
                </a:ext>
              </a:extLst>
            </p:cNvPr>
            <p:cNvSpPr>
              <a:spLocks/>
            </p:cNvSpPr>
            <p:nvPr/>
          </p:nvSpPr>
          <p:spPr bwMode="auto">
            <a:xfrm>
              <a:off x="969963" y="3209925"/>
              <a:ext cx="168275" cy="247650"/>
            </a:xfrm>
            <a:custGeom>
              <a:avLst/>
              <a:gdLst>
                <a:gd name="T0" fmla="*/ 38 w 106"/>
                <a:gd name="T1" fmla="*/ 156 h 156"/>
                <a:gd name="T2" fmla="*/ 38 w 106"/>
                <a:gd name="T3" fmla="*/ 156 h 156"/>
                <a:gd name="T4" fmla="*/ 32 w 106"/>
                <a:gd name="T5" fmla="*/ 154 h 156"/>
                <a:gd name="T6" fmla="*/ 32 w 106"/>
                <a:gd name="T7" fmla="*/ 154 h 156"/>
                <a:gd name="T8" fmla="*/ 24 w 106"/>
                <a:gd name="T9" fmla="*/ 146 h 156"/>
                <a:gd name="T10" fmla="*/ 18 w 106"/>
                <a:gd name="T11" fmla="*/ 138 h 156"/>
                <a:gd name="T12" fmla="*/ 12 w 106"/>
                <a:gd name="T13" fmla="*/ 128 h 156"/>
                <a:gd name="T14" fmla="*/ 6 w 106"/>
                <a:gd name="T15" fmla="*/ 120 h 156"/>
                <a:gd name="T16" fmla="*/ 4 w 106"/>
                <a:gd name="T17" fmla="*/ 110 h 156"/>
                <a:gd name="T18" fmla="*/ 2 w 106"/>
                <a:gd name="T19" fmla="*/ 98 h 156"/>
                <a:gd name="T20" fmla="*/ 0 w 106"/>
                <a:gd name="T21" fmla="*/ 88 h 156"/>
                <a:gd name="T22" fmla="*/ 2 w 106"/>
                <a:gd name="T23" fmla="*/ 76 h 156"/>
                <a:gd name="T24" fmla="*/ 2 w 106"/>
                <a:gd name="T25" fmla="*/ 76 h 156"/>
                <a:gd name="T26" fmla="*/ 4 w 106"/>
                <a:gd name="T27" fmla="*/ 60 h 156"/>
                <a:gd name="T28" fmla="*/ 12 w 106"/>
                <a:gd name="T29" fmla="*/ 44 h 156"/>
                <a:gd name="T30" fmla="*/ 22 w 106"/>
                <a:gd name="T31" fmla="*/ 30 h 156"/>
                <a:gd name="T32" fmla="*/ 34 w 106"/>
                <a:gd name="T33" fmla="*/ 18 h 156"/>
                <a:gd name="T34" fmla="*/ 34 w 106"/>
                <a:gd name="T35" fmla="*/ 18 h 156"/>
                <a:gd name="T36" fmla="*/ 48 w 106"/>
                <a:gd name="T37" fmla="*/ 8 h 156"/>
                <a:gd name="T38" fmla="*/ 64 w 106"/>
                <a:gd name="T39" fmla="*/ 2 h 156"/>
                <a:gd name="T40" fmla="*/ 80 w 106"/>
                <a:gd name="T41" fmla="*/ 0 h 156"/>
                <a:gd name="T42" fmla="*/ 98 w 106"/>
                <a:gd name="T43" fmla="*/ 0 h 156"/>
                <a:gd name="T44" fmla="*/ 98 w 106"/>
                <a:gd name="T45" fmla="*/ 0 h 156"/>
                <a:gd name="T46" fmla="*/ 102 w 106"/>
                <a:gd name="T47" fmla="*/ 0 h 156"/>
                <a:gd name="T48" fmla="*/ 104 w 106"/>
                <a:gd name="T49" fmla="*/ 2 h 156"/>
                <a:gd name="T50" fmla="*/ 106 w 106"/>
                <a:gd name="T51" fmla="*/ 6 h 156"/>
                <a:gd name="T52" fmla="*/ 106 w 106"/>
                <a:gd name="T53" fmla="*/ 10 h 156"/>
                <a:gd name="T54" fmla="*/ 106 w 106"/>
                <a:gd name="T55" fmla="*/ 10 h 156"/>
                <a:gd name="T56" fmla="*/ 104 w 106"/>
                <a:gd name="T57" fmla="*/ 12 h 156"/>
                <a:gd name="T58" fmla="*/ 102 w 106"/>
                <a:gd name="T59" fmla="*/ 16 h 156"/>
                <a:gd name="T60" fmla="*/ 100 w 106"/>
                <a:gd name="T61" fmla="*/ 16 h 156"/>
                <a:gd name="T62" fmla="*/ 96 w 106"/>
                <a:gd name="T63" fmla="*/ 18 h 156"/>
                <a:gd name="T64" fmla="*/ 96 w 106"/>
                <a:gd name="T65" fmla="*/ 18 h 156"/>
                <a:gd name="T66" fmla="*/ 82 w 106"/>
                <a:gd name="T67" fmla="*/ 18 h 156"/>
                <a:gd name="T68" fmla="*/ 68 w 106"/>
                <a:gd name="T69" fmla="*/ 20 h 156"/>
                <a:gd name="T70" fmla="*/ 56 w 106"/>
                <a:gd name="T71" fmla="*/ 24 h 156"/>
                <a:gd name="T72" fmla="*/ 44 w 106"/>
                <a:gd name="T73" fmla="*/ 32 h 156"/>
                <a:gd name="T74" fmla="*/ 44 w 106"/>
                <a:gd name="T75" fmla="*/ 32 h 156"/>
                <a:gd name="T76" fmla="*/ 34 w 106"/>
                <a:gd name="T77" fmla="*/ 42 h 156"/>
                <a:gd name="T78" fmla="*/ 28 w 106"/>
                <a:gd name="T79" fmla="*/ 52 h 156"/>
                <a:gd name="T80" fmla="*/ 22 w 106"/>
                <a:gd name="T81" fmla="*/ 66 h 156"/>
                <a:gd name="T82" fmla="*/ 20 w 106"/>
                <a:gd name="T83" fmla="*/ 78 h 156"/>
                <a:gd name="T84" fmla="*/ 20 w 106"/>
                <a:gd name="T85" fmla="*/ 78 h 156"/>
                <a:gd name="T86" fmla="*/ 20 w 106"/>
                <a:gd name="T87" fmla="*/ 96 h 156"/>
                <a:gd name="T88" fmla="*/ 24 w 106"/>
                <a:gd name="T89" fmla="*/ 112 h 156"/>
                <a:gd name="T90" fmla="*/ 32 w 106"/>
                <a:gd name="T91" fmla="*/ 128 h 156"/>
                <a:gd name="T92" fmla="*/ 44 w 106"/>
                <a:gd name="T93" fmla="*/ 140 h 156"/>
                <a:gd name="T94" fmla="*/ 44 w 106"/>
                <a:gd name="T95" fmla="*/ 140 h 156"/>
                <a:gd name="T96" fmla="*/ 46 w 106"/>
                <a:gd name="T97" fmla="*/ 142 h 156"/>
                <a:gd name="T98" fmla="*/ 46 w 106"/>
                <a:gd name="T99" fmla="*/ 146 h 156"/>
                <a:gd name="T100" fmla="*/ 46 w 106"/>
                <a:gd name="T101" fmla="*/ 150 h 156"/>
                <a:gd name="T102" fmla="*/ 44 w 106"/>
                <a:gd name="T103" fmla="*/ 152 h 156"/>
                <a:gd name="T104" fmla="*/ 44 w 106"/>
                <a:gd name="T105" fmla="*/ 152 h 156"/>
                <a:gd name="T106" fmla="*/ 42 w 106"/>
                <a:gd name="T107" fmla="*/ 154 h 156"/>
                <a:gd name="T108" fmla="*/ 38 w 106"/>
                <a:gd name="T109" fmla="*/ 156 h 156"/>
                <a:gd name="T110" fmla="*/ 38 w 106"/>
                <a:gd name="T111"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6" h="156">
                  <a:moveTo>
                    <a:pt x="38" y="156"/>
                  </a:moveTo>
                  <a:lnTo>
                    <a:pt x="38" y="156"/>
                  </a:lnTo>
                  <a:lnTo>
                    <a:pt x="32" y="154"/>
                  </a:lnTo>
                  <a:lnTo>
                    <a:pt x="32" y="154"/>
                  </a:lnTo>
                  <a:lnTo>
                    <a:pt x="24" y="146"/>
                  </a:lnTo>
                  <a:lnTo>
                    <a:pt x="18" y="138"/>
                  </a:lnTo>
                  <a:lnTo>
                    <a:pt x="12" y="128"/>
                  </a:lnTo>
                  <a:lnTo>
                    <a:pt x="6" y="120"/>
                  </a:lnTo>
                  <a:lnTo>
                    <a:pt x="4" y="110"/>
                  </a:lnTo>
                  <a:lnTo>
                    <a:pt x="2" y="98"/>
                  </a:lnTo>
                  <a:lnTo>
                    <a:pt x="0" y="88"/>
                  </a:lnTo>
                  <a:lnTo>
                    <a:pt x="2" y="76"/>
                  </a:lnTo>
                  <a:lnTo>
                    <a:pt x="2" y="76"/>
                  </a:lnTo>
                  <a:lnTo>
                    <a:pt x="4" y="60"/>
                  </a:lnTo>
                  <a:lnTo>
                    <a:pt x="12" y="44"/>
                  </a:lnTo>
                  <a:lnTo>
                    <a:pt x="22" y="30"/>
                  </a:lnTo>
                  <a:lnTo>
                    <a:pt x="34" y="18"/>
                  </a:lnTo>
                  <a:lnTo>
                    <a:pt x="34" y="18"/>
                  </a:lnTo>
                  <a:lnTo>
                    <a:pt x="48" y="8"/>
                  </a:lnTo>
                  <a:lnTo>
                    <a:pt x="64" y="2"/>
                  </a:lnTo>
                  <a:lnTo>
                    <a:pt x="80" y="0"/>
                  </a:lnTo>
                  <a:lnTo>
                    <a:pt x="98" y="0"/>
                  </a:lnTo>
                  <a:lnTo>
                    <a:pt x="98" y="0"/>
                  </a:lnTo>
                  <a:lnTo>
                    <a:pt x="102" y="0"/>
                  </a:lnTo>
                  <a:lnTo>
                    <a:pt x="104" y="2"/>
                  </a:lnTo>
                  <a:lnTo>
                    <a:pt x="106" y="6"/>
                  </a:lnTo>
                  <a:lnTo>
                    <a:pt x="106" y="10"/>
                  </a:lnTo>
                  <a:lnTo>
                    <a:pt x="106" y="10"/>
                  </a:lnTo>
                  <a:lnTo>
                    <a:pt x="104" y="12"/>
                  </a:lnTo>
                  <a:lnTo>
                    <a:pt x="102" y="16"/>
                  </a:lnTo>
                  <a:lnTo>
                    <a:pt x="100" y="16"/>
                  </a:lnTo>
                  <a:lnTo>
                    <a:pt x="96" y="18"/>
                  </a:lnTo>
                  <a:lnTo>
                    <a:pt x="96" y="18"/>
                  </a:lnTo>
                  <a:lnTo>
                    <a:pt x="82" y="18"/>
                  </a:lnTo>
                  <a:lnTo>
                    <a:pt x="68" y="20"/>
                  </a:lnTo>
                  <a:lnTo>
                    <a:pt x="56" y="24"/>
                  </a:lnTo>
                  <a:lnTo>
                    <a:pt x="44" y="32"/>
                  </a:lnTo>
                  <a:lnTo>
                    <a:pt x="44" y="32"/>
                  </a:lnTo>
                  <a:lnTo>
                    <a:pt x="34" y="42"/>
                  </a:lnTo>
                  <a:lnTo>
                    <a:pt x="28" y="52"/>
                  </a:lnTo>
                  <a:lnTo>
                    <a:pt x="22" y="66"/>
                  </a:lnTo>
                  <a:lnTo>
                    <a:pt x="20" y="78"/>
                  </a:lnTo>
                  <a:lnTo>
                    <a:pt x="20" y="78"/>
                  </a:lnTo>
                  <a:lnTo>
                    <a:pt x="20" y="96"/>
                  </a:lnTo>
                  <a:lnTo>
                    <a:pt x="24" y="112"/>
                  </a:lnTo>
                  <a:lnTo>
                    <a:pt x="32" y="128"/>
                  </a:lnTo>
                  <a:lnTo>
                    <a:pt x="44" y="140"/>
                  </a:lnTo>
                  <a:lnTo>
                    <a:pt x="44" y="140"/>
                  </a:lnTo>
                  <a:lnTo>
                    <a:pt x="46" y="142"/>
                  </a:lnTo>
                  <a:lnTo>
                    <a:pt x="46" y="146"/>
                  </a:lnTo>
                  <a:lnTo>
                    <a:pt x="46" y="150"/>
                  </a:lnTo>
                  <a:lnTo>
                    <a:pt x="44" y="152"/>
                  </a:lnTo>
                  <a:lnTo>
                    <a:pt x="44" y="152"/>
                  </a:lnTo>
                  <a:lnTo>
                    <a:pt x="42" y="154"/>
                  </a:lnTo>
                  <a:lnTo>
                    <a:pt x="38" y="156"/>
                  </a:lnTo>
                  <a:lnTo>
                    <a:pt x="38" y="156"/>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9" name="Freeform 6">
              <a:extLst>
                <a:ext uri="{FF2B5EF4-FFF2-40B4-BE49-F238E27FC236}">
                  <a16:creationId xmlns:a16="http://schemas.microsoft.com/office/drawing/2014/main" id="{6F5563E6-2007-09A0-0335-56BD32758204}"/>
                </a:ext>
              </a:extLst>
            </p:cNvPr>
            <p:cNvSpPr>
              <a:spLocks/>
            </p:cNvSpPr>
            <p:nvPr/>
          </p:nvSpPr>
          <p:spPr bwMode="auto">
            <a:xfrm>
              <a:off x="944563" y="3359150"/>
              <a:ext cx="165100" cy="279400"/>
            </a:xfrm>
            <a:custGeom>
              <a:avLst/>
              <a:gdLst>
                <a:gd name="T0" fmla="*/ 78 w 104"/>
                <a:gd name="T1" fmla="*/ 176 h 176"/>
                <a:gd name="T2" fmla="*/ 78 w 104"/>
                <a:gd name="T3" fmla="*/ 176 h 176"/>
                <a:gd name="T4" fmla="*/ 78 w 104"/>
                <a:gd name="T5" fmla="*/ 176 h 176"/>
                <a:gd name="T6" fmla="*/ 78 w 104"/>
                <a:gd name="T7" fmla="*/ 176 h 176"/>
                <a:gd name="T8" fmla="*/ 60 w 104"/>
                <a:gd name="T9" fmla="*/ 172 h 176"/>
                <a:gd name="T10" fmla="*/ 44 w 104"/>
                <a:gd name="T11" fmla="*/ 166 h 176"/>
                <a:gd name="T12" fmla="*/ 30 w 104"/>
                <a:gd name="T13" fmla="*/ 156 h 176"/>
                <a:gd name="T14" fmla="*/ 18 w 104"/>
                <a:gd name="T15" fmla="*/ 144 h 176"/>
                <a:gd name="T16" fmla="*/ 18 w 104"/>
                <a:gd name="T17" fmla="*/ 144 h 176"/>
                <a:gd name="T18" fmla="*/ 8 w 104"/>
                <a:gd name="T19" fmla="*/ 128 h 176"/>
                <a:gd name="T20" fmla="*/ 2 w 104"/>
                <a:gd name="T21" fmla="*/ 112 h 176"/>
                <a:gd name="T22" fmla="*/ 0 w 104"/>
                <a:gd name="T23" fmla="*/ 96 h 176"/>
                <a:gd name="T24" fmla="*/ 0 w 104"/>
                <a:gd name="T25" fmla="*/ 78 h 176"/>
                <a:gd name="T26" fmla="*/ 0 w 104"/>
                <a:gd name="T27" fmla="*/ 78 h 176"/>
                <a:gd name="T28" fmla="*/ 4 w 104"/>
                <a:gd name="T29" fmla="*/ 62 h 176"/>
                <a:gd name="T30" fmla="*/ 10 w 104"/>
                <a:gd name="T31" fmla="*/ 46 h 176"/>
                <a:gd name="T32" fmla="*/ 20 w 104"/>
                <a:gd name="T33" fmla="*/ 32 h 176"/>
                <a:gd name="T34" fmla="*/ 32 w 104"/>
                <a:gd name="T35" fmla="*/ 20 h 176"/>
                <a:gd name="T36" fmla="*/ 32 w 104"/>
                <a:gd name="T37" fmla="*/ 20 h 176"/>
                <a:gd name="T38" fmla="*/ 46 w 104"/>
                <a:gd name="T39" fmla="*/ 10 h 176"/>
                <a:gd name="T40" fmla="*/ 62 w 104"/>
                <a:gd name="T41" fmla="*/ 4 h 176"/>
                <a:gd name="T42" fmla="*/ 80 w 104"/>
                <a:gd name="T43" fmla="*/ 0 h 176"/>
                <a:gd name="T44" fmla="*/ 96 w 104"/>
                <a:gd name="T45" fmla="*/ 0 h 176"/>
                <a:gd name="T46" fmla="*/ 96 w 104"/>
                <a:gd name="T47" fmla="*/ 0 h 176"/>
                <a:gd name="T48" fmla="*/ 100 w 104"/>
                <a:gd name="T49" fmla="*/ 2 h 176"/>
                <a:gd name="T50" fmla="*/ 102 w 104"/>
                <a:gd name="T51" fmla="*/ 4 h 176"/>
                <a:gd name="T52" fmla="*/ 104 w 104"/>
                <a:gd name="T53" fmla="*/ 8 h 176"/>
                <a:gd name="T54" fmla="*/ 104 w 104"/>
                <a:gd name="T55" fmla="*/ 10 h 176"/>
                <a:gd name="T56" fmla="*/ 104 w 104"/>
                <a:gd name="T57" fmla="*/ 10 h 176"/>
                <a:gd name="T58" fmla="*/ 104 w 104"/>
                <a:gd name="T59" fmla="*/ 14 h 176"/>
                <a:gd name="T60" fmla="*/ 102 w 104"/>
                <a:gd name="T61" fmla="*/ 16 h 176"/>
                <a:gd name="T62" fmla="*/ 98 w 104"/>
                <a:gd name="T63" fmla="*/ 18 h 176"/>
                <a:gd name="T64" fmla="*/ 94 w 104"/>
                <a:gd name="T65" fmla="*/ 18 h 176"/>
                <a:gd name="T66" fmla="*/ 94 w 104"/>
                <a:gd name="T67" fmla="*/ 18 h 176"/>
                <a:gd name="T68" fmla="*/ 80 w 104"/>
                <a:gd name="T69" fmla="*/ 18 h 176"/>
                <a:gd name="T70" fmla="*/ 68 w 104"/>
                <a:gd name="T71" fmla="*/ 22 h 176"/>
                <a:gd name="T72" fmla="*/ 54 w 104"/>
                <a:gd name="T73" fmla="*/ 26 h 176"/>
                <a:gd name="T74" fmla="*/ 44 w 104"/>
                <a:gd name="T75" fmla="*/ 34 h 176"/>
                <a:gd name="T76" fmla="*/ 34 w 104"/>
                <a:gd name="T77" fmla="*/ 44 h 176"/>
                <a:gd name="T78" fmla="*/ 26 w 104"/>
                <a:gd name="T79" fmla="*/ 54 h 176"/>
                <a:gd name="T80" fmla="*/ 20 w 104"/>
                <a:gd name="T81" fmla="*/ 66 h 176"/>
                <a:gd name="T82" fmla="*/ 18 w 104"/>
                <a:gd name="T83" fmla="*/ 80 h 176"/>
                <a:gd name="T84" fmla="*/ 18 w 104"/>
                <a:gd name="T85" fmla="*/ 80 h 176"/>
                <a:gd name="T86" fmla="*/ 18 w 104"/>
                <a:gd name="T87" fmla="*/ 94 h 176"/>
                <a:gd name="T88" fmla="*/ 20 w 104"/>
                <a:gd name="T89" fmla="*/ 108 h 176"/>
                <a:gd name="T90" fmla="*/ 24 w 104"/>
                <a:gd name="T91" fmla="*/ 120 h 176"/>
                <a:gd name="T92" fmla="*/ 32 w 104"/>
                <a:gd name="T93" fmla="*/ 132 h 176"/>
                <a:gd name="T94" fmla="*/ 32 w 104"/>
                <a:gd name="T95" fmla="*/ 132 h 176"/>
                <a:gd name="T96" fmla="*/ 42 w 104"/>
                <a:gd name="T97" fmla="*/ 142 h 176"/>
                <a:gd name="T98" fmla="*/ 54 w 104"/>
                <a:gd name="T99" fmla="*/ 150 h 176"/>
                <a:gd name="T100" fmla="*/ 66 w 104"/>
                <a:gd name="T101" fmla="*/ 154 h 176"/>
                <a:gd name="T102" fmla="*/ 80 w 104"/>
                <a:gd name="T103" fmla="*/ 158 h 176"/>
                <a:gd name="T104" fmla="*/ 80 w 104"/>
                <a:gd name="T105" fmla="*/ 158 h 176"/>
                <a:gd name="T106" fmla="*/ 82 w 104"/>
                <a:gd name="T107" fmla="*/ 158 h 176"/>
                <a:gd name="T108" fmla="*/ 86 w 104"/>
                <a:gd name="T109" fmla="*/ 160 h 176"/>
                <a:gd name="T110" fmla="*/ 86 w 104"/>
                <a:gd name="T111" fmla="*/ 164 h 176"/>
                <a:gd name="T112" fmla="*/ 88 w 104"/>
                <a:gd name="T113" fmla="*/ 168 h 176"/>
                <a:gd name="T114" fmla="*/ 88 w 104"/>
                <a:gd name="T115" fmla="*/ 168 h 176"/>
                <a:gd name="T116" fmla="*/ 86 w 104"/>
                <a:gd name="T117" fmla="*/ 170 h 176"/>
                <a:gd name="T118" fmla="*/ 84 w 104"/>
                <a:gd name="T119" fmla="*/ 174 h 176"/>
                <a:gd name="T120" fmla="*/ 82 w 104"/>
                <a:gd name="T121" fmla="*/ 174 h 176"/>
                <a:gd name="T122" fmla="*/ 78 w 104"/>
                <a:gd name="T123" fmla="*/ 176 h 176"/>
                <a:gd name="T124" fmla="*/ 78 w 104"/>
                <a:gd name="T125"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4" h="176">
                  <a:moveTo>
                    <a:pt x="78" y="176"/>
                  </a:moveTo>
                  <a:lnTo>
                    <a:pt x="78" y="176"/>
                  </a:lnTo>
                  <a:lnTo>
                    <a:pt x="78" y="176"/>
                  </a:lnTo>
                  <a:lnTo>
                    <a:pt x="78" y="176"/>
                  </a:lnTo>
                  <a:lnTo>
                    <a:pt x="60" y="172"/>
                  </a:lnTo>
                  <a:lnTo>
                    <a:pt x="44" y="166"/>
                  </a:lnTo>
                  <a:lnTo>
                    <a:pt x="30" y="156"/>
                  </a:lnTo>
                  <a:lnTo>
                    <a:pt x="18" y="144"/>
                  </a:lnTo>
                  <a:lnTo>
                    <a:pt x="18" y="144"/>
                  </a:lnTo>
                  <a:lnTo>
                    <a:pt x="8" y="128"/>
                  </a:lnTo>
                  <a:lnTo>
                    <a:pt x="2" y="112"/>
                  </a:lnTo>
                  <a:lnTo>
                    <a:pt x="0" y="96"/>
                  </a:lnTo>
                  <a:lnTo>
                    <a:pt x="0" y="78"/>
                  </a:lnTo>
                  <a:lnTo>
                    <a:pt x="0" y="78"/>
                  </a:lnTo>
                  <a:lnTo>
                    <a:pt x="4" y="62"/>
                  </a:lnTo>
                  <a:lnTo>
                    <a:pt x="10" y="46"/>
                  </a:lnTo>
                  <a:lnTo>
                    <a:pt x="20" y="32"/>
                  </a:lnTo>
                  <a:lnTo>
                    <a:pt x="32" y="20"/>
                  </a:lnTo>
                  <a:lnTo>
                    <a:pt x="32" y="20"/>
                  </a:lnTo>
                  <a:lnTo>
                    <a:pt x="46" y="10"/>
                  </a:lnTo>
                  <a:lnTo>
                    <a:pt x="62" y="4"/>
                  </a:lnTo>
                  <a:lnTo>
                    <a:pt x="80" y="0"/>
                  </a:lnTo>
                  <a:lnTo>
                    <a:pt x="96" y="0"/>
                  </a:lnTo>
                  <a:lnTo>
                    <a:pt x="96" y="0"/>
                  </a:lnTo>
                  <a:lnTo>
                    <a:pt x="100" y="2"/>
                  </a:lnTo>
                  <a:lnTo>
                    <a:pt x="102" y="4"/>
                  </a:lnTo>
                  <a:lnTo>
                    <a:pt x="104" y="8"/>
                  </a:lnTo>
                  <a:lnTo>
                    <a:pt x="104" y="10"/>
                  </a:lnTo>
                  <a:lnTo>
                    <a:pt x="104" y="10"/>
                  </a:lnTo>
                  <a:lnTo>
                    <a:pt x="104" y="14"/>
                  </a:lnTo>
                  <a:lnTo>
                    <a:pt x="102" y="16"/>
                  </a:lnTo>
                  <a:lnTo>
                    <a:pt x="98" y="18"/>
                  </a:lnTo>
                  <a:lnTo>
                    <a:pt x="94" y="18"/>
                  </a:lnTo>
                  <a:lnTo>
                    <a:pt x="94" y="18"/>
                  </a:lnTo>
                  <a:lnTo>
                    <a:pt x="80" y="18"/>
                  </a:lnTo>
                  <a:lnTo>
                    <a:pt x="68" y="22"/>
                  </a:lnTo>
                  <a:lnTo>
                    <a:pt x="54" y="26"/>
                  </a:lnTo>
                  <a:lnTo>
                    <a:pt x="44" y="34"/>
                  </a:lnTo>
                  <a:lnTo>
                    <a:pt x="34" y="44"/>
                  </a:lnTo>
                  <a:lnTo>
                    <a:pt x="26" y="54"/>
                  </a:lnTo>
                  <a:lnTo>
                    <a:pt x="20" y="66"/>
                  </a:lnTo>
                  <a:lnTo>
                    <a:pt x="18" y="80"/>
                  </a:lnTo>
                  <a:lnTo>
                    <a:pt x="18" y="80"/>
                  </a:lnTo>
                  <a:lnTo>
                    <a:pt x="18" y="94"/>
                  </a:lnTo>
                  <a:lnTo>
                    <a:pt x="20" y="108"/>
                  </a:lnTo>
                  <a:lnTo>
                    <a:pt x="24" y="120"/>
                  </a:lnTo>
                  <a:lnTo>
                    <a:pt x="32" y="132"/>
                  </a:lnTo>
                  <a:lnTo>
                    <a:pt x="32" y="132"/>
                  </a:lnTo>
                  <a:lnTo>
                    <a:pt x="42" y="142"/>
                  </a:lnTo>
                  <a:lnTo>
                    <a:pt x="54" y="150"/>
                  </a:lnTo>
                  <a:lnTo>
                    <a:pt x="66" y="154"/>
                  </a:lnTo>
                  <a:lnTo>
                    <a:pt x="80" y="158"/>
                  </a:lnTo>
                  <a:lnTo>
                    <a:pt x="80" y="158"/>
                  </a:lnTo>
                  <a:lnTo>
                    <a:pt x="82" y="158"/>
                  </a:lnTo>
                  <a:lnTo>
                    <a:pt x="86" y="160"/>
                  </a:lnTo>
                  <a:lnTo>
                    <a:pt x="86" y="164"/>
                  </a:lnTo>
                  <a:lnTo>
                    <a:pt x="88" y="168"/>
                  </a:lnTo>
                  <a:lnTo>
                    <a:pt x="88" y="168"/>
                  </a:lnTo>
                  <a:lnTo>
                    <a:pt x="86" y="170"/>
                  </a:lnTo>
                  <a:lnTo>
                    <a:pt x="84" y="174"/>
                  </a:lnTo>
                  <a:lnTo>
                    <a:pt x="82" y="174"/>
                  </a:lnTo>
                  <a:lnTo>
                    <a:pt x="78" y="176"/>
                  </a:lnTo>
                  <a:lnTo>
                    <a:pt x="78" y="176"/>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10" name="Freeform 7">
              <a:extLst>
                <a:ext uri="{FF2B5EF4-FFF2-40B4-BE49-F238E27FC236}">
                  <a16:creationId xmlns:a16="http://schemas.microsoft.com/office/drawing/2014/main" id="{6050D067-FBAC-8F3A-D472-B6A1D3D12DEA}"/>
                </a:ext>
              </a:extLst>
            </p:cNvPr>
            <p:cNvSpPr>
              <a:spLocks/>
            </p:cNvSpPr>
            <p:nvPr/>
          </p:nvSpPr>
          <p:spPr bwMode="auto">
            <a:xfrm>
              <a:off x="1068388" y="3063875"/>
              <a:ext cx="190500" cy="196850"/>
            </a:xfrm>
            <a:custGeom>
              <a:avLst/>
              <a:gdLst>
                <a:gd name="T0" fmla="*/ 28 w 120"/>
                <a:gd name="T1" fmla="*/ 124 h 124"/>
                <a:gd name="T2" fmla="*/ 28 w 120"/>
                <a:gd name="T3" fmla="*/ 124 h 124"/>
                <a:gd name="T4" fmla="*/ 26 w 120"/>
                <a:gd name="T5" fmla="*/ 124 h 124"/>
                <a:gd name="T6" fmla="*/ 22 w 120"/>
                <a:gd name="T7" fmla="*/ 122 h 124"/>
                <a:gd name="T8" fmla="*/ 22 w 120"/>
                <a:gd name="T9" fmla="*/ 122 h 124"/>
                <a:gd name="T10" fmla="*/ 12 w 120"/>
                <a:gd name="T11" fmla="*/ 112 h 124"/>
                <a:gd name="T12" fmla="*/ 6 w 120"/>
                <a:gd name="T13" fmla="*/ 100 h 124"/>
                <a:gd name="T14" fmla="*/ 2 w 120"/>
                <a:gd name="T15" fmla="*/ 88 h 124"/>
                <a:gd name="T16" fmla="*/ 0 w 120"/>
                <a:gd name="T17" fmla="*/ 74 h 124"/>
                <a:gd name="T18" fmla="*/ 0 w 120"/>
                <a:gd name="T19" fmla="*/ 74 h 124"/>
                <a:gd name="T20" fmla="*/ 0 w 120"/>
                <a:gd name="T21" fmla="*/ 60 h 124"/>
                <a:gd name="T22" fmla="*/ 4 w 120"/>
                <a:gd name="T23" fmla="*/ 46 h 124"/>
                <a:gd name="T24" fmla="*/ 8 w 120"/>
                <a:gd name="T25" fmla="*/ 34 h 124"/>
                <a:gd name="T26" fmla="*/ 18 w 120"/>
                <a:gd name="T27" fmla="*/ 24 h 124"/>
                <a:gd name="T28" fmla="*/ 18 w 120"/>
                <a:gd name="T29" fmla="*/ 24 h 124"/>
                <a:gd name="T30" fmla="*/ 28 w 120"/>
                <a:gd name="T31" fmla="*/ 14 h 124"/>
                <a:gd name="T32" fmla="*/ 40 w 120"/>
                <a:gd name="T33" fmla="*/ 8 h 124"/>
                <a:gd name="T34" fmla="*/ 52 w 120"/>
                <a:gd name="T35" fmla="*/ 2 h 124"/>
                <a:gd name="T36" fmla="*/ 66 w 120"/>
                <a:gd name="T37" fmla="*/ 0 h 124"/>
                <a:gd name="T38" fmla="*/ 66 w 120"/>
                <a:gd name="T39" fmla="*/ 0 h 124"/>
                <a:gd name="T40" fmla="*/ 80 w 120"/>
                <a:gd name="T41" fmla="*/ 2 h 124"/>
                <a:gd name="T42" fmla="*/ 92 w 120"/>
                <a:gd name="T43" fmla="*/ 4 h 124"/>
                <a:gd name="T44" fmla="*/ 106 w 120"/>
                <a:gd name="T45" fmla="*/ 10 h 124"/>
                <a:gd name="T46" fmla="*/ 116 w 120"/>
                <a:gd name="T47" fmla="*/ 18 h 124"/>
                <a:gd name="T48" fmla="*/ 116 w 120"/>
                <a:gd name="T49" fmla="*/ 18 h 124"/>
                <a:gd name="T50" fmla="*/ 118 w 120"/>
                <a:gd name="T51" fmla="*/ 22 h 124"/>
                <a:gd name="T52" fmla="*/ 120 w 120"/>
                <a:gd name="T53" fmla="*/ 24 h 124"/>
                <a:gd name="T54" fmla="*/ 118 w 120"/>
                <a:gd name="T55" fmla="*/ 28 h 124"/>
                <a:gd name="T56" fmla="*/ 116 w 120"/>
                <a:gd name="T57" fmla="*/ 32 h 124"/>
                <a:gd name="T58" fmla="*/ 116 w 120"/>
                <a:gd name="T59" fmla="*/ 32 h 124"/>
                <a:gd name="T60" fmla="*/ 114 w 120"/>
                <a:gd name="T61" fmla="*/ 34 h 124"/>
                <a:gd name="T62" fmla="*/ 110 w 120"/>
                <a:gd name="T63" fmla="*/ 34 h 124"/>
                <a:gd name="T64" fmla="*/ 108 w 120"/>
                <a:gd name="T65" fmla="*/ 34 h 124"/>
                <a:gd name="T66" fmla="*/ 104 w 120"/>
                <a:gd name="T67" fmla="*/ 32 h 124"/>
                <a:gd name="T68" fmla="*/ 104 w 120"/>
                <a:gd name="T69" fmla="*/ 32 h 124"/>
                <a:gd name="T70" fmla="*/ 96 w 120"/>
                <a:gd name="T71" fmla="*/ 26 h 124"/>
                <a:gd name="T72" fmla="*/ 86 w 120"/>
                <a:gd name="T73" fmla="*/ 22 h 124"/>
                <a:gd name="T74" fmla="*/ 76 w 120"/>
                <a:gd name="T75" fmla="*/ 18 h 124"/>
                <a:gd name="T76" fmla="*/ 66 w 120"/>
                <a:gd name="T77" fmla="*/ 18 h 124"/>
                <a:gd name="T78" fmla="*/ 66 w 120"/>
                <a:gd name="T79" fmla="*/ 18 h 124"/>
                <a:gd name="T80" fmla="*/ 56 w 120"/>
                <a:gd name="T81" fmla="*/ 20 h 124"/>
                <a:gd name="T82" fmla="*/ 46 w 120"/>
                <a:gd name="T83" fmla="*/ 24 h 124"/>
                <a:gd name="T84" fmla="*/ 38 w 120"/>
                <a:gd name="T85" fmla="*/ 28 h 124"/>
                <a:gd name="T86" fmla="*/ 30 w 120"/>
                <a:gd name="T87" fmla="*/ 36 h 124"/>
                <a:gd name="T88" fmla="*/ 30 w 120"/>
                <a:gd name="T89" fmla="*/ 36 h 124"/>
                <a:gd name="T90" fmla="*/ 24 w 120"/>
                <a:gd name="T91" fmla="*/ 44 h 124"/>
                <a:gd name="T92" fmla="*/ 20 w 120"/>
                <a:gd name="T93" fmla="*/ 52 h 124"/>
                <a:gd name="T94" fmla="*/ 18 w 120"/>
                <a:gd name="T95" fmla="*/ 62 h 124"/>
                <a:gd name="T96" fmla="*/ 18 w 120"/>
                <a:gd name="T97" fmla="*/ 74 h 124"/>
                <a:gd name="T98" fmla="*/ 18 w 120"/>
                <a:gd name="T99" fmla="*/ 74 h 124"/>
                <a:gd name="T100" fmla="*/ 18 w 120"/>
                <a:gd name="T101" fmla="*/ 84 h 124"/>
                <a:gd name="T102" fmla="*/ 22 w 120"/>
                <a:gd name="T103" fmla="*/ 92 h 124"/>
                <a:gd name="T104" fmla="*/ 28 w 120"/>
                <a:gd name="T105" fmla="*/ 102 h 124"/>
                <a:gd name="T106" fmla="*/ 34 w 120"/>
                <a:gd name="T107" fmla="*/ 110 h 124"/>
                <a:gd name="T108" fmla="*/ 34 w 120"/>
                <a:gd name="T109" fmla="*/ 110 h 124"/>
                <a:gd name="T110" fmla="*/ 36 w 120"/>
                <a:gd name="T111" fmla="*/ 112 h 124"/>
                <a:gd name="T112" fmla="*/ 38 w 120"/>
                <a:gd name="T113" fmla="*/ 116 h 124"/>
                <a:gd name="T114" fmla="*/ 36 w 120"/>
                <a:gd name="T115" fmla="*/ 118 h 124"/>
                <a:gd name="T116" fmla="*/ 34 w 120"/>
                <a:gd name="T117" fmla="*/ 122 h 124"/>
                <a:gd name="T118" fmla="*/ 34 w 120"/>
                <a:gd name="T119" fmla="*/ 122 h 124"/>
                <a:gd name="T120" fmla="*/ 32 w 120"/>
                <a:gd name="T121" fmla="*/ 124 h 124"/>
                <a:gd name="T122" fmla="*/ 28 w 120"/>
                <a:gd name="T123" fmla="*/ 124 h 124"/>
                <a:gd name="T124" fmla="*/ 28 w 120"/>
                <a:gd name="T125"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0" h="124">
                  <a:moveTo>
                    <a:pt x="28" y="124"/>
                  </a:moveTo>
                  <a:lnTo>
                    <a:pt x="28" y="124"/>
                  </a:lnTo>
                  <a:lnTo>
                    <a:pt x="26" y="124"/>
                  </a:lnTo>
                  <a:lnTo>
                    <a:pt x="22" y="122"/>
                  </a:lnTo>
                  <a:lnTo>
                    <a:pt x="22" y="122"/>
                  </a:lnTo>
                  <a:lnTo>
                    <a:pt x="12" y="112"/>
                  </a:lnTo>
                  <a:lnTo>
                    <a:pt x="6" y="100"/>
                  </a:lnTo>
                  <a:lnTo>
                    <a:pt x="2" y="88"/>
                  </a:lnTo>
                  <a:lnTo>
                    <a:pt x="0" y="74"/>
                  </a:lnTo>
                  <a:lnTo>
                    <a:pt x="0" y="74"/>
                  </a:lnTo>
                  <a:lnTo>
                    <a:pt x="0" y="60"/>
                  </a:lnTo>
                  <a:lnTo>
                    <a:pt x="4" y="46"/>
                  </a:lnTo>
                  <a:lnTo>
                    <a:pt x="8" y="34"/>
                  </a:lnTo>
                  <a:lnTo>
                    <a:pt x="18" y="24"/>
                  </a:lnTo>
                  <a:lnTo>
                    <a:pt x="18" y="24"/>
                  </a:lnTo>
                  <a:lnTo>
                    <a:pt x="28" y="14"/>
                  </a:lnTo>
                  <a:lnTo>
                    <a:pt x="40" y="8"/>
                  </a:lnTo>
                  <a:lnTo>
                    <a:pt x="52" y="2"/>
                  </a:lnTo>
                  <a:lnTo>
                    <a:pt x="66" y="0"/>
                  </a:lnTo>
                  <a:lnTo>
                    <a:pt x="66" y="0"/>
                  </a:lnTo>
                  <a:lnTo>
                    <a:pt x="80" y="2"/>
                  </a:lnTo>
                  <a:lnTo>
                    <a:pt x="92" y="4"/>
                  </a:lnTo>
                  <a:lnTo>
                    <a:pt x="106" y="10"/>
                  </a:lnTo>
                  <a:lnTo>
                    <a:pt x="116" y="18"/>
                  </a:lnTo>
                  <a:lnTo>
                    <a:pt x="116" y="18"/>
                  </a:lnTo>
                  <a:lnTo>
                    <a:pt x="118" y="22"/>
                  </a:lnTo>
                  <a:lnTo>
                    <a:pt x="120" y="24"/>
                  </a:lnTo>
                  <a:lnTo>
                    <a:pt x="118" y="28"/>
                  </a:lnTo>
                  <a:lnTo>
                    <a:pt x="116" y="32"/>
                  </a:lnTo>
                  <a:lnTo>
                    <a:pt x="116" y="32"/>
                  </a:lnTo>
                  <a:lnTo>
                    <a:pt x="114" y="34"/>
                  </a:lnTo>
                  <a:lnTo>
                    <a:pt x="110" y="34"/>
                  </a:lnTo>
                  <a:lnTo>
                    <a:pt x="108" y="34"/>
                  </a:lnTo>
                  <a:lnTo>
                    <a:pt x="104" y="32"/>
                  </a:lnTo>
                  <a:lnTo>
                    <a:pt x="104" y="32"/>
                  </a:lnTo>
                  <a:lnTo>
                    <a:pt x="96" y="26"/>
                  </a:lnTo>
                  <a:lnTo>
                    <a:pt x="86" y="22"/>
                  </a:lnTo>
                  <a:lnTo>
                    <a:pt x="76" y="18"/>
                  </a:lnTo>
                  <a:lnTo>
                    <a:pt x="66" y="18"/>
                  </a:lnTo>
                  <a:lnTo>
                    <a:pt x="66" y="18"/>
                  </a:lnTo>
                  <a:lnTo>
                    <a:pt x="56" y="20"/>
                  </a:lnTo>
                  <a:lnTo>
                    <a:pt x="46" y="24"/>
                  </a:lnTo>
                  <a:lnTo>
                    <a:pt x="38" y="28"/>
                  </a:lnTo>
                  <a:lnTo>
                    <a:pt x="30" y="36"/>
                  </a:lnTo>
                  <a:lnTo>
                    <a:pt x="30" y="36"/>
                  </a:lnTo>
                  <a:lnTo>
                    <a:pt x="24" y="44"/>
                  </a:lnTo>
                  <a:lnTo>
                    <a:pt x="20" y="52"/>
                  </a:lnTo>
                  <a:lnTo>
                    <a:pt x="18" y="62"/>
                  </a:lnTo>
                  <a:lnTo>
                    <a:pt x="18" y="74"/>
                  </a:lnTo>
                  <a:lnTo>
                    <a:pt x="18" y="74"/>
                  </a:lnTo>
                  <a:lnTo>
                    <a:pt x="18" y="84"/>
                  </a:lnTo>
                  <a:lnTo>
                    <a:pt x="22" y="92"/>
                  </a:lnTo>
                  <a:lnTo>
                    <a:pt x="28" y="102"/>
                  </a:lnTo>
                  <a:lnTo>
                    <a:pt x="34" y="110"/>
                  </a:lnTo>
                  <a:lnTo>
                    <a:pt x="34" y="110"/>
                  </a:lnTo>
                  <a:lnTo>
                    <a:pt x="36" y="112"/>
                  </a:lnTo>
                  <a:lnTo>
                    <a:pt x="38" y="116"/>
                  </a:lnTo>
                  <a:lnTo>
                    <a:pt x="36" y="118"/>
                  </a:lnTo>
                  <a:lnTo>
                    <a:pt x="34" y="122"/>
                  </a:lnTo>
                  <a:lnTo>
                    <a:pt x="34" y="122"/>
                  </a:lnTo>
                  <a:lnTo>
                    <a:pt x="32" y="124"/>
                  </a:lnTo>
                  <a:lnTo>
                    <a:pt x="28" y="124"/>
                  </a:lnTo>
                  <a:lnTo>
                    <a:pt x="28" y="124"/>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11" name="Freeform 8">
              <a:extLst>
                <a:ext uri="{FF2B5EF4-FFF2-40B4-BE49-F238E27FC236}">
                  <a16:creationId xmlns:a16="http://schemas.microsoft.com/office/drawing/2014/main" id="{5D2C8BA0-2EE6-DE57-5313-5998DFA3D39F}"/>
                </a:ext>
              </a:extLst>
            </p:cNvPr>
            <p:cNvSpPr>
              <a:spLocks/>
            </p:cNvSpPr>
            <p:nvPr/>
          </p:nvSpPr>
          <p:spPr bwMode="auto">
            <a:xfrm>
              <a:off x="1008063" y="3508375"/>
              <a:ext cx="168275" cy="276225"/>
            </a:xfrm>
            <a:custGeom>
              <a:avLst/>
              <a:gdLst>
                <a:gd name="T0" fmla="*/ 80 w 106"/>
                <a:gd name="T1" fmla="*/ 174 h 174"/>
                <a:gd name="T2" fmla="*/ 78 w 106"/>
                <a:gd name="T3" fmla="*/ 174 h 174"/>
                <a:gd name="T4" fmla="*/ 46 w 106"/>
                <a:gd name="T5" fmla="*/ 164 h 174"/>
                <a:gd name="T6" fmla="*/ 20 w 106"/>
                <a:gd name="T7" fmla="*/ 142 h 174"/>
                <a:gd name="T8" fmla="*/ 10 w 106"/>
                <a:gd name="T9" fmla="*/ 128 h 174"/>
                <a:gd name="T10" fmla="*/ 0 w 106"/>
                <a:gd name="T11" fmla="*/ 94 h 174"/>
                <a:gd name="T12" fmla="*/ 0 w 106"/>
                <a:gd name="T13" fmla="*/ 78 h 174"/>
                <a:gd name="T14" fmla="*/ 10 w 106"/>
                <a:gd name="T15" fmla="*/ 44 h 174"/>
                <a:gd name="T16" fmla="*/ 32 w 106"/>
                <a:gd name="T17" fmla="*/ 18 h 174"/>
                <a:gd name="T18" fmla="*/ 48 w 106"/>
                <a:gd name="T19" fmla="*/ 10 h 174"/>
                <a:gd name="T20" fmla="*/ 80 w 106"/>
                <a:gd name="T21" fmla="*/ 0 h 174"/>
                <a:gd name="T22" fmla="*/ 98 w 106"/>
                <a:gd name="T23" fmla="*/ 0 h 174"/>
                <a:gd name="T24" fmla="*/ 104 w 106"/>
                <a:gd name="T25" fmla="*/ 4 h 174"/>
                <a:gd name="T26" fmla="*/ 106 w 106"/>
                <a:gd name="T27" fmla="*/ 10 h 174"/>
                <a:gd name="T28" fmla="*/ 104 w 106"/>
                <a:gd name="T29" fmla="*/ 14 h 174"/>
                <a:gd name="T30" fmla="*/ 98 w 106"/>
                <a:gd name="T31" fmla="*/ 18 h 174"/>
                <a:gd name="T32" fmla="*/ 96 w 106"/>
                <a:gd name="T33" fmla="*/ 18 h 174"/>
                <a:gd name="T34" fmla="*/ 68 w 106"/>
                <a:gd name="T35" fmla="*/ 20 h 174"/>
                <a:gd name="T36" fmla="*/ 44 w 106"/>
                <a:gd name="T37" fmla="*/ 32 h 174"/>
                <a:gd name="T38" fmla="*/ 34 w 106"/>
                <a:gd name="T39" fmla="*/ 42 h 174"/>
                <a:gd name="T40" fmla="*/ 22 w 106"/>
                <a:gd name="T41" fmla="*/ 66 h 174"/>
                <a:gd name="T42" fmla="*/ 18 w 106"/>
                <a:gd name="T43" fmla="*/ 80 h 174"/>
                <a:gd name="T44" fmla="*/ 20 w 106"/>
                <a:gd name="T45" fmla="*/ 106 h 174"/>
                <a:gd name="T46" fmla="*/ 34 w 106"/>
                <a:gd name="T47" fmla="*/ 130 h 174"/>
                <a:gd name="T48" fmla="*/ 42 w 106"/>
                <a:gd name="T49" fmla="*/ 140 h 174"/>
                <a:gd name="T50" fmla="*/ 66 w 106"/>
                <a:gd name="T51" fmla="*/ 154 h 174"/>
                <a:gd name="T52" fmla="*/ 80 w 106"/>
                <a:gd name="T53" fmla="*/ 156 h 174"/>
                <a:gd name="T54" fmla="*/ 86 w 106"/>
                <a:gd name="T55" fmla="*/ 160 h 174"/>
                <a:gd name="T56" fmla="*/ 88 w 106"/>
                <a:gd name="T57" fmla="*/ 166 h 174"/>
                <a:gd name="T58" fmla="*/ 88 w 106"/>
                <a:gd name="T59" fmla="*/ 170 h 174"/>
                <a:gd name="T60" fmla="*/ 82 w 106"/>
                <a:gd name="T61" fmla="*/ 174 h 174"/>
                <a:gd name="T62" fmla="*/ 80 w 106"/>
                <a:gd name="T63" fmla="*/ 17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 h="174">
                  <a:moveTo>
                    <a:pt x="80" y="174"/>
                  </a:moveTo>
                  <a:lnTo>
                    <a:pt x="80" y="174"/>
                  </a:lnTo>
                  <a:lnTo>
                    <a:pt x="78" y="174"/>
                  </a:lnTo>
                  <a:lnTo>
                    <a:pt x="78" y="174"/>
                  </a:lnTo>
                  <a:lnTo>
                    <a:pt x="62" y="170"/>
                  </a:lnTo>
                  <a:lnTo>
                    <a:pt x="46" y="164"/>
                  </a:lnTo>
                  <a:lnTo>
                    <a:pt x="32" y="154"/>
                  </a:lnTo>
                  <a:lnTo>
                    <a:pt x="20" y="142"/>
                  </a:lnTo>
                  <a:lnTo>
                    <a:pt x="20" y="142"/>
                  </a:lnTo>
                  <a:lnTo>
                    <a:pt x="10" y="128"/>
                  </a:lnTo>
                  <a:lnTo>
                    <a:pt x="4" y="112"/>
                  </a:lnTo>
                  <a:lnTo>
                    <a:pt x="0" y="94"/>
                  </a:lnTo>
                  <a:lnTo>
                    <a:pt x="0" y="78"/>
                  </a:lnTo>
                  <a:lnTo>
                    <a:pt x="0" y="78"/>
                  </a:lnTo>
                  <a:lnTo>
                    <a:pt x="4" y="60"/>
                  </a:lnTo>
                  <a:lnTo>
                    <a:pt x="10" y="44"/>
                  </a:lnTo>
                  <a:lnTo>
                    <a:pt x="20" y="30"/>
                  </a:lnTo>
                  <a:lnTo>
                    <a:pt x="32" y="18"/>
                  </a:lnTo>
                  <a:lnTo>
                    <a:pt x="32" y="18"/>
                  </a:lnTo>
                  <a:lnTo>
                    <a:pt x="48" y="10"/>
                  </a:lnTo>
                  <a:lnTo>
                    <a:pt x="64" y="2"/>
                  </a:lnTo>
                  <a:lnTo>
                    <a:pt x="80" y="0"/>
                  </a:lnTo>
                  <a:lnTo>
                    <a:pt x="98" y="0"/>
                  </a:lnTo>
                  <a:lnTo>
                    <a:pt x="98" y="0"/>
                  </a:lnTo>
                  <a:lnTo>
                    <a:pt x="100" y="0"/>
                  </a:lnTo>
                  <a:lnTo>
                    <a:pt x="104" y="4"/>
                  </a:lnTo>
                  <a:lnTo>
                    <a:pt x="106" y="6"/>
                  </a:lnTo>
                  <a:lnTo>
                    <a:pt x="106" y="10"/>
                  </a:lnTo>
                  <a:lnTo>
                    <a:pt x="106" y="10"/>
                  </a:lnTo>
                  <a:lnTo>
                    <a:pt x="104" y="14"/>
                  </a:lnTo>
                  <a:lnTo>
                    <a:pt x="102" y="16"/>
                  </a:lnTo>
                  <a:lnTo>
                    <a:pt x="98" y="18"/>
                  </a:lnTo>
                  <a:lnTo>
                    <a:pt x="96" y="18"/>
                  </a:lnTo>
                  <a:lnTo>
                    <a:pt x="96" y="18"/>
                  </a:lnTo>
                  <a:lnTo>
                    <a:pt x="82" y="18"/>
                  </a:lnTo>
                  <a:lnTo>
                    <a:pt x="68" y="20"/>
                  </a:lnTo>
                  <a:lnTo>
                    <a:pt x="56" y="26"/>
                  </a:lnTo>
                  <a:lnTo>
                    <a:pt x="44" y="32"/>
                  </a:lnTo>
                  <a:lnTo>
                    <a:pt x="44" y="32"/>
                  </a:lnTo>
                  <a:lnTo>
                    <a:pt x="34" y="42"/>
                  </a:lnTo>
                  <a:lnTo>
                    <a:pt x="26" y="54"/>
                  </a:lnTo>
                  <a:lnTo>
                    <a:pt x="22" y="66"/>
                  </a:lnTo>
                  <a:lnTo>
                    <a:pt x="18" y="80"/>
                  </a:lnTo>
                  <a:lnTo>
                    <a:pt x="18" y="80"/>
                  </a:lnTo>
                  <a:lnTo>
                    <a:pt x="18" y="94"/>
                  </a:lnTo>
                  <a:lnTo>
                    <a:pt x="20" y="106"/>
                  </a:lnTo>
                  <a:lnTo>
                    <a:pt x="26" y="120"/>
                  </a:lnTo>
                  <a:lnTo>
                    <a:pt x="34" y="130"/>
                  </a:lnTo>
                  <a:lnTo>
                    <a:pt x="34" y="130"/>
                  </a:lnTo>
                  <a:lnTo>
                    <a:pt x="42" y="140"/>
                  </a:lnTo>
                  <a:lnTo>
                    <a:pt x="54" y="148"/>
                  </a:lnTo>
                  <a:lnTo>
                    <a:pt x="66" y="154"/>
                  </a:lnTo>
                  <a:lnTo>
                    <a:pt x="80" y="156"/>
                  </a:lnTo>
                  <a:lnTo>
                    <a:pt x="80" y="156"/>
                  </a:lnTo>
                  <a:lnTo>
                    <a:pt x="84" y="158"/>
                  </a:lnTo>
                  <a:lnTo>
                    <a:pt x="86" y="160"/>
                  </a:lnTo>
                  <a:lnTo>
                    <a:pt x="88" y="162"/>
                  </a:lnTo>
                  <a:lnTo>
                    <a:pt x="88" y="166"/>
                  </a:lnTo>
                  <a:lnTo>
                    <a:pt x="88" y="166"/>
                  </a:lnTo>
                  <a:lnTo>
                    <a:pt x="88" y="170"/>
                  </a:lnTo>
                  <a:lnTo>
                    <a:pt x="86" y="172"/>
                  </a:lnTo>
                  <a:lnTo>
                    <a:pt x="82" y="174"/>
                  </a:lnTo>
                  <a:lnTo>
                    <a:pt x="80" y="174"/>
                  </a:lnTo>
                  <a:lnTo>
                    <a:pt x="80" y="174"/>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12" name="Freeform 9">
              <a:extLst>
                <a:ext uri="{FF2B5EF4-FFF2-40B4-BE49-F238E27FC236}">
                  <a16:creationId xmlns:a16="http://schemas.microsoft.com/office/drawing/2014/main" id="{9CFCD9CF-08C1-CE9F-73B9-B5FAC953FB39}"/>
                </a:ext>
              </a:extLst>
            </p:cNvPr>
            <p:cNvSpPr>
              <a:spLocks/>
            </p:cNvSpPr>
            <p:nvPr/>
          </p:nvSpPr>
          <p:spPr bwMode="auto">
            <a:xfrm>
              <a:off x="1163638" y="3105150"/>
              <a:ext cx="177800" cy="149225"/>
            </a:xfrm>
            <a:custGeom>
              <a:avLst/>
              <a:gdLst>
                <a:gd name="T0" fmla="*/ 52 w 112"/>
                <a:gd name="T1" fmla="*/ 94 h 94"/>
                <a:gd name="T2" fmla="*/ 52 w 112"/>
                <a:gd name="T3" fmla="*/ 94 h 94"/>
                <a:gd name="T4" fmla="*/ 38 w 112"/>
                <a:gd name="T5" fmla="*/ 92 h 94"/>
                <a:gd name="T6" fmla="*/ 22 w 112"/>
                <a:gd name="T7" fmla="*/ 86 h 94"/>
                <a:gd name="T8" fmla="*/ 10 w 112"/>
                <a:gd name="T9" fmla="*/ 76 h 94"/>
                <a:gd name="T10" fmla="*/ 0 w 112"/>
                <a:gd name="T11" fmla="*/ 62 h 94"/>
                <a:gd name="T12" fmla="*/ 0 w 112"/>
                <a:gd name="T13" fmla="*/ 62 h 94"/>
                <a:gd name="T14" fmla="*/ 0 w 112"/>
                <a:gd name="T15" fmla="*/ 58 h 94"/>
                <a:gd name="T16" fmla="*/ 0 w 112"/>
                <a:gd name="T17" fmla="*/ 56 h 94"/>
                <a:gd name="T18" fmla="*/ 2 w 112"/>
                <a:gd name="T19" fmla="*/ 52 h 94"/>
                <a:gd name="T20" fmla="*/ 4 w 112"/>
                <a:gd name="T21" fmla="*/ 50 h 94"/>
                <a:gd name="T22" fmla="*/ 4 w 112"/>
                <a:gd name="T23" fmla="*/ 50 h 94"/>
                <a:gd name="T24" fmla="*/ 8 w 112"/>
                <a:gd name="T25" fmla="*/ 48 h 94"/>
                <a:gd name="T26" fmla="*/ 10 w 112"/>
                <a:gd name="T27" fmla="*/ 50 h 94"/>
                <a:gd name="T28" fmla="*/ 14 w 112"/>
                <a:gd name="T29" fmla="*/ 50 h 94"/>
                <a:gd name="T30" fmla="*/ 16 w 112"/>
                <a:gd name="T31" fmla="*/ 54 h 94"/>
                <a:gd name="T32" fmla="*/ 16 w 112"/>
                <a:gd name="T33" fmla="*/ 54 h 94"/>
                <a:gd name="T34" fmla="*/ 20 w 112"/>
                <a:gd name="T35" fmla="*/ 60 h 94"/>
                <a:gd name="T36" fmla="*/ 26 w 112"/>
                <a:gd name="T37" fmla="*/ 66 h 94"/>
                <a:gd name="T38" fmla="*/ 34 w 112"/>
                <a:gd name="T39" fmla="*/ 70 h 94"/>
                <a:gd name="T40" fmla="*/ 40 w 112"/>
                <a:gd name="T41" fmla="*/ 74 h 94"/>
                <a:gd name="T42" fmla="*/ 48 w 112"/>
                <a:gd name="T43" fmla="*/ 74 h 94"/>
                <a:gd name="T44" fmla="*/ 56 w 112"/>
                <a:gd name="T45" fmla="*/ 74 h 94"/>
                <a:gd name="T46" fmla="*/ 64 w 112"/>
                <a:gd name="T47" fmla="*/ 74 h 94"/>
                <a:gd name="T48" fmla="*/ 72 w 112"/>
                <a:gd name="T49" fmla="*/ 70 h 94"/>
                <a:gd name="T50" fmla="*/ 72 w 112"/>
                <a:gd name="T51" fmla="*/ 70 h 94"/>
                <a:gd name="T52" fmla="*/ 80 w 112"/>
                <a:gd name="T53" fmla="*/ 66 h 94"/>
                <a:gd name="T54" fmla="*/ 86 w 112"/>
                <a:gd name="T55" fmla="*/ 60 h 94"/>
                <a:gd name="T56" fmla="*/ 90 w 112"/>
                <a:gd name="T57" fmla="*/ 52 h 94"/>
                <a:gd name="T58" fmla="*/ 92 w 112"/>
                <a:gd name="T59" fmla="*/ 46 h 94"/>
                <a:gd name="T60" fmla="*/ 92 w 112"/>
                <a:gd name="T61" fmla="*/ 46 h 94"/>
                <a:gd name="T62" fmla="*/ 94 w 112"/>
                <a:gd name="T63" fmla="*/ 38 h 94"/>
                <a:gd name="T64" fmla="*/ 94 w 112"/>
                <a:gd name="T65" fmla="*/ 28 h 94"/>
                <a:gd name="T66" fmla="*/ 92 w 112"/>
                <a:gd name="T67" fmla="*/ 22 h 94"/>
                <a:gd name="T68" fmla="*/ 90 w 112"/>
                <a:gd name="T69" fmla="*/ 14 h 94"/>
                <a:gd name="T70" fmla="*/ 90 w 112"/>
                <a:gd name="T71" fmla="*/ 14 h 94"/>
                <a:gd name="T72" fmla="*/ 88 w 112"/>
                <a:gd name="T73" fmla="*/ 10 h 94"/>
                <a:gd name="T74" fmla="*/ 88 w 112"/>
                <a:gd name="T75" fmla="*/ 6 h 94"/>
                <a:gd name="T76" fmla="*/ 90 w 112"/>
                <a:gd name="T77" fmla="*/ 4 h 94"/>
                <a:gd name="T78" fmla="*/ 92 w 112"/>
                <a:gd name="T79" fmla="*/ 2 h 94"/>
                <a:gd name="T80" fmla="*/ 92 w 112"/>
                <a:gd name="T81" fmla="*/ 2 h 94"/>
                <a:gd name="T82" fmla="*/ 96 w 112"/>
                <a:gd name="T83" fmla="*/ 0 h 94"/>
                <a:gd name="T84" fmla="*/ 100 w 112"/>
                <a:gd name="T85" fmla="*/ 0 h 94"/>
                <a:gd name="T86" fmla="*/ 102 w 112"/>
                <a:gd name="T87" fmla="*/ 2 h 94"/>
                <a:gd name="T88" fmla="*/ 106 w 112"/>
                <a:gd name="T89" fmla="*/ 4 h 94"/>
                <a:gd name="T90" fmla="*/ 106 w 112"/>
                <a:gd name="T91" fmla="*/ 4 h 94"/>
                <a:gd name="T92" fmla="*/ 110 w 112"/>
                <a:gd name="T93" fmla="*/ 16 h 94"/>
                <a:gd name="T94" fmla="*/ 112 w 112"/>
                <a:gd name="T95" fmla="*/ 28 h 94"/>
                <a:gd name="T96" fmla="*/ 112 w 112"/>
                <a:gd name="T97" fmla="*/ 38 h 94"/>
                <a:gd name="T98" fmla="*/ 110 w 112"/>
                <a:gd name="T99" fmla="*/ 50 h 94"/>
                <a:gd name="T100" fmla="*/ 110 w 112"/>
                <a:gd name="T101" fmla="*/ 50 h 94"/>
                <a:gd name="T102" fmla="*/ 106 w 112"/>
                <a:gd name="T103" fmla="*/ 62 h 94"/>
                <a:gd name="T104" fmla="*/ 100 w 112"/>
                <a:gd name="T105" fmla="*/ 70 h 94"/>
                <a:gd name="T106" fmla="*/ 92 w 112"/>
                <a:gd name="T107" fmla="*/ 80 h 94"/>
                <a:gd name="T108" fmla="*/ 82 w 112"/>
                <a:gd name="T109" fmla="*/ 86 h 94"/>
                <a:gd name="T110" fmla="*/ 82 w 112"/>
                <a:gd name="T111" fmla="*/ 86 h 94"/>
                <a:gd name="T112" fmla="*/ 68 w 112"/>
                <a:gd name="T113" fmla="*/ 92 h 94"/>
                <a:gd name="T114" fmla="*/ 52 w 112"/>
                <a:gd name="T115" fmla="*/ 94 h 94"/>
                <a:gd name="T116" fmla="*/ 52 w 112"/>
                <a:gd name="T117"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2" h="94">
                  <a:moveTo>
                    <a:pt x="52" y="94"/>
                  </a:moveTo>
                  <a:lnTo>
                    <a:pt x="52" y="94"/>
                  </a:lnTo>
                  <a:lnTo>
                    <a:pt x="38" y="92"/>
                  </a:lnTo>
                  <a:lnTo>
                    <a:pt x="22" y="86"/>
                  </a:lnTo>
                  <a:lnTo>
                    <a:pt x="10" y="76"/>
                  </a:lnTo>
                  <a:lnTo>
                    <a:pt x="0" y="62"/>
                  </a:lnTo>
                  <a:lnTo>
                    <a:pt x="0" y="62"/>
                  </a:lnTo>
                  <a:lnTo>
                    <a:pt x="0" y="58"/>
                  </a:lnTo>
                  <a:lnTo>
                    <a:pt x="0" y="56"/>
                  </a:lnTo>
                  <a:lnTo>
                    <a:pt x="2" y="52"/>
                  </a:lnTo>
                  <a:lnTo>
                    <a:pt x="4" y="50"/>
                  </a:lnTo>
                  <a:lnTo>
                    <a:pt x="4" y="50"/>
                  </a:lnTo>
                  <a:lnTo>
                    <a:pt x="8" y="48"/>
                  </a:lnTo>
                  <a:lnTo>
                    <a:pt x="10" y="50"/>
                  </a:lnTo>
                  <a:lnTo>
                    <a:pt x="14" y="50"/>
                  </a:lnTo>
                  <a:lnTo>
                    <a:pt x="16" y="54"/>
                  </a:lnTo>
                  <a:lnTo>
                    <a:pt x="16" y="54"/>
                  </a:lnTo>
                  <a:lnTo>
                    <a:pt x="20" y="60"/>
                  </a:lnTo>
                  <a:lnTo>
                    <a:pt x="26" y="66"/>
                  </a:lnTo>
                  <a:lnTo>
                    <a:pt x="34" y="70"/>
                  </a:lnTo>
                  <a:lnTo>
                    <a:pt x="40" y="74"/>
                  </a:lnTo>
                  <a:lnTo>
                    <a:pt x="48" y="74"/>
                  </a:lnTo>
                  <a:lnTo>
                    <a:pt x="56" y="74"/>
                  </a:lnTo>
                  <a:lnTo>
                    <a:pt x="64" y="74"/>
                  </a:lnTo>
                  <a:lnTo>
                    <a:pt x="72" y="70"/>
                  </a:lnTo>
                  <a:lnTo>
                    <a:pt x="72" y="70"/>
                  </a:lnTo>
                  <a:lnTo>
                    <a:pt x="80" y="66"/>
                  </a:lnTo>
                  <a:lnTo>
                    <a:pt x="86" y="60"/>
                  </a:lnTo>
                  <a:lnTo>
                    <a:pt x="90" y="52"/>
                  </a:lnTo>
                  <a:lnTo>
                    <a:pt x="92" y="46"/>
                  </a:lnTo>
                  <a:lnTo>
                    <a:pt x="92" y="46"/>
                  </a:lnTo>
                  <a:lnTo>
                    <a:pt x="94" y="38"/>
                  </a:lnTo>
                  <a:lnTo>
                    <a:pt x="94" y="28"/>
                  </a:lnTo>
                  <a:lnTo>
                    <a:pt x="92" y="22"/>
                  </a:lnTo>
                  <a:lnTo>
                    <a:pt x="90" y="14"/>
                  </a:lnTo>
                  <a:lnTo>
                    <a:pt x="90" y="14"/>
                  </a:lnTo>
                  <a:lnTo>
                    <a:pt x="88" y="10"/>
                  </a:lnTo>
                  <a:lnTo>
                    <a:pt x="88" y="6"/>
                  </a:lnTo>
                  <a:lnTo>
                    <a:pt x="90" y="4"/>
                  </a:lnTo>
                  <a:lnTo>
                    <a:pt x="92" y="2"/>
                  </a:lnTo>
                  <a:lnTo>
                    <a:pt x="92" y="2"/>
                  </a:lnTo>
                  <a:lnTo>
                    <a:pt x="96" y="0"/>
                  </a:lnTo>
                  <a:lnTo>
                    <a:pt x="100" y="0"/>
                  </a:lnTo>
                  <a:lnTo>
                    <a:pt x="102" y="2"/>
                  </a:lnTo>
                  <a:lnTo>
                    <a:pt x="106" y="4"/>
                  </a:lnTo>
                  <a:lnTo>
                    <a:pt x="106" y="4"/>
                  </a:lnTo>
                  <a:lnTo>
                    <a:pt x="110" y="16"/>
                  </a:lnTo>
                  <a:lnTo>
                    <a:pt x="112" y="28"/>
                  </a:lnTo>
                  <a:lnTo>
                    <a:pt x="112" y="38"/>
                  </a:lnTo>
                  <a:lnTo>
                    <a:pt x="110" y="50"/>
                  </a:lnTo>
                  <a:lnTo>
                    <a:pt x="110" y="50"/>
                  </a:lnTo>
                  <a:lnTo>
                    <a:pt x="106" y="62"/>
                  </a:lnTo>
                  <a:lnTo>
                    <a:pt x="100" y="70"/>
                  </a:lnTo>
                  <a:lnTo>
                    <a:pt x="92" y="80"/>
                  </a:lnTo>
                  <a:lnTo>
                    <a:pt x="82" y="86"/>
                  </a:lnTo>
                  <a:lnTo>
                    <a:pt x="82" y="86"/>
                  </a:lnTo>
                  <a:lnTo>
                    <a:pt x="68" y="92"/>
                  </a:lnTo>
                  <a:lnTo>
                    <a:pt x="52" y="94"/>
                  </a:lnTo>
                  <a:lnTo>
                    <a:pt x="52" y="94"/>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13" name="Freeform 10">
              <a:extLst>
                <a:ext uri="{FF2B5EF4-FFF2-40B4-BE49-F238E27FC236}">
                  <a16:creationId xmlns:a16="http://schemas.microsoft.com/office/drawing/2014/main" id="{D739A83A-53AE-9337-AC6C-38AEB54903C6}"/>
                </a:ext>
              </a:extLst>
            </p:cNvPr>
            <p:cNvSpPr>
              <a:spLocks/>
            </p:cNvSpPr>
            <p:nvPr/>
          </p:nvSpPr>
          <p:spPr bwMode="auto">
            <a:xfrm>
              <a:off x="1223963" y="3492500"/>
              <a:ext cx="127000" cy="92075"/>
            </a:xfrm>
            <a:custGeom>
              <a:avLst/>
              <a:gdLst>
                <a:gd name="T0" fmla="*/ 40 w 80"/>
                <a:gd name="T1" fmla="*/ 58 h 58"/>
                <a:gd name="T2" fmla="*/ 40 w 80"/>
                <a:gd name="T3" fmla="*/ 58 h 58"/>
                <a:gd name="T4" fmla="*/ 30 w 80"/>
                <a:gd name="T5" fmla="*/ 58 h 58"/>
                <a:gd name="T6" fmla="*/ 22 w 80"/>
                <a:gd name="T7" fmla="*/ 54 h 58"/>
                <a:gd name="T8" fmla="*/ 22 w 80"/>
                <a:gd name="T9" fmla="*/ 54 h 58"/>
                <a:gd name="T10" fmla="*/ 14 w 80"/>
                <a:gd name="T11" fmla="*/ 50 h 58"/>
                <a:gd name="T12" fmla="*/ 8 w 80"/>
                <a:gd name="T13" fmla="*/ 44 h 58"/>
                <a:gd name="T14" fmla="*/ 4 w 80"/>
                <a:gd name="T15" fmla="*/ 38 h 58"/>
                <a:gd name="T16" fmla="*/ 2 w 80"/>
                <a:gd name="T17" fmla="*/ 30 h 58"/>
                <a:gd name="T18" fmla="*/ 2 w 80"/>
                <a:gd name="T19" fmla="*/ 30 h 58"/>
                <a:gd name="T20" fmla="*/ 0 w 80"/>
                <a:gd name="T21" fmla="*/ 26 h 58"/>
                <a:gd name="T22" fmla="*/ 2 w 80"/>
                <a:gd name="T23" fmla="*/ 24 h 58"/>
                <a:gd name="T24" fmla="*/ 4 w 80"/>
                <a:gd name="T25" fmla="*/ 20 h 58"/>
                <a:gd name="T26" fmla="*/ 6 w 80"/>
                <a:gd name="T27" fmla="*/ 20 h 58"/>
                <a:gd name="T28" fmla="*/ 6 w 80"/>
                <a:gd name="T29" fmla="*/ 20 h 58"/>
                <a:gd name="T30" fmla="*/ 10 w 80"/>
                <a:gd name="T31" fmla="*/ 18 h 58"/>
                <a:gd name="T32" fmla="*/ 14 w 80"/>
                <a:gd name="T33" fmla="*/ 20 h 58"/>
                <a:gd name="T34" fmla="*/ 16 w 80"/>
                <a:gd name="T35" fmla="*/ 22 h 58"/>
                <a:gd name="T36" fmla="*/ 18 w 80"/>
                <a:gd name="T37" fmla="*/ 26 h 58"/>
                <a:gd name="T38" fmla="*/ 18 w 80"/>
                <a:gd name="T39" fmla="*/ 26 h 58"/>
                <a:gd name="T40" fmla="*/ 22 w 80"/>
                <a:gd name="T41" fmla="*/ 32 h 58"/>
                <a:gd name="T42" fmla="*/ 30 w 80"/>
                <a:gd name="T43" fmla="*/ 38 h 58"/>
                <a:gd name="T44" fmla="*/ 30 w 80"/>
                <a:gd name="T45" fmla="*/ 38 h 58"/>
                <a:gd name="T46" fmla="*/ 38 w 80"/>
                <a:gd name="T47" fmla="*/ 40 h 58"/>
                <a:gd name="T48" fmla="*/ 46 w 80"/>
                <a:gd name="T49" fmla="*/ 40 h 58"/>
                <a:gd name="T50" fmla="*/ 46 w 80"/>
                <a:gd name="T51" fmla="*/ 40 h 58"/>
                <a:gd name="T52" fmla="*/ 54 w 80"/>
                <a:gd name="T53" fmla="*/ 36 h 58"/>
                <a:gd name="T54" fmla="*/ 60 w 80"/>
                <a:gd name="T55" fmla="*/ 28 h 58"/>
                <a:gd name="T56" fmla="*/ 60 w 80"/>
                <a:gd name="T57" fmla="*/ 28 h 58"/>
                <a:gd name="T58" fmla="*/ 62 w 80"/>
                <a:gd name="T59" fmla="*/ 20 h 58"/>
                <a:gd name="T60" fmla="*/ 62 w 80"/>
                <a:gd name="T61" fmla="*/ 12 h 58"/>
                <a:gd name="T62" fmla="*/ 62 w 80"/>
                <a:gd name="T63" fmla="*/ 12 h 58"/>
                <a:gd name="T64" fmla="*/ 60 w 80"/>
                <a:gd name="T65" fmla="*/ 8 h 58"/>
                <a:gd name="T66" fmla="*/ 62 w 80"/>
                <a:gd name="T67" fmla="*/ 4 h 58"/>
                <a:gd name="T68" fmla="*/ 64 w 80"/>
                <a:gd name="T69" fmla="*/ 2 h 58"/>
                <a:gd name="T70" fmla="*/ 68 w 80"/>
                <a:gd name="T71" fmla="*/ 0 h 58"/>
                <a:gd name="T72" fmla="*/ 68 w 80"/>
                <a:gd name="T73" fmla="*/ 0 h 58"/>
                <a:gd name="T74" fmla="*/ 70 w 80"/>
                <a:gd name="T75" fmla="*/ 0 h 58"/>
                <a:gd name="T76" fmla="*/ 74 w 80"/>
                <a:gd name="T77" fmla="*/ 0 h 58"/>
                <a:gd name="T78" fmla="*/ 76 w 80"/>
                <a:gd name="T79" fmla="*/ 2 h 58"/>
                <a:gd name="T80" fmla="*/ 78 w 80"/>
                <a:gd name="T81" fmla="*/ 6 h 58"/>
                <a:gd name="T82" fmla="*/ 78 w 80"/>
                <a:gd name="T83" fmla="*/ 6 h 58"/>
                <a:gd name="T84" fmla="*/ 80 w 80"/>
                <a:gd name="T85" fmla="*/ 14 h 58"/>
                <a:gd name="T86" fmla="*/ 80 w 80"/>
                <a:gd name="T87" fmla="*/ 22 h 58"/>
                <a:gd name="T88" fmla="*/ 78 w 80"/>
                <a:gd name="T89" fmla="*/ 30 h 58"/>
                <a:gd name="T90" fmla="*/ 76 w 80"/>
                <a:gd name="T91" fmla="*/ 36 h 58"/>
                <a:gd name="T92" fmla="*/ 76 w 80"/>
                <a:gd name="T93" fmla="*/ 36 h 58"/>
                <a:gd name="T94" fmla="*/ 72 w 80"/>
                <a:gd name="T95" fmla="*/ 44 h 58"/>
                <a:gd name="T96" fmla="*/ 66 w 80"/>
                <a:gd name="T97" fmla="*/ 50 h 58"/>
                <a:gd name="T98" fmla="*/ 60 w 80"/>
                <a:gd name="T99" fmla="*/ 54 h 58"/>
                <a:gd name="T100" fmla="*/ 52 w 80"/>
                <a:gd name="T101" fmla="*/ 56 h 58"/>
                <a:gd name="T102" fmla="*/ 52 w 80"/>
                <a:gd name="T103" fmla="*/ 56 h 58"/>
                <a:gd name="T104" fmla="*/ 40 w 80"/>
                <a:gd name="T105" fmla="*/ 58 h 58"/>
                <a:gd name="T106" fmla="*/ 40 w 80"/>
                <a:gd name="T107" fmla="*/ 5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0" h="58">
                  <a:moveTo>
                    <a:pt x="40" y="58"/>
                  </a:moveTo>
                  <a:lnTo>
                    <a:pt x="40" y="58"/>
                  </a:lnTo>
                  <a:lnTo>
                    <a:pt x="30" y="58"/>
                  </a:lnTo>
                  <a:lnTo>
                    <a:pt x="22" y="54"/>
                  </a:lnTo>
                  <a:lnTo>
                    <a:pt x="22" y="54"/>
                  </a:lnTo>
                  <a:lnTo>
                    <a:pt x="14" y="50"/>
                  </a:lnTo>
                  <a:lnTo>
                    <a:pt x="8" y="44"/>
                  </a:lnTo>
                  <a:lnTo>
                    <a:pt x="4" y="38"/>
                  </a:lnTo>
                  <a:lnTo>
                    <a:pt x="2" y="30"/>
                  </a:lnTo>
                  <a:lnTo>
                    <a:pt x="2" y="30"/>
                  </a:lnTo>
                  <a:lnTo>
                    <a:pt x="0" y="26"/>
                  </a:lnTo>
                  <a:lnTo>
                    <a:pt x="2" y="24"/>
                  </a:lnTo>
                  <a:lnTo>
                    <a:pt x="4" y="20"/>
                  </a:lnTo>
                  <a:lnTo>
                    <a:pt x="6" y="20"/>
                  </a:lnTo>
                  <a:lnTo>
                    <a:pt x="6" y="20"/>
                  </a:lnTo>
                  <a:lnTo>
                    <a:pt x="10" y="18"/>
                  </a:lnTo>
                  <a:lnTo>
                    <a:pt x="14" y="20"/>
                  </a:lnTo>
                  <a:lnTo>
                    <a:pt x="16" y="22"/>
                  </a:lnTo>
                  <a:lnTo>
                    <a:pt x="18" y="26"/>
                  </a:lnTo>
                  <a:lnTo>
                    <a:pt x="18" y="26"/>
                  </a:lnTo>
                  <a:lnTo>
                    <a:pt x="22" y="32"/>
                  </a:lnTo>
                  <a:lnTo>
                    <a:pt x="30" y="38"/>
                  </a:lnTo>
                  <a:lnTo>
                    <a:pt x="30" y="38"/>
                  </a:lnTo>
                  <a:lnTo>
                    <a:pt x="38" y="40"/>
                  </a:lnTo>
                  <a:lnTo>
                    <a:pt x="46" y="40"/>
                  </a:lnTo>
                  <a:lnTo>
                    <a:pt x="46" y="40"/>
                  </a:lnTo>
                  <a:lnTo>
                    <a:pt x="54" y="36"/>
                  </a:lnTo>
                  <a:lnTo>
                    <a:pt x="60" y="28"/>
                  </a:lnTo>
                  <a:lnTo>
                    <a:pt x="60" y="28"/>
                  </a:lnTo>
                  <a:lnTo>
                    <a:pt x="62" y="20"/>
                  </a:lnTo>
                  <a:lnTo>
                    <a:pt x="62" y="12"/>
                  </a:lnTo>
                  <a:lnTo>
                    <a:pt x="62" y="12"/>
                  </a:lnTo>
                  <a:lnTo>
                    <a:pt x="60" y="8"/>
                  </a:lnTo>
                  <a:lnTo>
                    <a:pt x="62" y="4"/>
                  </a:lnTo>
                  <a:lnTo>
                    <a:pt x="64" y="2"/>
                  </a:lnTo>
                  <a:lnTo>
                    <a:pt x="68" y="0"/>
                  </a:lnTo>
                  <a:lnTo>
                    <a:pt x="68" y="0"/>
                  </a:lnTo>
                  <a:lnTo>
                    <a:pt x="70" y="0"/>
                  </a:lnTo>
                  <a:lnTo>
                    <a:pt x="74" y="0"/>
                  </a:lnTo>
                  <a:lnTo>
                    <a:pt x="76" y="2"/>
                  </a:lnTo>
                  <a:lnTo>
                    <a:pt x="78" y="6"/>
                  </a:lnTo>
                  <a:lnTo>
                    <a:pt x="78" y="6"/>
                  </a:lnTo>
                  <a:lnTo>
                    <a:pt x="80" y="14"/>
                  </a:lnTo>
                  <a:lnTo>
                    <a:pt x="80" y="22"/>
                  </a:lnTo>
                  <a:lnTo>
                    <a:pt x="78" y="30"/>
                  </a:lnTo>
                  <a:lnTo>
                    <a:pt x="76" y="36"/>
                  </a:lnTo>
                  <a:lnTo>
                    <a:pt x="76" y="36"/>
                  </a:lnTo>
                  <a:lnTo>
                    <a:pt x="72" y="44"/>
                  </a:lnTo>
                  <a:lnTo>
                    <a:pt x="66" y="50"/>
                  </a:lnTo>
                  <a:lnTo>
                    <a:pt x="60" y="54"/>
                  </a:lnTo>
                  <a:lnTo>
                    <a:pt x="52" y="56"/>
                  </a:lnTo>
                  <a:lnTo>
                    <a:pt x="52" y="56"/>
                  </a:lnTo>
                  <a:lnTo>
                    <a:pt x="40" y="58"/>
                  </a:lnTo>
                  <a:lnTo>
                    <a:pt x="40" y="58"/>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14" name="Freeform 11">
              <a:extLst>
                <a:ext uri="{FF2B5EF4-FFF2-40B4-BE49-F238E27FC236}">
                  <a16:creationId xmlns:a16="http://schemas.microsoft.com/office/drawing/2014/main" id="{692FC664-9476-C046-58B3-98F8DE686BDA}"/>
                </a:ext>
              </a:extLst>
            </p:cNvPr>
            <p:cNvSpPr>
              <a:spLocks/>
            </p:cNvSpPr>
            <p:nvPr/>
          </p:nvSpPr>
          <p:spPr bwMode="auto">
            <a:xfrm>
              <a:off x="1163638" y="3340100"/>
              <a:ext cx="111125" cy="117475"/>
            </a:xfrm>
            <a:custGeom>
              <a:avLst/>
              <a:gdLst>
                <a:gd name="T0" fmla="*/ 40 w 70"/>
                <a:gd name="T1" fmla="*/ 74 h 74"/>
                <a:gd name="T2" fmla="*/ 40 w 70"/>
                <a:gd name="T3" fmla="*/ 74 h 74"/>
                <a:gd name="T4" fmla="*/ 38 w 70"/>
                <a:gd name="T5" fmla="*/ 74 h 74"/>
                <a:gd name="T6" fmla="*/ 38 w 70"/>
                <a:gd name="T7" fmla="*/ 74 h 74"/>
                <a:gd name="T8" fmla="*/ 30 w 70"/>
                <a:gd name="T9" fmla="*/ 72 h 74"/>
                <a:gd name="T10" fmla="*/ 22 w 70"/>
                <a:gd name="T11" fmla="*/ 70 h 74"/>
                <a:gd name="T12" fmla="*/ 16 w 70"/>
                <a:gd name="T13" fmla="*/ 66 h 74"/>
                <a:gd name="T14" fmla="*/ 10 w 70"/>
                <a:gd name="T15" fmla="*/ 60 h 74"/>
                <a:gd name="T16" fmla="*/ 10 w 70"/>
                <a:gd name="T17" fmla="*/ 60 h 74"/>
                <a:gd name="T18" fmla="*/ 4 w 70"/>
                <a:gd name="T19" fmla="*/ 54 h 74"/>
                <a:gd name="T20" fmla="*/ 2 w 70"/>
                <a:gd name="T21" fmla="*/ 46 h 74"/>
                <a:gd name="T22" fmla="*/ 0 w 70"/>
                <a:gd name="T23" fmla="*/ 38 h 74"/>
                <a:gd name="T24" fmla="*/ 0 w 70"/>
                <a:gd name="T25" fmla="*/ 32 h 74"/>
                <a:gd name="T26" fmla="*/ 0 w 70"/>
                <a:gd name="T27" fmla="*/ 24 h 74"/>
                <a:gd name="T28" fmla="*/ 4 w 70"/>
                <a:gd name="T29" fmla="*/ 16 h 74"/>
                <a:gd name="T30" fmla="*/ 8 w 70"/>
                <a:gd name="T31" fmla="*/ 10 h 74"/>
                <a:gd name="T32" fmla="*/ 12 w 70"/>
                <a:gd name="T33" fmla="*/ 4 h 74"/>
                <a:gd name="T34" fmla="*/ 12 w 70"/>
                <a:gd name="T35" fmla="*/ 4 h 74"/>
                <a:gd name="T36" fmla="*/ 16 w 70"/>
                <a:gd name="T37" fmla="*/ 2 h 74"/>
                <a:gd name="T38" fmla="*/ 20 w 70"/>
                <a:gd name="T39" fmla="*/ 0 h 74"/>
                <a:gd name="T40" fmla="*/ 22 w 70"/>
                <a:gd name="T41" fmla="*/ 2 h 74"/>
                <a:gd name="T42" fmla="*/ 26 w 70"/>
                <a:gd name="T43" fmla="*/ 4 h 74"/>
                <a:gd name="T44" fmla="*/ 26 w 70"/>
                <a:gd name="T45" fmla="*/ 4 h 74"/>
                <a:gd name="T46" fmla="*/ 28 w 70"/>
                <a:gd name="T47" fmla="*/ 6 h 74"/>
                <a:gd name="T48" fmla="*/ 28 w 70"/>
                <a:gd name="T49" fmla="*/ 10 h 74"/>
                <a:gd name="T50" fmla="*/ 26 w 70"/>
                <a:gd name="T51" fmla="*/ 14 h 74"/>
                <a:gd name="T52" fmla="*/ 24 w 70"/>
                <a:gd name="T53" fmla="*/ 16 h 74"/>
                <a:gd name="T54" fmla="*/ 24 w 70"/>
                <a:gd name="T55" fmla="*/ 16 h 74"/>
                <a:gd name="T56" fmla="*/ 20 w 70"/>
                <a:gd name="T57" fmla="*/ 24 h 74"/>
                <a:gd name="T58" fmla="*/ 18 w 70"/>
                <a:gd name="T59" fmla="*/ 32 h 74"/>
                <a:gd name="T60" fmla="*/ 18 w 70"/>
                <a:gd name="T61" fmla="*/ 40 h 74"/>
                <a:gd name="T62" fmla="*/ 22 w 70"/>
                <a:gd name="T63" fmla="*/ 48 h 74"/>
                <a:gd name="T64" fmla="*/ 22 w 70"/>
                <a:gd name="T65" fmla="*/ 48 h 74"/>
                <a:gd name="T66" fmla="*/ 30 w 70"/>
                <a:gd name="T67" fmla="*/ 54 h 74"/>
                <a:gd name="T68" fmla="*/ 38 w 70"/>
                <a:gd name="T69" fmla="*/ 56 h 74"/>
                <a:gd name="T70" fmla="*/ 38 w 70"/>
                <a:gd name="T71" fmla="*/ 56 h 74"/>
                <a:gd name="T72" fmla="*/ 48 w 70"/>
                <a:gd name="T73" fmla="*/ 54 h 74"/>
                <a:gd name="T74" fmla="*/ 56 w 70"/>
                <a:gd name="T75" fmla="*/ 50 h 74"/>
                <a:gd name="T76" fmla="*/ 56 w 70"/>
                <a:gd name="T77" fmla="*/ 50 h 74"/>
                <a:gd name="T78" fmla="*/ 58 w 70"/>
                <a:gd name="T79" fmla="*/ 48 h 74"/>
                <a:gd name="T80" fmla="*/ 62 w 70"/>
                <a:gd name="T81" fmla="*/ 48 h 74"/>
                <a:gd name="T82" fmla="*/ 64 w 70"/>
                <a:gd name="T83" fmla="*/ 48 h 74"/>
                <a:gd name="T84" fmla="*/ 68 w 70"/>
                <a:gd name="T85" fmla="*/ 52 h 74"/>
                <a:gd name="T86" fmla="*/ 68 w 70"/>
                <a:gd name="T87" fmla="*/ 52 h 74"/>
                <a:gd name="T88" fmla="*/ 70 w 70"/>
                <a:gd name="T89" fmla="*/ 54 h 74"/>
                <a:gd name="T90" fmla="*/ 70 w 70"/>
                <a:gd name="T91" fmla="*/ 58 h 74"/>
                <a:gd name="T92" fmla="*/ 70 w 70"/>
                <a:gd name="T93" fmla="*/ 60 h 74"/>
                <a:gd name="T94" fmla="*/ 66 w 70"/>
                <a:gd name="T95" fmla="*/ 64 h 74"/>
                <a:gd name="T96" fmla="*/ 66 w 70"/>
                <a:gd name="T97" fmla="*/ 64 h 74"/>
                <a:gd name="T98" fmla="*/ 60 w 70"/>
                <a:gd name="T99" fmla="*/ 68 h 74"/>
                <a:gd name="T100" fmla="*/ 54 w 70"/>
                <a:gd name="T101" fmla="*/ 72 h 74"/>
                <a:gd name="T102" fmla="*/ 48 w 70"/>
                <a:gd name="T103" fmla="*/ 74 h 74"/>
                <a:gd name="T104" fmla="*/ 40 w 70"/>
                <a:gd name="T105" fmla="*/ 74 h 74"/>
                <a:gd name="T106" fmla="*/ 40 w 70"/>
                <a:gd name="T107"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0" h="74">
                  <a:moveTo>
                    <a:pt x="40" y="74"/>
                  </a:moveTo>
                  <a:lnTo>
                    <a:pt x="40" y="74"/>
                  </a:lnTo>
                  <a:lnTo>
                    <a:pt x="38" y="74"/>
                  </a:lnTo>
                  <a:lnTo>
                    <a:pt x="38" y="74"/>
                  </a:lnTo>
                  <a:lnTo>
                    <a:pt x="30" y="72"/>
                  </a:lnTo>
                  <a:lnTo>
                    <a:pt x="22" y="70"/>
                  </a:lnTo>
                  <a:lnTo>
                    <a:pt x="16" y="66"/>
                  </a:lnTo>
                  <a:lnTo>
                    <a:pt x="10" y="60"/>
                  </a:lnTo>
                  <a:lnTo>
                    <a:pt x="10" y="60"/>
                  </a:lnTo>
                  <a:lnTo>
                    <a:pt x="4" y="54"/>
                  </a:lnTo>
                  <a:lnTo>
                    <a:pt x="2" y="46"/>
                  </a:lnTo>
                  <a:lnTo>
                    <a:pt x="0" y="38"/>
                  </a:lnTo>
                  <a:lnTo>
                    <a:pt x="0" y="32"/>
                  </a:lnTo>
                  <a:lnTo>
                    <a:pt x="0" y="24"/>
                  </a:lnTo>
                  <a:lnTo>
                    <a:pt x="4" y="16"/>
                  </a:lnTo>
                  <a:lnTo>
                    <a:pt x="8" y="10"/>
                  </a:lnTo>
                  <a:lnTo>
                    <a:pt x="12" y="4"/>
                  </a:lnTo>
                  <a:lnTo>
                    <a:pt x="12" y="4"/>
                  </a:lnTo>
                  <a:lnTo>
                    <a:pt x="16" y="2"/>
                  </a:lnTo>
                  <a:lnTo>
                    <a:pt x="20" y="0"/>
                  </a:lnTo>
                  <a:lnTo>
                    <a:pt x="22" y="2"/>
                  </a:lnTo>
                  <a:lnTo>
                    <a:pt x="26" y="4"/>
                  </a:lnTo>
                  <a:lnTo>
                    <a:pt x="26" y="4"/>
                  </a:lnTo>
                  <a:lnTo>
                    <a:pt x="28" y="6"/>
                  </a:lnTo>
                  <a:lnTo>
                    <a:pt x="28" y="10"/>
                  </a:lnTo>
                  <a:lnTo>
                    <a:pt x="26" y="14"/>
                  </a:lnTo>
                  <a:lnTo>
                    <a:pt x="24" y="16"/>
                  </a:lnTo>
                  <a:lnTo>
                    <a:pt x="24" y="16"/>
                  </a:lnTo>
                  <a:lnTo>
                    <a:pt x="20" y="24"/>
                  </a:lnTo>
                  <a:lnTo>
                    <a:pt x="18" y="32"/>
                  </a:lnTo>
                  <a:lnTo>
                    <a:pt x="18" y="40"/>
                  </a:lnTo>
                  <a:lnTo>
                    <a:pt x="22" y="48"/>
                  </a:lnTo>
                  <a:lnTo>
                    <a:pt x="22" y="48"/>
                  </a:lnTo>
                  <a:lnTo>
                    <a:pt x="30" y="54"/>
                  </a:lnTo>
                  <a:lnTo>
                    <a:pt x="38" y="56"/>
                  </a:lnTo>
                  <a:lnTo>
                    <a:pt x="38" y="56"/>
                  </a:lnTo>
                  <a:lnTo>
                    <a:pt x="48" y="54"/>
                  </a:lnTo>
                  <a:lnTo>
                    <a:pt x="56" y="50"/>
                  </a:lnTo>
                  <a:lnTo>
                    <a:pt x="56" y="50"/>
                  </a:lnTo>
                  <a:lnTo>
                    <a:pt x="58" y="48"/>
                  </a:lnTo>
                  <a:lnTo>
                    <a:pt x="62" y="48"/>
                  </a:lnTo>
                  <a:lnTo>
                    <a:pt x="64" y="48"/>
                  </a:lnTo>
                  <a:lnTo>
                    <a:pt x="68" y="52"/>
                  </a:lnTo>
                  <a:lnTo>
                    <a:pt x="68" y="52"/>
                  </a:lnTo>
                  <a:lnTo>
                    <a:pt x="70" y="54"/>
                  </a:lnTo>
                  <a:lnTo>
                    <a:pt x="70" y="58"/>
                  </a:lnTo>
                  <a:lnTo>
                    <a:pt x="70" y="60"/>
                  </a:lnTo>
                  <a:lnTo>
                    <a:pt x="66" y="64"/>
                  </a:lnTo>
                  <a:lnTo>
                    <a:pt x="66" y="64"/>
                  </a:lnTo>
                  <a:lnTo>
                    <a:pt x="60" y="68"/>
                  </a:lnTo>
                  <a:lnTo>
                    <a:pt x="54" y="72"/>
                  </a:lnTo>
                  <a:lnTo>
                    <a:pt x="48" y="74"/>
                  </a:lnTo>
                  <a:lnTo>
                    <a:pt x="40" y="74"/>
                  </a:lnTo>
                  <a:lnTo>
                    <a:pt x="40" y="74"/>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15" name="Freeform 12">
              <a:extLst>
                <a:ext uri="{FF2B5EF4-FFF2-40B4-BE49-F238E27FC236}">
                  <a16:creationId xmlns:a16="http://schemas.microsoft.com/office/drawing/2014/main" id="{09F19F53-0268-D8B0-DFFD-861A16FBFB4E}"/>
                </a:ext>
              </a:extLst>
            </p:cNvPr>
            <p:cNvSpPr>
              <a:spLocks/>
            </p:cNvSpPr>
            <p:nvPr/>
          </p:nvSpPr>
          <p:spPr bwMode="auto">
            <a:xfrm>
              <a:off x="1287463" y="3270250"/>
              <a:ext cx="127000" cy="98425"/>
            </a:xfrm>
            <a:custGeom>
              <a:avLst/>
              <a:gdLst>
                <a:gd name="T0" fmla="*/ 12 w 80"/>
                <a:gd name="T1" fmla="*/ 62 h 62"/>
                <a:gd name="T2" fmla="*/ 12 w 80"/>
                <a:gd name="T3" fmla="*/ 62 h 62"/>
                <a:gd name="T4" fmla="*/ 8 w 80"/>
                <a:gd name="T5" fmla="*/ 62 h 62"/>
                <a:gd name="T6" fmla="*/ 4 w 80"/>
                <a:gd name="T7" fmla="*/ 58 h 62"/>
                <a:gd name="T8" fmla="*/ 4 w 80"/>
                <a:gd name="T9" fmla="*/ 58 h 62"/>
                <a:gd name="T10" fmla="*/ 2 w 80"/>
                <a:gd name="T11" fmla="*/ 50 h 62"/>
                <a:gd name="T12" fmla="*/ 0 w 80"/>
                <a:gd name="T13" fmla="*/ 42 h 62"/>
                <a:gd name="T14" fmla="*/ 2 w 80"/>
                <a:gd name="T15" fmla="*/ 34 h 62"/>
                <a:gd name="T16" fmla="*/ 4 w 80"/>
                <a:gd name="T17" fmla="*/ 26 h 62"/>
                <a:gd name="T18" fmla="*/ 6 w 80"/>
                <a:gd name="T19" fmla="*/ 20 h 62"/>
                <a:gd name="T20" fmla="*/ 12 w 80"/>
                <a:gd name="T21" fmla="*/ 14 h 62"/>
                <a:gd name="T22" fmla="*/ 18 w 80"/>
                <a:gd name="T23" fmla="*/ 8 h 62"/>
                <a:gd name="T24" fmla="*/ 24 w 80"/>
                <a:gd name="T25" fmla="*/ 4 h 62"/>
                <a:gd name="T26" fmla="*/ 24 w 80"/>
                <a:gd name="T27" fmla="*/ 4 h 62"/>
                <a:gd name="T28" fmla="*/ 32 w 80"/>
                <a:gd name="T29" fmla="*/ 2 h 62"/>
                <a:gd name="T30" fmla="*/ 40 w 80"/>
                <a:gd name="T31" fmla="*/ 0 h 62"/>
                <a:gd name="T32" fmla="*/ 48 w 80"/>
                <a:gd name="T33" fmla="*/ 0 h 62"/>
                <a:gd name="T34" fmla="*/ 56 w 80"/>
                <a:gd name="T35" fmla="*/ 2 h 62"/>
                <a:gd name="T36" fmla="*/ 62 w 80"/>
                <a:gd name="T37" fmla="*/ 6 h 62"/>
                <a:gd name="T38" fmla="*/ 70 w 80"/>
                <a:gd name="T39" fmla="*/ 12 h 62"/>
                <a:gd name="T40" fmla="*/ 74 w 80"/>
                <a:gd name="T41" fmla="*/ 18 h 62"/>
                <a:gd name="T42" fmla="*/ 78 w 80"/>
                <a:gd name="T43" fmla="*/ 24 h 62"/>
                <a:gd name="T44" fmla="*/ 78 w 80"/>
                <a:gd name="T45" fmla="*/ 24 h 62"/>
                <a:gd name="T46" fmla="*/ 80 w 80"/>
                <a:gd name="T47" fmla="*/ 28 h 62"/>
                <a:gd name="T48" fmla="*/ 78 w 80"/>
                <a:gd name="T49" fmla="*/ 32 h 62"/>
                <a:gd name="T50" fmla="*/ 76 w 80"/>
                <a:gd name="T51" fmla="*/ 34 h 62"/>
                <a:gd name="T52" fmla="*/ 74 w 80"/>
                <a:gd name="T53" fmla="*/ 36 h 62"/>
                <a:gd name="T54" fmla="*/ 74 w 80"/>
                <a:gd name="T55" fmla="*/ 36 h 62"/>
                <a:gd name="T56" fmla="*/ 70 w 80"/>
                <a:gd name="T57" fmla="*/ 36 h 62"/>
                <a:gd name="T58" fmla="*/ 68 w 80"/>
                <a:gd name="T59" fmla="*/ 36 h 62"/>
                <a:gd name="T60" fmla="*/ 64 w 80"/>
                <a:gd name="T61" fmla="*/ 34 h 62"/>
                <a:gd name="T62" fmla="*/ 62 w 80"/>
                <a:gd name="T63" fmla="*/ 32 h 62"/>
                <a:gd name="T64" fmla="*/ 62 w 80"/>
                <a:gd name="T65" fmla="*/ 32 h 62"/>
                <a:gd name="T66" fmla="*/ 56 w 80"/>
                <a:gd name="T67" fmla="*/ 24 h 62"/>
                <a:gd name="T68" fmla="*/ 50 w 80"/>
                <a:gd name="T69" fmla="*/ 20 h 62"/>
                <a:gd name="T70" fmla="*/ 40 w 80"/>
                <a:gd name="T71" fmla="*/ 18 h 62"/>
                <a:gd name="T72" fmla="*/ 32 w 80"/>
                <a:gd name="T73" fmla="*/ 20 h 62"/>
                <a:gd name="T74" fmla="*/ 32 w 80"/>
                <a:gd name="T75" fmla="*/ 20 h 62"/>
                <a:gd name="T76" fmla="*/ 24 w 80"/>
                <a:gd name="T77" fmla="*/ 26 h 62"/>
                <a:gd name="T78" fmla="*/ 20 w 80"/>
                <a:gd name="T79" fmla="*/ 32 h 62"/>
                <a:gd name="T80" fmla="*/ 18 w 80"/>
                <a:gd name="T81" fmla="*/ 42 h 62"/>
                <a:gd name="T82" fmla="*/ 20 w 80"/>
                <a:gd name="T83" fmla="*/ 50 h 62"/>
                <a:gd name="T84" fmla="*/ 20 w 80"/>
                <a:gd name="T85" fmla="*/ 50 h 62"/>
                <a:gd name="T86" fmla="*/ 22 w 80"/>
                <a:gd name="T87" fmla="*/ 54 h 62"/>
                <a:gd name="T88" fmla="*/ 20 w 80"/>
                <a:gd name="T89" fmla="*/ 56 h 62"/>
                <a:gd name="T90" fmla="*/ 18 w 80"/>
                <a:gd name="T91" fmla="*/ 60 h 62"/>
                <a:gd name="T92" fmla="*/ 16 w 80"/>
                <a:gd name="T93" fmla="*/ 62 h 62"/>
                <a:gd name="T94" fmla="*/ 16 w 80"/>
                <a:gd name="T95" fmla="*/ 62 h 62"/>
                <a:gd name="T96" fmla="*/ 12 w 80"/>
                <a:gd name="T97" fmla="*/ 62 h 62"/>
                <a:gd name="T98" fmla="*/ 12 w 80"/>
                <a:gd name="T99"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0" h="62">
                  <a:moveTo>
                    <a:pt x="12" y="62"/>
                  </a:moveTo>
                  <a:lnTo>
                    <a:pt x="12" y="62"/>
                  </a:lnTo>
                  <a:lnTo>
                    <a:pt x="8" y="62"/>
                  </a:lnTo>
                  <a:lnTo>
                    <a:pt x="4" y="58"/>
                  </a:lnTo>
                  <a:lnTo>
                    <a:pt x="4" y="58"/>
                  </a:lnTo>
                  <a:lnTo>
                    <a:pt x="2" y="50"/>
                  </a:lnTo>
                  <a:lnTo>
                    <a:pt x="0" y="42"/>
                  </a:lnTo>
                  <a:lnTo>
                    <a:pt x="2" y="34"/>
                  </a:lnTo>
                  <a:lnTo>
                    <a:pt x="4" y="26"/>
                  </a:lnTo>
                  <a:lnTo>
                    <a:pt x="6" y="20"/>
                  </a:lnTo>
                  <a:lnTo>
                    <a:pt x="12" y="14"/>
                  </a:lnTo>
                  <a:lnTo>
                    <a:pt x="18" y="8"/>
                  </a:lnTo>
                  <a:lnTo>
                    <a:pt x="24" y="4"/>
                  </a:lnTo>
                  <a:lnTo>
                    <a:pt x="24" y="4"/>
                  </a:lnTo>
                  <a:lnTo>
                    <a:pt x="32" y="2"/>
                  </a:lnTo>
                  <a:lnTo>
                    <a:pt x="40" y="0"/>
                  </a:lnTo>
                  <a:lnTo>
                    <a:pt x="48" y="0"/>
                  </a:lnTo>
                  <a:lnTo>
                    <a:pt x="56" y="2"/>
                  </a:lnTo>
                  <a:lnTo>
                    <a:pt x="62" y="6"/>
                  </a:lnTo>
                  <a:lnTo>
                    <a:pt x="70" y="12"/>
                  </a:lnTo>
                  <a:lnTo>
                    <a:pt x="74" y="18"/>
                  </a:lnTo>
                  <a:lnTo>
                    <a:pt x="78" y="24"/>
                  </a:lnTo>
                  <a:lnTo>
                    <a:pt x="78" y="24"/>
                  </a:lnTo>
                  <a:lnTo>
                    <a:pt x="80" y="28"/>
                  </a:lnTo>
                  <a:lnTo>
                    <a:pt x="78" y="32"/>
                  </a:lnTo>
                  <a:lnTo>
                    <a:pt x="76" y="34"/>
                  </a:lnTo>
                  <a:lnTo>
                    <a:pt x="74" y="36"/>
                  </a:lnTo>
                  <a:lnTo>
                    <a:pt x="74" y="36"/>
                  </a:lnTo>
                  <a:lnTo>
                    <a:pt x="70" y="36"/>
                  </a:lnTo>
                  <a:lnTo>
                    <a:pt x="68" y="36"/>
                  </a:lnTo>
                  <a:lnTo>
                    <a:pt x="64" y="34"/>
                  </a:lnTo>
                  <a:lnTo>
                    <a:pt x="62" y="32"/>
                  </a:lnTo>
                  <a:lnTo>
                    <a:pt x="62" y="32"/>
                  </a:lnTo>
                  <a:lnTo>
                    <a:pt x="56" y="24"/>
                  </a:lnTo>
                  <a:lnTo>
                    <a:pt x="50" y="20"/>
                  </a:lnTo>
                  <a:lnTo>
                    <a:pt x="40" y="18"/>
                  </a:lnTo>
                  <a:lnTo>
                    <a:pt x="32" y="20"/>
                  </a:lnTo>
                  <a:lnTo>
                    <a:pt x="32" y="20"/>
                  </a:lnTo>
                  <a:lnTo>
                    <a:pt x="24" y="26"/>
                  </a:lnTo>
                  <a:lnTo>
                    <a:pt x="20" y="32"/>
                  </a:lnTo>
                  <a:lnTo>
                    <a:pt x="18" y="42"/>
                  </a:lnTo>
                  <a:lnTo>
                    <a:pt x="20" y="50"/>
                  </a:lnTo>
                  <a:lnTo>
                    <a:pt x="20" y="50"/>
                  </a:lnTo>
                  <a:lnTo>
                    <a:pt x="22" y="54"/>
                  </a:lnTo>
                  <a:lnTo>
                    <a:pt x="20" y="56"/>
                  </a:lnTo>
                  <a:lnTo>
                    <a:pt x="18" y="60"/>
                  </a:lnTo>
                  <a:lnTo>
                    <a:pt x="16" y="62"/>
                  </a:lnTo>
                  <a:lnTo>
                    <a:pt x="16" y="62"/>
                  </a:lnTo>
                  <a:lnTo>
                    <a:pt x="12" y="62"/>
                  </a:lnTo>
                  <a:lnTo>
                    <a:pt x="12" y="62"/>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16" name="Freeform 13">
              <a:extLst>
                <a:ext uri="{FF2B5EF4-FFF2-40B4-BE49-F238E27FC236}">
                  <a16:creationId xmlns:a16="http://schemas.microsoft.com/office/drawing/2014/main" id="{785C54E2-A725-CDB4-3135-4B5B92DB5F1D}"/>
                </a:ext>
              </a:extLst>
            </p:cNvPr>
            <p:cNvSpPr>
              <a:spLocks/>
            </p:cNvSpPr>
            <p:nvPr/>
          </p:nvSpPr>
          <p:spPr bwMode="auto">
            <a:xfrm>
              <a:off x="1258888" y="3765550"/>
              <a:ext cx="82550" cy="130175"/>
            </a:xfrm>
            <a:custGeom>
              <a:avLst/>
              <a:gdLst>
                <a:gd name="T0" fmla="*/ 40 w 52"/>
                <a:gd name="T1" fmla="*/ 82 h 82"/>
                <a:gd name="T2" fmla="*/ 40 w 52"/>
                <a:gd name="T3" fmla="*/ 82 h 82"/>
                <a:gd name="T4" fmla="*/ 32 w 52"/>
                <a:gd name="T5" fmla="*/ 80 h 82"/>
                <a:gd name="T6" fmla="*/ 26 w 52"/>
                <a:gd name="T7" fmla="*/ 78 h 82"/>
                <a:gd name="T8" fmla="*/ 18 w 52"/>
                <a:gd name="T9" fmla="*/ 76 h 82"/>
                <a:gd name="T10" fmla="*/ 12 w 52"/>
                <a:gd name="T11" fmla="*/ 70 h 82"/>
                <a:gd name="T12" fmla="*/ 8 w 52"/>
                <a:gd name="T13" fmla="*/ 66 h 82"/>
                <a:gd name="T14" fmla="*/ 4 w 52"/>
                <a:gd name="T15" fmla="*/ 60 h 82"/>
                <a:gd name="T16" fmla="*/ 2 w 52"/>
                <a:gd name="T17" fmla="*/ 52 h 82"/>
                <a:gd name="T18" fmla="*/ 0 w 52"/>
                <a:gd name="T19" fmla="*/ 44 h 82"/>
                <a:gd name="T20" fmla="*/ 0 w 52"/>
                <a:gd name="T21" fmla="*/ 44 h 82"/>
                <a:gd name="T22" fmla="*/ 0 w 52"/>
                <a:gd name="T23" fmla="*/ 36 h 82"/>
                <a:gd name="T24" fmla="*/ 2 w 52"/>
                <a:gd name="T25" fmla="*/ 28 h 82"/>
                <a:gd name="T26" fmla="*/ 4 w 52"/>
                <a:gd name="T27" fmla="*/ 22 h 82"/>
                <a:gd name="T28" fmla="*/ 8 w 52"/>
                <a:gd name="T29" fmla="*/ 14 h 82"/>
                <a:gd name="T30" fmla="*/ 14 w 52"/>
                <a:gd name="T31" fmla="*/ 10 h 82"/>
                <a:gd name="T32" fmla="*/ 20 w 52"/>
                <a:gd name="T33" fmla="*/ 4 h 82"/>
                <a:gd name="T34" fmla="*/ 28 w 52"/>
                <a:gd name="T35" fmla="*/ 2 h 82"/>
                <a:gd name="T36" fmla="*/ 36 w 52"/>
                <a:gd name="T37" fmla="*/ 0 h 82"/>
                <a:gd name="T38" fmla="*/ 36 w 52"/>
                <a:gd name="T39" fmla="*/ 0 h 82"/>
                <a:gd name="T40" fmla="*/ 40 w 52"/>
                <a:gd name="T41" fmla="*/ 0 h 82"/>
                <a:gd name="T42" fmla="*/ 42 w 52"/>
                <a:gd name="T43" fmla="*/ 2 h 82"/>
                <a:gd name="T44" fmla="*/ 44 w 52"/>
                <a:gd name="T45" fmla="*/ 4 h 82"/>
                <a:gd name="T46" fmla="*/ 46 w 52"/>
                <a:gd name="T47" fmla="*/ 8 h 82"/>
                <a:gd name="T48" fmla="*/ 46 w 52"/>
                <a:gd name="T49" fmla="*/ 8 h 82"/>
                <a:gd name="T50" fmla="*/ 46 w 52"/>
                <a:gd name="T51" fmla="*/ 12 h 82"/>
                <a:gd name="T52" fmla="*/ 44 w 52"/>
                <a:gd name="T53" fmla="*/ 14 h 82"/>
                <a:gd name="T54" fmla="*/ 42 w 52"/>
                <a:gd name="T55" fmla="*/ 16 h 82"/>
                <a:gd name="T56" fmla="*/ 38 w 52"/>
                <a:gd name="T57" fmla="*/ 18 h 82"/>
                <a:gd name="T58" fmla="*/ 38 w 52"/>
                <a:gd name="T59" fmla="*/ 18 h 82"/>
                <a:gd name="T60" fmla="*/ 30 w 52"/>
                <a:gd name="T61" fmla="*/ 20 h 82"/>
                <a:gd name="T62" fmla="*/ 22 w 52"/>
                <a:gd name="T63" fmla="*/ 26 h 82"/>
                <a:gd name="T64" fmla="*/ 18 w 52"/>
                <a:gd name="T65" fmla="*/ 34 h 82"/>
                <a:gd name="T66" fmla="*/ 18 w 52"/>
                <a:gd name="T67" fmla="*/ 42 h 82"/>
                <a:gd name="T68" fmla="*/ 18 w 52"/>
                <a:gd name="T69" fmla="*/ 42 h 82"/>
                <a:gd name="T70" fmla="*/ 20 w 52"/>
                <a:gd name="T71" fmla="*/ 52 h 82"/>
                <a:gd name="T72" fmla="*/ 26 w 52"/>
                <a:gd name="T73" fmla="*/ 58 h 82"/>
                <a:gd name="T74" fmla="*/ 34 w 52"/>
                <a:gd name="T75" fmla="*/ 62 h 82"/>
                <a:gd name="T76" fmla="*/ 42 w 52"/>
                <a:gd name="T77" fmla="*/ 64 h 82"/>
                <a:gd name="T78" fmla="*/ 42 w 52"/>
                <a:gd name="T79" fmla="*/ 64 h 82"/>
                <a:gd name="T80" fmla="*/ 46 w 52"/>
                <a:gd name="T81" fmla="*/ 64 h 82"/>
                <a:gd name="T82" fmla="*/ 48 w 52"/>
                <a:gd name="T83" fmla="*/ 66 h 82"/>
                <a:gd name="T84" fmla="*/ 52 w 52"/>
                <a:gd name="T85" fmla="*/ 68 h 82"/>
                <a:gd name="T86" fmla="*/ 52 w 52"/>
                <a:gd name="T87" fmla="*/ 72 h 82"/>
                <a:gd name="T88" fmla="*/ 52 w 52"/>
                <a:gd name="T89" fmla="*/ 72 h 82"/>
                <a:gd name="T90" fmla="*/ 52 w 52"/>
                <a:gd name="T91" fmla="*/ 74 h 82"/>
                <a:gd name="T92" fmla="*/ 50 w 52"/>
                <a:gd name="T93" fmla="*/ 78 h 82"/>
                <a:gd name="T94" fmla="*/ 48 w 52"/>
                <a:gd name="T95" fmla="*/ 80 h 82"/>
                <a:gd name="T96" fmla="*/ 44 w 52"/>
                <a:gd name="T97" fmla="*/ 80 h 82"/>
                <a:gd name="T98" fmla="*/ 44 w 52"/>
                <a:gd name="T99" fmla="*/ 80 h 82"/>
                <a:gd name="T100" fmla="*/ 40 w 52"/>
                <a:gd name="T101" fmla="*/ 82 h 82"/>
                <a:gd name="T102" fmla="*/ 40 w 52"/>
                <a:gd name="T103" fmla="*/ 82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82">
                  <a:moveTo>
                    <a:pt x="40" y="82"/>
                  </a:moveTo>
                  <a:lnTo>
                    <a:pt x="40" y="82"/>
                  </a:lnTo>
                  <a:lnTo>
                    <a:pt x="32" y="80"/>
                  </a:lnTo>
                  <a:lnTo>
                    <a:pt x="26" y="78"/>
                  </a:lnTo>
                  <a:lnTo>
                    <a:pt x="18" y="76"/>
                  </a:lnTo>
                  <a:lnTo>
                    <a:pt x="12" y="70"/>
                  </a:lnTo>
                  <a:lnTo>
                    <a:pt x="8" y="66"/>
                  </a:lnTo>
                  <a:lnTo>
                    <a:pt x="4" y="60"/>
                  </a:lnTo>
                  <a:lnTo>
                    <a:pt x="2" y="52"/>
                  </a:lnTo>
                  <a:lnTo>
                    <a:pt x="0" y="44"/>
                  </a:lnTo>
                  <a:lnTo>
                    <a:pt x="0" y="44"/>
                  </a:lnTo>
                  <a:lnTo>
                    <a:pt x="0" y="36"/>
                  </a:lnTo>
                  <a:lnTo>
                    <a:pt x="2" y="28"/>
                  </a:lnTo>
                  <a:lnTo>
                    <a:pt x="4" y="22"/>
                  </a:lnTo>
                  <a:lnTo>
                    <a:pt x="8" y="14"/>
                  </a:lnTo>
                  <a:lnTo>
                    <a:pt x="14" y="10"/>
                  </a:lnTo>
                  <a:lnTo>
                    <a:pt x="20" y="4"/>
                  </a:lnTo>
                  <a:lnTo>
                    <a:pt x="28" y="2"/>
                  </a:lnTo>
                  <a:lnTo>
                    <a:pt x="36" y="0"/>
                  </a:lnTo>
                  <a:lnTo>
                    <a:pt x="36" y="0"/>
                  </a:lnTo>
                  <a:lnTo>
                    <a:pt x="40" y="0"/>
                  </a:lnTo>
                  <a:lnTo>
                    <a:pt x="42" y="2"/>
                  </a:lnTo>
                  <a:lnTo>
                    <a:pt x="44" y="4"/>
                  </a:lnTo>
                  <a:lnTo>
                    <a:pt x="46" y="8"/>
                  </a:lnTo>
                  <a:lnTo>
                    <a:pt x="46" y="8"/>
                  </a:lnTo>
                  <a:lnTo>
                    <a:pt x="46" y="12"/>
                  </a:lnTo>
                  <a:lnTo>
                    <a:pt x="44" y="14"/>
                  </a:lnTo>
                  <a:lnTo>
                    <a:pt x="42" y="16"/>
                  </a:lnTo>
                  <a:lnTo>
                    <a:pt x="38" y="18"/>
                  </a:lnTo>
                  <a:lnTo>
                    <a:pt x="38" y="18"/>
                  </a:lnTo>
                  <a:lnTo>
                    <a:pt x="30" y="20"/>
                  </a:lnTo>
                  <a:lnTo>
                    <a:pt x="22" y="26"/>
                  </a:lnTo>
                  <a:lnTo>
                    <a:pt x="18" y="34"/>
                  </a:lnTo>
                  <a:lnTo>
                    <a:pt x="18" y="42"/>
                  </a:lnTo>
                  <a:lnTo>
                    <a:pt x="18" y="42"/>
                  </a:lnTo>
                  <a:lnTo>
                    <a:pt x="20" y="52"/>
                  </a:lnTo>
                  <a:lnTo>
                    <a:pt x="26" y="58"/>
                  </a:lnTo>
                  <a:lnTo>
                    <a:pt x="34" y="62"/>
                  </a:lnTo>
                  <a:lnTo>
                    <a:pt x="42" y="64"/>
                  </a:lnTo>
                  <a:lnTo>
                    <a:pt x="42" y="64"/>
                  </a:lnTo>
                  <a:lnTo>
                    <a:pt x="46" y="64"/>
                  </a:lnTo>
                  <a:lnTo>
                    <a:pt x="48" y="66"/>
                  </a:lnTo>
                  <a:lnTo>
                    <a:pt x="52" y="68"/>
                  </a:lnTo>
                  <a:lnTo>
                    <a:pt x="52" y="72"/>
                  </a:lnTo>
                  <a:lnTo>
                    <a:pt x="52" y="72"/>
                  </a:lnTo>
                  <a:lnTo>
                    <a:pt x="52" y="74"/>
                  </a:lnTo>
                  <a:lnTo>
                    <a:pt x="50" y="78"/>
                  </a:lnTo>
                  <a:lnTo>
                    <a:pt x="48" y="80"/>
                  </a:lnTo>
                  <a:lnTo>
                    <a:pt x="44" y="80"/>
                  </a:lnTo>
                  <a:lnTo>
                    <a:pt x="44" y="80"/>
                  </a:lnTo>
                  <a:lnTo>
                    <a:pt x="40" y="82"/>
                  </a:lnTo>
                  <a:lnTo>
                    <a:pt x="40" y="82"/>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17" name="Freeform 14">
              <a:extLst>
                <a:ext uri="{FF2B5EF4-FFF2-40B4-BE49-F238E27FC236}">
                  <a16:creationId xmlns:a16="http://schemas.microsoft.com/office/drawing/2014/main" id="{BE0BFB2F-7466-01BC-CCD4-39512B11F5CE}"/>
                </a:ext>
              </a:extLst>
            </p:cNvPr>
            <p:cNvSpPr>
              <a:spLocks/>
            </p:cNvSpPr>
            <p:nvPr/>
          </p:nvSpPr>
          <p:spPr bwMode="auto">
            <a:xfrm>
              <a:off x="1138238" y="3606800"/>
              <a:ext cx="114300" cy="142875"/>
            </a:xfrm>
            <a:custGeom>
              <a:avLst/>
              <a:gdLst>
                <a:gd name="T0" fmla="*/ 42 w 72"/>
                <a:gd name="T1" fmla="*/ 90 h 90"/>
                <a:gd name="T2" fmla="*/ 42 w 72"/>
                <a:gd name="T3" fmla="*/ 90 h 90"/>
                <a:gd name="T4" fmla="*/ 36 w 72"/>
                <a:gd name="T5" fmla="*/ 88 h 90"/>
                <a:gd name="T6" fmla="*/ 34 w 72"/>
                <a:gd name="T7" fmla="*/ 86 h 90"/>
                <a:gd name="T8" fmla="*/ 34 w 72"/>
                <a:gd name="T9" fmla="*/ 86 h 90"/>
                <a:gd name="T10" fmla="*/ 32 w 72"/>
                <a:gd name="T11" fmla="*/ 82 h 90"/>
                <a:gd name="T12" fmla="*/ 32 w 72"/>
                <a:gd name="T13" fmla="*/ 78 h 90"/>
                <a:gd name="T14" fmla="*/ 34 w 72"/>
                <a:gd name="T15" fmla="*/ 76 h 90"/>
                <a:gd name="T16" fmla="*/ 38 w 72"/>
                <a:gd name="T17" fmla="*/ 74 h 90"/>
                <a:gd name="T18" fmla="*/ 38 w 72"/>
                <a:gd name="T19" fmla="*/ 74 h 90"/>
                <a:gd name="T20" fmla="*/ 42 w 72"/>
                <a:gd name="T21" fmla="*/ 70 h 90"/>
                <a:gd name="T22" fmla="*/ 46 w 72"/>
                <a:gd name="T23" fmla="*/ 66 h 90"/>
                <a:gd name="T24" fmla="*/ 52 w 72"/>
                <a:gd name="T25" fmla="*/ 56 h 90"/>
                <a:gd name="T26" fmla="*/ 54 w 72"/>
                <a:gd name="T27" fmla="*/ 46 h 90"/>
                <a:gd name="T28" fmla="*/ 54 w 72"/>
                <a:gd name="T29" fmla="*/ 40 h 90"/>
                <a:gd name="T30" fmla="*/ 52 w 72"/>
                <a:gd name="T31" fmla="*/ 34 h 90"/>
                <a:gd name="T32" fmla="*/ 52 w 72"/>
                <a:gd name="T33" fmla="*/ 34 h 90"/>
                <a:gd name="T34" fmla="*/ 44 w 72"/>
                <a:gd name="T35" fmla="*/ 24 h 90"/>
                <a:gd name="T36" fmla="*/ 34 w 72"/>
                <a:gd name="T37" fmla="*/ 18 h 90"/>
                <a:gd name="T38" fmla="*/ 34 w 72"/>
                <a:gd name="T39" fmla="*/ 18 h 90"/>
                <a:gd name="T40" fmla="*/ 24 w 72"/>
                <a:gd name="T41" fmla="*/ 18 h 90"/>
                <a:gd name="T42" fmla="*/ 12 w 72"/>
                <a:gd name="T43" fmla="*/ 20 h 90"/>
                <a:gd name="T44" fmla="*/ 12 w 72"/>
                <a:gd name="T45" fmla="*/ 20 h 90"/>
                <a:gd name="T46" fmla="*/ 8 w 72"/>
                <a:gd name="T47" fmla="*/ 20 h 90"/>
                <a:gd name="T48" fmla="*/ 6 w 72"/>
                <a:gd name="T49" fmla="*/ 20 h 90"/>
                <a:gd name="T50" fmla="*/ 2 w 72"/>
                <a:gd name="T51" fmla="*/ 18 h 90"/>
                <a:gd name="T52" fmla="*/ 0 w 72"/>
                <a:gd name="T53" fmla="*/ 16 h 90"/>
                <a:gd name="T54" fmla="*/ 0 w 72"/>
                <a:gd name="T55" fmla="*/ 16 h 90"/>
                <a:gd name="T56" fmla="*/ 0 w 72"/>
                <a:gd name="T57" fmla="*/ 12 h 90"/>
                <a:gd name="T58" fmla="*/ 0 w 72"/>
                <a:gd name="T59" fmla="*/ 8 h 90"/>
                <a:gd name="T60" fmla="*/ 2 w 72"/>
                <a:gd name="T61" fmla="*/ 6 h 90"/>
                <a:gd name="T62" fmla="*/ 4 w 72"/>
                <a:gd name="T63" fmla="*/ 4 h 90"/>
                <a:gd name="T64" fmla="*/ 4 w 72"/>
                <a:gd name="T65" fmla="*/ 4 h 90"/>
                <a:gd name="T66" fmla="*/ 14 w 72"/>
                <a:gd name="T67" fmla="*/ 0 h 90"/>
                <a:gd name="T68" fmla="*/ 22 w 72"/>
                <a:gd name="T69" fmla="*/ 0 h 90"/>
                <a:gd name="T70" fmla="*/ 32 w 72"/>
                <a:gd name="T71" fmla="*/ 0 h 90"/>
                <a:gd name="T72" fmla="*/ 40 w 72"/>
                <a:gd name="T73" fmla="*/ 2 h 90"/>
                <a:gd name="T74" fmla="*/ 40 w 72"/>
                <a:gd name="T75" fmla="*/ 2 h 90"/>
                <a:gd name="T76" fmla="*/ 50 w 72"/>
                <a:gd name="T77" fmla="*/ 6 h 90"/>
                <a:gd name="T78" fmla="*/ 56 w 72"/>
                <a:gd name="T79" fmla="*/ 12 h 90"/>
                <a:gd name="T80" fmla="*/ 62 w 72"/>
                <a:gd name="T81" fmla="*/ 18 h 90"/>
                <a:gd name="T82" fmla="*/ 68 w 72"/>
                <a:gd name="T83" fmla="*/ 26 h 90"/>
                <a:gd name="T84" fmla="*/ 68 w 72"/>
                <a:gd name="T85" fmla="*/ 26 h 90"/>
                <a:gd name="T86" fmla="*/ 70 w 72"/>
                <a:gd name="T87" fmla="*/ 36 h 90"/>
                <a:gd name="T88" fmla="*/ 72 w 72"/>
                <a:gd name="T89" fmla="*/ 44 h 90"/>
                <a:gd name="T90" fmla="*/ 72 w 72"/>
                <a:gd name="T91" fmla="*/ 54 h 90"/>
                <a:gd name="T92" fmla="*/ 70 w 72"/>
                <a:gd name="T93" fmla="*/ 62 h 90"/>
                <a:gd name="T94" fmla="*/ 66 w 72"/>
                <a:gd name="T95" fmla="*/ 70 h 90"/>
                <a:gd name="T96" fmla="*/ 60 w 72"/>
                <a:gd name="T97" fmla="*/ 78 h 90"/>
                <a:gd name="T98" fmla="*/ 54 w 72"/>
                <a:gd name="T99" fmla="*/ 84 h 90"/>
                <a:gd name="T100" fmla="*/ 46 w 72"/>
                <a:gd name="T101" fmla="*/ 90 h 90"/>
                <a:gd name="T102" fmla="*/ 46 w 72"/>
                <a:gd name="T103" fmla="*/ 90 h 90"/>
                <a:gd name="T104" fmla="*/ 42 w 72"/>
                <a:gd name="T105" fmla="*/ 90 h 90"/>
                <a:gd name="T106" fmla="*/ 42 w 72"/>
                <a:gd name="T10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2" h="90">
                  <a:moveTo>
                    <a:pt x="42" y="90"/>
                  </a:moveTo>
                  <a:lnTo>
                    <a:pt x="42" y="90"/>
                  </a:lnTo>
                  <a:lnTo>
                    <a:pt x="36" y="88"/>
                  </a:lnTo>
                  <a:lnTo>
                    <a:pt x="34" y="86"/>
                  </a:lnTo>
                  <a:lnTo>
                    <a:pt x="34" y="86"/>
                  </a:lnTo>
                  <a:lnTo>
                    <a:pt x="32" y="82"/>
                  </a:lnTo>
                  <a:lnTo>
                    <a:pt x="32" y="78"/>
                  </a:lnTo>
                  <a:lnTo>
                    <a:pt x="34" y="76"/>
                  </a:lnTo>
                  <a:lnTo>
                    <a:pt x="38" y="74"/>
                  </a:lnTo>
                  <a:lnTo>
                    <a:pt x="38" y="74"/>
                  </a:lnTo>
                  <a:lnTo>
                    <a:pt x="42" y="70"/>
                  </a:lnTo>
                  <a:lnTo>
                    <a:pt x="46" y="66"/>
                  </a:lnTo>
                  <a:lnTo>
                    <a:pt x="52" y="56"/>
                  </a:lnTo>
                  <a:lnTo>
                    <a:pt x="54" y="46"/>
                  </a:lnTo>
                  <a:lnTo>
                    <a:pt x="54" y="40"/>
                  </a:lnTo>
                  <a:lnTo>
                    <a:pt x="52" y="34"/>
                  </a:lnTo>
                  <a:lnTo>
                    <a:pt x="52" y="34"/>
                  </a:lnTo>
                  <a:lnTo>
                    <a:pt x="44" y="24"/>
                  </a:lnTo>
                  <a:lnTo>
                    <a:pt x="34" y="18"/>
                  </a:lnTo>
                  <a:lnTo>
                    <a:pt x="34" y="18"/>
                  </a:lnTo>
                  <a:lnTo>
                    <a:pt x="24" y="18"/>
                  </a:lnTo>
                  <a:lnTo>
                    <a:pt x="12" y="20"/>
                  </a:lnTo>
                  <a:lnTo>
                    <a:pt x="12" y="20"/>
                  </a:lnTo>
                  <a:lnTo>
                    <a:pt x="8" y="20"/>
                  </a:lnTo>
                  <a:lnTo>
                    <a:pt x="6" y="20"/>
                  </a:lnTo>
                  <a:lnTo>
                    <a:pt x="2" y="18"/>
                  </a:lnTo>
                  <a:lnTo>
                    <a:pt x="0" y="16"/>
                  </a:lnTo>
                  <a:lnTo>
                    <a:pt x="0" y="16"/>
                  </a:lnTo>
                  <a:lnTo>
                    <a:pt x="0" y="12"/>
                  </a:lnTo>
                  <a:lnTo>
                    <a:pt x="0" y="8"/>
                  </a:lnTo>
                  <a:lnTo>
                    <a:pt x="2" y="6"/>
                  </a:lnTo>
                  <a:lnTo>
                    <a:pt x="4" y="4"/>
                  </a:lnTo>
                  <a:lnTo>
                    <a:pt x="4" y="4"/>
                  </a:lnTo>
                  <a:lnTo>
                    <a:pt x="14" y="0"/>
                  </a:lnTo>
                  <a:lnTo>
                    <a:pt x="22" y="0"/>
                  </a:lnTo>
                  <a:lnTo>
                    <a:pt x="32" y="0"/>
                  </a:lnTo>
                  <a:lnTo>
                    <a:pt x="40" y="2"/>
                  </a:lnTo>
                  <a:lnTo>
                    <a:pt x="40" y="2"/>
                  </a:lnTo>
                  <a:lnTo>
                    <a:pt x="50" y="6"/>
                  </a:lnTo>
                  <a:lnTo>
                    <a:pt x="56" y="12"/>
                  </a:lnTo>
                  <a:lnTo>
                    <a:pt x="62" y="18"/>
                  </a:lnTo>
                  <a:lnTo>
                    <a:pt x="68" y="26"/>
                  </a:lnTo>
                  <a:lnTo>
                    <a:pt x="68" y="26"/>
                  </a:lnTo>
                  <a:lnTo>
                    <a:pt x="70" y="36"/>
                  </a:lnTo>
                  <a:lnTo>
                    <a:pt x="72" y="44"/>
                  </a:lnTo>
                  <a:lnTo>
                    <a:pt x="72" y="54"/>
                  </a:lnTo>
                  <a:lnTo>
                    <a:pt x="70" y="62"/>
                  </a:lnTo>
                  <a:lnTo>
                    <a:pt x="66" y="70"/>
                  </a:lnTo>
                  <a:lnTo>
                    <a:pt x="60" y="78"/>
                  </a:lnTo>
                  <a:lnTo>
                    <a:pt x="54" y="84"/>
                  </a:lnTo>
                  <a:lnTo>
                    <a:pt x="46" y="90"/>
                  </a:lnTo>
                  <a:lnTo>
                    <a:pt x="46" y="90"/>
                  </a:lnTo>
                  <a:lnTo>
                    <a:pt x="42" y="90"/>
                  </a:lnTo>
                  <a:lnTo>
                    <a:pt x="42" y="90"/>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22" name="Freeform 15">
              <a:extLst>
                <a:ext uri="{FF2B5EF4-FFF2-40B4-BE49-F238E27FC236}">
                  <a16:creationId xmlns:a16="http://schemas.microsoft.com/office/drawing/2014/main" id="{1FC25BB6-A2CB-EA37-BD4A-4E55B68B58AA}"/>
                </a:ext>
              </a:extLst>
            </p:cNvPr>
            <p:cNvSpPr>
              <a:spLocks/>
            </p:cNvSpPr>
            <p:nvPr/>
          </p:nvSpPr>
          <p:spPr bwMode="auto">
            <a:xfrm>
              <a:off x="1274763" y="3629025"/>
              <a:ext cx="139700" cy="82550"/>
            </a:xfrm>
            <a:custGeom>
              <a:avLst/>
              <a:gdLst>
                <a:gd name="T0" fmla="*/ 44 w 88"/>
                <a:gd name="T1" fmla="*/ 52 h 52"/>
                <a:gd name="T2" fmla="*/ 44 w 88"/>
                <a:gd name="T3" fmla="*/ 52 h 52"/>
                <a:gd name="T4" fmla="*/ 36 w 88"/>
                <a:gd name="T5" fmla="*/ 50 h 52"/>
                <a:gd name="T6" fmla="*/ 26 w 88"/>
                <a:gd name="T7" fmla="*/ 48 h 52"/>
                <a:gd name="T8" fmla="*/ 20 w 88"/>
                <a:gd name="T9" fmla="*/ 44 h 52"/>
                <a:gd name="T10" fmla="*/ 14 w 88"/>
                <a:gd name="T11" fmla="*/ 38 h 52"/>
                <a:gd name="T12" fmla="*/ 8 w 88"/>
                <a:gd name="T13" fmla="*/ 32 h 52"/>
                <a:gd name="T14" fmla="*/ 4 w 88"/>
                <a:gd name="T15" fmla="*/ 26 h 52"/>
                <a:gd name="T16" fmla="*/ 2 w 88"/>
                <a:gd name="T17" fmla="*/ 16 h 52"/>
                <a:gd name="T18" fmla="*/ 0 w 88"/>
                <a:gd name="T19" fmla="*/ 8 h 52"/>
                <a:gd name="T20" fmla="*/ 0 w 88"/>
                <a:gd name="T21" fmla="*/ 8 h 52"/>
                <a:gd name="T22" fmla="*/ 2 w 88"/>
                <a:gd name="T23" fmla="*/ 4 h 52"/>
                <a:gd name="T24" fmla="*/ 2 w 88"/>
                <a:gd name="T25" fmla="*/ 2 h 52"/>
                <a:gd name="T26" fmla="*/ 6 w 88"/>
                <a:gd name="T27" fmla="*/ 0 h 52"/>
                <a:gd name="T28" fmla="*/ 10 w 88"/>
                <a:gd name="T29" fmla="*/ 0 h 52"/>
                <a:gd name="T30" fmla="*/ 10 w 88"/>
                <a:gd name="T31" fmla="*/ 0 h 52"/>
                <a:gd name="T32" fmla="*/ 12 w 88"/>
                <a:gd name="T33" fmla="*/ 0 h 52"/>
                <a:gd name="T34" fmla="*/ 16 w 88"/>
                <a:gd name="T35" fmla="*/ 2 h 52"/>
                <a:gd name="T36" fmla="*/ 18 w 88"/>
                <a:gd name="T37" fmla="*/ 4 h 52"/>
                <a:gd name="T38" fmla="*/ 18 w 88"/>
                <a:gd name="T39" fmla="*/ 8 h 52"/>
                <a:gd name="T40" fmla="*/ 18 w 88"/>
                <a:gd name="T41" fmla="*/ 8 h 52"/>
                <a:gd name="T42" fmla="*/ 20 w 88"/>
                <a:gd name="T43" fmla="*/ 18 h 52"/>
                <a:gd name="T44" fmla="*/ 26 w 88"/>
                <a:gd name="T45" fmla="*/ 26 h 52"/>
                <a:gd name="T46" fmla="*/ 34 w 88"/>
                <a:gd name="T47" fmla="*/ 32 h 52"/>
                <a:gd name="T48" fmla="*/ 44 w 88"/>
                <a:gd name="T49" fmla="*/ 34 h 52"/>
                <a:gd name="T50" fmla="*/ 44 w 88"/>
                <a:gd name="T51" fmla="*/ 34 h 52"/>
                <a:gd name="T52" fmla="*/ 54 w 88"/>
                <a:gd name="T53" fmla="*/ 32 h 52"/>
                <a:gd name="T54" fmla="*/ 62 w 88"/>
                <a:gd name="T55" fmla="*/ 26 h 52"/>
                <a:gd name="T56" fmla="*/ 68 w 88"/>
                <a:gd name="T57" fmla="*/ 18 h 52"/>
                <a:gd name="T58" fmla="*/ 70 w 88"/>
                <a:gd name="T59" fmla="*/ 8 h 52"/>
                <a:gd name="T60" fmla="*/ 70 w 88"/>
                <a:gd name="T61" fmla="*/ 8 h 52"/>
                <a:gd name="T62" fmla="*/ 70 w 88"/>
                <a:gd name="T63" fmla="*/ 4 h 52"/>
                <a:gd name="T64" fmla="*/ 72 w 88"/>
                <a:gd name="T65" fmla="*/ 2 h 52"/>
                <a:gd name="T66" fmla="*/ 74 w 88"/>
                <a:gd name="T67" fmla="*/ 0 h 52"/>
                <a:gd name="T68" fmla="*/ 78 w 88"/>
                <a:gd name="T69" fmla="*/ 0 h 52"/>
                <a:gd name="T70" fmla="*/ 78 w 88"/>
                <a:gd name="T71" fmla="*/ 0 h 52"/>
                <a:gd name="T72" fmla="*/ 82 w 88"/>
                <a:gd name="T73" fmla="*/ 0 h 52"/>
                <a:gd name="T74" fmla="*/ 84 w 88"/>
                <a:gd name="T75" fmla="*/ 2 h 52"/>
                <a:gd name="T76" fmla="*/ 86 w 88"/>
                <a:gd name="T77" fmla="*/ 4 h 52"/>
                <a:gd name="T78" fmla="*/ 88 w 88"/>
                <a:gd name="T79" fmla="*/ 8 h 52"/>
                <a:gd name="T80" fmla="*/ 88 w 88"/>
                <a:gd name="T81" fmla="*/ 8 h 52"/>
                <a:gd name="T82" fmla="*/ 86 w 88"/>
                <a:gd name="T83" fmla="*/ 16 h 52"/>
                <a:gd name="T84" fmla="*/ 84 w 88"/>
                <a:gd name="T85" fmla="*/ 26 h 52"/>
                <a:gd name="T86" fmla="*/ 80 w 88"/>
                <a:gd name="T87" fmla="*/ 32 h 52"/>
                <a:gd name="T88" fmla="*/ 74 w 88"/>
                <a:gd name="T89" fmla="*/ 38 h 52"/>
                <a:gd name="T90" fmla="*/ 68 w 88"/>
                <a:gd name="T91" fmla="*/ 44 h 52"/>
                <a:gd name="T92" fmla="*/ 60 w 88"/>
                <a:gd name="T93" fmla="*/ 48 h 52"/>
                <a:gd name="T94" fmla="*/ 52 w 88"/>
                <a:gd name="T95" fmla="*/ 50 h 52"/>
                <a:gd name="T96" fmla="*/ 44 w 88"/>
                <a:gd name="T97" fmla="*/ 52 h 52"/>
                <a:gd name="T98" fmla="*/ 44 w 88"/>
                <a:gd name="T9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8" h="52">
                  <a:moveTo>
                    <a:pt x="44" y="52"/>
                  </a:moveTo>
                  <a:lnTo>
                    <a:pt x="44" y="52"/>
                  </a:lnTo>
                  <a:lnTo>
                    <a:pt x="36" y="50"/>
                  </a:lnTo>
                  <a:lnTo>
                    <a:pt x="26" y="48"/>
                  </a:lnTo>
                  <a:lnTo>
                    <a:pt x="20" y="44"/>
                  </a:lnTo>
                  <a:lnTo>
                    <a:pt x="14" y="38"/>
                  </a:lnTo>
                  <a:lnTo>
                    <a:pt x="8" y="32"/>
                  </a:lnTo>
                  <a:lnTo>
                    <a:pt x="4" y="26"/>
                  </a:lnTo>
                  <a:lnTo>
                    <a:pt x="2" y="16"/>
                  </a:lnTo>
                  <a:lnTo>
                    <a:pt x="0" y="8"/>
                  </a:lnTo>
                  <a:lnTo>
                    <a:pt x="0" y="8"/>
                  </a:lnTo>
                  <a:lnTo>
                    <a:pt x="2" y="4"/>
                  </a:lnTo>
                  <a:lnTo>
                    <a:pt x="2" y="2"/>
                  </a:lnTo>
                  <a:lnTo>
                    <a:pt x="6" y="0"/>
                  </a:lnTo>
                  <a:lnTo>
                    <a:pt x="10" y="0"/>
                  </a:lnTo>
                  <a:lnTo>
                    <a:pt x="10" y="0"/>
                  </a:lnTo>
                  <a:lnTo>
                    <a:pt x="12" y="0"/>
                  </a:lnTo>
                  <a:lnTo>
                    <a:pt x="16" y="2"/>
                  </a:lnTo>
                  <a:lnTo>
                    <a:pt x="18" y="4"/>
                  </a:lnTo>
                  <a:lnTo>
                    <a:pt x="18" y="8"/>
                  </a:lnTo>
                  <a:lnTo>
                    <a:pt x="18" y="8"/>
                  </a:lnTo>
                  <a:lnTo>
                    <a:pt x="20" y="18"/>
                  </a:lnTo>
                  <a:lnTo>
                    <a:pt x="26" y="26"/>
                  </a:lnTo>
                  <a:lnTo>
                    <a:pt x="34" y="32"/>
                  </a:lnTo>
                  <a:lnTo>
                    <a:pt x="44" y="34"/>
                  </a:lnTo>
                  <a:lnTo>
                    <a:pt x="44" y="34"/>
                  </a:lnTo>
                  <a:lnTo>
                    <a:pt x="54" y="32"/>
                  </a:lnTo>
                  <a:lnTo>
                    <a:pt x="62" y="26"/>
                  </a:lnTo>
                  <a:lnTo>
                    <a:pt x="68" y="18"/>
                  </a:lnTo>
                  <a:lnTo>
                    <a:pt x="70" y="8"/>
                  </a:lnTo>
                  <a:lnTo>
                    <a:pt x="70" y="8"/>
                  </a:lnTo>
                  <a:lnTo>
                    <a:pt x="70" y="4"/>
                  </a:lnTo>
                  <a:lnTo>
                    <a:pt x="72" y="2"/>
                  </a:lnTo>
                  <a:lnTo>
                    <a:pt x="74" y="0"/>
                  </a:lnTo>
                  <a:lnTo>
                    <a:pt x="78" y="0"/>
                  </a:lnTo>
                  <a:lnTo>
                    <a:pt x="78" y="0"/>
                  </a:lnTo>
                  <a:lnTo>
                    <a:pt x="82" y="0"/>
                  </a:lnTo>
                  <a:lnTo>
                    <a:pt x="84" y="2"/>
                  </a:lnTo>
                  <a:lnTo>
                    <a:pt x="86" y="4"/>
                  </a:lnTo>
                  <a:lnTo>
                    <a:pt x="88" y="8"/>
                  </a:lnTo>
                  <a:lnTo>
                    <a:pt x="88" y="8"/>
                  </a:lnTo>
                  <a:lnTo>
                    <a:pt x="86" y="16"/>
                  </a:lnTo>
                  <a:lnTo>
                    <a:pt x="84" y="26"/>
                  </a:lnTo>
                  <a:lnTo>
                    <a:pt x="80" y="32"/>
                  </a:lnTo>
                  <a:lnTo>
                    <a:pt x="74" y="38"/>
                  </a:lnTo>
                  <a:lnTo>
                    <a:pt x="68" y="44"/>
                  </a:lnTo>
                  <a:lnTo>
                    <a:pt x="60" y="48"/>
                  </a:lnTo>
                  <a:lnTo>
                    <a:pt x="52" y="50"/>
                  </a:lnTo>
                  <a:lnTo>
                    <a:pt x="44" y="52"/>
                  </a:lnTo>
                  <a:lnTo>
                    <a:pt x="44" y="52"/>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25" name="Freeform 16">
              <a:extLst>
                <a:ext uri="{FF2B5EF4-FFF2-40B4-BE49-F238E27FC236}">
                  <a16:creationId xmlns:a16="http://schemas.microsoft.com/office/drawing/2014/main" id="{B0E78D95-98EA-E04B-EE5F-891A80F41B1D}"/>
                </a:ext>
              </a:extLst>
            </p:cNvPr>
            <p:cNvSpPr>
              <a:spLocks/>
            </p:cNvSpPr>
            <p:nvPr/>
          </p:nvSpPr>
          <p:spPr bwMode="auto">
            <a:xfrm>
              <a:off x="1154113" y="3032125"/>
              <a:ext cx="257175" cy="101600"/>
            </a:xfrm>
            <a:custGeom>
              <a:avLst/>
              <a:gdLst>
                <a:gd name="T0" fmla="*/ 10 w 162"/>
                <a:gd name="T1" fmla="*/ 64 h 64"/>
                <a:gd name="T2" fmla="*/ 10 w 162"/>
                <a:gd name="T3" fmla="*/ 64 h 64"/>
                <a:gd name="T4" fmla="*/ 4 w 162"/>
                <a:gd name="T5" fmla="*/ 62 h 64"/>
                <a:gd name="T6" fmla="*/ 4 w 162"/>
                <a:gd name="T7" fmla="*/ 62 h 64"/>
                <a:gd name="T8" fmla="*/ 2 w 162"/>
                <a:gd name="T9" fmla="*/ 60 h 64"/>
                <a:gd name="T10" fmla="*/ 0 w 162"/>
                <a:gd name="T11" fmla="*/ 56 h 64"/>
                <a:gd name="T12" fmla="*/ 0 w 162"/>
                <a:gd name="T13" fmla="*/ 52 h 64"/>
                <a:gd name="T14" fmla="*/ 2 w 162"/>
                <a:gd name="T15" fmla="*/ 50 h 64"/>
                <a:gd name="T16" fmla="*/ 2 w 162"/>
                <a:gd name="T17" fmla="*/ 50 h 64"/>
                <a:gd name="T18" fmla="*/ 16 w 162"/>
                <a:gd name="T19" fmla="*/ 32 h 64"/>
                <a:gd name="T20" fmla="*/ 34 w 162"/>
                <a:gd name="T21" fmla="*/ 18 h 64"/>
                <a:gd name="T22" fmla="*/ 52 w 162"/>
                <a:gd name="T23" fmla="*/ 8 h 64"/>
                <a:gd name="T24" fmla="*/ 74 w 162"/>
                <a:gd name="T25" fmla="*/ 2 h 64"/>
                <a:gd name="T26" fmla="*/ 94 w 162"/>
                <a:gd name="T27" fmla="*/ 0 h 64"/>
                <a:gd name="T28" fmla="*/ 116 w 162"/>
                <a:gd name="T29" fmla="*/ 2 h 64"/>
                <a:gd name="T30" fmla="*/ 138 w 162"/>
                <a:gd name="T31" fmla="*/ 8 h 64"/>
                <a:gd name="T32" fmla="*/ 158 w 162"/>
                <a:gd name="T33" fmla="*/ 20 h 64"/>
                <a:gd name="T34" fmla="*/ 158 w 162"/>
                <a:gd name="T35" fmla="*/ 20 h 64"/>
                <a:gd name="T36" fmla="*/ 160 w 162"/>
                <a:gd name="T37" fmla="*/ 22 h 64"/>
                <a:gd name="T38" fmla="*/ 162 w 162"/>
                <a:gd name="T39" fmla="*/ 24 h 64"/>
                <a:gd name="T40" fmla="*/ 162 w 162"/>
                <a:gd name="T41" fmla="*/ 28 h 64"/>
                <a:gd name="T42" fmla="*/ 160 w 162"/>
                <a:gd name="T43" fmla="*/ 32 h 64"/>
                <a:gd name="T44" fmla="*/ 160 w 162"/>
                <a:gd name="T45" fmla="*/ 32 h 64"/>
                <a:gd name="T46" fmla="*/ 158 w 162"/>
                <a:gd name="T47" fmla="*/ 34 h 64"/>
                <a:gd name="T48" fmla="*/ 154 w 162"/>
                <a:gd name="T49" fmla="*/ 36 h 64"/>
                <a:gd name="T50" fmla="*/ 150 w 162"/>
                <a:gd name="T51" fmla="*/ 36 h 64"/>
                <a:gd name="T52" fmla="*/ 148 w 162"/>
                <a:gd name="T53" fmla="*/ 34 h 64"/>
                <a:gd name="T54" fmla="*/ 148 w 162"/>
                <a:gd name="T55" fmla="*/ 34 h 64"/>
                <a:gd name="T56" fmla="*/ 130 w 162"/>
                <a:gd name="T57" fmla="*/ 26 h 64"/>
                <a:gd name="T58" fmla="*/ 114 w 162"/>
                <a:gd name="T59" fmla="*/ 20 h 64"/>
                <a:gd name="T60" fmla="*/ 94 w 162"/>
                <a:gd name="T61" fmla="*/ 18 h 64"/>
                <a:gd name="T62" fmla="*/ 78 w 162"/>
                <a:gd name="T63" fmla="*/ 20 h 64"/>
                <a:gd name="T64" fmla="*/ 60 w 162"/>
                <a:gd name="T65" fmla="*/ 24 h 64"/>
                <a:gd name="T66" fmla="*/ 44 w 162"/>
                <a:gd name="T67" fmla="*/ 34 h 64"/>
                <a:gd name="T68" fmla="*/ 30 w 162"/>
                <a:gd name="T69" fmla="*/ 44 h 64"/>
                <a:gd name="T70" fmla="*/ 18 w 162"/>
                <a:gd name="T71" fmla="*/ 60 h 64"/>
                <a:gd name="T72" fmla="*/ 18 w 162"/>
                <a:gd name="T73" fmla="*/ 60 h 64"/>
                <a:gd name="T74" fmla="*/ 14 w 162"/>
                <a:gd name="T75" fmla="*/ 62 h 64"/>
                <a:gd name="T76" fmla="*/ 10 w 162"/>
                <a:gd name="T77" fmla="*/ 64 h 64"/>
                <a:gd name="T78" fmla="*/ 10 w 162"/>
                <a:gd name="T7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64">
                  <a:moveTo>
                    <a:pt x="10" y="64"/>
                  </a:moveTo>
                  <a:lnTo>
                    <a:pt x="10" y="64"/>
                  </a:lnTo>
                  <a:lnTo>
                    <a:pt x="4" y="62"/>
                  </a:lnTo>
                  <a:lnTo>
                    <a:pt x="4" y="62"/>
                  </a:lnTo>
                  <a:lnTo>
                    <a:pt x="2" y="60"/>
                  </a:lnTo>
                  <a:lnTo>
                    <a:pt x="0" y="56"/>
                  </a:lnTo>
                  <a:lnTo>
                    <a:pt x="0" y="52"/>
                  </a:lnTo>
                  <a:lnTo>
                    <a:pt x="2" y="50"/>
                  </a:lnTo>
                  <a:lnTo>
                    <a:pt x="2" y="50"/>
                  </a:lnTo>
                  <a:lnTo>
                    <a:pt x="16" y="32"/>
                  </a:lnTo>
                  <a:lnTo>
                    <a:pt x="34" y="18"/>
                  </a:lnTo>
                  <a:lnTo>
                    <a:pt x="52" y="8"/>
                  </a:lnTo>
                  <a:lnTo>
                    <a:pt x="74" y="2"/>
                  </a:lnTo>
                  <a:lnTo>
                    <a:pt x="94" y="0"/>
                  </a:lnTo>
                  <a:lnTo>
                    <a:pt x="116" y="2"/>
                  </a:lnTo>
                  <a:lnTo>
                    <a:pt x="138" y="8"/>
                  </a:lnTo>
                  <a:lnTo>
                    <a:pt x="158" y="20"/>
                  </a:lnTo>
                  <a:lnTo>
                    <a:pt x="158" y="20"/>
                  </a:lnTo>
                  <a:lnTo>
                    <a:pt x="160" y="22"/>
                  </a:lnTo>
                  <a:lnTo>
                    <a:pt x="162" y="24"/>
                  </a:lnTo>
                  <a:lnTo>
                    <a:pt x="162" y="28"/>
                  </a:lnTo>
                  <a:lnTo>
                    <a:pt x="160" y="32"/>
                  </a:lnTo>
                  <a:lnTo>
                    <a:pt x="160" y="32"/>
                  </a:lnTo>
                  <a:lnTo>
                    <a:pt x="158" y="34"/>
                  </a:lnTo>
                  <a:lnTo>
                    <a:pt x="154" y="36"/>
                  </a:lnTo>
                  <a:lnTo>
                    <a:pt x="150" y="36"/>
                  </a:lnTo>
                  <a:lnTo>
                    <a:pt x="148" y="34"/>
                  </a:lnTo>
                  <a:lnTo>
                    <a:pt x="148" y="34"/>
                  </a:lnTo>
                  <a:lnTo>
                    <a:pt x="130" y="26"/>
                  </a:lnTo>
                  <a:lnTo>
                    <a:pt x="114" y="20"/>
                  </a:lnTo>
                  <a:lnTo>
                    <a:pt x="94" y="18"/>
                  </a:lnTo>
                  <a:lnTo>
                    <a:pt x="78" y="20"/>
                  </a:lnTo>
                  <a:lnTo>
                    <a:pt x="60" y="24"/>
                  </a:lnTo>
                  <a:lnTo>
                    <a:pt x="44" y="34"/>
                  </a:lnTo>
                  <a:lnTo>
                    <a:pt x="30" y="44"/>
                  </a:lnTo>
                  <a:lnTo>
                    <a:pt x="18" y="60"/>
                  </a:lnTo>
                  <a:lnTo>
                    <a:pt x="18" y="60"/>
                  </a:lnTo>
                  <a:lnTo>
                    <a:pt x="14" y="62"/>
                  </a:lnTo>
                  <a:lnTo>
                    <a:pt x="10" y="64"/>
                  </a:lnTo>
                  <a:lnTo>
                    <a:pt x="10" y="64"/>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38" name="Freeform 17">
              <a:extLst>
                <a:ext uri="{FF2B5EF4-FFF2-40B4-BE49-F238E27FC236}">
                  <a16:creationId xmlns:a16="http://schemas.microsoft.com/office/drawing/2014/main" id="{DC6B9282-C5B6-2235-C360-A872663743F0}"/>
                </a:ext>
              </a:extLst>
            </p:cNvPr>
            <p:cNvSpPr>
              <a:spLocks/>
            </p:cNvSpPr>
            <p:nvPr/>
          </p:nvSpPr>
          <p:spPr bwMode="auto">
            <a:xfrm>
              <a:off x="1135063" y="3063875"/>
              <a:ext cx="279400" cy="990600"/>
            </a:xfrm>
            <a:custGeom>
              <a:avLst/>
              <a:gdLst>
                <a:gd name="T0" fmla="*/ 166 w 176"/>
                <a:gd name="T1" fmla="*/ 624 h 624"/>
                <a:gd name="T2" fmla="*/ 48 w 176"/>
                <a:gd name="T3" fmla="*/ 624 h 624"/>
                <a:gd name="T4" fmla="*/ 48 w 176"/>
                <a:gd name="T5" fmla="*/ 624 h 624"/>
                <a:gd name="T6" fmla="*/ 46 w 176"/>
                <a:gd name="T7" fmla="*/ 624 h 624"/>
                <a:gd name="T8" fmla="*/ 42 w 176"/>
                <a:gd name="T9" fmla="*/ 622 h 624"/>
                <a:gd name="T10" fmla="*/ 40 w 176"/>
                <a:gd name="T11" fmla="*/ 618 h 624"/>
                <a:gd name="T12" fmla="*/ 40 w 176"/>
                <a:gd name="T13" fmla="*/ 616 h 624"/>
                <a:gd name="T14" fmla="*/ 40 w 176"/>
                <a:gd name="T15" fmla="*/ 514 h 624"/>
                <a:gd name="T16" fmla="*/ 40 w 176"/>
                <a:gd name="T17" fmla="*/ 514 h 624"/>
                <a:gd name="T18" fmla="*/ 30 w 176"/>
                <a:gd name="T19" fmla="*/ 508 h 624"/>
                <a:gd name="T20" fmla="*/ 22 w 176"/>
                <a:gd name="T21" fmla="*/ 498 h 624"/>
                <a:gd name="T22" fmla="*/ 14 w 176"/>
                <a:gd name="T23" fmla="*/ 488 h 624"/>
                <a:gd name="T24" fmla="*/ 8 w 176"/>
                <a:gd name="T25" fmla="*/ 478 h 624"/>
                <a:gd name="T26" fmla="*/ 4 w 176"/>
                <a:gd name="T27" fmla="*/ 468 h 624"/>
                <a:gd name="T28" fmla="*/ 0 w 176"/>
                <a:gd name="T29" fmla="*/ 456 h 624"/>
                <a:gd name="T30" fmla="*/ 0 w 176"/>
                <a:gd name="T31" fmla="*/ 444 h 624"/>
                <a:gd name="T32" fmla="*/ 0 w 176"/>
                <a:gd name="T33" fmla="*/ 430 h 624"/>
                <a:gd name="T34" fmla="*/ 0 w 176"/>
                <a:gd name="T35" fmla="*/ 430 h 624"/>
                <a:gd name="T36" fmla="*/ 2 w 176"/>
                <a:gd name="T37" fmla="*/ 428 h 624"/>
                <a:gd name="T38" fmla="*/ 4 w 176"/>
                <a:gd name="T39" fmla="*/ 424 h 624"/>
                <a:gd name="T40" fmla="*/ 6 w 176"/>
                <a:gd name="T41" fmla="*/ 424 h 624"/>
                <a:gd name="T42" fmla="*/ 10 w 176"/>
                <a:gd name="T43" fmla="*/ 422 h 624"/>
                <a:gd name="T44" fmla="*/ 10 w 176"/>
                <a:gd name="T45" fmla="*/ 422 h 624"/>
                <a:gd name="T46" fmla="*/ 14 w 176"/>
                <a:gd name="T47" fmla="*/ 424 h 624"/>
                <a:gd name="T48" fmla="*/ 16 w 176"/>
                <a:gd name="T49" fmla="*/ 426 h 624"/>
                <a:gd name="T50" fmla="*/ 18 w 176"/>
                <a:gd name="T51" fmla="*/ 430 h 624"/>
                <a:gd name="T52" fmla="*/ 18 w 176"/>
                <a:gd name="T53" fmla="*/ 432 h 624"/>
                <a:gd name="T54" fmla="*/ 18 w 176"/>
                <a:gd name="T55" fmla="*/ 432 h 624"/>
                <a:gd name="T56" fmla="*/ 18 w 176"/>
                <a:gd name="T57" fmla="*/ 444 h 624"/>
                <a:gd name="T58" fmla="*/ 18 w 176"/>
                <a:gd name="T59" fmla="*/ 454 h 624"/>
                <a:gd name="T60" fmla="*/ 22 w 176"/>
                <a:gd name="T61" fmla="*/ 464 h 624"/>
                <a:gd name="T62" fmla="*/ 26 w 176"/>
                <a:gd name="T63" fmla="*/ 472 h 624"/>
                <a:gd name="T64" fmla="*/ 30 w 176"/>
                <a:gd name="T65" fmla="*/ 482 h 624"/>
                <a:gd name="T66" fmla="*/ 38 w 176"/>
                <a:gd name="T67" fmla="*/ 488 h 624"/>
                <a:gd name="T68" fmla="*/ 44 w 176"/>
                <a:gd name="T69" fmla="*/ 496 h 624"/>
                <a:gd name="T70" fmla="*/ 54 w 176"/>
                <a:gd name="T71" fmla="*/ 502 h 624"/>
                <a:gd name="T72" fmla="*/ 54 w 176"/>
                <a:gd name="T73" fmla="*/ 502 h 624"/>
                <a:gd name="T74" fmla="*/ 56 w 176"/>
                <a:gd name="T75" fmla="*/ 504 h 624"/>
                <a:gd name="T76" fmla="*/ 58 w 176"/>
                <a:gd name="T77" fmla="*/ 510 h 624"/>
                <a:gd name="T78" fmla="*/ 58 w 176"/>
                <a:gd name="T79" fmla="*/ 606 h 624"/>
                <a:gd name="T80" fmla="*/ 158 w 176"/>
                <a:gd name="T81" fmla="*/ 606 h 624"/>
                <a:gd name="T82" fmla="*/ 158 w 176"/>
                <a:gd name="T83" fmla="*/ 10 h 624"/>
                <a:gd name="T84" fmla="*/ 158 w 176"/>
                <a:gd name="T85" fmla="*/ 10 h 624"/>
                <a:gd name="T86" fmla="*/ 158 w 176"/>
                <a:gd name="T87" fmla="*/ 6 h 624"/>
                <a:gd name="T88" fmla="*/ 160 w 176"/>
                <a:gd name="T89" fmla="*/ 4 h 624"/>
                <a:gd name="T90" fmla="*/ 162 w 176"/>
                <a:gd name="T91" fmla="*/ 2 h 624"/>
                <a:gd name="T92" fmla="*/ 166 w 176"/>
                <a:gd name="T93" fmla="*/ 0 h 624"/>
                <a:gd name="T94" fmla="*/ 166 w 176"/>
                <a:gd name="T95" fmla="*/ 0 h 624"/>
                <a:gd name="T96" fmla="*/ 170 w 176"/>
                <a:gd name="T97" fmla="*/ 2 h 624"/>
                <a:gd name="T98" fmla="*/ 172 w 176"/>
                <a:gd name="T99" fmla="*/ 4 h 624"/>
                <a:gd name="T100" fmla="*/ 174 w 176"/>
                <a:gd name="T101" fmla="*/ 6 h 624"/>
                <a:gd name="T102" fmla="*/ 176 w 176"/>
                <a:gd name="T103" fmla="*/ 10 h 624"/>
                <a:gd name="T104" fmla="*/ 176 w 176"/>
                <a:gd name="T105" fmla="*/ 616 h 624"/>
                <a:gd name="T106" fmla="*/ 176 w 176"/>
                <a:gd name="T107" fmla="*/ 616 h 624"/>
                <a:gd name="T108" fmla="*/ 174 w 176"/>
                <a:gd name="T109" fmla="*/ 618 h 624"/>
                <a:gd name="T110" fmla="*/ 172 w 176"/>
                <a:gd name="T111" fmla="*/ 622 h 624"/>
                <a:gd name="T112" fmla="*/ 170 w 176"/>
                <a:gd name="T113" fmla="*/ 624 h 624"/>
                <a:gd name="T114" fmla="*/ 166 w 176"/>
                <a:gd name="T115" fmla="*/ 624 h 624"/>
                <a:gd name="T116" fmla="*/ 166 w 176"/>
                <a:gd name="T117" fmla="*/ 624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76" h="624">
                  <a:moveTo>
                    <a:pt x="166" y="624"/>
                  </a:moveTo>
                  <a:lnTo>
                    <a:pt x="48" y="624"/>
                  </a:lnTo>
                  <a:lnTo>
                    <a:pt x="48" y="624"/>
                  </a:lnTo>
                  <a:lnTo>
                    <a:pt x="46" y="624"/>
                  </a:lnTo>
                  <a:lnTo>
                    <a:pt x="42" y="622"/>
                  </a:lnTo>
                  <a:lnTo>
                    <a:pt x="40" y="618"/>
                  </a:lnTo>
                  <a:lnTo>
                    <a:pt x="40" y="616"/>
                  </a:lnTo>
                  <a:lnTo>
                    <a:pt x="40" y="514"/>
                  </a:lnTo>
                  <a:lnTo>
                    <a:pt x="40" y="514"/>
                  </a:lnTo>
                  <a:lnTo>
                    <a:pt x="30" y="508"/>
                  </a:lnTo>
                  <a:lnTo>
                    <a:pt x="22" y="498"/>
                  </a:lnTo>
                  <a:lnTo>
                    <a:pt x="14" y="488"/>
                  </a:lnTo>
                  <a:lnTo>
                    <a:pt x="8" y="478"/>
                  </a:lnTo>
                  <a:lnTo>
                    <a:pt x="4" y="468"/>
                  </a:lnTo>
                  <a:lnTo>
                    <a:pt x="0" y="456"/>
                  </a:lnTo>
                  <a:lnTo>
                    <a:pt x="0" y="444"/>
                  </a:lnTo>
                  <a:lnTo>
                    <a:pt x="0" y="430"/>
                  </a:lnTo>
                  <a:lnTo>
                    <a:pt x="0" y="430"/>
                  </a:lnTo>
                  <a:lnTo>
                    <a:pt x="2" y="428"/>
                  </a:lnTo>
                  <a:lnTo>
                    <a:pt x="4" y="424"/>
                  </a:lnTo>
                  <a:lnTo>
                    <a:pt x="6" y="424"/>
                  </a:lnTo>
                  <a:lnTo>
                    <a:pt x="10" y="422"/>
                  </a:lnTo>
                  <a:lnTo>
                    <a:pt x="10" y="422"/>
                  </a:lnTo>
                  <a:lnTo>
                    <a:pt x="14" y="424"/>
                  </a:lnTo>
                  <a:lnTo>
                    <a:pt x="16" y="426"/>
                  </a:lnTo>
                  <a:lnTo>
                    <a:pt x="18" y="430"/>
                  </a:lnTo>
                  <a:lnTo>
                    <a:pt x="18" y="432"/>
                  </a:lnTo>
                  <a:lnTo>
                    <a:pt x="18" y="432"/>
                  </a:lnTo>
                  <a:lnTo>
                    <a:pt x="18" y="444"/>
                  </a:lnTo>
                  <a:lnTo>
                    <a:pt x="18" y="454"/>
                  </a:lnTo>
                  <a:lnTo>
                    <a:pt x="22" y="464"/>
                  </a:lnTo>
                  <a:lnTo>
                    <a:pt x="26" y="472"/>
                  </a:lnTo>
                  <a:lnTo>
                    <a:pt x="30" y="482"/>
                  </a:lnTo>
                  <a:lnTo>
                    <a:pt x="38" y="488"/>
                  </a:lnTo>
                  <a:lnTo>
                    <a:pt x="44" y="496"/>
                  </a:lnTo>
                  <a:lnTo>
                    <a:pt x="54" y="502"/>
                  </a:lnTo>
                  <a:lnTo>
                    <a:pt x="54" y="502"/>
                  </a:lnTo>
                  <a:lnTo>
                    <a:pt x="56" y="504"/>
                  </a:lnTo>
                  <a:lnTo>
                    <a:pt x="58" y="510"/>
                  </a:lnTo>
                  <a:lnTo>
                    <a:pt x="58" y="606"/>
                  </a:lnTo>
                  <a:lnTo>
                    <a:pt x="158" y="606"/>
                  </a:lnTo>
                  <a:lnTo>
                    <a:pt x="158" y="10"/>
                  </a:lnTo>
                  <a:lnTo>
                    <a:pt x="158" y="10"/>
                  </a:lnTo>
                  <a:lnTo>
                    <a:pt x="158" y="6"/>
                  </a:lnTo>
                  <a:lnTo>
                    <a:pt x="160" y="4"/>
                  </a:lnTo>
                  <a:lnTo>
                    <a:pt x="162" y="2"/>
                  </a:lnTo>
                  <a:lnTo>
                    <a:pt x="166" y="0"/>
                  </a:lnTo>
                  <a:lnTo>
                    <a:pt x="166" y="0"/>
                  </a:lnTo>
                  <a:lnTo>
                    <a:pt x="170" y="2"/>
                  </a:lnTo>
                  <a:lnTo>
                    <a:pt x="172" y="4"/>
                  </a:lnTo>
                  <a:lnTo>
                    <a:pt x="174" y="6"/>
                  </a:lnTo>
                  <a:lnTo>
                    <a:pt x="176" y="10"/>
                  </a:lnTo>
                  <a:lnTo>
                    <a:pt x="176" y="616"/>
                  </a:lnTo>
                  <a:lnTo>
                    <a:pt x="176" y="616"/>
                  </a:lnTo>
                  <a:lnTo>
                    <a:pt x="174" y="618"/>
                  </a:lnTo>
                  <a:lnTo>
                    <a:pt x="172" y="622"/>
                  </a:lnTo>
                  <a:lnTo>
                    <a:pt x="170" y="624"/>
                  </a:lnTo>
                  <a:lnTo>
                    <a:pt x="166" y="624"/>
                  </a:lnTo>
                  <a:lnTo>
                    <a:pt x="166" y="624"/>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39" name="Freeform 18">
              <a:extLst>
                <a:ext uri="{FF2B5EF4-FFF2-40B4-BE49-F238E27FC236}">
                  <a16:creationId xmlns:a16="http://schemas.microsoft.com/office/drawing/2014/main" id="{BC74C1B5-151F-C7EE-EF0F-22B59F964287}"/>
                </a:ext>
              </a:extLst>
            </p:cNvPr>
            <p:cNvSpPr>
              <a:spLocks/>
            </p:cNvSpPr>
            <p:nvPr/>
          </p:nvSpPr>
          <p:spPr bwMode="auto">
            <a:xfrm>
              <a:off x="1449388" y="3867150"/>
              <a:ext cx="196850" cy="187325"/>
            </a:xfrm>
            <a:custGeom>
              <a:avLst/>
              <a:gdLst>
                <a:gd name="T0" fmla="*/ 116 w 124"/>
                <a:gd name="T1" fmla="*/ 118 h 118"/>
                <a:gd name="T2" fmla="*/ 10 w 124"/>
                <a:gd name="T3" fmla="*/ 118 h 118"/>
                <a:gd name="T4" fmla="*/ 10 w 124"/>
                <a:gd name="T5" fmla="*/ 118 h 118"/>
                <a:gd name="T6" fmla="*/ 6 w 124"/>
                <a:gd name="T7" fmla="*/ 118 h 118"/>
                <a:gd name="T8" fmla="*/ 2 w 124"/>
                <a:gd name="T9" fmla="*/ 116 h 118"/>
                <a:gd name="T10" fmla="*/ 0 w 124"/>
                <a:gd name="T11" fmla="*/ 112 h 118"/>
                <a:gd name="T12" fmla="*/ 0 w 124"/>
                <a:gd name="T13" fmla="*/ 110 h 118"/>
                <a:gd name="T14" fmla="*/ 0 w 124"/>
                <a:gd name="T15" fmla="*/ 32 h 118"/>
                <a:gd name="T16" fmla="*/ 0 w 124"/>
                <a:gd name="T17" fmla="*/ 32 h 118"/>
                <a:gd name="T18" fmla="*/ 0 w 124"/>
                <a:gd name="T19" fmla="*/ 28 h 118"/>
                <a:gd name="T20" fmla="*/ 2 w 124"/>
                <a:gd name="T21" fmla="*/ 26 h 118"/>
                <a:gd name="T22" fmla="*/ 6 w 124"/>
                <a:gd name="T23" fmla="*/ 24 h 118"/>
                <a:gd name="T24" fmla="*/ 10 w 124"/>
                <a:gd name="T25" fmla="*/ 24 h 118"/>
                <a:gd name="T26" fmla="*/ 10 w 124"/>
                <a:gd name="T27" fmla="*/ 24 h 118"/>
                <a:gd name="T28" fmla="*/ 12 w 124"/>
                <a:gd name="T29" fmla="*/ 24 h 118"/>
                <a:gd name="T30" fmla="*/ 16 w 124"/>
                <a:gd name="T31" fmla="*/ 26 h 118"/>
                <a:gd name="T32" fmla="*/ 18 w 124"/>
                <a:gd name="T33" fmla="*/ 28 h 118"/>
                <a:gd name="T34" fmla="*/ 18 w 124"/>
                <a:gd name="T35" fmla="*/ 32 h 118"/>
                <a:gd name="T36" fmla="*/ 18 w 124"/>
                <a:gd name="T37" fmla="*/ 100 h 118"/>
                <a:gd name="T38" fmla="*/ 106 w 124"/>
                <a:gd name="T39" fmla="*/ 100 h 118"/>
                <a:gd name="T40" fmla="*/ 106 w 124"/>
                <a:gd name="T41" fmla="*/ 8 h 118"/>
                <a:gd name="T42" fmla="*/ 106 w 124"/>
                <a:gd name="T43" fmla="*/ 8 h 118"/>
                <a:gd name="T44" fmla="*/ 106 w 124"/>
                <a:gd name="T45" fmla="*/ 4 h 118"/>
                <a:gd name="T46" fmla="*/ 108 w 124"/>
                <a:gd name="T47" fmla="*/ 2 h 118"/>
                <a:gd name="T48" fmla="*/ 112 w 124"/>
                <a:gd name="T49" fmla="*/ 0 h 118"/>
                <a:gd name="T50" fmla="*/ 116 w 124"/>
                <a:gd name="T51" fmla="*/ 0 h 118"/>
                <a:gd name="T52" fmla="*/ 116 w 124"/>
                <a:gd name="T53" fmla="*/ 0 h 118"/>
                <a:gd name="T54" fmla="*/ 118 w 124"/>
                <a:gd name="T55" fmla="*/ 0 h 118"/>
                <a:gd name="T56" fmla="*/ 122 w 124"/>
                <a:gd name="T57" fmla="*/ 2 h 118"/>
                <a:gd name="T58" fmla="*/ 124 w 124"/>
                <a:gd name="T59" fmla="*/ 4 h 118"/>
                <a:gd name="T60" fmla="*/ 124 w 124"/>
                <a:gd name="T61" fmla="*/ 8 h 118"/>
                <a:gd name="T62" fmla="*/ 124 w 124"/>
                <a:gd name="T63" fmla="*/ 110 h 118"/>
                <a:gd name="T64" fmla="*/ 124 w 124"/>
                <a:gd name="T65" fmla="*/ 110 h 118"/>
                <a:gd name="T66" fmla="*/ 124 w 124"/>
                <a:gd name="T67" fmla="*/ 112 h 118"/>
                <a:gd name="T68" fmla="*/ 122 w 124"/>
                <a:gd name="T69" fmla="*/ 116 h 118"/>
                <a:gd name="T70" fmla="*/ 118 w 124"/>
                <a:gd name="T71" fmla="*/ 118 h 118"/>
                <a:gd name="T72" fmla="*/ 116 w 124"/>
                <a:gd name="T73" fmla="*/ 118 h 118"/>
                <a:gd name="T74" fmla="*/ 116 w 124"/>
                <a:gd name="T75"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18">
                  <a:moveTo>
                    <a:pt x="116" y="118"/>
                  </a:moveTo>
                  <a:lnTo>
                    <a:pt x="10" y="118"/>
                  </a:lnTo>
                  <a:lnTo>
                    <a:pt x="10" y="118"/>
                  </a:lnTo>
                  <a:lnTo>
                    <a:pt x="6" y="118"/>
                  </a:lnTo>
                  <a:lnTo>
                    <a:pt x="2" y="116"/>
                  </a:lnTo>
                  <a:lnTo>
                    <a:pt x="0" y="112"/>
                  </a:lnTo>
                  <a:lnTo>
                    <a:pt x="0" y="110"/>
                  </a:lnTo>
                  <a:lnTo>
                    <a:pt x="0" y="32"/>
                  </a:lnTo>
                  <a:lnTo>
                    <a:pt x="0" y="32"/>
                  </a:lnTo>
                  <a:lnTo>
                    <a:pt x="0" y="28"/>
                  </a:lnTo>
                  <a:lnTo>
                    <a:pt x="2" y="26"/>
                  </a:lnTo>
                  <a:lnTo>
                    <a:pt x="6" y="24"/>
                  </a:lnTo>
                  <a:lnTo>
                    <a:pt x="10" y="24"/>
                  </a:lnTo>
                  <a:lnTo>
                    <a:pt x="10" y="24"/>
                  </a:lnTo>
                  <a:lnTo>
                    <a:pt x="12" y="24"/>
                  </a:lnTo>
                  <a:lnTo>
                    <a:pt x="16" y="26"/>
                  </a:lnTo>
                  <a:lnTo>
                    <a:pt x="18" y="28"/>
                  </a:lnTo>
                  <a:lnTo>
                    <a:pt x="18" y="32"/>
                  </a:lnTo>
                  <a:lnTo>
                    <a:pt x="18" y="100"/>
                  </a:lnTo>
                  <a:lnTo>
                    <a:pt x="106" y="100"/>
                  </a:lnTo>
                  <a:lnTo>
                    <a:pt x="106" y="8"/>
                  </a:lnTo>
                  <a:lnTo>
                    <a:pt x="106" y="8"/>
                  </a:lnTo>
                  <a:lnTo>
                    <a:pt x="106" y="4"/>
                  </a:lnTo>
                  <a:lnTo>
                    <a:pt x="108" y="2"/>
                  </a:lnTo>
                  <a:lnTo>
                    <a:pt x="112" y="0"/>
                  </a:lnTo>
                  <a:lnTo>
                    <a:pt x="116" y="0"/>
                  </a:lnTo>
                  <a:lnTo>
                    <a:pt x="116" y="0"/>
                  </a:lnTo>
                  <a:lnTo>
                    <a:pt x="118" y="0"/>
                  </a:lnTo>
                  <a:lnTo>
                    <a:pt x="122" y="2"/>
                  </a:lnTo>
                  <a:lnTo>
                    <a:pt x="124" y="4"/>
                  </a:lnTo>
                  <a:lnTo>
                    <a:pt x="124" y="8"/>
                  </a:lnTo>
                  <a:lnTo>
                    <a:pt x="124" y="110"/>
                  </a:lnTo>
                  <a:lnTo>
                    <a:pt x="124" y="110"/>
                  </a:lnTo>
                  <a:lnTo>
                    <a:pt x="124" y="112"/>
                  </a:lnTo>
                  <a:lnTo>
                    <a:pt x="122" y="116"/>
                  </a:lnTo>
                  <a:lnTo>
                    <a:pt x="118" y="118"/>
                  </a:lnTo>
                  <a:lnTo>
                    <a:pt x="116" y="118"/>
                  </a:lnTo>
                  <a:lnTo>
                    <a:pt x="116" y="118"/>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40" name="Freeform 19">
              <a:extLst>
                <a:ext uri="{FF2B5EF4-FFF2-40B4-BE49-F238E27FC236}">
                  <a16:creationId xmlns:a16="http://schemas.microsoft.com/office/drawing/2014/main" id="{A89CC747-9C23-0658-96E2-55109A0E8191}"/>
                </a:ext>
              </a:extLst>
            </p:cNvPr>
            <p:cNvSpPr>
              <a:spLocks/>
            </p:cNvSpPr>
            <p:nvPr/>
          </p:nvSpPr>
          <p:spPr bwMode="auto">
            <a:xfrm>
              <a:off x="1449388" y="3051175"/>
              <a:ext cx="422275" cy="898525"/>
            </a:xfrm>
            <a:custGeom>
              <a:avLst/>
              <a:gdLst>
                <a:gd name="T0" fmla="*/ 10 w 266"/>
                <a:gd name="T1" fmla="*/ 566 h 566"/>
                <a:gd name="T2" fmla="*/ 2 w 266"/>
                <a:gd name="T3" fmla="*/ 562 h 566"/>
                <a:gd name="T4" fmla="*/ 0 w 266"/>
                <a:gd name="T5" fmla="*/ 556 h 566"/>
                <a:gd name="T6" fmla="*/ 0 w 266"/>
                <a:gd name="T7" fmla="*/ 10 h 566"/>
                <a:gd name="T8" fmla="*/ 4 w 266"/>
                <a:gd name="T9" fmla="*/ 2 h 566"/>
                <a:gd name="T10" fmla="*/ 6 w 266"/>
                <a:gd name="T11" fmla="*/ 2 h 566"/>
                <a:gd name="T12" fmla="*/ 10 w 266"/>
                <a:gd name="T13" fmla="*/ 0 h 566"/>
                <a:gd name="T14" fmla="*/ 62 w 266"/>
                <a:gd name="T15" fmla="*/ 10 h 566"/>
                <a:gd name="T16" fmla="*/ 110 w 266"/>
                <a:gd name="T17" fmla="*/ 30 h 566"/>
                <a:gd name="T18" fmla="*/ 154 w 266"/>
                <a:gd name="T19" fmla="*/ 56 h 566"/>
                <a:gd name="T20" fmla="*/ 192 w 266"/>
                <a:gd name="T21" fmla="*/ 92 h 566"/>
                <a:gd name="T22" fmla="*/ 222 w 266"/>
                <a:gd name="T23" fmla="*/ 132 h 566"/>
                <a:gd name="T24" fmla="*/ 246 w 266"/>
                <a:gd name="T25" fmla="*/ 178 h 566"/>
                <a:gd name="T26" fmla="*/ 260 w 266"/>
                <a:gd name="T27" fmla="*/ 230 h 566"/>
                <a:gd name="T28" fmla="*/ 266 w 266"/>
                <a:gd name="T29" fmla="*/ 282 h 566"/>
                <a:gd name="T30" fmla="*/ 264 w 266"/>
                <a:gd name="T31" fmla="*/ 302 h 566"/>
                <a:gd name="T32" fmla="*/ 260 w 266"/>
                <a:gd name="T33" fmla="*/ 338 h 566"/>
                <a:gd name="T34" fmla="*/ 250 w 266"/>
                <a:gd name="T35" fmla="*/ 374 h 566"/>
                <a:gd name="T36" fmla="*/ 236 w 266"/>
                <a:gd name="T37" fmla="*/ 408 h 566"/>
                <a:gd name="T38" fmla="*/ 216 w 266"/>
                <a:gd name="T39" fmla="*/ 440 h 566"/>
                <a:gd name="T40" fmla="*/ 194 w 266"/>
                <a:gd name="T41" fmla="*/ 470 h 566"/>
                <a:gd name="T42" fmla="*/ 166 w 266"/>
                <a:gd name="T43" fmla="*/ 496 h 566"/>
                <a:gd name="T44" fmla="*/ 136 w 266"/>
                <a:gd name="T45" fmla="*/ 520 h 566"/>
                <a:gd name="T46" fmla="*/ 120 w 266"/>
                <a:gd name="T47" fmla="*/ 530 h 566"/>
                <a:gd name="T48" fmla="*/ 112 w 266"/>
                <a:gd name="T49" fmla="*/ 530 h 566"/>
                <a:gd name="T50" fmla="*/ 108 w 266"/>
                <a:gd name="T51" fmla="*/ 526 h 566"/>
                <a:gd name="T52" fmla="*/ 106 w 266"/>
                <a:gd name="T53" fmla="*/ 524 h 566"/>
                <a:gd name="T54" fmla="*/ 108 w 266"/>
                <a:gd name="T55" fmla="*/ 516 h 566"/>
                <a:gd name="T56" fmla="*/ 110 w 266"/>
                <a:gd name="T57" fmla="*/ 514 h 566"/>
                <a:gd name="T58" fmla="*/ 168 w 266"/>
                <a:gd name="T59" fmla="*/ 472 h 566"/>
                <a:gd name="T60" fmla="*/ 210 w 266"/>
                <a:gd name="T61" fmla="*/ 416 h 566"/>
                <a:gd name="T62" fmla="*/ 238 w 266"/>
                <a:gd name="T63" fmla="*/ 352 h 566"/>
                <a:gd name="T64" fmla="*/ 248 w 266"/>
                <a:gd name="T65" fmla="*/ 300 h 566"/>
                <a:gd name="T66" fmla="*/ 248 w 266"/>
                <a:gd name="T67" fmla="*/ 282 h 566"/>
                <a:gd name="T68" fmla="*/ 244 w 266"/>
                <a:gd name="T69" fmla="*/ 234 h 566"/>
                <a:gd name="T70" fmla="*/ 230 w 266"/>
                <a:gd name="T71" fmla="*/ 188 h 566"/>
                <a:gd name="T72" fmla="*/ 210 w 266"/>
                <a:gd name="T73" fmla="*/ 146 h 566"/>
                <a:gd name="T74" fmla="*/ 182 w 266"/>
                <a:gd name="T75" fmla="*/ 108 h 566"/>
                <a:gd name="T76" fmla="*/ 148 w 266"/>
                <a:gd name="T77" fmla="*/ 74 h 566"/>
                <a:gd name="T78" fmla="*/ 108 w 266"/>
                <a:gd name="T79" fmla="*/ 48 h 566"/>
                <a:gd name="T80" fmla="*/ 66 w 266"/>
                <a:gd name="T81" fmla="*/ 30 h 566"/>
                <a:gd name="T82" fmla="*/ 18 w 266"/>
                <a:gd name="T83" fmla="*/ 20 h 566"/>
                <a:gd name="T84" fmla="*/ 18 w 266"/>
                <a:gd name="T85" fmla="*/ 556 h 566"/>
                <a:gd name="T86" fmla="*/ 16 w 266"/>
                <a:gd name="T87" fmla="*/ 562 h 566"/>
                <a:gd name="T88" fmla="*/ 10 w 266"/>
                <a:gd name="T89" fmla="*/ 566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6" h="566">
                  <a:moveTo>
                    <a:pt x="10" y="566"/>
                  </a:moveTo>
                  <a:lnTo>
                    <a:pt x="10" y="566"/>
                  </a:lnTo>
                  <a:lnTo>
                    <a:pt x="6" y="564"/>
                  </a:lnTo>
                  <a:lnTo>
                    <a:pt x="2" y="562"/>
                  </a:lnTo>
                  <a:lnTo>
                    <a:pt x="0" y="560"/>
                  </a:lnTo>
                  <a:lnTo>
                    <a:pt x="0" y="556"/>
                  </a:lnTo>
                  <a:lnTo>
                    <a:pt x="0" y="10"/>
                  </a:lnTo>
                  <a:lnTo>
                    <a:pt x="0" y="10"/>
                  </a:lnTo>
                  <a:lnTo>
                    <a:pt x="0" y="6"/>
                  </a:lnTo>
                  <a:lnTo>
                    <a:pt x="4" y="2"/>
                  </a:lnTo>
                  <a:lnTo>
                    <a:pt x="4" y="2"/>
                  </a:lnTo>
                  <a:lnTo>
                    <a:pt x="6" y="2"/>
                  </a:lnTo>
                  <a:lnTo>
                    <a:pt x="10" y="0"/>
                  </a:lnTo>
                  <a:lnTo>
                    <a:pt x="10" y="0"/>
                  </a:lnTo>
                  <a:lnTo>
                    <a:pt x="36" y="4"/>
                  </a:lnTo>
                  <a:lnTo>
                    <a:pt x="62" y="10"/>
                  </a:lnTo>
                  <a:lnTo>
                    <a:pt x="86" y="18"/>
                  </a:lnTo>
                  <a:lnTo>
                    <a:pt x="110" y="30"/>
                  </a:lnTo>
                  <a:lnTo>
                    <a:pt x="132" y="42"/>
                  </a:lnTo>
                  <a:lnTo>
                    <a:pt x="154" y="56"/>
                  </a:lnTo>
                  <a:lnTo>
                    <a:pt x="174" y="74"/>
                  </a:lnTo>
                  <a:lnTo>
                    <a:pt x="192" y="92"/>
                  </a:lnTo>
                  <a:lnTo>
                    <a:pt x="208" y="112"/>
                  </a:lnTo>
                  <a:lnTo>
                    <a:pt x="222" y="132"/>
                  </a:lnTo>
                  <a:lnTo>
                    <a:pt x="236" y="156"/>
                  </a:lnTo>
                  <a:lnTo>
                    <a:pt x="246" y="178"/>
                  </a:lnTo>
                  <a:lnTo>
                    <a:pt x="254" y="204"/>
                  </a:lnTo>
                  <a:lnTo>
                    <a:pt x="260" y="230"/>
                  </a:lnTo>
                  <a:lnTo>
                    <a:pt x="264" y="256"/>
                  </a:lnTo>
                  <a:lnTo>
                    <a:pt x="266" y="282"/>
                  </a:lnTo>
                  <a:lnTo>
                    <a:pt x="266" y="282"/>
                  </a:lnTo>
                  <a:lnTo>
                    <a:pt x="264" y="302"/>
                  </a:lnTo>
                  <a:lnTo>
                    <a:pt x="264" y="320"/>
                  </a:lnTo>
                  <a:lnTo>
                    <a:pt x="260" y="338"/>
                  </a:lnTo>
                  <a:lnTo>
                    <a:pt x="256" y="358"/>
                  </a:lnTo>
                  <a:lnTo>
                    <a:pt x="250" y="374"/>
                  </a:lnTo>
                  <a:lnTo>
                    <a:pt x="244" y="392"/>
                  </a:lnTo>
                  <a:lnTo>
                    <a:pt x="236" y="408"/>
                  </a:lnTo>
                  <a:lnTo>
                    <a:pt x="226" y="426"/>
                  </a:lnTo>
                  <a:lnTo>
                    <a:pt x="216" y="440"/>
                  </a:lnTo>
                  <a:lnTo>
                    <a:pt x="206" y="456"/>
                  </a:lnTo>
                  <a:lnTo>
                    <a:pt x="194" y="470"/>
                  </a:lnTo>
                  <a:lnTo>
                    <a:pt x="180" y="484"/>
                  </a:lnTo>
                  <a:lnTo>
                    <a:pt x="166" y="496"/>
                  </a:lnTo>
                  <a:lnTo>
                    <a:pt x="152" y="508"/>
                  </a:lnTo>
                  <a:lnTo>
                    <a:pt x="136" y="520"/>
                  </a:lnTo>
                  <a:lnTo>
                    <a:pt x="120" y="530"/>
                  </a:lnTo>
                  <a:lnTo>
                    <a:pt x="120" y="530"/>
                  </a:lnTo>
                  <a:lnTo>
                    <a:pt x="116" y="532"/>
                  </a:lnTo>
                  <a:lnTo>
                    <a:pt x="112" y="530"/>
                  </a:lnTo>
                  <a:lnTo>
                    <a:pt x="110" y="530"/>
                  </a:lnTo>
                  <a:lnTo>
                    <a:pt x="108" y="526"/>
                  </a:lnTo>
                  <a:lnTo>
                    <a:pt x="108" y="526"/>
                  </a:lnTo>
                  <a:lnTo>
                    <a:pt x="106" y="524"/>
                  </a:lnTo>
                  <a:lnTo>
                    <a:pt x="106" y="520"/>
                  </a:lnTo>
                  <a:lnTo>
                    <a:pt x="108" y="516"/>
                  </a:lnTo>
                  <a:lnTo>
                    <a:pt x="110" y="514"/>
                  </a:lnTo>
                  <a:lnTo>
                    <a:pt x="110" y="514"/>
                  </a:lnTo>
                  <a:lnTo>
                    <a:pt x="140" y="494"/>
                  </a:lnTo>
                  <a:lnTo>
                    <a:pt x="168" y="472"/>
                  </a:lnTo>
                  <a:lnTo>
                    <a:pt x="192" y="446"/>
                  </a:lnTo>
                  <a:lnTo>
                    <a:pt x="210" y="416"/>
                  </a:lnTo>
                  <a:lnTo>
                    <a:pt x="226" y="386"/>
                  </a:lnTo>
                  <a:lnTo>
                    <a:pt x="238" y="352"/>
                  </a:lnTo>
                  <a:lnTo>
                    <a:pt x="246" y="318"/>
                  </a:lnTo>
                  <a:lnTo>
                    <a:pt x="248" y="300"/>
                  </a:lnTo>
                  <a:lnTo>
                    <a:pt x="248" y="282"/>
                  </a:lnTo>
                  <a:lnTo>
                    <a:pt x="248" y="282"/>
                  </a:lnTo>
                  <a:lnTo>
                    <a:pt x="246" y="258"/>
                  </a:lnTo>
                  <a:lnTo>
                    <a:pt x="244" y="234"/>
                  </a:lnTo>
                  <a:lnTo>
                    <a:pt x="238" y="210"/>
                  </a:lnTo>
                  <a:lnTo>
                    <a:pt x="230" y="188"/>
                  </a:lnTo>
                  <a:lnTo>
                    <a:pt x="220" y="166"/>
                  </a:lnTo>
                  <a:lnTo>
                    <a:pt x="210" y="146"/>
                  </a:lnTo>
                  <a:lnTo>
                    <a:pt x="196" y="126"/>
                  </a:lnTo>
                  <a:lnTo>
                    <a:pt x="182" y="108"/>
                  </a:lnTo>
                  <a:lnTo>
                    <a:pt x="166" y="90"/>
                  </a:lnTo>
                  <a:lnTo>
                    <a:pt x="148" y="74"/>
                  </a:lnTo>
                  <a:lnTo>
                    <a:pt x="128" y="62"/>
                  </a:lnTo>
                  <a:lnTo>
                    <a:pt x="108" y="48"/>
                  </a:lnTo>
                  <a:lnTo>
                    <a:pt x="88" y="38"/>
                  </a:lnTo>
                  <a:lnTo>
                    <a:pt x="66" y="30"/>
                  </a:lnTo>
                  <a:lnTo>
                    <a:pt x="42" y="24"/>
                  </a:lnTo>
                  <a:lnTo>
                    <a:pt x="18" y="20"/>
                  </a:lnTo>
                  <a:lnTo>
                    <a:pt x="18" y="556"/>
                  </a:lnTo>
                  <a:lnTo>
                    <a:pt x="18" y="556"/>
                  </a:lnTo>
                  <a:lnTo>
                    <a:pt x="18" y="560"/>
                  </a:lnTo>
                  <a:lnTo>
                    <a:pt x="16" y="562"/>
                  </a:lnTo>
                  <a:lnTo>
                    <a:pt x="12" y="564"/>
                  </a:lnTo>
                  <a:lnTo>
                    <a:pt x="10" y="566"/>
                  </a:lnTo>
                  <a:lnTo>
                    <a:pt x="10" y="566"/>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41" name="Freeform 20">
              <a:extLst>
                <a:ext uri="{FF2B5EF4-FFF2-40B4-BE49-F238E27FC236}">
                  <a16:creationId xmlns:a16="http://schemas.microsoft.com/office/drawing/2014/main" id="{489B1C87-63C6-F011-5B98-73BE904FB985}"/>
                </a:ext>
              </a:extLst>
            </p:cNvPr>
            <p:cNvSpPr>
              <a:spLocks/>
            </p:cNvSpPr>
            <p:nvPr/>
          </p:nvSpPr>
          <p:spPr bwMode="auto">
            <a:xfrm>
              <a:off x="1547813" y="3136900"/>
              <a:ext cx="120650" cy="85725"/>
            </a:xfrm>
            <a:custGeom>
              <a:avLst/>
              <a:gdLst>
                <a:gd name="T0" fmla="*/ 68 w 76"/>
                <a:gd name="T1" fmla="*/ 54 h 54"/>
                <a:gd name="T2" fmla="*/ 68 w 76"/>
                <a:gd name="T3" fmla="*/ 54 h 54"/>
                <a:gd name="T4" fmla="*/ 62 w 76"/>
                <a:gd name="T5" fmla="*/ 52 h 54"/>
                <a:gd name="T6" fmla="*/ 62 w 76"/>
                <a:gd name="T7" fmla="*/ 52 h 54"/>
                <a:gd name="T8" fmla="*/ 36 w 76"/>
                <a:gd name="T9" fmla="*/ 32 h 54"/>
                <a:gd name="T10" fmla="*/ 6 w 76"/>
                <a:gd name="T11" fmla="*/ 18 h 54"/>
                <a:gd name="T12" fmla="*/ 6 w 76"/>
                <a:gd name="T13" fmla="*/ 18 h 54"/>
                <a:gd name="T14" fmla="*/ 4 w 76"/>
                <a:gd name="T15" fmla="*/ 16 h 54"/>
                <a:gd name="T16" fmla="*/ 2 w 76"/>
                <a:gd name="T17" fmla="*/ 12 h 54"/>
                <a:gd name="T18" fmla="*/ 0 w 76"/>
                <a:gd name="T19" fmla="*/ 8 h 54"/>
                <a:gd name="T20" fmla="*/ 2 w 76"/>
                <a:gd name="T21" fmla="*/ 6 h 54"/>
                <a:gd name="T22" fmla="*/ 2 w 76"/>
                <a:gd name="T23" fmla="*/ 6 h 54"/>
                <a:gd name="T24" fmla="*/ 4 w 76"/>
                <a:gd name="T25" fmla="*/ 2 h 54"/>
                <a:gd name="T26" fmla="*/ 6 w 76"/>
                <a:gd name="T27" fmla="*/ 0 h 54"/>
                <a:gd name="T28" fmla="*/ 10 w 76"/>
                <a:gd name="T29" fmla="*/ 0 h 54"/>
                <a:gd name="T30" fmla="*/ 14 w 76"/>
                <a:gd name="T31" fmla="*/ 0 h 54"/>
                <a:gd name="T32" fmla="*/ 14 w 76"/>
                <a:gd name="T33" fmla="*/ 0 h 54"/>
                <a:gd name="T34" fmla="*/ 44 w 76"/>
                <a:gd name="T35" fmla="*/ 18 h 54"/>
                <a:gd name="T36" fmla="*/ 74 w 76"/>
                <a:gd name="T37" fmla="*/ 38 h 54"/>
                <a:gd name="T38" fmla="*/ 74 w 76"/>
                <a:gd name="T39" fmla="*/ 38 h 54"/>
                <a:gd name="T40" fmla="*/ 76 w 76"/>
                <a:gd name="T41" fmla="*/ 40 h 54"/>
                <a:gd name="T42" fmla="*/ 76 w 76"/>
                <a:gd name="T43" fmla="*/ 44 h 54"/>
                <a:gd name="T44" fmla="*/ 76 w 76"/>
                <a:gd name="T45" fmla="*/ 46 h 54"/>
                <a:gd name="T46" fmla="*/ 74 w 76"/>
                <a:gd name="T47" fmla="*/ 50 h 54"/>
                <a:gd name="T48" fmla="*/ 74 w 76"/>
                <a:gd name="T49" fmla="*/ 50 h 54"/>
                <a:gd name="T50" fmla="*/ 72 w 76"/>
                <a:gd name="T51" fmla="*/ 52 h 54"/>
                <a:gd name="T52" fmla="*/ 68 w 76"/>
                <a:gd name="T53" fmla="*/ 54 h 54"/>
                <a:gd name="T54" fmla="*/ 68 w 76"/>
                <a:gd name="T5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6" h="54">
                  <a:moveTo>
                    <a:pt x="68" y="54"/>
                  </a:moveTo>
                  <a:lnTo>
                    <a:pt x="68" y="54"/>
                  </a:lnTo>
                  <a:lnTo>
                    <a:pt x="62" y="52"/>
                  </a:lnTo>
                  <a:lnTo>
                    <a:pt x="62" y="52"/>
                  </a:lnTo>
                  <a:lnTo>
                    <a:pt x="36" y="32"/>
                  </a:lnTo>
                  <a:lnTo>
                    <a:pt x="6" y="18"/>
                  </a:lnTo>
                  <a:lnTo>
                    <a:pt x="6" y="18"/>
                  </a:lnTo>
                  <a:lnTo>
                    <a:pt x="4" y="16"/>
                  </a:lnTo>
                  <a:lnTo>
                    <a:pt x="2" y="12"/>
                  </a:lnTo>
                  <a:lnTo>
                    <a:pt x="0" y="8"/>
                  </a:lnTo>
                  <a:lnTo>
                    <a:pt x="2" y="6"/>
                  </a:lnTo>
                  <a:lnTo>
                    <a:pt x="2" y="6"/>
                  </a:lnTo>
                  <a:lnTo>
                    <a:pt x="4" y="2"/>
                  </a:lnTo>
                  <a:lnTo>
                    <a:pt x="6" y="0"/>
                  </a:lnTo>
                  <a:lnTo>
                    <a:pt x="10" y="0"/>
                  </a:lnTo>
                  <a:lnTo>
                    <a:pt x="14" y="0"/>
                  </a:lnTo>
                  <a:lnTo>
                    <a:pt x="14" y="0"/>
                  </a:lnTo>
                  <a:lnTo>
                    <a:pt x="44" y="18"/>
                  </a:lnTo>
                  <a:lnTo>
                    <a:pt x="74" y="38"/>
                  </a:lnTo>
                  <a:lnTo>
                    <a:pt x="74" y="38"/>
                  </a:lnTo>
                  <a:lnTo>
                    <a:pt x="76" y="40"/>
                  </a:lnTo>
                  <a:lnTo>
                    <a:pt x="76" y="44"/>
                  </a:lnTo>
                  <a:lnTo>
                    <a:pt x="76" y="46"/>
                  </a:lnTo>
                  <a:lnTo>
                    <a:pt x="74" y="50"/>
                  </a:lnTo>
                  <a:lnTo>
                    <a:pt x="74" y="50"/>
                  </a:lnTo>
                  <a:lnTo>
                    <a:pt x="72" y="52"/>
                  </a:lnTo>
                  <a:lnTo>
                    <a:pt x="68" y="54"/>
                  </a:lnTo>
                  <a:lnTo>
                    <a:pt x="68" y="54"/>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42" name="Freeform 21">
              <a:extLst>
                <a:ext uri="{FF2B5EF4-FFF2-40B4-BE49-F238E27FC236}">
                  <a16:creationId xmlns:a16="http://schemas.microsoft.com/office/drawing/2014/main" id="{23CFEDD9-7C75-D87F-C01B-D194E8B085FB}"/>
                </a:ext>
              </a:extLst>
            </p:cNvPr>
            <p:cNvSpPr>
              <a:spLocks noEditPoints="1"/>
            </p:cNvSpPr>
            <p:nvPr/>
          </p:nvSpPr>
          <p:spPr bwMode="auto">
            <a:xfrm>
              <a:off x="1455738" y="3492500"/>
              <a:ext cx="215900" cy="555625"/>
            </a:xfrm>
            <a:custGeom>
              <a:avLst/>
              <a:gdLst>
                <a:gd name="T0" fmla="*/ 42 w 136"/>
                <a:gd name="T1" fmla="*/ 350 h 350"/>
                <a:gd name="T2" fmla="*/ 36 w 136"/>
                <a:gd name="T3" fmla="*/ 348 h 350"/>
                <a:gd name="T4" fmla="*/ 34 w 136"/>
                <a:gd name="T5" fmla="*/ 342 h 350"/>
                <a:gd name="T6" fmla="*/ 34 w 136"/>
                <a:gd name="T7" fmla="*/ 134 h 350"/>
                <a:gd name="T8" fmla="*/ 36 w 136"/>
                <a:gd name="T9" fmla="*/ 100 h 350"/>
                <a:gd name="T10" fmla="*/ 8 w 136"/>
                <a:gd name="T11" fmla="*/ 80 h 350"/>
                <a:gd name="T12" fmla="*/ 6 w 136"/>
                <a:gd name="T13" fmla="*/ 80 h 350"/>
                <a:gd name="T14" fmla="*/ 0 w 136"/>
                <a:gd name="T15" fmla="*/ 76 h 350"/>
                <a:gd name="T16" fmla="*/ 0 w 136"/>
                <a:gd name="T17" fmla="*/ 72 h 350"/>
                <a:gd name="T18" fmla="*/ 2 w 136"/>
                <a:gd name="T19" fmla="*/ 66 h 350"/>
                <a:gd name="T20" fmla="*/ 8 w 136"/>
                <a:gd name="T21" fmla="*/ 62 h 350"/>
                <a:gd name="T22" fmla="*/ 44 w 136"/>
                <a:gd name="T23" fmla="*/ 62 h 350"/>
                <a:gd name="T24" fmla="*/ 62 w 136"/>
                <a:gd name="T25" fmla="*/ 24 h 350"/>
                <a:gd name="T26" fmla="*/ 74 w 136"/>
                <a:gd name="T27" fmla="*/ 10 h 350"/>
                <a:gd name="T28" fmla="*/ 92 w 136"/>
                <a:gd name="T29" fmla="*/ 2 h 350"/>
                <a:gd name="T30" fmla="*/ 106 w 136"/>
                <a:gd name="T31" fmla="*/ 0 h 350"/>
                <a:gd name="T32" fmla="*/ 126 w 136"/>
                <a:gd name="T33" fmla="*/ 6 h 350"/>
                <a:gd name="T34" fmla="*/ 130 w 136"/>
                <a:gd name="T35" fmla="*/ 10 h 350"/>
                <a:gd name="T36" fmla="*/ 136 w 136"/>
                <a:gd name="T37" fmla="*/ 26 h 350"/>
                <a:gd name="T38" fmla="*/ 132 w 136"/>
                <a:gd name="T39" fmla="*/ 46 h 350"/>
                <a:gd name="T40" fmla="*/ 124 w 136"/>
                <a:gd name="T41" fmla="*/ 58 h 350"/>
                <a:gd name="T42" fmla="*/ 110 w 136"/>
                <a:gd name="T43" fmla="*/ 70 h 350"/>
                <a:gd name="T44" fmla="*/ 94 w 136"/>
                <a:gd name="T45" fmla="*/ 78 h 350"/>
                <a:gd name="T46" fmla="*/ 72 w 136"/>
                <a:gd name="T47" fmla="*/ 80 h 350"/>
                <a:gd name="T48" fmla="*/ 58 w 136"/>
                <a:gd name="T49" fmla="*/ 80 h 350"/>
                <a:gd name="T50" fmla="*/ 52 w 136"/>
                <a:gd name="T51" fmla="*/ 134 h 350"/>
                <a:gd name="T52" fmla="*/ 52 w 136"/>
                <a:gd name="T53" fmla="*/ 342 h 350"/>
                <a:gd name="T54" fmla="*/ 50 w 136"/>
                <a:gd name="T55" fmla="*/ 348 h 350"/>
                <a:gd name="T56" fmla="*/ 42 w 136"/>
                <a:gd name="T57" fmla="*/ 350 h 350"/>
                <a:gd name="T58" fmla="*/ 62 w 136"/>
                <a:gd name="T59" fmla="*/ 62 h 350"/>
                <a:gd name="T60" fmla="*/ 72 w 136"/>
                <a:gd name="T61" fmla="*/ 62 h 350"/>
                <a:gd name="T62" fmla="*/ 100 w 136"/>
                <a:gd name="T63" fmla="*/ 56 h 350"/>
                <a:gd name="T64" fmla="*/ 116 w 136"/>
                <a:gd name="T65" fmla="*/ 38 h 350"/>
                <a:gd name="T66" fmla="*/ 118 w 136"/>
                <a:gd name="T67" fmla="*/ 28 h 350"/>
                <a:gd name="T68" fmla="*/ 116 w 136"/>
                <a:gd name="T69" fmla="*/ 22 h 350"/>
                <a:gd name="T70" fmla="*/ 112 w 136"/>
                <a:gd name="T71" fmla="*/ 20 h 350"/>
                <a:gd name="T72" fmla="*/ 96 w 136"/>
                <a:gd name="T73" fmla="*/ 20 h 350"/>
                <a:gd name="T74" fmla="*/ 90 w 136"/>
                <a:gd name="T75" fmla="*/ 22 h 350"/>
                <a:gd name="T76" fmla="*/ 76 w 136"/>
                <a:gd name="T77" fmla="*/ 36 h 350"/>
                <a:gd name="T78" fmla="*/ 62 w 136"/>
                <a:gd name="T79" fmla="*/ 62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6" h="350">
                  <a:moveTo>
                    <a:pt x="42" y="350"/>
                  </a:moveTo>
                  <a:lnTo>
                    <a:pt x="42" y="350"/>
                  </a:lnTo>
                  <a:lnTo>
                    <a:pt x="40" y="350"/>
                  </a:lnTo>
                  <a:lnTo>
                    <a:pt x="36" y="348"/>
                  </a:lnTo>
                  <a:lnTo>
                    <a:pt x="34" y="346"/>
                  </a:lnTo>
                  <a:lnTo>
                    <a:pt x="34" y="342"/>
                  </a:lnTo>
                  <a:lnTo>
                    <a:pt x="34" y="134"/>
                  </a:lnTo>
                  <a:lnTo>
                    <a:pt x="34" y="134"/>
                  </a:lnTo>
                  <a:lnTo>
                    <a:pt x="34" y="118"/>
                  </a:lnTo>
                  <a:lnTo>
                    <a:pt x="36" y="100"/>
                  </a:lnTo>
                  <a:lnTo>
                    <a:pt x="40" y="80"/>
                  </a:lnTo>
                  <a:lnTo>
                    <a:pt x="8" y="80"/>
                  </a:lnTo>
                  <a:lnTo>
                    <a:pt x="8" y="80"/>
                  </a:lnTo>
                  <a:lnTo>
                    <a:pt x="6" y="80"/>
                  </a:lnTo>
                  <a:lnTo>
                    <a:pt x="2" y="78"/>
                  </a:lnTo>
                  <a:lnTo>
                    <a:pt x="0" y="76"/>
                  </a:lnTo>
                  <a:lnTo>
                    <a:pt x="0" y="72"/>
                  </a:lnTo>
                  <a:lnTo>
                    <a:pt x="0" y="72"/>
                  </a:lnTo>
                  <a:lnTo>
                    <a:pt x="0" y="68"/>
                  </a:lnTo>
                  <a:lnTo>
                    <a:pt x="2" y="66"/>
                  </a:lnTo>
                  <a:lnTo>
                    <a:pt x="6" y="64"/>
                  </a:lnTo>
                  <a:lnTo>
                    <a:pt x="8" y="62"/>
                  </a:lnTo>
                  <a:lnTo>
                    <a:pt x="44" y="62"/>
                  </a:lnTo>
                  <a:lnTo>
                    <a:pt x="44" y="62"/>
                  </a:lnTo>
                  <a:lnTo>
                    <a:pt x="52" y="42"/>
                  </a:lnTo>
                  <a:lnTo>
                    <a:pt x="62" y="24"/>
                  </a:lnTo>
                  <a:lnTo>
                    <a:pt x="68" y="18"/>
                  </a:lnTo>
                  <a:lnTo>
                    <a:pt x="74" y="10"/>
                  </a:lnTo>
                  <a:lnTo>
                    <a:pt x="84" y="6"/>
                  </a:lnTo>
                  <a:lnTo>
                    <a:pt x="92" y="2"/>
                  </a:lnTo>
                  <a:lnTo>
                    <a:pt x="92" y="2"/>
                  </a:lnTo>
                  <a:lnTo>
                    <a:pt x="106" y="0"/>
                  </a:lnTo>
                  <a:lnTo>
                    <a:pt x="118" y="2"/>
                  </a:lnTo>
                  <a:lnTo>
                    <a:pt x="126" y="6"/>
                  </a:lnTo>
                  <a:lnTo>
                    <a:pt x="130" y="10"/>
                  </a:lnTo>
                  <a:lnTo>
                    <a:pt x="130" y="10"/>
                  </a:lnTo>
                  <a:lnTo>
                    <a:pt x="134" y="18"/>
                  </a:lnTo>
                  <a:lnTo>
                    <a:pt x="136" y="26"/>
                  </a:lnTo>
                  <a:lnTo>
                    <a:pt x="136" y="36"/>
                  </a:lnTo>
                  <a:lnTo>
                    <a:pt x="132" y="46"/>
                  </a:lnTo>
                  <a:lnTo>
                    <a:pt x="132" y="46"/>
                  </a:lnTo>
                  <a:lnTo>
                    <a:pt x="124" y="58"/>
                  </a:lnTo>
                  <a:lnTo>
                    <a:pt x="118" y="64"/>
                  </a:lnTo>
                  <a:lnTo>
                    <a:pt x="110" y="70"/>
                  </a:lnTo>
                  <a:lnTo>
                    <a:pt x="102" y="74"/>
                  </a:lnTo>
                  <a:lnTo>
                    <a:pt x="94" y="78"/>
                  </a:lnTo>
                  <a:lnTo>
                    <a:pt x="82" y="80"/>
                  </a:lnTo>
                  <a:lnTo>
                    <a:pt x="72" y="80"/>
                  </a:lnTo>
                  <a:lnTo>
                    <a:pt x="58" y="80"/>
                  </a:lnTo>
                  <a:lnTo>
                    <a:pt x="58" y="80"/>
                  </a:lnTo>
                  <a:lnTo>
                    <a:pt x="54" y="110"/>
                  </a:lnTo>
                  <a:lnTo>
                    <a:pt x="52" y="134"/>
                  </a:lnTo>
                  <a:lnTo>
                    <a:pt x="52" y="342"/>
                  </a:lnTo>
                  <a:lnTo>
                    <a:pt x="52" y="342"/>
                  </a:lnTo>
                  <a:lnTo>
                    <a:pt x="50" y="346"/>
                  </a:lnTo>
                  <a:lnTo>
                    <a:pt x="50" y="348"/>
                  </a:lnTo>
                  <a:lnTo>
                    <a:pt x="46" y="350"/>
                  </a:lnTo>
                  <a:lnTo>
                    <a:pt x="42" y="350"/>
                  </a:lnTo>
                  <a:lnTo>
                    <a:pt x="42" y="350"/>
                  </a:lnTo>
                  <a:close/>
                  <a:moveTo>
                    <a:pt x="62" y="62"/>
                  </a:moveTo>
                  <a:lnTo>
                    <a:pt x="72" y="62"/>
                  </a:lnTo>
                  <a:lnTo>
                    <a:pt x="72" y="62"/>
                  </a:lnTo>
                  <a:lnTo>
                    <a:pt x="88" y="60"/>
                  </a:lnTo>
                  <a:lnTo>
                    <a:pt x="100" y="56"/>
                  </a:lnTo>
                  <a:lnTo>
                    <a:pt x="110" y="48"/>
                  </a:lnTo>
                  <a:lnTo>
                    <a:pt x="116" y="38"/>
                  </a:lnTo>
                  <a:lnTo>
                    <a:pt x="116" y="38"/>
                  </a:lnTo>
                  <a:lnTo>
                    <a:pt x="118" y="28"/>
                  </a:lnTo>
                  <a:lnTo>
                    <a:pt x="118" y="24"/>
                  </a:lnTo>
                  <a:lnTo>
                    <a:pt x="116" y="22"/>
                  </a:lnTo>
                  <a:lnTo>
                    <a:pt x="116" y="22"/>
                  </a:lnTo>
                  <a:lnTo>
                    <a:pt x="112" y="20"/>
                  </a:lnTo>
                  <a:lnTo>
                    <a:pt x="108" y="18"/>
                  </a:lnTo>
                  <a:lnTo>
                    <a:pt x="96" y="20"/>
                  </a:lnTo>
                  <a:lnTo>
                    <a:pt x="96" y="20"/>
                  </a:lnTo>
                  <a:lnTo>
                    <a:pt x="90" y="22"/>
                  </a:lnTo>
                  <a:lnTo>
                    <a:pt x="86" y="26"/>
                  </a:lnTo>
                  <a:lnTo>
                    <a:pt x="76" y="36"/>
                  </a:lnTo>
                  <a:lnTo>
                    <a:pt x="68" y="48"/>
                  </a:lnTo>
                  <a:lnTo>
                    <a:pt x="62" y="62"/>
                  </a:lnTo>
                  <a:lnTo>
                    <a:pt x="62" y="62"/>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43" name="Freeform 22">
              <a:extLst>
                <a:ext uri="{FF2B5EF4-FFF2-40B4-BE49-F238E27FC236}">
                  <a16:creationId xmlns:a16="http://schemas.microsoft.com/office/drawing/2014/main" id="{B34319D8-2B52-0B86-709E-8BE9FDC92E93}"/>
                </a:ext>
              </a:extLst>
            </p:cNvPr>
            <p:cNvSpPr>
              <a:spLocks noEditPoints="1"/>
            </p:cNvSpPr>
            <p:nvPr/>
          </p:nvSpPr>
          <p:spPr bwMode="auto">
            <a:xfrm>
              <a:off x="1230313" y="4083050"/>
              <a:ext cx="352425" cy="215900"/>
            </a:xfrm>
            <a:custGeom>
              <a:avLst/>
              <a:gdLst>
                <a:gd name="T0" fmla="*/ 188 w 222"/>
                <a:gd name="T1" fmla="*/ 136 h 136"/>
                <a:gd name="T2" fmla="*/ 34 w 222"/>
                <a:gd name="T3" fmla="*/ 136 h 136"/>
                <a:gd name="T4" fmla="*/ 34 w 222"/>
                <a:gd name="T5" fmla="*/ 136 h 136"/>
                <a:gd name="T6" fmla="*/ 28 w 222"/>
                <a:gd name="T7" fmla="*/ 134 h 136"/>
                <a:gd name="T8" fmla="*/ 22 w 222"/>
                <a:gd name="T9" fmla="*/ 132 h 136"/>
                <a:gd name="T10" fmla="*/ 16 w 222"/>
                <a:gd name="T11" fmla="*/ 130 h 136"/>
                <a:gd name="T12" fmla="*/ 10 w 222"/>
                <a:gd name="T13" fmla="*/ 126 h 136"/>
                <a:gd name="T14" fmla="*/ 6 w 222"/>
                <a:gd name="T15" fmla="*/ 120 h 136"/>
                <a:gd name="T16" fmla="*/ 2 w 222"/>
                <a:gd name="T17" fmla="*/ 114 h 136"/>
                <a:gd name="T18" fmla="*/ 0 w 222"/>
                <a:gd name="T19" fmla="*/ 108 h 136"/>
                <a:gd name="T20" fmla="*/ 0 w 222"/>
                <a:gd name="T21" fmla="*/ 100 h 136"/>
                <a:gd name="T22" fmla="*/ 0 w 222"/>
                <a:gd name="T23" fmla="*/ 8 h 136"/>
                <a:gd name="T24" fmla="*/ 0 w 222"/>
                <a:gd name="T25" fmla="*/ 8 h 136"/>
                <a:gd name="T26" fmla="*/ 0 w 222"/>
                <a:gd name="T27" fmla="*/ 4 h 136"/>
                <a:gd name="T28" fmla="*/ 2 w 222"/>
                <a:gd name="T29" fmla="*/ 2 h 136"/>
                <a:gd name="T30" fmla="*/ 6 w 222"/>
                <a:gd name="T31" fmla="*/ 0 h 136"/>
                <a:gd name="T32" fmla="*/ 10 w 222"/>
                <a:gd name="T33" fmla="*/ 0 h 136"/>
                <a:gd name="T34" fmla="*/ 214 w 222"/>
                <a:gd name="T35" fmla="*/ 0 h 136"/>
                <a:gd name="T36" fmla="*/ 214 w 222"/>
                <a:gd name="T37" fmla="*/ 0 h 136"/>
                <a:gd name="T38" fmla="*/ 218 w 222"/>
                <a:gd name="T39" fmla="*/ 0 h 136"/>
                <a:gd name="T40" fmla="*/ 220 w 222"/>
                <a:gd name="T41" fmla="*/ 2 h 136"/>
                <a:gd name="T42" fmla="*/ 222 w 222"/>
                <a:gd name="T43" fmla="*/ 4 h 136"/>
                <a:gd name="T44" fmla="*/ 222 w 222"/>
                <a:gd name="T45" fmla="*/ 8 h 136"/>
                <a:gd name="T46" fmla="*/ 222 w 222"/>
                <a:gd name="T47" fmla="*/ 100 h 136"/>
                <a:gd name="T48" fmla="*/ 222 w 222"/>
                <a:gd name="T49" fmla="*/ 100 h 136"/>
                <a:gd name="T50" fmla="*/ 222 w 222"/>
                <a:gd name="T51" fmla="*/ 108 h 136"/>
                <a:gd name="T52" fmla="*/ 220 w 222"/>
                <a:gd name="T53" fmla="*/ 114 h 136"/>
                <a:gd name="T54" fmla="*/ 216 w 222"/>
                <a:gd name="T55" fmla="*/ 120 h 136"/>
                <a:gd name="T56" fmla="*/ 212 w 222"/>
                <a:gd name="T57" fmla="*/ 126 h 136"/>
                <a:gd name="T58" fmla="*/ 208 w 222"/>
                <a:gd name="T59" fmla="*/ 130 h 136"/>
                <a:gd name="T60" fmla="*/ 202 w 222"/>
                <a:gd name="T61" fmla="*/ 132 h 136"/>
                <a:gd name="T62" fmla="*/ 194 w 222"/>
                <a:gd name="T63" fmla="*/ 134 h 136"/>
                <a:gd name="T64" fmla="*/ 188 w 222"/>
                <a:gd name="T65" fmla="*/ 136 h 136"/>
                <a:gd name="T66" fmla="*/ 188 w 222"/>
                <a:gd name="T67" fmla="*/ 136 h 136"/>
                <a:gd name="T68" fmla="*/ 18 w 222"/>
                <a:gd name="T69" fmla="*/ 18 h 136"/>
                <a:gd name="T70" fmla="*/ 18 w 222"/>
                <a:gd name="T71" fmla="*/ 100 h 136"/>
                <a:gd name="T72" fmla="*/ 18 w 222"/>
                <a:gd name="T73" fmla="*/ 100 h 136"/>
                <a:gd name="T74" fmla="*/ 20 w 222"/>
                <a:gd name="T75" fmla="*/ 108 h 136"/>
                <a:gd name="T76" fmla="*/ 22 w 222"/>
                <a:gd name="T77" fmla="*/ 112 h 136"/>
                <a:gd name="T78" fmla="*/ 28 w 222"/>
                <a:gd name="T79" fmla="*/ 116 h 136"/>
                <a:gd name="T80" fmla="*/ 34 w 222"/>
                <a:gd name="T81" fmla="*/ 118 h 136"/>
                <a:gd name="T82" fmla="*/ 188 w 222"/>
                <a:gd name="T83" fmla="*/ 118 h 136"/>
                <a:gd name="T84" fmla="*/ 188 w 222"/>
                <a:gd name="T85" fmla="*/ 118 h 136"/>
                <a:gd name="T86" fmla="*/ 194 w 222"/>
                <a:gd name="T87" fmla="*/ 116 h 136"/>
                <a:gd name="T88" fmla="*/ 200 w 222"/>
                <a:gd name="T89" fmla="*/ 112 h 136"/>
                <a:gd name="T90" fmla="*/ 204 w 222"/>
                <a:gd name="T91" fmla="*/ 108 h 136"/>
                <a:gd name="T92" fmla="*/ 204 w 222"/>
                <a:gd name="T93" fmla="*/ 100 h 136"/>
                <a:gd name="T94" fmla="*/ 204 w 222"/>
                <a:gd name="T95" fmla="*/ 18 h 136"/>
                <a:gd name="T96" fmla="*/ 18 w 222"/>
                <a:gd name="T97" fmla="*/ 18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2" h="136">
                  <a:moveTo>
                    <a:pt x="188" y="136"/>
                  </a:moveTo>
                  <a:lnTo>
                    <a:pt x="34" y="136"/>
                  </a:lnTo>
                  <a:lnTo>
                    <a:pt x="34" y="136"/>
                  </a:lnTo>
                  <a:lnTo>
                    <a:pt x="28" y="134"/>
                  </a:lnTo>
                  <a:lnTo>
                    <a:pt x="22" y="132"/>
                  </a:lnTo>
                  <a:lnTo>
                    <a:pt x="16" y="130"/>
                  </a:lnTo>
                  <a:lnTo>
                    <a:pt x="10" y="126"/>
                  </a:lnTo>
                  <a:lnTo>
                    <a:pt x="6" y="120"/>
                  </a:lnTo>
                  <a:lnTo>
                    <a:pt x="2" y="114"/>
                  </a:lnTo>
                  <a:lnTo>
                    <a:pt x="0" y="108"/>
                  </a:lnTo>
                  <a:lnTo>
                    <a:pt x="0" y="100"/>
                  </a:lnTo>
                  <a:lnTo>
                    <a:pt x="0" y="8"/>
                  </a:lnTo>
                  <a:lnTo>
                    <a:pt x="0" y="8"/>
                  </a:lnTo>
                  <a:lnTo>
                    <a:pt x="0" y="4"/>
                  </a:lnTo>
                  <a:lnTo>
                    <a:pt x="2" y="2"/>
                  </a:lnTo>
                  <a:lnTo>
                    <a:pt x="6" y="0"/>
                  </a:lnTo>
                  <a:lnTo>
                    <a:pt x="10" y="0"/>
                  </a:lnTo>
                  <a:lnTo>
                    <a:pt x="214" y="0"/>
                  </a:lnTo>
                  <a:lnTo>
                    <a:pt x="214" y="0"/>
                  </a:lnTo>
                  <a:lnTo>
                    <a:pt x="218" y="0"/>
                  </a:lnTo>
                  <a:lnTo>
                    <a:pt x="220" y="2"/>
                  </a:lnTo>
                  <a:lnTo>
                    <a:pt x="222" y="4"/>
                  </a:lnTo>
                  <a:lnTo>
                    <a:pt x="222" y="8"/>
                  </a:lnTo>
                  <a:lnTo>
                    <a:pt x="222" y="100"/>
                  </a:lnTo>
                  <a:lnTo>
                    <a:pt x="222" y="100"/>
                  </a:lnTo>
                  <a:lnTo>
                    <a:pt x="222" y="108"/>
                  </a:lnTo>
                  <a:lnTo>
                    <a:pt x="220" y="114"/>
                  </a:lnTo>
                  <a:lnTo>
                    <a:pt x="216" y="120"/>
                  </a:lnTo>
                  <a:lnTo>
                    <a:pt x="212" y="126"/>
                  </a:lnTo>
                  <a:lnTo>
                    <a:pt x="208" y="130"/>
                  </a:lnTo>
                  <a:lnTo>
                    <a:pt x="202" y="132"/>
                  </a:lnTo>
                  <a:lnTo>
                    <a:pt x="194" y="134"/>
                  </a:lnTo>
                  <a:lnTo>
                    <a:pt x="188" y="136"/>
                  </a:lnTo>
                  <a:lnTo>
                    <a:pt x="188" y="136"/>
                  </a:lnTo>
                  <a:close/>
                  <a:moveTo>
                    <a:pt x="18" y="18"/>
                  </a:moveTo>
                  <a:lnTo>
                    <a:pt x="18" y="100"/>
                  </a:lnTo>
                  <a:lnTo>
                    <a:pt x="18" y="100"/>
                  </a:lnTo>
                  <a:lnTo>
                    <a:pt x="20" y="108"/>
                  </a:lnTo>
                  <a:lnTo>
                    <a:pt x="22" y="112"/>
                  </a:lnTo>
                  <a:lnTo>
                    <a:pt x="28" y="116"/>
                  </a:lnTo>
                  <a:lnTo>
                    <a:pt x="34" y="118"/>
                  </a:lnTo>
                  <a:lnTo>
                    <a:pt x="188" y="118"/>
                  </a:lnTo>
                  <a:lnTo>
                    <a:pt x="188" y="118"/>
                  </a:lnTo>
                  <a:lnTo>
                    <a:pt x="194" y="116"/>
                  </a:lnTo>
                  <a:lnTo>
                    <a:pt x="200" y="112"/>
                  </a:lnTo>
                  <a:lnTo>
                    <a:pt x="204" y="108"/>
                  </a:lnTo>
                  <a:lnTo>
                    <a:pt x="204" y="100"/>
                  </a:lnTo>
                  <a:lnTo>
                    <a:pt x="204" y="18"/>
                  </a:lnTo>
                  <a:lnTo>
                    <a:pt x="18" y="18"/>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44" name="Freeform 23">
              <a:extLst>
                <a:ext uri="{FF2B5EF4-FFF2-40B4-BE49-F238E27FC236}">
                  <a16:creationId xmlns:a16="http://schemas.microsoft.com/office/drawing/2014/main" id="{75885290-3174-F5D7-015D-87953572512B}"/>
                </a:ext>
              </a:extLst>
            </p:cNvPr>
            <p:cNvSpPr>
              <a:spLocks noEditPoints="1"/>
            </p:cNvSpPr>
            <p:nvPr/>
          </p:nvSpPr>
          <p:spPr bwMode="auto">
            <a:xfrm>
              <a:off x="1325563" y="4270375"/>
              <a:ext cx="165100" cy="82550"/>
            </a:xfrm>
            <a:custGeom>
              <a:avLst/>
              <a:gdLst>
                <a:gd name="T0" fmla="*/ 60 w 104"/>
                <a:gd name="T1" fmla="*/ 52 h 52"/>
                <a:gd name="T2" fmla="*/ 42 w 104"/>
                <a:gd name="T3" fmla="*/ 52 h 52"/>
                <a:gd name="T4" fmla="*/ 42 w 104"/>
                <a:gd name="T5" fmla="*/ 52 h 52"/>
                <a:gd name="T6" fmla="*/ 34 w 104"/>
                <a:gd name="T7" fmla="*/ 50 h 52"/>
                <a:gd name="T8" fmla="*/ 26 w 104"/>
                <a:gd name="T9" fmla="*/ 48 h 52"/>
                <a:gd name="T10" fmla="*/ 18 w 104"/>
                <a:gd name="T11" fmla="*/ 44 h 52"/>
                <a:gd name="T12" fmla="*/ 12 w 104"/>
                <a:gd name="T13" fmla="*/ 38 h 52"/>
                <a:gd name="T14" fmla="*/ 6 w 104"/>
                <a:gd name="T15" fmla="*/ 32 h 52"/>
                <a:gd name="T16" fmla="*/ 2 w 104"/>
                <a:gd name="T17" fmla="*/ 26 h 52"/>
                <a:gd name="T18" fmla="*/ 0 w 104"/>
                <a:gd name="T19" fmla="*/ 18 h 52"/>
                <a:gd name="T20" fmla="*/ 0 w 104"/>
                <a:gd name="T21" fmla="*/ 8 h 52"/>
                <a:gd name="T22" fmla="*/ 0 w 104"/>
                <a:gd name="T23" fmla="*/ 8 h 52"/>
                <a:gd name="T24" fmla="*/ 0 w 104"/>
                <a:gd name="T25" fmla="*/ 6 h 52"/>
                <a:gd name="T26" fmla="*/ 2 w 104"/>
                <a:gd name="T27" fmla="*/ 2 h 52"/>
                <a:gd name="T28" fmla="*/ 4 w 104"/>
                <a:gd name="T29" fmla="*/ 0 h 52"/>
                <a:gd name="T30" fmla="*/ 8 w 104"/>
                <a:gd name="T31" fmla="*/ 0 h 52"/>
                <a:gd name="T32" fmla="*/ 94 w 104"/>
                <a:gd name="T33" fmla="*/ 0 h 52"/>
                <a:gd name="T34" fmla="*/ 94 w 104"/>
                <a:gd name="T35" fmla="*/ 0 h 52"/>
                <a:gd name="T36" fmla="*/ 98 w 104"/>
                <a:gd name="T37" fmla="*/ 0 h 52"/>
                <a:gd name="T38" fmla="*/ 100 w 104"/>
                <a:gd name="T39" fmla="*/ 2 h 52"/>
                <a:gd name="T40" fmla="*/ 102 w 104"/>
                <a:gd name="T41" fmla="*/ 6 h 52"/>
                <a:gd name="T42" fmla="*/ 104 w 104"/>
                <a:gd name="T43" fmla="*/ 8 h 52"/>
                <a:gd name="T44" fmla="*/ 104 w 104"/>
                <a:gd name="T45" fmla="*/ 8 h 52"/>
                <a:gd name="T46" fmla="*/ 102 w 104"/>
                <a:gd name="T47" fmla="*/ 18 h 52"/>
                <a:gd name="T48" fmla="*/ 100 w 104"/>
                <a:gd name="T49" fmla="*/ 26 h 52"/>
                <a:gd name="T50" fmla="*/ 96 w 104"/>
                <a:gd name="T51" fmla="*/ 32 h 52"/>
                <a:gd name="T52" fmla="*/ 90 w 104"/>
                <a:gd name="T53" fmla="*/ 38 h 52"/>
                <a:gd name="T54" fmla="*/ 84 w 104"/>
                <a:gd name="T55" fmla="*/ 44 h 52"/>
                <a:gd name="T56" fmla="*/ 78 w 104"/>
                <a:gd name="T57" fmla="*/ 48 h 52"/>
                <a:gd name="T58" fmla="*/ 70 w 104"/>
                <a:gd name="T59" fmla="*/ 50 h 52"/>
                <a:gd name="T60" fmla="*/ 60 w 104"/>
                <a:gd name="T61" fmla="*/ 52 h 52"/>
                <a:gd name="T62" fmla="*/ 60 w 104"/>
                <a:gd name="T63" fmla="*/ 52 h 52"/>
                <a:gd name="T64" fmla="*/ 20 w 104"/>
                <a:gd name="T65" fmla="*/ 18 h 52"/>
                <a:gd name="T66" fmla="*/ 20 w 104"/>
                <a:gd name="T67" fmla="*/ 18 h 52"/>
                <a:gd name="T68" fmla="*/ 22 w 104"/>
                <a:gd name="T69" fmla="*/ 24 h 52"/>
                <a:gd name="T70" fmla="*/ 28 w 104"/>
                <a:gd name="T71" fmla="*/ 28 h 52"/>
                <a:gd name="T72" fmla="*/ 34 w 104"/>
                <a:gd name="T73" fmla="*/ 32 h 52"/>
                <a:gd name="T74" fmla="*/ 42 w 104"/>
                <a:gd name="T75" fmla="*/ 34 h 52"/>
                <a:gd name="T76" fmla="*/ 60 w 104"/>
                <a:gd name="T77" fmla="*/ 34 h 52"/>
                <a:gd name="T78" fmla="*/ 60 w 104"/>
                <a:gd name="T79" fmla="*/ 34 h 52"/>
                <a:gd name="T80" fmla="*/ 68 w 104"/>
                <a:gd name="T81" fmla="*/ 32 h 52"/>
                <a:gd name="T82" fmla="*/ 74 w 104"/>
                <a:gd name="T83" fmla="*/ 28 h 52"/>
                <a:gd name="T84" fmla="*/ 80 w 104"/>
                <a:gd name="T85" fmla="*/ 24 h 52"/>
                <a:gd name="T86" fmla="*/ 84 w 104"/>
                <a:gd name="T87" fmla="*/ 18 h 52"/>
                <a:gd name="T88" fmla="*/ 20 w 104"/>
                <a:gd name="T89" fmla="*/ 1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4" h="52">
                  <a:moveTo>
                    <a:pt x="60" y="52"/>
                  </a:moveTo>
                  <a:lnTo>
                    <a:pt x="42" y="52"/>
                  </a:lnTo>
                  <a:lnTo>
                    <a:pt x="42" y="52"/>
                  </a:lnTo>
                  <a:lnTo>
                    <a:pt x="34" y="50"/>
                  </a:lnTo>
                  <a:lnTo>
                    <a:pt x="26" y="48"/>
                  </a:lnTo>
                  <a:lnTo>
                    <a:pt x="18" y="44"/>
                  </a:lnTo>
                  <a:lnTo>
                    <a:pt x="12" y="38"/>
                  </a:lnTo>
                  <a:lnTo>
                    <a:pt x="6" y="32"/>
                  </a:lnTo>
                  <a:lnTo>
                    <a:pt x="2" y="26"/>
                  </a:lnTo>
                  <a:lnTo>
                    <a:pt x="0" y="18"/>
                  </a:lnTo>
                  <a:lnTo>
                    <a:pt x="0" y="8"/>
                  </a:lnTo>
                  <a:lnTo>
                    <a:pt x="0" y="8"/>
                  </a:lnTo>
                  <a:lnTo>
                    <a:pt x="0" y="6"/>
                  </a:lnTo>
                  <a:lnTo>
                    <a:pt x="2" y="2"/>
                  </a:lnTo>
                  <a:lnTo>
                    <a:pt x="4" y="0"/>
                  </a:lnTo>
                  <a:lnTo>
                    <a:pt x="8" y="0"/>
                  </a:lnTo>
                  <a:lnTo>
                    <a:pt x="94" y="0"/>
                  </a:lnTo>
                  <a:lnTo>
                    <a:pt x="94" y="0"/>
                  </a:lnTo>
                  <a:lnTo>
                    <a:pt x="98" y="0"/>
                  </a:lnTo>
                  <a:lnTo>
                    <a:pt x="100" y="2"/>
                  </a:lnTo>
                  <a:lnTo>
                    <a:pt x="102" y="6"/>
                  </a:lnTo>
                  <a:lnTo>
                    <a:pt x="104" y="8"/>
                  </a:lnTo>
                  <a:lnTo>
                    <a:pt x="104" y="8"/>
                  </a:lnTo>
                  <a:lnTo>
                    <a:pt x="102" y="18"/>
                  </a:lnTo>
                  <a:lnTo>
                    <a:pt x="100" y="26"/>
                  </a:lnTo>
                  <a:lnTo>
                    <a:pt x="96" y="32"/>
                  </a:lnTo>
                  <a:lnTo>
                    <a:pt x="90" y="38"/>
                  </a:lnTo>
                  <a:lnTo>
                    <a:pt x="84" y="44"/>
                  </a:lnTo>
                  <a:lnTo>
                    <a:pt x="78" y="48"/>
                  </a:lnTo>
                  <a:lnTo>
                    <a:pt x="70" y="50"/>
                  </a:lnTo>
                  <a:lnTo>
                    <a:pt x="60" y="52"/>
                  </a:lnTo>
                  <a:lnTo>
                    <a:pt x="60" y="52"/>
                  </a:lnTo>
                  <a:close/>
                  <a:moveTo>
                    <a:pt x="20" y="18"/>
                  </a:moveTo>
                  <a:lnTo>
                    <a:pt x="20" y="18"/>
                  </a:lnTo>
                  <a:lnTo>
                    <a:pt x="22" y="24"/>
                  </a:lnTo>
                  <a:lnTo>
                    <a:pt x="28" y="28"/>
                  </a:lnTo>
                  <a:lnTo>
                    <a:pt x="34" y="32"/>
                  </a:lnTo>
                  <a:lnTo>
                    <a:pt x="42" y="34"/>
                  </a:lnTo>
                  <a:lnTo>
                    <a:pt x="60" y="34"/>
                  </a:lnTo>
                  <a:lnTo>
                    <a:pt x="60" y="34"/>
                  </a:lnTo>
                  <a:lnTo>
                    <a:pt x="68" y="32"/>
                  </a:lnTo>
                  <a:lnTo>
                    <a:pt x="74" y="28"/>
                  </a:lnTo>
                  <a:lnTo>
                    <a:pt x="80" y="24"/>
                  </a:lnTo>
                  <a:lnTo>
                    <a:pt x="84" y="18"/>
                  </a:lnTo>
                  <a:lnTo>
                    <a:pt x="20" y="18"/>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45" name="Freeform 24">
              <a:extLst>
                <a:ext uri="{FF2B5EF4-FFF2-40B4-BE49-F238E27FC236}">
                  <a16:creationId xmlns:a16="http://schemas.microsoft.com/office/drawing/2014/main" id="{81B6A6B3-A700-40EC-7102-397F9EDD0D5D}"/>
                </a:ext>
              </a:extLst>
            </p:cNvPr>
            <p:cNvSpPr>
              <a:spLocks/>
            </p:cNvSpPr>
            <p:nvPr/>
          </p:nvSpPr>
          <p:spPr bwMode="auto">
            <a:xfrm>
              <a:off x="1230313" y="4143375"/>
              <a:ext cx="352425" cy="28575"/>
            </a:xfrm>
            <a:custGeom>
              <a:avLst/>
              <a:gdLst>
                <a:gd name="T0" fmla="*/ 214 w 222"/>
                <a:gd name="T1" fmla="*/ 18 h 18"/>
                <a:gd name="T2" fmla="*/ 10 w 222"/>
                <a:gd name="T3" fmla="*/ 18 h 18"/>
                <a:gd name="T4" fmla="*/ 10 w 222"/>
                <a:gd name="T5" fmla="*/ 18 h 18"/>
                <a:gd name="T6" fmla="*/ 6 w 222"/>
                <a:gd name="T7" fmla="*/ 16 h 18"/>
                <a:gd name="T8" fmla="*/ 2 w 222"/>
                <a:gd name="T9" fmla="*/ 14 h 18"/>
                <a:gd name="T10" fmla="*/ 0 w 222"/>
                <a:gd name="T11" fmla="*/ 12 h 18"/>
                <a:gd name="T12" fmla="*/ 0 w 222"/>
                <a:gd name="T13" fmla="*/ 8 h 18"/>
                <a:gd name="T14" fmla="*/ 0 w 222"/>
                <a:gd name="T15" fmla="*/ 8 h 18"/>
                <a:gd name="T16" fmla="*/ 0 w 222"/>
                <a:gd name="T17" fmla="*/ 6 h 18"/>
                <a:gd name="T18" fmla="*/ 2 w 222"/>
                <a:gd name="T19" fmla="*/ 2 h 18"/>
                <a:gd name="T20" fmla="*/ 6 w 222"/>
                <a:gd name="T21" fmla="*/ 0 h 18"/>
                <a:gd name="T22" fmla="*/ 10 w 222"/>
                <a:gd name="T23" fmla="*/ 0 h 18"/>
                <a:gd name="T24" fmla="*/ 214 w 222"/>
                <a:gd name="T25" fmla="*/ 0 h 18"/>
                <a:gd name="T26" fmla="*/ 214 w 222"/>
                <a:gd name="T27" fmla="*/ 0 h 18"/>
                <a:gd name="T28" fmla="*/ 218 w 222"/>
                <a:gd name="T29" fmla="*/ 0 h 18"/>
                <a:gd name="T30" fmla="*/ 220 w 222"/>
                <a:gd name="T31" fmla="*/ 2 h 18"/>
                <a:gd name="T32" fmla="*/ 222 w 222"/>
                <a:gd name="T33" fmla="*/ 6 h 18"/>
                <a:gd name="T34" fmla="*/ 222 w 222"/>
                <a:gd name="T35" fmla="*/ 8 h 18"/>
                <a:gd name="T36" fmla="*/ 222 w 222"/>
                <a:gd name="T37" fmla="*/ 8 h 18"/>
                <a:gd name="T38" fmla="*/ 222 w 222"/>
                <a:gd name="T39" fmla="*/ 12 h 18"/>
                <a:gd name="T40" fmla="*/ 220 w 222"/>
                <a:gd name="T41" fmla="*/ 14 h 18"/>
                <a:gd name="T42" fmla="*/ 218 w 222"/>
                <a:gd name="T43" fmla="*/ 16 h 18"/>
                <a:gd name="T44" fmla="*/ 214 w 222"/>
                <a:gd name="T45" fmla="*/ 18 h 18"/>
                <a:gd name="T46" fmla="*/ 214 w 222"/>
                <a:gd name="T4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2" h="18">
                  <a:moveTo>
                    <a:pt x="214" y="18"/>
                  </a:moveTo>
                  <a:lnTo>
                    <a:pt x="10" y="18"/>
                  </a:lnTo>
                  <a:lnTo>
                    <a:pt x="10" y="18"/>
                  </a:lnTo>
                  <a:lnTo>
                    <a:pt x="6" y="16"/>
                  </a:lnTo>
                  <a:lnTo>
                    <a:pt x="2" y="14"/>
                  </a:lnTo>
                  <a:lnTo>
                    <a:pt x="0" y="12"/>
                  </a:lnTo>
                  <a:lnTo>
                    <a:pt x="0" y="8"/>
                  </a:lnTo>
                  <a:lnTo>
                    <a:pt x="0" y="8"/>
                  </a:lnTo>
                  <a:lnTo>
                    <a:pt x="0" y="6"/>
                  </a:lnTo>
                  <a:lnTo>
                    <a:pt x="2" y="2"/>
                  </a:lnTo>
                  <a:lnTo>
                    <a:pt x="6" y="0"/>
                  </a:lnTo>
                  <a:lnTo>
                    <a:pt x="10" y="0"/>
                  </a:lnTo>
                  <a:lnTo>
                    <a:pt x="214" y="0"/>
                  </a:lnTo>
                  <a:lnTo>
                    <a:pt x="214" y="0"/>
                  </a:lnTo>
                  <a:lnTo>
                    <a:pt x="218" y="0"/>
                  </a:lnTo>
                  <a:lnTo>
                    <a:pt x="220" y="2"/>
                  </a:lnTo>
                  <a:lnTo>
                    <a:pt x="222" y="6"/>
                  </a:lnTo>
                  <a:lnTo>
                    <a:pt x="222" y="8"/>
                  </a:lnTo>
                  <a:lnTo>
                    <a:pt x="222" y="8"/>
                  </a:lnTo>
                  <a:lnTo>
                    <a:pt x="222" y="12"/>
                  </a:lnTo>
                  <a:lnTo>
                    <a:pt x="220" y="14"/>
                  </a:lnTo>
                  <a:lnTo>
                    <a:pt x="218" y="16"/>
                  </a:lnTo>
                  <a:lnTo>
                    <a:pt x="214" y="18"/>
                  </a:lnTo>
                  <a:lnTo>
                    <a:pt x="214" y="18"/>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sp>
          <p:nvSpPr>
            <p:cNvPr id="46" name="Freeform 25">
              <a:extLst>
                <a:ext uri="{FF2B5EF4-FFF2-40B4-BE49-F238E27FC236}">
                  <a16:creationId xmlns:a16="http://schemas.microsoft.com/office/drawing/2014/main" id="{785722C9-4DF1-7D9B-8385-F6867B8996B5}"/>
                </a:ext>
              </a:extLst>
            </p:cNvPr>
            <p:cNvSpPr>
              <a:spLocks/>
            </p:cNvSpPr>
            <p:nvPr/>
          </p:nvSpPr>
          <p:spPr bwMode="auto">
            <a:xfrm>
              <a:off x="1230313" y="4206875"/>
              <a:ext cx="352425" cy="28575"/>
            </a:xfrm>
            <a:custGeom>
              <a:avLst/>
              <a:gdLst>
                <a:gd name="T0" fmla="*/ 214 w 222"/>
                <a:gd name="T1" fmla="*/ 18 h 18"/>
                <a:gd name="T2" fmla="*/ 10 w 222"/>
                <a:gd name="T3" fmla="*/ 18 h 18"/>
                <a:gd name="T4" fmla="*/ 10 w 222"/>
                <a:gd name="T5" fmla="*/ 18 h 18"/>
                <a:gd name="T6" fmla="*/ 6 w 222"/>
                <a:gd name="T7" fmla="*/ 16 h 18"/>
                <a:gd name="T8" fmla="*/ 2 w 222"/>
                <a:gd name="T9" fmla="*/ 14 h 18"/>
                <a:gd name="T10" fmla="*/ 0 w 222"/>
                <a:gd name="T11" fmla="*/ 12 h 18"/>
                <a:gd name="T12" fmla="*/ 0 w 222"/>
                <a:gd name="T13" fmla="*/ 8 h 18"/>
                <a:gd name="T14" fmla="*/ 0 w 222"/>
                <a:gd name="T15" fmla="*/ 8 h 18"/>
                <a:gd name="T16" fmla="*/ 0 w 222"/>
                <a:gd name="T17" fmla="*/ 6 h 18"/>
                <a:gd name="T18" fmla="*/ 2 w 222"/>
                <a:gd name="T19" fmla="*/ 2 h 18"/>
                <a:gd name="T20" fmla="*/ 6 w 222"/>
                <a:gd name="T21" fmla="*/ 0 h 18"/>
                <a:gd name="T22" fmla="*/ 10 w 222"/>
                <a:gd name="T23" fmla="*/ 0 h 18"/>
                <a:gd name="T24" fmla="*/ 214 w 222"/>
                <a:gd name="T25" fmla="*/ 0 h 18"/>
                <a:gd name="T26" fmla="*/ 214 w 222"/>
                <a:gd name="T27" fmla="*/ 0 h 18"/>
                <a:gd name="T28" fmla="*/ 218 w 222"/>
                <a:gd name="T29" fmla="*/ 0 h 18"/>
                <a:gd name="T30" fmla="*/ 220 w 222"/>
                <a:gd name="T31" fmla="*/ 2 h 18"/>
                <a:gd name="T32" fmla="*/ 222 w 222"/>
                <a:gd name="T33" fmla="*/ 6 h 18"/>
                <a:gd name="T34" fmla="*/ 222 w 222"/>
                <a:gd name="T35" fmla="*/ 8 h 18"/>
                <a:gd name="T36" fmla="*/ 222 w 222"/>
                <a:gd name="T37" fmla="*/ 8 h 18"/>
                <a:gd name="T38" fmla="*/ 222 w 222"/>
                <a:gd name="T39" fmla="*/ 12 h 18"/>
                <a:gd name="T40" fmla="*/ 220 w 222"/>
                <a:gd name="T41" fmla="*/ 14 h 18"/>
                <a:gd name="T42" fmla="*/ 218 w 222"/>
                <a:gd name="T43" fmla="*/ 16 h 18"/>
                <a:gd name="T44" fmla="*/ 214 w 222"/>
                <a:gd name="T45" fmla="*/ 18 h 18"/>
                <a:gd name="T46" fmla="*/ 214 w 222"/>
                <a:gd name="T4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2" h="18">
                  <a:moveTo>
                    <a:pt x="214" y="18"/>
                  </a:moveTo>
                  <a:lnTo>
                    <a:pt x="10" y="18"/>
                  </a:lnTo>
                  <a:lnTo>
                    <a:pt x="10" y="18"/>
                  </a:lnTo>
                  <a:lnTo>
                    <a:pt x="6" y="16"/>
                  </a:lnTo>
                  <a:lnTo>
                    <a:pt x="2" y="14"/>
                  </a:lnTo>
                  <a:lnTo>
                    <a:pt x="0" y="12"/>
                  </a:lnTo>
                  <a:lnTo>
                    <a:pt x="0" y="8"/>
                  </a:lnTo>
                  <a:lnTo>
                    <a:pt x="0" y="8"/>
                  </a:lnTo>
                  <a:lnTo>
                    <a:pt x="0" y="6"/>
                  </a:lnTo>
                  <a:lnTo>
                    <a:pt x="2" y="2"/>
                  </a:lnTo>
                  <a:lnTo>
                    <a:pt x="6" y="0"/>
                  </a:lnTo>
                  <a:lnTo>
                    <a:pt x="10" y="0"/>
                  </a:lnTo>
                  <a:lnTo>
                    <a:pt x="214" y="0"/>
                  </a:lnTo>
                  <a:lnTo>
                    <a:pt x="214" y="0"/>
                  </a:lnTo>
                  <a:lnTo>
                    <a:pt x="218" y="0"/>
                  </a:lnTo>
                  <a:lnTo>
                    <a:pt x="220" y="2"/>
                  </a:lnTo>
                  <a:lnTo>
                    <a:pt x="222" y="6"/>
                  </a:lnTo>
                  <a:lnTo>
                    <a:pt x="222" y="8"/>
                  </a:lnTo>
                  <a:lnTo>
                    <a:pt x="222" y="8"/>
                  </a:lnTo>
                  <a:lnTo>
                    <a:pt x="222" y="12"/>
                  </a:lnTo>
                  <a:lnTo>
                    <a:pt x="220" y="14"/>
                  </a:lnTo>
                  <a:lnTo>
                    <a:pt x="218" y="16"/>
                  </a:lnTo>
                  <a:lnTo>
                    <a:pt x="214" y="18"/>
                  </a:lnTo>
                  <a:lnTo>
                    <a:pt x="214" y="18"/>
                  </a:lnTo>
                  <a:close/>
                </a:path>
              </a:pathLst>
            </a:custGeom>
            <a:solidFill>
              <a:srgbClr val="2E2E38"/>
            </a:solidFill>
            <a:ln>
              <a:noFill/>
            </a:ln>
          </p:spPr>
          <p:txBody>
            <a:bodyPr vert="horz" wrap="square" lIns="19198" tIns="9599" rIns="19198" bIns="9599" numCol="1" anchor="t" anchorCtr="0" compatLnSpc="1">
              <a:prstTxWarp prst="textNoShape">
                <a:avLst/>
              </a:prstTxWarp>
            </a:bodyPr>
            <a:lstStyle/>
            <a:p>
              <a:pPr defTabSz="192024">
                <a:defRPr/>
              </a:pPr>
              <a:endParaRPr lang="en-IN" sz="378">
                <a:solidFill>
                  <a:srgbClr val="FFFFFF"/>
                </a:solidFill>
                <a:latin typeface="EYInterstate Light"/>
              </a:endParaRPr>
            </a:p>
          </p:txBody>
        </p:sp>
      </p:grpSp>
    </p:spTree>
    <p:extLst>
      <p:ext uri="{BB962C8B-B14F-4D97-AF65-F5344CB8AC3E}">
        <p14:creationId xmlns:p14="http://schemas.microsoft.com/office/powerpoint/2010/main" val="2861614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9F377-4D26-31FA-DD03-E04A31872A0F}"/>
            </a:ext>
          </a:extLst>
        </p:cNvPr>
        <p:cNvGrpSpPr/>
        <p:nvPr/>
      </p:nvGrpSpPr>
      <p:grpSpPr>
        <a:xfrm>
          <a:off x="0" y="0"/>
          <a:ext cx="0" cy="0"/>
          <a:chOff x="0" y="0"/>
          <a:chExt cx="0" cy="0"/>
        </a:xfrm>
      </p:grpSpPr>
      <p:sp>
        <p:nvSpPr>
          <p:cNvPr id="4" name="Rectangle: Top Corners Rounded 3">
            <a:extLst>
              <a:ext uri="{FF2B5EF4-FFF2-40B4-BE49-F238E27FC236}">
                <a16:creationId xmlns:a16="http://schemas.microsoft.com/office/drawing/2014/main" id="{A5F0E233-DA93-016C-DBAA-A010DB6E5EB0}"/>
              </a:ext>
            </a:extLst>
          </p:cNvPr>
          <p:cNvSpPr>
            <a:spLocks/>
          </p:cNvSpPr>
          <p:nvPr/>
        </p:nvSpPr>
        <p:spPr>
          <a:xfrm rot="5400000">
            <a:off x="730302" y="2006541"/>
            <a:ext cx="542524" cy="620659"/>
          </a:xfrm>
          <a:prstGeom prst="round2SameRect">
            <a:avLst>
              <a:gd name="adj1" fmla="val 29070"/>
              <a:gd name="adj2" fmla="val 0"/>
            </a:avLst>
          </a:prstGeom>
          <a:solidFill>
            <a:srgbClr val="D1EBFE">
              <a:alpha val="50000"/>
            </a:srgbClr>
          </a:solidFill>
          <a:ln w="1270" cap="flat" cmpd="sng" algn="ctr">
            <a:noFill/>
            <a:prstDash val="solid"/>
            <a:round/>
            <a:headEnd type="none" w="med" len="med"/>
            <a:tailEnd type="none" w="med" len="med"/>
          </a:ln>
          <a:effectLst/>
        </p:spPr>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7A5E36"/>
              </a:solidFill>
              <a:effectLst/>
              <a:uLnTx/>
              <a:uFillTx/>
              <a:latin typeface="EYInterstate Light" panose="02000506000000020004" charset="0"/>
            </a:endParaRPr>
          </a:p>
        </p:txBody>
      </p:sp>
      <p:sp>
        <p:nvSpPr>
          <p:cNvPr id="17" name="Rectangle: Top Corners Rounded 16">
            <a:extLst>
              <a:ext uri="{FF2B5EF4-FFF2-40B4-BE49-F238E27FC236}">
                <a16:creationId xmlns:a16="http://schemas.microsoft.com/office/drawing/2014/main" id="{1DBBB3A7-2568-F831-491D-4BDC0C3827D8}"/>
              </a:ext>
            </a:extLst>
          </p:cNvPr>
          <p:cNvSpPr>
            <a:spLocks/>
          </p:cNvSpPr>
          <p:nvPr/>
        </p:nvSpPr>
        <p:spPr>
          <a:xfrm rot="5400000">
            <a:off x="730302" y="2624516"/>
            <a:ext cx="542524" cy="620659"/>
          </a:xfrm>
          <a:prstGeom prst="round2SameRect">
            <a:avLst>
              <a:gd name="adj1" fmla="val 29070"/>
              <a:gd name="adj2" fmla="val 0"/>
            </a:avLst>
          </a:prstGeom>
          <a:solidFill>
            <a:srgbClr val="D1EBFE">
              <a:alpha val="50000"/>
            </a:srgbClr>
          </a:solidFill>
          <a:ln w="1270" cap="flat" cmpd="sng" algn="ctr">
            <a:noFill/>
            <a:prstDash val="solid"/>
            <a:round/>
            <a:headEnd type="none" w="med" len="med"/>
            <a:tailEnd type="none" w="med" len="med"/>
          </a:ln>
          <a:effectLst/>
        </p:spPr>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7A5E36"/>
              </a:solidFill>
              <a:effectLst/>
              <a:uLnTx/>
              <a:uFillTx/>
              <a:latin typeface="EYInterstate Light" panose="02000506000000020004" charset="0"/>
            </a:endParaRPr>
          </a:p>
        </p:txBody>
      </p:sp>
      <p:sp>
        <p:nvSpPr>
          <p:cNvPr id="71" name="Rectangle: Top Corners Rounded 70">
            <a:extLst>
              <a:ext uri="{FF2B5EF4-FFF2-40B4-BE49-F238E27FC236}">
                <a16:creationId xmlns:a16="http://schemas.microsoft.com/office/drawing/2014/main" id="{0D8C1B0D-0449-8CAB-33C3-D955692FA53D}"/>
              </a:ext>
            </a:extLst>
          </p:cNvPr>
          <p:cNvSpPr>
            <a:spLocks/>
          </p:cNvSpPr>
          <p:nvPr/>
        </p:nvSpPr>
        <p:spPr>
          <a:xfrm rot="5400000">
            <a:off x="730302" y="3242491"/>
            <a:ext cx="542524" cy="620659"/>
          </a:xfrm>
          <a:prstGeom prst="round2SameRect">
            <a:avLst>
              <a:gd name="adj1" fmla="val 29070"/>
              <a:gd name="adj2" fmla="val 0"/>
            </a:avLst>
          </a:prstGeom>
          <a:solidFill>
            <a:srgbClr val="D1EBFE">
              <a:alpha val="50000"/>
            </a:srgbClr>
          </a:solidFill>
          <a:ln w="1270" cap="flat" cmpd="sng" algn="ctr">
            <a:noFill/>
            <a:prstDash val="solid"/>
            <a:round/>
            <a:headEnd type="none" w="med" len="med"/>
            <a:tailEnd type="none" w="med" len="med"/>
          </a:ln>
          <a:effectLst/>
        </p:spPr>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7A5E36"/>
              </a:solidFill>
              <a:effectLst/>
              <a:uLnTx/>
              <a:uFillTx/>
              <a:latin typeface="EYInterstate Light" panose="02000506000000020004" charset="0"/>
            </a:endParaRPr>
          </a:p>
        </p:txBody>
      </p:sp>
      <p:sp>
        <p:nvSpPr>
          <p:cNvPr id="76" name="Rectangle: Top Corners Rounded 75">
            <a:extLst>
              <a:ext uri="{FF2B5EF4-FFF2-40B4-BE49-F238E27FC236}">
                <a16:creationId xmlns:a16="http://schemas.microsoft.com/office/drawing/2014/main" id="{498D36CB-C962-3D8D-2AE3-FB26787EE7C5}"/>
              </a:ext>
            </a:extLst>
          </p:cNvPr>
          <p:cNvSpPr>
            <a:spLocks/>
          </p:cNvSpPr>
          <p:nvPr/>
        </p:nvSpPr>
        <p:spPr>
          <a:xfrm rot="5400000">
            <a:off x="730302" y="3860466"/>
            <a:ext cx="542524" cy="620659"/>
          </a:xfrm>
          <a:prstGeom prst="round2SameRect">
            <a:avLst>
              <a:gd name="adj1" fmla="val 29070"/>
              <a:gd name="adj2" fmla="val 0"/>
            </a:avLst>
          </a:prstGeom>
          <a:solidFill>
            <a:srgbClr val="D1EBFE">
              <a:alpha val="50000"/>
            </a:srgbClr>
          </a:solidFill>
          <a:ln w="1270" cap="flat" cmpd="sng" algn="ctr">
            <a:noFill/>
            <a:prstDash val="solid"/>
            <a:round/>
            <a:headEnd type="none" w="med" len="med"/>
            <a:tailEnd type="none" w="med" len="med"/>
          </a:ln>
          <a:effectLst/>
        </p:spPr>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7A5E36"/>
              </a:solidFill>
              <a:effectLst/>
              <a:uLnTx/>
              <a:uFillTx/>
              <a:latin typeface="EYInterstate Light" panose="02000506000000020004" charset="0"/>
            </a:endParaRPr>
          </a:p>
        </p:txBody>
      </p:sp>
      <p:sp>
        <p:nvSpPr>
          <p:cNvPr id="81" name="Rectangle: Top Corners Rounded 80">
            <a:extLst>
              <a:ext uri="{FF2B5EF4-FFF2-40B4-BE49-F238E27FC236}">
                <a16:creationId xmlns:a16="http://schemas.microsoft.com/office/drawing/2014/main" id="{E38C3DD6-CBE9-D02A-F0E7-6A9B9D5B68DE}"/>
              </a:ext>
            </a:extLst>
          </p:cNvPr>
          <p:cNvSpPr>
            <a:spLocks/>
          </p:cNvSpPr>
          <p:nvPr/>
        </p:nvSpPr>
        <p:spPr>
          <a:xfrm rot="5400000">
            <a:off x="730302" y="4478441"/>
            <a:ext cx="542524" cy="620659"/>
          </a:xfrm>
          <a:prstGeom prst="round2SameRect">
            <a:avLst>
              <a:gd name="adj1" fmla="val 29070"/>
              <a:gd name="adj2" fmla="val 0"/>
            </a:avLst>
          </a:prstGeom>
          <a:solidFill>
            <a:srgbClr val="D1EBFE">
              <a:alpha val="50000"/>
            </a:srgbClr>
          </a:solidFill>
          <a:ln w="1270" cap="flat" cmpd="sng" algn="ctr">
            <a:noFill/>
            <a:prstDash val="solid"/>
            <a:round/>
            <a:headEnd type="none" w="med" len="med"/>
            <a:tailEnd type="none" w="med" len="med"/>
          </a:ln>
          <a:effectLst/>
        </p:spPr>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7A5E36"/>
              </a:solidFill>
              <a:effectLst/>
              <a:uLnTx/>
              <a:uFillTx/>
              <a:latin typeface="EYInterstate Light" panose="02000506000000020004" charset="0"/>
            </a:endParaRPr>
          </a:p>
        </p:txBody>
      </p:sp>
      <p:sp>
        <p:nvSpPr>
          <p:cNvPr id="86" name="Rectangle: Top Corners Rounded 85">
            <a:extLst>
              <a:ext uri="{FF2B5EF4-FFF2-40B4-BE49-F238E27FC236}">
                <a16:creationId xmlns:a16="http://schemas.microsoft.com/office/drawing/2014/main" id="{51DF6445-58AC-5CD4-9832-2822B3A33873}"/>
              </a:ext>
            </a:extLst>
          </p:cNvPr>
          <p:cNvSpPr>
            <a:spLocks/>
          </p:cNvSpPr>
          <p:nvPr/>
        </p:nvSpPr>
        <p:spPr>
          <a:xfrm rot="5400000">
            <a:off x="730302" y="5096416"/>
            <a:ext cx="542524" cy="620659"/>
          </a:xfrm>
          <a:prstGeom prst="round2SameRect">
            <a:avLst>
              <a:gd name="adj1" fmla="val 29070"/>
              <a:gd name="adj2" fmla="val 0"/>
            </a:avLst>
          </a:prstGeom>
          <a:solidFill>
            <a:srgbClr val="D1EBFE">
              <a:alpha val="50000"/>
            </a:srgbClr>
          </a:solidFill>
          <a:ln w="1270" cap="flat" cmpd="sng" algn="ctr">
            <a:noFill/>
            <a:prstDash val="solid"/>
            <a:round/>
            <a:headEnd type="none" w="med" len="med"/>
            <a:tailEnd type="none" w="med" len="med"/>
          </a:ln>
          <a:effectLst/>
        </p:spPr>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7A5E36"/>
              </a:solidFill>
              <a:effectLst/>
              <a:uLnTx/>
              <a:uFillTx/>
              <a:latin typeface="EYInterstate Light" panose="02000506000000020004" charset="0"/>
            </a:endParaRPr>
          </a:p>
        </p:txBody>
      </p:sp>
      <p:sp>
        <p:nvSpPr>
          <p:cNvPr id="91" name="Rectangle: Top Corners Rounded 90">
            <a:extLst>
              <a:ext uri="{FF2B5EF4-FFF2-40B4-BE49-F238E27FC236}">
                <a16:creationId xmlns:a16="http://schemas.microsoft.com/office/drawing/2014/main" id="{8C7B1685-9C3F-05A3-8839-A3AEBE56337C}"/>
              </a:ext>
            </a:extLst>
          </p:cNvPr>
          <p:cNvSpPr>
            <a:spLocks/>
          </p:cNvSpPr>
          <p:nvPr/>
        </p:nvSpPr>
        <p:spPr>
          <a:xfrm rot="5400000">
            <a:off x="730302" y="5714391"/>
            <a:ext cx="542524" cy="620659"/>
          </a:xfrm>
          <a:prstGeom prst="round2SameRect">
            <a:avLst>
              <a:gd name="adj1" fmla="val 29070"/>
              <a:gd name="adj2" fmla="val 0"/>
            </a:avLst>
          </a:prstGeom>
          <a:solidFill>
            <a:srgbClr val="D1EBFE">
              <a:alpha val="50000"/>
            </a:srgbClr>
          </a:solidFill>
          <a:ln w="1270" cap="flat" cmpd="sng" algn="ctr">
            <a:noFill/>
            <a:prstDash val="solid"/>
            <a:round/>
            <a:headEnd type="none" w="med" len="med"/>
            <a:tailEnd type="none" w="med" len="med"/>
          </a:ln>
          <a:effectLst/>
        </p:spPr>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7A5E36"/>
              </a:solidFill>
              <a:effectLst/>
              <a:uLnTx/>
              <a:uFillTx/>
              <a:latin typeface="EYInterstate Light" panose="02000506000000020004" charset="0"/>
            </a:endParaRPr>
          </a:p>
        </p:txBody>
      </p:sp>
      <p:graphicFrame>
        <p:nvGraphicFramePr>
          <p:cNvPr id="19" name="think-cell data - do not delete" hidden="1">
            <a:extLst>
              <a:ext uri="{FF2B5EF4-FFF2-40B4-BE49-F238E27FC236}">
                <a16:creationId xmlns:a16="http://schemas.microsoft.com/office/drawing/2014/main" id="{23521B8F-BB94-78BB-60CC-1E4AB921E427}"/>
              </a:ext>
            </a:extLst>
          </p:cNvPr>
          <p:cNvGraphicFramePr>
            <a:graphicFrameLocks noChangeAspect="1"/>
          </p:cNvGraphicFramePr>
          <p:nvPr>
            <p:custDataLst>
              <p:tags r:id="rId1"/>
            </p:custDataLst>
            <p:extLst>
              <p:ext uri="{D42A27DB-BD31-4B8C-83A1-F6EECF244321}">
                <p14:modId xmlns:p14="http://schemas.microsoft.com/office/powerpoint/2010/main" val="23894489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6" imgH="486" progId="TCLayout.ActiveDocument.1">
                  <p:embed/>
                </p:oleObj>
              </mc:Choice>
              <mc:Fallback>
                <p:oleObj name="think-cell Slide" r:id="rId3" imgW="486" imgH="486" progId="TCLayout.ActiveDocument.1">
                  <p:embed/>
                  <p:pic>
                    <p:nvPicPr>
                      <p:cNvPr id="19" name="think-cell data - do not delete" hidden="1">
                        <a:extLst>
                          <a:ext uri="{FF2B5EF4-FFF2-40B4-BE49-F238E27FC236}">
                            <a16:creationId xmlns:a16="http://schemas.microsoft.com/office/drawing/2014/main" id="{23521B8F-BB94-78BB-60CC-1E4AB921E4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05A995D-27BB-62FD-37AB-D6FFE87C40A0}"/>
              </a:ext>
            </a:extLst>
          </p:cNvPr>
          <p:cNvSpPr>
            <a:spLocks noGrp="1"/>
          </p:cNvSpPr>
          <p:nvPr>
            <p:ph type="title"/>
          </p:nvPr>
        </p:nvSpPr>
        <p:spPr/>
        <p:txBody>
          <a:bodyPr vert="horz"/>
          <a:lstStyle/>
          <a:p>
            <a:r>
              <a:rPr lang="en-IN"/>
              <a:t>Our Understanding and Point of View </a:t>
            </a:r>
            <a:br>
              <a:rPr lang="en-US"/>
            </a:br>
            <a:r>
              <a:rPr lang="en-US" sz="1600"/>
              <a:t>Considerations for selection PPP models</a:t>
            </a:r>
          </a:p>
        </p:txBody>
      </p:sp>
      <p:pic>
        <p:nvPicPr>
          <p:cNvPr id="48" name="Picture 47" descr="A black background with a black square&#10;&#10;AI-generated content may be incorrect.">
            <a:extLst>
              <a:ext uri="{FF2B5EF4-FFF2-40B4-BE49-F238E27FC236}">
                <a16:creationId xmlns:a16="http://schemas.microsoft.com/office/drawing/2014/main" id="{4F4C2225-BE0C-6301-56B0-F78BD5648AB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91339" y="5834953"/>
            <a:ext cx="349947" cy="349947"/>
          </a:xfrm>
          <a:prstGeom prst="rect">
            <a:avLst/>
          </a:prstGeom>
        </p:spPr>
      </p:pic>
      <p:pic>
        <p:nvPicPr>
          <p:cNvPr id="49" name="Picture 48" descr="A black background with a black square&#10;&#10;AI-generated content may be incorrect.">
            <a:extLst>
              <a:ext uri="{FF2B5EF4-FFF2-40B4-BE49-F238E27FC236}">
                <a16:creationId xmlns:a16="http://schemas.microsoft.com/office/drawing/2014/main" id="{238AD4FC-B390-C11C-0335-FBD0BBA421F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00863" y="5229677"/>
            <a:ext cx="356971" cy="356971"/>
          </a:xfrm>
          <a:prstGeom prst="rect">
            <a:avLst/>
          </a:prstGeom>
        </p:spPr>
      </p:pic>
      <p:grpSp>
        <p:nvGrpSpPr>
          <p:cNvPr id="101" name="Group 100">
            <a:extLst>
              <a:ext uri="{FF2B5EF4-FFF2-40B4-BE49-F238E27FC236}">
                <a16:creationId xmlns:a16="http://schemas.microsoft.com/office/drawing/2014/main" id="{F4A4BB81-784B-184C-9CCD-FC80B11A1D51}"/>
              </a:ext>
            </a:extLst>
          </p:cNvPr>
          <p:cNvGrpSpPr>
            <a:grpSpLocks/>
          </p:cNvGrpSpPr>
          <p:nvPr/>
        </p:nvGrpSpPr>
        <p:grpSpPr>
          <a:xfrm>
            <a:off x="781814" y="4618181"/>
            <a:ext cx="376566" cy="328904"/>
            <a:chOff x="-909842" y="4363121"/>
            <a:chExt cx="278563" cy="243305"/>
          </a:xfrm>
        </p:grpSpPr>
        <p:sp>
          <p:nvSpPr>
            <p:cNvPr id="51" name="Freeform: Shape 50">
              <a:extLst>
                <a:ext uri="{FF2B5EF4-FFF2-40B4-BE49-F238E27FC236}">
                  <a16:creationId xmlns:a16="http://schemas.microsoft.com/office/drawing/2014/main" id="{A35B49FA-770F-281C-AA5B-E2CFC017BC87}"/>
                </a:ext>
              </a:extLst>
            </p:cNvPr>
            <p:cNvSpPr/>
            <p:nvPr/>
          </p:nvSpPr>
          <p:spPr>
            <a:xfrm>
              <a:off x="-899386" y="4372676"/>
              <a:ext cx="251118" cy="138581"/>
            </a:xfrm>
            <a:custGeom>
              <a:avLst/>
              <a:gdLst>
                <a:gd name="connsiteX0" fmla="*/ 837728 w 947960"/>
                <a:gd name="connsiteY0" fmla="*/ 28580 h 528371"/>
                <a:gd name="connsiteX1" fmla="*/ 898802 w 947960"/>
                <a:gd name="connsiteY1" fmla="*/ 48316 h 528371"/>
                <a:gd name="connsiteX2" fmla="*/ 7978 w 947960"/>
                <a:gd name="connsiteY2" fmla="*/ 504062 h 528371"/>
                <a:gd name="connsiteX3" fmla="*/ 1607 w 947960"/>
                <a:gd name="connsiteY3" fmla="*/ 523798 h 528371"/>
                <a:gd name="connsiteX4" fmla="*/ 14661 w 947960"/>
                <a:gd name="connsiteY4" fmla="*/ 531776 h 528371"/>
                <a:gd name="connsiteX5" fmla="*/ 21343 w 947960"/>
                <a:gd name="connsiteY5" fmla="*/ 530170 h 528371"/>
                <a:gd name="connsiteX6" fmla="*/ 911960 w 947960"/>
                <a:gd name="connsiteY6" fmla="*/ 74528 h 528371"/>
                <a:gd name="connsiteX7" fmla="*/ 892327 w 947960"/>
                <a:gd name="connsiteY7" fmla="*/ 135290 h 528371"/>
                <a:gd name="connsiteX8" fmla="*/ 901755 w 947960"/>
                <a:gd name="connsiteY8" fmla="*/ 153731 h 528371"/>
                <a:gd name="connsiteX9" fmla="*/ 906262 w 947960"/>
                <a:gd name="connsiteY9" fmla="*/ 154457 h 528371"/>
                <a:gd name="connsiteX10" fmla="*/ 920196 w 947960"/>
                <a:gd name="connsiteY10" fmla="*/ 144304 h 528371"/>
                <a:gd name="connsiteX11" fmla="*/ 950759 w 947960"/>
                <a:gd name="connsiteY11" fmla="*/ 49715 h 528371"/>
                <a:gd name="connsiteX12" fmla="*/ 949878 w 947960"/>
                <a:gd name="connsiteY12" fmla="*/ 38526 h 528371"/>
                <a:gd name="connsiteX13" fmla="*/ 941331 w 947960"/>
                <a:gd name="connsiteY13" fmla="*/ 31274 h 528371"/>
                <a:gd name="connsiteX14" fmla="*/ 846742 w 947960"/>
                <a:gd name="connsiteY14" fmla="*/ 711 h 528371"/>
                <a:gd name="connsiteX15" fmla="*/ 828301 w 947960"/>
                <a:gd name="connsiteY15" fmla="*/ 10139 h 528371"/>
                <a:gd name="connsiteX16" fmla="*/ 837728 w 947960"/>
                <a:gd name="connsiteY16" fmla="*/ 28580 h 528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47960" h="528371">
                  <a:moveTo>
                    <a:pt x="837728" y="28580"/>
                  </a:moveTo>
                  <a:lnTo>
                    <a:pt x="898802" y="48316"/>
                  </a:lnTo>
                  <a:lnTo>
                    <a:pt x="7978" y="504062"/>
                  </a:lnTo>
                  <a:cubicBezTo>
                    <a:pt x="778" y="507740"/>
                    <a:pt x="-2071" y="516598"/>
                    <a:pt x="1607" y="523798"/>
                  </a:cubicBezTo>
                  <a:cubicBezTo>
                    <a:pt x="4197" y="528875"/>
                    <a:pt x="9325" y="531776"/>
                    <a:pt x="14661" y="531776"/>
                  </a:cubicBezTo>
                  <a:cubicBezTo>
                    <a:pt x="16888" y="531776"/>
                    <a:pt x="19168" y="531258"/>
                    <a:pt x="21343" y="530170"/>
                  </a:cubicBezTo>
                  <a:lnTo>
                    <a:pt x="911960" y="74528"/>
                  </a:lnTo>
                  <a:lnTo>
                    <a:pt x="892327" y="135290"/>
                  </a:lnTo>
                  <a:cubicBezTo>
                    <a:pt x="889841" y="143009"/>
                    <a:pt x="894088" y="151245"/>
                    <a:pt x="901755" y="153731"/>
                  </a:cubicBezTo>
                  <a:cubicBezTo>
                    <a:pt x="903257" y="154198"/>
                    <a:pt x="904759" y="154457"/>
                    <a:pt x="906262" y="154457"/>
                  </a:cubicBezTo>
                  <a:cubicBezTo>
                    <a:pt x="912426" y="154457"/>
                    <a:pt x="918176" y="150520"/>
                    <a:pt x="920196" y="144304"/>
                  </a:cubicBezTo>
                  <a:lnTo>
                    <a:pt x="950759" y="49715"/>
                  </a:lnTo>
                  <a:cubicBezTo>
                    <a:pt x="951950" y="46037"/>
                    <a:pt x="951640" y="41996"/>
                    <a:pt x="949878" y="38526"/>
                  </a:cubicBezTo>
                  <a:cubicBezTo>
                    <a:pt x="948117" y="35055"/>
                    <a:pt x="945061" y="32465"/>
                    <a:pt x="941331" y="31274"/>
                  </a:cubicBezTo>
                  <a:lnTo>
                    <a:pt x="846742" y="711"/>
                  </a:lnTo>
                  <a:cubicBezTo>
                    <a:pt x="839024" y="-1775"/>
                    <a:pt x="830787" y="2472"/>
                    <a:pt x="828301" y="10139"/>
                  </a:cubicBezTo>
                  <a:cubicBezTo>
                    <a:pt x="825763" y="17805"/>
                    <a:pt x="830010" y="26094"/>
                    <a:pt x="837728" y="28580"/>
                  </a:cubicBezTo>
                  <a:close/>
                </a:path>
              </a:pathLst>
            </a:custGeom>
            <a:solidFill>
              <a:srgbClr val="2E2E38"/>
            </a:solidFill>
            <a:ln w="517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FFFFFF"/>
                </a:solidFill>
                <a:effectLst/>
                <a:uLnTx/>
                <a:uFillTx/>
                <a:latin typeface="EYInterstate Light" panose="02000506000000020004" charset="0"/>
              </a:endParaRPr>
            </a:p>
          </p:txBody>
        </p:sp>
        <p:sp>
          <p:nvSpPr>
            <p:cNvPr id="52" name="Freeform: Shape 51">
              <a:extLst>
                <a:ext uri="{FF2B5EF4-FFF2-40B4-BE49-F238E27FC236}">
                  <a16:creationId xmlns:a16="http://schemas.microsoft.com/office/drawing/2014/main" id="{47612CF3-B376-FAD6-90B1-A8A2BC64E4C5}"/>
                </a:ext>
              </a:extLst>
            </p:cNvPr>
            <p:cNvSpPr/>
            <p:nvPr/>
          </p:nvSpPr>
          <p:spPr>
            <a:xfrm>
              <a:off x="-909842" y="4437955"/>
              <a:ext cx="278563" cy="168471"/>
            </a:xfrm>
            <a:custGeom>
              <a:avLst/>
              <a:gdLst>
                <a:gd name="connsiteX0" fmla="*/ 1037266 w 1051562"/>
                <a:gd name="connsiteY0" fmla="*/ 612030 h 642333"/>
                <a:gd name="connsiteX1" fmla="*/ 1000850 w 1051562"/>
                <a:gd name="connsiteY1" fmla="*/ 612030 h 642333"/>
                <a:gd name="connsiteX2" fmla="*/ 1000850 w 1051562"/>
                <a:gd name="connsiteY2" fmla="*/ 504905 h 642333"/>
                <a:gd name="connsiteX3" fmla="*/ 986190 w 1051562"/>
                <a:gd name="connsiteY3" fmla="*/ 490246 h 642333"/>
                <a:gd name="connsiteX4" fmla="*/ 952364 w 1051562"/>
                <a:gd name="connsiteY4" fmla="*/ 490246 h 642333"/>
                <a:gd name="connsiteX5" fmla="*/ 952364 w 1051562"/>
                <a:gd name="connsiteY5" fmla="*/ 458284 h 642333"/>
                <a:gd name="connsiteX6" fmla="*/ 986190 w 1051562"/>
                <a:gd name="connsiteY6" fmla="*/ 458284 h 642333"/>
                <a:gd name="connsiteX7" fmla="*/ 1000850 w 1051562"/>
                <a:gd name="connsiteY7" fmla="*/ 443625 h 642333"/>
                <a:gd name="connsiteX8" fmla="*/ 1000850 w 1051562"/>
                <a:gd name="connsiteY8" fmla="*/ 383069 h 642333"/>
                <a:gd name="connsiteX9" fmla="*/ 1000850 w 1051562"/>
                <a:gd name="connsiteY9" fmla="*/ 136496 h 642333"/>
                <a:gd name="connsiteX10" fmla="*/ 986190 w 1051562"/>
                <a:gd name="connsiteY10" fmla="*/ 121836 h 642333"/>
                <a:gd name="connsiteX11" fmla="*/ 952364 w 1051562"/>
                <a:gd name="connsiteY11" fmla="*/ 121836 h 642333"/>
                <a:gd name="connsiteX12" fmla="*/ 952364 w 1051562"/>
                <a:gd name="connsiteY12" fmla="*/ 89875 h 642333"/>
                <a:gd name="connsiteX13" fmla="*/ 986190 w 1051562"/>
                <a:gd name="connsiteY13" fmla="*/ 89875 h 642333"/>
                <a:gd name="connsiteX14" fmla="*/ 1000850 w 1051562"/>
                <a:gd name="connsiteY14" fmla="*/ 75215 h 642333"/>
                <a:gd name="connsiteX15" fmla="*/ 1000850 w 1051562"/>
                <a:gd name="connsiteY15" fmla="*/ 14660 h 642333"/>
                <a:gd name="connsiteX16" fmla="*/ 986190 w 1051562"/>
                <a:gd name="connsiteY16" fmla="*/ 0 h 642333"/>
                <a:gd name="connsiteX17" fmla="*/ 750650 w 1051562"/>
                <a:gd name="connsiteY17" fmla="*/ 0 h 642333"/>
                <a:gd name="connsiteX18" fmla="*/ 735991 w 1051562"/>
                <a:gd name="connsiteY18" fmla="*/ 14660 h 642333"/>
                <a:gd name="connsiteX19" fmla="*/ 735991 w 1051562"/>
                <a:gd name="connsiteY19" fmla="*/ 60555 h 642333"/>
                <a:gd name="connsiteX20" fmla="*/ 722574 w 1051562"/>
                <a:gd name="connsiteY20" fmla="*/ 60555 h 642333"/>
                <a:gd name="connsiteX21" fmla="*/ 707914 w 1051562"/>
                <a:gd name="connsiteY21" fmla="*/ 75215 h 642333"/>
                <a:gd name="connsiteX22" fmla="*/ 707914 w 1051562"/>
                <a:gd name="connsiteY22" fmla="*/ 136496 h 642333"/>
                <a:gd name="connsiteX23" fmla="*/ 722574 w 1051562"/>
                <a:gd name="connsiteY23" fmla="*/ 151156 h 642333"/>
                <a:gd name="connsiteX24" fmla="*/ 735991 w 1051562"/>
                <a:gd name="connsiteY24" fmla="*/ 151156 h 642333"/>
                <a:gd name="connsiteX25" fmla="*/ 735991 w 1051562"/>
                <a:gd name="connsiteY25" fmla="*/ 383069 h 642333"/>
                <a:gd name="connsiteX26" fmla="*/ 735991 w 1051562"/>
                <a:gd name="connsiteY26" fmla="*/ 428965 h 642333"/>
                <a:gd name="connsiteX27" fmla="*/ 722574 w 1051562"/>
                <a:gd name="connsiteY27" fmla="*/ 428965 h 642333"/>
                <a:gd name="connsiteX28" fmla="*/ 707914 w 1051562"/>
                <a:gd name="connsiteY28" fmla="*/ 443625 h 642333"/>
                <a:gd name="connsiteX29" fmla="*/ 707914 w 1051562"/>
                <a:gd name="connsiteY29" fmla="*/ 504905 h 642333"/>
                <a:gd name="connsiteX30" fmla="*/ 722574 w 1051562"/>
                <a:gd name="connsiteY30" fmla="*/ 519565 h 642333"/>
                <a:gd name="connsiteX31" fmla="*/ 735991 w 1051562"/>
                <a:gd name="connsiteY31" fmla="*/ 519565 h 642333"/>
                <a:gd name="connsiteX32" fmla="*/ 735991 w 1051562"/>
                <a:gd name="connsiteY32" fmla="*/ 612030 h 642333"/>
                <a:gd name="connsiteX33" fmla="*/ 645649 w 1051562"/>
                <a:gd name="connsiteY33" fmla="*/ 612030 h 642333"/>
                <a:gd name="connsiteX34" fmla="*/ 645649 w 1051562"/>
                <a:gd name="connsiteY34" fmla="*/ 519565 h 642333"/>
                <a:gd name="connsiteX35" fmla="*/ 659066 w 1051562"/>
                <a:gd name="connsiteY35" fmla="*/ 519565 h 642333"/>
                <a:gd name="connsiteX36" fmla="*/ 673726 w 1051562"/>
                <a:gd name="connsiteY36" fmla="*/ 504905 h 642333"/>
                <a:gd name="connsiteX37" fmla="*/ 673726 w 1051562"/>
                <a:gd name="connsiteY37" fmla="*/ 443625 h 642333"/>
                <a:gd name="connsiteX38" fmla="*/ 659066 w 1051562"/>
                <a:gd name="connsiteY38" fmla="*/ 428965 h 642333"/>
                <a:gd name="connsiteX39" fmla="*/ 645649 w 1051562"/>
                <a:gd name="connsiteY39" fmla="*/ 428965 h 642333"/>
                <a:gd name="connsiteX40" fmla="*/ 645649 w 1051562"/>
                <a:gd name="connsiteY40" fmla="*/ 383069 h 642333"/>
                <a:gd name="connsiteX41" fmla="*/ 645649 w 1051562"/>
                <a:gd name="connsiteY41" fmla="*/ 335205 h 642333"/>
                <a:gd name="connsiteX42" fmla="*/ 659066 w 1051562"/>
                <a:gd name="connsiteY42" fmla="*/ 335205 h 642333"/>
                <a:gd name="connsiteX43" fmla="*/ 673726 w 1051562"/>
                <a:gd name="connsiteY43" fmla="*/ 320545 h 642333"/>
                <a:gd name="connsiteX44" fmla="*/ 673726 w 1051562"/>
                <a:gd name="connsiteY44" fmla="*/ 259264 h 642333"/>
                <a:gd name="connsiteX45" fmla="*/ 659066 w 1051562"/>
                <a:gd name="connsiteY45" fmla="*/ 244605 h 642333"/>
                <a:gd name="connsiteX46" fmla="*/ 645649 w 1051562"/>
                <a:gd name="connsiteY46" fmla="*/ 244605 h 642333"/>
                <a:gd name="connsiteX47" fmla="*/ 645649 w 1051562"/>
                <a:gd name="connsiteY47" fmla="*/ 198709 h 642333"/>
                <a:gd name="connsiteX48" fmla="*/ 630990 w 1051562"/>
                <a:gd name="connsiteY48" fmla="*/ 184049 h 642333"/>
                <a:gd name="connsiteX49" fmla="*/ 395450 w 1051562"/>
                <a:gd name="connsiteY49" fmla="*/ 184049 h 642333"/>
                <a:gd name="connsiteX50" fmla="*/ 380790 w 1051562"/>
                <a:gd name="connsiteY50" fmla="*/ 198709 h 642333"/>
                <a:gd name="connsiteX51" fmla="*/ 380790 w 1051562"/>
                <a:gd name="connsiteY51" fmla="*/ 259264 h 642333"/>
                <a:gd name="connsiteX52" fmla="*/ 395450 w 1051562"/>
                <a:gd name="connsiteY52" fmla="*/ 273924 h 642333"/>
                <a:gd name="connsiteX53" fmla="*/ 429276 w 1051562"/>
                <a:gd name="connsiteY53" fmla="*/ 273924 h 642333"/>
                <a:gd name="connsiteX54" fmla="*/ 429276 w 1051562"/>
                <a:gd name="connsiteY54" fmla="*/ 305885 h 642333"/>
                <a:gd name="connsiteX55" fmla="*/ 395450 w 1051562"/>
                <a:gd name="connsiteY55" fmla="*/ 305885 h 642333"/>
                <a:gd name="connsiteX56" fmla="*/ 380790 w 1051562"/>
                <a:gd name="connsiteY56" fmla="*/ 320545 h 642333"/>
                <a:gd name="connsiteX57" fmla="*/ 380790 w 1051562"/>
                <a:gd name="connsiteY57" fmla="*/ 383017 h 642333"/>
                <a:gd name="connsiteX58" fmla="*/ 380790 w 1051562"/>
                <a:gd name="connsiteY58" fmla="*/ 443314 h 642333"/>
                <a:gd name="connsiteX59" fmla="*/ 380790 w 1051562"/>
                <a:gd name="connsiteY59" fmla="*/ 443573 h 642333"/>
                <a:gd name="connsiteX60" fmla="*/ 395450 w 1051562"/>
                <a:gd name="connsiteY60" fmla="*/ 458232 h 642333"/>
                <a:gd name="connsiteX61" fmla="*/ 429276 w 1051562"/>
                <a:gd name="connsiteY61" fmla="*/ 458232 h 642333"/>
                <a:gd name="connsiteX62" fmla="*/ 429276 w 1051562"/>
                <a:gd name="connsiteY62" fmla="*/ 490194 h 642333"/>
                <a:gd name="connsiteX63" fmla="*/ 395450 w 1051562"/>
                <a:gd name="connsiteY63" fmla="*/ 490194 h 642333"/>
                <a:gd name="connsiteX64" fmla="*/ 380790 w 1051562"/>
                <a:gd name="connsiteY64" fmla="*/ 504853 h 642333"/>
                <a:gd name="connsiteX65" fmla="*/ 380790 w 1051562"/>
                <a:gd name="connsiteY65" fmla="*/ 611978 h 642333"/>
                <a:gd name="connsiteX66" fmla="*/ 322358 w 1051562"/>
                <a:gd name="connsiteY66" fmla="*/ 611978 h 642333"/>
                <a:gd name="connsiteX67" fmla="*/ 322358 w 1051562"/>
                <a:gd name="connsiteY67" fmla="*/ 504853 h 642333"/>
                <a:gd name="connsiteX68" fmla="*/ 307699 w 1051562"/>
                <a:gd name="connsiteY68" fmla="*/ 490194 h 642333"/>
                <a:gd name="connsiteX69" fmla="*/ 273873 w 1051562"/>
                <a:gd name="connsiteY69" fmla="*/ 490194 h 642333"/>
                <a:gd name="connsiteX70" fmla="*/ 273873 w 1051562"/>
                <a:gd name="connsiteY70" fmla="*/ 458232 h 642333"/>
                <a:gd name="connsiteX71" fmla="*/ 307699 w 1051562"/>
                <a:gd name="connsiteY71" fmla="*/ 458232 h 642333"/>
                <a:gd name="connsiteX72" fmla="*/ 322358 w 1051562"/>
                <a:gd name="connsiteY72" fmla="*/ 443573 h 642333"/>
                <a:gd name="connsiteX73" fmla="*/ 322358 w 1051562"/>
                <a:gd name="connsiteY73" fmla="*/ 383017 h 642333"/>
                <a:gd name="connsiteX74" fmla="*/ 307699 w 1051562"/>
                <a:gd name="connsiteY74" fmla="*/ 368358 h 642333"/>
                <a:gd name="connsiteX75" fmla="*/ 72159 w 1051562"/>
                <a:gd name="connsiteY75" fmla="*/ 368358 h 642333"/>
                <a:gd name="connsiteX76" fmla="*/ 57499 w 1051562"/>
                <a:gd name="connsiteY76" fmla="*/ 383017 h 642333"/>
                <a:gd name="connsiteX77" fmla="*/ 57499 w 1051562"/>
                <a:gd name="connsiteY77" fmla="*/ 428913 h 642333"/>
                <a:gd name="connsiteX78" fmla="*/ 44083 w 1051562"/>
                <a:gd name="connsiteY78" fmla="*/ 428913 h 642333"/>
                <a:gd name="connsiteX79" fmla="*/ 29423 w 1051562"/>
                <a:gd name="connsiteY79" fmla="*/ 443573 h 642333"/>
                <a:gd name="connsiteX80" fmla="*/ 29423 w 1051562"/>
                <a:gd name="connsiteY80" fmla="*/ 504853 h 642333"/>
                <a:gd name="connsiteX81" fmla="*/ 44083 w 1051562"/>
                <a:gd name="connsiteY81" fmla="*/ 519513 h 642333"/>
                <a:gd name="connsiteX82" fmla="*/ 57499 w 1051562"/>
                <a:gd name="connsiteY82" fmla="*/ 519513 h 642333"/>
                <a:gd name="connsiteX83" fmla="*/ 57499 w 1051562"/>
                <a:gd name="connsiteY83" fmla="*/ 611978 h 642333"/>
                <a:gd name="connsiteX84" fmla="*/ 15696 w 1051562"/>
                <a:gd name="connsiteY84" fmla="*/ 611978 h 642333"/>
                <a:gd name="connsiteX85" fmla="*/ 0 w 1051562"/>
                <a:gd name="connsiteY85" fmla="*/ 627674 h 642333"/>
                <a:gd name="connsiteX86" fmla="*/ 15696 w 1051562"/>
                <a:gd name="connsiteY86" fmla="*/ 643370 h 642333"/>
                <a:gd name="connsiteX87" fmla="*/ 1037214 w 1051562"/>
                <a:gd name="connsiteY87" fmla="*/ 643370 h 642333"/>
                <a:gd name="connsiteX88" fmla="*/ 1052910 w 1051562"/>
                <a:gd name="connsiteY88" fmla="*/ 627674 h 642333"/>
                <a:gd name="connsiteX89" fmla="*/ 1037266 w 1051562"/>
                <a:gd name="connsiteY89" fmla="*/ 612030 h 642333"/>
                <a:gd name="connsiteX90" fmla="*/ 925220 w 1051562"/>
                <a:gd name="connsiteY90" fmla="*/ 580379 h 642333"/>
                <a:gd name="connsiteX91" fmla="*/ 925220 w 1051562"/>
                <a:gd name="connsiteY91" fmla="*/ 612030 h 642333"/>
                <a:gd name="connsiteX92" fmla="*/ 904189 w 1051562"/>
                <a:gd name="connsiteY92" fmla="*/ 612030 h 642333"/>
                <a:gd name="connsiteX93" fmla="*/ 904189 w 1051562"/>
                <a:gd name="connsiteY93" fmla="*/ 580379 h 642333"/>
                <a:gd name="connsiteX94" fmla="*/ 925220 w 1051562"/>
                <a:gd name="connsiteY94" fmla="*/ 580379 h 642333"/>
                <a:gd name="connsiteX95" fmla="*/ 946199 w 1051562"/>
                <a:gd name="connsiteY95" fmla="*/ 612030 h 642333"/>
                <a:gd name="connsiteX96" fmla="*/ 946199 w 1051562"/>
                <a:gd name="connsiteY96" fmla="*/ 580379 h 642333"/>
                <a:gd name="connsiteX97" fmla="*/ 971582 w 1051562"/>
                <a:gd name="connsiteY97" fmla="*/ 580379 h 642333"/>
                <a:gd name="connsiteX98" fmla="*/ 971582 w 1051562"/>
                <a:gd name="connsiteY98" fmla="*/ 612030 h 642333"/>
                <a:gd name="connsiteX99" fmla="*/ 946199 w 1051562"/>
                <a:gd name="connsiteY99" fmla="*/ 612030 h 642333"/>
                <a:gd name="connsiteX100" fmla="*/ 971530 w 1051562"/>
                <a:gd name="connsiteY100" fmla="*/ 519565 h 642333"/>
                <a:gd name="connsiteX101" fmla="*/ 971530 w 1051562"/>
                <a:gd name="connsiteY101" fmla="*/ 551060 h 642333"/>
                <a:gd name="connsiteX102" fmla="*/ 765310 w 1051562"/>
                <a:gd name="connsiteY102" fmla="*/ 551060 h 642333"/>
                <a:gd name="connsiteX103" fmla="*/ 765310 w 1051562"/>
                <a:gd name="connsiteY103" fmla="*/ 519565 h 642333"/>
                <a:gd name="connsiteX104" fmla="*/ 937704 w 1051562"/>
                <a:gd name="connsiteY104" fmla="*/ 519565 h 642333"/>
                <a:gd name="connsiteX105" fmla="*/ 971530 w 1051562"/>
                <a:gd name="connsiteY105" fmla="*/ 519565 h 642333"/>
                <a:gd name="connsiteX106" fmla="*/ 737234 w 1051562"/>
                <a:gd name="connsiteY106" fmla="*/ 89875 h 642333"/>
                <a:gd name="connsiteX107" fmla="*/ 750650 w 1051562"/>
                <a:gd name="connsiteY107" fmla="*/ 89875 h 642333"/>
                <a:gd name="connsiteX108" fmla="*/ 763497 w 1051562"/>
                <a:gd name="connsiteY108" fmla="*/ 89875 h 642333"/>
                <a:gd name="connsiteX109" fmla="*/ 763497 w 1051562"/>
                <a:gd name="connsiteY109" fmla="*/ 105467 h 642333"/>
                <a:gd name="connsiteX110" fmla="*/ 773961 w 1051562"/>
                <a:gd name="connsiteY110" fmla="*/ 115931 h 642333"/>
                <a:gd name="connsiteX111" fmla="*/ 784425 w 1051562"/>
                <a:gd name="connsiteY111" fmla="*/ 105467 h 642333"/>
                <a:gd name="connsiteX112" fmla="*/ 784425 w 1051562"/>
                <a:gd name="connsiteY112" fmla="*/ 89875 h 642333"/>
                <a:gd name="connsiteX113" fmla="*/ 805456 w 1051562"/>
                <a:gd name="connsiteY113" fmla="*/ 89875 h 642333"/>
                <a:gd name="connsiteX114" fmla="*/ 805456 w 1051562"/>
                <a:gd name="connsiteY114" fmla="*/ 121836 h 642333"/>
                <a:gd name="connsiteX115" fmla="*/ 750702 w 1051562"/>
                <a:gd name="connsiteY115" fmla="*/ 121836 h 642333"/>
                <a:gd name="connsiteX116" fmla="*/ 737286 w 1051562"/>
                <a:gd name="connsiteY116" fmla="*/ 121836 h 642333"/>
                <a:gd name="connsiteX117" fmla="*/ 737286 w 1051562"/>
                <a:gd name="connsiteY117" fmla="*/ 89875 h 642333"/>
                <a:gd name="connsiteX118" fmla="*/ 923096 w 1051562"/>
                <a:gd name="connsiteY118" fmla="*/ 121836 h 642333"/>
                <a:gd name="connsiteX119" fmla="*/ 868342 w 1051562"/>
                <a:gd name="connsiteY119" fmla="*/ 121836 h 642333"/>
                <a:gd name="connsiteX120" fmla="*/ 868342 w 1051562"/>
                <a:gd name="connsiteY120" fmla="*/ 89875 h 642333"/>
                <a:gd name="connsiteX121" fmla="*/ 923096 w 1051562"/>
                <a:gd name="connsiteY121" fmla="*/ 89875 h 642333"/>
                <a:gd name="connsiteX122" fmla="*/ 923096 w 1051562"/>
                <a:gd name="connsiteY122" fmla="*/ 121836 h 642333"/>
                <a:gd name="connsiteX123" fmla="*/ 847414 w 1051562"/>
                <a:gd name="connsiteY123" fmla="*/ 121836 h 642333"/>
                <a:gd name="connsiteX124" fmla="*/ 826383 w 1051562"/>
                <a:gd name="connsiteY124" fmla="*/ 121836 h 642333"/>
                <a:gd name="connsiteX125" fmla="*/ 826383 w 1051562"/>
                <a:gd name="connsiteY125" fmla="*/ 89875 h 642333"/>
                <a:gd name="connsiteX126" fmla="*/ 847414 w 1051562"/>
                <a:gd name="connsiteY126" fmla="*/ 89875 h 642333"/>
                <a:gd name="connsiteX127" fmla="*/ 847414 w 1051562"/>
                <a:gd name="connsiteY127" fmla="*/ 121836 h 642333"/>
                <a:gd name="connsiteX128" fmla="*/ 925220 w 1051562"/>
                <a:gd name="connsiteY128" fmla="*/ 428965 h 642333"/>
                <a:gd name="connsiteX129" fmla="*/ 904189 w 1051562"/>
                <a:gd name="connsiteY129" fmla="*/ 428965 h 642333"/>
                <a:gd name="connsiteX130" fmla="*/ 904189 w 1051562"/>
                <a:gd name="connsiteY130" fmla="*/ 397729 h 642333"/>
                <a:gd name="connsiteX131" fmla="*/ 925220 w 1051562"/>
                <a:gd name="connsiteY131" fmla="*/ 397729 h 642333"/>
                <a:gd name="connsiteX132" fmla="*/ 925220 w 1051562"/>
                <a:gd name="connsiteY132" fmla="*/ 428965 h 642333"/>
                <a:gd name="connsiteX133" fmla="*/ 765310 w 1051562"/>
                <a:gd name="connsiteY133" fmla="*/ 397729 h 642333"/>
                <a:gd name="connsiteX134" fmla="*/ 841302 w 1051562"/>
                <a:gd name="connsiteY134" fmla="*/ 397729 h 642333"/>
                <a:gd name="connsiteX135" fmla="*/ 841302 w 1051562"/>
                <a:gd name="connsiteY135" fmla="*/ 414098 h 642333"/>
                <a:gd name="connsiteX136" fmla="*/ 851766 w 1051562"/>
                <a:gd name="connsiteY136" fmla="*/ 424562 h 642333"/>
                <a:gd name="connsiteX137" fmla="*/ 862230 w 1051562"/>
                <a:gd name="connsiteY137" fmla="*/ 414098 h 642333"/>
                <a:gd name="connsiteX138" fmla="*/ 862230 w 1051562"/>
                <a:gd name="connsiteY138" fmla="*/ 397729 h 642333"/>
                <a:gd name="connsiteX139" fmla="*/ 883261 w 1051562"/>
                <a:gd name="connsiteY139" fmla="*/ 397729 h 642333"/>
                <a:gd name="connsiteX140" fmla="*/ 883261 w 1051562"/>
                <a:gd name="connsiteY140" fmla="*/ 428965 h 642333"/>
                <a:gd name="connsiteX141" fmla="*/ 765310 w 1051562"/>
                <a:gd name="connsiteY141" fmla="*/ 428965 h 642333"/>
                <a:gd name="connsiteX142" fmla="*/ 765310 w 1051562"/>
                <a:gd name="connsiteY142" fmla="*/ 397729 h 642333"/>
                <a:gd name="connsiteX143" fmla="*/ 765310 w 1051562"/>
                <a:gd name="connsiteY143" fmla="*/ 368409 h 642333"/>
                <a:gd name="connsiteX144" fmla="*/ 765310 w 1051562"/>
                <a:gd name="connsiteY144" fmla="*/ 335827 h 642333"/>
                <a:gd name="connsiteX145" fmla="*/ 971530 w 1051562"/>
                <a:gd name="connsiteY145" fmla="*/ 335827 h 642333"/>
                <a:gd name="connsiteX146" fmla="*/ 971530 w 1051562"/>
                <a:gd name="connsiteY146" fmla="*/ 368409 h 642333"/>
                <a:gd name="connsiteX147" fmla="*/ 765310 w 1051562"/>
                <a:gd name="connsiteY147" fmla="*/ 368409 h 642333"/>
                <a:gd name="connsiteX148" fmla="*/ 851818 w 1051562"/>
                <a:gd name="connsiteY148" fmla="*/ 300757 h 642333"/>
                <a:gd name="connsiteX149" fmla="*/ 862282 w 1051562"/>
                <a:gd name="connsiteY149" fmla="*/ 290293 h 642333"/>
                <a:gd name="connsiteX150" fmla="*/ 862282 w 1051562"/>
                <a:gd name="connsiteY150" fmla="*/ 273924 h 642333"/>
                <a:gd name="connsiteX151" fmla="*/ 883313 w 1051562"/>
                <a:gd name="connsiteY151" fmla="*/ 273924 h 642333"/>
                <a:gd name="connsiteX152" fmla="*/ 883313 w 1051562"/>
                <a:gd name="connsiteY152" fmla="*/ 306507 h 642333"/>
                <a:gd name="connsiteX153" fmla="*/ 765362 w 1051562"/>
                <a:gd name="connsiteY153" fmla="*/ 306507 h 642333"/>
                <a:gd name="connsiteX154" fmla="*/ 765362 w 1051562"/>
                <a:gd name="connsiteY154" fmla="*/ 273924 h 642333"/>
                <a:gd name="connsiteX155" fmla="*/ 841354 w 1051562"/>
                <a:gd name="connsiteY155" fmla="*/ 273924 h 642333"/>
                <a:gd name="connsiteX156" fmla="*/ 841354 w 1051562"/>
                <a:gd name="connsiteY156" fmla="*/ 290293 h 642333"/>
                <a:gd name="connsiteX157" fmla="*/ 851818 w 1051562"/>
                <a:gd name="connsiteY157" fmla="*/ 300757 h 642333"/>
                <a:gd name="connsiteX158" fmla="*/ 971530 w 1051562"/>
                <a:gd name="connsiteY158" fmla="*/ 273976 h 642333"/>
                <a:gd name="connsiteX159" fmla="*/ 971530 w 1051562"/>
                <a:gd name="connsiteY159" fmla="*/ 306559 h 642333"/>
                <a:gd name="connsiteX160" fmla="*/ 946148 w 1051562"/>
                <a:gd name="connsiteY160" fmla="*/ 306559 h 642333"/>
                <a:gd name="connsiteX161" fmla="*/ 946148 w 1051562"/>
                <a:gd name="connsiteY161" fmla="*/ 273976 h 642333"/>
                <a:gd name="connsiteX162" fmla="*/ 971530 w 1051562"/>
                <a:gd name="connsiteY162" fmla="*/ 273976 h 642333"/>
                <a:gd name="connsiteX163" fmla="*/ 925220 w 1051562"/>
                <a:gd name="connsiteY163" fmla="*/ 306507 h 642333"/>
                <a:gd name="connsiteX164" fmla="*/ 904189 w 1051562"/>
                <a:gd name="connsiteY164" fmla="*/ 306507 h 642333"/>
                <a:gd name="connsiteX165" fmla="*/ 904189 w 1051562"/>
                <a:gd name="connsiteY165" fmla="*/ 273924 h 642333"/>
                <a:gd name="connsiteX166" fmla="*/ 925220 w 1051562"/>
                <a:gd name="connsiteY166" fmla="*/ 273924 h 642333"/>
                <a:gd name="connsiteX167" fmla="*/ 925220 w 1051562"/>
                <a:gd name="connsiteY167" fmla="*/ 306507 h 642333"/>
                <a:gd name="connsiteX168" fmla="*/ 971530 w 1051562"/>
                <a:gd name="connsiteY168" fmla="*/ 244657 h 642333"/>
                <a:gd name="connsiteX169" fmla="*/ 765310 w 1051562"/>
                <a:gd name="connsiteY169" fmla="*/ 244657 h 642333"/>
                <a:gd name="connsiteX170" fmla="*/ 765310 w 1051562"/>
                <a:gd name="connsiteY170" fmla="*/ 211970 h 642333"/>
                <a:gd name="connsiteX171" fmla="*/ 971530 w 1051562"/>
                <a:gd name="connsiteY171" fmla="*/ 211970 h 642333"/>
                <a:gd name="connsiteX172" fmla="*/ 971530 w 1051562"/>
                <a:gd name="connsiteY172" fmla="*/ 244657 h 642333"/>
                <a:gd name="connsiteX173" fmla="*/ 737234 w 1051562"/>
                <a:gd name="connsiteY173" fmla="*/ 458284 h 642333"/>
                <a:gd name="connsiteX174" fmla="*/ 750650 w 1051562"/>
                <a:gd name="connsiteY174" fmla="*/ 458284 h 642333"/>
                <a:gd name="connsiteX175" fmla="*/ 923045 w 1051562"/>
                <a:gd name="connsiteY175" fmla="*/ 458284 h 642333"/>
                <a:gd name="connsiteX176" fmla="*/ 923045 w 1051562"/>
                <a:gd name="connsiteY176" fmla="*/ 490246 h 642333"/>
                <a:gd name="connsiteX177" fmla="*/ 750650 w 1051562"/>
                <a:gd name="connsiteY177" fmla="*/ 490246 h 642333"/>
                <a:gd name="connsiteX178" fmla="*/ 737234 w 1051562"/>
                <a:gd name="connsiteY178" fmla="*/ 490246 h 642333"/>
                <a:gd name="connsiteX179" fmla="*/ 737234 w 1051562"/>
                <a:gd name="connsiteY179" fmla="*/ 458284 h 642333"/>
                <a:gd name="connsiteX180" fmla="*/ 971530 w 1051562"/>
                <a:gd name="connsiteY180" fmla="*/ 428965 h 642333"/>
                <a:gd name="connsiteX181" fmla="*/ 946148 w 1051562"/>
                <a:gd name="connsiteY181" fmla="*/ 428965 h 642333"/>
                <a:gd name="connsiteX182" fmla="*/ 946148 w 1051562"/>
                <a:gd name="connsiteY182" fmla="*/ 397729 h 642333"/>
                <a:gd name="connsiteX183" fmla="*/ 971530 w 1051562"/>
                <a:gd name="connsiteY183" fmla="*/ 397729 h 642333"/>
                <a:gd name="connsiteX184" fmla="*/ 971530 w 1051562"/>
                <a:gd name="connsiteY184" fmla="*/ 428965 h 642333"/>
                <a:gd name="connsiteX185" fmla="*/ 971530 w 1051562"/>
                <a:gd name="connsiteY185" fmla="*/ 151156 h 642333"/>
                <a:gd name="connsiteX186" fmla="*/ 971530 w 1051562"/>
                <a:gd name="connsiteY186" fmla="*/ 182651 h 642333"/>
                <a:gd name="connsiteX187" fmla="*/ 765310 w 1051562"/>
                <a:gd name="connsiteY187" fmla="*/ 182651 h 642333"/>
                <a:gd name="connsiteX188" fmla="*/ 765310 w 1051562"/>
                <a:gd name="connsiteY188" fmla="*/ 151156 h 642333"/>
                <a:gd name="connsiteX189" fmla="*/ 937704 w 1051562"/>
                <a:gd name="connsiteY189" fmla="*/ 151156 h 642333"/>
                <a:gd name="connsiteX190" fmla="*/ 971530 w 1051562"/>
                <a:gd name="connsiteY190" fmla="*/ 151156 h 642333"/>
                <a:gd name="connsiteX191" fmla="*/ 971530 w 1051562"/>
                <a:gd name="connsiteY191" fmla="*/ 29319 h 642333"/>
                <a:gd name="connsiteX192" fmla="*/ 971530 w 1051562"/>
                <a:gd name="connsiteY192" fmla="*/ 60555 h 642333"/>
                <a:gd name="connsiteX193" fmla="*/ 937704 w 1051562"/>
                <a:gd name="connsiteY193" fmla="*/ 60555 h 642333"/>
                <a:gd name="connsiteX194" fmla="*/ 765310 w 1051562"/>
                <a:gd name="connsiteY194" fmla="*/ 60555 h 642333"/>
                <a:gd name="connsiteX195" fmla="*/ 765310 w 1051562"/>
                <a:gd name="connsiteY195" fmla="*/ 29319 h 642333"/>
                <a:gd name="connsiteX196" fmla="*/ 971530 w 1051562"/>
                <a:gd name="connsiteY196" fmla="*/ 29319 h 642333"/>
                <a:gd name="connsiteX197" fmla="*/ 765310 w 1051562"/>
                <a:gd name="connsiteY197" fmla="*/ 580379 h 642333"/>
                <a:gd name="connsiteX198" fmla="*/ 841302 w 1051562"/>
                <a:gd name="connsiteY198" fmla="*/ 580379 h 642333"/>
                <a:gd name="connsiteX199" fmla="*/ 841302 w 1051562"/>
                <a:gd name="connsiteY199" fmla="*/ 596749 h 642333"/>
                <a:gd name="connsiteX200" fmla="*/ 851766 w 1051562"/>
                <a:gd name="connsiteY200" fmla="*/ 607212 h 642333"/>
                <a:gd name="connsiteX201" fmla="*/ 862230 w 1051562"/>
                <a:gd name="connsiteY201" fmla="*/ 596749 h 642333"/>
                <a:gd name="connsiteX202" fmla="*/ 862230 w 1051562"/>
                <a:gd name="connsiteY202" fmla="*/ 580379 h 642333"/>
                <a:gd name="connsiteX203" fmla="*/ 883261 w 1051562"/>
                <a:gd name="connsiteY203" fmla="*/ 580379 h 642333"/>
                <a:gd name="connsiteX204" fmla="*/ 883261 w 1051562"/>
                <a:gd name="connsiteY204" fmla="*/ 612030 h 642333"/>
                <a:gd name="connsiteX205" fmla="*/ 765310 w 1051562"/>
                <a:gd name="connsiteY205" fmla="*/ 612030 h 642333"/>
                <a:gd name="connsiteX206" fmla="*/ 765310 w 1051562"/>
                <a:gd name="connsiteY206" fmla="*/ 580379 h 642333"/>
                <a:gd name="connsiteX207" fmla="*/ 458595 w 1051562"/>
                <a:gd name="connsiteY207" fmla="*/ 490246 h 642333"/>
                <a:gd name="connsiteX208" fmla="*/ 458595 w 1051562"/>
                <a:gd name="connsiteY208" fmla="*/ 458284 h 642333"/>
                <a:gd name="connsiteX209" fmla="*/ 630990 w 1051562"/>
                <a:gd name="connsiteY209" fmla="*/ 458284 h 642333"/>
                <a:gd name="connsiteX210" fmla="*/ 644406 w 1051562"/>
                <a:gd name="connsiteY210" fmla="*/ 458284 h 642333"/>
                <a:gd name="connsiteX211" fmla="*/ 644406 w 1051562"/>
                <a:gd name="connsiteY211" fmla="*/ 490246 h 642333"/>
                <a:gd name="connsiteX212" fmla="*/ 630990 w 1051562"/>
                <a:gd name="connsiteY212" fmla="*/ 490246 h 642333"/>
                <a:gd name="connsiteX213" fmla="*/ 458595 w 1051562"/>
                <a:gd name="connsiteY213" fmla="*/ 490246 h 642333"/>
                <a:gd name="connsiteX214" fmla="*/ 458595 w 1051562"/>
                <a:gd name="connsiteY214" fmla="*/ 273976 h 642333"/>
                <a:gd name="connsiteX215" fmla="*/ 480921 w 1051562"/>
                <a:gd name="connsiteY215" fmla="*/ 273976 h 642333"/>
                <a:gd name="connsiteX216" fmla="*/ 480921 w 1051562"/>
                <a:gd name="connsiteY216" fmla="*/ 290345 h 642333"/>
                <a:gd name="connsiteX217" fmla="*/ 491385 w 1051562"/>
                <a:gd name="connsiteY217" fmla="*/ 300809 h 642333"/>
                <a:gd name="connsiteX218" fmla="*/ 501849 w 1051562"/>
                <a:gd name="connsiteY218" fmla="*/ 290345 h 642333"/>
                <a:gd name="connsiteX219" fmla="*/ 501849 w 1051562"/>
                <a:gd name="connsiteY219" fmla="*/ 273976 h 642333"/>
                <a:gd name="connsiteX220" fmla="*/ 522881 w 1051562"/>
                <a:gd name="connsiteY220" fmla="*/ 273976 h 642333"/>
                <a:gd name="connsiteX221" fmla="*/ 522881 w 1051562"/>
                <a:gd name="connsiteY221" fmla="*/ 305937 h 642333"/>
                <a:gd name="connsiteX222" fmla="*/ 458595 w 1051562"/>
                <a:gd name="connsiteY222" fmla="*/ 305937 h 642333"/>
                <a:gd name="connsiteX223" fmla="*/ 458595 w 1051562"/>
                <a:gd name="connsiteY223" fmla="*/ 273976 h 642333"/>
                <a:gd name="connsiteX224" fmla="*/ 543808 w 1051562"/>
                <a:gd name="connsiteY224" fmla="*/ 273976 h 642333"/>
                <a:gd name="connsiteX225" fmla="*/ 564840 w 1051562"/>
                <a:gd name="connsiteY225" fmla="*/ 273976 h 642333"/>
                <a:gd name="connsiteX226" fmla="*/ 564840 w 1051562"/>
                <a:gd name="connsiteY226" fmla="*/ 305937 h 642333"/>
                <a:gd name="connsiteX227" fmla="*/ 543808 w 1051562"/>
                <a:gd name="connsiteY227" fmla="*/ 305937 h 642333"/>
                <a:gd name="connsiteX228" fmla="*/ 543808 w 1051562"/>
                <a:gd name="connsiteY228" fmla="*/ 273976 h 642333"/>
                <a:gd name="connsiteX229" fmla="*/ 585768 w 1051562"/>
                <a:gd name="connsiteY229" fmla="*/ 273976 h 642333"/>
                <a:gd name="connsiteX230" fmla="*/ 630990 w 1051562"/>
                <a:gd name="connsiteY230" fmla="*/ 273976 h 642333"/>
                <a:gd name="connsiteX231" fmla="*/ 644406 w 1051562"/>
                <a:gd name="connsiteY231" fmla="*/ 273976 h 642333"/>
                <a:gd name="connsiteX232" fmla="*/ 644406 w 1051562"/>
                <a:gd name="connsiteY232" fmla="*/ 305937 h 642333"/>
                <a:gd name="connsiteX233" fmla="*/ 630990 w 1051562"/>
                <a:gd name="connsiteY233" fmla="*/ 305937 h 642333"/>
                <a:gd name="connsiteX234" fmla="*/ 585768 w 1051562"/>
                <a:gd name="connsiteY234" fmla="*/ 305937 h 642333"/>
                <a:gd name="connsiteX235" fmla="*/ 585768 w 1051562"/>
                <a:gd name="connsiteY235" fmla="*/ 273976 h 642333"/>
                <a:gd name="connsiteX236" fmla="*/ 501591 w 1051562"/>
                <a:gd name="connsiteY236" fmla="*/ 422852 h 642333"/>
                <a:gd name="connsiteX237" fmla="*/ 512054 w 1051562"/>
                <a:gd name="connsiteY237" fmla="*/ 412389 h 642333"/>
                <a:gd name="connsiteX238" fmla="*/ 512054 w 1051562"/>
                <a:gd name="connsiteY238" fmla="*/ 397729 h 642333"/>
                <a:gd name="connsiteX239" fmla="*/ 533086 w 1051562"/>
                <a:gd name="connsiteY239" fmla="*/ 397729 h 642333"/>
                <a:gd name="connsiteX240" fmla="*/ 533086 w 1051562"/>
                <a:gd name="connsiteY240" fmla="*/ 428706 h 642333"/>
                <a:gd name="connsiteX241" fmla="*/ 410162 w 1051562"/>
                <a:gd name="connsiteY241" fmla="*/ 428706 h 642333"/>
                <a:gd name="connsiteX242" fmla="*/ 410162 w 1051562"/>
                <a:gd name="connsiteY242" fmla="*/ 397729 h 642333"/>
                <a:gd name="connsiteX243" fmla="*/ 491127 w 1051562"/>
                <a:gd name="connsiteY243" fmla="*/ 397729 h 642333"/>
                <a:gd name="connsiteX244" fmla="*/ 491127 w 1051562"/>
                <a:gd name="connsiteY244" fmla="*/ 412389 h 642333"/>
                <a:gd name="connsiteX245" fmla="*/ 501591 w 1051562"/>
                <a:gd name="connsiteY245" fmla="*/ 422852 h 642333"/>
                <a:gd name="connsiteX246" fmla="*/ 574992 w 1051562"/>
                <a:gd name="connsiteY246" fmla="*/ 428706 h 642333"/>
                <a:gd name="connsiteX247" fmla="*/ 553962 w 1051562"/>
                <a:gd name="connsiteY247" fmla="*/ 428706 h 642333"/>
                <a:gd name="connsiteX248" fmla="*/ 553962 w 1051562"/>
                <a:gd name="connsiteY248" fmla="*/ 397729 h 642333"/>
                <a:gd name="connsiteX249" fmla="*/ 574992 w 1051562"/>
                <a:gd name="connsiteY249" fmla="*/ 397729 h 642333"/>
                <a:gd name="connsiteX250" fmla="*/ 574992 w 1051562"/>
                <a:gd name="connsiteY250" fmla="*/ 428706 h 642333"/>
                <a:gd name="connsiteX251" fmla="*/ 595972 w 1051562"/>
                <a:gd name="connsiteY251" fmla="*/ 397729 h 642333"/>
                <a:gd name="connsiteX252" fmla="*/ 616382 w 1051562"/>
                <a:gd name="connsiteY252" fmla="*/ 397729 h 642333"/>
                <a:gd name="connsiteX253" fmla="*/ 616382 w 1051562"/>
                <a:gd name="connsiteY253" fmla="*/ 428706 h 642333"/>
                <a:gd name="connsiteX254" fmla="*/ 595972 w 1051562"/>
                <a:gd name="connsiteY254" fmla="*/ 428706 h 642333"/>
                <a:gd name="connsiteX255" fmla="*/ 595972 w 1051562"/>
                <a:gd name="connsiteY255" fmla="*/ 397729 h 642333"/>
                <a:gd name="connsiteX256" fmla="*/ 574992 w 1051562"/>
                <a:gd name="connsiteY256" fmla="*/ 519565 h 642333"/>
                <a:gd name="connsiteX257" fmla="*/ 574992 w 1051562"/>
                <a:gd name="connsiteY257" fmla="*/ 551060 h 642333"/>
                <a:gd name="connsiteX258" fmla="*/ 553962 w 1051562"/>
                <a:gd name="connsiteY258" fmla="*/ 551060 h 642333"/>
                <a:gd name="connsiteX259" fmla="*/ 553962 w 1051562"/>
                <a:gd name="connsiteY259" fmla="*/ 519565 h 642333"/>
                <a:gd name="connsiteX260" fmla="*/ 574992 w 1051562"/>
                <a:gd name="connsiteY260" fmla="*/ 519565 h 642333"/>
                <a:gd name="connsiteX261" fmla="*/ 595972 w 1051562"/>
                <a:gd name="connsiteY261" fmla="*/ 519565 h 642333"/>
                <a:gd name="connsiteX262" fmla="*/ 616382 w 1051562"/>
                <a:gd name="connsiteY262" fmla="*/ 519565 h 642333"/>
                <a:gd name="connsiteX263" fmla="*/ 616382 w 1051562"/>
                <a:gd name="connsiteY263" fmla="*/ 551060 h 642333"/>
                <a:gd name="connsiteX264" fmla="*/ 595972 w 1051562"/>
                <a:gd name="connsiteY264" fmla="*/ 551060 h 642333"/>
                <a:gd name="connsiteX265" fmla="*/ 595972 w 1051562"/>
                <a:gd name="connsiteY265" fmla="*/ 519565 h 642333"/>
                <a:gd name="connsiteX266" fmla="*/ 410110 w 1051562"/>
                <a:gd name="connsiteY266" fmla="*/ 244657 h 642333"/>
                <a:gd name="connsiteX267" fmla="*/ 410110 w 1051562"/>
                <a:gd name="connsiteY267" fmla="*/ 213421 h 642333"/>
                <a:gd name="connsiteX268" fmla="*/ 616330 w 1051562"/>
                <a:gd name="connsiteY268" fmla="*/ 213421 h 642333"/>
                <a:gd name="connsiteX269" fmla="*/ 616330 w 1051562"/>
                <a:gd name="connsiteY269" fmla="*/ 244657 h 642333"/>
                <a:gd name="connsiteX270" fmla="*/ 443936 w 1051562"/>
                <a:gd name="connsiteY270" fmla="*/ 244657 h 642333"/>
                <a:gd name="connsiteX271" fmla="*/ 410110 w 1051562"/>
                <a:gd name="connsiteY271" fmla="*/ 244657 h 642333"/>
                <a:gd name="connsiteX272" fmla="*/ 443936 w 1051562"/>
                <a:gd name="connsiteY272" fmla="*/ 335205 h 642333"/>
                <a:gd name="connsiteX273" fmla="*/ 616330 w 1051562"/>
                <a:gd name="connsiteY273" fmla="*/ 335205 h 642333"/>
                <a:gd name="connsiteX274" fmla="*/ 616330 w 1051562"/>
                <a:gd name="connsiteY274" fmla="*/ 366700 h 642333"/>
                <a:gd name="connsiteX275" fmla="*/ 410110 w 1051562"/>
                <a:gd name="connsiteY275" fmla="*/ 366700 h 642333"/>
                <a:gd name="connsiteX276" fmla="*/ 410110 w 1051562"/>
                <a:gd name="connsiteY276" fmla="*/ 335205 h 642333"/>
                <a:gd name="connsiteX277" fmla="*/ 443936 w 1051562"/>
                <a:gd name="connsiteY277" fmla="*/ 335205 h 642333"/>
                <a:gd name="connsiteX278" fmla="*/ 443936 w 1051562"/>
                <a:gd name="connsiteY278" fmla="*/ 519565 h 642333"/>
                <a:gd name="connsiteX279" fmla="*/ 491075 w 1051562"/>
                <a:gd name="connsiteY279" fmla="*/ 519565 h 642333"/>
                <a:gd name="connsiteX280" fmla="*/ 491075 w 1051562"/>
                <a:gd name="connsiteY280" fmla="*/ 536400 h 642333"/>
                <a:gd name="connsiteX281" fmla="*/ 501539 w 1051562"/>
                <a:gd name="connsiteY281" fmla="*/ 546864 h 642333"/>
                <a:gd name="connsiteX282" fmla="*/ 512002 w 1051562"/>
                <a:gd name="connsiteY282" fmla="*/ 536400 h 642333"/>
                <a:gd name="connsiteX283" fmla="*/ 512002 w 1051562"/>
                <a:gd name="connsiteY283" fmla="*/ 519565 h 642333"/>
                <a:gd name="connsiteX284" fmla="*/ 533034 w 1051562"/>
                <a:gd name="connsiteY284" fmla="*/ 519565 h 642333"/>
                <a:gd name="connsiteX285" fmla="*/ 533034 w 1051562"/>
                <a:gd name="connsiteY285" fmla="*/ 551060 h 642333"/>
                <a:gd name="connsiteX286" fmla="*/ 410110 w 1051562"/>
                <a:gd name="connsiteY286" fmla="*/ 551060 h 642333"/>
                <a:gd name="connsiteX287" fmla="*/ 410110 w 1051562"/>
                <a:gd name="connsiteY287" fmla="*/ 519565 h 642333"/>
                <a:gd name="connsiteX288" fmla="*/ 443936 w 1051562"/>
                <a:gd name="connsiteY288" fmla="*/ 519565 h 642333"/>
                <a:gd name="connsiteX289" fmla="*/ 410110 w 1051562"/>
                <a:gd name="connsiteY289" fmla="*/ 580379 h 642333"/>
                <a:gd name="connsiteX290" fmla="*/ 616330 w 1051562"/>
                <a:gd name="connsiteY290" fmla="*/ 580379 h 642333"/>
                <a:gd name="connsiteX291" fmla="*/ 616330 w 1051562"/>
                <a:gd name="connsiteY291" fmla="*/ 612030 h 642333"/>
                <a:gd name="connsiteX292" fmla="*/ 410110 w 1051562"/>
                <a:gd name="connsiteY292" fmla="*/ 612030 h 642333"/>
                <a:gd name="connsiteX293" fmla="*/ 410110 w 1051562"/>
                <a:gd name="connsiteY293" fmla="*/ 580379 h 642333"/>
                <a:gd name="connsiteX294" fmla="*/ 245226 w 1051562"/>
                <a:gd name="connsiteY294" fmla="*/ 580379 h 642333"/>
                <a:gd name="connsiteX295" fmla="*/ 245226 w 1051562"/>
                <a:gd name="connsiteY295" fmla="*/ 612030 h 642333"/>
                <a:gd name="connsiteX296" fmla="*/ 224195 w 1051562"/>
                <a:gd name="connsiteY296" fmla="*/ 612030 h 642333"/>
                <a:gd name="connsiteX297" fmla="*/ 224195 w 1051562"/>
                <a:gd name="connsiteY297" fmla="*/ 580379 h 642333"/>
                <a:gd name="connsiteX298" fmla="*/ 245226 w 1051562"/>
                <a:gd name="connsiteY298" fmla="*/ 580379 h 642333"/>
                <a:gd name="connsiteX299" fmla="*/ 266154 w 1051562"/>
                <a:gd name="connsiteY299" fmla="*/ 612030 h 642333"/>
                <a:gd name="connsiteX300" fmla="*/ 266154 w 1051562"/>
                <a:gd name="connsiteY300" fmla="*/ 580379 h 642333"/>
                <a:gd name="connsiteX301" fmla="*/ 293091 w 1051562"/>
                <a:gd name="connsiteY301" fmla="*/ 580379 h 642333"/>
                <a:gd name="connsiteX302" fmla="*/ 293091 w 1051562"/>
                <a:gd name="connsiteY302" fmla="*/ 612030 h 642333"/>
                <a:gd name="connsiteX303" fmla="*/ 266154 w 1051562"/>
                <a:gd name="connsiteY303" fmla="*/ 612030 h 642333"/>
                <a:gd name="connsiteX304" fmla="*/ 293039 w 1051562"/>
                <a:gd name="connsiteY304" fmla="*/ 519565 h 642333"/>
                <a:gd name="connsiteX305" fmla="*/ 293039 w 1051562"/>
                <a:gd name="connsiteY305" fmla="*/ 551060 h 642333"/>
                <a:gd name="connsiteX306" fmla="*/ 86819 w 1051562"/>
                <a:gd name="connsiteY306" fmla="*/ 551060 h 642333"/>
                <a:gd name="connsiteX307" fmla="*/ 86819 w 1051562"/>
                <a:gd name="connsiteY307" fmla="*/ 519565 h 642333"/>
                <a:gd name="connsiteX308" fmla="*/ 259213 w 1051562"/>
                <a:gd name="connsiteY308" fmla="*/ 519565 h 642333"/>
                <a:gd name="connsiteX309" fmla="*/ 293039 w 1051562"/>
                <a:gd name="connsiteY309" fmla="*/ 519565 h 642333"/>
                <a:gd name="connsiteX310" fmla="*/ 58742 w 1051562"/>
                <a:gd name="connsiteY310" fmla="*/ 458284 h 642333"/>
                <a:gd name="connsiteX311" fmla="*/ 72159 w 1051562"/>
                <a:gd name="connsiteY311" fmla="*/ 458284 h 642333"/>
                <a:gd name="connsiteX312" fmla="*/ 81431 w 1051562"/>
                <a:gd name="connsiteY312" fmla="*/ 458284 h 642333"/>
                <a:gd name="connsiteX313" fmla="*/ 81431 w 1051562"/>
                <a:gd name="connsiteY313" fmla="*/ 473876 h 642333"/>
                <a:gd name="connsiteX314" fmla="*/ 91895 w 1051562"/>
                <a:gd name="connsiteY314" fmla="*/ 484340 h 642333"/>
                <a:gd name="connsiteX315" fmla="*/ 102359 w 1051562"/>
                <a:gd name="connsiteY315" fmla="*/ 473876 h 642333"/>
                <a:gd name="connsiteX316" fmla="*/ 102359 w 1051562"/>
                <a:gd name="connsiteY316" fmla="*/ 458284 h 642333"/>
                <a:gd name="connsiteX317" fmla="*/ 123391 w 1051562"/>
                <a:gd name="connsiteY317" fmla="*/ 458284 h 642333"/>
                <a:gd name="connsiteX318" fmla="*/ 123391 w 1051562"/>
                <a:gd name="connsiteY318" fmla="*/ 490246 h 642333"/>
                <a:gd name="connsiteX319" fmla="*/ 72159 w 1051562"/>
                <a:gd name="connsiteY319" fmla="*/ 490246 h 642333"/>
                <a:gd name="connsiteX320" fmla="*/ 58742 w 1051562"/>
                <a:gd name="connsiteY320" fmla="*/ 490246 h 642333"/>
                <a:gd name="connsiteX321" fmla="*/ 58742 w 1051562"/>
                <a:gd name="connsiteY321" fmla="*/ 458284 h 642333"/>
                <a:gd name="connsiteX322" fmla="*/ 244605 w 1051562"/>
                <a:gd name="connsiteY322" fmla="*/ 490246 h 642333"/>
                <a:gd name="connsiteX323" fmla="*/ 186328 w 1051562"/>
                <a:gd name="connsiteY323" fmla="*/ 490246 h 642333"/>
                <a:gd name="connsiteX324" fmla="*/ 186328 w 1051562"/>
                <a:gd name="connsiteY324" fmla="*/ 458284 h 642333"/>
                <a:gd name="connsiteX325" fmla="*/ 244605 w 1051562"/>
                <a:gd name="connsiteY325" fmla="*/ 458284 h 642333"/>
                <a:gd name="connsiteX326" fmla="*/ 244605 w 1051562"/>
                <a:gd name="connsiteY326" fmla="*/ 490246 h 642333"/>
                <a:gd name="connsiteX327" fmla="*/ 165349 w 1051562"/>
                <a:gd name="connsiteY327" fmla="*/ 490246 h 642333"/>
                <a:gd name="connsiteX328" fmla="*/ 144318 w 1051562"/>
                <a:gd name="connsiteY328" fmla="*/ 490246 h 642333"/>
                <a:gd name="connsiteX329" fmla="*/ 144318 w 1051562"/>
                <a:gd name="connsiteY329" fmla="*/ 458284 h 642333"/>
                <a:gd name="connsiteX330" fmla="*/ 165349 w 1051562"/>
                <a:gd name="connsiteY330" fmla="*/ 458284 h 642333"/>
                <a:gd name="connsiteX331" fmla="*/ 165349 w 1051562"/>
                <a:gd name="connsiteY331" fmla="*/ 490246 h 642333"/>
                <a:gd name="connsiteX332" fmla="*/ 293039 w 1051562"/>
                <a:gd name="connsiteY332" fmla="*/ 397729 h 642333"/>
                <a:gd name="connsiteX333" fmla="*/ 293039 w 1051562"/>
                <a:gd name="connsiteY333" fmla="*/ 428965 h 642333"/>
                <a:gd name="connsiteX334" fmla="*/ 259213 w 1051562"/>
                <a:gd name="connsiteY334" fmla="*/ 428965 h 642333"/>
                <a:gd name="connsiteX335" fmla="*/ 86819 w 1051562"/>
                <a:gd name="connsiteY335" fmla="*/ 428965 h 642333"/>
                <a:gd name="connsiteX336" fmla="*/ 86819 w 1051562"/>
                <a:gd name="connsiteY336" fmla="*/ 397729 h 642333"/>
                <a:gd name="connsiteX337" fmla="*/ 293039 w 1051562"/>
                <a:gd name="connsiteY337" fmla="*/ 397729 h 642333"/>
                <a:gd name="connsiteX338" fmla="*/ 86819 w 1051562"/>
                <a:gd name="connsiteY338" fmla="*/ 580379 h 642333"/>
                <a:gd name="connsiteX339" fmla="*/ 161309 w 1051562"/>
                <a:gd name="connsiteY339" fmla="*/ 580379 h 642333"/>
                <a:gd name="connsiteX340" fmla="*/ 161309 w 1051562"/>
                <a:gd name="connsiteY340" fmla="*/ 596749 h 642333"/>
                <a:gd name="connsiteX341" fmla="*/ 171773 w 1051562"/>
                <a:gd name="connsiteY341" fmla="*/ 607212 h 642333"/>
                <a:gd name="connsiteX342" fmla="*/ 182237 w 1051562"/>
                <a:gd name="connsiteY342" fmla="*/ 596749 h 642333"/>
                <a:gd name="connsiteX343" fmla="*/ 182237 w 1051562"/>
                <a:gd name="connsiteY343" fmla="*/ 580379 h 642333"/>
                <a:gd name="connsiteX344" fmla="*/ 203268 w 1051562"/>
                <a:gd name="connsiteY344" fmla="*/ 580379 h 642333"/>
                <a:gd name="connsiteX345" fmla="*/ 203268 w 1051562"/>
                <a:gd name="connsiteY345" fmla="*/ 612030 h 642333"/>
                <a:gd name="connsiteX346" fmla="*/ 86819 w 1051562"/>
                <a:gd name="connsiteY346" fmla="*/ 612030 h 642333"/>
                <a:gd name="connsiteX347" fmla="*/ 86819 w 1051562"/>
                <a:gd name="connsiteY347" fmla="*/ 580379 h 64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Lst>
              <a:rect l="l" t="t" r="r" b="b"/>
              <a:pathLst>
                <a:path w="1051562" h="642333">
                  <a:moveTo>
                    <a:pt x="1037266" y="612030"/>
                  </a:moveTo>
                  <a:lnTo>
                    <a:pt x="1000850" y="612030"/>
                  </a:lnTo>
                  <a:lnTo>
                    <a:pt x="1000850" y="504905"/>
                  </a:lnTo>
                  <a:cubicBezTo>
                    <a:pt x="1000850" y="496824"/>
                    <a:pt x="994271" y="490246"/>
                    <a:pt x="986190" y="490246"/>
                  </a:cubicBezTo>
                  <a:lnTo>
                    <a:pt x="952364" y="490246"/>
                  </a:lnTo>
                  <a:lnTo>
                    <a:pt x="952364" y="458284"/>
                  </a:lnTo>
                  <a:lnTo>
                    <a:pt x="986190" y="458284"/>
                  </a:lnTo>
                  <a:cubicBezTo>
                    <a:pt x="994271" y="458284"/>
                    <a:pt x="1000850" y="451706"/>
                    <a:pt x="1000850" y="443625"/>
                  </a:cubicBezTo>
                  <a:lnTo>
                    <a:pt x="1000850" y="383069"/>
                  </a:lnTo>
                  <a:lnTo>
                    <a:pt x="1000850" y="136496"/>
                  </a:lnTo>
                  <a:cubicBezTo>
                    <a:pt x="1000850" y="128415"/>
                    <a:pt x="994271" y="121836"/>
                    <a:pt x="986190" y="121836"/>
                  </a:cubicBezTo>
                  <a:lnTo>
                    <a:pt x="952364" y="121836"/>
                  </a:lnTo>
                  <a:lnTo>
                    <a:pt x="952364" y="89875"/>
                  </a:lnTo>
                  <a:lnTo>
                    <a:pt x="986190" y="89875"/>
                  </a:lnTo>
                  <a:cubicBezTo>
                    <a:pt x="994271" y="89875"/>
                    <a:pt x="1000850" y="83296"/>
                    <a:pt x="1000850" y="75215"/>
                  </a:cubicBezTo>
                  <a:lnTo>
                    <a:pt x="1000850" y="14660"/>
                  </a:lnTo>
                  <a:cubicBezTo>
                    <a:pt x="1000850" y="6579"/>
                    <a:pt x="994271" y="0"/>
                    <a:pt x="986190" y="0"/>
                  </a:cubicBezTo>
                  <a:lnTo>
                    <a:pt x="750650" y="0"/>
                  </a:lnTo>
                  <a:cubicBezTo>
                    <a:pt x="742569" y="0"/>
                    <a:pt x="735991" y="6579"/>
                    <a:pt x="735991" y="14660"/>
                  </a:cubicBezTo>
                  <a:lnTo>
                    <a:pt x="735991" y="60555"/>
                  </a:lnTo>
                  <a:lnTo>
                    <a:pt x="722574" y="60555"/>
                  </a:lnTo>
                  <a:cubicBezTo>
                    <a:pt x="714493" y="60555"/>
                    <a:pt x="707914" y="67134"/>
                    <a:pt x="707914" y="75215"/>
                  </a:cubicBezTo>
                  <a:lnTo>
                    <a:pt x="707914" y="136496"/>
                  </a:lnTo>
                  <a:cubicBezTo>
                    <a:pt x="707914" y="144577"/>
                    <a:pt x="714493" y="151156"/>
                    <a:pt x="722574" y="151156"/>
                  </a:cubicBezTo>
                  <a:lnTo>
                    <a:pt x="735991" y="151156"/>
                  </a:lnTo>
                  <a:lnTo>
                    <a:pt x="735991" y="383069"/>
                  </a:lnTo>
                  <a:lnTo>
                    <a:pt x="735991" y="428965"/>
                  </a:lnTo>
                  <a:lnTo>
                    <a:pt x="722574" y="428965"/>
                  </a:lnTo>
                  <a:cubicBezTo>
                    <a:pt x="714493" y="428965"/>
                    <a:pt x="707914" y="435544"/>
                    <a:pt x="707914" y="443625"/>
                  </a:cubicBezTo>
                  <a:lnTo>
                    <a:pt x="707914" y="504905"/>
                  </a:lnTo>
                  <a:cubicBezTo>
                    <a:pt x="707914" y="512986"/>
                    <a:pt x="714493" y="519565"/>
                    <a:pt x="722574" y="519565"/>
                  </a:cubicBezTo>
                  <a:lnTo>
                    <a:pt x="735991" y="519565"/>
                  </a:lnTo>
                  <a:lnTo>
                    <a:pt x="735991" y="612030"/>
                  </a:lnTo>
                  <a:lnTo>
                    <a:pt x="645649" y="612030"/>
                  </a:lnTo>
                  <a:lnTo>
                    <a:pt x="645649" y="519565"/>
                  </a:lnTo>
                  <a:lnTo>
                    <a:pt x="659066" y="519565"/>
                  </a:lnTo>
                  <a:cubicBezTo>
                    <a:pt x="667147" y="519565"/>
                    <a:pt x="673726" y="512986"/>
                    <a:pt x="673726" y="504905"/>
                  </a:cubicBezTo>
                  <a:lnTo>
                    <a:pt x="673726" y="443625"/>
                  </a:lnTo>
                  <a:cubicBezTo>
                    <a:pt x="673726" y="435544"/>
                    <a:pt x="667147" y="428965"/>
                    <a:pt x="659066" y="428965"/>
                  </a:cubicBezTo>
                  <a:lnTo>
                    <a:pt x="645649" y="428965"/>
                  </a:lnTo>
                  <a:lnTo>
                    <a:pt x="645649" y="383069"/>
                  </a:lnTo>
                  <a:lnTo>
                    <a:pt x="645649" y="335205"/>
                  </a:lnTo>
                  <a:lnTo>
                    <a:pt x="659066" y="335205"/>
                  </a:lnTo>
                  <a:cubicBezTo>
                    <a:pt x="667147" y="335205"/>
                    <a:pt x="673726" y="328626"/>
                    <a:pt x="673726" y="320545"/>
                  </a:cubicBezTo>
                  <a:lnTo>
                    <a:pt x="673726" y="259264"/>
                  </a:lnTo>
                  <a:cubicBezTo>
                    <a:pt x="673726" y="251184"/>
                    <a:pt x="667147" y="244605"/>
                    <a:pt x="659066" y="244605"/>
                  </a:cubicBezTo>
                  <a:lnTo>
                    <a:pt x="645649" y="244605"/>
                  </a:lnTo>
                  <a:lnTo>
                    <a:pt x="645649" y="198709"/>
                  </a:lnTo>
                  <a:cubicBezTo>
                    <a:pt x="645649" y="190628"/>
                    <a:pt x="639070" y="184049"/>
                    <a:pt x="630990" y="184049"/>
                  </a:cubicBezTo>
                  <a:lnTo>
                    <a:pt x="395450" y="184049"/>
                  </a:lnTo>
                  <a:cubicBezTo>
                    <a:pt x="387369" y="184049"/>
                    <a:pt x="380790" y="190628"/>
                    <a:pt x="380790" y="198709"/>
                  </a:cubicBezTo>
                  <a:lnTo>
                    <a:pt x="380790" y="259264"/>
                  </a:lnTo>
                  <a:cubicBezTo>
                    <a:pt x="380790" y="267345"/>
                    <a:pt x="387369" y="273924"/>
                    <a:pt x="395450" y="273924"/>
                  </a:cubicBezTo>
                  <a:lnTo>
                    <a:pt x="429276" y="273924"/>
                  </a:lnTo>
                  <a:lnTo>
                    <a:pt x="429276" y="305885"/>
                  </a:lnTo>
                  <a:lnTo>
                    <a:pt x="395450" y="305885"/>
                  </a:lnTo>
                  <a:cubicBezTo>
                    <a:pt x="387369" y="305885"/>
                    <a:pt x="380790" y="312464"/>
                    <a:pt x="380790" y="320545"/>
                  </a:cubicBezTo>
                  <a:lnTo>
                    <a:pt x="380790" y="383017"/>
                  </a:lnTo>
                  <a:lnTo>
                    <a:pt x="380790" y="443314"/>
                  </a:lnTo>
                  <a:lnTo>
                    <a:pt x="380790" y="443573"/>
                  </a:lnTo>
                  <a:cubicBezTo>
                    <a:pt x="380790" y="451654"/>
                    <a:pt x="387369" y="458232"/>
                    <a:pt x="395450" y="458232"/>
                  </a:cubicBezTo>
                  <a:lnTo>
                    <a:pt x="429276" y="458232"/>
                  </a:lnTo>
                  <a:lnTo>
                    <a:pt x="429276" y="490194"/>
                  </a:lnTo>
                  <a:lnTo>
                    <a:pt x="395450" y="490194"/>
                  </a:lnTo>
                  <a:cubicBezTo>
                    <a:pt x="387369" y="490194"/>
                    <a:pt x="380790" y="496772"/>
                    <a:pt x="380790" y="504853"/>
                  </a:cubicBezTo>
                  <a:lnTo>
                    <a:pt x="380790" y="611978"/>
                  </a:lnTo>
                  <a:lnTo>
                    <a:pt x="322358" y="611978"/>
                  </a:lnTo>
                  <a:lnTo>
                    <a:pt x="322358" y="504853"/>
                  </a:lnTo>
                  <a:cubicBezTo>
                    <a:pt x="322358" y="496772"/>
                    <a:pt x="315780" y="490194"/>
                    <a:pt x="307699" y="490194"/>
                  </a:cubicBezTo>
                  <a:lnTo>
                    <a:pt x="273873" y="490194"/>
                  </a:lnTo>
                  <a:lnTo>
                    <a:pt x="273873" y="458232"/>
                  </a:lnTo>
                  <a:lnTo>
                    <a:pt x="307699" y="458232"/>
                  </a:lnTo>
                  <a:cubicBezTo>
                    <a:pt x="315780" y="458232"/>
                    <a:pt x="322358" y="451654"/>
                    <a:pt x="322358" y="443573"/>
                  </a:cubicBezTo>
                  <a:lnTo>
                    <a:pt x="322358" y="383017"/>
                  </a:lnTo>
                  <a:cubicBezTo>
                    <a:pt x="322358" y="374936"/>
                    <a:pt x="315780" y="368358"/>
                    <a:pt x="307699" y="368358"/>
                  </a:cubicBezTo>
                  <a:lnTo>
                    <a:pt x="72159" y="368358"/>
                  </a:lnTo>
                  <a:cubicBezTo>
                    <a:pt x="64078" y="368358"/>
                    <a:pt x="57499" y="374936"/>
                    <a:pt x="57499" y="383017"/>
                  </a:cubicBezTo>
                  <a:lnTo>
                    <a:pt x="57499" y="428913"/>
                  </a:lnTo>
                  <a:lnTo>
                    <a:pt x="44083" y="428913"/>
                  </a:lnTo>
                  <a:cubicBezTo>
                    <a:pt x="36002" y="428913"/>
                    <a:pt x="29423" y="435492"/>
                    <a:pt x="29423" y="443573"/>
                  </a:cubicBezTo>
                  <a:lnTo>
                    <a:pt x="29423" y="504853"/>
                  </a:lnTo>
                  <a:cubicBezTo>
                    <a:pt x="29423" y="512934"/>
                    <a:pt x="36002" y="519513"/>
                    <a:pt x="44083" y="519513"/>
                  </a:cubicBezTo>
                  <a:lnTo>
                    <a:pt x="57499" y="519513"/>
                  </a:lnTo>
                  <a:lnTo>
                    <a:pt x="57499" y="611978"/>
                  </a:lnTo>
                  <a:lnTo>
                    <a:pt x="15696" y="611978"/>
                  </a:lnTo>
                  <a:cubicBezTo>
                    <a:pt x="7045" y="611978"/>
                    <a:pt x="0" y="619023"/>
                    <a:pt x="0" y="627674"/>
                  </a:cubicBezTo>
                  <a:cubicBezTo>
                    <a:pt x="0" y="636325"/>
                    <a:pt x="7045" y="643370"/>
                    <a:pt x="15696" y="643370"/>
                  </a:cubicBezTo>
                  <a:lnTo>
                    <a:pt x="1037214" y="643370"/>
                  </a:lnTo>
                  <a:cubicBezTo>
                    <a:pt x="1045865" y="643370"/>
                    <a:pt x="1052910" y="636325"/>
                    <a:pt x="1052910" y="627674"/>
                  </a:cubicBezTo>
                  <a:cubicBezTo>
                    <a:pt x="1052962" y="619023"/>
                    <a:pt x="1045917" y="612030"/>
                    <a:pt x="1037266" y="612030"/>
                  </a:cubicBezTo>
                  <a:close/>
                  <a:moveTo>
                    <a:pt x="925220" y="580379"/>
                  </a:moveTo>
                  <a:lnTo>
                    <a:pt x="925220" y="612030"/>
                  </a:lnTo>
                  <a:lnTo>
                    <a:pt x="904189" y="612030"/>
                  </a:lnTo>
                  <a:lnTo>
                    <a:pt x="904189" y="580379"/>
                  </a:lnTo>
                  <a:lnTo>
                    <a:pt x="925220" y="580379"/>
                  </a:lnTo>
                  <a:close/>
                  <a:moveTo>
                    <a:pt x="946199" y="612030"/>
                  </a:moveTo>
                  <a:lnTo>
                    <a:pt x="946199" y="580379"/>
                  </a:lnTo>
                  <a:lnTo>
                    <a:pt x="971582" y="580379"/>
                  </a:lnTo>
                  <a:lnTo>
                    <a:pt x="971582" y="612030"/>
                  </a:lnTo>
                  <a:lnTo>
                    <a:pt x="946199" y="612030"/>
                  </a:lnTo>
                  <a:close/>
                  <a:moveTo>
                    <a:pt x="971530" y="519565"/>
                  </a:moveTo>
                  <a:lnTo>
                    <a:pt x="971530" y="551060"/>
                  </a:lnTo>
                  <a:lnTo>
                    <a:pt x="765310" y="551060"/>
                  </a:lnTo>
                  <a:lnTo>
                    <a:pt x="765310" y="519565"/>
                  </a:lnTo>
                  <a:lnTo>
                    <a:pt x="937704" y="519565"/>
                  </a:lnTo>
                  <a:lnTo>
                    <a:pt x="971530" y="519565"/>
                  </a:lnTo>
                  <a:close/>
                  <a:moveTo>
                    <a:pt x="737234" y="89875"/>
                  </a:moveTo>
                  <a:lnTo>
                    <a:pt x="750650" y="89875"/>
                  </a:lnTo>
                  <a:lnTo>
                    <a:pt x="763497" y="89875"/>
                  </a:lnTo>
                  <a:lnTo>
                    <a:pt x="763497" y="105467"/>
                  </a:lnTo>
                  <a:cubicBezTo>
                    <a:pt x="763497" y="111269"/>
                    <a:pt x="768159" y="115931"/>
                    <a:pt x="773961" y="115931"/>
                  </a:cubicBezTo>
                  <a:cubicBezTo>
                    <a:pt x="779762" y="115931"/>
                    <a:pt x="784425" y="111269"/>
                    <a:pt x="784425" y="105467"/>
                  </a:cubicBezTo>
                  <a:lnTo>
                    <a:pt x="784425" y="89875"/>
                  </a:lnTo>
                  <a:lnTo>
                    <a:pt x="805456" y="89875"/>
                  </a:lnTo>
                  <a:lnTo>
                    <a:pt x="805456" y="121836"/>
                  </a:lnTo>
                  <a:lnTo>
                    <a:pt x="750702" y="121836"/>
                  </a:lnTo>
                  <a:lnTo>
                    <a:pt x="737286" y="121836"/>
                  </a:lnTo>
                  <a:lnTo>
                    <a:pt x="737286" y="89875"/>
                  </a:lnTo>
                  <a:close/>
                  <a:moveTo>
                    <a:pt x="923096" y="121836"/>
                  </a:moveTo>
                  <a:lnTo>
                    <a:pt x="868342" y="121836"/>
                  </a:lnTo>
                  <a:lnTo>
                    <a:pt x="868342" y="89875"/>
                  </a:lnTo>
                  <a:lnTo>
                    <a:pt x="923096" y="89875"/>
                  </a:lnTo>
                  <a:lnTo>
                    <a:pt x="923096" y="121836"/>
                  </a:lnTo>
                  <a:close/>
                  <a:moveTo>
                    <a:pt x="847414" y="121836"/>
                  </a:moveTo>
                  <a:lnTo>
                    <a:pt x="826383" y="121836"/>
                  </a:lnTo>
                  <a:lnTo>
                    <a:pt x="826383" y="89875"/>
                  </a:lnTo>
                  <a:lnTo>
                    <a:pt x="847414" y="89875"/>
                  </a:lnTo>
                  <a:lnTo>
                    <a:pt x="847414" y="121836"/>
                  </a:lnTo>
                  <a:close/>
                  <a:moveTo>
                    <a:pt x="925220" y="428965"/>
                  </a:moveTo>
                  <a:lnTo>
                    <a:pt x="904189" y="428965"/>
                  </a:lnTo>
                  <a:lnTo>
                    <a:pt x="904189" y="397729"/>
                  </a:lnTo>
                  <a:lnTo>
                    <a:pt x="925220" y="397729"/>
                  </a:lnTo>
                  <a:lnTo>
                    <a:pt x="925220" y="428965"/>
                  </a:lnTo>
                  <a:close/>
                  <a:moveTo>
                    <a:pt x="765310" y="397729"/>
                  </a:moveTo>
                  <a:lnTo>
                    <a:pt x="841302" y="397729"/>
                  </a:lnTo>
                  <a:lnTo>
                    <a:pt x="841302" y="414098"/>
                  </a:lnTo>
                  <a:cubicBezTo>
                    <a:pt x="841302" y="419900"/>
                    <a:pt x="845964" y="424562"/>
                    <a:pt x="851766" y="424562"/>
                  </a:cubicBezTo>
                  <a:cubicBezTo>
                    <a:pt x="857568" y="424562"/>
                    <a:pt x="862230" y="419900"/>
                    <a:pt x="862230" y="414098"/>
                  </a:cubicBezTo>
                  <a:lnTo>
                    <a:pt x="862230" y="397729"/>
                  </a:lnTo>
                  <a:lnTo>
                    <a:pt x="883261" y="397729"/>
                  </a:lnTo>
                  <a:lnTo>
                    <a:pt x="883261" y="428965"/>
                  </a:lnTo>
                  <a:lnTo>
                    <a:pt x="765310" y="428965"/>
                  </a:lnTo>
                  <a:lnTo>
                    <a:pt x="765310" y="397729"/>
                  </a:lnTo>
                  <a:close/>
                  <a:moveTo>
                    <a:pt x="765310" y="368409"/>
                  </a:moveTo>
                  <a:lnTo>
                    <a:pt x="765310" y="335827"/>
                  </a:lnTo>
                  <a:lnTo>
                    <a:pt x="971530" y="335827"/>
                  </a:lnTo>
                  <a:lnTo>
                    <a:pt x="971530" y="368409"/>
                  </a:lnTo>
                  <a:lnTo>
                    <a:pt x="765310" y="368409"/>
                  </a:lnTo>
                  <a:close/>
                  <a:moveTo>
                    <a:pt x="851818" y="300757"/>
                  </a:moveTo>
                  <a:cubicBezTo>
                    <a:pt x="857620" y="300757"/>
                    <a:pt x="862282" y="296095"/>
                    <a:pt x="862282" y="290293"/>
                  </a:cubicBezTo>
                  <a:lnTo>
                    <a:pt x="862282" y="273924"/>
                  </a:lnTo>
                  <a:lnTo>
                    <a:pt x="883313" y="273924"/>
                  </a:lnTo>
                  <a:lnTo>
                    <a:pt x="883313" y="306507"/>
                  </a:lnTo>
                  <a:lnTo>
                    <a:pt x="765362" y="306507"/>
                  </a:lnTo>
                  <a:lnTo>
                    <a:pt x="765362" y="273924"/>
                  </a:lnTo>
                  <a:lnTo>
                    <a:pt x="841354" y="273924"/>
                  </a:lnTo>
                  <a:lnTo>
                    <a:pt x="841354" y="290293"/>
                  </a:lnTo>
                  <a:cubicBezTo>
                    <a:pt x="841354" y="296095"/>
                    <a:pt x="846016" y="300757"/>
                    <a:pt x="851818" y="300757"/>
                  </a:cubicBezTo>
                  <a:close/>
                  <a:moveTo>
                    <a:pt x="971530" y="273976"/>
                  </a:moveTo>
                  <a:lnTo>
                    <a:pt x="971530" y="306559"/>
                  </a:lnTo>
                  <a:lnTo>
                    <a:pt x="946148" y="306559"/>
                  </a:lnTo>
                  <a:lnTo>
                    <a:pt x="946148" y="273976"/>
                  </a:lnTo>
                  <a:lnTo>
                    <a:pt x="971530" y="273976"/>
                  </a:lnTo>
                  <a:close/>
                  <a:moveTo>
                    <a:pt x="925220" y="306507"/>
                  </a:moveTo>
                  <a:lnTo>
                    <a:pt x="904189" y="306507"/>
                  </a:lnTo>
                  <a:lnTo>
                    <a:pt x="904189" y="273924"/>
                  </a:lnTo>
                  <a:lnTo>
                    <a:pt x="925220" y="273924"/>
                  </a:lnTo>
                  <a:lnTo>
                    <a:pt x="925220" y="306507"/>
                  </a:lnTo>
                  <a:close/>
                  <a:moveTo>
                    <a:pt x="971530" y="244657"/>
                  </a:moveTo>
                  <a:lnTo>
                    <a:pt x="765310" y="244657"/>
                  </a:lnTo>
                  <a:lnTo>
                    <a:pt x="765310" y="211970"/>
                  </a:lnTo>
                  <a:lnTo>
                    <a:pt x="971530" y="211970"/>
                  </a:lnTo>
                  <a:lnTo>
                    <a:pt x="971530" y="244657"/>
                  </a:lnTo>
                  <a:close/>
                  <a:moveTo>
                    <a:pt x="737234" y="458284"/>
                  </a:moveTo>
                  <a:lnTo>
                    <a:pt x="750650" y="458284"/>
                  </a:lnTo>
                  <a:lnTo>
                    <a:pt x="923045" y="458284"/>
                  </a:lnTo>
                  <a:lnTo>
                    <a:pt x="923045" y="490246"/>
                  </a:lnTo>
                  <a:lnTo>
                    <a:pt x="750650" y="490246"/>
                  </a:lnTo>
                  <a:lnTo>
                    <a:pt x="737234" y="490246"/>
                  </a:lnTo>
                  <a:lnTo>
                    <a:pt x="737234" y="458284"/>
                  </a:lnTo>
                  <a:close/>
                  <a:moveTo>
                    <a:pt x="971530" y="428965"/>
                  </a:moveTo>
                  <a:lnTo>
                    <a:pt x="946148" y="428965"/>
                  </a:lnTo>
                  <a:lnTo>
                    <a:pt x="946148" y="397729"/>
                  </a:lnTo>
                  <a:lnTo>
                    <a:pt x="971530" y="397729"/>
                  </a:lnTo>
                  <a:lnTo>
                    <a:pt x="971530" y="428965"/>
                  </a:lnTo>
                  <a:close/>
                  <a:moveTo>
                    <a:pt x="971530" y="151156"/>
                  </a:moveTo>
                  <a:lnTo>
                    <a:pt x="971530" y="182651"/>
                  </a:lnTo>
                  <a:lnTo>
                    <a:pt x="765310" y="182651"/>
                  </a:lnTo>
                  <a:lnTo>
                    <a:pt x="765310" y="151156"/>
                  </a:lnTo>
                  <a:lnTo>
                    <a:pt x="937704" y="151156"/>
                  </a:lnTo>
                  <a:lnTo>
                    <a:pt x="971530" y="151156"/>
                  </a:lnTo>
                  <a:close/>
                  <a:moveTo>
                    <a:pt x="971530" y="29319"/>
                  </a:moveTo>
                  <a:lnTo>
                    <a:pt x="971530" y="60555"/>
                  </a:lnTo>
                  <a:lnTo>
                    <a:pt x="937704" y="60555"/>
                  </a:lnTo>
                  <a:lnTo>
                    <a:pt x="765310" y="60555"/>
                  </a:lnTo>
                  <a:lnTo>
                    <a:pt x="765310" y="29319"/>
                  </a:lnTo>
                  <a:lnTo>
                    <a:pt x="971530" y="29319"/>
                  </a:lnTo>
                  <a:close/>
                  <a:moveTo>
                    <a:pt x="765310" y="580379"/>
                  </a:moveTo>
                  <a:lnTo>
                    <a:pt x="841302" y="580379"/>
                  </a:lnTo>
                  <a:lnTo>
                    <a:pt x="841302" y="596749"/>
                  </a:lnTo>
                  <a:cubicBezTo>
                    <a:pt x="841302" y="602550"/>
                    <a:pt x="845964" y="607212"/>
                    <a:pt x="851766" y="607212"/>
                  </a:cubicBezTo>
                  <a:cubicBezTo>
                    <a:pt x="857568" y="607212"/>
                    <a:pt x="862230" y="602550"/>
                    <a:pt x="862230" y="596749"/>
                  </a:cubicBezTo>
                  <a:lnTo>
                    <a:pt x="862230" y="580379"/>
                  </a:lnTo>
                  <a:lnTo>
                    <a:pt x="883261" y="580379"/>
                  </a:lnTo>
                  <a:lnTo>
                    <a:pt x="883261" y="612030"/>
                  </a:lnTo>
                  <a:lnTo>
                    <a:pt x="765310" y="612030"/>
                  </a:lnTo>
                  <a:lnTo>
                    <a:pt x="765310" y="580379"/>
                  </a:lnTo>
                  <a:close/>
                  <a:moveTo>
                    <a:pt x="458595" y="490246"/>
                  </a:moveTo>
                  <a:lnTo>
                    <a:pt x="458595" y="458284"/>
                  </a:lnTo>
                  <a:lnTo>
                    <a:pt x="630990" y="458284"/>
                  </a:lnTo>
                  <a:lnTo>
                    <a:pt x="644406" y="458284"/>
                  </a:lnTo>
                  <a:lnTo>
                    <a:pt x="644406" y="490246"/>
                  </a:lnTo>
                  <a:lnTo>
                    <a:pt x="630990" y="490246"/>
                  </a:lnTo>
                  <a:lnTo>
                    <a:pt x="458595" y="490246"/>
                  </a:lnTo>
                  <a:close/>
                  <a:moveTo>
                    <a:pt x="458595" y="273976"/>
                  </a:moveTo>
                  <a:lnTo>
                    <a:pt x="480921" y="273976"/>
                  </a:lnTo>
                  <a:lnTo>
                    <a:pt x="480921" y="290345"/>
                  </a:lnTo>
                  <a:cubicBezTo>
                    <a:pt x="480921" y="296147"/>
                    <a:pt x="485584" y="300809"/>
                    <a:pt x="491385" y="300809"/>
                  </a:cubicBezTo>
                  <a:cubicBezTo>
                    <a:pt x="497187" y="300809"/>
                    <a:pt x="501849" y="296147"/>
                    <a:pt x="501849" y="290345"/>
                  </a:cubicBezTo>
                  <a:lnTo>
                    <a:pt x="501849" y="273976"/>
                  </a:lnTo>
                  <a:lnTo>
                    <a:pt x="522881" y="273976"/>
                  </a:lnTo>
                  <a:lnTo>
                    <a:pt x="522881" y="305937"/>
                  </a:lnTo>
                  <a:lnTo>
                    <a:pt x="458595" y="305937"/>
                  </a:lnTo>
                  <a:lnTo>
                    <a:pt x="458595" y="273976"/>
                  </a:lnTo>
                  <a:close/>
                  <a:moveTo>
                    <a:pt x="543808" y="273976"/>
                  </a:moveTo>
                  <a:lnTo>
                    <a:pt x="564840" y="273976"/>
                  </a:lnTo>
                  <a:lnTo>
                    <a:pt x="564840" y="305937"/>
                  </a:lnTo>
                  <a:lnTo>
                    <a:pt x="543808" y="305937"/>
                  </a:lnTo>
                  <a:lnTo>
                    <a:pt x="543808" y="273976"/>
                  </a:lnTo>
                  <a:close/>
                  <a:moveTo>
                    <a:pt x="585768" y="273976"/>
                  </a:moveTo>
                  <a:lnTo>
                    <a:pt x="630990" y="273976"/>
                  </a:lnTo>
                  <a:lnTo>
                    <a:pt x="644406" y="273976"/>
                  </a:lnTo>
                  <a:lnTo>
                    <a:pt x="644406" y="305937"/>
                  </a:lnTo>
                  <a:lnTo>
                    <a:pt x="630990" y="305937"/>
                  </a:lnTo>
                  <a:lnTo>
                    <a:pt x="585768" y="305937"/>
                  </a:lnTo>
                  <a:lnTo>
                    <a:pt x="585768" y="273976"/>
                  </a:lnTo>
                  <a:close/>
                  <a:moveTo>
                    <a:pt x="501591" y="422852"/>
                  </a:moveTo>
                  <a:cubicBezTo>
                    <a:pt x="507392" y="422852"/>
                    <a:pt x="512054" y="418190"/>
                    <a:pt x="512054" y="412389"/>
                  </a:cubicBezTo>
                  <a:lnTo>
                    <a:pt x="512054" y="397729"/>
                  </a:lnTo>
                  <a:lnTo>
                    <a:pt x="533086" y="397729"/>
                  </a:lnTo>
                  <a:lnTo>
                    <a:pt x="533086" y="428706"/>
                  </a:lnTo>
                  <a:lnTo>
                    <a:pt x="410162" y="428706"/>
                  </a:lnTo>
                  <a:lnTo>
                    <a:pt x="410162" y="397729"/>
                  </a:lnTo>
                  <a:lnTo>
                    <a:pt x="491127" y="397729"/>
                  </a:lnTo>
                  <a:lnTo>
                    <a:pt x="491127" y="412389"/>
                  </a:lnTo>
                  <a:cubicBezTo>
                    <a:pt x="491127" y="418138"/>
                    <a:pt x="495789" y="422852"/>
                    <a:pt x="501591" y="422852"/>
                  </a:cubicBezTo>
                  <a:close/>
                  <a:moveTo>
                    <a:pt x="574992" y="428706"/>
                  </a:moveTo>
                  <a:lnTo>
                    <a:pt x="553962" y="428706"/>
                  </a:lnTo>
                  <a:lnTo>
                    <a:pt x="553962" y="397729"/>
                  </a:lnTo>
                  <a:lnTo>
                    <a:pt x="574992" y="397729"/>
                  </a:lnTo>
                  <a:lnTo>
                    <a:pt x="574992" y="428706"/>
                  </a:lnTo>
                  <a:close/>
                  <a:moveTo>
                    <a:pt x="595972" y="397729"/>
                  </a:moveTo>
                  <a:lnTo>
                    <a:pt x="616382" y="397729"/>
                  </a:lnTo>
                  <a:lnTo>
                    <a:pt x="616382" y="428706"/>
                  </a:lnTo>
                  <a:lnTo>
                    <a:pt x="595972" y="428706"/>
                  </a:lnTo>
                  <a:lnTo>
                    <a:pt x="595972" y="397729"/>
                  </a:lnTo>
                  <a:close/>
                  <a:moveTo>
                    <a:pt x="574992" y="519565"/>
                  </a:moveTo>
                  <a:lnTo>
                    <a:pt x="574992" y="551060"/>
                  </a:lnTo>
                  <a:lnTo>
                    <a:pt x="553962" y="551060"/>
                  </a:lnTo>
                  <a:lnTo>
                    <a:pt x="553962" y="519565"/>
                  </a:lnTo>
                  <a:lnTo>
                    <a:pt x="574992" y="519565"/>
                  </a:lnTo>
                  <a:close/>
                  <a:moveTo>
                    <a:pt x="595972" y="519565"/>
                  </a:moveTo>
                  <a:lnTo>
                    <a:pt x="616382" y="519565"/>
                  </a:lnTo>
                  <a:lnTo>
                    <a:pt x="616382" y="551060"/>
                  </a:lnTo>
                  <a:lnTo>
                    <a:pt x="595972" y="551060"/>
                  </a:lnTo>
                  <a:lnTo>
                    <a:pt x="595972" y="519565"/>
                  </a:lnTo>
                  <a:close/>
                  <a:moveTo>
                    <a:pt x="410110" y="244657"/>
                  </a:moveTo>
                  <a:lnTo>
                    <a:pt x="410110" y="213421"/>
                  </a:lnTo>
                  <a:lnTo>
                    <a:pt x="616330" y="213421"/>
                  </a:lnTo>
                  <a:lnTo>
                    <a:pt x="616330" y="244657"/>
                  </a:lnTo>
                  <a:lnTo>
                    <a:pt x="443936" y="244657"/>
                  </a:lnTo>
                  <a:lnTo>
                    <a:pt x="410110" y="244657"/>
                  </a:lnTo>
                  <a:close/>
                  <a:moveTo>
                    <a:pt x="443936" y="335205"/>
                  </a:moveTo>
                  <a:lnTo>
                    <a:pt x="616330" y="335205"/>
                  </a:lnTo>
                  <a:lnTo>
                    <a:pt x="616330" y="366700"/>
                  </a:lnTo>
                  <a:lnTo>
                    <a:pt x="410110" y="366700"/>
                  </a:lnTo>
                  <a:lnTo>
                    <a:pt x="410110" y="335205"/>
                  </a:lnTo>
                  <a:lnTo>
                    <a:pt x="443936" y="335205"/>
                  </a:lnTo>
                  <a:close/>
                  <a:moveTo>
                    <a:pt x="443936" y="519565"/>
                  </a:moveTo>
                  <a:lnTo>
                    <a:pt x="491075" y="519565"/>
                  </a:lnTo>
                  <a:lnTo>
                    <a:pt x="491075" y="536400"/>
                  </a:lnTo>
                  <a:cubicBezTo>
                    <a:pt x="491075" y="542202"/>
                    <a:pt x="495737" y="546864"/>
                    <a:pt x="501539" y="546864"/>
                  </a:cubicBezTo>
                  <a:cubicBezTo>
                    <a:pt x="507341" y="546864"/>
                    <a:pt x="512002" y="542202"/>
                    <a:pt x="512002" y="536400"/>
                  </a:cubicBezTo>
                  <a:lnTo>
                    <a:pt x="512002" y="519565"/>
                  </a:lnTo>
                  <a:lnTo>
                    <a:pt x="533034" y="519565"/>
                  </a:lnTo>
                  <a:lnTo>
                    <a:pt x="533034" y="551060"/>
                  </a:lnTo>
                  <a:lnTo>
                    <a:pt x="410110" y="551060"/>
                  </a:lnTo>
                  <a:lnTo>
                    <a:pt x="410110" y="519565"/>
                  </a:lnTo>
                  <a:lnTo>
                    <a:pt x="443936" y="519565"/>
                  </a:lnTo>
                  <a:close/>
                  <a:moveTo>
                    <a:pt x="410110" y="580379"/>
                  </a:moveTo>
                  <a:lnTo>
                    <a:pt x="616330" y="580379"/>
                  </a:lnTo>
                  <a:lnTo>
                    <a:pt x="616330" y="612030"/>
                  </a:lnTo>
                  <a:lnTo>
                    <a:pt x="410110" y="612030"/>
                  </a:lnTo>
                  <a:lnTo>
                    <a:pt x="410110" y="580379"/>
                  </a:lnTo>
                  <a:close/>
                  <a:moveTo>
                    <a:pt x="245226" y="580379"/>
                  </a:moveTo>
                  <a:lnTo>
                    <a:pt x="245226" y="612030"/>
                  </a:lnTo>
                  <a:lnTo>
                    <a:pt x="224195" y="612030"/>
                  </a:lnTo>
                  <a:lnTo>
                    <a:pt x="224195" y="580379"/>
                  </a:lnTo>
                  <a:lnTo>
                    <a:pt x="245226" y="580379"/>
                  </a:lnTo>
                  <a:close/>
                  <a:moveTo>
                    <a:pt x="266154" y="612030"/>
                  </a:moveTo>
                  <a:lnTo>
                    <a:pt x="266154" y="580379"/>
                  </a:lnTo>
                  <a:lnTo>
                    <a:pt x="293091" y="580379"/>
                  </a:lnTo>
                  <a:lnTo>
                    <a:pt x="293091" y="612030"/>
                  </a:lnTo>
                  <a:lnTo>
                    <a:pt x="266154" y="612030"/>
                  </a:lnTo>
                  <a:close/>
                  <a:moveTo>
                    <a:pt x="293039" y="519565"/>
                  </a:moveTo>
                  <a:lnTo>
                    <a:pt x="293039" y="551060"/>
                  </a:lnTo>
                  <a:lnTo>
                    <a:pt x="86819" y="551060"/>
                  </a:lnTo>
                  <a:lnTo>
                    <a:pt x="86819" y="519565"/>
                  </a:lnTo>
                  <a:lnTo>
                    <a:pt x="259213" y="519565"/>
                  </a:lnTo>
                  <a:lnTo>
                    <a:pt x="293039" y="519565"/>
                  </a:lnTo>
                  <a:close/>
                  <a:moveTo>
                    <a:pt x="58742" y="458284"/>
                  </a:moveTo>
                  <a:lnTo>
                    <a:pt x="72159" y="458284"/>
                  </a:lnTo>
                  <a:lnTo>
                    <a:pt x="81431" y="458284"/>
                  </a:lnTo>
                  <a:lnTo>
                    <a:pt x="81431" y="473876"/>
                  </a:lnTo>
                  <a:cubicBezTo>
                    <a:pt x="81431" y="479678"/>
                    <a:pt x="86093" y="484340"/>
                    <a:pt x="91895" y="484340"/>
                  </a:cubicBezTo>
                  <a:cubicBezTo>
                    <a:pt x="97697" y="484340"/>
                    <a:pt x="102359" y="479678"/>
                    <a:pt x="102359" y="473876"/>
                  </a:cubicBezTo>
                  <a:lnTo>
                    <a:pt x="102359" y="458284"/>
                  </a:lnTo>
                  <a:lnTo>
                    <a:pt x="123391" y="458284"/>
                  </a:lnTo>
                  <a:lnTo>
                    <a:pt x="123391" y="490246"/>
                  </a:lnTo>
                  <a:lnTo>
                    <a:pt x="72159" y="490246"/>
                  </a:lnTo>
                  <a:lnTo>
                    <a:pt x="58742" y="490246"/>
                  </a:lnTo>
                  <a:lnTo>
                    <a:pt x="58742" y="458284"/>
                  </a:lnTo>
                  <a:close/>
                  <a:moveTo>
                    <a:pt x="244605" y="490246"/>
                  </a:moveTo>
                  <a:lnTo>
                    <a:pt x="186328" y="490246"/>
                  </a:lnTo>
                  <a:lnTo>
                    <a:pt x="186328" y="458284"/>
                  </a:lnTo>
                  <a:lnTo>
                    <a:pt x="244605" y="458284"/>
                  </a:lnTo>
                  <a:lnTo>
                    <a:pt x="244605" y="490246"/>
                  </a:lnTo>
                  <a:close/>
                  <a:moveTo>
                    <a:pt x="165349" y="490246"/>
                  </a:moveTo>
                  <a:lnTo>
                    <a:pt x="144318" y="490246"/>
                  </a:lnTo>
                  <a:lnTo>
                    <a:pt x="144318" y="458284"/>
                  </a:lnTo>
                  <a:lnTo>
                    <a:pt x="165349" y="458284"/>
                  </a:lnTo>
                  <a:lnTo>
                    <a:pt x="165349" y="490246"/>
                  </a:lnTo>
                  <a:close/>
                  <a:moveTo>
                    <a:pt x="293039" y="397729"/>
                  </a:moveTo>
                  <a:lnTo>
                    <a:pt x="293039" y="428965"/>
                  </a:lnTo>
                  <a:lnTo>
                    <a:pt x="259213" y="428965"/>
                  </a:lnTo>
                  <a:lnTo>
                    <a:pt x="86819" y="428965"/>
                  </a:lnTo>
                  <a:lnTo>
                    <a:pt x="86819" y="397729"/>
                  </a:lnTo>
                  <a:lnTo>
                    <a:pt x="293039" y="397729"/>
                  </a:lnTo>
                  <a:close/>
                  <a:moveTo>
                    <a:pt x="86819" y="580379"/>
                  </a:moveTo>
                  <a:lnTo>
                    <a:pt x="161309" y="580379"/>
                  </a:lnTo>
                  <a:lnTo>
                    <a:pt x="161309" y="596749"/>
                  </a:lnTo>
                  <a:cubicBezTo>
                    <a:pt x="161309" y="602550"/>
                    <a:pt x="165971" y="607212"/>
                    <a:pt x="171773" y="607212"/>
                  </a:cubicBezTo>
                  <a:cubicBezTo>
                    <a:pt x="177574" y="607212"/>
                    <a:pt x="182237" y="602550"/>
                    <a:pt x="182237" y="596749"/>
                  </a:cubicBezTo>
                  <a:lnTo>
                    <a:pt x="182237" y="580379"/>
                  </a:lnTo>
                  <a:lnTo>
                    <a:pt x="203268" y="580379"/>
                  </a:lnTo>
                  <a:lnTo>
                    <a:pt x="203268" y="612030"/>
                  </a:lnTo>
                  <a:lnTo>
                    <a:pt x="86819" y="612030"/>
                  </a:lnTo>
                  <a:lnTo>
                    <a:pt x="86819" y="580379"/>
                  </a:lnTo>
                  <a:close/>
                </a:path>
              </a:pathLst>
            </a:custGeom>
            <a:solidFill>
              <a:srgbClr val="2E2E38"/>
            </a:solidFill>
            <a:ln w="517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FFFFFF"/>
                </a:solidFill>
                <a:effectLst/>
                <a:uLnTx/>
                <a:uFillTx/>
                <a:latin typeface="EYInterstate Light" panose="02000506000000020004" charset="0"/>
              </a:endParaRPr>
            </a:p>
          </p:txBody>
        </p:sp>
        <p:sp>
          <p:nvSpPr>
            <p:cNvPr id="53" name="Freeform: Shape 52">
              <a:extLst>
                <a:ext uri="{FF2B5EF4-FFF2-40B4-BE49-F238E27FC236}">
                  <a16:creationId xmlns:a16="http://schemas.microsoft.com/office/drawing/2014/main" id="{281405C0-0C56-C0A2-C991-E1F1B9BF9E04}"/>
                </a:ext>
              </a:extLst>
            </p:cNvPr>
            <p:cNvSpPr/>
            <p:nvPr/>
          </p:nvSpPr>
          <p:spPr>
            <a:xfrm>
              <a:off x="-851110" y="4363121"/>
              <a:ext cx="6861" cy="10869"/>
            </a:xfrm>
            <a:custGeom>
              <a:avLst/>
              <a:gdLst>
                <a:gd name="connsiteX0" fmla="*/ 14659 w 25900"/>
                <a:gd name="connsiteY0" fmla="*/ 42425 h 41440"/>
                <a:gd name="connsiteX1" fmla="*/ 29320 w 25900"/>
                <a:gd name="connsiteY1" fmla="*/ 27765 h 41440"/>
                <a:gd name="connsiteX2" fmla="*/ 29320 w 25900"/>
                <a:gd name="connsiteY2" fmla="*/ 14660 h 41440"/>
                <a:gd name="connsiteX3" fmla="*/ 14659 w 25900"/>
                <a:gd name="connsiteY3" fmla="*/ 0 h 41440"/>
                <a:gd name="connsiteX4" fmla="*/ 0 w 25900"/>
                <a:gd name="connsiteY4" fmla="*/ 14660 h 41440"/>
                <a:gd name="connsiteX5" fmla="*/ 0 w 25900"/>
                <a:gd name="connsiteY5" fmla="*/ 27765 h 41440"/>
                <a:gd name="connsiteX6" fmla="*/ 14659 w 25900"/>
                <a:gd name="connsiteY6" fmla="*/ 42425 h 4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900" h="41440">
                  <a:moveTo>
                    <a:pt x="14659" y="42425"/>
                  </a:moveTo>
                  <a:cubicBezTo>
                    <a:pt x="22741" y="42425"/>
                    <a:pt x="29320" y="35846"/>
                    <a:pt x="29320" y="27765"/>
                  </a:cubicBezTo>
                  <a:lnTo>
                    <a:pt x="29320" y="14660"/>
                  </a:lnTo>
                  <a:cubicBezTo>
                    <a:pt x="29320" y="6579"/>
                    <a:pt x="22741" y="0"/>
                    <a:pt x="14659" y="0"/>
                  </a:cubicBezTo>
                  <a:cubicBezTo>
                    <a:pt x="6579" y="0"/>
                    <a:pt x="0" y="6579"/>
                    <a:pt x="0" y="14660"/>
                  </a:cubicBezTo>
                  <a:lnTo>
                    <a:pt x="0" y="27765"/>
                  </a:lnTo>
                  <a:cubicBezTo>
                    <a:pt x="52" y="35846"/>
                    <a:pt x="6579" y="42425"/>
                    <a:pt x="14659" y="42425"/>
                  </a:cubicBezTo>
                  <a:close/>
                </a:path>
              </a:pathLst>
            </a:custGeom>
            <a:solidFill>
              <a:srgbClr val="2E2E38"/>
            </a:solidFill>
            <a:ln w="517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FFFFFF"/>
                </a:solidFill>
                <a:effectLst/>
                <a:uLnTx/>
                <a:uFillTx/>
                <a:latin typeface="EYInterstate Light" panose="02000506000000020004" charset="0"/>
              </a:endParaRPr>
            </a:p>
          </p:txBody>
        </p:sp>
        <p:sp>
          <p:nvSpPr>
            <p:cNvPr id="54" name="Freeform: Shape 53">
              <a:extLst>
                <a:ext uri="{FF2B5EF4-FFF2-40B4-BE49-F238E27FC236}">
                  <a16:creationId xmlns:a16="http://schemas.microsoft.com/office/drawing/2014/main" id="{FAF6F32B-EF49-D401-F760-3F0290713DF4}"/>
                </a:ext>
              </a:extLst>
            </p:cNvPr>
            <p:cNvSpPr/>
            <p:nvPr/>
          </p:nvSpPr>
          <p:spPr>
            <a:xfrm>
              <a:off x="-851110" y="4386666"/>
              <a:ext cx="6861" cy="10869"/>
            </a:xfrm>
            <a:custGeom>
              <a:avLst/>
              <a:gdLst>
                <a:gd name="connsiteX0" fmla="*/ 14659 w 25900"/>
                <a:gd name="connsiteY0" fmla="*/ 42373 h 41440"/>
                <a:gd name="connsiteX1" fmla="*/ 29320 w 25900"/>
                <a:gd name="connsiteY1" fmla="*/ 27714 h 41440"/>
                <a:gd name="connsiteX2" fmla="*/ 29320 w 25900"/>
                <a:gd name="connsiteY2" fmla="*/ 14660 h 41440"/>
                <a:gd name="connsiteX3" fmla="*/ 14659 w 25900"/>
                <a:gd name="connsiteY3" fmla="*/ 0 h 41440"/>
                <a:gd name="connsiteX4" fmla="*/ 0 w 25900"/>
                <a:gd name="connsiteY4" fmla="*/ 14660 h 41440"/>
                <a:gd name="connsiteX5" fmla="*/ 0 w 25900"/>
                <a:gd name="connsiteY5" fmla="*/ 27765 h 41440"/>
                <a:gd name="connsiteX6" fmla="*/ 14659 w 25900"/>
                <a:gd name="connsiteY6" fmla="*/ 42373 h 4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900" h="41440">
                  <a:moveTo>
                    <a:pt x="14659" y="42373"/>
                  </a:moveTo>
                  <a:cubicBezTo>
                    <a:pt x="22741" y="42373"/>
                    <a:pt x="29320" y="35795"/>
                    <a:pt x="29320" y="27714"/>
                  </a:cubicBezTo>
                  <a:lnTo>
                    <a:pt x="29320" y="14660"/>
                  </a:lnTo>
                  <a:cubicBezTo>
                    <a:pt x="29320" y="6579"/>
                    <a:pt x="22741" y="0"/>
                    <a:pt x="14659" y="0"/>
                  </a:cubicBezTo>
                  <a:cubicBezTo>
                    <a:pt x="6579" y="0"/>
                    <a:pt x="0" y="6579"/>
                    <a:pt x="0" y="14660"/>
                  </a:cubicBezTo>
                  <a:lnTo>
                    <a:pt x="0" y="27765"/>
                  </a:lnTo>
                  <a:cubicBezTo>
                    <a:pt x="52" y="35846"/>
                    <a:pt x="6579" y="42373"/>
                    <a:pt x="14659" y="42373"/>
                  </a:cubicBezTo>
                  <a:close/>
                </a:path>
              </a:pathLst>
            </a:custGeom>
            <a:solidFill>
              <a:srgbClr val="2E2E38"/>
            </a:solidFill>
            <a:ln w="517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FFFFFF"/>
                </a:solidFill>
                <a:effectLst/>
                <a:uLnTx/>
                <a:uFillTx/>
                <a:latin typeface="EYInterstate Light" panose="02000506000000020004" charset="0"/>
              </a:endParaRPr>
            </a:p>
          </p:txBody>
        </p:sp>
        <p:sp>
          <p:nvSpPr>
            <p:cNvPr id="55" name="Freeform: Shape 54">
              <a:extLst>
                <a:ext uri="{FF2B5EF4-FFF2-40B4-BE49-F238E27FC236}">
                  <a16:creationId xmlns:a16="http://schemas.microsoft.com/office/drawing/2014/main" id="{F54C210F-71B6-01E0-2105-2E3470E0FFA2}"/>
                </a:ext>
              </a:extLst>
            </p:cNvPr>
            <p:cNvSpPr/>
            <p:nvPr/>
          </p:nvSpPr>
          <p:spPr>
            <a:xfrm>
              <a:off x="-864723" y="4376612"/>
              <a:ext cx="10978" cy="6793"/>
            </a:xfrm>
            <a:custGeom>
              <a:avLst/>
              <a:gdLst>
                <a:gd name="connsiteX0" fmla="*/ 14660 w 41440"/>
                <a:gd name="connsiteY0" fmla="*/ 29319 h 25900"/>
                <a:gd name="connsiteX1" fmla="*/ 27765 w 41440"/>
                <a:gd name="connsiteY1" fmla="*/ 29319 h 25900"/>
                <a:gd name="connsiteX2" fmla="*/ 42425 w 41440"/>
                <a:gd name="connsiteY2" fmla="*/ 14660 h 25900"/>
                <a:gd name="connsiteX3" fmla="*/ 27765 w 41440"/>
                <a:gd name="connsiteY3" fmla="*/ 0 h 25900"/>
                <a:gd name="connsiteX4" fmla="*/ 14660 w 41440"/>
                <a:gd name="connsiteY4" fmla="*/ 0 h 25900"/>
                <a:gd name="connsiteX5" fmla="*/ 0 w 41440"/>
                <a:gd name="connsiteY5" fmla="*/ 14660 h 25900"/>
                <a:gd name="connsiteX6" fmla="*/ 14660 w 41440"/>
                <a:gd name="connsiteY6" fmla="*/ 29319 h 2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40" h="25900">
                  <a:moveTo>
                    <a:pt x="14660" y="29319"/>
                  </a:moveTo>
                  <a:lnTo>
                    <a:pt x="27765" y="29319"/>
                  </a:lnTo>
                  <a:cubicBezTo>
                    <a:pt x="35847" y="29319"/>
                    <a:pt x="42425" y="22741"/>
                    <a:pt x="42425" y="14660"/>
                  </a:cubicBezTo>
                  <a:cubicBezTo>
                    <a:pt x="42425" y="6579"/>
                    <a:pt x="35847" y="0"/>
                    <a:pt x="27765" y="0"/>
                  </a:cubicBezTo>
                  <a:lnTo>
                    <a:pt x="14660" y="0"/>
                  </a:lnTo>
                  <a:cubicBezTo>
                    <a:pt x="6579" y="0"/>
                    <a:pt x="0" y="6579"/>
                    <a:pt x="0" y="14660"/>
                  </a:cubicBezTo>
                  <a:cubicBezTo>
                    <a:pt x="0" y="22741"/>
                    <a:pt x="6579" y="29319"/>
                    <a:pt x="14660" y="29319"/>
                  </a:cubicBezTo>
                  <a:close/>
                </a:path>
              </a:pathLst>
            </a:custGeom>
            <a:solidFill>
              <a:srgbClr val="2E2E38"/>
            </a:solidFill>
            <a:ln w="517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FFFFFF"/>
                </a:solidFill>
                <a:effectLst/>
                <a:uLnTx/>
                <a:uFillTx/>
                <a:latin typeface="EYInterstate Light" panose="02000506000000020004" charset="0"/>
              </a:endParaRPr>
            </a:p>
          </p:txBody>
        </p:sp>
        <p:sp>
          <p:nvSpPr>
            <p:cNvPr id="56" name="Freeform: Shape 55">
              <a:extLst>
                <a:ext uri="{FF2B5EF4-FFF2-40B4-BE49-F238E27FC236}">
                  <a16:creationId xmlns:a16="http://schemas.microsoft.com/office/drawing/2014/main" id="{1FEAC897-8DE4-5399-015A-F5CDF2C1FC9F}"/>
                </a:ext>
              </a:extLst>
            </p:cNvPr>
            <p:cNvSpPr/>
            <p:nvPr/>
          </p:nvSpPr>
          <p:spPr>
            <a:xfrm>
              <a:off x="-840956" y="4376612"/>
              <a:ext cx="10978" cy="6793"/>
            </a:xfrm>
            <a:custGeom>
              <a:avLst/>
              <a:gdLst>
                <a:gd name="connsiteX0" fmla="*/ 14659 w 41440"/>
                <a:gd name="connsiteY0" fmla="*/ 29319 h 25900"/>
                <a:gd name="connsiteX1" fmla="*/ 27765 w 41440"/>
                <a:gd name="connsiteY1" fmla="*/ 29319 h 25900"/>
                <a:gd name="connsiteX2" fmla="*/ 42425 w 41440"/>
                <a:gd name="connsiteY2" fmla="*/ 14660 h 25900"/>
                <a:gd name="connsiteX3" fmla="*/ 27765 w 41440"/>
                <a:gd name="connsiteY3" fmla="*/ 0 h 25900"/>
                <a:gd name="connsiteX4" fmla="*/ 14659 w 41440"/>
                <a:gd name="connsiteY4" fmla="*/ 0 h 25900"/>
                <a:gd name="connsiteX5" fmla="*/ 0 w 41440"/>
                <a:gd name="connsiteY5" fmla="*/ 14660 h 25900"/>
                <a:gd name="connsiteX6" fmla="*/ 14659 w 41440"/>
                <a:gd name="connsiteY6" fmla="*/ 29319 h 2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40" h="25900">
                  <a:moveTo>
                    <a:pt x="14659" y="29319"/>
                  </a:moveTo>
                  <a:lnTo>
                    <a:pt x="27765" y="29319"/>
                  </a:lnTo>
                  <a:cubicBezTo>
                    <a:pt x="35846" y="29319"/>
                    <a:pt x="42425" y="22741"/>
                    <a:pt x="42425" y="14660"/>
                  </a:cubicBezTo>
                  <a:cubicBezTo>
                    <a:pt x="42425" y="6579"/>
                    <a:pt x="35846" y="0"/>
                    <a:pt x="27765" y="0"/>
                  </a:cubicBezTo>
                  <a:lnTo>
                    <a:pt x="14659" y="0"/>
                  </a:lnTo>
                  <a:cubicBezTo>
                    <a:pt x="6578" y="0"/>
                    <a:pt x="0" y="6579"/>
                    <a:pt x="0" y="14660"/>
                  </a:cubicBezTo>
                  <a:cubicBezTo>
                    <a:pt x="0" y="22741"/>
                    <a:pt x="6578" y="29319"/>
                    <a:pt x="14659" y="29319"/>
                  </a:cubicBezTo>
                  <a:close/>
                </a:path>
              </a:pathLst>
            </a:custGeom>
            <a:solidFill>
              <a:srgbClr val="2E2E38"/>
            </a:solidFill>
            <a:ln w="517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FFFFFF"/>
                </a:solidFill>
                <a:effectLst/>
                <a:uLnTx/>
                <a:uFillTx/>
                <a:latin typeface="EYInterstate Light" panose="02000506000000020004" charset="0"/>
              </a:endParaRPr>
            </a:p>
          </p:txBody>
        </p:sp>
        <p:sp>
          <p:nvSpPr>
            <p:cNvPr id="57" name="Freeform: Shape 56">
              <a:extLst>
                <a:ext uri="{FF2B5EF4-FFF2-40B4-BE49-F238E27FC236}">
                  <a16:creationId xmlns:a16="http://schemas.microsoft.com/office/drawing/2014/main" id="{165CC414-15EC-4003-2C4E-EB809D629407}"/>
                </a:ext>
              </a:extLst>
            </p:cNvPr>
            <p:cNvSpPr/>
            <p:nvPr/>
          </p:nvSpPr>
          <p:spPr>
            <a:xfrm>
              <a:off x="-746560" y="4369955"/>
              <a:ext cx="6861" cy="10869"/>
            </a:xfrm>
            <a:custGeom>
              <a:avLst/>
              <a:gdLst>
                <a:gd name="connsiteX0" fmla="*/ 14660 w 25900"/>
                <a:gd name="connsiteY0" fmla="*/ 42425 h 41440"/>
                <a:gd name="connsiteX1" fmla="*/ 29320 w 25900"/>
                <a:gd name="connsiteY1" fmla="*/ 27765 h 41440"/>
                <a:gd name="connsiteX2" fmla="*/ 29320 w 25900"/>
                <a:gd name="connsiteY2" fmla="*/ 14660 h 41440"/>
                <a:gd name="connsiteX3" fmla="*/ 14660 w 25900"/>
                <a:gd name="connsiteY3" fmla="*/ 0 h 41440"/>
                <a:gd name="connsiteX4" fmla="*/ 0 w 25900"/>
                <a:gd name="connsiteY4" fmla="*/ 14660 h 41440"/>
                <a:gd name="connsiteX5" fmla="*/ 0 w 25900"/>
                <a:gd name="connsiteY5" fmla="*/ 27765 h 41440"/>
                <a:gd name="connsiteX6" fmla="*/ 14660 w 25900"/>
                <a:gd name="connsiteY6" fmla="*/ 42425 h 4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900" h="41440">
                  <a:moveTo>
                    <a:pt x="14660" y="42425"/>
                  </a:moveTo>
                  <a:cubicBezTo>
                    <a:pt x="22741" y="42425"/>
                    <a:pt x="29320" y="35846"/>
                    <a:pt x="29320" y="27765"/>
                  </a:cubicBezTo>
                  <a:lnTo>
                    <a:pt x="29320" y="14660"/>
                  </a:lnTo>
                  <a:cubicBezTo>
                    <a:pt x="29320" y="6579"/>
                    <a:pt x="22741" y="0"/>
                    <a:pt x="14660" y="0"/>
                  </a:cubicBezTo>
                  <a:cubicBezTo>
                    <a:pt x="6579" y="0"/>
                    <a:pt x="0" y="6579"/>
                    <a:pt x="0" y="14660"/>
                  </a:cubicBezTo>
                  <a:lnTo>
                    <a:pt x="0" y="27765"/>
                  </a:lnTo>
                  <a:cubicBezTo>
                    <a:pt x="0" y="35846"/>
                    <a:pt x="6527" y="42425"/>
                    <a:pt x="14660" y="42425"/>
                  </a:cubicBezTo>
                  <a:close/>
                </a:path>
              </a:pathLst>
            </a:custGeom>
            <a:solidFill>
              <a:srgbClr val="2E2E38"/>
            </a:solidFill>
            <a:ln w="517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FFFFFF"/>
                </a:solidFill>
                <a:effectLst/>
                <a:uLnTx/>
                <a:uFillTx/>
                <a:latin typeface="EYInterstate Light" panose="02000506000000020004" charset="0"/>
              </a:endParaRPr>
            </a:p>
          </p:txBody>
        </p:sp>
        <p:sp>
          <p:nvSpPr>
            <p:cNvPr id="58" name="Freeform: Shape 57">
              <a:extLst>
                <a:ext uri="{FF2B5EF4-FFF2-40B4-BE49-F238E27FC236}">
                  <a16:creationId xmlns:a16="http://schemas.microsoft.com/office/drawing/2014/main" id="{634DE6FC-579D-8D12-DEBC-B09BCB67593F}"/>
                </a:ext>
              </a:extLst>
            </p:cNvPr>
            <p:cNvSpPr/>
            <p:nvPr/>
          </p:nvSpPr>
          <p:spPr>
            <a:xfrm>
              <a:off x="-746560" y="4393487"/>
              <a:ext cx="6861" cy="10869"/>
            </a:xfrm>
            <a:custGeom>
              <a:avLst/>
              <a:gdLst>
                <a:gd name="connsiteX0" fmla="*/ 14660 w 25900"/>
                <a:gd name="connsiteY0" fmla="*/ 42425 h 41440"/>
                <a:gd name="connsiteX1" fmla="*/ 29320 w 25900"/>
                <a:gd name="connsiteY1" fmla="*/ 27765 h 41440"/>
                <a:gd name="connsiteX2" fmla="*/ 29320 w 25900"/>
                <a:gd name="connsiteY2" fmla="*/ 14660 h 41440"/>
                <a:gd name="connsiteX3" fmla="*/ 14660 w 25900"/>
                <a:gd name="connsiteY3" fmla="*/ 0 h 41440"/>
                <a:gd name="connsiteX4" fmla="*/ 0 w 25900"/>
                <a:gd name="connsiteY4" fmla="*/ 14660 h 41440"/>
                <a:gd name="connsiteX5" fmla="*/ 0 w 25900"/>
                <a:gd name="connsiteY5" fmla="*/ 27765 h 41440"/>
                <a:gd name="connsiteX6" fmla="*/ 14660 w 25900"/>
                <a:gd name="connsiteY6" fmla="*/ 42425 h 4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900" h="41440">
                  <a:moveTo>
                    <a:pt x="14660" y="42425"/>
                  </a:moveTo>
                  <a:cubicBezTo>
                    <a:pt x="22741" y="42425"/>
                    <a:pt x="29320" y="35846"/>
                    <a:pt x="29320" y="27765"/>
                  </a:cubicBezTo>
                  <a:lnTo>
                    <a:pt x="29320" y="14660"/>
                  </a:lnTo>
                  <a:cubicBezTo>
                    <a:pt x="29320" y="6579"/>
                    <a:pt x="22741" y="0"/>
                    <a:pt x="14660" y="0"/>
                  </a:cubicBezTo>
                  <a:cubicBezTo>
                    <a:pt x="6579" y="0"/>
                    <a:pt x="0" y="6579"/>
                    <a:pt x="0" y="14660"/>
                  </a:cubicBezTo>
                  <a:lnTo>
                    <a:pt x="0" y="27765"/>
                  </a:lnTo>
                  <a:cubicBezTo>
                    <a:pt x="0" y="35898"/>
                    <a:pt x="6527" y="42425"/>
                    <a:pt x="14660" y="42425"/>
                  </a:cubicBezTo>
                  <a:close/>
                </a:path>
              </a:pathLst>
            </a:custGeom>
            <a:solidFill>
              <a:srgbClr val="2E2E38"/>
            </a:solidFill>
            <a:ln w="517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FFFFFF"/>
                </a:solidFill>
                <a:effectLst/>
                <a:uLnTx/>
                <a:uFillTx/>
                <a:latin typeface="EYInterstate Light" panose="02000506000000020004" charset="0"/>
              </a:endParaRPr>
            </a:p>
          </p:txBody>
        </p:sp>
        <p:sp>
          <p:nvSpPr>
            <p:cNvPr id="59" name="Freeform: Shape 58">
              <a:extLst>
                <a:ext uri="{FF2B5EF4-FFF2-40B4-BE49-F238E27FC236}">
                  <a16:creationId xmlns:a16="http://schemas.microsoft.com/office/drawing/2014/main" id="{B785664A-D14A-D4D2-6A55-EC2FF622C414}"/>
                </a:ext>
              </a:extLst>
            </p:cNvPr>
            <p:cNvSpPr/>
            <p:nvPr/>
          </p:nvSpPr>
          <p:spPr>
            <a:xfrm>
              <a:off x="-760186" y="4383446"/>
              <a:ext cx="10978" cy="6793"/>
            </a:xfrm>
            <a:custGeom>
              <a:avLst/>
              <a:gdLst>
                <a:gd name="connsiteX0" fmla="*/ 14659 w 41440"/>
                <a:gd name="connsiteY0" fmla="*/ 29319 h 25900"/>
                <a:gd name="connsiteX1" fmla="*/ 27765 w 41440"/>
                <a:gd name="connsiteY1" fmla="*/ 29319 h 25900"/>
                <a:gd name="connsiteX2" fmla="*/ 42425 w 41440"/>
                <a:gd name="connsiteY2" fmla="*/ 14660 h 25900"/>
                <a:gd name="connsiteX3" fmla="*/ 27765 w 41440"/>
                <a:gd name="connsiteY3" fmla="*/ 0 h 25900"/>
                <a:gd name="connsiteX4" fmla="*/ 14659 w 41440"/>
                <a:gd name="connsiteY4" fmla="*/ 0 h 25900"/>
                <a:gd name="connsiteX5" fmla="*/ 0 w 41440"/>
                <a:gd name="connsiteY5" fmla="*/ 14660 h 25900"/>
                <a:gd name="connsiteX6" fmla="*/ 14659 w 41440"/>
                <a:gd name="connsiteY6" fmla="*/ 29319 h 2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40" h="25900">
                  <a:moveTo>
                    <a:pt x="14659" y="29319"/>
                  </a:moveTo>
                  <a:lnTo>
                    <a:pt x="27765" y="29319"/>
                  </a:lnTo>
                  <a:cubicBezTo>
                    <a:pt x="35846" y="29319"/>
                    <a:pt x="42425" y="22741"/>
                    <a:pt x="42425" y="14660"/>
                  </a:cubicBezTo>
                  <a:cubicBezTo>
                    <a:pt x="42425" y="6579"/>
                    <a:pt x="35846" y="0"/>
                    <a:pt x="27765" y="0"/>
                  </a:cubicBezTo>
                  <a:lnTo>
                    <a:pt x="14659" y="0"/>
                  </a:lnTo>
                  <a:cubicBezTo>
                    <a:pt x="6579" y="0"/>
                    <a:pt x="0" y="6579"/>
                    <a:pt x="0" y="14660"/>
                  </a:cubicBezTo>
                  <a:cubicBezTo>
                    <a:pt x="0" y="22741"/>
                    <a:pt x="6579" y="29319"/>
                    <a:pt x="14659" y="29319"/>
                  </a:cubicBezTo>
                  <a:close/>
                </a:path>
              </a:pathLst>
            </a:custGeom>
            <a:solidFill>
              <a:srgbClr val="2E2E38"/>
            </a:solidFill>
            <a:ln w="517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FFFFFF"/>
                </a:solidFill>
                <a:effectLst/>
                <a:uLnTx/>
                <a:uFillTx/>
                <a:latin typeface="EYInterstate Light" panose="02000506000000020004" charset="0"/>
              </a:endParaRPr>
            </a:p>
          </p:txBody>
        </p:sp>
        <p:sp>
          <p:nvSpPr>
            <p:cNvPr id="60" name="Freeform: Shape 59">
              <a:extLst>
                <a:ext uri="{FF2B5EF4-FFF2-40B4-BE49-F238E27FC236}">
                  <a16:creationId xmlns:a16="http://schemas.microsoft.com/office/drawing/2014/main" id="{1E03D893-F38A-84E8-3E31-E845CC72DECE}"/>
                </a:ext>
              </a:extLst>
            </p:cNvPr>
            <p:cNvSpPr/>
            <p:nvPr/>
          </p:nvSpPr>
          <p:spPr>
            <a:xfrm>
              <a:off x="-736420" y="4383446"/>
              <a:ext cx="10978" cy="6793"/>
            </a:xfrm>
            <a:custGeom>
              <a:avLst/>
              <a:gdLst>
                <a:gd name="connsiteX0" fmla="*/ 14660 w 41440"/>
                <a:gd name="connsiteY0" fmla="*/ 29319 h 25900"/>
                <a:gd name="connsiteX1" fmla="*/ 27765 w 41440"/>
                <a:gd name="connsiteY1" fmla="*/ 29319 h 25900"/>
                <a:gd name="connsiteX2" fmla="*/ 42425 w 41440"/>
                <a:gd name="connsiteY2" fmla="*/ 14660 h 25900"/>
                <a:gd name="connsiteX3" fmla="*/ 27765 w 41440"/>
                <a:gd name="connsiteY3" fmla="*/ 0 h 25900"/>
                <a:gd name="connsiteX4" fmla="*/ 14660 w 41440"/>
                <a:gd name="connsiteY4" fmla="*/ 0 h 25900"/>
                <a:gd name="connsiteX5" fmla="*/ 0 w 41440"/>
                <a:gd name="connsiteY5" fmla="*/ 14660 h 25900"/>
                <a:gd name="connsiteX6" fmla="*/ 14660 w 41440"/>
                <a:gd name="connsiteY6" fmla="*/ 29319 h 2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40" h="25900">
                  <a:moveTo>
                    <a:pt x="14660" y="29319"/>
                  </a:moveTo>
                  <a:lnTo>
                    <a:pt x="27765" y="29319"/>
                  </a:lnTo>
                  <a:cubicBezTo>
                    <a:pt x="35847" y="29319"/>
                    <a:pt x="42425" y="22741"/>
                    <a:pt x="42425" y="14660"/>
                  </a:cubicBezTo>
                  <a:cubicBezTo>
                    <a:pt x="42425" y="6579"/>
                    <a:pt x="35847" y="0"/>
                    <a:pt x="27765" y="0"/>
                  </a:cubicBezTo>
                  <a:lnTo>
                    <a:pt x="14660" y="0"/>
                  </a:lnTo>
                  <a:cubicBezTo>
                    <a:pt x="6579" y="0"/>
                    <a:pt x="0" y="6579"/>
                    <a:pt x="0" y="14660"/>
                  </a:cubicBezTo>
                  <a:cubicBezTo>
                    <a:pt x="0" y="22741"/>
                    <a:pt x="6579" y="29319"/>
                    <a:pt x="14660" y="29319"/>
                  </a:cubicBezTo>
                  <a:close/>
                </a:path>
              </a:pathLst>
            </a:custGeom>
            <a:solidFill>
              <a:srgbClr val="2E2E38"/>
            </a:solidFill>
            <a:ln w="517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FFFFFF"/>
                </a:solidFill>
                <a:effectLst/>
                <a:uLnTx/>
                <a:uFillTx/>
                <a:latin typeface="EYInterstate Light" panose="02000506000000020004" charset="0"/>
              </a:endParaRPr>
            </a:p>
          </p:txBody>
        </p:sp>
        <p:sp>
          <p:nvSpPr>
            <p:cNvPr id="61" name="Freeform: Shape 60">
              <a:extLst>
                <a:ext uri="{FF2B5EF4-FFF2-40B4-BE49-F238E27FC236}">
                  <a16:creationId xmlns:a16="http://schemas.microsoft.com/office/drawing/2014/main" id="{2949512C-CBCF-752F-29A7-28598F5A65E8}"/>
                </a:ext>
              </a:extLst>
            </p:cNvPr>
            <p:cNvSpPr/>
            <p:nvPr/>
          </p:nvSpPr>
          <p:spPr>
            <a:xfrm>
              <a:off x="-890823" y="4427167"/>
              <a:ext cx="6861" cy="10869"/>
            </a:xfrm>
            <a:custGeom>
              <a:avLst/>
              <a:gdLst>
                <a:gd name="connsiteX0" fmla="*/ 14660 w 25900"/>
                <a:gd name="connsiteY0" fmla="*/ 42425 h 41440"/>
                <a:gd name="connsiteX1" fmla="*/ 29320 w 25900"/>
                <a:gd name="connsiteY1" fmla="*/ 27765 h 41440"/>
                <a:gd name="connsiteX2" fmla="*/ 29320 w 25900"/>
                <a:gd name="connsiteY2" fmla="*/ 14660 h 41440"/>
                <a:gd name="connsiteX3" fmla="*/ 14660 w 25900"/>
                <a:gd name="connsiteY3" fmla="*/ 0 h 41440"/>
                <a:gd name="connsiteX4" fmla="*/ 0 w 25900"/>
                <a:gd name="connsiteY4" fmla="*/ 14660 h 41440"/>
                <a:gd name="connsiteX5" fmla="*/ 0 w 25900"/>
                <a:gd name="connsiteY5" fmla="*/ 27765 h 41440"/>
                <a:gd name="connsiteX6" fmla="*/ 14660 w 25900"/>
                <a:gd name="connsiteY6" fmla="*/ 42425 h 4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900" h="41440">
                  <a:moveTo>
                    <a:pt x="14660" y="42425"/>
                  </a:moveTo>
                  <a:cubicBezTo>
                    <a:pt x="22741" y="42425"/>
                    <a:pt x="29320" y="35846"/>
                    <a:pt x="29320" y="27765"/>
                  </a:cubicBezTo>
                  <a:lnTo>
                    <a:pt x="29320" y="14660"/>
                  </a:lnTo>
                  <a:cubicBezTo>
                    <a:pt x="29320" y="6579"/>
                    <a:pt x="22741" y="0"/>
                    <a:pt x="14660" y="0"/>
                  </a:cubicBezTo>
                  <a:cubicBezTo>
                    <a:pt x="6579" y="0"/>
                    <a:pt x="0" y="6579"/>
                    <a:pt x="0" y="14660"/>
                  </a:cubicBezTo>
                  <a:lnTo>
                    <a:pt x="0" y="27765"/>
                  </a:lnTo>
                  <a:cubicBezTo>
                    <a:pt x="0" y="35846"/>
                    <a:pt x="6579" y="42425"/>
                    <a:pt x="14660" y="42425"/>
                  </a:cubicBezTo>
                  <a:close/>
                </a:path>
              </a:pathLst>
            </a:custGeom>
            <a:solidFill>
              <a:srgbClr val="2E2E38"/>
            </a:solidFill>
            <a:ln w="517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FFFFFF"/>
                </a:solidFill>
                <a:effectLst/>
                <a:uLnTx/>
                <a:uFillTx/>
                <a:latin typeface="EYInterstate Light" panose="02000506000000020004" charset="0"/>
              </a:endParaRPr>
            </a:p>
          </p:txBody>
        </p:sp>
        <p:sp>
          <p:nvSpPr>
            <p:cNvPr id="62" name="Freeform: Shape 61">
              <a:extLst>
                <a:ext uri="{FF2B5EF4-FFF2-40B4-BE49-F238E27FC236}">
                  <a16:creationId xmlns:a16="http://schemas.microsoft.com/office/drawing/2014/main" id="{9D67D0E8-7B51-CACF-7B8D-6DB738A23B49}"/>
                </a:ext>
              </a:extLst>
            </p:cNvPr>
            <p:cNvSpPr/>
            <p:nvPr/>
          </p:nvSpPr>
          <p:spPr>
            <a:xfrm>
              <a:off x="-890823" y="4450699"/>
              <a:ext cx="6861" cy="10869"/>
            </a:xfrm>
            <a:custGeom>
              <a:avLst/>
              <a:gdLst>
                <a:gd name="connsiteX0" fmla="*/ 14660 w 25900"/>
                <a:gd name="connsiteY0" fmla="*/ 42425 h 41440"/>
                <a:gd name="connsiteX1" fmla="*/ 29320 w 25900"/>
                <a:gd name="connsiteY1" fmla="*/ 27765 h 41440"/>
                <a:gd name="connsiteX2" fmla="*/ 29320 w 25900"/>
                <a:gd name="connsiteY2" fmla="*/ 14660 h 41440"/>
                <a:gd name="connsiteX3" fmla="*/ 14660 w 25900"/>
                <a:gd name="connsiteY3" fmla="*/ 0 h 41440"/>
                <a:gd name="connsiteX4" fmla="*/ 0 w 25900"/>
                <a:gd name="connsiteY4" fmla="*/ 14660 h 41440"/>
                <a:gd name="connsiteX5" fmla="*/ 0 w 25900"/>
                <a:gd name="connsiteY5" fmla="*/ 27765 h 41440"/>
                <a:gd name="connsiteX6" fmla="*/ 14660 w 25900"/>
                <a:gd name="connsiteY6" fmla="*/ 42425 h 4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900" h="41440">
                  <a:moveTo>
                    <a:pt x="14660" y="42425"/>
                  </a:moveTo>
                  <a:cubicBezTo>
                    <a:pt x="22741" y="42425"/>
                    <a:pt x="29320" y="35846"/>
                    <a:pt x="29320" y="27765"/>
                  </a:cubicBezTo>
                  <a:lnTo>
                    <a:pt x="29320" y="14660"/>
                  </a:lnTo>
                  <a:cubicBezTo>
                    <a:pt x="29320" y="6579"/>
                    <a:pt x="22741" y="0"/>
                    <a:pt x="14660" y="0"/>
                  </a:cubicBezTo>
                  <a:cubicBezTo>
                    <a:pt x="6579" y="0"/>
                    <a:pt x="0" y="6579"/>
                    <a:pt x="0" y="14660"/>
                  </a:cubicBezTo>
                  <a:lnTo>
                    <a:pt x="0" y="27765"/>
                  </a:lnTo>
                  <a:cubicBezTo>
                    <a:pt x="0" y="35898"/>
                    <a:pt x="6579" y="42425"/>
                    <a:pt x="14660" y="42425"/>
                  </a:cubicBezTo>
                  <a:close/>
                </a:path>
              </a:pathLst>
            </a:custGeom>
            <a:solidFill>
              <a:srgbClr val="2E2E38"/>
            </a:solidFill>
            <a:ln w="517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FFFFFF"/>
                </a:solidFill>
                <a:effectLst/>
                <a:uLnTx/>
                <a:uFillTx/>
                <a:latin typeface="EYInterstate Light" panose="02000506000000020004" charset="0"/>
              </a:endParaRPr>
            </a:p>
          </p:txBody>
        </p:sp>
        <p:sp>
          <p:nvSpPr>
            <p:cNvPr id="63" name="Freeform: Shape 62">
              <a:extLst>
                <a:ext uri="{FF2B5EF4-FFF2-40B4-BE49-F238E27FC236}">
                  <a16:creationId xmlns:a16="http://schemas.microsoft.com/office/drawing/2014/main" id="{B884CCF2-5C0D-F6FA-C25A-15BB8A3D0C06}"/>
                </a:ext>
              </a:extLst>
            </p:cNvPr>
            <p:cNvSpPr/>
            <p:nvPr/>
          </p:nvSpPr>
          <p:spPr>
            <a:xfrm>
              <a:off x="-904449" y="4440658"/>
              <a:ext cx="10978" cy="6793"/>
            </a:xfrm>
            <a:custGeom>
              <a:avLst/>
              <a:gdLst>
                <a:gd name="connsiteX0" fmla="*/ 14659 w 41440"/>
                <a:gd name="connsiteY0" fmla="*/ 29319 h 25900"/>
                <a:gd name="connsiteX1" fmla="*/ 27765 w 41440"/>
                <a:gd name="connsiteY1" fmla="*/ 29319 h 25900"/>
                <a:gd name="connsiteX2" fmla="*/ 42425 w 41440"/>
                <a:gd name="connsiteY2" fmla="*/ 14660 h 25900"/>
                <a:gd name="connsiteX3" fmla="*/ 27765 w 41440"/>
                <a:gd name="connsiteY3" fmla="*/ 0 h 25900"/>
                <a:gd name="connsiteX4" fmla="*/ 14659 w 41440"/>
                <a:gd name="connsiteY4" fmla="*/ 0 h 25900"/>
                <a:gd name="connsiteX5" fmla="*/ 0 w 41440"/>
                <a:gd name="connsiteY5" fmla="*/ 14660 h 25900"/>
                <a:gd name="connsiteX6" fmla="*/ 14659 w 41440"/>
                <a:gd name="connsiteY6" fmla="*/ 29319 h 2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40" h="25900">
                  <a:moveTo>
                    <a:pt x="14659" y="29319"/>
                  </a:moveTo>
                  <a:lnTo>
                    <a:pt x="27765" y="29319"/>
                  </a:lnTo>
                  <a:cubicBezTo>
                    <a:pt x="35846" y="29319"/>
                    <a:pt x="42425" y="22741"/>
                    <a:pt x="42425" y="14660"/>
                  </a:cubicBezTo>
                  <a:cubicBezTo>
                    <a:pt x="42425" y="6579"/>
                    <a:pt x="35846" y="0"/>
                    <a:pt x="27765" y="0"/>
                  </a:cubicBezTo>
                  <a:lnTo>
                    <a:pt x="14659" y="0"/>
                  </a:lnTo>
                  <a:cubicBezTo>
                    <a:pt x="6579" y="0"/>
                    <a:pt x="0" y="6579"/>
                    <a:pt x="0" y="14660"/>
                  </a:cubicBezTo>
                  <a:cubicBezTo>
                    <a:pt x="52" y="22741"/>
                    <a:pt x="6579" y="29319"/>
                    <a:pt x="14659" y="29319"/>
                  </a:cubicBezTo>
                  <a:close/>
                </a:path>
              </a:pathLst>
            </a:custGeom>
            <a:solidFill>
              <a:srgbClr val="2E2E38"/>
            </a:solidFill>
            <a:ln w="517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FFFFFF"/>
                </a:solidFill>
                <a:effectLst/>
                <a:uLnTx/>
                <a:uFillTx/>
                <a:latin typeface="EYInterstate Light" panose="02000506000000020004" charset="0"/>
              </a:endParaRPr>
            </a:p>
          </p:txBody>
        </p:sp>
        <p:sp>
          <p:nvSpPr>
            <p:cNvPr id="64" name="Freeform: Shape 63">
              <a:extLst>
                <a:ext uri="{FF2B5EF4-FFF2-40B4-BE49-F238E27FC236}">
                  <a16:creationId xmlns:a16="http://schemas.microsoft.com/office/drawing/2014/main" id="{5F786161-2BCA-E8CA-BD6A-4EC40B086EE5}"/>
                </a:ext>
              </a:extLst>
            </p:cNvPr>
            <p:cNvSpPr/>
            <p:nvPr/>
          </p:nvSpPr>
          <p:spPr>
            <a:xfrm>
              <a:off x="-880668" y="4440658"/>
              <a:ext cx="10978" cy="6793"/>
            </a:xfrm>
            <a:custGeom>
              <a:avLst/>
              <a:gdLst>
                <a:gd name="connsiteX0" fmla="*/ 14659 w 41440"/>
                <a:gd name="connsiteY0" fmla="*/ 29319 h 25900"/>
                <a:gd name="connsiteX1" fmla="*/ 27765 w 41440"/>
                <a:gd name="connsiteY1" fmla="*/ 29319 h 25900"/>
                <a:gd name="connsiteX2" fmla="*/ 42425 w 41440"/>
                <a:gd name="connsiteY2" fmla="*/ 14660 h 25900"/>
                <a:gd name="connsiteX3" fmla="*/ 27765 w 41440"/>
                <a:gd name="connsiteY3" fmla="*/ 0 h 25900"/>
                <a:gd name="connsiteX4" fmla="*/ 14659 w 41440"/>
                <a:gd name="connsiteY4" fmla="*/ 0 h 25900"/>
                <a:gd name="connsiteX5" fmla="*/ 0 w 41440"/>
                <a:gd name="connsiteY5" fmla="*/ 14660 h 25900"/>
                <a:gd name="connsiteX6" fmla="*/ 14659 w 41440"/>
                <a:gd name="connsiteY6" fmla="*/ 29319 h 2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40" h="25900">
                  <a:moveTo>
                    <a:pt x="14659" y="29319"/>
                  </a:moveTo>
                  <a:lnTo>
                    <a:pt x="27765" y="29319"/>
                  </a:lnTo>
                  <a:cubicBezTo>
                    <a:pt x="35847" y="29319"/>
                    <a:pt x="42425" y="22741"/>
                    <a:pt x="42425" y="14660"/>
                  </a:cubicBezTo>
                  <a:cubicBezTo>
                    <a:pt x="42425" y="6579"/>
                    <a:pt x="35847" y="0"/>
                    <a:pt x="27765" y="0"/>
                  </a:cubicBezTo>
                  <a:lnTo>
                    <a:pt x="14659" y="0"/>
                  </a:lnTo>
                  <a:cubicBezTo>
                    <a:pt x="6579" y="0"/>
                    <a:pt x="0" y="6579"/>
                    <a:pt x="0" y="14660"/>
                  </a:cubicBezTo>
                  <a:cubicBezTo>
                    <a:pt x="0" y="22741"/>
                    <a:pt x="6527" y="29319"/>
                    <a:pt x="14659" y="29319"/>
                  </a:cubicBezTo>
                  <a:close/>
                </a:path>
              </a:pathLst>
            </a:custGeom>
            <a:solidFill>
              <a:srgbClr val="2E2E38"/>
            </a:solidFill>
            <a:ln w="517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FFFFFF"/>
                </a:solidFill>
                <a:effectLst/>
                <a:uLnTx/>
                <a:uFillTx/>
                <a:latin typeface="EYInterstate Light" panose="02000506000000020004" charset="0"/>
              </a:endParaRPr>
            </a:p>
          </p:txBody>
        </p:sp>
        <p:sp>
          <p:nvSpPr>
            <p:cNvPr id="65" name="Freeform: Shape 64">
              <a:extLst>
                <a:ext uri="{FF2B5EF4-FFF2-40B4-BE49-F238E27FC236}">
                  <a16:creationId xmlns:a16="http://schemas.microsoft.com/office/drawing/2014/main" id="{AB4B0C8A-5C72-83D6-21EA-EBB74411EBD0}"/>
                </a:ext>
              </a:extLst>
            </p:cNvPr>
            <p:cNvSpPr/>
            <p:nvPr/>
          </p:nvSpPr>
          <p:spPr>
            <a:xfrm>
              <a:off x="-841272" y="4434382"/>
              <a:ext cx="9606" cy="9511"/>
            </a:xfrm>
            <a:custGeom>
              <a:avLst/>
              <a:gdLst>
                <a:gd name="connsiteX0" fmla="*/ 18752 w 36260"/>
                <a:gd name="connsiteY0" fmla="*/ 37504 h 36260"/>
                <a:gd name="connsiteX1" fmla="*/ 37505 w 36260"/>
                <a:gd name="connsiteY1" fmla="*/ 18752 h 36260"/>
                <a:gd name="connsiteX2" fmla="*/ 18752 w 36260"/>
                <a:gd name="connsiteY2" fmla="*/ 0 h 36260"/>
                <a:gd name="connsiteX3" fmla="*/ 0 w 36260"/>
                <a:gd name="connsiteY3" fmla="*/ 18752 h 36260"/>
                <a:gd name="connsiteX4" fmla="*/ 18752 w 36260"/>
                <a:gd name="connsiteY4" fmla="*/ 37504 h 36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60" h="36260">
                  <a:moveTo>
                    <a:pt x="18752" y="37504"/>
                  </a:moveTo>
                  <a:cubicBezTo>
                    <a:pt x="29112" y="37504"/>
                    <a:pt x="37505" y="29112"/>
                    <a:pt x="37505" y="18752"/>
                  </a:cubicBezTo>
                  <a:cubicBezTo>
                    <a:pt x="37505" y="8392"/>
                    <a:pt x="29112" y="0"/>
                    <a:pt x="18752" y="0"/>
                  </a:cubicBezTo>
                  <a:cubicBezTo>
                    <a:pt x="8392" y="0"/>
                    <a:pt x="0" y="8392"/>
                    <a:pt x="0" y="18752"/>
                  </a:cubicBezTo>
                  <a:cubicBezTo>
                    <a:pt x="52" y="29112"/>
                    <a:pt x="8444" y="37504"/>
                    <a:pt x="18752" y="37504"/>
                  </a:cubicBezTo>
                  <a:close/>
                </a:path>
              </a:pathLst>
            </a:custGeom>
            <a:solidFill>
              <a:srgbClr val="2E2E38"/>
            </a:solidFill>
            <a:ln w="517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FFFFFF"/>
                </a:solidFill>
                <a:effectLst/>
                <a:uLnTx/>
                <a:uFillTx/>
                <a:latin typeface="EYInterstate Light" panose="02000506000000020004" charset="0"/>
              </a:endParaRPr>
            </a:p>
          </p:txBody>
        </p:sp>
      </p:grpSp>
      <p:sp>
        <p:nvSpPr>
          <p:cNvPr id="5" name="Rectangle: Top Corners Rounded 4">
            <a:extLst>
              <a:ext uri="{FF2B5EF4-FFF2-40B4-BE49-F238E27FC236}">
                <a16:creationId xmlns:a16="http://schemas.microsoft.com/office/drawing/2014/main" id="{EB458C47-243A-679D-2868-1D4FFBBCA38F}"/>
              </a:ext>
            </a:extLst>
          </p:cNvPr>
          <p:cNvSpPr>
            <a:spLocks/>
          </p:cNvSpPr>
          <p:nvPr/>
        </p:nvSpPr>
        <p:spPr>
          <a:xfrm rot="16200000" flipH="1">
            <a:off x="6209987" y="-2712982"/>
            <a:ext cx="542525" cy="10059704"/>
          </a:xfrm>
          <a:prstGeom prst="round2SameRect">
            <a:avLst>
              <a:gd name="adj1" fmla="val 27761"/>
              <a:gd name="adj2" fmla="val 0"/>
            </a:avLst>
          </a:prstGeom>
          <a:solidFill>
            <a:srgbClr val="FFFFFF"/>
          </a:solidFill>
          <a:ln w="9525" cap="flat" cmpd="sng" algn="ctr">
            <a:gradFill flip="none" rotWithShape="1">
              <a:gsLst>
                <a:gs pos="44263">
                  <a:srgbClr val="0070C0"/>
                </a:gs>
                <a:gs pos="1000">
                  <a:schemeClr val="tx1"/>
                </a:gs>
                <a:gs pos="100000">
                  <a:srgbClr val="35A4E8"/>
                </a:gs>
              </a:gsLst>
              <a:lin ang="5400000" scaled="1"/>
              <a:tileRect/>
            </a:gradFill>
            <a:prstDash val="solid"/>
            <a:round/>
            <a:headEnd type="none" w="med" len="med"/>
            <a:tailEnd type="none" w="med" len="med"/>
          </a:ln>
          <a:effectLst/>
        </p:spPr>
        <p:txBody>
          <a:bodyPr vert="vert" wrap="square" lIns="40500" tIns="40500" rIns="40500" bIns="40500" numCol="1" rtlCol="0" anchor="ctr" anchorCtr="0" compatLnSpc="1">
            <a:prstTxWarp prst="textNoShape">
              <a:avLst/>
            </a:prstTxWarp>
          </a:bodyPr>
          <a:lstStyle/>
          <a:p>
            <a:pPr defTabSz="746522" rtl="1"/>
            <a:r>
              <a:rPr lang="en-IN" sz="1200" b="1" kern="0">
                <a:solidFill>
                  <a:srgbClr val="000000"/>
                </a:solidFill>
                <a:latin typeface="EYInterstate Light" panose="02000506000000020004" pitchFamily="2" charset="0"/>
                <a:cs typeface="Sakkal Majalla" panose="02000000000000000000" pitchFamily="2" charset="-78"/>
              </a:rPr>
              <a:t>Degree of control over the asset </a:t>
            </a:r>
            <a:r>
              <a:rPr lang="en-IN" sz="1200" kern="0">
                <a:solidFill>
                  <a:srgbClr val="000000"/>
                </a:solidFill>
                <a:latin typeface="EYInterstate Light" panose="02000506000000020004" pitchFamily="2" charset="0"/>
                <a:cs typeface="Sakkal Majalla" panose="02000000000000000000" pitchFamily="2" charset="-78"/>
              </a:rPr>
              <a:t>- maintaining necessary oversight and authority over the asset by MOPH to fulfil strategic and operational needs.</a:t>
            </a:r>
          </a:p>
        </p:txBody>
      </p:sp>
      <p:cxnSp>
        <p:nvCxnSpPr>
          <p:cNvPr id="20" name="Straight Connector 19">
            <a:extLst>
              <a:ext uri="{FF2B5EF4-FFF2-40B4-BE49-F238E27FC236}">
                <a16:creationId xmlns:a16="http://schemas.microsoft.com/office/drawing/2014/main" id="{1D5D3FF8-55E5-2AB0-33E0-0A71BE0A6B9E}"/>
              </a:ext>
            </a:extLst>
          </p:cNvPr>
          <p:cNvCxnSpPr>
            <a:cxnSpLocks/>
            <a:stCxn id="4" idx="3"/>
            <a:endCxn id="5" idx="3"/>
          </p:cNvCxnSpPr>
          <p:nvPr/>
        </p:nvCxnSpPr>
        <p:spPr>
          <a:xfrm>
            <a:off x="1311894" y="2316871"/>
            <a:ext cx="139504" cy="0"/>
          </a:xfrm>
          <a:prstGeom prst="line">
            <a:avLst/>
          </a:prstGeom>
          <a:ln>
            <a:solidFill>
              <a:srgbClr val="1A9AFA"/>
            </a:solidFill>
            <a:headEnd type="diamond" w="sm" len="sm"/>
            <a:tailEnd type="diamond" w="sm" len="sm"/>
          </a:ln>
        </p:spPr>
        <p:style>
          <a:lnRef idx="1">
            <a:schemeClr val="dk1"/>
          </a:lnRef>
          <a:fillRef idx="0">
            <a:schemeClr val="dk1"/>
          </a:fillRef>
          <a:effectRef idx="0">
            <a:schemeClr val="dk1"/>
          </a:effectRef>
          <a:fontRef idx="minor">
            <a:schemeClr val="tx1"/>
          </a:fontRef>
        </p:style>
      </p:cxnSp>
      <p:pic>
        <p:nvPicPr>
          <p:cNvPr id="66" name="Picture 65" descr="A black background with a black square&#10;&#10;AI-generated content may be incorrect.">
            <a:extLst>
              <a:ext uri="{FF2B5EF4-FFF2-40B4-BE49-F238E27FC236}">
                <a16:creationId xmlns:a16="http://schemas.microsoft.com/office/drawing/2014/main" id="{68901576-E17E-4AF1-720D-3549662D2642}"/>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91339" y="2144038"/>
            <a:ext cx="388116" cy="388116"/>
          </a:xfrm>
          <a:prstGeom prst="rect">
            <a:avLst/>
          </a:prstGeom>
        </p:spPr>
      </p:pic>
      <p:pic>
        <p:nvPicPr>
          <p:cNvPr id="67" name="Picture 66" descr="A black background with a black square&#10;&#10;AI-generated content may be incorrect.">
            <a:extLst>
              <a:ext uri="{FF2B5EF4-FFF2-40B4-BE49-F238E27FC236}">
                <a16:creationId xmlns:a16="http://schemas.microsoft.com/office/drawing/2014/main" id="{69236809-AFC0-80FE-700C-620C1550829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91339" y="2741903"/>
            <a:ext cx="377352" cy="377352"/>
          </a:xfrm>
          <a:prstGeom prst="rect">
            <a:avLst/>
          </a:prstGeom>
        </p:spPr>
      </p:pic>
      <p:pic>
        <p:nvPicPr>
          <p:cNvPr id="68" name="Picture 67" descr="A black background with a black square&#10;&#10;AI-generated content may be incorrect.">
            <a:extLst>
              <a:ext uri="{FF2B5EF4-FFF2-40B4-BE49-F238E27FC236}">
                <a16:creationId xmlns:a16="http://schemas.microsoft.com/office/drawing/2014/main" id="{0D5C43DE-DFF9-1857-4108-0C0FAB80C4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791339" y="3372578"/>
            <a:ext cx="401826" cy="401826"/>
          </a:xfrm>
          <a:prstGeom prst="rect">
            <a:avLst/>
          </a:prstGeom>
        </p:spPr>
      </p:pic>
      <p:pic>
        <p:nvPicPr>
          <p:cNvPr id="69" name="Picture 68" descr="A black background with a black square&#10;&#10;AI-generated content may be incorrect.">
            <a:extLst>
              <a:ext uri="{FF2B5EF4-FFF2-40B4-BE49-F238E27FC236}">
                <a16:creationId xmlns:a16="http://schemas.microsoft.com/office/drawing/2014/main" id="{2DF9B6F8-4FDB-60A8-5310-A69F6EAC6747}"/>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791339" y="3984203"/>
            <a:ext cx="376566" cy="376566"/>
          </a:xfrm>
          <a:prstGeom prst="rect">
            <a:avLst/>
          </a:prstGeom>
        </p:spPr>
      </p:pic>
      <p:sp>
        <p:nvSpPr>
          <p:cNvPr id="3" name="Rectangle: Rounded Corners 2">
            <a:extLst>
              <a:ext uri="{FF2B5EF4-FFF2-40B4-BE49-F238E27FC236}">
                <a16:creationId xmlns:a16="http://schemas.microsoft.com/office/drawing/2014/main" id="{3961D548-94CA-6582-ABE3-0E9B20797956}"/>
              </a:ext>
            </a:extLst>
          </p:cNvPr>
          <p:cNvSpPr>
            <a:spLocks/>
          </p:cNvSpPr>
          <p:nvPr/>
        </p:nvSpPr>
        <p:spPr bwMode="auto">
          <a:xfrm>
            <a:off x="691236" y="1305024"/>
            <a:ext cx="10819865" cy="627738"/>
          </a:xfrm>
          <a:prstGeom prst="roundRect">
            <a:avLst>
              <a:gd name="adj" fmla="val 15292"/>
            </a:avLst>
          </a:prstGeom>
          <a:solidFill>
            <a:srgbClr val="D2D2DA"/>
          </a:solidFill>
          <a:ln w="9525" cap="flat" cmpd="sng" algn="ctr">
            <a:noFill/>
            <a:prstDash val="solid"/>
            <a:round/>
            <a:headEnd type="none" w="med" len="med"/>
            <a:tailEnd type="none" w="med" len="med"/>
          </a:ln>
          <a:effectLst/>
        </p:spPr>
        <p:txBody>
          <a:bodyPr vert="horz" wrap="square" lIns="65368" tIns="0" rIns="65368" bIns="0" numCol="1" rtlCol="0" anchor="ctr" anchorCtr="0" compatLnSpc="1">
            <a:prstTxWarp prst="textNoShape">
              <a:avLst/>
            </a:prstTxWarp>
          </a:bodyPr>
          <a:lstStyle/>
          <a:p>
            <a:pPr defTabSz="830208">
              <a:buFont typeface="EYInterstate Light" panose="02000506000000020004" pitchFamily="2" charset="0"/>
            </a:pPr>
            <a:r>
              <a:rPr lang="en-IN" sz="1200">
                <a:latin typeface="EYInterstate Light" panose="02000506000000020004" pitchFamily="2" charset="0"/>
              </a:rPr>
              <a:t>The business delivery models list is not exhaustive, and a detailed assessment of the potential opportunities likely lead to hybrid models arrangements when taking under consideration the following:</a:t>
            </a:r>
            <a:endParaRPr lang="en-US" sz="1200">
              <a:latin typeface="EYInterstate Light" panose="02000506000000020004" pitchFamily="2" charset="0"/>
            </a:endParaRPr>
          </a:p>
        </p:txBody>
      </p:sp>
      <p:sp>
        <p:nvSpPr>
          <p:cNvPr id="38" name="Rectangle: Top Corners Rounded 37">
            <a:extLst>
              <a:ext uri="{FF2B5EF4-FFF2-40B4-BE49-F238E27FC236}">
                <a16:creationId xmlns:a16="http://schemas.microsoft.com/office/drawing/2014/main" id="{D37FFF8D-0678-56DF-0387-A2F1F3821E09}"/>
              </a:ext>
            </a:extLst>
          </p:cNvPr>
          <p:cNvSpPr>
            <a:spLocks/>
          </p:cNvSpPr>
          <p:nvPr/>
        </p:nvSpPr>
        <p:spPr>
          <a:xfrm rot="16200000" flipH="1">
            <a:off x="6209987" y="-2095007"/>
            <a:ext cx="542525" cy="10059704"/>
          </a:xfrm>
          <a:prstGeom prst="round2SameRect">
            <a:avLst>
              <a:gd name="adj1" fmla="val 27761"/>
              <a:gd name="adj2" fmla="val 0"/>
            </a:avLst>
          </a:prstGeom>
          <a:solidFill>
            <a:srgbClr val="FFFFFF"/>
          </a:solidFill>
          <a:ln w="9525" cap="flat" cmpd="sng" algn="ctr">
            <a:gradFill flip="none" rotWithShape="1">
              <a:gsLst>
                <a:gs pos="44263">
                  <a:srgbClr val="0070C0"/>
                </a:gs>
                <a:gs pos="1000">
                  <a:schemeClr val="tx1"/>
                </a:gs>
                <a:gs pos="100000">
                  <a:srgbClr val="35A4E8"/>
                </a:gs>
              </a:gsLst>
              <a:lin ang="5400000" scaled="1"/>
              <a:tileRect/>
            </a:gradFill>
            <a:prstDash val="solid"/>
            <a:round/>
            <a:headEnd type="none" w="med" len="med"/>
            <a:tailEnd type="none" w="med" len="med"/>
          </a:ln>
          <a:effectLst/>
        </p:spPr>
        <p:txBody>
          <a:bodyPr vert="vert" wrap="square" lIns="40500" tIns="40500" rIns="40500" bIns="40500" numCol="1" rtlCol="0" anchor="ctr" anchorCtr="0" compatLnSpc="1">
            <a:prstTxWarp prst="textNoShape">
              <a:avLst/>
            </a:prstTxWarp>
          </a:bodyPr>
          <a:lstStyle/>
          <a:p>
            <a:pPr defTabSz="746522" rtl="1"/>
            <a:r>
              <a:rPr lang="en-IN" sz="1200" b="1" kern="0">
                <a:solidFill>
                  <a:srgbClr val="000000"/>
                </a:solidFill>
                <a:latin typeface="EYInterstate Light" panose="02000506000000020004" pitchFamily="2" charset="0"/>
                <a:cs typeface="Sakkal Majalla" panose="02000000000000000000" pitchFamily="2" charset="-78"/>
              </a:rPr>
              <a:t>Degree of risk transfer </a:t>
            </a:r>
            <a:r>
              <a:rPr lang="en-IN" sz="1200" kern="0">
                <a:solidFill>
                  <a:srgbClr val="000000"/>
                </a:solidFill>
                <a:latin typeface="EYInterstate Light" panose="02000506000000020004" pitchFamily="2" charset="0"/>
                <a:cs typeface="Sakkal Majalla" panose="02000000000000000000" pitchFamily="2" charset="-78"/>
              </a:rPr>
              <a:t>- allocating project risks to the private entity based on their capacity to manage them effectively (e.g. construction risk, operation risk, certainty of demand over the services, availability payment structure, fees collection, maintenance, lifecycle risk)</a:t>
            </a:r>
          </a:p>
        </p:txBody>
      </p:sp>
      <p:cxnSp>
        <p:nvCxnSpPr>
          <p:cNvPr id="43" name="Straight Connector 42">
            <a:extLst>
              <a:ext uri="{FF2B5EF4-FFF2-40B4-BE49-F238E27FC236}">
                <a16:creationId xmlns:a16="http://schemas.microsoft.com/office/drawing/2014/main" id="{BC7F500D-17C0-B10F-EA91-B6D1C39A9132}"/>
              </a:ext>
            </a:extLst>
          </p:cNvPr>
          <p:cNvCxnSpPr>
            <a:cxnSpLocks/>
            <a:stCxn id="17" idx="3"/>
            <a:endCxn id="38" idx="3"/>
          </p:cNvCxnSpPr>
          <p:nvPr/>
        </p:nvCxnSpPr>
        <p:spPr>
          <a:xfrm>
            <a:off x="1311894" y="2934846"/>
            <a:ext cx="139504" cy="0"/>
          </a:xfrm>
          <a:prstGeom prst="line">
            <a:avLst/>
          </a:prstGeom>
          <a:ln>
            <a:solidFill>
              <a:srgbClr val="1A9AFA"/>
            </a:solidFill>
            <a:headEnd type="diamond" w="sm" len="sm"/>
            <a:tailEnd type="diamond" w="sm" len="sm"/>
          </a:ln>
        </p:spPr>
        <p:style>
          <a:lnRef idx="1">
            <a:schemeClr val="dk1"/>
          </a:lnRef>
          <a:fillRef idx="0">
            <a:schemeClr val="dk1"/>
          </a:fillRef>
          <a:effectRef idx="0">
            <a:schemeClr val="dk1"/>
          </a:effectRef>
          <a:fontRef idx="minor">
            <a:schemeClr val="tx1"/>
          </a:fontRef>
        </p:style>
      </p:cxnSp>
      <p:sp>
        <p:nvSpPr>
          <p:cNvPr id="72" name="Rectangle: Top Corners Rounded 71">
            <a:extLst>
              <a:ext uri="{FF2B5EF4-FFF2-40B4-BE49-F238E27FC236}">
                <a16:creationId xmlns:a16="http://schemas.microsoft.com/office/drawing/2014/main" id="{68657D2E-1E37-F69F-5937-8DAC9A0BD05A}"/>
              </a:ext>
            </a:extLst>
          </p:cNvPr>
          <p:cNvSpPr>
            <a:spLocks/>
          </p:cNvSpPr>
          <p:nvPr/>
        </p:nvSpPr>
        <p:spPr>
          <a:xfrm rot="16200000" flipH="1">
            <a:off x="6209987" y="-1477032"/>
            <a:ext cx="542525" cy="10059704"/>
          </a:xfrm>
          <a:prstGeom prst="round2SameRect">
            <a:avLst>
              <a:gd name="adj1" fmla="val 27761"/>
              <a:gd name="adj2" fmla="val 0"/>
            </a:avLst>
          </a:prstGeom>
          <a:solidFill>
            <a:srgbClr val="FFFFFF"/>
          </a:solidFill>
          <a:ln w="9525" cap="flat" cmpd="sng" algn="ctr">
            <a:gradFill flip="none" rotWithShape="1">
              <a:gsLst>
                <a:gs pos="44263">
                  <a:srgbClr val="0070C0"/>
                </a:gs>
                <a:gs pos="1000">
                  <a:schemeClr val="tx1"/>
                </a:gs>
                <a:gs pos="100000">
                  <a:srgbClr val="35A4E8"/>
                </a:gs>
              </a:gsLst>
              <a:lin ang="5400000" scaled="1"/>
              <a:tileRect/>
            </a:gradFill>
            <a:prstDash val="solid"/>
            <a:round/>
            <a:headEnd type="none" w="med" len="med"/>
            <a:tailEnd type="none" w="med" len="med"/>
          </a:ln>
          <a:effectLst/>
        </p:spPr>
        <p:txBody>
          <a:bodyPr vert="vert" wrap="square" lIns="40500" tIns="40500" rIns="40500" bIns="40500" numCol="1" rtlCol="0" anchor="ctr" anchorCtr="0" compatLnSpc="1">
            <a:prstTxWarp prst="textNoShape">
              <a:avLst/>
            </a:prstTxWarp>
          </a:bodyPr>
          <a:lstStyle/>
          <a:p>
            <a:pPr defTabSz="746522" rtl="1"/>
            <a:r>
              <a:rPr lang="en-IN" sz="1200" b="1" kern="0">
                <a:solidFill>
                  <a:srgbClr val="000000"/>
                </a:solidFill>
                <a:latin typeface="EYInterstate Light" panose="02000506000000020004" pitchFamily="2" charset="0"/>
                <a:cs typeface="Sakkal Majalla" panose="02000000000000000000" pitchFamily="2" charset="-78"/>
              </a:rPr>
              <a:t>Project complexity </a:t>
            </a:r>
            <a:r>
              <a:rPr lang="en-IN" sz="1200" kern="0">
                <a:solidFill>
                  <a:srgbClr val="000000"/>
                </a:solidFill>
                <a:latin typeface="EYInterstate Light" panose="02000506000000020004" pitchFamily="2" charset="0"/>
                <a:cs typeface="Sakkal Majalla" panose="02000000000000000000" pitchFamily="2" charset="-78"/>
              </a:rPr>
              <a:t>- assessing technical, financial and operational interdependencies that may influence procurement strategy.</a:t>
            </a:r>
          </a:p>
        </p:txBody>
      </p:sp>
      <p:cxnSp>
        <p:nvCxnSpPr>
          <p:cNvPr id="73" name="Straight Connector 72">
            <a:extLst>
              <a:ext uri="{FF2B5EF4-FFF2-40B4-BE49-F238E27FC236}">
                <a16:creationId xmlns:a16="http://schemas.microsoft.com/office/drawing/2014/main" id="{0D121450-264B-5719-34C6-0C2383AEB43B}"/>
              </a:ext>
            </a:extLst>
          </p:cNvPr>
          <p:cNvCxnSpPr>
            <a:cxnSpLocks/>
            <a:stCxn id="71" idx="3"/>
            <a:endCxn id="72" idx="3"/>
          </p:cNvCxnSpPr>
          <p:nvPr/>
        </p:nvCxnSpPr>
        <p:spPr>
          <a:xfrm>
            <a:off x="1311894" y="3552821"/>
            <a:ext cx="139504" cy="0"/>
          </a:xfrm>
          <a:prstGeom prst="line">
            <a:avLst/>
          </a:prstGeom>
          <a:ln>
            <a:solidFill>
              <a:srgbClr val="1A9AFA"/>
            </a:solidFill>
            <a:headEnd type="diamond" w="sm" len="sm"/>
            <a:tailEnd type="diamond" w="sm" len="sm"/>
          </a:ln>
        </p:spPr>
        <p:style>
          <a:lnRef idx="1">
            <a:schemeClr val="dk1"/>
          </a:lnRef>
          <a:fillRef idx="0">
            <a:schemeClr val="dk1"/>
          </a:fillRef>
          <a:effectRef idx="0">
            <a:schemeClr val="dk1"/>
          </a:effectRef>
          <a:fontRef idx="minor">
            <a:schemeClr val="tx1"/>
          </a:fontRef>
        </p:style>
      </p:cxnSp>
      <p:sp>
        <p:nvSpPr>
          <p:cNvPr id="77" name="Rectangle: Top Corners Rounded 76">
            <a:extLst>
              <a:ext uri="{FF2B5EF4-FFF2-40B4-BE49-F238E27FC236}">
                <a16:creationId xmlns:a16="http://schemas.microsoft.com/office/drawing/2014/main" id="{A2424BBC-FF9F-CB84-70C1-9FDB3492A413}"/>
              </a:ext>
            </a:extLst>
          </p:cNvPr>
          <p:cNvSpPr>
            <a:spLocks/>
          </p:cNvSpPr>
          <p:nvPr/>
        </p:nvSpPr>
        <p:spPr>
          <a:xfrm rot="16200000" flipH="1">
            <a:off x="6209987" y="-859057"/>
            <a:ext cx="542525" cy="10059704"/>
          </a:xfrm>
          <a:prstGeom prst="round2SameRect">
            <a:avLst>
              <a:gd name="adj1" fmla="val 27761"/>
              <a:gd name="adj2" fmla="val 0"/>
            </a:avLst>
          </a:prstGeom>
          <a:solidFill>
            <a:srgbClr val="FFFFFF"/>
          </a:solidFill>
          <a:ln w="9525" cap="flat" cmpd="sng" algn="ctr">
            <a:gradFill flip="none" rotWithShape="1">
              <a:gsLst>
                <a:gs pos="44263">
                  <a:srgbClr val="0070C0"/>
                </a:gs>
                <a:gs pos="1000">
                  <a:schemeClr val="tx1"/>
                </a:gs>
                <a:gs pos="100000">
                  <a:srgbClr val="35A4E8"/>
                </a:gs>
              </a:gsLst>
              <a:lin ang="5400000" scaled="1"/>
              <a:tileRect/>
            </a:gradFill>
            <a:prstDash val="solid"/>
            <a:round/>
            <a:headEnd type="none" w="med" len="med"/>
            <a:tailEnd type="none" w="med" len="med"/>
          </a:ln>
          <a:effectLst/>
        </p:spPr>
        <p:txBody>
          <a:bodyPr vert="vert" wrap="square" lIns="40500" tIns="40500" rIns="40500" bIns="40500" numCol="1" rtlCol="0" anchor="ctr" anchorCtr="0" compatLnSpc="1">
            <a:prstTxWarp prst="textNoShape">
              <a:avLst/>
            </a:prstTxWarp>
          </a:bodyPr>
          <a:lstStyle/>
          <a:p>
            <a:pPr defTabSz="746522" rtl="1"/>
            <a:r>
              <a:rPr lang="en-IN" sz="1200" b="1" kern="0" dirty="0">
                <a:solidFill>
                  <a:srgbClr val="000000"/>
                </a:solidFill>
                <a:latin typeface="EYInterstate Light" panose="02000506000000020004" pitchFamily="2" charset="0"/>
                <a:cs typeface="Sakkal Majalla" panose="02000000000000000000" pitchFamily="2" charset="-78"/>
              </a:rPr>
              <a:t>Market appetite </a:t>
            </a:r>
            <a:r>
              <a:rPr lang="en-IN" sz="1200" kern="0" dirty="0">
                <a:solidFill>
                  <a:srgbClr val="000000"/>
                </a:solidFill>
                <a:latin typeface="EYInterstate Light" panose="02000506000000020004" pitchFamily="2" charset="0"/>
                <a:cs typeface="Sakkal Majalla" panose="02000000000000000000" pitchFamily="2" charset="-78"/>
              </a:rPr>
              <a:t>- gauging the interest and capability of potential partners to undertake and sustain the project in a manner and structure that they are accustomed to.</a:t>
            </a:r>
          </a:p>
        </p:txBody>
      </p:sp>
      <p:cxnSp>
        <p:nvCxnSpPr>
          <p:cNvPr id="78" name="Straight Connector 77">
            <a:extLst>
              <a:ext uri="{FF2B5EF4-FFF2-40B4-BE49-F238E27FC236}">
                <a16:creationId xmlns:a16="http://schemas.microsoft.com/office/drawing/2014/main" id="{CECC2991-11EC-F381-128C-612723977FD9}"/>
              </a:ext>
            </a:extLst>
          </p:cNvPr>
          <p:cNvCxnSpPr>
            <a:cxnSpLocks/>
            <a:stCxn id="76" idx="3"/>
            <a:endCxn id="77" idx="3"/>
          </p:cNvCxnSpPr>
          <p:nvPr/>
        </p:nvCxnSpPr>
        <p:spPr>
          <a:xfrm>
            <a:off x="1311894" y="4170796"/>
            <a:ext cx="139504" cy="0"/>
          </a:xfrm>
          <a:prstGeom prst="line">
            <a:avLst/>
          </a:prstGeom>
          <a:ln>
            <a:solidFill>
              <a:srgbClr val="1A9AFA"/>
            </a:solidFill>
            <a:headEnd type="diamond" w="sm" len="sm"/>
            <a:tailEnd type="diamond" w="sm" len="sm"/>
          </a:ln>
        </p:spPr>
        <p:style>
          <a:lnRef idx="1">
            <a:schemeClr val="dk1"/>
          </a:lnRef>
          <a:fillRef idx="0">
            <a:schemeClr val="dk1"/>
          </a:fillRef>
          <a:effectRef idx="0">
            <a:schemeClr val="dk1"/>
          </a:effectRef>
          <a:fontRef idx="minor">
            <a:schemeClr val="tx1"/>
          </a:fontRef>
        </p:style>
      </p:cxnSp>
      <p:sp>
        <p:nvSpPr>
          <p:cNvPr id="82" name="Rectangle: Top Corners Rounded 81">
            <a:extLst>
              <a:ext uri="{FF2B5EF4-FFF2-40B4-BE49-F238E27FC236}">
                <a16:creationId xmlns:a16="http://schemas.microsoft.com/office/drawing/2014/main" id="{8B703B17-428E-927F-EE5F-112D953F02B5}"/>
              </a:ext>
            </a:extLst>
          </p:cNvPr>
          <p:cNvSpPr>
            <a:spLocks/>
          </p:cNvSpPr>
          <p:nvPr/>
        </p:nvSpPr>
        <p:spPr>
          <a:xfrm rot="16200000" flipH="1">
            <a:off x="6209987" y="-241082"/>
            <a:ext cx="542525" cy="10059704"/>
          </a:xfrm>
          <a:prstGeom prst="round2SameRect">
            <a:avLst>
              <a:gd name="adj1" fmla="val 27761"/>
              <a:gd name="adj2" fmla="val 0"/>
            </a:avLst>
          </a:prstGeom>
          <a:solidFill>
            <a:srgbClr val="FFFFFF"/>
          </a:solidFill>
          <a:ln w="9525" cap="flat" cmpd="sng" algn="ctr">
            <a:gradFill flip="none" rotWithShape="1">
              <a:gsLst>
                <a:gs pos="44263">
                  <a:srgbClr val="0070C0"/>
                </a:gs>
                <a:gs pos="1000">
                  <a:schemeClr val="tx1"/>
                </a:gs>
                <a:gs pos="100000">
                  <a:srgbClr val="35A4E8"/>
                </a:gs>
              </a:gsLst>
              <a:lin ang="5400000" scaled="1"/>
              <a:tileRect/>
            </a:gradFill>
            <a:prstDash val="solid"/>
            <a:round/>
            <a:headEnd type="none" w="med" len="med"/>
            <a:tailEnd type="none" w="med" len="med"/>
          </a:ln>
          <a:effectLst/>
        </p:spPr>
        <p:txBody>
          <a:bodyPr vert="vert" wrap="square" lIns="40500" tIns="40500" rIns="40500" bIns="40500" numCol="1" rtlCol="0" anchor="ctr" anchorCtr="0" compatLnSpc="1">
            <a:prstTxWarp prst="textNoShape">
              <a:avLst/>
            </a:prstTxWarp>
          </a:bodyPr>
          <a:lstStyle/>
          <a:p>
            <a:pPr defTabSz="746522" rtl="1"/>
            <a:r>
              <a:rPr lang="en-IN" sz="1200" b="1" kern="0">
                <a:solidFill>
                  <a:srgbClr val="000000"/>
                </a:solidFill>
                <a:latin typeface="EYInterstate Light" panose="02000506000000020004" pitchFamily="2" charset="0"/>
                <a:cs typeface="Sakkal Majalla" panose="02000000000000000000" pitchFamily="2" charset="-78"/>
              </a:rPr>
              <a:t>Revenue generation capacity </a:t>
            </a:r>
            <a:r>
              <a:rPr lang="en-IN" sz="1200" kern="0">
                <a:solidFill>
                  <a:srgbClr val="000000"/>
                </a:solidFill>
                <a:latin typeface="EYInterstate Light" panose="02000506000000020004" pitchFamily="2" charset="0"/>
                <a:cs typeface="Sakkal Majalla" panose="02000000000000000000" pitchFamily="2" charset="-78"/>
              </a:rPr>
              <a:t>– capacity of an assets to generate revenue (cashflow) and ability to coverage own Capex and/or </a:t>
            </a:r>
            <a:r>
              <a:rPr lang="en-IN" sz="1200" kern="0" err="1">
                <a:solidFill>
                  <a:srgbClr val="000000"/>
                </a:solidFill>
                <a:latin typeface="EYInterstate Light" panose="02000506000000020004" pitchFamily="2" charset="0"/>
                <a:cs typeface="Sakkal Majalla" panose="02000000000000000000" pitchFamily="2" charset="-78"/>
              </a:rPr>
              <a:t>Opex</a:t>
            </a:r>
            <a:r>
              <a:rPr lang="en-IN" sz="1200" kern="0">
                <a:solidFill>
                  <a:srgbClr val="000000"/>
                </a:solidFill>
                <a:latin typeface="EYInterstate Light" panose="02000506000000020004" pitchFamily="2" charset="0"/>
                <a:cs typeface="Sakkal Majalla" panose="02000000000000000000" pitchFamily="2" charset="-78"/>
              </a:rPr>
              <a:t> over whole lifecycle </a:t>
            </a:r>
          </a:p>
        </p:txBody>
      </p:sp>
      <p:cxnSp>
        <p:nvCxnSpPr>
          <p:cNvPr id="83" name="Straight Connector 82">
            <a:extLst>
              <a:ext uri="{FF2B5EF4-FFF2-40B4-BE49-F238E27FC236}">
                <a16:creationId xmlns:a16="http://schemas.microsoft.com/office/drawing/2014/main" id="{D1A0BD3E-46AC-E1D6-6586-6C3A52DC1BA6}"/>
              </a:ext>
            </a:extLst>
          </p:cNvPr>
          <p:cNvCxnSpPr>
            <a:cxnSpLocks/>
            <a:stCxn id="81" idx="3"/>
            <a:endCxn id="82" idx="3"/>
          </p:cNvCxnSpPr>
          <p:nvPr/>
        </p:nvCxnSpPr>
        <p:spPr>
          <a:xfrm>
            <a:off x="1311894" y="4788771"/>
            <a:ext cx="139504" cy="0"/>
          </a:xfrm>
          <a:prstGeom prst="line">
            <a:avLst/>
          </a:prstGeom>
          <a:ln>
            <a:solidFill>
              <a:srgbClr val="1A9AFA"/>
            </a:solidFill>
            <a:headEnd type="diamond" w="sm" len="sm"/>
            <a:tailEnd type="diamond" w="sm" len="sm"/>
          </a:ln>
        </p:spPr>
        <p:style>
          <a:lnRef idx="1">
            <a:schemeClr val="dk1"/>
          </a:lnRef>
          <a:fillRef idx="0">
            <a:schemeClr val="dk1"/>
          </a:fillRef>
          <a:effectRef idx="0">
            <a:schemeClr val="dk1"/>
          </a:effectRef>
          <a:fontRef idx="minor">
            <a:schemeClr val="tx1"/>
          </a:fontRef>
        </p:style>
      </p:cxnSp>
      <p:sp>
        <p:nvSpPr>
          <p:cNvPr id="87" name="Rectangle: Top Corners Rounded 86">
            <a:extLst>
              <a:ext uri="{FF2B5EF4-FFF2-40B4-BE49-F238E27FC236}">
                <a16:creationId xmlns:a16="http://schemas.microsoft.com/office/drawing/2014/main" id="{4BA7CC7D-8971-23DC-77F1-BEAE2C2161A4}"/>
              </a:ext>
            </a:extLst>
          </p:cNvPr>
          <p:cNvSpPr>
            <a:spLocks/>
          </p:cNvSpPr>
          <p:nvPr/>
        </p:nvSpPr>
        <p:spPr>
          <a:xfrm rot="16200000" flipH="1">
            <a:off x="6209987" y="376893"/>
            <a:ext cx="542525" cy="10059704"/>
          </a:xfrm>
          <a:prstGeom prst="round2SameRect">
            <a:avLst>
              <a:gd name="adj1" fmla="val 27761"/>
              <a:gd name="adj2" fmla="val 0"/>
            </a:avLst>
          </a:prstGeom>
          <a:solidFill>
            <a:srgbClr val="FFFFFF"/>
          </a:solidFill>
          <a:ln w="9525" cap="flat" cmpd="sng" algn="ctr">
            <a:gradFill flip="none" rotWithShape="1">
              <a:gsLst>
                <a:gs pos="44263">
                  <a:srgbClr val="0070C0"/>
                </a:gs>
                <a:gs pos="1000">
                  <a:schemeClr val="tx1"/>
                </a:gs>
                <a:gs pos="100000">
                  <a:srgbClr val="35A4E8"/>
                </a:gs>
              </a:gsLst>
              <a:lin ang="5400000" scaled="1"/>
              <a:tileRect/>
            </a:gradFill>
            <a:prstDash val="solid"/>
            <a:round/>
            <a:headEnd type="none" w="med" len="med"/>
            <a:tailEnd type="none" w="med" len="med"/>
          </a:ln>
          <a:effectLst/>
        </p:spPr>
        <p:txBody>
          <a:bodyPr vert="vert" wrap="square" lIns="40500" tIns="40500" rIns="40500" bIns="40500" numCol="1" rtlCol="0" anchor="ctr" anchorCtr="0" compatLnSpc="1">
            <a:prstTxWarp prst="textNoShape">
              <a:avLst/>
            </a:prstTxWarp>
          </a:bodyPr>
          <a:lstStyle/>
          <a:p>
            <a:pPr defTabSz="746522" rtl="1"/>
            <a:r>
              <a:rPr lang="en-IN" sz="1200" b="1" kern="0">
                <a:solidFill>
                  <a:srgbClr val="000000"/>
                </a:solidFill>
                <a:latin typeface="EYInterstate Light" panose="02000506000000020004" pitchFamily="2" charset="0"/>
                <a:cs typeface="Sakkal Majalla" panose="02000000000000000000" pitchFamily="2" charset="-78"/>
              </a:rPr>
              <a:t>Delivery timeline </a:t>
            </a:r>
            <a:r>
              <a:rPr lang="en-IN" sz="1200" kern="0">
                <a:solidFill>
                  <a:srgbClr val="000000"/>
                </a:solidFill>
                <a:latin typeface="EYInterstate Light" panose="02000506000000020004" pitchFamily="2" charset="0"/>
                <a:cs typeface="Sakkal Majalla" panose="02000000000000000000" pitchFamily="2" charset="-78"/>
              </a:rPr>
              <a:t>- ensuring the project is completed within the required timeframe to meet strategic objectives.</a:t>
            </a:r>
          </a:p>
        </p:txBody>
      </p:sp>
      <p:cxnSp>
        <p:nvCxnSpPr>
          <p:cNvPr id="88" name="Straight Connector 87">
            <a:extLst>
              <a:ext uri="{FF2B5EF4-FFF2-40B4-BE49-F238E27FC236}">
                <a16:creationId xmlns:a16="http://schemas.microsoft.com/office/drawing/2014/main" id="{CAFFAAD3-5409-EDF6-C463-311489788AA8}"/>
              </a:ext>
            </a:extLst>
          </p:cNvPr>
          <p:cNvCxnSpPr>
            <a:cxnSpLocks/>
            <a:stCxn id="86" idx="3"/>
            <a:endCxn id="87" idx="3"/>
          </p:cNvCxnSpPr>
          <p:nvPr/>
        </p:nvCxnSpPr>
        <p:spPr>
          <a:xfrm>
            <a:off x="1311894" y="5406746"/>
            <a:ext cx="139504" cy="0"/>
          </a:xfrm>
          <a:prstGeom prst="line">
            <a:avLst/>
          </a:prstGeom>
          <a:ln>
            <a:solidFill>
              <a:srgbClr val="1A9AFA"/>
            </a:solidFill>
            <a:headEnd type="diamond" w="sm" len="sm"/>
            <a:tailEnd type="diamond" w="sm" len="sm"/>
          </a:ln>
        </p:spPr>
        <p:style>
          <a:lnRef idx="1">
            <a:schemeClr val="dk1"/>
          </a:lnRef>
          <a:fillRef idx="0">
            <a:schemeClr val="dk1"/>
          </a:fillRef>
          <a:effectRef idx="0">
            <a:schemeClr val="dk1"/>
          </a:effectRef>
          <a:fontRef idx="minor">
            <a:schemeClr val="tx1"/>
          </a:fontRef>
        </p:style>
      </p:cxnSp>
      <p:sp>
        <p:nvSpPr>
          <p:cNvPr id="92" name="Rectangle: Top Corners Rounded 91">
            <a:extLst>
              <a:ext uri="{FF2B5EF4-FFF2-40B4-BE49-F238E27FC236}">
                <a16:creationId xmlns:a16="http://schemas.microsoft.com/office/drawing/2014/main" id="{9B4BEE94-FBE9-21D3-3AAE-A80D7E00AD1A}"/>
              </a:ext>
            </a:extLst>
          </p:cNvPr>
          <p:cNvSpPr>
            <a:spLocks/>
          </p:cNvSpPr>
          <p:nvPr/>
        </p:nvSpPr>
        <p:spPr>
          <a:xfrm rot="16200000" flipH="1">
            <a:off x="6209987" y="994868"/>
            <a:ext cx="542525" cy="10059704"/>
          </a:xfrm>
          <a:prstGeom prst="round2SameRect">
            <a:avLst>
              <a:gd name="adj1" fmla="val 27761"/>
              <a:gd name="adj2" fmla="val 0"/>
            </a:avLst>
          </a:prstGeom>
          <a:solidFill>
            <a:srgbClr val="FFFFFF"/>
          </a:solidFill>
          <a:ln w="9525" cap="flat" cmpd="sng" algn="ctr">
            <a:gradFill flip="none" rotWithShape="1">
              <a:gsLst>
                <a:gs pos="44263">
                  <a:srgbClr val="0070C0"/>
                </a:gs>
                <a:gs pos="1000">
                  <a:schemeClr val="tx1"/>
                </a:gs>
                <a:gs pos="100000">
                  <a:srgbClr val="35A4E8"/>
                </a:gs>
              </a:gsLst>
              <a:lin ang="5400000" scaled="1"/>
              <a:tileRect/>
            </a:gradFill>
            <a:prstDash val="solid"/>
            <a:round/>
            <a:headEnd type="none" w="med" len="med"/>
            <a:tailEnd type="none" w="med" len="med"/>
          </a:ln>
          <a:effectLst/>
        </p:spPr>
        <p:txBody>
          <a:bodyPr vert="vert" wrap="square" lIns="40500" tIns="40500" rIns="40500" bIns="40500" numCol="1" rtlCol="0" anchor="ctr" anchorCtr="0" compatLnSpc="1">
            <a:prstTxWarp prst="textNoShape">
              <a:avLst/>
            </a:prstTxWarp>
          </a:bodyPr>
          <a:lstStyle/>
          <a:p>
            <a:pPr defTabSz="746522" rtl="1"/>
            <a:r>
              <a:rPr lang="en-IN" sz="1200" b="1" kern="0" dirty="0">
                <a:solidFill>
                  <a:srgbClr val="000000"/>
                </a:solidFill>
                <a:latin typeface="EYInterstate Light" panose="02000506000000020004" pitchFamily="2" charset="0"/>
                <a:cs typeface="Sakkal Majalla" panose="02000000000000000000" pitchFamily="2" charset="-78"/>
              </a:rPr>
              <a:t>Bankability and funding requirements </a:t>
            </a:r>
            <a:r>
              <a:rPr lang="en-IN" sz="1200" kern="0" dirty="0">
                <a:solidFill>
                  <a:srgbClr val="000000"/>
                </a:solidFill>
                <a:latin typeface="EYInterstate Light" panose="02000506000000020004" pitchFamily="2" charset="0"/>
                <a:cs typeface="Sakkal Majalla" panose="02000000000000000000" pitchFamily="2" charset="-78"/>
              </a:rPr>
              <a:t>- structuring the project to attract financing and meet the financial prerequisites for successful implementation. This is key as lender will not accept taking certain project risks such as construction and operation.</a:t>
            </a:r>
          </a:p>
        </p:txBody>
      </p:sp>
      <p:cxnSp>
        <p:nvCxnSpPr>
          <p:cNvPr id="93" name="Straight Connector 92">
            <a:extLst>
              <a:ext uri="{FF2B5EF4-FFF2-40B4-BE49-F238E27FC236}">
                <a16:creationId xmlns:a16="http://schemas.microsoft.com/office/drawing/2014/main" id="{3B3B47C2-DE12-D479-FDC6-899CD3CFE155}"/>
              </a:ext>
            </a:extLst>
          </p:cNvPr>
          <p:cNvCxnSpPr>
            <a:cxnSpLocks/>
            <a:stCxn id="91" idx="3"/>
            <a:endCxn id="92" idx="3"/>
          </p:cNvCxnSpPr>
          <p:nvPr/>
        </p:nvCxnSpPr>
        <p:spPr>
          <a:xfrm>
            <a:off x="1311894" y="6024721"/>
            <a:ext cx="139504" cy="0"/>
          </a:xfrm>
          <a:prstGeom prst="line">
            <a:avLst/>
          </a:prstGeom>
          <a:ln>
            <a:solidFill>
              <a:srgbClr val="1A9AFA"/>
            </a:solidFill>
            <a:headEnd type="diamond" w="sm" len="sm"/>
            <a:tailEnd type="diamond" w="sm" len="s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12530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284C7-5B5C-9897-FB2C-0F0CF91286E5}"/>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AAF282E-7F53-29CB-4A43-7DE98832E82F}"/>
              </a:ext>
            </a:extLst>
          </p:cNvPr>
          <p:cNvGraphicFramePr>
            <a:graphicFrameLocks noChangeAspect="1"/>
          </p:cNvGraphicFramePr>
          <p:nvPr>
            <p:custDataLst>
              <p:tags r:id="rId1"/>
            </p:custDataLst>
            <p:extLst>
              <p:ext uri="{D42A27DB-BD31-4B8C-83A1-F6EECF244321}">
                <p14:modId xmlns:p14="http://schemas.microsoft.com/office/powerpoint/2010/main" val="6669180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9" name="think-cell data - do not delete" hidden="1">
                        <a:extLst>
                          <a:ext uri="{FF2B5EF4-FFF2-40B4-BE49-F238E27FC236}">
                            <a16:creationId xmlns:a16="http://schemas.microsoft.com/office/drawing/2014/main" id="{9AAF282E-7F53-29CB-4A43-7DE98832E82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DBA492B-8EE9-A30F-B312-B9F19C348E53}"/>
              </a:ext>
            </a:extLst>
          </p:cNvPr>
          <p:cNvSpPr>
            <a:spLocks noGrp="1"/>
          </p:cNvSpPr>
          <p:nvPr>
            <p:ph type="title"/>
          </p:nvPr>
        </p:nvSpPr>
        <p:spPr/>
        <p:txBody>
          <a:bodyPr vert="horz"/>
          <a:lstStyle/>
          <a:p>
            <a:r>
              <a:rPr lang="en-IN" sz="2200" dirty="0">
                <a:sym typeface="Arial" panose="020B0604020202020204" pitchFamily="34" charset="0"/>
              </a:rPr>
              <a:t>Our Understanding and Point of View </a:t>
            </a:r>
            <a:r>
              <a:rPr kumimoji="0" lang="en-US" sz="2200" i="0" u="none" strike="noStrike" kern="0" cap="none" spc="0" normalizeH="0" baseline="0" noProof="0" dirty="0">
                <a:ln>
                  <a:noFill/>
                </a:ln>
                <a:solidFill>
                  <a:srgbClr val="000000"/>
                </a:solidFill>
                <a:effectLst/>
                <a:uLnTx/>
                <a:uFillTx/>
                <a:latin typeface="EYInterstate Light"/>
                <a:ea typeface="+mn-ea"/>
                <a:cs typeface="+mn-cs"/>
                <a:sym typeface="Arial" panose="020B0604020202020204" pitchFamily="34" charset="0"/>
              </a:rPr>
              <a:t> </a:t>
            </a:r>
            <a:br>
              <a:rPr lang="en-US" sz="2200" dirty="0">
                <a:sym typeface="Arial" panose="020B0604020202020204" pitchFamily="34" charset="0"/>
              </a:rPr>
            </a:br>
            <a:r>
              <a:rPr lang="en-US" sz="1600" dirty="0">
                <a:sym typeface="Arial" panose="020B0604020202020204" pitchFamily="34" charset="0"/>
              </a:rPr>
              <a:t>Key Considerations</a:t>
            </a:r>
          </a:p>
        </p:txBody>
      </p:sp>
      <p:sp>
        <p:nvSpPr>
          <p:cNvPr id="32" name="Text Placeholder 7">
            <a:extLst>
              <a:ext uri="{FF2B5EF4-FFF2-40B4-BE49-F238E27FC236}">
                <a16:creationId xmlns:a16="http://schemas.microsoft.com/office/drawing/2014/main" id="{19B68EC7-8AAB-4163-1CCB-6D33BB813E7A}"/>
              </a:ext>
            </a:extLst>
          </p:cNvPr>
          <p:cNvSpPr txBox="1">
            <a:spLocks/>
          </p:cNvSpPr>
          <p:nvPr/>
        </p:nvSpPr>
        <p:spPr>
          <a:xfrm>
            <a:off x="701365" y="1191917"/>
            <a:ext cx="10974283" cy="376352"/>
          </a:xfrm>
          <a:prstGeom prst="roundRect">
            <a:avLst/>
          </a:prstGeom>
          <a:solidFill>
            <a:srgbClr val="D2D2DA"/>
          </a:solidFill>
        </p:spPr>
        <p:txBody>
          <a:bodyPr/>
          <a:lstStyle>
            <a:lvl1pPr marL="171364"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1pPr>
            <a:lvl2pPr marL="342729"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2pPr>
            <a:lvl3pPr marL="514093"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3pPr>
            <a:lvl4pPr marL="685457"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4pPr>
            <a:lvl5pPr marL="856821"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pPr marL="0" marR="0" lvl="0" indent="0" algn="l" defTabSz="913943" rtl="0" eaLnBrk="1" fontAlgn="auto" latinLnBrk="0" hangingPunct="1">
              <a:lnSpc>
                <a:spcPct val="100000"/>
              </a:lnSpc>
              <a:spcBef>
                <a:spcPct val="20000"/>
              </a:spcBef>
              <a:spcAft>
                <a:spcPts val="0"/>
              </a:spcAft>
              <a:buClr>
                <a:srgbClr val="1A9AFA"/>
              </a:buClr>
              <a:buSzPct val="75000"/>
              <a:buFont typeface="Wingdings 3" panose="05040102010807070707" pitchFamily="18" charset="2"/>
              <a:buNone/>
              <a:tabLst/>
              <a:defRPr/>
            </a:pPr>
            <a:r>
              <a:rPr kumimoji="0" lang="en-IN" sz="1000" b="0" i="0" u="none" strike="noStrike" kern="1200" cap="none" spc="0" normalizeH="0" baseline="0" noProof="0">
                <a:ln>
                  <a:noFill/>
                </a:ln>
                <a:solidFill>
                  <a:srgbClr val="2E2E38"/>
                </a:solidFill>
                <a:effectLst/>
                <a:uLnTx/>
                <a:uFillTx/>
                <a:latin typeface="Arial" panose="020B0604020202020204" pitchFamily="34" charset="0"/>
                <a:ea typeface="+mn-ea"/>
                <a:cs typeface="+mn-cs"/>
                <a:sym typeface="Arial" panose="020B0604020202020204" pitchFamily="34" charset="0"/>
              </a:rPr>
              <a:t>Engaging the private sector offers a pathway to accelerate </a:t>
            </a:r>
            <a:r>
              <a:rPr lang="en-IN" sz="1000">
                <a:solidFill>
                  <a:srgbClr val="2E2E38"/>
                </a:solidFill>
              </a:rPr>
              <a:t>development</a:t>
            </a:r>
            <a:r>
              <a:rPr kumimoji="0" lang="en-IN" sz="1000" b="0" i="0" u="none" strike="noStrike" kern="1200" cap="none" spc="0" normalizeH="0" baseline="0" noProof="0">
                <a:ln>
                  <a:noFill/>
                </a:ln>
                <a:solidFill>
                  <a:srgbClr val="2E2E38"/>
                </a:solidFill>
                <a:effectLst/>
                <a:uLnTx/>
                <a:uFillTx/>
                <a:latin typeface="Arial" panose="020B0604020202020204" pitchFamily="34" charset="0"/>
                <a:ea typeface="+mn-ea"/>
                <a:cs typeface="+mn-cs"/>
                <a:sym typeface="Arial" panose="020B0604020202020204" pitchFamily="34" charset="0"/>
              </a:rPr>
              <a:t>. The following are some private sector models that can be considered.</a:t>
            </a:r>
          </a:p>
        </p:txBody>
      </p:sp>
      <p:sp>
        <p:nvSpPr>
          <p:cNvPr id="33" name="Rectangle 13">
            <a:extLst>
              <a:ext uri="{FF2B5EF4-FFF2-40B4-BE49-F238E27FC236}">
                <a16:creationId xmlns:a16="http://schemas.microsoft.com/office/drawing/2014/main" id="{CEC7A12B-7892-1BDD-F963-9D1648E8C83F}"/>
              </a:ext>
            </a:extLst>
          </p:cNvPr>
          <p:cNvSpPr/>
          <p:nvPr/>
        </p:nvSpPr>
        <p:spPr>
          <a:xfrm flipH="1" flipV="1">
            <a:off x="7473040" y="5671942"/>
            <a:ext cx="448551" cy="720260"/>
          </a:xfrm>
          <a:custGeom>
            <a:avLst/>
            <a:gdLst>
              <a:gd name="connsiteX0" fmla="*/ 0 w 2133600"/>
              <a:gd name="connsiteY0" fmla="*/ 0 h 1488830"/>
              <a:gd name="connsiteX1" fmla="*/ 2133600 w 2133600"/>
              <a:gd name="connsiteY1" fmla="*/ 0 h 1488830"/>
              <a:gd name="connsiteX2" fmla="*/ 2133600 w 2133600"/>
              <a:gd name="connsiteY2" fmla="*/ 1488830 h 1488830"/>
              <a:gd name="connsiteX3" fmla="*/ 0 w 2133600"/>
              <a:gd name="connsiteY3" fmla="*/ 1488830 h 1488830"/>
              <a:gd name="connsiteX4" fmla="*/ 0 w 2133600"/>
              <a:gd name="connsiteY4" fmla="*/ 0 h 1488830"/>
              <a:gd name="connsiteX0" fmla="*/ 2133600 w 2225040"/>
              <a:gd name="connsiteY0" fmla="*/ 0 h 1488830"/>
              <a:gd name="connsiteX1" fmla="*/ 2133600 w 2225040"/>
              <a:gd name="connsiteY1" fmla="*/ 1488830 h 1488830"/>
              <a:gd name="connsiteX2" fmla="*/ 0 w 2225040"/>
              <a:gd name="connsiteY2" fmla="*/ 1488830 h 1488830"/>
              <a:gd name="connsiteX3" fmla="*/ 0 w 2225040"/>
              <a:gd name="connsiteY3" fmla="*/ 0 h 1488830"/>
              <a:gd name="connsiteX4" fmla="*/ 2225040 w 2225040"/>
              <a:gd name="connsiteY4" fmla="*/ 91440 h 1488830"/>
              <a:gd name="connsiteX0" fmla="*/ 2133600 w 2133600"/>
              <a:gd name="connsiteY0" fmla="*/ 0 h 1488830"/>
              <a:gd name="connsiteX1" fmla="*/ 2133600 w 2133600"/>
              <a:gd name="connsiteY1" fmla="*/ 1488830 h 1488830"/>
              <a:gd name="connsiteX2" fmla="*/ 0 w 2133600"/>
              <a:gd name="connsiteY2" fmla="*/ 1488830 h 1488830"/>
              <a:gd name="connsiteX3" fmla="*/ 0 w 2133600"/>
              <a:gd name="connsiteY3" fmla="*/ 0 h 1488830"/>
              <a:gd name="connsiteX0" fmla="*/ 2133600 w 2133600"/>
              <a:gd name="connsiteY0" fmla="*/ 1488830 h 1488830"/>
              <a:gd name="connsiteX1" fmla="*/ 0 w 2133600"/>
              <a:gd name="connsiteY1" fmla="*/ 1488830 h 1488830"/>
              <a:gd name="connsiteX2" fmla="*/ 0 w 2133600"/>
              <a:gd name="connsiteY2" fmla="*/ 0 h 1488830"/>
              <a:gd name="connsiteX0" fmla="*/ 1184031 w 1184031"/>
              <a:gd name="connsiteY0" fmla="*/ 1946030 h 1946030"/>
              <a:gd name="connsiteX1" fmla="*/ 0 w 1184031"/>
              <a:gd name="connsiteY1" fmla="*/ 1488830 h 1946030"/>
              <a:gd name="connsiteX2" fmla="*/ 0 w 1184031"/>
              <a:gd name="connsiteY2" fmla="*/ 0 h 1946030"/>
              <a:gd name="connsiteX0" fmla="*/ 1448697 w 1448697"/>
              <a:gd name="connsiteY0" fmla="*/ 4496000 h 4496000"/>
              <a:gd name="connsiteX1" fmla="*/ 0 w 1448697"/>
              <a:gd name="connsiteY1" fmla="*/ 1488830 h 4496000"/>
              <a:gd name="connsiteX2" fmla="*/ 0 w 1448697"/>
              <a:gd name="connsiteY2" fmla="*/ 0 h 4496000"/>
              <a:gd name="connsiteX0" fmla="*/ 1448697 w 1448697"/>
              <a:gd name="connsiteY0" fmla="*/ 8992000 h 8992000"/>
              <a:gd name="connsiteX1" fmla="*/ 0 w 1448697"/>
              <a:gd name="connsiteY1" fmla="*/ 5984830 h 8992000"/>
              <a:gd name="connsiteX2" fmla="*/ 0 w 1448697"/>
              <a:gd name="connsiteY2" fmla="*/ 0 h 8992000"/>
            </a:gdLst>
            <a:ahLst/>
            <a:cxnLst>
              <a:cxn ang="0">
                <a:pos x="connsiteX0" y="connsiteY0"/>
              </a:cxn>
              <a:cxn ang="0">
                <a:pos x="connsiteX1" y="connsiteY1"/>
              </a:cxn>
              <a:cxn ang="0">
                <a:pos x="connsiteX2" y="connsiteY2"/>
              </a:cxn>
            </a:cxnLst>
            <a:rect l="l" t="t" r="r" b="b"/>
            <a:pathLst>
              <a:path w="1448697" h="8992000">
                <a:moveTo>
                  <a:pt x="1448697" y="8992000"/>
                </a:moveTo>
                <a:lnTo>
                  <a:pt x="0" y="5984830"/>
                </a:lnTo>
                <a:lnTo>
                  <a:pt x="0" y="0"/>
                </a:lnTo>
              </a:path>
            </a:pathLst>
          </a:custGeom>
          <a:noFill/>
          <a:ln w="6350" cap="flat" cmpd="sng" algn="ctr">
            <a:solidFill>
              <a:srgbClr val="808080"/>
            </a:solidFill>
            <a:prstDash val="solid"/>
          </a:ln>
          <a:effectLst/>
        </p:spPr>
        <p:txBody>
          <a:bodyPr rtlCol="0" anchor="ctr"/>
          <a:lstStyle/>
          <a:p>
            <a:pPr algn="ctr" defTabSz="914400">
              <a:defRPr/>
            </a:pPr>
            <a:endParaRPr lang="en-IN" sz="1600" kern="0">
              <a:solidFill>
                <a:srgbClr val="808080"/>
              </a:solidFill>
              <a:latin typeface="Arial" panose="020B0604020202020204"/>
            </a:endParaRPr>
          </a:p>
        </p:txBody>
      </p:sp>
      <p:sp>
        <p:nvSpPr>
          <p:cNvPr id="34" name="Rectangle 13">
            <a:extLst>
              <a:ext uri="{FF2B5EF4-FFF2-40B4-BE49-F238E27FC236}">
                <a16:creationId xmlns:a16="http://schemas.microsoft.com/office/drawing/2014/main" id="{92C4D879-0A5D-05D3-D630-1C94D8E06C53}"/>
              </a:ext>
            </a:extLst>
          </p:cNvPr>
          <p:cNvSpPr/>
          <p:nvPr/>
        </p:nvSpPr>
        <p:spPr>
          <a:xfrm flipH="1" flipV="1">
            <a:off x="9322798" y="3794905"/>
            <a:ext cx="447432" cy="720260"/>
          </a:xfrm>
          <a:custGeom>
            <a:avLst/>
            <a:gdLst>
              <a:gd name="connsiteX0" fmla="*/ 0 w 2133600"/>
              <a:gd name="connsiteY0" fmla="*/ 0 h 1488830"/>
              <a:gd name="connsiteX1" fmla="*/ 2133600 w 2133600"/>
              <a:gd name="connsiteY1" fmla="*/ 0 h 1488830"/>
              <a:gd name="connsiteX2" fmla="*/ 2133600 w 2133600"/>
              <a:gd name="connsiteY2" fmla="*/ 1488830 h 1488830"/>
              <a:gd name="connsiteX3" fmla="*/ 0 w 2133600"/>
              <a:gd name="connsiteY3" fmla="*/ 1488830 h 1488830"/>
              <a:gd name="connsiteX4" fmla="*/ 0 w 2133600"/>
              <a:gd name="connsiteY4" fmla="*/ 0 h 1488830"/>
              <a:gd name="connsiteX0" fmla="*/ 2133600 w 2225040"/>
              <a:gd name="connsiteY0" fmla="*/ 0 h 1488830"/>
              <a:gd name="connsiteX1" fmla="*/ 2133600 w 2225040"/>
              <a:gd name="connsiteY1" fmla="*/ 1488830 h 1488830"/>
              <a:gd name="connsiteX2" fmla="*/ 0 w 2225040"/>
              <a:gd name="connsiteY2" fmla="*/ 1488830 h 1488830"/>
              <a:gd name="connsiteX3" fmla="*/ 0 w 2225040"/>
              <a:gd name="connsiteY3" fmla="*/ 0 h 1488830"/>
              <a:gd name="connsiteX4" fmla="*/ 2225040 w 2225040"/>
              <a:gd name="connsiteY4" fmla="*/ 91440 h 1488830"/>
              <a:gd name="connsiteX0" fmla="*/ 2133600 w 2133600"/>
              <a:gd name="connsiteY0" fmla="*/ 0 h 1488830"/>
              <a:gd name="connsiteX1" fmla="*/ 2133600 w 2133600"/>
              <a:gd name="connsiteY1" fmla="*/ 1488830 h 1488830"/>
              <a:gd name="connsiteX2" fmla="*/ 0 w 2133600"/>
              <a:gd name="connsiteY2" fmla="*/ 1488830 h 1488830"/>
              <a:gd name="connsiteX3" fmla="*/ 0 w 2133600"/>
              <a:gd name="connsiteY3" fmla="*/ 0 h 1488830"/>
              <a:gd name="connsiteX0" fmla="*/ 2133600 w 2133600"/>
              <a:gd name="connsiteY0" fmla="*/ 1488830 h 1488830"/>
              <a:gd name="connsiteX1" fmla="*/ 0 w 2133600"/>
              <a:gd name="connsiteY1" fmla="*/ 1488830 h 1488830"/>
              <a:gd name="connsiteX2" fmla="*/ 0 w 2133600"/>
              <a:gd name="connsiteY2" fmla="*/ 0 h 1488830"/>
              <a:gd name="connsiteX0" fmla="*/ 1184031 w 1184031"/>
              <a:gd name="connsiteY0" fmla="*/ 1946030 h 1946030"/>
              <a:gd name="connsiteX1" fmla="*/ 0 w 1184031"/>
              <a:gd name="connsiteY1" fmla="*/ 1488830 h 1946030"/>
              <a:gd name="connsiteX2" fmla="*/ 0 w 1184031"/>
              <a:gd name="connsiteY2" fmla="*/ 0 h 1946030"/>
              <a:gd name="connsiteX0" fmla="*/ 1448697 w 1448697"/>
              <a:gd name="connsiteY0" fmla="*/ 4496000 h 4496000"/>
              <a:gd name="connsiteX1" fmla="*/ 0 w 1448697"/>
              <a:gd name="connsiteY1" fmla="*/ 1488830 h 4496000"/>
              <a:gd name="connsiteX2" fmla="*/ 0 w 1448697"/>
              <a:gd name="connsiteY2" fmla="*/ 0 h 4496000"/>
              <a:gd name="connsiteX0" fmla="*/ 1448697 w 1448697"/>
              <a:gd name="connsiteY0" fmla="*/ 8992000 h 8992000"/>
              <a:gd name="connsiteX1" fmla="*/ 0 w 1448697"/>
              <a:gd name="connsiteY1" fmla="*/ 5984830 h 8992000"/>
              <a:gd name="connsiteX2" fmla="*/ 0 w 1448697"/>
              <a:gd name="connsiteY2" fmla="*/ 0 h 8992000"/>
            </a:gdLst>
            <a:ahLst/>
            <a:cxnLst>
              <a:cxn ang="0">
                <a:pos x="connsiteX0" y="connsiteY0"/>
              </a:cxn>
              <a:cxn ang="0">
                <a:pos x="connsiteX1" y="connsiteY1"/>
              </a:cxn>
              <a:cxn ang="0">
                <a:pos x="connsiteX2" y="connsiteY2"/>
              </a:cxn>
            </a:cxnLst>
            <a:rect l="l" t="t" r="r" b="b"/>
            <a:pathLst>
              <a:path w="1448697" h="8992000">
                <a:moveTo>
                  <a:pt x="1448697" y="8992000"/>
                </a:moveTo>
                <a:lnTo>
                  <a:pt x="0" y="5984830"/>
                </a:lnTo>
                <a:lnTo>
                  <a:pt x="0" y="0"/>
                </a:lnTo>
              </a:path>
            </a:pathLst>
          </a:custGeom>
          <a:noFill/>
          <a:ln w="6350" cap="flat" cmpd="sng" algn="ctr">
            <a:solidFill>
              <a:srgbClr val="808080"/>
            </a:solidFill>
            <a:prstDash val="solid"/>
          </a:ln>
          <a:effectLst/>
        </p:spPr>
        <p:txBody>
          <a:bodyPr rtlCol="0" anchor="ctr"/>
          <a:lstStyle/>
          <a:p>
            <a:pPr algn="ctr" defTabSz="914400">
              <a:defRPr/>
            </a:pPr>
            <a:endParaRPr lang="en-IN" sz="1600" kern="0">
              <a:solidFill>
                <a:srgbClr val="808080"/>
              </a:solidFill>
              <a:latin typeface="Arial" panose="020B0604020202020204"/>
            </a:endParaRPr>
          </a:p>
        </p:txBody>
      </p:sp>
      <p:sp>
        <p:nvSpPr>
          <p:cNvPr id="35" name="Rectangle 13">
            <a:extLst>
              <a:ext uri="{FF2B5EF4-FFF2-40B4-BE49-F238E27FC236}">
                <a16:creationId xmlns:a16="http://schemas.microsoft.com/office/drawing/2014/main" id="{3AEA5139-6949-F627-B05F-CDEE9FEA3EE7}"/>
              </a:ext>
            </a:extLst>
          </p:cNvPr>
          <p:cNvSpPr/>
          <p:nvPr/>
        </p:nvSpPr>
        <p:spPr>
          <a:xfrm>
            <a:off x="6790978" y="3422283"/>
            <a:ext cx="991116" cy="861472"/>
          </a:xfrm>
          <a:custGeom>
            <a:avLst/>
            <a:gdLst>
              <a:gd name="connsiteX0" fmla="*/ 0 w 2133600"/>
              <a:gd name="connsiteY0" fmla="*/ 0 h 1488830"/>
              <a:gd name="connsiteX1" fmla="*/ 2133600 w 2133600"/>
              <a:gd name="connsiteY1" fmla="*/ 0 h 1488830"/>
              <a:gd name="connsiteX2" fmla="*/ 2133600 w 2133600"/>
              <a:gd name="connsiteY2" fmla="*/ 1488830 h 1488830"/>
              <a:gd name="connsiteX3" fmla="*/ 0 w 2133600"/>
              <a:gd name="connsiteY3" fmla="*/ 1488830 h 1488830"/>
              <a:gd name="connsiteX4" fmla="*/ 0 w 2133600"/>
              <a:gd name="connsiteY4" fmla="*/ 0 h 1488830"/>
              <a:gd name="connsiteX0" fmla="*/ 2133600 w 2225040"/>
              <a:gd name="connsiteY0" fmla="*/ 0 h 1488830"/>
              <a:gd name="connsiteX1" fmla="*/ 2133600 w 2225040"/>
              <a:gd name="connsiteY1" fmla="*/ 1488830 h 1488830"/>
              <a:gd name="connsiteX2" fmla="*/ 0 w 2225040"/>
              <a:gd name="connsiteY2" fmla="*/ 1488830 h 1488830"/>
              <a:gd name="connsiteX3" fmla="*/ 0 w 2225040"/>
              <a:gd name="connsiteY3" fmla="*/ 0 h 1488830"/>
              <a:gd name="connsiteX4" fmla="*/ 2225040 w 2225040"/>
              <a:gd name="connsiteY4" fmla="*/ 91440 h 1488830"/>
              <a:gd name="connsiteX0" fmla="*/ 2133600 w 2133600"/>
              <a:gd name="connsiteY0" fmla="*/ 0 h 1488830"/>
              <a:gd name="connsiteX1" fmla="*/ 2133600 w 2133600"/>
              <a:gd name="connsiteY1" fmla="*/ 1488830 h 1488830"/>
              <a:gd name="connsiteX2" fmla="*/ 0 w 2133600"/>
              <a:gd name="connsiteY2" fmla="*/ 1488830 h 1488830"/>
              <a:gd name="connsiteX3" fmla="*/ 0 w 2133600"/>
              <a:gd name="connsiteY3" fmla="*/ 0 h 1488830"/>
              <a:gd name="connsiteX0" fmla="*/ 2133600 w 2133600"/>
              <a:gd name="connsiteY0" fmla="*/ 1488830 h 1488830"/>
              <a:gd name="connsiteX1" fmla="*/ 0 w 2133600"/>
              <a:gd name="connsiteY1" fmla="*/ 1488830 h 1488830"/>
              <a:gd name="connsiteX2" fmla="*/ 0 w 2133600"/>
              <a:gd name="connsiteY2" fmla="*/ 0 h 1488830"/>
              <a:gd name="connsiteX0" fmla="*/ 1184031 w 1184031"/>
              <a:gd name="connsiteY0" fmla="*/ 1946030 h 1946030"/>
              <a:gd name="connsiteX1" fmla="*/ 0 w 1184031"/>
              <a:gd name="connsiteY1" fmla="*/ 1488830 h 1946030"/>
              <a:gd name="connsiteX2" fmla="*/ 0 w 1184031"/>
              <a:gd name="connsiteY2" fmla="*/ 0 h 1946030"/>
              <a:gd name="connsiteX0" fmla="*/ 1448697 w 1448697"/>
              <a:gd name="connsiteY0" fmla="*/ 4496000 h 4496000"/>
              <a:gd name="connsiteX1" fmla="*/ 0 w 1448697"/>
              <a:gd name="connsiteY1" fmla="*/ 1488830 h 4496000"/>
              <a:gd name="connsiteX2" fmla="*/ 0 w 1448697"/>
              <a:gd name="connsiteY2" fmla="*/ 0 h 4496000"/>
              <a:gd name="connsiteX0" fmla="*/ 1448697 w 1448697"/>
              <a:gd name="connsiteY0" fmla="*/ 3066594 h 3066594"/>
              <a:gd name="connsiteX1" fmla="*/ 0 w 1448697"/>
              <a:gd name="connsiteY1" fmla="*/ 1488830 h 3066594"/>
              <a:gd name="connsiteX2" fmla="*/ 0 w 1448697"/>
              <a:gd name="connsiteY2" fmla="*/ 0 h 3066594"/>
              <a:gd name="connsiteX0" fmla="*/ 1495110 w 1495110"/>
              <a:gd name="connsiteY0" fmla="*/ 2601959 h 2601959"/>
              <a:gd name="connsiteX1" fmla="*/ 0 w 1495110"/>
              <a:gd name="connsiteY1" fmla="*/ 1488830 h 2601959"/>
              <a:gd name="connsiteX2" fmla="*/ 0 w 1495110"/>
              <a:gd name="connsiteY2" fmla="*/ 0 h 2601959"/>
            </a:gdLst>
            <a:ahLst/>
            <a:cxnLst>
              <a:cxn ang="0">
                <a:pos x="connsiteX0" y="connsiteY0"/>
              </a:cxn>
              <a:cxn ang="0">
                <a:pos x="connsiteX1" y="connsiteY1"/>
              </a:cxn>
              <a:cxn ang="0">
                <a:pos x="connsiteX2" y="connsiteY2"/>
              </a:cxn>
            </a:cxnLst>
            <a:rect l="l" t="t" r="r" b="b"/>
            <a:pathLst>
              <a:path w="1495110" h="2601959">
                <a:moveTo>
                  <a:pt x="1495110" y="2601959"/>
                </a:moveTo>
                <a:lnTo>
                  <a:pt x="0" y="1488830"/>
                </a:lnTo>
                <a:lnTo>
                  <a:pt x="0" y="0"/>
                </a:lnTo>
              </a:path>
            </a:pathLst>
          </a:custGeom>
          <a:noFill/>
          <a:ln w="6350" cap="flat" cmpd="sng" algn="ctr">
            <a:solidFill>
              <a:srgbClr val="808080"/>
            </a:solidFill>
            <a:prstDash val="solid"/>
          </a:ln>
          <a:effectLst/>
        </p:spPr>
        <p:txBody>
          <a:bodyPr rtlCol="0" anchor="ctr"/>
          <a:lstStyle/>
          <a:p>
            <a:pPr algn="ctr" defTabSz="914400">
              <a:defRPr/>
            </a:pPr>
            <a:endParaRPr lang="en-IN" sz="1600" kern="0">
              <a:solidFill>
                <a:srgbClr val="808080"/>
              </a:solidFill>
              <a:latin typeface="Arial" panose="020B0604020202020204"/>
            </a:endParaRPr>
          </a:p>
        </p:txBody>
      </p:sp>
      <p:sp>
        <p:nvSpPr>
          <p:cNvPr id="36" name="Rectangle 13">
            <a:extLst>
              <a:ext uri="{FF2B5EF4-FFF2-40B4-BE49-F238E27FC236}">
                <a16:creationId xmlns:a16="http://schemas.microsoft.com/office/drawing/2014/main" id="{B4D73762-A28C-83C5-5639-C5BE619F9123}"/>
              </a:ext>
            </a:extLst>
          </p:cNvPr>
          <p:cNvSpPr/>
          <p:nvPr/>
        </p:nvSpPr>
        <p:spPr>
          <a:xfrm>
            <a:off x="6865265" y="1699342"/>
            <a:ext cx="783963" cy="550909"/>
          </a:xfrm>
          <a:custGeom>
            <a:avLst/>
            <a:gdLst>
              <a:gd name="connsiteX0" fmla="*/ 0 w 2133600"/>
              <a:gd name="connsiteY0" fmla="*/ 0 h 1488830"/>
              <a:gd name="connsiteX1" fmla="*/ 2133600 w 2133600"/>
              <a:gd name="connsiteY1" fmla="*/ 0 h 1488830"/>
              <a:gd name="connsiteX2" fmla="*/ 2133600 w 2133600"/>
              <a:gd name="connsiteY2" fmla="*/ 1488830 h 1488830"/>
              <a:gd name="connsiteX3" fmla="*/ 0 w 2133600"/>
              <a:gd name="connsiteY3" fmla="*/ 1488830 h 1488830"/>
              <a:gd name="connsiteX4" fmla="*/ 0 w 2133600"/>
              <a:gd name="connsiteY4" fmla="*/ 0 h 1488830"/>
              <a:gd name="connsiteX0" fmla="*/ 2133600 w 2225040"/>
              <a:gd name="connsiteY0" fmla="*/ 0 h 1488830"/>
              <a:gd name="connsiteX1" fmla="*/ 2133600 w 2225040"/>
              <a:gd name="connsiteY1" fmla="*/ 1488830 h 1488830"/>
              <a:gd name="connsiteX2" fmla="*/ 0 w 2225040"/>
              <a:gd name="connsiteY2" fmla="*/ 1488830 h 1488830"/>
              <a:gd name="connsiteX3" fmla="*/ 0 w 2225040"/>
              <a:gd name="connsiteY3" fmla="*/ 0 h 1488830"/>
              <a:gd name="connsiteX4" fmla="*/ 2225040 w 2225040"/>
              <a:gd name="connsiteY4" fmla="*/ 91440 h 1488830"/>
              <a:gd name="connsiteX0" fmla="*/ 2133600 w 2133600"/>
              <a:gd name="connsiteY0" fmla="*/ 0 h 1488830"/>
              <a:gd name="connsiteX1" fmla="*/ 2133600 w 2133600"/>
              <a:gd name="connsiteY1" fmla="*/ 1488830 h 1488830"/>
              <a:gd name="connsiteX2" fmla="*/ 0 w 2133600"/>
              <a:gd name="connsiteY2" fmla="*/ 1488830 h 1488830"/>
              <a:gd name="connsiteX3" fmla="*/ 0 w 2133600"/>
              <a:gd name="connsiteY3" fmla="*/ 0 h 1488830"/>
              <a:gd name="connsiteX0" fmla="*/ 2133600 w 2133600"/>
              <a:gd name="connsiteY0" fmla="*/ 1488830 h 1488830"/>
              <a:gd name="connsiteX1" fmla="*/ 0 w 2133600"/>
              <a:gd name="connsiteY1" fmla="*/ 1488830 h 1488830"/>
              <a:gd name="connsiteX2" fmla="*/ 0 w 2133600"/>
              <a:gd name="connsiteY2" fmla="*/ 0 h 1488830"/>
              <a:gd name="connsiteX0" fmla="*/ 1184031 w 1184031"/>
              <a:gd name="connsiteY0" fmla="*/ 1946030 h 1946030"/>
              <a:gd name="connsiteX1" fmla="*/ 0 w 1184031"/>
              <a:gd name="connsiteY1" fmla="*/ 1488830 h 1946030"/>
              <a:gd name="connsiteX2" fmla="*/ 0 w 1184031"/>
              <a:gd name="connsiteY2" fmla="*/ 0 h 1946030"/>
              <a:gd name="connsiteX0" fmla="*/ 1448697 w 1448697"/>
              <a:gd name="connsiteY0" fmla="*/ 4496000 h 4496000"/>
              <a:gd name="connsiteX1" fmla="*/ 0 w 1448697"/>
              <a:gd name="connsiteY1" fmla="*/ 1488830 h 4496000"/>
              <a:gd name="connsiteX2" fmla="*/ 0 w 1448697"/>
              <a:gd name="connsiteY2" fmla="*/ 0 h 4496000"/>
              <a:gd name="connsiteX0" fmla="*/ 1276575 w 1276575"/>
              <a:gd name="connsiteY0" fmla="*/ 2864248 h 2864248"/>
              <a:gd name="connsiteX1" fmla="*/ 0 w 1276575"/>
              <a:gd name="connsiteY1" fmla="*/ 1488830 h 2864248"/>
              <a:gd name="connsiteX2" fmla="*/ 0 w 1276575"/>
              <a:gd name="connsiteY2" fmla="*/ 0 h 2864248"/>
              <a:gd name="connsiteX0" fmla="*/ 1263200 w 1263200"/>
              <a:gd name="connsiteY0" fmla="*/ 2540879 h 2540879"/>
              <a:gd name="connsiteX1" fmla="*/ 0 w 1263200"/>
              <a:gd name="connsiteY1" fmla="*/ 1488830 h 2540879"/>
              <a:gd name="connsiteX2" fmla="*/ 0 w 1263200"/>
              <a:gd name="connsiteY2" fmla="*/ 0 h 2540879"/>
              <a:gd name="connsiteX0" fmla="*/ 1022443 w 1022443"/>
              <a:gd name="connsiteY0" fmla="*/ 1930072 h 1930072"/>
              <a:gd name="connsiteX1" fmla="*/ 0 w 1022443"/>
              <a:gd name="connsiteY1" fmla="*/ 1488830 h 1930072"/>
              <a:gd name="connsiteX2" fmla="*/ 0 w 1022443"/>
              <a:gd name="connsiteY2" fmla="*/ 0 h 1930072"/>
            </a:gdLst>
            <a:ahLst/>
            <a:cxnLst>
              <a:cxn ang="0">
                <a:pos x="connsiteX0" y="connsiteY0"/>
              </a:cxn>
              <a:cxn ang="0">
                <a:pos x="connsiteX1" y="connsiteY1"/>
              </a:cxn>
              <a:cxn ang="0">
                <a:pos x="connsiteX2" y="connsiteY2"/>
              </a:cxn>
            </a:cxnLst>
            <a:rect l="l" t="t" r="r" b="b"/>
            <a:pathLst>
              <a:path w="1022443" h="1930072">
                <a:moveTo>
                  <a:pt x="1022443" y="1930072"/>
                </a:moveTo>
                <a:lnTo>
                  <a:pt x="0" y="1488830"/>
                </a:lnTo>
                <a:lnTo>
                  <a:pt x="0" y="0"/>
                </a:lnTo>
              </a:path>
            </a:pathLst>
          </a:custGeom>
          <a:noFill/>
          <a:ln w="6350" cap="flat" cmpd="sng" algn="ctr">
            <a:solidFill>
              <a:srgbClr val="808080"/>
            </a:solidFill>
            <a:prstDash val="solid"/>
          </a:ln>
          <a:effectLst/>
        </p:spPr>
        <p:txBody>
          <a:bodyPr rtlCol="0" anchor="ctr"/>
          <a:lstStyle/>
          <a:p>
            <a:pPr algn="ctr" defTabSz="914400">
              <a:defRPr/>
            </a:pPr>
            <a:endParaRPr lang="en-IN" sz="1600" kern="0">
              <a:solidFill>
                <a:srgbClr val="808080"/>
              </a:solidFill>
              <a:latin typeface="Arial" panose="020B0604020202020204"/>
            </a:endParaRPr>
          </a:p>
        </p:txBody>
      </p:sp>
      <p:sp>
        <p:nvSpPr>
          <p:cNvPr id="37" name="Rectangle 13">
            <a:extLst>
              <a:ext uri="{FF2B5EF4-FFF2-40B4-BE49-F238E27FC236}">
                <a16:creationId xmlns:a16="http://schemas.microsoft.com/office/drawing/2014/main" id="{B32E58FA-9E40-ACE7-35EB-9A67DE8FEB32}"/>
              </a:ext>
            </a:extLst>
          </p:cNvPr>
          <p:cNvSpPr/>
          <p:nvPr/>
        </p:nvSpPr>
        <p:spPr>
          <a:xfrm>
            <a:off x="4488333" y="4220512"/>
            <a:ext cx="447435" cy="512912"/>
          </a:xfrm>
          <a:custGeom>
            <a:avLst/>
            <a:gdLst>
              <a:gd name="connsiteX0" fmla="*/ 0 w 2133600"/>
              <a:gd name="connsiteY0" fmla="*/ 0 h 1488830"/>
              <a:gd name="connsiteX1" fmla="*/ 2133600 w 2133600"/>
              <a:gd name="connsiteY1" fmla="*/ 0 h 1488830"/>
              <a:gd name="connsiteX2" fmla="*/ 2133600 w 2133600"/>
              <a:gd name="connsiteY2" fmla="*/ 1488830 h 1488830"/>
              <a:gd name="connsiteX3" fmla="*/ 0 w 2133600"/>
              <a:gd name="connsiteY3" fmla="*/ 1488830 h 1488830"/>
              <a:gd name="connsiteX4" fmla="*/ 0 w 2133600"/>
              <a:gd name="connsiteY4" fmla="*/ 0 h 1488830"/>
              <a:gd name="connsiteX0" fmla="*/ 2133600 w 2225040"/>
              <a:gd name="connsiteY0" fmla="*/ 0 h 1488830"/>
              <a:gd name="connsiteX1" fmla="*/ 2133600 w 2225040"/>
              <a:gd name="connsiteY1" fmla="*/ 1488830 h 1488830"/>
              <a:gd name="connsiteX2" fmla="*/ 0 w 2225040"/>
              <a:gd name="connsiteY2" fmla="*/ 1488830 h 1488830"/>
              <a:gd name="connsiteX3" fmla="*/ 0 w 2225040"/>
              <a:gd name="connsiteY3" fmla="*/ 0 h 1488830"/>
              <a:gd name="connsiteX4" fmla="*/ 2225040 w 2225040"/>
              <a:gd name="connsiteY4" fmla="*/ 91440 h 1488830"/>
              <a:gd name="connsiteX0" fmla="*/ 2133600 w 2133600"/>
              <a:gd name="connsiteY0" fmla="*/ 0 h 1488830"/>
              <a:gd name="connsiteX1" fmla="*/ 2133600 w 2133600"/>
              <a:gd name="connsiteY1" fmla="*/ 1488830 h 1488830"/>
              <a:gd name="connsiteX2" fmla="*/ 0 w 2133600"/>
              <a:gd name="connsiteY2" fmla="*/ 1488830 h 1488830"/>
              <a:gd name="connsiteX3" fmla="*/ 0 w 2133600"/>
              <a:gd name="connsiteY3" fmla="*/ 0 h 1488830"/>
              <a:gd name="connsiteX0" fmla="*/ 2133600 w 2133600"/>
              <a:gd name="connsiteY0" fmla="*/ 1488830 h 1488830"/>
              <a:gd name="connsiteX1" fmla="*/ 0 w 2133600"/>
              <a:gd name="connsiteY1" fmla="*/ 1488830 h 1488830"/>
              <a:gd name="connsiteX2" fmla="*/ 0 w 2133600"/>
              <a:gd name="connsiteY2" fmla="*/ 0 h 1488830"/>
              <a:gd name="connsiteX0" fmla="*/ 1184031 w 1184031"/>
              <a:gd name="connsiteY0" fmla="*/ 1946030 h 1946030"/>
              <a:gd name="connsiteX1" fmla="*/ 0 w 1184031"/>
              <a:gd name="connsiteY1" fmla="*/ 1488830 h 1946030"/>
              <a:gd name="connsiteX2" fmla="*/ 0 w 1184031"/>
              <a:gd name="connsiteY2" fmla="*/ 0 h 1946030"/>
            </a:gdLst>
            <a:ahLst/>
            <a:cxnLst>
              <a:cxn ang="0">
                <a:pos x="connsiteX0" y="connsiteY0"/>
              </a:cxn>
              <a:cxn ang="0">
                <a:pos x="connsiteX1" y="connsiteY1"/>
              </a:cxn>
              <a:cxn ang="0">
                <a:pos x="connsiteX2" y="connsiteY2"/>
              </a:cxn>
            </a:cxnLst>
            <a:rect l="l" t="t" r="r" b="b"/>
            <a:pathLst>
              <a:path w="1184031" h="1946030">
                <a:moveTo>
                  <a:pt x="1184031" y="1946030"/>
                </a:moveTo>
                <a:lnTo>
                  <a:pt x="0" y="1488830"/>
                </a:lnTo>
                <a:lnTo>
                  <a:pt x="0" y="0"/>
                </a:lnTo>
              </a:path>
            </a:pathLst>
          </a:custGeom>
          <a:noFill/>
          <a:ln w="6350" cap="flat" cmpd="sng" algn="ctr">
            <a:solidFill>
              <a:srgbClr val="808080"/>
            </a:solidFill>
            <a:prstDash val="solid"/>
          </a:ln>
          <a:effectLst/>
        </p:spPr>
        <p:txBody>
          <a:bodyPr rtlCol="0" anchor="ctr"/>
          <a:lstStyle/>
          <a:p>
            <a:pPr algn="ctr" defTabSz="914400">
              <a:defRPr/>
            </a:pPr>
            <a:endParaRPr lang="en-IN" sz="1600" kern="0">
              <a:solidFill>
                <a:srgbClr val="808080"/>
              </a:solidFill>
              <a:latin typeface="Arial" panose="020B0604020202020204"/>
            </a:endParaRPr>
          </a:p>
        </p:txBody>
      </p:sp>
      <p:sp>
        <p:nvSpPr>
          <p:cNvPr id="38" name="Oval 37">
            <a:extLst>
              <a:ext uri="{FF2B5EF4-FFF2-40B4-BE49-F238E27FC236}">
                <a16:creationId xmlns:a16="http://schemas.microsoft.com/office/drawing/2014/main" id="{4FEF5988-AD9B-0A91-92AB-A0D027AA9FC1}"/>
              </a:ext>
            </a:extLst>
          </p:cNvPr>
          <p:cNvSpPr/>
          <p:nvPr/>
        </p:nvSpPr>
        <p:spPr>
          <a:xfrm>
            <a:off x="7473043" y="2059736"/>
            <a:ext cx="1106579" cy="1106580"/>
          </a:xfrm>
          <a:prstGeom prst="ellipse">
            <a:avLst/>
          </a:prstGeom>
          <a:solidFill>
            <a:srgbClr val="FFFFFF"/>
          </a:solidFill>
          <a:ln w="152400" cap="flat" cmpd="sng" algn="ctr">
            <a:solidFill>
              <a:srgbClr val="F0F0F0"/>
            </a:solidFill>
            <a:prstDash val="solid"/>
          </a:ln>
          <a:effectLst/>
        </p:spPr>
        <p:txBody>
          <a:bodyPr rtlCol="0" anchor="ctr"/>
          <a:lstStyle/>
          <a:p>
            <a:pPr algn="ctr" defTabSz="914400">
              <a:defRPr/>
            </a:pPr>
            <a:endParaRPr lang="en-IN" sz="1600" kern="0">
              <a:solidFill>
                <a:srgbClr val="808080"/>
              </a:solidFill>
              <a:effectLst>
                <a:outerShdw blurRad="60007" dir="1500000" sy="-30000" kx="800400" algn="bl" rotWithShape="0">
                  <a:prstClr val="black">
                    <a:alpha val="20000"/>
                  </a:prstClr>
                </a:outerShdw>
              </a:effectLst>
              <a:latin typeface="Arial" panose="020B0604020202020204"/>
            </a:endParaRPr>
          </a:p>
        </p:txBody>
      </p:sp>
      <p:sp>
        <p:nvSpPr>
          <p:cNvPr id="39" name="Oval 38">
            <a:extLst>
              <a:ext uri="{FF2B5EF4-FFF2-40B4-BE49-F238E27FC236}">
                <a16:creationId xmlns:a16="http://schemas.microsoft.com/office/drawing/2014/main" id="{7372DA2E-24C0-6F5E-372C-077C51748122}"/>
              </a:ext>
            </a:extLst>
          </p:cNvPr>
          <p:cNvSpPr/>
          <p:nvPr/>
        </p:nvSpPr>
        <p:spPr>
          <a:xfrm>
            <a:off x="8073259" y="3014623"/>
            <a:ext cx="1276822" cy="1276823"/>
          </a:xfrm>
          <a:prstGeom prst="ellipse">
            <a:avLst/>
          </a:prstGeom>
          <a:solidFill>
            <a:srgbClr val="FFFFFF"/>
          </a:solidFill>
          <a:ln w="152400" cap="flat" cmpd="sng" algn="ctr">
            <a:solidFill>
              <a:srgbClr val="C0C0C0"/>
            </a:solidFill>
            <a:prstDash val="solid"/>
          </a:ln>
          <a:effectLst/>
        </p:spPr>
        <p:txBody>
          <a:bodyPr rtlCol="0" anchor="ctr"/>
          <a:lstStyle/>
          <a:p>
            <a:pPr algn="ctr" defTabSz="914400">
              <a:defRPr/>
            </a:pPr>
            <a:endParaRPr lang="en-IN" sz="1600" kern="0">
              <a:solidFill>
                <a:srgbClr val="808080"/>
              </a:solidFill>
              <a:effectLst>
                <a:outerShdw blurRad="60007" dir="1500000" sy="-30000" kx="800400" algn="bl" rotWithShape="0">
                  <a:prstClr val="black">
                    <a:alpha val="20000"/>
                  </a:prstClr>
                </a:outerShdw>
              </a:effectLst>
              <a:latin typeface="Arial" panose="020B0604020202020204"/>
            </a:endParaRPr>
          </a:p>
        </p:txBody>
      </p:sp>
      <p:sp>
        <p:nvSpPr>
          <p:cNvPr id="40" name="Oval 39">
            <a:extLst>
              <a:ext uri="{FF2B5EF4-FFF2-40B4-BE49-F238E27FC236}">
                <a16:creationId xmlns:a16="http://schemas.microsoft.com/office/drawing/2014/main" id="{2E987C73-725C-E2A5-A9E2-63A029F724FD}"/>
              </a:ext>
            </a:extLst>
          </p:cNvPr>
          <p:cNvSpPr/>
          <p:nvPr/>
        </p:nvSpPr>
        <p:spPr>
          <a:xfrm>
            <a:off x="7483956" y="4182317"/>
            <a:ext cx="1447065" cy="1447066"/>
          </a:xfrm>
          <a:prstGeom prst="ellipse">
            <a:avLst/>
          </a:prstGeom>
          <a:solidFill>
            <a:srgbClr val="FFFFFF"/>
          </a:solidFill>
          <a:ln w="152400" cap="flat" cmpd="sng" algn="ctr">
            <a:solidFill>
              <a:srgbClr val="999999"/>
            </a:solidFill>
            <a:prstDash val="solid"/>
          </a:ln>
          <a:effectLst/>
        </p:spPr>
        <p:txBody>
          <a:bodyPr rtlCol="0" anchor="ctr"/>
          <a:lstStyle/>
          <a:p>
            <a:pPr algn="ctr" defTabSz="914400">
              <a:defRPr/>
            </a:pPr>
            <a:endParaRPr lang="en-IN" sz="1600" kern="0">
              <a:solidFill>
                <a:srgbClr val="808080"/>
              </a:solidFill>
              <a:effectLst>
                <a:outerShdw blurRad="60007" dir="1500000" sy="-30000" kx="800400" algn="bl" rotWithShape="0">
                  <a:prstClr val="black">
                    <a:alpha val="20000"/>
                  </a:prstClr>
                </a:outerShdw>
              </a:effectLst>
              <a:latin typeface="Arial" panose="020B0604020202020204"/>
            </a:endParaRPr>
          </a:p>
        </p:txBody>
      </p:sp>
      <p:sp>
        <p:nvSpPr>
          <p:cNvPr id="41" name="Oval 40">
            <a:extLst>
              <a:ext uri="{FF2B5EF4-FFF2-40B4-BE49-F238E27FC236}">
                <a16:creationId xmlns:a16="http://schemas.microsoft.com/office/drawing/2014/main" id="{C1406275-6422-3FB3-CE9E-12C88BA478CD}"/>
              </a:ext>
            </a:extLst>
          </p:cNvPr>
          <p:cNvSpPr/>
          <p:nvPr/>
        </p:nvSpPr>
        <p:spPr>
          <a:xfrm>
            <a:off x="5901570" y="4531532"/>
            <a:ext cx="1617308" cy="1617309"/>
          </a:xfrm>
          <a:prstGeom prst="ellipse">
            <a:avLst/>
          </a:prstGeom>
          <a:solidFill>
            <a:srgbClr val="FFFFFF"/>
          </a:solidFill>
          <a:ln w="152400" cap="flat" cmpd="sng" algn="ctr">
            <a:solidFill>
              <a:srgbClr val="808080"/>
            </a:solidFill>
            <a:prstDash val="solid"/>
          </a:ln>
          <a:effectLst/>
        </p:spPr>
        <p:txBody>
          <a:bodyPr rtlCol="0" anchor="ctr"/>
          <a:lstStyle/>
          <a:p>
            <a:pPr algn="ctr" defTabSz="914400">
              <a:defRPr/>
            </a:pPr>
            <a:endParaRPr lang="en-IN" sz="1600" kern="0">
              <a:solidFill>
                <a:srgbClr val="808080"/>
              </a:solidFill>
              <a:effectLst>
                <a:outerShdw blurRad="60007" dir="1500000" sy="-30000" kx="800400" algn="bl" rotWithShape="0">
                  <a:prstClr val="black">
                    <a:alpha val="20000"/>
                  </a:prstClr>
                </a:outerShdw>
              </a:effectLst>
              <a:latin typeface="Arial" panose="020B0604020202020204"/>
            </a:endParaRPr>
          </a:p>
        </p:txBody>
      </p:sp>
      <p:sp>
        <p:nvSpPr>
          <p:cNvPr id="42" name="Oval 41">
            <a:extLst>
              <a:ext uri="{FF2B5EF4-FFF2-40B4-BE49-F238E27FC236}">
                <a16:creationId xmlns:a16="http://schemas.microsoft.com/office/drawing/2014/main" id="{68733C99-DBAE-7997-BB4D-55FC0C8E7EDE}"/>
              </a:ext>
            </a:extLst>
          </p:cNvPr>
          <p:cNvSpPr/>
          <p:nvPr/>
        </p:nvSpPr>
        <p:spPr>
          <a:xfrm>
            <a:off x="4390117" y="4711597"/>
            <a:ext cx="1746082" cy="1746082"/>
          </a:xfrm>
          <a:prstGeom prst="ellipse">
            <a:avLst/>
          </a:prstGeom>
          <a:solidFill>
            <a:srgbClr val="FFFFFF"/>
          </a:solidFill>
          <a:ln w="152400" cap="flat" cmpd="sng" algn="ctr">
            <a:solidFill>
              <a:srgbClr val="1A9AF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808080"/>
              </a:solidFill>
              <a:effectLst>
                <a:outerShdw blurRad="60007" dir="1500000" sy="-30000" kx="800400" algn="bl" rotWithShape="0">
                  <a:prstClr val="black">
                    <a:alpha val="20000"/>
                  </a:prstClr>
                </a:outerShdw>
              </a:effectLst>
              <a:uLnTx/>
              <a:uFillTx/>
              <a:latin typeface="Arial" panose="020B0604020202020204"/>
            </a:endParaRPr>
          </a:p>
        </p:txBody>
      </p:sp>
      <p:sp>
        <p:nvSpPr>
          <p:cNvPr id="43" name="TextBox 42">
            <a:extLst>
              <a:ext uri="{FF2B5EF4-FFF2-40B4-BE49-F238E27FC236}">
                <a16:creationId xmlns:a16="http://schemas.microsoft.com/office/drawing/2014/main" id="{75A7620F-3493-B4A9-2C04-0AB6C8A79ECA}"/>
              </a:ext>
            </a:extLst>
          </p:cNvPr>
          <p:cNvSpPr txBox="1"/>
          <p:nvPr/>
        </p:nvSpPr>
        <p:spPr>
          <a:xfrm>
            <a:off x="4596040" y="4310130"/>
            <a:ext cx="113814" cy="246221"/>
          </a:xfrm>
          <a:prstGeom prst="rect">
            <a:avLst/>
          </a:prstGeom>
          <a:noFill/>
        </p:spPr>
        <p:txBody>
          <a:bodyPr wrap="none" lIns="0" tIns="0" rIns="0" bIns="0" rtlCol="0">
            <a:spAutoFit/>
          </a:bodyPr>
          <a:lstStyle/>
          <a:p>
            <a:pPr defTabSz="914400">
              <a:defRPr/>
            </a:pPr>
            <a:r>
              <a:rPr lang="en-US" sz="1600" b="1" kern="0">
                <a:solidFill>
                  <a:srgbClr val="1A9AFA"/>
                </a:solidFill>
                <a:latin typeface="Arial" panose="020B0604020202020204"/>
              </a:rPr>
              <a:t>5</a:t>
            </a:r>
            <a:endParaRPr lang="en-IN" sz="1600" b="1" kern="0">
              <a:solidFill>
                <a:srgbClr val="1A9AFA"/>
              </a:solidFill>
              <a:latin typeface="Arial" panose="020B0604020202020204"/>
            </a:endParaRPr>
          </a:p>
        </p:txBody>
      </p:sp>
      <p:sp>
        <p:nvSpPr>
          <p:cNvPr id="44" name="TextBox 43">
            <a:extLst>
              <a:ext uri="{FF2B5EF4-FFF2-40B4-BE49-F238E27FC236}">
                <a16:creationId xmlns:a16="http://schemas.microsoft.com/office/drawing/2014/main" id="{501BF2E3-464D-854C-EC91-11F2BEC67525}"/>
              </a:ext>
            </a:extLst>
          </p:cNvPr>
          <p:cNvSpPr txBox="1"/>
          <p:nvPr/>
        </p:nvSpPr>
        <p:spPr>
          <a:xfrm>
            <a:off x="7738452" y="6025730"/>
            <a:ext cx="113814" cy="246221"/>
          </a:xfrm>
          <a:prstGeom prst="rect">
            <a:avLst/>
          </a:prstGeom>
          <a:noFill/>
        </p:spPr>
        <p:txBody>
          <a:bodyPr wrap="none" lIns="0" tIns="0" rIns="0" bIns="0" rtlCol="0">
            <a:spAutoFit/>
          </a:bodyPr>
          <a:lstStyle/>
          <a:p>
            <a:pPr defTabSz="914400">
              <a:defRPr/>
            </a:pPr>
            <a:r>
              <a:rPr lang="en-US" sz="1600" b="1" kern="0">
                <a:solidFill>
                  <a:srgbClr val="808080"/>
                </a:solidFill>
                <a:latin typeface="Arial" panose="020B0604020202020204"/>
              </a:rPr>
              <a:t>4</a:t>
            </a:r>
            <a:endParaRPr lang="en-IN" sz="1600" b="1" kern="0">
              <a:solidFill>
                <a:srgbClr val="808080"/>
              </a:solidFill>
              <a:latin typeface="Arial" panose="020B0604020202020204"/>
            </a:endParaRPr>
          </a:p>
        </p:txBody>
      </p:sp>
      <p:sp>
        <p:nvSpPr>
          <p:cNvPr id="45" name="TextBox 44">
            <a:extLst>
              <a:ext uri="{FF2B5EF4-FFF2-40B4-BE49-F238E27FC236}">
                <a16:creationId xmlns:a16="http://schemas.microsoft.com/office/drawing/2014/main" id="{29E6D46B-CD98-D138-221D-340EAD5CB76E}"/>
              </a:ext>
            </a:extLst>
          </p:cNvPr>
          <p:cNvSpPr txBox="1"/>
          <p:nvPr/>
        </p:nvSpPr>
        <p:spPr>
          <a:xfrm>
            <a:off x="6911891" y="3547787"/>
            <a:ext cx="113814" cy="246221"/>
          </a:xfrm>
          <a:prstGeom prst="rect">
            <a:avLst/>
          </a:prstGeom>
          <a:noFill/>
        </p:spPr>
        <p:txBody>
          <a:bodyPr wrap="none" lIns="0" tIns="0" rIns="0" bIns="0" rtlCol="0">
            <a:spAutoFit/>
          </a:bodyPr>
          <a:lstStyle/>
          <a:p>
            <a:pPr defTabSz="914400">
              <a:defRPr/>
            </a:pPr>
            <a:r>
              <a:rPr lang="en-US" sz="1600" b="1" kern="0">
                <a:solidFill>
                  <a:srgbClr val="808080"/>
                </a:solidFill>
                <a:latin typeface="Arial" panose="020B0604020202020204"/>
              </a:rPr>
              <a:t>3</a:t>
            </a:r>
            <a:endParaRPr lang="en-IN" sz="1600" b="1" kern="0">
              <a:solidFill>
                <a:srgbClr val="808080"/>
              </a:solidFill>
              <a:latin typeface="Arial" panose="020B0604020202020204"/>
            </a:endParaRPr>
          </a:p>
        </p:txBody>
      </p:sp>
      <p:sp>
        <p:nvSpPr>
          <p:cNvPr id="46" name="TextBox 45">
            <a:extLst>
              <a:ext uri="{FF2B5EF4-FFF2-40B4-BE49-F238E27FC236}">
                <a16:creationId xmlns:a16="http://schemas.microsoft.com/office/drawing/2014/main" id="{EDB04710-78F6-432D-5BCE-73840ACFC0D7}"/>
              </a:ext>
            </a:extLst>
          </p:cNvPr>
          <p:cNvSpPr txBox="1"/>
          <p:nvPr/>
        </p:nvSpPr>
        <p:spPr>
          <a:xfrm>
            <a:off x="9589662" y="4155035"/>
            <a:ext cx="113814" cy="246221"/>
          </a:xfrm>
          <a:prstGeom prst="rect">
            <a:avLst/>
          </a:prstGeom>
          <a:noFill/>
        </p:spPr>
        <p:txBody>
          <a:bodyPr wrap="none" lIns="0" tIns="0" rIns="0" bIns="0" rtlCol="0">
            <a:spAutoFit/>
          </a:bodyPr>
          <a:lstStyle/>
          <a:p>
            <a:pPr defTabSz="914400">
              <a:defRPr/>
            </a:pPr>
            <a:r>
              <a:rPr lang="en-US" sz="1600" b="1" kern="0">
                <a:solidFill>
                  <a:srgbClr val="808080"/>
                </a:solidFill>
                <a:latin typeface="Arial" panose="020B0604020202020204"/>
              </a:rPr>
              <a:t>2</a:t>
            </a:r>
            <a:endParaRPr lang="en-IN" sz="1600" b="1" kern="0">
              <a:solidFill>
                <a:srgbClr val="808080"/>
              </a:solidFill>
              <a:latin typeface="Arial" panose="020B0604020202020204"/>
            </a:endParaRPr>
          </a:p>
        </p:txBody>
      </p:sp>
      <p:sp>
        <p:nvSpPr>
          <p:cNvPr id="47" name="TextBox 46">
            <a:extLst>
              <a:ext uri="{FF2B5EF4-FFF2-40B4-BE49-F238E27FC236}">
                <a16:creationId xmlns:a16="http://schemas.microsoft.com/office/drawing/2014/main" id="{DE94C768-4FE8-F17C-EFB2-B08753728227}"/>
              </a:ext>
            </a:extLst>
          </p:cNvPr>
          <p:cNvSpPr txBox="1"/>
          <p:nvPr/>
        </p:nvSpPr>
        <p:spPr>
          <a:xfrm>
            <a:off x="6948596" y="1787760"/>
            <a:ext cx="113814" cy="246221"/>
          </a:xfrm>
          <a:prstGeom prst="rect">
            <a:avLst/>
          </a:prstGeom>
          <a:noFill/>
        </p:spPr>
        <p:txBody>
          <a:bodyPr wrap="none" lIns="0" tIns="0" rIns="0" bIns="0" rtlCol="0">
            <a:spAutoFit/>
          </a:bodyPr>
          <a:lstStyle/>
          <a:p>
            <a:pPr defTabSz="914400">
              <a:defRPr/>
            </a:pPr>
            <a:r>
              <a:rPr lang="en-US" sz="1600" b="1" kern="0">
                <a:solidFill>
                  <a:srgbClr val="808080"/>
                </a:solidFill>
                <a:latin typeface="Arial" panose="020B0604020202020204"/>
              </a:rPr>
              <a:t>1</a:t>
            </a:r>
            <a:endParaRPr lang="en-IN" sz="1600" b="1" kern="0">
              <a:solidFill>
                <a:srgbClr val="808080"/>
              </a:solidFill>
              <a:latin typeface="Arial" panose="020B0604020202020204"/>
            </a:endParaRPr>
          </a:p>
        </p:txBody>
      </p:sp>
      <p:grpSp>
        <p:nvGrpSpPr>
          <p:cNvPr id="48" name="Group 47">
            <a:extLst>
              <a:ext uri="{FF2B5EF4-FFF2-40B4-BE49-F238E27FC236}">
                <a16:creationId xmlns:a16="http://schemas.microsoft.com/office/drawing/2014/main" id="{54F79F47-2FC3-D839-5549-2F64750AA23A}"/>
              </a:ext>
            </a:extLst>
          </p:cNvPr>
          <p:cNvGrpSpPr>
            <a:grpSpLocks noChangeAspect="1"/>
          </p:cNvGrpSpPr>
          <p:nvPr/>
        </p:nvGrpSpPr>
        <p:grpSpPr>
          <a:xfrm>
            <a:off x="471452" y="1655353"/>
            <a:ext cx="2750257" cy="2614178"/>
            <a:chOff x="736861" y="1588213"/>
            <a:chExt cx="2451789" cy="2330478"/>
          </a:xfrm>
        </p:grpSpPr>
        <p:sp>
          <p:nvSpPr>
            <p:cNvPr id="49" name="Freeform 6">
              <a:extLst>
                <a:ext uri="{FF2B5EF4-FFF2-40B4-BE49-F238E27FC236}">
                  <a16:creationId xmlns:a16="http://schemas.microsoft.com/office/drawing/2014/main" id="{15FEF451-061B-3D4B-A3E9-63A40EB42D77}"/>
                </a:ext>
              </a:extLst>
            </p:cNvPr>
            <p:cNvSpPr>
              <a:spLocks/>
            </p:cNvSpPr>
            <p:nvPr/>
          </p:nvSpPr>
          <p:spPr bwMode="auto">
            <a:xfrm>
              <a:off x="1963229" y="1588213"/>
              <a:ext cx="1073783" cy="867177"/>
            </a:xfrm>
            <a:custGeom>
              <a:avLst/>
              <a:gdLst>
                <a:gd name="T0" fmla="*/ 9448 w 9448"/>
                <a:gd name="T1" fmla="*/ 6864 h 7631"/>
                <a:gd name="T2" fmla="*/ 0 w 9448"/>
                <a:gd name="T3" fmla="*/ 0 h 7631"/>
                <a:gd name="T4" fmla="*/ 0 w 9448"/>
                <a:gd name="T5" fmla="*/ 2483 h 7631"/>
                <a:gd name="T6" fmla="*/ 7086 w 9448"/>
                <a:gd name="T7" fmla="*/ 7631 h 7631"/>
                <a:gd name="T8" fmla="*/ 9448 w 9448"/>
                <a:gd name="T9" fmla="*/ 6864 h 7631"/>
              </a:gdLst>
              <a:ahLst/>
              <a:cxnLst>
                <a:cxn ang="0">
                  <a:pos x="T0" y="T1"/>
                </a:cxn>
                <a:cxn ang="0">
                  <a:pos x="T2" y="T3"/>
                </a:cxn>
                <a:cxn ang="0">
                  <a:pos x="T4" y="T5"/>
                </a:cxn>
                <a:cxn ang="0">
                  <a:pos x="T6" y="T7"/>
                </a:cxn>
                <a:cxn ang="0">
                  <a:pos x="T8" y="T9"/>
                </a:cxn>
              </a:cxnLst>
              <a:rect l="0" t="0" r="r" b="b"/>
              <a:pathLst>
                <a:path w="9448" h="7631">
                  <a:moveTo>
                    <a:pt x="9448" y="6864"/>
                  </a:moveTo>
                  <a:cubicBezTo>
                    <a:pt x="8118" y="2771"/>
                    <a:pt x="4304" y="0"/>
                    <a:pt x="0" y="0"/>
                  </a:cubicBezTo>
                  <a:lnTo>
                    <a:pt x="0" y="2483"/>
                  </a:lnTo>
                  <a:cubicBezTo>
                    <a:pt x="3228" y="2483"/>
                    <a:pt x="6088" y="4561"/>
                    <a:pt x="7086" y="7631"/>
                  </a:cubicBezTo>
                  <a:lnTo>
                    <a:pt x="9448" y="6864"/>
                  </a:lnTo>
                  <a:close/>
                </a:path>
              </a:pathLst>
            </a:custGeom>
            <a:solidFill>
              <a:srgbClr val="D1EBFE"/>
            </a:solidFill>
            <a:ln w="19050">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100" b="0" i="0" u="none" strike="noStrike" kern="0" cap="none" spc="0" normalizeH="0" baseline="0" noProof="0">
                <a:ln>
                  <a:noFill/>
                </a:ln>
                <a:solidFill>
                  <a:srgbClr val="000000"/>
                </a:solidFill>
                <a:effectLst/>
                <a:uLnTx/>
                <a:uFillTx/>
                <a:latin typeface="Arial" panose="020B0604020202020204"/>
              </a:endParaRPr>
            </a:p>
          </p:txBody>
        </p:sp>
        <p:sp>
          <p:nvSpPr>
            <p:cNvPr id="50" name="Freeform 7">
              <a:extLst>
                <a:ext uri="{FF2B5EF4-FFF2-40B4-BE49-F238E27FC236}">
                  <a16:creationId xmlns:a16="http://schemas.microsoft.com/office/drawing/2014/main" id="{7EDA3BF9-E6C0-A25B-B9F1-6750E594AEE1}"/>
                </a:ext>
              </a:extLst>
            </p:cNvPr>
            <p:cNvSpPr>
              <a:spLocks/>
            </p:cNvSpPr>
            <p:nvPr/>
          </p:nvSpPr>
          <p:spPr bwMode="auto">
            <a:xfrm>
              <a:off x="2460790" y="2368198"/>
              <a:ext cx="727860" cy="1262382"/>
            </a:xfrm>
            <a:custGeom>
              <a:avLst/>
              <a:gdLst>
                <a:gd name="T0" fmla="*/ 1460 w 6398"/>
                <a:gd name="T1" fmla="*/ 11105 h 11105"/>
                <a:gd name="T2" fmla="*/ 5069 w 6398"/>
                <a:gd name="T3" fmla="*/ 0 h 11105"/>
                <a:gd name="T4" fmla="*/ 2707 w 6398"/>
                <a:gd name="T5" fmla="*/ 767 h 11105"/>
                <a:gd name="T6" fmla="*/ 0 w 6398"/>
                <a:gd name="T7" fmla="*/ 9096 h 11105"/>
                <a:gd name="T8" fmla="*/ 1460 w 6398"/>
                <a:gd name="T9" fmla="*/ 11105 h 11105"/>
              </a:gdLst>
              <a:ahLst/>
              <a:cxnLst>
                <a:cxn ang="0">
                  <a:pos x="T0" y="T1"/>
                </a:cxn>
                <a:cxn ang="0">
                  <a:pos x="T2" y="T3"/>
                </a:cxn>
                <a:cxn ang="0">
                  <a:pos x="T4" y="T5"/>
                </a:cxn>
                <a:cxn ang="0">
                  <a:pos x="T6" y="T7"/>
                </a:cxn>
                <a:cxn ang="0">
                  <a:pos x="T8" y="T9"/>
                </a:cxn>
              </a:cxnLst>
              <a:rect l="0" t="0" r="r" b="b"/>
              <a:pathLst>
                <a:path w="6398" h="11105">
                  <a:moveTo>
                    <a:pt x="1460" y="11105"/>
                  </a:moveTo>
                  <a:cubicBezTo>
                    <a:pt x="4942" y="8576"/>
                    <a:pt x="6398" y="4092"/>
                    <a:pt x="5069" y="0"/>
                  </a:cubicBezTo>
                  <a:lnTo>
                    <a:pt x="2707" y="767"/>
                  </a:lnTo>
                  <a:cubicBezTo>
                    <a:pt x="3704" y="3837"/>
                    <a:pt x="2612" y="7199"/>
                    <a:pt x="0" y="9096"/>
                  </a:cubicBezTo>
                  <a:lnTo>
                    <a:pt x="1460" y="11105"/>
                  </a:lnTo>
                  <a:close/>
                </a:path>
              </a:pathLst>
            </a:custGeom>
            <a:solidFill>
              <a:srgbClr val="1A9AFA">
                <a:lumMod val="20000"/>
                <a:lumOff val="80000"/>
              </a:srgbClr>
            </a:solidFill>
            <a:ln w="19050">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100" b="0" i="0" u="none" strike="noStrike" kern="0" cap="none" spc="0" normalizeH="0" baseline="0" noProof="0">
                <a:ln>
                  <a:noFill/>
                </a:ln>
                <a:solidFill>
                  <a:srgbClr val="000000"/>
                </a:solidFill>
                <a:effectLst/>
                <a:uLnTx/>
                <a:uFillTx/>
                <a:latin typeface="Arial" panose="020B0604020202020204"/>
              </a:endParaRPr>
            </a:p>
          </p:txBody>
        </p:sp>
        <p:sp>
          <p:nvSpPr>
            <p:cNvPr id="51" name="Freeform 8">
              <a:extLst>
                <a:ext uri="{FF2B5EF4-FFF2-40B4-BE49-F238E27FC236}">
                  <a16:creationId xmlns:a16="http://schemas.microsoft.com/office/drawing/2014/main" id="{9AC83A35-28B6-EA9E-F6E8-DDB49614A1C2}"/>
                </a:ext>
              </a:extLst>
            </p:cNvPr>
            <p:cNvSpPr>
              <a:spLocks/>
            </p:cNvSpPr>
            <p:nvPr/>
          </p:nvSpPr>
          <p:spPr bwMode="auto">
            <a:xfrm>
              <a:off x="1298868" y="3402176"/>
              <a:ext cx="1327776" cy="516515"/>
            </a:xfrm>
            <a:custGeom>
              <a:avLst/>
              <a:gdLst>
                <a:gd name="T0" fmla="*/ 0 w 11677"/>
                <a:gd name="T1" fmla="*/ 2009 h 4539"/>
                <a:gd name="T2" fmla="*/ 11677 w 11677"/>
                <a:gd name="T3" fmla="*/ 2009 h 4539"/>
                <a:gd name="T4" fmla="*/ 10217 w 11677"/>
                <a:gd name="T5" fmla="*/ 0 h 4539"/>
                <a:gd name="T6" fmla="*/ 1459 w 11677"/>
                <a:gd name="T7" fmla="*/ 0 h 4539"/>
                <a:gd name="T8" fmla="*/ 0 w 11677"/>
                <a:gd name="T9" fmla="*/ 2009 h 4539"/>
              </a:gdLst>
              <a:ahLst/>
              <a:cxnLst>
                <a:cxn ang="0">
                  <a:pos x="T0" y="T1"/>
                </a:cxn>
                <a:cxn ang="0">
                  <a:pos x="T2" y="T3"/>
                </a:cxn>
                <a:cxn ang="0">
                  <a:pos x="T4" y="T5"/>
                </a:cxn>
                <a:cxn ang="0">
                  <a:pos x="T6" y="T7"/>
                </a:cxn>
                <a:cxn ang="0">
                  <a:pos x="T8" y="T9"/>
                </a:cxn>
              </a:cxnLst>
              <a:rect l="0" t="0" r="r" b="b"/>
              <a:pathLst>
                <a:path w="11677" h="4539">
                  <a:moveTo>
                    <a:pt x="0" y="2009"/>
                  </a:moveTo>
                  <a:cubicBezTo>
                    <a:pt x="3481" y="4539"/>
                    <a:pt x="8196" y="4539"/>
                    <a:pt x="11677" y="2009"/>
                  </a:cubicBezTo>
                  <a:lnTo>
                    <a:pt x="10217" y="0"/>
                  </a:lnTo>
                  <a:cubicBezTo>
                    <a:pt x="7606" y="1897"/>
                    <a:pt x="4071" y="1897"/>
                    <a:pt x="1459" y="0"/>
                  </a:cubicBezTo>
                  <a:lnTo>
                    <a:pt x="0" y="2009"/>
                  </a:lnTo>
                  <a:close/>
                </a:path>
              </a:pathLst>
            </a:custGeom>
            <a:solidFill>
              <a:srgbClr val="1A9AFA">
                <a:lumMod val="20000"/>
                <a:lumOff val="80000"/>
              </a:srgbClr>
            </a:solidFill>
            <a:ln w="19050">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100" b="0" i="0" u="none" strike="noStrike" kern="0" cap="none" spc="0" normalizeH="0" baseline="0" noProof="0">
                <a:ln>
                  <a:noFill/>
                </a:ln>
                <a:solidFill>
                  <a:srgbClr val="000000"/>
                </a:solidFill>
                <a:effectLst/>
                <a:uLnTx/>
                <a:uFillTx/>
                <a:latin typeface="Arial" panose="020B0604020202020204"/>
              </a:endParaRPr>
            </a:p>
          </p:txBody>
        </p:sp>
        <p:sp>
          <p:nvSpPr>
            <p:cNvPr id="52" name="Freeform 9">
              <a:extLst>
                <a:ext uri="{FF2B5EF4-FFF2-40B4-BE49-F238E27FC236}">
                  <a16:creationId xmlns:a16="http://schemas.microsoft.com/office/drawing/2014/main" id="{3F290ADA-9288-DD4F-E875-A4DEC52B4344}"/>
                </a:ext>
              </a:extLst>
            </p:cNvPr>
            <p:cNvSpPr>
              <a:spLocks/>
            </p:cNvSpPr>
            <p:nvPr/>
          </p:nvSpPr>
          <p:spPr bwMode="auto">
            <a:xfrm>
              <a:off x="736861" y="2368198"/>
              <a:ext cx="727860" cy="1262382"/>
            </a:xfrm>
            <a:custGeom>
              <a:avLst/>
              <a:gdLst>
                <a:gd name="T0" fmla="*/ 1330 w 6398"/>
                <a:gd name="T1" fmla="*/ 0 h 11105"/>
                <a:gd name="T2" fmla="*/ 4939 w 6398"/>
                <a:gd name="T3" fmla="*/ 11105 h 11105"/>
                <a:gd name="T4" fmla="*/ 6398 w 6398"/>
                <a:gd name="T5" fmla="*/ 9096 h 11105"/>
                <a:gd name="T6" fmla="*/ 3692 w 6398"/>
                <a:gd name="T7" fmla="*/ 767 h 11105"/>
                <a:gd name="T8" fmla="*/ 1330 w 6398"/>
                <a:gd name="T9" fmla="*/ 0 h 11105"/>
              </a:gdLst>
              <a:ahLst/>
              <a:cxnLst>
                <a:cxn ang="0">
                  <a:pos x="T0" y="T1"/>
                </a:cxn>
                <a:cxn ang="0">
                  <a:pos x="T2" y="T3"/>
                </a:cxn>
                <a:cxn ang="0">
                  <a:pos x="T4" y="T5"/>
                </a:cxn>
                <a:cxn ang="0">
                  <a:pos x="T6" y="T7"/>
                </a:cxn>
                <a:cxn ang="0">
                  <a:pos x="T8" y="T9"/>
                </a:cxn>
              </a:cxnLst>
              <a:rect l="0" t="0" r="r" b="b"/>
              <a:pathLst>
                <a:path w="6398" h="11105">
                  <a:moveTo>
                    <a:pt x="1330" y="0"/>
                  </a:moveTo>
                  <a:cubicBezTo>
                    <a:pt x="0" y="4092"/>
                    <a:pt x="1457" y="8576"/>
                    <a:pt x="4939" y="11105"/>
                  </a:cubicBezTo>
                  <a:lnTo>
                    <a:pt x="6398" y="9096"/>
                  </a:lnTo>
                  <a:cubicBezTo>
                    <a:pt x="3787" y="7199"/>
                    <a:pt x="2695" y="3837"/>
                    <a:pt x="3692" y="767"/>
                  </a:cubicBezTo>
                  <a:lnTo>
                    <a:pt x="1330" y="0"/>
                  </a:lnTo>
                  <a:close/>
                </a:path>
              </a:pathLst>
            </a:custGeom>
            <a:solidFill>
              <a:srgbClr val="1A9AFA">
                <a:lumMod val="20000"/>
                <a:lumOff val="80000"/>
              </a:srgbClr>
            </a:solidFill>
            <a:ln w="19050">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100" b="0" i="0" u="none" strike="noStrike" kern="0" cap="none" spc="0" normalizeH="0" baseline="0" noProof="0">
                <a:ln>
                  <a:noFill/>
                </a:ln>
                <a:solidFill>
                  <a:srgbClr val="000000"/>
                </a:solidFill>
                <a:effectLst/>
                <a:uLnTx/>
                <a:uFillTx/>
                <a:latin typeface="Arial" panose="020B0604020202020204"/>
              </a:endParaRPr>
            </a:p>
          </p:txBody>
        </p:sp>
        <p:sp>
          <p:nvSpPr>
            <p:cNvPr id="53" name="Freeform 10">
              <a:extLst>
                <a:ext uri="{FF2B5EF4-FFF2-40B4-BE49-F238E27FC236}">
                  <a16:creationId xmlns:a16="http://schemas.microsoft.com/office/drawing/2014/main" id="{38C2F7F4-A06B-F842-36A0-07EA8AB781AE}"/>
                </a:ext>
              </a:extLst>
            </p:cNvPr>
            <p:cNvSpPr>
              <a:spLocks/>
            </p:cNvSpPr>
            <p:nvPr/>
          </p:nvSpPr>
          <p:spPr bwMode="auto">
            <a:xfrm>
              <a:off x="888499" y="1588213"/>
              <a:ext cx="1074731" cy="867177"/>
            </a:xfrm>
            <a:custGeom>
              <a:avLst/>
              <a:gdLst>
                <a:gd name="T0" fmla="*/ 18894 w 18894"/>
                <a:gd name="T1" fmla="*/ 0 h 15262"/>
                <a:gd name="T2" fmla="*/ 0 w 18894"/>
                <a:gd name="T3" fmla="*/ 13728 h 15262"/>
                <a:gd name="T4" fmla="*/ 4724 w 18894"/>
                <a:gd name="T5" fmla="*/ 15262 h 15262"/>
                <a:gd name="T6" fmla="*/ 18894 w 18894"/>
                <a:gd name="T7" fmla="*/ 4967 h 15262"/>
                <a:gd name="T8" fmla="*/ 18894 w 18894"/>
                <a:gd name="T9" fmla="*/ 0 h 15262"/>
              </a:gdLst>
              <a:ahLst/>
              <a:cxnLst>
                <a:cxn ang="0">
                  <a:pos x="T0" y="T1"/>
                </a:cxn>
                <a:cxn ang="0">
                  <a:pos x="T2" y="T3"/>
                </a:cxn>
                <a:cxn ang="0">
                  <a:pos x="T4" y="T5"/>
                </a:cxn>
                <a:cxn ang="0">
                  <a:pos x="T6" y="T7"/>
                </a:cxn>
                <a:cxn ang="0">
                  <a:pos x="T8" y="T9"/>
                </a:cxn>
              </a:cxnLst>
              <a:rect l="0" t="0" r="r" b="b"/>
              <a:pathLst>
                <a:path w="18894" h="15262">
                  <a:moveTo>
                    <a:pt x="18894" y="0"/>
                  </a:moveTo>
                  <a:cubicBezTo>
                    <a:pt x="10288" y="0"/>
                    <a:pt x="2660" y="5542"/>
                    <a:pt x="0" y="13728"/>
                  </a:cubicBezTo>
                  <a:lnTo>
                    <a:pt x="4724" y="15262"/>
                  </a:lnTo>
                  <a:cubicBezTo>
                    <a:pt x="6718" y="9123"/>
                    <a:pt x="12439" y="4967"/>
                    <a:pt x="18894" y="4967"/>
                  </a:cubicBezTo>
                  <a:lnTo>
                    <a:pt x="18894" y="0"/>
                  </a:lnTo>
                  <a:close/>
                </a:path>
              </a:pathLst>
            </a:custGeom>
            <a:solidFill>
              <a:srgbClr val="1A9AFA">
                <a:lumMod val="20000"/>
                <a:lumOff val="80000"/>
              </a:srgbClr>
            </a:solidFill>
            <a:ln w="19050">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100" b="0" i="0" u="none" strike="noStrike" kern="0" cap="none" spc="0" normalizeH="0" baseline="0" noProof="0">
                <a:ln>
                  <a:noFill/>
                </a:ln>
                <a:solidFill>
                  <a:srgbClr val="000000"/>
                </a:solidFill>
                <a:effectLst/>
                <a:uLnTx/>
                <a:uFillTx/>
                <a:latin typeface="Arial" panose="020B0604020202020204"/>
              </a:endParaRPr>
            </a:p>
          </p:txBody>
        </p:sp>
        <p:sp>
          <p:nvSpPr>
            <p:cNvPr id="54" name="Oval 53">
              <a:extLst>
                <a:ext uri="{FF2B5EF4-FFF2-40B4-BE49-F238E27FC236}">
                  <a16:creationId xmlns:a16="http://schemas.microsoft.com/office/drawing/2014/main" id="{7AFF84C6-2AB5-5085-3325-24A42B32155B}"/>
                </a:ext>
              </a:extLst>
            </p:cNvPr>
            <p:cNvSpPr/>
            <p:nvPr/>
          </p:nvSpPr>
          <p:spPr>
            <a:xfrm>
              <a:off x="1244128" y="2001274"/>
              <a:ext cx="1437256" cy="1437256"/>
            </a:xfrm>
            <a:prstGeom prst="ellipse">
              <a:avLst/>
            </a:prstGeom>
            <a:solidFill>
              <a:srgbClr val="FFFFFF"/>
            </a:solidFill>
            <a:ln w="57150" cap="flat" cmpd="sng" algn="ctr">
              <a:solidFill>
                <a:srgbClr val="1A9AFA">
                  <a:lumMod val="75000"/>
                </a:srgbClr>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100" b="0" i="0" u="none" strike="noStrike" kern="0" cap="none" spc="0" normalizeH="0" baseline="0" noProof="0">
                <a:ln>
                  <a:noFill/>
                </a:ln>
                <a:solidFill>
                  <a:srgbClr val="000000"/>
                </a:solidFill>
                <a:effectLst/>
                <a:uLnTx/>
                <a:uFillTx/>
                <a:latin typeface="Arial"/>
              </a:endParaRPr>
            </a:p>
          </p:txBody>
        </p:sp>
        <p:sp>
          <p:nvSpPr>
            <p:cNvPr id="55" name="Title 1">
              <a:extLst>
                <a:ext uri="{FF2B5EF4-FFF2-40B4-BE49-F238E27FC236}">
                  <a16:creationId xmlns:a16="http://schemas.microsoft.com/office/drawing/2014/main" id="{2832E8CA-B383-FC8E-E97C-A4B42277BA22}"/>
                </a:ext>
              </a:extLst>
            </p:cNvPr>
            <p:cNvSpPr txBox="1">
              <a:spLocks/>
            </p:cNvSpPr>
            <p:nvPr/>
          </p:nvSpPr>
          <p:spPr>
            <a:xfrm>
              <a:off x="1399204" y="2812939"/>
              <a:ext cx="1109793" cy="301813"/>
            </a:xfrm>
            <a:prstGeom prst="rect">
              <a:avLst/>
            </a:prstGeom>
          </p:spPr>
          <p:txBody>
            <a:bodyPr vert="horz" wrap="square" lIns="0" tIns="0" rIns="0" bIns="0" rtlCol="0" anchor="t" anchorCtr="0">
              <a:spAutoFit/>
            </a:bodyPr>
            <a:lstStyle>
              <a:lvl1pPr algn="l" defTabSz="914400" rtl="0" eaLnBrk="1" latinLnBrk="0" hangingPunct="1">
                <a:lnSpc>
                  <a:spcPct val="85000"/>
                </a:lnSpc>
                <a:spcBef>
                  <a:spcPct val="0"/>
                </a:spcBef>
                <a:buNone/>
                <a:defRPr sz="3000" b="1" kern="1200">
                  <a:solidFill>
                    <a:schemeClr val="bg1"/>
                  </a:solidFill>
                  <a:latin typeface="Arial" pitchFamily="34" charset="0"/>
                  <a:ea typeface="+mj-ea"/>
                  <a:cs typeface="Arial"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itchFamily="34" charset="0"/>
                  <a:ea typeface="+mj-ea"/>
                  <a:cs typeface="Arial" pitchFamily="34" charset="0"/>
                </a:rPr>
                <a:t>PSP Models for </a:t>
              </a:r>
              <a:r>
                <a:rPr lang="en-GB" sz="1100">
                  <a:solidFill>
                    <a:srgbClr val="000000"/>
                  </a:solidFill>
                </a:rPr>
                <a:t>healthcare assets</a:t>
              </a:r>
              <a:endParaRPr kumimoji="0" lang="en-GB" sz="1100" b="1" i="0" u="none" strike="noStrike" kern="1200" cap="none" spc="0" normalizeH="0" baseline="0" noProof="0">
                <a:ln>
                  <a:noFill/>
                </a:ln>
                <a:solidFill>
                  <a:srgbClr val="000000"/>
                </a:solidFill>
                <a:effectLst/>
                <a:uLnTx/>
                <a:uFillTx/>
                <a:latin typeface="Arial" pitchFamily="34" charset="0"/>
                <a:ea typeface="+mj-ea"/>
                <a:cs typeface="Arial" pitchFamily="34" charset="0"/>
              </a:endParaRPr>
            </a:p>
          </p:txBody>
        </p:sp>
      </p:grpSp>
      <p:pic>
        <p:nvPicPr>
          <p:cNvPr id="56" name="Graphic 55" descr="Group brainstorm with solid fill">
            <a:extLst>
              <a:ext uri="{FF2B5EF4-FFF2-40B4-BE49-F238E27FC236}">
                <a16:creationId xmlns:a16="http://schemas.microsoft.com/office/drawing/2014/main" id="{72C95837-F31C-FA4C-2223-25F8876C90E5}"/>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406996" y="3251198"/>
            <a:ext cx="636750" cy="733525"/>
          </a:xfrm>
          <a:prstGeom prst="rect">
            <a:avLst/>
          </a:prstGeom>
        </p:spPr>
      </p:pic>
      <p:pic>
        <p:nvPicPr>
          <p:cNvPr id="57" name="Graphic 56" descr="Connections">
            <a:extLst>
              <a:ext uri="{FF2B5EF4-FFF2-40B4-BE49-F238E27FC236}">
                <a16:creationId xmlns:a16="http://schemas.microsoft.com/office/drawing/2014/main" id="{DE6DEA4D-6598-1F67-2C03-E2E5D7855D9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48159" y="4939877"/>
            <a:ext cx="784397" cy="830160"/>
          </a:xfrm>
          <a:prstGeom prst="rect">
            <a:avLst/>
          </a:prstGeom>
        </p:spPr>
      </p:pic>
      <p:pic>
        <p:nvPicPr>
          <p:cNvPr id="58" name="Graphic 57" descr="Business Growth with solid fill">
            <a:extLst>
              <a:ext uri="{FF2B5EF4-FFF2-40B4-BE49-F238E27FC236}">
                <a16:creationId xmlns:a16="http://schemas.microsoft.com/office/drawing/2014/main" id="{D5C79D75-BD81-7ECF-E033-788F6621FD6A}"/>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7928957" y="4580230"/>
            <a:ext cx="650665" cy="697152"/>
          </a:xfrm>
          <a:prstGeom prst="rect">
            <a:avLst/>
          </a:prstGeom>
        </p:spPr>
      </p:pic>
      <p:pic>
        <p:nvPicPr>
          <p:cNvPr id="59" name="Graphic 58" descr="Money with solid fill">
            <a:extLst>
              <a:ext uri="{FF2B5EF4-FFF2-40B4-BE49-F238E27FC236}">
                <a16:creationId xmlns:a16="http://schemas.microsoft.com/office/drawing/2014/main" id="{C1D547E6-C1E9-5168-D754-4878EE104047}"/>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4940803" y="5216441"/>
            <a:ext cx="620719" cy="720260"/>
          </a:xfrm>
          <a:prstGeom prst="rect">
            <a:avLst/>
          </a:prstGeom>
        </p:spPr>
      </p:pic>
      <p:pic>
        <p:nvPicPr>
          <p:cNvPr id="60" name="Graphic 59" descr="Open hand">
            <a:extLst>
              <a:ext uri="{FF2B5EF4-FFF2-40B4-BE49-F238E27FC236}">
                <a16:creationId xmlns:a16="http://schemas.microsoft.com/office/drawing/2014/main" id="{4B927436-17D3-8CAF-8546-57014A22F2E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735769" y="2246551"/>
            <a:ext cx="671227" cy="671227"/>
          </a:xfrm>
          <a:prstGeom prst="rect">
            <a:avLst/>
          </a:prstGeom>
        </p:spPr>
      </p:pic>
      <p:grpSp>
        <p:nvGrpSpPr>
          <p:cNvPr id="61" name="Group 60">
            <a:extLst>
              <a:ext uri="{FF2B5EF4-FFF2-40B4-BE49-F238E27FC236}">
                <a16:creationId xmlns:a16="http://schemas.microsoft.com/office/drawing/2014/main" id="{71CEC661-6226-F7C5-CD2A-E0C874C95CC2}"/>
              </a:ext>
            </a:extLst>
          </p:cNvPr>
          <p:cNvGrpSpPr/>
          <p:nvPr/>
        </p:nvGrpSpPr>
        <p:grpSpPr>
          <a:xfrm>
            <a:off x="3828967" y="1568269"/>
            <a:ext cx="2943881" cy="1314089"/>
            <a:chOff x="8548448" y="1449046"/>
            <a:chExt cx="2943881" cy="1314089"/>
          </a:xfrm>
          <a:noFill/>
        </p:grpSpPr>
        <p:sp>
          <p:nvSpPr>
            <p:cNvPr id="62" name="TextBox 61">
              <a:extLst>
                <a:ext uri="{FF2B5EF4-FFF2-40B4-BE49-F238E27FC236}">
                  <a16:creationId xmlns:a16="http://schemas.microsoft.com/office/drawing/2014/main" id="{C885E8C4-F9D8-4104-A220-9036A64ACCDD}"/>
                </a:ext>
              </a:extLst>
            </p:cNvPr>
            <p:cNvSpPr txBox="1"/>
            <p:nvPr/>
          </p:nvSpPr>
          <p:spPr>
            <a:xfrm>
              <a:off x="8548448" y="1449046"/>
              <a:ext cx="2943881" cy="307777"/>
            </a:xfrm>
            <a:prstGeom prst="rect">
              <a:avLst/>
            </a:prstGeom>
            <a:grpFill/>
          </p:spPr>
          <p:txBody>
            <a:bodyPr wrap="square" lIns="0" rIns="0" rtlCol="0" anchor="b">
              <a:spAutoFit/>
            </a:bodyPr>
            <a:lstStyle/>
            <a:p>
              <a:pPr marL="91440" defTabSz="914400">
                <a:defRPr/>
              </a:pPr>
              <a:r>
                <a:rPr lang="en-US" sz="1400" b="1" noProof="1">
                  <a:solidFill>
                    <a:srgbClr val="2E2E38"/>
                  </a:solidFill>
                  <a:latin typeface="Arial" panose="020B0604020202020204"/>
                </a:rPr>
                <a:t>Public Private Partnership (PPP) </a:t>
              </a:r>
            </a:p>
          </p:txBody>
        </p:sp>
        <p:sp>
          <p:nvSpPr>
            <p:cNvPr id="63" name="TextBox 62">
              <a:extLst>
                <a:ext uri="{FF2B5EF4-FFF2-40B4-BE49-F238E27FC236}">
                  <a16:creationId xmlns:a16="http://schemas.microsoft.com/office/drawing/2014/main" id="{1FB865CB-6267-BE31-9B40-9159540458F7}"/>
                </a:ext>
              </a:extLst>
            </p:cNvPr>
            <p:cNvSpPr txBox="1"/>
            <p:nvPr/>
          </p:nvSpPr>
          <p:spPr>
            <a:xfrm>
              <a:off x="8553336" y="1701306"/>
              <a:ext cx="2931738" cy="1061829"/>
            </a:xfrm>
            <a:prstGeom prst="rect">
              <a:avLst/>
            </a:prstGeom>
            <a:grpFill/>
          </p:spPr>
          <p:txBody>
            <a:bodyPr wrap="square" lIns="0" rIns="0" rtlCol="0" anchor="t">
              <a:spAutoFit/>
            </a:bodyPr>
            <a:lstStyle/>
            <a:p>
              <a:pPr marL="91440" algn="just" defTabSz="914400">
                <a:defRPr/>
              </a:pPr>
              <a:r>
                <a:rPr lang="en-IN" sz="1050" noProof="1">
                  <a:solidFill>
                    <a:srgbClr val="2E2E38"/>
                  </a:solidFill>
                </a:rPr>
                <a:t>A private partner is responsible for the design, build, finance, operation and maintenance of the assets (or a any comination of the above, O&amp;M/ BOT/BOO/ DBFO/ DBFOM etc ) for a fixed term with or without transferring ownership back to the public sector. </a:t>
              </a:r>
              <a:endParaRPr lang="en-US" sz="1050" noProof="1">
                <a:solidFill>
                  <a:srgbClr val="2E2E38"/>
                </a:solidFill>
              </a:endParaRPr>
            </a:p>
          </p:txBody>
        </p:sp>
      </p:grpSp>
      <p:grpSp>
        <p:nvGrpSpPr>
          <p:cNvPr id="64" name="Group 63">
            <a:extLst>
              <a:ext uri="{FF2B5EF4-FFF2-40B4-BE49-F238E27FC236}">
                <a16:creationId xmlns:a16="http://schemas.microsoft.com/office/drawing/2014/main" id="{14A5F2CE-287B-BDA5-6228-DB96192DB0FD}"/>
              </a:ext>
            </a:extLst>
          </p:cNvPr>
          <p:cNvGrpSpPr/>
          <p:nvPr/>
        </p:nvGrpSpPr>
        <p:grpSpPr>
          <a:xfrm>
            <a:off x="9831648" y="3640119"/>
            <a:ext cx="1973458" cy="1017255"/>
            <a:chOff x="339230" y="2808331"/>
            <a:chExt cx="1973458" cy="1017255"/>
          </a:xfrm>
          <a:noFill/>
        </p:grpSpPr>
        <p:sp>
          <p:nvSpPr>
            <p:cNvPr id="65" name="TextBox 64">
              <a:extLst>
                <a:ext uri="{FF2B5EF4-FFF2-40B4-BE49-F238E27FC236}">
                  <a16:creationId xmlns:a16="http://schemas.microsoft.com/office/drawing/2014/main" id="{D03B5C90-C577-D791-A19E-40E10FE05CF9}"/>
                </a:ext>
              </a:extLst>
            </p:cNvPr>
            <p:cNvSpPr txBox="1"/>
            <p:nvPr/>
          </p:nvSpPr>
          <p:spPr>
            <a:xfrm>
              <a:off x="339230" y="2808331"/>
              <a:ext cx="1973458" cy="307777"/>
            </a:xfrm>
            <a:prstGeom prst="rect">
              <a:avLst/>
            </a:prstGeom>
            <a:grpFill/>
          </p:spPr>
          <p:txBody>
            <a:bodyPr wrap="square" lIns="0" rIns="0" rtlCol="0" anchor="b">
              <a:spAutoFit/>
            </a:bodyPr>
            <a:lstStyle/>
            <a:p>
              <a:pPr marL="91440" defTabSz="914400">
                <a:defRPr/>
              </a:pPr>
              <a:r>
                <a:rPr lang="en-US" sz="1400" b="1" noProof="1">
                  <a:solidFill>
                    <a:srgbClr val="2E2E38"/>
                  </a:solidFill>
                  <a:latin typeface="Arial" panose="020B0604020202020204"/>
                </a:rPr>
                <a:t>Management Contract</a:t>
              </a:r>
            </a:p>
          </p:txBody>
        </p:sp>
        <p:sp>
          <p:nvSpPr>
            <p:cNvPr id="66" name="TextBox 65">
              <a:extLst>
                <a:ext uri="{FF2B5EF4-FFF2-40B4-BE49-F238E27FC236}">
                  <a16:creationId xmlns:a16="http://schemas.microsoft.com/office/drawing/2014/main" id="{C33C7056-9E4A-1FB9-883F-D951F68A8AD0}"/>
                </a:ext>
              </a:extLst>
            </p:cNvPr>
            <p:cNvSpPr txBox="1"/>
            <p:nvPr/>
          </p:nvSpPr>
          <p:spPr>
            <a:xfrm>
              <a:off x="339230" y="3086922"/>
              <a:ext cx="1747669" cy="738664"/>
            </a:xfrm>
            <a:prstGeom prst="rect">
              <a:avLst/>
            </a:prstGeom>
            <a:grpFill/>
          </p:spPr>
          <p:txBody>
            <a:bodyPr wrap="square" lIns="0" rIns="0" rtlCol="0" anchor="t">
              <a:spAutoFit/>
            </a:bodyPr>
            <a:lstStyle/>
            <a:p>
              <a:pPr marL="91440" algn="just" defTabSz="914400">
                <a:defRPr/>
              </a:pPr>
              <a:r>
                <a:rPr lang="en-IN" sz="1050" noProof="1">
                  <a:solidFill>
                    <a:srgbClr val="2E2E38"/>
                  </a:solidFill>
                </a:rPr>
                <a:t>Private operators manage existing facilities under performance-based contracts</a:t>
              </a:r>
              <a:endParaRPr lang="en-US" sz="1050" noProof="1">
                <a:solidFill>
                  <a:srgbClr val="2E2E38"/>
                </a:solidFill>
              </a:endParaRPr>
            </a:p>
          </p:txBody>
        </p:sp>
      </p:grpSp>
      <p:grpSp>
        <p:nvGrpSpPr>
          <p:cNvPr id="67" name="Group 66">
            <a:extLst>
              <a:ext uri="{FF2B5EF4-FFF2-40B4-BE49-F238E27FC236}">
                <a16:creationId xmlns:a16="http://schemas.microsoft.com/office/drawing/2014/main" id="{82BE3C20-1768-409C-BFF4-968CF28E28AD}"/>
              </a:ext>
            </a:extLst>
          </p:cNvPr>
          <p:cNvGrpSpPr/>
          <p:nvPr/>
        </p:nvGrpSpPr>
        <p:grpSpPr>
          <a:xfrm>
            <a:off x="4735240" y="3310183"/>
            <a:ext cx="2055738" cy="1007539"/>
            <a:chOff x="639026" y="2818047"/>
            <a:chExt cx="3795908" cy="1007539"/>
          </a:xfrm>
          <a:noFill/>
        </p:grpSpPr>
        <p:sp>
          <p:nvSpPr>
            <p:cNvPr id="68" name="TextBox 67">
              <a:extLst>
                <a:ext uri="{FF2B5EF4-FFF2-40B4-BE49-F238E27FC236}">
                  <a16:creationId xmlns:a16="http://schemas.microsoft.com/office/drawing/2014/main" id="{8F106B9F-5002-DB0C-6C5A-1CE8DFEC152E}"/>
                </a:ext>
              </a:extLst>
            </p:cNvPr>
            <p:cNvSpPr txBox="1"/>
            <p:nvPr/>
          </p:nvSpPr>
          <p:spPr>
            <a:xfrm>
              <a:off x="639026" y="2818047"/>
              <a:ext cx="3795908" cy="307777"/>
            </a:xfrm>
            <a:prstGeom prst="rect">
              <a:avLst/>
            </a:prstGeom>
            <a:grpFill/>
          </p:spPr>
          <p:txBody>
            <a:bodyPr wrap="square" lIns="0" rIns="0" rtlCol="0" anchor="b">
              <a:spAutoFit/>
            </a:bodyPr>
            <a:lstStyle/>
            <a:p>
              <a:pPr marL="91440" defTabSz="914400">
                <a:defRPr/>
              </a:pPr>
              <a:r>
                <a:rPr lang="en-IN" sz="1400" b="1" noProof="1">
                  <a:solidFill>
                    <a:srgbClr val="2E2E38"/>
                  </a:solidFill>
                  <a:latin typeface="Arial" panose="020B0604020202020204"/>
                </a:rPr>
                <a:t>Joint Venture</a:t>
              </a:r>
              <a:endParaRPr lang="en-US" sz="1400" b="1" noProof="1">
                <a:solidFill>
                  <a:srgbClr val="2E2E38"/>
                </a:solidFill>
                <a:latin typeface="Arial" panose="020B0604020202020204"/>
              </a:endParaRPr>
            </a:p>
          </p:txBody>
        </p:sp>
        <p:sp>
          <p:nvSpPr>
            <p:cNvPr id="69" name="TextBox 68">
              <a:extLst>
                <a:ext uri="{FF2B5EF4-FFF2-40B4-BE49-F238E27FC236}">
                  <a16:creationId xmlns:a16="http://schemas.microsoft.com/office/drawing/2014/main" id="{F21517E4-18ED-278F-238C-E9088BCC1D46}"/>
                </a:ext>
              </a:extLst>
            </p:cNvPr>
            <p:cNvSpPr txBox="1"/>
            <p:nvPr/>
          </p:nvSpPr>
          <p:spPr>
            <a:xfrm>
              <a:off x="658830" y="3086922"/>
              <a:ext cx="3615494" cy="738664"/>
            </a:xfrm>
            <a:prstGeom prst="rect">
              <a:avLst/>
            </a:prstGeom>
            <a:grpFill/>
          </p:spPr>
          <p:txBody>
            <a:bodyPr wrap="square" lIns="0" rIns="0" rtlCol="0" anchor="t">
              <a:spAutoFit/>
            </a:bodyPr>
            <a:lstStyle/>
            <a:p>
              <a:pPr marL="91440" algn="just" defTabSz="914400">
                <a:defRPr/>
              </a:pPr>
              <a:r>
                <a:rPr lang="en-IN" sz="1050" noProof="1">
                  <a:solidFill>
                    <a:srgbClr val="2E2E38"/>
                  </a:solidFill>
                </a:rPr>
                <a:t>Co-investment and risk sharing between [CLIENT] and private entities to operatore the services. </a:t>
              </a:r>
              <a:endParaRPr lang="en-US" sz="1050" noProof="1">
                <a:solidFill>
                  <a:srgbClr val="2E2E38"/>
                </a:solidFill>
              </a:endParaRPr>
            </a:p>
          </p:txBody>
        </p:sp>
      </p:grpSp>
      <p:grpSp>
        <p:nvGrpSpPr>
          <p:cNvPr id="70" name="Group 69">
            <a:extLst>
              <a:ext uri="{FF2B5EF4-FFF2-40B4-BE49-F238E27FC236}">
                <a16:creationId xmlns:a16="http://schemas.microsoft.com/office/drawing/2014/main" id="{B695E84B-3163-8171-1FF2-9F3B66561446}"/>
              </a:ext>
            </a:extLst>
          </p:cNvPr>
          <p:cNvGrpSpPr/>
          <p:nvPr/>
        </p:nvGrpSpPr>
        <p:grpSpPr>
          <a:xfrm>
            <a:off x="7916317" y="5685067"/>
            <a:ext cx="3574318" cy="848031"/>
            <a:chOff x="348722" y="2860456"/>
            <a:chExt cx="6223000" cy="848031"/>
          </a:xfrm>
          <a:noFill/>
        </p:grpSpPr>
        <p:sp>
          <p:nvSpPr>
            <p:cNvPr id="71" name="TextBox 70">
              <a:extLst>
                <a:ext uri="{FF2B5EF4-FFF2-40B4-BE49-F238E27FC236}">
                  <a16:creationId xmlns:a16="http://schemas.microsoft.com/office/drawing/2014/main" id="{FF39A659-AC06-3983-F30D-C1B2FD47DD4A}"/>
                </a:ext>
              </a:extLst>
            </p:cNvPr>
            <p:cNvSpPr txBox="1"/>
            <p:nvPr/>
          </p:nvSpPr>
          <p:spPr>
            <a:xfrm>
              <a:off x="348722" y="2860456"/>
              <a:ext cx="6223000" cy="307777"/>
            </a:xfrm>
            <a:prstGeom prst="rect">
              <a:avLst/>
            </a:prstGeom>
            <a:grpFill/>
          </p:spPr>
          <p:txBody>
            <a:bodyPr wrap="square" lIns="0" rIns="0" rtlCol="0" anchor="b">
              <a:spAutoFit/>
            </a:bodyPr>
            <a:lstStyle/>
            <a:p>
              <a:pPr marL="91440" defTabSz="914400">
                <a:defRPr/>
              </a:pPr>
              <a:r>
                <a:rPr lang="en-US" sz="1400" b="1">
                  <a:solidFill>
                    <a:srgbClr val="2E2E38"/>
                  </a:solidFill>
                  <a:latin typeface="Arial" panose="020B0604020202020204"/>
                </a:rPr>
                <a:t>Outsourcing of non-core services</a:t>
              </a:r>
              <a:endParaRPr lang="en-US" sz="1400" b="1" noProof="1">
                <a:solidFill>
                  <a:srgbClr val="2E2E38"/>
                </a:solidFill>
                <a:latin typeface="Arial" panose="020B0604020202020204"/>
              </a:endParaRPr>
            </a:p>
          </p:txBody>
        </p:sp>
        <p:sp>
          <p:nvSpPr>
            <p:cNvPr id="72" name="TextBox 71">
              <a:extLst>
                <a:ext uri="{FF2B5EF4-FFF2-40B4-BE49-F238E27FC236}">
                  <a16:creationId xmlns:a16="http://schemas.microsoft.com/office/drawing/2014/main" id="{C08E7556-09B1-7842-A53C-677A5374F4C3}"/>
                </a:ext>
              </a:extLst>
            </p:cNvPr>
            <p:cNvSpPr txBox="1"/>
            <p:nvPr/>
          </p:nvSpPr>
          <p:spPr>
            <a:xfrm>
              <a:off x="370729" y="3131406"/>
              <a:ext cx="5276976" cy="577081"/>
            </a:xfrm>
            <a:prstGeom prst="rect">
              <a:avLst/>
            </a:prstGeom>
            <a:grpFill/>
          </p:spPr>
          <p:txBody>
            <a:bodyPr wrap="square" lIns="0" rIns="0" rtlCol="0" anchor="t">
              <a:spAutoFit/>
            </a:bodyPr>
            <a:lstStyle/>
            <a:p>
              <a:pPr marL="91440" algn="just" defTabSz="914400">
                <a:defRPr/>
              </a:pPr>
              <a:r>
                <a:rPr lang="en-IN" sz="1050" noProof="1">
                  <a:solidFill>
                    <a:srgbClr val="2E2E38"/>
                  </a:solidFill>
                </a:rPr>
                <a:t>Contracting private providers for logistics, sample transport, IT systems, or equipment maintenance.</a:t>
              </a:r>
              <a:endParaRPr lang="en-US" sz="1050" noProof="1">
                <a:solidFill>
                  <a:srgbClr val="2E2E38"/>
                </a:solidFill>
              </a:endParaRPr>
            </a:p>
          </p:txBody>
        </p:sp>
      </p:grpSp>
      <p:grpSp>
        <p:nvGrpSpPr>
          <p:cNvPr id="73" name="Group 72">
            <a:extLst>
              <a:ext uri="{FF2B5EF4-FFF2-40B4-BE49-F238E27FC236}">
                <a16:creationId xmlns:a16="http://schemas.microsoft.com/office/drawing/2014/main" id="{C03FCE47-F0F9-42D2-8D03-145F610D87DC}"/>
              </a:ext>
            </a:extLst>
          </p:cNvPr>
          <p:cNvGrpSpPr/>
          <p:nvPr/>
        </p:nvGrpSpPr>
        <p:grpSpPr>
          <a:xfrm>
            <a:off x="2471596" y="4304077"/>
            <a:ext cx="1841037" cy="1486705"/>
            <a:chOff x="1328757" y="2823629"/>
            <a:chExt cx="3205303" cy="1486705"/>
          </a:xfrm>
          <a:noFill/>
        </p:grpSpPr>
        <p:sp>
          <p:nvSpPr>
            <p:cNvPr id="74" name="TextBox 73">
              <a:extLst>
                <a:ext uri="{FF2B5EF4-FFF2-40B4-BE49-F238E27FC236}">
                  <a16:creationId xmlns:a16="http://schemas.microsoft.com/office/drawing/2014/main" id="{DE1FBD81-12D4-044D-726B-C9AB6993A69A}"/>
                </a:ext>
              </a:extLst>
            </p:cNvPr>
            <p:cNvSpPr txBox="1"/>
            <p:nvPr/>
          </p:nvSpPr>
          <p:spPr>
            <a:xfrm>
              <a:off x="1336999" y="2823629"/>
              <a:ext cx="3039982" cy="307777"/>
            </a:xfrm>
            <a:prstGeom prst="rect">
              <a:avLst/>
            </a:prstGeom>
            <a:grpFill/>
          </p:spPr>
          <p:txBody>
            <a:bodyPr wrap="square" lIns="0" rIns="0" rtlCol="0" anchor="b">
              <a:spAutoFit/>
            </a:bodyPr>
            <a:lstStyle/>
            <a:p>
              <a:pPr marL="91440" defTabSz="914400">
                <a:defRPr/>
              </a:pPr>
              <a:r>
                <a:rPr lang="en-US" sz="1400" b="1" noProof="1">
                  <a:solidFill>
                    <a:srgbClr val="2E2E38"/>
                  </a:solidFill>
                  <a:latin typeface="Arial" panose="020B0604020202020204"/>
                </a:rPr>
                <a:t>Franchise Model</a:t>
              </a:r>
            </a:p>
          </p:txBody>
        </p:sp>
        <p:sp>
          <p:nvSpPr>
            <p:cNvPr id="75" name="TextBox 74">
              <a:extLst>
                <a:ext uri="{FF2B5EF4-FFF2-40B4-BE49-F238E27FC236}">
                  <a16:creationId xmlns:a16="http://schemas.microsoft.com/office/drawing/2014/main" id="{6DE6300B-889A-323A-9FB3-180168A1E8D7}"/>
                </a:ext>
              </a:extLst>
            </p:cNvPr>
            <p:cNvSpPr txBox="1"/>
            <p:nvPr/>
          </p:nvSpPr>
          <p:spPr>
            <a:xfrm>
              <a:off x="1328757" y="3086922"/>
              <a:ext cx="3205303" cy="1223412"/>
            </a:xfrm>
            <a:prstGeom prst="rect">
              <a:avLst/>
            </a:prstGeom>
            <a:grpFill/>
          </p:spPr>
          <p:txBody>
            <a:bodyPr wrap="square" lIns="0" rIns="0" rtlCol="0" anchor="t">
              <a:spAutoFit/>
            </a:bodyPr>
            <a:lstStyle/>
            <a:p>
              <a:pPr marL="91440" algn="just" defTabSz="914400">
                <a:defRPr/>
              </a:pPr>
              <a:r>
                <a:rPr lang="en-IN" sz="1050" noProof="1">
                  <a:solidFill>
                    <a:srgbClr val="2E2E38"/>
                  </a:solidFill>
                </a:rPr>
                <a:t>The [CLIENT] can franchise healthcare services to the operators allowing them to operate under a recognized brand and adhere to established standards and protocols.</a:t>
              </a:r>
            </a:p>
          </p:txBody>
        </p:sp>
      </p:grpSp>
      <p:grpSp>
        <p:nvGrpSpPr>
          <p:cNvPr id="76" name="Group 75">
            <a:extLst>
              <a:ext uri="{FF2B5EF4-FFF2-40B4-BE49-F238E27FC236}">
                <a16:creationId xmlns:a16="http://schemas.microsoft.com/office/drawing/2014/main" id="{8F39EC83-0E86-2C9A-CAA2-C3BE161BA7B6}"/>
              </a:ext>
            </a:extLst>
          </p:cNvPr>
          <p:cNvGrpSpPr/>
          <p:nvPr/>
        </p:nvGrpSpPr>
        <p:grpSpPr>
          <a:xfrm>
            <a:off x="1200675" y="2250876"/>
            <a:ext cx="1356889" cy="759437"/>
            <a:chOff x="1232869" y="2199536"/>
            <a:chExt cx="1356889" cy="759437"/>
          </a:xfrm>
        </p:grpSpPr>
        <p:pic>
          <p:nvPicPr>
            <p:cNvPr id="77" name="Graphic 76" descr="Beaker outline">
              <a:extLst>
                <a:ext uri="{FF2B5EF4-FFF2-40B4-BE49-F238E27FC236}">
                  <a16:creationId xmlns:a16="http://schemas.microsoft.com/office/drawing/2014/main" id="{927A4B8A-01DC-0245-8F6E-5678423F77A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232869" y="2199536"/>
              <a:ext cx="722217" cy="722217"/>
            </a:xfrm>
            <a:prstGeom prst="rect">
              <a:avLst/>
            </a:prstGeom>
          </p:spPr>
        </p:pic>
        <p:pic>
          <p:nvPicPr>
            <p:cNvPr id="78" name="Graphic 77" descr="Test tubes outline">
              <a:extLst>
                <a:ext uri="{FF2B5EF4-FFF2-40B4-BE49-F238E27FC236}">
                  <a16:creationId xmlns:a16="http://schemas.microsoft.com/office/drawing/2014/main" id="{1920A17A-D556-8E6A-CEEF-E0F4DD9220E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013668" y="2382883"/>
              <a:ext cx="576090" cy="576090"/>
            </a:xfrm>
            <a:prstGeom prst="rect">
              <a:avLst/>
            </a:prstGeom>
          </p:spPr>
        </p:pic>
      </p:grpSp>
    </p:spTree>
    <p:extLst>
      <p:ext uri="{BB962C8B-B14F-4D97-AF65-F5344CB8AC3E}">
        <p14:creationId xmlns:p14="http://schemas.microsoft.com/office/powerpoint/2010/main" val="1047802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 name="think-cell data - do not delete" hidden="1">
            <a:extLst>
              <a:ext uri="{FF2B5EF4-FFF2-40B4-BE49-F238E27FC236}">
                <a16:creationId xmlns:a16="http://schemas.microsoft.com/office/drawing/2014/main" id="{1DEE926F-1CB3-2FEF-7E39-4DFA72460DB2}"/>
              </a:ext>
            </a:extLst>
          </p:cNvPr>
          <p:cNvGraphicFramePr>
            <a:graphicFrameLocks noChangeAspect="1"/>
          </p:cNvGraphicFramePr>
          <p:nvPr>
            <p:custDataLst>
              <p:tags r:id="rId1"/>
            </p:custDataLst>
            <p:extLst>
              <p:ext uri="{D42A27DB-BD31-4B8C-83A1-F6EECF244321}">
                <p14:modId xmlns:p14="http://schemas.microsoft.com/office/powerpoint/2010/main" val="2142391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8" name="think-cell data - do not delete" hidden="1">
                        <a:extLst>
                          <a:ext uri="{FF2B5EF4-FFF2-40B4-BE49-F238E27FC236}">
                            <a16:creationId xmlns:a16="http://schemas.microsoft.com/office/drawing/2014/main" id="{1DEE926F-1CB3-2FEF-7E39-4DFA72460D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4" name="Group 3">
            <a:extLst>
              <a:ext uri="{FF2B5EF4-FFF2-40B4-BE49-F238E27FC236}">
                <a16:creationId xmlns:a16="http://schemas.microsoft.com/office/drawing/2014/main" id="{A21BFCBA-3327-F24A-AF50-8339B68FFFE3}"/>
              </a:ext>
            </a:extLst>
          </p:cNvPr>
          <p:cNvGrpSpPr/>
          <p:nvPr/>
        </p:nvGrpSpPr>
        <p:grpSpPr>
          <a:xfrm>
            <a:off x="685800" y="4399563"/>
            <a:ext cx="10781999" cy="1892020"/>
            <a:chOff x="685800" y="3981450"/>
            <a:chExt cx="10781999" cy="1691004"/>
          </a:xfrm>
        </p:grpSpPr>
        <p:sp>
          <p:nvSpPr>
            <p:cNvPr id="5" name="Rectangle: Rounded Corners 4">
              <a:extLst>
                <a:ext uri="{FF2B5EF4-FFF2-40B4-BE49-F238E27FC236}">
                  <a16:creationId xmlns:a16="http://schemas.microsoft.com/office/drawing/2014/main" id="{EFA37715-3C76-79E0-99A9-D9FC6D760931}"/>
                </a:ext>
              </a:extLst>
            </p:cNvPr>
            <p:cNvSpPr/>
            <p:nvPr/>
          </p:nvSpPr>
          <p:spPr bwMode="auto">
            <a:xfrm>
              <a:off x="7710488" y="5220248"/>
              <a:ext cx="1970957" cy="202474"/>
            </a:xfrm>
            <a:prstGeom prst="roundRect">
              <a:avLst>
                <a:gd name="adj" fmla="val 32348"/>
              </a:avLst>
            </a:prstGeom>
            <a:solidFill>
              <a:srgbClr val="C4C4CC"/>
            </a:solidFill>
            <a:ln w="9525" cap="flat" cmpd="sng" algn="ctr">
              <a:solidFill>
                <a:srgbClr val="747480"/>
              </a:solidFill>
              <a:prstDash val="dash"/>
            </a:ln>
            <a:effectLst/>
          </p:spPr>
          <p:txBody>
            <a:bodyPr lIns="0" tIns="0" rIns="0" bIns="0" rtlCol="0" anchor="ctr" anchorCtr="0"/>
            <a:lstStyle/>
            <a:p>
              <a:pPr marL="0" marR="0" lvl="0" indent="0" algn="ctr" defTabSz="99569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FFFFFF"/>
                </a:solidFill>
                <a:effectLst/>
                <a:uLnTx/>
                <a:uFillTx/>
              </a:endParaRPr>
            </a:p>
          </p:txBody>
        </p:sp>
        <p:sp>
          <p:nvSpPr>
            <p:cNvPr id="6" name="Rectangle: Rounded Corners 5">
              <a:extLst>
                <a:ext uri="{FF2B5EF4-FFF2-40B4-BE49-F238E27FC236}">
                  <a16:creationId xmlns:a16="http://schemas.microsoft.com/office/drawing/2014/main" id="{4090CA14-E672-99F7-0B1A-69E5BAA52ACF}"/>
                </a:ext>
              </a:extLst>
            </p:cNvPr>
            <p:cNvSpPr/>
            <p:nvPr/>
          </p:nvSpPr>
          <p:spPr bwMode="auto">
            <a:xfrm>
              <a:off x="7779485" y="4722896"/>
              <a:ext cx="1741560" cy="202474"/>
            </a:xfrm>
            <a:prstGeom prst="roundRect">
              <a:avLst>
                <a:gd name="adj" fmla="val 32348"/>
              </a:avLst>
            </a:prstGeom>
            <a:solidFill>
              <a:srgbClr val="C4C4CC"/>
            </a:solidFill>
            <a:ln w="9525" cap="flat" cmpd="sng" algn="ctr">
              <a:solidFill>
                <a:srgbClr val="747480"/>
              </a:solidFill>
              <a:prstDash val="dash"/>
            </a:ln>
            <a:effectLst/>
          </p:spPr>
          <p:txBody>
            <a:bodyPr lIns="0" tIns="0" rIns="0" bIns="0" rtlCol="0" anchor="ctr" anchorCtr="0"/>
            <a:lstStyle/>
            <a:p>
              <a:pPr marL="0" marR="0" lvl="0" indent="0" algn="ctr" defTabSz="99569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FFFFFF"/>
                </a:solidFill>
                <a:effectLst/>
                <a:uLnTx/>
                <a:uFillTx/>
              </a:endParaRPr>
            </a:p>
          </p:txBody>
        </p:sp>
        <p:sp>
          <p:nvSpPr>
            <p:cNvPr id="7" name="Rectangle: Rounded Corners 6">
              <a:extLst>
                <a:ext uri="{FF2B5EF4-FFF2-40B4-BE49-F238E27FC236}">
                  <a16:creationId xmlns:a16="http://schemas.microsoft.com/office/drawing/2014/main" id="{2636EFFE-F3A6-2AFA-605D-E4134214E08B}"/>
                </a:ext>
              </a:extLst>
            </p:cNvPr>
            <p:cNvSpPr/>
            <p:nvPr/>
          </p:nvSpPr>
          <p:spPr bwMode="auto">
            <a:xfrm>
              <a:off x="6066064" y="5469980"/>
              <a:ext cx="3625487" cy="202474"/>
            </a:xfrm>
            <a:prstGeom prst="roundRect">
              <a:avLst>
                <a:gd name="adj" fmla="val 32348"/>
              </a:avLst>
            </a:prstGeom>
            <a:solidFill>
              <a:srgbClr val="74748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69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FFFFF"/>
                  </a:solidFill>
                  <a:effectLst/>
                  <a:uLnTx/>
                  <a:uFillTx/>
                </a:rPr>
                <a:t>Operate and Maintain (OM)</a:t>
              </a:r>
            </a:p>
          </p:txBody>
        </p:sp>
        <p:sp>
          <p:nvSpPr>
            <p:cNvPr id="8" name="Rectangle: Rounded Corners 7">
              <a:extLst>
                <a:ext uri="{FF2B5EF4-FFF2-40B4-BE49-F238E27FC236}">
                  <a16:creationId xmlns:a16="http://schemas.microsoft.com/office/drawing/2014/main" id="{02BE9170-F8AD-7936-A0B3-FA1D19F41300}"/>
                </a:ext>
              </a:extLst>
            </p:cNvPr>
            <p:cNvSpPr/>
            <p:nvPr/>
          </p:nvSpPr>
          <p:spPr bwMode="auto">
            <a:xfrm>
              <a:off x="685800" y="5220150"/>
              <a:ext cx="7170060" cy="202670"/>
            </a:xfrm>
            <a:prstGeom prst="roundRect">
              <a:avLst>
                <a:gd name="adj" fmla="val 32348"/>
              </a:avLst>
            </a:prstGeom>
            <a:solidFill>
              <a:srgbClr val="74748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69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FFFFF"/>
                  </a:solidFill>
                  <a:effectLst/>
                  <a:uLnTx/>
                  <a:uFillTx/>
                </a:rPr>
                <a:t>Design, Build, Finance, Operatee and Maintain (DBFOM)</a:t>
              </a:r>
            </a:p>
          </p:txBody>
        </p:sp>
        <p:sp>
          <p:nvSpPr>
            <p:cNvPr id="9" name="Rectangle: Rounded Corners 8">
              <a:extLst>
                <a:ext uri="{FF2B5EF4-FFF2-40B4-BE49-F238E27FC236}">
                  <a16:creationId xmlns:a16="http://schemas.microsoft.com/office/drawing/2014/main" id="{45EAA6B6-A03D-594C-0421-64027681789A}"/>
                </a:ext>
              </a:extLst>
            </p:cNvPr>
            <p:cNvSpPr/>
            <p:nvPr/>
          </p:nvSpPr>
          <p:spPr bwMode="auto">
            <a:xfrm>
              <a:off x="2509966" y="4974581"/>
              <a:ext cx="8957833" cy="202670"/>
            </a:xfrm>
            <a:prstGeom prst="roundRect">
              <a:avLst>
                <a:gd name="adj" fmla="val 32348"/>
              </a:avLst>
            </a:prstGeom>
            <a:solidFill>
              <a:srgbClr val="74748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69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FFFFF"/>
                  </a:solidFill>
                  <a:effectLst/>
                  <a:uLnTx/>
                  <a:uFillTx/>
                </a:rPr>
                <a:t>Build, Operate and Own (BOO)</a:t>
              </a:r>
            </a:p>
          </p:txBody>
        </p:sp>
        <p:sp>
          <p:nvSpPr>
            <p:cNvPr id="10" name="Rectangle: Rounded Corners 9">
              <a:extLst>
                <a:ext uri="{FF2B5EF4-FFF2-40B4-BE49-F238E27FC236}">
                  <a16:creationId xmlns:a16="http://schemas.microsoft.com/office/drawing/2014/main" id="{B98E88E0-72D7-48B1-856E-7864D7B0B511}"/>
                </a:ext>
              </a:extLst>
            </p:cNvPr>
            <p:cNvSpPr/>
            <p:nvPr/>
          </p:nvSpPr>
          <p:spPr bwMode="auto">
            <a:xfrm>
              <a:off x="2509966" y="4725855"/>
              <a:ext cx="5352979" cy="202670"/>
            </a:xfrm>
            <a:prstGeom prst="roundRect">
              <a:avLst>
                <a:gd name="adj" fmla="val 32348"/>
              </a:avLst>
            </a:prstGeom>
            <a:solidFill>
              <a:srgbClr val="74748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69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FFFFF"/>
                  </a:solidFill>
                  <a:effectLst/>
                  <a:uLnTx/>
                  <a:uFillTx/>
                </a:rPr>
                <a:t>Build, Operate and Transfer (BOT)</a:t>
              </a:r>
            </a:p>
          </p:txBody>
        </p:sp>
        <p:sp>
          <p:nvSpPr>
            <p:cNvPr id="11" name="Rectangle: Rounded Corners 10">
              <a:extLst>
                <a:ext uri="{FF2B5EF4-FFF2-40B4-BE49-F238E27FC236}">
                  <a16:creationId xmlns:a16="http://schemas.microsoft.com/office/drawing/2014/main" id="{9BD445C2-BFF0-C058-DFC9-7D9BA22B4A94}"/>
                </a:ext>
              </a:extLst>
            </p:cNvPr>
            <p:cNvSpPr/>
            <p:nvPr/>
          </p:nvSpPr>
          <p:spPr bwMode="auto">
            <a:xfrm>
              <a:off x="693422" y="4480283"/>
              <a:ext cx="5352979" cy="202670"/>
            </a:xfrm>
            <a:prstGeom prst="roundRect">
              <a:avLst>
                <a:gd name="adj" fmla="val 32348"/>
              </a:avLst>
            </a:prstGeom>
            <a:solidFill>
              <a:srgbClr val="74748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69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FFFFF"/>
                  </a:solidFill>
                  <a:effectLst/>
                  <a:uLnTx/>
                  <a:uFillTx/>
                </a:rPr>
                <a:t>Design, Build, Finance  (DBF)</a:t>
              </a:r>
            </a:p>
          </p:txBody>
        </p:sp>
        <p:sp>
          <p:nvSpPr>
            <p:cNvPr id="12" name="Rectangle: Rounded Corners 11">
              <a:extLst>
                <a:ext uri="{FF2B5EF4-FFF2-40B4-BE49-F238E27FC236}">
                  <a16:creationId xmlns:a16="http://schemas.microsoft.com/office/drawing/2014/main" id="{2DBC2134-32D6-1512-B2E0-249ACDB31FBA}"/>
                </a:ext>
              </a:extLst>
            </p:cNvPr>
            <p:cNvSpPr/>
            <p:nvPr/>
          </p:nvSpPr>
          <p:spPr bwMode="auto">
            <a:xfrm>
              <a:off x="693422" y="4231557"/>
              <a:ext cx="5352979" cy="202670"/>
            </a:xfrm>
            <a:prstGeom prst="roundRect">
              <a:avLst>
                <a:gd name="adj" fmla="val 32348"/>
              </a:avLst>
            </a:prstGeom>
            <a:solidFill>
              <a:srgbClr val="74748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69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FFFFF"/>
                  </a:solidFill>
                  <a:effectLst/>
                  <a:uLnTx/>
                  <a:uFillTx/>
                </a:rPr>
                <a:t>Design &amp; Build (DB)</a:t>
              </a:r>
            </a:p>
          </p:txBody>
        </p:sp>
        <p:sp>
          <p:nvSpPr>
            <p:cNvPr id="13" name="Rectangle: Rounded Corners 12">
              <a:extLst>
                <a:ext uri="{FF2B5EF4-FFF2-40B4-BE49-F238E27FC236}">
                  <a16:creationId xmlns:a16="http://schemas.microsoft.com/office/drawing/2014/main" id="{E0B23AD8-AAE1-1A7E-4A99-F2FE83331DDA}"/>
                </a:ext>
              </a:extLst>
            </p:cNvPr>
            <p:cNvSpPr/>
            <p:nvPr/>
          </p:nvSpPr>
          <p:spPr bwMode="auto">
            <a:xfrm>
              <a:off x="2518125" y="3981450"/>
              <a:ext cx="1741560" cy="202474"/>
            </a:xfrm>
            <a:prstGeom prst="roundRect">
              <a:avLst>
                <a:gd name="adj" fmla="val 32348"/>
              </a:avLst>
            </a:prstGeom>
            <a:solidFill>
              <a:srgbClr val="74748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69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FFFFF"/>
                  </a:solidFill>
                  <a:effectLst/>
                  <a:uLnTx/>
                  <a:uFillTx/>
                </a:rPr>
                <a:t>Construct Only</a:t>
              </a:r>
            </a:p>
          </p:txBody>
        </p:sp>
      </p:grpSp>
      <p:sp>
        <p:nvSpPr>
          <p:cNvPr id="14" name="Rectangle: Rounded Corners 13">
            <a:extLst>
              <a:ext uri="{FF2B5EF4-FFF2-40B4-BE49-F238E27FC236}">
                <a16:creationId xmlns:a16="http://schemas.microsoft.com/office/drawing/2014/main" id="{78EC3559-D67D-9070-0848-21D2377967D4}"/>
              </a:ext>
            </a:extLst>
          </p:cNvPr>
          <p:cNvSpPr>
            <a:spLocks/>
          </p:cNvSpPr>
          <p:nvPr/>
        </p:nvSpPr>
        <p:spPr bwMode="auto">
          <a:xfrm>
            <a:off x="691236" y="1305024"/>
            <a:ext cx="10819865" cy="435477"/>
          </a:xfrm>
          <a:prstGeom prst="roundRect">
            <a:avLst>
              <a:gd name="adj" fmla="val 21766"/>
            </a:avLst>
          </a:prstGeom>
          <a:solidFill>
            <a:srgbClr val="D2D2DA"/>
          </a:solidFill>
          <a:ln w="9525" cap="flat" cmpd="sng" algn="ctr">
            <a:noFill/>
            <a:prstDash val="solid"/>
            <a:round/>
            <a:headEnd type="none" w="med" len="med"/>
            <a:tailEnd type="none" w="med" len="med"/>
          </a:ln>
          <a:effectLst/>
        </p:spPr>
        <p:txBody>
          <a:bodyPr vert="horz" wrap="square" lIns="65368" tIns="0" rIns="65368" bIns="0" numCol="1" rtlCol="0" anchor="ctr" anchorCtr="0" compatLnSpc="1">
            <a:prstTxWarp prst="textNoShape">
              <a:avLst/>
            </a:prstTxWarp>
          </a:bodyPr>
          <a:lstStyle/>
          <a:p>
            <a:pPr marL="0" marR="0" lvl="0" indent="0" defTabSz="830208" eaLnBrk="1" fontAlgn="auto" latinLnBrk="0" hangingPunct="1">
              <a:lnSpc>
                <a:spcPct val="100000"/>
              </a:lnSpc>
              <a:spcBef>
                <a:spcPts val="0"/>
              </a:spcBef>
              <a:spcAft>
                <a:spcPts val="0"/>
              </a:spcAft>
              <a:buClrTx/>
              <a:buSzTx/>
              <a:buFont typeface="EYInterstate Light" panose="02000506000000020004" pitchFamily="2" charset="0"/>
              <a:buNone/>
              <a:tabLst/>
              <a:defRPr/>
            </a:pPr>
            <a:r>
              <a:rPr lang="en-IN" sz="1200" kern="0"/>
              <a:t>Under a PPP structure there are many roles the private sector can play</a:t>
            </a:r>
            <a:endParaRPr kumimoji="0" lang="en-IN" sz="1200" b="0" i="0" u="none" strike="noStrike" kern="0" cap="none" spc="0" normalizeH="0" baseline="0" noProof="0">
              <a:ln>
                <a:noFill/>
              </a:ln>
              <a:effectLst/>
              <a:uLnTx/>
              <a:uFillTx/>
            </a:endParaRPr>
          </a:p>
        </p:txBody>
      </p:sp>
      <p:sp>
        <p:nvSpPr>
          <p:cNvPr id="15" name="Rectangle 14">
            <a:extLst>
              <a:ext uri="{FF2B5EF4-FFF2-40B4-BE49-F238E27FC236}">
                <a16:creationId xmlns:a16="http://schemas.microsoft.com/office/drawing/2014/main" id="{67D01C47-6406-481A-1BCD-7A4613742FAB}"/>
              </a:ext>
            </a:extLst>
          </p:cNvPr>
          <p:cNvSpPr/>
          <p:nvPr/>
        </p:nvSpPr>
        <p:spPr>
          <a:xfrm>
            <a:off x="701044" y="2195728"/>
            <a:ext cx="11013830" cy="318999"/>
          </a:xfrm>
          <a:prstGeom prst="rect">
            <a:avLst/>
          </a:prstGeom>
          <a:noFill/>
          <a:ln w="25400" cap="flat" cmpd="sng" algn="ctr">
            <a:noFill/>
            <a:prstDash val="solid"/>
          </a:ln>
          <a:effectLst/>
        </p:spPr>
        <p:txBody>
          <a:bodyPr rtlCol="0" anchor="t"/>
          <a:lstStyle/>
          <a:p>
            <a:pPr marL="0" marR="0" lvl="0" indent="0" algn="just" defTabSz="995690" eaLnBrk="1" fontAlgn="base" latinLnBrk="0" hangingPunct="1">
              <a:lnSpc>
                <a:spcPct val="100000"/>
              </a:lnSpc>
              <a:spcBef>
                <a:spcPts val="0"/>
              </a:spcBef>
              <a:spcAft>
                <a:spcPct val="0"/>
              </a:spcAft>
              <a:buClr>
                <a:srgbClr val="595959"/>
              </a:buClr>
              <a:buSzPct val="125000"/>
              <a:buFontTx/>
              <a:buNone/>
              <a:tabLst/>
              <a:defRPr/>
            </a:pPr>
            <a:endParaRPr kumimoji="0" lang="en-GB" sz="1200" b="0" i="0" u="none" strike="noStrike" kern="0" cap="none" spc="0" normalizeH="0" baseline="0" noProof="0">
              <a:ln>
                <a:noFill/>
              </a:ln>
              <a:solidFill>
                <a:srgbClr val="595959"/>
              </a:solidFill>
              <a:effectLst/>
              <a:uLnTx/>
              <a:uFillTx/>
            </a:endParaRPr>
          </a:p>
        </p:txBody>
      </p:sp>
      <p:sp>
        <p:nvSpPr>
          <p:cNvPr id="16" name="Content Placeholder 2">
            <a:extLst>
              <a:ext uri="{FF2B5EF4-FFF2-40B4-BE49-F238E27FC236}">
                <a16:creationId xmlns:a16="http://schemas.microsoft.com/office/drawing/2014/main" id="{E50406E8-875C-CA60-3235-E233F6D70986}"/>
              </a:ext>
            </a:extLst>
          </p:cNvPr>
          <p:cNvSpPr txBox="1">
            <a:spLocks/>
          </p:cNvSpPr>
          <p:nvPr/>
        </p:nvSpPr>
        <p:spPr>
          <a:xfrm>
            <a:off x="705899" y="2664724"/>
            <a:ext cx="1749719" cy="1266166"/>
          </a:xfrm>
          <a:prstGeom prst="rect">
            <a:avLst/>
          </a:prstGeom>
          <a:solidFill>
            <a:srgbClr val="F5F5FA"/>
          </a:solidFill>
          <a:effectLst/>
        </p:spPr>
        <p:txBody>
          <a:bodyPr vert="horz" lIns="54864" tIns="45720" rIns="54864" bIns="0" rtlCol="0" anchor="t" anchorCtr="0">
            <a:noAutofit/>
          </a:bodyPr>
          <a:lstStyle>
            <a:lvl1pPr marL="324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1pPr>
            <a:lvl2pPr marL="32385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2pPr>
            <a:lvl3pPr marL="972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3pPr>
            <a:lvl4pPr marL="1296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4pPr>
            <a:lvl5pPr marL="1620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pPr marL="0" marR="0" lvl="0" indent="0" algn="l" defTabSz="995690" rtl="0" eaLnBrk="1" fontAlgn="auto" latinLnBrk="0" hangingPunct="1">
              <a:lnSpc>
                <a:spcPct val="100000"/>
              </a:lnSpc>
              <a:spcBef>
                <a:spcPts val="0"/>
              </a:spcBef>
              <a:spcAft>
                <a:spcPts val="600"/>
              </a:spcAft>
              <a:buClr>
                <a:srgbClr val="FFE600"/>
              </a:buClr>
              <a:buSzPct val="70000"/>
              <a:buFont typeface="Arial" panose="020B0604020202020204" pitchFamily="34" charset="0"/>
              <a:buNone/>
              <a:tabLst/>
              <a:defRPr/>
            </a:pPr>
            <a:r>
              <a:rPr kumimoji="0" lang="en-GB" sz="1050" b="0" i="0" u="none" strike="noStrike" kern="1200" cap="none" spc="0" normalizeH="0" baseline="0" noProof="0">
                <a:ln>
                  <a:noFill/>
                </a:ln>
                <a:solidFill>
                  <a:srgbClr val="000000"/>
                </a:solidFill>
                <a:effectLst/>
                <a:uLnTx/>
                <a:uFillTx/>
                <a:latin typeface="Arial" panose="020B0604020202020204"/>
                <a:ea typeface="+mn-ea"/>
                <a:cs typeface="Arial" pitchFamily="34" charset="0"/>
              </a:rPr>
              <a:t>Engineering work—from </a:t>
            </a:r>
            <a:r>
              <a:rPr kumimoji="0" lang="en-GB" sz="1050" b="0" i="0" u="none" strike="noStrike" kern="1200" cap="none" spc="-20" normalizeH="0" baseline="0" noProof="0">
                <a:ln>
                  <a:noFill/>
                </a:ln>
                <a:solidFill>
                  <a:srgbClr val="000000"/>
                </a:solidFill>
                <a:effectLst/>
                <a:uLnTx/>
                <a:uFillTx/>
                <a:latin typeface="Arial" panose="020B0604020202020204"/>
                <a:ea typeface="+mn-ea"/>
                <a:cs typeface="Arial" pitchFamily="34" charset="0"/>
              </a:rPr>
              <a:t>initial concept and output requirements to construction -ready design specifications.</a:t>
            </a:r>
          </a:p>
        </p:txBody>
      </p:sp>
      <p:sp>
        <p:nvSpPr>
          <p:cNvPr id="17" name="Flowchart: Alternate Process 16">
            <a:extLst>
              <a:ext uri="{FF2B5EF4-FFF2-40B4-BE49-F238E27FC236}">
                <a16:creationId xmlns:a16="http://schemas.microsoft.com/office/drawing/2014/main" id="{D2901234-ECF2-DD0F-A197-FC041F57A440}"/>
              </a:ext>
            </a:extLst>
          </p:cNvPr>
          <p:cNvSpPr/>
          <p:nvPr/>
        </p:nvSpPr>
        <p:spPr>
          <a:xfrm>
            <a:off x="691231" y="2225310"/>
            <a:ext cx="1997126" cy="396416"/>
          </a:xfrm>
          <a:prstGeom prst="flowChartAlternateProcess">
            <a:avLst/>
          </a:prstGeom>
          <a:solidFill>
            <a:srgbClr val="FFFFFF"/>
          </a:solidFill>
          <a:ln w="31750" cap="flat" cmpd="sng" algn="ctr">
            <a:solidFill>
              <a:srgbClr val="F5F5FA"/>
            </a:solidFill>
            <a:prstDash val="solid"/>
          </a:ln>
          <a:effectLst/>
        </p:spPr>
        <p:txBody>
          <a:bodyPr wrap="none" tIns="0" rIns="0" bIns="0" rtlCol="0" anchor="ctr" anchorCtr="0"/>
          <a:lstStyle/>
          <a:p>
            <a:pPr marL="0" marR="0" lvl="0" indent="0" algn="ctr" defTabSz="995690" eaLnBrk="1" fontAlgn="auto" latinLnBrk="0" hangingPunct="1">
              <a:lnSpc>
                <a:spcPct val="85000"/>
              </a:lnSpc>
              <a:spcBef>
                <a:spcPts val="0"/>
              </a:spcBef>
              <a:spcAft>
                <a:spcPts val="600"/>
              </a:spcAft>
              <a:buClr>
                <a:srgbClr val="FFE600"/>
              </a:buClr>
              <a:buSzPct val="70000"/>
              <a:buFontTx/>
              <a:buNone/>
              <a:tabLst/>
              <a:defRPr/>
            </a:pPr>
            <a:r>
              <a:rPr kumimoji="0" lang="en-GB" sz="1200" b="1" i="0" u="none" strike="noStrike" kern="0" cap="none" spc="0" normalizeH="0" baseline="0" noProof="0">
                <a:ln>
                  <a:noFill/>
                </a:ln>
                <a:solidFill>
                  <a:srgbClr val="000000"/>
                </a:solidFill>
                <a:effectLst/>
                <a:uLnTx/>
                <a:uFillTx/>
              </a:rPr>
              <a:t>Design</a:t>
            </a:r>
          </a:p>
        </p:txBody>
      </p:sp>
      <p:sp>
        <p:nvSpPr>
          <p:cNvPr id="18" name="Flowchart: Alternate Process 17">
            <a:extLst>
              <a:ext uri="{FF2B5EF4-FFF2-40B4-BE49-F238E27FC236}">
                <a16:creationId xmlns:a16="http://schemas.microsoft.com/office/drawing/2014/main" id="{45D1BDDF-6CFE-2A08-7415-8A68A30D5C0B}"/>
              </a:ext>
            </a:extLst>
          </p:cNvPr>
          <p:cNvSpPr/>
          <p:nvPr/>
        </p:nvSpPr>
        <p:spPr>
          <a:xfrm>
            <a:off x="2246231" y="2225310"/>
            <a:ext cx="2256479" cy="396416"/>
          </a:xfrm>
          <a:prstGeom prst="flowChartAlternateProcess">
            <a:avLst/>
          </a:prstGeom>
          <a:solidFill>
            <a:srgbClr val="EBEBF5"/>
          </a:solidFill>
          <a:ln w="38100" cap="flat" cmpd="sng" algn="ctr">
            <a:solidFill>
              <a:srgbClr val="FFFFFF"/>
            </a:solidFill>
            <a:prstDash val="solid"/>
          </a:ln>
          <a:effectLst/>
        </p:spPr>
        <p:txBody>
          <a:bodyPr wrap="none" lIns="91440" tIns="0" rIns="0" bIns="0" rtlCol="0" anchor="ctr" anchorCtr="0"/>
          <a:lstStyle/>
          <a:p>
            <a:pPr marL="0" marR="0" lvl="0" indent="0" algn="ctr" defTabSz="995690" eaLnBrk="1" fontAlgn="auto" latinLnBrk="0" hangingPunct="1">
              <a:lnSpc>
                <a:spcPct val="85000"/>
              </a:lnSpc>
              <a:spcBef>
                <a:spcPts val="0"/>
              </a:spcBef>
              <a:spcAft>
                <a:spcPts val="600"/>
              </a:spcAft>
              <a:buClr>
                <a:srgbClr val="FFE600"/>
              </a:buClr>
              <a:buSzPct val="70000"/>
              <a:buFontTx/>
              <a:buNone/>
              <a:tabLst/>
              <a:defRPr/>
            </a:pPr>
            <a:r>
              <a:rPr kumimoji="0" lang="en-GB" sz="1200" b="1" i="0" u="none" strike="noStrike" kern="0" cap="none" spc="0" normalizeH="0" baseline="0" noProof="0">
                <a:ln>
                  <a:noFill/>
                </a:ln>
                <a:solidFill>
                  <a:srgbClr val="000000"/>
                </a:solidFill>
                <a:effectLst/>
                <a:uLnTx/>
                <a:uFillTx/>
              </a:rPr>
              <a:t>Build/Construct</a:t>
            </a:r>
          </a:p>
        </p:txBody>
      </p:sp>
      <p:sp>
        <p:nvSpPr>
          <p:cNvPr id="19" name="Flowchart: Alternate Process 18">
            <a:extLst>
              <a:ext uri="{FF2B5EF4-FFF2-40B4-BE49-F238E27FC236}">
                <a16:creationId xmlns:a16="http://schemas.microsoft.com/office/drawing/2014/main" id="{77E5E5F1-F346-0B1F-7A40-9E6D365FF94E}"/>
              </a:ext>
            </a:extLst>
          </p:cNvPr>
          <p:cNvSpPr/>
          <p:nvPr/>
        </p:nvSpPr>
        <p:spPr>
          <a:xfrm>
            <a:off x="4129914" y="2225310"/>
            <a:ext cx="2187149" cy="396416"/>
          </a:xfrm>
          <a:prstGeom prst="flowChartAlternateProcess">
            <a:avLst/>
          </a:prstGeom>
          <a:solidFill>
            <a:srgbClr val="C4C4CD"/>
          </a:solidFill>
          <a:ln w="38100" cap="flat" cmpd="sng" algn="ctr">
            <a:solidFill>
              <a:srgbClr val="FFFFFF"/>
            </a:solidFill>
            <a:prstDash val="solid"/>
          </a:ln>
          <a:effectLst/>
        </p:spPr>
        <p:txBody>
          <a:bodyPr wrap="none" lIns="182880" tIns="0" rIns="0" bIns="0" rtlCol="0" anchor="ctr" anchorCtr="0"/>
          <a:lstStyle/>
          <a:p>
            <a:pPr marL="0" marR="0" lvl="0" indent="0" algn="ctr" defTabSz="995690" eaLnBrk="1" fontAlgn="auto" latinLnBrk="0" hangingPunct="1">
              <a:lnSpc>
                <a:spcPct val="85000"/>
              </a:lnSpc>
              <a:spcBef>
                <a:spcPts val="0"/>
              </a:spcBef>
              <a:spcAft>
                <a:spcPts val="600"/>
              </a:spcAft>
              <a:buClr>
                <a:srgbClr val="FFE600"/>
              </a:buClr>
              <a:buSzPct val="70000"/>
              <a:buFontTx/>
              <a:buNone/>
              <a:tabLst/>
              <a:defRPr/>
            </a:pPr>
            <a:r>
              <a:rPr kumimoji="0" lang="en-GB" sz="1200" b="1" i="0" u="none" strike="noStrike" kern="0" cap="none" spc="0" normalizeH="0" baseline="0" noProof="0">
                <a:ln>
                  <a:noFill/>
                </a:ln>
                <a:solidFill>
                  <a:srgbClr val="000000"/>
                </a:solidFill>
                <a:effectLst/>
                <a:uLnTx/>
                <a:uFillTx/>
              </a:rPr>
              <a:t>Finance</a:t>
            </a:r>
          </a:p>
        </p:txBody>
      </p:sp>
      <p:sp>
        <p:nvSpPr>
          <p:cNvPr id="20" name="Flowchart: Alternate Process 19">
            <a:extLst>
              <a:ext uri="{FF2B5EF4-FFF2-40B4-BE49-F238E27FC236}">
                <a16:creationId xmlns:a16="http://schemas.microsoft.com/office/drawing/2014/main" id="{98AF5B95-F9E9-D638-D954-E6F70A64D4EE}"/>
              </a:ext>
            </a:extLst>
          </p:cNvPr>
          <p:cNvSpPr/>
          <p:nvPr/>
        </p:nvSpPr>
        <p:spPr>
          <a:xfrm>
            <a:off x="5944267" y="2225310"/>
            <a:ext cx="2187149" cy="396416"/>
          </a:xfrm>
          <a:prstGeom prst="flowChartAlternateProcess">
            <a:avLst/>
          </a:prstGeom>
          <a:solidFill>
            <a:srgbClr val="747480"/>
          </a:solidFill>
          <a:ln w="38100" cap="flat" cmpd="sng" algn="ctr">
            <a:solidFill>
              <a:srgbClr val="FFFFFF"/>
            </a:solidFill>
            <a:prstDash val="solid"/>
          </a:ln>
          <a:effectLst/>
        </p:spPr>
        <p:txBody>
          <a:bodyPr wrap="none" tIns="0" rIns="0" bIns="0" rtlCol="0" anchor="ctr" anchorCtr="0"/>
          <a:lstStyle/>
          <a:p>
            <a:pPr marL="0" marR="0" lvl="0" indent="0" algn="ctr" defTabSz="99569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white"/>
                </a:solidFill>
                <a:effectLst/>
                <a:uLnTx/>
                <a:uFillTx/>
              </a:rPr>
              <a:t>Operate</a:t>
            </a:r>
          </a:p>
        </p:txBody>
      </p:sp>
      <p:sp>
        <p:nvSpPr>
          <p:cNvPr id="21" name="Content Placeholder 2">
            <a:extLst>
              <a:ext uri="{FF2B5EF4-FFF2-40B4-BE49-F238E27FC236}">
                <a16:creationId xmlns:a16="http://schemas.microsoft.com/office/drawing/2014/main" id="{121D1F32-7545-B69D-98CB-ACA38B3015EA}"/>
              </a:ext>
            </a:extLst>
          </p:cNvPr>
          <p:cNvSpPr txBox="1">
            <a:spLocks/>
          </p:cNvSpPr>
          <p:nvPr/>
        </p:nvSpPr>
        <p:spPr>
          <a:xfrm>
            <a:off x="2509966" y="2664724"/>
            <a:ext cx="1749719" cy="1266166"/>
          </a:xfrm>
          <a:prstGeom prst="rect">
            <a:avLst/>
          </a:prstGeom>
          <a:solidFill>
            <a:srgbClr val="F5F5FA"/>
          </a:solidFill>
          <a:ln/>
          <a:effectLst/>
        </p:spPr>
        <p:txBody>
          <a:bodyPr vert="horz" lIns="54864" tIns="45720" rIns="54864" bIns="0" rtlCol="0" anchor="t" anchorCtr="0">
            <a:noAutofit/>
          </a:bodyPr>
          <a:lstStyle>
            <a:lvl1pPr marL="324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1pPr>
            <a:lvl2pPr marL="32385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2pPr>
            <a:lvl3pPr marL="972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3pPr>
            <a:lvl4pPr marL="1296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4pPr>
            <a:lvl5pPr marL="1620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pPr marL="0" marR="0" lvl="0" indent="0" algn="l" defTabSz="995690" rtl="0" eaLnBrk="1" fontAlgn="auto" latinLnBrk="0" hangingPunct="1">
              <a:lnSpc>
                <a:spcPct val="100000"/>
              </a:lnSpc>
              <a:spcBef>
                <a:spcPts val="0"/>
              </a:spcBef>
              <a:spcAft>
                <a:spcPts val="0"/>
              </a:spcAft>
              <a:buClr>
                <a:srgbClr val="FFE600"/>
              </a:buClr>
              <a:buSzPct val="70000"/>
              <a:buFont typeface="Arial" panose="020B0604020202020204" pitchFamily="34" charset="0"/>
              <a:buNone/>
              <a:tabLst/>
              <a:defRPr/>
            </a:pPr>
            <a:r>
              <a:rPr kumimoji="0" lang="en-GB" sz="1050" b="0" i="0" u="none" strike="noStrike" kern="1200" cap="none" spc="0" normalizeH="0" baseline="0" noProof="0">
                <a:ln>
                  <a:noFill/>
                </a:ln>
                <a:solidFill>
                  <a:srgbClr val="000000"/>
                </a:solidFill>
                <a:effectLst/>
                <a:uLnTx/>
                <a:uFillTx/>
                <a:latin typeface="Arial" panose="020B0604020202020204"/>
                <a:ea typeface="+mn-ea"/>
                <a:cs typeface="Arial" pitchFamily="34" charset="0"/>
              </a:rPr>
              <a:t>Construct the asset and install all equipment.</a:t>
            </a:r>
          </a:p>
        </p:txBody>
      </p:sp>
      <p:sp>
        <p:nvSpPr>
          <p:cNvPr id="22" name="Content Placeholder 2">
            <a:extLst>
              <a:ext uri="{FF2B5EF4-FFF2-40B4-BE49-F238E27FC236}">
                <a16:creationId xmlns:a16="http://schemas.microsoft.com/office/drawing/2014/main" id="{C3DF46DB-9EB8-E4DA-F422-CB4380A31BB5}"/>
              </a:ext>
            </a:extLst>
          </p:cNvPr>
          <p:cNvSpPr txBox="1">
            <a:spLocks/>
          </p:cNvSpPr>
          <p:nvPr/>
        </p:nvSpPr>
        <p:spPr>
          <a:xfrm>
            <a:off x="4314034" y="2664724"/>
            <a:ext cx="1749719" cy="1266166"/>
          </a:xfrm>
          <a:prstGeom prst="rect">
            <a:avLst/>
          </a:prstGeom>
          <a:solidFill>
            <a:srgbClr val="F5F5FA"/>
          </a:solidFill>
          <a:ln/>
          <a:effectLst/>
        </p:spPr>
        <p:txBody>
          <a:bodyPr vert="horz" lIns="54864" tIns="45720" rIns="54864" bIns="0" rtlCol="0" anchor="t" anchorCtr="0">
            <a:noAutofit/>
          </a:bodyPr>
          <a:lstStyle>
            <a:lvl1pPr marL="324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1pPr>
            <a:lvl2pPr marL="32385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2pPr>
            <a:lvl3pPr marL="972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3pPr>
            <a:lvl4pPr marL="1296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4pPr>
            <a:lvl5pPr marL="1620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pPr marL="0" marR="0" lvl="0" indent="0" algn="l" defTabSz="995690" rtl="0" eaLnBrk="1" fontAlgn="auto" latinLnBrk="0" hangingPunct="1">
              <a:lnSpc>
                <a:spcPct val="100000"/>
              </a:lnSpc>
              <a:spcBef>
                <a:spcPts val="0"/>
              </a:spcBef>
              <a:spcAft>
                <a:spcPts val="0"/>
              </a:spcAft>
              <a:buClr>
                <a:srgbClr val="FFE600"/>
              </a:buClr>
              <a:buSzPct val="70000"/>
              <a:buFont typeface="Arial" panose="020B0604020202020204" pitchFamily="34" charset="0"/>
              <a:buNone/>
              <a:tabLst/>
              <a:defRPr/>
            </a:pPr>
            <a:r>
              <a:rPr kumimoji="0" lang="en-GB" sz="1050" b="0" i="0" u="none" strike="noStrike" kern="1200" cap="none" spc="0" normalizeH="0" baseline="0" noProof="0">
                <a:ln>
                  <a:noFill/>
                </a:ln>
                <a:solidFill>
                  <a:srgbClr val="000000"/>
                </a:solidFill>
                <a:effectLst/>
                <a:uLnTx/>
                <a:uFillTx/>
                <a:latin typeface="Arial" panose="020B0604020202020204"/>
                <a:ea typeface="+mn-ea"/>
                <a:cs typeface="Arial" pitchFamily="34" charset="0"/>
              </a:rPr>
              <a:t>Finance all or part of the necessary capital expenditure.</a:t>
            </a:r>
          </a:p>
        </p:txBody>
      </p:sp>
      <p:sp>
        <p:nvSpPr>
          <p:cNvPr id="23" name="Content Placeholder 2">
            <a:extLst>
              <a:ext uri="{FF2B5EF4-FFF2-40B4-BE49-F238E27FC236}">
                <a16:creationId xmlns:a16="http://schemas.microsoft.com/office/drawing/2014/main" id="{89530D6B-ACDD-08FD-A3AF-9DDE23047317}"/>
              </a:ext>
            </a:extLst>
          </p:cNvPr>
          <p:cNvSpPr txBox="1">
            <a:spLocks/>
          </p:cNvSpPr>
          <p:nvPr/>
        </p:nvSpPr>
        <p:spPr>
          <a:xfrm>
            <a:off x="6118101" y="2664724"/>
            <a:ext cx="1749719" cy="1266166"/>
          </a:xfrm>
          <a:prstGeom prst="rect">
            <a:avLst/>
          </a:prstGeom>
          <a:solidFill>
            <a:srgbClr val="F5F5FA"/>
          </a:solidFill>
          <a:ln/>
          <a:effectLst/>
        </p:spPr>
        <p:txBody>
          <a:bodyPr vert="horz" lIns="54864" tIns="45720" rIns="54864" bIns="0" rtlCol="0" anchor="t" anchorCtr="0">
            <a:noAutofit/>
          </a:bodyPr>
          <a:lstStyle>
            <a:lvl1pPr marL="324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1pPr>
            <a:lvl2pPr marL="32385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2pPr>
            <a:lvl3pPr marL="972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3pPr>
            <a:lvl4pPr marL="1296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4pPr>
            <a:lvl5pPr marL="1620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pPr marL="0" marR="0" lvl="0" indent="0" algn="l" defTabSz="995690" rtl="0" eaLnBrk="1" fontAlgn="auto" latinLnBrk="0" hangingPunct="1">
              <a:lnSpc>
                <a:spcPct val="100000"/>
              </a:lnSpc>
              <a:spcBef>
                <a:spcPts val="0"/>
              </a:spcBef>
              <a:spcAft>
                <a:spcPts val="0"/>
              </a:spcAft>
              <a:buClr>
                <a:srgbClr val="FFE600"/>
              </a:buClr>
              <a:buSzPct val="70000"/>
              <a:buFont typeface="Arial" panose="020B0604020202020204" pitchFamily="34" charset="0"/>
              <a:buNone/>
              <a:tabLst/>
              <a:defRPr/>
            </a:pPr>
            <a:r>
              <a:rPr kumimoji="0" lang="en-GB" sz="1050" b="0" i="0" u="none" strike="noStrike" kern="1200" cap="none" spc="0" normalizeH="0" baseline="0" noProof="0">
                <a:ln>
                  <a:noFill/>
                </a:ln>
                <a:solidFill>
                  <a:srgbClr val="000000"/>
                </a:solidFill>
                <a:effectLst/>
                <a:uLnTx/>
                <a:uFillTx/>
                <a:latin typeface="Arial" panose="020B0604020202020204"/>
                <a:ea typeface="+mn-ea"/>
                <a:cs typeface="Arial" pitchFamily="34" charset="0"/>
              </a:rPr>
              <a:t>Technical operation of an asset, and / or providing services directly to users.</a:t>
            </a:r>
          </a:p>
        </p:txBody>
      </p:sp>
      <p:sp>
        <p:nvSpPr>
          <p:cNvPr id="24" name="Content Placeholder 2">
            <a:extLst>
              <a:ext uri="{FF2B5EF4-FFF2-40B4-BE49-F238E27FC236}">
                <a16:creationId xmlns:a16="http://schemas.microsoft.com/office/drawing/2014/main" id="{E6565953-6BEE-D926-0299-DA0F580C26D5}"/>
              </a:ext>
            </a:extLst>
          </p:cNvPr>
          <p:cNvSpPr txBox="1">
            <a:spLocks/>
          </p:cNvSpPr>
          <p:nvPr/>
        </p:nvSpPr>
        <p:spPr>
          <a:xfrm>
            <a:off x="7922169" y="2664724"/>
            <a:ext cx="1749719" cy="1266166"/>
          </a:xfrm>
          <a:prstGeom prst="rect">
            <a:avLst/>
          </a:prstGeom>
          <a:solidFill>
            <a:srgbClr val="F5F5FA"/>
          </a:solidFill>
          <a:ln/>
          <a:effectLst/>
        </p:spPr>
        <p:txBody>
          <a:bodyPr vert="horz" lIns="54864" tIns="45720" rIns="54864" bIns="0" rtlCol="0" anchor="t" anchorCtr="0">
            <a:noAutofit/>
          </a:bodyPr>
          <a:lstStyle>
            <a:lvl1pPr marL="324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1pPr>
            <a:lvl2pPr marL="32385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2pPr>
            <a:lvl3pPr marL="972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3pPr>
            <a:lvl4pPr marL="1296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4pPr>
            <a:lvl5pPr marL="1620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pPr marL="0" marR="0" lvl="0" indent="0" algn="l" defTabSz="995690" rtl="0" eaLnBrk="1" fontAlgn="auto" latinLnBrk="0" hangingPunct="1">
              <a:lnSpc>
                <a:spcPct val="100000"/>
              </a:lnSpc>
              <a:spcBef>
                <a:spcPts val="0"/>
              </a:spcBef>
              <a:spcAft>
                <a:spcPts val="0"/>
              </a:spcAft>
              <a:buClr>
                <a:srgbClr val="FFE600"/>
              </a:buClr>
              <a:buSzPct val="70000"/>
              <a:buFont typeface="Arial" panose="020B0604020202020204" pitchFamily="34" charset="0"/>
              <a:buNone/>
              <a:tabLst/>
              <a:defRPr/>
            </a:pPr>
            <a:r>
              <a:rPr kumimoji="0" lang="en-GB" sz="1050" b="0" i="0" u="none" strike="noStrike" kern="1200" cap="none" spc="0" normalizeH="0" baseline="0" noProof="0">
                <a:ln>
                  <a:noFill/>
                </a:ln>
                <a:solidFill>
                  <a:srgbClr val="000000"/>
                </a:solidFill>
                <a:effectLst/>
                <a:uLnTx/>
                <a:uFillTx/>
                <a:latin typeface="Arial" panose="020B0604020202020204"/>
                <a:ea typeface="+mn-ea"/>
                <a:cs typeface="Arial" pitchFamily="34" charset="0"/>
              </a:rPr>
              <a:t>Maintaining an infrastructure asset to a specified standard over the life of the contract.</a:t>
            </a:r>
          </a:p>
        </p:txBody>
      </p:sp>
      <p:sp>
        <p:nvSpPr>
          <p:cNvPr id="25" name="Content Placeholder 2">
            <a:extLst>
              <a:ext uri="{FF2B5EF4-FFF2-40B4-BE49-F238E27FC236}">
                <a16:creationId xmlns:a16="http://schemas.microsoft.com/office/drawing/2014/main" id="{5424850C-ECB5-5E20-9AAD-BE142A02AAEC}"/>
              </a:ext>
            </a:extLst>
          </p:cNvPr>
          <p:cNvSpPr txBox="1">
            <a:spLocks/>
          </p:cNvSpPr>
          <p:nvPr/>
        </p:nvSpPr>
        <p:spPr>
          <a:xfrm>
            <a:off x="9726237" y="2664724"/>
            <a:ext cx="1749719" cy="1266166"/>
          </a:xfrm>
          <a:prstGeom prst="rect">
            <a:avLst/>
          </a:prstGeom>
          <a:solidFill>
            <a:srgbClr val="F5F5FA"/>
          </a:solidFill>
          <a:ln/>
          <a:effectLst/>
        </p:spPr>
        <p:txBody>
          <a:bodyPr vert="horz" lIns="54864" tIns="45720" rIns="54864" bIns="0" rtlCol="0" anchor="t" anchorCtr="0">
            <a:noAutofit/>
          </a:bodyPr>
          <a:lstStyle>
            <a:lvl1pPr marL="324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1pPr>
            <a:lvl2pPr marL="32385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2pPr>
            <a:lvl3pPr marL="972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3pPr>
            <a:lvl4pPr marL="1296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4pPr>
            <a:lvl5pPr marL="1620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pPr marL="0" marR="0" lvl="0" indent="0" algn="l" defTabSz="995690" rtl="0" eaLnBrk="1" fontAlgn="auto" latinLnBrk="0" hangingPunct="1">
              <a:lnSpc>
                <a:spcPct val="100000"/>
              </a:lnSpc>
              <a:spcBef>
                <a:spcPts val="0"/>
              </a:spcBef>
              <a:spcAft>
                <a:spcPts val="0"/>
              </a:spcAft>
              <a:buClr>
                <a:srgbClr val="FFE600"/>
              </a:buClr>
              <a:buSzPct val="70000"/>
              <a:buFont typeface="Arial" panose="020B0604020202020204" pitchFamily="34" charset="0"/>
              <a:buNone/>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Arial" pitchFamily="34" charset="0"/>
              </a:rPr>
              <a:t>Assets being “handed-back” to the procuring authority at contract expiration.</a:t>
            </a:r>
            <a:endParaRPr kumimoji="0" lang="en-GB" sz="1050" b="0" i="0" u="none" strike="noStrike" kern="1200" cap="none" spc="0" normalizeH="0" baseline="0" noProof="0">
              <a:ln>
                <a:noFill/>
              </a:ln>
              <a:solidFill>
                <a:srgbClr val="000000"/>
              </a:solidFill>
              <a:effectLst/>
              <a:uLnTx/>
              <a:uFillTx/>
              <a:latin typeface="Arial" panose="020B0604020202020204"/>
              <a:ea typeface="+mn-ea"/>
              <a:cs typeface="Arial" pitchFamily="34" charset="0"/>
            </a:endParaRPr>
          </a:p>
        </p:txBody>
      </p:sp>
      <p:sp>
        <p:nvSpPr>
          <p:cNvPr id="26" name="Flowchart: Alternate Process 25">
            <a:extLst>
              <a:ext uri="{FF2B5EF4-FFF2-40B4-BE49-F238E27FC236}">
                <a16:creationId xmlns:a16="http://schemas.microsoft.com/office/drawing/2014/main" id="{8CE9DF4B-A2F1-DC40-6E99-7F181C7D7553}"/>
              </a:ext>
            </a:extLst>
          </p:cNvPr>
          <p:cNvSpPr/>
          <p:nvPr/>
        </p:nvSpPr>
        <p:spPr>
          <a:xfrm>
            <a:off x="7758620" y="2225310"/>
            <a:ext cx="2187149" cy="396416"/>
          </a:xfrm>
          <a:prstGeom prst="flowChartAlternateProcess">
            <a:avLst/>
          </a:prstGeom>
          <a:solidFill>
            <a:srgbClr val="1A9AFA"/>
          </a:solidFill>
          <a:ln w="38100" cap="flat" cmpd="sng" algn="ctr">
            <a:solidFill>
              <a:srgbClr val="FFFFFF"/>
            </a:solidFill>
            <a:prstDash val="solid"/>
          </a:ln>
          <a:effectLst/>
        </p:spPr>
        <p:txBody>
          <a:bodyPr wrap="none" tIns="0" rIns="0" bIns="0" rtlCol="0" anchor="ctr" anchorCtr="0"/>
          <a:lstStyle/>
          <a:p>
            <a:pPr marL="0" marR="0" lvl="0" indent="0" algn="ctr" defTabSz="99569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white"/>
                </a:solidFill>
                <a:effectLst/>
                <a:uLnTx/>
                <a:uFillTx/>
              </a:rPr>
              <a:t>Maintain</a:t>
            </a:r>
          </a:p>
        </p:txBody>
      </p:sp>
      <p:sp>
        <p:nvSpPr>
          <p:cNvPr id="27" name="Chevron 16">
            <a:extLst>
              <a:ext uri="{FF2B5EF4-FFF2-40B4-BE49-F238E27FC236}">
                <a16:creationId xmlns:a16="http://schemas.microsoft.com/office/drawing/2014/main" id="{5225A0B1-2B50-D7E7-CB77-76B704A49287}"/>
              </a:ext>
            </a:extLst>
          </p:cNvPr>
          <p:cNvSpPr/>
          <p:nvPr/>
        </p:nvSpPr>
        <p:spPr>
          <a:xfrm>
            <a:off x="9572973" y="2225310"/>
            <a:ext cx="1938125" cy="396416"/>
          </a:xfrm>
          <a:prstGeom prst="flowChartAlternateProcess">
            <a:avLst/>
          </a:prstGeom>
          <a:solidFill>
            <a:srgbClr val="2E2E38"/>
          </a:solidFill>
          <a:ln w="38100" cap="flat" cmpd="sng" algn="ctr">
            <a:solidFill>
              <a:srgbClr val="FFFFFF"/>
            </a:solidFill>
            <a:prstDash val="solid"/>
          </a:ln>
          <a:effectLst/>
        </p:spPr>
        <p:txBody>
          <a:bodyPr wrap="none" lIns="0" tIns="0" rIns="0" bIns="0" rtlCol="0" anchor="ctr" anchorCtr="0"/>
          <a:lstStyle/>
          <a:p>
            <a:pPr marL="457200" marR="0" lvl="0" indent="0" algn="ctr" defTabSz="995690" eaLnBrk="1" fontAlgn="auto" latinLnBrk="0" hangingPunct="1">
              <a:lnSpc>
                <a:spcPct val="100000"/>
              </a:lnSpc>
              <a:spcBef>
                <a:spcPts val="0"/>
              </a:spcBef>
              <a:spcAft>
                <a:spcPts val="0"/>
              </a:spcAft>
              <a:buClrTx/>
              <a:buSzTx/>
              <a:buFontTx/>
              <a:buNone/>
              <a:tabLst/>
              <a:defRPr/>
            </a:pPr>
            <a:r>
              <a:rPr kumimoji="0" lang="en-GB" sz="1200" b="1" i="0" u="none" strike="noStrike" kern="0" cap="none" spc="-50" normalizeH="0" baseline="0" noProof="0">
                <a:ln>
                  <a:noFill/>
                </a:ln>
                <a:solidFill>
                  <a:prstClr val="white"/>
                </a:solidFill>
                <a:effectLst/>
                <a:uLnTx/>
                <a:uFillTx/>
              </a:rPr>
              <a:t>Hand-back</a:t>
            </a:r>
          </a:p>
        </p:txBody>
      </p:sp>
      <p:sp>
        <p:nvSpPr>
          <p:cNvPr id="28" name="Content Placeholder 4">
            <a:extLst>
              <a:ext uri="{FF2B5EF4-FFF2-40B4-BE49-F238E27FC236}">
                <a16:creationId xmlns:a16="http://schemas.microsoft.com/office/drawing/2014/main" id="{1B101BA6-2931-AEB7-6B28-319E821377CA}"/>
              </a:ext>
            </a:extLst>
          </p:cNvPr>
          <p:cNvSpPr txBox="1">
            <a:spLocks/>
          </p:cNvSpPr>
          <p:nvPr/>
        </p:nvSpPr>
        <p:spPr>
          <a:xfrm>
            <a:off x="714803" y="4120334"/>
            <a:ext cx="10774914" cy="312304"/>
          </a:xfrm>
          <a:prstGeom prst="rect">
            <a:avLst/>
          </a:prstGeom>
          <a:ln/>
          <a:effectLst/>
        </p:spPr>
        <p:txBody>
          <a:bodyPr vert="horz" lIns="0" tIns="0" rIns="0" bIns="0" rtlCol="0" anchor="t" anchorCtr="0">
            <a:noAutofit/>
          </a:bodyPr>
          <a:lstStyle>
            <a:lvl1pPr marL="324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1pPr>
            <a:lvl2pPr marL="32385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2pPr>
            <a:lvl3pPr marL="972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3pPr>
            <a:lvl4pPr marL="1296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4pPr>
            <a:lvl5pPr marL="1620000" indent="-324000" algn="l" defTabSz="995690" rtl="0" eaLnBrk="1" latinLnBrk="0" hangingPunct="1">
              <a:lnSpc>
                <a:spcPct val="120000"/>
              </a:lnSpc>
              <a:spcBef>
                <a:spcPts val="0"/>
              </a:spcBef>
              <a:buClr>
                <a:srgbClr val="FFE600"/>
              </a:buClr>
              <a:buSzPct val="70000"/>
              <a:buFont typeface="Arial" panose="020B0604020202020204" pitchFamily="34" charset="0"/>
              <a:buChar char="►"/>
              <a:defRPr sz="1600" kern="1200">
                <a:solidFill>
                  <a:schemeClr val="tx1"/>
                </a:solidFill>
                <a:latin typeface="+mn-lt"/>
                <a:ea typeface="+mn-ea"/>
                <a:cs typeface="Arial" pitchFamily="34" charset="0"/>
              </a:defRPr>
            </a:lvl5pPr>
            <a:lvl6pPr marL="273814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pPr marL="0" marR="0" lvl="0" indent="0" algn="l" defTabSz="995690" rtl="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Arial" pitchFamily="34" charset="0"/>
              </a:rPr>
              <a:t>Common combinations of stages contracted to private sector are presented below. </a:t>
            </a:r>
          </a:p>
        </p:txBody>
      </p:sp>
      <p:grpSp>
        <p:nvGrpSpPr>
          <p:cNvPr id="29" name="Group 28">
            <a:extLst>
              <a:ext uri="{FF2B5EF4-FFF2-40B4-BE49-F238E27FC236}">
                <a16:creationId xmlns:a16="http://schemas.microsoft.com/office/drawing/2014/main" id="{031652D1-E8E9-F98A-F441-FE03714F3BD5}"/>
              </a:ext>
            </a:extLst>
          </p:cNvPr>
          <p:cNvGrpSpPr/>
          <p:nvPr/>
        </p:nvGrpSpPr>
        <p:grpSpPr>
          <a:xfrm>
            <a:off x="2385497" y="1866823"/>
            <a:ext cx="512621" cy="512621"/>
            <a:chOff x="2356922" y="2035726"/>
            <a:chExt cx="512621" cy="512621"/>
          </a:xfrm>
        </p:grpSpPr>
        <p:sp>
          <p:nvSpPr>
            <p:cNvPr id="30" name="Oval 29">
              <a:extLst>
                <a:ext uri="{FF2B5EF4-FFF2-40B4-BE49-F238E27FC236}">
                  <a16:creationId xmlns:a16="http://schemas.microsoft.com/office/drawing/2014/main" id="{E59E14C8-F6F1-A785-8EBD-88D430C42914}"/>
                </a:ext>
              </a:extLst>
            </p:cNvPr>
            <p:cNvSpPr/>
            <p:nvPr/>
          </p:nvSpPr>
          <p:spPr bwMode="auto">
            <a:xfrm>
              <a:off x="2356922" y="2035726"/>
              <a:ext cx="512621" cy="512621"/>
            </a:xfrm>
            <a:prstGeom prst="ellipse">
              <a:avLst/>
            </a:prstGeom>
            <a:solidFill>
              <a:srgbClr val="FFFFFF"/>
            </a:solidFill>
            <a:ln w="9525" cap="flat" cmpd="sng" algn="ctr">
              <a:solidFill>
                <a:srgbClr val="747480"/>
              </a:solidFill>
              <a:prstDash val="dash"/>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285750" marR="0" lvl="0" indent="-285750" defTabSz="995363"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endParaRPr>
            </a:p>
          </p:txBody>
        </p:sp>
        <p:pic>
          <p:nvPicPr>
            <p:cNvPr id="31" name="Picture 30">
              <a:extLst>
                <a:ext uri="{FF2B5EF4-FFF2-40B4-BE49-F238E27FC236}">
                  <a16:creationId xmlns:a16="http://schemas.microsoft.com/office/drawing/2014/main" id="{9A17C6B3-C741-570E-2F97-904F7A323956}"/>
                </a:ext>
              </a:extLst>
            </p:cNvPr>
            <p:cNvPicPr>
              <a:picLocks noChangeAspect="1"/>
            </p:cNvPicPr>
            <p:nvPr/>
          </p:nvPicPr>
          <p:blipFill>
            <a:blip r:embed="rId5"/>
            <a:srcRect/>
            <a:stretch/>
          </p:blipFill>
          <p:spPr>
            <a:xfrm>
              <a:off x="2429325" y="2108129"/>
              <a:ext cx="367814" cy="367814"/>
            </a:xfrm>
            <a:prstGeom prst="rect">
              <a:avLst/>
            </a:prstGeom>
            <a:effectLst/>
          </p:spPr>
        </p:pic>
      </p:grpSp>
      <p:grpSp>
        <p:nvGrpSpPr>
          <p:cNvPr id="32" name="Group 31">
            <a:extLst>
              <a:ext uri="{FF2B5EF4-FFF2-40B4-BE49-F238E27FC236}">
                <a16:creationId xmlns:a16="http://schemas.microsoft.com/office/drawing/2014/main" id="{02186085-7972-0320-095E-DD1D9CD22A06}"/>
              </a:ext>
            </a:extLst>
          </p:cNvPr>
          <p:cNvGrpSpPr/>
          <p:nvPr/>
        </p:nvGrpSpPr>
        <p:grpSpPr>
          <a:xfrm>
            <a:off x="4244668" y="1866823"/>
            <a:ext cx="512621" cy="512621"/>
            <a:chOff x="4273243" y="2026649"/>
            <a:chExt cx="512621" cy="512621"/>
          </a:xfrm>
        </p:grpSpPr>
        <p:sp>
          <p:nvSpPr>
            <p:cNvPr id="33" name="Oval 32">
              <a:extLst>
                <a:ext uri="{FF2B5EF4-FFF2-40B4-BE49-F238E27FC236}">
                  <a16:creationId xmlns:a16="http://schemas.microsoft.com/office/drawing/2014/main" id="{0BA64700-2C64-99E9-27D4-8459227B73B4}"/>
                </a:ext>
              </a:extLst>
            </p:cNvPr>
            <p:cNvSpPr/>
            <p:nvPr/>
          </p:nvSpPr>
          <p:spPr bwMode="auto">
            <a:xfrm>
              <a:off x="4273243" y="2026649"/>
              <a:ext cx="512621" cy="512621"/>
            </a:xfrm>
            <a:prstGeom prst="ellipse">
              <a:avLst/>
            </a:prstGeom>
            <a:solidFill>
              <a:srgbClr val="FFFFFF"/>
            </a:solidFill>
            <a:ln w="9525" cap="flat" cmpd="sng" algn="ctr">
              <a:solidFill>
                <a:srgbClr val="747480"/>
              </a:solidFill>
              <a:prstDash val="dash"/>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285750" marR="0" lvl="0" indent="-285750" defTabSz="995363"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endParaRPr>
            </a:p>
          </p:txBody>
        </p:sp>
        <p:pic>
          <p:nvPicPr>
            <p:cNvPr id="34" name="Picture 33">
              <a:extLst>
                <a:ext uri="{FF2B5EF4-FFF2-40B4-BE49-F238E27FC236}">
                  <a16:creationId xmlns:a16="http://schemas.microsoft.com/office/drawing/2014/main" id="{19E7E41D-7891-D783-660E-5D07636CF37B}"/>
                </a:ext>
              </a:extLst>
            </p:cNvPr>
            <p:cNvPicPr>
              <a:picLocks noChangeAspect="1"/>
            </p:cNvPicPr>
            <p:nvPr/>
          </p:nvPicPr>
          <p:blipFill>
            <a:blip r:embed="rId6"/>
            <a:srcRect/>
            <a:stretch/>
          </p:blipFill>
          <p:spPr>
            <a:xfrm>
              <a:off x="4352751" y="2106157"/>
              <a:ext cx="353604" cy="353604"/>
            </a:xfrm>
            <a:prstGeom prst="rect">
              <a:avLst/>
            </a:prstGeom>
            <a:effectLst/>
          </p:spPr>
        </p:pic>
      </p:grpSp>
      <p:grpSp>
        <p:nvGrpSpPr>
          <p:cNvPr id="35" name="Group 34">
            <a:extLst>
              <a:ext uri="{FF2B5EF4-FFF2-40B4-BE49-F238E27FC236}">
                <a16:creationId xmlns:a16="http://schemas.microsoft.com/office/drawing/2014/main" id="{7FD66F49-AD2B-F03C-0252-5DE0FD26B0F6}"/>
              </a:ext>
            </a:extLst>
          </p:cNvPr>
          <p:cNvGrpSpPr/>
          <p:nvPr/>
        </p:nvGrpSpPr>
        <p:grpSpPr>
          <a:xfrm>
            <a:off x="805749" y="1866823"/>
            <a:ext cx="512621" cy="512621"/>
            <a:chOff x="729549" y="2057328"/>
            <a:chExt cx="512621" cy="512621"/>
          </a:xfrm>
        </p:grpSpPr>
        <p:sp>
          <p:nvSpPr>
            <p:cNvPr id="36" name="Oval 35">
              <a:extLst>
                <a:ext uri="{FF2B5EF4-FFF2-40B4-BE49-F238E27FC236}">
                  <a16:creationId xmlns:a16="http://schemas.microsoft.com/office/drawing/2014/main" id="{7188D01B-7A4D-24F2-C513-50065940B207}"/>
                </a:ext>
              </a:extLst>
            </p:cNvPr>
            <p:cNvSpPr/>
            <p:nvPr/>
          </p:nvSpPr>
          <p:spPr bwMode="auto">
            <a:xfrm>
              <a:off x="729549" y="2057328"/>
              <a:ext cx="512621" cy="512621"/>
            </a:xfrm>
            <a:prstGeom prst="ellipse">
              <a:avLst/>
            </a:prstGeom>
            <a:solidFill>
              <a:srgbClr val="FFFFFF"/>
            </a:solidFill>
            <a:ln w="9525" cap="flat" cmpd="sng" algn="ctr">
              <a:solidFill>
                <a:srgbClr val="747480"/>
              </a:solidFill>
              <a:prstDash val="dash"/>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285750" marR="0" lvl="0" indent="-285750" defTabSz="995363"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endParaRPr>
            </a:p>
          </p:txBody>
        </p:sp>
        <p:pic>
          <p:nvPicPr>
            <p:cNvPr id="37" name="Picture 36">
              <a:extLst>
                <a:ext uri="{FF2B5EF4-FFF2-40B4-BE49-F238E27FC236}">
                  <a16:creationId xmlns:a16="http://schemas.microsoft.com/office/drawing/2014/main" id="{D8015597-83E5-5A8C-D315-2F785D2188D1}"/>
                </a:ext>
              </a:extLst>
            </p:cNvPr>
            <p:cNvPicPr>
              <a:picLocks noChangeAspect="1"/>
            </p:cNvPicPr>
            <p:nvPr/>
          </p:nvPicPr>
          <p:blipFill>
            <a:blip r:embed="rId7"/>
            <a:stretch>
              <a:fillRect/>
            </a:stretch>
          </p:blipFill>
          <p:spPr>
            <a:xfrm>
              <a:off x="816656" y="2144435"/>
              <a:ext cx="338407" cy="338407"/>
            </a:xfrm>
            <a:prstGeom prst="rect">
              <a:avLst/>
            </a:prstGeom>
            <a:effectLst/>
          </p:spPr>
        </p:pic>
      </p:grpSp>
      <p:grpSp>
        <p:nvGrpSpPr>
          <p:cNvPr id="38" name="Group 37">
            <a:extLst>
              <a:ext uri="{FF2B5EF4-FFF2-40B4-BE49-F238E27FC236}">
                <a16:creationId xmlns:a16="http://schemas.microsoft.com/office/drawing/2014/main" id="{F1ADB95F-1419-AECE-BBD7-94B41DC7EB7E}"/>
              </a:ext>
            </a:extLst>
          </p:cNvPr>
          <p:cNvGrpSpPr/>
          <p:nvPr/>
        </p:nvGrpSpPr>
        <p:grpSpPr>
          <a:xfrm>
            <a:off x="6065450" y="1866823"/>
            <a:ext cx="512621" cy="512621"/>
            <a:chOff x="6046400" y="2026649"/>
            <a:chExt cx="512621" cy="512621"/>
          </a:xfrm>
        </p:grpSpPr>
        <p:sp>
          <p:nvSpPr>
            <p:cNvPr id="39" name="Oval 38">
              <a:extLst>
                <a:ext uri="{FF2B5EF4-FFF2-40B4-BE49-F238E27FC236}">
                  <a16:creationId xmlns:a16="http://schemas.microsoft.com/office/drawing/2014/main" id="{DC0DA57A-B3CB-A1B1-281B-644254EA9AEB}"/>
                </a:ext>
              </a:extLst>
            </p:cNvPr>
            <p:cNvSpPr/>
            <p:nvPr/>
          </p:nvSpPr>
          <p:spPr bwMode="auto">
            <a:xfrm>
              <a:off x="6046400" y="2026649"/>
              <a:ext cx="512621" cy="512621"/>
            </a:xfrm>
            <a:prstGeom prst="ellipse">
              <a:avLst/>
            </a:prstGeom>
            <a:solidFill>
              <a:srgbClr val="FFFFFF"/>
            </a:solidFill>
            <a:ln w="9525" cap="flat" cmpd="sng" algn="ctr">
              <a:solidFill>
                <a:srgbClr val="747480"/>
              </a:solidFill>
              <a:prstDash val="dash"/>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285750" marR="0" lvl="0" indent="-285750" defTabSz="995363"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endParaRPr>
            </a:p>
          </p:txBody>
        </p:sp>
        <p:pic>
          <p:nvPicPr>
            <p:cNvPr id="40" name="Picture 39">
              <a:extLst>
                <a:ext uri="{FF2B5EF4-FFF2-40B4-BE49-F238E27FC236}">
                  <a16:creationId xmlns:a16="http://schemas.microsoft.com/office/drawing/2014/main" id="{392A33DE-17C8-0111-375B-8BB8C1D48993}"/>
                </a:ext>
              </a:extLst>
            </p:cNvPr>
            <p:cNvPicPr>
              <a:picLocks noChangeAspect="1"/>
            </p:cNvPicPr>
            <p:nvPr/>
          </p:nvPicPr>
          <p:blipFill>
            <a:blip r:embed="rId8"/>
            <a:srcRect/>
            <a:stretch/>
          </p:blipFill>
          <p:spPr>
            <a:xfrm>
              <a:off x="6118803" y="2099052"/>
              <a:ext cx="367814" cy="367814"/>
            </a:xfrm>
            <a:prstGeom prst="rect">
              <a:avLst/>
            </a:prstGeom>
            <a:effectLst/>
          </p:spPr>
        </p:pic>
      </p:grpSp>
      <p:grpSp>
        <p:nvGrpSpPr>
          <p:cNvPr id="41" name="Group 40">
            <a:extLst>
              <a:ext uri="{FF2B5EF4-FFF2-40B4-BE49-F238E27FC236}">
                <a16:creationId xmlns:a16="http://schemas.microsoft.com/office/drawing/2014/main" id="{E88E1EC3-3EBD-F86A-E87F-3C533A14CAF6}"/>
              </a:ext>
            </a:extLst>
          </p:cNvPr>
          <p:cNvGrpSpPr/>
          <p:nvPr/>
        </p:nvGrpSpPr>
        <p:grpSpPr>
          <a:xfrm>
            <a:off x="7862945" y="1866823"/>
            <a:ext cx="512621" cy="512621"/>
            <a:chOff x="7862945" y="2049222"/>
            <a:chExt cx="512621" cy="512621"/>
          </a:xfrm>
        </p:grpSpPr>
        <p:sp>
          <p:nvSpPr>
            <p:cNvPr id="42" name="Oval 41">
              <a:extLst>
                <a:ext uri="{FF2B5EF4-FFF2-40B4-BE49-F238E27FC236}">
                  <a16:creationId xmlns:a16="http://schemas.microsoft.com/office/drawing/2014/main" id="{F10CD23D-657E-788B-DAD3-55DA0E678E93}"/>
                </a:ext>
              </a:extLst>
            </p:cNvPr>
            <p:cNvSpPr/>
            <p:nvPr/>
          </p:nvSpPr>
          <p:spPr bwMode="auto">
            <a:xfrm>
              <a:off x="7862945" y="2049222"/>
              <a:ext cx="512621" cy="512621"/>
            </a:xfrm>
            <a:prstGeom prst="ellipse">
              <a:avLst/>
            </a:prstGeom>
            <a:solidFill>
              <a:srgbClr val="FFFFFF"/>
            </a:solidFill>
            <a:ln w="9525" cap="flat" cmpd="sng" algn="ctr">
              <a:solidFill>
                <a:srgbClr val="747480"/>
              </a:solidFill>
              <a:prstDash val="dash"/>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285750" marR="0" lvl="0" indent="-285750" defTabSz="995363"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endParaRPr>
            </a:p>
          </p:txBody>
        </p:sp>
        <p:pic>
          <p:nvPicPr>
            <p:cNvPr id="43" name="Picture 42">
              <a:extLst>
                <a:ext uri="{FF2B5EF4-FFF2-40B4-BE49-F238E27FC236}">
                  <a16:creationId xmlns:a16="http://schemas.microsoft.com/office/drawing/2014/main" id="{7B416E4E-011A-E503-B9AD-9FFDD1EC8B5A}"/>
                </a:ext>
              </a:extLst>
            </p:cNvPr>
            <p:cNvPicPr>
              <a:picLocks noChangeAspect="1"/>
            </p:cNvPicPr>
            <p:nvPr/>
          </p:nvPicPr>
          <p:blipFill>
            <a:blip r:embed="rId9"/>
            <a:srcRect/>
            <a:stretch/>
          </p:blipFill>
          <p:spPr>
            <a:xfrm>
              <a:off x="7935348" y="2121625"/>
              <a:ext cx="367814" cy="367814"/>
            </a:xfrm>
            <a:prstGeom prst="rect">
              <a:avLst/>
            </a:prstGeom>
            <a:effectLst/>
          </p:spPr>
        </p:pic>
      </p:grpSp>
      <p:grpSp>
        <p:nvGrpSpPr>
          <p:cNvPr id="44" name="Group 43">
            <a:extLst>
              <a:ext uri="{FF2B5EF4-FFF2-40B4-BE49-F238E27FC236}">
                <a16:creationId xmlns:a16="http://schemas.microsoft.com/office/drawing/2014/main" id="{90C722CA-80A5-632D-5F37-BA2EBEA417C3}"/>
              </a:ext>
            </a:extLst>
          </p:cNvPr>
          <p:cNvGrpSpPr/>
          <p:nvPr/>
        </p:nvGrpSpPr>
        <p:grpSpPr>
          <a:xfrm>
            <a:off x="9680221" y="1866823"/>
            <a:ext cx="512621" cy="512621"/>
            <a:chOff x="9699271" y="2031903"/>
            <a:chExt cx="512621" cy="512621"/>
          </a:xfrm>
        </p:grpSpPr>
        <p:sp>
          <p:nvSpPr>
            <p:cNvPr id="45" name="Oval 44">
              <a:extLst>
                <a:ext uri="{FF2B5EF4-FFF2-40B4-BE49-F238E27FC236}">
                  <a16:creationId xmlns:a16="http://schemas.microsoft.com/office/drawing/2014/main" id="{BA703AE9-51D0-D518-7325-0D4FCF69E2B4}"/>
                </a:ext>
              </a:extLst>
            </p:cNvPr>
            <p:cNvSpPr/>
            <p:nvPr/>
          </p:nvSpPr>
          <p:spPr bwMode="auto">
            <a:xfrm>
              <a:off x="9699271" y="2031903"/>
              <a:ext cx="512621" cy="512621"/>
            </a:xfrm>
            <a:prstGeom prst="ellipse">
              <a:avLst/>
            </a:prstGeom>
            <a:solidFill>
              <a:srgbClr val="FFFFFF"/>
            </a:solidFill>
            <a:ln w="9525" cap="flat" cmpd="sng" algn="ctr">
              <a:solidFill>
                <a:srgbClr val="747480"/>
              </a:solidFill>
              <a:prstDash val="dash"/>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285750" marR="0" lvl="0" indent="-285750" defTabSz="995363"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0000"/>
                </a:solidFill>
                <a:effectLst/>
                <a:uLnTx/>
                <a:uFillTx/>
              </a:endParaRPr>
            </a:p>
          </p:txBody>
        </p:sp>
        <p:pic>
          <p:nvPicPr>
            <p:cNvPr id="46" name="Picture 45">
              <a:extLst>
                <a:ext uri="{FF2B5EF4-FFF2-40B4-BE49-F238E27FC236}">
                  <a16:creationId xmlns:a16="http://schemas.microsoft.com/office/drawing/2014/main" id="{D8D3F43D-5F5A-5974-2408-CB8898ECB14B}"/>
                </a:ext>
              </a:extLst>
            </p:cNvPr>
            <p:cNvPicPr>
              <a:picLocks noChangeAspect="1"/>
            </p:cNvPicPr>
            <p:nvPr/>
          </p:nvPicPr>
          <p:blipFill>
            <a:blip r:embed="rId10"/>
            <a:srcRect/>
            <a:stretch/>
          </p:blipFill>
          <p:spPr>
            <a:xfrm>
              <a:off x="9788406" y="2121038"/>
              <a:ext cx="334351" cy="334351"/>
            </a:xfrm>
            <a:prstGeom prst="rect">
              <a:avLst/>
            </a:prstGeom>
            <a:effectLst/>
          </p:spPr>
        </p:pic>
      </p:grpSp>
      <p:cxnSp>
        <p:nvCxnSpPr>
          <p:cNvPr id="47" name="Straight Connector 46">
            <a:extLst>
              <a:ext uri="{FF2B5EF4-FFF2-40B4-BE49-F238E27FC236}">
                <a16:creationId xmlns:a16="http://schemas.microsoft.com/office/drawing/2014/main" id="{D0E0346D-7EAD-1B80-DAD3-961564B46275}"/>
              </a:ext>
            </a:extLst>
          </p:cNvPr>
          <p:cNvCxnSpPr>
            <a:cxnSpLocks/>
          </p:cNvCxnSpPr>
          <p:nvPr/>
        </p:nvCxnSpPr>
        <p:spPr bwMode="auto">
          <a:xfrm>
            <a:off x="697233" y="4040786"/>
            <a:ext cx="10810054" cy="0"/>
          </a:xfrm>
          <a:prstGeom prst="line">
            <a:avLst/>
          </a:prstGeom>
          <a:solidFill>
            <a:srgbClr val="7F7E82"/>
          </a:solidFill>
          <a:ln w="9525" cap="flat" cmpd="sng" algn="ctr">
            <a:solidFill>
              <a:srgbClr val="7F7E82">
                <a:alpha val="52000"/>
              </a:srgbClr>
            </a:solidFill>
            <a:prstDash val="dash"/>
            <a:round/>
            <a:headEnd type="none" w="med" len="med"/>
            <a:tailEnd type="none" w="med" len="med"/>
          </a:ln>
          <a:effectLst/>
        </p:spPr>
      </p:cxnSp>
      <p:sp>
        <p:nvSpPr>
          <p:cNvPr id="49" name="Title 1">
            <a:extLst>
              <a:ext uri="{FF2B5EF4-FFF2-40B4-BE49-F238E27FC236}">
                <a16:creationId xmlns:a16="http://schemas.microsoft.com/office/drawing/2014/main" id="{10A7FCE4-BF8A-C227-E78A-9AAE3424CCE1}"/>
              </a:ext>
            </a:extLst>
          </p:cNvPr>
          <p:cNvSpPr>
            <a:spLocks noGrp="1"/>
          </p:cNvSpPr>
          <p:nvPr>
            <p:ph type="title"/>
          </p:nvPr>
        </p:nvSpPr>
        <p:spPr>
          <a:xfrm>
            <a:off x="701366" y="273717"/>
            <a:ext cx="10789269" cy="792000"/>
          </a:xfrm>
        </p:spPr>
        <p:txBody>
          <a:bodyPr vert="horz"/>
          <a:lstStyle/>
          <a:p>
            <a:r>
              <a:rPr lang="en-IN" sz="2200">
                <a:sym typeface="Arial" panose="020B0604020202020204" pitchFamily="34" charset="0"/>
              </a:rPr>
              <a:t>Our Understanding and Point of View </a:t>
            </a:r>
            <a:r>
              <a:rPr kumimoji="0" lang="en-US" sz="2200" i="0" u="none" strike="noStrike" kern="0" cap="none" spc="0" normalizeH="0" baseline="0" noProof="0">
                <a:ln>
                  <a:noFill/>
                </a:ln>
                <a:solidFill>
                  <a:srgbClr val="000000"/>
                </a:solidFill>
                <a:effectLst/>
                <a:uLnTx/>
                <a:uFillTx/>
                <a:latin typeface="EYInterstate Light"/>
                <a:ea typeface="+mn-ea"/>
                <a:cs typeface="+mn-cs"/>
                <a:sym typeface="Arial" panose="020B0604020202020204" pitchFamily="34" charset="0"/>
              </a:rPr>
              <a:t> </a:t>
            </a:r>
            <a:br>
              <a:rPr lang="en-US" sz="2200">
                <a:sym typeface="Arial" panose="020B0604020202020204" pitchFamily="34" charset="0"/>
              </a:rPr>
            </a:br>
            <a:r>
              <a:rPr lang="en-US" sz="1600">
                <a:sym typeface="Arial" panose="020B0604020202020204" pitchFamily="34" charset="0"/>
              </a:rPr>
              <a:t>Possible Private Sector roles</a:t>
            </a:r>
          </a:p>
        </p:txBody>
      </p:sp>
    </p:spTree>
    <p:extLst>
      <p:ext uri="{BB962C8B-B14F-4D97-AF65-F5344CB8AC3E}">
        <p14:creationId xmlns:p14="http://schemas.microsoft.com/office/powerpoint/2010/main" val="1883539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B2925-BDD4-2614-88F6-BE8D7517A422}"/>
            </a:ext>
          </a:extLst>
        </p:cNvPr>
        <p:cNvGrpSpPr/>
        <p:nvPr/>
      </p:nvGrpSpPr>
      <p:grpSpPr>
        <a:xfrm>
          <a:off x="0" y="0"/>
          <a:ext cx="0" cy="0"/>
          <a:chOff x="0" y="0"/>
          <a:chExt cx="0" cy="0"/>
        </a:xfrm>
      </p:grpSpPr>
      <p:pic>
        <p:nvPicPr>
          <p:cNvPr id="7" name="Picture 6" descr="A computer with a transparent screen&#10;&#10;Description automatically generated">
            <a:extLst>
              <a:ext uri="{FF2B5EF4-FFF2-40B4-BE49-F238E27FC236}">
                <a16:creationId xmlns:a16="http://schemas.microsoft.com/office/drawing/2014/main" id="{8FA943F8-F68F-B43D-7548-BB877130E9B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709E42B6-590B-6488-F2C4-CFC1ED10C631}"/>
              </a:ext>
            </a:extLst>
          </p:cNvPr>
          <p:cNvSpPr/>
          <p:nvPr/>
        </p:nvSpPr>
        <p:spPr>
          <a:xfrm>
            <a:off x="0" y="0"/>
            <a:ext cx="12192000" cy="6858000"/>
          </a:xfrm>
          <a:prstGeom prst="rect">
            <a:avLst/>
          </a:prstGeom>
          <a:gradFill>
            <a:gsLst>
              <a:gs pos="0">
                <a:schemeClr val="tx1">
                  <a:alpha val="50000"/>
                </a:schemeClr>
              </a:gs>
              <a:gs pos="100000">
                <a:schemeClr val="tx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086F0A1-E696-1E25-77AB-DA2369591608}"/>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0" y="2809949"/>
            <a:ext cx="12192000" cy="4048051"/>
          </a:xfrm>
          <a:prstGeom prst="rect">
            <a:avLst/>
          </a:prstGeom>
        </p:spPr>
      </p:pic>
      <p:sp>
        <p:nvSpPr>
          <p:cNvPr id="4" name="TextBox 3">
            <a:extLst>
              <a:ext uri="{FF2B5EF4-FFF2-40B4-BE49-F238E27FC236}">
                <a16:creationId xmlns:a16="http://schemas.microsoft.com/office/drawing/2014/main" id="{BD4D74F0-FADE-40BD-256F-647529DEF231}"/>
              </a:ext>
            </a:extLst>
          </p:cNvPr>
          <p:cNvSpPr txBox="1"/>
          <p:nvPr/>
        </p:nvSpPr>
        <p:spPr>
          <a:xfrm>
            <a:off x="574517" y="1091996"/>
            <a:ext cx="1046480" cy="923330"/>
          </a:xfrm>
          <a:prstGeom prst="rect">
            <a:avLst/>
          </a:prstGeom>
          <a:noFill/>
        </p:spPr>
        <p:txBody>
          <a:bodyPr wrap="square" rtlCol="0">
            <a:spAutoFit/>
          </a:bodyPr>
          <a:lstStyle/>
          <a:p>
            <a:r>
              <a:rPr lang="en-US" sz="5400" b="1">
                <a:solidFill>
                  <a:schemeClr val="bg1"/>
                </a:solidFill>
                <a:latin typeface="EYInterstate Light" panose="02000506000000020004" pitchFamily="2" charset="0"/>
              </a:rPr>
              <a:t>02</a:t>
            </a:r>
          </a:p>
        </p:txBody>
      </p:sp>
      <p:sp>
        <p:nvSpPr>
          <p:cNvPr id="5" name="TextBox 4">
            <a:extLst>
              <a:ext uri="{FF2B5EF4-FFF2-40B4-BE49-F238E27FC236}">
                <a16:creationId xmlns:a16="http://schemas.microsoft.com/office/drawing/2014/main" id="{7ADE9257-3866-CC35-BD89-375F7B5C2193}"/>
              </a:ext>
            </a:extLst>
          </p:cNvPr>
          <p:cNvSpPr txBox="1"/>
          <p:nvPr/>
        </p:nvSpPr>
        <p:spPr>
          <a:xfrm>
            <a:off x="574516" y="2186580"/>
            <a:ext cx="9255284" cy="584775"/>
          </a:xfrm>
          <a:prstGeom prst="rect">
            <a:avLst/>
          </a:prstGeom>
          <a:noFill/>
        </p:spPr>
        <p:txBody>
          <a:bodyPr wrap="square" lIns="91440" tIns="45720" rIns="91440" bIns="45720" rtlCol="0" anchor="t">
            <a:spAutoFit/>
          </a:bodyPr>
          <a:lstStyle/>
          <a:p>
            <a:r>
              <a:rPr lang="en-US" sz="3200" b="1">
                <a:solidFill>
                  <a:schemeClr val="bg1"/>
                </a:solidFill>
                <a:latin typeface="EYInterstate Light"/>
              </a:rPr>
              <a:t>Our Experiences </a:t>
            </a:r>
          </a:p>
        </p:txBody>
      </p:sp>
      <p:cxnSp>
        <p:nvCxnSpPr>
          <p:cNvPr id="6" name="Straight Connector 5">
            <a:extLst>
              <a:ext uri="{FF2B5EF4-FFF2-40B4-BE49-F238E27FC236}">
                <a16:creationId xmlns:a16="http://schemas.microsoft.com/office/drawing/2014/main" id="{F9D77181-5CB3-7963-B461-817E04EEA300}"/>
              </a:ext>
            </a:extLst>
          </p:cNvPr>
          <p:cNvCxnSpPr>
            <a:cxnSpLocks/>
          </p:cNvCxnSpPr>
          <p:nvPr/>
        </p:nvCxnSpPr>
        <p:spPr bwMode="auto">
          <a:xfrm>
            <a:off x="713186" y="2015326"/>
            <a:ext cx="1092200" cy="0"/>
          </a:xfrm>
          <a:prstGeom prst="line">
            <a:avLst/>
          </a:prstGeom>
          <a:noFill/>
          <a:ln w="31750">
            <a:gradFill flip="none" rotWithShape="1">
              <a:gsLst>
                <a:gs pos="0">
                  <a:srgbClr val="1A9AFA">
                    <a:alpha val="33000"/>
                  </a:srgbClr>
                </a:gs>
                <a:gs pos="100000">
                  <a:srgbClr val="1A9AFA"/>
                </a:gs>
              </a:gsLst>
              <a:lin ang="10800000" scaled="1"/>
              <a:tileRect/>
            </a:gradFill>
            <a:round/>
            <a:headEnd/>
            <a:tailEnd/>
          </a:ln>
          <a:effectLst/>
        </p:spPr>
      </p:cxnSp>
    </p:spTree>
    <p:extLst>
      <p:ext uri="{BB962C8B-B14F-4D97-AF65-F5344CB8AC3E}">
        <p14:creationId xmlns:p14="http://schemas.microsoft.com/office/powerpoint/2010/main" val="701072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C03A2-9F2B-B34F-5370-28620C38FCEE}"/>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93A9525F-B42E-EF7A-7816-DFE2C4FA5377}"/>
              </a:ext>
            </a:extLst>
          </p:cNvPr>
          <p:cNvSpPr/>
          <p:nvPr/>
        </p:nvSpPr>
        <p:spPr bwMode="auto">
          <a:xfrm>
            <a:off x="696970" y="1303457"/>
            <a:ext cx="2615408" cy="438907"/>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45720" tIns="54000" rIns="82296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EYInterstate" panose="02000503020000020004" pitchFamily="2" charset="0"/>
                <a:ea typeface="+mn-ea"/>
                <a:cs typeface="Arial"/>
              </a:rPr>
              <a:t>Outsourcing of medical facilities</a:t>
            </a:r>
          </a:p>
        </p:txBody>
      </p:sp>
      <p:sp>
        <p:nvSpPr>
          <p:cNvPr id="30" name="Rectangle: Rounded Corners 29">
            <a:extLst>
              <a:ext uri="{FF2B5EF4-FFF2-40B4-BE49-F238E27FC236}">
                <a16:creationId xmlns:a16="http://schemas.microsoft.com/office/drawing/2014/main" id="{5E84F329-9FF3-1808-8881-C2A5D13EFCFE}"/>
              </a:ext>
            </a:extLst>
          </p:cNvPr>
          <p:cNvSpPr/>
          <p:nvPr/>
        </p:nvSpPr>
        <p:spPr bwMode="auto">
          <a:xfrm>
            <a:off x="3429302" y="1303457"/>
            <a:ext cx="2615408" cy="438907"/>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45720" tIns="54000" rIns="54864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EYInterstate" panose="02000503020000020004" pitchFamily="2" charset="0"/>
                <a:ea typeface="+mn-ea"/>
                <a:cs typeface="Arial"/>
              </a:rPr>
              <a:t>Project Life PPP</a:t>
            </a:r>
          </a:p>
        </p:txBody>
      </p:sp>
      <p:sp>
        <p:nvSpPr>
          <p:cNvPr id="32" name="Rectangle: Rounded Corners 31">
            <a:extLst>
              <a:ext uri="{FF2B5EF4-FFF2-40B4-BE49-F238E27FC236}">
                <a16:creationId xmlns:a16="http://schemas.microsoft.com/office/drawing/2014/main" id="{9CB9D9C2-3584-FFB2-0EBA-3DFF052076A0}"/>
              </a:ext>
            </a:extLst>
          </p:cNvPr>
          <p:cNvSpPr/>
          <p:nvPr/>
        </p:nvSpPr>
        <p:spPr bwMode="auto">
          <a:xfrm>
            <a:off x="6161634" y="1303457"/>
            <a:ext cx="2615408" cy="438907"/>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45720" tIns="54000" rIns="548640" bIns="54000" numCol="1" rtlCol="0" anchor="ctr" anchorCtr="0" compatLnSpc="1">
            <a:prstTxWarp prst="textNoShape">
              <a:avLst/>
            </a:prstTxWarp>
          </a:bodyPr>
          <a:lstStyle/>
          <a:p>
            <a:pPr defTabSz="995363">
              <a:defRPr/>
            </a:pPr>
            <a:r>
              <a:rPr lang="en-IN" sz="1000">
                <a:solidFill>
                  <a:srgbClr val="FFFFFF"/>
                </a:solidFill>
                <a:latin typeface="EYInterstate"/>
                <a:cs typeface="Arial"/>
              </a:rPr>
              <a:t>Behavioural Care specialist Hospital PPP</a:t>
            </a:r>
            <a:endParaRPr lang="en-US"/>
          </a:p>
        </p:txBody>
      </p:sp>
      <p:sp>
        <p:nvSpPr>
          <p:cNvPr id="34" name="Rectangle: Rounded Corners 33">
            <a:extLst>
              <a:ext uri="{FF2B5EF4-FFF2-40B4-BE49-F238E27FC236}">
                <a16:creationId xmlns:a16="http://schemas.microsoft.com/office/drawing/2014/main" id="{10DB9257-6290-7678-96F6-D42F81EF9990}"/>
              </a:ext>
            </a:extLst>
          </p:cNvPr>
          <p:cNvSpPr/>
          <p:nvPr/>
        </p:nvSpPr>
        <p:spPr bwMode="auto">
          <a:xfrm>
            <a:off x="8893967" y="1303457"/>
            <a:ext cx="2615408" cy="438907"/>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45720" tIns="54000" rIns="54864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EYInterstate" panose="02000503020000020004" pitchFamily="2" charset="0"/>
                <a:ea typeface="+mn-ea"/>
                <a:cs typeface="Arial"/>
              </a:rPr>
              <a:t>Maternity and Children’s Hospital PSP</a:t>
            </a:r>
          </a:p>
        </p:txBody>
      </p:sp>
      <p:sp>
        <p:nvSpPr>
          <p:cNvPr id="8" name="Title 7">
            <a:extLst>
              <a:ext uri="{FF2B5EF4-FFF2-40B4-BE49-F238E27FC236}">
                <a16:creationId xmlns:a16="http://schemas.microsoft.com/office/drawing/2014/main" id="{CDD5C7A6-FB38-2ADF-8232-4C02FA23B532}"/>
              </a:ext>
            </a:extLst>
          </p:cNvPr>
          <p:cNvSpPr>
            <a:spLocks noGrp="1"/>
          </p:cNvSpPr>
          <p:nvPr>
            <p:ph type="title"/>
          </p:nvPr>
        </p:nvSpPr>
        <p:spPr>
          <a:xfrm>
            <a:off x="701675" y="273050"/>
            <a:ext cx="10788650" cy="792163"/>
          </a:xfrm>
        </p:spPr>
        <p:txBody>
          <a:bodyPr/>
          <a:lstStyle/>
          <a:p>
            <a:r>
              <a:rPr lang="en-US"/>
              <a:t>Our Experiences – Lead and Financial Advisory </a:t>
            </a:r>
          </a:p>
        </p:txBody>
      </p:sp>
      <p:sp>
        <p:nvSpPr>
          <p:cNvPr id="49" name="Content Placeholder 48">
            <a:extLst>
              <a:ext uri="{FF2B5EF4-FFF2-40B4-BE49-F238E27FC236}">
                <a16:creationId xmlns:a16="http://schemas.microsoft.com/office/drawing/2014/main" id="{D758B1EB-2EC9-4BC5-859B-B0176C797FD1}"/>
              </a:ext>
            </a:extLst>
          </p:cNvPr>
          <p:cNvSpPr>
            <a:spLocks noGrp="1"/>
          </p:cNvSpPr>
          <p:nvPr>
            <p:ph sz="quarter" idx="12"/>
          </p:nvPr>
        </p:nvSpPr>
        <p:spPr>
          <a:xfrm>
            <a:off x="701367" y="1785469"/>
            <a:ext cx="2615408" cy="1261652"/>
          </a:xfrm>
        </p:spPr>
        <p:txBody>
          <a:bodyPr lIns="45720" tIns="45720" rIns="45720" bIns="45720"/>
          <a:lstStyle/>
          <a:p>
            <a:r>
              <a:rPr lang="en-US" sz="1000" dirty="0">
                <a:latin typeface="+mj-lt"/>
              </a:rPr>
              <a:t> was engaged to develop a transaction structure for the overall medical facilities portfolio, perform a baselining exercise to determine the potential value of the Ruwais Hospital, and approach the market to get the best tender results. </a:t>
            </a:r>
          </a:p>
        </p:txBody>
      </p:sp>
      <p:sp>
        <p:nvSpPr>
          <p:cNvPr id="50" name="Content Placeholder 49">
            <a:extLst>
              <a:ext uri="{FF2B5EF4-FFF2-40B4-BE49-F238E27FC236}">
                <a16:creationId xmlns:a16="http://schemas.microsoft.com/office/drawing/2014/main" id="{F82A6BFC-3E3E-5F00-DA81-B5771BC168CE}"/>
              </a:ext>
            </a:extLst>
          </p:cNvPr>
          <p:cNvSpPr>
            <a:spLocks noGrp="1"/>
          </p:cNvSpPr>
          <p:nvPr>
            <p:ph sz="quarter" idx="13"/>
          </p:nvPr>
        </p:nvSpPr>
        <p:spPr>
          <a:xfrm>
            <a:off x="3432233" y="1785469"/>
            <a:ext cx="2615408" cy="1261652"/>
          </a:xfrm>
        </p:spPr>
        <p:txBody>
          <a:bodyPr lIns="45720" tIns="45720" rIns="45720" bIns="45720"/>
          <a:lstStyle/>
          <a:p>
            <a:r>
              <a:rPr lang="en-US" sz="1000" dirty="0">
                <a:latin typeface="+mj-lt"/>
              </a:rPr>
              <a:t> has been appointed as the lead and financial advisor to advise the MOH for the procurement of dialysis centers across the Kingdom.</a:t>
            </a:r>
          </a:p>
        </p:txBody>
      </p:sp>
      <p:sp>
        <p:nvSpPr>
          <p:cNvPr id="51" name="Content Placeholder 50">
            <a:extLst>
              <a:ext uri="{FF2B5EF4-FFF2-40B4-BE49-F238E27FC236}">
                <a16:creationId xmlns:a16="http://schemas.microsoft.com/office/drawing/2014/main" id="{2985A9CE-A9E8-93C3-339C-FF26D9A12936}"/>
              </a:ext>
            </a:extLst>
          </p:cNvPr>
          <p:cNvSpPr>
            <a:spLocks noGrp="1"/>
          </p:cNvSpPr>
          <p:nvPr>
            <p:ph sz="quarter" idx="14"/>
          </p:nvPr>
        </p:nvSpPr>
        <p:spPr>
          <a:xfrm>
            <a:off x="6163099" y="1785469"/>
            <a:ext cx="2615408" cy="1261652"/>
          </a:xfrm>
        </p:spPr>
        <p:txBody>
          <a:bodyPr lIns="45720" tIns="45720" rIns="45720" bIns="45720"/>
          <a:lstStyle/>
          <a:p>
            <a:r>
              <a:rPr lang="en-US" sz="1000">
                <a:latin typeface="+mj-lt"/>
              </a:rPr>
              <a:t>The MOH aims to establish a Behavioural Care Specialist Hospital (BCSH), by leveraging private sector expertise and know-how. The project envisages the selection of a suitable operator for the implementation of the hospital, in line with the process defined by the NCP</a:t>
            </a:r>
          </a:p>
        </p:txBody>
      </p:sp>
      <p:sp>
        <p:nvSpPr>
          <p:cNvPr id="52" name="Content Placeholder 51">
            <a:extLst>
              <a:ext uri="{FF2B5EF4-FFF2-40B4-BE49-F238E27FC236}">
                <a16:creationId xmlns:a16="http://schemas.microsoft.com/office/drawing/2014/main" id="{D1C873CB-0B25-7C8B-04AA-2AD39938AD9D}"/>
              </a:ext>
            </a:extLst>
          </p:cNvPr>
          <p:cNvSpPr>
            <a:spLocks noGrp="1"/>
          </p:cNvSpPr>
          <p:nvPr>
            <p:ph sz="quarter" idx="15"/>
          </p:nvPr>
        </p:nvSpPr>
        <p:spPr>
          <a:xfrm>
            <a:off x="8875225" y="1785469"/>
            <a:ext cx="2615408" cy="1261652"/>
          </a:xfrm>
        </p:spPr>
        <p:txBody>
          <a:bodyPr lIns="45720" tIns="45720" rIns="45720" bIns="45720"/>
          <a:lstStyle/>
          <a:p>
            <a:r>
              <a:rPr lang="en-US" sz="1000" dirty="0">
                <a:latin typeface="+mj-lt"/>
              </a:rPr>
              <a:t> has been appointed as the lead and financial advisor to the MOH in KSA, where the Ministry is looking to replace two maternity and children hospitals, under the Private Sector Participation (“PSP”) program</a:t>
            </a:r>
          </a:p>
        </p:txBody>
      </p:sp>
      <p:sp>
        <p:nvSpPr>
          <p:cNvPr id="53" name="Content Placeholder 52">
            <a:extLst>
              <a:ext uri="{FF2B5EF4-FFF2-40B4-BE49-F238E27FC236}">
                <a16:creationId xmlns:a16="http://schemas.microsoft.com/office/drawing/2014/main" id="{F3E99633-E25E-C991-81AC-FADC57E98C77}"/>
              </a:ext>
            </a:extLst>
          </p:cNvPr>
          <p:cNvSpPr>
            <a:spLocks noGrp="1"/>
          </p:cNvSpPr>
          <p:nvPr>
            <p:ph sz="quarter" idx="16"/>
          </p:nvPr>
        </p:nvSpPr>
        <p:spPr>
          <a:xfrm>
            <a:off x="701367" y="3155545"/>
            <a:ext cx="2615408" cy="2335653"/>
          </a:xfrm>
        </p:spPr>
        <p:txBody>
          <a:bodyPr/>
          <a:lstStyle/>
          <a:p>
            <a:pPr marL="171450" marR="0" lvl="0" indent="-171450" algn="l" defTabSz="902010" rtl="0" eaLnBrk="1" fontAlgn="base" latinLnBrk="0" hangingPunct="1">
              <a:lnSpc>
                <a:spcPct val="95000"/>
              </a:lnSpc>
              <a:spcBef>
                <a:spcPts val="0"/>
              </a:spcBef>
              <a:spcAft>
                <a:spcPts val="400"/>
              </a:spcAft>
              <a:buClrTx/>
              <a:buSzPct val="100000"/>
              <a:buFont typeface="EYInterstate" panose="02000503020000020004" pitchFamily="2" charset="0"/>
              <a:buChar char="•"/>
              <a:tabLst>
                <a:tab pos="1463068" algn="l"/>
                <a:tab pos="2926135" algn="l"/>
                <a:tab pos="4228080" algn="r"/>
              </a:tabLst>
              <a:defRPr/>
            </a:pPr>
            <a:r>
              <a:rPr kumimoji="0" lang="en-IN" sz="1000" b="0" i="0" u="none" strike="noStrike" kern="0" cap="none" spc="0" normalizeH="0" baseline="0" noProof="0" dirty="0">
                <a:ln>
                  <a:noFill/>
                </a:ln>
                <a:solidFill>
                  <a:srgbClr val="000000"/>
                </a:solidFill>
                <a:effectLst/>
                <a:uLnTx/>
                <a:uFillTx/>
                <a:latin typeface="+mj-lt"/>
                <a:ea typeface="+mn-ea"/>
                <a:cs typeface="Times New Roman"/>
              </a:rPr>
              <a:t> along with other advisors developed a baseline model based on a commercial demand-supply assessment and financial viability analysis for the Ruwais hospital</a:t>
            </a:r>
          </a:p>
          <a:p>
            <a:pPr marL="171450" marR="0" lvl="0" indent="-171450" algn="l" defTabSz="902010" rtl="0" eaLnBrk="1" fontAlgn="base" latinLnBrk="0" hangingPunct="1">
              <a:lnSpc>
                <a:spcPct val="95000"/>
              </a:lnSpc>
              <a:spcBef>
                <a:spcPts val="0"/>
              </a:spcBef>
              <a:spcAft>
                <a:spcPts val="400"/>
              </a:spcAft>
              <a:buClrTx/>
              <a:buSzPct val="100000"/>
              <a:buFont typeface="EYInterstate" panose="02000503020000020004" pitchFamily="2" charset="0"/>
              <a:buChar char="•"/>
              <a:tabLst>
                <a:tab pos="1463068" algn="l"/>
                <a:tab pos="2926135" algn="l"/>
                <a:tab pos="4228080" algn="r"/>
              </a:tabLst>
              <a:defRPr/>
            </a:pPr>
            <a:r>
              <a:rPr kumimoji="0" lang="en-IN" sz="1000" b="0" i="0" u="none" strike="noStrike" kern="0" cap="none" spc="0" normalizeH="0" baseline="0" noProof="0" dirty="0">
                <a:ln>
                  <a:noFill/>
                </a:ln>
                <a:solidFill>
                  <a:srgbClr val="000000"/>
                </a:solidFill>
                <a:effectLst/>
                <a:uLnTx/>
                <a:uFillTx/>
                <a:latin typeface="+mj-lt"/>
                <a:ea typeface="+mn-ea"/>
                <a:cs typeface="Times New Roman"/>
              </a:rPr>
              <a:t>Conducted a soft market sounding with leading participants</a:t>
            </a:r>
          </a:p>
          <a:p>
            <a:pPr marL="171450" marR="0" lvl="0" indent="-171450" algn="l" defTabSz="902010" rtl="0" eaLnBrk="1" fontAlgn="base" latinLnBrk="0" hangingPunct="1">
              <a:lnSpc>
                <a:spcPct val="95000"/>
              </a:lnSpc>
              <a:spcBef>
                <a:spcPts val="0"/>
              </a:spcBef>
              <a:spcAft>
                <a:spcPts val="400"/>
              </a:spcAft>
              <a:buClrTx/>
              <a:buSzPct val="100000"/>
              <a:buFont typeface="EYInterstate" panose="02000503020000020004" pitchFamily="2" charset="0"/>
              <a:buChar char="•"/>
              <a:tabLst>
                <a:tab pos="1463068" algn="l"/>
                <a:tab pos="2926135" algn="l"/>
                <a:tab pos="4228080" algn="r"/>
              </a:tabLst>
              <a:defRPr/>
            </a:pPr>
            <a:r>
              <a:rPr kumimoji="0" lang="en-IN" sz="1000" b="0" i="0" u="none" strike="noStrike" kern="0" cap="none" spc="0" normalizeH="0" baseline="0" noProof="0" dirty="0">
                <a:ln>
                  <a:noFill/>
                </a:ln>
                <a:solidFill>
                  <a:srgbClr val="000000"/>
                </a:solidFill>
                <a:effectLst/>
                <a:uLnTx/>
                <a:uFillTx/>
                <a:latin typeface="+mj-lt"/>
                <a:ea typeface="+mn-ea"/>
                <a:cs typeface="Times New Roman"/>
              </a:rPr>
              <a:t>Designed a suitable risk allocation matrix and developed the transaction structure to ensure high market interest with the right level of competition</a:t>
            </a:r>
          </a:p>
          <a:p>
            <a:pPr marL="171450" marR="0" lvl="0" indent="-171450" algn="l" defTabSz="902010" rtl="0" eaLnBrk="1" fontAlgn="base" latinLnBrk="0" hangingPunct="1">
              <a:lnSpc>
                <a:spcPct val="95000"/>
              </a:lnSpc>
              <a:spcBef>
                <a:spcPts val="0"/>
              </a:spcBef>
              <a:spcAft>
                <a:spcPts val="400"/>
              </a:spcAft>
              <a:buClrTx/>
              <a:buSzPct val="100000"/>
              <a:buFont typeface="EYInterstate" panose="02000503020000020004" pitchFamily="2" charset="0"/>
              <a:buChar char="•"/>
              <a:tabLst>
                <a:tab pos="1463068" algn="l"/>
                <a:tab pos="2926135" algn="l"/>
                <a:tab pos="4228080" algn="r"/>
              </a:tabLst>
              <a:defRPr/>
            </a:pPr>
            <a:r>
              <a:rPr kumimoji="0" lang="en-IN" sz="1000" b="0" i="0" u="none" strike="noStrike" kern="0" cap="none" spc="0" normalizeH="0" baseline="0" noProof="0" dirty="0">
                <a:ln>
                  <a:noFill/>
                </a:ln>
                <a:solidFill>
                  <a:srgbClr val="000000"/>
                </a:solidFill>
                <a:effectLst/>
                <a:uLnTx/>
                <a:uFillTx/>
                <a:latin typeface="+mj-lt"/>
                <a:ea typeface="+mn-ea"/>
                <a:cs typeface="Times New Roman"/>
              </a:rPr>
              <a:t>Drafted the tender documents and developed a negotiation strategy and participated in the negotiation with the preferred bidders</a:t>
            </a:r>
          </a:p>
          <a:p>
            <a:endParaRPr lang="en-US" sz="1000" dirty="0">
              <a:latin typeface="+mj-lt"/>
            </a:endParaRPr>
          </a:p>
        </p:txBody>
      </p:sp>
      <p:sp>
        <p:nvSpPr>
          <p:cNvPr id="54" name="Content Placeholder 53">
            <a:extLst>
              <a:ext uri="{FF2B5EF4-FFF2-40B4-BE49-F238E27FC236}">
                <a16:creationId xmlns:a16="http://schemas.microsoft.com/office/drawing/2014/main" id="{A98C9A96-00BE-5564-6423-AF200A656A6D}"/>
              </a:ext>
            </a:extLst>
          </p:cNvPr>
          <p:cNvSpPr>
            <a:spLocks noGrp="1"/>
          </p:cNvSpPr>
          <p:nvPr>
            <p:ph sz="quarter" idx="17"/>
          </p:nvPr>
        </p:nvSpPr>
        <p:spPr>
          <a:xfrm>
            <a:off x="3432233" y="3155545"/>
            <a:ext cx="2615408" cy="2335653"/>
          </a:xfrm>
        </p:spPr>
        <p:txBody>
          <a:bodyPr/>
          <a:lstStyle/>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dirty="0">
                <a:solidFill>
                  <a:srgbClr val="000000"/>
                </a:solidFill>
                <a:latin typeface="+mj-lt"/>
                <a:cs typeface="Times New Roman"/>
              </a:rPr>
              <a:t> will be coordinating and managing inputs from the wider MOH team, stakeholders and other advisors appointed by MOH at each phase of the project to ensure successful delivery of the project</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dirty="0">
                <a:solidFill>
                  <a:srgbClr val="000000"/>
                </a:solidFill>
                <a:latin typeface="+mj-lt"/>
                <a:cs typeface="Times New Roman"/>
              </a:rPr>
              <a:t>In cooperation with the technical and legal advisors, the advisory team will seek to complete transactional documents (</a:t>
            </a:r>
            <a:r>
              <a:rPr lang="en-US" sz="1000" dirty="0" err="1">
                <a:solidFill>
                  <a:srgbClr val="000000"/>
                </a:solidFill>
                <a:latin typeface="+mj-lt"/>
                <a:cs typeface="Times New Roman"/>
              </a:rPr>
              <a:t>i.e</a:t>
            </a:r>
            <a:r>
              <a:rPr lang="en-US" sz="1000" dirty="0">
                <a:solidFill>
                  <a:srgbClr val="000000"/>
                </a:solidFill>
                <a:latin typeface="+mj-lt"/>
                <a:cs typeface="Times New Roman"/>
              </a:rPr>
              <a:t> business case, due diligence, and market sounding reports) of dialysis centers to fulfill the requirements of the project</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dirty="0">
                <a:solidFill>
                  <a:srgbClr val="000000"/>
                </a:solidFill>
                <a:latin typeface="+mj-lt"/>
                <a:cs typeface="Times New Roman"/>
              </a:rPr>
              <a:t>Furthermore, the advisory team will be responsible for the tendering documents and negotiations with selected bidders until the financial close</a:t>
            </a:r>
            <a:endParaRPr lang="en-US" sz="1000" dirty="0">
              <a:latin typeface="+mj-lt"/>
            </a:endParaRPr>
          </a:p>
        </p:txBody>
      </p:sp>
      <p:sp>
        <p:nvSpPr>
          <p:cNvPr id="55" name="Content Placeholder 54">
            <a:extLst>
              <a:ext uri="{FF2B5EF4-FFF2-40B4-BE49-F238E27FC236}">
                <a16:creationId xmlns:a16="http://schemas.microsoft.com/office/drawing/2014/main" id="{78A7DB05-44F6-DD66-D735-06B2E866842F}"/>
              </a:ext>
            </a:extLst>
          </p:cNvPr>
          <p:cNvSpPr>
            <a:spLocks noGrp="1"/>
          </p:cNvSpPr>
          <p:nvPr>
            <p:ph sz="quarter" idx="18"/>
          </p:nvPr>
        </p:nvSpPr>
        <p:spPr>
          <a:xfrm>
            <a:off x="6163099" y="3155545"/>
            <a:ext cx="2615408" cy="2335653"/>
          </a:xfrm>
        </p:spPr>
        <p:txBody>
          <a:bodyPr/>
          <a:lstStyle/>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dirty="0">
                <a:solidFill>
                  <a:srgbClr val="000000"/>
                </a:solidFill>
                <a:latin typeface="+mj-lt"/>
                <a:cs typeface="Times New Roman"/>
              </a:rPr>
              <a:t>Along with other advisors  assisted in Assessment of Need and Economic Analysis</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dirty="0">
                <a:solidFill>
                  <a:srgbClr val="000000"/>
                </a:solidFill>
                <a:latin typeface="+mj-lt"/>
                <a:cs typeface="Times New Roman"/>
              </a:rPr>
              <a:t>Due Diligence, Preliminary Assessment and Concept Report</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dirty="0">
                <a:solidFill>
                  <a:srgbClr val="000000"/>
                </a:solidFill>
                <a:latin typeface="+mj-lt"/>
                <a:cs typeface="Times New Roman"/>
              </a:rPr>
              <a:t>EOI, RFQ and Qualification process,  RFP Preparation, Issuance</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dirty="0">
                <a:solidFill>
                  <a:srgbClr val="000000"/>
                </a:solidFill>
                <a:latin typeface="+mj-lt"/>
                <a:cs typeface="Times New Roman"/>
              </a:rPr>
              <a:t>Supported the bid evaluation process and provided a comprehensive review of the commercial bids</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dirty="0">
                <a:solidFill>
                  <a:srgbClr val="000000"/>
                </a:solidFill>
                <a:latin typeface="+mj-lt"/>
                <a:cs typeface="Times New Roman"/>
              </a:rPr>
              <a:t>Developed a negotiation strategy and participated in the negotiation with the preferred bidders</a:t>
            </a:r>
          </a:p>
        </p:txBody>
      </p:sp>
      <p:sp>
        <p:nvSpPr>
          <p:cNvPr id="56" name="Content Placeholder 55">
            <a:extLst>
              <a:ext uri="{FF2B5EF4-FFF2-40B4-BE49-F238E27FC236}">
                <a16:creationId xmlns:a16="http://schemas.microsoft.com/office/drawing/2014/main" id="{B1F57490-3BD2-9E7D-8561-5BC3ED44A0D1}"/>
              </a:ext>
            </a:extLst>
          </p:cNvPr>
          <p:cNvSpPr>
            <a:spLocks noGrp="1"/>
          </p:cNvSpPr>
          <p:nvPr>
            <p:ph sz="quarter" idx="19"/>
          </p:nvPr>
        </p:nvSpPr>
        <p:spPr>
          <a:xfrm>
            <a:off x="8875225" y="3155545"/>
            <a:ext cx="2615408" cy="2335653"/>
          </a:xfrm>
        </p:spPr>
        <p:txBody>
          <a:bodyPr/>
          <a:lstStyle/>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a:solidFill>
                  <a:srgbClr val="000000"/>
                </a:solidFill>
                <a:latin typeface="+mj-lt"/>
                <a:cs typeface="Times New Roman"/>
              </a:rPr>
              <a:t>In cooperation with the technical and legal advisors, the advisory team will seek to complete transactional documents (</a:t>
            </a:r>
            <a:r>
              <a:rPr lang="en-US" sz="1000" err="1">
                <a:solidFill>
                  <a:srgbClr val="000000"/>
                </a:solidFill>
                <a:latin typeface="+mj-lt"/>
                <a:cs typeface="Times New Roman"/>
              </a:rPr>
              <a:t>i.e</a:t>
            </a:r>
            <a:r>
              <a:rPr lang="en-US" sz="1000">
                <a:solidFill>
                  <a:srgbClr val="000000"/>
                </a:solidFill>
                <a:latin typeface="+mj-lt"/>
                <a:cs typeface="Times New Roman"/>
              </a:rPr>
              <a:t> business case, due diligence, and market sounding reports) for the two hospitals to fulfil the requirements under NCP regulations.</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a:solidFill>
                  <a:srgbClr val="000000"/>
                </a:solidFill>
                <a:latin typeface="+mj-lt"/>
                <a:cs typeface="Times New Roman"/>
              </a:rPr>
              <a:t>Furthermore, the advisory team will be responsible for the tendering documents such as expressions of interest, RFQ, RFP, and evaluation of bids and negotiations with selected bidders until the financial close</a:t>
            </a:r>
          </a:p>
        </p:txBody>
      </p:sp>
      <p:sp>
        <p:nvSpPr>
          <p:cNvPr id="62" name="TextBox 61">
            <a:extLst>
              <a:ext uri="{FF2B5EF4-FFF2-40B4-BE49-F238E27FC236}">
                <a16:creationId xmlns:a16="http://schemas.microsoft.com/office/drawing/2014/main" id="{58277576-E13F-A263-0EAF-69F7C3E84B40}"/>
              </a:ext>
            </a:extLst>
          </p:cNvPr>
          <p:cNvSpPr txBox="1"/>
          <p:nvPr/>
        </p:nvSpPr>
        <p:spPr>
          <a:xfrm rot="16200000">
            <a:off x="-9985" y="2233954"/>
            <a:ext cx="1143191" cy="246221"/>
          </a:xfrm>
          <a:prstGeom prst="rect">
            <a:avLst/>
          </a:prstGeom>
          <a:noFill/>
        </p:spPr>
        <p:txBody>
          <a:bodyPr wrap="square" l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rgbClr val="000000"/>
                </a:solidFill>
                <a:effectLst/>
                <a:uLnTx/>
                <a:uFillTx/>
                <a:latin typeface="EYInterstate Light"/>
                <a:ea typeface="+mn-ea"/>
                <a:cs typeface="Arial"/>
              </a:rPr>
              <a:t>Scope Delivered</a:t>
            </a:r>
            <a:endParaRPr kumimoji="0" lang="en-US" sz="1800" b="0" i="0" u="none" strike="noStrike" kern="1200" cap="none" spc="0" normalizeH="0" baseline="0" noProof="0">
              <a:ln>
                <a:noFill/>
              </a:ln>
              <a:solidFill>
                <a:srgbClr val="000000"/>
              </a:solidFill>
              <a:effectLst/>
              <a:uLnTx/>
              <a:uFillTx/>
              <a:latin typeface="EYInterstate Light"/>
              <a:ea typeface="+mn-ea"/>
              <a:cs typeface="Arial"/>
            </a:endParaRPr>
          </a:p>
        </p:txBody>
      </p:sp>
      <p:sp>
        <p:nvSpPr>
          <p:cNvPr id="66" name="TextBox 65">
            <a:extLst>
              <a:ext uri="{FF2B5EF4-FFF2-40B4-BE49-F238E27FC236}">
                <a16:creationId xmlns:a16="http://schemas.microsoft.com/office/drawing/2014/main" id="{EFAFB5F8-5FCB-375E-C882-D2781B7D1311}"/>
              </a:ext>
            </a:extLst>
          </p:cNvPr>
          <p:cNvSpPr txBox="1"/>
          <p:nvPr/>
        </p:nvSpPr>
        <p:spPr>
          <a:xfrm rot="16200000">
            <a:off x="-720624" y="4314670"/>
            <a:ext cx="2564470" cy="246221"/>
          </a:xfrm>
          <a:prstGeom prst="rect">
            <a:avLst/>
          </a:prstGeom>
          <a:noFill/>
        </p:spPr>
        <p:txBody>
          <a:bodyPr wrap="square" lIns="0" r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dirty="0">
                <a:ln>
                  <a:noFill/>
                </a:ln>
                <a:solidFill>
                  <a:srgbClr val="1A9AFA"/>
                </a:solidFill>
                <a:effectLst/>
                <a:uLnTx/>
                <a:uFillTx/>
                <a:latin typeface="EYInterstate Light"/>
                <a:ea typeface="+mn-ea"/>
                <a:cs typeface="Arial"/>
              </a:rPr>
              <a:t> Role</a:t>
            </a:r>
          </a:p>
        </p:txBody>
      </p:sp>
      <p:sp>
        <p:nvSpPr>
          <p:cNvPr id="71" name="Rectangle: Rounded Corners 70">
            <a:extLst>
              <a:ext uri="{FF2B5EF4-FFF2-40B4-BE49-F238E27FC236}">
                <a16:creationId xmlns:a16="http://schemas.microsoft.com/office/drawing/2014/main" id="{40F1235C-72CD-688F-2A06-0BADC4E60C9E}"/>
              </a:ext>
            </a:extLst>
          </p:cNvPr>
          <p:cNvSpPr/>
          <p:nvPr/>
        </p:nvSpPr>
        <p:spPr bwMode="auto">
          <a:xfrm>
            <a:off x="1201235" y="6056181"/>
            <a:ext cx="624010" cy="192219"/>
          </a:xfrm>
          <a:prstGeom prst="roundRect">
            <a:avLst>
              <a:gd name="adj" fmla="val 50000"/>
            </a:avLst>
          </a:prstGeom>
          <a:solidFill>
            <a:srgbClr val="27ACAA"/>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EYInterstate Light"/>
                <a:ea typeface="+mn-ea"/>
                <a:cs typeface="Arial"/>
              </a:rPr>
              <a:t>Ongoing</a:t>
            </a:r>
          </a:p>
        </p:txBody>
      </p:sp>
      <p:sp>
        <p:nvSpPr>
          <p:cNvPr id="74" name="Oval 73">
            <a:extLst>
              <a:ext uri="{FF2B5EF4-FFF2-40B4-BE49-F238E27FC236}">
                <a16:creationId xmlns:a16="http://schemas.microsoft.com/office/drawing/2014/main" id="{0E0AF199-76C9-E4ED-DC31-07D0952623B5}"/>
              </a:ext>
            </a:extLst>
          </p:cNvPr>
          <p:cNvSpPr/>
          <p:nvPr/>
        </p:nvSpPr>
        <p:spPr bwMode="auto">
          <a:xfrm>
            <a:off x="5790462" y="1189919"/>
            <a:ext cx="254248" cy="254248"/>
          </a:xfrm>
          <a:prstGeom prst="ellipse">
            <a:avLst/>
          </a:prstGeom>
          <a:solidFill>
            <a:srgbClr val="27ACAA"/>
          </a:solidFill>
          <a:ln w="19050" cap="flat" cmpd="sng" algn="ctr">
            <a:solidFill>
              <a:schemeClr val="bg1"/>
            </a:solid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EYInterstate Light"/>
              <a:ea typeface="+mn-ea"/>
              <a:cs typeface="Arial"/>
            </a:endParaRPr>
          </a:p>
        </p:txBody>
      </p:sp>
      <p:sp>
        <p:nvSpPr>
          <p:cNvPr id="75" name="Oval 74">
            <a:extLst>
              <a:ext uri="{FF2B5EF4-FFF2-40B4-BE49-F238E27FC236}">
                <a16:creationId xmlns:a16="http://schemas.microsoft.com/office/drawing/2014/main" id="{DDF3691A-5D6D-4652-5A6F-B53557A96B59}"/>
              </a:ext>
            </a:extLst>
          </p:cNvPr>
          <p:cNvSpPr/>
          <p:nvPr/>
        </p:nvSpPr>
        <p:spPr bwMode="auto">
          <a:xfrm>
            <a:off x="8522794" y="1189919"/>
            <a:ext cx="254248" cy="254248"/>
          </a:xfrm>
          <a:prstGeom prst="ellipse">
            <a:avLst/>
          </a:prstGeom>
          <a:solidFill>
            <a:srgbClr val="27ACAA"/>
          </a:solidFill>
          <a:ln w="19050" cap="flat" cmpd="sng" algn="ctr">
            <a:solidFill>
              <a:schemeClr val="bg1"/>
            </a:solid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EYInterstate Light"/>
              <a:ea typeface="+mn-ea"/>
              <a:cs typeface="Arial"/>
            </a:endParaRPr>
          </a:p>
        </p:txBody>
      </p:sp>
      <p:sp>
        <p:nvSpPr>
          <p:cNvPr id="76" name="Oval 75">
            <a:extLst>
              <a:ext uri="{FF2B5EF4-FFF2-40B4-BE49-F238E27FC236}">
                <a16:creationId xmlns:a16="http://schemas.microsoft.com/office/drawing/2014/main" id="{F5977AEE-BFEC-ED18-906F-2EB97F68BFB4}"/>
              </a:ext>
            </a:extLst>
          </p:cNvPr>
          <p:cNvSpPr/>
          <p:nvPr/>
        </p:nvSpPr>
        <p:spPr bwMode="auto">
          <a:xfrm>
            <a:off x="11255127" y="1189919"/>
            <a:ext cx="254248" cy="254248"/>
          </a:xfrm>
          <a:prstGeom prst="ellipse">
            <a:avLst/>
          </a:prstGeom>
          <a:solidFill>
            <a:srgbClr val="27ACAA"/>
          </a:solidFill>
          <a:ln w="19050" cap="flat" cmpd="sng" algn="ctr">
            <a:solidFill>
              <a:schemeClr val="bg1"/>
            </a:solid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EYInterstate Light"/>
              <a:ea typeface="+mn-ea"/>
              <a:cs typeface="Arial"/>
            </a:endParaRPr>
          </a:p>
        </p:txBody>
      </p:sp>
      <p:pic>
        <p:nvPicPr>
          <p:cNvPr id="73" name="Graphic 72">
            <a:extLst>
              <a:ext uri="{FF2B5EF4-FFF2-40B4-BE49-F238E27FC236}">
                <a16:creationId xmlns:a16="http://schemas.microsoft.com/office/drawing/2014/main" id="{33700CCC-7E5F-EC79-57F3-788981776D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36246" y="1260352"/>
            <a:ext cx="162681" cy="113383"/>
          </a:xfrm>
          <a:prstGeom prst="rect">
            <a:avLst/>
          </a:prstGeom>
        </p:spPr>
      </p:pic>
      <p:pic>
        <p:nvPicPr>
          <p:cNvPr id="77" name="Graphic 76">
            <a:extLst>
              <a:ext uri="{FF2B5EF4-FFF2-40B4-BE49-F238E27FC236}">
                <a16:creationId xmlns:a16="http://schemas.microsoft.com/office/drawing/2014/main" id="{D913F8CB-CC36-B156-8DBE-970C45CB0B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68577" y="1260352"/>
            <a:ext cx="162681" cy="113383"/>
          </a:xfrm>
          <a:prstGeom prst="rect">
            <a:avLst/>
          </a:prstGeom>
        </p:spPr>
      </p:pic>
      <p:pic>
        <p:nvPicPr>
          <p:cNvPr id="78" name="Graphic 77">
            <a:extLst>
              <a:ext uri="{FF2B5EF4-FFF2-40B4-BE49-F238E27FC236}">
                <a16:creationId xmlns:a16="http://schemas.microsoft.com/office/drawing/2014/main" id="{B6E83335-D5BF-3BA7-0352-D52F504EA1F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00910" y="1260352"/>
            <a:ext cx="162681" cy="113383"/>
          </a:xfrm>
          <a:prstGeom prst="rect">
            <a:avLst/>
          </a:prstGeom>
        </p:spPr>
      </p:pic>
      <p:grpSp>
        <p:nvGrpSpPr>
          <p:cNvPr id="81" name="Group 80">
            <a:extLst>
              <a:ext uri="{FF2B5EF4-FFF2-40B4-BE49-F238E27FC236}">
                <a16:creationId xmlns:a16="http://schemas.microsoft.com/office/drawing/2014/main" id="{4FFC1CFF-B51A-4805-74F5-50B3AC326AE5}"/>
              </a:ext>
            </a:extLst>
          </p:cNvPr>
          <p:cNvGrpSpPr/>
          <p:nvPr/>
        </p:nvGrpSpPr>
        <p:grpSpPr>
          <a:xfrm>
            <a:off x="800065" y="6025166"/>
            <a:ext cx="254248" cy="254248"/>
            <a:chOff x="-208465" y="2574966"/>
            <a:chExt cx="254248" cy="254248"/>
          </a:xfrm>
        </p:grpSpPr>
        <p:sp>
          <p:nvSpPr>
            <p:cNvPr id="79" name="Oval 78">
              <a:extLst>
                <a:ext uri="{FF2B5EF4-FFF2-40B4-BE49-F238E27FC236}">
                  <a16:creationId xmlns:a16="http://schemas.microsoft.com/office/drawing/2014/main" id="{783C84B4-1D70-BF2F-38FF-161FD9390AB2}"/>
                </a:ext>
              </a:extLst>
            </p:cNvPr>
            <p:cNvSpPr/>
            <p:nvPr/>
          </p:nvSpPr>
          <p:spPr bwMode="auto">
            <a:xfrm>
              <a:off x="-208465" y="2574966"/>
              <a:ext cx="254248" cy="254248"/>
            </a:xfrm>
            <a:prstGeom prst="ellipse">
              <a:avLst/>
            </a:prstGeom>
            <a:solidFill>
              <a:srgbClr val="27ACAA"/>
            </a:solidFill>
            <a:ln w="19050" cap="flat" cmpd="sng" algn="ctr">
              <a:solidFill>
                <a:schemeClr val="bg1"/>
              </a:solid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EYInterstate Light"/>
                <a:ea typeface="+mn-ea"/>
                <a:cs typeface="Arial"/>
              </a:endParaRPr>
            </a:p>
          </p:txBody>
        </p:sp>
        <p:pic>
          <p:nvPicPr>
            <p:cNvPr id="80" name="Graphic 79">
              <a:extLst>
                <a:ext uri="{FF2B5EF4-FFF2-40B4-BE49-F238E27FC236}">
                  <a16:creationId xmlns:a16="http://schemas.microsoft.com/office/drawing/2014/main" id="{1043AC24-A74B-4B0D-212C-0B7E31F78A6C}"/>
                </a:ext>
              </a:extLst>
            </p:cNvPr>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162681" y="2645399"/>
              <a:ext cx="162681" cy="113383"/>
            </a:xfrm>
            <a:prstGeom prst="rect">
              <a:avLst/>
            </a:prstGeom>
          </p:spPr>
        </p:pic>
      </p:grpSp>
      <p:cxnSp>
        <p:nvCxnSpPr>
          <p:cNvPr id="7" name="Straight Connector 6">
            <a:extLst>
              <a:ext uri="{FF2B5EF4-FFF2-40B4-BE49-F238E27FC236}">
                <a16:creationId xmlns:a16="http://schemas.microsoft.com/office/drawing/2014/main" id="{0BF31AE9-4BAC-6948-1A27-513B93C1D798}"/>
              </a:ext>
            </a:extLst>
          </p:cNvPr>
          <p:cNvCxnSpPr>
            <a:cxnSpLocks/>
          </p:cNvCxnSpPr>
          <p:nvPr/>
        </p:nvCxnSpPr>
        <p:spPr bwMode="auto">
          <a:xfrm>
            <a:off x="685800" y="3047121"/>
            <a:ext cx="10823575" cy="0"/>
          </a:xfrm>
          <a:prstGeom prst="line">
            <a:avLst/>
          </a:prstGeom>
          <a:solidFill>
            <a:schemeClr val="accent1"/>
          </a:solidFill>
          <a:ln w="9525" cap="flat" cmpd="sng" algn="ctr">
            <a:solidFill>
              <a:srgbClr val="1A9AFA"/>
            </a:solidFill>
            <a:prstDash val="solid"/>
            <a:round/>
            <a:headEnd type="none" w="med" len="med"/>
            <a:tailEnd type="none" w="med" len="med"/>
          </a:ln>
          <a:effectLst/>
        </p:spPr>
      </p:cxnSp>
    </p:spTree>
    <p:extLst>
      <p:ext uri="{BB962C8B-B14F-4D97-AF65-F5344CB8AC3E}">
        <p14:creationId xmlns:p14="http://schemas.microsoft.com/office/powerpoint/2010/main" val="3627759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B1332-5443-D6DD-0A06-30E81702DA77}"/>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579E0715-81B1-FD95-1C86-8DF0D592DBA6}"/>
              </a:ext>
            </a:extLst>
          </p:cNvPr>
          <p:cNvSpPr/>
          <p:nvPr/>
        </p:nvSpPr>
        <p:spPr bwMode="auto">
          <a:xfrm>
            <a:off x="696970" y="1303457"/>
            <a:ext cx="2615408" cy="438907"/>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45720" tIns="54000" rIns="36576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IN" sz="1000">
                <a:solidFill>
                  <a:srgbClr val="FFFFFF"/>
                </a:solidFill>
                <a:latin typeface="EYInterstate"/>
                <a:cs typeface="Arial"/>
              </a:rPr>
              <a:t>[COMPANY]</a:t>
            </a:r>
            <a:endParaRPr lang="en-IN" sz="1000" b="0" i="0" u="none" strike="noStrike" kern="1200" cap="none" spc="0" normalizeH="0" baseline="0" noProof="0">
              <a:ln>
                <a:noFill/>
              </a:ln>
              <a:solidFill>
                <a:srgbClr val="FFFFFF"/>
              </a:solidFill>
              <a:effectLst/>
              <a:uLnTx/>
              <a:uFillTx/>
              <a:latin typeface="EYInterstate" panose="02000503020000020004" pitchFamily="2" charset="0"/>
              <a:cs typeface="Arial"/>
            </a:endParaRPr>
          </a:p>
        </p:txBody>
      </p:sp>
      <p:sp>
        <p:nvSpPr>
          <p:cNvPr id="30" name="Rectangle: Rounded Corners 29">
            <a:extLst>
              <a:ext uri="{FF2B5EF4-FFF2-40B4-BE49-F238E27FC236}">
                <a16:creationId xmlns:a16="http://schemas.microsoft.com/office/drawing/2014/main" id="{2B15E4CD-E89C-58EC-7C77-7083C0A703FB}"/>
              </a:ext>
            </a:extLst>
          </p:cNvPr>
          <p:cNvSpPr/>
          <p:nvPr/>
        </p:nvSpPr>
        <p:spPr bwMode="auto">
          <a:xfrm>
            <a:off x="3429302" y="1303457"/>
            <a:ext cx="2615408" cy="438907"/>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45720" tIns="54000" rIns="54864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EYInterstate" panose="02000503020000020004" pitchFamily="2" charset="0"/>
                <a:ea typeface="+mn-ea"/>
                <a:cs typeface="Arial"/>
              </a:rPr>
              <a:t>Private sector operator selection for a new hospital</a:t>
            </a:r>
          </a:p>
        </p:txBody>
      </p:sp>
      <p:sp>
        <p:nvSpPr>
          <p:cNvPr id="32" name="Rectangle: Rounded Corners 31">
            <a:extLst>
              <a:ext uri="{FF2B5EF4-FFF2-40B4-BE49-F238E27FC236}">
                <a16:creationId xmlns:a16="http://schemas.microsoft.com/office/drawing/2014/main" id="{D60497FF-1D82-35B2-9E06-13CE559D2A80}"/>
              </a:ext>
            </a:extLst>
          </p:cNvPr>
          <p:cNvSpPr/>
          <p:nvPr/>
        </p:nvSpPr>
        <p:spPr bwMode="auto">
          <a:xfrm>
            <a:off x="6161634" y="1303457"/>
            <a:ext cx="2615408" cy="438907"/>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45720" tIns="54000" rIns="36576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EYInterstate" panose="02000503020000020004" pitchFamily="2" charset="0"/>
                <a:ea typeface="+mn-ea"/>
                <a:cs typeface="Arial"/>
              </a:rPr>
              <a:t>Outsourcing of dialysis services</a:t>
            </a:r>
          </a:p>
        </p:txBody>
      </p:sp>
      <p:sp>
        <p:nvSpPr>
          <p:cNvPr id="34" name="Rectangle: Rounded Corners 33">
            <a:extLst>
              <a:ext uri="{FF2B5EF4-FFF2-40B4-BE49-F238E27FC236}">
                <a16:creationId xmlns:a16="http://schemas.microsoft.com/office/drawing/2014/main" id="{DB188EEB-775D-6577-8A46-AAD21C48823C}"/>
              </a:ext>
            </a:extLst>
          </p:cNvPr>
          <p:cNvSpPr/>
          <p:nvPr/>
        </p:nvSpPr>
        <p:spPr bwMode="auto">
          <a:xfrm>
            <a:off x="8893967" y="1303457"/>
            <a:ext cx="2615408" cy="438907"/>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45720" tIns="54000" rIns="36576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000">
                <a:solidFill>
                  <a:srgbClr val="FFFFFF"/>
                </a:solidFill>
                <a:latin typeface="EYInterstate"/>
                <a:cs typeface="Arial"/>
              </a:rPr>
              <a:t>[COMPANY]</a:t>
            </a:r>
            <a:endParaRPr lang="en-US" sz="1000" b="0" i="0" u="none" strike="noStrike" kern="1200" cap="none" spc="0" normalizeH="0" baseline="0" noProof="0">
              <a:ln>
                <a:noFill/>
              </a:ln>
              <a:solidFill>
                <a:srgbClr val="FFFFFF"/>
              </a:solidFill>
              <a:effectLst/>
              <a:uLnTx/>
              <a:uFillTx/>
              <a:latin typeface="EYInterstate" panose="02000503020000020004" pitchFamily="2" charset="0"/>
              <a:cs typeface="Arial"/>
            </a:endParaRPr>
          </a:p>
        </p:txBody>
      </p:sp>
      <p:sp>
        <p:nvSpPr>
          <p:cNvPr id="8" name="Title 7">
            <a:extLst>
              <a:ext uri="{FF2B5EF4-FFF2-40B4-BE49-F238E27FC236}">
                <a16:creationId xmlns:a16="http://schemas.microsoft.com/office/drawing/2014/main" id="{AEB881BA-C28E-9015-3462-E805EE4330D1}"/>
              </a:ext>
            </a:extLst>
          </p:cNvPr>
          <p:cNvSpPr>
            <a:spLocks noGrp="1"/>
          </p:cNvSpPr>
          <p:nvPr>
            <p:ph type="title"/>
          </p:nvPr>
        </p:nvSpPr>
        <p:spPr>
          <a:xfrm>
            <a:off x="701675" y="273050"/>
            <a:ext cx="10788650" cy="792163"/>
          </a:xfrm>
        </p:spPr>
        <p:txBody>
          <a:bodyPr/>
          <a:lstStyle/>
          <a:p>
            <a:r>
              <a:rPr lang="en-US"/>
              <a:t>Our Experiences – Lead and Financial Advisory </a:t>
            </a:r>
          </a:p>
        </p:txBody>
      </p:sp>
      <p:sp>
        <p:nvSpPr>
          <p:cNvPr id="49" name="Content Placeholder 48">
            <a:extLst>
              <a:ext uri="{FF2B5EF4-FFF2-40B4-BE49-F238E27FC236}">
                <a16:creationId xmlns:a16="http://schemas.microsoft.com/office/drawing/2014/main" id="{86FAE25B-DBF7-3686-6B72-1DF22F9E132E}"/>
              </a:ext>
            </a:extLst>
          </p:cNvPr>
          <p:cNvSpPr>
            <a:spLocks noGrp="1"/>
          </p:cNvSpPr>
          <p:nvPr>
            <p:ph sz="quarter" idx="12"/>
          </p:nvPr>
        </p:nvSpPr>
        <p:spPr>
          <a:xfrm>
            <a:off x="701367" y="1785468"/>
            <a:ext cx="2615408" cy="1590473"/>
          </a:xfrm>
        </p:spPr>
        <p:txBody>
          <a:bodyPr lIns="45720" tIns="45720" rIns="45720" bIns="45720"/>
          <a:lstStyle/>
          <a:p>
            <a:r>
              <a:rPr lang="en-US" sz="1000" dirty="0">
                <a:latin typeface="+mj-lt"/>
              </a:rPr>
              <a:t> has been appointed as the lead and financial advisor to establish a clear mechanism for privatizing and financing health services at Imam Abdulrahman Bin (IAU) Faisal Hospital.</a:t>
            </a:r>
          </a:p>
        </p:txBody>
      </p:sp>
      <p:sp>
        <p:nvSpPr>
          <p:cNvPr id="50" name="Content Placeholder 49">
            <a:extLst>
              <a:ext uri="{FF2B5EF4-FFF2-40B4-BE49-F238E27FC236}">
                <a16:creationId xmlns:a16="http://schemas.microsoft.com/office/drawing/2014/main" id="{591C8DE6-BE10-45E3-03C3-A558172F63CF}"/>
              </a:ext>
            </a:extLst>
          </p:cNvPr>
          <p:cNvSpPr>
            <a:spLocks noGrp="1"/>
          </p:cNvSpPr>
          <p:nvPr>
            <p:ph sz="quarter" idx="13"/>
          </p:nvPr>
        </p:nvSpPr>
        <p:spPr>
          <a:xfrm>
            <a:off x="3432233" y="1785468"/>
            <a:ext cx="2615408" cy="1590473"/>
          </a:xfrm>
        </p:spPr>
        <p:txBody>
          <a:bodyPr lIns="45720" tIns="45720" rIns="45720" bIns="45720"/>
          <a:lstStyle/>
          <a:p>
            <a:r>
              <a:rPr lang="en-US" sz="1000" dirty="0">
                <a:latin typeface="+mj-lt"/>
              </a:rPr>
              <a:t>The client aspires to engage private sector to operate and manage a 400-bedded hospital in Oman along with its auxiliary buildings.   was appointed to assist in advisory services for the selection of a private operator for a greenfield healthcare facility with features such as rehabilitation </a:t>
            </a:r>
            <a:r>
              <a:rPr lang="en-US" sz="1000" dirty="0" err="1">
                <a:latin typeface="+mj-lt"/>
              </a:rPr>
              <a:t>centre</a:t>
            </a:r>
            <a:r>
              <a:rPr lang="en-US" sz="1000" dirty="0">
                <a:latin typeface="+mj-lt"/>
              </a:rPr>
              <a:t>, long term facilities, cancer </a:t>
            </a:r>
            <a:r>
              <a:rPr lang="en-US" sz="1000" dirty="0" err="1">
                <a:latin typeface="+mj-lt"/>
              </a:rPr>
              <a:t>centre</a:t>
            </a:r>
            <a:r>
              <a:rPr lang="en-US" sz="1000" dirty="0">
                <a:latin typeface="+mj-lt"/>
              </a:rPr>
              <a:t>, a children’s clinic, a women's clinic and a cardiac </a:t>
            </a:r>
            <a:r>
              <a:rPr lang="en-US" sz="1000" dirty="0" err="1">
                <a:latin typeface="+mj-lt"/>
              </a:rPr>
              <a:t>centre</a:t>
            </a:r>
            <a:r>
              <a:rPr lang="en-US" sz="1000" dirty="0">
                <a:latin typeface="+mj-lt"/>
              </a:rPr>
              <a:t> among others.</a:t>
            </a:r>
          </a:p>
        </p:txBody>
      </p:sp>
      <p:sp>
        <p:nvSpPr>
          <p:cNvPr id="51" name="Content Placeholder 50">
            <a:extLst>
              <a:ext uri="{FF2B5EF4-FFF2-40B4-BE49-F238E27FC236}">
                <a16:creationId xmlns:a16="http://schemas.microsoft.com/office/drawing/2014/main" id="{A2DF59C5-D03B-DBD3-697D-33EE04330DC9}"/>
              </a:ext>
            </a:extLst>
          </p:cNvPr>
          <p:cNvSpPr>
            <a:spLocks noGrp="1"/>
          </p:cNvSpPr>
          <p:nvPr>
            <p:ph sz="quarter" idx="14"/>
          </p:nvPr>
        </p:nvSpPr>
        <p:spPr>
          <a:xfrm>
            <a:off x="6163099" y="1785468"/>
            <a:ext cx="2615408" cy="1590473"/>
          </a:xfrm>
        </p:spPr>
        <p:txBody>
          <a:bodyPr lIns="45720" tIns="45720" rIns="45720" bIns="45720"/>
          <a:lstStyle/>
          <a:p>
            <a:r>
              <a:rPr lang="en-US" sz="1000">
                <a:latin typeface="+mj-lt"/>
              </a:rPr>
              <a:t>The MoH is responsible for all health centers in the Kingdom to provide dialysis services to Saudi patients. The operations of approximately fifty of those centers are currently outsourced to two private sector companies collectively serving the needs of around 6,000 patients per annum.</a:t>
            </a:r>
          </a:p>
        </p:txBody>
      </p:sp>
      <p:sp>
        <p:nvSpPr>
          <p:cNvPr id="52" name="Content Placeholder 51">
            <a:extLst>
              <a:ext uri="{FF2B5EF4-FFF2-40B4-BE49-F238E27FC236}">
                <a16:creationId xmlns:a16="http://schemas.microsoft.com/office/drawing/2014/main" id="{F64886C8-1A01-AE14-926E-6BB13243242E}"/>
              </a:ext>
            </a:extLst>
          </p:cNvPr>
          <p:cNvSpPr>
            <a:spLocks noGrp="1"/>
          </p:cNvSpPr>
          <p:nvPr>
            <p:ph sz="quarter" idx="15"/>
          </p:nvPr>
        </p:nvSpPr>
        <p:spPr>
          <a:xfrm>
            <a:off x="8875225" y="1785468"/>
            <a:ext cx="2615408" cy="1590473"/>
          </a:xfrm>
        </p:spPr>
        <p:txBody>
          <a:bodyPr lIns="45720" tIns="45720" rIns="45720" bIns="45720"/>
          <a:lstStyle/>
          <a:p>
            <a:r>
              <a:rPr lang="en-US" sz="1000">
                <a:latin typeface="+mj-lt"/>
              </a:rPr>
              <a:t>The MOH currently operates the 200-bed Al Iman hospital in Riyadh and is currently building a 200-bed extension, adjacent to the hospital. The existing housing facilities for the hospital staff are old and in need of rehabilitation.</a:t>
            </a:r>
          </a:p>
        </p:txBody>
      </p:sp>
      <p:sp>
        <p:nvSpPr>
          <p:cNvPr id="53" name="Content Placeholder 52">
            <a:extLst>
              <a:ext uri="{FF2B5EF4-FFF2-40B4-BE49-F238E27FC236}">
                <a16:creationId xmlns:a16="http://schemas.microsoft.com/office/drawing/2014/main" id="{D8F2F112-DBA7-8ED8-9CE6-E607CCACCF4B}"/>
              </a:ext>
            </a:extLst>
          </p:cNvPr>
          <p:cNvSpPr>
            <a:spLocks noGrp="1"/>
          </p:cNvSpPr>
          <p:nvPr>
            <p:ph sz="quarter" idx="16"/>
          </p:nvPr>
        </p:nvSpPr>
        <p:spPr>
          <a:xfrm>
            <a:off x="701367" y="3443960"/>
            <a:ext cx="2615408" cy="2335653"/>
          </a:xfrm>
        </p:spPr>
        <p:txBody>
          <a:bodyPr/>
          <a:lstStyle/>
          <a:p>
            <a:pPr marL="171450" marR="0" lvl="0" indent="-171450" algn="l" defTabSz="902010" rtl="0" eaLnBrk="1" fontAlgn="base" latinLnBrk="0" hangingPunct="1">
              <a:lnSpc>
                <a:spcPct val="95000"/>
              </a:lnSpc>
              <a:spcBef>
                <a:spcPts val="0"/>
              </a:spcBef>
              <a:spcAft>
                <a:spcPts val="400"/>
              </a:spcAft>
              <a:buClrTx/>
              <a:buSzPct val="100000"/>
              <a:buFont typeface="EYInterstate" panose="02000503020000020004" pitchFamily="2" charset="0"/>
              <a:buChar char="•"/>
              <a:tabLst>
                <a:tab pos="1463068" algn="l"/>
                <a:tab pos="2926135" algn="l"/>
                <a:tab pos="4228080" algn="r"/>
              </a:tabLst>
              <a:defRPr/>
            </a:pPr>
            <a:r>
              <a:rPr kumimoji="0" lang="en-US" sz="1000" b="0" i="0" u="none" strike="noStrike" kern="0" cap="none" spc="0" normalizeH="0" baseline="0" noProof="0">
                <a:ln>
                  <a:noFill/>
                </a:ln>
                <a:solidFill>
                  <a:srgbClr val="000000"/>
                </a:solidFill>
                <a:effectLst/>
                <a:uLnTx/>
                <a:uFillTx/>
                <a:latin typeface="+mj-lt"/>
                <a:ea typeface="+mn-ea"/>
                <a:cs typeface="Times New Roman"/>
              </a:rPr>
              <a:t>In cooperation with the technical and legal advisors, the advisory team will seek to complete transactional documents (</a:t>
            </a:r>
            <a:r>
              <a:rPr kumimoji="0" lang="en-US" sz="1000" b="0" i="0" u="none" strike="noStrike" kern="0" cap="none" spc="0" normalizeH="0" baseline="0" noProof="0" err="1">
                <a:ln>
                  <a:noFill/>
                </a:ln>
                <a:solidFill>
                  <a:srgbClr val="000000"/>
                </a:solidFill>
                <a:effectLst/>
                <a:uLnTx/>
                <a:uFillTx/>
                <a:latin typeface="+mj-lt"/>
                <a:ea typeface="+mn-ea"/>
                <a:cs typeface="Times New Roman"/>
              </a:rPr>
              <a:t>i.e</a:t>
            </a:r>
            <a:r>
              <a:rPr kumimoji="0" lang="en-US" sz="1000" b="0" i="0" u="none" strike="noStrike" kern="0" cap="none" spc="0" normalizeH="0" baseline="0" noProof="0">
                <a:ln>
                  <a:noFill/>
                </a:ln>
                <a:solidFill>
                  <a:srgbClr val="000000"/>
                </a:solidFill>
                <a:effectLst/>
                <a:uLnTx/>
                <a:uFillTx/>
                <a:latin typeface="+mj-lt"/>
                <a:ea typeface="+mn-ea"/>
                <a:cs typeface="Times New Roman"/>
              </a:rPr>
              <a:t> business case, due diligence, and market sounding reports) for the hospital to fulfill the requirements under NCP regulations</a:t>
            </a:r>
          </a:p>
          <a:p>
            <a:pPr marL="171450" marR="0" lvl="0" indent="-171450" algn="l" defTabSz="902010" rtl="0" eaLnBrk="1" fontAlgn="base" latinLnBrk="0" hangingPunct="1">
              <a:lnSpc>
                <a:spcPct val="95000"/>
              </a:lnSpc>
              <a:spcBef>
                <a:spcPts val="0"/>
              </a:spcBef>
              <a:spcAft>
                <a:spcPts val="400"/>
              </a:spcAft>
              <a:buClrTx/>
              <a:buSzPct val="100000"/>
              <a:buFont typeface="EYInterstate" panose="02000503020000020004" pitchFamily="2" charset="0"/>
              <a:buChar char="•"/>
              <a:tabLst>
                <a:tab pos="1463068" algn="l"/>
                <a:tab pos="2926135" algn="l"/>
                <a:tab pos="4228080" algn="r"/>
              </a:tabLst>
              <a:defRPr/>
            </a:pPr>
            <a:r>
              <a:rPr kumimoji="0" lang="en-US" sz="1000" b="0" i="0" u="none" strike="noStrike" kern="0" cap="none" spc="0" normalizeH="0" baseline="0" noProof="0">
                <a:ln>
                  <a:noFill/>
                </a:ln>
                <a:solidFill>
                  <a:srgbClr val="000000"/>
                </a:solidFill>
                <a:effectLst/>
                <a:uLnTx/>
                <a:uFillTx/>
                <a:latin typeface="+mj-lt"/>
                <a:ea typeface="+mn-ea"/>
                <a:cs typeface="Times New Roman"/>
              </a:rPr>
              <a:t>Furthermore, the advisory team will be responsible for the tendering documents such as expressions of interest, RFQ, RFP, and evaluation of bids and negotiations with selected bidders until the financial close</a:t>
            </a:r>
          </a:p>
        </p:txBody>
      </p:sp>
      <p:sp>
        <p:nvSpPr>
          <p:cNvPr id="54" name="Content Placeholder 53">
            <a:extLst>
              <a:ext uri="{FF2B5EF4-FFF2-40B4-BE49-F238E27FC236}">
                <a16:creationId xmlns:a16="http://schemas.microsoft.com/office/drawing/2014/main" id="{1A5CB80B-A389-C31E-3464-225459CD3986}"/>
              </a:ext>
            </a:extLst>
          </p:cNvPr>
          <p:cNvSpPr>
            <a:spLocks noGrp="1"/>
          </p:cNvSpPr>
          <p:nvPr>
            <p:ph sz="quarter" idx="17"/>
          </p:nvPr>
        </p:nvSpPr>
        <p:spPr>
          <a:xfrm>
            <a:off x="3432233" y="3443960"/>
            <a:ext cx="2615408" cy="2335653"/>
          </a:xfrm>
        </p:spPr>
        <p:txBody>
          <a:bodyPr/>
          <a:lstStyle/>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a:solidFill>
                  <a:srgbClr val="000000"/>
                </a:solidFill>
                <a:latin typeface="+mj-lt"/>
                <a:cs typeface="Times New Roman"/>
              </a:rPr>
              <a:t>Examined the commercial viability of the project and conducted a soft market sounding with leading participants</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a:solidFill>
                  <a:srgbClr val="000000"/>
                </a:solidFill>
                <a:latin typeface="+mj-lt"/>
                <a:cs typeface="Times New Roman"/>
              </a:rPr>
              <a:t>Determined the PSP model, the risk allocation and payment mechanism</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a:solidFill>
                  <a:srgbClr val="000000"/>
                </a:solidFill>
                <a:latin typeface="+mj-lt"/>
                <a:cs typeface="Times New Roman"/>
              </a:rPr>
              <a:t>Conducted a transparent, competitive and robust tendering and support the bid evaluation process </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a:solidFill>
                  <a:srgbClr val="000000"/>
                </a:solidFill>
                <a:latin typeface="+mj-lt"/>
                <a:cs typeface="Times New Roman"/>
              </a:rPr>
              <a:t>Developed a negotiation strategy</a:t>
            </a:r>
          </a:p>
        </p:txBody>
      </p:sp>
      <p:sp>
        <p:nvSpPr>
          <p:cNvPr id="55" name="Content Placeholder 54">
            <a:extLst>
              <a:ext uri="{FF2B5EF4-FFF2-40B4-BE49-F238E27FC236}">
                <a16:creationId xmlns:a16="http://schemas.microsoft.com/office/drawing/2014/main" id="{A3AE7749-842A-3448-B06F-B5740F123D8D}"/>
              </a:ext>
            </a:extLst>
          </p:cNvPr>
          <p:cNvSpPr>
            <a:spLocks noGrp="1"/>
          </p:cNvSpPr>
          <p:nvPr>
            <p:ph sz="quarter" idx="18"/>
          </p:nvPr>
        </p:nvSpPr>
        <p:spPr>
          <a:xfrm>
            <a:off x="6163099" y="3443960"/>
            <a:ext cx="2615408" cy="2335653"/>
          </a:xfrm>
        </p:spPr>
        <p:txBody>
          <a:bodyPr/>
          <a:lstStyle/>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a:solidFill>
                  <a:srgbClr val="000000"/>
                </a:solidFill>
                <a:latin typeface="+mj-lt"/>
                <a:cs typeface="Times New Roman"/>
              </a:rPr>
              <a:t>Review of background information including costing and pricing assumptions related to dialysis services</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a:solidFill>
                  <a:srgbClr val="000000"/>
                </a:solidFill>
                <a:latin typeface="+mj-lt"/>
                <a:cs typeface="Times New Roman"/>
              </a:rPr>
              <a:t>Conduct a price benchmarking exercise for similar services</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a:solidFill>
                  <a:srgbClr val="000000"/>
                </a:solidFill>
                <a:latin typeface="+mj-lt"/>
                <a:cs typeface="Times New Roman"/>
              </a:rPr>
              <a:t>Conduct financial analysis to support the negotiations process</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a:solidFill>
                  <a:srgbClr val="000000"/>
                </a:solidFill>
                <a:latin typeface="+mj-lt"/>
                <a:cs typeface="Times New Roman"/>
              </a:rPr>
              <a:t>Advise on the appropriate cost and price</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a:solidFill>
                  <a:srgbClr val="000000"/>
                </a:solidFill>
                <a:latin typeface="+mj-lt"/>
                <a:cs typeface="Times New Roman"/>
              </a:rPr>
              <a:t>Conduct affordability analysis for the submitted renewal proposals;</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a:solidFill>
                  <a:srgbClr val="000000"/>
                </a:solidFill>
                <a:latin typeface="+mj-lt"/>
                <a:cs typeface="Times New Roman"/>
              </a:rPr>
              <a:t>Support the MoH in commercial discussions and support in negotiating with bidders</a:t>
            </a:r>
          </a:p>
        </p:txBody>
      </p:sp>
      <p:sp>
        <p:nvSpPr>
          <p:cNvPr id="56" name="Content Placeholder 55">
            <a:extLst>
              <a:ext uri="{FF2B5EF4-FFF2-40B4-BE49-F238E27FC236}">
                <a16:creationId xmlns:a16="http://schemas.microsoft.com/office/drawing/2014/main" id="{CA042341-30BA-EB93-6CC7-3E7E2EDC617F}"/>
              </a:ext>
            </a:extLst>
          </p:cNvPr>
          <p:cNvSpPr>
            <a:spLocks noGrp="1"/>
          </p:cNvSpPr>
          <p:nvPr>
            <p:ph sz="quarter" idx="19"/>
          </p:nvPr>
        </p:nvSpPr>
        <p:spPr>
          <a:xfrm>
            <a:off x="8875225" y="3443960"/>
            <a:ext cx="2615408" cy="2335653"/>
          </a:xfrm>
        </p:spPr>
        <p:txBody>
          <a:bodyPr/>
          <a:lstStyle/>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dirty="0">
                <a:solidFill>
                  <a:srgbClr val="000000"/>
                </a:solidFill>
                <a:latin typeface="+mj-lt"/>
                <a:cs typeface="Times New Roman"/>
              </a:rPr>
              <a:t>Ey acted as financial advisor and identify investment opportunities for the current housing and vacant spaces</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dirty="0">
                <a:solidFill>
                  <a:srgbClr val="000000"/>
                </a:solidFill>
                <a:latin typeface="+mj-lt"/>
                <a:cs typeface="Times New Roman"/>
              </a:rPr>
              <a:t>Assessed the appetite of the Saudi real estate market to develop the project based on a PPP procurement structure</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dirty="0">
                <a:solidFill>
                  <a:srgbClr val="000000"/>
                </a:solidFill>
                <a:latin typeface="+mj-lt"/>
                <a:cs typeface="Times New Roman"/>
              </a:rPr>
              <a:t>Proposed ideal delivery models for the successful rehabilitation and the development of new housing units through the private sector participation</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dirty="0">
                <a:solidFill>
                  <a:srgbClr val="000000"/>
                </a:solidFill>
                <a:latin typeface="+mj-lt"/>
                <a:cs typeface="Times New Roman"/>
              </a:rPr>
              <a:t>Identified potential investment opportunities</a:t>
            </a:r>
          </a:p>
          <a:p>
            <a:pPr marL="171450" indent="-171450">
              <a:lnSpc>
                <a:spcPct val="95000"/>
              </a:lnSpc>
              <a:spcBef>
                <a:spcPts val="0"/>
              </a:spcBef>
              <a:spcAft>
                <a:spcPts val="400"/>
              </a:spcAft>
              <a:buClrTx/>
              <a:buSzPct val="100000"/>
              <a:buFont typeface="EYInterstate" panose="02000503020000020004" pitchFamily="2" charset="0"/>
              <a:buChar char="•"/>
              <a:defRPr/>
            </a:pPr>
            <a:r>
              <a:rPr lang="en-US" sz="1000" dirty="0">
                <a:solidFill>
                  <a:srgbClr val="000000"/>
                </a:solidFill>
                <a:latin typeface="+mj-lt"/>
                <a:cs typeface="Times New Roman"/>
              </a:rPr>
              <a:t>Reduced the overall rehabilitation and development cost to the MOH</a:t>
            </a:r>
          </a:p>
        </p:txBody>
      </p:sp>
      <p:sp>
        <p:nvSpPr>
          <p:cNvPr id="11" name="TextBox 10">
            <a:extLst>
              <a:ext uri="{FF2B5EF4-FFF2-40B4-BE49-F238E27FC236}">
                <a16:creationId xmlns:a16="http://schemas.microsoft.com/office/drawing/2014/main" id="{6E491AFB-E932-16B8-038C-E8A304FBD737}"/>
              </a:ext>
            </a:extLst>
          </p:cNvPr>
          <p:cNvSpPr txBox="1"/>
          <p:nvPr/>
        </p:nvSpPr>
        <p:spPr>
          <a:xfrm rot="16200000">
            <a:off x="-9985" y="2233954"/>
            <a:ext cx="1143191" cy="246221"/>
          </a:xfrm>
          <a:prstGeom prst="rect">
            <a:avLst/>
          </a:prstGeom>
          <a:noFill/>
        </p:spPr>
        <p:txBody>
          <a:bodyPr wrap="square" l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rgbClr val="000000"/>
                </a:solidFill>
                <a:effectLst/>
                <a:uLnTx/>
                <a:uFillTx/>
                <a:latin typeface="EYInterstate Light"/>
                <a:ea typeface="+mn-ea"/>
                <a:cs typeface="Arial"/>
              </a:rPr>
              <a:t>Scope Delivered</a:t>
            </a:r>
            <a:endParaRPr kumimoji="0" lang="en-US" sz="1800" b="0" i="0" u="none" strike="noStrike" kern="1200" cap="none" spc="0" normalizeH="0" baseline="0" noProof="0">
              <a:ln>
                <a:noFill/>
              </a:ln>
              <a:solidFill>
                <a:srgbClr val="000000"/>
              </a:solidFill>
              <a:effectLst/>
              <a:uLnTx/>
              <a:uFillTx/>
              <a:latin typeface="EYInterstate Light"/>
              <a:ea typeface="+mn-ea"/>
              <a:cs typeface="Arial"/>
            </a:endParaRPr>
          </a:p>
        </p:txBody>
      </p:sp>
      <p:sp>
        <p:nvSpPr>
          <p:cNvPr id="12" name="TextBox 11">
            <a:extLst>
              <a:ext uri="{FF2B5EF4-FFF2-40B4-BE49-F238E27FC236}">
                <a16:creationId xmlns:a16="http://schemas.microsoft.com/office/drawing/2014/main" id="{22E4F35F-3508-F775-F251-9D32B4A34840}"/>
              </a:ext>
            </a:extLst>
          </p:cNvPr>
          <p:cNvSpPr txBox="1"/>
          <p:nvPr/>
        </p:nvSpPr>
        <p:spPr>
          <a:xfrm rot="16200000">
            <a:off x="-583896" y="4451397"/>
            <a:ext cx="2291016" cy="246221"/>
          </a:xfrm>
          <a:prstGeom prst="rect">
            <a:avLst/>
          </a:prstGeom>
          <a:noFill/>
        </p:spPr>
        <p:txBody>
          <a:bodyPr wrap="square" lIns="0" r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dirty="0">
                <a:ln>
                  <a:noFill/>
                </a:ln>
                <a:solidFill>
                  <a:srgbClr val="1A9AFA"/>
                </a:solidFill>
                <a:effectLst/>
                <a:uLnTx/>
                <a:uFillTx/>
                <a:latin typeface="EYInterstate Light"/>
                <a:ea typeface="+mn-ea"/>
                <a:cs typeface="Arial"/>
              </a:rPr>
              <a:t> Role</a:t>
            </a:r>
          </a:p>
        </p:txBody>
      </p:sp>
      <p:cxnSp>
        <p:nvCxnSpPr>
          <p:cNvPr id="14" name="Straight Connector 13">
            <a:extLst>
              <a:ext uri="{FF2B5EF4-FFF2-40B4-BE49-F238E27FC236}">
                <a16:creationId xmlns:a16="http://schemas.microsoft.com/office/drawing/2014/main" id="{523D29C7-BEA7-31A9-0B48-92A60243ED31}"/>
              </a:ext>
            </a:extLst>
          </p:cNvPr>
          <p:cNvCxnSpPr>
            <a:cxnSpLocks/>
          </p:cNvCxnSpPr>
          <p:nvPr/>
        </p:nvCxnSpPr>
        <p:spPr bwMode="auto">
          <a:xfrm>
            <a:off x="685800" y="3375941"/>
            <a:ext cx="10823575" cy="0"/>
          </a:xfrm>
          <a:prstGeom prst="line">
            <a:avLst/>
          </a:prstGeom>
          <a:solidFill>
            <a:schemeClr val="accent1"/>
          </a:solidFill>
          <a:ln w="9525" cap="flat" cmpd="sng" algn="ctr">
            <a:solidFill>
              <a:srgbClr val="1A9AFA"/>
            </a:solidFill>
            <a:prstDash val="solid"/>
            <a:round/>
            <a:headEnd type="none" w="med" len="med"/>
            <a:tailEnd type="none" w="med" len="med"/>
          </a:ln>
          <a:effectLst/>
        </p:spPr>
      </p:cxnSp>
    </p:spTree>
    <p:extLst>
      <p:ext uri="{BB962C8B-B14F-4D97-AF65-F5344CB8AC3E}">
        <p14:creationId xmlns:p14="http://schemas.microsoft.com/office/powerpoint/2010/main" val="12463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866B3-625E-9F7C-D0FB-ACD0D89C86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92B9E-03C2-8BB8-2751-CE03CD792348}"/>
              </a:ext>
            </a:extLst>
          </p:cNvPr>
          <p:cNvSpPr>
            <a:spLocks noGrp="1"/>
          </p:cNvSpPr>
          <p:nvPr>
            <p:ph type="title"/>
          </p:nvPr>
        </p:nvSpPr>
        <p:spPr/>
        <p:txBody>
          <a:bodyPr/>
          <a:lstStyle/>
          <a:p>
            <a:r>
              <a:rPr lang="en-US"/>
              <a:t>Our Experiences – Technical Advisory </a:t>
            </a:r>
          </a:p>
        </p:txBody>
      </p:sp>
      <p:sp>
        <p:nvSpPr>
          <p:cNvPr id="5" name="Content Placeholder 8">
            <a:extLst>
              <a:ext uri="{FF2B5EF4-FFF2-40B4-BE49-F238E27FC236}">
                <a16:creationId xmlns:a16="http://schemas.microsoft.com/office/drawing/2014/main" id="{44A7DC78-AD33-48E9-0CD2-D557D1CB7E22}"/>
              </a:ext>
            </a:extLst>
          </p:cNvPr>
          <p:cNvSpPr txBox="1">
            <a:spLocks/>
          </p:cNvSpPr>
          <p:nvPr/>
        </p:nvSpPr>
        <p:spPr>
          <a:xfrm>
            <a:off x="701367" y="2177292"/>
            <a:ext cx="2615408" cy="1105280"/>
          </a:xfrm>
          <a:prstGeom prst="rect">
            <a:avLst/>
          </a:prstGeom>
        </p:spPr>
        <p:txBody>
          <a:bodyPr/>
          <a:lstStyle>
            <a:lvl1pPr algn="l" defTabSz="902010" rtl="0" eaLnBrk="1" fontAlgn="base" hangingPunct="1">
              <a:spcBef>
                <a:spcPct val="0"/>
              </a:spcBef>
              <a:spcAft>
                <a:spcPct val="40000"/>
              </a:spcAft>
              <a:buClr>
                <a:srgbClr val="FFD200"/>
              </a:buClr>
              <a:buSzPct val="75000"/>
              <a:buFont typeface="Arial Unicode MS" pitchFamily="34" charset="-128"/>
              <a:tabLst>
                <a:tab pos="1463068" algn="l"/>
                <a:tab pos="2926135" algn="l"/>
                <a:tab pos="4228080" algn="r"/>
              </a:tabLst>
              <a:defRPr sz="999" baseline="0">
                <a:solidFill>
                  <a:schemeClr val="tx1"/>
                </a:solidFill>
                <a:latin typeface="EYInterstate Light" panose="02000506000000020004" pitchFamily="2" charset="0"/>
                <a:ea typeface="+mn-ea"/>
                <a:cs typeface="+mn-cs"/>
              </a:defRPr>
            </a:lvl1pPr>
            <a:lvl2pPr marL="1439" algn="l" defTabSz="902010" rtl="0" eaLnBrk="1" fontAlgn="base" hangingPunct="1">
              <a:spcBef>
                <a:spcPct val="20000"/>
              </a:spcBef>
              <a:spcAft>
                <a:spcPct val="40000"/>
              </a:spcAft>
              <a:buClr>
                <a:srgbClr val="FFD200"/>
              </a:buClr>
              <a:buSzPct val="75000"/>
              <a:buFont typeface="Arial Unicode MS" pitchFamily="34" charset="-128"/>
              <a:tabLst>
                <a:tab pos="1463068" algn="l"/>
                <a:tab pos="2926135" algn="l"/>
                <a:tab pos="4228080" algn="r"/>
              </a:tabLst>
              <a:defRPr sz="1399" b="1" baseline="0">
                <a:solidFill>
                  <a:schemeClr val="tx1"/>
                </a:solidFill>
                <a:latin typeface="EYInterstate Light" panose="02000506000000020004" pitchFamily="2" charset="0"/>
                <a:cs typeface="+mn-cs"/>
              </a:defRPr>
            </a:lvl2pPr>
            <a:lvl3pPr marL="2879"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defRPr sz="1199" b="1" baseline="0">
                <a:solidFill>
                  <a:srgbClr val="747480"/>
                </a:solidFill>
                <a:latin typeface="EYInterstate Light" panose="02000506000000020004" pitchFamily="2" charset="0"/>
                <a:cs typeface="+mn-cs"/>
              </a:defRPr>
            </a:lvl3pPr>
            <a:lvl4pPr marL="172632" indent="-168317"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4pPr>
            <a:lvl5pPr marL="319372" indent="-145299"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5pPr>
            <a:lvl6pPr marL="73369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6pPr>
            <a:lvl7pPr marL="114801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7pPr>
            <a:lvl8pPr marL="156233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8pPr>
            <a:lvl9pPr marL="1976651"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9pPr>
          </a:lstStyle>
          <a:p>
            <a:pPr defTabSz="801289">
              <a:defRPr/>
            </a:pPr>
            <a:r>
              <a:rPr lang="en-US" sz="1000" kern="0">
                <a:solidFill>
                  <a:prstClr val="black"/>
                </a:solidFill>
                <a:latin typeface="+mn-lt"/>
                <a:ea typeface="Calibri" panose="020F0502020204030204" pitchFamily="34" charset="0"/>
                <a:cs typeface="Times New Roman" panose="02020603050405020304" pitchFamily="18" charset="0"/>
              </a:rPr>
              <a:t>Management of pre-opening and commissioning activities including recruitment and service excellence. TDMMC is a state-of-the-art 60,000 square foot outpatient center offering day surgery and multidisciplinary care centers.</a:t>
            </a:r>
            <a:endParaRPr lang="en-IN" sz="800" kern="0">
              <a:solidFill>
                <a:srgbClr val="FF0000"/>
              </a:solidFill>
              <a:latin typeface="+mn-lt"/>
            </a:endParaRPr>
          </a:p>
        </p:txBody>
      </p:sp>
      <p:sp>
        <p:nvSpPr>
          <p:cNvPr id="11" name="Content Placeholder 8">
            <a:extLst>
              <a:ext uri="{FF2B5EF4-FFF2-40B4-BE49-F238E27FC236}">
                <a16:creationId xmlns:a16="http://schemas.microsoft.com/office/drawing/2014/main" id="{ACE602FD-D160-FB7A-2093-0E61766F452E}"/>
              </a:ext>
            </a:extLst>
          </p:cNvPr>
          <p:cNvSpPr txBox="1">
            <a:spLocks/>
          </p:cNvSpPr>
          <p:nvPr/>
        </p:nvSpPr>
        <p:spPr>
          <a:xfrm>
            <a:off x="3421585" y="2177292"/>
            <a:ext cx="2615408" cy="1105280"/>
          </a:xfrm>
          <a:prstGeom prst="rect">
            <a:avLst/>
          </a:prstGeom>
        </p:spPr>
        <p:txBody>
          <a:bodyPr/>
          <a:lstStyle>
            <a:lvl1pPr algn="l" defTabSz="902010" rtl="0" eaLnBrk="1" fontAlgn="base" hangingPunct="1">
              <a:spcBef>
                <a:spcPct val="0"/>
              </a:spcBef>
              <a:spcAft>
                <a:spcPct val="40000"/>
              </a:spcAft>
              <a:buClr>
                <a:srgbClr val="FFD200"/>
              </a:buClr>
              <a:buSzPct val="75000"/>
              <a:buFont typeface="Arial Unicode MS" pitchFamily="34" charset="-128"/>
              <a:tabLst>
                <a:tab pos="1463068" algn="l"/>
                <a:tab pos="2926135" algn="l"/>
                <a:tab pos="4228080" algn="r"/>
              </a:tabLst>
              <a:defRPr sz="999" baseline="0">
                <a:solidFill>
                  <a:schemeClr val="tx1"/>
                </a:solidFill>
                <a:latin typeface="EYInterstate Light" panose="02000506000000020004" pitchFamily="2" charset="0"/>
                <a:ea typeface="+mn-ea"/>
                <a:cs typeface="+mn-cs"/>
              </a:defRPr>
            </a:lvl1pPr>
            <a:lvl2pPr marL="1439" algn="l" defTabSz="902010" rtl="0" eaLnBrk="1" fontAlgn="base" hangingPunct="1">
              <a:spcBef>
                <a:spcPct val="20000"/>
              </a:spcBef>
              <a:spcAft>
                <a:spcPct val="40000"/>
              </a:spcAft>
              <a:buClr>
                <a:srgbClr val="FFD200"/>
              </a:buClr>
              <a:buSzPct val="75000"/>
              <a:buFont typeface="Arial Unicode MS" pitchFamily="34" charset="-128"/>
              <a:tabLst>
                <a:tab pos="1463068" algn="l"/>
                <a:tab pos="2926135" algn="l"/>
                <a:tab pos="4228080" algn="r"/>
              </a:tabLst>
              <a:defRPr sz="1399" b="1" baseline="0">
                <a:solidFill>
                  <a:schemeClr val="tx1"/>
                </a:solidFill>
                <a:latin typeface="EYInterstate Light" panose="02000506000000020004" pitchFamily="2" charset="0"/>
                <a:cs typeface="+mn-cs"/>
              </a:defRPr>
            </a:lvl2pPr>
            <a:lvl3pPr marL="2879"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defRPr sz="1199" b="1" baseline="0">
                <a:solidFill>
                  <a:srgbClr val="747480"/>
                </a:solidFill>
                <a:latin typeface="EYInterstate Light" panose="02000506000000020004" pitchFamily="2" charset="0"/>
                <a:cs typeface="+mn-cs"/>
              </a:defRPr>
            </a:lvl3pPr>
            <a:lvl4pPr marL="172632" indent="-168317"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4pPr>
            <a:lvl5pPr marL="319372" indent="-145299"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5pPr>
            <a:lvl6pPr marL="73369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6pPr>
            <a:lvl7pPr marL="114801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7pPr>
            <a:lvl8pPr marL="156233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8pPr>
            <a:lvl9pPr marL="1976651"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9pPr>
          </a:lstStyle>
          <a:p>
            <a:pPr defTabSz="801289">
              <a:defRPr/>
            </a:pPr>
            <a:r>
              <a:rPr lang="en-US" sz="1000" kern="0">
                <a:solidFill>
                  <a:prstClr val="black"/>
                </a:solidFill>
                <a:latin typeface="+mn-lt"/>
                <a:ea typeface="Calibri" panose="020F0502020204030204" pitchFamily="34" charset="0"/>
                <a:cs typeface="Times New Roman" panose="02020603050405020304" pitchFamily="18" charset="0"/>
              </a:rPr>
              <a:t>Development of concept, business, operating and management plans, operational commissioning and ongoing management of the 75,000 sqm highly exclusive multispecialty clinic.</a:t>
            </a:r>
          </a:p>
        </p:txBody>
      </p:sp>
      <p:sp>
        <p:nvSpPr>
          <p:cNvPr id="14" name="Content Placeholder 8">
            <a:extLst>
              <a:ext uri="{FF2B5EF4-FFF2-40B4-BE49-F238E27FC236}">
                <a16:creationId xmlns:a16="http://schemas.microsoft.com/office/drawing/2014/main" id="{458CABA7-D6DF-81E3-7BF8-BD4F02D05327}"/>
              </a:ext>
            </a:extLst>
          </p:cNvPr>
          <p:cNvSpPr txBox="1">
            <a:spLocks/>
          </p:cNvSpPr>
          <p:nvPr/>
        </p:nvSpPr>
        <p:spPr>
          <a:xfrm>
            <a:off x="6155007" y="2177292"/>
            <a:ext cx="2615408" cy="1105280"/>
          </a:xfrm>
          <a:prstGeom prst="rect">
            <a:avLst/>
          </a:prstGeom>
        </p:spPr>
        <p:txBody>
          <a:bodyPr/>
          <a:lstStyle>
            <a:lvl1pPr algn="l" defTabSz="902010" rtl="0" eaLnBrk="1" fontAlgn="base" hangingPunct="1">
              <a:spcBef>
                <a:spcPct val="0"/>
              </a:spcBef>
              <a:spcAft>
                <a:spcPct val="40000"/>
              </a:spcAft>
              <a:buClr>
                <a:srgbClr val="FFD200"/>
              </a:buClr>
              <a:buSzPct val="75000"/>
              <a:buFont typeface="Arial Unicode MS" pitchFamily="34" charset="-128"/>
              <a:tabLst>
                <a:tab pos="1463068" algn="l"/>
                <a:tab pos="2926135" algn="l"/>
                <a:tab pos="4228080" algn="r"/>
              </a:tabLst>
              <a:defRPr sz="999" baseline="0">
                <a:solidFill>
                  <a:schemeClr val="tx1"/>
                </a:solidFill>
                <a:latin typeface="EYInterstate Light" panose="02000506000000020004" pitchFamily="2" charset="0"/>
                <a:ea typeface="+mn-ea"/>
                <a:cs typeface="+mn-cs"/>
              </a:defRPr>
            </a:lvl1pPr>
            <a:lvl2pPr marL="1439" algn="l" defTabSz="902010" rtl="0" eaLnBrk="1" fontAlgn="base" hangingPunct="1">
              <a:spcBef>
                <a:spcPct val="20000"/>
              </a:spcBef>
              <a:spcAft>
                <a:spcPct val="40000"/>
              </a:spcAft>
              <a:buClr>
                <a:srgbClr val="FFD200"/>
              </a:buClr>
              <a:buSzPct val="75000"/>
              <a:buFont typeface="Arial Unicode MS" pitchFamily="34" charset="-128"/>
              <a:tabLst>
                <a:tab pos="1463068" algn="l"/>
                <a:tab pos="2926135" algn="l"/>
                <a:tab pos="4228080" algn="r"/>
              </a:tabLst>
              <a:defRPr sz="1399" b="1" baseline="0">
                <a:solidFill>
                  <a:schemeClr val="tx1"/>
                </a:solidFill>
                <a:latin typeface="EYInterstate Light" panose="02000506000000020004" pitchFamily="2" charset="0"/>
                <a:cs typeface="+mn-cs"/>
              </a:defRPr>
            </a:lvl2pPr>
            <a:lvl3pPr marL="2879"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defRPr sz="1199" b="1" baseline="0">
                <a:solidFill>
                  <a:srgbClr val="747480"/>
                </a:solidFill>
                <a:latin typeface="EYInterstate Light" panose="02000506000000020004" pitchFamily="2" charset="0"/>
                <a:cs typeface="+mn-cs"/>
              </a:defRPr>
            </a:lvl3pPr>
            <a:lvl4pPr marL="172632" indent="-168317"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4pPr>
            <a:lvl5pPr marL="319372" indent="-145299"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5pPr>
            <a:lvl6pPr marL="73369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6pPr>
            <a:lvl7pPr marL="114801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7pPr>
            <a:lvl8pPr marL="156233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8pPr>
            <a:lvl9pPr marL="1976651"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9pPr>
          </a:lstStyle>
          <a:p>
            <a:pPr marL="0" marR="0" lvl="0" indent="0" algn="l" defTabSz="913943" rtl="0" eaLnBrk="1" fontAlgn="auto" latinLnBrk="0" hangingPunct="1">
              <a:lnSpc>
                <a:spcPct val="100000"/>
              </a:lnSpc>
              <a:spcBef>
                <a:spcPts val="0"/>
              </a:spcBef>
              <a:spcAft>
                <a:spcPts val="0"/>
              </a:spcAft>
              <a:buClrTx/>
              <a:buSzTx/>
              <a:buFont typeface="Arial Unicode MS" pitchFamily="34" charset="-128"/>
              <a:buNone/>
              <a:tabLst/>
              <a:defRPr/>
            </a:pPr>
            <a:r>
              <a:rPr kumimoji="0" lang="en-US" sz="1000" b="0" i="0" u="none" strike="noStrike" kern="1200" cap="none" spc="0" normalizeH="0" baseline="0" noProof="0">
                <a:ln>
                  <a:noFill/>
                </a:ln>
                <a:solidFill>
                  <a:srgbClr val="000000"/>
                </a:solidFill>
                <a:effectLst/>
                <a:uLnTx/>
                <a:uFillTx/>
                <a:latin typeface="EYInterstate Light"/>
                <a:ea typeface="+mn-ea"/>
                <a:cs typeface="Arial"/>
              </a:rPr>
              <a:t>Perform as-is assessment and  the operational commissioning of the of the hospital under construction. The new facility is a 300-bed tertiary care hospital.</a:t>
            </a:r>
          </a:p>
        </p:txBody>
      </p:sp>
      <p:sp>
        <p:nvSpPr>
          <p:cNvPr id="17" name="Content Placeholder 8">
            <a:extLst>
              <a:ext uri="{FF2B5EF4-FFF2-40B4-BE49-F238E27FC236}">
                <a16:creationId xmlns:a16="http://schemas.microsoft.com/office/drawing/2014/main" id="{CD734724-4BA7-DD40-F616-BE1C300D69DC}"/>
              </a:ext>
            </a:extLst>
          </p:cNvPr>
          <p:cNvSpPr txBox="1">
            <a:spLocks/>
          </p:cNvSpPr>
          <p:nvPr/>
        </p:nvSpPr>
        <p:spPr>
          <a:xfrm>
            <a:off x="8875225" y="2177292"/>
            <a:ext cx="2615408" cy="1105280"/>
          </a:xfrm>
          <a:prstGeom prst="rect">
            <a:avLst/>
          </a:prstGeom>
        </p:spPr>
        <p:txBody>
          <a:bodyPr/>
          <a:lstStyle>
            <a:lvl1pPr algn="l" defTabSz="902010" rtl="0" eaLnBrk="1" fontAlgn="base" hangingPunct="1">
              <a:spcBef>
                <a:spcPct val="0"/>
              </a:spcBef>
              <a:spcAft>
                <a:spcPct val="40000"/>
              </a:spcAft>
              <a:buClr>
                <a:srgbClr val="FFD200"/>
              </a:buClr>
              <a:buSzPct val="75000"/>
              <a:buFont typeface="Arial Unicode MS" pitchFamily="34" charset="-128"/>
              <a:tabLst>
                <a:tab pos="1463068" algn="l"/>
                <a:tab pos="2926135" algn="l"/>
                <a:tab pos="4228080" algn="r"/>
              </a:tabLst>
              <a:defRPr sz="999" baseline="0">
                <a:solidFill>
                  <a:schemeClr val="tx1"/>
                </a:solidFill>
                <a:latin typeface="EYInterstate Light" panose="02000506000000020004" pitchFamily="2" charset="0"/>
                <a:ea typeface="+mn-ea"/>
                <a:cs typeface="+mn-cs"/>
              </a:defRPr>
            </a:lvl1pPr>
            <a:lvl2pPr marL="1439" algn="l" defTabSz="902010" rtl="0" eaLnBrk="1" fontAlgn="base" hangingPunct="1">
              <a:spcBef>
                <a:spcPct val="20000"/>
              </a:spcBef>
              <a:spcAft>
                <a:spcPct val="40000"/>
              </a:spcAft>
              <a:buClr>
                <a:srgbClr val="FFD200"/>
              </a:buClr>
              <a:buSzPct val="75000"/>
              <a:buFont typeface="Arial Unicode MS" pitchFamily="34" charset="-128"/>
              <a:tabLst>
                <a:tab pos="1463068" algn="l"/>
                <a:tab pos="2926135" algn="l"/>
                <a:tab pos="4228080" algn="r"/>
              </a:tabLst>
              <a:defRPr sz="1399" b="1" baseline="0">
                <a:solidFill>
                  <a:schemeClr val="tx1"/>
                </a:solidFill>
                <a:latin typeface="EYInterstate Light" panose="02000506000000020004" pitchFamily="2" charset="0"/>
                <a:cs typeface="+mn-cs"/>
              </a:defRPr>
            </a:lvl2pPr>
            <a:lvl3pPr marL="2879"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defRPr sz="1199" b="1" baseline="0">
                <a:solidFill>
                  <a:srgbClr val="747480"/>
                </a:solidFill>
                <a:latin typeface="EYInterstate Light" panose="02000506000000020004" pitchFamily="2" charset="0"/>
                <a:cs typeface="+mn-cs"/>
              </a:defRPr>
            </a:lvl3pPr>
            <a:lvl4pPr marL="172632" indent="-168317"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4pPr>
            <a:lvl5pPr marL="319372" indent="-145299"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5pPr>
            <a:lvl6pPr marL="73369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6pPr>
            <a:lvl7pPr marL="114801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7pPr>
            <a:lvl8pPr marL="156233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8pPr>
            <a:lvl9pPr marL="1976651"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9pPr>
          </a:lstStyle>
          <a:p>
            <a:pPr marL="0" marR="0" lvl="0" indent="0" algn="l" defTabSz="913943" rtl="0" eaLnBrk="1" fontAlgn="auto" latinLnBrk="0" hangingPunct="1">
              <a:lnSpc>
                <a:spcPct val="100000"/>
              </a:lnSpc>
              <a:spcBef>
                <a:spcPts val="0"/>
              </a:spcBef>
              <a:spcAft>
                <a:spcPts val="0"/>
              </a:spcAft>
              <a:buClrTx/>
              <a:buSzTx/>
              <a:buFont typeface="Arial Unicode MS" pitchFamily="34" charset="-128"/>
              <a:buNone/>
              <a:tabLst/>
              <a:defRPr/>
            </a:pPr>
            <a:r>
              <a:rPr kumimoji="0" lang="en-US" sz="1000" b="0" i="0" u="none" strike="noStrike" kern="1200" cap="none" spc="0" normalizeH="0" baseline="0" noProof="0">
                <a:ln>
                  <a:noFill/>
                </a:ln>
                <a:solidFill>
                  <a:srgbClr val="000000"/>
                </a:solidFill>
                <a:effectLst/>
                <a:uLnTx/>
                <a:uFillTx/>
                <a:latin typeface="EYInterstate Light"/>
                <a:ea typeface="+mn-ea"/>
                <a:cs typeface="Arial"/>
              </a:rPr>
              <a:t>Development of comprehensive assessments, clinical plans, strategies, and PPP financial models for medical city projects across KSA, ensuring alignment with MoH initiatives and global best practices.</a:t>
            </a:r>
            <a:endParaRPr kumimoji="0" lang="en-IN" sz="1000" b="0" i="0" u="none" strike="noStrike" kern="1200" cap="none" spc="0" normalizeH="0" baseline="0" noProof="0">
              <a:ln>
                <a:noFill/>
              </a:ln>
              <a:solidFill>
                <a:srgbClr val="000000"/>
              </a:solidFill>
              <a:effectLst/>
              <a:uLnTx/>
              <a:uFillTx/>
              <a:latin typeface="EYInterstate Light"/>
              <a:ea typeface="+mn-ea"/>
              <a:cs typeface="Arial"/>
            </a:endParaRPr>
          </a:p>
          <a:p>
            <a:pPr marL="0" marR="0" lvl="0" indent="0" algn="l" defTabSz="902010" rtl="0" eaLnBrk="1" fontAlgn="base" latinLnBrk="0" hangingPunct="1">
              <a:lnSpc>
                <a:spcPct val="100000"/>
              </a:lnSpc>
              <a:spcBef>
                <a:spcPct val="0"/>
              </a:spcBef>
              <a:spcAft>
                <a:spcPct val="40000"/>
              </a:spcAft>
              <a:buClr>
                <a:srgbClr val="FFD200"/>
              </a:buClr>
              <a:buSzPct val="75000"/>
              <a:buFont typeface="Arial Unicode MS" pitchFamily="34" charset="-128"/>
              <a:buNone/>
              <a:tabLst>
                <a:tab pos="1463068" algn="l"/>
                <a:tab pos="2926135" algn="l"/>
                <a:tab pos="4228080" algn="r"/>
              </a:tabLst>
              <a:defRPr/>
            </a:pPr>
            <a:endParaRPr kumimoji="0" lang="en-US" sz="999" b="0" i="0" u="none" strike="noStrike" kern="0" cap="none" spc="0" normalizeH="0" baseline="0" noProof="0">
              <a:ln>
                <a:noFill/>
              </a:ln>
              <a:solidFill>
                <a:srgbClr val="000000"/>
              </a:solidFill>
              <a:effectLst/>
              <a:uLnTx/>
              <a:uFillTx/>
              <a:latin typeface="EYInterstate Light" panose="02000506000000020004" pitchFamily="2" charset="0"/>
              <a:ea typeface="+mn-ea"/>
              <a:cs typeface="Arial"/>
            </a:endParaRPr>
          </a:p>
        </p:txBody>
      </p:sp>
      <p:sp>
        <p:nvSpPr>
          <p:cNvPr id="20" name="Content Placeholder 8">
            <a:extLst>
              <a:ext uri="{FF2B5EF4-FFF2-40B4-BE49-F238E27FC236}">
                <a16:creationId xmlns:a16="http://schemas.microsoft.com/office/drawing/2014/main" id="{951C2243-0BEB-753B-A6BC-3B814562B649}"/>
              </a:ext>
            </a:extLst>
          </p:cNvPr>
          <p:cNvSpPr txBox="1">
            <a:spLocks/>
          </p:cNvSpPr>
          <p:nvPr/>
        </p:nvSpPr>
        <p:spPr>
          <a:xfrm>
            <a:off x="645952" y="4680708"/>
            <a:ext cx="2615408" cy="1105280"/>
          </a:xfrm>
          <a:prstGeom prst="rect">
            <a:avLst/>
          </a:prstGeom>
        </p:spPr>
        <p:txBody>
          <a:bodyPr/>
          <a:lstStyle>
            <a:lvl1pPr algn="l" defTabSz="902010" rtl="0" eaLnBrk="1" fontAlgn="base" hangingPunct="1">
              <a:spcBef>
                <a:spcPct val="0"/>
              </a:spcBef>
              <a:spcAft>
                <a:spcPct val="40000"/>
              </a:spcAft>
              <a:buClr>
                <a:srgbClr val="FFD200"/>
              </a:buClr>
              <a:buSzPct val="75000"/>
              <a:buFont typeface="Arial Unicode MS" pitchFamily="34" charset="-128"/>
              <a:tabLst>
                <a:tab pos="1463068" algn="l"/>
                <a:tab pos="2926135" algn="l"/>
                <a:tab pos="4228080" algn="r"/>
              </a:tabLst>
              <a:defRPr sz="999" baseline="0">
                <a:solidFill>
                  <a:schemeClr val="tx1"/>
                </a:solidFill>
                <a:latin typeface="EYInterstate Light" panose="02000506000000020004" pitchFamily="2" charset="0"/>
                <a:ea typeface="+mn-ea"/>
                <a:cs typeface="+mn-cs"/>
              </a:defRPr>
            </a:lvl1pPr>
            <a:lvl2pPr marL="1439" algn="l" defTabSz="902010" rtl="0" eaLnBrk="1" fontAlgn="base" hangingPunct="1">
              <a:spcBef>
                <a:spcPct val="20000"/>
              </a:spcBef>
              <a:spcAft>
                <a:spcPct val="40000"/>
              </a:spcAft>
              <a:buClr>
                <a:srgbClr val="FFD200"/>
              </a:buClr>
              <a:buSzPct val="75000"/>
              <a:buFont typeface="Arial Unicode MS" pitchFamily="34" charset="-128"/>
              <a:tabLst>
                <a:tab pos="1463068" algn="l"/>
                <a:tab pos="2926135" algn="l"/>
                <a:tab pos="4228080" algn="r"/>
              </a:tabLst>
              <a:defRPr sz="1399" b="1" baseline="0">
                <a:solidFill>
                  <a:schemeClr val="tx1"/>
                </a:solidFill>
                <a:latin typeface="EYInterstate Light" panose="02000506000000020004" pitchFamily="2" charset="0"/>
                <a:cs typeface="+mn-cs"/>
              </a:defRPr>
            </a:lvl2pPr>
            <a:lvl3pPr marL="2879"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defRPr sz="1199" b="1" baseline="0">
                <a:solidFill>
                  <a:srgbClr val="747480"/>
                </a:solidFill>
                <a:latin typeface="EYInterstate Light" panose="02000506000000020004" pitchFamily="2" charset="0"/>
                <a:cs typeface="+mn-cs"/>
              </a:defRPr>
            </a:lvl3pPr>
            <a:lvl4pPr marL="172632" indent="-168317"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4pPr>
            <a:lvl5pPr marL="319372" indent="-145299"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5pPr>
            <a:lvl6pPr marL="73369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6pPr>
            <a:lvl7pPr marL="114801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7pPr>
            <a:lvl8pPr marL="156233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8pPr>
            <a:lvl9pPr marL="1976651"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9pPr>
          </a:lstStyle>
          <a:p>
            <a:pPr marL="0" marR="0" lvl="0" indent="0" algn="l" defTabSz="829544" rtl="0" eaLnBrk="1" fontAlgn="base" latinLnBrk="0" hangingPunct="1">
              <a:lnSpc>
                <a:spcPct val="100000"/>
              </a:lnSpc>
              <a:spcBef>
                <a:spcPct val="0"/>
              </a:spcBef>
              <a:spcAft>
                <a:spcPct val="40000"/>
              </a:spcAft>
              <a:buClr>
                <a:srgbClr val="FFD200"/>
              </a:buClr>
              <a:buSzPct val="75000"/>
              <a:buFont typeface="Arial Unicode MS" pitchFamily="34" charset="-128"/>
              <a:buNone/>
              <a:tabLst>
                <a:tab pos="1463068" algn="l"/>
                <a:tab pos="2926135" algn="l"/>
                <a:tab pos="4228080" algn="r"/>
              </a:tabLst>
              <a:defRPr/>
            </a:pPr>
            <a:r>
              <a:rPr kumimoji="0" lang="en-US" sz="1000" b="0" i="0" u="none" strike="noStrike" kern="0" cap="none" spc="0" normalizeH="0" baseline="0" noProof="0">
                <a:ln>
                  <a:noFill/>
                </a:ln>
                <a:solidFill>
                  <a:srgbClr val="2E2E38"/>
                </a:solidFill>
                <a:effectLst/>
                <a:uLnTx/>
                <a:uFillTx/>
                <a:latin typeface="EYInterstate Light"/>
                <a:ea typeface="+mn-ea"/>
                <a:cs typeface="Arial"/>
              </a:rPr>
              <a:t>Performed  as-is assessment and  the operational commissioning of the 218-bed Centre for Oncology and Liver Diseases, featuring inpatient units, diagnostics, clinics, and support services.</a:t>
            </a:r>
          </a:p>
          <a:p>
            <a:pPr marL="0" marR="0" lvl="0" indent="0" algn="l" defTabSz="902010" rtl="0" eaLnBrk="1" fontAlgn="base" latinLnBrk="0" hangingPunct="1">
              <a:lnSpc>
                <a:spcPct val="100000"/>
              </a:lnSpc>
              <a:spcBef>
                <a:spcPct val="0"/>
              </a:spcBef>
              <a:spcAft>
                <a:spcPct val="40000"/>
              </a:spcAft>
              <a:buClr>
                <a:srgbClr val="FFD200"/>
              </a:buClr>
              <a:buSzPct val="75000"/>
              <a:buFont typeface="Arial Unicode MS" pitchFamily="34" charset="-128"/>
              <a:buNone/>
              <a:tabLst>
                <a:tab pos="1463068" algn="l"/>
                <a:tab pos="2926135" algn="l"/>
                <a:tab pos="4228080" algn="r"/>
              </a:tabLst>
              <a:defRPr/>
            </a:pPr>
            <a:endParaRPr kumimoji="0" lang="en-US" sz="999" b="0" i="0" u="none" strike="noStrike" kern="0" cap="none" spc="0" normalizeH="0" baseline="0" noProof="0">
              <a:ln>
                <a:noFill/>
              </a:ln>
              <a:solidFill>
                <a:srgbClr val="000000"/>
              </a:solidFill>
              <a:effectLst/>
              <a:uLnTx/>
              <a:uFillTx/>
              <a:latin typeface="EYInterstate Light" panose="02000506000000020004" pitchFamily="2" charset="0"/>
              <a:ea typeface="+mn-ea"/>
              <a:cs typeface="Arial"/>
            </a:endParaRPr>
          </a:p>
        </p:txBody>
      </p:sp>
      <p:sp>
        <p:nvSpPr>
          <p:cNvPr id="23" name="Content Placeholder 8">
            <a:extLst>
              <a:ext uri="{FF2B5EF4-FFF2-40B4-BE49-F238E27FC236}">
                <a16:creationId xmlns:a16="http://schemas.microsoft.com/office/drawing/2014/main" id="{040310AE-1F5A-00D3-5297-D47545E03116}"/>
              </a:ext>
            </a:extLst>
          </p:cNvPr>
          <p:cNvSpPr txBox="1">
            <a:spLocks/>
          </p:cNvSpPr>
          <p:nvPr/>
        </p:nvSpPr>
        <p:spPr>
          <a:xfrm>
            <a:off x="3366170" y="4680708"/>
            <a:ext cx="2615408" cy="1105280"/>
          </a:xfrm>
          <a:prstGeom prst="rect">
            <a:avLst/>
          </a:prstGeom>
        </p:spPr>
        <p:txBody>
          <a:bodyPr/>
          <a:lstStyle>
            <a:lvl1pPr algn="l" defTabSz="902010" rtl="0" eaLnBrk="1" fontAlgn="base" hangingPunct="1">
              <a:spcBef>
                <a:spcPct val="0"/>
              </a:spcBef>
              <a:spcAft>
                <a:spcPct val="40000"/>
              </a:spcAft>
              <a:buClr>
                <a:srgbClr val="FFD200"/>
              </a:buClr>
              <a:buSzPct val="75000"/>
              <a:buFont typeface="Arial Unicode MS" pitchFamily="34" charset="-128"/>
              <a:tabLst>
                <a:tab pos="1463068" algn="l"/>
                <a:tab pos="2926135" algn="l"/>
                <a:tab pos="4228080" algn="r"/>
              </a:tabLst>
              <a:defRPr sz="999" baseline="0">
                <a:solidFill>
                  <a:schemeClr val="tx1"/>
                </a:solidFill>
                <a:latin typeface="EYInterstate Light" panose="02000506000000020004" pitchFamily="2" charset="0"/>
                <a:ea typeface="+mn-ea"/>
                <a:cs typeface="+mn-cs"/>
              </a:defRPr>
            </a:lvl1pPr>
            <a:lvl2pPr marL="1439" algn="l" defTabSz="902010" rtl="0" eaLnBrk="1" fontAlgn="base" hangingPunct="1">
              <a:spcBef>
                <a:spcPct val="20000"/>
              </a:spcBef>
              <a:spcAft>
                <a:spcPct val="40000"/>
              </a:spcAft>
              <a:buClr>
                <a:srgbClr val="FFD200"/>
              </a:buClr>
              <a:buSzPct val="75000"/>
              <a:buFont typeface="Arial Unicode MS" pitchFamily="34" charset="-128"/>
              <a:tabLst>
                <a:tab pos="1463068" algn="l"/>
                <a:tab pos="2926135" algn="l"/>
                <a:tab pos="4228080" algn="r"/>
              </a:tabLst>
              <a:defRPr sz="1399" b="1" baseline="0">
                <a:solidFill>
                  <a:schemeClr val="tx1"/>
                </a:solidFill>
                <a:latin typeface="EYInterstate Light" panose="02000506000000020004" pitchFamily="2" charset="0"/>
                <a:cs typeface="+mn-cs"/>
              </a:defRPr>
            </a:lvl2pPr>
            <a:lvl3pPr marL="2879"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defRPr sz="1199" b="1" baseline="0">
                <a:solidFill>
                  <a:srgbClr val="747480"/>
                </a:solidFill>
                <a:latin typeface="EYInterstate Light" panose="02000506000000020004" pitchFamily="2" charset="0"/>
                <a:cs typeface="+mn-cs"/>
              </a:defRPr>
            </a:lvl3pPr>
            <a:lvl4pPr marL="172632" indent="-168317"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4pPr>
            <a:lvl5pPr marL="319372" indent="-145299"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5pPr>
            <a:lvl6pPr marL="73369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6pPr>
            <a:lvl7pPr marL="114801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7pPr>
            <a:lvl8pPr marL="156233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8pPr>
            <a:lvl9pPr marL="1976651"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9pPr>
          </a:lstStyle>
          <a:p>
            <a:pPr marL="0" marR="0" lvl="0" indent="0" algn="l" defTabSz="913943" rtl="0" eaLnBrk="1" fontAlgn="auto" latinLnBrk="0" hangingPunct="1">
              <a:lnSpc>
                <a:spcPct val="100000"/>
              </a:lnSpc>
              <a:spcBef>
                <a:spcPts val="0"/>
              </a:spcBef>
              <a:spcAft>
                <a:spcPts val="0"/>
              </a:spcAft>
              <a:buClrTx/>
              <a:buSzTx/>
              <a:buFont typeface="Arial Unicode MS" pitchFamily="34" charset="-128"/>
              <a:buNone/>
              <a:tabLst/>
              <a:defRPr/>
            </a:pPr>
            <a:r>
              <a:rPr kumimoji="0" lang="en-IN" sz="1000" b="0" i="0" u="none" strike="noStrike" kern="0" cap="none" spc="0" normalizeH="0" baseline="0" noProof="0">
                <a:ln>
                  <a:noFill/>
                </a:ln>
                <a:solidFill>
                  <a:srgbClr val="2E2E38"/>
                </a:solidFill>
                <a:effectLst/>
                <a:uLnTx/>
                <a:uFillTx/>
                <a:latin typeface="EYInterstate Light"/>
                <a:ea typeface="+mn-ea"/>
                <a:cs typeface="Arial"/>
              </a:rPr>
              <a:t>A transformational program led by the C1 Eastern Cluster of the Ministry of Health KSA to enhance emergency, outpatient, and inpatient services, aligning with the Eastern Health Cluster Long Term Strategic Plan – LTSP.</a:t>
            </a:r>
            <a:endParaRPr kumimoji="0" lang="en-US" sz="999" b="0" i="0" u="none" strike="noStrike" kern="0" cap="none" spc="0" normalizeH="0" baseline="0" noProof="0">
              <a:ln>
                <a:noFill/>
              </a:ln>
              <a:solidFill>
                <a:srgbClr val="000000"/>
              </a:solidFill>
              <a:effectLst/>
              <a:uLnTx/>
              <a:uFillTx/>
              <a:latin typeface="EYInterstate Light" panose="02000506000000020004" pitchFamily="2" charset="0"/>
              <a:ea typeface="+mn-ea"/>
              <a:cs typeface="Arial"/>
            </a:endParaRPr>
          </a:p>
        </p:txBody>
      </p:sp>
      <p:sp>
        <p:nvSpPr>
          <p:cNvPr id="26" name="Content Placeholder 8">
            <a:extLst>
              <a:ext uri="{FF2B5EF4-FFF2-40B4-BE49-F238E27FC236}">
                <a16:creationId xmlns:a16="http://schemas.microsoft.com/office/drawing/2014/main" id="{BE7D6678-C8BD-6488-DD1E-FA529E7D4C34}"/>
              </a:ext>
            </a:extLst>
          </p:cNvPr>
          <p:cNvSpPr txBox="1">
            <a:spLocks/>
          </p:cNvSpPr>
          <p:nvPr/>
        </p:nvSpPr>
        <p:spPr>
          <a:xfrm>
            <a:off x="6099592" y="4680708"/>
            <a:ext cx="2615408" cy="1105280"/>
          </a:xfrm>
          <a:prstGeom prst="rect">
            <a:avLst/>
          </a:prstGeom>
        </p:spPr>
        <p:txBody>
          <a:bodyPr/>
          <a:lstStyle>
            <a:lvl1pPr algn="l" defTabSz="902010" rtl="0" eaLnBrk="1" fontAlgn="base" hangingPunct="1">
              <a:spcBef>
                <a:spcPct val="0"/>
              </a:spcBef>
              <a:spcAft>
                <a:spcPct val="40000"/>
              </a:spcAft>
              <a:buClr>
                <a:srgbClr val="FFD200"/>
              </a:buClr>
              <a:buSzPct val="75000"/>
              <a:buFont typeface="Arial Unicode MS" pitchFamily="34" charset="-128"/>
              <a:tabLst>
                <a:tab pos="1463068" algn="l"/>
                <a:tab pos="2926135" algn="l"/>
                <a:tab pos="4228080" algn="r"/>
              </a:tabLst>
              <a:defRPr sz="999" baseline="0">
                <a:solidFill>
                  <a:schemeClr val="tx1"/>
                </a:solidFill>
                <a:latin typeface="EYInterstate Light" panose="02000506000000020004" pitchFamily="2" charset="0"/>
                <a:ea typeface="+mn-ea"/>
                <a:cs typeface="+mn-cs"/>
              </a:defRPr>
            </a:lvl1pPr>
            <a:lvl2pPr marL="1439" algn="l" defTabSz="902010" rtl="0" eaLnBrk="1" fontAlgn="base" hangingPunct="1">
              <a:spcBef>
                <a:spcPct val="20000"/>
              </a:spcBef>
              <a:spcAft>
                <a:spcPct val="40000"/>
              </a:spcAft>
              <a:buClr>
                <a:srgbClr val="FFD200"/>
              </a:buClr>
              <a:buSzPct val="75000"/>
              <a:buFont typeface="Arial Unicode MS" pitchFamily="34" charset="-128"/>
              <a:tabLst>
                <a:tab pos="1463068" algn="l"/>
                <a:tab pos="2926135" algn="l"/>
                <a:tab pos="4228080" algn="r"/>
              </a:tabLst>
              <a:defRPr sz="1399" b="1" baseline="0">
                <a:solidFill>
                  <a:schemeClr val="tx1"/>
                </a:solidFill>
                <a:latin typeface="EYInterstate Light" panose="02000506000000020004" pitchFamily="2" charset="0"/>
                <a:cs typeface="+mn-cs"/>
              </a:defRPr>
            </a:lvl2pPr>
            <a:lvl3pPr marL="2879"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defRPr sz="1199" b="1" baseline="0">
                <a:solidFill>
                  <a:srgbClr val="747480"/>
                </a:solidFill>
                <a:latin typeface="EYInterstate Light" panose="02000506000000020004" pitchFamily="2" charset="0"/>
                <a:cs typeface="+mn-cs"/>
              </a:defRPr>
            </a:lvl3pPr>
            <a:lvl4pPr marL="172632" indent="-168317"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4pPr>
            <a:lvl5pPr marL="319372" indent="-145299"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5pPr>
            <a:lvl6pPr marL="73369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6pPr>
            <a:lvl7pPr marL="114801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7pPr>
            <a:lvl8pPr marL="156233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8pPr>
            <a:lvl9pPr marL="1976651"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9pPr>
          </a:lstStyle>
          <a:p>
            <a:pPr marL="0" marR="0" lvl="0" indent="0" algn="l" defTabSz="829544" rtl="0" eaLnBrk="1" fontAlgn="base" latinLnBrk="0" hangingPunct="1">
              <a:lnSpc>
                <a:spcPct val="100000"/>
              </a:lnSpc>
              <a:spcBef>
                <a:spcPct val="0"/>
              </a:spcBef>
              <a:spcAft>
                <a:spcPct val="40000"/>
              </a:spcAft>
              <a:buClr>
                <a:srgbClr val="FFD200"/>
              </a:buClr>
              <a:buSzPct val="75000"/>
              <a:buFont typeface="Arial Unicode MS" pitchFamily="34" charset="-128"/>
              <a:buNone/>
              <a:tabLst>
                <a:tab pos="1463068" algn="l"/>
                <a:tab pos="2926135" algn="l"/>
                <a:tab pos="4228080" algn="r"/>
              </a:tabLst>
              <a:defRPr/>
            </a:pPr>
            <a:r>
              <a:rPr kumimoji="0" lang="en-US" sz="1000" b="0" i="0" u="none" strike="noStrike" kern="0" cap="none" spc="0" normalizeH="0" baseline="0" noProof="0" dirty="0">
                <a:ln>
                  <a:noFill/>
                </a:ln>
                <a:solidFill>
                  <a:srgbClr val="2E2E38"/>
                </a:solidFill>
                <a:effectLst/>
                <a:uLnTx/>
                <a:uFillTx/>
                <a:latin typeface="EYInterstate Light"/>
                <a:ea typeface="+mn-ea"/>
                <a:cs typeface="Arial"/>
              </a:rPr>
              <a:t>Development of a Medical City in Jeddah, Saudi Arabia, encompassing specialized hospitals and medical centers, with [COMPANY]tasked to conduct market assessment and operational planning.</a:t>
            </a:r>
            <a:endParaRPr kumimoji="0" lang="en-IN" sz="1000" b="0" i="0" u="none" strike="noStrike" kern="0" cap="none" spc="0" normalizeH="0" baseline="0" noProof="0" dirty="0">
              <a:ln>
                <a:noFill/>
              </a:ln>
              <a:solidFill>
                <a:srgbClr val="2E2E38"/>
              </a:solidFill>
              <a:effectLst/>
              <a:uLnTx/>
              <a:uFillTx/>
              <a:latin typeface="EYInterstate Light"/>
              <a:ea typeface="+mn-ea"/>
              <a:cs typeface="Arial"/>
            </a:endParaRPr>
          </a:p>
        </p:txBody>
      </p:sp>
      <p:sp>
        <p:nvSpPr>
          <p:cNvPr id="29" name="Content Placeholder 8">
            <a:extLst>
              <a:ext uri="{FF2B5EF4-FFF2-40B4-BE49-F238E27FC236}">
                <a16:creationId xmlns:a16="http://schemas.microsoft.com/office/drawing/2014/main" id="{168C6BF6-351A-313B-8774-B7525E1994F6}"/>
              </a:ext>
            </a:extLst>
          </p:cNvPr>
          <p:cNvSpPr txBox="1">
            <a:spLocks/>
          </p:cNvSpPr>
          <p:nvPr/>
        </p:nvSpPr>
        <p:spPr>
          <a:xfrm>
            <a:off x="8819809" y="4680708"/>
            <a:ext cx="2670823" cy="1105280"/>
          </a:xfrm>
          <a:prstGeom prst="rect">
            <a:avLst/>
          </a:prstGeom>
        </p:spPr>
        <p:txBody>
          <a:bodyPr/>
          <a:lstStyle>
            <a:lvl1pPr algn="l" defTabSz="902010" rtl="0" eaLnBrk="1" fontAlgn="base" hangingPunct="1">
              <a:spcBef>
                <a:spcPct val="0"/>
              </a:spcBef>
              <a:spcAft>
                <a:spcPct val="40000"/>
              </a:spcAft>
              <a:buClr>
                <a:srgbClr val="FFD200"/>
              </a:buClr>
              <a:buSzPct val="75000"/>
              <a:buFont typeface="Arial Unicode MS" pitchFamily="34" charset="-128"/>
              <a:tabLst>
                <a:tab pos="1463068" algn="l"/>
                <a:tab pos="2926135" algn="l"/>
                <a:tab pos="4228080" algn="r"/>
              </a:tabLst>
              <a:defRPr sz="999" baseline="0">
                <a:solidFill>
                  <a:schemeClr val="tx1"/>
                </a:solidFill>
                <a:latin typeface="EYInterstate Light" panose="02000506000000020004" pitchFamily="2" charset="0"/>
                <a:ea typeface="+mn-ea"/>
                <a:cs typeface="+mn-cs"/>
              </a:defRPr>
            </a:lvl1pPr>
            <a:lvl2pPr marL="1439" algn="l" defTabSz="902010" rtl="0" eaLnBrk="1" fontAlgn="base" hangingPunct="1">
              <a:spcBef>
                <a:spcPct val="20000"/>
              </a:spcBef>
              <a:spcAft>
                <a:spcPct val="40000"/>
              </a:spcAft>
              <a:buClr>
                <a:srgbClr val="FFD200"/>
              </a:buClr>
              <a:buSzPct val="75000"/>
              <a:buFont typeface="Arial Unicode MS" pitchFamily="34" charset="-128"/>
              <a:tabLst>
                <a:tab pos="1463068" algn="l"/>
                <a:tab pos="2926135" algn="l"/>
                <a:tab pos="4228080" algn="r"/>
              </a:tabLst>
              <a:defRPr sz="1399" b="1" baseline="0">
                <a:solidFill>
                  <a:schemeClr val="tx1"/>
                </a:solidFill>
                <a:latin typeface="EYInterstate Light" panose="02000506000000020004" pitchFamily="2" charset="0"/>
                <a:cs typeface="+mn-cs"/>
              </a:defRPr>
            </a:lvl2pPr>
            <a:lvl3pPr marL="2879" algn="l" defTabSz="902010" rtl="0" eaLnBrk="1" fontAlgn="base" hangingPunct="1">
              <a:spcBef>
                <a:spcPct val="20000"/>
              </a:spcBef>
              <a:spcAft>
                <a:spcPct val="40000"/>
              </a:spcAft>
              <a:buClr>
                <a:schemeClr val="tx2"/>
              </a:buClr>
              <a:buSzPct val="75000"/>
              <a:buFont typeface="Arial Unicode MS" pitchFamily="34" charset="-128"/>
              <a:tabLst>
                <a:tab pos="1463068" algn="l"/>
                <a:tab pos="2926135" algn="l"/>
                <a:tab pos="4228080" algn="r"/>
              </a:tabLst>
              <a:defRPr sz="1199" b="1" baseline="0">
                <a:solidFill>
                  <a:srgbClr val="747480"/>
                </a:solidFill>
                <a:latin typeface="EYInterstate Light" panose="02000506000000020004" pitchFamily="2" charset="0"/>
                <a:cs typeface="+mn-cs"/>
              </a:defRPr>
            </a:lvl3pPr>
            <a:lvl4pPr marL="172632" indent="-168317"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4pPr>
            <a:lvl5pPr marL="319372" indent="-145299" algn="l" defTabSz="902010" rtl="0" eaLnBrk="1" fontAlgn="base" hangingPunct="1">
              <a:spcBef>
                <a:spcPct val="0"/>
              </a:spcBef>
              <a:spcAft>
                <a:spcPct val="40000"/>
              </a:spcAft>
              <a:buClr>
                <a:schemeClr val="tx1"/>
              </a:buClr>
              <a:buSzPct val="100000"/>
              <a:buFont typeface="EYInterstate" pitchFamily="2" charset="0"/>
              <a:buChar char="•"/>
              <a:tabLst>
                <a:tab pos="1463068" algn="l"/>
                <a:tab pos="2926135" algn="l"/>
                <a:tab pos="4228080" algn="r"/>
              </a:tabLst>
              <a:defRPr sz="999" baseline="0">
                <a:solidFill>
                  <a:schemeClr val="tx1"/>
                </a:solidFill>
                <a:latin typeface="EYInterstate Light" panose="02000506000000020004" pitchFamily="2" charset="0"/>
                <a:cs typeface="+mn-cs"/>
              </a:defRPr>
            </a:lvl5pPr>
            <a:lvl6pPr marL="73369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6pPr>
            <a:lvl7pPr marL="114801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7pPr>
            <a:lvl8pPr marL="1562332"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8pPr>
            <a:lvl9pPr marL="1976651" indent="-145299" algn="l" defTabSz="902010" rtl="0" eaLnBrk="1" fontAlgn="base" hangingPunct="1">
              <a:spcBef>
                <a:spcPct val="0"/>
              </a:spcBef>
              <a:spcAft>
                <a:spcPct val="40000"/>
              </a:spcAft>
              <a:buClr>
                <a:schemeClr val="tx1"/>
              </a:buClr>
              <a:buSzPct val="75000"/>
              <a:buFont typeface="EYInterstate" pitchFamily="2" charset="0"/>
              <a:buChar char="►"/>
              <a:tabLst>
                <a:tab pos="1463068" algn="l"/>
                <a:tab pos="2926135" algn="l"/>
                <a:tab pos="4228080" algn="r"/>
              </a:tabLst>
              <a:defRPr sz="998">
                <a:solidFill>
                  <a:schemeClr val="tx1"/>
                </a:solidFill>
                <a:latin typeface="+mn-lt"/>
                <a:cs typeface="+mn-cs"/>
              </a:defRPr>
            </a:lvl9pPr>
          </a:lstStyle>
          <a:p>
            <a:pPr marL="0" marR="0" lvl="0" indent="0" algn="l" defTabSz="829544" rtl="0" eaLnBrk="1" fontAlgn="base" latinLnBrk="0" hangingPunct="1">
              <a:lnSpc>
                <a:spcPct val="100000"/>
              </a:lnSpc>
              <a:spcBef>
                <a:spcPct val="0"/>
              </a:spcBef>
              <a:spcAft>
                <a:spcPct val="40000"/>
              </a:spcAft>
              <a:buClr>
                <a:srgbClr val="FFD200"/>
              </a:buClr>
              <a:buSzPct val="75000"/>
              <a:buFont typeface="Arial Unicode MS" pitchFamily="34" charset="-128"/>
              <a:buNone/>
              <a:tabLst>
                <a:tab pos="1463068" algn="l"/>
                <a:tab pos="2926135" algn="l"/>
                <a:tab pos="4228080" algn="r"/>
              </a:tabLst>
              <a:defRPr/>
            </a:pPr>
            <a:r>
              <a:rPr kumimoji="0" lang="en-US" sz="1000" b="0" i="0" u="none" strike="noStrike" kern="0" cap="none" spc="0" normalizeH="0" baseline="0" noProof="0">
                <a:ln>
                  <a:noFill/>
                </a:ln>
                <a:solidFill>
                  <a:srgbClr val="2E2E38"/>
                </a:solidFill>
                <a:effectLst/>
                <a:uLnTx/>
                <a:uFillTx/>
                <a:latin typeface="EYInterstate Light"/>
                <a:ea typeface="+mn-ea"/>
                <a:cs typeface="Arial"/>
              </a:rPr>
              <a:t>Current state assessment of the hospital, project size determination, and development of the operational model. Creation of technical scope based on benchmark analysis, preparation of bid documents, and support during the tendering and contracting phases.</a:t>
            </a:r>
            <a:endParaRPr kumimoji="0" lang="en-IN" sz="1000" b="0" i="0" u="none" strike="noStrike" kern="0" cap="none" spc="0" normalizeH="0" baseline="0" noProof="0">
              <a:ln>
                <a:noFill/>
              </a:ln>
              <a:solidFill>
                <a:srgbClr val="2E2E38"/>
              </a:solidFill>
              <a:effectLst/>
              <a:uLnTx/>
              <a:uFillTx/>
              <a:latin typeface="EYInterstate Light"/>
              <a:ea typeface="+mn-ea"/>
              <a:cs typeface="Arial"/>
            </a:endParaRPr>
          </a:p>
          <a:p>
            <a:pPr marL="0" marR="0" lvl="0" indent="0" algn="l" defTabSz="902010" rtl="0" eaLnBrk="1" fontAlgn="base" latinLnBrk="0" hangingPunct="1">
              <a:lnSpc>
                <a:spcPct val="100000"/>
              </a:lnSpc>
              <a:spcBef>
                <a:spcPct val="0"/>
              </a:spcBef>
              <a:spcAft>
                <a:spcPct val="40000"/>
              </a:spcAft>
              <a:buClr>
                <a:srgbClr val="FFD200"/>
              </a:buClr>
              <a:buSzPct val="75000"/>
              <a:buFont typeface="Arial Unicode MS" pitchFamily="34" charset="-128"/>
              <a:buNone/>
              <a:tabLst>
                <a:tab pos="1463068" algn="l"/>
                <a:tab pos="2926135" algn="l"/>
                <a:tab pos="4228080" algn="r"/>
              </a:tabLst>
              <a:defRPr/>
            </a:pPr>
            <a:endParaRPr kumimoji="0" lang="en-US" sz="999" b="0" i="0" u="none" strike="noStrike" kern="0" cap="none" spc="0" normalizeH="0" baseline="0" noProof="0">
              <a:ln>
                <a:noFill/>
              </a:ln>
              <a:solidFill>
                <a:srgbClr val="000000"/>
              </a:solidFill>
              <a:effectLst/>
              <a:uLnTx/>
              <a:uFillTx/>
              <a:latin typeface="EYInterstate Light" panose="02000506000000020004" pitchFamily="2" charset="0"/>
              <a:ea typeface="+mn-ea"/>
              <a:cs typeface="Arial"/>
            </a:endParaRPr>
          </a:p>
        </p:txBody>
      </p:sp>
      <p:sp>
        <p:nvSpPr>
          <p:cNvPr id="3" name="Rectangle 2">
            <a:extLst>
              <a:ext uri="{FF2B5EF4-FFF2-40B4-BE49-F238E27FC236}">
                <a16:creationId xmlns:a16="http://schemas.microsoft.com/office/drawing/2014/main" id="{8448257F-360F-F41E-BEA3-7CCB62667950}"/>
              </a:ext>
            </a:extLst>
          </p:cNvPr>
          <p:cNvSpPr/>
          <p:nvPr/>
        </p:nvSpPr>
        <p:spPr bwMode="auto">
          <a:xfrm>
            <a:off x="700617" y="5820262"/>
            <a:ext cx="2532285" cy="488023"/>
          </a:xfrm>
          <a:prstGeom prst="rect">
            <a:avLst/>
          </a:prstGeom>
          <a:solidFill>
            <a:schemeClr val="bg2"/>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EYInterstate Light"/>
              <a:ea typeface="+mn-ea"/>
              <a:cs typeface="Arial"/>
            </a:endParaRPr>
          </a:p>
        </p:txBody>
      </p:sp>
      <p:cxnSp>
        <p:nvCxnSpPr>
          <p:cNvPr id="4" name="Straight Connector 3">
            <a:extLst>
              <a:ext uri="{FF2B5EF4-FFF2-40B4-BE49-F238E27FC236}">
                <a16:creationId xmlns:a16="http://schemas.microsoft.com/office/drawing/2014/main" id="{28013EEE-EAE2-E2D2-EE04-414871F2AC6E}"/>
              </a:ext>
            </a:extLst>
          </p:cNvPr>
          <p:cNvCxnSpPr>
            <a:cxnSpLocks/>
          </p:cNvCxnSpPr>
          <p:nvPr/>
        </p:nvCxnSpPr>
        <p:spPr bwMode="auto">
          <a:xfrm flipV="1">
            <a:off x="2023859" y="5882388"/>
            <a:ext cx="0" cy="372140"/>
          </a:xfrm>
          <a:prstGeom prst="line">
            <a:avLst/>
          </a:prstGeom>
          <a:solidFill>
            <a:schemeClr val="accent1"/>
          </a:solidFill>
          <a:ln w="3175" cap="flat" cmpd="sng" algn="ctr">
            <a:solidFill>
              <a:schemeClr val="accent1"/>
            </a:solidFill>
            <a:prstDash val="solid"/>
            <a:round/>
            <a:headEnd type="none" w="med" len="med"/>
            <a:tailEnd type="none" w="med" len="med"/>
          </a:ln>
          <a:effectLst/>
        </p:spPr>
      </p:cxnSp>
      <p:sp>
        <p:nvSpPr>
          <p:cNvPr id="6" name="Rectangle 5">
            <a:extLst>
              <a:ext uri="{FF2B5EF4-FFF2-40B4-BE49-F238E27FC236}">
                <a16:creationId xmlns:a16="http://schemas.microsoft.com/office/drawing/2014/main" id="{D2EB9E54-67C3-E473-F7C8-904904E82D8F}"/>
              </a:ext>
            </a:extLst>
          </p:cNvPr>
          <p:cNvSpPr/>
          <p:nvPr/>
        </p:nvSpPr>
        <p:spPr bwMode="auto">
          <a:xfrm>
            <a:off x="3358917" y="5820262"/>
            <a:ext cx="2615408" cy="488023"/>
          </a:xfrm>
          <a:prstGeom prst="rect">
            <a:avLst/>
          </a:prstGeom>
          <a:solidFill>
            <a:schemeClr val="bg2"/>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EYInterstate Light"/>
              <a:ea typeface="+mn-ea"/>
              <a:cs typeface="Arial"/>
            </a:endParaRPr>
          </a:p>
        </p:txBody>
      </p:sp>
      <p:cxnSp>
        <p:nvCxnSpPr>
          <p:cNvPr id="7" name="Straight Connector 6">
            <a:extLst>
              <a:ext uri="{FF2B5EF4-FFF2-40B4-BE49-F238E27FC236}">
                <a16:creationId xmlns:a16="http://schemas.microsoft.com/office/drawing/2014/main" id="{91F05C72-1A14-2A24-AEBB-64102B5DE983}"/>
              </a:ext>
            </a:extLst>
          </p:cNvPr>
          <p:cNvCxnSpPr>
            <a:cxnSpLocks/>
          </p:cNvCxnSpPr>
          <p:nvPr/>
        </p:nvCxnSpPr>
        <p:spPr bwMode="auto">
          <a:xfrm flipV="1">
            <a:off x="4744175" y="5882388"/>
            <a:ext cx="0" cy="372140"/>
          </a:xfrm>
          <a:prstGeom prst="line">
            <a:avLst/>
          </a:prstGeom>
          <a:solidFill>
            <a:schemeClr val="accent1"/>
          </a:solidFill>
          <a:ln w="3175" cap="flat" cmpd="sng" algn="ctr">
            <a:solidFill>
              <a:schemeClr val="accent1"/>
            </a:solidFill>
            <a:prstDash val="solid"/>
            <a:round/>
            <a:headEnd type="none" w="med" len="med"/>
            <a:tailEnd type="none" w="med" len="med"/>
          </a:ln>
          <a:effectLst/>
        </p:spPr>
      </p:cxnSp>
      <p:sp>
        <p:nvSpPr>
          <p:cNvPr id="8" name="Rectangle 7">
            <a:extLst>
              <a:ext uri="{FF2B5EF4-FFF2-40B4-BE49-F238E27FC236}">
                <a16:creationId xmlns:a16="http://schemas.microsoft.com/office/drawing/2014/main" id="{FBE86395-0608-D60F-3067-46FF50443646}"/>
              </a:ext>
            </a:extLst>
          </p:cNvPr>
          <p:cNvSpPr/>
          <p:nvPr/>
        </p:nvSpPr>
        <p:spPr bwMode="auto">
          <a:xfrm>
            <a:off x="6099592" y="5820262"/>
            <a:ext cx="2615408" cy="488023"/>
          </a:xfrm>
          <a:prstGeom prst="rect">
            <a:avLst/>
          </a:prstGeom>
          <a:solidFill>
            <a:schemeClr val="bg2"/>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EYInterstate Light"/>
              <a:ea typeface="+mn-ea"/>
              <a:cs typeface="Arial"/>
            </a:endParaRPr>
          </a:p>
        </p:txBody>
      </p:sp>
      <p:cxnSp>
        <p:nvCxnSpPr>
          <p:cNvPr id="9" name="Straight Connector 8">
            <a:extLst>
              <a:ext uri="{FF2B5EF4-FFF2-40B4-BE49-F238E27FC236}">
                <a16:creationId xmlns:a16="http://schemas.microsoft.com/office/drawing/2014/main" id="{699240A4-E60C-71B8-E79F-E8D35ACEC8A6}"/>
              </a:ext>
            </a:extLst>
          </p:cNvPr>
          <p:cNvCxnSpPr>
            <a:cxnSpLocks/>
          </p:cNvCxnSpPr>
          <p:nvPr/>
        </p:nvCxnSpPr>
        <p:spPr bwMode="auto">
          <a:xfrm flipV="1">
            <a:off x="7447982" y="5882388"/>
            <a:ext cx="0" cy="372140"/>
          </a:xfrm>
          <a:prstGeom prst="line">
            <a:avLst/>
          </a:prstGeom>
          <a:solidFill>
            <a:schemeClr val="accent1"/>
          </a:solidFill>
          <a:ln w="3175" cap="flat" cmpd="sng" algn="ctr">
            <a:solidFill>
              <a:schemeClr val="accent1"/>
            </a:solidFill>
            <a:prstDash val="solid"/>
            <a:round/>
            <a:headEnd type="none" w="med" len="med"/>
            <a:tailEnd type="none" w="med" len="med"/>
          </a:ln>
          <a:effectLst/>
        </p:spPr>
      </p:cxnSp>
      <p:sp>
        <p:nvSpPr>
          <p:cNvPr id="12" name="Rectangle 11">
            <a:extLst>
              <a:ext uri="{FF2B5EF4-FFF2-40B4-BE49-F238E27FC236}">
                <a16:creationId xmlns:a16="http://schemas.microsoft.com/office/drawing/2014/main" id="{E8965FE7-7932-3176-7502-E96B648B930F}"/>
              </a:ext>
            </a:extLst>
          </p:cNvPr>
          <p:cNvSpPr/>
          <p:nvPr/>
        </p:nvSpPr>
        <p:spPr bwMode="auto">
          <a:xfrm>
            <a:off x="8819810" y="5820262"/>
            <a:ext cx="2615408" cy="488023"/>
          </a:xfrm>
          <a:prstGeom prst="rect">
            <a:avLst/>
          </a:prstGeom>
          <a:solidFill>
            <a:schemeClr val="bg2"/>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EYInterstate Light"/>
              <a:ea typeface="+mn-ea"/>
              <a:cs typeface="Arial"/>
            </a:endParaRPr>
          </a:p>
        </p:txBody>
      </p:sp>
      <p:cxnSp>
        <p:nvCxnSpPr>
          <p:cNvPr id="15" name="Straight Connector 14">
            <a:extLst>
              <a:ext uri="{FF2B5EF4-FFF2-40B4-BE49-F238E27FC236}">
                <a16:creationId xmlns:a16="http://schemas.microsoft.com/office/drawing/2014/main" id="{BAE5E2E5-C0F3-F0C2-4BE1-5E93D44C5ACD}"/>
              </a:ext>
            </a:extLst>
          </p:cNvPr>
          <p:cNvCxnSpPr>
            <a:cxnSpLocks/>
          </p:cNvCxnSpPr>
          <p:nvPr/>
        </p:nvCxnSpPr>
        <p:spPr bwMode="auto">
          <a:xfrm flipV="1">
            <a:off x="10137354" y="5882388"/>
            <a:ext cx="0" cy="372140"/>
          </a:xfrm>
          <a:prstGeom prst="line">
            <a:avLst/>
          </a:prstGeom>
          <a:solidFill>
            <a:schemeClr val="accent1"/>
          </a:solidFill>
          <a:ln w="3175" cap="flat" cmpd="sng" algn="ctr">
            <a:solidFill>
              <a:schemeClr val="accent1"/>
            </a:solidFill>
            <a:prstDash val="solid"/>
            <a:round/>
            <a:headEnd type="none" w="med" len="med"/>
            <a:tailEnd type="none" w="med" len="med"/>
          </a:ln>
          <a:effectLst/>
        </p:spPr>
      </p:cxnSp>
      <p:sp>
        <p:nvSpPr>
          <p:cNvPr id="24" name="Rectangle 23">
            <a:extLst>
              <a:ext uri="{FF2B5EF4-FFF2-40B4-BE49-F238E27FC236}">
                <a16:creationId xmlns:a16="http://schemas.microsoft.com/office/drawing/2014/main" id="{E47CAB07-B5AF-EA87-D4BA-A3A6B5216CD8}"/>
              </a:ext>
            </a:extLst>
          </p:cNvPr>
          <p:cNvSpPr/>
          <p:nvPr/>
        </p:nvSpPr>
        <p:spPr bwMode="auto">
          <a:xfrm>
            <a:off x="700617" y="3175922"/>
            <a:ext cx="2477619" cy="488023"/>
          </a:xfrm>
          <a:prstGeom prst="rect">
            <a:avLst/>
          </a:prstGeom>
          <a:solidFill>
            <a:schemeClr val="bg2"/>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EYInterstate Light"/>
              <a:ea typeface="+mn-ea"/>
              <a:cs typeface="Arial"/>
            </a:endParaRPr>
          </a:p>
        </p:txBody>
      </p:sp>
      <p:cxnSp>
        <p:nvCxnSpPr>
          <p:cNvPr id="30" name="Straight Connector 29">
            <a:extLst>
              <a:ext uri="{FF2B5EF4-FFF2-40B4-BE49-F238E27FC236}">
                <a16:creationId xmlns:a16="http://schemas.microsoft.com/office/drawing/2014/main" id="{E537F359-DCC3-A1CF-5193-2CCC302978EC}"/>
              </a:ext>
            </a:extLst>
          </p:cNvPr>
          <p:cNvCxnSpPr>
            <a:cxnSpLocks/>
          </p:cNvCxnSpPr>
          <p:nvPr/>
        </p:nvCxnSpPr>
        <p:spPr bwMode="auto">
          <a:xfrm flipV="1">
            <a:off x="1969193" y="3238048"/>
            <a:ext cx="0" cy="372140"/>
          </a:xfrm>
          <a:prstGeom prst="line">
            <a:avLst/>
          </a:prstGeom>
          <a:solidFill>
            <a:schemeClr val="accent1"/>
          </a:solidFill>
          <a:ln w="3175" cap="flat" cmpd="sng" algn="ctr">
            <a:solidFill>
              <a:schemeClr val="accent1"/>
            </a:solidFill>
            <a:prstDash val="solid"/>
            <a:round/>
            <a:headEnd type="none" w="med" len="med"/>
            <a:tailEnd type="none" w="med" len="med"/>
          </a:ln>
          <a:effectLst/>
        </p:spPr>
      </p:cxnSp>
      <p:sp>
        <p:nvSpPr>
          <p:cNvPr id="31" name="Rectangle 30">
            <a:extLst>
              <a:ext uri="{FF2B5EF4-FFF2-40B4-BE49-F238E27FC236}">
                <a16:creationId xmlns:a16="http://schemas.microsoft.com/office/drawing/2014/main" id="{BB093DD1-5BB8-74C0-1B90-020EB32DD97B}"/>
              </a:ext>
            </a:extLst>
          </p:cNvPr>
          <p:cNvSpPr/>
          <p:nvPr/>
        </p:nvSpPr>
        <p:spPr bwMode="auto">
          <a:xfrm>
            <a:off x="3304251" y="3175922"/>
            <a:ext cx="2615408" cy="488023"/>
          </a:xfrm>
          <a:prstGeom prst="rect">
            <a:avLst/>
          </a:prstGeom>
          <a:solidFill>
            <a:schemeClr val="bg2"/>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EYInterstate Light"/>
              <a:ea typeface="+mn-ea"/>
              <a:cs typeface="Arial"/>
            </a:endParaRPr>
          </a:p>
        </p:txBody>
      </p:sp>
      <p:cxnSp>
        <p:nvCxnSpPr>
          <p:cNvPr id="40" name="Straight Connector 39">
            <a:extLst>
              <a:ext uri="{FF2B5EF4-FFF2-40B4-BE49-F238E27FC236}">
                <a16:creationId xmlns:a16="http://schemas.microsoft.com/office/drawing/2014/main" id="{A0B12DDF-EE26-D46C-195E-D07AF14DDBA2}"/>
              </a:ext>
            </a:extLst>
          </p:cNvPr>
          <p:cNvCxnSpPr>
            <a:cxnSpLocks/>
          </p:cNvCxnSpPr>
          <p:nvPr/>
        </p:nvCxnSpPr>
        <p:spPr bwMode="auto">
          <a:xfrm flipV="1">
            <a:off x="4689509" y="3238048"/>
            <a:ext cx="0" cy="372140"/>
          </a:xfrm>
          <a:prstGeom prst="line">
            <a:avLst/>
          </a:prstGeom>
          <a:solidFill>
            <a:schemeClr val="accent1"/>
          </a:solidFill>
          <a:ln w="3175" cap="flat" cmpd="sng" algn="ctr">
            <a:solidFill>
              <a:schemeClr val="accent1"/>
            </a:solidFill>
            <a:prstDash val="solid"/>
            <a:round/>
            <a:headEnd type="none" w="med" len="med"/>
            <a:tailEnd type="none" w="med" len="med"/>
          </a:ln>
          <a:effectLst/>
        </p:spPr>
      </p:cxnSp>
      <p:sp>
        <p:nvSpPr>
          <p:cNvPr id="41" name="Rectangle 40">
            <a:extLst>
              <a:ext uri="{FF2B5EF4-FFF2-40B4-BE49-F238E27FC236}">
                <a16:creationId xmlns:a16="http://schemas.microsoft.com/office/drawing/2014/main" id="{4355B98E-9C2D-9F96-9B3A-193680A9EA6E}"/>
              </a:ext>
            </a:extLst>
          </p:cNvPr>
          <p:cNvSpPr/>
          <p:nvPr/>
        </p:nvSpPr>
        <p:spPr bwMode="auto">
          <a:xfrm>
            <a:off x="6044926" y="3175922"/>
            <a:ext cx="2615408" cy="488023"/>
          </a:xfrm>
          <a:prstGeom prst="rect">
            <a:avLst/>
          </a:prstGeom>
          <a:solidFill>
            <a:schemeClr val="bg2"/>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EYInterstate Light"/>
              <a:ea typeface="+mn-ea"/>
              <a:cs typeface="Arial"/>
            </a:endParaRPr>
          </a:p>
        </p:txBody>
      </p:sp>
      <p:cxnSp>
        <p:nvCxnSpPr>
          <p:cNvPr id="42" name="Straight Connector 41">
            <a:extLst>
              <a:ext uri="{FF2B5EF4-FFF2-40B4-BE49-F238E27FC236}">
                <a16:creationId xmlns:a16="http://schemas.microsoft.com/office/drawing/2014/main" id="{7FFA31D1-9DBF-C0F9-6F44-4C22519326E8}"/>
              </a:ext>
            </a:extLst>
          </p:cNvPr>
          <p:cNvCxnSpPr>
            <a:cxnSpLocks/>
          </p:cNvCxnSpPr>
          <p:nvPr/>
        </p:nvCxnSpPr>
        <p:spPr bwMode="auto">
          <a:xfrm flipV="1">
            <a:off x="7393316" y="3238048"/>
            <a:ext cx="0" cy="372140"/>
          </a:xfrm>
          <a:prstGeom prst="line">
            <a:avLst/>
          </a:prstGeom>
          <a:solidFill>
            <a:schemeClr val="accent1"/>
          </a:solidFill>
          <a:ln w="3175" cap="flat" cmpd="sng" algn="ctr">
            <a:solidFill>
              <a:schemeClr val="accent1"/>
            </a:solidFill>
            <a:prstDash val="solid"/>
            <a:round/>
            <a:headEnd type="none" w="med" len="med"/>
            <a:tailEnd type="none" w="med" len="med"/>
          </a:ln>
          <a:effectLst/>
        </p:spPr>
      </p:cxnSp>
      <p:sp>
        <p:nvSpPr>
          <p:cNvPr id="43" name="Rectangle 42">
            <a:extLst>
              <a:ext uri="{FF2B5EF4-FFF2-40B4-BE49-F238E27FC236}">
                <a16:creationId xmlns:a16="http://schemas.microsoft.com/office/drawing/2014/main" id="{BA64845D-D1BA-E623-7649-A3DFF6C067BE}"/>
              </a:ext>
            </a:extLst>
          </p:cNvPr>
          <p:cNvSpPr/>
          <p:nvPr/>
        </p:nvSpPr>
        <p:spPr bwMode="auto">
          <a:xfrm>
            <a:off x="8754303" y="3175921"/>
            <a:ext cx="2615408" cy="488023"/>
          </a:xfrm>
          <a:prstGeom prst="rect">
            <a:avLst/>
          </a:prstGeom>
          <a:solidFill>
            <a:schemeClr val="bg2"/>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EYInterstate Light"/>
              <a:ea typeface="+mn-ea"/>
              <a:cs typeface="Arial"/>
            </a:endParaRPr>
          </a:p>
        </p:txBody>
      </p:sp>
      <p:cxnSp>
        <p:nvCxnSpPr>
          <p:cNvPr id="44" name="Straight Connector 43">
            <a:extLst>
              <a:ext uri="{FF2B5EF4-FFF2-40B4-BE49-F238E27FC236}">
                <a16:creationId xmlns:a16="http://schemas.microsoft.com/office/drawing/2014/main" id="{2A1D530E-FCDC-F9CF-BD72-2AF4F031F7E0}"/>
              </a:ext>
            </a:extLst>
          </p:cNvPr>
          <p:cNvCxnSpPr>
            <a:cxnSpLocks/>
          </p:cNvCxnSpPr>
          <p:nvPr/>
        </p:nvCxnSpPr>
        <p:spPr bwMode="auto">
          <a:xfrm flipV="1">
            <a:off x="10071847" y="3238047"/>
            <a:ext cx="0" cy="372140"/>
          </a:xfrm>
          <a:prstGeom prst="line">
            <a:avLst/>
          </a:prstGeom>
          <a:solidFill>
            <a:schemeClr val="accent1"/>
          </a:solidFill>
          <a:ln w="3175" cap="flat" cmpd="sng" algn="ctr">
            <a:solidFill>
              <a:schemeClr val="accent1"/>
            </a:solidFill>
            <a:prstDash val="solid"/>
            <a:round/>
            <a:headEnd type="none" w="med" len="med"/>
            <a:tailEnd type="none" w="med" len="med"/>
          </a:ln>
          <a:effectLst/>
        </p:spPr>
      </p:cxnSp>
      <p:sp>
        <p:nvSpPr>
          <p:cNvPr id="58" name="Rectangle: Rounded Corners 57">
            <a:extLst>
              <a:ext uri="{FF2B5EF4-FFF2-40B4-BE49-F238E27FC236}">
                <a16:creationId xmlns:a16="http://schemas.microsoft.com/office/drawing/2014/main" id="{1A93A72C-1395-965B-9585-E7E61DB7028D}"/>
              </a:ext>
            </a:extLst>
          </p:cNvPr>
          <p:cNvSpPr/>
          <p:nvPr/>
        </p:nvSpPr>
        <p:spPr bwMode="auto">
          <a:xfrm>
            <a:off x="696970" y="1303457"/>
            <a:ext cx="2477619" cy="880185"/>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91440" tIns="54000" rIns="91440" bIns="54000" numCol="1" rtlCol="0" anchor="ctr" anchorCtr="0" compatLnSpc="1">
            <a:prstTxWarp prst="textNoShape">
              <a:avLst/>
            </a:prstTxWarp>
          </a:bodyPr>
          <a:lstStyle/>
          <a:p>
            <a:pPr defTabSz="995363">
              <a:defRPr/>
            </a:pPr>
            <a:r>
              <a:rPr lang="en-US" sz="1000">
                <a:solidFill>
                  <a:srgbClr val="FFFFFF"/>
                </a:solidFill>
                <a:latin typeface="EYInterstate"/>
                <a:cs typeface="Arial"/>
              </a:rPr>
              <a:t>[COMPANY]</a:t>
            </a:r>
            <a:endParaRPr lang="en-US" sz="1000">
              <a:solidFill>
                <a:srgbClr val="FFFFFF"/>
              </a:solidFill>
              <a:latin typeface="EYInterstate" panose="02000503020000020004" pitchFamily="2" charset="0"/>
              <a:cs typeface="Arial"/>
            </a:endParaRPr>
          </a:p>
        </p:txBody>
      </p:sp>
      <p:sp>
        <p:nvSpPr>
          <p:cNvPr id="67" name="Rectangle: Rounded Corners 66">
            <a:extLst>
              <a:ext uri="{FF2B5EF4-FFF2-40B4-BE49-F238E27FC236}">
                <a16:creationId xmlns:a16="http://schemas.microsoft.com/office/drawing/2014/main" id="{23AEF51C-DF07-CDF6-DBA8-E220F28DFEE8}"/>
              </a:ext>
            </a:extLst>
          </p:cNvPr>
          <p:cNvSpPr/>
          <p:nvPr/>
        </p:nvSpPr>
        <p:spPr bwMode="auto">
          <a:xfrm>
            <a:off x="3442040" y="1303457"/>
            <a:ext cx="2477619" cy="880185"/>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91440" tIns="54000" rIns="91440" bIns="54000" numCol="1" rtlCol="0" anchor="ctr" anchorCtr="0" compatLnSpc="1">
            <a:prstTxWarp prst="textNoShape">
              <a:avLst/>
            </a:prstTxWarp>
          </a:bodyPr>
          <a:lstStyle/>
          <a:p>
            <a:pPr marR="0" lvl="0" indent="0" defTabSz="995363" fontAlgn="auto">
              <a:lnSpc>
                <a:spcPct val="100000"/>
              </a:lnSpc>
              <a:spcBef>
                <a:spcPts val="0"/>
              </a:spcBef>
              <a:spcAft>
                <a:spcPts val="0"/>
              </a:spcAft>
              <a:buClrTx/>
              <a:buSzTx/>
              <a:buFontTx/>
              <a:buNone/>
              <a:tabLst/>
              <a:defRPr/>
            </a:pPr>
            <a:r>
              <a:rPr lang="en-US" sz="1000">
                <a:solidFill>
                  <a:srgbClr val="FFFFFF"/>
                </a:solidFill>
                <a:latin typeface="EYInterstate"/>
                <a:cs typeface="Arial"/>
              </a:rPr>
              <a:t>[COMPANY]</a:t>
            </a:r>
            <a:endParaRPr lang="en-US" sz="1000">
              <a:solidFill>
                <a:srgbClr val="FFFFFF"/>
              </a:solidFill>
              <a:latin typeface="EYInterstate" panose="02000503020000020004" pitchFamily="2" charset="0"/>
              <a:cs typeface="Arial"/>
            </a:endParaRPr>
          </a:p>
        </p:txBody>
      </p:sp>
      <p:sp>
        <p:nvSpPr>
          <p:cNvPr id="68" name="Rectangle: Rounded Corners 67">
            <a:extLst>
              <a:ext uri="{FF2B5EF4-FFF2-40B4-BE49-F238E27FC236}">
                <a16:creationId xmlns:a16="http://schemas.microsoft.com/office/drawing/2014/main" id="{535B309D-07C1-64A4-07E9-929F727FD058}"/>
              </a:ext>
            </a:extLst>
          </p:cNvPr>
          <p:cNvSpPr/>
          <p:nvPr/>
        </p:nvSpPr>
        <p:spPr bwMode="auto">
          <a:xfrm>
            <a:off x="6182715" y="1303457"/>
            <a:ext cx="2477619" cy="880185"/>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91440" tIns="54000" rIns="91440" bIns="54000" numCol="1" rtlCol="0" anchor="ctr" anchorCtr="0" compatLnSpc="1">
            <a:prstTxWarp prst="textNoShape">
              <a:avLst/>
            </a:prstTxWarp>
          </a:bodyPr>
          <a:lstStyle/>
          <a:p>
            <a:pPr defTabSz="995363">
              <a:defRPr/>
            </a:pPr>
            <a:r>
              <a:rPr lang="en-US" sz="1000" noProof="1">
                <a:solidFill>
                  <a:srgbClr val="FFFFFF"/>
                </a:solidFill>
                <a:latin typeface="EYInterstate"/>
                <a:cs typeface="Arial"/>
              </a:rPr>
              <a:t>[COMAPNY]</a:t>
            </a:r>
            <a:endParaRPr lang="en-US" sz="1000" noProof="1">
              <a:solidFill>
                <a:srgbClr val="FFFFFF"/>
              </a:solidFill>
              <a:latin typeface="EYInterstate" panose="02000503020000020004" pitchFamily="2" charset="0"/>
              <a:cs typeface="Arial"/>
            </a:endParaRPr>
          </a:p>
          <a:p>
            <a:pPr defTabSz="995363">
              <a:defRPr/>
            </a:pPr>
            <a:endParaRPr lang="en-US" sz="1000" noProof="1">
              <a:solidFill>
                <a:srgbClr val="FFFFFF"/>
              </a:solidFill>
              <a:latin typeface="EYInterstate" panose="02000503020000020004" pitchFamily="2" charset="0"/>
              <a:cs typeface="Arial"/>
            </a:endParaRPr>
          </a:p>
        </p:txBody>
      </p:sp>
      <p:sp>
        <p:nvSpPr>
          <p:cNvPr id="69" name="Rectangle: Rounded Corners 68">
            <a:extLst>
              <a:ext uri="{FF2B5EF4-FFF2-40B4-BE49-F238E27FC236}">
                <a16:creationId xmlns:a16="http://schemas.microsoft.com/office/drawing/2014/main" id="{028959E7-7A47-9EB3-5D89-84AEBB237F71}"/>
              </a:ext>
            </a:extLst>
          </p:cNvPr>
          <p:cNvSpPr/>
          <p:nvPr/>
        </p:nvSpPr>
        <p:spPr bwMode="auto">
          <a:xfrm>
            <a:off x="8892092" y="1303457"/>
            <a:ext cx="2477619" cy="880185"/>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91440" tIns="54000" rIns="9144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EYInterstate" panose="02000503020000020004" pitchFamily="2" charset="0"/>
                <a:ea typeface="+mn-ea"/>
                <a:cs typeface="Arial"/>
              </a:rPr>
              <a:t>MoH (VRO) in Saudi Arabia, focusing on implementing private sector participation (PSP) across four Medical City projects</a:t>
            </a:r>
          </a:p>
        </p:txBody>
      </p:sp>
      <p:sp>
        <p:nvSpPr>
          <p:cNvPr id="70" name="Rectangle: Rounded Corners 69">
            <a:extLst>
              <a:ext uri="{FF2B5EF4-FFF2-40B4-BE49-F238E27FC236}">
                <a16:creationId xmlns:a16="http://schemas.microsoft.com/office/drawing/2014/main" id="{2F00AD91-A7F0-A663-49BA-CC08226A9BD7}"/>
              </a:ext>
            </a:extLst>
          </p:cNvPr>
          <p:cNvSpPr/>
          <p:nvPr/>
        </p:nvSpPr>
        <p:spPr bwMode="auto">
          <a:xfrm>
            <a:off x="696970" y="3825660"/>
            <a:ext cx="2477619" cy="877824"/>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9144" tIns="54000" rIns="9144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000">
                <a:solidFill>
                  <a:srgbClr val="FFFFFF"/>
                </a:solidFill>
                <a:latin typeface="EYInterstate"/>
                <a:cs typeface="Arial"/>
              </a:rPr>
              <a:t>[COMPANY]</a:t>
            </a:r>
            <a:endParaRPr lang="en-US" sz="1000" b="0" i="0" u="none" strike="noStrike" kern="1200" cap="none" spc="0" normalizeH="0" baseline="0" noProof="0">
              <a:ln>
                <a:noFill/>
              </a:ln>
              <a:solidFill>
                <a:srgbClr val="FFFFFF"/>
              </a:solidFill>
              <a:effectLst/>
              <a:uLnTx/>
              <a:uFillTx/>
              <a:latin typeface="EYInterstate" panose="02000503020000020004" pitchFamily="2" charset="0"/>
              <a:cs typeface="Arial"/>
            </a:endParaRPr>
          </a:p>
          <a:p>
            <a:pPr marL="0" marR="0" lvl="0" indent="0" algn="l" defTabSz="99536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EYInterstate" panose="02000503020000020004" pitchFamily="2" charset="0"/>
                <a:ea typeface="+mn-ea"/>
                <a:cs typeface="Arial"/>
              </a:rPr>
              <a:t>As is Assessment &amp; Commissioning </a:t>
            </a:r>
          </a:p>
        </p:txBody>
      </p:sp>
      <p:sp>
        <p:nvSpPr>
          <p:cNvPr id="71" name="Rectangle: Rounded Corners 70">
            <a:extLst>
              <a:ext uri="{FF2B5EF4-FFF2-40B4-BE49-F238E27FC236}">
                <a16:creationId xmlns:a16="http://schemas.microsoft.com/office/drawing/2014/main" id="{13F7BAEF-0990-0409-C8D0-2E451E0CA7B7}"/>
              </a:ext>
            </a:extLst>
          </p:cNvPr>
          <p:cNvSpPr/>
          <p:nvPr/>
        </p:nvSpPr>
        <p:spPr bwMode="auto">
          <a:xfrm>
            <a:off x="3442040" y="3825660"/>
            <a:ext cx="2477619" cy="880185"/>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91440" tIns="54000" rIns="9144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000">
                <a:solidFill>
                  <a:srgbClr val="FFFFFF"/>
                </a:solidFill>
                <a:latin typeface="EYInterstate"/>
                <a:cs typeface="Arial"/>
              </a:rPr>
              <a:t>[COMPANY]</a:t>
            </a:r>
            <a:r>
              <a:rPr kumimoji="0" lang="en-US" sz="1000" b="0" i="0" u="none" strike="noStrike" kern="1200" cap="none" spc="0" normalizeH="0" baseline="0" noProof="0">
                <a:ln>
                  <a:noFill/>
                </a:ln>
                <a:solidFill>
                  <a:srgbClr val="FFFFFF"/>
                </a:solidFill>
                <a:effectLst/>
                <a:uLnTx/>
                <a:uFillTx/>
                <a:latin typeface="EYInterstate"/>
                <a:cs typeface="Arial"/>
              </a:rPr>
              <a:t> As is Assessment &amp; </a:t>
            </a:r>
            <a:r>
              <a:rPr kumimoji="0" lang="en-US" sz="1000" b="0" i="0" u="none" strike="noStrike" kern="1200" cap="none" spc="0" normalizeH="0" baseline="0" noProof="0" dirty="0">
                <a:ln>
                  <a:noFill/>
                </a:ln>
                <a:solidFill>
                  <a:srgbClr val="FFFFFF"/>
                </a:solidFill>
                <a:effectLst/>
                <a:uLnTx/>
                <a:uFillTx/>
                <a:latin typeface="EYInterstate"/>
                <a:cs typeface="Arial"/>
              </a:rPr>
              <a:t>Commissioning </a:t>
            </a:r>
          </a:p>
        </p:txBody>
      </p:sp>
      <p:sp>
        <p:nvSpPr>
          <p:cNvPr id="72" name="Rectangle: Rounded Corners 71">
            <a:extLst>
              <a:ext uri="{FF2B5EF4-FFF2-40B4-BE49-F238E27FC236}">
                <a16:creationId xmlns:a16="http://schemas.microsoft.com/office/drawing/2014/main" id="{432D8D37-382E-7E1B-4F2D-2E007044BF56}"/>
              </a:ext>
            </a:extLst>
          </p:cNvPr>
          <p:cNvSpPr/>
          <p:nvPr/>
        </p:nvSpPr>
        <p:spPr bwMode="auto">
          <a:xfrm>
            <a:off x="6182715" y="3825660"/>
            <a:ext cx="2477619" cy="880185"/>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91440" tIns="54000" rIns="9144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000">
                <a:solidFill>
                  <a:srgbClr val="FFFFFF"/>
                </a:solidFill>
                <a:latin typeface="EYInterstate"/>
                <a:cs typeface="Arial"/>
              </a:rPr>
              <a:t>[COMPANY]</a:t>
            </a:r>
            <a:endParaRPr lang="en-US" sz="1000" b="0" i="0" u="none" strike="noStrike" kern="1200" cap="none" spc="0" normalizeH="0" baseline="0" noProof="0">
              <a:ln>
                <a:noFill/>
              </a:ln>
              <a:solidFill>
                <a:srgbClr val="FFFFFF"/>
              </a:solidFill>
              <a:effectLst/>
              <a:uLnTx/>
              <a:uFillTx/>
              <a:latin typeface="EYInterstate" panose="02000503020000020004" pitchFamily="2" charset="0"/>
              <a:cs typeface="Arial"/>
            </a:endParaRPr>
          </a:p>
        </p:txBody>
      </p:sp>
      <p:sp>
        <p:nvSpPr>
          <p:cNvPr id="73" name="Rectangle: Rounded Corners 72">
            <a:extLst>
              <a:ext uri="{FF2B5EF4-FFF2-40B4-BE49-F238E27FC236}">
                <a16:creationId xmlns:a16="http://schemas.microsoft.com/office/drawing/2014/main" id="{7346DD34-C5CF-8A82-D9F0-3371FC2D21B0}"/>
              </a:ext>
            </a:extLst>
          </p:cNvPr>
          <p:cNvSpPr/>
          <p:nvPr/>
        </p:nvSpPr>
        <p:spPr bwMode="auto">
          <a:xfrm>
            <a:off x="8892092" y="3825660"/>
            <a:ext cx="2477619" cy="880185"/>
          </a:xfrm>
          <a:prstGeom prst="roundRect">
            <a:avLst>
              <a:gd name="adj" fmla="val 29814"/>
            </a:avLst>
          </a:prstGeom>
          <a:solidFill>
            <a:srgbClr val="35A4E8"/>
          </a:solidFill>
          <a:ln w="9525" cap="flat" cmpd="sng" algn="ctr">
            <a:noFill/>
            <a:prstDash val="solid"/>
            <a:round/>
            <a:headEnd type="none" w="med" len="med"/>
            <a:tailEnd type="none" w="med" len="med"/>
          </a:ln>
          <a:effectLst/>
        </p:spPr>
        <p:txBody>
          <a:bodyPr vert="horz" wrap="square" lIns="91440" tIns="54000" rIns="91440" bIns="54000" numCol="1" rtlCol="0" anchor="ctr" anchorCtr="0" compatLnSpc="1">
            <a:prstTxWarp prst="textNoShape">
              <a:avLst/>
            </a:prstTxWarp>
          </a:bodyPr>
          <a:lstStyle/>
          <a:p>
            <a:pPr marL="0" marR="0" lvl="0" indent="0" algn="l" defTabSz="995363" rtl="0" eaLnBrk="1" fontAlgn="auto" latinLnBrk="0" hangingPunct="1">
              <a:lnSpc>
                <a:spcPct val="100000"/>
              </a:lnSpc>
              <a:spcBef>
                <a:spcPts val="0"/>
              </a:spcBef>
              <a:spcAft>
                <a:spcPts val="0"/>
              </a:spcAft>
              <a:buClrTx/>
              <a:buSzTx/>
              <a:buFontTx/>
              <a:buNone/>
              <a:tabLst/>
              <a:defRPr/>
            </a:pPr>
            <a:r>
              <a:rPr lang="en-US" sz="1000">
                <a:solidFill>
                  <a:srgbClr val="FFFFFF"/>
                </a:solidFill>
                <a:latin typeface="EYInterstate"/>
                <a:cs typeface="Arial"/>
              </a:rPr>
              <a:t>[COMPANY]</a:t>
            </a:r>
            <a:r>
              <a:rPr kumimoji="0" lang="en-US" sz="1000" b="0" i="0" u="none" strike="noStrike" kern="1200" cap="none" spc="0" normalizeH="0" baseline="0" noProof="0">
                <a:ln>
                  <a:noFill/>
                </a:ln>
                <a:solidFill>
                  <a:srgbClr val="FFFFFF"/>
                </a:solidFill>
                <a:effectLst/>
                <a:uLnTx/>
                <a:uFillTx/>
                <a:latin typeface="EYInterstate"/>
                <a:cs typeface="Arial"/>
              </a:rPr>
              <a:t> </a:t>
            </a:r>
          </a:p>
        </p:txBody>
      </p:sp>
    </p:spTree>
    <p:extLst>
      <p:ext uri="{BB962C8B-B14F-4D97-AF65-F5344CB8AC3E}">
        <p14:creationId xmlns:p14="http://schemas.microsoft.com/office/powerpoint/2010/main" val="1887468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D985E-5498-992C-563F-B2A092A287AE}"/>
            </a:ext>
          </a:extLst>
        </p:cNvPr>
        <p:cNvGrpSpPr/>
        <p:nvPr/>
      </p:nvGrpSpPr>
      <p:grpSpPr>
        <a:xfrm>
          <a:off x="0" y="0"/>
          <a:ext cx="0" cy="0"/>
          <a:chOff x="0" y="0"/>
          <a:chExt cx="0" cy="0"/>
        </a:xfrm>
      </p:grpSpPr>
      <p:pic>
        <p:nvPicPr>
          <p:cNvPr id="7" name="Picture 6" descr="A computer with a transparent screen&#10;&#10;Description automatically generated">
            <a:extLst>
              <a:ext uri="{FF2B5EF4-FFF2-40B4-BE49-F238E27FC236}">
                <a16:creationId xmlns:a16="http://schemas.microsoft.com/office/drawing/2014/main" id="{E9746434-A960-E506-CEB1-7AB666791BEC}"/>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093323BA-264F-5AB7-B0DD-66550A5D87D2}"/>
              </a:ext>
            </a:extLst>
          </p:cNvPr>
          <p:cNvSpPr/>
          <p:nvPr/>
        </p:nvSpPr>
        <p:spPr>
          <a:xfrm>
            <a:off x="0" y="0"/>
            <a:ext cx="12192000" cy="6858000"/>
          </a:xfrm>
          <a:prstGeom prst="rect">
            <a:avLst/>
          </a:prstGeom>
          <a:gradFill>
            <a:gsLst>
              <a:gs pos="0">
                <a:schemeClr val="tx1">
                  <a:alpha val="50000"/>
                </a:schemeClr>
              </a:gs>
              <a:gs pos="100000">
                <a:schemeClr val="tx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47FFFE9-E7BF-8240-F081-D09271CDBB13}"/>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0" y="2809949"/>
            <a:ext cx="12192000" cy="4048051"/>
          </a:xfrm>
          <a:prstGeom prst="rect">
            <a:avLst/>
          </a:prstGeom>
        </p:spPr>
      </p:pic>
      <p:sp>
        <p:nvSpPr>
          <p:cNvPr id="4" name="TextBox 3">
            <a:extLst>
              <a:ext uri="{FF2B5EF4-FFF2-40B4-BE49-F238E27FC236}">
                <a16:creationId xmlns:a16="http://schemas.microsoft.com/office/drawing/2014/main" id="{569AE642-1164-F763-5EC1-20736FFD0242}"/>
              </a:ext>
            </a:extLst>
          </p:cNvPr>
          <p:cNvSpPr txBox="1"/>
          <p:nvPr/>
        </p:nvSpPr>
        <p:spPr>
          <a:xfrm>
            <a:off x="574517" y="1091996"/>
            <a:ext cx="1046480" cy="923330"/>
          </a:xfrm>
          <a:prstGeom prst="rect">
            <a:avLst/>
          </a:prstGeom>
          <a:noFill/>
        </p:spPr>
        <p:txBody>
          <a:bodyPr wrap="square" rtlCol="0">
            <a:spAutoFit/>
          </a:bodyPr>
          <a:lstStyle/>
          <a:p>
            <a:r>
              <a:rPr lang="en-US" sz="5400" b="1">
                <a:solidFill>
                  <a:schemeClr val="bg1"/>
                </a:solidFill>
                <a:latin typeface="EYInterstate Light" panose="02000506000000020004" pitchFamily="2" charset="0"/>
              </a:rPr>
              <a:t>03</a:t>
            </a:r>
          </a:p>
        </p:txBody>
      </p:sp>
      <p:sp>
        <p:nvSpPr>
          <p:cNvPr id="5" name="TextBox 4">
            <a:extLst>
              <a:ext uri="{FF2B5EF4-FFF2-40B4-BE49-F238E27FC236}">
                <a16:creationId xmlns:a16="http://schemas.microsoft.com/office/drawing/2014/main" id="{95C4749C-BE6C-070A-5F58-7C21F191BD0C}"/>
              </a:ext>
            </a:extLst>
          </p:cNvPr>
          <p:cNvSpPr txBox="1"/>
          <p:nvPr/>
        </p:nvSpPr>
        <p:spPr>
          <a:xfrm>
            <a:off x="574516" y="2186580"/>
            <a:ext cx="9255284" cy="584775"/>
          </a:xfrm>
          <a:prstGeom prst="rect">
            <a:avLst/>
          </a:prstGeom>
          <a:noFill/>
        </p:spPr>
        <p:txBody>
          <a:bodyPr wrap="square" lIns="91440" tIns="45720" rIns="91440" bIns="45720" rtlCol="0" anchor="t">
            <a:spAutoFit/>
          </a:bodyPr>
          <a:lstStyle/>
          <a:p>
            <a:r>
              <a:rPr lang="en-US" sz="3200" b="1">
                <a:solidFill>
                  <a:schemeClr val="bg1"/>
                </a:solidFill>
                <a:latin typeface="EYInterstate Light"/>
              </a:rPr>
              <a:t>Our Team</a:t>
            </a:r>
          </a:p>
        </p:txBody>
      </p:sp>
      <p:cxnSp>
        <p:nvCxnSpPr>
          <p:cNvPr id="6" name="Straight Connector 5">
            <a:extLst>
              <a:ext uri="{FF2B5EF4-FFF2-40B4-BE49-F238E27FC236}">
                <a16:creationId xmlns:a16="http://schemas.microsoft.com/office/drawing/2014/main" id="{3FA3ED59-413E-7729-2DA7-BC9EE748C92C}"/>
              </a:ext>
            </a:extLst>
          </p:cNvPr>
          <p:cNvCxnSpPr>
            <a:cxnSpLocks/>
          </p:cNvCxnSpPr>
          <p:nvPr/>
        </p:nvCxnSpPr>
        <p:spPr bwMode="auto">
          <a:xfrm>
            <a:off x="713186" y="2015326"/>
            <a:ext cx="1092200" cy="0"/>
          </a:xfrm>
          <a:prstGeom prst="line">
            <a:avLst/>
          </a:prstGeom>
          <a:noFill/>
          <a:ln w="31750">
            <a:gradFill flip="none" rotWithShape="1">
              <a:gsLst>
                <a:gs pos="0">
                  <a:srgbClr val="1A9AFA">
                    <a:alpha val="33000"/>
                  </a:srgbClr>
                </a:gs>
                <a:gs pos="100000">
                  <a:srgbClr val="1A9AFA"/>
                </a:gs>
              </a:gsLst>
              <a:lin ang="10800000" scaled="1"/>
              <a:tileRect/>
            </a:gradFill>
            <a:round/>
            <a:headEnd/>
            <a:tailEnd/>
          </a:ln>
          <a:effectLst/>
        </p:spPr>
      </p:cxnSp>
    </p:spTree>
    <p:extLst>
      <p:ext uri="{BB962C8B-B14F-4D97-AF65-F5344CB8AC3E}">
        <p14:creationId xmlns:p14="http://schemas.microsoft.com/office/powerpoint/2010/main" val="1387659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3FFB6-94BF-A19F-F271-F7A3CF0670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7B18E6-69AF-345E-C659-3880E408F6DA}"/>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2220959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C359A-3FD1-9AC1-6BB2-1A6CFCF9BEEB}"/>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5325F16-380C-3E68-0021-DDFCB01A86D2}"/>
              </a:ext>
            </a:extLst>
          </p:cNvPr>
          <p:cNvGraphicFramePr>
            <a:graphicFrameLocks noChangeAspect="1"/>
          </p:cNvGraphicFramePr>
          <p:nvPr>
            <p:custDataLst>
              <p:tags r:id="rId1"/>
            </p:custDataLst>
            <p:extLst>
              <p:ext uri="{D42A27DB-BD31-4B8C-83A1-F6EECF244321}">
                <p14:modId xmlns:p14="http://schemas.microsoft.com/office/powerpoint/2010/main" val="1645443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0" name="think-cell data - do not delete" hidden="1">
                        <a:extLst>
                          <a:ext uri="{FF2B5EF4-FFF2-40B4-BE49-F238E27FC236}">
                            <a16:creationId xmlns:a16="http://schemas.microsoft.com/office/drawing/2014/main" id="{A5325F16-380C-3E68-0021-DDFCB01A86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AB29A58F-9FAC-7C85-559D-02DDC63E53CD}"/>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26339799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97F8B-0451-B093-2811-65CD6675080C}"/>
            </a:ext>
          </a:extLst>
        </p:cNvPr>
        <p:cNvGrpSpPr/>
        <p:nvPr/>
      </p:nvGrpSpPr>
      <p:grpSpPr>
        <a:xfrm>
          <a:off x="0" y="0"/>
          <a:ext cx="0" cy="0"/>
          <a:chOff x="0" y="0"/>
          <a:chExt cx="0" cy="0"/>
        </a:xfrm>
      </p:grpSpPr>
      <p:sp>
        <p:nvSpPr>
          <p:cNvPr id="9" name="Oval 8">
            <a:extLst>
              <a:ext uri="{FF2B5EF4-FFF2-40B4-BE49-F238E27FC236}">
                <a16:creationId xmlns:a16="http://schemas.microsoft.com/office/drawing/2014/main" id="{AF0018AA-B803-EF73-68E0-3AF41ECA1739}"/>
              </a:ext>
            </a:extLst>
          </p:cNvPr>
          <p:cNvSpPr/>
          <p:nvPr/>
        </p:nvSpPr>
        <p:spPr bwMode="auto">
          <a:xfrm>
            <a:off x="6200102" y="185738"/>
            <a:ext cx="1097280" cy="1106424"/>
          </a:xfrm>
          <a:prstGeom prst="ellipse">
            <a:avLst/>
          </a:prstGeom>
          <a:solidFill>
            <a:schemeClr val="bg1"/>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EYInterstate Light"/>
              <a:ea typeface="+mn-ea"/>
              <a:cs typeface="Arial"/>
            </a:endParaRPr>
          </a:p>
        </p:txBody>
      </p:sp>
      <p:sp>
        <p:nvSpPr>
          <p:cNvPr id="4" name="Content Placeholder 3">
            <a:extLst>
              <a:ext uri="{FF2B5EF4-FFF2-40B4-BE49-F238E27FC236}">
                <a16:creationId xmlns:a16="http://schemas.microsoft.com/office/drawing/2014/main" id="{E206A0F2-3B6E-25D1-4391-69E3AC31FA89}"/>
              </a:ext>
            </a:extLst>
          </p:cNvPr>
          <p:cNvSpPr>
            <a:spLocks noGrp="1"/>
          </p:cNvSpPr>
          <p:nvPr>
            <p:ph sz="quarter" idx="15"/>
          </p:nvPr>
        </p:nvSpPr>
        <p:spPr>
          <a:xfrm>
            <a:off x="690563" y="3968750"/>
            <a:ext cx="5308600" cy="2314575"/>
          </a:xfrm>
        </p:spPr>
        <p:txBody>
          <a:bodyPr/>
          <a:lstStyle/>
          <a:p>
            <a:pPr marL="171450" indent="-171450">
              <a:spcAft>
                <a:spcPts val="200"/>
              </a:spcAft>
              <a:buClr>
                <a:schemeClr val="tx2"/>
              </a:buClr>
              <a:buSzPct val="100000"/>
              <a:buFont typeface="EYInterstate Light" panose="02000506000000020004" pitchFamily="2" charset="0"/>
              <a:buChar char="•"/>
            </a:pPr>
            <a:endParaRPr lang="en-US" dirty="0"/>
          </a:p>
        </p:txBody>
      </p:sp>
      <p:sp>
        <p:nvSpPr>
          <p:cNvPr id="5" name="Text Placeholder 4">
            <a:extLst>
              <a:ext uri="{FF2B5EF4-FFF2-40B4-BE49-F238E27FC236}">
                <a16:creationId xmlns:a16="http://schemas.microsoft.com/office/drawing/2014/main" id="{2BB93CEC-26E2-6B3A-3FE2-30AFB7431591}"/>
              </a:ext>
            </a:extLst>
          </p:cNvPr>
          <p:cNvSpPr>
            <a:spLocks noGrp="1"/>
          </p:cNvSpPr>
          <p:nvPr>
            <p:ph type="body" sz="quarter" idx="22"/>
          </p:nvPr>
        </p:nvSpPr>
        <p:spPr>
          <a:xfrm>
            <a:off x="1944829" y="327051"/>
            <a:ext cx="3966107" cy="247236"/>
          </a:xfrm>
        </p:spPr>
        <p:txBody>
          <a:bodyPr/>
          <a:lstStyle/>
          <a:p>
            <a:endParaRPr lang="en-US" sz="1400" b="1" dirty="0">
              <a:solidFill>
                <a:schemeClr val="tx2"/>
              </a:solidFill>
            </a:endParaRPr>
          </a:p>
        </p:txBody>
      </p:sp>
      <p:sp>
        <p:nvSpPr>
          <p:cNvPr id="41" name="Content Placeholder 40">
            <a:extLst>
              <a:ext uri="{FF2B5EF4-FFF2-40B4-BE49-F238E27FC236}">
                <a16:creationId xmlns:a16="http://schemas.microsoft.com/office/drawing/2014/main" id="{15B8A2BF-52F9-E643-A155-5B4FD00C85CD}"/>
              </a:ext>
            </a:extLst>
          </p:cNvPr>
          <p:cNvSpPr>
            <a:spLocks noGrp="1"/>
          </p:cNvSpPr>
          <p:nvPr>
            <p:ph sz="quarter" idx="26"/>
          </p:nvPr>
        </p:nvSpPr>
        <p:spPr>
          <a:noFill/>
          <a:ln w="9525">
            <a:noFill/>
            <a:miter lim="800000"/>
            <a:headEnd/>
            <a:tailEnd/>
          </a:ln>
          <a:effectLst/>
        </p:spPr>
        <p:txBody>
          <a:bodyPr vert="horz" wrap="square" lIns="54864" tIns="54864" rIns="54864" bIns="54864" numCol="1" anchor="t" anchorCtr="0" compatLnSpc="1">
            <a:prstTxWarp prst="textNoShape">
              <a:avLst/>
            </a:prstTxWarp>
          </a:bodyPr>
          <a:lstStyle/>
          <a:p>
            <a:pPr marL="171450" marR="0" lvl="0" indent="-171450" algn="l" defTabSz="914400" rtl="0" eaLnBrk="1" fontAlgn="auto" latinLnBrk="0" hangingPunct="1">
              <a:lnSpc>
                <a:spcPct val="95000"/>
              </a:lnSpc>
              <a:spcBef>
                <a:spcPts val="0"/>
              </a:spcBef>
              <a:spcAft>
                <a:spcPts val="400"/>
              </a:spcAft>
              <a:buClrTx/>
              <a:buSzPct val="100000"/>
              <a:buFont typeface="EYInterstate" panose="02000503020000020004" pitchFamily="2" charset="0"/>
              <a:buChar char="•"/>
              <a:tabLst/>
              <a:defRPr/>
            </a:pPr>
            <a:endParaRPr lang="en-IN" sz="1000" dirty="0">
              <a:solidFill>
                <a:srgbClr val="1A1A24"/>
              </a:solidFill>
              <a:latin typeface="EYInterstate Light" panose="02000506000000020004" pitchFamily="2" charset="0"/>
              <a:cs typeface="Times New Roman"/>
            </a:endParaRPr>
          </a:p>
        </p:txBody>
      </p:sp>
      <p:sp>
        <p:nvSpPr>
          <p:cNvPr id="42" name="Text Placeholder 41">
            <a:extLst>
              <a:ext uri="{FF2B5EF4-FFF2-40B4-BE49-F238E27FC236}">
                <a16:creationId xmlns:a16="http://schemas.microsoft.com/office/drawing/2014/main" id="{1DBF2C52-792D-C7BC-A01F-F6A554E1420F}"/>
              </a:ext>
            </a:extLst>
          </p:cNvPr>
          <p:cNvSpPr>
            <a:spLocks noGrp="1"/>
          </p:cNvSpPr>
          <p:nvPr>
            <p:ph type="body" sz="quarter" idx="27"/>
          </p:nvPr>
        </p:nvSpPr>
        <p:spPr/>
        <p:txBody>
          <a:bodyPr/>
          <a:lstStyle/>
          <a:p>
            <a:endParaRPr lang="en-US" sz="1400" b="1" dirty="0">
              <a:solidFill>
                <a:schemeClr val="tx2"/>
              </a:solidFill>
            </a:endParaRPr>
          </a:p>
        </p:txBody>
      </p:sp>
      <p:sp>
        <p:nvSpPr>
          <p:cNvPr id="25" name="Picture Placeholder 24">
            <a:extLst>
              <a:ext uri="{FF2B5EF4-FFF2-40B4-BE49-F238E27FC236}">
                <a16:creationId xmlns:a16="http://schemas.microsoft.com/office/drawing/2014/main" id="{A73F8DE9-84ED-5803-CB5B-9235ABED7C9E}"/>
              </a:ext>
            </a:extLst>
          </p:cNvPr>
          <p:cNvSpPr>
            <a:spLocks noGrp="1"/>
          </p:cNvSpPr>
          <p:nvPr>
            <p:ph type="pic" sz="quarter" idx="14"/>
          </p:nvPr>
        </p:nvSpPr>
        <p:spPr/>
        <p:txBody>
          <a:bodyPr/>
          <a:lstStyle/>
          <a:p>
            <a:endParaRPr lang="en-IN"/>
          </a:p>
        </p:txBody>
      </p:sp>
      <p:sp>
        <p:nvSpPr>
          <p:cNvPr id="27" name="Picture Placeholder 26">
            <a:extLst>
              <a:ext uri="{FF2B5EF4-FFF2-40B4-BE49-F238E27FC236}">
                <a16:creationId xmlns:a16="http://schemas.microsoft.com/office/drawing/2014/main" id="{E535B16F-ED3E-89D1-6334-36CC56B3DDF8}"/>
              </a:ext>
            </a:extLst>
          </p:cNvPr>
          <p:cNvSpPr>
            <a:spLocks noGrp="1"/>
          </p:cNvSpPr>
          <p:nvPr>
            <p:ph type="pic" sz="quarter" idx="24"/>
          </p:nvPr>
        </p:nvSpPr>
        <p:spPr/>
        <p:txBody>
          <a:bodyPr/>
          <a:lstStyle/>
          <a:p>
            <a:endParaRPr lang="en-IN"/>
          </a:p>
        </p:txBody>
      </p:sp>
      <p:sp>
        <p:nvSpPr>
          <p:cNvPr id="34" name="Content Placeholder 33">
            <a:extLst>
              <a:ext uri="{FF2B5EF4-FFF2-40B4-BE49-F238E27FC236}">
                <a16:creationId xmlns:a16="http://schemas.microsoft.com/office/drawing/2014/main" id="{ECD9B9CF-3E71-2D35-99F6-951DDCC78034}"/>
              </a:ext>
            </a:extLst>
          </p:cNvPr>
          <p:cNvSpPr>
            <a:spLocks noGrp="1"/>
          </p:cNvSpPr>
          <p:nvPr>
            <p:ph sz="quarter" idx="12"/>
          </p:nvPr>
        </p:nvSpPr>
        <p:spPr/>
        <p:txBody>
          <a:bodyPr/>
          <a:lstStyle/>
          <a:p>
            <a:endParaRPr lang="en-IN"/>
          </a:p>
        </p:txBody>
      </p:sp>
    </p:spTree>
    <p:extLst>
      <p:ext uri="{BB962C8B-B14F-4D97-AF65-F5344CB8AC3E}">
        <p14:creationId xmlns:p14="http://schemas.microsoft.com/office/powerpoint/2010/main" val="9813489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D8DAC-5028-047C-28AA-096B2365A99C}"/>
            </a:ext>
          </a:extLst>
        </p:cNvPr>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82DBF5C4-4195-7126-D06F-00FBE1E0E994}"/>
              </a:ext>
            </a:extLst>
          </p:cNvPr>
          <p:cNvSpPr>
            <a:spLocks noGrp="1"/>
          </p:cNvSpPr>
          <p:nvPr>
            <p:ph type="pic" sz="quarter" idx="14"/>
          </p:nvPr>
        </p:nvSpPr>
        <p:spPr/>
        <p:txBody>
          <a:bodyPr/>
          <a:lstStyle/>
          <a:p>
            <a:endParaRPr lang="en-IN"/>
          </a:p>
        </p:txBody>
      </p:sp>
      <p:sp>
        <p:nvSpPr>
          <p:cNvPr id="32" name="Content Placeholder 31">
            <a:extLst>
              <a:ext uri="{FF2B5EF4-FFF2-40B4-BE49-F238E27FC236}">
                <a16:creationId xmlns:a16="http://schemas.microsoft.com/office/drawing/2014/main" id="{7332580F-0871-79F3-9FEE-37711A721102}"/>
              </a:ext>
            </a:extLst>
          </p:cNvPr>
          <p:cNvSpPr>
            <a:spLocks noGrp="1"/>
          </p:cNvSpPr>
          <p:nvPr>
            <p:ph sz="quarter" idx="12"/>
          </p:nvPr>
        </p:nvSpPr>
        <p:spPr/>
        <p:txBody>
          <a:bodyPr/>
          <a:lstStyle/>
          <a:p>
            <a:endParaRPr lang="en-IN"/>
          </a:p>
        </p:txBody>
      </p:sp>
      <p:sp>
        <p:nvSpPr>
          <p:cNvPr id="34" name="Content Placeholder 33">
            <a:extLst>
              <a:ext uri="{FF2B5EF4-FFF2-40B4-BE49-F238E27FC236}">
                <a16:creationId xmlns:a16="http://schemas.microsoft.com/office/drawing/2014/main" id="{E1BD512D-DB2E-94A0-E5C1-487ED0B3E1E3}"/>
              </a:ext>
            </a:extLst>
          </p:cNvPr>
          <p:cNvSpPr>
            <a:spLocks noGrp="1"/>
          </p:cNvSpPr>
          <p:nvPr>
            <p:ph sz="quarter" idx="15"/>
          </p:nvPr>
        </p:nvSpPr>
        <p:spPr/>
        <p:txBody>
          <a:bodyPr/>
          <a:lstStyle/>
          <a:p>
            <a:endParaRPr lang="en-IN"/>
          </a:p>
        </p:txBody>
      </p:sp>
      <p:sp>
        <p:nvSpPr>
          <p:cNvPr id="36" name="Text Placeholder 35">
            <a:extLst>
              <a:ext uri="{FF2B5EF4-FFF2-40B4-BE49-F238E27FC236}">
                <a16:creationId xmlns:a16="http://schemas.microsoft.com/office/drawing/2014/main" id="{C05F4CDF-7993-8DAD-A556-EEDF4E3F5562}"/>
              </a:ext>
            </a:extLst>
          </p:cNvPr>
          <p:cNvSpPr>
            <a:spLocks noGrp="1"/>
          </p:cNvSpPr>
          <p:nvPr>
            <p:ph type="body" sz="quarter" idx="22"/>
          </p:nvPr>
        </p:nvSpPr>
        <p:spPr/>
        <p:txBody>
          <a:bodyPr/>
          <a:lstStyle/>
          <a:p>
            <a:endParaRPr lang="en-IN"/>
          </a:p>
        </p:txBody>
      </p:sp>
      <p:sp>
        <p:nvSpPr>
          <p:cNvPr id="48" name="Text Placeholder 47">
            <a:extLst>
              <a:ext uri="{FF2B5EF4-FFF2-40B4-BE49-F238E27FC236}">
                <a16:creationId xmlns:a16="http://schemas.microsoft.com/office/drawing/2014/main" id="{538E1532-9B04-43F1-EAA3-60866CBE5B63}"/>
              </a:ext>
            </a:extLst>
          </p:cNvPr>
          <p:cNvSpPr>
            <a:spLocks noGrp="1"/>
          </p:cNvSpPr>
          <p:nvPr>
            <p:ph type="body" sz="quarter" idx="23"/>
          </p:nvPr>
        </p:nvSpPr>
        <p:spPr/>
        <p:txBody>
          <a:bodyPr/>
          <a:lstStyle/>
          <a:p>
            <a:endParaRPr lang="en-IN"/>
          </a:p>
        </p:txBody>
      </p:sp>
      <p:sp>
        <p:nvSpPr>
          <p:cNvPr id="50" name="Content Placeholder 49">
            <a:extLst>
              <a:ext uri="{FF2B5EF4-FFF2-40B4-BE49-F238E27FC236}">
                <a16:creationId xmlns:a16="http://schemas.microsoft.com/office/drawing/2014/main" id="{AD17F370-3608-0B90-395C-D34F033553D3}"/>
              </a:ext>
            </a:extLst>
          </p:cNvPr>
          <p:cNvSpPr>
            <a:spLocks noGrp="1"/>
          </p:cNvSpPr>
          <p:nvPr>
            <p:ph sz="quarter" idx="25"/>
          </p:nvPr>
        </p:nvSpPr>
        <p:spPr/>
        <p:txBody>
          <a:bodyPr/>
          <a:lstStyle/>
          <a:p>
            <a:endParaRPr lang="en-IN"/>
          </a:p>
        </p:txBody>
      </p:sp>
      <p:sp>
        <p:nvSpPr>
          <p:cNvPr id="52" name="Content Placeholder 51">
            <a:extLst>
              <a:ext uri="{FF2B5EF4-FFF2-40B4-BE49-F238E27FC236}">
                <a16:creationId xmlns:a16="http://schemas.microsoft.com/office/drawing/2014/main" id="{535CEED0-3BFA-DCDD-E7C3-CD63D76CC88A}"/>
              </a:ext>
            </a:extLst>
          </p:cNvPr>
          <p:cNvSpPr>
            <a:spLocks noGrp="1"/>
          </p:cNvSpPr>
          <p:nvPr>
            <p:ph sz="quarter" idx="26"/>
          </p:nvPr>
        </p:nvSpPr>
        <p:spPr/>
        <p:txBody>
          <a:bodyPr/>
          <a:lstStyle/>
          <a:p>
            <a:endParaRPr lang="en-IN"/>
          </a:p>
        </p:txBody>
      </p:sp>
      <p:sp>
        <p:nvSpPr>
          <p:cNvPr id="54" name="Text Placeholder 53">
            <a:extLst>
              <a:ext uri="{FF2B5EF4-FFF2-40B4-BE49-F238E27FC236}">
                <a16:creationId xmlns:a16="http://schemas.microsoft.com/office/drawing/2014/main" id="{92BF8E7C-91A9-685F-91AD-7324D652847C}"/>
              </a:ext>
            </a:extLst>
          </p:cNvPr>
          <p:cNvSpPr>
            <a:spLocks noGrp="1"/>
          </p:cNvSpPr>
          <p:nvPr>
            <p:ph type="body" sz="quarter" idx="27"/>
          </p:nvPr>
        </p:nvSpPr>
        <p:spPr/>
        <p:txBody>
          <a:bodyPr/>
          <a:lstStyle/>
          <a:p>
            <a:endParaRPr lang="en-IN"/>
          </a:p>
        </p:txBody>
      </p:sp>
      <p:sp>
        <p:nvSpPr>
          <p:cNvPr id="56" name="Text Placeholder 55">
            <a:extLst>
              <a:ext uri="{FF2B5EF4-FFF2-40B4-BE49-F238E27FC236}">
                <a16:creationId xmlns:a16="http://schemas.microsoft.com/office/drawing/2014/main" id="{2ABDA656-8850-E0A1-EC1C-B20C4F4BD6F5}"/>
              </a:ext>
            </a:extLst>
          </p:cNvPr>
          <p:cNvSpPr>
            <a:spLocks noGrp="1"/>
          </p:cNvSpPr>
          <p:nvPr>
            <p:ph type="body" sz="quarter" idx="28"/>
          </p:nvPr>
        </p:nvSpPr>
        <p:spPr/>
        <p:txBody>
          <a:bodyPr/>
          <a:lstStyle/>
          <a:p>
            <a:endParaRPr lang="en-IN"/>
          </a:p>
        </p:txBody>
      </p:sp>
      <p:sp>
        <p:nvSpPr>
          <p:cNvPr id="58" name="Picture Placeholder 57">
            <a:extLst>
              <a:ext uri="{FF2B5EF4-FFF2-40B4-BE49-F238E27FC236}">
                <a16:creationId xmlns:a16="http://schemas.microsoft.com/office/drawing/2014/main" id="{C62ABA85-5554-3F91-0938-3A40A6366742}"/>
              </a:ext>
            </a:extLst>
          </p:cNvPr>
          <p:cNvSpPr>
            <a:spLocks noGrp="1"/>
          </p:cNvSpPr>
          <p:nvPr>
            <p:ph type="pic" sz="quarter" idx="24"/>
          </p:nvPr>
        </p:nvSpPr>
        <p:spPr/>
        <p:txBody>
          <a:bodyPr/>
          <a:lstStyle/>
          <a:p>
            <a:endParaRPr lang="en-IN"/>
          </a:p>
        </p:txBody>
      </p:sp>
    </p:spTree>
    <p:extLst>
      <p:ext uri="{BB962C8B-B14F-4D97-AF65-F5344CB8AC3E}">
        <p14:creationId xmlns:p14="http://schemas.microsoft.com/office/powerpoint/2010/main" val="155769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84F30-D0F2-9B32-536B-A917EABD3DE6}"/>
            </a:ext>
          </a:extLst>
        </p:cNvPr>
        <p:cNvGrpSpPr/>
        <p:nvPr/>
      </p:nvGrpSpPr>
      <p:grpSpPr>
        <a:xfrm>
          <a:off x="0" y="0"/>
          <a:ext cx="0" cy="0"/>
          <a:chOff x="0" y="0"/>
          <a:chExt cx="0" cy="0"/>
        </a:xfrm>
      </p:grpSpPr>
      <p:sp>
        <p:nvSpPr>
          <p:cNvPr id="30" name="Content Placeholder 29">
            <a:extLst>
              <a:ext uri="{FF2B5EF4-FFF2-40B4-BE49-F238E27FC236}">
                <a16:creationId xmlns:a16="http://schemas.microsoft.com/office/drawing/2014/main" id="{292FC8CB-BB5E-5422-864B-D1B0FD912170}"/>
              </a:ext>
            </a:extLst>
          </p:cNvPr>
          <p:cNvSpPr>
            <a:spLocks noGrp="1"/>
          </p:cNvSpPr>
          <p:nvPr>
            <p:ph sz="quarter" idx="12"/>
          </p:nvPr>
        </p:nvSpPr>
        <p:spPr/>
        <p:txBody>
          <a:bodyPr/>
          <a:lstStyle/>
          <a:p>
            <a:endParaRPr lang="en-IN"/>
          </a:p>
        </p:txBody>
      </p:sp>
      <p:sp>
        <p:nvSpPr>
          <p:cNvPr id="32" name="Content Placeholder 31">
            <a:extLst>
              <a:ext uri="{FF2B5EF4-FFF2-40B4-BE49-F238E27FC236}">
                <a16:creationId xmlns:a16="http://schemas.microsoft.com/office/drawing/2014/main" id="{DF3450B0-FAEE-E36F-0422-06329733B8FD}"/>
              </a:ext>
            </a:extLst>
          </p:cNvPr>
          <p:cNvSpPr>
            <a:spLocks noGrp="1"/>
          </p:cNvSpPr>
          <p:nvPr>
            <p:ph sz="quarter" idx="15"/>
          </p:nvPr>
        </p:nvSpPr>
        <p:spPr/>
        <p:txBody>
          <a:bodyPr/>
          <a:lstStyle/>
          <a:p>
            <a:endParaRPr lang="en-IN"/>
          </a:p>
        </p:txBody>
      </p:sp>
      <p:sp>
        <p:nvSpPr>
          <p:cNvPr id="34" name="Text Placeholder 33">
            <a:extLst>
              <a:ext uri="{FF2B5EF4-FFF2-40B4-BE49-F238E27FC236}">
                <a16:creationId xmlns:a16="http://schemas.microsoft.com/office/drawing/2014/main" id="{C04E6CFB-95A7-648C-F20C-BC02CCBD24B2}"/>
              </a:ext>
            </a:extLst>
          </p:cNvPr>
          <p:cNvSpPr>
            <a:spLocks noGrp="1"/>
          </p:cNvSpPr>
          <p:nvPr>
            <p:ph type="body" sz="quarter" idx="22"/>
          </p:nvPr>
        </p:nvSpPr>
        <p:spPr/>
        <p:txBody>
          <a:bodyPr/>
          <a:lstStyle/>
          <a:p>
            <a:endParaRPr lang="en-IN"/>
          </a:p>
        </p:txBody>
      </p:sp>
      <p:sp>
        <p:nvSpPr>
          <p:cNvPr id="36" name="Text Placeholder 35">
            <a:extLst>
              <a:ext uri="{FF2B5EF4-FFF2-40B4-BE49-F238E27FC236}">
                <a16:creationId xmlns:a16="http://schemas.microsoft.com/office/drawing/2014/main" id="{4314CA59-228B-BDC0-09FE-3D099229DA15}"/>
              </a:ext>
            </a:extLst>
          </p:cNvPr>
          <p:cNvSpPr>
            <a:spLocks noGrp="1"/>
          </p:cNvSpPr>
          <p:nvPr>
            <p:ph type="body" sz="quarter" idx="23"/>
          </p:nvPr>
        </p:nvSpPr>
        <p:spPr/>
        <p:txBody>
          <a:bodyPr/>
          <a:lstStyle/>
          <a:p>
            <a:endParaRPr lang="en-IN"/>
          </a:p>
        </p:txBody>
      </p:sp>
      <p:sp>
        <p:nvSpPr>
          <p:cNvPr id="49" name="Content Placeholder 48">
            <a:extLst>
              <a:ext uri="{FF2B5EF4-FFF2-40B4-BE49-F238E27FC236}">
                <a16:creationId xmlns:a16="http://schemas.microsoft.com/office/drawing/2014/main" id="{3CC7C661-76AB-68A9-5DCA-2C3683EB6DAD}"/>
              </a:ext>
            </a:extLst>
          </p:cNvPr>
          <p:cNvSpPr>
            <a:spLocks noGrp="1"/>
          </p:cNvSpPr>
          <p:nvPr>
            <p:ph sz="quarter" idx="25"/>
          </p:nvPr>
        </p:nvSpPr>
        <p:spPr/>
        <p:txBody>
          <a:bodyPr/>
          <a:lstStyle/>
          <a:p>
            <a:endParaRPr lang="en-IN"/>
          </a:p>
        </p:txBody>
      </p:sp>
      <p:sp>
        <p:nvSpPr>
          <p:cNvPr id="51" name="Content Placeholder 50">
            <a:extLst>
              <a:ext uri="{FF2B5EF4-FFF2-40B4-BE49-F238E27FC236}">
                <a16:creationId xmlns:a16="http://schemas.microsoft.com/office/drawing/2014/main" id="{D13055B0-AB6A-10B9-967E-F70EE0BDA83E}"/>
              </a:ext>
            </a:extLst>
          </p:cNvPr>
          <p:cNvSpPr>
            <a:spLocks noGrp="1"/>
          </p:cNvSpPr>
          <p:nvPr>
            <p:ph sz="quarter" idx="26"/>
          </p:nvPr>
        </p:nvSpPr>
        <p:spPr/>
        <p:txBody>
          <a:bodyPr/>
          <a:lstStyle/>
          <a:p>
            <a:endParaRPr lang="en-IN"/>
          </a:p>
        </p:txBody>
      </p:sp>
      <p:sp>
        <p:nvSpPr>
          <p:cNvPr id="53" name="Text Placeholder 52">
            <a:extLst>
              <a:ext uri="{FF2B5EF4-FFF2-40B4-BE49-F238E27FC236}">
                <a16:creationId xmlns:a16="http://schemas.microsoft.com/office/drawing/2014/main" id="{D6A94991-FD7C-27AF-A63A-CDE2A78F8B21}"/>
              </a:ext>
            </a:extLst>
          </p:cNvPr>
          <p:cNvSpPr>
            <a:spLocks noGrp="1"/>
          </p:cNvSpPr>
          <p:nvPr>
            <p:ph type="body" sz="quarter" idx="27"/>
          </p:nvPr>
        </p:nvSpPr>
        <p:spPr/>
        <p:txBody>
          <a:bodyPr/>
          <a:lstStyle/>
          <a:p>
            <a:endParaRPr lang="en-IN"/>
          </a:p>
        </p:txBody>
      </p:sp>
      <p:sp>
        <p:nvSpPr>
          <p:cNvPr id="55" name="Text Placeholder 54">
            <a:extLst>
              <a:ext uri="{FF2B5EF4-FFF2-40B4-BE49-F238E27FC236}">
                <a16:creationId xmlns:a16="http://schemas.microsoft.com/office/drawing/2014/main" id="{B394E9F9-29AC-6CB6-AC7C-239DC0ABE418}"/>
              </a:ext>
            </a:extLst>
          </p:cNvPr>
          <p:cNvSpPr>
            <a:spLocks noGrp="1"/>
          </p:cNvSpPr>
          <p:nvPr>
            <p:ph type="body" sz="quarter" idx="28"/>
          </p:nvPr>
        </p:nvSpPr>
        <p:spPr/>
        <p:txBody>
          <a:bodyPr/>
          <a:lstStyle/>
          <a:p>
            <a:endParaRPr lang="en-IN"/>
          </a:p>
        </p:txBody>
      </p:sp>
      <p:sp>
        <p:nvSpPr>
          <p:cNvPr id="57" name="Picture Placeholder 56">
            <a:extLst>
              <a:ext uri="{FF2B5EF4-FFF2-40B4-BE49-F238E27FC236}">
                <a16:creationId xmlns:a16="http://schemas.microsoft.com/office/drawing/2014/main" id="{A1006D10-AFDC-A436-248A-174ADC73677F}"/>
              </a:ext>
            </a:extLst>
          </p:cNvPr>
          <p:cNvSpPr>
            <a:spLocks noGrp="1"/>
          </p:cNvSpPr>
          <p:nvPr>
            <p:ph type="pic" sz="quarter" idx="24"/>
          </p:nvPr>
        </p:nvSpPr>
        <p:spPr/>
        <p:txBody>
          <a:bodyPr/>
          <a:lstStyle/>
          <a:p>
            <a:endParaRPr lang="en-IN"/>
          </a:p>
        </p:txBody>
      </p:sp>
    </p:spTree>
    <p:extLst>
      <p:ext uri="{BB962C8B-B14F-4D97-AF65-F5344CB8AC3E}">
        <p14:creationId xmlns:p14="http://schemas.microsoft.com/office/powerpoint/2010/main" val="1653460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25F33-F5BB-0F7A-DCAF-13368173A27F}"/>
            </a:ext>
          </a:extLst>
        </p:cNvPr>
        <p:cNvGrpSpPr/>
        <p:nvPr/>
      </p:nvGrpSpPr>
      <p:grpSpPr>
        <a:xfrm>
          <a:off x="0" y="0"/>
          <a:ext cx="0" cy="0"/>
          <a:chOff x="0" y="0"/>
          <a:chExt cx="0" cy="0"/>
        </a:xfrm>
      </p:grpSpPr>
      <p:sp>
        <p:nvSpPr>
          <p:cNvPr id="22" name="Content Placeholder 21">
            <a:extLst>
              <a:ext uri="{FF2B5EF4-FFF2-40B4-BE49-F238E27FC236}">
                <a16:creationId xmlns:a16="http://schemas.microsoft.com/office/drawing/2014/main" id="{1AB2D2AE-5A39-9438-B95C-23542182FB25}"/>
              </a:ext>
            </a:extLst>
          </p:cNvPr>
          <p:cNvSpPr>
            <a:spLocks noGrp="1"/>
          </p:cNvSpPr>
          <p:nvPr>
            <p:ph sz="quarter" idx="12"/>
          </p:nvPr>
        </p:nvSpPr>
        <p:spPr/>
        <p:txBody>
          <a:bodyPr/>
          <a:lstStyle/>
          <a:p>
            <a:endParaRPr lang="en-IN"/>
          </a:p>
        </p:txBody>
      </p:sp>
      <p:sp>
        <p:nvSpPr>
          <p:cNvPr id="24" name="Content Placeholder 23">
            <a:extLst>
              <a:ext uri="{FF2B5EF4-FFF2-40B4-BE49-F238E27FC236}">
                <a16:creationId xmlns:a16="http://schemas.microsoft.com/office/drawing/2014/main" id="{9BD19325-4068-FEA7-806C-A08786018E05}"/>
              </a:ext>
            </a:extLst>
          </p:cNvPr>
          <p:cNvSpPr>
            <a:spLocks noGrp="1"/>
          </p:cNvSpPr>
          <p:nvPr>
            <p:ph sz="quarter" idx="15"/>
          </p:nvPr>
        </p:nvSpPr>
        <p:spPr/>
        <p:txBody>
          <a:bodyPr/>
          <a:lstStyle/>
          <a:p>
            <a:endParaRPr lang="en-IN"/>
          </a:p>
        </p:txBody>
      </p:sp>
      <p:sp>
        <p:nvSpPr>
          <p:cNvPr id="26" name="Text Placeholder 25">
            <a:extLst>
              <a:ext uri="{FF2B5EF4-FFF2-40B4-BE49-F238E27FC236}">
                <a16:creationId xmlns:a16="http://schemas.microsoft.com/office/drawing/2014/main" id="{D185BD32-5DF5-A6BA-004E-5086B81235B2}"/>
              </a:ext>
            </a:extLst>
          </p:cNvPr>
          <p:cNvSpPr>
            <a:spLocks noGrp="1"/>
          </p:cNvSpPr>
          <p:nvPr>
            <p:ph type="body" sz="quarter" idx="22"/>
          </p:nvPr>
        </p:nvSpPr>
        <p:spPr/>
        <p:txBody>
          <a:bodyPr/>
          <a:lstStyle/>
          <a:p>
            <a:endParaRPr lang="en-IN"/>
          </a:p>
        </p:txBody>
      </p:sp>
      <p:sp>
        <p:nvSpPr>
          <p:cNvPr id="28" name="Text Placeholder 27">
            <a:extLst>
              <a:ext uri="{FF2B5EF4-FFF2-40B4-BE49-F238E27FC236}">
                <a16:creationId xmlns:a16="http://schemas.microsoft.com/office/drawing/2014/main" id="{ED6D9D9B-C372-19FB-3D4D-09DC5A186535}"/>
              </a:ext>
            </a:extLst>
          </p:cNvPr>
          <p:cNvSpPr>
            <a:spLocks noGrp="1"/>
          </p:cNvSpPr>
          <p:nvPr>
            <p:ph type="body" sz="quarter" idx="23"/>
          </p:nvPr>
        </p:nvSpPr>
        <p:spPr/>
        <p:txBody>
          <a:bodyPr/>
          <a:lstStyle/>
          <a:p>
            <a:endParaRPr lang="en-IN"/>
          </a:p>
        </p:txBody>
      </p:sp>
      <p:sp>
        <p:nvSpPr>
          <p:cNvPr id="30" name="Picture Placeholder 29">
            <a:extLst>
              <a:ext uri="{FF2B5EF4-FFF2-40B4-BE49-F238E27FC236}">
                <a16:creationId xmlns:a16="http://schemas.microsoft.com/office/drawing/2014/main" id="{A5057333-92C1-D4F8-D425-A7A8A32EB89D}"/>
              </a:ext>
            </a:extLst>
          </p:cNvPr>
          <p:cNvSpPr>
            <a:spLocks noGrp="1"/>
          </p:cNvSpPr>
          <p:nvPr>
            <p:ph type="pic" sz="quarter" idx="14"/>
          </p:nvPr>
        </p:nvSpPr>
        <p:spPr/>
        <p:txBody>
          <a:bodyPr/>
          <a:lstStyle/>
          <a:p>
            <a:endParaRPr lang="en-IN"/>
          </a:p>
        </p:txBody>
      </p:sp>
    </p:spTree>
    <p:extLst>
      <p:ext uri="{BB962C8B-B14F-4D97-AF65-F5344CB8AC3E}">
        <p14:creationId xmlns:p14="http://schemas.microsoft.com/office/powerpoint/2010/main" val="426451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DF8CC-5876-6F2F-103E-58CD0CEC3117}"/>
            </a:ext>
          </a:extLst>
        </p:cNvPr>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2AD8F6-E415-52D9-5418-A8BC7278E084}"/>
              </a:ext>
            </a:extLst>
          </p:cNvPr>
          <p:cNvSpPr>
            <a:spLocks noGrp="1"/>
          </p:cNvSpPr>
          <p:nvPr>
            <p:ph type="pic" sz="quarter" idx="14"/>
          </p:nvPr>
        </p:nvSpPr>
        <p:spPr/>
        <p:txBody>
          <a:bodyPr/>
          <a:lstStyle/>
          <a:p>
            <a:endParaRPr lang="en-IN"/>
          </a:p>
        </p:txBody>
      </p:sp>
      <p:sp>
        <p:nvSpPr>
          <p:cNvPr id="8" name="Content Placeholder 7">
            <a:extLst>
              <a:ext uri="{FF2B5EF4-FFF2-40B4-BE49-F238E27FC236}">
                <a16:creationId xmlns:a16="http://schemas.microsoft.com/office/drawing/2014/main" id="{EE506E87-115C-886B-EBEF-F9E5DC2C11D7}"/>
              </a:ext>
            </a:extLst>
          </p:cNvPr>
          <p:cNvSpPr>
            <a:spLocks noGrp="1"/>
          </p:cNvSpPr>
          <p:nvPr>
            <p:ph sz="quarter" idx="12"/>
          </p:nvPr>
        </p:nvSpPr>
        <p:spPr/>
        <p:txBody>
          <a:bodyPr/>
          <a:lstStyle/>
          <a:p>
            <a:endParaRPr lang="en-IN"/>
          </a:p>
        </p:txBody>
      </p:sp>
      <p:sp>
        <p:nvSpPr>
          <p:cNvPr id="10" name="Content Placeholder 9">
            <a:extLst>
              <a:ext uri="{FF2B5EF4-FFF2-40B4-BE49-F238E27FC236}">
                <a16:creationId xmlns:a16="http://schemas.microsoft.com/office/drawing/2014/main" id="{EAD4254F-21F8-168F-ABB6-8432F5830E41}"/>
              </a:ext>
            </a:extLst>
          </p:cNvPr>
          <p:cNvSpPr>
            <a:spLocks noGrp="1"/>
          </p:cNvSpPr>
          <p:nvPr>
            <p:ph sz="quarter" idx="15"/>
          </p:nvPr>
        </p:nvSpPr>
        <p:spPr/>
        <p:txBody>
          <a:bodyPr/>
          <a:lstStyle/>
          <a:p>
            <a:endParaRPr lang="en-IN"/>
          </a:p>
        </p:txBody>
      </p:sp>
      <p:sp>
        <p:nvSpPr>
          <p:cNvPr id="11" name="Text Placeholder 10">
            <a:extLst>
              <a:ext uri="{FF2B5EF4-FFF2-40B4-BE49-F238E27FC236}">
                <a16:creationId xmlns:a16="http://schemas.microsoft.com/office/drawing/2014/main" id="{7833ECA1-536B-D640-2DB4-E4B238D5760E}"/>
              </a:ext>
            </a:extLst>
          </p:cNvPr>
          <p:cNvSpPr>
            <a:spLocks noGrp="1"/>
          </p:cNvSpPr>
          <p:nvPr>
            <p:ph type="body" sz="quarter" idx="22"/>
          </p:nvPr>
        </p:nvSpPr>
        <p:spPr/>
        <p:txBody>
          <a:bodyPr/>
          <a:lstStyle/>
          <a:p>
            <a:endParaRPr lang="en-IN"/>
          </a:p>
        </p:txBody>
      </p:sp>
      <p:sp>
        <p:nvSpPr>
          <p:cNvPr id="12" name="Text Placeholder 11">
            <a:extLst>
              <a:ext uri="{FF2B5EF4-FFF2-40B4-BE49-F238E27FC236}">
                <a16:creationId xmlns:a16="http://schemas.microsoft.com/office/drawing/2014/main" id="{C7F51914-F757-C7C7-15ED-075E8C2DA357}"/>
              </a:ext>
            </a:extLst>
          </p:cNvPr>
          <p:cNvSpPr>
            <a:spLocks noGrp="1"/>
          </p:cNvSpPr>
          <p:nvPr>
            <p:ph type="body" sz="quarter" idx="23"/>
          </p:nvPr>
        </p:nvSpPr>
        <p:spPr/>
        <p:txBody>
          <a:bodyPr/>
          <a:lstStyle/>
          <a:p>
            <a:endParaRPr lang="en-IN"/>
          </a:p>
        </p:txBody>
      </p:sp>
    </p:spTree>
    <p:extLst>
      <p:ext uri="{BB962C8B-B14F-4D97-AF65-F5344CB8AC3E}">
        <p14:creationId xmlns:p14="http://schemas.microsoft.com/office/powerpoint/2010/main" val="18905343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8135E-3D02-30AD-F9C2-7772D167C4B4}"/>
            </a:ext>
          </a:extLst>
        </p:cNvPr>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9086EA-2F10-0E87-1566-0B10E00DC237}"/>
              </a:ext>
            </a:extLst>
          </p:cNvPr>
          <p:cNvSpPr>
            <a:spLocks noGrp="1"/>
          </p:cNvSpPr>
          <p:nvPr>
            <p:ph type="pic" sz="quarter" idx="24"/>
          </p:nvPr>
        </p:nvSpPr>
        <p:spPr/>
        <p:txBody>
          <a:bodyPr/>
          <a:lstStyle/>
          <a:p>
            <a:endParaRPr lang="en-IN"/>
          </a:p>
        </p:txBody>
      </p:sp>
      <p:sp>
        <p:nvSpPr>
          <p:cNvPr id="5" name="Content Placeholder 4">
            <a:extLst>
              <a:ext uri="{FF2B5EF4-FFF2-40B4-BE49-F238E27FC236}">
                <a16:creationId xmlns:a16="http://schemas.microsoft.com/office/drawing/2014/main" id="{782FDA8F-7DF4-05FE-F13E-3388BDC6AC47}"/>
              </a:ext>
            </a:extLst>
          </p:cNvPr>
          <p:cNvSpPr>
            <a:spLocks noGrp="1"/>
          </p:cNvSpPr>
          <p:nvPr>
            <p:ph sz="quarter" idx="25"/>
          </p:nvPr>
        </p:nvSpPr>
        <p:spPr/>
        <p:txBody>
          <a:bodyPr/>
          <a:lstStyle/>
          <a:p>
            <a:endParaRPr lang="en-IN"/>
          </a:p>
        </p:txBody>
      </p:sp>
      <p:sp>
        <p:nvSpPr>
          <p:cNvPr id="7" name="Content Placeholder 6">
            <a:extLst>
              <a:ext uri="{FF2B5EF4-FFF2-40B4-BE49-F238E27FC236}">
                <a16:creationId xmlns:a16="http://schemas.microsoft.com/office/drawing/2014/main" id="{B8432598-8E3C-E325-3A38-C169AEA75A16}"/>
              </a:ext>
            </a:extLst>
          </p:cNvPr>
          <p:cNvSpPr>
            <a:spLocks noGrp="1"/>
          </p:cNvSpPr>
          <p:nvPr>
            <p:ph sz="quarter" idx="26"/>
          </p:nvPr>
        </p:nvSpPr>
        <p:spPr/>
        <p:txBody>
          <a:bodyPr/>
          <a:lstStyle/>
          <a:p>
            <a:endParaRPr lang="en-IN"/>
          </a:p>
        </p:txBody>
      </p:sp>
      <p:sp>
        <p:nvSpPr>
          <p:cNvPr id="9" name="Text Placeholder 8">
            <a:extLst>
              <a:ext uri="{FF2B5EF4-FFF2-40B4-BE49-F238E27FC236}">
                <a16:creationId xmlns:a16="http://schemas.microsoft.com/office/drawing/2014/main" id="{19D754F8-38EC-CF6E-D191-1EB04C4C13CC}"/>
              </a:ext>
            </a:extLst>
          </p:cNvPr>
          <p:cNvSpPr>
            <a:spLocks noGrp="1"/>
          </p:cNvSpPr>
          <p:nvPr>
            <p:ph type="body" sz="quarter" idx="27"/>
          </p:nvPr>
        </p:nvSpPr>
        <p:spPr/>
        <p:txBody>
          <a:bodyPr/>
          <a:lstStyle/>
          <a:p>
            <a:endParaRPr lang="en-IN"/>
          </a:p>
        </p:txBody>
      </p:sp>
      <p:sp>
        <p:nvSpPr>
          <p:cNvPr id="11" name="Text Placeholder 10">
            <a:extLst>
              <a:ext uri="{FF2B5EF4-FFF2-40B4-BE49-F238E27FC236}">
                <a16:creationId xmlns:a16="http://schemas.microsoft.com/office/drawing/2014/main" id="{8BA6E00A-1535-9147-C40B-6914D1B46579}"/>
              </a:ext>
            </a:extLst>
          </p:cNvPr>
          <p:cNvSpPr>
            <a:spLocks noGrp="1"/>
          </p:cNvSpPr>
          <p:nvPr>
            <p:ph type="body" sz="quarter" idx="28"/>
          </p:nvPr>
        </p:nvSpPr>
        <p:spPr/>
        <p:txBody>
          <a:bodyPr/>
          <a:lstStyle/>
          <a:p>
            <a:endParaRPr lang="en-IN"/>
          </a:p>
        </p:txBody>
      </p:sp>
      <p:sp>
        <p:nvSpPr>
          <p:cNvPr id="13" name="Picture Placeholder 12">
            <a:extLst>
              <a:ext uri="{FF2B5EF4-FFF2-40B4-BE49-F238E27FC236}">
                <a16:creationId xmlns:a16="http://schemas.microsoft.com/office/drawing/2014/main" id="{D8746161-B078-B668-4AA8-26B06A2EC623}"/>
              </a:ext>
            </a:extLst>
          </p:cNvPr>
          <p:cNvSpPr>
            <a:spLocks noGrp="1"/>
          </p:cNvSpPr>
          <p:nvPr>
            <p:ph type="pic" sz="quarter" idx="14"/>
          </p:nvPr>
        </p:nvSpPr>
        <p:spPr/>
        <p:txBody>
          <a:bodyPr/>
          <a:lstStyle/>
          <a:p>
            <a:endParaRPr lang="en-IN"/>
          </a:p>
        </p:txBody>
      </p:sp>
      <p:sp>
        <p:nvSpPr>
          <p:cNvPr id="15" name="Content Placeholder 14">
            <a:extLst>
              <a:ext uri="{FF2B5EF4-FFF2-40B4-BE49-F238E27FC236}">
                <a16:creationId xmlns:a16="http://schemas.microsoft.com/office/drawing/2014/main" id="{FFF9A844-2ECB-5EB3-C1F1-2EE0FE9F7654}"/>
              </a:ext>
            </a:extLst>
          </p:cNvPr>
          <p:cNvSpPr>
            <a:spLocks noGrp="1"/>
          </p:cNvSpPr>
          <p:nvPr>
            <p:ph sz="quarter" idx="12"/>
          </p:nvPr>
        </p:nvSpPr>
        <p:spPr/>
        <p:txBody>
          <a:bodyPr/>
          <a:lstStyle/>
          <a:p>
            <a:endParaRPr lang="en-IN"/>
          </a:p>
        </p:txBody>
      </p:sp>
      <p:sp>
        <p:nvSpPr>
          <p:cNvPr id="17" name="Content Placeholder 16">
            <a:extLst>
              <a:ext uri="{FF2B5EF4-FFF2-40B4-BE49-F238E27FC236}">
                <a16:creationId xmlns:a16="http://schemas.microsoft.com/office/drawing/2014/main" id="{F4E10A11-5B60-E570-862E-55B97A11D3F0}"/>
              </a:ext>
            </a:extLst>
          </p:cNvPr>
          <p:cNvSpPr>
            <a:spLocks noGrp="1"/>
          </p:cNvSpPr>
          <p:nvPr>
            <p:ph sz="quarter" idx="15"/>
          </p:nvPr>
        </p:nvSpPr>
        <p:spPr/>
        <p:txBody>
          <a:bodyPr/>
          <a:lstStyle/>
          <a:p>
            <a:endParaRPr lang="en-IN"/>
          </a:p>
        </p:txBody>
      </p:sp>
      <p:sp>
        <p:nvSpPr>
          <p:cNvPr id="19" name="Text Placeholder 18">
            <a:extLst>
              <a:ext uri="{FF2B5EF4-FFF2-40B4-BE49-F238E27FC236}">
                <a16:creationId xmlns:a16="http://schemas.microsoft.com/office/drawing/2014/main" id="{C48A3E93-3A07-7AD6-B95D-CFAA7C2797D5}"/>
              </a:ext>
            </a:extLst>
          </p:cNvPr>
          <p:cNvSpPr>
            <a:spLocks noGrp="1"/>
          </p:cNvSpPr>
          <p:nvPr>
            <p:ph type="body" sz="quarter" idx="22"/>
          </p:nvPr>
        </p:nvSpPr>
        <p:spPr/>
        <p:txBody>
          <a:bodyPr/>
          <a:lstStyle/>
          <a:p>
            <a:endParaRPr lang="en-IN"/>
          </a:p>
        </p:txBody>
      </p:sp>
      <p:sp>
        <p:nvSpPr>
          <p:cNvPr id="21" name="Text Placeholder 20">
            <a:extLst>
              <a:ext uri="{FF2B5EF4-FFF2-40B4-BE49-F238E27FC236}">
                <a16:creationId xmlns:a16="http://schemas.microsoft.com/office/drawing/2014/main" id="{C28B8E61-003C-1FD1-CEA5-462FCA887DC9}"/>
              </a:ext>
            </a:extLst>
          </p:cNvPr>
          <p:cNvSpPr>
            <a:spLocks noGrp="1"/>
          </p:cNvSpPr>
          <p:nvPr>
            <p:ph type="body" sz="quarter" idx="23"/>
          </p:nvPr>
        </p:nvSpPr>
        <p:spPr/>
        <p:txBody>
          <a:bodyPr/>
          <a:lstStyle/>
          <a:p>
            <a:endParaRPr lang="en-IN"/>
          </a:p>
        </p:txBody>
      </p:sp>
    </p:spTree>
    <p:extLst>
      <p:ext uri="{BB962C8B-B14F-4D97-AF65-F5344CB8AC3E}">
        <p14:creationId xmlns:p14="http://schemas.microsoft.com/office/powerpoint/2010/main" val="20808445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53BED-3AAD-6CCA-2733-054C7D4299A4}"/>
            </a:ext>
          </a:extLst>
        </p:cNvPr>
        <p:cNvGrpSpPr/>
        <p:nvPr/>
      </p:nvGrpSpPr>
      <p:grpSpPr>
        <a:xfrm>
          <a:off x="0" y="0"/>
          <a:ext cx="0" cy="0"/>
          <a:chOff x="0" y="0"/>
          <a:chExt cx="0" cy="0"/>
        </a:xfrm>
      </p:grpSpPr>
      <p:pic>
        <p:nvPicPr>
          <p:cNvPr id="7" name="Picture 6" descr="A computer with a transparent screen&#10;&#10;Description automatically generated">
            <a:extLst>
              <a:ext uri="{FF2B5EF4-FFF2-40B4-BE49-F238E27FC236}">
                <a16:creationId xmlns:a16="http://schemas.microsoft.com/office/drawing/2014/main" id="{47C50945-B02A-415D-9F20-D39F9AA29989}"/>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20504F4C-C091-B7AF-86B1-2A0347F6EDC8}"/>
              </a:ext>
            </a:extLst>
          </p:cNvPr>
          <p:cNvSpPr/>
          <p:nvPr/>
        </p:nvSpPr>
        <p:spPr>
          <a:xfrm>
            <a:off x="0" y="0"/>
            <a:ext cx="12192000" cy="6858000"/>
          </a:xfrm>
          <a:prstGeom prst="rect">
            <a:avLst/>
          </a:prstGeom>
          <a:gradFill>
            <a:gsLst>
              <a:gs pos="0">
                <a:schemeClr val="tx1">
                  <a:alpha val="50000"/>
                </a:schemeClr>
              </a:gs>
              <a:gs pos="100000">
                <a:schemeClr val="tx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0808E5C-6E21-4957-164D-12655B3FBCF7}"/>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0" y="2809949"/>
            <a:ext cx="12192000" cy="4048051"/>
          </a:xfrm>
          <a:prstGeom prst="rect">
            <a:avLst/>
          </a:prstGeom>
        </p:spPr>
      </p:pic>
      <p:sp>
        <p:nvSpPr>
          <p:cNvPr id="4" name="TextBox 3">
            <a:extLst>
              <a:ext uri="{FF2B5EF4-FFF2-40B4-BE49-F238E27FC236}">
                <a16:creationId xmlns:a16="http://schemas.microsoft.com/office/drawing/2014/main" id="{E9CAEDB2-AE95-4BFB-66BF-5C0F58D9BF3D}"/>
              </a:ext>
            </a:extLst>
          </p:cNvPr>
          <p:cNvSpPr txBox="1"/>
          <p:nvPr/>
        </p:nvSpPr>
        <p:spPr>
          <a:xfrm>
            <a:off x="574517" y="1091996"/>
            <a:ext cx="1046480" cy="923330"/>
          </a:xfrm>
          <a:prstGeom prst="rect">
            <a:avLst/>
          </a:prstGeom>
          <a:noFill/>
        </p:spPr>
        <p:txBody>
          <a:bodyPr wrap="square" rtlCol="0">
            <a:spAutoFit/>
          </a:bodyPr>
          <a:lstStyle/>
          <a:p>
            <a:r>
              <a:rPr lang="en-US" sz="5400" b="1">
                <a:solidFill>
                  <a:schemeClr val="bg1"/>
                </a:solidFill>
                <a:latin typeface="EYInterstate Light" panose="02000506000000020004" pitchFamily="2" charset="0"/>
              </a:rPr>
              <a:t>04</a:t>
            </a:r>
          </a:p>
        </p:txBody>
      </p:sp>
      <p:sp>
        <p:nvSpPr>
          <p:cNvPr id="5" name="TextBox 4">
            <a:extLst>
              <a:ext uri="{FF2B5EF4-FFF2-40B4-BE49-F238E27FC236}">
                <a16:creationId xmlns:a16="http://schemas.microsoft.com/office/drawing/2014/main" id="{184CA2AF-B0D6-CF69-A0C6-C99726312CD6}"/>
              </a:ext>
            </a:extLst>
          </p:cNvPr>
          <p:cNvSpPr txBox="1"/>
          <p:nvPr/>
        </p:nvSpPr>
        <p:spPr>
          <a:xfrm>
            <a:off x="574516" y="2186580"/>
            <a:ext cx="9255284" cy="584775"/>
          </a:xfrm>
          <a:prstGeom prst="rect">
            <a:avLst/>
          </a:prstGeom>
          <a:noFill/>
        </p:spPr>
        <p:txBody>
          <a:bodyPr wrap="square" lIns="91440" tIns="45720" rIns="91440" bIns="45720" rtlCol="0" anchor="t">
            <a:spAutoFit/>
          </a:bodyPr>
          <a:lstStyle/>
          <a:p>
            <a:r>
              <a:rPr lang="en-US" sz="3200" b="1">
                <a:solidFill>
                  <a:schemeClr val="bg1"/>
                </a:solidFill>
                <a:latin typeface="EYInterstate Light"/>
              </a:rPr>
              <a:t>Methodology</a:t>
            </a:r>
          </a:p>
        </p:txBody>
      </p:sp>
      <p:cxnSp>
        <p:nvCxnSpPr>
          <p:cNvPr id="6" name="Straight Connector 5">
            <a:extLst>
              <a:ext uri="{FF2B5EF4-FFF2-40B4-BE49-F238E27FC236}">
                <a16:creationId xmlns:a16="http://schemas.microsoft.com/office/drawing/2014/main" id="{E0DBE67D-234A-5A94-A480-65B93F75A80C}"/>
              </a:ext>
            </a:extLst>
          </p:cNvPr>
          <p:cNvCxnSpPr>
            <a:cxnSpLocks/>
          </p:cNvCxnSpPr>
          <p:nvPr/>
        </p:nvCxnSpPr>
        <p:spPr bwMode="auto">
          <a:xfrm>
            <a:off x="713186" y="2015326"/>
            <a:ext cx="1092200" cy="0"/>
          </a:xfrm>
          <a:prstGeom prst="line">
            <a:avLst/>
          </a:prstGeom>
          <a:noFill/>
          <a:ln w="31750">
            <a:gradFill flip="none" rotWithShape="1">
              <a:gsLst>
                <a:gs pos="0">
                  <a:srgbClr val="1A9AFA">
                    <a:alpha val="33000"/>
                  </a:srgbClr>
                </a:gs>
                <a:gs pos="100000">
                  <a:srgbClr val="1A9AFA"/>
                </a:gs>
              </a:gsLst>
              <a:lin ang="10800000" scaled="1"/>
              <a:tileRect/>
            </a:gradFill>
            <a:round/>
            <a:headEnd/>
            <a:tailEnd/>
          </a:ln>
          <a:effectLst/>
        </p:spPr>
      </p:cxnSp>
    </p:spTree>
    <p:extLst>
      <p:ext uri="{BB962C8B-B14F-4D97-AF65-F5344CB8AC3E}">
        <p14:creationId xmlns:p14="http://schemas.microsoft.com/office/powerpoint/2010/main" val="2071180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64405-C3E8-5290-989B-646842812595}"/>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8B5BE35-13B1-1BD5-5901-F28154F63DCB}"/>
              </a:ext>
            </a:extLst>
          </p:cNvPr>
          <p:cNvGraphicFramePr>
            <a:graphicFrameLocks noChangeAspect="1"/>
          </p:cNvGraphicFramePr>
          <p:nvPr>
            <p:custDataLst>
              <p:tags r:id="rId1"/>
            </p:custDataLst>
            <p:extLst>
              <p:ext uri="{D42A27DB-BD31-4B8C-83A1-F6EECF244321}">
                <p14:modId xmlns:p14="http://schemas.microsoft.com/office/powerpoint/2010/main" val="27132187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3" name="think-cell data - do not delete" hidden="1">
                        <a:extLst>
                          <a:ext uri="{FF2B5EF4-FFF2-40B4-BE49-F238E27FC236}">
                            <a16:creationId xmlns:a16="http://schemas.microsoft.com/office/drawing/2014/main" id="{F8B5BE35-13B1-1BD5-5901-F28154F63DC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7441BE41-6BCA-37D3-24A4-AD3D0F4B5368}"/>
              </a:ext>
            </a:extLst>
          </p:cNvPr>
          <p:cNvSpPr>
            <a:spLocks noGrp="1"/>
          </p:cNvSpPr>
          <p:nvPr>
            <p:ph type="title"/>
          </p:nvPr>
        </p:nvSpPr>
        <p:spPr>
          <a:xfrm>
            <a:off x="701366" y="273717"/>
            <a:ext cx="10789269" cy="792000"/>
          </a:xfrm>
        </p:spPr>
        <p:txBody>
          <a:bodyPr vert="horz"/>
          <a:lstStyle/>
          <a:p>
            <a:r>
              <a:rPr lang="en-US"/>
              <a:t>Our Approach and Methodology</a:t>
            </a:r>
          </a:p>
        </p:txBody>
      </p:sp>
      <p:sp>
        <p:nvSpPr>
          <p:cNvPr id="23" name="TextBox 22">
            <a:extLst>
              <a:ext uri="{FF2B5EF4-FFF2-40B4-BE49-F238E27FC236}">
                <a16:creationId xmlns:a16="http://schemas.microsoft.com/office/drawing/2014/main" id="{3B0CCCC8-DE46-9220-D7F7-BD4E8BC5039B}"/>
              </a:ext>
            </a:extLst>
          </p:cNvPr>
          <p:cNvSpPr txBox="1"/>
          <p:nvPr/>
        </p:nvSpPr>
        <p:spPr>
          <a:xfrm rot="16200000">
            <a:off x="199612" y="2008844"/>
            <a:ext cx="1218598" cy="242888"/>
          </a:xfrm>
          <a:prstGeom prst="roundRect">
            <a:avLst/>
          </a:prstGeom>
          <a:solidFill>
            <a:srgbClr val="F5F5FA"/>
          </a:solidFill>
        </p:spPr>
        <p:txBody>
          <a:bodyPr wrap="square" rtlCol="0" anchor="ctr" anchorCtr="0">
            <a:noAutofit/>
          </a:bodyPr>
          <a:lstStyle/>
          <a:p>
            <a:pPr algn="ctr" defTabSz="457200">
              <a:defRPr/>
            </a:pPr>
            <a:r>
              <a:rPr lang="en-US" sz="900">
                <a:cs typeface="Arial"/>
              </a:rPr>
              <a:t>Phase</a:t>
            </a:r>
          </a:p>
        </p:txBody>
      </p:sp>
      <p:sp>
        <p:nvSpPr>
          <p:cNvPr id="26" name="Rectangle: Rounded Corners 25">
            <a:extLst>
              <a:ext uri="{FF2B5EF4-FFF2-40B4-BE49-F238E27FC236}">
                <a16:creationId xmlns:a16="http://schemas.microsoft.com/office/drawing/2014/main" id="{F69B2961-DFC5-A9B8-69DC-533A62B167EC}"/>
              </a:ext>
            </a:extLst>
          </p:cNvPr>
          <p:cNvSpPr>
            <a:spLocks/>
          </p:cNvSpPr>
          <p:nvPr/>
        </p:nvSpPr>
        <p:spPr bwMode="auto">
          <a:xfrm>
            <a:off x="771867" y="1158208"/>
            <a:ext cx="10485591" cy="260820"/>
          </a:xfrm>
          <a:prstGeom prst="roundRect">
            <a:avLst>
              <a:gd name="adj" fmla="val 11638"/>
            </a:avLst>
          </a:prstGeom>
          <a:solidFill>
            <a:srgbClr val="1A9AFA"/>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r>
              <a:rPr lang="en-IN" sz="1200" kern="0">
                <a:solidFill>
                  <a:schemeClr val="bg1"/>
                </a:solidFill>
                <a:cs typeface="Arial"/>
              </a:rPr>
              <a:t>Project Procurement and Closing</a:t>
            </a:r>
          </a:p>
        </p:txBody>
      </p:sp>
      <p:sp>
        <p:nvSpPr>
          <p:cNvPr id="28" name="TextBox 27">
            <a:extLst>
              <a:ext uri="{FF2B5EF4-FFF2-40B4-BE49-F238E27FC236}">
                <a16:creationId xmlns:a16="http://schemas.microsoft.com/office/drawing/2014/main" id="{449DDB34-A950-E5A3-8DBE-2026E7FD5282}"/>
              </a:ext>
            </a:extLst>
          </p:cNvPr>
          <p:cNvSpPr txBox="1">
            <a:spLocks/>
          </p:cNvSpPr>
          <p:nvPr/>
        </p:nvSpPr>
        <p:spPr>
          <a:xfrm rot="16200000">
            <a:off x="332974" y="5732112"/>
            <a:ext cx="950704" cy="241715"/>
          </a:xfrm>
          <a:prstGeom prst="roundRect">
            <a:avLst/>
          </a:prstGeom>
          <a:solidFill>
            <a:srgbClr val="F5F5FA"/>
          </a:solidFill>
        </p:spPr>
        <p:txBody>
          <a:bodyPr wrap="square" rtlCol="0" anchor="ctr" anchorCtr="0">
            <a:noAutofit/>
          </a:bodyPr>
          <a:lstStyle/>
          <a:p>
            <a:pPr algn="ctr" defTabSz="457200">
              <a:defRPr/>
            </a:pPr>
            <a:r>
              <a:rPr lang="en-US" sz="900">
                <a:cs typeface="Arial"/>
              </a:rPr>
              <a:t>Deliverables</a:t>
            </a:r>
          </a:p>
        </p:txBody>
      </p:sp>
      <p:sp>
        <p:nvSpPr>
          <p:cNvPr id="37" name="TextBox 36">
            <a:extLst>
              <a:ext uri="{FF2B5EF4-FFF2-40B4-BE49-F238E27FC236}">
                <a16:creationId xmlns:a16="http://schemas.microsoft.com/office/drawing/2014/main" id="{4A2F60A2-06BB-0F74-BF5B-085CE90BC880}"/>
              </a:ext>
            </a:extLst>
          </p:cNvPr>
          <p:cNvSpPr txBox="1">
            <a:spLocks/>
          </p:cNvSpPr>
          <p:nvPr/>
        </p:nvSpPr>
        <p:spPr>
          <a:xfrm>
            <a:off x="1395589" y="3009695"/>
            <a:ext cx="1679202" cy="1992828"/>
          </a:xfrm>
          <a:prstGeom prst="roundRect">
            <a:avLst>
              <a:gd name="adj" fmla="val 6549"/>
            </a:avLst>
          </a:prstGeom>
          <a:noFill/>
          <a:ln>
            <a:noFill/>
          </a:ln>
        </p:spPr>
        <p:txBody>
          <a:bodyPr wrap="square" lIns="0" tIns="0" rIns="0" bIns="0" rtlCol="0" anchor="t">
            <a:noAutofit/>
          </a:bodyPr>
          <a:lstStyle/>
          <a:p>
            <a:pPr marL="171450" indent="-171450">
              <a:buFont typeface="EYInterstate Light" panose="02000506000000020004" pitchFamily="2" charset="0"/>
              <a:buChar char="•"/>
              <a:defRPr/>
            </a:pPr>
            <a:r>
              <a:rPr lang="en-IN" sz="1050">
                <a:solidFill>
                  <a:srgbClr val="000000"/>
                </a:solidFill>
                <a:latin typeface="EYInterstate Light"/>
                <a:cs typeface="Arial"/>
                <a:sym typeface="Arial" panose="020B0604020202020204" pitchFamily="34" charset="0"/>
              </a:rPr>
              <a:t>Review existing RFP package,</a:t>
            </a:r>
          </a:p>
          <a:p>
            <a:pPr marL="171450" indent="-171450" defTabSz="457200">
              <a:buFont typeface="EYInterstate Light" panose="02000506000000020004" pitchFamily="2" charset="0"/>
              <a:buChar char="•"/>
              <a:defRPr/>
            </a:pPr>
            <a:r>
              <a:rPr lang="en-IN" sz="1050">
                <a:solidFill>
                  <a:srgbClr val="000000"/>
                </a:solidFill>
                <a:latin typeface="EYInterstate Light"/>
                <a:cs typeface="Arial"/>
                <a:sym typeface="Arial" panose="020B0604020202020204" pitchFamily="34" charset="0"/>
              </a:rPr>
              <a:t>Discuss and agree updates required,</a:t>
            </a:r>
            <a:endParaRPr lang="en-IN" sz="1050">
              <a:solidFill>
                <a:srgbClr val="000000"/>
              </a:solidFill>
              <a:latin typeface="EYInterstate Light"/>
              <a:cs typeface="Arial"/>
            </a:endParaRPr>
          </a:p>
          <a:p>
            <a:pPr marL="171450" indent="-171450" defTabSz="457200">
              <a:buFont typeface="EYInterstate Light" panose="02000506000000020004" pitchFamily="2" charset="0"/>
              <a:buChar char="•"/>
              <a:defRPr/>
            </a:pPr>
            <a:r>
              <a:rPr lang="en-IN" sz="1050">
                <a:solidFill>
                  <a:srgbClr val="000000"/>
                </a:solidFill>
                <a:latin typeface="EYInterstate Light"/>
                <a:cs typeface="Arial"/>
                <a:sym typeface="Arial" panose="020B0604020202020204" pitchFamily="34" charset="0"/>
              </a:rPr>
              <a:t>Update RFP package including Evaluation Framework</a:t>
            </a:r>
            <a:endParaRPr lang="en-IN" sz="1050">
              <a:solidFill>
                <a:srgbClr val="000000"/>
              </a:solidFill>
              <a:latin typeface="EYInterstate Light" panose="02000506000000020004" pitchFamily="2" charset="0"/>
              <a:cs typeface="Arial"/>
            </a:endParaRPr>
          </a:p>
          <a:p>
            <a:pPr defTabSz="457200">
              <a:defRPr/>
            </a:pPr>
            <a:endParaRPr lang="en-IN" sz="1000">
              <a:solidFill>
                <a:srgbClr val="000000"/>
              </a:solidFill>
              <a:cs typeface="Arial"/>
            </a:endParaRPr>
          </a:p>
        </p:txBody>
      </p:sp>
      <p:sp>
        <p:nvSpPr>
          <p:cNvPr id="38" name="TextBox 37">
            <a:extLst>
              <a:ext uri="{FF2B5EF4-FFF2-40B4-BE49-F238E27FC236}">
                <a16:creationId xmlns:a16="http://schemas.microsoft.com/office/drawing/2014/main" id="{F8F7A05B-4951-3836-54EE-9DA102A8285B}"/>
              </a:ext>
            </a:extLst>
          </p:cNvPr>
          <p:cNvSpPr txBox="1">
            <a:spLocks/>
          </p:cNvSpPr>
          <p:nvPr/>
        </p:nvSpPr>
        <p:spPr>
          <a:xfrm>
            <a:off x="1353081" y="4597354"/>
            <a:ext cx="1869089" cy="947793"/>
          </a:xfrm>
          <a:prstGeom prst="roundRect">
            <a:avLst>
              <a:gd name="adj" fmla="val 6549"/>
            </a:avLst>
          </a:prstGeom>
          <a:noFill/>
          <a:ln>
            <a:noFill/>
          </a:ln>
        </p:spPr>
        <p:txBody>
          <a:bodyPr wrap="square" lIns="0" tIns="0" rIns="0" bIns="0" rtlCol="0" anchor="t">
            <a:noAutofit/>
          </a:bodyPr>
          <a:lstStyle/>
          <a:p>
            <a:pPr marL="171450" indent="-171450">
              <a:buFont typeface="EYInterstate Light" panose="02000506000000020004" pitchFamily="2" charset="0"/>
              <a:buChar char="•"/>
              <a:defRPr/>
            </a:pPr>
            <a:r>
              <a:rPr lang="en-US" sz="1050">
                <a:solidFill>
                  <a:srgbClr val="000000"/>
                </a:solidFill>
                <a:latin typeface="EYInterstate Light" panose="02000506000000020004" pitchFamily="2" charset="0"/>
                <a:cs typeface="Arial"/>
              </a:rPr>
              <a:t>D1 Final approved RFP documents</a:t>
            </a:r>
          </a:p>
          <a:p>
            <a:pPr marL="171450" indent="-171450">
              <a:buFont typeface="EYInterstate Light" panose="02000506000000020004" pitchFamily="2" charset="0"/>
              <a:buChar char="•"/>
              <a:defRPr/>
            </a:pPr>
            <a:r>
              <a:rPr lang="en-US" sz="1050">
                <a:solidFill>
                  <a:srgbClr val="000000"/>
                </a:solidFill>
                <a:latin typeface="EYInterstate Light" panose="02000506000000020004" pitchFamily="2" charset="0"/>
              </a:rPr>
              <a:t>D4. Proposal Evaluation Framework </a:t>
            </a:r>
            <a:endParaRPr lang="en-US" sz="1050">
              <a:solidFill>
                <a:srgbClr val="000000"/>
              </a:solidFill>
              <a:latin typeface="EYInterstate Light" panose="02000506000000020004" pitchFamily="2" charset="0"/>
              <a:cs typeface="Arial"/>
            </a:endParaRPr>
          </a:p>
        </p:txBody>
      </p:sp>
      <p:sp>
        <p:nvSpPr>
          <p:cNvPr id="43" name="TextBox 42">
            <a:extLst>
              <a:ext uri="{FF2B5EF4-FFF2-40B4-BE49-F238E27FC236}">
                <a16:creationId xmlns:a16="http://schemas.microsoft.com/office/drawing/2014/main" id="{B45D8C01-6B68-1731-030C-D3EB28CBBC93}"/>
              </a:ext>
            </a:extLst>
          </p:cNvPr>
          <p:cNvSpPr txBox="1">
            <a:spLocks/>
          </p:cNvSpPr>
          <p:nvPr/>
        </p:nvSpPr>
        <p:spPr>
          <a:xfrm>
            <a:off x="3650586" y="3024297"/>
            <a:ext cx="1558856" cy="1992828"/>
          </a:xfrm>
          <a:prstGeom prst="roundRect">
            <a:avLst>
              <a:gd name="adj" fmla="val 6549"/>
            </a:avLst>
          </a:prstGeom>
          <a:noFill/>
          <a:ln>
            <a:noFill/>
          </a:ln>
        </p:spPr>
        <p:txBody>
          <a:bodyPr wrap="square" lIns="0" tIns="0" rIns="0" bIns="0" rtlCol="0" anchor="t">
            <a:noAutofit/>
          </a:bodyPr>
          <a:lstStyle/>
          <a:p>
            <a:pPr marL="171450" indent="-171450" defTabSz="457200">
              <a:buFont typeface="EYInterstate Light" panose="02000506000000020004" pitchFamily="2" charset="0"/>
              <a:buChar char="•"/>
              <a:defRPr/>
            </a:pPr>
            <a:r>
              <a:rPr lang="en-IN" sz="1050">
                <a:solidFill>
                  <a:srgbClr val="000000"/>
                </a:solidFill>
                <a:latin typeface="EYInterstate Light"/>
                <a:cs typeface="Arial"/>
                <a:sym typeface="Arial" panose="020B0604020202020204" pitchFamily="34" charset="0"/>
              </a:rPr>
              <a:t>Prepare clarification responses</a:t>
            </a:r>
          </a:p>
          <a:p>
            <a:pPr marL="171450" indent="-171450">
              <a:buFont typeface="EYInterstate Light" panose="02000506000000020004" pitchFamily="2" charset="0"/>
              <a:buChar char="•"/>
              <a:defRPr/>
            </a:pPr>
            <a:r>
              <a:rPr lang="en-IN" sz="1050">
                <a:solidFill>
                  <a:srgbClr val="000000"/>
                </a:solidFill>
                <a:latin typeface="EYInterstate Light"/>
                <a:cs typeface="Arial"/>
                <a:sym typeface="Arial" panose="020B0604020202020204" pitchFamily="34" charset="0"/>
              </a:rPr>
              <a:t>Coordination with the stakeholders for inputs as required </a:t>
            </a:r>
            <a:endParaRPr lang="en-IN" sz="1050">
              <a:solidFill>
                <a:srgbClr val="000000"/>
              </a:solidFill>
              <a:latin typeface="EYInterstate Light" panose="02000506000000020004" pitchFamily="2" charset="0"/>
              <a:cs typeface="Arial"/>
            </a:endParaRPr>
          </a:p>
          <a:p>
            <a:pPr defTabSz="457200">
              <a:defRPr/>
            </a:pPr>
            <a:endParaRPr lang="en-IN" sz="1000">
              <a:solidFill>
                <a:srgbClr val="000000"/>
              </a:solidFill>
              <a:cs typeface="Arial"/>
            </a:endParaRPr>
          </a:p>
        </p:txBody>
      </p:sp>
      <p:sp>
        <p:nvSpPr>
          <p:cNvPr id="44" name="TextBox 43">
            <a:extLst>
              <a:ext uri="{FF2B5EF4-FFF2-40B4-BE49-F238E27FC236}">
                <a16:creationId xmlns:a16="http://schemas.microsoft.com/office/drawing/2014/main" id="{8B876662-0BE9-0D9E-4D4C-2907A625EF40}"/>
              </a:ext>
            </a:extLst>
          </p:cNvPr>
          <p:cNvSpPr txBox="1">
            <a:spLocks/>
          </p:cNvSpPr>
          <p:nvPr/>
        </p:nvSpPr>
        <p:spPr>
          <a:xfrm>
            <a:off x="3695824" y="4597354"/>
            <a:ext cx="2079845" cy="947793"/>
          </a:xfrm>
          <a:prstGeom prst="roundRect">
            <a:avLst>
              <a:gd name="adj" fmla="val 6549"/>
            </a:avLst>
          </a:prstGeom>
          <a:noFill/>
          <a:ln>
            <a:noFill/>
          </a:ln>
        </p:spPr>
        <p:txBody>
          <a:bodyPr wrap="square" lIns="0" tIns="0" rIns="0" bIns="0" rtlCol="0" anchor="t">
            <a:noAutofit/>
          </a:bodyPr>
          <a:lstStyle/>
          <a:p>
            <a:pPr marL="171450" indent="-171450">
              <a:buFont typeface="EYInterstate Light" panose="02000506000000020004" pitchFamily="2" charset="0"/>
              <a:buChar char="•"/>
              <a:defRPr/>
            </a:pPr>
            <a:r>
              <a:rPr lang="en-US" sz="1050">
                <a:solidFill>
                  <a:srgbClr val="000000"/>
                </a:solidFill>
                <a:latin typeface="EYInterstate Light" panose="02000506000000020004" pitchFamily="2" charset="0"/>
                <a:cs typeface="Arial"/>
              </a:rPr>
              <a:t>D2. Weekly Q&amp;A report</a:t>
            </a:r>
          </a:p>
        </p:txBody>
      </p:sp>
      <p:sp>
        <p:nvSpPr>
          <p:cNvPr id="46" name="TextBox 45">
            <a:extLst>
              <a:ext uri="{FF2B5EF4-FFF2-40B4-BE49-F238E27FC236}">
                <a16:creationId xmlns:a16="http://schemas.microsoft.com/office/drawing/2014/main" id="{6AF4304C-9ACF-F56E-963B-9C17199FD81D}"/>
              </a:ext>
            </a:extLst>
          </p:cNvPr>
          <p:cNvSpPr txBox="1">
            <a:spLocks/>
          </p:cNvSpPr>
          <p:nvPr/>
        </p:nvSpPr>
        <p:spPr>
          <a:xfrm>
            <a:off x="9093134" y="3036605"/>
            <a:ext cx="1783274" cy="1992828"/>
          </a:xfrm>
          <a:prstGeom prst="roundRect">
            <a:avLst>
              <a:gd name="adj" fmla="val 6549"/>
            </a:avLst>
          </a:prstGeom>
          <a:noFill/>
          <a:ln>
            <a:noFill/>
          </a:ln>
        </p:spPr>
        <p:txBody>
          <a:bodyPr wrap="square" lIns="0" tIns="0" rIns="0" bIns="0" rtlCol="0" anchor="t">
            <a:noAutofit/>
          </a:bodyPr>
          <a:lstStyle/>
          <a:p>
            <a:pPr marL="171450" indent="-171450">
              <a:buFont typeface="EYInterstate Light" panose="02000506000000020004" pitchFamily="2" charset="0"/>
              <a:buChar char="•"/>
              <a:defRPr/>
            </a:pPr>
            <a:r>
              <a:rPr lang="en-IN" sz="1050">
                <a:solidFill>
                  <a:srgbClr val="000000"/>
                </a:solidFill>
                <a:latin typeface="EYInterstate Light"/>
                <a:cs typeface="Arial"/>
                <a:sym typeface="Arial" panose="020B0604020202020204" pitchFamily="34" charset="0"/>
              </a:rPr>
              <a:t>Prepare and lead negotiations. </a:t>
            </a:r>
          </a:p>
          <a:p>
            <a:pPr marL="171450" indent="-171450">
              <a:buFont typeface="EYInterstate Light" panose="02000506000000020004" pitchFamily="2" charset="0"/>
              <a:buChar char="•"/>
              <a:defRPr/>
            </a:pPr>
            <a:r>
              <a:rPr lang="en-IN" sz="1050">
                <a:solidFill>
                  <a:srgbClr val="000000"/>
                </a:solidFill>
                <a:latin typeface="EYInterstate Light"/>
                <a:cs typeface="Arial"/>
              </a:rPr>
              <a:t>Support legal advisor prepare contract from a technical and financial perspective</a:t>
            </a:r>
          </a:p>
          <a:p>
            <a:pPr marL="171450" indent="-171450">
              <a:buFont typeface="EYInterstate Light" panose="02000506000000020004" pitchFamily="2" charset="0"/>
              <a:buChar char="•"/>
              <a:defRPr/>
            </a:pPr>
            <a:r>
              <a:rPr lang="en-IN" sz="1050">
                <a:solidFill>
                  <a:srgbClr val="000000"/>
                </a:solidFill>
                <a:latin typeface="EYInterstate Light"/>
                <a:sym typeface="Arial" panose="020B0604020202020204" pitchFamily="34" charset="0"/>
              </a:rPr>
              <a:t>Support with achieve commercial and financial close if required </a:t>
            </a:r>
            <a:endParaRPr lang="en-IN" sz="1050">
              <a:solidFill>
                <a:srgbClr val="000000"/>
              </a:solidFill>
              <a:latin typeface="EYInterstate Light"/>
            </a:endParaRPr>
          </a:p>
          <a:p>
            <a:pPr marL="171450" indent="-171450">
              <a:buFont typeface="EYInterstate Light" panose="02000506000000020004" pitchFamily="2" charset="0"/>
              <a:buChar char="•"/>
              <a:defRPr/>
            </a:pPr>
            <a:endParaRPr lang="en-IN" sz="1050">
              <a:solidFill>
                <a:srgbClr val="000000"/>
              </a:solidFill>
              <a:latin typeface="EYInterstate Light" panose="02000506000000020004" pitchFamily="2" charset="0"/>
              <a:cs typeface="Arial"/>
              <a:sym typeface="Arial" panose="020B0604020202020204" pitchFamily="34" charset="0"/>
            </a:endParaRPr>
          </a:p>
        </p:txBody>
      </p:sp>
      <p:sp>
        <p:nvSpPr>
          <p:cNvPr id="47" name="TextBox 46">
            <a:extLst>
              <a:ext uri="{FF2B5EF4-FFF2-40B4-BE49-F238E27FC236}">
                <a16:creationId xmlns:a16="http://schemas.microsoft.com/office/drawing/2014/main" id="{E286A29C-FB54-6114-0885-F6C6A9104062}"/>
              </a:ext>
            </a:extLst>
          </p:cNvPr>
          <p:cNvSpPr txBox="1">
            <a:spLocks/>
          </p:cNvSpPr>
          <p:nvPr/>
        </p:nvSpPr>
        <p:spPr>
          <a:xfrm>
            <a:off x="9099575" y="4597354"/>
            <a:ext cx="2157883" cy="947793"/>
          </a:xfrm>
          <a:prstGeom prst="roundRect">
            <a:avLst>
              <a:gd name="adj" fmla="val 6549"/>
            </a:avLst>
          </a:prstGeom>
          <a:noFill/>
          <a:ln>
            <a:noFill/>
          </a:ln>
        </p:spPr>
        <p:txBody>
          <a:bodyPr wrap="square" lIns="0" tIns="0" rIns="0" bIns="0" rtlCol="0" anchor="t">
            <a:noAutofit/>
          </a:bodyPr>
          <a:lstStyle/>
          <a:p>
            <a:pPr marL="171450" indent="-171450">
              <a:buFont typeface="EYInterstate Light" panose="02000506000000020004" pitchFamily="2" charset="0"/>
              <a:buChar char="•"/>
              <a:defRPr/>
            </a:pPr>
            <a:r>
              <a:rPr lang="en-US" sz="1050">
                <a:solidFill>
                  <a:srgbClr val="000000"/>
                </a:solidFill>
                <a:latin typeface="EYInterstate Light" panose="02000506000000020004" pitchFamily="2" charset="0"/>
                <a:cs typeface="Arial"/>
              </a:rPr>
              <a:t>D7. Continuous support  </a:t>
            </a:r>
          </a:p>
        </p:txBody>
      </p:sp>
      <p:grpSp>
        <p:nvGrpSpPr>
          <p:cNvPr id="66" name="Group 65">
            <a:extLst>
              <a:ext uri="{FF2B5EF4-FFF2-40B4-BE49-F238E27FC236}">
                <a16:creationId xmlns:a16="http://schemas.microsoft.com/office/drawing/2014/main" id="{DB372D4A-F39D-D853-3E7B-EC0308340FF2}"/>
              </a:ext>
            </a:extLst>
          </p:cNvPr>
          <p:cNvGrpSpPr/>
          <p:nvPr/>
        </p:nvGrpSpPr>
        <p:grpSpPr>
          <a:xfrm>
            <a:off x="1986242" y="1521586"/>
            <a:ext cx="756957" cy="756962"/>
            <a:chOff x="458004" y="2935727"/>
            <a:chExt cx="677228" cy="677238"/>
          </a:xfrm>
        </p:grpSpPr>
        <p:sp>
          <p:nvSpPr>
            <p:cNvPr id="67" name="Freeform: Shape 66">
              <a:extLst>
                <a:ext uri="{FF2B5EF4-FFF2-40B4-BE49-F238E27FC236}">
                  <a16:creationId xmlns:a16="http://schemas.microsoft.com/office/drawing/2014/main" id="{EF019A35-8B11-8E50-AC23-8D98A1BE55C3}"/>
                </a:ext>
              </a:extLst>
            </p:cNvPr>
            <p:cNvSpPr/>
            <p:nvPr/>
          </p:nvSpPr>
          <p:spPr>
            <a:xfrm rot="21079199">
              <a:off x="513033" y="2935727"/>
              <a:ext cx="622173" cy="622173"/>
            </a:xfrm>
            <a:custGeom>
              <a:avLst/>
              <a:gdLst>
                <a:gd name="connsiteX0" fmla="*/ 622173 w 622173"/>
                <a:gd name="connsiteY0" fmla="*/ 311087 h 622173"/>
                <a:gd name="connsiteX1" fmla="*/ 311087 w 622173"/>
                <a:gd name="connsiteY1" fmla="*/ 622173 h 622173"/>
                <a:gd name="connsiteX2" fmla="*/ 0 w 622173"/>
                <a:gd name="connsiteY2" fmla="*/ 311087 h 622173"/>
                <a:gd name="connsiteX3" fmla="*/ 311087 w 622173"/>
                <a:gd name="connsiteY3" fmla="*/ 0 h 622173"/>
                <a:gd name="connsiteX4" fmla="*/ 622173 w 622173"/>
                <a:gd name="connsiteY4" fmla="*/ 311087 h 622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173" h="622173">
                  <a:moveTo>
                    <a:pt x="622173" y="311087"/>
                  </a:moveTo>
                  <a:cubicBezTo>
                    <a:pt x="622173" y="482895"/>
                    <a:pt x="482895" y="622173"/>
                    <a:pt x="311087" y="622173"/>
                  </a:cubicBezTo>
                  <a:cubicBezTo>
                    <a:pt x="139278" y="622173"/>
                    <a:pt x="0" y="482895"/>
                    <a:pt x="0" y="311087"/>
                  </a:cubicBezTo>
                  <a:cubicBezTo>
                    <a:pt x="0" y="139278"/>
                    <a:pt x="139278" y="0"/>
                    <a:pt x="311087" y="0"/>
                  </a:cubicBezTo>
                  <a:cubicBezTo>
                    <a:pt x="482895" y="0"/>
                    <a:pt x="622173" y="139278"/>
                    <a:pt x="622173" y="311087"/>
                  </a:cubicBezTo>
                  <a:close/>
                </a:path>
              </a:pathLst>
            </a:custGeom>
            <a:noFill/>
            <a:ln w="9525" cap="flat">
              <a:solidFill>
                <a:srgbClr val="747480"/>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pitchFamily="2" charset="0"/>
                <a:ea typeface="+mn-ea"/>
                <a:cs typeface="Arial" charset="0"/>
              </a:endParaRPr>
            </a:p>
          </p:txBody>
        </p:sp>
        <p:sp>
          <p:nvSpPr>
            <p:cNvPr id="68" name="Freeform: Shape 67">
              <a:extLst>
                <a:ext uri="{FF2B5EF4-FFF2-40B4-BE49-F238E27FC236}">
                  <a16:creationId xmlns:a16="http://schemas.microsoft.com/office/drawing/2014/main" id="{E9F63BB1-1496-828D-276F-734D63B58155}"/>
                </a:ext>
              </a:extLst>
            </p:cNvPr>
            <p:cNvSpPr/>
            <p:nvPr/>
          </p:nvSpPr>
          <p:spPr>
            <a:xfrm>
              <a:off x="714704" y="2935740"/>
              <a:ext cx="420528" cy="509206"/>
            </a:xfrm>
            <a:custGeom>
              <a:avLst/>
              <a:gdLst>
                <a:gd name="connsiteX0" fmla="*/ 349282 w 420528"/>
                <a:gd name="connsiteY0" fmla="*/ 509207 h 509206"/>
                <a:gd name="connsiteX1" fmla="*/ 420529 w 420528"/>
                <a:gd name="connsiteY1" fmla="*/ 311087 h 509206"/>
                <a:gd name="connsiteX2" fmla="*/ 109442 w 420528"/>
                <a:gd name="connsiteY2" fmla="*/ 0 h 509206"/>
                <a:gd name="connsiteX3" fmla="*/ 0 w 420528"/>
                <a:gd name="connsiteY3" fmla="*/ 19812 h 509206"/>
              </a:gdLst>
              <a:ahLst/>
              <a:cxnLst>
                <a:cxn ang="0">
                  <a:pos x="connsiteX0" y="connsiteY0"/>
                </a:cxn>
                <a:cxn ang="0">
                  <a:pos x="connsiteX1" y="connsiteY1"/>
                </a:cxn>
                <a:cxn ang="0">
                  <a:pos x="connsiteX2" y="connsiteY2"/>
                </a:cxn>
                <a:cxn ang="0">
                  <a:pos x="connsiteX3" y="connsiteY3"/>
                </a:cxn>
              </a:cxnLst>
              <a:rect l="l" t="t" r="r" b="b"/>
              <a:pathLst>
                <a:path w="420528" h="509206">
                  <a:moveTo>
                    <a:pt x="349282" y="509207"/>
                  </a:moveTo>
                  <a:cubicBezTo>
                    <a:pt x="393764" y="455390"/>
                    <a:pt x="420529" y="386334"/>
                    <a:pt x="420529" y="311087"/>
                  </a:cubicBezTo>
                  <a:cubicBezTo>
                    <a:pt x="420529" y="139256"/>
                    <a:pt x="281273" y="0"/>
                    <a:pt x="109442" y="0"/>
                  </a:cubicBezTo>
                  <a:cubicBezTo>
                    <a:pt x="70961" y="0"/>
                    <a:pt x="34004" y="6953"/>
                    <a:pt x="0" y="19812"/>
                  </a:cubicBezTo>
                </a:path>
              </a:pathLst>
            </a:custGeom>
            <a:noFill/>
            <a:ln w="47625" cap="flat">
              <a:solidFill>
                <a:srgbClr val="1A9AFA"/>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pitchFamily="2" charset="0"/>
                <a:ea typeface="+mn-ea"/>
                <a:cs typeface="Arial" charset="0"/>
              </a:endParaRPr>
            </a:p>
          </p:txBody>
        </p:sp>
        <p:sp>
          <p:nvSpPr>
            <p:cNvPr id="69" name="Freeform: Shape 68">
              <a:extLst>
                <a:ext uri="{FF2B5EF4-FFF2-40B4-BE49-F238E27FC236}">
                  <a16:creationId xmlns:a16="http://schemas.microsoft.com/office/drawing/2014/main" id="{2683B624-596B-14F9-FE64-12A9BBC200F7}"/>
                </a:ext>
              </a:extLst>
            </p:cNvPr>
            <p:cNvSpPr/>
            <p:nvPr/>
          </p:nvSpPr>
          <p:spPr>
            <a:xfrm>
              <a:off x="458004" y="3127856"/>
              <a:ext cx="428339" cy="485109"/>
            </a:xfrm>
            <a:custGeom>
              <a:avLst/>
              <a:gdLst>
                <a:gd name="connsiteX0" fmla="*/ 19717 w 428339"/>
                <a:gd name="connsiteY0" fmla="*/ 0 h 485108"/>
                <a:gd name="connsiteX1" fmla="*/ 0 w 428339"/>
                <a:gd name="connsiteY1" fmla="*/ 118967 h 485108"/>
                <a:gd name="connsiteX2" fmla="*/ 366141 w 428339"/>
                <a:gd name="connsiteY2" fmla="*/ 485108 h 485108"/>
                <a:gd name="connsiteX3" fmla="*/ 428339 w 428339"/>
                <a:gd name="connsiteY3" fmla="*/ 479870 h 485108"/>
              </a:gdLst>
              <a:ahLst/>
              <a:cxnLst>
                <a:cxn ang="0">
                  <a:pos x="connsiteX0" y="connsiteY0"/>
                </a:cxn>
                <a:cxn ang="0">
                  <a:pos x="connsiteX1" y="connsiteY1"/>
                </a:cxn>
                <a:cxn ang="0">
                  <a:pos x="connsiteX2" y="connsiteY2"/>
                </a:cxn>
                <a:cxn ang="0">
                  <a:pos x="connsiteX3" y="connsiteY3"/>
                </a:cxn>
              </a:cxnLst>
              <a:rect l="l" t="t" r="r" b="b"/>
              <a:pathLst>
                <a:path w="428339" h="485108">
                  <a:moveTo>
                    <a:pt x="19717" y="0"/>
                  </a:moveTo>
                  <a:cubicBezTo>
                    <a:pt x="6953" y="37338"/>
                    <a:pt x="0" y="77343"/>
                    <a:pt x="0" y="118967"/>
                  </a:cubicBezTo>
                  <a:cubicBezTo>
                    <a:pt x="0" y="321183"/>
                    <a:pt x="163925" y="485108"/>
                    <a:pt x="366141" y="485108"/>
                  </a:cubicBezTo>
                  <a:cubicBezTo>
                    <a:pt x="387382" y="485108"/>
                    <a:pt x="408146" y="483299"/>
                    <a:pt x="428339" y="479870"/>
                  </a:cubicBezTo>
                </a:path>
              </a:pathLst>
            </a:custGeom>
            <a:noFill/>
            <a:ln w="28575" cap="flat">
              <a:solidFill>
                <a:srgbClr val="3D4147"/>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pitchFamily="2" charset="0"/>
                <a:ea typeface="+mn-ea"/>
                <a:cs typeface="Arial" charset="0"/>
              </a:endParaRPr>
            </a:p>
          </p:txBody>
        </p:sp>
      </p:grpSp>
      <p:grpSp>
        <p:nvGrpSpPr>
          <p:cNvPr id="74" name="Group 73">
            <a:extLst>
              <a:ext uri="{FF2B5EF4-FFF2-40B4-BE49-F238E27FC236}">
                <a16:creationId xmlns:a16="http://schemas.microsoft.com/office/drawing/2014/main" id="{61E6C947-960B-D482-39FF-9F00AA6D46FC}"/>
              </a:ext>
            </a:extLst>
          </p:cNvPr>
          <p:cNvGrpSpPr/>
          <p:nvPr/>
        </p:nvGrpSpPr>
        <p:grpSpPr>
          <a:xfrm>
            <a:off x="4478520" y="1508348"/>
            <a:ext cx="799344" cy="756962"/>
            <a:chOff x="458004" y="2935727"/>
            <a:chExt cx="677228" cy="677238"/>
          </a:xfrm>
        </p:grpSpPr>
        <p:sp>
          <p:nvSpPr>
            <p:cNvPr id="75" name="Freeform: Shape 74">
              <a:extLst>
                <a:ext uri="{FF2B5EF4-FFF2-40B4-BE49-F238E27FC236}">
                  <a16:creationId xmlns:a16="http://schemas.microsoft.com/office/drawing/2014/main" id="{C3044ED2-F648-1B49-09E8-29CE16C0B20F}"/>
                </a:ext>
              </a:extLst>
            </p:cNvPr>
            <p:cNvSpPr/>
            <p:nvPr/>
          </p:nvSpPr>
          <p:spPr>
            <a:xfrm rot="21079199">
              <a:off x="513033" y="2935727"/>
              <a:ext cx="622173" cy="622173"/>
            </a:xfrm>
            <a:custGeom>
              <a:avLst/>
              <a:gdLst>
                <a:gd name="connsiteX0" fmla="*/ 622173 w 622173"/>
                <a:gd name="connsiteY0" fmla="*/ 311087 h 622173"/>
                <a:gd name="connsiteX1" fmla="*/ 311087 w 622173"/>
                <a:gd name="connsiteY1" fmla="*/ 622173 h 622173"/>
                <a:gd name="connsiteX2" fmla="*/ 0 w 622173"/>
                <a:gd name="connsiteY2" fmla="*/ 311087 h 622173"/>
                <a:gd name="connsiteX3" fmla="*/ 311087 w 622173"/>
                <a:gd name="connsiteY3" fmla="*/ 0 h 622173"/>
                <a:gd name="connsiteX4" fmla="*/ 622173 w 622173"/>
                <a:gd name="connsiteY4" fmla="*/ 311087 h 622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173" h="622173">
                  <a:moveTo>
                    <a:pt x="622173" y="311087"/>
                  </a:moveTo>
                  <a:cubicBezTo>
                    <a:pt x="622173" y="482895"/>
                    <a:pt x="482895" y="622173"/>
                    <a:pt x="311087" y="622173"/>
                  </a:cubicBezTo>
                  <a:cubicBezTo>
                    <a:pt x="139278" y="622173"/>
                    <a:pt x="0" y="482895"/>
                    <a:pt x="0" y="311087"/>
                  </a:cubicBezTo>
                  <a:cubicBezTo>
                    <a:pt x="0" y="139278"/>
                    <a:pt x="139278" y="0"/>
                    <a:pt x="311087" y="0"/>
                  </a:cubicBezTo>
                  <a:cubicBezTo>
                    <a:pt x="482895" y="0"/>
                    <a:pt x="622173" y="139278"/>
                    <a:pt x="622173" y="311087"/>
                  </a:cubicBezTo>
                  <a:close/>
                </a:path>
              </a:pathLst>
            </a:custGeom>
            <a:noFill/>
            <a:ln w="9525" cap="flat">
              <a:solidFill>
                <a:srgbClr val="747480"/>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pitchFamily="2" charset="0"/>
                <a:ea typeface="+mn-ea"/>
                <a:cs typeface="Arial" charset="0"/>
              </a:endParaRPr>
            </a:p>
          </p:txBody>
        </p:sp>
        <p:sp>
          <p:nvSpPr>
            <p:cNvPr id="76" name="Freeform: Shape 75">
              <a:extLst>
                <a:ext uri="{FF2B5EF4-FFF2-40B4-BE49-F238E27FC236}">
                  <a16:creationId xmlns:a16="http://schemas.microsoft.com/office/drawing/2014/main" id="{5FAB384E-51EA-6EE0-7F89-221F4D9D12A5}"/>
                </a:ext>
              </a:extLst>
            </p:cNvPr>
            <p:cNvSpPr/>
            <p:nvPr/>
          </p:nvSpPr>
          <p:spPr>
            <a:xfrm>
              <a:off x="714704" y="2935740"/>
              <a:ext cx="420528" cy="509206"/>
            </a:xfrm>
            <a:custGeom>
              <a:avLst/>
              <a:gdLst>
                <a:gd name="connsiteX0" fmla="*/ 349282 w 420528"/>
                <a:gd name="connsiteY0" fmla="*/ 509207 h 509206"/>
                <a:gd name="connsiteX1" fmla="*/ 420529 w 420528"/>
                <a:gd name="connsiteY1" fmla="*/ 311087 h 509206"/>
                <a:gd name="connsiteX2" fmla="*/ 109442 w 420528"/>
                <a:gd name="connsiteY2" fmla="*/ 0 h 509206"/>
                <a:gd name="connsiteX3" fmla="*/ 0 w 420528"/>
                <a:gd name="connsiteY3" fmla="*/ 19812 h 509206"/>
              </a:gdLst>
              <a:ahLst/>
              <a:cxnLst>
                <a:cxn ang="0">
                  <a:pos x="connsiteX0" y="connsiteY0"/>
                </a:cxn>
                <a:cxn ang="0">
                  <a:pos x="connsiteX1" y="connsiteY1"/>
                </a:cxn>
                <a:cxn ang="0">
                  <a:pos x="connsiteX2" y="connsiteY2"/>
                </a:cxn>
                <a:cxn ang="0">
                  <a:pos x="connsiteX3" y="connsiteY3"/>
                </a:cxn>
              </a:cxnLst>
              <a:rect l="l" t="t" r="r" b="b"/>
              <a:pathLst>
                <a:path w="420528" h="509206">
                  <a:moveTo>
                    <a:pt x="349282" y="509207"/>
                  </a:moveTo>
                  <a:cubicBezTo>
                    <a:pt x="393764" y="455390"/>
                    <a:pt x="420529" y="386334"/>
                    <a:pt x="420529" y="311087"/>
                  </a:cubicBezTo>
                  <a:cubicBezTo>
                    <a:pt x="420529" y="139256"/>
                    <a:pt x="281273" y="0"/>
                    <a:pt x="109442" y="0"/>
                  </a:cubicBezTo>
                  <a:cubicBezTo>
                    <a:pt x="70961" y="0"/>
                    <a:pt x="34004" y="6953"/>
                    <a:pt x="0" y="19812"/>
                  </a:cubicBezTo>
                </a:path>
              </a:pathLst>
            </a:custGeom>
            <a:noFill/>
            <a:ln w="47625" cap="flat">
              <a:solidFill>
                <a:srgbClr val="1A9AFA"/>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pitchFamily="2" charset="0"/>
                <a:ea typeface="+mn-ea"/>
                <a:cs typeface="Arial" charset="0"/>
              </a:endParaRPr>
            </a:p>
          </p:txBody>
        </p:sp>
        <p:sp>
          <p:nvSpPr>
            <p:cNvPr id="77" name="Freeform: Shape 76">
              <a:extLst>
                <a:ext uri="{FF2B5EF4-FFF2-40B4-BE49-F238E27FC236}">
                  <a16:creationId xmlns:a16="http://schemas.microsoft.com/office/drawing/2014/main" id="{53670CF6-EA98-D1A7-8E96-720436E1BA65}"/>
                </a:ext>
              </a:extLst>
            </p:cNvPr>
            <p:cNvSpPr/>
            <p:nvPr/>
          </p:nvSpPr>
          <p:spPr>
            <a:xfrm>
              <a:off x="458004" y="3127856"/>
              <a:ext cx="428339" cy="485109"/>
            </a:xfrm>
            <a:custGeom>
              <a:avLst/>
              <a:gdLst>
                <a:gd name="connsiteX0" fmla="*/ 19717 w 428339"/>
                <a:gd name="connsiteY0" fmla="*/ 0 h 485108"/>
                <a:gd name="connsiteX1" fmla="*/ 0 w 428339"/>
                <a:gd name="connsiteY1" fmla="*/ 118967 h 485108"/>
                <a:gd name="connsiteX2" fmla="*/ 366141 w 428339"/>
                <a:gd name="connsiteY2" fmla="*/ 485108 h 485108"/>
                <a:gd name="connsiteX3" fmla="*/ 428339 w 428339"/>
                <a:gd name="connsiteY3" fmla="*/ 479870 h 485108"/>
              </a:gdLst>
              <a:ahLst/>
              <a:cxnLst>
                <a:cxn ang="0">
                  <a:pos x="connsiteX0" y="connsiteY0"/>
                </a:cxn>
                <a:cxn ang="0">
                  <a:pos x="connsiteX1" y="connsiteY1"/>
                </a:cxn>
                <a:cxn ang="0">
                  <a:pos x="connsiteX2" y="connsiteY2"/>
                </a:cxn>
                <a:cxn ang="0">
                  <a:pos x="connsiteX3" y="connsiteY3"/>
                </a:cxn>
              </a:cxnLst>
              <a:rect l="l" t="t" r="r" b="b"/>
              <a:pathLst>
                <a:path w="428339" h="485108">
                  <a:moveTo>
                    <a:pt x="19717" y="0"/>
                  </a:moveTo>
                  <a:cubicBezTo>
                    <a:pt x="6953" y="37338"/>
                    <a:pt x="0" y="77343"/>
                    <a:pt x="0" y="118967"/>
                  </a:cubicBezTo>
                  <a:cubicBezTo>
                    <a:pt x="0" y="321183"/>
                    <a:pt x="163925" y="485108"/>
                    <a:pt x="366141" y="485108"/>
                  </a:cubicBezTo>
                  <a:cubicBezTo>
                    <a:pt x="387382" y="485108"/>
                    <a:pt x="408146" y="483299"/>
                    <a:pt x="428339" y="479870"/>
                  </a:cubicBezTo>
                </a:path>
              </a:pathLst>
            </a:custGeom>
            <a:noFill/>
            <a:ln w="28575" cap="flat">
              <a:solidFill>
                <a:srgbClr val="3D4147"/>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pitchFamily="2" charset="0"/>
                <a:ea typeface="+mn-ea"/>
                <a:cs typeface="Arial" charset="0"/>
              </a:endParaRPr>
            </a:p>
          </p:txBody>
        </p:sp>
      </p:grpSp>
      <p:grpSp>
        <p:nvGrpSpPr>
          <p:cNvPr id="82" name="Group 81">
            <a:extLst>
              <a:ext uri="{FF2B5EF4-FFF2-40B4-BE49-F238E27FC236}">
                <a16:creationId xmlns:a16="http://schemas.microsoft.com/office/drawing/2014/main" id="{378694CD-B666-F4C5-052A-BE447EB82ACB}"/>
              </a:ext>
            </a:extLst>
          </p:cNvPr>
          <p:cNvGrpSpPr/>
          <p:nvPr/>
        </p:nvGrpSpPr>
        <p:grpSpPr>
          <a:xfrm>
            <a:off x="9466759" y="1508169"/>
            <a:ext cx="756957" cy="756962"/>
            <a:chOff x="458004" y="2935727"/>
            <a:chExt cx="677228" cy="677238"/>
          </a:xfrm>
        </p:grpSpPr>
        <p:sp>
          <p:nvSpPr>
            <p:cNvPr id="83" name="Freeform: Shape 82">
              <a:extLst>
                <a:ext uri="{FF2B5EF4-FFF2-40B4-BE49-F238E27FC236}">
                  <a16:creationId xmlns:a16="http://schemas.microsoft.com/office/drawing/2014/main" id="{98D11D73-94CE-EFBB-D721-E3A18A61864F}"/>
                </a:ext>
              </a:extLst>
            </p:cNvPr>
            <p:cNvSpPr/>
            <p:nvPr/>
          </p:nvSpPr>
          <p:spPr>
            <a:xfrm rot="21079199">
              <a:off x="513033" y="2935727"/>
              <a:ext cx="622173" cy="622173"/>
            </a:xfrm>
            <a:custGeom>
              <a:avLst/>
              <a:gdLst>
                <a:gd name="connsiteX0" fmla="*/ 622173 w 622173"/>
                <a:gd name="connsiteY0" fmla="*/ 311087 h 622173"/>
                <a:gd name="connsiteX1" fmla="*/ 311087 w 622173"/>
                <a:gd name="connsiteY1" fmla="*/ 622173 h 622173"/>
                <a:gd name="connsiteX2" fmla="*/ 0 w 622173"/>
                <a:gd name="connsiteY2" fmla="*/ 311087 h 622173"/>
                <a:gd name="connsiteX3" fmla="*/ 311087 w 622173"/>
                <a:gd name="connsiteY3" fmla="*/ 0 h 622173"/>
                <a:gd name="connsiteX4" fmla="*/ 622173 w 622173"/>
                <a:gd name="connsiteY4" fmla="*/ 311087 h 622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173" h="622173">
                  <a:moveTo>
                    <a:pt x="622173" y="311087"/>
                  </a:moveTo>
                  <a:cubicBezTo>
                    <a:pt x="622173" y="482895"/>
                    <a:pt x="482895" y="622173"/>
                    <a:pt x="311087" y="622173"/>
                  </a:cubicBezTo>
                  <a:cubicBezTo>
                    <a:pt x="139278" y="622173"/>
                    <a:pt x="0" y="482895"/>
                    <a:pt x="0" y="311087"/>
                  </a:cubicBezTo>
                  <a:cubicBezTo>
                    <a:pt x="0" y="139278"/>
                    <a:pt x="139278" y="0"/>
                    <a:pt x="311087" y="0"/>
                  </a:cubicBezTo>
                  <a:cubicBezTo>
                    <a:pt x="482895" y="0"/>
                    <a:pt x="622173" y="139278"/>
                    <a:pt x="622173" y="311087"/>
                  </a:cubicBezTo>
                  <a:close/>
                </a:path>
              </a:pathLst>
            </a:custGeom>
            <a:noFill/>
            <a:ln w="9525" cap="flat">
              <a:solidFill>
                <a:srgbClr val="747480"/>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pitchFamily="2" charset="0"/>
                <a:ea typeface="+mn-ea"/>
                <a:cs typeface="Arial" charset="0"/>
              </a:endParaRPr>
            </a:p>
          </p:txBody>
        </p:sp>
        <p:sp>
          <p:nvSpPr>
            <p:cNvPr id="84" name="Freeform: Shape 83">
              <a:extLst>
                <a:ext uri="{FF2B5EF4-FFF2-40B4-BE49-F238E27FC236}">
                  <a16:creationId xmlns:a16="http://schemas.microsoft.com/office/drawing/2014/main" id="{7B3DCF94-F670-9944-5308-2761F51CE53B}"/>
                </a:ext>
              </a:extLst>
            </p:cNvPr>
            <p:cNvSpPr/>
            <p:nvPr/>
          </p:nvSpPr>
          <p:spPr>
            <a:xfrm>
              <a:off x="714704" y="2935740"/>
              <a:ext cx="420528" cy="509206"/>
            </a:xfrm>
            <a:custGeom>
              <a:avLst/>
              <a:gdLst>
                <a:gd name="connsiteX0" fmla="*/ 349282 w 420528"/>
                <a:gd name="connsiteY0" fmla="*/ 509207 h 509206"/>
                <a:gd name="connsiteX1" fmla="*/ 420529 w 420528"/>
                <a:gd name="connsiteY1" fmla="*/ 311087 h 509206"/>
                <a:gd name="connsiteX2" fmla="*/ 109442 w 420528"/>
                <a:gd name="connsiteY2" fmla="*/ 0 h 509206"/>
                <a:gd name="connsiteX3" fmla="*/ 0 w 420528"/>
                <a:gd name="connsiteY3" fmla="*/ 19812 h 509206"/>
              </a:gdLst>
              <a:ahLst/>
              <a:cxnLst>
                <a:cxn ang="0">
                  <a:pos x="connsiteX0" y="connsiteY0"/>
                </a:cxn>
                <a:cxn ang="0">
                  <a:pos x="connsiteX1" y="connsiteY1"/>
                </a:cxn>
                <a:cxn ang="0">
                  <a:pos x="connsiteX2" y="connsiteY2"/>
                </a:cxn>
                <a:cxn ang="0">
                  <a:pos x="connsiteX3" y="connsiteY3"/>
                </a:cxn>
              </a:cxnLst>
              <a:rect l="l" t="t" r="r" b="b"/>
              <a:pathLst>
                <a:path w="420528" h="509206">
                  <a:moveTo>
                    <a:pt x="349282" y="509207"/>
                  </a:moveTo>
                  <a:cubicBezTo>
                    <a:pt x="393764" y="455390"/>
                    <a:pt x="420529" y="386334"/>
                    <a:pt x="420529" y="311087"/>
                  </a:cubicBezTo>
                  <a:cubicBezTo>
                    <a:pt x="420529" y="139256"/>
                    <a:pt x="281273" y="0"/>
                    <a:pt x="109442" y="0"/>
                  </a:cubicBezTo>
                  <a:cubicBezTo>
                    <a:pt x="70961" y="0"/>
                    <a:pt x="34004" y="6953"/>
                    <a:pt x="0" y="19812"/>
                  </a:cubicBezTo>
                </a:path>
              </a:pathLst>
            </a:custGeom>
            <a:noFill/>
            <a:ln w="47625" cap="flat">
              <a:solidFill>
                <a:srgbClr val="1A9AFA"/>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pitchFamily="2" charset="0"/>
                <a:ea typeface="+mn-ea"/>
                <a:cs typeface="Arial" charset="0"/>
              </a:endParaRPr>
            </a:p>
          </p:txBody>
        </p:sp>
        <p:sp>
          <p:nvSpPr>
            <p:cNvPr id="85" name="Freeform: Shape 84">
              <a:extLst>
                <a:ext uri="{FF2B5EF4-FFF2-40B4-BE49-F238E27FC236}">
                  <a16:creationId xmlns:a16="http://schemas.microsoft.com/office/drawing/2014/main" id="{39CE2A3A-D565-F4AD-7464-5D522640627A}"/>
                </a:ext>
              </a:extLst>
            </p:cNvPr>
            <p:cNvSpPr/>
            <p:nvPr/>
          </p:nvSpPr>
          <p:spPr>
            <a:xfrm>
              <a:off x="458004" y="3127856"/>
              <a:ext cx="428339" cy="485109"/>
            </a:xfrm>
            <a:custGeom>
              <a:avLst/>
              <a:gdLst>
                <a:gd name="connsiteX0" fmla="*/ 19717 w 428339"/>
                <a:gd name="connsiteY0" fmla="*/ 0 h 485108"/>
                <a:gd name="connsiteX1" fmla="*/ 0 w 428339"/>
                <a:gd name="connsiteY1" fmla="*/ 118967 h 485108"/>
                <a:gd name="connsiteX2" fmla="*/ 366141 w 428339"/>
                <a:gd name="connsiteY2" fmla="*/ 485108 h 485108"/>
                <a:gd name="connsiteX3" fmla="*/ 428339 w 428339"/>
                <a:gd name="connsiteY3" fmla="*/ 479870 h 485108"/>
              </a:gdLst>
              <a:ahLst/>
              <a:cxnLst>
                <a:cxn ang="0">
                  <a:pos x="connsiteX0" y="connsiteY0"/>
                </a:cxn>
                <a:cxn ang="0">
                  <a:pos x="connsiteX1" y="connsiteY1"/>
                </a:cxn>
                <a:cxn ang="0">
                  <a:pos x="connsiteX2" y="connsiteY2"/>
                </a:cxn>
                <a:cxn ang="0">
                  <a:pos x="connsiteX3" y="connsiteY3"/>
                </a:cxn>
              </a:cxnLst>
              <a:rect l="l" t="t" r="r" b="b"/>
              <a:pathLst>
                <a:path w="428339" h="485108">
                  <a:moveTo>
                    <a:pt x="19717" y="0"/>
                  </a:moveTo>
                  <a:cubicBezTo>
                    <a:pt x="6953" y="37338"/>
                    <a:pt x="0" y="77343"/>
                    <a:pt x="0" y="118967"/>
                  </a:cubicBezTo>
                  <a:cubicBezTo>
                    <a:pt x="0" y="321183"/>
                    <a:pt x="163925" y="485108"/>
                    <a:pt x="366141" y="485108"/>
                  </a:cubicBezTo>
                  <a:cubicBezTo>
                    <a:pt x="387382" y="485108"/>
                    <a:pt x="408146" y="483299"/>
                    <a:pt x="428339" y="479870"/>
                  </a:cubicBezTo>
                </a:path>
              </a:pathLst>
            </a:custGeom>
            <a:noFill/>
            <a:ln w="28575" cap="flat">
              <a:solidFill>
                <a:srgbClr val="3D4147"/>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pitchFamily="2" charset="0"/>
                <a:ea typeface="+mn-ea"/>
                <a:cs typeface="Arial" charset="0"/>
              </a:endParaRPr>
            </a:p>
          </p:txBody>
        </p:sp>
      </p:grpSp>
      <p:pic>
        <p:nvPicPr>
          <p:cNvPr id="98" name="Graphic 97" descr="Share with solid fill">
            <a:extLst>
              <a:ext uri="{FF2B5EF4-FFF2-40B4-BE49-F238E27FC236}">
                <a16:creationId xmlns:a16="http://schemas.microsoft.com/office/drawing/2014/main" id="{EFAF5A1F-CF10-57E4-1C86-FCEEAD386E0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02008" y="1704339"/>
            <a:ext cx="365760" cy="365760"/>
          </a:xfrm>
          <a:prstGeom prst="rect">
            <a:avLst/>
          </a:prstGeom>
        </p:spPr>
      </p:pic>
      <p:pic>
        <p:nvPicPr>
          <p:cNvPr id="100" name="Graphic 99" descr="Share with solid fill">
            <a:extLst>
              <a:ext uri="{FF2B5EF4-FFF2-40B4-BE49-F238E27FC236}">
                <a16:creationId xmlns:a16="http://schemas.microsoft.com/office/drawing/2014/main" id="{E3FA57E9-E354-FB17-3790-3B9D225A5CA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12015" y="1647870"/>
            <a:ext cx="365760" cy="365760"/>
          </a:xfrm>
          <a:prstGeom prst="rect">
            <a:avLst/>
          </a:prstGeom>
        </p:spPr>
      </p:pic>
      <p:pic>
        <p:nvPicPr>
          <p:cNvPr id="102" name="Graphic 101" descr="Handshake with solid fill">
            <a:extLst>
              <a:ext uri="{FF2B5EF4-FFF2-40B4-BE49-F238E27FC236}">
                <a16:creationId xmlns:a16="http://schemas.microsoft.com/office/drawing/2014/main" id="{DD1AA553-9587-0D3C-1EEF-5196B2EF9D0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676402" y="1706747"/>
            <a:ext cx="365760" cy="365760"/>
          </a:xfrm>
          <a:prstGeom prst="rect">
            <a:avLst/>
          </a:prstGeom>
        </p:spPr>
      </p:pic>
      <p:sp>
        <p:nvSpPr>
          <p:cNvPr id="129" name="TextBox 128">
            <a:extLst>
              <a:ext uri="{FF2B5EF4-FFF2-40B4-BE49-F238E27FC236}">
                <a16:creationId xmlns:a16="http://schemas.microsoft.com/office/drawing/2014/main" id="{9FDD8CB3-44C5-3DD6-08F0-A07327A77D9A}"/>
              </a:ext>
            </a:extLst>
          </p:cNvPr>
          <p:cNvSpPr txBox="1">
            <a:spLocks/>
          </p:cNvSpPr>
          <p:nvPr/>
        </p:nvSpPr>
        <p:spPr>
          <a:xfrm rot="16200000">
            <a:off x="-394832" y="3933786"/>
            <a:ext cx="2406317" cy="241716"/>
          </a:xfrm>
          <a:prstGeom prst="roundRect">
            <a:avLst/>
          </a:prstGeom>
          <a:solidFill>
            <a:srgbClr val="F5F5FA"/>
          </a:solidFill>
        </p:spPr>
        <p:txBody>
          <a:bodyPr wrap="square" rtlCol="0" anchor="ctr" anchorCtr="0">
            <a:noAutofit/>
          </a:bodyPr>
          <a:lstStyle/>
          <a:p>
            <a:pPr algn="ctr" defTabSz="457200">
              <a:defRPr/>
            </a:pPr>
            <a:r>
              <a:rPr lang="en-US" sz="900" dirty="0">
                <a:latin typeface="EYInterstate Light" panose="02000506000000020004" pitchFamily="2" charset="0"/>
                <a:cs typeface="Arial"/>
              </a:rPr>
              <a:t>Key Tasks</a:t>
            </a:r>
          </a:p>
        </p:txBody>
      </p:sp>
      <p:sp>
        <p:nvSpPr>
          <p:cNvPr id="2" name="Arrow: Pentagon 1">
            <a:extLst>
              <a:ext uri="{FF2B5EF4-FFF2-40B4-BE49-F238E27FC236}">
                <a16:creationId xmlns:a16="http://schemas.microsoft.com/office/drawing/2014/main" id="{3893F7A6-B31E-A02D-AAD9-D886D0F999E4}"/>
              </a:ext>
            </a:extLst>
          </p:cNvPr>
          <p:cNvSpPr/>
          <p:nvPr/>
        </p:nvSpPr>
        <p:spPr bwMode="auto">
          <a:xfrm>
            <a:off x="9093133" y="5868591"/>
            <a:ext cx="2397501" cy="424054"/>
          </a:xfrm>
          <a:prstGeom prst="homePlate">
            <a:avLst>
              <a:gd name="adj" fmla="val 36280"/>
            </a:avLst>
          </a:prstGeom>
          <a:solidFill>
            <a:srgbClr val="D2D2DA"/>
          </a:solidFill>
          <a:ln w="9525" cap="flat" cmpd="sng" algn="ctr">
            <a:noFill/>
            <a:prstDash val="solid"/>
            <a:round/>
            <a:headEnd type="none" w="med" len="med"/>
            <a:tailEnd type="none" w="med" len="med"/>
          </a:ln>
          <a:effectLst/>
        </p:spPr>
        <p:txBody>
          <a:bodyPr vert="horz" wrap="square" lIns="65368" tIns="0" rIns="65368" bIns="0" numCol="1" rtlCol="0" anchor="ctr" anchorCtr="0" compatLnSpc="1">
            <a:prstTxWarp prst="textNoShape">
              <a:avLst/>
            </a:prstTxWarp>
          </a:bodyPr>
          <a:lstStyle/>
          <a:p>
            <a:pPr algn="ctr" defTabSz="830208">
              <a:buFont typeface="EYInterstate Light" panose="02000506000000020004" pitchFamily="2" charset="0"/>
            </a:pPr>
            <a:r>
              <a:rPr lang="en-IN" sz="1000">
                <a:latin typeface="EYInterstate Light" panose="02000506000000020004" pitchFamily="2" charset="0"/>
              </a:rPr>
              <a:t>D7. Weekly Progress report on pending items until transaction close</a:t>
            </a:r>
            <a:endParaRPr lang="en-US" sz="1000">
              <a:latin typeface="EYInterstate Light" panose="02000506000000020004" pitchFamily="2" charset="0"/>
            </a:endParaRPr>
          </a:p>
        </p:txBody>
      </p:sp>
      <p:sp>
        <p:nvSpPr>
          <p:cNvPr id="7" name="TextBox 6">
            <a:extLst>
              <a:ext uri="{FF2B5EF4-FFF2-40B4-BE49-F238E27FC236}">
                <a16:creationId xmlns:a16="http://schemas.microsoft.com/office/drawing/2014/main" id="{15C07E4C-F8BA-8EC2-8DD5-9B6DDF970A8E}"/>
              </a:ext>
            </a:extLst>
          </p:cNvPr>
          <p:cNvSpPr txBox="1">
            <a:spLocks/>
          </p:cNvSpPr>
          <p:nvPr/>
        </p:nvSpPr>
        <p:spPr>
          <a:xfrm>
            <a:off x="6187409" y="3053014"/>
            <a:ext cx="1558856" cy="1992828"/>
          </a:xfrm>
          <a:prstGeom prst="roundRect">
            <a:avLst>
              <a:gd name="adj" fmla="val 6549"/>
            </a:avLst>
          </a:prstGeom>
          <a:noFill/>
          <a:ln>
            <a:noFill/>
          </a:ln>
        </p:spPr>
        <p:txBody>
          <a:bodyPr wrap="square" lIns="0" tIns="0" rIns="0" bIns="0" rtlCol="0" anchor="t">
            <a:noAutofit/>
          </a:bodyPr>
          <a:lstStyle/>
          <a:p>
            <a:pPr marL="171450" indent="-171450" defTabSz="457200">
              <a:buFont typeface="EYInterstate Light" panose="02000506000000020004" pitchFamily="2" charset="0"/>
              <a:buChar char="•"/>
              <a:defRPr/>
            </a:pPr>
            <a:r>
              <a:rPr lang="en-IN" sz="1050">
                <a:solidFill>
                  <a:srgbClr val="000000"/>
                </a:solidFill>
                <a:latin typeface="EYInterstate Light" panose="02000506000000020004" pitchFamily="2" charset="0"/>
                <a:cs typeface="Arial"/>
                <a:sym typeface="Arial" panose="020B0604020202020204" pitchFamily="34" charset="0"/>
              </a:rPr>
              <a:t>Develop evaluation framework</a:t>
            </a:r>
          </a:p>
          <a:p>
            <a:pPr marL="171450" indent="-171450" defTabSz="457200">
              <a:buFont typeface="EYInterstate Light" panose="02000506000000020004" pitchFamily="2" charset="0"/>
              <a:buChar char="•"/>
              <a:defRPr/>
            </a:pPr>
            <a:r>
              <a:rPr lang="en-IN" sz="1050">
                <a:solidFill>
                  <a:srgbClr val="000000"/>
                </a:solidFill>
                <a:latin typeface="EYInterstate Light" panose="02000506000000020004" pitchFamily="2" charset="0"/>
                <a:cs typeface="Arial"/>
                <a:sym typeface="Arial" panose="020B0604020202020204" pitchFamily="34" charset="0"/>
              </a:rPr>
              <a:t>Evaluation of Bids</a:t>
            </a:r>
          </a:p>
          <a:p>
            <a:pPr defTabSz="457200">
              <a:defRPr/>
            </a:pPr>
            <a:endParaRPr lang="en-IN" sz="1000">
              <a:solidFill>
                <a:srgbClr val="000000"/>
              </a:solidFill>
              <a:cs typeface="Arial"/>
            </a:endParaRPr>
          </a:p>
        </p:txBody>
      </p:sp>
      <p:sp>
        <p:nvSpPr>
          <p:cNvPr id="12" name="TextBox 11">
            <a:extLst>
              <a:ext uri="{FF2B5EF4-FFF2-40B4-BE49-F238E27FC236}">
                <a16:creationId xmlns:a16="http://schemas.microsoft.com/office/drawing/2014/main" id="{A551A9F2-C5A6-1CE7-9BFC-3E3E0D6C35F0}"/>
              </a:ext>
            </a:extLst>
          </p:cNvPr>
          <p:cNvSpPr txBox="1">
            <a:spLocks/>
          </p:cNvSpPr>
          <p:nvPr/>
        </p:nvSpPr>
        <p:spPr>
          <a:xfrm>
            <a:off x="6212349" y="4555536"/>
            <a:ext cx="1869089" cy="947793"/>
          </a:xfrm>
          <a:prstGeom prst="roundRect">
            <a:avLst>
              <a:gd name="adj" fmla="val 6549"/>
            </a:avLst>
          </a:prstGeom>
          <a:noFill/>
          <a:ln>
            <a:noFill/>
          </a:ln>
        </p:spPr>
        <p:txBody>
          <a:bodyPr wrap="square" lIns="0" tIns="0" rIns="0" bIns="0" rtlCol="0" anchor="t">
            <a:noAutofit/>
          </a:bodyPr>
          <a:lstStyle/>
          <a:p>
            <a:pPr marL="171450" indent="-171450">
              <a:buFont typeface="EYInterstate Light" panose="02000506000000020004" pitchFamily="2" charset="0"/>
              <a:buChar char="•"/>
              <a:defRPr/>
            </a:pPr>
            <a:r>
              <a:rPr lang="en-US" sz="1050">
                <a:solidFill>
                  <a:srgbClr val="000000"/>
                </a:solidFill>
                <a:latin typeface="EYInterstate Light" panose="02000506000000020004" pitchFamily="2" charset="0"/>
                <a:cs typeface="Arial"/>
              </a:rPr>
              <a:t>D5. Proposal Evaluation Reports</a:t>
            </a:r>
          </a:p>
          <a:p>
            <a:pPr marL="171450" indent="-171450">
              <a:buFont typeface="EYInterstate Light" panose="02000506000000020004" pitchFamily="2" charset="0"/>
              <a:buChar char="•"/>
              <a:defRPr/>
            </a:pPr>
            <a:r>
              <a:rPr lang="en-US" sz="1050">
                <a:solidFill>
                  <a:srgbClr val="000000"/>
                </a:solidFill>
                <a:latin typeface="EYInterstate Light" panose="02000506000000020004" pitchFamily="2" charset="0"/>
                <a:cs typeface="Arial"/>
              </a:rPr>
              <a:t>D6. Executive summary presentation for MIC and </a:t>
            </a:r>
            <a:r>
              <a:rPr lang="en-US" sz="1050" err="1">
                <a:solidFill>
                  <a:srgbClr val="000000"/>
                </a:solidFill>
                <a:latin typeface="EYInterstate Light" panose="02000506000000020004" pitchFamily="2" charset="0"/>
                <a:cs typeface="Arial"/>
              </a:rPr>
              <a:t>BoD</a:t>
            </a:r>
            <a:r>
              <a:rPr lang="en-US" sz="1050">
                <a:solidFill>
                  <a:srgbClr val="000000"/>
                </a:solidFill>
                <a:latin typeface="EYInterstate Light" panose="02000506000000020004" pitchFamily="2" charset="0"/>
                <a:cs typeface="Arial"/>
              </a:rPr>
              <a:t> approval</a:t>
            </a:r>
          </a:p>
          <a:p>
            <a:pPr marL="171450" indent="-171450">
              <a:buFont typeface="EYInterstate Light" panose="02000506000000020004" pitchFamily="2" charset="0"/>
              <a:buChar char="•"/>
              <a:defRPr/>
            </a:pPr>
            <a:endParaRPr lang="en-US" sz="1050">
              <a:solidFill>
                <a:srgbClr val="000000"/>
              </a:solidFill>
              <a:latin typeface="EYInterstate Light" panose="02000506000000020004" pitchFamily="2" charset="0"/>
              <a:cs typeface="Arial"/>
            </a:endParaRPr>
          </a:p>
          <a:p>
            <a:pPr marL="171450" indent="-171450">
              <a:buFont typeface="EYInterstate Light" panose="02000506000000020004" pitchFamily="2" charset="0"/>
              <a:buChar char="•"/>
              <a:defRPr/>
            </a:pPr>
            <a:endParaRPr lang="en-US" sz="1050">
              <a:solidFill>
                <a:srgbClr val="000000"/>
              </a:solidFill>
              <a:latin typeface="EYInterstate Light" panose="02000506000000020004" pitchFamily="2" charset="0"/>
              <a:cs typeface="Arial"/>
            </a:endParaRPr>
          </a:p>
        </p:txBody>
      </p:sp>
      <p:grpSp>
        <p:nvGrpSpPr>
          <p:cNvPr id="14" name="Group 13">
            <a:extLst>
              <a:ext uri="{FF2B5EF4-FFF2-40B4-BE49-F238E27FC236}">
                <a16:creationId xmlns:a16="http://schemas.microsoft.com/office/drawing/2014/main" id="{E3BAB8F2-BEF8-7DE1-4FFA-E8CA84369620}"/>
              </a:ext>
            </a:extLst>
          </p:cNvPr>
          <p:cNvGrpSpPr/>
          <p:nvPr/>
        </p:nvGrpSpPr>
        <p:grpSpPr>
          <a:xfrm>
            <a:off x="6879395" y="1542364"/>
            <a:ext cx="799344" cy="756962"/>
            <a:chOff x="458004" y="2935727"/>
            <a:chExt cx="677228" cy="677238"/>
          </a:xfrm>
        </p:grpSpPr>
        <p:sp>
          <p:nvSpPr>
            <p:cNvPr id="15" name="Freeform: Shape 14">
              <a:extLst>
                <a:ext uri="{FF2B5EF4-FFF2-40B4-BE49-F238E27FC236}">
                  <a16:creationId xmlns:a16="http://schemas.microsoft.com/office/drawing/2014/main" id="{E012DCF9-53BC-93D9-2E4B-0B8533BA8405}"/>
                </a:ext>
              </a:extLst>
            </p:cNvPr>
            <p:cNvSpPr/>
            <p:nvPr/>
          </p:nvSpPr>
          <p:spPr>
            <a:xfrm rot="21079199">
              <a:off x="513033" y="2935727"/>
              <a:ext cx="622173" cy="622173"/>
            </a:xfrm>
            <a:custGeom>
              <a:avLst/>
              <a:gdLst>
                <a:gd name="connsiteX0" fmla="*/ 622173 w 622173"/>
                <a:gd name="connsiteY0" fmla="*/ 311087 h 622173"/>
                <a:gd name="connsiteX1" fmla="*/ 311087 w 622173"/>
                <a:gd name="connsiteY1" fmla="*/ 622173 h 622173"/>
                <a:gd name="connsiteX2" fmla="*/ 0 w 622173"/>
                <a:gd name="connsiteY2" fmla="*/ 311087 h 622173"/>
                <a:gd name="connsiteX3" fmla="*/ 311087 w 622173"/>
                <a:gd name="connsiteY3" fmla="*/ 0 h 622173"/>
                <a:gd name="connsiteX4" fmla="*/ 622173 w 622173"/>
                <a:gd name="connsiteY4" fmla="*/ 311087 h 622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173" h="622173">
                  <a:moveTo>
                    <a:pt x="622173" y="311087"/>
                  </a:moveTo>
                  <a:cubicBezTo>
                    <a:pt x="622173" y="482895"/>
                    <a:pt x="482895" y="622173"/>
                    <a:pt x="311087" y="622173"/>
                  </a:cubicBezTo>
                  <a:cubicBezTo>
                    <a:pt x="139278" y="622173"/>
                    <a:pt x="0" y="482895"/>
                    <a:pt x="0" y="311087"/>
                  </a:cubicBezTo>
                  <a:cubicBezTo>
                    <a:pt x="0" y="139278"/>
                    <a:pt x="139278" y="0"/>
                    <a:pt x="311087" y="0"/>
                  </a:cubicBezTo>
                  <a:cubicBezTo>
                    <a:pt x="482895" y="0"/>
                    <a:pt x="622173" y="139278"/>
                    <a:pt x="622173" y="311087"/>
                  </a:cubicBezTo>
                  <a:close/>
                </a:path>
              </a:pathLst>
            </a:custGeom>
            <a:noFill/>
            <a:ln w="9525" cap="flat">
              <a:solidFill>
                <a:srgbClr val="747480"/>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pitchFamily="2" charset="0"/>
                <a:ea typeface="+mn-ea"/>
                <a:cs typeface="Arial" charset="0"/>
              </a:endParaRPr>
            </a:p>
          </p:txBody>
        </p:sp>
        <p:sp>
          <p:nvSpPr>
            <p:cNvPr id="16" name="Freeform: Shape 15">
              <a:extLst>
                <a:ext uri="{FF2B5EF4-FFF2-40B4-BE49-F238E27FC236}">
                  <a16:creationId xmlns:a16="http://schemas.microsoft.com/office/drawing/2014/main" id="{FFE39C2A-3DF2-6D89-81EA-64B3ED5F125F}"/>
                </a:ext>
              </a:extLst>
            </p:cNvPr>
            <p:cNvSpPr/>
            <p:nvPr/>
          </p:nvSpPr>
          <p:spPr>
            <a:xfrm>
              <a:off x="714704" y="2935740"/>
              <a:ext cx="420528" cy="509206"/>
            </a:xfrm>
            <a:custGeom>
              <a:avLst/>
              <a:gdLst>
                <a:gd name="connsiteX0" fmla="*/ 349282 w 420528"/>
                <a:gd name="connsiteY0" fmla="*/ 509207 h 509206"/>
                <a:gd name="connsiteX1" fmla="*/ 420529 w 420528"/>
                <a:gd name="connsiteY1" fmla="*/ 311087 h 509206"/>
                <a:gd name="connsiteX2" fmla="*/ 109442 w 420528"/>
                <a:gd name="connsiteY2" fmla="*/ 0 h 509206"/>
                <a:gd name="connsiteX3" fmla="*/ 0 w 420528"/>
                <a:gd name="connsiteY3" fmla="*/ 19812 h 509206"/>
              </a:gdLst>
              <a:ahLst/>
              <a:cxnLst>
                <a:cxn ang="0">
                  <a:pos x="connsiteX0" y="connsiteY0"/>
                </a:cxn>
                <a:cxn ang="0">
                  <a:pos x="connsiteX1" y="connsiteY1"/>
                </a:cxn>
                <a:cxn ang="0">
                  <a:pos x="connsiteX2" y="connsiteY2"/>
                </a:cxn>
                <a:cxn ang="0">
                  <a:pos x="connsiteX3" y="connsiteY3"/>
                </a:cxn>
              </a:cxnLst>
              <a:rect l="l" t="t" r="r" b="b"/>
              <a:pathLst>
                <a:path w="420528" h="509206">
                  <a:moveTo>
                    <a:pt x="349282" y="509207"/>
                  </a:moveTo>
                  <a:cubicBezTo>
                    <a:pt x="393764" y="455390"/>
                    <a:pt x="420529" y="386334"/>
                    <a:pt x="420529" y="311087"/>
                  </a:cubicBezTo>
                  <a:cubicBezTo>
                    <a:pt x="420529" y="139256"/>
                    <a:pt x="281273" y="0"/>
                    <a:pt x="109442" y="0"/>
                  </a:cubicBezTo>
                  <a:cubicBezTo>
                    <a:pt x="70961" y="0"/>
                    <a:pt x="34004" y="6953"/>
                    <a:pt x="0" y="19812"/>
                  </a:cubicBezTo>
                </a:path>
              </a:pathLst>
            </a:custGeom>
            <a:noFill/>
            <a:ln w="47625" cap="flat">
              <a:solidFill>
                <a:srgbClr val="1A9AFA"/>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pitchFamily="2" charset="0"/>
                <a:ea typeface="+mn-ea"/>
                <a:cs typeface="Arial" charset="0"/>
              </a:endParaRPr>
            </a:p>
          </p:txBody>
        </p:sp>
        <p:sp>
          <p:nvSpPr>
            <p:cNvPr id="17" name="Freeform: Shape 16">
              <a:extLst>
                <a:ext uri="{FF2B5EF4-FFF2-40B4-BE49-F238E27FC236}">
                  <a16:creationId xmlns:a16="http://schemas.microsoft.com/office/drawing/2014/main" id="{15BF31A5-C908-7C98-5085-CB830025CBAA}"/>
                </a:ext>
              </a:extLst>
            </p:cNvPr>
            <p:cNvSpPr/>
            <p:nvPr/>
          </p:nvSpPr>
          <p:spPr>
            <a:xfrm>
              <a:off x="458004" y="3127856"/>
              <a:ext cx="428339" cy="485109"/>
            </a:xfrm>
            <a:custGeom>
              <a:avLst/>
              <a:gdLst>
                <a:gd name="connsiteX0" fmla="*/ 19717 w 428339"/>
                <a:gd name="connsiteY0" fmla="*/ 0 h 485108"/>
                <a:gd name="connsiteX1" fmla="*/ 0 w 428339"/>
                <a:gd name="connsiteY1" fmla="*/ 118967 h 485108"/>
                <a:gd name="connsiteX2" fmla="*/ 366141 w 428339"/>
                <a:gd name="connsiteY2" fmla="*/ 485108 h 485108"/>
                <a:gd name="connsiteX3" fmla="*/ 428339 w 428339"/>
                <a:gd name="connsiteY3" fmla="*/ 479870 h 485108"/>
              </a:gdLst>
              <a:ahLst/>
              <a:cxnLst>
                <a:cxn ang="0">
                  <a:pos x="connsiteX0" y="connsiteY0"/>
                </a:cxn>
                <a:cxn ang="0">
                  <a:pos x="connsiteX1" y="connsiteY1"/>
                </a:cxn>
                <a:cxn ang="0">
                  <a:pos x="connsiteX2" y="connsiteY2"/>
                </a:cxn>
                <a:cxn ang="0">
                  <a:pos x="connsiteX3" y="connsiteY3"/>
                </a:cxn>
              </a:cxnLst>
              <a:rect l="l" t="t" r="r" b="b"/>
              <a:pathLst>
                <a:path w="428339" h="485108">
                  <a:moveTo>
                    <a:pt x="19717" y="0"/>
                  </a:moveTo>
                  <a:cubicBezTo>
                    <a:pt x="6953" y="37338"/>
                    <a:pt x="0" y="77343"/>
                    <a:pt x="0" y="118967"/>
                  </a:cubicBezTo>
                  <a:cubicBezTo>
                    <a:pt x="0" y="321183"/>
                    <a:pt x="163925" y="485108"/>
                    <a:pt x="366141" y="485108"/>
                  </a:cubicBezTo>
                  <a:cubicBezTo>
                    <a:pt x="387382" y="485108"/>
                    <a:pt x="408146" y="483299"/>
                    <a:pt x="428339" y="479870"/>
                  </a:cubicBezTo>
                </a:path>
              </a:pathLst>
            </a:custGeom>
            <a:noFill/>
            <a:ln w="28575" cap="flat">
              <a:solidFill>
                <a:srgbClr val="3D4147"/>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EYInterstate" pitchFamily="2" charset="0"/>
                <a:ea typeface="+mn-ea"/>
                <a:cs typeface="Arial" charset="0"/>
              </a:endParaRPr>
            </a:p>
          </p:txBody>
        </p:sp>
      </p:grpSp>
      <p:grpSp>
        <p:nvGrpSpPr>
          <p:cNvPr id="22" name="Group 21">
            <a:extLst>
              <a:ext uri="{FF2B5EF4-FFF2-40B4-BE49-F238E27FC236}">
                <a16:creationId xmlns:a16="http://schemas.microsoft.com/office/drawing/2014/main" id="{1783FBE6-2EB2-2EB2-B2E3-958B1A9A90E2}"/>
              </a:ext>
            </a:extLst>
          </p:cNvPr>
          <p:cNvGrpSpPr/>
          <p:nvPr/>
        </p:nvGrpSpPr>
        <p:grpSpPr>
          <a:xfrm>
            <a:off x="1340393" y="2276929"/>
            <a:ext cx="2351980" cy="589011"/>
            <a:chOff x="5645465" y="2450818"/>
            <a:chExt cx="1864241" cy="589011"/>
          </a:xfrm>
        </p:grpSpPr>
        <p:grpSp>
          <p:nvGrpSpPr>
            <p:cNvPr id="24" name="Group 23">
              <a:extLst>
                <a:ext uri="{FF2B5EF4-FFF2-40B4-BE49-F238E27FC236}">
                  <a16:creationId xmlns:a16="http://schemas.microsoft.com/office/drawing/2014/main" id="{CFFF02D4-0D21-A655-389D-AEA3DE6426DF}"/>
                </a:ext>
              </a:extLst>
            </p:cNvPr>
            <p:cNvGrpSpPr/>
            <p:nvPr/>
          </p:nvGrpSpPr>
          <p:grpSpPr>
            <a:xfrm>
              <a:off x="5645465" y="2450818"/>
              <a:ext cx="1838301" cy="589011"/>
              <a:chOff x="1197551" y="2451855"/>
              <a:chExt cx="1838301" cy="589011"/>
            </a:xfrm>
          </p:grpSpPr>
          <p:pic>
            <p:nvPicPr>
              <p:cNvPr id="40" name="Graphic 39">
                <a:extLst>
                  <a:ext uri="{FF2B5EF4-FFF2-40B4-BE49-F238E27FC236}">
                    <a16:creationId xmlns:a16="http://schemas.microsoft.com/office/drawing/2014/main" id="{E955D761-FF72-5F04-955A-D420CF61C2D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97551" y="2707751"/>
                <a:ext cx="266492" cy="333115"/>
              </a:xfrm>
              <a:prstGeom prst="rect">
                <a:avLst/>
              </a:prstGeom>
            </p:spPr>
          </p:pic>
          <p:pic>
            <p:nvPicPr>
              <p:cNvPr id="41" name="Graphic 40">
                <a:extLst>
                  <a:ext uri="{FF2B5EF4-FFF2-40B4-BE49-F238E27FC236}">
                    <a16:creationId xmlns:a16="http://schemas.microsoft.com/office/drawing/2014/main" id="{B68236A6-8101-7CE2-18AE-E655C34433F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197716" y="2451855"/>
                <a:ext cx="1838136" cy="344577"/>
              </a:xfrm>
              <a:prstGeom prst="rect">
                <a:avLst/>
              </a:prstGeom>
            </p:spPr>
          </p:pic>
        </p:grpSp>
        <p:sp>
          <p:nvSpPr>
            <p:cNvPr id="39" name="TextBox 38">
              <a:extLst>
                <a:ext uri="{FF2B5EF4-FFF2-40B4-BE49-F238E27FC236}">
                  <a16:creationId xmlns:a16="http://schemas.microsoft.com/office/drawing/2014/main" id="{2323C741-AFF0-4454-6E3F-6A8DDC264136}"/>
                </a:ext>
              </a:extLst>
            </p:cNvPr>
            <p:cNvSpPr txBox="1"/>
            <p:nvPr/>
          </p:nvSpPr>
          <p:spPr>
            <a:xfrm>
              <a:off x="5655157" y="2478116"/>
              <a:ext cx="1854549" cy="261610"/>
            </a:xfrm>
            <a:prstGeom prst="rect">
              <a:avLst/>
            </a:prstGeom>
            <a:noFill/>
          </p:spPr>
          <p:txBody>
            <a:bodyPr wrap="square" rtlCol="0" anchor="ctr">
              <a:spAutoFit/>
            </a:bodyPr>
            <a:lstStyle/>
            <a:p>
              <a:pPr algn="ctr"/>
              <a:r>
                <a:rPr lang="en-US" sz="1100" b="1"/>
                <a:t>RFP Review and update</a:t>
              </a:r>
            </a:p>
          </p:txBody>
        </p:sp>
      </p:grpSp>
      <p:grpSp>
        <p:nvGrpSpPr>
          <p:cNvPr id="54" name="Group 53">
            <a:extLst>
              <a:ext uri="{FF2B5EF4-FFF2-40B4-BE49-F238E27FC236}">
                <a16:creationId xmlns:a16="http://schemas.microsoft.com/office/drawing/2014/main" id="{38D631E7-F473-1ACD-5429-ADEB758AB082}"/>
              </a:ext>
            </a:extLst>
          </p:cNvPr>
          <p:cNvGrpSpPr/>
          <p:nvPr/>
        </p:nvGrpSpPr>
        <p:grpSpPr>
          <a:xfrm>
            <a:off x="1899924" y="2726325"/>
            <a:ext cx="486537" cy="285867"/>
            <a:chOff x="1945684" y="3110194"/>
            <a:chExt cx="486537" cy="285867"/>
          </a:xfrm>
        </p:grpSpPr>
        <p:sp>
          <p:nvSpPr>
            <p:cNvPr id="56" name="Arrow: Chevron 55">
              <a:extLst>
                <a:ext uri="{FF2B5EF4-FFF2-40B4-BE49-F238E27FC236}">
                  <a16:creationId xmlns:a16="http://schemas.microsoft.com/office/drawing/2014/main" id="{6D1E92EA-A464-F42A-F405-1D3DD1EC233E}"/>
                </a:ext>
              </a:extLst>
            </p:cNvPr>
            <p:cNvSpPr/>
            <p:nvPr/>
          </p:nvSpPr>
          <p:spPr bwMode="auto">
            <a:xfrm rot="5400000">
              <a:off x="2068095" y="3031935"/>
              <a:ext cx="241715" cy="486537"/>
            </a:xfrm>
            <a:prstGeom prst="chevron">
              <a:avLst/>
            </a:prstGeom>
            <a:gradFill flip="none" rotWithShape="1">
              <a:gsLst>
                <a:gs pos="100000">
                  <a:schemeClr val="accent1">
                    <a:lumMod val="5000"/>
                    <a:lumOff val="95000"/>
                    <a:alpha val="0"/>
                  </a:schemeClr>
                </a:gs>
                <a:gs pos="0">
                  <a:srgbClr val="FFE600"/>
                </a:gs>
              </a:gsLst>
              <a:lin ang="10800000" scaled="0"/>
              <a:tileRect/>
            </a:gra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sp>
          <p:nvSpPr>
            <p:cNvPr id="62" name="Arrow: Chevron 61">
              <a:extLst>
                <a:ext uri="{FF2B5EF4-FFF2-40B4-BE49-F238E27FC236}">
                  <a16:creationId xmlns:a16="http://schemas.microsoft.com/office/drawing/2014/main" id="{59D902CA-1654-F2B7-332C-4A1DD909FA77}"/>
                </a:ext>
              </a:extLst>
            </p:cNvPr>
            <p:cNvSpPr/>
            <p:nvPr/>
          </p:nvSpPr>
          <p:spPr bwMode="auto">
            <a:xfrm rot="5400000">
              <a:off x="2112784" y="3033047"/>
              <a:ext cx="152336" cy="306630"/>
            </a:xfrm>
            <a:prstGeom prst="chevron">
              <a:avLst/>
            </a:prstGeom>
            <a:gradFill flip="none" rotWithShape="1">
              <a:gsLst>
                <a:gs pos="100000">
                  <a:schemeClr val="accent1">
                    <a:lumMod val="5000"/>
                    <a:lumOff val="95000"/>
                    <a:alpha val="0"/>
                  </a:schemeClr>
                </a:gs>
                <a:gs pos="0">
                  <a:srgbClr val="27ACAA"/>
                </a:gs>
              </a:gsLst>
              <a:lin ang="10800000" scaled="0"/>
              <a:tileRect/>
            </a:gra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grpSp>
      <p:grpSp>
        <p:nvGrpSpPr>
          <p:cNvPr id="63" name="Group 62">
            <a:extLst>
              <a:ext uri="{FF2B5EF4-FFF2-40B4-BE49-F238E27FC236}">
                <a16:creationId xmlns:a16="http://schemas.microsoft.com/office/drawing/2014/main" id="{1C9D78C3-F4A6-AB8C-B46F-F10624E64EAC}"/>
              </a:ext>
            </a:extLst>
          </p:cNvPr>
          <p:cNvGrpSpPr/>
          <p:nvPr/>
        </p:nvGrpSpPr>
        <p:grpSpPr>
          <a:xfrm>
            <a:off x="3830635" y="2262391"/>
            <a:ext cx="2384706" cy="589011"/>
            <a:chOff x="5645465" y="2450818"/>
            <a:chExt cx="1890181" cy="589011"/>
          </a:xfrm>
        </p:grpSpPr>
        <p:grpSp>
          <p:nvGrpSpPr>
            <p:cNvPr id="64" name="Group 63">
              <a:extLst>
                <a:ext uri="{FF2B5EF4-FFF2-40B4-BE49-F238E27FC236}">
                  <a16:creationId xmlns:a16="http://schemas.microsoft.com/office/drawing/2014/main" id="{8A008046-4711-0476-D79A-AB6444D51F39}"/>
                </a:ext>
              </a:extLst>
            </p:cNvPr>
            <p:cNvGrpSpPr/>
            <p:nvPr/>
          </p:nvGrpSpPr>
          <p:grpSpPr>
            <a:xfrm>
              <a:off x="5645465" y="2450818"/>
              <a:ext cx="1838301" cy="589011"/>
              <a:chOff x="1197551" y="2451855"/>
              <a:chExt cx="1838301" cy="589011"/>
            </a:xfrm>
          </p:grpSpPr>
          <p:pic>
            <p:nvPicPr>
              <p:cNvPr id="70" name="Graphic 69">
                <a:extLst>
                  <a:ext uri="{FF2B5EF4-FFF2-40B4-BE49-F238E27FC236}">
                    <a16:creationId xmlns:a16="http://schemas.microsoft.com/office/drawing/2014/main" id="{E5E78A0E-91CA-3DAB-740A-5A83C41057E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97551" y="2707751"/>
                <a:ext cx="266492" cy="333115"/>
              </a:xfrm>
              <a:prstGeom prst="rect">
                <a:avLst/>
              </a:prstGeom>
            </p:spPr>
          </p:pic>
          <p:pic>
            <p:nvPicPr>
              <p:cNvPr id="71" name="Graphic 70">
                <a:extLst>
                  <a:ext uri="{FF2B5EF4-FFF2-40B4-BE49-F238E27FC236}">
                    <a16:creationId xmlns:a16="http://schemas.microsoft.com/office/drawing/2014/main" id="{A4B74981-F842-ADCA-4928-F12E5AAD9866}"/>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197716" y="2451855"/>
                <a:ext cx="1838136" cy="344577"/>
              </a:xfrm>
              <a:prstGeom prst="rect">
                <a:avLst/>
              </a:prstGeom>
            </p:spPr>
          </p:pic>
        </p:grpSp>
        <p:sp>
          <p:nvSpPr>
            <p:cNvPr id="65" name="TextBox 64">
              <a:extLst>
                <a:ext uri="{FF2B5EF4-FFF2-40B4-BE49-F238E27FC236}">
                  <a16:creationId xmlns:a16="http://schemas.microsoft.com/office/drawing/2014/main" id="{988FBB67-AD9C-6F17-89AA-77E80629144B}"/>
                </a:ext>
              </a:extLst>
            </p:cNvPr>
            <p:cNvSpPr txBox="1"/>
            <p:nvPr/>
          </p:nvSpPr>
          <p:spPr>
            <a:xfrm>
              <a:off x="5681097" y="2487599"/>
              <a:ext cx="1854549" cy="261610"/>
            </a:xfrm>
            <a:prstGeom prst="rect">
              <a:avLst/>
            </a:prstGeom>
            <a:noFill/>
          </p:spPr>
          <p:txBody>
            <a:bodyPr wrap="square" rtlCol="0" anchor="ctr">
              <a:spAutoFit/>
            </a:bodyPr>
            <a:lstStyle/>
            <a:p>
              <a:pPr algn="ctr"/>
              <a:r>
                <a:rPr lang="en-US" sz="1100" b="1"/>
                <a:t>Bid Period and Clarification</a:t>
              </a:r>
            </a:p>
          </p:txBody>
        </p:sp>
      </p:grpSp>
      <p:grpSp>
        <p:nvGrpSpPr>
          <p:cNvPr id="72" name="Group 71">
            <a:extLst>
              <a:ext uri="{FF2B5EF4-FFF2-40B4-BE49-F238E27FC236}">
                <a16:creationId xmlns:a16="http://schemas.microsoft.com/office/drawing/2014/main" id="{D4CB6188-2D84-5319-EAA3-670D8DF3255D}"/>
              </a:ext>
            </a:extLst>
          </p:cNvPr>
          <p:cNvGrpSpPr/>
          <p:nvPr/>
        </p:nvGrpSpPr>
        <p:grpSpPr>
          <a:xfrm>
            <a:off x="4315507" y="2700135"/>
            <a:ext cx="486537" cy="285867"/>
            <a:chOff x="1945684" y="3110194"/>
            <a:chExt cx="486537" cy="285867"/>
          </a:xfrm>
        </p:grpSpPr>
        <p:sp>
          <p:nvSpPr>
            <p:cNvPr id="73" name="Arrow: Chevron 72">
              <a:extLst>
                <a:ext uri="{FF2B5EF4-FFF2-40B4-BE49-F238E27FC236}">
                  <a16:creationId xmlns:a16="http://schemas.microsoft.com/office/drawing/2014/main" id="{B3E1A9B3-D4A5-8490-7984-62639077B004}"/>
                </a:ext>
              </a:extLst>
            </p:cNvPr>
            <p:cNvSpPr/>
            <p:nvPr/>
          </p:nvSpPr>
          <p:spPr bwMode="auto">
            <a:xfrm rot="5400000">
              <a:off x="2068095" y="3031935"/>
              <a:ext cx="241715" cy="486537"/>
            </a:xfrm>
            <a:prstGeom prst="chevron">
              <a:avLst/>
            </a:prstGeom>
            <a:gradFill flip="none" rotWithShape="1">
              <a:gsLst>
                <a:gs pos="100000">
                  <a:schemeClr val="accent1">
                    <a:lumMod val="5000"/>
                    <a:lumOff val="95000"/>
                    <a:alpha val="0"/>
                  </a:schemeClr>
                </a:gs>
                <a:gs pos="0">
                  <a:srgbClr val="FFE600"/>
                </a:gs>
              </a:gsLst>
              <a:lin ang="10800000" scaled="0"/>
              <a:tileRect/>
            </a:gra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sp>
          <p:nvSpPr>
            <p:cNvPr id="78" name="Arrow: Chevron 77">
              <a:extLst>
                <a:ext uri="{FF2B5EF4-FFF2-40B4-BE49-F238E27FC236}">
                  <a16:creationId xmlns:a16="http://schemas.microsoft.com/office/drawing/2014/main" id="{5319CE72-14F9-6EF2-1D7A-C0247A26C962}"/>
                </a:ext>
              </a:extLst>
            </p:cNvPr>
            <p:cNvSpPr/>
            <p:nvPr/>
          </p:nvSpPr>
          <p:spPr bwMode="auto">
            <a:xfrm rot="5400000">
              <a:off x="2112784" y="3033047"/>
              <a:ext cx="152336" cy="306630"/>
            </a:xfrm>
            <a:prstGeom prst="chevron">
              <a:avLst/>
            </a:prstGeom>
            <a:gradFill flip="none" rotWithShape="1">
              <a:gsLst>
                <a:gs pos="100000">
                  <a:schemeClr val="accent1">
                    <a:lumMod val="5000"/>
                    <a:lumOff val="95000"/>
                    <a:alpha val="0"/>
                  </a:schemeClr>
                </a:gs>
                <a:gs pos="0">
                  <a:srgbClr val="27ACAA"/>
                </a:gs>
              </a:gsLst>
              <a:lin ang="10800000" scaled="0"/>
              <a:tileRect/>
            </a:gra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grpSp>
      <p:grpSp>
        <p:nvGrpSpPr>
          <p:cNvPr id="79" name="Group 78">
            <a:extLst>
              <a:ext uri="{FF2B5EF4-FFF2-40B4-BE49-F238E27FC236}">
                <a16:creationId xmlns:a16="http://schemas.microsoft.com/office/drawing/2014/main" id="{535890C4-2433-DE91-4D7B-A611DA34A2C9}"/>
              </a:ext>
            </a:extLst>
          </p:cNvPr>
          <p:cNvGrpSpPr/>
          <p:nvPr/>
        </p:nvGrpSpPr>
        <p:grpSpPr>
          <a:xfrm>
            <a:off x="6362704" y="2283811"/>
            <a:ext cx="2364208" cy="589011"/>
            <a:chOff x="5645465" y="2450818"/>
            <a:chExt cx="1873933" cy="589011"/>
          </a:xfrm>
        </p:grpSpPr>
        <p:grpSp>
          <p:nvGrpSpPr>
            <p:cNvPr id="80" name="Group 79">
              <a:extLst>
                <a:ext uri="{FF2B5EF4-FFF2-40B4-BE49-F238E27FC236}">
                  <a16:creationId xmlns:a16="http://schemas.microsoft.com/office/drawing/2014/main" id="{DC83D055-4C07-79E8-34F9-063968071C63}"/>
                </a:ext>
              </a:extLst>
            </p:cNvPr>
            <p:cNvGrpSpPr/>
            <p:nvPr/>
          </p:nvGrpSpPr>
          <p:grpSpPr>
            <a:xfrm>
              <a:off x="5645465" y="2450818"/>
              <a:ext cx="1838301" cy="589011"/>
              <a:chOff x="1197551" y="2451855"/>
              <a:chExt cx="1838301" cy="589011"/>
            </a:xfrm>
          </p:grpSpPr>
          <p:pic>
            <p:nvPicPr>
              <p:cNvPr id="86" name="Graphic 85">
                <a:extLst>
                  <a:ext uri="{FF2B5EF4-FFF2-40B4-BE49-F238E27FC236}">
                    <a16:creationId xmlns:a16="http://schemas.microsoft.com/office/drawing/2014/main" id="{A0429DE9-5F1F-7CE6-C859-6751D0EF515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97551" y="2707751"/>
                <a:ext cx="266492" cy="333115"/>
              </a:xfrm>
              <a:prstGeom prst="rect">
                <a:avLst/>
              </a:prstGeom>
            </p:spPr>
          </p:pic>
          <p:pic>
            <p:nvPicPr>
              <p:cNvPr id="87" name="Graphic 86">
                <a:extLst>
                  <a:ext uri="{FF2B5EF4-FFF2-40B4-BE49-F238E27FC236}">
                    <a16:creationId xmlns:a16="http://schemas.microsoft.com/office/drawing/2014/main" id="{562A0941-887B-6F48-E3CF-F8F05F2C90E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197716" y="2451855"/>
                <a:ext cx="1838136" cy="344577"/>
              </a:xfrm>
              <a:prstGeom prst="rect">
                <a:avLst/>
              </a:prstGeom>
            </p:spPr>
          </p:pic>
        </p:grpSp>
        <p:sp>
          <p:nvSpPr>
            <p:cNvPr id="81" name="TextBox 80">
              <a:extLst>
                <a:ext uri="{FF2B5EF4-FFF2-40B4-BE49-F238E27FC236}">
                  <a16:creationId xmlns:a16="http://schemas.microsoft.com/office/drawing/2014/main" id="{3FEBE4DA-89F7-067E-8178-676155A285EB}"/>
                </a:ext>
              </a:extLst>
            </p:cNvPr>
            <p:cNvSpPr txBox="1"/>
            <p:nvPr/>
          </p:nvSpPr>
          <p:spPr>
            <a:xfrm>
              <a:off x="5664849" y="2499285"/>
              <a:ext cx="1854549" cy="261610"/>
            </a:xfrm>
            <a:prstGeom prst="rect">
              <a:avLst/>
            </a:prstGeom>
            <a:noFill/>
          </p:spPr>
          <p:txBody>
            <a:bodyPr wrap="square" rtlCol="0">
              <a:spAutoFit/>
            </a:bodyPr>
            <a:lstStyle/>
            <a:p>
              <a:pPr algn="ctr"/>
              <a:r>
                <a:rPr lang="en-US" sz="1100" b="1"/>
                <a:t>RFP Evaluation</a:t>
              </a:r>
            </a:p>
          </p:txBody>
        </p:sp>
      </p:grpSp>
      <p:grpSp>
        <p:nvGrpSpPr>
          <p:cNvPr id="88" name="Group 87">
            <a:extLst>
              <a:ext uri="{FF2B5EF4-FFF2-40B4-BE49-F238E27FC236}">
                <a16:creationId xmlns:a16="http://schemas.microsoft.com/office/drawing/2014/main" id="{47362059-1A8E-AC27-053C-DB21AE705CDC}"/>
              </a:ext>
            </a:extLst>
          </p:cNvPr>
          <p:cNvGrpSpPr/>
          <p:nvPr/>
        </p:nvGrpSpPr>
        <p:grpSpPr>
          <a:xfrm>
            <a:off x="6874587" y="2744645"/>
            <a:ext cx="486537" cy="285867"/>
            <a:chOff x="1945684" y="3110194"/>
            <a:chExt cx="486537" cy="285867"/>
          </a:xfrm>
        </p:grpSpPr>
        <p:sp>
          <p:nvSpPr>
            <p:cNvPr id="89" name="Arrow: Chevron 88">
              <a:extLst>
                <a:ext uri="{FF2B5EF4-FFF2-40B4-BE49-F238E27FC236}">
                  <a16:creationId xmlns:a16="http://schemas.microsoft.com/office/drawing/2014/main" id="{9CA1F71E-06B2-3272-26F8-ADBB3970F83F}"/>
                </a:ext>
              </a:extLst>
            </p:cNvPr>
            <p:cNvSpPr/>
            <p:nvPr/>
          </p:nvSpPr>
          <p:spPr bwMode="auto">
            <a:xfrm rot="5400000">
              <a:off x="2068095" y="3031935"/>
              <a:ext cx="241715" cy="486537"/>
            </a:xfrm>
            <a:prstGeom prst="chevron">
              <a:avLst/>
            </a:prstGeom>
            <a:gradFill flip="none" rotWithShape="1">
              <a:gsLst>
                <a:gs pos="100000">
                  <a:schemeClr val="accent1">
                    <a:lumMod val="5000"/>
                    <a:lumOff val="95000"/>
                    <a:alpha val="0"/>
                  </a:schemeClr>
                </a:gs>
                <a:gs pos="0">
                  <a:srgbClr val="FFE600"/>
                </a:gs>
              </a:gsLst>
              <a:lin ang="10800000" scaled="0"/>
              <a:tileRect/>
            </a:gra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sp>
          <p:nvSpPr>
            <p:cNvPr id="95" name="Arrow: Chevron 94">
              <a:extLst>
                <a:ext uri="{FF2B5EF4-FFF2-40B4-BE49-F238E27FC236}">
                  <a16:creationId xmlns:a16="http://schemas.microsoft.com/office/drawing/2014/main" id="{EBBF0EDB-F535-8F00-AD8A-11E2CCA6A786}"/>
                </a:ext>
              </a:extLst>
            </p:cNvPr>
            <p:cNvSpPr/>
            <p:nvPr/>
          </p:nvSpPr>
          <p:spPr bwMode="auto">
            <a:xfrm rot="5400000">
              <a:off x="2112784" y="3033047"/>
              <a:ext cx="152336" cy="306630"/>
            </a:xfrm>
            <a:prstGeom prst="chevron">
              <a:avLst/>
            </a:prstGeom>
            <a:gradFill flip="none" rotWithShape="1">
              <a:gsLst>
                <a:gs pos="100000">
                  <a:schemeClr val="accent1">
                    <a:lumMod val="5000"/>
                    <a:lumOff val="95000"/>
                    <a:alpha val="0"/>
                  </a:schemeClr>
                </a:gs>
                <a:gs pos="0">
                  <a:srgbClr val="27ACAA"/>
                </a:gs>
              </a:gsLst>
              <a:lin ang="10800000" scaled="0"/>
              <a:tileRect/>
            </a:gra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grpSp>
      <p:grpSp>
        <p:nvGrpSpPr>
          <p:cNvPr id="97" name="Group 96">
            <a:extLst>
              <a:ext uri="{FF2B5EF4-FFF2-40B4-BE49-F238E27FC236}">
                <a16:creationId xmlns:a16="http://schemas.microsoft.com/office/drawing/2014/main" id="{94B510B0-3276-054A-A0F9-79EB22A66190}"/>
              </a:ext>
            </a:extLst>
          </p:cNvPr>
          <p:cNvGrpSpPr/>
          <p:nvPr/>
        </p:nvGrpSpPr>
        <p:grpSpPr>
          <a:xfrm>
            <a:off x="8853556" y="2262391"/>
            <a:ext cx="2364208" cy="589011"/>
            <a:chOff x="5645465" y="2450818"/>
            <a:chExt cx="1873933" cy="589011"/>
          </a:xfrm>
        </p:grpSpPr>
        <p:grpSp>
          <p:nvGrpSpPr>
            <p:cNvPr id="99" name="Group 98">
              <a:extLst>
                <a:ext uri="{FF2B5EF4-FFF2-40B4-BE49-F238E27FC236}">
                  <a16:creationId xmlns:a16="http://schemas.microsoft.com/office/drawing/2014/main" id="{FF71C416-1A21-CB88-503A-D44562D35406}"/>
                </a:ext>
              </a:extLst>
            </p:cNvPr>
            <p:cNvGrpSpPr/>
            <p:nvPr/>
          </p:nvGrpSpPr>
          <p:grpSpPr>
            <a:xfrm>
              <a:off x="5645465" y="2450818"/>
              <a:ext cx="1838301" cy="589011"/>
              <a:chOff x="1197551" y="2451855"/>
              <a:chExt cx="1838301" cy="589011"/>
            </a:xfrm>
          </p:grpSpPr>
          <p:pic>
            <p:nvPicPr>
              <p:cNvPr id="103" name="Graphic 102">
                <a:extLst>
                  <a:ext uri="{FF2B5EF4-FFF2-40B4-BE49-F238E27FC236}">
                    <a16:creationId xmlns:a16="http://schemas.microsoft.com/office/drawing/2014/main" id="{97F4024E-ECC9-9E42-BC08-3D86F58649C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97551" y="2707751"/>
                <a:ext cx="266492" cy="333115"/>
              </a:xfrm>
              <a:prstGeom prst="rect">
                <a:avLst/>
              </a:prstGeom>
            </p:spPr>
          </p:pic>
          <p:pic>
            <p:nvPicPr>
              <p:cNvPr id="105" name="Graphic 104">
                <a:extLst>
                  <a:ext uri="{FF2B5EF4-FFF2-40B4-BE49-F238E27FC236}">
                    <a16:creationId xmlns:a16="http://schemas.microsoft.com/office/drawing/2014/main" id="{87962B5E-18C1-4707-A13F-933E3E641F2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197716" y="2451855"/>
                <a:ext cx="1838136" cy="344577"/>
              </a:xfrm>
              <a:prstGeom prst="rect">
                <a:avLst/>
              </a:prstGeom>
            </p:spPr>
          </p:pic>
        </p:grpSp>
        <p:sp>
          <p:nvSpPr>
            <p:cNvPr id="101" name="TextBox 100">
              <a:extLst>
                <a:ext uri="{FF2B5EF4-FFF2-40B4-BE49-F238E27FC236}">
                  <a16:creationId xmlns:a16="http://schemas.microsoft.com/office/drawing/2014/main" id="{3DDF3A71-1568-AEBC-04FF-DA2DAF3F675E}"/>
                </a:ext>
              </a:extLst>
            </p:cNvPr>
            <p:cNvSpPr txBox="1"/>
            <p:nvPr/>
          </p:nvSpPr>
          <p:spPr>
            <a:xfrm>
              <a:off x="5664849" y="2499285"/>
              <a:ext cx="1854549" cy="261610"/>
            </a:xfrm>
            <a:prstGeom prst="rect">
              <a:avLst/>
            </a:prstGeom>
            <a:noFill/>
          </p:spPr>
          <p:txBody>
            <a:bodyPr wrap="square" lIns="91440" tIns="45720" rIns="91440" bIns="45720" rtlCol="0" anchor="t">
              <a:spAutoFit/>
            </a:bodyPr>
            <a:lstStyle/>
            <a:p>
              <a:pPr algn="ctr"/>
              <a:r>
                <a:rPr lang="en-US" sz="1100" b="1"/>
                <a:t>Continuous support </a:t>
              </a:r>
            </a:p>
          </p:txBody>
        </p:sp>
      </p:grpSp>
      <p:grpSp>
        <p:nvGrpSpPr>
          <p:cNvPr id="107" name="Group 106">
            <a:extLst>
              <a:ext uri="{FF2B5EF4-FFF2-40B4-BE49-F238E27FC236}">
                <a16:creationId xmlns:a16="http://schemas.microsoft.com/office/drawing/2014/main" id="{358D2120-D8C9-DE36-EB32-250B6C80248D}"/>
              </a:ext>
            </a:extLst>
          </p:cNvPr>
          <p:cNvGrpSpPr/>
          <p:nvPr/>
        </p:nvGrpSpPr>
        <p:grpSpPr>
          <a:xfrm>
            <a:off x="9364064" y="2744635"/>
            <a:ext cx="486537" cy="285867"/>
            <a:chOff x="1945684" y="3110194"/>
            <a:chExt cx="486537" cy="285867"/>
          </a:xfrm>
        </p:grpSpPr>
        <p:sp>
          <p:nvSpPr>
            <p:cNvPr id="108" name="Arrow: Chevron 107">
              <a:extLst>
                <a:ext uri="{FF2B5EF4-FFF2-40B4-BE49-F238E27FC236}">
                  <a16:creationId xmlns:a16="http://schemas.microsoft.com/office/drawing/2014/main" id="{D145BA38-6B14-F02B-0A90-29D8B702BAA2}"/>
                </a:ext>
              </a:extLst>
            </p:cNvPr>
            <p:cNvSpPr/>
            <p:nvPr/>
          </p:nvSpPr>
          <p:spPr bwMode="auto">
            <a:xfrm rot="5400000">
              <a:off x="2068095" y="3031935"/>
              <a:ext cx="241715" cy="486537"/>
            </a:xfrm>
            <a:prstGeom prst="chevron">
              <a:avLst/>
            </a:prstGeom>
            <a:gradFill flip="none" rotWithShape="1">
              <a:gsLst>
                <a:gs pos="100000">
                  <a:schemeClr val="accent1">
                    <a:lumMod val="5000"/>
                    <a:lumOff val="95000"/>
                    <a:alpha val="0"/>
                  </a:schemeClr>
                </a:gs>
                <a:gs pos="0">
                  <a:srgbClr val="FFE600"/>
                </a:gs>
              </a:gsLst>
              <a:lin ang="10800000" scaled="0"/>
              <a:tileRect/>
            </a:gra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sp>
          <p:nvSpPr>
            <p:cNvPr id="109" name="Arrow: Chevron 108">
              <a:extLst>
                <a:ext uri="{FF2B5EF4-FFF2-40B4-BE49-F238E27FC236}">
                  <a16:creationId xmlns:a16="http://schemas.microsoft.com/office/drawing/2014/main" id="{E8607EEB-EC96-0EE3-BD1A-8F80F07A0BBC}"/>
                </a:ext>
              </a:extLst>
            </p:cNvPr>
            <p:cNvSpPr/>
            <p:nvPr/>
          </p:nvSpPr>
          <p:spPr bwMode="auto">
            <a:xfrm rot="5400000">
              <a:off x="2112784" y="3033047"/>
              <a:ext cx="152336" cy="306630"/>
            </a:xfrm>
            <a:prstGeom prst="chevron">
              <a:avLst/>
            </a:prstGeom>
            <a:gradFill flip="none" rotWithShape="1">
              <a:gsLst>
                <a:gs pos="100000">
                  <a:schemeClr val="accent1">
                    <a:lumMod val="5000"/>
                    <a:lumOff val="95000"/>
                    <a:alpha val="0"/>
                  </a:schemeClr>
                </a:gs>
                <a:gs pos="0">
                  <a:srgbClr val="27ACAA"/>
                </a:gs>
              </a:gsLst>
              <a:lin ang="10800000" scaled="0"/>
              <a:tileRect/>
            </a:gra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grpSp>
      <p:pic>
        <p:nvPicPr>
          <p:cNvPr id="118" name="Graphic 117" descr="Checklist">
            <a:extLst>
              <a:ext uri="{FF2B5EF4-FFF2-40B4-BE49-F238E27FC236}">
                <a16:creationId xmlns:a16="http://schemas.microsoft.com/office/drawing/2014/main" id="{C2BA19A9-3152-CDBA-F4D2-A9EBD390CF1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128351" y="1722423"/>
            <a:ext cx="306267" cy="306267"/>
          </a:xfrm>
          <a:prstGeom prst="rect">
            <a:avLst/>
          </a:prstGeom>
        </p:spPr>
      </p:pic>
      <p:sp>
        <p:nvSpPr>
          <p:cNvPr id="5" name="Arrow: Pentagon 4">
            <a:extLst>
              <a:ext uri="{FF2B5EF4-FFF2-40B4-BE49-F238E27FC236}">
                <a16:creationId xmlns:a16="http://schemas.microsoft.com/office/drawing/2014/main" id="{F2484281-4B1B-F745-B339-962D31728D2F}"/>
              </a:ext>
            </a:extLst>
          </p:cNvPr>
          <p:cNvSpPr/>
          <p:nvPr/>
        </p:nvSpPr>
        <p:spPr bwMode="auto">
          <a:xfrm>
            <a:off x="1066157" y="5853746"/>
            <a:ext cx="7912743" cy="438899"/>
          </a:xfrm>
          <a:prstGeom prst="homePlate">
            <a:avLst>
              <a:gd name="adj" fmla="val 36280"/>
            </a:avLst>
          </a:prstGeom>
          <a:solidFill>
            <a:srgbClr val="D2D2DA"/>
          </a:solidFill>
          <a:ln w="9525" cap="flat" cmpd="sng" algn="ctr">
            <a:noFill/>
            <a:prstDash val="solid"/>
            <a:round/>
            <a:headEnd type="none" w="med" len="med"/>
            <a:tailEnd type="none" w="med" len="med"/>
          </a:ln>
          <a:effectLst/>
        </p:spPr>
        <p:txBody>
          <a:bodyPr vert="horz" wrap="square" lIns="65368" tIns="0" rIns="65368" bIns="0" numCol="1" rtlCol="0" anchor="ctr" anchorCtr="0" compatLnSpc="1">
            <a:prstTxWarp prst="textNoShape">
              <a:avLst/>
            </a:prstTxWarp>
          </a:bodyPr>
          <a:lstStyle/>
          <a:p>
            <a:pPr algn="ctr" defTabSz="830208">
              <a:buFont typeface="EYInterstate Light" panose="02000506000000020004" pitchFamily="2" charset="0"/>
            </a:pPr>
            <a:r>
              <a:rPr lang="en-IN" sz="1000">
                <a:latin typeface="EYInterstate Light" panose="02000506000000020004" pitchFamily="2" charset="0"/>
              </a:rPr>
              <a:t>D3, Weekly status update on internal coordination and over all progress</a:t>
            </a:r>
            <a:endParaRPr lang="en-US" sz="1000">
              <a:latin typeface="EYInterstate Light" panose="02000506000000020004" pitchFamily="2" charset="0"/>
            </a:endParaRPr>
          </a:p>
        </p:txBody>
      </p:sp>
    </p:spTree>
    <p:extLst>
      <p:ext uri="{BB962C8B-B14F-4D97-AF65-F5344CB8AC3E}">
        <p14:creationId xmlns:p14="http://schemas.microsoft.com/office/powerpoint/2010/main" val="22494158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83D16-AF8E-17F5-DD0B-EF29E141ECD9}"/>
            </a:ext>
          </a:extLst>
        </p:cNvPr>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CAF2FB3F-E554-F47B-59C4-FF841CCBE48E}"/>
              </a:ext>
            </a:extLst>
          </p:cNvPr>
          <p:cNvGraphicFramePr>
            <a:graphicFrameLocks noChangeAspect="1"/>
          </p:cNvGraphicFramePr>
          <p:nvPr>
            <p:custDataLst>
              <p:tags r:id="rId1"/>
            </p:custDataLst>
            <p:extLst>
              <p:ext uri="{D42A27DB-BD31-4B8C-83A1-F6EECF244321}">
                <p14:modId xmlns:p14="http://schemas.microsoft.com/office/powerpoint/2010/main" val="13905434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17" name="think-cell data - do not delete" hidden="1">
                        <a:extLst>
                          <a:ext uri="{FF2B5EF4-FFF2-40B4-BE49-F238E27FC236}">
                            <a16:creationId xmlns:a16="http://schemas.microsoft.com/office/drawing/2014/main" id="{CAF2FB3F-E554-F47B-59C4-FF841CCBE48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22249673-DD12-0048-8750-2908F63B26AE}"/>
              </a:ext>
            </a:extLst>
          </p:cNvPr>
          <p:cNvSpPr txBox="1">
            <a:spLocks/>
          </p:cNvSpPr>
          <p:nvPr/>
        </p:nvSpPr>
        <p:spPr>
          <a:xfrm rot="16200000">
            <a:off x="-1078585" y="4094522"/>
            <a:ext cx="4034591" cy="493741"/>
          </a:xfrm>
          <a:prstGeom prst="round2SameRect">
            <a:avLst>
              <a:gd name="adj1" fmla="val 50000"/>
              <a:gd name="adj2" fmla="val 0"/>
            </a:avLst>
          </a:prstGeom>
          <a:solidFill>
            <a:srgbClr val="1A9AFA"/>
          </a:solidFill>
          <a:ln w="3175">
            <a:noFill/>
          </a:ln>
          <a:extLst>
            <a:ext uri="{91240B29-F687-4F45-9708-019B960494DF}">
              <a14:hiddenLine xmlns:a14="http://schemas.microsoft.com/office/drawing/2010/main" w="3175">
                <a:solidFill>
                  <a:srgbClr val="155CB4"/>
                </a:solidFill>
              </a14:hiddenLine>
            </a:ext>
          </a:extLst>
        </p:spPr>
        <p:txBody>
          <a:bodyPr vert="horz" wrap="square" lIns="0" tIns="0" rIns="0" bIns="0" anchor="t">
            <a:noAutofit/>
          </a:bodyPr>
          <a:lstStyle>
            <a:defPPr>
              <a:defRPr lang="en-US"/>
            </a:defPPr>
            <a:lvl4pPr marL="0" marR="0" lvl="3" indent="0" defTabSz="995363" eaLnBrk="0" fontAlgn="auto" latinLnBrk="0" hangingPunct="0">
              <a:lnSpc>
                <a:spcPct val="100000"/>
              </a:lnSpc>
              <a:spcBef>
                <a:spcPts val="0"/>
              </a:spcBef>
              <a:spcAft>
                <a:spcPct val="40000"/>
              </a:spcAft>
              <a:buClr>
                <a:srgbClr val="000000"/>
              </a:buClr>
              <a:buSzPct val="100000"/>
              <a:buFont typeface="EYInterstate" pitchFamily="2" charset="0"/>
              <a:buNone/>
              <a:tabLst>
                <a:tab pos="1614488" algn="l"/>
                <a:tab pos="3228975" algn="l"/>
                <a:tab pos="4665663" algn="r"/>
              </a:tabLst>
              <a:defRPr kumimoji="0" sz="1400" b="1" i="0" u="none" strike="noStrike" cap="none" spc="0" normalizeH="0" baseline="0">
                <a:ln>
                  <a:noFill/>
                </a:ln>
                <a:solidFill>
                  <a:srgbClr val="000000"/>
                </a:solidFill>
                <a:effectLst/>
                <a:uLnTx/>
                <a:uFillTx/>
                <a:latin typeface="+mj-lt"/>
                <a:cs typeface="+mj-cs"/>
              </a:defRPr>
            </a:lvl4pPr>
          </a:lstStyle>
          <a:p>
            <a:pPr marL="0" marR="0" lvl="0" indent="0" algn="ctr" defTabSz="818726" rtl="0" eaLnBrk="1" fontAlgn="base" latinLnBrk="0" hangingPunct="1">
              <a:lnSpc>
                <a:spcPct val="85000"/>
              </a:lnSpc>
              <a:spcBef>
                <a:spcPct val="0"/>
              </a:spcBef>
              <a:spcAft>
                <a:spcPct val="0"/>
              </a:spcAft>
              <a:buClrTx/>
              <a:buSzTx/>
              <a:buFontTx/>
              <a:buNone/>
              <a:tabLst/>
              <a:defRPr/>
            </a:pPr>
            <a:r>
              <a:rPr kumimoji="0" lang="en-US" sz="1000" b="1" i="0" u="none" strike="noStrike" kern="0" cap="none" spc="0" normalizeH="0" baseline="0" noProof="0">
                <a:ln>
                  <a:noFill/>
                </a:ln>
                <a:solidFill>
                  <a:schemeClr val="bg1"/>
                </a:solidFill>
                <a:effectLst/>
                <a:uLnTx/>
                <a:uFillTx/>
                <a:latin typeface="EYInterstate Light"/>
                <a:ea typeface="+mn-ea"/>
                <a:cs typeface="Arial" charset="0"/>
              </a:rPr>
              <a:t>Our Methodology</a:t>
            </a:r>
          </a:p>
        </p:txBody>
      </p:sp>
      <p:sp>
        <p:nvSpPr>
          <p:cNvPr id="34" name="Rectangle 3">
            <a:extLst>
              <a:ext uri="{FF2B5EF4-FFF2-40B4-BE49-F238E27FC236}">
                <a16:creationId xmlns:a16="http://schemas.microsoft.com/office/drawing/2014/main" id="{B465C16B-DE46-33AA-ADF4-0ADF31693DE2}"/>
              </a:ext>
            </a:extLst>
          </p:cNvPr>
          <p:cNvSpPr txBox="1">
            <a:spLocks noChangeArrowheads="1"/>
          </p:cNvSpPr>
          <p:nvPr/>
        </p:nvSpPr>
        <p:spPr bwMode="gray">
          <a:xfrm rot="16200000">
            <a:off x="4269978" y="-981786"/>
            <a:ext cx="3924301" cy="10536065"/>
          </a:xfrm>
          <a:prstGeom prst="round2SameRect">
            <a:avLst>
              <a:gd name="adj1" fmla="val 3334"/>
              <a:gd name="adj2" fmla="val 0"/>
            </a:avLst>
          </a:prstGeom>
          <a:solidFill>
            <a:srgbClr val="FFFFFF"/>
          </a:solidFill>
          <a:ln w="9525">
            <a:noFill/>
            <a:miter lim="800000"/>
            <a:headEnd/>
            <a:tailEnd/>
          </a:ln>
        </p:spPr>
        <p:txBody>
          <a:bodyPr vert="vert" lIns="75238" tIns="75238" rIns="75238" bIns="75238" anchor="ctr">
            <a:noAutofit/>
          </a:bodyPr>
          <a:lstStyle/>
          <a:p>
            <a:pPr marL="0" marR="0" lvl="1" indent="0" algn="just" defTabSz="752396" rtl="0" eaLnBrk="1" fontAlgn="base" latinLnBrk="0" hangingPunct="1">
              <a:lnSpc>
                <a:spcPct val="100000"/>
              </a:lnSpc>
              <a:spcBef>
                <a:spcPct val="0"/>
              </a:spcBef>
              <a:spcAft>
                <a:spcPct val="0"/>
              </a:spcAft>
              <a:buClrTx/>
              <a:buSzPct val="100000"/>
              <a:buFontTx/>
              <a:buNone/>
              <a:tabLst>
                <a:tab pos="1277666" algn="l"/>
                <a:tab pos="2555332" algn="l"/>
                <a:tab pos="3692098" algn="r"/>
              </a:tabLst>
              <a:defRPr/>
            </a:pPr>
            <a:endParaRPr kumimoji="0" lang="en-US" sz="1000" b="1" i="0" u="none" strike="noStrike" kern="0" cap="none" spc="0" normalizeH="0" baseline="0" noProof="0">
              <a:ln>
                <a:noFill/>
              </a:ln>
              <a:solidFill>
                <a:srgbClr val="000000"/>
              </a:solidFill>
              <a:effectLst/>
              <a:highlight>
                <a:srgbClr val="FFFF00"/>
              </a:highlight>
              <a:uLnTx/>
              <a:uFillTx/>
              <a:latin typeface="EYInterstate Light"/>
              <a:ea typeface="+mn-ea"/>
              <a:cs typeface="Arial"/>
            </a:endParaRPr>
          </a:p>
        </p:txBody>
      </p:sp>
      <p:sp>
        <p:nvSpPr>
          <p:cNvPr id="4" name="Title 1">
            <a:extLst>
              <a:ext uri="{FF2B5EF4-FFF2-40B4-BE49-F238E27FC236}">
                <a16:creationId xmlns:a16="http://schemas.microsoft.com/office/drawing/2014/main" id="{6F2BEE5B-6ED1-95DE-61E5-F96C868CAA10}"/>
              </a:ext>
            </a:extLst>
          </p:cNvPr>
          <p:cNvSpPr>
            <a:spLocks noGrp="1"/>
          </p:cNvSpPr>
          <p:nvPr>
            <p:ph type="title"/>
          </p:nvPr>
        </p:nvSpPr>
        <p:spPr>
          <a:xfrm>
            <a:off x="701366" y="273717"/>
            <a:ext cx="10789269" cy="792000"/>
          </a:xfrm>
        </p:spPr>
        <p:txBody>
          <a:bodyPr vert="horz"/>
          <a:lstStyle/>
          <a:p>
            <a:r>
              <a:rPr lang="en-US"/>
              <a:t>Approach and Methodology</a:t>
            </a:r>
            <a:br>
              <a:rPr lang="en-US"/>
            </a:br>
            <a:r>
              <a:rPr lang="en-US" sz="1600"/>
              <a:t>RFP Review and Update</a:t>
            </a:r>
          </a:p>
        </p:txBody>
      </p:sp>
      <p:sp>
        <p:nvSpPr>
          <p:cNvPr id="5" name="Rectangle 3">
            <a:extLst>
              <a:ext uri="{FF2B5EF4-FFF2-40B4-BE49-F238E27FC236}">
                <a16:creationId xmlns:a16="http://schemas.microsoft.com/office/drawing/2014/main" id="{412DC9AA-5DF6-DF34-FEB8-1B695811FFC2}"/>
              </a:ext>
            </a:extLst>
          </p:cNvPr>
          <p:cNvSpPr txBox="1">
            <a:spLocks noChangeArrowheads="1"/>
          </p:cNvSpPr>
          <p:nvPr/>
        </p:nvSpPr>
        <p:spPr bwMode="gray">
          <a:xfrm rot="16200000">
            <a:off x="4212440" y="-938261"/>
            <a:ext cx="4034595" cy="10559302"/>
          </a:xfrm>
          <a:prstGeom prst="round2SameRect">
            <a:avLst>
              <a:gd name="adj1" fmla="val 3726"/>
              <a:gd name="adj2" fmla="val 0"/>
            </a:avLst>
          </a:prstGeom>
          <a:gradFill>
            <a:gsLst>
              <a:gs pos="0">
                <a:srgbClr val="35A4E8">
                  <a:alpha val="16000"/>
                </a:srgbClr>
              </a:gs>
              <a:gs pos="100000">
                <a:srgbClr val="42C9C2">
                  <a:alpha val="5000"/>
                </a:srgbClr>
              </a:gs>
            </a:gsLst>
            <a:lin ang="600000" scaled="0"/>
          </a:gradFill>
          <a:ln w="9525">
            <a:noFill/>
            <a:miter lim="800000"/>
            <a:headEnd/>
            <a:tailEnd/>
          </a:ln>
        </p:spPr>
        <p:txBody>
          <a:bodyPr vert="vert" lIns="75238" tIns="75238" rIns="75238" bIns="75238" anchor="ctr">
            <a:noAutofit/>
          </a:bodyPr>
          <a:lstStyle/>
          <a:p>
            <a:pPr marL="0" marR="0" lvl="1" indent="0" algn="just" defTabSz="752396" rtl="0" eaLnBrk="1" fontAlgn="base" latinLnBrk="0" hangingPunct="1">
              <a:lnSpc>
                <a:spcPct val="100000"/>
              </a:lnSpc>
              <a:spcBef>
                <a:spcPct val="0"/>
              </a:spcBef>
              <a:spcAft>
                <a:spcPct val="0"/>
              </a:spcAft>
              <a:buClrTx/>
              <a:buSzPct val="100000"/>
              <a:buFontTx/>
              <a:buNone/>
              <a:tabLst>
                <a:tab pos="1277666" algn="l"/>
                <a:tab pos="2555332" algn="l"/>
                <a:tab pos="3692098" algn="r"/>
              </a:tabLst>
              <a:defRPr/>
            </a:pPr>
            <a:endParaRPr kumimoji="0" lang="en-US" sz="1000" b="1" i="0" u="none" strike="noStrike" kern="0" cap="none" spc="0" normalizeH="0" baseline="0" noProof="0">
              <a:ln>
                <a:noFill/>
              </a:ln>
              <a:solidFill>
                <a:srgbClr val="000000"/>
              </a:solidFill>
              <a:effectLst/>
              <a:highlight>
                <a:srgbClr val="FFFF00"/>
              </a:highlight>
              <a:uLnTx/>
              <a:uFillTx/>
              <a:latin typeface="EYInterstate Light"/>
              <a:ea typeface="+mn-ea"/>
              <a:cs typeface="Arial"/>
            </a:endParaRPr>
          </a:p>
        </p:txBody>
      </p:sp>
      <p:sp>
        <p:nvSpPr>
          <p:cNvPr id="14" name="Rectangle: Top Corners Rounded 13">
            <a:extLst>
              <a:ext uri="{FF2B5EF4-FFF2-40B4-BE49-F238E27FC236}">
                <a16:creationId xmlns:a16="http://schemas.microsoft.com/office/drawing/2014/main" id="{EB062691-CF10-2B42-EDA5-7B03B1BD35CE}"/>
              </a:ext>
            </a:extLst>
          </p:cNvPr>
          <p:cNvSpPr>
            <a:spLocks/>
          </p:cNvSpPr>
          <p:nvPr/>
        </p:nvSpPr>
        <p:spPr bwMode="auto">
          <a:xfrm>
            <a:off x="1075071" y="2387154"/>
            <a:ext cx="1983090" cy="251369"/>
          </a:xfrm>
          <a:prstGeom prst="round2SameRect">
            <a:avLst>
              <a:gd name="adj1" fmla="val 50000"/>
              <a:gd name="adj2" fmla="val 0"/>
            </a:avLst>
          </a:prstGeom>
          <a:solidFill>
            <a:srgbClr val="1A9AFA"/>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defTabSz="829361" rtl="0" eaLnBrk="1" fontAlgn="base" latinLnBrk="0" hangingPunct="1">
              <a:lnSpc>
                <a:spcPct val="100000"/>
              </a:lnSpc>
              <a:spcBef>
                <a:spcPct val="0"/>
              </a:spcBef>
              <a:spcAft>
                <a:spcPct val="0"/>
              </a:spcAft>
              <a:buClrTx/>
              <a:buSzTx/>
              <a:buFontTx/>
              <a:buNone/>
              <a:tabLst/>
              <a:defRPr/>
            </a:pPr>
            <a:r>
              <a:rPr kumimoji="0" lang="en-IN" sz="1000" b="1" i="0" u="none" strike="noStrike" kern="0" cap="none" spc="0" normalizeH="0" baseline="0" noProof="0" dirty="0">
                <a:ln>
                  <a:noFill/>
                </a:ln>
                <a:solidFill>
                  <a:schemeClr val="bg1"/>
                </a:solidFill>
                <a:effectLst/>
                <a:uLnTx/>
                <a:uFillTx/>
                <a:latin typeface="EYInterstate Light"/>
                <a:ea typeface="+mn-ea"/>
                <a:cs typeface="Arial"/>
              </a:rPr>
              <a:t>Key Activities / Focus Areas</a:t>
            </a:r>
          </a:p>
        </p:txBody>
      </p:sp>
      <p:sp>
        <p:nvSpPr>
          <p:cNvPr id="29" name="Line 10">
            <a:extLst>
              <a:ext uri="{FF2B5EF4-FFF2-40B4-BE49-F238E27FC236}">
                <a16:creationId xmlns:a16="http://schemas.microsoft.com/office/drawing/2014/main" id="{4574A89D-9192-1B8D-B414-2E3AE88380E9}"/>
              </a:ext>
            </a:extLst>
          </p:cNvPr>
          <p:cNvSpPr>
            <a:spLocks noChangeShapeType="1"/>
          </p:cNvSpPr>
          <p:nvPr/>
        </p:nvSpPr>
        <p:spPr bwMode="auto">
          <a:xfrm>
            <a:off x="3031702" y="2623469"/>
            <a:ext cx="4161964" cy="15054"/>
          </a:xfrm>
          <a:prstGeom prst="line">
            <a:avLst/>
          </a:prstGeom>
          <a:noFill/>
          <a:ln w="28575">
            <a:gradFill flip="none" rotWithShape="1">
              <a:gsLst>
                <a:gs pos="0">
                  <a:srgbClr val="1A9AFA"/>
                </a:gs>
                <a:gs pos="100000">
                  <a:srgbClr val="4398F7">
                    <a:alpha val="0"/>
                  </a:srgbClr>
                </a:gs>
              </a:gsLst>
              <a:lin ang="0" scaled="1"/>
              <a:tileRect/>
            </a:gra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8">
              <a:solidFill>
                <a:schemeClr val="bg1"/>
              </a:solidFill>
              <a:latin typeface="EYInterstate Light" panose="02000506000000020004" pitchFamily="2" charset="0"/>
              <a:sym typeface="EYInterstate Light" panose="02000506000000020004" pitchFamily="2" charset="0"/>
            </a:endParaRPr>
          </a:p>
        </p:txBody>
      </p:sp>
      <p:sp>
        <p:nvSpPr>
          <p:cNvPr id="36" name="Isosceles Triangle 35">
            <a:extLst>
              <a:ext uri="{FF2B5EF4-FFF2-40B4-BE49-F238E27FC236}">
                <a16:creationId xmlns:a16="http://schemas.microsoft.com/office/drawing/2014/main" id="{C477FF65-9AEA-E5E2-792E-C4319EBB8B77}"/>
              </a:ext>
            </a:extLst>
          </p:cNvPr>
          <p:cNvSpPr/>
          <p:nvPr/>
        </p:nvSpPr>
        <p:spPr bwMode="auto">
          <a:xfrm rot="5400000">
            <a:off x="909598" y="4244957"/>
            <a:ext cx="187015" cy="82580"/>
          </a:xfrm>
          <a:prstGeom prst="triangle">
            <a:avLst>
              <a:gd name="adj" fmla="val 49998"/>
            </a:avLst>
          </a:prstGeom>
          <a:solidFill>
            <a:srgbClr val="35A4E8"/>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sp>
        <p:nvSpPr>
          <p:cNvPr id="7" name="Rectangle 6">
            <a:extLst>
              <a:ext uri="{FF2B5EF4-FFF2-40B4-BE49-F238E27FC236}">
                <a16:creationId xmlns:a16="http://schemas.microsoft.com/office/drawing/2014/main" id="{337298E4-677A-9DAC-A66D-557A40ABDDA7}"/>
              </a:ext>
            </a:extLst>
          </p:cNvPr>
          <p:cNvSpPr>
            <a:spLocks/>
          </p:cNvSpPr>
          <p:nvPr/>
        </p:nvSpPr>
        <p:spPr>
          <a:xfrm>
            <a:off x="7423353" y="2776050"/>
            <a:ext cx="4076810" cy="637077"/>
          </a:xfrm>
          <a:prstGeom prst="rect">
            <a:avLst/>
          </a:prstGeom>
          <a:solidFill>
            <a:schemeClr val="bg1">
              <a:alpha val="60000"/>
            </a:schemeClr>
          </a:solidFill>
          <a:ln>
            <a:noFill/>
          </a:ln>
        </p:spPr>
        <p:txBody>
          <a:bodyPr wrap="square" lIns="65303" tIns="97955" rIns="65303" bIns="97955" anchor="t">
            <a:noAutofit/>
          </a:bodyPr>
          <a:lstStyle/>
          <a:p>
            <a:pPr marL="172800" lvl="3" indent="-172800" defTabSz="995012" fontAlgn="base">
              <a:buClr>
                <a:srgbClr val="000000"/>
              </a:buClr>
              <a:buSzPct val="100000"/>
              <a:buFont typeface="EYInterstate Light" panose="02000506000000020004" pitchFamily="2" charset="0"/>
              <a:buChar char="•"/>
              <a:tabLst>
                <a:tab pos="1613918" algn="l"/>
                <a:tab pos="3227837" algn="l"/>
                <a:tab pos="4664017" algn="r"/>
              </a:tabLst>
              <a:defRPr/>
            </a:pPr>
            <a:r>
              <a:rPr lang="en-US" sz="1000">
                <a:latin typeface="EYInterstate Light" panose="02000506000000020004" pitchFamily="2" charset="0"/>
                <a:cs typeface="Arial"/>
                <a:sym typeface="EYInterstate Light" panose="02000506000000020004" pitchFamily="2" charset="0"/>
              </a:rPr>
              <a:t>Deliverables: 2 months</a:t>
            </a:r>
          </a:p>
        </p:txBody>
      </p:sp>
      <p:sp>
        <p:nvSpPr>
          <p:cNvPr id="9" name="Rectangle: Top Corners Rounded 8">
            <a:extLst>
              <a:ext uri="{FF2B5EF4-FFF2-40B4-BE49-F238E27FC236}">
                <a16:creationId xmlns:a16="http://schemas.microsoft.com/office/drawing/2014/main" id="{373A442D-198A-1282-ABBB-C4EF9F1AA023}"/>
              </a:ext>
            </a:extLst>
          </p:cNvPr>
          <p:cNvSpPr>
            <a:spLocks/>
          </p:cNvSpPr>
          <p:nvPr/>
        </p:nvSpPr>
        <p:spPr bwMode="auto">
          <a:xfrm rot="16200000">
            <a:off x="5849056" y="4790080"/>
            <a:ext cx="2796787" cy="245959"/>
          </a:xfrm>
          <a:prstGeom prst="round2SameRect">
            <a:avLst>
              <a:gd name="adj1" fmla="val 50000"/>
              <a:gd name="adj2" fmla="val 0"/>
            </a:avLst>
          </a:prstGeom>
          <a:solidFill>
            <a:srgbClr val="C4C4CD"/>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829361" rtl="0" eaLnBrk="1" fontAlgn="base" latinLnBrk="0" hangingPunct="1">
              <a:lnSpc>
                <a:spcPct val="100000"/>
              </a:lnSpc>
              <a:spcBef>
                <a:spcPct val="0"/>
              </a:spcBef>
              <a:spcAft>
                <a:spcPct val="0"/>
              </a:spcAft>
              <a:buClrTx/>
              <a:buSzTx/>
              <a:buFontTx/>
              <a:buNone/>
              <a:tabLst/>
              <a:defRPr/>
            </a:pPr>
            <a:r>
              <a:rPr lang="en-IN" sz="1000" b="1" kern="0">
                <a:latin typeface="EYInterstate Light"/>
                <a:cs typeface="Arial"/>
              </a:rPr>
              <a:t>Assumptions</a:t>
            </a:r>
            <a:endParaRPr kumimoji="0" lang="en-IN" sz="1000" b="1" i="0" u="none" strike="noStrike" kern="0" cap="none" spc="0" normalizeH="0" baseline="0" noProof="0">
              <a:ln>
                <a:noFill/>
              </a:ln>
              <a:effectLst/>
              <a:uLnTx/>
              <a:uFillTx/>
              <a:latin typeface="EYInterstate Light"/>
              <a:ea typeface="+mn-ea"/>
              <a:cs typeface="Arial"/>
            </a:endParaRPr>
          </a:p>
        </p:txBody>
      </p:sp>
      <p:sp>
        <p:nvSpPr>
          <p:cNvPr id="2" name="Rectangle 1">
            <a:extLst>
              <a:ext uri="{FF2B5EF4-FFF2-40B4-BE49-F238E27FC236}">
                <a16:creationId xmlns:a16="http://schemas.microsoft.com/office/drawing/2014/main" id="{F4F04E86-8F39-C4DC-5C55-7E9A925F14DD}"/>
              </a:ext>
            </a:extLst>
          </p:cNvPr>
          <p:cNvSpPr>
            <a:spLocks/>
          </p:cNvSpPr>
          <p:nvPr/>
        </p:nvSpPr>
        <p:spPr>
          <a:xfrm>
            <a:off x="1078007" y="2670716"/>
            <a:ext cx="6087100" cy="3640738"/>
          </a:xfrm>
          <a:prstGeom prst="rect">
            <a:avLst/>
          </a:prstGeom>
          <a:noFill/>
          <a:ln>
            <a:noFill/>
          </a:ln>
        </p:spPr>
        <p:txBody>
          <a:bodyPr wrap="square" lIns="65303" tIns="72000" rIns="65303" bIns="97955" anchor="ctr">
            <a:noAutofit/>
          </a:bodyPr>
          <a:lstStyle/>
          <a:p>
            <a:pPr marL="0" lvl="4" defTabSz="995012" fontAlgn="base">
              <a:spcBef>
                <a:spcPct val="0"/>
              </a:spcBef>
              <a:buClr>
                <a:srgbClr val="000000"/>
              </a:buClr>
              <a:buSzPct val="100000"/>
              <a:tabLst>
                <a:tab pos="1613918" algn="l"/>
                <a:tab pos="3227837" algn="l"/>
                <a:tab pos="4664017" algn="r"/>
              </a:tabLst>
              <a:defRPr/>
            </a:pPr>
            <a:endParaRPr lang="en-IN" sz="1000">
              <a:solidFill>
                <a:srgbClr val="000000"/>
              </a:solidFill>
              <a:latin typeface="EYInterstate Light" panose="02000506000000020004" pitchFamily="2" charset="0"/>
              <a:cs typeface="Arial"/>
              <a:sym typeface="EYInterstate Light" panose="02000506000000020004" pitchFamily="2" charset="0"/>
            </a:endParaRPr>
          </a:p>
        </p:txBody>
      </p:sp>
      <p:sp>
        <p:nvSpPr>
          <p:cNvPr id="8" name="Rectangle 7">
            <a:extLst>
              <a:ext uri="{FF2B5EF4-FFF2-40B4-BE49-F238E27FC236}">
                <a16:creationId xmlns:a16="http://schemas.microsoft.com/office/drawing/2014/main" id="{A61F5AE3-81ED-2D07-6EEE-9B875ED560C8}"/>
              </a:ext>
            </a:extLst>
          </p:cNvPr>
          <p:cNvSpPr>
            <a:spLocks/>
          </p:cNvSpPr>
          <p:nvPr/>
        </p:nvSpPr>
        <p:spPr>
          <a:xfrm>
            <a:off x="1075956" y="2670716"/>
            <a:ext cx="6024139" cy="3577681"/>
          </a:xfrm>
          <a:prstGeom prst="rect">
            <a:avLst/>
          </a:prstGeom>
          <a:noFill/>
          <a:ln>
            <a:noFill/>
          </a:ln>
        </p:spPr>
        <p:txBody>
          <a:bodyPr wrap="square" lIns="65303" tIns="72000" rIns="65303" bIns="97955" anchor="t">
            <a:noAutofit/>
          </a:bodyPr>
          <a:lstStyle/>
          <a:p>
            <a:pPr marL="0" lvl="4" defTabSz="995012" fontAlgn="base">
              <a:spcBef>
                <a:spcPct val="0"/>
              </a:spcBef>
              <a:buClr>
                <a:srgbClr val="000000"/>
              </a:buClr>
              <a:buSzPct val="100000"/>
              <a:tabLst>
                <a:tab pos="1613918" algn="l"/>
                <a:tab pos="3227837" algn="l"/>
                <a:tab pos="4664017" algn="r"/>
              </a:tabLst>
              <a:defRPr/>
            </a:pPr>
            <a:r>
              <a:rPr lang="en-US" sz="1000" b="1" kern="0" dirty="0">
                <a:solidFill>
                  <a:srgbClr val="000000"/>
                </a:solidFill>
                <a:cs typeface="Arial" panose="020B0604020202020204" pitchFamily="34" charset="0"/>
                <a:sym typeface="EYInterstate Light" panose="02000506000000020004" pitchFamily="2" charset="0"/>
              </a:rPr>
              <a:t>I. Review Technical requirements</a:t>
            </a:r>
          </a:p>
          <a:p>
            <a:pPr marL="171450" lvl="4" indent="-171450" defTabSz="995012" fontAlgn="base">
              <a:spcBef>
                <a:spcPct val="0"/>
              </a:spcBef>
              <a:buClr>
                <a:srgbClr val="000000"/>
              </a:buClr>
              <a:buSzPct val="100000"/>
              <a:buFont typeface="EYInterstate Light" panose="02000506000000020004" pitchFamily="2" charset="0"/>
              <a:buChar char="•"/>
              <a:tabLst>
                <a:tab pos="1613918" algn="l"/>
                <a:tab pos="3227837" algn="l"/>
                <a:tab pos="4664017" algn="r"/>
              </a:tabLst>
              <a:defRPr/>
            </a:pPr>
            <a:r>
              <a:rPr lang="en-IN" sz="1000" kern="0" dirty="0">
                <a:solidFill>
                  <a:srgbClr val="000000"/>
                </a:solidFill>
                <a:cs typeface="Arial" panose="020B0604020202020204" pitchFamily="34" charset="0"/>
                <a:sym typeface="EYInterstate Light" panose="02000506000000020004" pitchFamily="2" charset="0"/>
              </a:rPr>
              <a:t>Conduct a review of the draft technical elements included in the RFP package. If necessary, facilitate a workshop with the Data Centre ([CLIENT]) to refine and adjust specific elements of the RFP.</a:t>
            </a:r>
          </a:p>
          <a:p>
            <a:pPr marL="0" lvl="4" defTabSz="995012" fontAlgn="base">
              <a:spcBef>
                <a:spcPct val="0"/>
              </a:spcBef>
              <a:buClr>
                <a:srgbClr val="000000"/>
              </a:buClr>
              <a:buSzPct val="100000"/>
              <a:tabLst>
                <a:tab pos="1613918" algn="l"/>
                <a:tab pos="3227837" algn="l"/>
                <a:tab pos="4664017" algn="r"/>
              </a:tabLst>
              <a:defRPr/>
            </a:pPr>
            <a:r>
              <a:rPr lang="en-US" sz="1000" b="1" kern="0" dirty="0">
                <a:solidFill>
                  <a:srgbClr val="000000"/>
                </a:solidFill>
                <a:cs typeface="Arial" panose="020B0604020202020204" pitchFamily="34" charset="0"/>
                <a:sym typeface="EYInterstate Light" panose="02000506000000020004" pitchFamily="2" charset="0"/>
              </a:rPr>
              <a:t>II. Review of RFP package </a:t>
            </a:r>
          </a:p>
          <a:p>
            <a:pPr marL="0" lvl="4" defTabSz="995012" fontAlgn="base">
              <a:spcBef>
                <a:spcPct val="0"/>
              </a:spcBef>
              <a:buClr>
                <a:srgbClr val="000000"/>
              </a:buClr>
              <a:buSzPct val="100000"/>
              <a:tabLst>
                <a:tab pos="1613918" algn="l"/>
                <a:tab pos="3227837" algn="l"/>
                <a:tab pos="4664017" algn="r"/>
              </a:tabLst>
              <a:defRPr/>
            </a:pPr>
            <a:r>
              <a:rPr lang="en-US" sz="1000" kern="0" dirty="0">
                <a:solidFill>
                  <a:srgbClr val="000000"/>
                </a:solidFill>
                <a:cs typeface="Arial" panose="020B0604020202020204" pitchFamily="34" charset="0"/>
                <a:sym typeface="EYInterstate Light" panose="02000506000000020004" pitchFamily="2" charset="0"/>
              </a:rPr>
              <a:t>Review  RFP requirements, including information to Bidders,  Evaluation framework  , submission requirements </a:t>
            </a:r>
          </a:p>
          <a:p>
            <a:pPr marL="0" lvl="4" defTabSz="995012" fontAlgn="base">
              <a:spcBef>
                <a:spcPct val="0"/>
              </a:spcBef>
              <a:buClr>
                <a:srgbClr val="000000"/>
              </a:buClr>
              <a:buSzPct val="100000"/>
              <a:tabLst>
                <a:tab pos="1613918" algn="l"/>
                <a:tab pos="3227837" algn="l"/>
                <a:tab pos="4664017" algn="r"/>
              </a:tabLst>
              <a:defRPr/>
            </a:pPr>
            <a:r>
              <a:rPr lang="en-US" sz="1000" b="1" kern="0" dirty="0">
                <a:solidFill>
                  <a:srgbClr val="000000"/>
                </a:solidFill>
                <a:cs typeface="Arial" panose="020B0604020202020204" pitchFamily="34" charset="0"/>
                <a:sym typeface="EYInterstate Light" panose="02000506000000020004" pitchFamily="2" charset="0"/>
              </a:rPr>
              <a:t>III. Discuss and Update RFP package</a:t>
            </a:r>
            <a:endParaRPr lang="en-US" sz="1000" kern="0" dirty="0">
              <a:solidFill>
                <a:srgbClr val="000000"/>
              </a:solidFill>
              <a:cs typeface="Arial" panose="020B0604020202020204" pitchFamily="34" charset="0"/>
              <a:sym typeface="EYInterstate Light" panose="02000506000000020004" pitchFamily="2" charset="0"/>
            </a:endParaRPr>
          </a:p>
          <a:p>
            <a:pPr marL="171450" lvl="4" indent="-171450" defTabSz="995012" fontAlgn="base">
              <a:spcBef>
                <a:spcPct val="0"/>
              </a:spcBef>
              <a:buClr>
                <a:srgbClr val="000000"/>
              </a:buClr>
              <a:buSzPct val="100000"/>
              <a:buFont typeface="EYInterstate Light" panose="02000506000000020004" pitchFamily="2" charset="0"/>
              <a:buChar char="•"/>
              <a:tabLst>
                <a:tab pos="1613918" algn="l"/>
                <a:tab pos="3227837" algn="l"/>
                <a:tab pos="4664017" algn="r"/>
              </a:tabLst>
              <a:defRPr/>
            </a:pPr>
            <a:r>
              <a:rPr lang="en-IN" sz="1000" kern="0" dirty="0">
                <a:solidFill>
                  <a:srgbClr val="000000"/>
                </a:solidFill>
                <a:cs typeface="Arial" panose="020B0604020202020204" pitchFamily="34" charset="0"/>
              </a:rPr>
              <a:t>Discuss with the [CLIENT] on the updates required.</a:t>
            </a:r>
          </a:p>
          <a:p>
            <a:pPr marL="171450" lvl="4" indent="-171450" defTabSz="995012" fontAlgn="base">
              <a:spcBef>
                <a:spcPct val="0"/>
              </a:spcBef>
              <a:buClr>
                <a:srgbClr val="000000"/>
              </a:buClr>
              <a:buSzPct val="100000"/>
              <a:buFont typeface="EYInterstate Light" panose="02000506000000020004" pitchFamily="2" charset="0"/>
              <a:buChar char="•"/>
              <a:tabLst>
                <a:tab pos="1613918" algn="l"/>
                <a:tab pos="3227837" algn="l"/>
                <a:tab pos="4664017" algn="r"/>
              </a:tabLst>
              <a:defRPr/>
            </a:pPr>
            <a:r>
              <a:rPr lang="en-IN" sz="1000" kern="0" dirty="0">
                <a:solidFill>
                  <a:srgbClr val="000000"/>
                </a:solidFill>
                <a:cs typeface="Arial" panose="020B0604020202020204" pitchFamily="34" charset="0"/>
              </a:rPr>
              <a:t>Finalize the RFP prior to distribution, ensuring it is tailored to the requirements of the project and ready for circulation to the identified stakeholders.</a:t>
            </a:r>
          </a:p>
          <a:p>
            <a:pPr marL="171450" lvl="4" indent="-171450" defTabSz="995012" fontAlgn="base">
              <a:spcBef>
                <a:spcPct val="0"/>
              </a:spcBef>
              <a:buClr>
                <a:srgbClr val="000000"/>
              </a:buClr>
              <a:buSzPct val="100000"/>
              <a:buFont typeface="EYInterstate Light" panose="02000506000000020004" pitchFamily="2" charset="0"/>
              <a:buChar char="•"/>
              <a:tabLst>
                <a:tab pos="1613918" algn="l"/>
                <a:tab pos="3227837" algn="l"/>
                <a:tab pos="4664017" algn="r"/>
              </a:tabLst>
              <a:defRPr/>
            </a:pPr>
            <a:endParaRPr lang="en-US" sz="1000" kern="0" dirty="0">
              <a:solidFill>
                <a:srgbClr val="000000"/>
              </a:solidFill>
              <a:cs typeface="Arial" panose="020B0604020202020204" pitchFamily="34" charset="0"/>
              <a:sym typeface="EYInterstate Light" panose="02000506000000020004" pitchFamily="2" charset="0"/>
            </a:endParaRPr>
          </a:p>
          <a:p>
            <a:pPr marL="0" lvl="4" defTabSz="995012" fontAlgn="base">
              <a:spcBef>
                <a:spcPct val="0"/>
              </a:spcBef>
              <a:buClr>
                <a:srgbClr val="000000"/>
              </a:buClr>
              <a:buSzPct val="100000"/>
              <a:tabLst>
                <a:tab pos="1613918" algn="l"/>
                <a:tab pos="3227837" algn="l"/>
                <a:tab pos="4664017" algn="r"/>
              </a:tabLst>
              <a:defRPr/>
            </a:pPr>
            <a:endParaRPr lang="en-US" sz="1000" kern="0" dirty="0">
              <a:solidFill>
                <a:srgbClr val="000000"/>
              </a:solidFill>
              <a:cs typeface="Arial" panose="020B0604020202020204" pitchFamily="34" charset="0"/>
              <a:sym typeface="EYInterstate Light" panose="02000506000000020004" pitchFamily="2" charset="0"/>
            </a:endParaRPr>
          </a:p>
        </p:txBody>
      </p:sp>
      <p:sp>
        <p:nvSpPr>
          <p:cNvPr id="3" name="Content Placeholder 11">
            <a:extLst>
              <a:ext uri="{FF2B5EF4-FFF2-40B4-BE49-F238E27FC236}">
                <a16:creationId xmlns:a16="http://schemas.microsoft.com/office/drawing/2014/main" id="{DC2B055A-2130-A0CF-23AB-39471042BB7C}"/>
              </a:ext>
            </a:extLst>
          </p:cNvPr>
          <p:cNvSpPr txBox="1">
            <a:spLocks/>
          </p:cNvSpPr>
          <p:nvPr/>
        </p:nvSpPr>
        <p:spPr>
          <a:xfrm rot="16200000">
            <a:off x="461836" y="1536917"/>
            <a:ext cx="948349" cy="497516"/>
          </a:xfrm>
          <a:prstGeom prst="round2SameRect">
            <a:avLst>
              <a:gd name="adj1" fmla="val 42342"/>
              <a:gd name="adj2" fmla="val 0"/>
            </a:avLst>
          </a:prstGeom>
          <a:solidFill>
            <a:srgbClr val="747480"/>
          </a:solidFill>
          <a:ln w="3175">
            <a:noFill/>
          </a:ln>
        </p:spPr>
        <p:txBody>
          <a:bodyPr vert="horz" wrap="square" lIns="0" tIns="0" rIns="0" bIns="0" anchor="t">
            <a:noAutofit/>
          </a:bodyPr>
          <a:lstStyle>
            <a:defPPr>
              <a:defRPr lang="en-US"/>
            </a:defPPr>
            <a:lvl4pPr marL="0" marR="0" lvl="3" indent="0" defTabSz="995363" eaLnBrk="0" fontAlgn="auto" latinLnBrk="0" hangingPunct="0">
              <a:lnSpc>
                <a:spcPct val="100000"/>
              </a:lnSpc>
              <a:spcBef>
                <a:spcPts val="0"/>
              </a:spcBef>
              <a:spcAft>
                <a:spcPct val="40000"/>
              </a:spcAft>
              <a:buClr>
                <a:srgbClr val="000000"/>
              </a:buClr>
              <a:buSzPct val="100000"/>
              <a:buFont typeface="EYInterstate" pitchFamily="2" charset="0"/>
              <a:buNone/>
              <a:tabLst>
                <a:tab pos="1614488" algn="l"/>
                <a:tab pos="3228975" algn="l"/>
                <a:tab pos="4665663" algn="r"/>
              </a:tabLst>
              <a:defRPr kumimoji="0" sz="1400" b="1" i="0" u="none" strike="noStrike" cap="none" spc="0" normalizeH="0" baseline="0">
                <a:ln>
                  <a:noFill/>
                </a:ln>
                <a:solidFill>
                  <a:srgbClr val="000000"/>
                </a:solidFill>
                <a:effectLst/>
                <a:uLnTx/>
                <a:uFillTx/>
                <a:latin typeface="+mj-lt"/>
                <a:cs typeface="+mj-cs"/>
              </a:defRPr>
            </a:lvl4pPr>
          </a:lstStyle>
          <a:p>
            <a:pPr marL="0" marR="0" lvl="0" indent="0" algn="ctr" defTabSz="818726" rtl="0" eaLnBrk="1" fontAlgn="base" latinLnBrk="0" hangingPunct="1">
              <a:lnSpc>
                <a:spcPct val="85000"/>
              </a:lnSpc>
              <a:spcBef>
                <a:spcPct val="0"/>
              </a:spcBef>
              <a:spcAft>
                <a:spcPct val="0"/>
              </a:spcAft>
              <a:buClrTx/>
              <a:buSzTx/>
              <a:buFontTx/>
              <a:buNone/>
              <a:tabLst/>
              <a:defRPr/>
            </a:pPr>
            <a:r>
              <a:rPr kumimoji="0" lang="en-US" sz="1000" b="1" i="0" u="none" strike="noStrike" kern="0" cap="none" spc="0" normalizeH="0" baseline="0" noProof="0">
                <a:ln>
                  <a:noFill/>
                </a:ln>
                <a:solidFill>
                  <a:schemeClr val="bg1"/>
                </a:solidFill>
                <a:effectLst/>
                <a:uLnTx/>
                <a:uFillTx/>
                <a:latin typeface="EYInterstate Light"/>
                <a:ea typeface="+mn-ea"/>
                <a:cs typeface="Arial" charset="0"/>
              </a:rPr>
              <a:t>Objective</a:t>
            </a:r>
          </a:p>
        </p:txBody>
      </p:sp>
      <p:sp>
        <p:nvSpPr>
          <p:cNvPr id="10" name="Freeform: Shape 9">
            <a:extLst>
              <a:ext uri="{FF2B5EF4-FFF2-40B4-BE49-F238E27FC236}">
                <a16:creationId xmlns:a16="http://schemas.microsoft.com/office/drawing/2014/main" id="{50AB6E50-158A-C24D-C844-BCB31C101F4D}"/>
              </a:ext>
            </a:extLst>
          </p:cNvPr>
          <p:cNvSpPr>
            <a:spLocks/>
          </p:cNvSpPr>
          <p:nvPr/>
        </p:nvSpPr>
        <p:spPr bwMode="auto">
          <a:xfrm>
            <a:off x="961777" y="1311500"/>
            <a:ext cx="6138318" cy="948349"/>
          </a:xfrm>
          <a:custGeom>
            <a:avLst/>
            <a:gdLst>
              <a:gd name="connsiteX0" fmla="*/ 112302 w 5876924"/>
              <a:gd name="connsiteY0" fmla="*/ 0 h 1331066"/>
              <a:gd name="connsiteX1" fmla="*/ 5764622 w 5876924"/>
              <a:gd name="connsiteY1" fmla="*/ 0 h 1331066"/>
              <a:gd name="connsiteX2" fmla="*/ 5876924 w 5876924"/>
              <a:gd name="connsiteY2" fmla="*/ 112302 h 1331066"/>
              <a:gd name="connsiteX3" fmla="*/ 5876924 w 5876924"/>
              <a:gd name="connsiteY3" fmla="*/ 1218764 h 1331066"/>
              <a:gd name="connsiteX4" fmla="*/ 5764622 w 5876924"/>
              <a:gd name="connsiteY4" fmla="*/ 1331066 h 1331066"/>
              <a:gd name="connsiteX5" fmla="*/ 112302 w 5876924"/>
              <a:gd name="connsiteY5" fmla="*/ 1331066 h 1331066"/>
              <a:gd name="connsiteX6" fmla="*/ 0 w 5876924"/>
              <a:gd name="connsiteY6" fmla="*/ 1218764 h 1331066"/>
              <a:gd name="connsiteX7" fmla="*/ 0 w 5876924"/>
              <a:gd name="connsiteY7" fmla="*/ 809188 h 1331066"/>
              <a:gd name="connsiteX8" fmla="*/ 140493 w 5876924"/>
              <a:gd name="connsiteY8" fmla="*/ 665533 h 1331066"/>
              <a:gd name="connsiteX9" fmla="*/ 0 w 5876924"/>
              <a:gd name="connsiteY9" fmla="*/ 521878 h 1331066"/>
              <a:gd name="connsiteX10" fmla="*/ 0 w 5876924"/>
              <a:gd name="connsiteY10" fmla="*/ 112302 h 1331066"/>
              <a:gd name="connsiteX11" fmla="*/ 112302 w 5876924"/>
              <a:gd name="connsiteY11" fmla="*/ 0 h 133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76924" h="1331066">
                <a:moveTo>
                  <a:pt x="112302" y="0"/>
                </a:moveTo>
                <a:lnTo>
                  <a:pt x="5764622" y="0"/>
                </a:lnTo>
                <a:cubicBezTo>
                  <a:pt x="5826645" y="0"/>
                  <a:pt x="5876924" y="50279"/>
                  <a:pt x="5876924" y="112302"/>
                </a:cubicBezTo>
                <a:lnTo>
                  <a:pt x="5876924" y="1218764"/>
                </a:lnTo>
                <a:cubicBezTo>
                  <a:pt x="5876924" y="1280787"/>
                  <a:pt x="5826645" y="1331066"/>
                  <a:pt x="5764622" y="1331066"/>
                </a:cubicBezTo>
                <a:lnTo>
                  <a:pt x="112302" y="1331066"/>
                </a:lnTo>
                <a:cubicBezTo>
                  <a:pt x="50279" y="1331066"/>
                  <a:pt x="0" y="1280787"/>
                  <a:pt x="0" y="1218764"/>
                </a:cubicBezTo>
                <a:lnTo>
                  <a:pt x="0" y="809188"/>
                </a:lnTo>
                <a:lnTo>
                  <a:pt x="140493" y="665533"/>
                </a:lnTo>
                <a:lnTo>
                  <a:pt x="0" y="521878"/>
                </a:lnTo>
                <a:lnTo>
                  <a:pt x="0" y="112302"/>
                </a:lnTo>
                <a:cubicBezTo>
                  <a:pt x="0" y="50279"/>
                  <a:pt x="50279" y="0"/>
                  <a:pt x="112302"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vert="horz" wrap="square" lIns="216000" tIns="72000" rIns="72000" bIns="72000" numCol="1" rtlCol="0" anchor="ctr" anchorCtr="0" compatLnSpc="1">
            <a:prstTxWarp prst="textNoShape">
              <a:avLst/>
            </a:prstTxWarp>
            <a:noAutofit/>
          </a:bodyPr>
          <a:lstStyle/>
          <a:p>
            <a:pPr marL="2993" lvl="2" defTabSz="937548" fontAlgn="base">
              <a:spcBef>
                <a:spcPct val="0"/>
              </a:spcBef>
              <a:spcAft>
                <a:spcPts val="189"/>
              </a:spcAft>
              <a:buClr>
                <a:srgbClr val="000000"/>
              </a:buClr>
              <a:buSzPct val="100000"/>
              <a:buFont typeface="EYInterstate Light" panose="02000506000000020004" pitchFamily="2" charset="0"/>
              <a:tabLst>
                <a:tab pos="1520712" algn="l"/>
                <a:tab pos="3041426" algn="l"/>
                <a:tab pos="4394665" algn="r"/>
              </a:tabLst>
              <a:defRPr/>
            </a:pPr>
            <a:r>
              <a:rPr kumimoji="0" lang="en-IN" sz="1050" kern="1200" cap="none" spc="0" normalizeH="0" noProof="0" dirty="0">
                <a:ln>
                  <a:noFill/>
                </a:ln>
                <a:solidFill>
                  <a:srgbClr val="000000"/>
                </a:solidFill>
                <a:effectLst/>
                <a:uLnTx/>
                <a:uFillTx/>
                <a:latin typeface="EYInterstate Light" panose="02000506000000020004" pitchFamily="2" charset="0"/>
                <a:cs typeface="Arial"/>
                <a:sym typeface="EYInterstate Light" panose="02000506000000020004" pitchFamily="2" charset="0"/>
              </a:rPr>
              <a:t>Successfully complete the RFP process by updating the existing RFP that outlines the Project in detail to bidders, as well as conveys necessary legal, financial, technical and commercial requirements to be submitted. </a:t>
            </a:r>
          </a:p>
        </p:txBody>
      </p:sp>
      <p:grpSp>
        <p:nvGrpSpPr>
          <p:cNvPr id="16" name="Group 15">
            <a:extLst>
              <a:ext uri="{FF2B5EF4-FFF2-40B4-BE49-F238E27FC236}">
                <a16:creationId xmlns:a16="http://schemas.microsoft.com/office/drawing/2014/main" id="{EA6F3D5B-5B59-7509-7788-AB7306EE09DD}"/>
              </a:ext>
            </a:extLst>
          </p:cNvPr>
          <p:cNvGrpSpPr/>
          <p:nvPr/>
        </p:nvGrpSpPr>
        <p:grpSpPr>
          <a:xfrm>
            <a:off x="7165106" y="1253145"/>
            <a:ext cx="4325527" cy="948349"/>
            <a:chOff x="4811202" y="1311500"/>
            <a:chExt cx="3773704" cy="948349"/>
          </a:xfrm>
        </p:grpSpPr>
        <p:sp>
          <p:nvSpPr>
            <p:cNvPr id="18" name="Content Placeholder 11">
              <a:extLst>
                <a:ext uri="{FF2B5EF4-FFF2-40B4-BE49-F238E27FC236}">
                  <a16:creationId xmlns:a16="http://schemas.microsoft.com/office/drawing/2014/main" id="{74298D02-CAB6-D279-5771-8F835CA8AD0D}"/>
                </a:ext>
              </a:extLst>
            </p:cNvPr>
            <p:cNvSpPr txBox="1">
              <a:spLocks/>
            </p:cNvSpPr>
            <p:nvPr/>
          </p:nvSpPr>
          <p:spPr>
            <a:xfrm rot="16200000">
              <a:off x="4585785" y="1536917"/>
              <a:ext cx="948349" cy="497516"/>
            </a:xfrm>
            <a:prstGeom prst="round2SameRect">
              <a:avLst>
                <a:gd name="adj1" fmla="val 42342"/>
                <a:gd name="adj2" fmla="val 0"/>
              </a:avLst>
            </a:prstGeom>
            <a:solidFill>
              <a:srgbClr val="747480"/>
            </a:solidFill>
            <a:ln w="3175">
              <a:noFill/>
            </a:ln>
          </p:spPr>
          <p:txBody>
            <a:bodyPr vert="horz" wrap="square" lIns="0" tIns="0" rIns="0" bIns="0" anchor="t">
              <a:noAutofit/>
            </a:bodyPr>
            <a:lstStyle>
              <a:defPPr>
                <a:defRPr lang="en-US"/>
              </a:defPPr>
              <a:lvl4pPr marL="0" marR="0" lvl="3" indent="0" defTabSz="995363" eaLnBrk="0" fontAlgn="auto" latinLnBrk="0" hangingPunct="0">
                <a:lnSpc>
                  <a:spcPct val="100000"/>
                </a:lnSpc>
                <a:spcBef>
                  <a:spcPts val="0"/>
                </a:spcBef>
                <a:spcAft>
                  <a:spcPct val="40000"/>
                </a:spcAft>
                <a:buClr>
                  <a:srgbClr val="000000"/>
                </a:buClr>
                <a:buSzPct val="100000"/>
                <a:buFont typeface="EYInterstate" pitchFamily="2" charset="0"/>
                <a:buNone/>
                <a:tabLst>
                  <a:tab pos="1614488" algn="l"/>
                  <a:tab pos="3228975" algn="l"/>
                  <a:tab pos="4665663" algn="r"/>
                </a:tabLst>
                <a:defRPr kumimoji="0" sz="1400" b="1" i="0" u="none" strike="noStrike" cap="none" spc="0" normalizeH="0" baseline="0">
                  <a:ln>
                    <a:noFill/>
                  </a:ln>
                  <a:solidFill>
                    <a:srgbClr val="000000"/>
                  </a:solidFill>
                  <a:effectLst/>
                  <a:uLnTx/>
                  <a:uFillTx/>
                  <a:latin typeface="+mj-lt"/>
                  <a:cs typeface="+mj-cs"/>
                </a:defRPr>
              </a:lvl4pPr>
            </a:lstStyle>
            <a:p>
              <a:pPr marL="0" marR="0" lvl="0" indent="0" algn="ctr" defTabSz="818726" eaLnBrk="1" fontAlgn="base" latinLnBrk="0" hangingPunct="1">
                <a:lnSpc>
                  <a:spcPct val="85000"/>
                </a:lnSpc>
                <a:spcBef>
                  <a:spcPct val="0"/>
                </a:spcBef>
                <a:spcAft>
                  <a:spcPct val="0"/>
                </a:spcAft>
                <a:buClrTx/>
                <a:buSzTx/>
                <a:buFontTx/>
                <a:buNone/>
                <a:tabLst/>
                <a:defRPr/>
              </a:pPr>
              <a:r>
                <a:rPr lang="en-US" sz="1000" b="1" kern="0" dirty="0">
                  <a:solidFill>
                    <a:schemeClr val="bg1"/>
                  </a:solidFill>
                </a:rPr>
                <a:t>Key tasks</a:t>
              </a:r>
              <a:endParaRPr kumimoji="0" lang="en-US" sz="1000" b="1" i="0" u="none" strike="noStrike" kern="0" cap="none" spc="0" normalizeH="0" baseline="0" noProof="0" dirty="0">
                <a:ln>
                  <a:noFill/>
                </a:ln>
                <a:solidFill>
                  <a:schemeClr val="bg1"/>
                </a:solidFill>
                <a:effectLst/>
                <a:uLnTx/>
                <a:uFillTx/>
              </a:endParaRPr>
            </a:p>
          </p:txBody>
        </p:sp>
        <p:sp>
          <p:nvSpPr>
            <p:cNvPr id="20" name="Freeform: Shape 19">
              <a:extLst>
                <a:ext uri="{FF2B5EF4-FFF2-40B4-BE49-F238E27FC236}">
                  <a16:creationId xmlns:a16="http://schemas.microsoft.com/office/drawing/2014/main" id="{7FF51926-8446-4BFB-9369-E67B3B449A18}"/>
                </a:ext>
              </a:extLst>
            </p:cNvPr>
            <p:cNvSpPr>
              <a:spLocks/>
            </p:cNvSpPr>
            <p:nvPr/>
          </p:nvSpPr>
          <p:spPr bwMode="auto">
            <a:xfrm>
              <a:off x="5077326" y="1311500"/>
              <a:ext cx="3507580" cy="948349"/>
            </a:xfrm>
            <a:custGeom>
              <a:avLst/>
              <a:gdLst>
                <a:gd name="connsiteX0" fmla="*/ 112302 w 5876924"/>
                <a:gd name="connsiteY0" fmla="*/ 0 h 1331066"/>
                <a:gd name="connsiteX1" fmla="*/ 5764622 w 5876924"/>
                <a:gd name="connsiteY1" fmla="*/ 0 h 1331066"/>
                <a:gd name="connsiteX2" fmla="*/ 5876924 w 5876924"/>
                <a:gd name="connsiteY2" fmla="*/ 112302 h 1331066"/>
                <a:gd name="connsiteX3" fmla="*/ 5876924 w 5876924"/>
                <a:gd name="connsiteY3" fmla="*/ 1218764 h 1331066"/>
                <a:gd name="connsiteX4" fmla="*/ 5764622 w 5876924"/>
                <a:gd name="connsiteY4" fmla="*/ 1331066 h 1331066"/>
                <a:gd name="connsiteX5" fmla="*/ 112302 w 5876924"/>
                <a:gd name="connsiteY5" fmla="*/ 1331066 h 1331066"/>
                <a:gd name="connsiteX6" fmla="*/ 0 w 5876924"/>
                <a:gd name="connsiteY6" fmla="*/ 1218764 h 1331066"/>
                <a:gd name="connsiteX7" fmla="*/ 0 w 5876924"/>
                <a:gd name="connsiteY7" fmla="*/ 809188 h 1331066"/>
                <a:gd name="connsiteX8" fmla="*/ 140493 w 5876924"/>
                <a:gd name="connsiteY8" fmla="*/ 665533 h 1331066"/>
                <a:gd name="connsiteX9" fmla="*/ 0 w 5876924"/>
                <a:gd name="connsiteY9" fmla="*/ 521878 h 1331066"/>
                <a:gd name="connsiteX10" fmla="*/ 0 w 5876924"/>
                <a:gd name="connsiteY10" fmla="*/ 112302 h 1331066"/>
                <a:gd name="connsiteX11" fmla="*/ 112302 w 5876924"/>
                <a:gd name="connsiteY11" fmla="*/ 0 h 133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76924" h="1331066">
                  <a:moveTo>
                    <a:pt x="112302" y="0"/>
                  </a:moveTo>
                  <a:lnTo>
                    <a:pt x="5764622" y="0"/>
                  </a:lnTo>
                  <a:cubicBezTo>
                    <a:pt x="5826645" y="0"/>
                    <a:pt x="5876924" y="50279"/>
                    <a:pt x="5876924" y="112302"/>
                  </a:cubicBezTo>
                  <a:lnTo>
                    <a:pt x="5876924" y="1218764"/>
                  </a:lnTo>
                  <a:cubicBezTo>
                    <a:pt x="5876924" y="1280787"/>
                    <a:pt x="5826645" y="1331066"/>
                    <a:pt x="5764622" y="1331066"/>
                  </a:cubicBezTo>
                  <a:lnTo>
                    <a:pt x="112302" y="1331066"/>
                  </a:lnTo>
                  <a:cubicBezTo>
                    <a:pt x="50279" y="1331066"/>
                    <a:pt x="0" y="1280787"/>
                    <a:pt x="0" y="1218764"/>
                  </a:cubicBezTo>
                  <a:lnTo>
                    <a:pt x="0" y="809188"/>
                  </a:lnTo>
                  <a:lnTo>
                    <a:pt x="140493" y="665533"/>
                  </a:lnTo>
                  <a:lnTo>
                    <a:pt x="0" y="521878"/>
                  </a:lnTo>
                  <a:lnTo>
                    <a:pt x="0" y="112302"/>
                  </a:lnTo>
                  <a:cubicBezTo>
                    <a:pt x="0" y="50279"/>
                    <a:pt x="50279" y="0"/>
                    <a:pt x="112302" y="0"/>
                  </a:cubicBezTo>
                  <a:close/>
                </a:path>
              </a:pathLst>
            </a:custGeom>
            <a:solidFill>
              <a:srgbClr val="FFFFFF">
                <a:lumMod val="95000"/>
              </a:srgbClr>
            </a:solidFill>
            <a:ln w="9525" cap="flat" cmpd="sng" algn="ctr">
              <a:noFill/>
              <a:prstDash val="solid"/>
              <a:round/>
              <a:headEnd type="none" w="med" len="med"/>
              <a:tailEnd type="none" w="med" len="med"/>
            </a:ln>
            <a:effectLst/>
          </p:spPr>
          <p:txBody>
            <a:bodyPr vert="horz" wrap="square" lIns="216000" tIns="72000" rIns="72000" bIns="72000" numCol="1" rtlCol="0" anchor="ctr" anchorCtr="0" compatLnSpc="1">
              <a:prstTxWarp prst="textNoShape">
                <a:avLst/>
              </a:prstTxWarp>
              <a:noAutofit/>
            </a:bodyPr>
            <a:lstStyle/>
            <a:p>
              <a:pPr marL="172800" lvl="3" indent="-172800" defTabSz="995012" fontAlgn="base">
                <a:spcBef>
                  <a:spcPct val="0"/>
                </a:spcBef>
                <a:spcAft>
                  <a:spcPts val="189"/>
                </a:spcAft>
                <a:buClr>
                  <a:srgbClr val="000000"/>
                </a:buClr>
                <a:buSzPct val="100000"/>
                <a:buFont typeface="EYInterstate Light" panose="02000506000000020004" pitchFamily="2" charset="0"/>
                <a:buChar char="•"/>
                <a:tabLst>
                  <a:tab pos="1613918" algn="l"/>
                  <a:tab pos="3227837" algn="l"/>
                  <a:tab pos="4664017" algn="r"/>
                </a:tabLst>
                <a:defRPr/>
              </a:pPr>
              <a:r>
                <a:rPr lang="en-IN" sz="1050">
                  <a:latin typeface="EYInterstate Light" panose="02000506000000020004" pitchFamily="2" charset="0"/>
                  <a:cs typeface="Arial"/>
                  <a:sym typeface="EYInterstate Light" panose="02000506000000020004" pitchFamily="2" charset="0"/>
                </a:rPr>
                <a:t>Review existing RFP</a:t>
              </a:r>
            </a:p>
            <a:p>
              <a:pPr marL="172800" lvl="3" indent="-172800" defTabSz="995012" fontAlgn="base">
                <a:spcBef>
                  <a:spcPct val="0"/>
                </a:spcBef>
                <a:spcAft>
                  <a:spcPts val="189"/>
                </a:spcAft>
                <a:buClr>
                  <a:srgbClr val="000000"/>
                </a:buClr>
                <a:buSzPct val="100000"/>
                <a:buFont typeface="EYInterstate Light" panose="02000506000000020004" pitchFamily="2" charset="0"/>
                <a:buChar char="•"/>
                <a:tabLst>
                  <a:tab pos="1613918" algn="l"/>
                  <a:tab pos="3227837" algn="l"/>
                  <a:tab pos="4664017" algn="r"/>
                </a:tabLst>
                <a:defRPr/>
              </a:pPr>
              <a:r>
                <a:rPr lang="en-IN" sz="1050">
                  <a:latin typeface="EYInterstate Light" panose="02000506000000020004" pitchFamily="2" charset="0"/>
                  <a:cs typeface="Arial"/>
                  <a:sym typeface="EYInterstate Light" panose="02000506000000020004" pitchFamily="2" charset="0"/>
                </a:rPr>
                <a:t>Discuss and agree updates required,</a:t>
              </a:r>
            </a:p>
            <a:p>
              <a:pPr marL="172800" lvl="3" indent="-172800" defTabSz="995012" fontAlgn="base">
                <a:spcBef>
                  <a:spcPct val="0"/>
                </a:spcBef>
                <a:spcAft>
                  <a:spcPts val="189"/>
                </a:spcAft>
                <a:buClr>
                  <a:srgbClr val="000000"/>
                </a:buClr>
                <a:buSzPct val="100000"/>
                <a:buFont typeface="EYInterstate Light" panose="02000506000000020004" pitchFamily="2" charset="0"/>
                <a:buChar char="•"/>
                <a:tabLst>
                  <a:tab pos="1613918" algn="l"/>
                  <a:tab pos="3227837" algn="l"/>
                  <a:tab pos="4664017" algn="r"/>
                </a:tabLst>
                <a:defRPr/>
              </a:pPr>
              <a:r>
                <a:rPr lang="en-IN" sz="1050">
                  <a:latin typeface="EYInterstate Light" panose="02000506000000020004" pitchFamily="2" charset="0"/>
                  <a:cs typeface="Arial"/>
                  <a:sym typeface="EYInterstate Light" panose="02000506000000020004" pitchFamily="2" charset="0"/>
                </a:rPr>
                <a:t>Update RFP package</a:t>
              </a:r>
            </a:p>
          </p:txBody>
        </p:sp>
      </p:grpSp>
      <p:sp>
        <p:nvSpPr>
          <p:cNvPr id="24" name="Rectangle 23">
            <a:extLst>
              <a:ext uri="{FF2B5EF4-FFF2-40B4-BE49-F238E27FC236}">
                <a16:creationId xmlns:a16="http://schemas.microsoft.com/office/drawing/2014/main" id="{84C952EF-0D0A-D4F6-B2DB-B7C65163149D}"/>
              </a:ext>
            </a:extLst>
          </p:cNvPr>
          <p:cNvSpPr>
            <a:spLocks/>
          </p:cNvSpPr>
          <p:nvPr/>
        </p:nvSpPr>
        <p:spPr>
          <a:xfrm>
            <a:off x="7423350" y="3635686"/>
            <a:ext cx="4076811" cy="1576394"/>
          </a:xfrm>
          <a:prstGeom prst="rect">
            <a:avLst/>
          </a:prstGeom>
          <a:noFill/>
          <a:ln>
            <a:noFill/>
          </a:ln>
        </p:spPr>
        <p:txBody>
          <a:bodyPr wrap="square" lIns="65303" tIns="72000" rIns="65303" bIns="97955" anchor="ctr">
            <a:noAutofit/>
          </a:bodyPr>
          <a:lstStyle/>
          <a:p>
            <a:pPr marL="171450" lvl="4" indent="-171450" defTabSz="995012" fontAlgn="base">
              <a:spcBef>
                <a:spcPct val="0"/>
              </a:spcBef>
              <a:buClr>
                <a:srgbClr val="000000"/>
              </a:buClr>
              <a:buSzPct val="100000"/>
              <a:buFont typeface="EYInterstate Light" panose="02000506000000020004" pitchFamily="2" charset="0"/>
              <a:buChar char="•"/>
              <a:tabLst>
                <a:tab pos="1613918" algn="l"/>
                <a:tab pos="3227837" algn="l"/>
                <a:tab pos="4664017" algn="r"/>
              </a:tabLst>
              <a:defRPr/>
            </a:pPr>
            <a:r>
              <a:rPr lang="en-US" sz="1000" b="1" kern="0" dirty="0">
                <a:solidFill>
                  <a:srgbClr val="000000"/>
                </a:solidFill>
                <a:cs typeface="Arial" panose="020B0604020202020204" pitchFamily="34" charset="0"/>
                <a:sym typeface="EYInterstate Light" panose="02000506000000020004" pitchFamily="2" charset="0"/>
              </a:rPr>
              <a:t>Timely Information: </a:t>
            </a:r>
            <a:r>
              <a:rPr lang="en-US" sz="1000" kern="0" dirty="0">
                <a:solidFill>
                  <a:srgbClr val="000000"/>
                </a:solidFill>
                <a:cs typeface="Arial" panose="020B0604020202020204" pitchFamily="34" charset="0"/>
                <a:sym typeface="EYInterstate Light" panose="02000506000000020004" pitchFamily="2" charset="0"/>
              </a:rPr>
              <a:t>The [CLIENT] will provide necessary project information within a timely manner.</a:t>
            </a:r>
          </a:p>
          <a:p>
            <a:pPr marL="171450" lvl="4" indent="-171450" defTabSz="995012" fontAlgn="base">
              <a:spcBef>
                <a:spcPct val="0"/>
              </a:spcBef>
              <a:buClr>
                <a:srgbClr val="000000"/>
              </a:buClr>
              <a:buSzPct val="100000"/>
              <a:buFont typeface="EYInterstate Light" panose="02000506000000020004" pitchFamily="2" charset="0"/>
              <a:buChar char="•"/>
              <a:tabLst>
                <a:tab pos="1613918" algn="l"/>
                <a:tab pos="3227837" algn="l"/>
                <a:tab pos="4664017" algn="r"/>
              </a:tabLst>
              <a:defRPr/>
            </a:pPr>
            <a:r>
              <a:rPr lang="en-US" sz="1000" b="1" kern="0" dirty="0">
                <a:solidFill>
                  <a:srgbClr val="000000"/>
                </a:solidFill>
                <a:cs typeface="Arial" panose="020B0604020202020204" pitchFamily="34" charset="0"/>
                <a:sym typeface="EYInterstate Light" panose="02000506000000020004" pitchFamily="2" charset="0"/>
              </a:rPr>
              <a:t>Stakeholder Availability: </a:t>
            </a:r>
            <a:r>
              <a:rPr lang="en-US" sz="1000" kern="0" dirty="0">
                <a:solidFill>
                  <a:srgbClr val="000000"/>
                </a:solidFill>
                <a:cs typeface="Arial" panose="020B0604020202020204" pitchFamily="34" charset="0"/>
                <a:sym typeface="EYInterstate Light" panose="02000506000000020004" pitchFamily="2" charset="0"/>
              </a:rPr>
              <a:t>The [CLIENT] will ensure relevant stakeholders are available for input during reviews.</a:t>
            </a:r>
          </a:p>
          <a:p>
            <a:pPr marL="0" lvl="4" defTabSz="995012" fontAlgn="base">
              <a:spcBef>
                <a:spcPct val="0"/>
              </a:spcBef>
              <a:buClr>
                <a:srgbClr val="000000"/>
              </a:buClr>
              <a:buSzPct val="100000"/>
              <a:tabLst>
                <a:tab pos="1613918" algn="l"/>
                <a:tab pos="3227837" algn="l"/>
                <a:tab pos="4664017" algn="r"/>
              </a:tabLst>
              <a:defRPr/>
            </a:pPr>
            <a:endParaRPr lang="en-US" sz="1000" kern="0" dirty="0">
              <a:solidFill>
                <a:srgbClr val="000000"/>
              </a:solidFill>
              <a:cs typeface="Arial" panose="020B0604020202020204" pitchFamily="34" charset="0"/>
              <a:sym typeface="EYInterstate Light" panose="02000506000000020004" pitchFamily="2" charset="0"/>
            </a:endParaRPr>
          </a:p>
        </p:txBody>
      </p:sp>
      <p:sp>
        <p:nvSpPr>
          <p:cNvPr id="28" name="Rectangle: Top Corners Rounded 27">
            <a:extLst>
              <a:ext uri="{FF2B5EF4-FFF2-40B4-BE49-F238E27FC236}">
                <a16:creationId xmlns:a16="http://schemas.microsoft.com/office/drawing/2014/main" id="{5A2C6F94-67E6-4E53-3AC1-38A80FCC7528}"/>
              </a:ext>
            </a:extLst>
          </p:cNvPr>
          <p:cNvSpPr>
            <a:spLocks/>
          </p:cNvSpPr>
          <p:nvPr/>
        </p:nvSpPr>
        <p:spPr bwMode="auto">
          <a:xfrm rot="16200000">
            <a:off x="6899406" y="3002426"/>
            <a:ext cx="705972" cy="236075"/>
          </a:xfrm>
          <a:prstGeom prst="round2SameRect">
            <a:avLst>
              <a:gd name="adj1" fmla="val 50000"/>
              <a:gd name="adj2" fmla="val 0"/>
            </a:avLst>
          </a:prstGeom>
          <a:solidFill>
            <a:srgbClr val="C4C4CD"/>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829361" rtl="0" eaLnBrk="1" fontAlgn="base" latinLnBrk="0" hangingPunct="1">
              <a:lnSpc>
                <a:spcPct val="100000"/>
              </a:lnSpc>
              <a:spcBef>
                <a:spcPct val="0"/>
              </a:spcBef>
              <a:spcAft>
                <a:spcPct val="0"/>
              </a:spcAft>
              <a:buClrTx/>
              <a:buSzTx/>
              <a:buFontTx/>
              <a:buNone/>
              <a:tabLst/>
              <a:defRPr/>
            </a:pPr>
            <a:r>
              <a:rPr lang="en-IN" sz="1000" b="1" kern="0">
                <a:latin typeface="EYInterstate Light"/>
                <a:cs typeface="Arial"/>
              </a:rPr>
              <a:t>Timeline</a:t>
            </a:r>
            <a:endParaRPr kumimoji="0" lang="en-IN" sz="1000" b="1" i="0" u="none" strike="noStrike" kern="0" cap="none" spc="0" normalizeH="0" baseline="0" noProof="0">
              <a:ln>
                <a:noFill/>
              </a:ln>
              <a:effectLst/>
              <a:uLnTx/>
              <a:uFillTx/>
              <a:latin typeface="EYInterstate Light"/>
              <a:ea typeface="+mn-ea"/>
              <a:cs typeface="Arial"/>
            </a:endParaRPr>
          </a:p>
        </p:txBody>
      </p:sp>
    </p:spTree>
    <p:extLst>
      <p:ext uri="{BB962C8B-B14F-4D97-AF65-F5344CB8AC3E}">
        <p14:creationId xmlns:p14="http://schemas.microsoft.com/office/powerpoint/2010/main" val="1524496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3F96-EFD8-9ECB-3154-4020AF32A3DB}"/>
            </a:ext>
          </a:extLst>
        </p:cNvPr>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73FDD946-B90A-4D03-C4A3-0F1B695DB0B9}"/>
              </a:ext>
            </a:extLst>
          </p:cNvPr>
          <p:cNvGraphicFramePr>
            <a:graphicFrameLocks noChangeAspect="1"/>
          </p:cNvGraphicFramePr>
          <p:nvPr>
            <p:custDataLst>
              <p:tags r:id="rId1"/>
            </p:custDataLst>
            <p:extLst>
              <p:ext uri="{D42A27DB-BD31-4B8C-83A1-F6EECF244321}">
                <p14:modId xmlns:p14="http://schemas.microsoft.com/office/powerpoint/2010/main" val="362532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17" name="think-cell data - do not delete" hidden="1">
                        <a:extLst>
                          <a:ext uri="{FF2B5EF4-FFF2-40B4-BE49-F238E27FC236}">
                            <a16:creationId xmlns:a16="http://schemas.microsoft.com/office/drawing/2014/main" id="{73FDD946-B90A-4D03-C4A3-0F1B695DB0B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FC34210D-537E-448A-F038-30B8FBBBA07F}"/>
              </a:ext>
            </a:extLst>
          </p:cNvPr>
          <p:cNvSpPr txBox="1">
            <a:spLocks/>
          </p:cNvSpPr>
          <p:nvPr/>
        </p:nvSpPr>
        <p:spPr>
          <a:xfrm rot="16200000">
            <a:off x="-1078585" y="4094522"/>
            <a:ext cx="4034591" cy="493741"/>
          </a:xfrm>
          <a:prstGeom prst="round2SameRect">
            <a:avLst>
              <a:gd name="adj1" fmla="val 50000"/>
              <a:gd name="adj2" fmla="val 0"/>
            </a:avLst>
          </a:prstGeom>
          <a:solidFill>
            <a:srgbClr val="1A9AFA"/>
          </a:solidFill>
          <a:ln w="3175">
            <a:noFill/>
          </a:ln>
        </p:spPr>
        <p:txBody>
          <a:bodyPr vert="horz" wrap="square" lIns="0" tIns="0" rIns="0" bIns="0" anchor="t">
            <a:noAutofit/>
          </a:bodyPr>
          <a:lstStyle>
            <a:defPPr>
              <a:defRPr lang="en-US"/>
            </a:defPPr>
            <a:lvl4pPr marL="0" marR="0" lvl="3" indent="0" defTabSz="995363" eaLnBrk="0" fontAlgn="auto" latinLnBrk="0" hangingPunct="0">
              <a:lnSpc>
                <a:spcPct val="100000"/>
              </a:lnSpc>
              <a:spcBef>
                <a:spcPts val="0"/>
              </a:spcBef>
              <a:spcAft>
                <a:spcPct val="40000"/>
              </a:spcAft>
              <a:buClr>
                <a:srgbClr val="000000"/>
              </a:buClr>
              <a:buSzPct val="100000"/>
              <a:buFont typeface="EYInterstate" pitchFamily="2" charset="0"/>
              <a:buNone/>
              <a:tabLst>
                <a:tab pos="1614488" algn="l"/>
                <a:tab pos="3228975" algn="l"/>
                <a:tab pos="4665663" algn="r"/>
              </a:tabLst>
              <a:defRPr kumimoji="0" sz="1400" b="1" i="0" u="none" strike="noStrike" cap="none" spc="0" normalizeH="0" baseline="0">
                <a:ln>
                  <a:noFill/>
                </a:ln>
                <a:solidFill>
                  <a:srgbClr val="000000"/>
                </a:solidFill>
                <a:effectLst/>
                <a:uLnTx/>
                <a:uFillTx/>
                <a:latin typeface="+mj-lt"/>
                <a:cs typeface="+mj-cs"/>
              </a:defRPr>
            </a:lvl4pPr>
          </a:lstStyle>
          <a:p>
            <a:pPr marL="0" marR="0" lvl="0" indent="0" algn="ctr" defTabSz="818726" rtl="0" eaLnBrk="1" fontAlgn="base" latinLnBrk="0" hangingPunct="1">
              <a:lnSpc>
                <a:spcPct val="85000"/>
              </a:lnSpc>
              <a:spcBef>
                <a:spcPct val="0"/>
              </a:spcBef>
              <a:spcAft>
                <a:spcPct val="0"/>
              </a:spcAft>
              <a:buClrTx/>
              <a:buSzTx/>
              <a:buFontTx/>
              <a:buNone/>
              <a:tabLst/>
              <a:defRPr/>
            </a:pPr>
            <a:r>
              <a:rPr kumimoji="0" lang="en-US" sz="1000" b="1" i="0" u="none" strike="noStrike" kern="0" cap="none" spc="0" normalizeH="0" baseline="0" noProof="0">
                <a:ln>
                  <a:noFill/>
                </a:ln>
                <a:solidFill>
                  <a:schemeClr val="bg1"/>
                </a:solidFill>
                <a:effectLst/>
                <a:uLnTx/>
                <a:uFillTx/>
                <a:latin typeface="EYInterstate Light"/>
                <a:ea typeface="+mn-ea"/>
                <a:cs typeface="Arial" charset="0"/>
              </a:rPr>
              <a:t>Our Methodology</a:t>
            </a:r>
          </a:p>
        </p:txBody>
      </p:sp>
      <p:sp>
        <p:nvSpPr>
          <p:cNvPr id="34" name="Rectangle 3">
            <a:extLst>
              <a:ext uri="{FF2B5EF4-FFF2-40B4-BE49-F238E27FC236}">
                <a16:creationId xmlns:a16="http://schemas.microsoft.com/office/drawing/2014/main" id="{2011A9C3-4543-7756-B3FF-5468633C10DF}"/>
              </a:ext>
            </a:extLst>
          </p:cNvPr>
          <p:cNvSpPr txBox="1">
            <a:spLocks noChangeArrowheads="1"/>
          </p:cNvSpPr>
          <p:nvPr/>
        </p:nvSpPr>
        <p:spPr bwMode="gray">
          <a:xfrm rot="16200000">
            <a:off x="4269978" y="-981786"/>
            <a:ext cx="3924301" cy="10536065"/>
          </a:xfrm>
          <a:prstGeom prst="round2SameRect">
            <a:avLst>
              <a:gd name="adj1" fmla="val 3334"/>
              <a:gd name="adj2" fmla="val 0"/>
            </a:avLst>
          </a:prstGeom>
          <a:solidFill>
            <a:srgbClr val="FFFFFF"/>
          </a:solidFill>
          <a:ln w="9525">
            <a:noFill/>
            <a:miter lim="800000"/>
            <a:headEnd/>
            <a:tailEnd/>
          </a:ln>
        </p:spPr>
        <p:txBody>
          <a:bodyPr vert="vert" lIns="75238" tIns="75238" rIns="75238" bIns="75238" anchor="ctr">
            <a:noAutofit/>
          </a:bodyPr>
          <a:lstStyle/>
          <a:p>
            <a:pPr marL="0" marR="0" lvl="1" indent="0" algn="just" defTabSz="752396" rtl="0" eaLnBrk="1" fontAlgn="base" latinLnBrk="0" hangingPunct="1">
              <a:lnSpc>
                <a:spcPct val="100000"/>
              </a:lnSpc>
              <a:spcBef>
                <a:spcPct val="0"/>
              </a:spcBef>
              <a:spcAft>
                <a:spcPct val="0"/>
              </a:spcAft>
              <a:buClrTx/>
              <a:buSzPct val="100000"/>
              <a:buFontTx/>
              <a:buNone/>
              <a:tabLst>
                <a:tab pos="1277666" algn="l"/>
                <a:tab pos="2555332" algn="l"/>
                <a:tab pos="3692098" algn="r"/>
              </a:tabLst>
              <a:defRPr/>
            </a:pPr>
            <a:endParaRPr kumimoji="0" lang="en-US" sz="1000" b="1" i="0" u="none" strike="noStrike" kern="0" cap="none" spc="0" normalizeH="0" baseline="0" noProof="0">
              <a:ln>
                <a:noFill/>
              </a:ln>
              <a:solidFill>
                <a:srgbClr val="000000"/>
              </a:solidFill>
              <a:effectLst/>
              <a:highlight>
                <a:srgbClr val="FFFF00"/>
              </a:highlight>
              <a:uLnTx/>
              <a:uFillTx/>
              <a:latin typeface="EYInterstate Light"/>
              <a:ea typeface="+mn-ea"/>
              <a:cs typeface="Arial"/>
            </a:endParaRPr>
          </a:p>
        </p:txBody>
      </p:sp>
      <p:sp>
        <p:nvSpPr>
          <p:cNvPr id="4" name="Title 1">
            <a:extLst>
              <a:ext uri="{FF2B5EF4-FFF2-40B4-BE49-F238E27FC236}">
                <a16:creationId xmlns:a16="http://schemas.microsoft.com/office/drawing/2014/main" id="{37C1E859-011B-3A28-EE0C-71D8A0B16BEF}"/>
              </a:ext>
            </a:extLst>
          </p:cNvPr>
          <p:cNvSpPr>
            <a:spLocks noGrp="1"/>
          </p:cNvSpPr>
          <p:nvPr>
            <p:ph type="title"/>
          </p:nvPr>
        </p:nvSpPr>
        <p:spPr>
          <a:xfrm>
            <a:off x="701366" y="273717"/>
            <a:ext cx="10789269" cy="792000"/>
          </a:xfrm>
        </p:spPr>
        <p:txBody>
          <a:bodyPr vert="horz"/>
          <a:lstStyle/>
          <a:p>
            <a:r>
              <a:rPr lang="en-US"/>
              <a:t>Approach and Methodology</a:t>
            </a:r>
            <a:br>
              <a:rPr lang="en-US"/>
            </a:br>
            <a:r>
              <a:rPr lang="en-US" sz="1600"/>
              <a:t>Bid Period, Clarification and Evaluation</a:t>
            </a:r>
          </a:p>
        </p:txBody>
      </p:sp>
      <p:sp>
        <p:nvSpPr>
          <p:cNvPr id="5" name="Rectangle 3">
            <a:extLst>
              <a:ext uri="{FF2B5EF4-FFF2-40B4-BE49-F238E27FC236}">
                <a16:creationId xmlns:a16="http://schemas.microsoft.com/office/drawing/2014/main" id="{573DDA22-42AD-7012-4F3C-CB229C29E2F5}"/>
              </a:ext>
            </a:extLst>
          </p:cNvPr>
          <p:cNvSpPr txBox="1">
            <a:spLocks noChangeArrowheads="1"/>
          </p:cNvSpPr>
          <p:nvPr/>
        </p:nvSpPr>
        <p:spPr bwMode="gray">
          <a:xfrm rot="16200000">
            <a:off x="4212440" y="-938261"/>
            <a:ext cx="4034595" cy="10559302"/>
          </a:xfrm>
          <a:prstGeom prst="round2SameRect">
            <a:avLst>
              <a:gd name="adj1" fmla="val 3726"/>
              <a:gd name="adj2" fmla="val 0"/>
            </a:avLst>
          </a:prstGeom>
          <a:gradFill>
            <a:gsLst>
              <a:gs pos="0">
                <a:srgbClr val="35A4E8">
                  <a:alpha val="16000"/>
                </a:srgbClr>
              </a:gs>
              <a:gs pos="100000">
                <a:srgbClr val="42C9C2">
                  <a:alpha val="5000"/>
                </a:srgbClr>
              </a:gs>
            </a:gsLst>
            <a:lin ang="600000" scaled="0"/>
          </a:gradFill>
          <a:ln w="9525">
            <a:noFill/>
            <a:miter lim="800000"/>
            <a:headEnd/>
            <a:tailEnd/>
          </a:ln>
        </p:spPr>
        <p:txBody>
          <a:bodyPr vert="vert" lIns="75238" tIns="75238" rIns="75238" bIns="75238" anchor="ctr">
            <a:noAutofit/>
          </a:bodyPr>
          <a:lstStyle/>
          <a:p>
            <a:pPr marL="0" marR="0" lvl="1" indent="0" algn="just" defTabSz="752396" rtl="0" eaLnBrk="1" fontAlgn="base" latinLnBrk="0" hangingPunct="1">
              <a:lnSpc>
                <a:spcPct val="100000"/>
              </a:lnSpc>
              <a:spcBef>
                <a:spcPct val="0"/>
              </a:spcBef>
              <a:spcAft>
                <a:spcPct val="0"/>
              </a:spcAft>
              <a:buClrTx/>
              <a:buSzPct val="100000"/>
              <a:buFontTx/>
              <a:buNone/>
              <a:tabLst>
                <a:tab pos="1277666" algn="l"/>
                <a:tab pos="2555332" algn="l"/>
                <a:tab pos="3692098" algn="r"/>
              </a:tabLst>
              <a:defRPr/>
            </a:pPr>
            <a:endParaRPr kumimoji="0" lang="en-US" sz="1000" b="1" i="0" u="none" strike="noStrike" kern="0" cap="none" spc="0" normalizeH="0" baseline="0" noProof="0">
              <a:ln>
                <a:noFill/>
              </a:ln>
              <a:solidFill>
                <a:srgbClr val="000000"/>
              </a:solidFill>
              <a:effectLst/>
              <a:highlight>
                <a:srgbClr val="FFFF00"/>
              </a:highlight>
              <a:uLnTx/>
              <a:uFillTx/>
              <a:latin typeface="EYInterstate Light"/>
              <a:ea typeface="+mn-ea"/>
              <a:cs typeface="Arial"/>
            </a:endParaRPr>
          </a:p>
        </p:txBody>
      </p:sp>
      <p:sp>
        <p:nvSpPr>
          <p:cNvPr id="14" name="Rectangle: Top Corners Rounded 13">
            <a:extLst>
              <a:ext uri="{FF2B5EF4-FFF2-40B4-BE49-F238E27FC236}">
                <a16:creationId xmlns:a16="http://schemas.microsoft.com/office/drawing/2014/main" id="{090EF7D1-C02D-2C1D-D610-1FECE9213F63}"/>
              </a:ext>
            </a:extLst>
          </p:cNvPr>
          <p:cNvSpPr>
            <a:spLocks/>
          </p:cNvSpPr>
          <p:nvPr/>
        </p:nvSpPr>
        <p:spPr bwMode="auto">
          <a:xfrm>
            <a:off x="1075071" y="2387154"/>
            <a:ext cx="1983090" cy="251369"/>
          </a:xfrm>
          <a:prstGeom prst="round2SameRect">
            <a:avLst>
              <a:gd name="adj1" fmla="val 50000"/>
              <a:gd name="adj2" fmla="val 0"/>
            </a:avLst>
          </a:prstGeom>
          <a:solidFill>
            <a:srgbClr val="1A9AFA"/>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defTabSz="829361" rtl="0" eaLnBrk="1" fontAlgn="base" latinLnBrk="0" hangingPunct="1">
              <a:lnSpc>
                <a:spcPct val="100000"/>
              </a:lnSpc>
              <a:spcBef>
                <a:spcPct val="0"/>
              </a:spcBef>
              <a:spcAft>
                <a:spcPct val="0"/>
              </a:spcAft>
              <a:buClrTx/>
              <a:buSzTx/>
              <a:buFontTx/>
              <a:buNone/>
              <a:tabLst/>
              <a:defRPr/>
            </a:pPr>
            <a:r>
              <a:rPr kumimoji="0" lang="en-IN" sz="1000" b="1" i="0" u="none" strike="noStrike" kern="0" cap="none" spc="0" normalizeH="0" baseline="0" noProof="0" dirty="0">
                <a:ln>
                  <a:noFill/>
                </a:ln>
                <a:solidFill>
                  <a:schemeClr val="bg1"/>
                </a:solidFill>
                <a:effectLst/>
                <a:uLnTx/>
                <a:uFillTx/>
                <a:latin typeface="EYInterstate Light"/>
                <a:ea typeface="+mn-ea"/>
                <a:cs typeface="Arial"/>
              </a:rPr>
              <a:t>Key Activities / Focus Areas</a:t>
            </a:r>
          </a:p>
        </p:txBody>
      </p:sp>
      <p:sp>
        <p:nvSpPr>
          <p:cNvPr id="29" name="Line 10">
            <a:extLst>
              <a:ext uri="{FF2B5EF4-FFF2-40B4-BE49-F238E27FC236}">
                <a16:creationId xmlns:a16="http://schemas.microsoft.com/office/drawing/2014/main" id="{8D7980E8-E587-5296-7F7E-AAFD37AECD52}"/>
              </a:ext>
            </a:extLst>
          </p:cNvPr>
          <p:cNvSpPr>
            <a:spLocks noChangeShapeType="1"/>
          </p:cNvSpPr>
          <p:nvPr/>
        </p:nvSpPr>
        <p:spPr bwMode="auto">
          <a:xfrm>
            <a:off x="3031702" y="2623469"/>
            <a:ext cx="4161964" cy="15054"/>
          </a:xfrm>
          <a:prstGeom prst="line">
            <a:avLst/>
          </a:prstGeom>
          <a:noFill/>
          <a:ln w="28575">
            <a:gradFill flip="none" rotWithShape="1">
              <a:gsLst>
                <a:gs pos="0">
                  <a:srgbClr val="1A9AFA"/>
                </a:gs>
                <a:gs pos="100000">
                  <a:srgbClr val="4398F7">
                    <a:alpha val="0"/>
                  </a:srgbClr>
                </a:gs>
              </a:gsLst>
              <a:lin ang="0" scaled="1"/>
              <a:tileRect/>
            </a:gra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8">
              <a:solidFill>
                <a:schemeClr val="bg1"/>
              </a:solidFill>
              <a:latin typeface="EYInterstate Light" panose="02000506000000020004" pitchFamily="2" charset="0"/>
              <a:sym typeface="EYInterstate Light" panose="02000506000000020004" pitchFamily="2" charset="0"/>
            </a:endParaRPr>
          </a:p>
        </p:txBody>
      </p:sp>
      <p:sp>
        <p:nvSpPr>
          <p:cNvPr id="36" name="Isosceles Triangle 35">
            <a:extLst>
              <a:ext uri="{FF2B5EF4-FFF2-40B4-BE49-F238E27FC236}">
                <a16:creationId xmlns:a16="http://schemas.microsoft.com/office/drawing/2014/main" id="{E9C99002-3BF9-D26B-08FA-B26B19F86A4B}"/>
              </a:ext>
            </a:extLst>
          </p:cNvPr>
          <p:cNvSpPr/>
          <p:nvPr/>
        </p:nvSpPr>
        <p:spPr bwMode="auto">
          <a:xfrm rot="5400000">
            <a:off x="909598" y="4244957"/>
            <a:ext cx="187015" cy="82580"/>
          </a:xfrm>
          <a:prstGeom prst="triangle">
            <a:avLst>
              <a:gd name="adj" fmla="val 49998"/>
            </a:avLst>
          </a:prstGeom>
          <a:solidFill>
            <a:srgbClr val="35A4E8"/>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ctr" defTabSz="995363"/>
            <a:endParaRPr lang="en-US" b="1"/>
          </a:p>
        </p:txBody>
      </p:sp>
      <p:sp>
        <p:nvSpPr>
          <p:cNvPr id="22" name="Rectangle 21">
            <a:extLst>
              <a:ext uri="{FF2B5EF4-FFF2-40B4-BE49-F238E27FC236}">
                <a16:creationId xmlns:a16="http://schemas.microsoft.com/office/drawing/2014/main" id="{97D3033E-704D-B0F9-BB6F-68754D500BB3}"/>
              </a:ext>
            </a:extLst>
          </p:cNvPr>
          <p:cNvSpPr>
            <a:spLocks/>
          </p:cNvSpPr>
          <p:nvPr/>
        </p:nvSpPr>
        <p:spPr>
          <a:xfrm>
            <a:off x="7423355" y="2782845"/>
            <a:ext cx="4067280" cy="633526"/>
          </a:xfrm>
          <a:prstGeom prst="rect">
            <a:avLst/>
          </a:prstGeom>
          <a:solidFill>
            <a:schemeClr val="bg1">
              <a:alpha val="60000"/>
            </a:schemeClr>
          </a:solidFill>
          <a:ln>
            <a:noFill/>
          </a:ln>
        </p:spPr>
        <p:txBody>
          <a:bodyPr wrap="square" lIns="65303" tIns="97955" rIns="65303" bIns="97955" anchor="t">
            <a:noAutofit/>
          </a:bodyPr>
          <a:lstStyle/>
          <a:p>
            <a:pPr marL="172800" lvl="3" indent="-172800" defTabSz="995012" fontAlgn="base">
              <a:buClr>
                <a:srgbClr val="000000"/>
              </a:buClr>
              <a:buSzPct val="100000"/>
              <a:buFont typeface="EYInterstate Light" panose="02000506000000020004" pitchFamily="2" charset="0"/>
              <a:buChar char="•"/>
              <a:tabLst>
                <a:tab pos="1613918" algn="l"/>
                <a:tab pos="3227837" algn="l"/>
                <a:tab pos="4664017" algn="r"/>
              </a:tabLst>
              <a:defRPr/>
            </a:pPr>
            <a:r>
              <a:rPr lang="en-US" sz="1000">
                <a:latin typeface="EYInterstate Light" panose="02000506000000020004" pitchFamily="2" charset="0"/>
                <a:cs typeface="Arial"/>
                <a:sym typeface="EYInterstate Light" panose="02000506000000020004" pitchFamily="2" charset="0"/>
              </a:rPr>
              <a:t>Deliverables: 2 months Bid support</a:t>
            </a:r>
          </a:p>
          <a:p>
            <a:pPr marL="172800" lvl="3" indent="-172800" defTabSz="995012" fontAlgn="base">
              <a:buClr>
                <a:srgbClr val="000000"/>
              </a:buClr>
              <a:buSzPct val="100000"/>
              <a:buFont typeface="EYInterstate Light" panose="02000506000000020004" pitchFamily="2" charset="0"/>
              <a:buChar char="•"/>
              <a:tabLst>
                <a:tab pos="1613918" algn="l"/>
                <a:tab pos="3227837" algn="l"/>
                <a:tab pos="4664017" algn="r"/>
              </a:tabLst>
              <a:defRPr/>
            </a:pPr>
            <a:r>
              <a:rPr lang="en-US" sz="1000">
                <a:latin typeface="EYInterstate Light" panose="02000506000000020004" pitchFamily="2" charset="0"/>
                <a:cs typeface="Arial"/>
                <a:sym typeface="EYInterstate Light" panose="02000506000000020004" pitchFamily="2" charset="0"/>
              </a:rPr>
              <a:t>Deliverables: 1 Evaluation </a:t>
            </a:r>
          </a:p>
        </p:txBody>
      </p:sp>
      <p:sp>
        <p:nvSpPr>
          <p:cNvPr id="45" name="Rectangle 44">
            <a:extLst>
              <a:ext uri="{FF2B5EF4-FFF2-40B4-BE49-F238E27FC236}">
                <a16:creationId xmlns:a16="http://schemas.microsoft.com/office/drawing/2014/main" id="{598A8AF6-4D88-F432-707B-DCB89AEAFD51}"/>
              </a:ext>
            </a:extLst>
          </p:cNvPr>
          <p:cNvSpPr>
            <a:spLocks/>
          </p:cNvSpPr>
          <p:nvPr/>
        </p:nvSpPr>
        <p:spPr>
          <a:xfrm>
            <a:off x="7423354" y="3746066"/>
            <a:ext cx="4086035" cy="2084762"/>
          </a:xfrm>
          <a:prstGeom prst="rect">
            <a:avLst/>
          </a:prstGeom>
          <a:noFill/>
          <a:ln>
            <a:noFill/>
          </a:ln>
        </p:spPr>
        <p:txBody>
          <a:bodyPr wrap="square" lIns="65303" tIns="72000" rIns="65303" bIns="97955" anchor="ctr">
            <a:noAutofit/>
          </a:bodyPr>
          <a:lstStyle/>
          <a:p>
            <a:pPr marL="171450" lvl="4" indent="-171450" defTabSz="995012" fontAlgn="base">
              <a:spcBef>
                <a:spcPct val="0"/>
              </a:spcBef>
              <a:buClr>
                <a:srgbClr val="000000"/>
              </a:buClr>
              <a:buSzPct val="100000"/>
              <a:buFont typeface="EYInterstate Light" panose="02000506000000020004" pitchFamily="2" charset="0"/>
              <a:buChar char="•"/>
              <a:tabLst>
                <a:tab pos="1613918" algn="l"/>
                <a:tab pos="3227837" algn="l"/>
                <a:tab pos="4664017" algn="r"/>
              </a:tabLst>
              <a:defRPr/>
            </a:pPr>
            <a:r>
              <a:rPr lang="en-US" sz="1000" b="1" kern="0" dirty="0">
                <a:solidFill>
                  <a:srgbClr val="000000"/>
                </a:solidFill>
                <a:cs typeface="Arial" panose="020B0604020202020204" pitchFamily="34" charset="0"/>
                <a:sym typeface="EYInterstate Light" panose="02000506000000020004" pitchFamily="2" charset="0"/>
              </a:rPr>
              <a:t>Timely Responses to Clarifications: [CLIENT]</a:t>
            </a:r>
            <a:r>
              <a:rPr lang="en-US" sz="1000" kern="0" dirty="0">
                <a:solidFill>
                  <a:srgbClr val="000000"/>
                </a:solidFill>
                <a:cs typeface="Arial" panose="020B0604020202020204" pitchFamily="34" charset="0"/>
                <a:sym typeface="EYInterstate Light" panose="02000506000000020004" pitchFamily="2" charset="0"/>
              </a:rPr>
              <a:t> will work alongside the consultant to provide timely and accurate responses to all bidder clarifications, ensuring that bidders have the information needed to submit competitive proposals.</a:t>
            </a:r>
          </a:p>
          <a:p>
            <a:pPr marL="171450" lvl="4" indent="-171450" defTabSz="995012" fontAlgn="base">
              <a:spcBef>
                <a:spcPct val="0"/>
              </a:spcBef>
              <a:buClr>
                <a:srgbClr val="000000"/>
              </a:buClr>
              <a:buSzPct val="100000"/>
              <a:buFont typeface="EYInterstate Light" panose="02000506000000020004" pitchFamily="2" charset="0"/>
              <a:buChar char="•"/>
              <a:tabLst>
                <a:tab pos="1613918" algn="l"/>
                <a:tab pos="3227837" algn="l"/>
                <a:tab pos="4664017" algn="r"/>
              </a:tabLst>
              <a:defRPr/>
            </a:pPr>
            <a:r>
              <a:rPr lang="en-US" sz="1000" b="1" kern="0" dirty="0">
                <a:solidFill>
                  <a:srgbClr val="000000"/>
                </a:solidFill>
                <a:cs typeface="Arial" panose="020B0604020202020204" pitchFamily="34" charset="0"/>
                <a:sym typeface="EYInterstate Light" panose="02000506000000020004" pitchFamily="2" charset="0"/>
              </a:rPr>
              <a:t>Stakeholder Engagement: [CLIENT] </a:t>
            </a:r>
            <a:r>
              <a:rPr lang="en-US" sz="1000" kern="0" dirty="0">
                <a:solidFill>
                  <a:srgbClr val="000000"/>
                </a:solidFill>
                <a:cs typeface="Arial" panose="020B0604020202020204" pitchFamily="34" charset="0"/>
                <a:sym typeface="EYInterstate Light" panose="02000506000000020004" pitchFamily="2" charset="0"/>
              </a:rPr>
              <a:t>is responsible for ensuring all relevant stakeholders are informed and available for input during the evaluation.</a:t>
            </a:r>
          </a:p>
          <a:p>
            <a:pPr marL="171450" lvl="4" indent="-171450" defTabSz="995012" fontAlgn="base">
              <a:spcBef>
                <a:spcPct val="0"/>
              </a:spcBef>
              <a:buClr>
                <a:srgbClr val="000000"/>
              </a:buClr>
              <a:buSzPct val="100000"/>
              <a:buFont typeface="EYInterstate Light" panose="02000506000000020004" pitchFamily="2" charset="0"/>
              <a:buChar char="•"/>
              <a:tabLst>
                <a:tab pos="1613918" algn="l"/>
                <a:tab pos="3227837" algn="l"/>
                <a:tab pos="4664017" algn="r"/>
              </a:tabLst>
              <a:defRPr/>
            </a:pPr>
            <a:r>
              <a:rPr lang="en-US" sz="1000" b="1" kern="0" dirty="0">
                <a:solidFill>
                  <a:srgbClr val="000000"/>
                </a:solidFill>
                <a:cs typeface="Arial" panose="020B0604020202020204" pitchFamily="34" charset="0"/>
                <a:sym typeface="EYInterstate Light" panose="02000506000000020004" pitchFamily="2" charset="0"/>
              </a:rPr>
              <a:t>Engagement from Bidders: </a:t>
            </a:r>
            <a:r>
              <a:rPr lang="en-US" sz="1000" kern="0" dirty="0">
                <a:solidFill>
                  <a:srgbClr val="000000"/>
                </a:solidFill>
                <a:cs typeface="Arial" panose="020B0604020202020204" pitchFamily="34" charset="0"/>
                <a:sym typeface="EYInterstate Light" panose="02000506000000020004" pitchFamily="2" charset="0"/>
              </a:rPr>
              <a:t>We have assumed there will be no one to one meetings with Bidders, and any engagement will be conducted through a single Bidder day if required.</a:t>
            </a:r>
          </a:p>
        </p:txBody>
      </p:sp>
      <p:sp>
        <p:nvSpPr>
          <p:cNvPr id="9" name="Rectangle: Top Corners Rounded 8">
            <a:extLst>
              <a:ext uri="{FF2B5EF4-FFF2-40B4-BE49-F238E27FC236}">
                <a16:creationId xmlns:a16="http://schemas.microsoft.com/office/drawing/2014/main" id="{76786B22-D24E-CABD-FF9D-CD472940EC98}"/>
              </a:ext>
            </a:extLst>
          </p:cNvPr>
          <p:cNvSpPr>
            <a:spLocks/>
          </p:cNvSpPr>
          <p:nvPr/>
        </p:nvSpPr>
        <p:spPr bwMode="auto">
          <a:xfrm rot="16200000">
            <a:off x="5960234" y="4910303"/>
            <a:ext cx="2565386" cy="236913"/>
          </a:xfrm>
          <a:prstGeom prst="round2SameRect">
            <a:avLst>
              <a:gd name="adj1" fmla="val 50000"/>
              <a:gd name="adj2" fmla="val 0"/>
            </a:avLst>
          </a:prstGeom>
          <a:solidFill>
            <a:srgbClr val="C4C4CD"/>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829361" rtl="0" eaLnBrk="1" fontAlgn="base" latinLnBrk="0" hangingPunct="1">
              <a:lnSpc>
                <a:spcPct val="100000"/>
              </a:lnSpc>
              <a:spcBef>
                <a:spcPct val="0"/>
              </a:spcBef>
              <a:spcAft>
                <a:spcPct val="0"/>
              </a:spcAft>
              <a:buClrTx/>
              <a:buSzTx/>
              <a:buFontTx/>
              <a:buNone/>
              <a:tabLst/>
              <a:defRPr/>
            </a:pPr>
            <a:r>
              <a:rPr lang="en-IN" sz="1000" b="1" kern="0">
                <a:latin typeface="EYInterstate Light"/>
                <a:cs typeface="Arial"/>
              </a:rPr>
              <a:t>Assumptions</a:t>
            </a:r>
            <a:endParaRPr kumimoji="0" lang="en-IN" sz="1000" b="1" i="0" u="none" strike="noStrike" kern="0" cap="none" spc="0" normalizeH="0" baseline="0" noProof="0">
              <a:ln>
                <a:noFill/>
              </a:ln>
              <a:effectLst/>
              <a:uLnTx/>
              <a:uFillTx/>
              <a:latin typeface="EYInterstate Light"/>
              <a:ea typeface="+mn-ea"/>
              <a:cs typeface="Arial"/>
            </a:endParaRPr>
          </a:p>
        </p:txBody>
      </p:sp>
      <p:sp>
        <p:nvSpPr>
          <p:cNvPr id="19" name="Rectangle: Top Corners Rounded 18">
            <a:extLst>
              <a:ext uri="{FF2B5EF4-FFF2-40B4-BE49-F238E27FC236}">
                <a16:creationId xmlns:a16="http://schemas.microsoft.com/office/drawing/2014/main" id="{65CE8EA7-A734-2E52-D2B5-3889753F8BFF}"/>
              </a:ext>
            </a:extLst>
          </p:cNvPr>
          <p:cNvSpPr>
            <a:spLocks/>
          </p:cNvSpPr>
          <p:nvPr/>
        </p:nvSpPr>
        <p:spPr bwMode="auto">
          <a:xfrm rot="16200000">
            <a:off x="6789684" y="3110964"/>
            <a:ext cx="905647" cy="236075"/>
          </a:xfrm>
          <a:prstGeom prst="round2SameRect">
            <a:avLst>
              <a:gd name="adj1" fmla="val 50000"/>
              <a:gd name="adj2" fmla="val 0"/>
            </a:avLst>
          </a:prstGeom>
          <a:solidFill>
            <a:srgbClr val="C4C4CD"/>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829361" rtl="0" eaLnBrk="1" fontAlgn="base" latinLnBrk="0" hangingPunct="1">
              <a:lnSpc>
                <a:spcPct val="100000"/>
              </a:lnSpc>
              <a:spcBef>
                <a:spcPct val="0"/>
              </a:spcBef>
              <a:spcAft>
                <a:spcPct val="0"/>
              </a:spcAft>
              <a:buClrTx/>
              <a:buSzTx/>
              <a:buFontTx/>
              <a:buNone/>
              <a:tabLst/>
              <a:defRPr/>
            </a:pPr>
            <a:r>
              <a:rPr lang="en-IN" sz="1000" b="1" kern="0">
                <a:latin typeface="EYInterstate Light"/>
                <a:cs typeface="Arial"/>
              </a:rPr>
              <a:t>Timeline</a:t>
            </a:r>
            <a:endParaRPr kumimoji="0" lang="en-IN" sz="1000" b="1" i="0" u="none" strike="noStrike" kern="0" cap="none" spc="0" normalizeH="0" baseline="0" noProof="0">
              <a:ln>
                <a:noFill/>
              </a:ln>
              <a:effectLst/>
              <a:uLnTx/>
              <a:uFillTx/>
              <a:latin typeface="EYInterstate Light"/>
              <a:ea typeface="+mn-ea"/>
              <a:cs typeface="Arial"/>
            </a:endParaRPr>
          </a:p>
        </p:txBody>
      </p:sp>
      <p:sp>
        <p:nvSpPr>
          <p:cNvPr id="2" name="Rectangle 1">
            <a:extLst>
              <a:ext uri="{FF2B5EF4-FFF2-40B4-BE49-F238E27FC236}">
                <a16:creationId xmlns:a16="http://schemas.microsoft.com/office/drawing/2014/main" id="{D2C34236-2F54-B7D0-31A7-8CFCF5CAF4E2}"/>
              </a:ext>
            </a:extLst>
          </p:cNvPr>
          <p:cNvSpPr>
            <a:spLocks/>
          </p:cNvSpPr>
          <p:nvPr/>
        </p:nvSpPr>
        <p:spPr>
          <a:xfrm>
            <a:off x="1078007" y="2670716"/>
            <a:ext cx="6087100" cy="3640738"/>
          </a:xfrm>
          <a:prstGeom prst="rect">
            <a:avLst/>
          </a:prstGeom>
          <a:noFill/>
          <a:ln>
            <a:noFill/>
          </a:ln>
        </p:spPr>
        <p:txBody>
          <a:bodyPr wrap="square" lIns="65303" tIns="72000" rIns="65303" bIns="97955" anchor="ctr">
            <a:noAutofit/>
          </a:bodyPr>
          <a:lstStyle/>
          <a:p>
            <a:pPr marL="0" lvl="4" defTabSz="995012" fontAlgn="base">
              <a:spcBef>
                <a:spcPct val="0"/>
              </a:spcBef>
              <a:buClr>
                <a:srgbClr val="000000"/>
              </a:buClr>
              <a:buSzPct val="100000"/>
              <a:tabLst>
                <a:tab pos="1613918" algn="l"/>
                <a:tab pos="3227837" algn="l"/>
                <a:tab pos="4664017" algn="r"/>
              </a:tabLst>
              <a:defRPr/>
            </a:pPr>
            <a:endParaRPr lang="en-IN" sz="1000">
              <a:solidFill>
                <a:srgbClr val="000000"/>
              </a:solidFill>
              <a:latin typeface="EYInterstate Light" panose="02000506000000020004" pitchFamily="2" charset="0"/>
              <a:cs typeface="Arial"/>
              <a:sym typeface="EYInterstate Light" panose="02000506000000020004" pitchFamily="2" charset="0"/>
            </a:endParaRPr>
          </a:p>
        </p:txBody>
      </p:sp>
      <p:sp>
        <p:nvSpPr>
          <p:cNvPr id="8" name="Rectangle 7">
            <a:extLst>
              <a:ext uri="{FF2B5EF4-FFF2-40B4-BE49-F238E27FC236}">
                <a16:creationId xmlns:a16="http://schemas.microsoft.com/office/drawing/2014/main" id="{DD189A35-D771-976E-2935-327C151BFB56}"/>
              </a:ext>
            </a:extLst>
          </p:cNvPr>
          <p:cNvSpPr>
            <a:spLocks/>
          </p:cNvSpPr>
          <p:nvPr/>
        </p:nvSpPr>
        <p:spPr>
          <a:xfrm>
            <a:off x="1075956" y="2670716"/>
            <a:ext cx="6024139" cy="3577681"/>
          </a:xfrm>
          <a:prstGeom prst="rect">
            <a:avLst/>
          </a:prstGeom>
          <a:noFill/>
          <a:ln>
            <a:noFill/>
          </a:ln>
        </p:spPr>
        <p:txBody>
          <a:bodyPr wrap="square" lIns="65303" tIns="72000" rIns="65303" bIns="97955" anchor="t">
            <a:noAutofit/>
          </a:bodyPr>
          <a:lstStyle/>
          <a:p>
            <a:pPr marL="0" lvl="4" defTabSz="995012" fontAlgn="base">
              <a:spcBef>
                <a:spcPct val="0"/>
              </a:spcBef>
              <a:buClr>
                <a:srgbClr val="000000"/>
              </a:buClr>
              <a:buSzPct val="100000"/>
              <a:tabLst>
                <a:tab pos="1613918" algn="l"/>
                <a:tab pos="3227837" algn="l"/>
                <a:tab pos="4664017" algn="r"/>
              </a:tabLst>
              <a:defRPr/>
            </a:pPr>
            <a:r>
              <a:rPr lang="en-US" sz="1000" b="1" kern="0" dirty="0">
                <a:solidFill>
                  <a:srgbClr val="000000"/>
                </a:solidFill>
                <a:cs typeface="Arial" panose="020B0604020202020204" pitchFamily="34" charset="0"/>
                <a:sym typeface="EYInterstate Light" panose="02000506000000020004" pitchFamily="2" charset="0"/>
              </a:rPr>
              <a:t>I. Respond to Clarifications</a:t>
            </a:r>
          </a:p>
          <a:p>
            <a:pPr marL="171450" lvl="4" indent="-171450" defTabSz="995012" fontAlgn="base">
              <a:spcBef>
                <a:spcPct val="0"/>
              </a:spcBef>
              <a:buClr>
                <a:srgbClr val="000000"/>
              </a:buClr>
              <a:buSzPct val="100000"/>
              <a:buFont typeface="EYInterstate Light" panose="02000506000000020004" pitchFamily="2" charset="0"/>
              <a:buChar char="•"/>
              <a:tabLst>
                <a:tab pos="1613918" algn="l"/>
                <a:tab pos="3227837" algn="l"/>
                <a:tab pos="4664017" algn="r"/>
              </a:tabLst>
              <a:defRPr/>
            </a:pPr>
            <a:r>
              <a:rPr lang="en-US" sz="1000" kern="0" dirty="0">
                <a:solidFill>
                  <a:srgbClr val="000000"/>
                </a:solidFill>
                <a:cs typeface="Arial" panose="020B0604020202020204" pitchFamily="34" charset="0"/>
                <a:sym typeface="EYInterstate Light" panose="02000506000000020004" pitchFamily="2" charset="0"/>
              </a:rPr>
              <a:t>Prepare formal responses to all clarifications raised by bidders during the RFP process, covering technical and financial aspects.</a:t>
            </a:r>
          </a:p>
          <a:p>
            <a:pPr marL="171450" lvl="4" indent="-171450" defTabSz="995012" fontAlgn="base">
              <a:spcBef>
                <a:spcPct val="0"/>
              </a:spcBef>
              <a:buClr>
                <a:srgbClr val="000000"/>
              </a:buClr>
              <a:buSzPct val="100000"/>
              <a:buFont typeface="EYInterstate Light" panose="02000506000000020004" pitchFamily="2" charset="0"/>
              <a:buChar char="•"/>
              <a:tabLst>
                <a:tab pos="1613918" algn="l"/>
                <a:tab pos="3227837" algn="l"/>
                <a:tab pos="4664017" algn="r"/>
              </a:tabLst>
              <a:defRPr/>
            </a:pPr>
            <a:r>
              <a:rPr lang="en-US" sz="1000" kern="0" dirty="0">
                <a:solidFill>
                  <a:srgbClr val="000000"/>
                </a:solidFill>
                <a:cs typeface="Arial" panose="020B0604020202020204" pitchFamily="34" charset="0"/>
                <a:sym typeface="EYInterstate Light" panose="02000506000000020004" pitchFamily="2" charset="0"/>
              </a:rPr>
              <a:t>Document all clarifications and responses to maintain transparency and ensure all bidders receive consistent information. </a:t>
            </a:r>
          </a:p>
          <a:p>
            <a:pPr marL="0" lvl="4" defTabSz="995012" fontAlgn="base">
              <a:spcBef>
                <a:spcPct val="0"/>
              </a:spcBef>
              <a:buClr>
                <a:srgbClr val="000000"/>
              </a:buClr>
              <a:buSzPct val="100000"/>
              <a:tabLst>
                <a:tab pos="1613918" algn="l"/>
                <a:tab pos="3227837" algn="l"/>
                <a:tab pos="4664017" algn="r"/>
              </a:tabLst>
              <a:defRPr/>
            </a:pPr>
            <a:r>
              <a:rPr lang="en-US" sz="1000" b="1" kern="0" dirty="0">
                <a:solidFill>
                  <a:srgbClr val="000000"/>
                </a:solidFill>
                <a:cs typeface="Arial" panose="020B0604020202020204" pitchFamily="34" charset="0"/>
                <a:sym typeface="EYInterstate Light" panose="02000506000000020004" pitchFamily="2" charset="0"/>
              </a:rPr>
              <a:t>II. Establish Evaluation Protocols and Teams </a:t>
            </a:r>
          </a:p>
          <a:p>
            <a:pPr marL="171450" lvl="4" indent="-171450" defTabSz="995012" fontAlgn="base">
              <a:spcBef>
                <a:spcPct val="0"/>
              </a:spcBef>
              <a:buClr>
                <a:srgbClr val="000000"/>
              </a:buClr>
              <a:buSzPct val="100000"/>
              <a:buFont typeface="EYInterstate Light" panose="02000506000000020004" pitchFamily="2" charset="0"/>
              <a:buChar char="•"/>
              <a:tabLst>
                <a:tab pos="1613918" algn="l"/>
                <a:tab pos="3227837" algn="l"/>
                <a:tab pos="4664017" algn="r"/>
              </a:tabLst>
              <a:defRPr/>
            </a:pPr>
            <a:r>
              <a:rPr lang="en-US" sz="1000" kern="0" dirty="0">
                <a:solidFill>
                  <a:srgbClr val="000000"/>
                </a:solidFill>
                <a:cs typeface="Arial" panose="020B0604020202020204" pitchFamily="34" charset="0"/>
                <a:sym typeface="EYInterstate Light" panose="02000506000000020004" pitchFamily="2" charset="0"/>
              </a:rPr>
              <a:t>Discuss and finalize evaluation protocols and teams with [CLIENT], ensuring alignment with project objectives and best practices.</a:t>
            </a:r>
          </a:p>
          <a:p>
            <a:pPr marL="171450" lvl="4" indent="-171450" defTabSz="995012" fontAlgn="base">
              <a:spcBef>
                <a:spcPct val="0"/>
              </a:spcBef>
              <a:buClr>
                <a:srgbClr val="000000"/>
              </a:buClr>
              <a:buSzPct val="100000"/>
              <a:buFont typeface="EYInterstate Light" panose="02000506000000020004" pitchFamily="2" charset="0"/>
              <a:buChar char="•"/>
              <a:tabLst>
                <a:tab pos="1613918" algn="l"/>
                <a:tab pos="3227837" algn="l"/>
                <a:tab pos="4664017" algn="r"/>
              </a:tabLst>
              <a:defRPr/>
            </a:pPr>
            <a:r>
              <a:rPr lang="en-US" sz="1000" kern="0" dirty="0">
                <a:solidFill>
                  <a:srgbClr val="000000"/>
                </a:solidFill>
                <a:cs typeface="Arial" panose="020B0604020202020204" pitchFamily="34" charset="0"/>
                <a:sym typeface="EYInterstate Light" panose="02000506000000020004" pitchFamily="2" charset="0"/>
              </a:rPr>
              <a:t>Organize pre-bid meetings to clarify RFP requirements and expectations and facilitate mid-tender meetings to address ongoing questions from bidders.</a:t>
            </a:r>
          </a:p>
          <a:p>
            <a:pPr marL="0" lvl="4" defTabSz="995012" fontAlgn="base">
              <a:spcBef>
                <a:spcPct val="0"/>
              </a:spcBef>
              <a:buClr>
                <a:srgbClr val="000000"/>
              </a:buClr>
              <a:buSzPct val="100000"/>
              <a:tabLst>
                <a:tab pos="1613918" algn="l"/>
                <a:tab pos="3227837" algn="l"/>
                <a:tab pos="4664017" algn="r"/>
              </a:tabLst>
              <a:defRPr/>
            </a:pPr>
            <a:r>
              <a:rPr lang="en-US" sz="1000" b="1" kern="0" dirty="0">
                <a:solidFill>
                  <a:srgbClr val="000000"/>
                </a:solidFill>
                <a:cs typeface="Arial" panose="020B0604020202020204" pitchFamily="34" charset="0"/>
                <a:sym typeface="EYInterstate Light" panose="02000506000000020004" pitchFamily="2" charset="0"/>
              </a:rPr>
              <a:t>III. Evaluate Bid Submissions and Prepare Reports</a:t>
            </a:r>
          </a:p>
          <a:p>
            <a:pPr marL="171450" lvl="4" indent="-171450" defTabSz="995012" fontAlgn="base">
              <a:spcBef>
                <a:spcPct val="0"/>
              </a:spcBef>
              <a:buClr>
                <a:srgbClr val="000000"/>
              </a:buClr>
              <a:buSzPct val="100000"/>
              <a:buFont typeface="EYInterstate Light" panose="02000506000000020004" pitchFamily="2" charset="0"/>
              <a:buChar char="•"/>
              <a:tabLst>
                <a:tab pos="1613918" algn="l"/>
                <a:tab pos="3227837" algn="l"/>
                <a:tab pos="4664017" algn="r"/>
              </a:tabLst>
              <a:defRPr/>
            </a:pPr>
            <a:r>
              <a:rPr lang="en-US" sz="1000" kern="0" dirty="0">
                <a:solidFill>
                  <a:srgbClr val="000000"/>
                </a:solidFill>
                <a:cs typeface="Arial" panose="020B0604020202020204" pitchFamily="34" charset="0"/>
                <a:sym typeface="EYInterstate Light" panose="02000506000000020004" pitchFamily="2" charset="0"/>
              </a:rPr>
              <a:t>Conduct comprehensive evaluations of technical and commercial aspects of bid submissions, ensuring compliance with RFP requirements.</a:t>
            </a:r>
          </a:p>
          <a:p>
            <a:pPr marL="171450" lvl="4" indent="-171450" defTabSz="995012" fontAlgn="base">
              <a:spcBef>
                <a:spcPct val="0"/>
              </a:spcBef>
              <a:buClr>
                <a:srgbClr val="000000"/>
              </a:buClr>
              <a:buSzPct val="100000"/>
              <a:buFont typeface="EYInterstate Light" panose="02000506000000020004" pitchFamily="2" charset="0"/>
              <a:buChar char="•"/>
              <a:tabLst>
                <a:tab pos="1613918" algn="l"/>
                <a:tab pos="3227837" algn="l"/>
                <a:tab pos="4664017" algn="r"/>
              </a:tabLst>
              <a:defRPr/>
            </a:pPr>
            <a:r>
              <a:rPr lang="en-US" sz="1000" kern="0" dirty="0">
                <a:solidFill>
                  <a:srgbClr val="000000"/>
                </a:solidFill>
                <a:cs typeface="Arial" panose="020B0604020202020204" pitchFamily="34" charset="0"/>
                <a:sym typeface="EYInterstate Light" panose="02000506000000020004" pitchFamily="2" charset="0"/>
              </a:rPr>
              <a:t>Prepare preliminary and final evaluation reports, including a summary table of comparable information across bids, and present recommendations for preferred bidders to MIC and </a:t>
            </a:r>
            <a:r>
              <a:rPr lang="en-US" sz="1000" kern="0" dirty="0" err="1">
                <a:solidFill>
                  <a:srgbClr val="000000"/>
                </a:solidFill>
                <a:cs typeface="Arial" panose="020B0604020202020204" pitchFamily="34" charset="0"/>
                <a:sym typeface="EYInterstate Light" panose="02000506000000020004" pitchFamily="2" charset="0"/>
              </a:rPr>
              <a:t>BoD</a:t>
            </a:r>
            <a:endParaRPr lang="en-US" sz="1000" kern="0" dirty="0">
              <a:solidFill>
                <a:srgbClr val="000000"/>
              </a:solidFill>
              <a:cs typeface="Arial" panose="020B0604020202020204" pitchFamily="34" charset="0"/>
              <a:sym typeface="EYInterstate Light" panose="02000506000000020004" pitchFamily="2" charset="0"/>
            </a:endParaRPr>
          </a:p>
        </p:txBody>
      </p:sp>
      <p:sp>
        <p:nvSpPr>
          <p:cNvPr id="3" name="Content Placeholder 11">
            <a:extLst>
              <a:ext uri="{FF2B5EF4-FFF2-40B4-BE49-F238E27FC236}">
                <a16:creationId xmlns:a16="http://schemas.microsoft.com/office/drawing/2014/main" id="{0FCB3E4D-56F5-4FE9-965F-DC84AF6576F5}"/>
              </a:ext>
            </a:extLst>
          </p:cNvPr>
          <p:cNvSpPr txBox="1">
            <a:spLocks/>
          </p:cNvSpPr>
          <p:nvPr/>
        </p:nvSpPr>
        <p:spPr>
          <a:xfrm rot="16200000">
            <a:off x="461836" y="1536917"/>
            <a:ext cx="948349" cy="497516"/>
          </a:xfrm>
          <a:prstGeom prst="round2SameRect">
            <a:avLst>
              <a:gd name="adj1" fmla="val 42342"/>
              <a:gd name="adj2" fmla="val 0"/>
            </a:avLst>
          </a:prstGeom>
          <a:solidFill>
            <a:srgbClr val="747480"/>
          </a:solidFill>
          <a:ln w="3175">
            <a:noFill/>
          </a:ln>
        </p:spPr>
        <p:txBody>
          <a:bodyPr vert="horz" wrap="square" lIns="0" tIns="0" rIns="0" bIns="0" anchor="t">
            <a:noAutofit/>
          </a:bodyPr>
          <a:lstStyle>
            <a:defPPr>
              <a:defRPr lang="en-US"/>
            </a:defPPr>
            <a:lvl4pPr marL="0" marR="0" lvl="3" indent="0" defTabSz="995363" eaLnBrk="0" fontAlgn="auto" latinLnBrk="0" hangingPunct="0">
              <a:lnSpc>
                <a:spcPct val="100000"/>
              </a:lnSpc>
              <a:spcBef>
                <a:spcPts val="0"/>
              </a:spcBef>
              <a:spcAft>
                <a:spcPct val="40000"/>
              </a:spcAft>
              <a:buClr>
                <a:srgbClr val="000000"/>
              </a:buClr>
              <a:buSzPct val="100000"/>
              <a:buFont typeface="EYInterstate" pitchFamily="2" charset="0"/>
              <a:buNone/>
              <a:tabLst>
                <a:tab pos="1614488" algn="l"/>
                <a:tab pos="3228975" algn="l"/>
                <a:tab pos="4665663" algn="r"/>
              </a:tabLst>
              <a:defRPr kumimoji="0" sz="1400" b="1" i="0" u="none" strike="noStrike" cap="none" spc="0" normalizeH="0" baseline="0">
                <a:ln>
                  <a:noFill/>
                </a:ln>
                <a:solidFill>
                  <a:srgbClr val="000000"/>
                </a:solidFill>
                <a:effectLst/>
                <a:uLnTx/>
                <a:uFillTx/>
                <a:latin typeface="+mj-lt"/>
                <a:cs typeface="+mj-cs"/>
              </a:defRPr>
            </a:lvl4pPr>
          </a:lstStyle>
          <a:p>
            <a:pPr marL="0" marR="0" lvl="0" indent="0" algn="ctr" defTabSz="818726" rtl="0" eaLnBrk="1" fontAlgn="base" latinLnBrk="0" hangingPunct="1">
              <a:lnSpc>
                <a:spcPct val="85000"/>
              </a:lnSpc>
              <a:spcBef>
                <a:spcPct val="0"/>
              </a:spcBef>
              <a:spcAft>
                <a:spcPct val="0"/>
              </a:spcAft>
              <a:buClrTx/>
              <a:buSzTx/>
              <a:buFontTx/>
              <a:buNone/>
              <a:tabLst/>
              <a:defRPr/>
            </a:pPr>
            <a:r>
              <a:rPr kumimoji="0" lang="en-US" sz="1000" b="1" i="0" u="none" strike="noStrike" kern="0" cap="none" spc="0" normalizeH="0" baseline="0" noProof="0">
                <a:ln>
                  <a:noFill/>
                </a:ln>
                <a:solidFill>
                  <a:schemeClr val="bg1"/>
                </a:solidFill>
                <a:effectLst/>
                <a:uLnTx/>
                <a:uFillTx/>
                <a:latin typeface="EYInterstate Light"/>
                <a:ea typeface="+mn-ea"/>
                <a:cs typeface="Arial" charset="0"/>
              </a:rPr>
              <a:t>Objective</a:t>
            </a:r>
          </a:p>
        </p:txBody>
      </p:sp>
      <p:sp>
        <p:nvSpPr>
          <p:cNvPr id="10" name="Freeform: Shape 9">
            <a:extLst>
              <a:ext uri="{FF2B5EF4-FFF2-40B4-BE49-F238E27FC236}">
                <a16:creationId xmlns:a16="http://schemas.microsoft.com/office/drawing/2014/main" id="{C5AFB67B-3E6C-A5D6-2468-F3A6388EE156}"/>
              </a:ext>
            </a:extLst>
          </p:cNvPr>
          <p:cNvSpPr>
            <a:spLocks/>
          </p:cNvSpPr>
          <p:nvPr/>
        </p:nvSpPr>
        <p:spPr bwMode="auto">
          <a:xfrm>
            <a:off x="961776" y="1311500"/>
            <a:ext cx="6033383" cy="948349"/>
          </a:xfrm>
          <a:custGeom>
            <a:avLst/>
            <a:gdLst>
              <a:gd name="connsiteX0" fmla="*/ 112302 w 5876924"/>
              <a:gd name="connsiteY0" fmla="*/ 0 h 1331066"/>
              <a:gd name="connsiteX1" fmla="*/ 5764622 w 5876924"/>
              <a:gd name="connsiteY1" fmla="*/ 0 h 1331066"/>
              <a:gd name="connsiteX2" fmla="*/ 5876924 w 5876924"/>
              <a:gd name="connsiteY2" fmla="*/ 112302 h 1331066"/>
              <a:gd name="connsiteX3" fmla="*/ 5876924 w 5876924"/>
              <a:gd name="connsiteY3" fmla="*/ 1218764 h 1331066"/>
              <a:gd name="connsiteX4" fmla="*/ 5764622 w 5876924"/>
              <a:gd name="connsiteY4" fmla="*/ 1331066 h 1331066"/>
              <a:gd name="connsiteX5" fmla="*/ 112302 w 5876924"/>
              <a:gd name="connsiteY5" fmla="*/ 1331066 h 1331066"/>
              <a:gd name="connsiteX6" fmla="*/ 0 w 5876924"/>
              <a:gd name="connsiteY6" fmla="*/ 1218764 h 1331066"/>
              <a:gd name="connsiteX7" fmla="*/ 0 w 5876924"/>
              <a:gd name="connsiteY7" fmla="*/ 809188 h 1331066"/>
              <a:gd name="connsiteX8" fmla="*/ 140493 w 5876924"/>
              <a:gd name="connsiteY8" fmla="*/ 665533 h 1331066"/>
              <a:gd name="connsiteX9" fmla="*/ 0 w 5876924"/>
              <a:gd name="connsiteY9" fmla="*/ 521878 h 1331066"/>
              <a:gd name="connsiteX10" fmla="*/ 0 w 5876924"/>
              <a:gd name="connsiteY10" fmla="*/ 112302 h 1331066"/>
              <a:gd name="connsiteX11" fmla="*/ 112302 w 5876924"/>
              <a:gd name="connsiteY11" fmla="*/ 0 h 133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76924" h="1331066">
                <a:moveTo>
                  <a:pt x="112302" y="0"/>
                </a:moveTo>
                <a:lnTo>
                  <a:pt x="5764622" y="0"/>
                </a:lnTo>
                <a:cubicBezTo>
                  <a:pt x="5826645" y="0"/>
                  <a:pt x="5876924" y="50279"/>
                  <a:pt x="5876924" y="112302"/>
                </a:cubicBezTo>
                <a:lnTo>
                  <a:pt x="5876924" y="1218764"/>
                </a:lnTo>
                <a:cubicBezTo>
                  <a:pt x="5876924" y="1280787"/>
                  <a:pt x="5826645" y="1331066"/>
                  <a:pt x="5764622" y="1331066"/>
                </a:cubicBezTo>
                <a:lnTo>
                  <a:pt x="112302" y="1331066"/>
                </a:lnTo>
                <a:cubicBezTo>
                  <a:pt x="50279" y="1331066"/>
                  <a:pt x="0" y="1280787"/>
                  <a:pt x="0" y="1218764"/>
                </a:cubicBezTo>
                <a:lnTo>
                  <a:pt x="0" y="809188"/>
                </a:lnTo>
                <a:lnTo>
                  <a:pt x="140493" y="665533"/>
                </a:lnTo>
                <a:lnTo>
                  <a:pt x="0" y="521878"/>
                </a:lnTo>
                <a:lnTo>
                  <a:pt x="0" y="112302"/>
                </a:lnTo>
                <a:cubicBezTo>
                  <a:pt x="0" y="50279"/>
                  <a:pt x="50279" y="0"/>
                  <a:pt x="112302"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vert="horz" wrap="square" lIns="216000" tIns="72000" rIns="72000" bIns="72000" numCol="1" rtlCol="0" anchor="ctr" anchorCtr="0" compatLnSpc="1">
            <a:prstTxWarp prst="textNoShape">
              <a:avLst/>
            </a:prstTxWarp>
            <a:noAutofit/>
          </a:bodyPr>
          <a:lstStyle/>
          <a:p>
            <a:pPr marL="2993" lvl="2" defTabSz="937548" fontAlgn="base">
              <a:spcBef>
                <a:spcPct val="0"/>
              </a:spcBef>
              <a:spcAft>
                <a:spcPts val="189"/>
              </a:spcAft>
              <a:buClr>
                <a:srgbClr val="000000"/>
              </a:buClr>
              <a:buSzPct val="100000"/>
              <a:buFont typeface="EYInterstate Light" panose="02000506000000020004" pitchFamily="2" charset="0"/>
              <a:tabLst>
                <a:tab pos="1520712" algn="l"/>
                <a:tab pos="3041426" algn="l"/>
                <a:tab pos="4394665" algn="r"/>
              </a:tabLst>
              <a:defRPr/>
            </a:pPr>
            <a:r>
              <a:rPr kumimoji="0" lang="en-IN" sz="1050" kern="1200" cap="none" spc="0" normalizeH="0" noProof="0">
                <a:ln>
                  <a:noFill/>
                </a:ln>
                <a:solidFill>
                  <a:srgbClr val="000000"/>
                </a:solidFill>
                <a:effectLst/>
                <a:uLnTx/>
                <a:uFillTx/>
                <a:latin typeface="EYInterstate Light" panose="02000506000000020004" pitchFamily="2" charset="0"/>
                <a:cs typeface="Arial"/>
                <a:sym typeface="EYInterstate Light" panose="02000506000000020004" pitchFamily="2" charset="0"/>
              </a:rPr>
              <a:t>Manage the RFP process and the included stakeholders to arrive at a successful conclusion on the RPF process. </a:t>
            </a:r>
          </a:p>
        </p:txBody>
      </p:sp>
      <p:grpSp>
        <p:nvGrpSpPr>
          <p:cNvPr id="16" name="Group 15">
            <a:extLst>
              <a:ext uri="{FF2B5EF4-FFF2-40B4-BE49-F238E27FC236}">
                <a16:creationId xmlns:a16="http://schemas.microsoft.com/office/drawing/2014/main" id="{88D9ED2A-1B2F-DBE6-F76A-D5C89D55A0A9}"/>
              </a:ext>
            </a:extLst>
          </p:cNvPr>
          <p:cNvGrpSpPr/>
          <p:nvPr/>
        </p:nvGrpSpPr>
        <p:grpSpPr>
          <a:xfrm>
            <a:off x="7100093" y="1247528"/>
            <a:ext cx="4390539" cy="948349"/>
            <a:chOff x="4811202" y="1311500"/>
            <a:chExt cx="3773704" cy="948349"/>
          </a:xfrm>
        </p:grpSpPr>
        <p:sp>
          <p:nvSpPr>
            <p:cNvPr id="18" name="Content Placeholder 11">
              <a:extLst>
                <a:ext uri="{FF2B5EF4-FFF2-40B4-BE49-F238E27FC236}">
                  <a16:creationId xmlns:a16="http://schemas.microsoft.com/office/drawing/2014/main" id="{8132E0FB-670E-980A-FF9B-17A4D085EB9D}"/>
                </a:ext>
              </a:extLst>
            </p:cNvPr>
            <p:cNvSpPr txBox="1">
              <a:spLocks/>
            </p:cNvSpPr>
            <p:nvPr/>
          </p:nvSpPr>
          <p:spPr>
            <a:xfrm rot="16200000">
              <a:off x="4585785" y="1536917"/>
              <a:ext cx="948349" cy="497516"/>
            </a:xfrm>
            <a:prstGeom prst="round2SameRect">
              <a:avLst>
                <a:gd name="adj1" fmla="val 42342"/>
                <a:gd name="adj2" fmla="val 0"/>
              </a:avLst>
            </a:prstGeom>
            <a:solidFill>
              <a:srgbClr val="747480"/>
            </a:solidFill>
            <a:ln w="3175">
              <a:noFill/>
            </a:ln>
          </p:spPr>
          <p:txBody>
            <a:bodyPr vert="horz" wrap="square" lIns="0" tIns="0" rIns="0" bIns="0" anchor="t">
              <a:noAutofit/>
            </a:bodyPr>
            <a:lstStyle>
              <a:defPPr>
                <a:defRPr lang="en-US"/>
              </a:defPPr>
              <a:lvl4pPr marL="0" marR="0" lvl="3" indent="0" defTabSz="995363" eaLnBrk="0" fontAlgn="auto" latinLnBrk="0" hangingPunct="0">
                <a:lnSpc>
                  <a:spcPct val="100000"/>
                </a:lnSpc>
                <a:spcBef>
                  <a:spcPts val="0"/>
                </a:spcBef>
                <a:spcAft>
                  <a:spcPct val="40000"/>
                </a:spcAft>
                <a:buClr>
                  <a:srgbClr val="000000"/>
                </a:buClr>
                <a:buSzPct val="100000"/>
                <a:buFont typeface="EYInterstate" pitchFamily="2" charset="0"/>
                <a:buNone/>
                <a:tabLst>
                  <a:tab pos="1614488" algn="l"/>
                  <a:tab pos="3228975" algn="l"/>
                  <a:tab pos="4665663" algn="r"/>
                </a:tabLst>
                <a:defRPr kumimoji="0" sz="1400" b="1" i="0" u="none" strike="noStrike" cap="none" spc="0" normalizeH="0" baseline="0">
                  <a:ln>
                    <a:noFill/>
                  </a:ln>
                  <a:solidFill>
                    <a:srgbClr val="000000"/>
                  </a:solidFill>
                  <a:effectLst/>
                  <a:uLnTx/>
                  <a:uFillTx/>
                  <a:latin typeface="+mj-lt"/>
                  <a:cs typeface="+mj-cs"/>
                </a:defRPr>
              </a:lvl4pPr>
            </a:lstStyle>
            <a:p>
              <a:pPr marL="0" marR="0" lvl="0" indent="0" algn="ctr" defTabSz="818726" eaLnBrk="1" fontAlgn="base" latinLnBrk="0" hangingPunct="1">
                <a:lnSpc>
                  <a:spcPct val="85000"/>
                </a:lnSpc>
                <a:spcBef>
                  <a:spcPct val="0"/>
                </a:spcBef>
                <a:spcAft>
                  <a:spcPct val="0"/>
                </a:spcAft>
                <a:buClrTx/>
                <a:buSzTx/>
                <a:buFontTx/>
                <a:buNone/>
                <a:tabLst/>
                <a:defRPr/>
              </a:pPr>
              <a:r>
                <a:rPr lang="en-US" sz="1000" b="1" kern="0" dirty="0">
                  <a:solidFill>
                    <a:schemeClr val="bg1"/>
                  </a:solidFill>
                </a:rPr>
                <a:t>Key tasks</a:t>
              </a:r>
              <a:endParaRPr kumimoji="0" lang="en-US" sz="1000" b="1" i="0" u="none" strike="noStrike" kern="0" cap="none" spc="0" normalizeH="0" baseline="0" noProof="0" dirty="0">
                <a:ln>
                  <a:noFill/>
                </a:ln>
                <a:solidFill>
                  <a:schemeClr val="bg1"/>
                </a:solidFill>
                <a:effectLst/>
                <a:uLnTx/>
                <a:uFillTx/>
              </a:endParaRPr>
            </a:p>
          </p:txBody>
        </p:sp>
        <p:sp>
          <p:nvSpPr>
            <p:cNvPr id="20" name="Freeform: Shape 19">
              <a:extLst>
                <a:ext uri="{FF2B5EF4-FFF2-40B4-BE49-F238E27FC236}">
                  <a16:creationId xmlns:a16="http://schemas.microsoft.com/office/drawing/2014/main" id="{4DDE7EE1-6357-6381-008B-1A1F5EF9184C}"/>
                </a:ext>
              </a:extLst>
            </p:cNvPr>
            <p:cNvSpPr>
              <a:spLocks/>
            </p:cNvSpPr>
            <p:nvPr/>
          </p:nvSpPr>
          <p:spPr bwMode="auto">
            <a:xfrm>
              <a:off x="5077326" y="1311500"/>
              <a:ext cx="3507580" cy="948349"/>
            </a:xfrm>
            <a:custGeom>
              <a:avLst/>
              <a:gdLst>
                <a:gd name="connsiteX0" fmla="*/ 112302 w 5876924"/>
                <a:gd name="connsiteY0" fmla="*/ 0 h 1331066"/>
                <a:gd name="connsiteX1" fmla="*/ 5764622 w 5876924"/>
                <a:gd name="connsiteY1" fmla="*/ 0 h 1331066"/>
                <a:gd name="connsiteX2" fmla="*/ 5876924 w 5876924"/>
                <a:gd name="connsiteY2" fmla="*/ 112302 h 1331066"/>
                <a:gd name="connsiteX3" fmla="*/ 5876924 w 5876924"/>
                <a:gd name="connsiteY3" fmla="*/ 1218764 h 1331066"/>
                <a:gd name="connsiteX4" fmla="*/ 5764622 w 5876924"/>
                <a:gd name="connsiteY4" fmla="*/ 1331066 h 1331066"/>
                <a:gd name="connsiteX5" fmla="*/ 112302 w 5876924"/>
                <a:gd name="connsiteY5" fmla="*/ 1331066 h 1331066"/>
                <a:gd name="connsiteX6" fmla="*/ 0 w 5876924"/>
                <a:gd name="connsiteY6" fmla="*/ 1218764 h 1331066"/>
                <a:gd name="connsiteX7" fmla="*/ 0 w 5876924"/>
                <a:gd name="connsiteY7" fmla="*/ 809188 h 1331066"/>
                <a:gd name="connsiteX8" fmla="*/ 140493 w 5876924"/>
                <a:gd name="connsiteY8" fmla="*/ 665533 h 1331066"/>
                <a:gd name="connsiteX9" fmla="*/ 0 w 5876924"/>
                <a:gd name="connsiteY9" fmla="*/ 521878 h 1331066"/>
                <a:gd name="connsiteX10" fmla="*/ 0 w 5876924"/>
                <a:gd name="connsiteY10" fmla="*/ 112302 h 1331066"/>
                <a:gd name="connsiteX11" fmla="*/ 112302 w 5876924"/>
                <a:gd name="connsiteY11" fmla="*/ 0 h 133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76924" h="1331066">
                  <a:moveTo>
                    <a:pt x="112302" y="0"/>
                  </a:moveTo>
                  <a:lnTo>
                    <a:pt x="5764622" y="0"/>
                  </a:lnTo>
                  <a:cubicBezTo>
                    <a:pt x="5826645" y="0"/>
                    <a:pt x="5876924" y="50279"/>
                    <a:pt x="5876924" y="112302"/>
                  </a:cubicBezTo>
                  <a:lnTo>
                    <a:pt x="5876924" y="1218764"/>
                  </a:lnTo>
                  <a:cubicBezTo>
                    <a:pt x="5876924" y="1280787"/>
                    <a:pt x="5826645" y="1331066"/>
                    <a:pt x="5764622" y="1331066"/>
                  </a:cubicBezTo>
                  <a:lnTo>
                    <a:pt x="112302" y="1331066"/>
                  </a:lnTo>
                  <a:cubicBezTo>
                    <a:pt x="50279" y="1331066"/>
                    <a:pt x="0" y="1280787"/>
                    <a:pt x="0" y="1218764"/>
                  </a:cubicBezTo>
                  <a:lnTo>
                    <a:pt x="0" y="809188"/>
                  </a:lnTo>
                  <a:lnTo>
                    <a:pt x="140493" y="665533"/>
                  </a:lnTo>
                  <a:lnTo>
                    <a:pt x="0" y="521878"/>
                  </a:lnTo>
                  <a:lnTo>
                    <a:pt x="0" y="112302"/>
                  </a:lnTo>
                  <a:cubicBezTo>
                    <a:pt x="0" y="50279"/>
                    <a:pt x="50279" y="0"/>
                    <a:pt x="112302" y="0"/>
                  </a:cubicBezTo>
                  <a:close/>
                </a:path>
              </a:pathLst>
            </a:custGeom>
            <a:solidFill>
              <a:srgbClr val="FFFFFF">
                <a:lumMod val="95000"/>
              </a:srgbClr>
            </a:solidFill>
            <a:ln w="9525" cap="flat" cmpd="sng" algn="ctr">
              <a:noFill/>
              <a:prstDash val="solid"/>
              <a:round/>
              <a:headEnd type="none" w="med" len="med"/>
              <a:tailEnd type="none" w="med" len="med"/>
            </a:ln>
            <a:effectLst/>
          </p:spPr>
          <p:txBody>
            <a:bodyPr vert="horz" wrap="square" lIns="216000" tIns="72000" rIns="72000" bIns="72000" numCol="1" rtlCol="0" anchor="ctr" anchorCtr="0" compatLnSpc="1">
              <a:prstTxWarp prst="textNoShape">
                <a:avLst/>
              </a:prstTxWarp>
              <a:noAutofit/>
            </a:bodyPr>
            <a:lstStyle/>
            <a:p>
              <a:pPr marL="172800" lvl="3" indent="-172800" defTabSz="995012" fontAlgn="base">
                <a:spcBef>
                  <a:spcPct val="0"/>
                </a:spcBef>
                <a:spcAft>
                  <a:spcPts val="189"/>
                </a:spcAft>
                <a:buClr>
                  <a:srgbClr val="000000"/>
                </a:buClr>
                <a:buSzPct val="100000"/>
                <a:buFont typeface="EYInterstate Light" panose="02000506000000020004" pitchFamily="2" charset="0"/>
                <a:buChar char="•"/>
                <a:tabLst>
                  <a:tab pos="1613918" algn="l"/>
                  <a:tab pos="3227837" algn="l"/>
                  <a:tab pos="4664017" algn="r"/>
                </a:tabLst>
                <a:defRPr/>
              </a:pPr>
              <a:r>
                <a:rPr lang="en-IN" sz="1050">
                  <a:latin typeface="EYInterstate Light" panose="02000506000000020004" pitchFamily="2" charset="0"/>
                  <a:cs typeface="Arial"/>
                  <a:sym typeface="EYInterstate Light" panose="02000506000000020004" pitchFamily="2" charset="0"/>
                </a:rPr>
                <a:t>Weekly Q&amp;A report</a:t>
              </a:r>
            </a:p>
            <a:p>
              <a:pPr marL="172800" lvl="3" indent="-172800" defTabSz="995012" fontAlgn="base">
                <a:spcBef>
                  <a:spcPct val="0"/>
                </a:spcBef>
                <a:spcAft>
                  <a:spcPts val="189"/>
                </a:spcAft>
                <a:buClr>
                  <a:srgbClr val="000000"/>
                </a:buClr>
                <a:buSzPct val="100000"/>
                <a:buFont typeface="EYInterstate Light" panose="02000506000000020004" pitchFamily="2" charset="0"/>
                <a:buChar char="•"/>
                <a:tabLst>
                  <a:tab pos="1613918" algn="l"/>
                  <a:tab pos="3227837" algn="l"/>
                  <a:tab pos="4664017" algn="r"/>
                </a:tabLst>
                <a:defRPr/>
              </a:pPr>
              <a:r>
                <a:rPr lang="en-IN" sz="1050">
                  <a:latin typeface="EYInterstate Light" panose="02000506000000020004" pitchFamily="2" charset="0"/>
                  <a:cs typeface="Arial"/>
                  <a:sym typeface="EYInterstate Light" panose="02000506000000020004" pitchFamily="2" charset="0"/>
                </a:rPr>
                <a:t>Clarification Responses</a:t>
              </a:r>
            </a:p>
            <a:p>
              <a:pPr marL="172800" lvl="3" indent="-172800" defTabSz="995012" fontAlgn="base">
                <a:spcBef>
                  <a:spcPct val="0"/>
                </a:spcBef>
                <a:spcAft>
                  <a:spcPts val="189"/>
                </a:spcAft>
                <a:buClr>
                  <a:srgbClr val="000000"/>
                </a:buClr>
                <a:buSzPct val="100000"/>
                <a:buFont typeface="EYInterstate Light" panose="02000506000000020004" pitchFamily="2" charset="0"/>
                <a:buChar char="•"/>
                <a:tabLst>
                  <a:tab pos="1613918" algn="l"/>
                  <a:tab pos="3227837" algn="l"/>
                  <a:tab pos="4664017" algn="r"/>
                </a:tabLst>
                <a:defRPr/>
              </a:pPr>
              <a:r>
                <a:rPr lang="en-US" sz="1050">
                  <a:latin typeface="EYInterstate Light" panose="02000506000000020004" pitchFamily="2" charset="0"/>
                  <a:cs typeface="Arial"/>
                  <a:sym typeface="EYInterstate Light" panose="02000506000000020004" pitchFamily="2" charset="0"/>
                </a:rPr>
                <a:t>Proposal Evaluation Reports</a:t>
              </a:r>
            </a:p>
            <a:p>
              <a:pPr marL="172800" lvl="3" indent="-172800" defTabSz="995012" fontAlgn="base">
                <a:spcBef>
                  <a:spcPct val="0"/>
                </a:spcBef>
                <a:spcAft>
                  <a:spcPts val="189"/>
                </a:spcAft>
                <a:buClr>
                  <a:srgbClr val="000000"/>
                </a:buClr>
                <a:buSzPct val="100000"/>
                <a:buFont typeface="EYInterstate Light" panose="02000506000000020004" pitchFamily="2" charset="0"/>
                <a:buChar char="•"/>
                <a:tabLst>
                  <a:tab pos="1613918" algn="l"/>
                  <a:tab pos="3227837" algn="l"/>
                  <a:tab pos="4664017" algn="r"/>
                </a:tabLst>
                <a:defRPr/>
              </a:pPr>
              <a:r>
                <a:rPr lang="en-US" sz="1050">
                  <a:latin typeface="EYInterstate Light" panose="02000506000000020004" pitchFamily="2" charset="0"/>
                  <a:cs typeface="Arial"/>
                  <a:sym typeface="EYInterstate Light" panose="02000506000000020004" pitchFamily="2" charset="0"/>
                </a:rPr>
                <a:t>Executive summary presentation for MIC and </a:t>
              </a:r>
              <a:r>
                <a:rPr lang="en-US" sz="1050" err="1">
                  <a:latin typeface="EYInterstate Light" panose="02000506000000020004" pitchFamily="2" charset="0"/>
                  <a:cs typeface="Arial"/>
                  <a:sym typeface="EYInterstate Light" panose="02000506000000020004" pitchFamily="2" charset="0"/>
                </a:rPr>
                <a:t>BoD</a:t>
              </a:r>
              <a:r>
                <a:rPr lang="en-US" sz="1050">
                  <a:latin typeface="EYInterstate Light" panose="02000506000000020004" pitchFamily="2" charset="0"/>
                  <a:cs typeface="Arial"/>
                  <a:sym typeface="EYInterstate Light" panose="02000506000000020004" pitchFamily="2" charset="0"/>
                </a:rPr>
                <a:t> approval</a:t>
              </a:r>
            </a:p>
            <a:p>
              <a:pPr marL="172800" lvl="3" indent="-172800" defTabSz="995012" fontAlgn="base">
                <a:spcBef>
                  <a:spcPct val="0"/>
                </a:spcBef>
                <a:spcAft>
                  <a:spcPts val="189"/>
                </a:spcAft>
                <a:buClr>
                  <a:srgbClr val="000000"/>
                </a:buClr>
                <a:buSzPct val="100000"/>
                <a:buFont typeface="EYInterstate Light" panose="02000506000000020004" pitchFamily="2" charset="0"/>
                <a:buChar char="•"/>
                <a:tabLst>
                  <a:tab pos="1613918" algn="l"/>
                  <a:tab pos="3227837" algn="l"/>
                  <a:tab pos="4664017" algn="r"/>
                </a:tabLst>
                <a:defRPr/>
              </a:pPr>
              <a:endParaRPr lang="en-IN" sz="1050">
                <a:latin typeface="EYInterstate Light" panose="02000506000000020004" pitchFamily="2" charset="0"/>
                <a:cs typeface="Arial"/>
                <a:sym typeface="EYInterstate Light" panose="02000506000000020004" pitchFamily="2" charset="0"/>
              </a:endParaRPr>
            </a:p>
          </p:txBody>
        </p:sp>
      </p:grpSp>
    </p:spTree>
    <p:extLst>
      <p:ext uri="{BB962C8B-B14F-4D97-AF65-F5344CB8AC3E}">
        <p14:creationId xmlns:p14="http://schemas.microsoft.com/office/powerpoint/2010/main" val="3722442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F14EE-E72D-459C-AF7C-8CF8B3D49E17}"/>
            </a:ext>
          </a:extLst>
        </p:cNvPr>
        <p:cNvGrpSpPr/>
        <p:nvPr/>
      </p:nvGrpSpPr>
      <p:grpSpPr>
        <a:xfrm>
          <a:off x="0" y="0"/>
          <a:ext cx="0" cy="0"/>
          <a:chOff x="0" y="0"/>
          <a:chExt cx="0" cy="0"/>
        </a:xfrm>
      </p:grpSpPr>
      <p:graphicFrame>
        <p:nvGraphicFramePr>
          <p:cNvPr id="25" name="think-cell data - do not delete" hidden="1">
            <a:extLst>
              <a:ext uri="{FF2B5EF4-FFF2-40B4-BE49-F238E27FC236}">
                <a16:creationId xmlns:a16="http://schemas.microsoft.com/office/drawing/2014/main" id="{C39F1757-BB89-2633-A162-4A95BFD0A3D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5" name="think-cell data - do not delete" hidden="1">
                        <a:extLst>
                          <a:ext uri="{FF2B5EF4-FFF2-40B4-BE49-F238E27FC236}">
                            <a16:creationId xmlns:a16="http://schemas.microsoft.com/office/drawing/2014/main" id="{C39F1757-BB89-2633-A162-4A95BFD0A3D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3">
            <a:extLst>
              <a:ext uri="{FF2B5EF4-FFF2-40B4-BE49-F238E27FC236}">
                <a16:creationId xmlns:a16="http://schemas.microsoft.com/office/drawing/2014/main" id="{4A1ADE46-749B-7319-9415-94A917955C38}"/>
              </a:ext>
            </a:extLst>
          </p:cNvPr>
          <p:cNvGraphicFramePr>
            <a:graphicFrameLocks noGrp="1"/>
          </p:cNvGraphicFramePr>
          <p:nvPr>
            <p:extLst>
              <p:ext uri="{D42A27DB-BD31-4B8C-83A1-F6EECF244321}">
                <p14:modId xmlns:p14="http://schemas.microsoft.com/office/powerpoint/2010/main" val="403144484"/>
              </p:ext>
            </p:extLst>
          </p:nvPr>
        </p:nvGraphicFramePr>
        <p:xfrm>
          <a:off x="701366" y="1746564"/>
          <a:ext cx="10645138" cy="2690681"/>
        </p:xfrm>
        <a:graphic>
          <a:graphicData uri="http://schemas.openxmlformats.org/drawingml/2006/table">
            <a:tbl>
              <a:tblPr firstRow="1" bandRow="1"/>
              <a:tblGrid>
                <a:gridCol w="3100707">
                  <a:extLst>
                    <a:ext uri="{9D8B030D-6E8A-4147-A177-3AD203B41FA5}">
                      <a16:colId xmlns:a16="http://schemas.microsoft.com/office/drawing/2014/main" val="2581150205"/>
                    </a:ext>
                  </a:extLst>
                </a:gridCol>
                <a:gridCol w="528275">
                  <a:extLst>
                    <a:ext uri="{9D8B030D-6E8A-4147-A177-3AD203B41FA5}">
                      <a16:colId xmlns:a16="http://schemas.microsoft.com/office/drawing/2014/main" val="3828651272"/>
                    </a:ext>
                  </a:extLst>
                </a:gridCol>
                <a:gridCol w="528275">
                  <a:extLst>
                    <a:ext uri="{9D8B030D-6E8A-4147-A177-3AD203B41FA5}">
                      <a16:colId xmlns:a16="http://schemas.microsoft.com/office/drawing/2014/main" val="2662309668"/>
                    </a:ext>
                  </a:extLst>
                </a:gridCol>
                <a:gridCol w="528275">
                  <a:extLst>
                    <a:ext uri="{9D8B030D-6E8A-4147-A177-3AD203B41FA5}">
                      <a16:colId xmlns:a16="http://schemas.microsoft.com/office/drawing/2014/main" val="894656299"/>
                    </a:ext>
                  </a:extLst>
                </a:gridCol>
                <a:gridCol w="528275">
                  <a:extLst>
                    <a:ext uri="{9D8B030D-6E8A-4147-A177-3AD203B41FA5}">
                      <a16:colId xmlns:a16="http://schemas.microsoft.com/office/drawing/2014/main" val="2409860383"/>
                    </a:ext>
                  </a:extLst>
                </a:gridCol>
                <a:gridCol w="642943">
                  <a:extLst>
                    <a:ext uri="{9D8B030D-6E8A-4147-A177-3AD203B41FA5}">
                      <a16:colId xmlns:a16="http://schemas.microsoft.com/office/drawing/2014/main" val="1494011096"/>
                    </a:ext>
                  </a:extLst>
                </a:gridCol>
                <a:gridCol w="4788388">
                  <a:extLst>
                    <a:ext uri="{9D8B030D-6E8A-4147-A177-3AD203B41FA5}">
                      <a16:colId xmlns:a16="http://schemas.microsoft.com/office/drawing/2014/main" val="1371970881"/>
                    </a:ext>
                  </a:extLst>
                </a:gridCol>
              </a:tblGrid>
              <a:tr h="665099">
                <a:tc>
                  <a:txBody>
                    <a:bodyPr/>
                    <a:lstStyle>
                      <a:lvl1pPr marL="0" algn="l" defTabSz="914400" rtl="0" eaLnBrk="1" latinLnBrk="0" hangingPunct="1">
                        <a:defRPr sz="1800" kern="1200">
                          <a:solidFill>
                            <a:schemeClr val="tx1"/>
                          </a:solidFill>
                          <a:latin typeface="EYInterstate"/>
                          <a:cs typeface="Arial"/>
                        </a:defRPr>
                      </a:lvl1pPr>
                      <a:lvl2pPr marL="457200" algn="l" defTabSz="914400" rtl="0" eaLnBrk="1" latinLnBrk="0" hangingPunct="1">
                        <a:defRPr sz="1800" kern="1200">
                          <a:solidFill>
                            <a:schemeClr val="tx1"/>
                          </a:solidFill>
                          <a:latin typeface="EYInterstate"/>
                          <a:cs typeface="Arial"/>
                        </a:defRPr>
                      </a:lvl2pPr>
                      <a:lvl3pPr marL="914400" algn="l" defTabSz="914400" rtl="0" eaLnBrk="1" latinLnBrk="0" hangingPunct="1">
                        <a:defRPr sz="1800" kern="1200">
                          <a:solidFill>
                            <a:schemeClr val="tx1"/>
                          </a:solidFill>
                          <a:latin typeface="EYInterstate"/>
                          <a:cs typeface="Arial"/>
                        </a:defRPr>
                      </a:lvl3pPr>
                      <a:lvl4pPr marL="1371600" algn="l" defTabSz="914400" rtl="0" eaLnBrk="1" latinLnBrk="0" hangingPunct="1">
                        <a:defRPr sz="1800" kern="1200">
                          <a:solidFill>
                            <a:schemeClr val="tx1"/>
                          </a:solidFill>
                          <a:latin typeface="EYInterstate"/>
                          <a:cs typeface="Arial"/>
                        </a:defRPr>
                      </a:lvl4pPr>
                      <a:lvl5pPr marL="1828800" algn="l" defTabSz="914400" rtl="0" eaLnBrk="1" latinLnBrk="0" hangingPunct="1">
                        <a:defRPr sz="1800" kern="1200">
                          <a:solidFill>
                            <a:schemeClr val="tx1"/>
                          </a:solidFill>
                          <a:latin typeface="EYInterstate"/>
                          <a:cs typeface="Arial"/>
                        </a:defRPr>
                      </a:lvl5pPr>
                      <a:lvl6pPr marL="2286000" algn="l" defTabSz="914400" rtl="0" eaLnBrk="1" latinLnBrk="0" hangingPunct="1">
                        <a:defRPr sz="1800" kern="1200">
                          <a:solidFill>
                            <a:schemeClr val="tx1"/>
                          </a:solidFill>
                          <a:latin typeface="EYInterstate"/>
                          <a:cs typeface="Arial"/>
                        </a:defRPr>
                      </a:lvl6pPr>
                      <a:lvl7pPr marL="2743200" algn="l" defTabSz="914400" rtl="0" eaLnBrk="1" latinLnBrk="0" hangingPunct="1">
                        <a:defRPr sz="1800" kern="1200">
                          <a:solidFill>
                            <a:schemeClr val="tx1"/>
                          </a:solidFill>
                          <a:latin typeface="EYInterstate"/>
                          <a:cs typeface="Arial"/>
                        </a:defRPr>
                      </a:lvl7pPr>
                      <a:lvl8pPr marL="3200400" algn="l" defTabSz="914400" rtl="0" eaLnBrk="1" latinLnBrk="0" hangingPunct="1">
                        <a:defRPr sz="1800" kern="1200">
                          <a:solidFill>
                            <a:schemeClr val="tx1"/>
                          </a:solidFill>
                          <a:latin typeface="EYInterstate"/>
                          <a:cs typeface="Arial"/>
                        </a:defRPr>
                      </a:lvl8pPr>
                      <a:lvl9pPr marL="3657600" algn="l" defTabSz="914400" rtl="0" eaLnBrk="1" latinLnBrk="0" hangingPunct="1">
                        <a:defRPr sz="1800" kern="1200">
                          <a:solidFill>
                            <a:schemeClr val="tx1"/>
                          </a:solidFill>
                          <a:latin typeface="EYInterstate"/>
                          <a:cs typeface="Arial"/>
                        </a:defRPr>
                      </a:lvl9pPr>
                    </a:lstStyle>
                    <a:p>
                      <a:pPr algn="l" rtl="0" fontAlgn="ctr"/>
                      <a:endParaRPr lang="en-IN" sz="900" b="1" i="0" u="none" strike="noStrike">
                        <a:solidFill>
                          <a:schemeClr val="bg1"/>
                        </a:solidFill>
                        <a:effectLst/>
                        <a:latin typeface="EYInterstate Light" panose="02000506000000020004" pitchFamily="2" charset="0"/>
                        <a:cs typeface="Arial" panose="020B0604020202020204" pitchFamily="34" charset="0"/>
                        <a:sym typeface="Arial" panose="020B0604020202020204" pitchFamily="34" charset="0"/>
                      </a:endParaRPr>
                    </a:p>
                  </a:txBody>
                  <a:tcPr marL="54000" marR="54000" marT="54000" marB="54000">
                    <a:lnL w="12700" cap="flat" cmpd="sng" algn="ctr">
                      <a:solidFill>
                        <a:srgbClr val="35A4E8"/>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rgbClr val="35A4E8"/>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EYInterstate"/>
                          <a:cs typeface="Arial"/>
                        </a:defRPr>
                      </a:lvl1pPr>
                      <a:lvl2pPr marL="457200" algn="l" defTabSz="914400" rtl="0" eaLnBrk="1" latinLnBrk="0" hangingPunct="1">
                        <a:defRPr sz="1800" kern="1200">
                          <a:solidFill>
                            <a:schemeClr val="tx1"/>
                          </a:solidFill>
                          <a:latin typeface="EYInterstate"/>
                          <a:cs typeface="Arial"/>
                        </a:defRPr>
                      </a:lvl2pPr>
                      <a:lvl3pPr marL="914400" algn="l" defTabSz="914400" rtl="0" eaLnBrk="1" latinLnBrk="0" hangingPunct="1">
                        <a:defRPr sz="1800" kern="1200">
                          <a:solidFill>
                            <a:schemeClr val="tx1"/>
                          </a:solidFill>
                          <a:latin typeface="EYInterstate"/>
                          <a:cs typeface="Arial"/>
                        </a:defRPr>
                      </a:lvl3pPr>
                      <a:lvl4pPr marL="1371600" algn="l" defTabSz="914400" rtl="0" eaLnBrk="1" latinLnBrk="0" hangingPunct="1">
                        <a:defRPr sz="1800" kern="1200">
                          <a:solidFill>
                            <a:schemeClr val="tx1"/>
                          </a:solidFill>
                          <a:latin typeface="EYInterstate"/>
                          <a:cs typeface="Arial"/>
                        </a:defRPr>
                      </a:lvl4pPr>
                      <a:lvl5pPr marL="1828800" algn="l" defTabSz="914400" rtl="0" eaLnBrk="1" latinLnBrk="0" hangingPunct="1">
                        <a:defRPr sz="1800" kern="1200">
                          <a:solidFill>
                            <a:schemeClr val="tx1"/>
                          </a:solidFill>
                          <a:latin typeface="EYInterstate"/>
                          <a:cs typeface="Arial"/>
                        </a:defRPr>
                      </a:lvl5pPr>
                      <a:lvl6pPr marL="2286000" algn="l" defTabSz="914400" rtl="0" eaLnBrk="1" latinLnBrk="0" hangingPunct="1">
                        <a:defRPr sz="1800" kern="1200">
                          <a:solidFill>
                            <a:schemeClr val="tx1"/>
                          </a:solidFill>
                          <a:latin typeface="EYInterstate"/>
                          <a:cs typeface="Arial"/>
                        </a:defRPr>
                      </a:lvl6pPr>
                      <a:lvl7pPr marL="2743200" algn="l" defTabSz="914400" rtl="0" eaLnBrk="1" latinLnBrk="0" hangingPunct="1">
                        <a:defRPr sz="1800" kern="1200">
                          <a:solidFill>
                            <a:schemeClr val="tx1"/>
                          </a:solidFill>
                          <a:latin typeface="EYInterstate"/>
                          <a:cs typeface="Arial"/>
                        </a:defRPr>
                      </a:lvl7pPr>
                      <a:lvl8pPr marL="3200400" algn="l" defTabSz="914400" rtl="0" eaLnBrk="1" latinLnBrk="0" hangingPunct="1">
                        <a:defRPr sz="1800" kern="1200">
                          <a:solidFill>
                            <a:schemeClr val="tx1"/>
                          </a:solidFill>
                          <a:latin typeface="EYInterstate"/>
                          <a:cs typeface="Arial"/>
                        </a:defRPr>
                      </a:lvl8pPr>
                      <a:lvl9pPr marL="3657600" algn="l" defTabSz="914400" rtl="0" eaLnBrk="1" latinLnBrk="0" hangingPunct="1">
                        <a:defRPr sz="1800" kern="1200">
                          <a:solidFill>
                            <a:schemeClr val="tx1"/>
                          </a:solidFill>
                          <a:latin typeface="EYInterstate"/>
                          <a:cs typeface="Arial"/>
                        </a:defRPr>
                      </a:lvl9pPr>
                    </a:lstStyle>
                    <a:p>
                      <a:pPr marL="0" marR="0" lvl="0" indent="0" algn="ctr" defTabSz="685434"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EYInterstate Light" panose="02000506000000020004" pitchFamily="2" charset="0"/>
                          <a:ea typeface="+mn-ea"/>
                          <a:cs typeface="Arial" panose="020B0604020202020204" pitchFamily="34" charset="0"/>
                          <a:sym typeface="Arial" panose="020B0604020202020204" pitchFamily="34" charset="0"/>
                        </a:rPr>
                        <a:t>M1</a:t>
                      </a:r>
                    </a:p>
                  </a:txBody>
                  <a:tcPr marL="0" marR="0" marT="54000" marB="54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rgbClr val="35A4E8"/>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7ACAA"/>
                    </a:solidFill>
                  </a:tcPr>
                </a:tc>
                <a:tc>
                  <a:txBody>
                    <a:bodyPr/>
                    <a:lstStyle>
                      <a:lvl1pPr marL="0" algn="l" defTabSz="914400" rtl="0" eaLnBrk="1" latinLnBrk="0" hangingPunct="1">
                        <a:defRPr sz="1800" kern="1200">
                          <a:solidFill>
                            <a:schemeClr val="tx1"/>
                          </a:solidFill>
                          <a:latin typeface="EYInterstate"/>
                          <a:cs typeface="Arial"/>
                        </a:defRPr>
                      </a:lvl1pPr>
                      <a:lvl2pPr marL="457200" algn="l" defTabSz="914400" rtl="0" eaLnBrk="1" latinLnBrk="0" hangingPunct="1">
                        <a:defRPr sz="1800" kern="1200">
                          <a:solidFill>
                            <a:schemeClr val="tx1"/>
                          </a:solidFill>
                          <a:latin typeface="EYInterstate"/>
                          <a:cs typeface="Arial"/>
                        </a:defRPr>
                      </a:lvl2pPr>
                      <a:lvl3pPr marL="914400" algn="l" defTabSz="914400" rtl="0" eaLnBrk="1" latinLnBrk="0" hangingPunct="1">
                        <a:defRPr sz="1800" kern="1200">
                          <a:solidFill>
                            <a:schemeClr val="tx1"/>
                          </a:solidFill>
                          <a:latin typeface="EYInterstate"/>
                          <a:cs typeface="Arial"/>
                        </a:defRPr>
                      </a:lvl3pPr>
                      <a:lvl4pPr marL="1371600" algn="l" defTabSz="914400" rtl="0" eaLnBrk="1" latinLnBrk="0" hangingPunct="1">
                        <a:defRPr sz="1800" kern="1200">
                          <a:solidFill>
                            <a:schemeClr val="tx1"/>
                          </a:solidFill>
                          <a:latin typeface="EYInterstate"/>
                          <a:cs typeface="Arial"/>
                        </a:defRPr>
                      </a:lvl4pPr>
                      <a:lvl5pPr marL="1828800" algn="l" defTabSz="914400" rtl="0" eaLnBrk="1" latinLnBrk="0" hangingPunct="1">
                        <a:defRPr sz="1800" kern="1200">
                          <a:solidFill>
                            <a:schemeClr val="tx1"/>
                          </a:solidFill>
                          <a:latin typeface="EYInterstate"/>
                          <a:cs typeface="Arial"/>
                        </a:defRPr>
                      </a:lvl5pPr>
                      <a:lvl6pPr marL="2286000" algn="l" defTabSz="914400" rtl="0" eaLnBrk="1" latinLnBrk="0" hangingPunct="1">
                        <a:defRPr sz="1800" kern="1200">
                          <a:solidFill>
                            <a:schemeClr val="tx1"/>
                          </a:solidFill>
                          <a:latin typeface="EYInterstate"/>
                          <a:cs typeface="Arial"/>
                        </a:defRPr>
                      </a:lvl6pPr>
                      <a:lvl7pPr marL="2743200" algn="l" defTabSz="914400" rtl="0" eaLnBrk="1" latinLnBrk="0" hangingPunct="1">
                        <a:defRPr sz="1800" kern="1200">
                          <a:solidFill>
                            <a:schemeClr val="tx1"/>
                          </a:solidFill>
                          <a:latin typeface="EYInterstate"/>
                          <a:cs typeface="Arial"/>
                        </a:defRPr>
                      </a:lvl7pPr>
                      <a:lvl8pPr marL="3200400" algn="l" defTabSz="914400" rtl="0" eaLnBrk="1" latinLnBrk="0" hangingPunct="1">
                        <a:defRPr sz="1800" kern="1200">
                          <a:solidFill>
                            <a:schemeClr val="tx1"/>
                          </a:solidFill>
                          <a:latin typeface="EYInterstate"/>
                          <a:cs typeface="Arial"/>
                        </a:defRPr>
                      </a:lvl8pPr>
                      <a:lvl9pPr marL="3657600" algn="l" defTabSz="914400" rtl="0" eaLnBrk="1" latinLnBrk="0" hangingPunct="1">
                        <a:defRPr sz="1800" kern="1200">
                          <a:solidFill>
                            <a:schemeClr val="tx1"/>
                          </a:solidFill>
                          <a:latin typeface="EYInterstate"/>
                          <a:cs typeface="Arial"/>
                        </a:defRPr>
                      </a:lvl9pPr>
                    </a:lstStyle>
                    <a:p>
                      <a:pPr marL="0" marR="0" lvl="0" indent="0" algn="ctr" defTabSz="685434"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EYInterstate Light" panose="02000506000000020004" pitchFamily="2" charset="0"/>
                          <a:ea typeface="+mn-ea"/>
                          <a:cs typeface="Arial" panose="020B0604020202020204" pitchFamily="34" charset="0"/>
                          <a:sym typeface="Arial" panose="020B0604020202020204" pitchFamily="34" charset="0"/>
                        </a:rPr>
                        <a:t>M2</a:t>
                      </a:r>
                    </a:p>
                  </a:txBody>
                  <a:tcPr marL="0" marR="0" marT="54000" marB="54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rgbClr val="35A4E8"/>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7ACAA"/>
                    </a:solidFill>
                  </a:tcPr>
                </a:tc>
                <a:tc>
                  <a:txBody>
                    <a:bodyPr/>
                    <a:lstStyle>
                      <a:lvl1pPr marL="0" algn="l" defTabSz="914400" rtl="0" eaLnBrk="1" latinLnBrk="0" hangingPunct="1">
                        <a:defRPr sz="1800" kern="1200">
                          <a:solidFill>
                            <a:schemeClr val="tx1"/>
                          </a:solidFill>
                          <a:latin typeface="EYInterstate"/>
                          <a:cs typeface="Arial"/>
                        </a:defRPr>
                      </a:lvl1pPr>
                      <a:lvl2pPr marL="457200" algn="l" defTabSz="914400" rtl="0" eaLnBrk="1" latinLnBrk="0" hangingPunct="1">
                        <a:defRPr sz="1800" kern="1200">
                          <a:solidFill>
                            <a:schemeClr val="tx1"/>
                          </a:solidFill>
                          <a:latin typeface="EYInterstate"/>
                          <a:cs typeface="Arial"/>
                        </a:defRPr>
                      </a:lvl2pPr>
                      <a:lvl3pPr marL="914400" algn="l" defTabSz="914400" rtl="0" eaLnBrk="1" latinLnBrk="0" hangingPunct="1">
                        <a:defRPr sz="1800" kern="1200">
                          <a:solidFill>
                            <a:schemeClr val="tx1"/>
                          </a:solidFill>
                          <a:latin typeface="EYInterstate"/>
                          <a:cs typeface="Arial"/>
                        </a:defRPr>
                      </a:lvl3pPr>
                      <a:lvl4pPr marL="1371600" algn="l" defTabSz="914400" rtl="0" eaLnBrk="1" latinLnBrk="0" hangingPunct="1">
                        <a:defRPr sz="1800" kern="1200">
                          <a:solidFill>
                            <a:schemeClr val="tx1"/>
                          </a:solidFill>
                          <a:latin typeface="EYInterstate"/>
                          <a:cs typeface="Arial"/>
                        </a:defRPr>
                      </a:lvl4pPr>
                      <a:lvl5pPr marL="1828800" algn="l" defTabSz="914400" rtl="0" eaLnBrk="1" latinLnBrk="0" hangingPunct="1">
                        <a:defRPr sz="1800" kern="1200">
                          <a:solidFill>
                            <a:schemeClr val="tx1"/>
                          </a:solidFill>
                          <a:latin typeface="EYInterstate"/>
                          <a:cs typeface="Arial"/>
                        </a:defRPr>
                      </a:lvl5pPr>
                      <a:lvl6pPr marL="2286000" algn="l" defTabSz="914400" rtl="0" eaLnBrk="1" latinLnBrk="0" hangingPunct="1">
                        <a:defRPr sz="1800" kern="1200">
                          <a:solidFill>
                            <a:schemeClr val="tx1"/>
                          </a:solidFill>
                          <a:latin typeface="EYInterstate"/>
                          <a:cs typeface="Arial"/>
                        </a:defRPr>
                      </a:lvl6pPr>
                      <a:lvl7pPr marL="2743200" algn="l" defTabSz="914400" rtl="0" eaLnBrk="1" latinLnBrk="0" hangingPunct="1">
                        <a:defRPr sz="1800" kern="1200">
                          <a:solidFill>
                            <a:schemeClr val="tx1"/>
                          </a:solidFill>
                          <a:latin typeface="EYInterstate"/>
                          <a:cs typeface="Arial"/>
                        </a:defRPr>
                      </a:lvl7pPr>
                      <a:lvl8pPr marL="3200400" algn="l" defTabSz="914400" rtl="0" eaLnBrk="1" latinLnBrk="0" hangingPunct="1">
                        <a:defRPr sz="1800" kern="1200">
                          <a:solidFill>
                            <a:schemeClr val="tx1"/>
                          </a:solidFill>
                          <a:latin typeface="EYInterstate"/>
                          <a:cs typeface="Arial"/>
                        </a:defRPr>
                      </a:lvl8pPr>
                      <a:lvl9pPr marL="3657600" algn="l" defTabSz="914400" rtl="0" eaLnBrk="1" latinLnBrk="0" hangingPunct="1">
                        <a:defRPr sz="1800" kern="1200">
                          <a:solidFill>
                            <a:schemeClr val="tx1"/>
                          </a:solidFill>
                          <a:latin typeface="EYInterstate"/>
                          <a:cs typeface="Arial"/>
                        </a:defRPr>
                      </a:lvl9pPr>
                    </a:lstStyle>
                    <a:p>
                      <a:pPr marL="0" marR="0" lvl="0" indent="0" algn="ctr" defTabSz="685434"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EYInterstate Light" panose="02000506000000020004" pitchFamily="2" charset="0"/>
                          <a:ea typeface="+mn-ea"/>
                          <a:cs typeface="Arial" panose="020B0604020202020204" pitchFamily="34" charset="0"/>
                          <a:sym typeface="Arial" panose="020B0604020202020204" pitchFamily="34" charset="0"/>
                        </a:rPr>
                        <a:t>M3</a:t>
                      </a:r>
                    </a:p>
                  </a:txBody>
                  <a:tcPr marL="0" marR="0" marT="54000" marB="54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rgbClr val="35A4E8"/>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7ACAA"/>
                    </a:solidFill>
                  </a:tcPr>
                </a:tc>
                <a:tc>
                  <a:txBody>
                    <a:bodyPr/>
                    <a:lstStyle>
                      <a:lvl1pPr marL="0" algn="l" defTabSz="914400" rtl="0" eaLnBrk="1" latinLnBrk="0" hangingPunct="1">
                        <a:defRPr sz="1800" kern="1200">
                          <a:solidFill>
                            <a:schemeClr val="tx1"/>
                          </a:solidFill>
                          <a:latin typeface="EYInterstate"/>
                          <a:cs typeface="Arial"/>
                        </a:defRPr>
                      </a:lvl1pPr>
                      <a:lvl2pPr marL="457200" algn="l" defTabSz="914400" rtl="0" eaLnBrk="1" latinLnBrk="0" hangingPunct="1">
                        <a:defRPr sz="1800" kern="1200">
                          <a:solidFill>
                            <a:schemeClr val="tx1"/>
                          </a:solidFill>
                          <a:latin typeface="EYInterstate"/>
                          <a:cs typeface="Arial"/>
                        </a:defRPr>
                      </a:lvl2pPr>
                      <a:lvl3pPr marL="914400" algn="l" defTabSz="914400" rtl="0" eaLnBrk="1" latinLnBrk="0" hangingPunct="1">
                        <a:defRPr sz="1800" kern="1200">
                          <a:solidFill>
                            <a:schemeClr val="tx1"/>
                          </a:solidFill>
                          <a:latin typeface="EYInterstate"/>
                          <a:cs typeface="Arial"/>
                        </a:defRPr>
                      </a:lvl3pPr>
                      <a:lvl4pPr marL="1371600" algn="l" defTabSz="914400" rtl="0" eaLnBrk="1" latinLnBrk="0" hangingPunct="1">
                        <a:defRPr sz="1800" kern="1200">
                          <a:solidFill>
                            <a:schemeClr val="tx1"/>
                          </a:solidFill>
                          <a:latin typeface="EYInterstate"/>
                          <a:cs typeface="Arial"/>
                        </a:defRPr>
                      </a:lvl4pPr>
                      <a:lvl5pPr marL="1828800" algn="l" defTabSz="914400" rtl="0" eaLnBrk="1" latinLnBrk="0" hangingPunct="1">
                        <a:defRPr sz="1800" kern="1200">
                          <a:solidFill>
                            <a:schemeClr val="tx1"/>
                          </a:solidFill>
                          <a:latin typeface="EYInterstate"/>
                          <a:cs typeface="Arial"/>
                        </a:defRPr>
                      </a:lvl5pPr>
                      <a:lvl6pPr marL="2286000" algn="l" defTabSz="914400" rtl="0" eaLnBrk="1" latinLnBrk="0" hangingPunct="1">
                        <a:defRPr sz="1800" kern="1200">
                          <a:solidFill>
                            <a:schemeClr val="tx1"/>
                          </a:solidFill>
                          <a:latin typeface="EYInterstate"/>
                          <a:cs typeface="Arial"/>
                        </a:defRPr>
                      </a:lvl6pPr>
                      <a:lvl7pPr marL="2743200" algn="l" defTabSz="914400" rtl="0" eaLnBrk="1" latinLnBrk="0" hangingPunct="1">
                        <a:defRPr sz="1800" kern="1200">
                          <a:solidFill>
                            <a:schemeClr val="tx1"/>
                          </a:solidFill>
                          <a:latin typeface="EYInterstate"/>
                          <a:cs typeface="Arial"/>
                        </a:defRPr>
                      </a:lvl7pPr>
                      <a:lvl8pPr marL="3200400" algn="l" defTabSz="914400" rtl="0" eaLnBrk="1" latinLnBrk="0" hangingPunct="1">
                        <a:defRPr sz="1800" kern="1200">
                          <a:solidFill>
                            <a:schemeClr val="tx1"/>
                          </a:solidFill>
                          <a:latin typeface="EYInterstate"/>
                          <a:cs typeface="Arial"/>
                        </a:defRPr>
                      </a:lvl8pPr>
                      <a:lvl9pPr marL="3657600" algn="l" defTabSz="914400" rtl="0" eaLnBrk="1" latinLnBrk="0" hangingPunct="1">
                        <a:defRPr sz="1800" kern="1200">
                          <a:solidFill>
                            <a:schemeClr val="tx1"/>
                          </a:solidFill>
                          <a:latin typeface="EYInterstate"/>
                          <a:cs typeface="Arial"/>
                        </a:defRPr>
                      </a:lvl9pPr>
                    </a:lstStyle>
                    <a:p>
                      <a:pPr marL="0" marR="0" lvl="0" indent="0" algn="ctr" defTabSz="685434"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EYInterstate Light" panose="02000506000000020004" pitchFamily="2" charset="0"/>
                          <a:ea typeface="+mn-ea"/>
                          <a:cs typeface="Arial" panose="020B0604020202020204" pitchFamily="34" charset="0"/>
                          <a:sym typeface="Arial" panose="020B0604020202020204" pitchFamily="34" charset="0"/>
                        </a:rPr>
                        <a:t>M4</a:t>
                      </a:r>
                    </a:p>
                  </a:txBody>
                  <a:tcPr marL="0" marR="0" marT="54000" marB="54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rgbClr val="35A4E8"/>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7ACAA"/>
                    </a:solidFill>
                  </a:tcPr>
                </a:tc>
                <a:tc>
                  <a:txBody>
                    <a:bodyPr/>
                    <a:lstStyle>
                      <a:lvl1pPr marL="0" algn="l" defTabSz="914400" rtl="0" eaLnBrk="1" latinLnBrk="0" hangingPunct="1">
                        <a:defRPr sz="1800" kern="1200">
                          <a:solidFill>
                            <a:schemeClr val="tx1"/>
                          </a:solidFill>
                          <a:latin typeface="EYInterstate"/>
                          <a:cs typeface="Arial"/>
                        </a:defRPr>
                      </a:lvl1pPr>
                      <a:lvl2pPr marL="457200" algn="l" defTabSz="914400" rtl="0" eaLnBrk="1" latinLnBrk="0" hangingPunct="1">
                        <a:defRPr sz="1800" kern="1200">
                          <a:solidFill>
                            <a:schemeClr val="tx1"/>
                          </a:solidFill>
                          <a:latin typeface="EYInterstate"/>
                          <a:cs typeface="Arial"/>
                        </a:defRPr>
                      </a:lvl2pPr>
                      <a:lvl3pPr marL="914400" algn="l" defTabSz="914400" rtl="0" eaLnBrk="1" latinLnBrk="0" hangingPunct="1">
                        <a:defRPr sz="1800" kern="1200">
                          <a:solidFill>
                            <a:schemeClr val="tx1"/>
                          </a:solidFill>
                          <a:latin typeface="EYInterstate"/>
                          <a:cs typeface="Arial"/>
                        </a:defRPr>
                      </a:lvl3pPr>
                      <a:lvl4pPr marL="1371600" algn="l" defTabSz="914400" rtl="0" eaLnBrk="1" latinLnBrk="0" hangingPunct="1">
                        <a:defRPr sz="1800" kern="1200">
                          <a:solidFill>
                            <a:schemeClr val="tx1"/>
                          </a:solidFill>
                          <a:latin typeface="EYInterstate"/>
                          <a:cs typeface="Arial"/>
                        </a:defRPr>
                      </a:lvl4pPr>
                      <a:lvl5pPr marL="1828800" algn="l" defTabSz="914400" rtl="0" eaLnBrk="1" latinLnBrk="0" hangingPunct="1">
                        <a:defRPr sz="1800" kern="1200">
                          <a:solidFill>
                            <a:schemeClr val="tx1"/>
                          </a:solidFill>
                          <a:latin typeface="EYInterstate"/>
                          <a:cs typeface="Arial"/>
                        </a:defRPr>
                      </a:lvl5pPr>
                      <a:lvl6pPr marL="2286000" algn="l" defTabSz="914400" rtl="0" eaLnBrk="1" latinLnBrk="0" hangingPunct="1">
                        <a:defRPr sz="1800" kern="1200">
                          <a:solidFill>
                            <a:schemeClr val="tx1"/>
                          </a:solidFill>
                          <a:latin typeface="EYInterstate"/>
                          <a:cs typeface="Arial"/>
                        </a:defRPr>
                      </a:lvl6pPr>
                      <a:lvl7pPr marL="2743200" algn="l" defTabSz="914400" rtl="0" eaLnBrk="1" latinLnBrk="0" hangingPunct="1">
                        <a:defRPr sz="1800" kern="1200">
                          <a:solidFill>
                            <a:schemeClr val="tx1"/>
                          </a:solidFill>
                          <a:latin typeface="EYInterstate"/>
                          <a:cs typeface="Arial"/>
                        </a:defRPr>
                      </a:lvl7pPr>
                      <a:lvl8pPr marL="3200400" algn="l" defTabSz="914400" rtl="0" eaLnBrk="1" latinLnBrk="0" hangingPunct="1">
                        <a:defRPr sz="1800" kern="1200">
                          <a:solidFill>
                            <a:schemeClr val="tx1"/>
                          </a:solidFill>
                          <a:latin typeface="EYInterstate"/>
                          <a:cs typeface="Arial"/>
                        </a:defRPr>
                      </a:lvl8pPr>
                      <a:lvl9pPr marL="3657600" algn="l" defTabSz="914400" rtl="0" eaLnBrk="1" latinLnBrk="0" hangingPunct="1">
                        <a:defRPr sz="1800" kern="1200">
                          <a:solidFill>
                            <a:schemeClr val="tx1"/>
                          </a:solidFill>
                          <a:latin typeface="EYInterstate"/>
                          <a:cs typeface="Arial"/>
                        </a:defRPr>
                      </a:lvl9pPr>
                    </a:lstStyle>
                    <a:p>
                      <a:pPr marL="0" marR="0" lvl="0" indent="0" algn="ctr" defTabSz="685434"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EYInterstate Light" panose="02000506000000020004" pitchFamily="2" charset="0"/>
                          <a:ea typeface="+mn-ea"/>
                          <a:cs typeface="Arial" panose="020B0604020202020204" pitchFamily="34" charset="0"/>
                          <a:sym typeface="Arial" panose="020B0604020202020204" pitchFamily="34" charset="0"/>
                        </a:rPr>
                        <a:t>M5</a:t>
                      </a:r>
                    </a:p>
                  </a:txBody>
                  <a:tcPr marL="0" marR="0" marT="54000" marB="54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rgbClr val="35A4E8"/>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7ACAA"/>
                    </a:solidFill>
                  </a:tcPr>
                </a:tc>
                <a:tc>
                  <a:txBody>
                    <a:bodyPr/>
                    <a:lstStyle/>
                    <a:p>
                      <a:pPr marL="0" marR="0" lvl="0" indent="0" algn="ctr" defTabSz="685434"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bg1"/>
                          </a:solidFill>
                          <a:effectLst/>
                          <a:uLnTx/>
                          <a:uFillTx/>
                          <a:latin typeface="EYInterstate Light" panose="02000506000000020004" pitchFamily="2" charset="0"/>
                          <a:ea typeface="+mn-ea"/>
                          <a:cs typeface="Arial" panose="020B0604020202020204" pitchFamily="34" charset="0"/>
                          <a:sym typeface="Arial" panose="020B0604020202020204" pitchFamily="34" charset="0"/>
                        </a:rPr>
                        <a:t>Comments</a:t>
                      </a:r>
                    </a:p>
                  </a:txBody>
                  <a:tcPr marL="0" marR="0" marT="54000" marB="54000" anchor="ctr">
                    <a:lnL w="3175" cap="flat" cmpd="sng" algn="ctr">
                      <a:solidFill>
                        <a:schemeClr val="bg1"/>
                      </a:solidFill>
                      <a:prstDash val="solid"/>
                      <a:round/>
                      <a:headEnd type="none" w="med" len="med"/>
                      <a:tailEnd type="none" w="med" len="med"/>
                    </a:lnL>
                    <a:lnR w="12700" cap="flat" cmpd="sng" algn="ctr">
                      <a:solidFill>
                        <a:srgbClr val="35A4E8"/>
                      </a:solidFill>
                      <a:prstDash val="solid"/>
                      <a:round/>
                      <a:headEnd type="none" w="med" len="med"/>
                      <a:tailEnd type="none" w="med" len="med"/>
                    </a:lnR>
                    <a:lnT w="12700" cap="flat" cmpd="sng" algn="ctr">
                      <a:solidFill>
                        <a:srgbClr val="35A4E8"/>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7ACAA"/>
                    </a:solidFill>
                  </a:tcPr>
                </a:tc>
                <a:extLst>
                  <a:ext uri="{0D108BD9-81ED-4DB2-BD59-A6C34878D82A}">
                    <a16:rowId xmlns:a16="http://schemas.microsoft.com/office/drawing/2014/main" val="1129043460"/>
                  </a:ext>
                </a:extLst>
              </a:tr>
              <a:tr h="357674">
                <a:tc gridSpan="6">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IN" sz="900" b="1" i="0" u="none" strike="noStrike" kern="1200">
                        <a:solidFill>
                          <a:schemeClr val="bg1"/>
                        </a:solidFill>
                        <a:effectLst/>
                        <a:latin typeface="EYInterstate Light" panose="02000506000000020004" pitchFamily="2" charset="0"/>
                        <a:ea typeface="+mn-ea"/>
                        <a:cs typeface="Arial" panose="020B0604020202020204" pitchFamily="34" charset="0"/>
                        <a:sym typeface="Arial" panose="020B0604020202020204" pitchFamily="34" charset="0"/>
                      </a:endParaRPr>
                    </a:p>
                  </a:txBody>
                  <a:tcPr marL="54000" marR="54000" marT="36000" marB="36000" anchor="ctr">
                    <a:lnL w="12700" cap="flat" cmpd="sng" algn="ctr">
                      <a:solidFill>
                        <a:srgbClr val="35A4E8"/>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47480"/>
                    </a:solidFill>
                  </a:tcPr>
                </a:tc>
                <a:tc hMerge="1">
                  <a:txBody>
                    <a:bodyPr/>
                    <a:lstStyle/>
                    <a:p>
                      <a:pPr algn="ctr"/>
                      <a:endParaRPr lang="en-IN" sz="900" b="1">
                        <a:solidFill>
                          <a:schemeClr val="tx1"/>
                        </a:solidFill>
                        <a:latin typeface="EYInterstate Light" panose="02000506000000020004" pitchFamily="2" charset="0"/>
                        <a:cs typeface="Arial" panose="020B0604020202020204" pitchFamily="34" charset="0"/>
                        <a:sym typeface="Arial" panose="020B0604020202020204" pitchFamily="34" charset="0"/>
                      </a:endParaRPr>
                    </a:p>
                  </a:txBody>
                  <a:tcPr marL="54000" marR="54000" marT="46800" marB="46800">
                    <a:lnL w="6350" cap="flat" cmpd="sng" algn="ctr">
                      <a:solidFill>
                        <a:srgbClr val="35A4E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47480"/>
                    </a:solidFill>
                  </a:tcPr>
                </a:tc>
                <a:tc hMerge="1">
                  <a:txBody>
                    <a:bodyPr/>
                    <a:lstStyle/>
                    <a:p>
                      <a:pPr algn="ctr"/>
                      <a:endParaRPr lang="en-IN" sz="900" b="1">
                        <a:solidFill>
                          <a:schemeClr val="tx1"/>
                        </a:solidFill>
                        <a:latin typeface="EYInterstate Light" panose="02000506000000020004" pitchFamily="2" charset="0"/>
                        <a:cs typeface="Arial" panose="020B0604020202020204" pitchFamily="34" charset="0"/>
                        <a:sym typeface="Arial" panose="020B0604020202020204" pitchFamily="34" charset="0"/>
                      </a:endParaRPr>
                    </a:p>
                  </a:txBody>
                  <a:tcPr marL="54000" marR="54000" marT="46800" marB="46800">
                    <a:lnL w="635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47480"/>
                    </a:solidFill>
                  </a:tcPr>
                </a:tc>
                <a:tc hMerge="1">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lang="en-IN" sz="900" b="1">
                        <a:solidFill>
                          <a:schemeClr val="tx1"/>
                        </a:solidFill>
                        <a:latin typeface="EYInterstate Light" panose="02000506000000020004" pitchFamily="2" charset="0"/>
                        <a:cs typeface="Arial" panose="020B0604020202020204" pitchFamily="34" charset="0"/>
                        <a:sym typeface="Arial" panose="020B0604020202020204" pitchFamily="34" charset="0"/>
                      </a:endParaRPr>
                    </a:p>
                  </a:txBody>
                  <a:tcPr marL="54000" marR="54000" marT="46800" marB="46800">
                    <a:lnL w="6350" cap="flat" cmpd="sng" algn="ctr">
                      <a:solidFill>
                        <a:srgbClr val="35A4E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47480"/>
                    </a:solidFill>
                  </a:tcPr>
                </a:tc>
                <a:tc hMerge="1">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kumimoji="0" lang="en-IN" sz="900" b="1" i="0" u="none" strike="noStrike" kern="1200" cap="none" spc="0" normalizeH="0" baseline="0" noProof="0">
                        <a:ln>
                          <a:noFill/>
                        </a:ln>
                        <a:solidFill>
                          <a:schemeClr val="tx1"/>
                        </a:solidFill>
                        <a:effectLst/>
                        <a:uLnTx/>
                        <a:uFillTx/>
                        <a:latin typeface="EYInterstate Light" panose="02000506000000020004" pitchFamily="2" charset="0"/>
                        <a:ea typeface="+mn-ea"/>
                        <a:cs typeface="Arial" panose="020B0604020202020204" pitchFamily="34" charset="0"/>
                        <a:sym typeface="Arial" panose="020B0604020202020204" pitchFamily="34" charset="0"/>
                      </a:endParaRPr>
                    </a:p>
                  </a:txBody>
                  <a:tcPr marL="54000" marR="54000" marT="46800" marB="468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47480"/>
                    </a:solidFill>
                  </a:tcPr>
                </a:tc>
                <a:tc hMerge="1">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kumimoji="0" lang="en-IN" sz="900" b="1" i="0" u="none" strike="noStrike" kern="1200" cap="none" spc="0" normalizeH="0" baseline="0" noProof="0">
                        <a:ln>
                          <a:noFill/>
                        </a:ln>
                        <a:solidFill>
                          <a:schemeClr val="tx1"/>
                        </a:solidFill>
                        <a:effectLst/>
                        <a:uLnTx/>
                        <a:uFillTx/>
                        <a:latin typeface="EYInterstate Light" panose="02000506000000020004" pitchFamily="2" charset="0"/>
                        <a:ea typeface="+mn-ea"/>
                        <a:cs typeface="Arial" panose="020B0604020202020204" pitchFamily="34" charset="0"/>
                        <a:sym typeface="Arial" panose="020B0604020202020204" pitchFamily="34" charset="0"/>
                      </a:endParaRPr>
                    </a:p>
                  </a:txBody>
                  <a:tcPr marL="54000" marR="54000" marT="46800" marB="468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47480"/>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IN" sz="900" b="1" i="0" u="none" strike="noStrike" kern="1200">
                        <a:solidFill>
                          <a:schemeClr val="bg1"/>
                        </a:solidFill>
                        <a:effectLst/>
                        <a:latin typeface="EYInterstate Light" panose="02000506000000020004" pitchFamily="2" charset="0"/>
                        <a:ea typeface="+mn-ea"/>
                        <a:cs typeface="Arial" panose="020B0604020202020204" pitchFamily="34" charset="0"/>
                        <a:sym typeface="Arial" panose="020B0604020202020204" pitchFamily="34" charset="0"/>
                      </a:endParaRPr>
                    </a:p>
                  </a:txBody>
                  <a:tcPr marL="54000" marR="54000" marT="36000" marB="36000" anchor="ctr">
                    <a:lnL w="3175" cap="flat" cmpd="sng" algn="ctr">
                      <a:solidFill>
                        <a:schemeClr val="bg1">
                          <a:lumMod val="85000"/>
                        </a:schemeClr>
                      </a:solidFill>
                      <a:prstDash val="solid"/>
                      <a:round/>
                      <a:headEnd type="none" w="med" len="med"/>
                      <a:tailEnd type="none" w="med" len="med"/>
                    </a:lnL>
                    <a:lnR w="12700" cap="flat" cmpd="sng" algn="ctr">
                      <a:solidFill>
                        <a:srgbClr val="35A4E8"/>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47480"/>
                    </a:solidFill>
                  </a:tcPr>
                </a:tc>
                <a:extLst>
                  <a:ext uri="{0D108BD9-81ED-4DB2-BD59-A6C34878D82A}">
                    <a16:rowId xmlns:a16="http://schemas.microsoft.com/office/drawing/2014/main" val="3336567888"/>
                  </a:ext>
                </a:extLst>
              </a:tr>
              <a:tr h="416977">
                <a:tc>
                  <a:txBody>
                    <a:bodyPr/>
                    <a:lstStyle/>
                    <a:p>
                      <a:pPr marL="0" algn="l" defTabSz="828639" rtl="0" eaLnBrk="1" fontAlgn="b" latinLnBrk="0" hangingPunct="1"/>
                      <a:r>
                        <a:rPr lang="en-US" sz="1000" b="0" i="0" u="none" strike="noStrike" kern="1200">
                          <a:solidFill>
                            <a:schemeClr val="tx1"/>
                          </a:solidFill>
                          <a:effectLst/>
                          <a:latin typeface="EYInterstate Light" panose="02000506000000020004" pitchFamily="2" charset="0"/>
                          <a:ea typeface="+mn-ea"/>
                          <a:cs typeface="Arial" panose="020B0604020202020204" pitchFamily="34" charset="0"/>
                        </a:rPr>
                        <a:t>Review and update of RFP</a:t>
                      </a:r>
                    </a:p>
                  </a:txBody>
                  <a:tcPr marL="45720" marR="45720" anchor="ctr">
                    <a:lnL w="12700" cap="flat" cmpd="sng" algn="ctr">
                      <a:solidFill>
                        <a:srgbClr val="35A4E8"/>
                      </a:solidFill>
                      <a:prstDash val="solid"/>
                      <a:round/>
                      <a:headEnd type="none" w="med" len="med"/>
                      <a:tailEnd type="none" w="med" len="med"/>
                    </a:lnL>
                    <a:lnR w="6350" cap="flat" cmpd="sng" algn="ctr">
                      <a:solidFill>
                        <a:srgbClr val="B9B9BF"/>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6350" cap="flat" cmpd="sng" algn="ctr">
                      <a:solidFill>
                        <a:srgbClr val="B9B9BF"/>
                      </a:solidFill>
                      <a:prstDash val="solid"/>
                      <a:round/>
                      <a:headEnd type="none" w="med" len="med"/>
                      <a:tailEnd type="none" w="med" len="med"/>
                    </a:lnB>
                    <a:lnTlToBr w="12700" cmpd="sng">
                      <a:noFill/>
                      <a:prstDash val="solid"/>
                    </a:lnTlToBr>
                    <a:lnBlToTr w="12700" cmpd="sng">
                      <a:noFill/>
                      <a:prstDash val="solid"/>
                    </a:lnBlToTr>
                    <a:solidFill>
                      <a:srgbClr val="ECECED"/>
                    </a:solidFill>
                  </a:tcPr>
                </a:tc>
                <a:tc>
                  <a:txBody>
                    <a:bodyPr/>
                    <a:lstStyle/>
                    <a:p>
                      <a:pPr algn="ctr"/>
                      <a:endParaRPr lang="en-IN" sz="900" b="1">
                        <a:solidFill>
                          <a:schemeClr val="bg1"/>
                        </a:solidFill>
                        <a:latin typeface="EYInterstate Light" panose="02000506000000020004" pitchFamily="2" charset="0"/>
                        <a:cs typeface="Arial" panose="020B0604020202020204" pitchFamily="34" charset="0"/>
                        <a:sym typeface="Arial" panose="020B0604020202020204" pitchFamily="34" charset="0"/>
                      </a:endParaRPr>
                    </a:p>
                  </a:txBody>
                  <a:tcPr marL="54000" marR="54000" marT="36000" marB="36000">
                    <a:lnL w="6350" cap="flat" cmpd="sng" algn="ctr">
                      <a:solidFill>
                        <a:srgbClr val="B9B9BF"/>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IN" sz="900" b="1">
                        <a:solidFill>
                          <a:schemeClr val="bg1"/>
                        </a:solidFill>
                        <a:latin typeface="EYInterstate Light" panose="02000506000000020004" pitchFamily="2" charset="0"/>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lang="en-IN" sz="900" b="1">
                        <a:solidFill>
                          <a:schemeClr val="bg1"/>
                        </a:solidFill>
                        <a:latin typeface="EYInterstate Light" panose="02000506000000020004" pitchFamily="2" charset="0"/>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kumimoji="0" lang="en-IN" sz="900" b="1" i="0" u="none" strike="noStrike" kern="1200" cap="none" spc="0" normalizeH="0" baseline="0" noProof="0">
                        <a:ln>
                          <a:noFill/>
                        </a:ln>
                        <a:solidFill>
                          <a:schemeClr val="bg1"/>
                        </a:solidFill>
                        <a:effectLst/>
                        <a:uLnTx/>
                        <a:uFillTx/>
                        <a:latin typeface="EYInterstate Light" panose="02000506000000020004" pitchFamily="2" charset="0"/>
                        <a:ea typeface="+mn-ea"/>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kumimoji="0" lang="en-IN" sz="900" b="1" i="0" u="none" strike="noStrike" kern="1200" cap="none" spc="0" normalizeH="0" baseline="0" noProof="0">
                        <a:ln>
                          <a:noFill/>
                        </a:ln>
                        <a:solidFill>
                          <a:schemeClr val="bg1"/>
                        </a:solidFill>
                        <a:effectLst/>
                        <a:uLnTx/>
                        <a:uFillTx/>
                        <a:latin typeface="EYInterstate Light" panose="02000506000000020004" pitchFamily="2" charset="0"/>
                        <a:ea typeface="+mn-ea"/>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04212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tx1"/>
                          </a:solidFill>
                          <a:effectLst/>
                          <a:uLnTx/>
                          <a:uFillTx/>
                          <a:latin typeface="EYInterstate Light" panose="02000506000000020004" pitchFamily="2" charset="0"/>
                          <a:ea typeface="+mn-ea"/>
                          <a:cs typeface="Arial" panose="020B0604020202020204" pitchFamily="34" charset="0"/>
                          <a:sym typeface="Arial" panose="020B0604020202020204" pitchFamily="34" charset="0"/>
                        </a:rPr>
                        <a:t>Could potentially be expedited depending on current state of RFP package</a:t>
                      </a:r>
                    </a:p>
                  </a:txBody>
                  <a:tcPr marL="43875" marR="43875" marT="29250" marB="29250" anchor="ctr">
                    <a:lnL w="12700" cap="flat" cmpd="sng" algn="ctr">
                      <a:solidFill>
                        <a:schemeClr val="accent5"/>
                      </a:solidFill>
                      <a:prstDash val="solid"/>
                      <a:round/>
                      <a:headEnd type="none" w="med" len="med"/>
                      <a:tailEnd type="none" w="med" len="med"/>
                    </a:lnL>
                    <a:lnR w="12700" cap="flat" cmpd="sng" algn="ctr">
                      <a:solidFill>
                        <a:srgbClr val="35A4E8"/>
                      </a:solidFill>
                      <a:prstDash val="solid"/>
                      <a:round/>
                      <a:headEnd type="none" w="med" len="med"/>
                      <a:tailEnd type="none" w="med" len="med"/>
                    </a:lnR>
                    <a:lnT w="3175" cap="flat" cmpd="sng" algn="ctr">
                      <a:solidFill>
                        <a:schemeClr val="bg1"/>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8441130"/>
                  </a:ext>
                </a:extLst>
              </a:tr>
              <a:tr h="416977">
                <a:tc>
                  <a:txBody>
                    <a:bodyPr/>
                    <a:lstStyle/>
                    <a:p>
                      <a:pPr marL="0" algn="l" defTabSz="828639" rtl="0" eaLnBrk="1" fontAlgn="b" latinLnBrk="0" hangingPunct="1"/>
                      <a:r>
                        <a:rPr lang="en-US" sz="1000" b="0" i="0" u="none" strike="noStrike" kern="1200">
                          <a:solidFill>
                            <a:schemeClr val="tx1"/>
                          </a:solidFill>
                          <a:effectLst/>
                          <a:latin typeface="EYInterstate Light" panose="02000506000000020004" pitchFamily="2" charset="0"/>
                          <a:ea typeface="+mn-ea"/>
                          <a:cs typeface="Arial" panose="020B0604020202020204" pitchFamily="34" charset="0"/>
                        </a:rPr>
                        <a:t>Bid Period and Clarification  </a:t>
                      </a:r>
                    </a:p>
                  </a:txBody>
                  <a:tcPr marL="45720" marR="45720" anchor="ctr">
                    <a:lnL w="12700" cap="flat" cmpd="sng" algn="ctr">
                      <a:solidFill>
                        <a:srgbClr val="35A4E8"/>
                      </a:solidFill>
                      <a:prstDash val="solid"/>
                      <a:round/>
                      <a:headEnd type="none" w="med" len="med"/>
                      <a:tailEnd type="none" w="med" len="med"/>
                    </a:lnL>
                    <a:lnR w="6350" cap="flat" cmpd="sng" algn="ctr">
                      <a:solidFill>
                        <a:srgbClr val="B9B9BF"/>
                      </a:solidFill>
                      <a:prstDash val="solid"/>
                      <a:round/>
                      <a:headEnd type="none" w="med" len="med"/>
                      <a:tailEnd type="none" w="med" len="med"/>
                    </a:lnR>
                    <a:lnT w="6350" cap="flat" cmpd="sng" algn="ctr">
                      <a:solidFill>
                        <a:srgbClr val="B9B9BF"/>
                      </a:solidFill>
                      <a:prstDash val="solid"/>
                      <a:round/>
                      <a:headEnd type="none" w="med" len="med"/>
                      <a:tailEnd type="none" w="med" len="med"/>
                    </a:lnT>
                    <a:lnB w="6350" cap="flat" cmpd="sng" algn="ctr">
                      <a:solidFill>
                        <a:srgbClr val="B9B9BF"/>
                      </a:solidFill>
                      <a:prstDash val="solid"/>
                      <a:round/>
                      <a:headEnd type="none" w="med" len="med"/>
                      <a:tailEnd type="none" w="med" len="med"/>
                    </a:lnB>
                    <a:lnTlToBr w="12700" cmpd="sng">
                      <a:noFill/>
                      <a:prstDash val="solid"/>
                    </a:lnTlToBr>
                    <a:lnBlToTr w="12700" cmpd="sng">
                      <a:noFill/>
                      <a:prstDash val="solid"/>
                    </a:lnBlToTr>
                    <a:solidFill>
                      <a:srgbClr val="ECECED"/>
                    </a:solidFill>
                  </a:tcPr>
                </a:tc>
                <a:tc>
                  <a:txBody>
                    <a:bodyPr/>
                    <a:lstStyle/>
                    <a:p>
                      <a:pPr algn="ctr"/>
                      <a:endParaRPr lang="en-IN" sz="900" b="1">
                        <a:solidFill>
                          <a:schemeClr val="bg1"/>
                        </a:solidFill>
                        <a:latin typeface="EYInterstate Light" panose="02000506000000020004" pitchFamily="2" charset="0"/>
                        <a:cs typeface="Arial" panose="020B0604020202020204" pitchFamily="34" charset="0"/>
                        <a:sym typeface="Arial" panose="020B0604020202020204" pitchFamily="34" charset="0"/>
                      </a:endParaRPr>
                    </a:p>
                  </a:txBody>
                  <a:tcPr marL="54000" marR="54000" marT="36000" marB="36000">
                    <a:lnL w="6350" cap="flat" cmpd="sng" algn="ctr">
                      <a:solidFill>
                        <a:srgbClr val="B9B9BF"/>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IN" sz="900" b="1">
                        <a:solidFill>
                          <a:schemeClr val="bg1"/>
                        </a:solidFill>
                        <a:latin typeface="EYInterstate Light" panose="02000506000000020004" pitchFamily="2" charset="0"/>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lang="en-IN" sz="900" b="1">
                        <a:solidFill>
                          <a:schemeClr val="bg1"/>
                        </a:solidFill>
                        <a:latin typeface="EYInterstate Light" panose="02000506000000020004" pitchFamily="2" charset="0"/>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kumimoji="0" lang="en-IN" sz="900" b="1" i="0" u="none" strike="noStrike" kern="1200" cap="none" spc="0" normalizeH="0" baseline="0" noProof="0">
                        <a:ln>
                          <a:noFill/>
                        </a:ln>
                        <a:solidFill>
                          <a:schemeClr val="bg1"/>
                        </a:solidFill>
                        <a:effectLst/>
                        <a:uLnTx/>
                        <a:uFillTx/>
                        <a:latin typeface="EYInterstate Light" panose="02000506000000020004" pitchFamily="2" charset="0"/>
                        <a:ea typeface="+mn-ea"/>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kumimoji="0" lang="en-IN" sz="900" b="1" i="0" u="none" strike="noStrike" kern="1200" cap="none" spc="0" normalizeH="0" baseline="0" noProof="0">
                        <a:ln>
                          <a:noFill/>
                        </a:ln>
                        <a:solidFill>
                          <a:schemeClr val="bg1"/>
                        </a:solidFill>
                        <a:effectLst/>
                        <a:uLnTx/>
                        <a:uFillTx/>
                        <a:latin typeface="EYInterstate Light" panose="02000506000000020004" pitchFamily="2" charset="0"/>
                        <a:ea typeface="+mn-ea"/>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104212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tx1"/>
                          </a:solidFill>
                          <a:effectLst/>
                          <a:uLnTx/>
                          <a:uFillTx/>
                          <a:latin typeface="EYInterstate Light" panose="02000506000000020004" pitchFamily="2" charset="0"/>
                          <a:ea typeface="+mn-ea"/>
                          <a:cs typeface="Arial" panose="020B0604020202020204" pitchFamily="34" charset="0"/>
                          <a:sym typeface="Arial" panose="020B0604020202020204" pitchFamily="34" charset="0"/>
                        </a:rPr>
                        <a:t>Bid period is dependant on the market who may request extensions. </a:t>
                      </a:r>
                    </a:p>
                  </a:txBody>
                  <a:tcPr marL="43875" marR="43875" marT="29250" marB="29250" anchor="ctr">
                    <a:lnL w="12700" cap="flat" cmpd="sng" algn="ctr">
                      <a:solidFill>
                        <a:schemeClr val="accent5"/>
                      </a:solidFill>
                      <a:prstDash val="solid"/>
                      <a:round/>
                      <a:headEnd type="none" w="med" len="med"/>
                      <a:tailEnd type="none" w="med" len="med"/>
                    </a:lnL>
                    <a:lnR w="12700" cap="flat" cmpd="sng" algn="ctr">
                      <a:solidFill>
                        <a:srgbClr val="35A4E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8817744"/>
                  </a:ext>
                </a:extLst>
              </a:tr>
              <a:tr h="416977">
                <a:tc>
                  <a:txBody>
                    <a:bodyPr/>
                    <a:lstStyle/>
                    <a:p>
                      <a:pPr marL="0" algn="l" defTabSz="828639" rtl="0" eaLnBrk="1" fontAlgn="b" latinLnBrk="0" hangingPunct="1"/>
                      <a:r>
                        <a:rPr lang="en-US" sz="1000" b="0" i="0" u="none" strike="noStrike" kern="1200">
                          <a:solidFill>
                            <a:schemeClr val="tx1"/>
                          </a:solidFill>
                          <a:effectLst/>
                          <a:latin typeface="EYInterstate Light" panose="02000506000000020004" pitchFamily="2" charset="0"/>
                          <a:ea typeface="+mn-ea"/>
                          <a:cs typeface="Arial" panose="020B0604020202020204" pitchFamily="34" charset="0"/>
                        </a:rPr>
                        <a:t>RFP Evaluation</a:t>
                      </a:r>
                    </a:p>
                  </a:txBody>
                  <a:tcPr marL="45720" marR="45720" anchor="ctr">
                    <a:lnL w="12700" cap="flat" cmpd="sng" algn="ctr">
                      <a:solidFill>
                        <a:srgbClr val="35A4E8"/>
                      </a:solidFill>
                      <a:prstDash val="solid"/>
                      <a:round/>
                      <a:headEnd type="none" w="med" len="med"/>
                      <a:tailEnd type="none" w="med" len="med"/>
                    </a:lnL>
                    <a:lnR w="6350" cap="flat" cmpd="sng" algn="ctr">
                      <a:solidFill>
                        <a:srgbClr val="B9B9BF"/>
                      </a:solidFill>
                      <a:prstDash val="solid"/>
                      <a:round/>
                      <a:headEnd type="none" w="med" len="med"/>
                      <a:tailEnd type="none" w="med" len="med"/>
                    </a:lnR>
                    <a:lnT w="6350" cap="flat" cmpd="sng" algn="ctr">
                      <a:solidFill>
                        <a:srgbClr val="B9B9BF"/>
                      </a:solidFill>
                      <a:prstDash val="solid"/>
                      <a:round/>
                      <a:headEnd type="none" w="med" len="med"/>
                      <a:tailEnd type="none" w="med" len="med"/>
                    </a:lnT>
                    <a:lnB w="6350" cap="flat" cmpd="sng" algn="ctr">
                      <a:solidFill>
                        <a:srgbClr val="B9B9BF"/>
                      </a:solidFill>
                      <a:prstDash val="solid"/>
                      <a:round/>
                      <a:headEnd type="none" w="med" len="med"/>
                      <a:tailEnd type="none" w="med" len="med"/>
                    </a:lnB>
                    <a:lnTlToBr w="12700" cmpd="sng">
                      <a:noFill/>
                      <a:prstDash val="solid"/>
                    </a:lnTlToBr>
                    <a:lnBlToTr w="12700" cmpd="sng">
                      <a:noFill/>
                      <a:prstDash val="solid"/>
                    </a:lnBlToTr>
                    <a:solidFill>
                      <a:srgbClr val="ECECED"/>
                    </a:solidFill>
                  </a:tcPr>
                </a:tc>
                <a:tc>
                  <a:txBody>
                    <a:bodyPr/>
                    <a:lstStyle/>
                    <a:p>
                      <a:pPr algn="ctr"/>
                      <a:endParaRPr lang="en-IN" sz="900" b="1">
                        <a:solidFill>
                          <a:schemeClr val="bg1"/>
                        </a:solidFill>
                        <a:latin typeface="EYInterstate Light" panose="02000506000000020004" pitchFamily="2" charset="0"/>
                        <a:cs typeface="Arial" panose="020B0604020202020204" pitchFamily="34" charset="0"/>
                        <a:sym typeface="Arial" panose="020B0604020202020204" pitchFamily="34" charset="0"/>
                      </a:endParaRPr>
                    </a:p>
                  </a:txBody>
                  <a:tcPr marL="54000" marR="54000" marT="36000" marB="36000">
                    <a:lnL w="6350" cap="flat" cmpd="sng" algn="ctr">
                      <a:solidFill>
                        <a:srgbClr val="B9B9BF"/>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IN" sz="900" b="1">
                        <a:solidFill>
                          <a:schemeClr val="bg1"/>
                        </a:solidFill>
                        <a:latin typeface="EYInterstate Light" panose="02000506000000020004" pitchFamily="2" charset="0"/>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lang="en-IN" sz="900" b="1">
                        <a:solidFill>
                          <a:schemeClr val="bg1"/>
                        </a:solidFill>
                        <a:latin typeface="EYInterstate Light" panose="02000506000000020004" pitchFamily="2" charset="0"/>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kumimoji="0" lang="en-IN" sz="900" b="1" i="0" u="none" strike="noStrike" kern="1200" cap="none" spc="0" normalizeH="0" baseline="0" noProof="0">
                        <a:ln>
                          <a:noFill/>
                        </a:ln>
                        <a:solidFill>
                          <a:schemeClr val="bg1"/>
                        </a:solidFill>
                        <a:effectLst/>
                        <a:uLnTx/>
                        <a:uFillTx/>
                        <a:latin typeface="EYInterstate Light" panose="02000506000000020004" pitchFamily="2" charset="0"/>
                        <a:ea typeface="+mn-ea"/>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kumimoji="0" lang="en-IN" sz="900" b="1" i="0" u="none" strike="noStrike" kern="1200" cap="none" spc="0" normalizeH="0" baseline="0" noProof="0">
                        <a:ln>
                          <a:noFill/>
                        </a:ln>
                        <a:solidFill>
                          <a:schemeClr val="bg1"/>
                        </a:solidFill>
                        <a:effectLst/>
                        <a:uLnTx/>
                        <a:uFillTx/>
                        <a:latin typeface="EYInterstate Light" panose="02000506000000020004" pitchFamily="2" charset="0"/>
                        <a:ea typeface="+mn-ea"/>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a:ln>
                          <a:noFill/>
                        </a:ln>
                        <a:solidFill>
                          <a:schemeClr val="tx1"/>
                        </a:solidFill>
                        <a:effectLst/>
                        <a:uLnTx/>
                        <a:uFillTx/>
                        <a:latin typeface="EYInterstate Light" panose="02000506000000020004" pitchFamily="2" charset="0"/>
                        <a:ea typeface="+mn-ea"/>
                        <a:cs typeface="Arial" panose="020B0604020202020204" pitchFamily="34" charset="0"/>
                        <a:sym typeface="Arial" panose="020B0604020202020204" pitchFamily="34" charset="0"/>
                      </a:endParaRPr>
                    </a:p>
                  </a:txBody>
                  <a:tcPr marL="43875" marR="43875" marT="29250" marB="29250" anchor="ctr">
                    <a:lnL w="12700" cap="flat" cmpd="sng" algn="ctr">
                      <a:solidFill>
                        <a:schemeClr val="accent5"/>
                      </a:solidFill>
                      <a:prstDash val="solid"/>
                      <a:round/>
                      <a:headEnd type="none" w="med" len="med"/>
                      <a:tailEnd type="none" w="med" len="med"/>
                    </a:lnL>
                    <a:lnR w="12700" cap="flat" cmpd="sng" algn="ctr">
                      <a:solidFill>
                        <a:srgbClr val="35A4E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34863146"/>
                  </a:ext>
                </a:extLst>
              </a:tr>
              <a:tr h="416977">
                <a:tc>
                  <a:txBody>
                    <a:bodyPr/>
                    <a:lstStyle/>
                    <a:p>
                      <a:pPr marL="0" algn="l" defTabSz="828639" rtl="0" eaLnBrk="1" fontAlgn="b" latinLnBrk="0" hangingPunct="1"/>
                      <a:r>
                        <a:rPr lang="en-US" sz="1000" b="0" i="0" u="none" strike="noStrike" kern="1200">
                          <a:solidFill>
                            <a:schemeClr val="tx1"/>
                          </a:solidFill>
                          <a:effectLst/>
                          <a:latin typeface="EYInterstate Light" panose="02000506000000020004" pitchFamily="2" charset="0"/>
                          <a:ea typeface="+mn-ea"/>
                          <a:cs typeface="Arial" panose="020B0604020202020204" pitchFamily="34" charset="0"/>
                        </a:rPr>
                        <a:t>Continuous support until project close</a:t>
                      </a:r>
                      <a:endParaRPr lang="en-US" sz="1000" b="0" i="0" u="none" strike="noStrike" kern="1200">
                        <a:solidFill>
                          <a:schemeClr val="tx1"/>
                        </a:solidFill>
                        <a:effectLst/>
                        <a:highlight>
                          <a:srgbClr val="FFFF00"/>
                        </a:highlight>
                        <a:latin typeface="EYInterstate Light" panose="02000506000000020004" pitchFamily="2" charset="0"/>
                        <a:ea typeface="+mn-ea"/>
                        <a:cs typeface="Arial" panose="020B0604020202020204" pitchFamily="34" charset="0"/>
                      </a:endParaRPr>
                    </a:p>
                  </a:txBody>
                  <a:tcPr marL="45720" marR="45720" anchor="ctr">
                    <a:lnL w="12700" cap="flat" cmpd="sng" algn="ctr">
                      <a:solidFill>
                        <a:srgbClr val="35A4E8"/>
                      </a:solidFill>
                      <a:prstDash val="solid"/>
                      <a:round/>
                      <a:headEnd type="none" w="med" len="med"/>
                      <a:tailEnd type="none" w="med" len="med"/>
                    </a:lnL>
                    <a:lnR w="6350" cap="flat" cmpd="sng" algn="ctr">
                      <a:solidFill>
                        <a:srgbClr val="B9B9BF"/>
                      </a:solidFill>
                      <a:prstDash val="solid"/>
                      <a:round/>
                      <a:headEnd type="none" w="med" len="med"/>
                      <a:tailEnd type="none" w="med" len="med"/>
                    </a:lnR>
                    <a:lnT w="6350" cap="flat" cmpd="sng" algn="ctr">
                      <a:solidFill>
                        <a:srgbClr val="B9B9BF"/>
                      </a:solidFill>
                      <a:prstDash val="solid"/>
                      <a:round/>
                      <a:headEnd type="none" w="med" len="med"/>
                      <a:tailEnd type="none" w="med" len="med"/>
                    </a:lnT>
                    <a:lnB w="12700" cap="flat" cmpd="sng" algn="ctr">
                      <a:solidFill>
                        <a:srgbClr val="35A4E8"/>
                      </a:solidFill>
                      <a:prstDash val="solid"/>
                      <a:round/>
                      <a:headEnd type="none" w="med" len="med"/>
                      <a:tailEnd type="none" w="med" len="med"/>
                    </a:lnB>
                    <a:lnTlToBr w="12700" cmpd="sng">
                      <a:noFill/>
                      <a:prstDash val="solid"/>
                    </a:lnTlToBr>
                    <a:lnBlToTr w="12700" cmpd="sng">
                      <a:noFill/>
                      <a:prstDash val="solid"/>
                    </a:lnBlToTr>
                    <a:solidFill>
                      <a:srgbClr val="ECECED"/>
                    </a:solidFill>
                  </a:tcPr>
                </a:tc>
                <a:tc>
                  <a:txBody>
                    <a:bodyPr/>
                    <a:lstStyle/>
                    <a:p>
                      <a:pPr algn="ctr"/>
                      <a:endParaRPr lang="en-IN" sz="900" b="1">
                        <a:solidFill>
                          <a:schemeClr val="bg1"/>
                        </a:solidFill>
                        <a:latin typeface="EYInterstate Light" panose="02000506000000020004" pitchFamily="2" charset="0"/>
                        <a:cs typeface="Arial" panose="020B0604020202020204" pitchFamily="34" charset="0"/>
                        <a:sym typeface="Arial" panose="020B0604020202020204" pitchFamily="34" charset="0"/>
                      </a:endParaRPr>
                    </a:p>
                  </a:txBody>
                  <a:tcPr marL="54000" marR="54000" marT="36000" marB="36000">
                    <a:lnL w="6350" cap="flat" cmpd="sng" algn="ctr">
                      <a:solidFill>
                        <a:srgbClr val="B9B9BF"/>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rgbClr val="35A4E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IN" sz="900" b="1">
                        <a:solidFill>
                          <a:schemeClr val="bg1"/>
                        </a:solidFill>
                        <a:latin typeface="EYInterstate Light" panose="02000506000000020004" pitchFamily="2" charset="0"/>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rgbClr val="35A4E8"/>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lang="en-IN" sz="900" b="1">
                        <a:solidFill>
                          <a:schemeClr val="bg1"/>
                        </a:solidFill>
                        <a:latin typeface="EYInterstate Light" panose="02000506000000020004" pitchFamily="2" charset="0"/>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rgbClr val="35A4E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kumimoji="0" lang="en-IN" sz="900" b="1" i="0" u="none" strike="noStrike" kern="1200" cap="none" spc="0" normalizeH="0" baseline="0" noProof="0">
                        <a:ln>
                          <a:noFill/>
                        </a:ln>
                        <a:solidFill>
                          <a:schemeClr val="bg1"/>
                        </a:solidFill>
                        <a:effectLst/>
                        <a:uLnTx/>
                        <a:uFillTx/>
                        <a:latin typeface="EYInterstate Light" panose="02000506000000020004" pitchFamily="2" charset="0"/>
                        <a:ea typeface="+mn-ea"/>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rgbClr val="35A4E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042120" rtl="0" eaLnBrk="1" fontAlgn="auto" latinLnBrk="0" hangingPunct="1">
                        <a:lnSpc>
                          <a:spcPct val="100000"/>
                        </a:lnSpc>
                        <a:spcBef>
                          <a:spcPts val="0"/>
                        </a:spcBef>
                        <a:spcAft>
                          <a:spcPts val="0"/>
                        </a:spcAft>
                        <a:buClrTx/>
                        <a:buSzTx/>
                        <a:buFontTx/>
                        <a:buNone/>
                        <a:tabLst/>
                        <a:defRPr/>
                      </a:pPr>
                      <a:endParaRPr kumimoji="0" lang="en-IN" sz="900" b="1" i="0" u="none" strike="noStrike" kern="1200" cap="none" spc="0" normalizeH="0" baseline="0" noProof="0">
                        <a:ln>
                          <a:noFill/>
                        </a:ln>
                        <a:solidFill>
                          <a:schemeClr val="bg1"/>
                        </a:solidFill>
                        <a:effectLst/>
                        <a:uLnTx/>
                        <a:uFillTx/>
                        <a:latin typeface="EYInterstate Light" panose="02000506000000020004" pitchFamily="2" charset="0"/>
                        <a:ea typeface="+mn-ea"/>
                        <a:cs typeface="Arial" panose="020B0604020202020204" pitchFamily="34" charset="0"/>
                        <a:sym typeface="Arial" panose="020B0604020202020204" pitchFamily="34" charset="0"/>
                      </a:endParaRPr>
                    </a:p>
                  </a:txBody>
                  <a:tcPr marL="54000" marR="54000" marT="36000" marB="36000">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rgbClr val="35A4E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04212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chemeClr val="tx1"/>
                          </a:solidFill>
                          <a:effectLst/>
                          <a:uLnTx/>
                          <a:uFillTx/>
                          <a:latin typeface="EYInterstate Light" panose="02000506000000020004" pitchFamily="2" charset="0"/>
                          <a:ea typeface="+mn-ea"/>
                          <a:cs typeface="Arial" panose="020B0604020202020204" pitchFamily="34" charset="0"/>
                          <a:sym typeface="Arial" panose="020B0604020202020204" pitchFamily="34" charset="0"/>
                        </a:rPr>
                        <a:t>Ongoing support post month 5</a:t>
                      </a:r>
                    </a:p>
                  </a:txBody>
                  <a:tcPr marL="43875" marR="43875" marT="29250" marB="29250" anchor="ctr">
                    <a:lnL w="12700" cap="flat" cmpd="sng" algn="ctr">
                      <a:solidFill>
                        <a:schemeClr val="accent5"/>
                      </a:solidFill>
                      <a:prstDash val="solid"/>
                      <a:round/>
                      <a:headEnd type="none" w="med" len="med"/>
                      <a:tailEnd type="none" w="med" len="med"/>
                    </a:lnL>
                    <a:lnR w="12700" cap="flat" cmpd="sng" algn="ctr">
                      <a:solidFill>
                        <a:srgbClr val="35A4E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rgbClr val="35A4E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82630317"/>
                  </a:ext>
                </a:extLst>
              </a:tr>
            </a:tbl>
          </a:graphicData>
        </a:graphic>
      </p:graphicFrame>
      <p:sp>
        <p:nvSpPr>
          <p:cNvPr id="5" name="Arrow: Pentagon 4">
            <a:extLst>
              <a:ext uri="{FF2B5EF4-FFF2-40B4-BE49-F238E27FC236}">
                <a16:creationId xmlns:a16="http://schemas.microsoft.com/office/drawing/2014/main" id="{8F32469D-115F-CB7D-4D04-7422A5B7E4EE}"/>
              </a:ext>
            </a:extLst>
          </p:cNvPr>
          <p:cNvSpPr>
            <a:spLocks/>
          </p:cNvSpPr>
          <p:nvPr/>
        </p:nvSpPr>
        <p:spPr bwMode="auto">
          <a:xfrm>
            <a:off x="3803649" y="2919232"/>
            <a:ext cx="1050926" cy="90053"/>
          </a:xfrm>
          <a:prstGeom prst="homePlate">
            <a:avLst>
              <a:gd name="adj" fmla="val 31401"/>
            </a:avLst>
          </a:prstGeom>
          <a:solidFill>
            <a:srgbClr val="27ACAA"/>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a:ln>
                <a:noFill/>
              </a:ln>
              <a:solidFill>
                <a:srgbClr val="000000"/>
              </a:solidFill>
              <a:effectLst/>
              <a:uLnTx/>
              <a:uFillTx/>
              <a:latin typeface="EYInterstate Light"/>
              <a:ea typeface="+mn-ea"/>
              <a:cs typeface="Arial"/>
            </a:endParaRPr>
          </a:p>
        </p:txBody>
      </p:sp>
      <p:sp>
        <p:nvSpPr>
          <p:cNvPr id="26" name="Title 4">
            <a:extLst>
              <a:ext uri="{FF2B5EF4-FFF2-40B4-BE49-F238E27FC236}">
                <a16:creationId xmlns:a16="http://schemas.microsoft.com/office/drawing/2014/main" id="{86E0D12C-2ECA-D360-1A02-28726FE976E5}"/>
              </a:ext>
            </a:extLst>
          </p:cNvPr>
          <p:cNvSpPr>
            <a:spLocks noGrp="1"/>
          </p:cNvSpPr>
          <p:nvPr>
            <p:ph type="title"/>
          </p:nvPr>
        </p:nvSpPr>
        <p:spPr>
          <a:xfrm>
            <a:off x="701366" y="273717"/>
            <a:ext cx="10789269" cy="792000"/>
          </a:xfrm>
        </p:spPr>
        <p:txBody>
          <a:bodyPr vert="horz"/>
          <a:lstStyle/>
          <a:p>
            <a:r>
              <a:rPr lang="en-US"/>
              <a:t>Project Timeline</a:t>
            </a:r>
          </a:p>
        </p:txBody>
      </p:sp>
      <p:sp>
        <p:nvSpPr>
          <p:cNvPr id="28" name="TextBox 27">
            <a:extLst>
              <a:ext uri="{FF2B5EF4-FFF2-40B4-BE49-F238E27FC236}">
                <a16:creationId xmlns:a16="http://schemas.microsoft.com/office/drawing/2014/main" id="{439D8E0F-EBC0-DB82-75EC-1D73C5930F04}"/>
              </a:ext>
            </a:extLst>
          </p:cNvPr>
          <p:cNvSpPr txBox="1"/>
          <p:nvPr/>
        </p:nvSpPr>
        <p:spPr>
          <a:xfrm>
            <a:off x="701366" y="1226035"/>
            <a:ext cx="10645140" cy="272415"/>
          </a:xfrm>
          <a:prstGeom prst="roundRect">
            <a:avLst/>
          </a:prstGeom>
          <a:solidFill>
            <a:srgbClr val="D2D2DA"/>
          </a:solidFill>
          <a:ln w="3175">
            <a:noFill/>
          </a:ln>
        </p:spPr>
        <p:txBody>
          <a:bodyPr wrap="square">
            <a:spAutoFit/>
          </a:bodyPr>
          <a:lstStyle/>
          <a:p>
            <a:r>
              <a:rPr lang="en-IN" sz="1000"/>
              <a:t>We propose a 5-month timetable</a:t>
            </a:r>
          </a:p>
        </p:txBody>
      </p:sp>
      <p:sp>
        <p:nvSpPr>
          <p:cNvPr id="14" name="Rectangle 13">
            <a:extLst>
              <a:ext uri="{FF2B5EF4-FFF2-40B4-BE49-F238E27FC236}">
                <a16:creationId xmlns:a16="http://schemas.microsoft.com/office/drawing/2014/main" id="{2ACCD313-498B-1FFD-9FD7-7B6B328071A3}"/>
              </a:ext>
            </a:extLst>
          </p:cNvPr>
          <p:cNvSpPr/>
          <p:nvPr/>
        </p:nvSpPr>
        <p:spPr bwMode="auto">
          <a:xfrm>
            <a:off x="690951" y="5422521"/>
            <a:ext cx="4287794" cy="249647"/>
          </a:xfrm>
          <a:prstGeom prst="rect">
            <a:avLst/>
          </a:prstGeom>
          <a:no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l" defTabSz="995363"/>
            <a:r>
              <a:rPr lang="en-IN" sz="1000"/>
              <a:t>D7 are continuous process until project close </a:t>
            </a:r>
          </a:p>
        </p:txBody>
      </p:sp>
      <p:sp>
        <p:nvSpPr>
          <p:cNvPr id="2" name="TextBox 1">
            <a:extLst>
              <a:ext uri="{FF2B5EF4-FFF2-40B4-BE49-F238E27FC236}">
                <a16:creationId xmlns:a16="http://schemas.microsoft.com/office/drawing/2014/main" id="{99D1FE94-8E06-012E-E972-06895856F4CA}"/>
              </a:ext>
            </a:extLst>
          </p:cNvPr>
          <p:cNvSpPr txBox="1"/>
          <p:nvPr/>
        </p:nvSpPr>
        <p:spPr>
          <a:xfrm>
            <a:off x="701366" y="5631965"/>
            <a:ext cx="9322556" cy="553998"/>
          </a:xfrm>
          <a:prstGeom prst="rect">
            <a:avLst/>
          </a:prstGeom>
          <a:noFill/>
          <a:ln w="3175">
            <a:noFill/>
          </a:ln>
        </p:spPr>
        <p:txBody>
          <a:bodyPr wrap="square">
            <a:spAutoFit/>
          </a:bodyPr>
          <a:lstStyle/>
          <a:p>
            <a:pPr marL="171095" marR="0" lvl="0"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00" dirty="0"/>
              <a:t>Proposed timeline above excludes approval time for relevant stakeholders and approvers.</a:t>
            </a:r>
          </a:p>
          <a:p>
            <a:pPr marL="171095" marR="0" lvl="0" indent="-171450" algn="l" defTabSz="91437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IN" sz="1000" dirty="0"/>
              <a:t>Timeframe is based on the assumption that [CLIENT] will provide full support and coordination to get information from relevant stakeholders within the agreed upon timeline. </a:t>
            </a:r>
          </a:p>
        </p:txBody>
      </p:sp>
      <p:sp>
        <p:nvSpPr>
          <p:cNvPr id="7" name="Arrow: Pentagon 6">
            <a:extLst>
              <a:ext uri="{FF2B5EF4-FFF2-40B4-BE49-F238E27FC236}">
                <a16:creationId xmlns:a16="http://schemas.microsoft.com/office/drawing/2014/main" id="{124FCEE1-1C7F-5550-27EB-D7E310FCC3A6}"/>
              </a:ext>
            </a:extLst>
          </p:cNvPr>
          <p:cNvSpPr>
            <a:spLocks/>
          </p:cNvSpPr>
          <p:nvPr/>
        </p:nvSpPr>
        <p:spPr bwMode="auto">
          <a:xfrm>
            <a:off x="4854575" y="3347127"/>
            <a:ext cx="1050926" cy="90053"/>
          </a:xfrm>
          <a:prstGeom prst="homePlate">
            <a:avLst>
              <a:gd name="adj" fmla="val 31401"/>
            </a:avLst>
          </a:prstGeom>
          <a:solidFill>
            <a:srgbClr val="27ACAA"/>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a:ln>
                <a:noFill/>
              </a:ln>
              <a:solidFill>
                <a:srgbClr val="000000"/>
              </a:solidFill>
              <a:effectLst/>
              <a:uLnTx/>
              <a:uFillTx/>
              <a:latin typeface="EYInterstate Light"/>
              <a:ea typeface="+mn-ea"/>
              <a:cs typeface="Arial"/>
            </a:endParaRPr>
          </a:p>
        </p:txBody>
      </p:sp>
      <p:sp>
        <p:nvSpPr>
          <p:cNvPr id="10" name="Arrow: Pentagon 9">
            <a:extLst>
              <a:ext uri="{FF2B5EF4-FFF2-40B4-BE49-F238E27FC236}">
                <a16:creationId xmlns:a16="http://schemas.microsoft.com/office/drawing/2014/main" id="{E01D2F2E-C78B-5F4D-5ED8-888E035B6991}"/>
              </a:ext>
            </a:extLst>
          </p:cNvPr>
          <p:cNvSpPr>
            <a:spLocks/>
          </p:cNvSpPr>
          <p:nvPr/>
        </p:nvSpPr>
        <p:spPr bwMode="auto">
          <a:xfrm>
            <a:off x="5905501" y="3794271"/>
            <a:ext cx="650874" cy="90053"/>
          </a:xfrm>
          <a:prstGeom prst="homePlate">
            <a:avLst>
              <a:gd name="adj" fmla="val 31401"/>
            </a:avLst>
          </a:prstGeom>
          <a:solidFill>
            <a:srgbClr val="27ACAA"/>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0" marR="0" lvl="0" indent="0" algn="ctr" defTabSz="995363"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a:ln>
                <a:noFill/>
              </a:ln>
              <a:solidFill>
                <a:srgbClr val="000000"/>
              </a:solidFill>
              <a:effectLst/>
              <a:uLnTx/>
              <a:uFillTx/>
              <a:latin typeface="EYInterstate Light"/>
              <a:ea typeface="+mn-ea"/>
              <a:cs typeface="Arial"/>
            </a:endParaRPr>
          </a:p>
        </p:txBody>
      </p:sp>
      <p:cxnSp>
        <p:nvCxnSpPr>
          <p:cNvPr id="13" name="Straight Connector 12">
            <a:extLst>
              <a:ext uri="{FF2B5EF4-FFF2-40B4-BE49-F238E27FC236}">
                <a16:creationId xmlns:a16="http://schemas.microsoft.com/office/drawing/2014/main" id="{9B2A4B0C-7E09-C743-97F9-02AFB63C6CE3}"/>
              </a:ext>
            </a:extLst>
          </p:cNvPr>
          <p:cNvCxnSpPr>
            <a:cxnSpLocks/>
            <a:endCxn id="33" idx="0"/>
          </p:cNvCxnSpPr>
          <p:nvPr/>
        </p:nvCxnSpPr>
        <p:spPr bwMode="auto">
          <a:xfrm>
            <a:off x="4854575" y="2781300"/>
            <a:ext cx="0" cy="1963151"/>
          </a:xfrm>
          <a:prstGeom prst="line">
            <a:avLst/>
          </a:prstGeom>
          <a:solidFill>
            <a:schemeClr val="accent1"/>
          </a:solidFill>
          <a:ln w="9525" cap="flat" cmpd="sng" algn="ctr">
            <a:solidFill>
              <a:srgbClr val="F26B43"/>
            </a:solidFill>
            <a:prstDash val="lgDash"/>
            <a:round/>
            <a:headEnd type="none" w="med" len="med"/>
            <a:tailEnd type="none" w="med" len="med"/>
          </a:ln>
          <a:effectLst/>
        </p:spPr>
      </p:cxnSp>
      <p:cxnSp>
        <p:nvCxnSpPr>
          <p:cNvPr id="21" name="Straight Connector 20">
            <a:extLst>
              <a:ext uri="{FF2B5EF4-FFF2-40B4-BE49-F238E27FC236}">
                <a16:creationId xmlns:a16="http://schemas.microsoft.com/office/drawing/2014/main" id="{8A4FEE75-2F0B-D4BA-F653-E6BF236DE8F9}"/>
              </a:ext>
            </a:extLst>
          </p:cNvPr>
          <p:cNvCxnSpPr>
            <a:cxnSpLocks/>
            <a:endCxn id="38" idx="0"/>
          </p:cNvCxnSpPr>
          <p:nvPr/>
        </p:nvCxnSpPr>
        <p:spPr bwMode="auto">
          <a:xfrm>
            <a:off x="5911215" y="2781300"/>
            <a:ext cx="0" cy="1968231"/>
          </a:xfrm>
          <a:prstGeom prst="line">
            <a:avLst/>
          </a:prstGeom>
          <a:solidFill>
            <a:schemeClr val="accent1"/>
          </a:solidFill>
          <a:ln w="9525" cap="flat" cmpd="sng" algn="ctr">
            <a:solidFill>
              <a:srgbClr val="F26B43"/>
            </a:solidFill>
            <a:prstDash val="lgDash"/>
            <a:round/>
            <a:headEnd type="none" w="med" len="med"/>
            <a:tailEnd type="none" w="med" len="med"/>
          </a:ln>
          <a:effectLst/>
        </p:spPr>
      </p:cxnSp>
      <p:cxnSp>
        <p:nvCxnSpPr>
          <p:cNvPr id="29" name="Straight Connector 28">
            <a:extLst>
              <a:ext uri="{FF2B5EF4-FFF2-40B4-BE49-F238E27FC236}">
                <a16:creationId xmlns:a16="http://schemas.microsoft.com/office/drawing/2014/main" id="{79FE28E7-17D7-950E-88CF-BB8938693A15}"/>
              </a:ext>
            </a:extLst>
          </p:cNvPr>
          <p:cNvCxnSpPr>
            <a:cxnSpLocks/>
            <a:endCxn id="40" idx="0"/>
          </p:cNvCxnSpPr>
          <p:nvPr/>
        </p:nvCxnSpPr>
        <p:spPr bwMode="auto">
          <a:xfrm>
            <a:off x="6556375" y="2800350"/>
            <a:ext cx="0" cy="1925196"/>
          </a:xfrm>
          <a:prstGeom prst="line">
            <a:avLst/>
          </a:prstGeom>
          <a:solidFill>
            <a:schemeClr val="accent1"/>
          </a:solidFill>
          <a:ln w="9525" cap="flat" cmpd="sng" algn="ctr">
            <a:solidFill>
              <a:srgbClr val="F26B43"/>
            </a:solidFill>
            <a:prstDash val="lgDash"/>
            <a:round/>
            <a:headEnd type="none" w="med" len="med"/>
            <a:tailEnd type="none" w="med" len="med"/>
          </a:ln>
          <a:effectLst/>
        </p:spPr>
      </p:cxnSp>
      <p:sp>
        <p:nvSpPr>
          <p:cNvPr id="33" name="Isosceles Triangle 32">
            <a:extLst>
              <a:ext uri="{FF2B5EF4-FFF2-40B4-BE49-F238E27FC236}">
                <a16:creationId xmlns:a16="http://schemas.microsoft.com/office/drawing/2014/main" id="{C63F7F08-443A-7B79-B53F-77B39D447573}"/>
              </a:ext>
            </a:extLst>
          </p:cNvPr>
          <p:cNvSpPr/>
          <p:nvPr/>
        </p:nvSpPr>
        <p:spPr bwMode="auto">
          <a:xfrm>
            <a:off x="4807478" y="4744451"/>
            <a:ext cx="94194" cy="97777"/>
          </a:xfrm>
          <a:prstGeom prst="triangle">
            <a:avLst/>
          </a:prstGeom>
          <a:solidFill>
            <a:srgbClr val="00B0F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285750" indent="-285750" algn="l" defTabSz="995363">
              <a:buFont typeface="Arial" panose="020B0604020202020204" pitchFamily="34" charset="0"/>
              <a:buChar char="•"/>
            </a:pPr>
            <a:endParaRPr lang="en-IN" sz="1200"/>
          </a:p>
        </p:txBody>
      </p:sp>
      <p:sp>
        <p:nvSpPr>
          <p:cNvPr id="37" name="Rectangle 36">
            <a:extLst>
              <a:ext uri="{FF2B5EF4-FFF2-40B4-BE49-F238E27FC236}">
                <a16:creationId xmlns:a16="http://schemas.microsoft.com/office/drawing/2014/main" id="{9A8B9554-8F88-16EB-69A9-F59DFB8A83A0}"/>
              </a:ext>
            </a:extLst>
          </p:cNvPr>
          <p:cNvSpPr/>
          <p:nvPr/>
        </p:nvSpPr>
        <p:spPr bwMode="auto">
          <a:xfrm>
            <a:off x="4735407" y="4880480"/>
            <a:ext cx="243338" cy="118860"/>
          </a:xfrm>
          <a:prstGeom prst="rect">
            <a:avLst/>
          </a:prstGeom>
          <a:no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l" defTabSz="995363"/>
            <a:r>
              <a:rPr lang="en-IN" sz="700"/>
              <a:t>D1</a:t>
            </a:r>
            <a:br>
              <a:rPr lang="en-IN" sz="700"/>
            </a:br>
            <a:r>
              <a:rPr lang="en-IN" sz="700"/>
              <a:t>D4</a:t>
            </a:r>
          </a:p>
        </p:txBody>
      </p:sp>
      <p:sp>
        <p:nvSpPr>
          <p:cNvPr id="38" name="Isosceles Triangle 37">
            <a:extLst>
              <a:ext uri="{FF2B5EF4-FFF2-40B4-BE49-F238E27FC236}">
                <a16:creationId xmlns:a16="http://schemas.microsoft.com/office/drawing/2014/main" id="{49F2B50D-3ADE-61F3-4AA9-73E7AC1D0970}"/>
              </a:ext>
            </a:extLst>
          </p:cNvPr>
          <p:cNvSpPr/>
          <p:nvPr/>
        </p:nvSpPr>
        <p:spPr bwMode="auto">
          <a:xfrm>
            <a:off x="5864118" y="4749531"/>
            <a:ext cx="94194" cy="97777"/>
          </a:xfrm>
          <a:prstGeom prst="triangle">
            <a:avLst/>
          </a:prstGeom>
          <a:solidFill>
            <a:srgbClr val="00B0F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285750" indent="-285750" algn="l" defTabSz="995363">
              <a:buFont typeface="Arial" panose="020B0604020202020204" pitchFamily="34" charset="0"/>
              <a:buChar char="•"/>
            </a:pPr>
            <a:endParaRPr lang="en-IN" sz="1200"/>
          </a:p>
        </p:txBody>
      </p:sp>
      <p:sp>
        <p:nvSpPr>
          <p:cNvPr id="39" name="Rectangle 38">
            <a:extLst>
              <a:ext uri="{FF2B5EF4-FFF2-40B4-BE49-F238E27FC236}">
                <a16:creationId xmlns:a16="http://schemas.microsoft.com/office/drawing/2014/main" id="{6A4BD0A9-CB5A-62E6-B1CA-AA8374FAE0D6}"/>
              </a:ext>
            </a:extLst>
          </p:cNvPr>
          <p:cNvSpPr/>
          <p:nvPr/>
        </p:nvSpPr>
        <p:spPr bwMode="auto">
          <a:xfrm>
            <a:off x="5783832" y="4880480"/>
            <a:ext cx="243338" cy="118860"/>
          </a:xfrm>
          <a:prstGeom prst="rect">
            <a:avLst/>
          </a:prstGeom>
          <a:no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l" defTabSz="995363"/>
            <a:r>
              <a:rPr lang="en-IN" sz="700"/>
              <a:t>D2</a:t>
            </a:r>
          </a:p>
        </p:txBody>
      </p:sp>
      <p:sp>
        <p:nvSpPr>
          <p:cNvPr id="40" name="Isosceles Triangle 39">
            <a:extLst>
              <a:ext uri="{FF2B5EF4-FFF2-40B4-BE49-F238E27FC236}">
                <a16:creationId xmlns:a16="http://schemas.microsoft.com/office/drawing/2014/main" id="{FDB9ED4F-5D7A-34BE-C52D-509B91261467}"/>
              </a:ext>
            </a:extLst>
          </p:cNvPr>
          <p:cNvSpPr/>
          <p:nvPr/>
        </p:nvSpPr>
        <p:spPr bwMode="auto">
          <a:xfrm>
            <a:off x="6509278" y="4725546"/>
            <a:ext cx="94194" cy="97777"/>
          </a:xfrm>
          <a:prstGeom prst="triangle">
            <a:avLst/>
          </a:prstGeom>
          <a:solidFill>
            <a:srgbClr val="00B0F0"/>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marL="285750" indent="-285750" algn="l" defTabSz="995363">
              <a:buFont typeface="Arial" panose="020B0604020202020204" pitchFamily="34" charset="0"/>
              <a:buChar char="•"/>
            </a:pPr>
            <a:endParaRPr lang="en-IN" sz="1200"/>
          </a:p>
        </p:txBody>
      </p:sp>
      <p:sp>
        <p:nvSpPr>
          <p:cNvPr id="41" name="Rectangle 40">
            <a:extLst>
              <a:ext uri="{FF2B5EF4-FFF2-40B4-BE49-F238E27FC236}">
                <a16:creationId xmlns:a16="http://schemas.microsoft.com/office/drawing/2014/main" id="{E7A74D74-A413-939F-AE62-C27C53A8D94D}"/>
              </a:ext>
            </a:extLst>
          </p:cNvPr>
          <p:cNvSpPr/>
          <p:nvPr/>
        </p:nvSpPr>
        <p:spPr bwMode="auto">
          <a:xfrm>
            <a:off x="6441692" y="4869195"/>
            <a:ext cx="243338" cy="118860"/>
          </a:xfrm>
          <a:prstGeom prst="rect">
            <a:avLst/>
          </a:prstGeom>
          <a:no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p>
            <a:pPr algn="l" defTabSz="995363"/>
            <a:r>
              <a:rPr lang="en-IN" sz="700"/>
              <a:t>D5</a:t>
            </a:r>
            <a:br>
              <a:rPr lang="en-IN" sz="700"/>
            </a:br>
            <a:r>
              <a:rPr lang="en-IN" sz="700"/>
              <a:t>D6</a:t>
            </a:r>
          </a:p>
        </p:txBody>
      </p:sp>
    </p:spTree>
    <p:extLst>
      <p:ext uri="{BB962C8B-B14F-4D97-AF65-F5344CB8AC3E}">
        <p14:creationId xmlns:p14="http://schemas.microsoft.com/office/powerpoint/2010/main" val="7851399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C985C-2964-CD00-FE7F-65B74E9BA3D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1DF43D3-6986-7D81-D70E-42D11BBC3DEB}"/>
              </a:ext>
            </a:extLst>
          </p:cNvPr>
          <p:cNvPicPr>
            <a:picLocks noChangeAspect="1"/>
          </p:cNvPicPr>
          <p:nvPr/>
        </p:nvPicPr>
        <p:blipFill>
          <a:blip r:embed="rId3"/>
          <a:src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E94121F-718E-6099-D3BB-0C385669169E}"/>
              </a:ext>
            </a:extLst>
          </p:cNvPr>
          <p:cNvSpPr>
            <a:spLocks/>
          </p:cNvSpPr>
          <p:nvPr/>
        </p:nvSpPr>
        <p:spPr>
          <a:xfrm>
            <a:off x="0" y="0"/>
            <a:ext cx="12192000" cy="6858000"/>
          </a:xfrm>
          <a:prstGeom prst="rect">
            <a:avLst/>
          </a:prstGeom>
          <a:gradFill>
            <a:gsLst>
              <a:gs pos="0">
                <a:schemeClr val="tx1">
                  <a:alpha val="50000"/>
                </a:schemeClr>
              </a:gs>
              <a:gs pos="100000">
                <a:schemeClr val="tx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YInterstate Light"/>
              <a:ea typeface="+mn-ea"/>
              <a:cs typeface="Arial"/>
            </a:endParaRPr>
          </a:p>
        </p:txBody>
      </p:sp>
      <p:pic>
        <p:nvPicPr>
          <p:cNvPr id="3" name="Picture 2">
            <a:extLst>
              <a:ext uri="{FF2B5EF4-FFF2-40B4-BE49-F238E27FC236}">
                <a16:creationId xmlns:a16="http://schemas.microsoft.com/office/drawing/2014/main" id="{7CCD7009-6E35-C1B3-E1FC-85D14938D825}"/>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0" y="2809949"/>
            <a:ext cx="12192000" cy="4048051"/>
          </a:xfrm>
          <a:prstGeom prst="rect">
            <a:avLst/>
          </a:prstGeom>
        </p:spPr>
      </p:pic>
      <p:cxnSp>
        <p:nvCxnSpPr>
          <p:cNvPr id="6" name="Straight Connector 5">
            <a:extLst>
              <a:ext uri="{FF2B5EF4-FFF2-40B4-BE49-F238E27FC236}">
                <a16:creationId xmlns:a16="http://schemas.microsoft.com/office/drawing/2014/main" id="{4B4A7740-F4C6-49DD-28AA-C80E4941C777}"/>
              </a:ext>
            </a:extLst>
          </p:cNvPr>
          <p:cNvCxnSpPr>
            <a:cxnSpLocks/>
          </p:cNvCxnSpPr>
          <p:nvPr/>
        </p:nvCxnSpPr>
        <p:spPr bwMode="auto">
          <a:xfrm>
            <a:off x="713186" y="2015326"/>
            <a:ext cx="1092200" cy="0"/>
          </a:xfrm>
          <a:prstGeom prst="line">
            <a:avLst/>
          </a:prstGeom>
          <a:noFill/>
          <a:ln w="31750">
            <a:gradFill flip="none" rotWithShape="1">
              <a:gsLst>
                <a:gs pos="0">
                  <a:srgbClr val="1A9AFA">
                    <a:alpha val="33000"/>
                  </a:srgbClr>
                </a:gs>
                <a:gs pos="100000">
                  <a:srgbClr val="1A9AFA"/>
                </a:gs>
              </a:gsLst>
              <a:lin ang="10800000" scaled="1"/>
              <a:tileRect/>
            </a:gradFill>
            <a:round/>
            <a:headEnd/>
            <a:tailEnd/>
          </a:ln>
          <a:effectLst/>
        </p:spPr>
      </p:cxnSp>
      <p:sp>
        <p:nvSpPr>
          <p:cNvPr id="4" name="TextBox 3">
            <a:extLst>
              <a:ext uri="{FF2B5EF4-FFF2-40B4-BE49-F238E27FC236}">
                <a16:creationId xmlns:a16="http://schemas.microsoft.com/office/drawing/2014/main" id="{9EDA0686-965B-8FA2-B62E-1A08B3C7E8B1}"/>
              </a:ext>
            </a:extLst>
          </p:cNvPr>
          <p:cNvSpPr txBox="1"/>
          <p:nvPr/>
        </p:nvSpPr>
        <p:spPr>
          <a:xfrm>
            <a:off x="574517" y="1091996"/>
            <a:ext cx="636490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a:ln>
                  <a:noFill/>
                </a:ln>
                <a:solidFill>
                  <a:srgbClr val="FFFFFF"/>
                </a:solidFill>
                <a:effectLst/>
                <a:uLnTx/>
                <a:uFillTx/>
                <a:latin typeface="EYInterstate Light" panose="02000506000000020004" pitchFamily="2" charset="0"/>
                <a:ea typeface="+mn-ea"/>
                <a:cs typeface="Arial"/>
              </a:rPr>
              <a:t>05</a:t>
            </a:r>
          </a:p>
        </p:txBody>
      </p:sp>
      <p:sp>
        <p:nvSpPr>
          <p:cNvPr id="8" name="TextBox 7">
            <a:extLst>
              <a:ext uri="{FF2B5EF4-FFF2-40B4-BE49-F238E27FC236}">
                <a16:creationId xmlns:a16="http://schemas.microsoft.com/office/drawing/2014/main" id="{31EA3269-85BF-B1CD-CC52-1D362CC9C333}"/>
              </a:ext>
            </a:extLst>
          </p:cNvPr>
          <p:cNvSpPr txBox="1"/>
          <p:nvPr/>
        </p:nvSpPr>
        <p:spPr>
          <a:xfrm>
            <a:off x="574516" y="2186580"/>
            <a:ext cx="6150749"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a:ln>
                  <a:noFill/>
                </a:ln>
                <a:solidFill>
                  <a:schemeClr val="bg1"/>
                </a:solidFill>
                <a:effectLst/>
                <a:uLnTx/>
                <a:uFillTx/>
                <a:latin typeface="EYInterstate Light" panose="02000506000000020004" pitchFamily="2" charset="0"/>
                <a:ea typeface="+mn-ea"/>
                <a:cs typeface="Arial"/>
              </a:rPr>
              <a:t>Financial Proposal</a:t>
            </a:r>
          </a:p>
        </p:txBody>
      </p:sp>
    </p:spTree>
    <p:extLst>
      <p:ext uri="{BB962C8B-B14F-4D97-AF65-F5344CB8AC3E}">
        <p14:creationId xmlns:p14="http://schemas.microsoft.com/office/powerpoint/2010/main" val="23820360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CC2EB-30A8-7FAF-4535-0671F72D4443}"/>
            </a:ext>
          </a:extLst>
        </p:cNvPr>
        <p:cNvGrpSpPr/>
        <p:nvPr/>
      </p:nvGrpSpPr>
      <p:grpSpPr>
        <a:xfrm>
          <a:off x="0" y="0"/>
          <a:ext cx="0" cy="0"/>
          <a:chOff x="0" y="0"/>
          <a:chExt cx="0" cy="0"/>
        </a:xfrm>
      </p:grpSpPr>
      <p:sp>
        <p:nvSpPr>
          <p:cNvPr id="53" name="Title 1">
            <a:extLst>
              <a:ext uri="{FF2B5EF4-FFF2-40B4-BE49-F238E27FC236}">
                <a16:creationId xmlns:a16="http://schemas.microsoft.com/office/drawing/2014/main" id="{CA86CC03-8C91-C11E-7035-A378CDBB74CA}"/>
              </a:ext>
            </a:extLst>
          </p:cNvPr>
          <p:cNvSpPr txBox="1">
            <a:spLocks/>
          </p:cNvSpPr>
          <p:nvPr/>
        </p:nvSpPr>
        <p:spPr bwMode="gray">
          <a:xfrm>
            <a:off x="701366" y="273717"/>
            <a:ext cx="10789269" cy="792000"/>
          </a:xfrm>
          <a:prstGeom prst="rect">
            <a:avLst/>
          </a:prstGeom>
          <a:noFill/>
          <a:ln w="9525">
            <a:noFill/>
            <a:miter lim="800000"/>
            <a:headEnd/>
            <a:tailEnd/>
          </a:ln>
          <a:effectLst/>
        </p:spPr>
        <p:txBody>
          <a:bodyPr vert="horz" wrap="square" lIns="0" tIns="0" rIns="0" bIns="36000" numCol="1" anchor="b" anchorCtr="0" compatLnSpc="1">
            <a:prstTxWarp prst="textNoShape">
              <a:avLst/>
            </a:prstTxWarp>
          </a:bodyPr>
          <a:lstStyle>
            <a:lvl1pPr algn="l" defTabSz="902010" rtl="0" eaLnBrk="1" fontAlgn="base" hangingPunct="1">
              <a:lnSpc>
                <a:spcPct val="85000"/>
              </a:lnSpc>
              <a:spcBef>
                <a:spcPct val="0"/>
              </a:spcBef>
              <a:spcAft>
                <a:spcPct val="0"/>
              </a:spcAft>
              <a:defRPr sz="2199" baseline="0">
                <a:solidFill>
                  <a:schemeClr val="tx1"/>
                </a:solidFill>
                <a:latin typeface="EYInterstate Light" panose="02000506000000020004" pitchFamily="2" charset="0"/>
                <a:ea typeface="+mj-ea"/>
                <a:cs typeface="+mj-cs"/>
              </a:defRPr>
            </a:lvl1pPr>
            <a:lvl2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2pPr>
            <a:lvl3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3pPr>
            <a:lvl4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4pPr>
            <a:lvl5pPr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5pPr>
            <a:lvl6pPr marL="414323"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6pPr>
            <a:lvl7pPr marL="828639"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7pPr>
            <a:lvl8pPr marL="1242960"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8pPr>
            <a:lvl9pPr marL="1657279" algn="l" defTabSz="902010" rtl="0" eaLnBrk="1" fontAlgn="base" hangingPunct="1">
              <a:lnSpc>
                <a:spcPct val="85000"/>
              </a:lnSpc>
              <a:spcBef>
                <a:spcPct val="0"/>
              </a:spcBef>
              <a:spcAft>
                <a:spcPct val="0"/>
              </a:spcAft>
              <a:defRPr sz="2176">
                <a:solidFill>
                  <a:schemeClr val="accent1"/>
                </a:solidFill>
                <a:latin typeface="EYInterstate" pitchFamily="2" charset="0"/>
                <a:cs typeface="Arial" charset="0"/>
              </a:defRPr>
            </a:lvl9pPr>
          </a:lstStyle>
          <a:p>
            <a:pPr marL="0" marR="0" lvl="0" indent="0" algn="l" defTabSz="902010" rtl="0" eaLnBrk="1" fontAlgn="base" latinLnBrk="0" hangingPunct="1">
              <a:lnSpc>
                <a:spcPct val="85000"/>
              </a:lnSpc>
              <a:spcBef>
                <a:spcPct val="0"/>
              </a:spcBef>
              <a:spcAft>
                <a:spcPct val="0"/>
              </a:spcAft>
              <a:buClrTx/>
              <a:buSzTx/>
              <a:buFontTx/>
              <a:buNone/>
              <a:tabLst/>
              <a:defRPr/>
            </a:pPr>
            <a:r>
              <a:rPr kumimoji="0" lang="en-US" sz="2199" b="0" i="0" u="none" strike="noStrike" kern="0" cap="none" spc="0" normalizeH="0" baseline="0" noProof="0">
                <a:ln>
                  <a:noFill/>
                </a:ln>
                <a:solidFill>
                  <a:srgbClr val="000000"/>
                </a:solidFill>
                <a:effectLst/>
                <a:uLnTx/>
                <a:uFillTx/>
                <a:latin typeface="EYInterstate Light" panose="02000506000000020004" pitchFamily="2" charset="0"/>
                <a:ea typeface="+mj-ea"/>
                <a:cs typeface="Arial"/>
              </a:rPr>
              <a:t>Pricing Sheet</a:t>
            </a:r>
          </a:p>
        </p:txBody>
      </p:sp>
      <p:graphicFrame>
        <p:nvGraphicFramePr>
          <p:cNvPr id="2" name="Table 1">
            <a:extLst>
              <a:ext uri="{FF2B5EF4-FFF2-40B4-BE49-F238E27FC236}">
                <a16:creationId xmlns:a16="http://schemas.microsoft.com/office/drawing/2014/main" id="{8B8C6706-D790-B079-CB8C-51AE4562FD05}"/>
              </a:ext>
            </a:extLst>
          </p:cNvPr>
          <p:cNvGraphicFramePr>
            <a:graphicFrameLocks noGrp="1"/>
          </p:cNvGraphicFramePr>
          <p:nvPr>
            <p:extLst>
              <p:ext uri="{D42A27DB-BD31-4B8C-83A1-F6EECF244321}">
                <p14:modId xmlns:p14="http://schemas.microsoft.com/office/powerpoint/2010/main" val="250879282"/>
              </p:ext>
            </p:extLst>
          </p:nvPr>
        </p:nvGraphicFramePr>
        <p:xfrm>
          <a:off x="701366" y="1192603"/>
          <a:ext cx="10789269" cy="3877324"/>
        </p:xfrm>
        <a:graphic>
          <a:graphicData uri="http://schemas.openxmlformats.org/drawingml/2006/table">
            <a:tbl>
              <a:tblPr/>
              <a:tblGrid>
                <a:gridCol w="1284137">
                  <a:extLst>
                    <a:ext uri="{9D8B030D-6E8A-4147-A177-3AD203B41FA5}">
                      <a16:colId xmlns:a16="http://schemas.microsoft.com/office/drawing/2014/main" val="3371846860"/>
                    </a:ext>
                  </a:extLst>
                </a:gridCol>
                <a:gridCol w="6068178">
                  <a:extLst>
                    <a:ext uri="{9D8B030D-6E8A-4147-A177-3AD203B41FA5}">
                      <a16:colId xmlns:a16="http://schemas.microsoft.com/office/drawing/2014/main" val="1803051112"/>
                    </a:ext>
                  </a:extLst>
                </a:gridCol>
                <a:gridCol w="1687001">
                  <a:extLst>
                    <a:ext uri="{9D8B030D-6E8A-4147-A177-3AD203B41FA5}">
                      <a16:colId xmlns:a16="http://schemas.microsoft.com/office/drawing/2014/main" val="1412488207"/>
                    </a:ext>
                  </a:extLst>
                </a:gridCol>
                <a:gridCol w="1749953">
                  <a:extLst>
                    <a:ext uri="{9D8B030D-6E8A-4147-A177-3AD203B41FA5}">
                      <a16:colId xmlns:a16="http://schemas.microsoft.com/office/drawing/2014/main" val="1226547371"/>
                    </a:ext>
                  </a:extLst>
                </a:gridCol>
              </a:tblGrid>
              <a:tr h="214361">
                <a:tc gridSpan="4">
                  <a:txBody>
                    <a:bodyPr/>
                    <a:lstStyle/>
                    <a:p>
                      <a:pPr algn="ctr" fontAlgn="ctr"/>
                      <a:r>
                        <a:rPr lang="en-US" sz="1000" b="0" i="0" u="none" strike="noStrike" dirty="0">
                          <a:solidFill>
                            <a:srgbClr val="FFFFFF"/>
                          </a:solidFill>
                          <a:effectLst/>
                          <a:latin typeface="+mn-lt"/>
                        </a:rPr>
                        <a:t>Pricing Sheet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D9BFA"/>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232628753"/>
                  </a:ext>
                </a:extLst>
              </a:tr>
              <a:tr h="821452">
                <a:tc rowSpan="2">
                  <a:txBody>
                    <a:bodyPr/>
                    <a:lstStyle/>
                    <a:p>
                      <a:pPr algn="ctr" fontAlgn="ctr"/>
                      <a:r>
                        <a:rPr lang="en-US" sz="1000" b="0" i="0" u="none" strike="noStrike">
                          <a:solidFill>
                            <a:srgbClr val="FFFFFF"/>
                          </a:solidFill>
                          <a:effectLst/>
                          <a:latin typeface="+mn-lt"/>
                        </a:rPr>
                        <a:t>Item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D9BFA"/>
                    </a:solidFill>
                  </a:tcPr>
                </a:tc>
                <a:tc rowSpan="2">
                  <a:txBody>
                    <a:bodyPr/>
                    <a:lstStyle/>
                    <a:p>
                      <a:pPr algn="ctr" fontAlgn="ctr"/>
                      <a:r>
                        <a:rPr lang="en-US" sz="1000" b="0" i="0" u="none" strike="noStrike">
                          <a:solidFill>
                            <a:srgbClr val="FFFFFF"/>
                          </a:solidFill>
                          <a:effectLst/>
                          <a:latin typeface="+mn-lt"/>
                        </a:rPr>
                        <a:t>Description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D9BFA"/>
                    </a:solidFill>
                  </a:tcPr>
                </a:tc>
                <a:tc gridSpan="2">
                  <a:txBody>
                    <a:bodyPr/>
                    <a:lstStyle/>
                    <a:p>
                      <a:pPr algn="ctr" fontAlgn="ctr"/>
                      <a:r>
                        <a:rPr lang="en-US" sz="1000" b="0" i="0" u="none" strike="noStrike">
                          <a:solidFill>
                            <a:srgbClr val="FFFFFF"/>
                          </a:solidFill>
                          <a:effectLst/>
                          <a:latin typeface="+mn-lt"/>
                        </a:rPr>
                        <a:t>Total Price  (SAR)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D9BFA"/>
                    </a:solidFill>
                  </a:tcPr>
                </a:tc>
                <a:tc hMerge="1">
                  <a:txBody>
                    <a:bodyPr/>
                    <a:lstStyle/>
                    <a:p>
                      <a:endParaRPr lang="en-IN"/>
                    </a:p>
                  </a:txBody>
                  <a:tcPr/>
                </a:tc>
                <a:extLst>
                  <a:ext uri="{0D108BD9-81ED-4DB2-BD59-A6C34878D82A}">
                    <a16:rowId xmlns:a16="http://schemas.microsoft.com/office/drawing/2014/main" val="3852348114"/>
                  </a:ext>
                </a:extLst>
              </a:tr>
              <a:tr h="149150">
                <a:tc vMerge="1">
                  <a:txBody>
                    <a:bodyPr/>
                    <a:lstStyle/>
                    <a:p>
                      <a:endParaRPr lang="en-IN"/>
                    </a:p>
                  </a:txBody>
                  <a:tcPr/>
                </a:tc>
                <a:tc vMerge="1">
                  <a:txBody>
                    <a:bodyPr/>
                    <a:lstStyle/>
                    <a:p>
                      <a:endParaRPr lang="en-IN"/>
                    </a:p>
                  </a:txBody>
                  <a:tcPr/>
                </a:tc>
                <a:tc>
                  <a:txBody>
                    <a:bodyPr/>
                    <a:lstStyle/>
                    <a:p>
                      <a:pPr algn="ctr" fontAlgn="ctr"/>
                      <a:r>
                        <a:rPr lang="en-US" sz="1000" b="0" i="0" u="none" strike="noStrike">
                          <a:solidFill>
                            <a:srgbClr val="FFFFFF"/>
                          </a:solidFill>
                          <a:effectLst/>
                          <a:latin typeface="+mn-lt"/>
                        </a:rPr>
                        <a:t>Excluding VAT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D9BFA"/>
                    </a:solidFill>
                  </a:tcPr>
                </a:tc>
                <a:tc>
                  <a:txBody>
                    <a:bodyPr/>
                    <a:lstStyle/>
                    <a:p>
                      <a:pPr algn="ctr" fontAlgn="ctr"/>
                      <a:r>
                        <a:rPr lang="en-US" sz="1000" b="0" i="0" u="none" strike="noStrike">
                          <a:solidFill>
                            <a:srgbClr val="FFFFFF"/>
                          </a:solidFill>
                          <a:effectLst/>
                          <a:latin typeface="+mn-lt"/>
                        </a:rPr>
                        <a:t>Including VAT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D9BFA"/>
                    </a:solidFill>
                  </a:tcPr>
                </a:tc>
                <a:extLst>
                  <a:ext uri="{0D108BD9-81ED-4DB2-BD59-A6C34878D82A}">
                    <a16:rowId xmlns:a16="http://schemas.microsoft.com/office/drawing/2014/main" val="1610579490"/>
                  </a:ext>
                </a:extLst>
              </a:tr>
              <a:tr h="551546">
                <a:tc>
                  <a:txBody>
                    <a:bodyPr/>
                    <a:lstStyle/>
                    <a:p>
                      <a:pPr algn="ctr" fontAlgn="ctr"/>
                      <a:r>
                        <a:rPr lang="en-US" sz="1000" b="1" i="0" u="none" strike="noStrike">
                          <a:solidFill>
                            <a:srgbClr val="000000"/>
                          </a:solidFill>
                          <a:effectLst/>
                          <a:latin typeface="+mn-lt"/>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1" i="0" u="none" strike="noStrike">
                          <a:solidFill>
                            <a:srgbClr val="000000"/>
                          </a:solidFill>
                          <a:effectLst/>
                          <a:latin typeface="+mn-lt"/>
                        </a:rPr>
                        <a:t>Initial Payment upon Appointment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a:solidFill>
                            <a:srgbClr val="000000"/>
                          </a:solidFill>
                          <a:effectLst/>
                          <a:latin typeface="+mn-lt"/>
                        </a:rPr>
                        <a:t>XXXX</a:t>
                      </a:r>
                      <a:endParaRPr lang="en-US" sz="1000" b="0" i="0" u="none" strike="noStrike" dirty="0">
                        <a:solidFill>
                          <a:srgbClr val="000000"/>
                        </a:solidFill>
                        <a:effectLst/>
                        <a:latin typeface="+mn-lt"/>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XXXX</a:t>
                      </a:r>
                      <a:endParaRPr lang="en-US" sz="1000" b="0" i="0" u="none" strike="noStrike" dirty="0">
                        <a:solidFill>
                          <a:srgbClr val="000000"/>
                        </a:solidFill>
                        <a:effectLst/>
                        <a:latin typeface="+mn-lt"/>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4139623"/>
                  </a:ext>
                </a:extLst>
              </a:tr>
              <a:tr h="968281">
                <a:tc>
                  <a:txBody>
                    <a:bodyPr/>
                    <a:lstStyle/>
                    <a:p>
                      <a:pPr algn="ctr" fontAlgn="ctr"/>
                      <a:r>
                        <a:rPr lang="en-US" sz="1000" b="1" i="0" u="none" strike="noStrike">
                          <a:solidFill>
                            <a:srgbClr val="000000"/>
                          </a:solidFill>
                          <a:effectLst/>
                          <a:latin typeface="+mn-lt"/>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IN" sz="1000" b="1" i="0" u="none" strike="noStrike" dirty="0">
                          <a:solidFill>
                            <a:srgbClr val="000000"/>
                          </a:solidFill>
                          <a:effectLst/>
                          <a:latin typeface="+mn-lt"/>
                        </a:rPr>
                        <a:t>Pricing for deliverables 4.1 to 4.6 as a lump sum upon completion</a:t>
                      </a:r>
                    </a:p>
                    <a:p>
                      <a:pPr algn="l" fontAlgn="ctr"/>
                      <a:endParaRPr lang="en-IN" sz="1000" b="1" i="0" u="none" strike="noStrike" dirty="0">
                        <a:solidFill>
                          <a:srgbClr val="000000"/>
                        </a:solidFill>
                        <a:effectLst/>
                        <a:latin typeface="+mn-lt"/>
                      </a:endParaRPr>
                    </a:p>
                    <a:p>
                      <a:pPr algn="l" fontAlgn="ctr"/>
                      <a:r>
                        <a:rPr lang="en-IN" sz="1000" b="0" i="0" u="none" strike="noStrike" kern="1200" dirty="0">
                          <a:solidFill>
                            <a:srgbClr val="000000"/>
                          </a:solidFill>
                          <a:effectLst/>
                          <a:latin typeface="+mn-lt"/>
                          <a:ea typeface="+mn-ea"/>
                          <a:cs typeface="+mn-cs"/>
                        </a:rPr>
                        <a:t>4.1. Final and [CLIENT] approved RFP</a:t>
                      </a:r>
                    </a:p>
                    <a:p>
                      <a:pPr algn="l" fontAlgn="ctr"/>
                      <a:r>
                        <a:rPr lang="en-IN" sz="1000" b="0" i="0" u="none" strike="noStrike" kern="1200" dirty="0">
                          <a:solidFill>
                            <a:srgbClr val="000000"/>
                          </a:solidFill>
                          <a:effectLst/>
                          <a:latin typeface="+mn-lt"/>
                          <a:ea typeface="+mn-ea"/>
                          <a:cs typeface="+mn-cs"/>
                        </a:rPr>
                        <a:t>4.2. Weekly Q&amp;A report</a:t>
                      </a:r>
                    </a:p>
                    <a:p>
                      <a:pPr algn="l" fontAlgn="ctr"/>
                      <a:r>
                        <a:rPr lang="en-IN" sz="1000" b="0" i="0" u="none" strike="noStrike" kern="1200" dirty="0">
                          <a:solidFill>
                            <a:srgbClr val="000000"/>
                          </a:solidFill>
                          <a:effectLst/>
                          <a:latin typeface="+mn-lt"/>
                          <a:ea typeface="+mn-ea"/>
                          <a:cs typeface="+mn-cs"/>
                        </a:rPr>
                        <a:t>4.3. Weekly status update on internal coordination and overall progress</a:t>
                      </a:r>
                    </a:p>
                    <a:p>
                      <a:pPr algn="l" fontAlgn="ctr"/>
                      <a:r>
                        <a:rPr lang="en-IN" sz="1000" b="0" i="0" u="none" strike="noStrike" kern="1200" dirty="0">
                          <a:solidFill>
                            <a:srgbClr val="000000"/>
                          </a:solidFill>
                          <a:effectLst/>
                          <a:latin typeface="+mn-lt"/>
                          <a:ea typeface="+mn-ea"/>
                          <a:cs typeface="+mn-cs"/>
                        </a:rPr>
                        <a:t>4.4. Proposal evaluation framework </a:t>
                      </a:r>
                    </a:p>
                    <a:p>
                      <a:pPr algn="l" fontAlgn="ctr"/>
                      <a:r>
                        <a:rPr lang="en-IN" sz="1000" b="0" i="0" u="none" strike="noStrike" kern="1200" dirty="0">
                          <a:solidFill>
                            <a:srgbClr val="000000"/>
                          </a:solidFill>
                          <a:effectLst/>
                          <a:latin typeface="+mn-lt"/>
                          <a:ea typeface="+mn-ea"/>
                          <a:cs typeface="+mn-cs"/>
                        </a:rPr>
                        <a:t>4.5. Presentation comparing bids with clear recommendation according to evaluation framework </a:t>
                      </a:r>
                    </a:p>
                    <a:p>
                      <a:pPr algn="l" fontAlgn="ctr"/>
                      <a:r>
                        <a:rPr lang="en-IN" sz="1000" b="0" i="0" u="none" strike="noStrike" kern="1200" dirty="0">
                          <a:solidFill>
                            <a:srgbClr val="000000"/>
                          </a:solidFill>
                          <a:effectLst/>
                          <a:latin typeface="+mn-lt"/>
                          <a:ea typeface="+mn-ea"/>
                          <a:cs typeface="+mn-cs"/>
                        </a:rPr>
                        <a:t>4.6. Executive summary presentation for MIC and </a:t>
                      </a:r>
                      <a:r>
                        <a:rPr lang="en-IN" sz="1000" b="0" i="0" u="none" strike="noStrike" kern="1200" dirty="0" err="1">
                          <a:solidFill>
                            <a:srgbClr val="000000"/>
                          </a:solidFill>
                          <a:effectLst/>
                          <a:latin typeface="+mn-lt"/>
                          <a:ea typeface="+mn-ea"/>
                          <a:cs typeface="+mn-cs"/>
                        </a:rPr>
                        <a:t>BoD</a:t>
                      </a:r>
                      <a:r>
                        <a:rPr lang="en-IN" sz="1000" b="0" i="0" u="none" strike="noStrike" kern="1200" dirty="0">
                          <a:solidFill>
                            <a:srgbClr val="000000"/>
                          </a:solidFill>
                          <a:effectLst/>
                          <a:latin typeface="+mn-lt"/>
                          <a:ea typeface="+mn-ea"/>
                          <a:cs typeface="+mn-cs"/>
                        </a:rPr>
                        <a:t> approval</a:t>
                      </a:r>
                    </a:p>
                    <a:p>
                      <a:pPr algn="l" fontAlgn="ctr"/>
                      <a:endParaRPr lang="en-IN" sz="1000" b="1" i="0" u="none" strike="noStrike" dirty="0">
                        <a:solidFill>
                          <a:srgbClr val="000000"/>
                        </a:solidFill>
                        <a:effectLst/>
                        <a:latin typeface="+mn-lt"/>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a:solidFill>
                            <a:srgbClr val="000000"/>
                          </a:solidFill>
                          <a:effectLst/>
                          <a:latin typeface="+mn-lt"/>
                        </a:rPr>
                        <a:t>XXXX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buNone/>
                      </a:pPr>
                      <a:r>
                        <a:rPr lang="en-US" sz="1000" b="0" i="0" u="none" strike="noStrike">
                          <a:solidFill>
                            <a:srgbClr val="000000"/>
                          </a:solidFill>
                          <a:effectLst/>
                          <a:latin typeface="+mn-lt"/>
                        </a:rPr>
                        <a:t>XXXX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1302350"/>
                  </a:ext>
                </a:extLst>
              </a:tr>
              <a:tr h="753265">
                <a:tc>
                  <a:txBody>
                    <a:bodyPr/>
                    <a:lstStyle/>
                    <a:p>
                      <a:pPr algn="ctr" fontAlgn="ctr"/>
                      <a:r>
                        <a:rPr lang="en-US" sz="1000" b="1" i="0" u="none" strike="noStrike">
                          <a:solidFill>
                            <a:srgbClr val="000000"/>
                          </a:solidFill>
                          <a:effectLst/>
                          <a:latin typeface="+mn-lt"/>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IN" sz="1000" b="1" i="0" u="none" strike="noStrike">
                          <a:solidFill>
                            <a:srgbClr val="000000"/>
                          </a:solidFill>
                          <a:effectLst/>
                          <a:latin typeface="+mn-lt"/>
                        </a:rPr>
                        <a:t>Monthly retainer for deliverable 4.7 (continuous support in closing the transaction) following completion of deliverables 4.1 to 4.6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XXXX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mn-lt"/>
                        </a:rPr>
                        <a:t>XXXX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4798282"/>
                  </a:ext>
                </a:extLst>
              </a:tr>
            </a:tbl>
          </a:graphicData>
        </a:graphic>
      </p:graphicFrame>
      <p:sp>
        <p:nvSpPr>
          <p:cNvPr id="6" name="TextBox 5">
            <a:extLst>
              <a:ext uri="{FF2B5EF4-FFF2-40B4-BE49-F238E27FC236}">
                <a16:creationId xmlns:a16="http://schemas.microsoft.com/office/drawing/2014/main" id="{99064257-8D31-6114-0FB9-C21C82349E12}"/>
              </a:ext>
            </a:extLst>
          </p:cNvPr>
          <p:cNvSpPr txBox="1"/>
          <p:nvPr/>
        </p:nvSpPr>
        <p:spPr>
          <a:xfrm>
            <a:off x="701366" y="5196813"/>
            <a:ext cx="9812594" cy="861774"/>
          </a:xfrm>
          <a:prstGeom prst="rect">
            <a:avLst/>
          </a:prstGeom>
          <a:solidFill>
            <a:schemeClr val="bg1"/>
          </a:solidFill>
          <a:ln w="3175">
            <a:noFill/>
          </a:ln>
          <a:extLst>
            <a:ext uri="{91240B29-F687-4F45-9708-019B960494DF}">
              <a14:hiddenLine xmlns:a14="http://schemas.microsoft.com/office/drawing/2010/main" w="3175">
                <a:solidFill>
                  <a:srgbClr val="155CB4"/>
                </a:solidFill>
              </a14:hiddenLine>
            </a:ext>
          </a:extLst>
        </p:spPr>
        <p:txBody>
          <a:bodyPr wrap="square">
            <a:spAutoFit/>
          </a:bodyPr>
          <a:lstStyle/>
          <a:p>
            <a:r>
              <a:rPr lang="en-US" sz="1000"/>
              <a:t>Above fee estimate represents the range for our fee estimate including a provision for a technical advisor, however it is subject to the following considerations:​</a:t>
            </a:r>
          </a:p>
          <a:p>
            <a:r>
              <a:rPr lang="en-US" sz="1000"/>
              <a:t>-    Proposed timeline and hence fee estimate above excludes approval time for relevant stakeholders and approvers.​</a:t>
            </a:r>
          </a:p>
          <a:p>
            <a:pPr marL="171450" indent="-171450">
              <a:buFontTx/>
              <a:buChar char="-"/>
            </a:pPr>
            <a:r>
              <a:rPr lang="en-US" sz="1000"/>
              <a:t>Fee estimate above is subject to finalization of the scope of work. ​</a:t>
            </a:r>
          </a:p>
          <a:p>
            <a:pPr marL="171450" indent="-171450">
              <a:buFontTx/>
              <a:buChar char="-"/>
            </a:pPr>
            <a:r>
              <a:rPr lang="en-US" sz="1000"/>
              <a:t>Terms and conditions for the proposed contract would need to be agreed.</a:t>
            </a:r>
          </a:p>
          <a:p>
            <a:pPr marL="171450" indent="-171450">
              <a:buFontTx/>
              <a:buChar char="-"/>
            </a:pPr>
            <a:r>
              <a:rPr lang="en-US" sz="1000"/>
              <a:t>Scope of work does not include any legal advice (including preparation of contracts , tax, audit and regulatory advice.</a:t>
            </a:r>
          </a:p>
        </p:txBody>
      </p:sp>
    </p:spTree>
    <p:extLst>
      <p:ext uri="{BB962C8B-B14F-4D97-AF65-F5344CB8AC3E}">
        <p14:creationId xmlns:p14="http://schemas.microsoft.com/office/powerpoint/2010/main" val="29336610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USTOMLAYOUT" val="F"/>
  <p:tag name="UPSLIDELINKMODE" val="1"/>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Master Proposal template">
  <a:themeElements>
    <a:clrScheme name="Proposal Template for PP and Loadset 1">
      <a:dk1>
        <a:srgbClr val="000000"/>
      </a:dk1>
      <a:lt1>
        <a:srgbClr val="FFFFFF"/>
      </a:lt1>
      <a:dk2>
        <a:srgbClr val="000000"/>
      </a:dk2>
      <a:lt2>
        <a:srgbClr val="F2F2F2"/>
      </a:lt2>
      <a:accent1>
        <a:srgbClr val="7F7E82"/>
      </a:accent1>
      <a:accent2>
        <a:srgbClr val="FFE600"/>
      </a:accent2>
      <a:accent3>
        <a:srgbClr val="FFFFFF"/>
      </a:accent3>
      <a:accent4>
        <a:srgbClr val="000000"/>
      </a:accent4>
      <a:accent5>
        <a:srgbClr val="C0C0C1"/>
      </a:accent5>
      <a:accent6>
        <a:srgbClr val="E7D000"/>
      </a:accent6>
      <a:hlink>
        <a:srgbClr val="A5A4A7"/>
      </a:hlink>
      <a:folHlink>
        <a:srgbClr val="CCCBCD"/>
      </a:folHlink>
    </a:clrScheme>
    <a:fontScheme name="Custom 1">
      <a:majorFont>
        <a:latin typeface="EYInterstate Light"/>
        <a:ea typeface=""/>
        <a:cs typeface="Arial"/>
      </a:majorFont>
      <a:minorFont>
        <a:latin typeface="EYInterstate Light"/>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3">
            <a:lumMod val="95000"/>
          </a:schemeClr>
        </a:solidFill>
        <a:ln w="9525" cap="flat" cmpd="sng" algn="ctr">
          <a:noFill/>
          <a:prstDash val="solid"/>
          <a:round/>
          <a:headEnd type="none" w="med" len="med"/>
          <a:tailEnd type="none" w="med" len="med"/>
        </a:ln>
        <a:effectLst/>
      </a:spPr>
      <a:bodyPr vert="horz" wrap="none" lIns="54000" tIns="54000" rIns="54000" bIns="54000" numCol="1" rtlCol="0" anchor="ctr" anchorCtr="0" compatLnSpc="1">
        <a:prstTxWarp prst="textNoShape">
          <a:avLst/>
        </a:prstTxWarp>
      </a:bodyPr>
      <a:lstStyle>
        <a:defPPr marL="285750" indent="-285750" algn="l" defTabSz="995363">
          <a:buFont typeface="Arial" panose="020B0604020202020204" pitchFamily="34" charset="0"/>
          <a:buChar char="•"/>
          <a:defRPr sz="1200" dirty="0" smtClean="0"/>
        </a:defPPr>
      </a:lstStyle>
    </a:spDef>
    <a:lnDef>
      <a:spPr bwMode="auto">
        <a:xfrm>
          <a:off x="0" y="0"/>
          <a:ext cx="1" cy="1"/>
        </a:xfrm>
        <a:custGeom>
          <a:avLst/>
          <a:gdLst/>
          <a:ahLst/>
          <a:cxnLst/>
          <a:rect l="0" t="0" r="0" b="0"/>
          <a:pathLst/>
        </a:custGeom>
        <a:solidFill>
          <a:schemeClr val="accent1"/>
        </a:solidFill>
        <a:ln w="9525" cap="flat" cmpd="sng" algn="ctr">
          <a:solidFill>
            <a:schemeClr val="accent1"/>
          </a:solidFill>
          <a:prstDash val="solid"/>
          <a:round/>
          <a:headEnd type="none" w="med" len="med"/>
          <a:tailEnd type="none" w="med" len="med"/>
        </a:ln>
        <a:effectLst/>
      </a:spPr>
      <a:bodyPr vert="horz" wrap="none" lIns="54000" tIns="54000" rIns="54000" bIns="54000" numCol="1" anchor="ctr" anchorCtr="0" compatLnSpc="1">
        <a:prstTxWarp prst="textNoShape">
          <a:avLst/>
        </a:prstTxWarp>
      </a:bodyPr>
      <a:lstStyle>
        <a:defPPr marL="0" marR="0" indent="0" algn="ctr" defTabSz="995363" rtl="0" eaLnBrk="1" fontAlgn="base" latinLnBrk="0" hangingPunct="1">
          <a:lnSpc>
            <a:spcPct val="100000"/>
          </a:lnSpc>
          <a:spcBef>
            <a:spcPct val="0"/>
          </a:spcBef>
          <a:spcAft>
            <a:spcPct val="0"/>
          </a:spcAft>
          <a:buClrTx/>
          <a:buSzTx/>
          <a:buFontTx/>
          <a:buNone/>
          <a:tabLst/>
          <a:defRPr kumimoji="0" lang="en-US" sz="1000" b="0" i="0" u="none" strike="noStrike" cap="none" normalizeH="0" baseline="0" smtClean="0">
            <a:ln>
              <a:noFill/>
            </a:ln>
            <a:solidFill>
              <a:schemeClr val="bg1"/>
            </a:solidFill>
            <a:effectLst/>
            <a:latin typeface="EYInterstate" pitchFamily="2" charset="0"/>
            <a:cs typeface="Arial" charset="0"/>
          </a:defRPr>
        </a:defPPr>
      </a:lstStyle>
    </a:lnDef>
    <a:txDef>
      <a:spPr>
        <a:solidFill>
          <a:srgbClr val="1A9AFA"/>
        </a:solidFill>
        <a:ln w="3175">
          <a:noFill/>
        </a:ln>
        <a:extLst>
          <a:ext uri="{91240B29-F687-4F45-9708-019B960494DF}">
            <a14:hiddenLine xmlns:a14="http://schemas.microsoft.com/office/drawing/2010/main" w="3175">
              <a:solidFill>
                <a:srgbClr val="155CB4"/>
              </a:solidFill>
            </a14:hiddenLine>
          </a:ext>
        </a:extLst>
      </a:spPr>
      <a:bodyPr vert="vert" wrap="square" lIns="0" tIns="0" rIns="0" bIns="0" anchor="ctr">
        <a:noAutofit/>
      </a:bodyPr>
      <a:lstStyle>
        <a:defPPr marL="0" marR="0" indent="0" algn="ctr" defTabSz="818726" rtl="0" eaLnBrk="1" fontAlgn="base" latinLnBrk="0" hangingPunct="1">
          <a:lnSpc>
            <a:spcPct val="85000"/>
          </a:lnSpc>
          <a:spcBef>
            <a:spcPct val="0"/>
          </a:spcBef>
          <a:spcAft>
            <a:spcPct val="0"/>
          </a:spcAft>
          <a:buClrTx/>
          <a:buSzTx/>
          <a:buFontTx/>
          <a:buNone/>
          <a:tabLst/>
          <a:defRPr kumimoji="0" sz="1000" b="1" i="0" u="none" strike="noStrike" kern="0" cap="none" spc="0" normalizeH="0" baseline="0" noProof="0" dirty="0" smtClean="0">
            <a:ln>
              <a:noFill/>
            </a:ln>
            <a:solidFill>
              <a:schemeClr val="bg1"/>
            </a:solidFill>
            <a:effectLst/>
            <a:uLnTx/>
            <a:uFillTx/>
            <a:latin typeface="EYInterstate Light"/>
            <a:ea typeface="+mn-ea"/>
            <a:cs typeface="Arial" charset="0"/>
          </a:defRPr>
        </a:defPPr>
      </a:lstStyle>
    </a:txDef>
  </a:objectDefaults>
  <a:extraClrSchemeLst>
    <a:extraClrScheme>
      <a:clrScheme name="Proposal Template for PP and Loadset 1">
        <a:dk1>
          <a:srgbClr val="000000"/>
        </a:dk1>
        <a:lt1>
          <a:srgbClr val="FFFFFF"/>
        </a:lt1>
        <a:dk2>
          <a:srgbClr val="000000"/>
        </a:dk2>
        <a:lt2>
          <a:srgbClr val="F2F2F2"/>
        </a:lt2>
        <a:accent1>
          <a:srgbClr val="7F7E82"/>
        </a:accent1>
        <a:accent2>
          <a:srgbClr val="FFE600"/>
        </a:accent2>
        <a:accent3>
          <a:srgbClr val="FFFFFF"/>
        </a:accent3>
        <a:accent4>
          <a:srgbClr val="000000"/>
        </a:accent4>
        <a:accent5>
          <a:srgbClr val="C0C0C1"/>
        </a:accent5>
        <a:accent6>
          <a:srgbClr val="E7D000"/>
        </a:accent6>
        <a:hlink>
          <a:srgbClr val="A5A4A7"/>
        </a:hlink>
        <a:folHlink>
          <a:srgbClr val="CCCBC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EY_2025_Customscolors_AC">
  <a:themeElements>
    <a:clrScheme name="Custom 252">
      <a:dk1>
        <a:srgbClr val="1A1A24"/>
      </a:dk1>
      <a:lt1>
        <a:srgbClr val="FFFFFF"/>
      </a:lt1>
      <a:dk2>
        <a:srgbClr val="1A9AFA"/>
      </a:dk2>
      <a:lt2>
        <a:srgbClr val="FFFFFF"/>
      </a:lt2>
      <a:accent1>
        <a:srgbClr val="1A9AFA"/>
      </a:accent1>
      <a:accent2>
        <a:srgbClr val="747480"/>
      </a:accent2>
      <a:accent3>
        <a:srgbClr val="C4C4CD"/>
      </a:accent3>
      <a:accent4>
        <a:srgbClr val="F6F6FA"/>
      </a:accent4>
      <a:accent5>
        <a:srgbClr val="FFE600"/>
      </a:accent5>
      <a:accent6>
        <a:srgbClr val="2E2E38"/>
      </a:accent6>
      <a:hlink>
        <a:srgbClr val="1A9AFA"/>
      </a:hlink>
      <a:folHlink>
        <a:srgbClr val="1A9AFA"/>
      </a:folHlink>
    </a:clrScheme>
    <a:fontScheme name="Custom 23">
      <a:majorFont>
        <a:latin typeface="EYInterstate"/>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3"/>
        </a:solidFill>
        <a:ln w="9525" cap="flat" cmpd="sng" algn="ctr">
          <a:noFill/>
          <a:prstDash val="solid"/>
          <a:round/>
          <a:headEnd type="none" w="med" len="med"/>
          <a:tailEnd type="none" w="med" len="med"/>
        </a:ln>
        <a:effectLst/>
      </a:spPr>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defPPr marR="0" algn="ctr" defTabSz="1019175" rtl="0" eaLnBrk="1" fontAlgn="base" latinLnBrk="0" hangingPunct="1">
          <a:lnSpc>
            <a:spcPct val="100000"/>
          </a:lnSpc>
          <a:spcBef>
            <a:spcPct val="0"/>
          </a:spcBef>
          <a:spcAft>
            <a:spcPts val="600"/>
          </a:spcAft>
          <a:buClrTx/>
          <a:buSzTx/>
          <a:tabLst/>
          <a:defRPr kumimoji="0" sz="1200" b="0" i="0" u="none" strike="noStrike" cap="none" normalizeH="0" baseline="0" smtClean="0">
            <a:ln>
              <a:noFill/>
            </a:ln>
            <a:solidFill>
              <a:schemeClr val="tx2"/>
            </a:solidFill>
            <a:effectLst/>
            <a:latin typeface="+mn-lt"/>
          </a:defRPr>
        </a:defPPr>
      </a:lstStyle>
    </a:spDef>
    <a:lnDef>
      <a:spPr bwMode="auto">
        <a:solidFill>
          <a:schemeClr val="accent1"/>
        </a:solidFill>
        <a:ln w="9525" cap="flat" cmpd="sng" algn="ctr">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lIns="108000" tIns="108000" rIns="108000" bIns="108000" rtlCol="0">
        <a:spAutoFit/>
      </a:bodyPr>
      <a:lstStyle>
        <a:defPPr marL="356616" indent="-356616" algn="l">
          <a:spcBef>
            <a:spcPts val="600"/>
          </a:spcBef>
          <a:spcAft>
            <a:spcPts val="0"/>
          </a:spcAft>
          <a:buClr>
            <a:schemeClr val="accent3"/>
          </a:buClr>
          <a:buSzPct val="100000"/>
          <a:buFont typeface="Wingdings" panose="05000000000000000000" pitchFamily="2" charset="2"/>
          <a:buChar char="§"/>
          <a:defRPr sz="1400" dirty="0" smtClean="0">
            <a:solidFill>
              <a:schemeClr val="bg2"/>
            </a:solidFill>
            <a:cs typeface="Arial" panose="020B0604020202020204" pitchFamily="34" charset="0"/>
          </a:defRPr>
        </a:defPPr>
      </a:lstStyle>
    </a:txDef>
  </a:objectDefaults>
  <a:extraClrSchemeLst>
    <a:extraClrScheme>
      <a:clrScheme name="EYP 2025 colors">
        <a:dk1>
          <a:srgbClr val="1A1A24"/>
        </a:dk1>
        <a:lt1>
          <a:srgbClr val="FFFFFF"/>
        </a:lt1>
        <a:dk2>
          <a:srgbClr val="1A9AFA"/>
        </a:dk2>
        <a:lt2>
          <a:srgbClr val="FFFFFF"/>
        </a:lt2>
        <a:accent1>
          <a:srgbClr val="1A9AFA"/>
        </a:accent1>
        <a:accent2>
          <a:srgbClr val="747480"/>
        </a:accent2>
        <a:accent3>
          <a:srgbClr val="C4C4CD"/>
        </a:accent3>
        <a:accent4>
          <a:srgbClr val="F6F6FA"/>
        </a:accent4>
        <a:accent5>
          <a:srgbClr val="FFE600"/>
        </a:accent5>
        <a:accent6>
          <a:srgbClr val="2E2E38"/>
        </a:accent6>
        <a:hlink>
          <a:srgbClr val="1A9AFA"/>
        </a:hlink>
        <a:folHlink>
          <a:srgbClr val="1A9AFA"/>
        </a:folHlink>
      </a:clrScheme>
      <a:clrMap bg1="lt1" tx1="dk1" bg2="lt2" tx2="dk2" accent1="accent1" accent2="accent2" accent3="accent3" accent4="accent4" accent5="accent5" accent6="accent6" hlink="hlink" folHlink="folHlink"/>
    </a:extraClrScheme>
  </a:extraClrSchemeLst>
  <a:custClrLst>
    <a:custClr name="Maroon01">
      <a:srgbClr val="C981B2"/>
    </a:custClr>
    <a:custClr name="Maroon02">
      <a:srgbClr val="B14891"/>
    </a:custClr>
    <a:custClr name="Maroon03">
      <a:srgbClr val="922B73"/>
    </a:custClr>
    <a:custClr name="Maroon04">
      <a:srgbClr val="750E5C"/>
    </a:custClr>
    <a:custClr name="Maroon05">
      <a:srgbClr val="5A0A42"/>
    </a:custClr>
    <a:custClr name="Maroon06">
      <a:srgbClr val="42152D"/>
    </a:custClr>
    <a:custClr name="Maroon07">
      <a:srgbClr val="351C21"/>
    </a:custClr>
    <a:custClr name="Purple01">
      <a:srgbClr val="9C82D4"/>
    </a:custClr>
    <a:custClr name="Purple05">
      <a:srgbClr val="240D75"/>
    </a:custClr>
    <a:custClr name="Teal02">
      <a:srgbClr val="60E6E1"/>
    </a:custClr>
    <a:custClr name="Red01">
      <a:srgbClr val="FF9A91"/>
    </a:custClr>
    <a:custClr name="Red02">
      <a:srgbClr val="FF736A"/>
    </a:custClr>
    <a:custClr name="Red03">
      <a:srgbClr val="F95D54"/>
    </a:custClr>
    <a:custClr name="Red04">
      <a:srgbClr val="FF4136"/>
    </a:custClr>
    <a:custClr name="Red05">
      <a:srgbClr val="E0362C"/>
    </a:custClr>
    <a:custClr name="Red06">
      <a:srgbClr val="B9251C"/>
    </a:custClr>
    <a:custClr name="Red07">
      <a:srgbClr val="7A130D"/>
    </a:custClr>
    <a:custClr name="Purple02">
      <a:srgbClr val="724BC3"/>
    </a:custClr>
    <a:custClr name="Purple06">
      <a:srgbClr val="0A095A"/>
    </a:custClr>
    <a:custClr name="Teal03">
      <a:srgbClr val="42C9C2"/>
    </a:custClr>
    <a:custClr name="Orange01">
      <a:srgbClr val="FFB46A"/>
    </a:custClr>
    <a:custClr name="Orange02">
      <a:srgbClr val="FF9831"/>
    </a:custClr>
    <a:custClr name="Orange03">
      <a:srgbClr val="FF810A"/>
    </a:custClr>
    <a:custClr name="Orange04">
      <a:srgbClr val="FF6D00"/>
    </a:custClr>
    <a:custClr name="Orange05">
      <a:srgbClr val="F76900"/>
    </a:custClr>
    <a:custClr name="Orange06">
      <a:srgbClr val="EB4F00"/>
    </a:custClr>
    <a:custClr name="Orange07">
      <a:srgbClr val="BC2F00"/>
    </a:custClr>
    <a:custClr name="Purple03">
      <a:srgbClr val="542EA5"/>
    </a:custClr>
    <a:custClr name=" Purple07">
      <a:srgbClr val="15173E"/>
    </a:custClr>
    <a:custClr name="Teal04">
      <a:srgbClr val="27ACAA"/>
    </a:custClr>
    <a:custClr name="Green01">
      <a:srgbClr val="8CE8AD"/>
    </a:custClr>
    <a:custClr name="Green02">
      <a:srgbClr val="57E188"/>
    </a:custClr>
    <a:custClr name="Green03">
      <a:srgbClr val="34C768"/>
    </a:custClr>
    <a:custClr name="Green04">
      <a:srgbClr val="2DB757"/>
    </a:custClr>
    <a:custClr name="Green05">
      <a:srgbClr val="189D3E"/>
    </a:custClr>
    <a:custClr name="Green06">
      <a:srgbClr val="168736"/>
    </a:custClr>
    <a:custClr name="Green07">
      <a:srgbClr val="13652A"/>
    </a:custClr>
    <a:custClr name="Purple04">
      <a:srgbClr val="3D108A"/>
    </a:custClr>
    <a:custClr name="Teal01">
      <a:srgbClr val="93F0E6"/>
    </a:custClr>
    <a:custClr name="Teal05">
      <a:srgbClr val="109090"/>
    </a:custClr>
    <a:custClr name="Teal06">
      <a:srgbClr val="0D7575"/>
    </a:custClr>
    <a:custClr name="Teal07">
      <a:srgbClr val="004F4F"/>
    </a:custClr>
  </a:custClrLst>
  <a:extLst>
    <a:ext uri="{05A4C25C-085E-4340-85A3-A5531E510DB2}">
      <thm15:themeFamily xmlns:thm15="http://schemas.microsoft.com/office/thememl/2012/main" name="Presentation8" id="{773204FA-82C9-4230-9110-FE9EF5B7298A}" vid="{17C4185C-391F-465B-B73E-6409395C8CFE}"/>
    </a:ext>
  </a:extLst>
</a:theme>
</file>

<file path=ppt/theme/theme3.xml><?xml version="1.0" encoding="utf-8"?>
<a:theme xmlns:a="http://schemas.openxmlformats.org/drawingml/2006/main" name="2_Proposal template">
  <a:themeElements>
    <a:clrScheme name="Proposal Template for PP and Loadset 1">
      <a:dk1>
        <a:srgbClr val="000000"/>
      </a:dk1>
      <a:lt1>
        <a:srgbClr val="FFFFFF"/>
      </a:lt1>
      <a:dk2>
        <a:srgbClr val="000000"/>
      </a:dk2>
      <a:lt2>
        <a:srgbClr val="F2F2F2"/>
      </a:lt2>
      <a:accent1>
        <a:srgbClr val="7F7E82"/>
      </a:accent1>
      <a:accent2>
        <a:srgbClr val="FFE600"/>
      </a:accent2>
      <a:accent3>
        <a:srgbClr val="FFFFFF"/>
      </a:accent3>
      <a:accent4>
        <a:srgbClr val="000000"/>
      </a:accent4>
      <a:accent5>
        <a:srgbClr val="C0C0C1"/>
      </a:accent5>
      <a:accent6>
        <a:srgbClr val="E7D000"/>
      </a:accent6>
      <a:hlink>
        <a:srgbClr val="A5A4A7"/>
      </a:hlink>
      <a:folHlink>
        <a:srgbClr val="CCCBCD"/>
      </a:folHlink>
    </a:clrScheme>
    <a:fontScheme name="Custom 1">
      <a:majorFont>
        <a:latin typeface="EYInterstate Light"/>
        <a:ea typeface=""/>
        <a:cs typeface="Arial"/>
      </a:majorFont>
      <a:minorFont>
        <a:latin typeface="EYInterstate Light"/>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808080"/>
        </a:solidFill>
        <a:ln w="9525" cap="flat" cmpd="sng" algn="ctr">
          <a:noFill/>
          <a:prstDash val="solid"/>
          <a:round/>
          <a:headEnd type="none" w="med" len="med"/>
          <a:tailEnd type="none" w="med" len="med"/>
        </a:ln>
        <a:effectLst/>
      </a:spPr>
      <a:bodyPr vert="horz" wrap="none" lIns="54000" tIns="54000" rIns="54000" bIns="54000" numCol="1" rtlCol="0" anchor="ctr" anchorCtr="0" compatLnSpc="1">
        <a:prstTxWarp prst="textNoShape">
          <a:avLst/>
        </a:prstTxWarp>
      </a:bodyPr>
      <a:lstStyle>
        <a:defPPr defTabSz="995363">
          <a:defRPr b="1" dirty="0" smtClean="0"/>
        </a:defPPr>
      </a:lstStyle>
    </a:spDef>
    <a:lnDef>
      <a:spPr bwMode="auto">
        <a:xfrm>
          <a:off x="0" y="0"/>
          <a:ext cx="1" cy="1"/>
        </a:xfrm>
        <a:custGeom>
          <a:avLst/>
          <a:gdLst/>
          <a:ahLst/>
          <a:cxnLst/>
          <a:rect l="0" t="0" r="0" b="0"/>
          <a:pathLst/>
        </a:custGeom>
        <a:solidFill>
          <a:schemeClr val="accent1"/>
        </a:solidFill>
        <a:ln w="9525" cap="flat" cmpd="sng" algn="ctr">
          <a:solidFill>
            <a:schemeClr val="accent1"/>
          </a:solidFill>
          <a:prstDash val="solid"/>
          <a:round/>
          <a:headEnd type="none" w="med" len="med"/>
          <a:tailEnd type="none" w="med" len="med"/>
        </a:ln>
        <a:effectLst/>
      </a:spPr>
      <a:bodyPr vert="horz" wrap="none" lIns="54000" tIns="54000" rIns="54000" bIns="54000" numCol="1" anchor="ctr" anchorCtr="0" compatLnSpc="1">
        <a:prstTxWarp prst="textNoShape">
          <a:avLst/>
        </a:prstTxWarp>
      </a:bodyPr>
      <a:lstStyle>
        <a:defPPr marL="0" marR="0" indent="0" algn="ctr" defTabSz="995363" rtl="0" eaLnBrk="1" fontAlgn="base" latinLnBrk="0" hangingPunct="1">
          <a:lnSpc>
            <a:spcPct val="100000"/>
          </a:lnSpc>
          <a:spcBef>
            <a:spcPct val="0"/>
          </a:spcBef>
          <a:spcAft>
            <a:spcPct val="0"/>
          </a:spcAft>
          <a:buClrTx/>
          <a:buSzTx/>
          <a:buFontTx/>
          <a:buNone/>
          <a:tabLst/>
          <a:defRPr kumimoji="0" lang="en-US" sz="1000" b="0" i="0" u="none" strike="noStrike" cap="none" normalizeH="0" baseline="0" smtClean="0">
            <a:ln>
              <a:noFill/>
            </a:ln>
            <a:solidFill>
              <a:schemeClr val="bg1"/>
            </a:solidFill>
            <a:effectLst/>
            <a:latin typeface="EYInterstate" pitchFamily="2" charset="0"/>
            <a:cs typeface="Arial" charset="0"/>
          </a:defRPr>
        </a:defPPr>
      </a:lstStyle>
    </a:lnDef>
  </a:objectDefaults>
  <a:extraClrSchemeLst>
    <a:extraClrScheme>
      <a:clrScheme name="Proposal Template for PP and Loadset 1">
        <a:dk1>
          <a:srgbClr val="000000"/>
        </a:dk1>
        <a:lt1>
          <a:srgbClr val="FFFFFF"/>
        </a:lt1>
        <a:dk2>
          <a:srgbClr val="000000"/>
        </a:dk2>
        <a:lt2>
          <a:srgbClr val="F2F2F2"/>
        </a:lt2>
        <a:accent1>
          <a:srgbClr val="7F7E82"/>
        </a:accent1>
        <a:accent2>
          <a:srgbClr val="FFE600"/>
        </a:accent2>
        <a:accent3>
          <a:srgbClr val="FFFFFF"/>
        </a:accent3>
        <a:accent4>
          <a:srgbClr val="000000"/>
        </a:accent4>
        <a:accent5>
          <a:srgbClr val="C0C0C1"/>
        </a:accent5>
        <a:accent6>
          <a:srgbClr val="E7D000"/>
        </a:accent6>
        <a:hlink>
          <a:srgbClr val="A5A4A7"/>
        </a:hlink>
        <a:folHlink>
          <a:srgbClr val="CCCBC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2432CD3F16D5A4EBFE45CD3A0C7345B" ma:contentTypeVersion="4" ma:contentTypeDescription="Create a new document." ma:contentTypeScope="" ma:versionID="3e3d1ebe2f83c81f9f61d6055c7aaafe">
  <xsd:schema xmlns:xsd="http://www.w3.org/2001/XMLSchema" xmlns:xs="http://www.w3.org/2001/XMLSchema" xmlns:p="http://schemas.microsoft.com/office/2006/metadata/properties" xmlns:ns2="9a470b6d-df15-4a84-8fd9-88645cdbb463" targetNamespace="http://schemas.microsoft.com/office/2006/metadata/properties" ma:root="true" ma:fieldsID="bb418b75bbe8f7709f364e404fc34abd" ns2:_="">
    <xsd:import namespace="9a470b6d-df15-4a84-8fd9-88645cdbb46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470b6d-df15-4a84-8fd9-88645cdbb4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9757FC7-E68C-4ED8-B598-AFCA532865D6}">
  <ds:schemaRefs>
    <ds:schemaRef ds:uri="http://schemas.microsoft.com/sharepoint/v3/contenttype/forms"/>
  </ds:schemaRefs>
</ds:datastoreItem>
</file>

<file path=customXml/itemProps2.xml><?xml version="1.0" encoding="utf-8"?>
<ds:datastoreItem xmlns:ds="http://schemas.openxmlformats.org/officeDocument/2006/customXml" ds:itemID="{34A1107E-D96E-4FDD-94F6-26525878A8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470b6d-df15-4a84-8fd9-88645cdbb4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BC41C4E-F857-4FC7-A027-95B90274A94E}">
  <ds:schemaRefs>
    <ds:schemaRef ds:uri="http://purl.org/dc/terms/"/>
    <ds:schemaRef ds:uri="db4fe3e9-a12c-427e-9867-0452ea163faa"/>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http://purl.org/dc/dcmitype/"/>
    <ds:schemaRef ds:uri="http://purl.org/dc/elements/1.1/"/>
    <ds:schemaRef ds:uri="8d3016e4-0f9b-4281-95f5-41d2fd7ff777"/>
    <ds:schemaRef ds:uri="50c908b1-f277-4340-90a9-4611d0b0f078"/>
  </ds:schemaRefs>
</ds:datastoreItem>
</file>

<file path=docProps/app.xml><?xml version="1.0" encoding="utf-8"?>
<Properties xmlns="http://schemas.openxmlformats.org/officeDocument/2006/extended-properties" xmlns:vt="http://schemas.openxmlformats.org/officeDocument/2006/docPropsVTypes">
  <Template/>
  <TotalTime>94</TotalTime>
  <Words>4958</Words>
  <Application>Microsoft Office PowerPoint</Application>
  <PresentationFormat>Widescreen</PresentationFormat>
  <Paragraphs>412</Paragraphs>
  <Slides>34</Slides>
  <Notes>17</Notes>
  <HiddenSlides>0</HiddenSlides>
  <MMClips>0</MMClips>
  <ScaleCrop>false</ScaleCrop>
  <HeadingPairs>
    <vt:vector size="8" baseType="variant">
      <vt:variant>
        <vt:lpstr>Fonts Used</vt:lpstr>
      </vt:variant>
      <vt:variant>
        <vt:i4>12</vt:i4>
      </vt:variant>
      <vt:variant>
        <vt:lpstr>Theme</vt:lpstr>
      </vt:variant>
      <vt:variant>
        <vt:i4>4</vt:i4>
      </vt:variant>
      <vt:variant>
        <vt:lpstr>Embedded OLE Servers</vt:lpstr>
      </vt:variant>
      <vt:variant>
        <vt:i4>1</vt:i4>
      </vt:variant>
      <vt:variant>
        <vt:lpstr>Slide Titles</vt:lpstr>
      </vt:variant>
      <vt:variant>
        <vt:i4>34</vt:i4>
      </vt:variant>
    </vt:vector>
  </HeadingPairs>
  <TitlesOfParts>
    <vt:vector size="51" baseType="lpstr">
      <vt:lpstr>Aptos</vt:lpstr>
      <vt:lpstr>Arial</vt:lpstr>
      <vt:lpstr>Arial Unicode MS</vt:lpstr>
      <vt:lpstr>Calibri</vt:lpstr>
      <vt:lpstr>Calibri Light</vt:lpstr>
      <vt:lpstr>Encode Sans SemiExpanded</vt:lpstr>
      <vt:lpstr>EYInterstate</vt:lpstr>
      <vt:lpstr>EYInterstate Light</vt:lpstr>
      <vt:lpstr>Sakkal Majalla</vt:lpstr>
      <vt:lpstr>Times New Roman</vt:lpstr>
      <vt:lpstr>Wingdings</vt:lpstr>
      <vt:lpstr>Wingdings 3</vt:lpstr>
      <vt:lpstr>Master Proposal template</vt:lpstr>
      <vt:lpstr>EY_2025_Customscolors_AC</vt:lpstr>
      <vt:lpstr>2_Proposal template</vt:lpstr>
      <vt:lpstr>2_Custom Design</vt:lpstr>
      <vt:lpstr>think-cell Slide</vt:lpstr>
      <vt:lpstr>[CLIENT] ([CLIENT]) Healthcare Planning Consultant </vt:lpstr>
      <vt:lpstr>PowerPoint Presentation</vt:lpstr>
      <vt:lpstr>PowerPoint Presentation</vt:lpstr>
      <vt:lpstr>PowerPoint Presentation</vt:lpstr>
      <vt:lpstr>Why Our Consortium Introduction</vt:lpstr>
      <vt:lpstr>Why Our Consortium Our unique value proposition</vt:lpstr>
      <vt:lpstr>A. We worked with [CLIENT] before Examples of projects delivered to [CLIENT]</vt:lpstr>
      <vt:lpstr>B. We understand the Healthcare PPP sector in MENA Proven track record in the region</vt:lpstr>
      <vt:lpstr>C. We have a team on the ground in Saudi Arabia Collaborative success: partnering with Kingdom’s leading government agencies and companies</vt:lpstr>
      <vt:lpstr>D: Our consortium includes an internationally renowned clinical operator  Methodist functions as advisor, yet is also a clinical operator</vt:lpstr>
      <vt:lpstr>Our understanding and Point of View Privatization Benefits for [CLIENT] </vt:lpstr>
      <vt:lpstr>Our Understanding and Point of View  Considerations for selection PPP models</vt:lpstr>
      <vt:lpstr>Our Understanding and Point of View   Key Considerations</vt:lpstr>
      <vt:lpstr>Our Understanding and Point of View   Possible Private Sector roles</vt:lpstr>
      <vt:lpstr>PowerPoint Presentation</vt:lpstr>
      <vt:lpstr>Our Experiences – Lead and Financial Advisory </vt:lpstr>
      <vt:lpstr>Our Experiences – Lead and Financial Advisory </vt:lpstr>
      <vt:lpstr>Our Experiences – Technical Advisory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Our Approach and Methodology</vt:lpstr>
      <vt:lpstr>Approach and Methodology RFP Review and Update</vt:lpstr>
      <vt:lpstr>Approach and Methodology Bid Period, Clarification and Evaluation</vt:lpstr>
      <vt:lpstr>Project Timeline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Sreehari J</cp:lastModifiedBy>
  <cp:revision>37</cp:revision>
  <cp:lastPrinted>2025-05-18T07:51:43Z</cp:lastPrinted>
  <dcterms:created xsi:type="dcterms:W3CDTF">2019-02-24T11:06:25Z</dcterms:created>
  <dcterms:modified xsi:type="dcterms:W3CDTF">2026-03-20T11:48:55Z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0x010100B2432CD3F16D5A4EBFE45CD3A0C7345B</vt:lpwstr>
  </property>
  <property fmtid="{D5CDD505-2E9C-101B-9397-08002B2CF9AE}" pid="3" name="MediaServiceImageTags">
    <vt:lpwstr/>
  </property>
</Properties>
</file>